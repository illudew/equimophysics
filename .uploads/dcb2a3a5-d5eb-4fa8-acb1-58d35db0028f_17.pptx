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61" r:id="rId2"/>
    <p:sldId id="351" r:id="rId3"/>
    <p:sldId id="330" r:id="rId4"/>
    <p:sldId id="349" r:id="rId5"/>
    <p:sldId id="289" r:id="rId6"/>
    <p:sldId id="354" r:id="rId7"/>
    <p:sldId id="327" r:id="rId8"/>
    <p:sldId id="350" r:id="rId9"/>
    <p:sldId id="331" r:id="rId10"/>
    <p:sldId id="262" r:id="rId11"/>
    <p:sldId id="333" r:id="rId12"/>
    <p:sldId id="265" r:id="rId13"/>
    <p:sldId id="290" r:id="rId14"/>
    <p:sldId id="332" r:id="rId15"/>
    <p:sldId id="286" r:id="rId16"/>
    <p:sldId id="291" r:id="rId17"/>
    <p:sldId id="296" r:id="rId18"/>
    <p:sldId id="337" r:id="rId19"/>
    <p:sldId id="295" r:id="rId20"/>
    <p:sldId id="308" r:id="rId21"/>
    <p:sldId id="294" r:id="rId22"/>
    <p:sldId id="293" r:id="rId23"/>
    <p:sldId id="334" r:id="rId24"/>
    <p:sldId id="329" r:id="rId25"/>
    <p:sldId id="292" r:id="rId26"/>
    <p:sldId id="309" r:id="rId27"/>
    <p:sldId id="310" r:id="rId28"/>
    <p:sldId id="335" r:id="rId29"/>
    <p:sldId id="311" r:id="rId30"/>
    <p:sldId id="352" r:id="rId31"/>
    <p:sldId id="339" r:id="rId32"/>
    <p:sldId id="340" r:id="rId33"/>
    <p:sldId id="341" r:id="rId34"/>
    <p:sldId id="342" r:id="rId35"/>
    <p:sldId id="282" r:id="rId36"/>
    <p:sldId id="343" r:id="rId37"/>
    <p:sldId id="344" r:id="rId38"/>
    <p:sldId id="346" r:id="rId39"/>
    <p:sldId id="353" r:id="rId4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2"/>
    <p:restoredTop sz="94628"/>
  </p:normalViewPr>
  <p:slideViewPr>
    <p:cSldViewPr snapToGrid="0" snapToObjects="1">
      <p:cViewPr varScale="1">
        <p:scale>
          <a:sx n="119" d="100"/>
          <a:sy n="119" d="100"/>
        </p:scale>
        <p:origin x="2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E7375-9059-6740-ACC2-6047BEFD7478}" type="datetimeFigureOut">
              <a:rPr lang="en-CN" smtClean="0"/>
              <a:t>2023/6/5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8397C-F734-2043-B4B5-3BE569722B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931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8397C-F734-2043-B4B5-3BE569722B7D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6161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D7C1-D8EB-D547-BCEE-EC505565F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9B034-FF72-0842-A5AB-84F0A71076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5C968-918F-8641-AE02-594B5224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2023/6/5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9C305-E85D-1548-A375-1DBDEDB59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3FDED-A1AE-D846-9147-0D1EE8B81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4886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013E-BDF0-8C4A-B4ED-0D321223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ABE0F-0622-5C49-AEF9-031610282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F4ABA-C3F7-F04B-B87A-4A9D3D3B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2023/6/5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8897E-B07B-B441-BDAF-727D0E88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11B97-AE03-0E47-93A0-D14C3D946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382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83D1F-C55B-2F42-AE7E-78E4DC54A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FFBC5-80CC-8C45-9404-C9556920A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78CD9-0063-224A-90B2-5B178A6FB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2023/6/5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6CE81-9F37-BF4C-BDF3-A9FBC99E2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B8F5E-2051-1745-8C26-13E510972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48670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5BE8-2906-8E4F-AF10-6C859962C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77BC1-205D-ED44-902E-6DC52E37D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CF4BC-B5D9-7A46-9CA0-C1833531E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A32F2-DC1B-494A-8AB9-039BCA541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2023/6/5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77452-A3E3-4443-92ED-FF9D858C7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B1547-4E3B-B44B-81F0-9E977B3E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665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E04FC-EB95-6042-A824-3928DD90D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26F3F-BBDF-4748-B28F-F8C02C1F2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C1051-699C-4F4F-A964-DE4CCEF3B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5D3799-BF1A-B544-92F3-A668C8479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7BDBCE-CA7F-5143-91B1-42C71E89D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47ACE-B299-B447-AB9F-A7E598DB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2023/6/5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A539D-7612-E848-999B-9D151DFE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C80D14-ED83-5545-8AE2-4469C820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60530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6444D-3A68-EB45-9015-DA6329C9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FBB93C-F3ED-3F47-B452-7C28F2091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2023/6/5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FAABE-D364-A94B-BEC5-9C8F70BD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6D1B4-DA1C-F240-90A2-84B2A717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8744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D0083D-F5D5-C543-B61F-4094F539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2023/6/5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DDC8BC-428B-BB4D-8AEE-C6B272C67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B49BB-14D1-1849-B437-37A7A6070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4770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D422E-2ECF-6E40-B192-F3102DB3C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70A34-B607-1742-A5C9-F66E9CB59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8185AD-9C29-CE46-8CE9-E6D8F6BB5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8B05E-F489-3841-AF6F-1A1FE3BB3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2023/6/5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58E87-9859-F14A-B389-187843C24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2D493-6FBF-EA46-8CFB-E11E167F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07294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53968-37CC-B647-9F46-44E9F8642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620B7A-6421-6346-BBFA-BD37AAC93C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ED188-FEB7-E74E-B65D-281002E7A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B8C2D-F1DB-C34A-AD60-DF4B2FE59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2023/6/5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817A2-AEE3-244B-8185-A484A6B8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10CD3-341B-C348-B1D4-069400F93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3869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C41A4-A3DA-9C44-A87F-54486381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37D03-3ABB-E94A-A564-7D516299F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5D3D3-9B3A-E34D-A7DB-07B8D9C0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2023/6/5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1226C-2D9F-3E4D-8439-D1417E4DA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AA4E6-5819-4C43-8676-2EDC65D0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77077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69D237-9FA6-7643-A46C-6BF452F3C3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4148B-28D9-4E4F-98AA-281CE3B51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114E8-0490-9844-A6E6-A76C29CB0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2023/6/5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5F247-BB24-C14C-8BDC-3AEC6E2F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9EBDF-B685-F445-BD1C-7044BC302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762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7E8360-99FB-314F-8FFC-5DFE14644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170A0-1BBB-7549-88EE-B708486E0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53904-8539-AE42-A677-9B45FCA67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0E28F-22DF-9E47-9EC9-E68F8BF2B40B}" type="datetimeFigureOut">
              <a:rPr lang="en-CN" smtClean="0"/>
              <a:t>2023/6/5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B817-6A9E-8D4B-93C6-69B4752E2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20E11-ECD6-A240-8C4D-4AA249F37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2746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4.png"/><Relationship Id="rId4" Type="http://schemas.openxmlformats.org/officeDocument/2006/relationships/image" Target="../media/image3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7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eg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B4EF1E6A-93E9-E142-9419-9B435DBC58F6}"/>
              </a:ext>
            </a:extLst>
          </p:cNvPr>
          <p:cNvSpPr txBox="1">
            <a:spLocks/>
          </p:cNvSpPr>
          <p:nvPr/>
        </p:nvSpPr>
        <p:spPr>
          <a:xfrm>
            <a:off x="1541184" y="2047173"/>
            <a:ext cx="2779918" cy="20908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复习</a:t>
            </a:r>
          </a:p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感悟</a:t>
            </a:r>
          </a:p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学生报告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F6D7691-9579-8243-A6CF-AE72C6A9E7AF}"/>
              </a:ext>
            </a:extLst>
          </p:cNvPr>
          <p:cNvSpPr txBox="1">
            <a:spLocks/>
          </p:cNvSpPr>
          <p:nvPr/>
        </p:nvSpPr>
        <p:spPr>
          <a:xfrm>
            <a:off x="3890629" y="100399"/>
            <a:ext cx="4410741" cy="906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热物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（第十七周）</a:t>
            </a:r>
            <a:endParaRPr lang="en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870D24-5701-0A2A-AF2D-E30C5E56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330" y="259893"/>
            <a:ext cx="2779918" cy="633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59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B4EF1E6A-93E9-E142-9419-9B435DBC58F6}"/>
              </a:ext>
            </a:extLst>
          </p:cNvPr>
          <p:cNvSpPr txBox="1">
            <a:spLocks/>
          </p:cNvSpPr>
          <p:nvPr/>
        </p:nvSpPr>
        <p:spPr>
          <a:xfrm>
            <a:off x="1541184" y="2047173"/>
            <a:ext cx="10231848" cy="20908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复习</a:t>
            </a:r>
          </a:p>
          <a:p>
            <a:r>
              <a:rPr lang="en-CN" dirty="0">
                <a:solidFill>
                  <a:schemeClr val="bg2">
                    <a:lumMod val="9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感悟</a:t>
            </a:r>
          </a:p>
          <a:p>
            <a:r>
              <a:rPr lang="en-CN" dirty="0">
                <a:solidFill>
                  <a:schemeClr val="bg2">
                    <a:lumMod val="9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学生报告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F6D7691-9579-8243-A6CF-AE72C6A9E7AF}"/>
              </a:ext>
            </a:extLst>
          </p:cNvPr>
          <p:cNvSpPr txBox="1">
            <a:spLocks/>
          </p:cNvSpPr>
          <p:nvPr/>
        </p:nvSpPr>
        <p:spPr>
          <a:xfrm>
            <a:off x="3890629" y="100399"/>
            <a:ext cx="4410741" cy="906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热物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（第十七周）</a:t>
            </a:r>
            <a:endParaRPr lang="en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0511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B42F6F-E84A-37CE-CFFF-44C329253081}"/>
              </a:ext>
            </a:extLst>
          </p:cNvPr>
          <p:cNvSpPr txBox="1"/>
          <p:nvPr/>
        </p:nvSpPr>
        <p:spPr>
          <a:xfrm>
            <a:off x="3837711" y="96982"/>
            <a:ext cx="4152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28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热物教学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667D64-3ECF-A3DB-DC89-404F69015CC0}"/>
              </a:ext>
            </a:extLst>
          </p:cNvPr>
          <p:cNvSpPr txBox="1"/>
          <p:nvPr/>
        </p:nvSpPr>
        <p:spPr>
          <a:xfrm>
            <a:off x="791939" y="1028343"/>
            <a:ext cx="1060812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FangSong" panose="02010609060101010101" pitchFamily="49" charset="-122"/>
                <a:ea typeface="FangSong" panose="02010609060101010101" pitchFamily="49" charset="-122"/>
              </a:rPr>
              <a:t>对象</a:t>
            </a:r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</a:rPr>
              <a:t>：物理（伯苓班）、应用物理、光信专业学生，一点儿其他专业学生</a:t>
            </a:r>
            <a:endParaRPr lang="en-US" altLang="zh-CN" sz="2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endParaRPr lang="en-US" sz="2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</a:rPr>
              <a:t>原则</a:t>
            </a:r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：（一）以尽可能简单的方式引入概念</a:t>
            </a:r>
            <a:endParaRPr lang="en-US" altLang="zh-CN" sz="2400" b="1" dirty="0"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  <a:p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      （二）尽可能多元化地、从各个角度补充阐述概念</a:t>
            </a:r>
            <a:endParaRPr lang="en-US" altLang="zh-CN" sz="2400" b="1" dirty="0"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  <a:p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      （三）自成体系，不乱（争取）</a:t>
            </a:r>
            <a:endParaRPr lang="en-US" altLang="zh-CN" sz="2400" b="1" dirty="0"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  <a:p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      （四）避免“高深”的数学、“抽象”的表达</a:t>
            </a:r>
            <a:endParaRPr lang="en-US" altLang="zh-CN" sz="2400" b="1" dirty="0"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  <a:p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      （五）读原著、追历史，科学前沿进课堂</a:t>
            </a:r>
            <a:endParaRPr lang="en-US" altLang="zh-CN" sz="2400" b="1" dirty="0"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  <a:p>
            <a:endParaRPr lang="en-US" sz="2400" b="1" dirty="0"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  <a:p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目标：（一）让学生系统掌握热物基本知识、推演逻辑</a:t>
            </a:r>
            <a:endParaRPr lang="en-US" altLang="zh-CN" sz="2400" b="1" dirty="0"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  <a:p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      （二）让大部分学生能喜欢这门课、至少不排斥，能自主学习</a:t>
            </a:r>
            <a:endParaRPr lang="en-US" altLang="zh-CN" sz="2400" b="1" dirty="0"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  <a:p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      （三）着重物理思维的训练，追求知识点忘掉后剩下的印记</a:t>
            </a:r>
            <a:endParaRPr lang="en-US" altLang="zh-CN" sz="2400" b="1" dirty="0"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  <a:p>
            <a:r>
              <a:rPr lang="en-US" altLang="zh-CN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      </a:t>
            </a:r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（四）</a:t>
            </a:r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</a:rPr>
              <a:t>培养学生能欣赏物理的美、且利用基础知识解决实际问题的能力</a:t>
            </a:r>
            <a:r>
              <a:rPr lang="en-CN" sz="2400" b="1" dirty="0">
                <a:latin typeface="FangSong" panose="02010609060101010101" pitchFamily="49" charset="-122"/>
                <a:ea typeface="FangSong" panose="02010609060101010101" pitchFamily="49" charset="-122"/>
              </a:rPr>
              <a:t> </a:t>
            </a:r>
            <a:endParaRPr lang="en-US" altLang="zh-CN" sz="2400" b="1" dirty="0"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  <a:p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       </a:t>
            </a:r>
            <a:endParaRPr lang="en-US" dirty="0"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8740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81151FD-7FA0-96A1-3BD8-299B56EB6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255" y="1445008"/>
            <a:ext cx="5667704" cy="5228104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C4D8B16A-7FA4-2F77-002F-679274D4D8E3}"/>
              </a:ext>
            </a:extLst>
          </p:cNvPr>
          <p:cNvSpPr txBox="1"/>
          <p:nvPr/>
        </p:nvSpPr>
        <p:spPr>
          <a:xfrm>
            <a:off x="121905" y="184888"/>
            <a:ext cx="1060812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</a:rPr>
              <a:t>效果：</a:t>
            </a:r>
            <a:endParaRPr lang="en-US" altLang="zh-CN" sz="2400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endParaRPr lang="en-US" altLang="zh-CN" sz="2400" b="1" dirty="0"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  <a:p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问题：</a:t>
            </a:r>
            <a:r>
              <a:rPr lang="zh-CN" altLang="en-US" sz="2400" b="1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（一）</a:t>
            </a:r>
            <a:r>
              <a:rPr lang="en-US" altLang="zh-CN" sz="2400" b="1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PPT</a:t>
            </a:r>
            <a:r>
              <a:rPr lang="zh-CN" altLang="en-US" sz="2400" b="1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格式（改正目标：离开上课能看懂的）</a:t>
            </a:r>
            <a:endParaRPr lang="en-US" altLang="zh-CN" sz="2400" b="1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  <a:p>
            <a:r>
              <a:rPr lang="en-US" altLang="zh-CN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      </a:t>
            </a:r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（二）平时作业考</a:t>
            </a:r>
            <a:endParaRPr lang="en-US" altLang="zh-CN" sz="2400" b="1" dirty="0"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  <a:p>
            <a:r>
              <a:rPr lang="en-US" altLang="zh-CN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      </a:t>
            </a:r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（三）参考资料</a:t>
            </a:r>
            <a:endParaRPr lang="en-US" altLang="zh-CN" sz="2400" b="1" dirty="0"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  <a:p>
            <a:r>
              <a:rPr lang="en-US" altLang="zh-CN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      </a:t>
            </a:r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（四）大作业</a:t>
            </a:r>
            <a:endParaRPr lang="en-US" altLang="zh-CN" sz="2400" b="1" dirty="0"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  <a:p>
            <a:r>
              <a:rPr lang="en-US" altLang="zh-CN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      </a:t>
            </a:r>
            <a:r>
              <a:rPr lang="zh-CN" altLang="en-US" sz="2400" b="1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（五）其他授课相关</a:t>
            </a:r>
            <a:endParaRPr lang="en-US" altLang="zh-CN" sz="2400" b="1" dirty="0"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  <a:p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  <a:sym typeface="Wingdings" pitchFamily="2" charset="2"/>
              </a:rPr>
              <a:t>       </a:t>
            </a:r>
            <a:endParaRPr lang="en-US" dirty="0">
              <a:latin typeface="FangSong" panose="02010609060101010101" pitchFamily="49" charset="-122"/>
              <a:ea typeface="FangSong" panose="02010609060101010101" pitchFamily="49" charset="-122"/>
              <a:sym typeface="Wingdings" pitchFamily="2" charset="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64EDE4-FF35-9FBE-74F0-BC265686E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24183"/>
            <a:ext cx="4004441" cy="52183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CB3EBC-92E7-EE1B-A289-C54ECB26FBD3}"/>
              </a:ext>
            </a:extLst>
          </p:cNvPr>
          <p:cNvSpPr txBox="1"/>
          <p:nvPr/>
        </p:nvSpPr>
        <p:spPr>
          <a:xfrm>
            <a:off x="220717" y="3334407"/>
            <a:ext cx="2727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感谢助教</a:t>
            </a:r>
          </a:p>
        </p:txBody>
      </p:sp>
    </p:spTree>
    <p:extLst>
      <p:ext uri="{BB962C8B-B14F-4D97-AF65-F5344CB8AC3E}">
        <p14:creationId xmlns:p14="http://schemas.microsoft.com/office/powerpoint/2010/main" val="1738523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06B6AC-F9CA-164C-8C20-F1FCA50B1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130" y="72266"/>
            <a:ext cx="5731728" cy="3331439"/>
          </a:xfrm>
        </p:spPr>
        <p:txBody>
          <a:bodyPr>
            <a:normAutofit/>
          </a:bodyPr>
          <a:lstStyle/>
          <a:p>
            <a:pPr algn="l"/>
            <a:r>
              <a:rPr lang="en-CN" dirty="0"/>
              <a:t>授课内容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N" dirty="0"/>
              <a:t>统计物理基础知识</a:t>
            </a:r>
            <a:r>
              <a:rPr lang="zh-CN" altLang="en-US" dirty="0"/>
              <a:t>（</a:t>
            </a:r>
            <a:r>
              <a:rPr lang="en-US" altLang="zh-CN" dirty="0"/>
              <a:t>Multiplicity</a:t>
            </a:r>
            <a:r>
              <a:rPr lang="zh-CN" altLang="en-US" dirty="0"/>
              <a:t>，熵，</a:t>
            </a:r>
            <a:endParaRPr lang="en-US" altLang="zh-CN" dirty="0"/>
          </a:p>
          <a:p>
            <a:pPr algn="l"/>
            <a:r>
              <a:rPr lang="zh-CN" altLang="en-US" dirty="0"/>
              <a:t>        温度，</a:t>
            </a:r>
            <a:r>
              <a:rPr lang="en-US" altLang="zh-CN" dirty="0" err="1"/>
              <a:t>Boltzman</a:t>
            </a:r>
            <a:r>
              <a:rPr lang="zh-CN" altLang="en-US" dirty="0"/>
              <a:t>因子，化学势，</a:t>
            </a:r>
            <a:endParaRPr lang="en-US" altLang="zh-CN" dirty="0"/>
          </a:p>
          <a:p>
            <a:pPr algn="l"/>
            <a:r>
              <a:rPr lang="zh-CN" altLang="en-US" dirty="0"/>
              <a:t>        </a:t>
            </a:r>
            <a:r>
              <a:rPr lang="en-US" altLang="zh-CN" dirty="0"/>
              <a:t>Gibbs</a:t>
            </a:r>
            <a:r>
              <a:rPr lang="zh-CN" altLang="en-US" dirty="0"/>
              <a:t> </a:t>
            </a:r>
            <a:r>
              <a:rPr lang="en-US" altLang="zh-CN" dirty="0"/>
              <a:t>sum</a:t>
            </a:r>
            <a:r>
              <a:rPr lang="zh-CN" altLang="en-US" dirty="0"/>
              <a:t>。。。</a:t>
            </a:r>
            <a:r>
              <a:rPr lang="en-US" altLang="zh-CN" dirty="0" err="1"/>
              <a:t>Ansemble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量子统计（费米，</a:t>
            </a:r>
            <a:r>
              <a:rPr lang="zh-CN" altLang="en-CN" dirty="0"/>
              <a:t>玻色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相互作用系统</a:t>
            </a:r>
            <a:endParaRPr lang="en-US" altLang="zh-C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相变</a:t>
            </a:r>
            <a:endParaRPr lang="en-US" altLang="zh-CN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2A3AE0E-ED2E-8565-66F7-5E23B93C4E19}"/>
              </a:ext>
            </a:extLst>
          </p:cNvPr>
          <p:cNvSpPr txBox="1">
            <a:spLocks/>
          </p:cNvSpPr>
          <p:nvPr/>
        </p:nvSpPr>
        <p:spPr>
          <a:xfrm>
            <a:off x="825130" y="3403705"/>
            <a:ext cx="5731728" cy="3331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dirty="0"/>
              <a:t>科学前沿进课堂</a:t>
            </a:r>
            <a:endParaRPr lang="en-US" altLang="zh-C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潘雷霆  复杂系统之美</a:t>
            </a:r>
            <a:endParaRPr lang="en-US" altLang="zh-C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李峣  熵致有序</a:t>
            </a:r>
            <a:endParaRPr lang="en-US" altLang="zh-C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王荣 最大熵</a:t>
            </a:r>
            <a:endParaRPr lang="en-US" altLang="zh-C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董校 特殊函数</a:t>
            </a:r>
            <a:endParaRPr lang="en-US" altLang="zh-C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胡金牛 星星</a:t>
            </a:r>
            <a:endParaRPr lang="en-US" altLang="zh-C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付伟杰 重整化群</a:t>
            </a:r>
            <a:endParaRPr lang="en-US" altLang="zh-CN" dirty="0"/>
          </a:p>
          <a:p>
            <a:pPr algn="l"/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29D8A1E-3643-D77A-3517-411A219553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480" t="23574" r="28674" b="27039"/>
          <a:stretch/>
        </p:blipFill>
        <p:spPr>
          <a:xfrm>
            <a:off x="7253890" y="985890"/>
            <a:ext cx="3811219" cy="452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757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06B6AC-F9CA-164C-8C20-F1FCA50B1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130" y="513335"/>
            <a:ext cx="5731728" cy="3331439"/>
          </a:xfrm>
        </p:spPr>
        <p:txBody>
          <a:bodyPr>
            <a:normAutofit/>
          </a:bodyPr>
          <a:lstStyle/>
          <a:p>
            <a:pPr algn="l"/>
            <a:r>
              <a:rPr lang="en-CN" dirty="0"/>
              <a:t>授课内容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N" dirty="0"/>
              <a:t>统计物理基础知识</a:t>
            </a:r>
            <a:r>
              <a:rPr lang="zh-CN" altLang="en-US" dirty="0"/>
              <a:t>（</a:t>
            </a:r>
            <a:r>
              <a:rPr lang="en-US" altLang="zh-CN" dirty="0"/>
              <a:t>Multiplicity</a:t>
            </a:r>
            <a:r>
              <a:rPr lang="zh-CN" altLang="en-US" dirty="0"/>
              <a:t>，熵，</a:t>
            </a:r>
            <a:endParaRPr lang="en-US" altLang="zh-CN" dirty="0"/>
          </a:p>
          <a:p>
            <a:pPr algn="l"/>
            <a:r>
              <a:rPr lang="zh-CN" altLang="en-US" dirty="0"/>
              <a:t>        温度，</a:t>
            </a:r>
            <a:r>
              <a:rPr lang="en-US" altLang="zh-CN" dirty="0" err="1"/>
              <a:t>Boltzman</a:t>
            </a:r>
            <a:r>
              <a:rPr lang="zh-CN" altLang="en-US" dirty="0"/>
              <a:t>因子，化学势，</a:t>
            </a:r>
            <a:endParaRPr lang="en-US" altLang="zh-CN" dirty="0"/>
          </a:p>
          <a:p>
            <a:pPr algn="l"/>
            <a:r>
              <a:rPr lang="zh-CN" altLang="en-US" dirty="0"/>
              <a:t>        </a:t>
            </a:r>
            <a:r>
              <a:rPr lang="en-US" altLang="zh-CN" dirty="0"/>
              <a:t>Gibbs</a:t>
            </a:r>
            <a:r>
              <a:rPr lang="zh-CN" altLang="en-US" dirty="0"/>
              <a:t> </a:t>
            </a:r>
            <a:r>
              <a:rPr lang="en-US" altLang="zh-CN" dirty="0"/>
              <a:t>sum</a:t>
            </a:r>
            <a:r>
              <a:rPr lang="zh-CN" altLang="en-US" dirty="0"/>
              <a:t>。。。</a:t>
            </a:r>
            <a:r>
              <a:rPr lang="en-US" altLang="zh-CN" dirty="0" err="1"/>
              <a:t>Ansemble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量子统计（费米，</a:t>
            </a:r>
            <a:r>
              <a:rPr lang="zh-CN" altLang="en-CN" dirty="0"/>
              <a:t>玻色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相互作用系统</a:t>
            </a:r>
            <a:endParaRPr lang="en-US" altLang="zh-C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相变</a:t>
            </a:r>
            <a:endParaRPr lang="en-US" altLang="zh-C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0B4D2E-1577-9CEB-8F28-926875980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889" y="100739"/>
            <a:ext cx="5128040" cy="67572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CDCD65-CA12-732C-4E26-75652C485090}"/>
              </a:ext>
            </a:extLst>
          </p:cNvPr>
          <p:cNvSpPr txBox="1"/>
          <p:nvPr/>
        </p:nvSpPr>
        <p:spPr>
          <a:xfrm>
            <a:off x="4477077" y="6344665"/>
            <a:ext cx="2524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N" dirty="0"/>
              <a:t>潘磊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FF395C-165D-CD9C-4846-88DBE4760AB8}"/>
              </a:ext>
            </a:extLst>
          </p:cNvPr>
          <p:cNvSpPr txBox="1"/>
          <p:nvPr/>
        </p:nvSpPr>
        <p:spPr>
          <a:xfrm>
            <a:off x="883403" y="4432515"/>
            <a:ext cx="49362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覆盖了吗</a:t>
            </a:r>
            <a:r>
              <a:rPr lang="zh-CN" altLang="en-US" sz="4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？</a:t>
            </a:r>
            <a:endParaRPr lang="en-US" altLang="zh-CN" sz="4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r>
              <a:rPr lang="zh-CN" altLang="en-US" sz="4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掌握了吗？</a:t>
            </a:r>
            <a:endParaRPr lang="en-US" altLang="zh-CN" sz="4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r>
              <a:rPr lang="zh-CN" altLang="en-US" sz="4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忘记了吗？</a:t>
            </a:r>
            <a:endParaRPr lang="en-CN" sz="4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8212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8BD727-6202-EA6B-8114-B15CB7B4FD33}"/>
              </a:ext>
            </a:extLst>
          </p:cNvPr>
          <p:cNvSpPr txBox="1"/>
          <p:nvPr/>
        </p:nvSpPr>
        <p:spPr>
          <a:xfrm>
            <a:off x="215153" y="160274"/>
            <a:ext cx="481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dirty="0"/>
              <a:t>课程图(consider particles in V at tau)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E81BE994-3F41-F129-9E5C-5CB1954FA258}"/>
              </a:ext>
            </a:extLst>
          </p:cNvPr>
          <p:cNvSpPr/>
          <p:nvPr/>
        </p:nvSpPr>
        <p:spPr>
          <a:xfrm>
            <a:off x="0" y="840255"/>
            <a:ext cx="1828799" cy="171758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rgbClr val="FF0000"/>
                </a:solidFill>
              </a:rPr>
              <a:t>Do they interact with each other?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F967E158-FB8D-16FF-9771-F4398E9DF915}"/>
              </a:ext>
            </a:extLst>
          </p:cNvPr>
          <p:cNvSpPr/>
          <p:nvPr/>
        </p:nvSpPr>
        <p:spPr>
          <a:xfrm>
            <a:off x="2232463" y="1186246"/>
            <a:ext cx="1828799" cy="171758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rgbClr val="FF0000"/>
                </a:solidFill>
              </a:rPr>
              <a:t>Are they localized?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Diamond 6">
                <a:extLst>
                  <a:ext uri="{FF2B5EF4-FFF2-40B4-BE49-F238E27FC236}">
                    <a16:creationId xmlns:a16="http://schemas.microsoft.com/office/drawing/2014/main" id="{9365820C-A18E-8E66-5813-AD6B84477F8C}"/>
                  </a:ext>
                </a:extLst>
              </p:cNvPr>
              <p:cNvSpPr/>
              <p:nvPr/>
            </p:nvSpPr>
            <p:spPr>
              <a:xfrm>
                <a:off x="4267201" y="628825"/>
                <a:ext cx="1828799" cy="1717589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dirty="0">
                    <a:solidFill>
                      <a:srgbClr val="FF000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CN" dirty="0">
                    <a:solidFill>
                      <a:srgbClr val="FF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7" name="Diamond 6">
                <a:extLst>
                  <a:ext uri="{FF2B5EF4-FFF2-40B4-BE49-F238E27FC236}">
                    <a16:creationId xmlns:a16="http://schemas.microsoft.com/office/drawing/2014/main" id="{9365820C-A18E-8E66-5813-AD6B84477F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1" y="628825"/>
                <a:ext cx="1828799" cy="1717589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iamond 8">
            <a:extLst>
              <a:ext uri="{FF2B5EF4-FFF2-40B4-BE49-F238E27FC236}">
                <a16:creationId xmlns:a16="http://schemas.microsoft.com/office/drawing/2014/main" id="{7370856B-086D-9836-EFB7-E1567ABF77C5}"/>
              </a:ext>
            </a:extLst>
          </p:cNvPr>
          <p:cNvSpPr/>
          <p:nvPr/>
        </p:nvSpPr>
        <p:spPr>
          <a:xfrm>
            <a:off x="6262039" y="1272404"/>
            <a:ext cx="2001426" cy="171758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rgbClr val="7030A0"/>
                </a:solidFill>
              </a:rPr>
              <a:t>Fermion?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79023843-3DF9-1132-670B-60E04FD7F314}"/>
              </a:ext>
            </a:extLst>
          </p:cNvPr>
          <p:cNvSpPr/>
          <p:nvPr/>
        </p:nvSpPr>
        <p:spPr>
          <a:xfrm>
            <a:off x="8402611" y="628824"/>
            <a:ext cx="1828799" cy="171758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rgbClr val="7030A0"/>
                </a:solidFill>
              </a:rPr>
              <a:t>Bosons!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5CE1BFE3-A122-7FD4-34BD-26BD07611BCC}"/>
              </a:ext>
            </a:extLst>
          </p:cNvPr>
          <p:cNvSpPr/>
          <p:nvPr/>
        </p:nvSpPr>
        <p:spPr>
          <a:xfrm>
            <a:off x="9522777" y="2065874"/>
            <a:ext cx="1828799" cy="171758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rgbClr val="7030A0"/>
                </a:solidFill>
              </a:rPr>
              <a:t>Is the number fixed?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F6839A4-D5D6-3D89-7460-46E6E701F7D2}"/>
              </a:ext>
            </a:extLst>
          </p:cNvPr>
          <p:cNvCxnSpPr/>
          <p:nvPr/>
        </p:nvCxnSpPr>
        <p:spPr>
          <a:xfrm>
            <a:off x="1962682" y="1705232"/>
            <a:ext cx="531342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4A6D47-9339-0BEE-BCE9-C49E852463CA}"/>
              </a:ext>
            </a:extLst>
          </p:cNvPr>
          <p:cNvSpPr txBox="1"/>
          <p:nvPr/>
        </p:nvSpPr>
        <p:spPr>
          <a:xfrm>
            <a:off x="1945363" y="1215713"/>
            <a:ext cx="53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No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F17710-BEFB-F24C-9F9B-68EDEE45EFCC}"/>
              </a:ext>
            </a:extLst>
          </p:cNvPr>
          <p:cNvSpPr txBox="1"/>
          <p:nvPr/>
        </p:nvSpPr>
        <p:spPr>
          <a:xfrm>
            <a:off x="3799701" y="1400379"/>
            <a:ext cx="53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No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32A55C-E7BC-9730-A0BF-46758AB8F850}"/>
              </a:ext>
            </a:extLst>
          </p:cNvPr>
          <p:cNvSpPr txBox="1"/>
          <p:nvPr/>
        </p:nvSpPr>
        <p:spPr>
          <a:xfrm>
            <a:off x="6110416" y="1392067"/>
            <a:ext cx="53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No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74DC60-FF8D-FC72-E8DA-AE3AE69DCB2C}"/>
              </a:ext>
            </a:extLst>
          </p:cNvPr>
          <p:cNvSpPr txBox="1"/>
          <p:nvPr/>
        </p:nvSpPr>
        <p:spPr>
          <a:xfrm>
            <a:off x="7855175" y="1329717"/>
            <a:ext cx="53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No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7203929-1A63-57D4-D4E9-B2BD28D51713}"/>
              </a:ext>
            </a:extLst>
          </p:cNvPr>
          <p:cNvCxnSpPr/>
          <p:nvPr/>
        </p:nvCxnSpPr>
        <p:spPr>
          <a:xfrm>
            <a:off x="3827591" y="1769711"/>
            <a:ext cx="531342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15BA86A-7AAD-2B58-5E01-87BCDECD6BFA}"/>
              </a:ext>
            </a:extLst>
          </p:cNvPr>
          <p:cNvCxnSpPr/>
          <p:nvPr/>
        </p:nvCxnSpPr>
        <p:spPr>
          <a:xfrm>
            <a:off x="6096000" y="1769711"/>
            <a:ext cx="531342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6B7D392-1BB9-40E6-87C5-2A928280327F}"/>
              </a:ext>
            </a:extLst>
          </p:cNvPr>
          <p:cNvCxnSpPr/>
          <p:nvPr/>
        </p:nvCxnSpPr>
        <p:spPr>
          <a:xfrm>
            <a:off x="7898034" y="1761399"/>
            <a:ext cx="531342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DD2E243-1C40-53E6-DEE6-344CBA97AF39}"/>
              </a:ext>
            </a:extLst>
          </p:cNvPr>
          <p:cNvCxnSpPr>
            <a:cxnSpLocks/>
          </p:cNvCxnSpPr>
          <p:nvPr/>
        </p:nvCxnSpPr>
        <p:spPr>
          <a:xfrm>
            <a:off x="9700068" y="2061629"/>
            <a:ext cx="286950" cy="404696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F4F8497-44F6-C145-E702-12E6D085BAB3}"/>
              </a:ext>
            </a:extLst>
          </p:cNvPr>
          <p:cNvCxnSpPr>
            <a:cxnSpLocks/>
          </p:cNvCxnSpPr>
          <p:nvPr/>
        </p:nvCxnSpPr>
        <p:spPr>
          <a:xfrm>
            <a:off x="914399" y="2713472"/>
            <a:ext cx="0" cy="119110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6120228-20B8-2BDA-D74F-173EFB883FD9}"/>
              </a:ext>
            </a:extLst>
          </p:cNvPr>
          <p:cNvCxnSpPr>
            <a:cxnSpLocks/>
          </p:cNvCxnSpPr>
          <p:nvPr/>
        </p:nvCxnSpPr>
        <p:spPr>
          <a:xfrm>
            <a:off x="3146862" y="3102391"/>
            <a:ext cx="0" cy="653217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B71154E-EC2A-3C04-BA2B-B0753A1E3C0D}"/>
              </a:ext>
            </a:extLst>
          </p:cNvPr>
          <p:cNvCxnSpPr>
            <a:cxnSpLocks/>
          </p:cNvCxnSpPr>
          <p:nvPr/>
        </p:nvCxnSpPr>
        <p:spPr>
          <a:xfrm>
            <a:off x="5181600" y="2629071"/>
            <a:ext cx="0" cy="1275501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2CEC70E-F296-3ED2-EBFE-73C93A9A6F0F}"/>
              </a:ext>
            </a:extLst>
          </p:cNvPr>
          <p:cNvCxnSpPr>
            <a:cxnSpLocks/>
          </p:cNvCxnSpPr>
          <p:nvPr/>
        </p:nvCxnSpPr>
        <p:spPr>
          <a:xfrm>
            <a:off x="7249305" y="3102391"/>
            <a:ext cx="0" cy="802181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A87EB89-E592-9283-4B5D-D58F0EB8F710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9741068" y="3903375"/>
            <a:ext cx="447957" cy="1021374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59BC962-E0B0-08A4-49BF-84F98577A84C}"/>
              </a:ext>
            </a:extLst>
          </p:cNvPr>
          <p:cNvSpPr/>
          <p:nvPr/>
        </p:nvSpPr>
        <p:spPr>
          <a:xfrm>
            <a:off x="215153" y="4123765"/>
            <a:ext cx="1398494" cy="1201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rgbClr val="FF0000"/>
                </a:solidFill>
              </a:rPr>
              <a:t>Ising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23D08AF-6A36-2235-7B87-B9A3B3CF72AF}"/>
                  </a:ext>
                </a:extLst>
              </p:cNvPr>
              <p:cNvSpPr/>
              <p:nvPr/>
            </p:nvSpPr>
            <p:spPr>
              <a:xfrm>
                <a:off x="2202636" y="4123765"/>
                <a:ext cx="1828795" cy="120127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CN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23D08AF-6A36-2235-7B87-B9A3B3CF72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636" y="4123765"/>
                <a:ext cx="1828795" cy="1201270"/>
              </a:xfrm>
              <a:prstGeom prst="rect">
                <a:avLst/>
              </a:prstGeom>
              <a:blipFill>
                <a:blip r:embed="rId3"/>
                <a:stretch>
                  <a:fillRect l="-3425" t="-70103" b="-7732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4E44EC7-2BC9-1057-2DD5-95765404A60B}"/>
                  </a:ext>
                </a:extLst>
              </p:cNvPr>
              <p:cNvSpPr/>
              <p:nvPr/>
            </p:nvSpPr>
            <p:spPr>
              <a:xfrm>
                <a:off x="4587261" y="4123765"/>
                <a:ext cx="1398494" cy="120127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4E44EC7-2BC9-1057-2DD5-95765404A6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261" y="4123765"/>
                <a:ext cx="1398494" cy="12012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75B19F4-2771-9C56-9B45-1F26A42720E9}"/>
                  </a:ext>
                </a:extLst>
              </p:cNvPr>
              <p:cNvSpPr/>
              <p:nvPr/>
            </p:nvSpPr>
            <p:spPr>
              <a:xfrm>
                <a:off x="6262037" y="4122568"/>
                <a:ext cx="2001426" cy="120127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)/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75B19F4-2771-9C56-9B45-1F26A42720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037" y="4122568"/>
                <a:ext cx="2001426" cy="12012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99BF343-7208-0C60-A743-1706B43EAEDA}"/>
                  </a:ext>
                </a:extLst>
              </p:cNvPr>
              <p:cNvSpPr/>
              <p:nvPr/>
            </p:nvSpPr>
            <p:spPr>
              <a:xfrm>
                <a:off x="8593864" y="4924749"/>
                <a:ext cx="2294408" cy="133864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)/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99BF343-7208-0C60-A743-1706B43EAE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3864" y="4924749"/>
                <a:ext cx="2294408" cy="13386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BB8A9963-213B-EF5C-7ECA-CE586725BC55}"/>
              </a:ext>
            </a:extLst>
          </p:cNvPr>
          <p:cNvSpPr txBox="1"/>
          <p:nvPr/>
        </p:nvSpPr>
        <p:spPr>
          <a:xfrm>
            <a:off x="1018231" y="3026395"/>
            <a:ext cx="53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Yes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8D7ED0-308C-C6CD-DD4F-7BA0295B5228}"/>
              </a:ext>
            </a:extLst>
          </p:cNvPr>
          <p:cNvSpPr txBox="1"/>
          <p:nvPr/>
        </p:nvSpPr>
        <p:spPr>
          <a:xfrm>
            <a:off x="3212047" y="3144468"/>
            <a:ext cx="53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Yes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6745CF-5770-CC6C-2BE4-BBAB30ED3FD3}"/>
              </a:ext>
            </a:extLst>
          </p:cNvPr>
          <p:cNvSpPr txBox="1"/>
          <p:nvPr/>
        </p:nvSpPr>
        <p:spPr>
          <a:xfrm>
            <a:off x="5240358" y="2747999"/>
            <a:ext cx="53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Yes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71B717-DC04-B265-09BA-285BA7AD7751}"/>
              </a:ext>
            </a:extLst>
          </p:cNvPr>
          <p:cNvSpPr txBox="1"/>
          <p:nvPr/>
        </p:nvSpPr>
        <p:spPr>
          <a:xfrm>
            <a:off x="7366692" y="3164094"/>
            <a:ext cx="53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Yes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821727-9C67-52D8-4131-84040E27C583}"/>
              </a:ext>
            </a:extLst>
          </p:cNvPr>
          <p:cNvSpPr txBox="1"/>
          <p:nvPr/>
        </p:nvSpPr>
        <p:spPr>
          <a:xfrm>
            <a:off x="10102803" y="4169440"/>
            <a:ext cx="53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Yes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C1F704C-2E8B-16F7-1FB9-A5B67FEA86A8}"/>
              </a:ext>
            </a:extLst>
          </p:cNvPr>
          <p:cNvCxnSpPr>
            <a:cxnSpLocks/>
          </p:cNvCxnSpPr>
          <p:nvPr/>
        </p:nvCxnSpPr>
        <p:spPr>
          <a:xfrm>
            <a:off x="10755225" y="3400598"/>
            <a:ext cx="596351" cy="55626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AF2BE5C-98D2-A601-E7EE-F094D3732930}"/>
              </a:ext>
            </a:extLst>
          </p:cNvPr>
          <p:cNvSpPr txBox="1"/>
          <p:nvPr/>
        </p:nvSpPr>
        <p:spPr>
          <a:xfrm>
            <a:off x="11117769" y="3348237"/>
            <a:ext cx="53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No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CC7B773-2355-D016-356E-2CF67F48840F}"/>
              </a:ext>
            </a:extLst>
          </p:cNvPr>
          <p:cNvSpPr/>
          <p:nvPr/>
        </p:nvSpPr>
        <p:spPr>
          <a:xfrm>
            <a:off x="11117769" y="3984328"/>
            <a:ext cx="996329" cy="819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rgbClr val="FF0000"/>
                </a:solidFill>
              </a:rPr>
              <a:t>Photon/Phonon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191AB8-CD1D-D85E-B652-42E8046355E7}"/>
              </a:ext>
            </a:extLst>
          </p:cNvPr>
          <p:cNvSpPr txBox="1"/>
          <p:nvPr/>
        </p:nvSpPr>
        <p:spPr>
          <a:xfrm>
            <a:off x="6376087" y="5409404"/>
            <a:ext cx="1581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Fermi pressure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59D469-D6F0-B1A5-B23D-B7F64221B4C5}"/>
              </a:ext>
            </a:extLst>
          </p:cNvPr>
          <p:cNvSpPr txBox="1"/>
          <p:nvPr/>
        </p:nvSpPr>
        <p:spPr>
          <a:xfrm>
            <a:off x="8950531" y="6348867"/>
            <a:ext cx="1561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BE condensate</a:t>
            </a:r>
          </a:p>
        </p:txBody>
      </p:sp>
    </p:spTree>
    <p:extLst>
      <p:ext uri="{BB962C8B-B14F-4D97-AF65-F5344CB8AC3E}">
        <p14:creationId xmlns:p14="http://schemas.microsoft.com/office/powerpoint/2010/main" val="2314464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36A78C-A13F-F231-B847-14C20D4EF9FD}"/>
              </a:ext>
            </a:extLst>
          </p:cNvPr>
          <p:cNvSpPr/>
          <p:nvPr/>
        </p:nvSpPr>
        <p:spPr>
          <a:xfrm>
            <a:off x="1900890" y="889843"/>
            <a:ext cx="8676703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</a:t>
            </a:r>
            <a:r>
              <a:rPr lang="zh-CN" alt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微正则系统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Part-II</a:t>
            </a:r>
            <a:r>
              <a:rPr lang="zh-CN" alt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正则系统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Part-III</a:t>
            </a:r>
            <a:r>
              <a:rPr lang="zh-CN" alt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巨正则系统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Part-IV</a:t>
            </a:r>
            <a:r>
              <a:rPr lang="zh-CN" alt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量子统计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Part-V</a:t>
            </a:r>
            <a:r>
              <a:rPr lang="zh-CN" alt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相互作用</a:t>
            </a:r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02546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36A78C-A13F-F231-B847-14C20D4EF9FD}"/>
              </a:ext>
            </a:extLst>
          </p:cNvPr>
          <p:cNvSpPr/>
          <p:nvPr/>
        </p:nvSpPr>
        <p:spPr>
          <a:xfrm>
            <a:off x="110836" y="0"/>
            <a:ext cx="2382981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</a:t>
            </a:r>
          </a:p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Part-II</a:t>
            </a:r>
          </a:p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Part-III</a:t>
            </a:r>
          </a:p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Part-IV</a:t>
            </a:r>
          </a:p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Part-V</a:t>
            </a:r>
          </a:p>
          <a:p>
            <a:pPr algn="ctr"/>
            <a:endParaRPr lang="en-US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A6F22E-2502-B857-474A-F5B60A997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703" y="319032"/>
            <a:ext cx="8817304" cy="619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72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1B07D6-683D-1EC2-E8E4-69A32F18D52A}"/>
              </a:ext>
            </a:extLst>
          </p:cNvPr>
          <p:cNvSpPr txBox="1"/>
          <p:nvPr/>
        </p:nvSpPr>
        <p:spPr>
          <a:xfrm>
            <a:off x="3034145" y="415637"/>
            <a:ext cx="6345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我们是如何打开热物学习第一步的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？</a:t>
            </a:r>
            <a:endParaRPr lang="en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3EB21A-C82F-551D-6344-55DF0D10D133}"/>
              </a:ext>
            </a:extLst>
          </p:cNvPr>
          <p:cNvSpPr txBox="1"/>
          <p:nvPr/>
        </p:nvSpPr>
        <p:spPr>
          <a:xfrm>
            <a:off x="3907803" y="672298"/>
            <a:ext cx="4613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000" dirty="0">
                <a:solidFill>
                  <a:srgbClr val="FF0000"/>
                </a:solidFill>
              </a:rPr>
              <a:t>Multiplicity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B2BE13-B15C-C669-BD77-658DB60BBAA9}"/>
              </a:ext>
            </a:extLst>
          </p:cNvPr>
          <p:cNvSpPr txBox="1"/>
          <p:nvPr/>
        </p:nvSpPr>
        <p:spPr>
          <a:xfrm>
            <a:off x="1088403" y="1727660"/>
            <a:ext cx="100306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b="1" dirty="0"/>
              <a:t>In statistical mechanics, </a:t>
            </a:r>
            <a:r>
              <a:rPr lang="en-CN" b="1" dirty="0">
                <a:solidFill>
                  <a:srgbClr val="FF0000"/>
                </a:solidFill>
              </a:rPr>
              <a:t>multiplicity</a:t>
            </a:r>
            <a:r>
              <a:rPr lang="en-CN" b="1" dirty="0"/>
              <a:t>(also called </a:t>
            </a:r>
            <a:r>
              <a:rPr lang="en-CN" b="1" dirty="0">
                <a:solidFill>
                  <a:srgbClr val="00B050"/>
                </a:solidFill>
              </a:rPr>
              <a:t>statistical weight</a:t>
            </a:r>
            <a:r>
              <a:rPr lang="en-CN" b="1" dirty="0"/>
              <a:t>) refers to the number of </a:t>
            </a:r>
            <a:r>
              <a:rPr lang="en-CN" b="1" dirty="0">
                <a:solidFill>
                  <a:srgbClr val="FF0000"/>
                </a:solidFill>
              </a:rPr>
              <a:t>microstates</a:t>
            </a:r>
            <a:r>
              <a:rPr lang="en-CN" b="1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(微观态)</a:t>
            </a:r>
            <a:r>
              <a:rPr lang="en-CN" b="1" dirty="0">
                <a:latin typeface="FangSong" panose="02010609060101010101" pitchFamily="49" charset="-122"/>
                <a:ea typeface="FangSong" panose="02010609060101010101" pitchFamily="49" charset="-122"/>
              </a:rPr>
              <a:t> </a:t>
            </a:r>
            <a:r>
              <a:rPr lang="en-CN" b="1" dirty="0"/>
              <a:t>corresponding to a particular </a:t>
            </a:r>
            <a:r>
              <a:rPr lang="en-CN" b="1" dirty="0">
                <a:solidFill>
                  <a:srgbClr val="FF0000"/>
                </a:solidFill>
              </a:rPr>
              <a:t>macrostate</a:t>
            </a:r>
            <a:r>
              <a:rPr lang="en-CN" b="1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(宏观态)</a:t>
            </a:r>
            <a:r>
              <a:rPr lang="en-CN" b="1" dirty="0"/>
              <a:t>of a thermodynamic system.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B0EFB4-FB07-E06B-32F0-6431DE6A8095}"/>
                  </a:ext>
                </a:extLst>
              </p:cNvPr>
              <p:cNvSpPr txBox="1"/>
              <p:nvPr/>
            </p:nvSpPr>
            <p:spPr>
              <a:xfrm>
                <a:off x="348475" y="2532457"/>
                <a:ext cx="11716719" cy="4325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CN" sz="4000" dirty="0"/>
                  <a:t>Binary</a:t>
                </a:r>
                <a:r>
                  <a:rPr lang="zh-CN" altLang="en-US" sz="4000" dirty="0"/>
                  <a:t> </a:t>
                </a:r>
                <a:r>
                  <a:rPr lang="en-US" altLang="zh-CN" sz="4000" dirty="0"/>
                  <a:t>model </a:t>
                </a:r>
                <a14:m>
                  <m:oMath xmlns:m="http://schemas.openxmlformats.org/officeDocument/2006/math"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]=</m:t>
                    </m:r>
                    <m:f>
                      <m:fPr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US" altLang="zh-CN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4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altLang="zh-CN" sz="4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zh-CN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4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altLang="zh-CN" sz="4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altLang="zh-CN" sz="4000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CN" sz="4000" dirty="0"/>
                  <a:t>Einstein Model of Solid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["/>
                        <m:endChr m:val="]"/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CN" sz="4000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CN" altLang="zh-CN" sz="4000" dirty="0"/>
                  <a:t>The ideal Gas </a:t>
                </a:r>
                <a14:m>
                  <m:oMath xmlns:m="http://schemas.openxmlformats.org/officeDocument/2006/math"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sSup>
                      <m:sSupPr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sSup>
                      <m:sSupPr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f>
                          <m:fPr>
                            <m:ctrlPr>
                              <a:rPr lang="en-US" altLang="zh-CN" sz="4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altLang="zh-CN" sz="4000" dirty="0"/>
              </a:p>
              <a:p>
                <a:endParaRPr lang="en-CN" altLang="zh-CN" sz="4000" dirty="0">
                  <a:solidFill>
                    <a:srgbClr val="FF0000"/>
                  </a:solidFill>
                </a:endParaRPr>
              </a:p>
              <a:p>
                <a:r>
                  <a:rPr lang="zh-CN" altLang="en-US" sz="4000" dirty="0">
                    <a:solidFill>
                      <a:srgbClr val="FF0000"/>
                    </a:solidFill>
                  </a:rPr>
                  <a:t>固定了</a:t>
                </a:r>
                <a:r>
                  <a:rPr lang="en-US" altLang="zh-CN" sz="4000" dirty="0">
                    <a:solidFill>
                      <a:srgbClr val="FF0000"/>
                    </a:solidFill>
                  </a:rPr>
                  <a:t>N</a:t>
                </a:r>
                <a:r>
                  <a:rPr lang="zh-CN" altLang="en-US" sz="4000" dirty="0">
                    <a:solidFill>
                      <a:srgbClr val="FF0000"/>
                    </a:solidFill>
                  </a:rPr>
                  <a:t>，</a:t>
                </a:r>
                <a:r>
                  <a:rPr lang="en-US" altLang="zh-CN" sz="4000" dirty="0">
                    <a:solidFill>
                      <a:srgbClr val="FF0000"/>
                    </a:solidFill>
                  </a:rPr>
                  <a:t>U</a:t>
                </a:r>
                <a:r>
                  <a:rPr lang="zh-CN" altLang="en-US" sz="4000" dirty="0">
                    <a:solidFill>
                      <a:srgbClr val="FF0000"/>
                    </a:solidFill>
                  </a:rPr>
                  <a:t>，</a:t>
                </a:r>
                <a:r>
                  <a:rPr lang="en-US" altLang="zh-CN" sz="4000" dirty="0">
                    <a:solidFill>
                      <a:srgbClr val="FF0000"/>
                    </a:solidFill>
                  </a:rPr>
                  <a:t>V</a:t>
                </a:r>
                <a:endParaRPr lang="en-CN" sz="4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B0EFB4-FB07-E06B-32F0-6431DE6A8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75" y="2532457"/>
                <a:ext cx="11716719" cy="4325543"/>
              </a:xfrm>
              <a:prstGeom prst="rect">
                <a:avLst/>
              </a:prstGeom>
              <a:blipFill>
                <a:blip r:embed="rId2"/>
                <a:stretch>
                  <a:fillRect l="-1842" b="-527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A436A78C-A13F-F231-B847-14C20D4EF9FD}"/>
              </a:ext>
            </a:extLst>
          </p:cNvPr>
          <p:cNvSpPr/>
          <p:nvPr/>
        </p:nvSpPr>
        <p:spPr>
          <a:xfrm>
            <a:off x="0" y="41564"/>
            <a:ext cx="17475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</a:t>
            </a:r>
          </a:p>
        </p:txBody>
      </p:sp>
    </p:spTree>
    <p:extLst>
      <p:ext uri="{BB962C8B-B14F-4D97-AF65-F5344CB8AC3E}">
        <p14:creationId xmlns:p14="http://schemas.microsoft.com/office/powerpoint/2010/main" val="1458086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1B07D6-683D-1EC2-E8E4-69A32F18D52A}"/>
              </a:ext>
            </a:extLst>
          </p:cNvPr>
          <p:cNvSpPr txBox="1"/>
          <p:nvPr/>
        </p:nvSpPr>
        <p:spPr>
          <a:xfrm>
            <a:off x="3034145" y="415637"/>
            <a:ext cx="6345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我们是如何打开热物学习第一步的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？</a:t>
            </a:r>
            <a:endParaRPr lang="en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36A78C-A13F-F231-B847-14C20D4EF9FD}"/>
              </a:ext>
            </a:extLst>
          </p:cNvPr>
          <p:cNvSpPr/>
          <p:nvPr/>
        </p:nvSpPr>
        <p:spPr>
          <a:xfrm>
            <a:off x="0" y="41564"/>
            <a:ext cx="17475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F05BCF-62A0-A683-E179-6D4747BE8E27}"/>
              </a:ext>
            </a:extLst>
          </p:cNvPr>
          <p:cNvSpPr txBox="1"/>
          <p:nvPr/>
        </p:nvSpPr>
        <p:spPr>
          <a:xfrm>
            <a:off x="6096000" y="6054436"/>
            <a:ext cx="3906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学生感悟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27F58A3-96AB-8572-C019-FE5260BC7F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91" t="8255" r="56427" b="38394"/>
          <a:stretch/>
        </p:blipFill>
        <p:spPr>
          <a:xfrm>
            <a:off x="3779409" y="964894"/>
            <a:ext cx="4854854" cy="489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013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38F7E1-0158-8A4F-8766-1097846FF286}"/>
              </a:ext>
            </a:extLst>
          </p:cNvPr>
          <p:cNvSpPr txBox="1"/>
          <p:nvPr/>
        </p:nvSpPr>
        <p:spPr>
          <a:xfrm>
            <a:off x="983674" y="971343"/>
            <a:ext cx="11030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 fundamental assumption of thermal physics </a:t>
            </a:r>
            <a:r>
              <a:rPr lang="en-US" b="1" dirty="0"/>
              <a:t>is that a isolated system is equally likely to be in any of the quantum states accessible to it.</a:t>
            </a:r>
            <a:r>
              <a:rPr lang="zh-CN" altLang="en-US" b="1" dirty="0">
                <a:latin typeface="FangSong" panose="02010609060101010101" pitchFamily="49" charset="-122"/>
                <a:ea typeface="FangSong" panose="02010609060101010101" pitchFamily="49" charset="-122"/>
              </a:rPr>
              <a:t>（等概率原理）</a:t>
            </a:r>
            <a:endParaRPr lang="en-US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2F03D4-B253-CB33-79CB-4117DDA75C6A}"/>
              </a:ext>
            </a:extLst>
          </p:cNvPr>
          <p:cNvSpPr txBox="1"/>
          <p:nvPr/>
        </p:nvSpPr>
        <p:spPr>
          <a:xfrm>
            <a:off x="2535382" y="324158"/>
            <a:ext cx="6345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基本假设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CA782E-05AE-0FA8-73CF-1172A9591D58}"/>
              </a:ext>
            </a:extLst>
          </p:cNvPr>
          <p:cNvSpPr txBox="1"/>
          <p:nvPr/>
        </p:nvSpPr>
        <p:spPr>
          <a:xfrm>
            <a:off x="2660073" y="281437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3200" dirty="0"/>
              <a:t>Sharpness</a:t>
            </a:r>
            <a:r>
              <a:rPr lang="zh-CN" altLang="en-US" sz="3200" dirty="0"/>
              <a:t> </a:t>
            </a:r>
            <a:r>
              <a:rPr lang="en-US" altLang="zh-CN" sz="3200" dirty="0"/>
              <a:t>of Multiplicity 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B1AD16-3E51-F494-2F68-9868252B09D5}"/>
              </a:ext>
            </a:extLst>
          </p:cNvPr>
          <p:cNvSpPr txBox="1"/>
          <p:nvPr/>
        </p:nvSpPr>
        <p:spPr>
          <a:xfrm>
            <a:off x="2660073" y="459584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Most Probable Configuration</a:t>
            </a:r>
            <a:endParaRPr lang="en-CN" sz="3200" dirty="0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2D364F18-72FB-FCBC-BBFB-E7B28E25FB7B}"/>
              </a:ext>
            </a:extLst>
          </p:cNvPr>
          <p:cNvSpPr/>
          <p:nvPr/>
        </p:nvSpPr>
        <p:spPr>
          <a:xfrm>
            <a:off x="5465757" y="1804048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B40ACDA0-4D90-855E-B3AF-8E7554958BB9}"/>
              </a:ext>
            </a:extLst>
          </p:cNvPr>
          <p:cNvSpPr/>
          <p:nvPr/>
        </p:nvSpPr>
        <p:spPr>
          <a:xfrm>
            <a:off x="5465757" y="3508295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AD772B16-C193-15C8-D566-6F1EF6FCE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121" y="1804048"/>
            <a:ext cx="1431637" cy="239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342C760-4676-D0D2-E75D-8072C7B92F06}"/>
              </a:ext>
            </a:extLst>
          </p:cNvPr>
          <p:cNvSpPr/>
          <p:nvPr/>
        </p:nvSpPr>
        <p:spPr>
          <a:xfrm>
            <a:off x="0" y="41564"/>
            <a:ext cx="17475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</a:t>
            </a:r>
          </a:p>
        </p:txBody>
      </p:sp>
    </p:spTree>
    <p:extLst>
      <p:ext uri="{BB962C8B-B14F-4D97-AF65-F5344CB8AC3E}">
        <p14:creationId xmlns:p14="http://schemas.microsoft.com/office/powerpoint/2010/main" val="2360488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12D45B-EC16-BB4E-AE5A-E41601848B91}"/>
                  </a:ext>
                </a:extLst>
              </p:cNvPr>
              <p:cNvSpPr txBox="1"/>
              <p:nvPr/>
            </p:nvSpPr>
            <p:spPr>
              <a:xfrm>
                <a:off x="2466109" y="1677911"/>
                <a:ext cx="9005455" cy="1971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N" sz="4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altLang="zh-CN" sz="4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CN" sz="4000" dirty="0">
                    <a:solidFill>
                      <a:srgbClr val="7030A0"/>
                    </a:solidFill>
                  </a:rPr>
                  <a:t>log[g]</a:t>
                </a:r>
                <a:r>
                  <a:rPr lang="zh-CN" altLang="en-US" sz="4000" dirty="0">
                    <a:solidFill>
                      <a:srgbClr val="7030A0"/>
                    </a:solidFill>
                  </a:rPr>
                  <a:t>     。。。</a:t>
                </a:r>
                <a:r>
                  <a:rPr lang="en-US" altLang="zh-CN" sz="4000" dirty="0">
                    <a:solidFill>
                      <a:srgbClr val="7030A0"/>
                    </a:solidFill>
                  </a:rPr>
                  <a:t>entropy</a:t>
                </a:r>
                <a:endParaRPr lang="en-CN" sz="4000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N" sz="4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N" sz="4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CN" sz="4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N" sz="4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CN" sz="40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CN" sz="400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N" sz="400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4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4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CN" sz="400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4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4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4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zh-CN" altLang="en-US" sz="4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。。。</m:t>
                      </m:r>
                      <m:r>
                        <m:rPr>
                          <m:sty m:val="p"/>
                        </m:rPr>
                        <a:rPr lang="en-US" altLang="zh-CN" sz="4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temperature</m:t>
                      </m:r>
                    </m:oMath>
                  </m:oMathPara>
                </a14:m>
                <a:endParaRPr lang="en-CN" sz="4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12D45B-EC16-BB4E-AE5A-E41601848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109" y="1677911"/>
                <a:ext cx="9005455" cy="1971565"/>
              </a:xfrm>
              <a:prstGeom prst="rect">
                <a:avLst/>
              </a:prstGeom>
              <a:blipFill>
                <a:blip r:embed="rId2"/>
                <a:stretch>
                  <a:fillRect l="-986" t="-5769" b="-1025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C6836CBE-9A4B-CF38-8FC7-9901BD0A7BE0}"/>
              </a:ext>
            </a:extLst>
          </p:cNvPr>
          <p:cNvSpPr/>
          <p:nvPr/>
        </p:nvSpPr>
        <p:spPr>
          <a:xfrm>
            <a:off x="0" y="41564"/>
            <a:ext cx="17475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</a:t>
            </a:r>
          </a:p>
        </p:txBody>
      </p:sp>
    </p:spTree>
    <p:extLst>
      <p:ext uri="{BB962C8B-B14F-4D97-AF65-F5344CB8AC3E}">
        <p14:creationId xmlns:p14="http://schemas.microsoft.com/office/powerpoint/2010/main" val="1812132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AA2E5D-4278-63EF-16DA-0B84286446CB}"/>
              </a:ext>
            </a:extLst>
          </p:cNvPr>
          <p:cNvSpPr txBox="1"/>
          <p:nvPr/>
        </p:nvSpPr>
        <p:spPr>
          <a:xfrm>
            <a:off x="9282545" y="1565564"/>
            <a:ext cx="218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>
                <a:latin typeface="FangSong" panose="02010609060101010101" pitchFamily="49" charset="-122"/>
                <a:ea typeface="FangSong" panose="02010609060101010101" pitchFamily="49" charset="-122"/>
              </a:rPr>
              <a:t>学生感悟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E12A24-B418-65B7-0F83-91D1BF436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995" y="348638"/>
            <a:ext cx="7657573" cy="39673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2FE30A0-ED30-D266-EF3F-C454DCD8E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329" y="4712773"/>
            <a:ext cx="7744906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388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C6BB81-96F2-1A49-9661-6CEAABFAC9D1}"/>
              </a:ext>
            </a:extLst>
          </p:cNvPr>
          <p:cNvSpPr txBox="1"/>
          <p:nvPr/>
        </p:nvSpPr>
        <p:spPr>
          <a:xfrm>
            <a:off x="3471551" y="339958"/>
            <a:ext cx="5474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我们拥有的第一套计算热物问题的本领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（</a:t>
            </a:r>
            <a:r>
              <a:rPr lang="zh-CN" alt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热容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为例）</a:t>
            </a:r>
            <a:endParaRPr lang="en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AE3533-6818-754E-AAC2-4207FC60B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86" y="1522870"/>
            <a:ext cx="11443855" cy="38122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CEB989-6C7B-E8EB-9756-5215A9D60D33}"/>
                  </a:ext>
                </a:extLst>
              </p:cNvPr>
              <p:cNvSpPr txBox="1"/>
              <p:nvPr/>
            </p:nvSpPr>
            <p:spPr>
              <a:xfrm>
                <a:off x="5252852" y="5834329"/>
                <a:ext cx="1686296" cy="683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CEB989-6C7B-E8EB-9756-5215A9D60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852" y="5834329"/>
                <a:ext cx="1686296" cy="683713"/>
              </a:xfrm>
              <a:prstGeom prst="rect">
                <a:avLst/>
              </a:prstGeom>
              <a:blipFill>
                <a:blip r:embed="rId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96BB5AA-3F82-764C-FB8B-CE07A87F0E5C}"/>
              </a:ext>
            </a:extLst>
          </p:cNvPr>
          <p:cNvSpPr/>
          <p:nvPr/>
        </p:nvSpPr>
        <p:spPr>
          <a:xfrm>
            <a:off x="0" y="41564"/>
            <a:ext cx="17475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6024B1-6680-12DF-80E5-105EADC8E54E}"/>
              </a:ext>
            </a:extLst>
          </p:cNvPr>
          <p:cNvSpPr txBox="1"/>
          <p:nvPr/>
        </p:nvSpPr>
        <p:spPr>
          <a:xfrm>
            <a:off x="8253248" y="5431221"/>
            <a:ext cx="3677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学生意见</a:t>
            </a:r>
            <a:r>
              <a:rPr lang="zh-CN" altLang="en-US" dirty="0"/>
              <a:t>！！！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901981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4115CD-105A-AFDB-5328-94F62226ECE8}"/>
              </a:ext>
            </a:extLst>
          </p:cNvPr>
          <p:cNvSpPr/>
          <p:nvPr/>
        </p:nvSpPr>
        <p:spPr>
          <a:xfrm>
            <a:off x="0" y="0"/>
            <a:ext cx="1931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68C05-861F-A564-CADE-99EBFBD2F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282700"/>
            <a:ext cx="10477500" cy="42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90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A57551C-21DD-4235-830A-41E2CC2836DB}"/>
              </a:ext>
            </a:extLst>
          </p:cNvPr>
          <p:cNvSpPr/>
          <p:nvPr/>
        </p:nvSpPr>
        <p:spPr>
          <a:xfrm>
            <a:off x="0" y="0"/>
            <a:ext cx="1931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052C88-1920-FA2D-B6E6-8115873F1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545" y="4444966"/>
            <a:ext cx="5056909" cy="18715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29DD94-51F4-2539-AFC0-F4E51CE49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27" y="1167381"/>
            <a:ext cx="5121344" cy="2191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74A255-9415-B04A-D998-90ED95985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962" y="1011538"/>
            <a:ext cx="3972039" cy="2347510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2B130885-1667-5844-0647-795F0B4B6A00}"/>
              </a:ext>
            </a:extLst>
          </p:cNvPr>
          <p:cNvSpPr/>
          <p:nvPr/>
        </p:nvSpPr>
        <p:spPr>
          <a:xfrm rot="18465103">
            <a:off x="4546204" y="3241227"/>
            <a:ext cx="225206" cy="13215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2D2F73BB-65BC-EE45-3052-F4C5710FF0DD}"/>
              </a:ext>
            </a:extLst>
          </p:cNvPr>
          <p:cNvSpPr/>
          <p:nvPr/>
        </p:nvSpPr>
        <p:spPr>
          <a:xfrm rot="3088737">
            <a:off x="6370658" y="3227209"/>
            <a:ext cx="225206" cy="13215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3C265A-22D0-2912-AB04-91027B9D6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443" y="4730857"/>
            <a:ext cx="2868557" cy="1299769"/>
          </a:xfrm>
        </p:spPr>
        <p:txBody>
          <a:bodyPr>
            <a:normAutofit lnSpcReduction="10000"/>
          </a:bodyPr>
          <a:lstStyle/>
          <a:p>
            <a:r>
              <a:rPr lang="en-CN" sz="2400" dirty="0">
                <a:latin typeface="FangSong" panose="02010609060101010101" pitchFamily="49" charset="-122"/>
                <a:ea typeface="FangSong" panose="02010609060101010101" pitchFamily="49" charset="-122"/>
              </a:rPr>
              <a:t>平均值</a:t>
            </a:r>
          </a:p>
          <a:p>
            <a:r>
              <a:rPr lang="en-CN" sz="2400" dirty="0">
                <a:latin typeface="FangSong" panose="02010609060101010101" pitchFamily="49" charset="-122"/>
                <a:ea typeface="FangSong" panose="02010609060101010101" pitchFamily="49" charset="-122"/>
              </a:rPr>
              <a:t>能量均分定理</a:t>
            </a:r>
          </a:p>
          <a:p>
            <a:r>
              <a:rPr lang="en-CN" sz="2400" dirty="0">
                <a:latin typeface="FangSong" panose="02010609060101010101" pitchFamily="49" charset="-122"/>
                <a:ea typeface="FangSong" panose="02010609060101010101" pitchFamily="49" charset="-122"/>
              </a:rPr>
              <a:t>麦克斯韦速率分布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DBF43CAA-1562-1D4E-2033-CE1A43C98D20}"/>
              </a:ext>
            </a:extLst>
          </p:cNvPr>
          <p:cNvSpPr/>
          <p:nvPr/>
        </p:nvSpPr>
        <p:spPr>
          <a:xfrm>
            <a:off x="8624454" y="4387622"/>
            <a:ext cx="505691" cy="2040887"/>
          </a:xfrm>
          <a:prstGeom prst="lef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11944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A57551C-21DD-4235-830A-41E2CC2836DB}"/>
              </a:ext>
            </a:extLst>
          </p:cNvPr>
          <p:cNvSpPr/>
          <p:nvPr/>
        </p:nvSpPr>
        <p:spPr>
          <a:xfrm>
            <a:off x="0" y="0"/>
            <a:ext cx="1931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052C88-1920-FA2D-B6E6-8115873F1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545" y="4444966"/>
            <a:ext cx="5056909" cy="18715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29DD94-51F4-2539-AFC0-F4E51CE49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27" y="1167381"/>
            <a:ext cx="5121344" cy="2191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74A255-9415-B04A-D998-90ED95985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962" y="1011538"/>
            <a:ext cx="3972039" cy="2347510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2B130885-1667-5844-0647-795F0B4B6A00}"/>
              </a:ext>
            </a:extLst>
          </p:cNvPr>
          <p:cNvSpPr/>
          <p:nvPr/>
        </p:nvSpPr>
        <p:spPr>
          <a:xfrm rot="18465103">
            <a:off x="4546204" y="3241227"/>
            <a:ext cx="225206" cy="13215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2D2F73BB-65BC-EE45-3052-F4C5710FF0DD}"/>
              </a:ext>
            </a:extLst>
          </p:cNvPr>
          <p:cNvSpPr/>
          <p:nvPr/>
        </p:nvSpPr>
        <p:spPr>
          <a:xfrm rot="3088737">
            <a:off x="6370658" y="3227209"/>
            <a:ext cx="225206" cy="13215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3C265A-22D0-2912-AB04-91027B9D6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443" y="4730857"/>
            <a:ext cx="2868557" cy="1299769"/>
          </a:xfrm>
        </p:spPr>
        <p:txBody>
          <a:bodyPr>
            <a:normAutofit lnSpcReduction="10000"/>
          </a:bodyPr>
          <a:lstStyle/>
          <a:p>
            <a:r>
              <a:rPr lang="en-CN" sz="2400" dirty="0">
                <a:latin typeface="FangSong" panose="02010609060101010101" pitchFamily="49" charset="-122"/>
                <a:ea typeface="FangSong" panose="02010609060101010101" pitchFamily="49" charset="-122"/>
              </a:rPr>
              <a:t>平均值</a:t>
            </a:r>
          </a:p>
          <a:p>
            <a:r>
              <a:rPr lang="en-CN" sz="2400" dirty="0">
                <a:latin typeface="FangSong" panose="02010609060101010101" pitchFamily="49" charset="-122"/>
                <a:ea typeface="FangSong" panose="02010609060101010101" pitchFamily="49" charset="-122"/>
              </a:rPr>
              <a:t>能量均分定理</a:t>
            </a:r>
          </a:p>
          <a:p>
            <a:r>
              <a:rPr lang="en-CN" sz="2400" dirty="0">
                <a:latin typeface="FangSong" panose="02010609060101010101" pitchFamily="49" charset="-122"/>
                <a:ea typeface="FangSong" panose="02010609060101010101" pitchFamily="49" charset="-122"/>
              </a:rPr>
              <a:t>麦克斯韦速率分布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DBF43CAA-1562-1D4E-2033-CE1A43C98D20}"/>
              </a:ext>
            </a:extLst>
          </p:cNvPr>
          <p:cNvSpPr/>
          <p:nvPr/>
        </p:nvSpPr>
        <p:spPr>
          <a:xfrm>
            <a:off x="8624454" y="4387622"/>
            <a:ext cx="505691" cy="2040887"/>
          </a:xfrm>
          <a:prstGeom prst="lef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435390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A57551C-21DD-4235-830A-41E2CC2836DB}"/>
              </a:ext>
            </a:extLst>
          </p:cNvPr>
          <p:cNvSpPr/>
          <p:nvPr/>
        </p:nvSpPr>
        <p:spPr>
          <a:xfrm>
            <a:off x="0" y="0"/>
            <a:ext cx="1931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D2DF26-3B13-BE6A-D75D-F96E62072C88}"/>
              </a:ext>
            </a:extLst>
          </p:cNvPr>
          <p:cNvSpPr txBox="1"/>
          <p:nvPr/>
        </p:nvSpPr>
        <p:spPr>
          <a:xfrm>
            <a:off x="4050759" y="215444"/>
            <a:ext cx="40904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/>
            <a:r>
              <a:rPr lang="en-CN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Helmholtz自由能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664BBB-65E2-F09B-FA02-9F18F1589BC7}"/>
                  </a:ext>
                </a:extLst>
              </p:cNvPr>
              <p:cNvSpPr txBox="1"/>
              <p:nvPr/>
            </p:nvSpPr>
            <p:spPr>
              <a:xfrm>
                <a:off x="2331395" y="1908055"/>
                <a:ext cx="752920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CN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664BBB-65E2-F09B-FA02-9F18F1589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395" y="1908055"/>
                <a:ext cx="7529208" cy="707886"/>
              </a:xfrm>
              <a:prstGeom prst="rect">
                <a:avLst/>
              </a:prstGeom>
              <a:blipFill>
                <a:blip r:embed="rId2"/>
                <a:stretch>
                  <a:fillRect b="-267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77F6C07-7CA6-159D-BB24-CEFD4EF26CE5}"/>
              </a:ext>
            </a:extLst>
          </p:cNvPr>
          <p:cNvSpPr txBox="1"/>
          <p:nvPr/>
        </p:nvSpPr>
        <p:spPr>
          <a:xfrm>
            <a:off x="4516787" y="1046360"/>
            <a:ext cx="315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把内能</a:t>
            </a:r>
            <a:r>
              <a:rPr lang="zh-CN" altLang="en-US" dirty="0"/>
              <a:t>、熵、温度组合了一下</a:t>
            </a:r>
            <a:endParaRPr lang="en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2E1913-51DD-3BCB-3CA4-AAAF09862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85" y="2951017"/>
            <a:ext cx="3883606" cy="35305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870277-052D-7C75-47CE-B5699A566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683" y="3306798"/>
            <a:ext cx="5926282" cy="250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189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82BDA6-0BF8-9C4D-8C1E-B3AEC61C0D2C}"/>
                  </a:ext>
                </a:extLst>
              </p:cNvPr>
              <p:cNvSpPr txBox="1"/>
              <p:nvPr/>
            </p:nvSpPr>
            <p:spPr>
              <a:xfrm>
                <a:off x="4786745" y="4881399"/>
                <a:ext cx="261850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F=</a:t>
                </a:r>
                <a14:m>
                  <m:oMath xmlns:m="http://schemas.openxmlformats.org/officeDocument/2006/math">
                    <m:r>
                      <a:rPr lang="en-US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func>
                      <m:funcPr>
                        <m:ctrlP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func>
                  </m:oMath>
                </a14:m>
                <a:endParaRPr lang="en-CN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82BDA6-0BF8-9C4D-8C1E-B3AEC61C0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745" y="4881399"/>
                <a:ext cx="2618509" cy="707886"/>
              </a:xfrm>
              <a:prstGeom prst="rect">
                <a:avLst/>
              </a:prstGeom>
              <a:blipFill>
                <a:blip r:embed="rId2"/>
                <a:stretch>
                  <a:fillRect l="-4327" t="-14035" b="-3684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B8DAC2-D886-6D40-B258-A70149C0EC1C}"/>
                  </a:ext>
                </a:extLst>
              </p:cNvPr>
              <p:cNvSpPr txBox="1"/>
              <p:nvPr/>
            </p:nvSpPr>
            <p:spPr>
              <a:xfrm>
                <a:off x="8631383" y="2835120"/>
                <a:ext cx="2597723" cy="9792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B8DAC2-D886-6D40-B258-A70149C0E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383" y="2835120"/>
                <a:ext cx="2597723" cy="979242"/>
              </a:xfrm>
              <a:prstGeom prst="rect">
                <a:avLst/>
              </a:prstGeom>
              <a:blipFill>
                <a:blip r:embed="rId3"/>
                <a:stretch>
                  <a:fillRect t="-2564" b="-141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0BE68B-CC8D-BE47-B183-AAD820DAA1E9}"/>
                  </a:ext>
                </a:extLst>
              </p:cNvPr>
              <p:cNvSpPr txBox="1"/>
              <p:nvPr/>
            </p:nvSpPr>
            <p:spPr>
              <a:xfrm>
                <a:off x="3872342" y="908495"/>
                <a:ext cx="3990109" cy="122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3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p>
                          </m:sSup>
                        </m:num>
                        <m:den>
                          <m:r>
                            <a:rPr lang="en-US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en-CN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0BE68B-CC8D-BE47-B183-AAD820DAA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342" y="908495"/>
                <a:ext cx="3990109" cy="1222771"/>
              </a:xfrm>
              <a:prstGeom prst="rect">
                <a:avLst/>
              </a:prstGeom>
              <a:blipFill>
                <a:blip r:embed="rId4"/>
                <a:stretch>
                  <a:fillRect b="-824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D1116B-335D-7043-8849-E8BCDDD11F6C}"/>
                  </a:ext>
                </a:extLst>
              </p:cNvPr>
              <p:cNvSpPr txBox="1"/>
              <p:nvPr/>
            </p:nvSpPr>
            <p:spPr>
              <a:xfrm>
                <a:off x="554182" y="2755803"/>
                <a:ext cx="3990109" cy="1137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func>
                            <m:func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D1116B-335D-7043-8849-E8BCDDD11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82" y="2755803"/>
                <a:ext cx="3990109" cy="1137876"/>
              </a:xfrm>
              <a:prstGeom prst="rect">
                <a:avLst/>
              </a:prstGeom>
              <a:blipFill>
                <a:blip r:embed="rId5"/>
                <a:stretch>
                  <a:fillRect l="-1587" t="-128571" b="-18022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Arrow 3">
            <a:extLst>
              <a:ext uri="{FF2B5EF4-FFF2-40B4-BE49-F238E27FC236}">
                <a16:creationId xmlns:a16="http://schemas.microsoft.com/office/drawing/2014/main" id="{8F4116E4-ED74-3F4C-AD0A-95ED6175EE1F}"/>
              </a:ext>
            </a:extLst>
          </p:cNvPr>
          <p:cNvSpPr/>
          <p:nvPr/>
        </p:nvSpPr>
        <p:spPr>
          <a:xfrm rot="2717000">
            <a:off x="3258542" y="4170258"/>
            <a:ext cx="1814945" cy="4226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FB398786-7BBE-9440-AF4F-F4D80C1B9EFD}"/>
              </a:ext>
            </a:extLst>
          </p:cNvPr>
          <p:cNvSpPr/>
          <p:nvPr/>
        </p:nvSpPr>
        <p:spPr>
          <a:xfrm rot="18809161">
            <a:off x="7377645" y="4269478"/>
            <a:ext cx="1814945" cy="364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F4F67843-FABC-4548-ADB6-5392D3B3F23A}"/>
              </a:ext>
            </a:extLst>
          </p:cNvPr>
          <p:cNvSpPr/>
          <p:nvPr/>
        </p:nvSpPr>
        <p:spPr>
          <a:xfrm rot="10800000">
            <a:off x="5475178" y="3093291"/>
            <a:ext cx="1814945" cy="508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9FEA94-EAB1-9B1E-A325-6961C9DFC813}"/>
              </a:ext>
            </a:extLst>
          </p:cNvPr>
          <p:cNvSpPr/>
          <p:nvPr/>
        </p:nvSpPr>
        <p:spPr>
          <a:xfrm>
            <a:off x="0" y="0"/>
            <a:ext cx="1931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Part-II</a:t>
            </a:r>
          </a:p>
        </p:txBody>
      </p:sp>
    </p:spTree>
    <p:extLst>
      <p:ext uri="{BB962C8B-B14F-4D97-AF65-F5344CB8AC3E}">
        <p14:creationId xmlns:p14="http://schemas.microsoft.com/office/powerpoint/2010/main" val="4113645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A57551C-21DD-4235-830A-41E2CC2836DB}"/>
              </a:ext>
            </a:extLst>
          </p:cNvPr>
          <p:cNvSpPr/>
          <p:nvPr/>
        </p:nvSpPr>
        <p:spPr>
          <a:xfrm>
            <a:off x="0" y="0"/>
            <a:ext cx="1931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2205C3-7327-39BD-26EB-C3273169A0AE}"/>
                  </a:ext>
                </a:extLst>
              </p:cNvPr>
              <p:cNvSpPr txBox="1"/>
              <p:nvPr/>
            </p:nvSpPr>
            <p:spPr>
              <a:xfrm>
                <a:off x="7904018" y="2698031"/>
                <a:ext cx="2618509" cy="7309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</m:oMath>
                  </m:oMathPara>
                </a14:m>
                <a:endParaRPr lang="en-CN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2205C3-7327-39BD-26EB-C3273169A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018" y="2698031"/>
                <a:ext cx="2618509" cy="730969"/>
              </a:xfrm>
              <a:prstGeom prst="rect">
                <a:avLst/>
              </a:prstGeom>
              <a:blipFill>
                <a:blip r:embed="rId2"/>
                <a:stretch>
                  <a:fillRect l="-48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4B20C1-B1B5-4989-99B6-289AA3B6445E}"/>
                  </a:ext>
                </a:extLst>
              </p:cNvPr>
              <p:cNvSpPr txBox="1"/>
              <p:nvPr/>
            </p:nvSpPr>
            <p:spPr>
              <a:xfrm>
                <a:off x="1475508" y="2420940"/>
                <a:ext cx="3456709" cy="15860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CN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4B20C1-B1B5-4989-99B6-289AA3B64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508" y="2420940"/>
                <a:ext cx="3456709" cy="1586012"/>
              </a:xfrm>
              <a:prstGeom prst="rect">
                <a:avLst/>
              </a:prstGeom>
              <a:blipFill>
                <a:blip r:embed="rId3"/>
                <a:stretch>
                  <a:fillRect l="-23443" t="-135714" b="-18730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8753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A57551C-21DD-4235-830A-41E2CC2836DB}"/>
              </a:ext>
            </a:extLst>
          </p:cNvPr>
          <p:cNvSpPr/>
          <p:nvPr/>
        </p:nvSpPr>
        <p:spPr>
          <a:xfrm>
            <a:off x="0" y="13855"/>
            <a:ext cx="2116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Part-III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64BE5C-2D14-98CF-3832-A2CFF1971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37" y="1325113"/>
            <a:ext cx="6523125" cy="30680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126A41-B7DD-8B5E-709F-EA238A178A6D}"/>
                  </a:ext>
                </a:extLst>
              </p:cNvPr>
              <p:cNvSpPr txBox="1"/>
              <p:nvPr/>
            </p:nvSpPr>
            <p:spPr>
              <a:xfrm>
                <a:off x="3020291" y="4710545"/>
                <a:ext cx="6151418" cy="1406475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num>
                                <m:den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</m:oMath>
                  </m:oMathPara>
                </a14:m>
                <a:endParaRPr lang="en-CN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126A41-B7DD-8B5E-709F-EA238A178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0291" y="4710545"/>
                <a:ext cx="6151418" cy="1406475"/>
              </a:xfrm>
              <a:prstGeom prst="rect">
                <a:avLst/>
              </a:prstGeom>
              <a:blipFill>
                <a:blip r:embed="rId3"/>
                <a:stretch>
                  <a:fillRect b="-90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401E52C-D5C6-6FD8-CFBC-00905217C50E}"/>
              </a:ext>
            </a:extLst>
          </p:cNvPr>
          <p:cNvSpPr txBox="1"/>
          <p:nvPr/>
        </p:nvSpPr>
        <p:spPr>
          <a:xfrm>
            <a:off x="2535382" y="324158"/>
            <a:ext cx="6345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让粒子数变起来</a:t>
            </a:r>
          </a:p>
        </p:txBody>
      </p:sp>
    </p:spTree>
    <p:extLst>
      <p:ext uri="{BB962C8B-B14F-4D97-AF65-F5344CB8AC3E}">
        <p14:creationId xmlns:p14="http://schemas.microsoft.com/office/powerpoint/2010/main" val="1887480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73413F-8B62-E74A-AD01-6B68CA498460}"/>
              </a:ext>
            </a:extLst>
          </p:cNvPr>
          <p:cNvSpPr txBox="1"/>
          <p:nvPr/>
        </p:nvSpPr>
        <p:spPr>
          <a:xfrm>
            <a:off x="358775" y="270889"/>
            <a:ext cx="288174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化学势的意义</a:t>
            </a:r>
          </a:p>
          <a:p>
            <a:endParaRPr lang="en-CN" dirty="0"/>
          </a:p>
          <a:p>
            <a:r>
              <a:rPr lang="en-CN" dirty="0"/>
              <a:t>The chemical poential is equivalent to a true potential energy: the difference in chemical potential between two system is equal to the potential barrier that will bring the two system into difffusive equilibrium.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538148-929F-6844-B6B0-D03B546B2640}"/>
                  </a:ext>
                </a:extLst>
              </p:cNvPr>
              <p:cNvSpPr txBox="1"/>
              <p:nvPr/>
            </p:nvSpPr>
            <p:spPr>
              <a:xfrm>
                <a:off x="219508" y="5696150"/>
                <a:ext cx="33112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𝑖𝑛𝑡</m:t>
                          </m:r>
                        </m:sub>
                      </m:sSub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538148-929F-6844-B6B0-D03B546B2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08" y="5696150"/>
                <a:ext cx="3311237" cy="523220"/>
              </a:xfrm>
              <a:prstGeom prst="rect">
                <a:avLst/>
              </a:prstGeom>
              <a:blipFill>
                <a:blip r:embed="rId3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12002FB-0A78-8246-8A59-F104B45AEC85}"/>
              </a:ext>
            </a:extLst>
          </p:cNvPr>
          <p:cNvSpPr txBox="1"/>
          <p:nvPr/>
        </p:nvSpPr>
        <p:spPr>
          <a:xfrm>
            <a:off x="358775" y="4136885"/>
            <a:ext cx="32142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MR10"/>
              </a:rPr>
              <a:t>Adding a potential energy per particle therefore corresponds to adding a potential energy to the chemical potential. 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E21F17-E470-6142-95E3-EBAAA2A274C6}"/>
              </a:ext>
            </a:extLst>
          </p:cNvPr>
          <p:cNvCxnSpPr/>
          <p:nvPr/>
        </p:nvCxnSpPr>
        <p:spPr>
          <a:xfrm flipV="1">
            <a:off x="3573028" y="257292"/>
            <a:ext cx="0" cy="31529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A48BC2-C0DB-9949-AF63-589A47C84A33}"/>
              </a:ext>
            </a:extLst>
          </p:cNvPr>
          <p:cNvCxnSpPr/>
          <p:nvPr/>
        </p:nvCxnSpPr>
        <p:spPr>
          <a:xfrm>
            <a:off x="4391886" y="1427018"/>
            <a:ext cx="942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0E6B26-1C9D-3042-9C5F-377E481A1835}"/>
              </a:ext>
            </a:extLst>
          </p:cNvPr>
          <p:cNvCxnSpPr/>
          <p:nvPr/>
        </p:nvCxnSpPr>
        <p:spPr>
          <a:xfrm>
            <a:off x="4447301" y="2937163"/>
            <a:ext cx="942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5F6324-26E2-F944-A231-BB055D23FC68}"/>
                  </a:ext>
                </a:extLst>
              </p:cNvPr>
              <p:cNvSpPr txBox="1"/>
              <p:nvPr/>
            </p:nvSpPr>
            <p:spPr>
              <a:xfrm>
                <a:off x="5805060" y="270889"/>
                <a:ext cx="6206832" cy="5661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Let us look at two system A and B at the same temperature that may exchange particles.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CN" dirty="0"/>
                  <a:t>, </a:t>
                </a:r>
                <a14:m>
                  <m:oMath xmlns:m="http://schemas.openxmlformats.org/officeDocument/2006/math">
                    <m:r>
                      <a:rPr lang="en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Let us now introduce a difference in potential energy between the two systems. For example, for charged particles we may introduce an electric field with a voltage diffeerence </a:t>
                </a:r>
                <a14:m>
                  <m:oMath xmlns:m="http://schemas.openxmlformats.org/officeDocument/2006/math">
                    <m:r>
                      <a:rPr lang="en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CN" dirty="0"/>
                  <a:t>. We apply this to all particles in system A so that we raise their potential energy by </a:t>
                </a:r>
                <a14:m>
                  <m:oMath xmlns:m="http://schemas.openxmlformats.org/officeDocument/2006/math">
                    <m:r>
                      <a:rPr lang="en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CN" dirty="0"/>
                  <a:t>.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CN" dirty="0"/>
              </a:p>
              <a:p>
                <a:pPr algn="ctr"/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We have not changed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The change in free energy in system A is by the change in internal energy,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CN" dirty="0"/>
                  <a:t>this means that the energy of every state in system A has changed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补遗六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𝑓𝑖𝑛𝑎𝑙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𝑖𝑛𝑖𝑡𝑖𝑎𝑙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𝑖𝑛𝑖𝑡𝑖𝑎𝑙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𝑖𝑛𝑖𝑡𝑖𝑎𝑙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𝑖𝑛𝑖𝑡𝑖𝑎𝑙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𝑖𝑛𝑖𝑡𝑖𝑎𝑙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𝑖𝑛𝑖𝑡𝑖𝑎𝑙</m:t>
                        </m:r>
                      </m:e>
                    </m:d>
                  </m:oMath>
                </a14:m>
                <a:r>
                  <a:rPr lang="en-CN" dirty="0"/>
                  <a:t>=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𝑓𝑖𝑛𝑎𝑙</m:t>
                        </m:r>
                      </m:e>
                    </m:d>
                  </m:oMath>
                </a14:m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There is therefore no longer any difference in chemical potential.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5F6324-26E2-F944-A231-BB055D23F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060" y="270889"/>
                <a:ext cx="6206832" cy="5661614"/>
              </a:xfrm>
              <a:prstGeom prst="rect">
                <a:avLst/>
              </a:prstGeom>
              <a:blipFill>
                <a:blip r:embed="rId4"/>
                <a:stretch>
                  <a:fillRect l="-408" t="-447" r="-1633" b="-89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448B1A-DADD-CF48-BC31-607D98B189AD}"/>
                  </a:ext>
                </a:extLst>
              </p:cNvPr>
              <p:cNvSpPr txBox="1"/>
              <p:nvPr/>
            </p:nvSpPr>
            <p:spPr>
              <a:xfrm>
                <a:off x="3768436" y="2784764"/>
                <a:ext cx="623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448B1A-DADD-CF48-BC31-607D98B18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436" y="2784764"/>
                <a:ext cx="623450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E4C4B-31B5-244F-9583-D3B1DC58D1CE}"/>
                  </a:ext>
                </a:extLst>
              </p:cNvPr>
              <p:cNvSpPr txBox="1"/>
              <p:nvPr/>
            </p:nvSpPr>
            <p:spPr>
              <a:xfrm>
                <a:off x="3704651" y="1200787"/>
                <a:ext cx="623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E4C4B-31B5-244F-9583-D3B1DC58D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651" y="1200787"/>
                <a:ext cx="62345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3940421B-005A-1250-CBBC-630E3C25A56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1" t="14568" r="-1404" b="44792"/>
          <a:stretch/>
        </p:blipFill>
        <p:spPr>
          <a:xfrm>
            <a:off x="1263642" y="551472"/>
            <a:ext cx="10146518" cy="555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067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73413F-8B62-E74A-AD01-6B68CA498460}"/>
              </a:ext>
            </a:extLst>
          </p:cNvPr>
          <p:cNvSpPr txBox="1"/>
          <p:nvPr/>
        </p:nvSpPr>
        <p:spPr>
          <a:xfrm>
            <a:off x="358775" y="270889"/>
            <a:ext cx="288174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化学势的意义</a:t>
            </a:r>
          </a:p>
          <a:p>
            <a:endParaRPr lang="en-CN" dirty="0"/>
          </a:p>
          <a:p>
            <a:r>
              <a:rPr lang="en-CN" dirty="0"/>
              <a:t>The chemical poential is equivalent to a true potential energy: the difference in chemical potential between two system is equal to the potential barrier that will bring the two system into difffusive equilibrium.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538148-929F-6844-B6B0-D03B546B2640}"/>
                  </a:ext>
                </a:extLst>
              </p:cNvPr>
              <p:cNvSpPr txBox="1"/>
              <p:nvPr/>
            </p:nvSpPr>
            <p:spPr>
              <a:xfrm>
                <a:off x="219508" y="5696150"/>
                <a:ext cx="331123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𝑖𝑛𝑡</m:t>
                          </m:r>
                        </m:sub>
                      </m:sSub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538148-929F-6844-B6B0-D03B546B2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08" y="5696150"/>
                <a:ext cx="3311237" cy="523220"/>
              </a:xfrm>
              <a:prstGeom prst="rect">
                <a:avLst/>
              </a:prstGeom>
              <a:blipFill>
                <a:blip r:embed="rId3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12002FB-0A78-8246-8A59-F104B45AEC85}"/>
              </a:ext>
            </a:extLst>
          </p:cNvPr>
          <p:cNvSpPr txBox="1"/>
          <p:nvPr/>
        </p:nvSpPr>
        <p:spPr>
          <a:xfrm>
            <a:off x="358775" y="4136885"/>
            <a:ext cx="32142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MR10"/>
              </a:rPr>
              <a:t>Adding a potential energy per particle therefore corresponds to adding a potential energy to the chemical potential. 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E21F17-E470-6142-95E3-EBAAA2A274C6}"/>
              </a:ext>
            </a:extLst>
          </p:cNvPr>
          <p:cNvCxnSpPr/>
          <p:nvPr/>
        </p:nvCxnSpPr>
        <p:spPr>
          <a:xfrm flipV="1">
            <a:off x="3573028" y="257292"/>
            <a:ext cx="0" cy="31529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A48BC2-C0DB-9949-AF63-589A47C84A33}"/>
              </a:ext>
            </a:extLst>
          </p:cNvPr>
          <p:cNvCxnSpPr/>
          <p:nvPr/>
        </p:nvCxnSpPr>
        <p:spPr>
          <a:xfrm>
            <a:off x="4391886" y="1427018"/>
            <a:ext cx="942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0E6B26-1C9D-3042-9C5F-377E481A1835}"/>
              </a:ext>
            </a:extLst>
          </p:cNvPr>
          <p:cNvCxnSpPr/>
          <p:nvPr/>
        </p:nvCxnSpPr>
        <p:spPr>
          <a:xfrm>
            <a:off x="4447301" y="2937163"/>
            <a:ext cx="942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5F6324-26E2-F944-A231-BB055D23FC68}"/>
                  </a:ext>
                </a:extLst>
              </p:cNvPr>
              <p:cNvSpPr txBox="1"/>
              <p:nvPr/>
            </p:nvSpPr>
            <p:spPr>
              <a:xfrm>
                <a:off x="5805060" y="270889"/>
                <a:ext cx="6206832" cy="5661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Let us look at two system A and B at the same temperature that may exchange particles.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CN" dirty="0"/>
                  <a:t>, </a:t>
                </a:r>
                <a14:m>
                  <m:oMath xmlns:m="http://schemas.openxmlformats.org/officeDocument/2006/math">
                    <m:r>
                      <a:rPr lang="en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Let us now introduce a difference in potential energy between the two systems. For example, for charged particles we may introduce an electric field with a voltage diffeerence </a:t>
                </a:r>
                <a14:m>
                  <m:oMath xmlns:m="http://schemas.openxmlformats.org/officeDocument/2006/math">
                    <m:r>
                      <a:rPr lang="en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CN" dirty="0"/>
                  <a:t>. We apply this to all particles in system A so that we raise their potential energy by </a:t>
                </a:r>
                <a14:m>
                  <m:oMath xmlns:m="http://schemas.openxmlformats.org/officeDocument/2006/math">
                    <m:r>
                      <a:rPr lang="en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CN" dirty="0"/>
                  <a:t>.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CN" dirty="0"/>
              </a:p>
              <a:p>
                <a:pPr algn="ctr"/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We have not changed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The change in free energy in system A is by the change in internal energy,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CN" dirty="0"/>
                  <a:t>this means that the energy of every state in system A has changed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补遗六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𝑓𝑖𝑛𝑎𝑙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𝑖𝑛𝑖𝑡𝑖𝑎𝑙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𝑖𝑛𝑖𝑡𝑖𝑎𝑙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𝑖𝑛𝑖𝑡𝑖𝑎𝑙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𝑖𝑛𝑖𝑡𝑖𝑎𝑙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𝑖𝑛𝑖𝑡𝑖𝑎𝑙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𝑖𝑛𝑖𝑡𝑖𝑎𝑙</m:t>
                        </m:r>
                      </m:e>
                    </m:d>
                  </m:oMath>
                </a14:m>
                <a:r>
                  <a:rPr lang="en-CN" dirty="0"/>
                  <a:t>=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𝑓𝑖𝑛𝑎𝑙</m:t>
                        </m:r>
                      </m:e>
                    </m:d>
                  </m:oMath>
                </a14:m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There is therefore no longer any difference in chemical potential.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5F6324-26E2-F944-A231-BB055D23F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060" y="270889"/>
                <a:ext cx="6206832" cy="5661614"/>
              </a:xfrm>
              <a:prstGeom prst="rect">
                <a:avLst/>
              </a:prstGeom>
              <a:blipFill>
                <a:blip r:embed="rId4"/>
                <a:stretch>
                  <a:fillRect l="-408" t="-447" r="-1633" b="-89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448B1A-DADD-CF48-BC31-607D98B189AD}"/>
                  </a:ext>
                </a:extLst>
              </p:cNvPr>
              <p:cNvSpPr txBox="1"/>
              <p:nvPr/>
            </p:nvSpPr>
            <p:spPr>
              <a:xfrm>
                <a:off x="3768436" y="2784764"/>
                <a:ext cx="623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448B1A-DADD-CF48-BC31-607D98B18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436" y="2784764"/>
                <a:ext cx="623450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E4C4B-31B5-244F-9583-D3B1DC58D1CE}"/>
                  </a:ext>
                </a:extLst>
              </p:cNvPr>
              <p:cNvSpPr txBox="1"/>
              <p:nvPr/>
            </p:nvSpPr>
            <p:spPr>
              <a:xfrm>
                <a:off x="3704651" y="1200787"/>
                <a:ext cx="623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4E4C4B-31B5-244F-9583-D3B1DC58D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651" y="1200787"/>
                <a:ext cx="62345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5625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D8D391-3137-30D9-F8D2-A9C82B51C5EE}"/>
              </a:ext>
            </a:extLst>
          </p:cNvPr>
          <p:cNvSpPr/>
          <p:nvPr/>
        </p:nvSpPr>
        <p:spPr>
          <a:xfrm>
            <a:off x="0" y="13855"/>
            <a:ext cx="2116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Part-III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CBF34D-B323-8837-7DB3-57EF3B568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47" y="1745673"/>
            <a:ext cx="5132853" cy="29357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405FD0-2DD1-A062-05BE-8A0312067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3767"/>
            <a:ext cx="5132854" cy="2935742"/>
          </a:xfrm>
          <a:prstGeom prst="rect">
            <a:avLst/>
          </a:prstGeom>
        </p:spPr>
      </p:pic>
      <p:sp>
        <p:nvSpPr>
          <p:cNvPr id="9" name="Curved Up Arrow 8">
            <a:extLst>
              <a:ext uri="{FF2B5EF4-FFF2-40B4-BE49-F238E27FC236}">
                <a16:creationId xmlns:a16="http://schemas.microsoft.com/office/drawing/2014/main" id="{B2ED57B7-53B7-AE59-8D2B-ACDDCFBDFA8F}"/>
              </a:ext>
            </a:extLst>
          </p:cNvPr>
          <p:cNvSpPr/>
          <p:nvPr/>
        </p:nvSpPr>
        <p:spPr>
          <a:xfrm>
            <a:off x="3186545" y="4918364"/>
            <a:ext cx="5140037" cy="1191491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072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D8D391-3137-30D9-F8D2-A9C82B51C5EE}"/>
              </a:ext>
            </a:extLst>
          </p:cNvPr>
          <p:cNvSpPr/>
          <p:nvPr/>
        </p:nvSpPr>
        <p:spPr>
          <a:xfrm>
            <a:off x="0" y="13855"/>
            <a:ext cx="2116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Part-III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9CAF2A-29B2-3208-F41A-CA0DE19F2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00" y="1501545"/>
            <a:ext cx="8407400" cy="48086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67D87F-519A-B790-9793-AAD909200DEF}"/>
              </a:ext>
            </a:extLst>
          </p:cNvPr>
          <p:cNvSpPr txBox="1"/>
          <p:nvPr/>
        </p:nvSpPr>
        <p:spPr>
          <a:xfrm>
            <a:off x="2535382" y="324158"/>
            <a:ext cx="6345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一张图总结</a:t>
            </a:r>
          </a:p>
        </p:txBody>
      </p:sp>
    </p:spTree>
    <p:extLst>
      <p:ext uri="{BB962C8B-B14F-4D97-AF65-F5344CB8AC3E}">
        <p14:creationId xmlns:p14="http://schemas.microsoft.com/office/powerpoint/2010/main" val="1432174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D8D391-3137-30D9-F8D2-A9C82B51C5EE}"/>
              </a:ext>
            </a:extLst>
          </p:cNvPr>
          <p:cNvSpPr/>
          <p:nvPr/>
        </p:nvSpPr>
        <p:spPr>
          <a:xfrm>
            <a:off x="-20037" y="13855"/>
            <a:ext cx="21563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D4C2F0-C9E9-1022-46BA-129A7AD18365}"/>
              </a:ext>
            </a:extLst>
          </p:cNvPr>
          <p:cNvSpPr txBox="1">
            <a:spLocks/>
          </p:cNvSpPr>
          <p:nvPr/>
        </p:nvSpPr>
        <p:spPr>
          <a:xfrm>
            <a:off x="948770" y="987677"/>
            <a:ext cx="4540515" cy="13849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CN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量子统计(绪论)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1AB2BE6-0C13-9464-C4F9-01A6DFC934FD}"/>
              </a:ext>
            </a:extLst>
          </p:cNvPr>
          <p:cNvSpPr txBox="1">
            <a:spLocks/>
          </p:cNvSpPr>
          <p:nvPr/>
        </p:nvSpPr>
        <p:spPr>
          <a:xfrm>
            <a:off x="948770" y="2372671"/>
            <a:ext cx="11132394" cy="20495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zh-CN" altLang="en-CN" sz="3600" dirty="0">
                <a:latin typeface="FangSong" panose="02010609060101010101" pitchFamily="49" charset="-122"/>
                <a:ea typeface="FangSong" panose="02010609060101010101" pitchFamily="49" charset="-122"/>
              </a:rPr>
              <a:t>费米</a:t>
            </a:r>
            <a:r>
              <a:rPr lang="zh-CN" altLang="en-US" sz="3600" dirty="0">
                <a:latin typeface="FangSong" panose="02010609060101010101" pitchFamily="49" charset="-122"/>
                <a:ea typeface="FangSong" panose="02010609060101010101" pitchFamily="49" charset="-122"/>
              </a:rPr>
              <a:t>简并气体的基本性质</a:t>
            </a:r>
            <a:endParaRPr lang="en-US" altLang="zh-CN" sz="36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83FAE0C-0091-03FE-AF66-2DA4C76126DE}"/>
              </a:ext>
            </a:extLst>
          </p:cNvPr>
          <p:cNvSpPr txBox="1">
            <a:spLocks/>
          </p:cNvSpPr>
          <p:nvPr/>
        </p:nvSpPr>
        <p:spPr>
          <a:xfrm>
            <a:off x="993057" y="4334163"/>
            <a:ext cx="4540515" cy="22072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CN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黑体辐射</a:t>
            </a:r>
          </a:p>
          <a:p>
            <a:pPr marL="342900" indent="-342900"/>
            <a:r>
              <a:rPr lang="en-CN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Debye固体</a:t>
            </a:r>
          </a:p>
          <a:p>
            <a:pPr marL="342900" indent="-342900"/>
            <a:r>
              <a:rPr lang="en-CN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BEC</a:t>
            </a:r>
          </a:p>
        </p:txBody>
      </p:sp>
    </p:spTree>
    <p:extLst>
      <p:ext uri="{BB962C8B-B14F-4D97-AF65-F5344CB8AC3E}">
        <p14:creationId xmlns:p14="http://schemas.microsoft.com/office/powerpoint/2010/main" val="2317279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D8D391-3137-30D9-F8D2-A9C82B51C5EE}"/>
              </a:ext>
            </a:extLst>
          </p:cNvPr>
          <p:cNvSpPr/>
          <p:nvPr/>
        </p:nvSpPr>
        <p:spPr>
          <a:xfrm>
            <a:off x="-20037" y="13855"/>
            <a:ext cx="21563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Part-IV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A51C83C-3F05-44F4-FBDE-353233BB5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93" y="3641636"/>
            <a:ext cx="8914746" cy="302041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4B37E4F-523B-61EE-FACB-745102DF1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527" y="104311"/>
            <a:ext cx="7925906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12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D8D391-3137-30D9-F8D2-A9C82B51C5EE}"/>
              </a:ext>
            </a:extLst>
          </p:cNvPr>
          <p:cNvSpPr/>
          <p:nvPr/>
        </p:nvSpPr>
        <p:spPr>
          <a:xfrm>
            <a:off x="72135" y="13855"/>
            <a:ext cx="19720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Part-V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6A5E9-503A-3D6C-3034-04679C6C464A}"/>
              </a:ext>
            </a:extLst>
          </p:cNvPr>
          <p:cNvSpPr txBox="1">
            <a:spLocks/>
          </p:cNvSpPr>
          <p:nvPr/>
        </p:nvSpPr>
        <p:spPr>
          <a:xfrm>
            <a:off x="353025" y="1007012"/>
            <a:ext cx="10425811" cy="24219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N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相互作用系统</a:t>
            </a:r>
          </a:p>
          <a:p>
            <a:r>
              <a:rPr lang="en-CN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弱耦合</a:t>
            </a:r>
            <a:r>
              <a:rPr lang="zh-CN" altLang="en-US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（集团展开）</a:t>
            </a:r>
            <a:endParaRPr lang="en-CN" sz="4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r>
              <a:rPr lang="en-CN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Ising模型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18900C-2629-0745-F521-BDCB5F2D3A7C}"/>
              </a:ext>
            </a:extLst>
          </p:cNvPr>
          <p:cNvSpPr txBox="1"/>
          <p:nvPr/>
        </p:nvSpPr>
        <p:spPr>
          <a:xfrm>
            <a:off x="2618509" y="3428999"/>
            <a:ext cx="719050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CN" sz="3200" dirty="0">
                <a:latin typeface="FangSong" panose="02010609060101010101" pitchFamily="49" charset="-122"/>
                <a:ea typeface="FangSong" panose="02010609060101010101" pitchFamily="49" charset="-122"/>
              </a:rPr>
              <a:t>一维严格解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CN" sz="3200" dirty="0">
                <a:latin typeface="FangSong" panose="02010609060101010101" pitchFamily="49" charset="-122"/>
                <a:ea typeface="FangSong" panose="02010609060101010101" pitchFamily="49" charset="-122"/>
              </a:rPr>
              <a:t>平均场近似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CN" sz="3200" dirty="0">
                <a:latin typeface="FangSong" panose="02010609060101010101" pitchFamily="49" charset="-122"/>
                <a:ea typeface="FangSong" panose="02010609060101010101" pitchFamily="49" charset="-122"/>
              </a:rPr>
              <a:t>关联长度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CN" sz="3200" dirty="0">
                <a:latin typeface="FangSong" panose="02010609060101010101" pitchFamily="49" charset="-122"/>
                <a:ea typeface="FangSong" panose="02010609060101010101" pitchFamily="49" charset="-122"/>
              </a:rPr>
              <a:t>重整化群大意</a:t>
            </a:r>
          </a:p>
        </p:txBody>
      </p:sp>
    </p:spTree>
    <p:extLst>
      <p:ext uri="{BB962C8B-B14F-4D97-AF65-F5344CB8AC3E}">
        <p14:creationId xmlns:p14="http://schemas.microsoft.com/office/powerpoint/2010/main" val="181789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B4EF1E6A-93E9-E142-9419-9B435DBC58F6}"/>
              </a:ext>
            </a:extLst>
          </p:cNvPr>
          <p:cNvSpPr txBox="1">
            <a:spLocks/>
          </p:cNvSpPr>
          <p:nvPr/>
        </p:nvSpPr>
        <p:spPr>
          <a:xfrm>
            <a:off x="1541184" y="2047173"/>
            <a:ext cx="10231848" cy="20908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dirty="0">
                <a:solidFill>
                  <a:schemeClr val="bg2">
                    <a:lumMod val="9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复习</a:t>
            </a:r>
          </a:p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感悟</a:t>
            </a:r>
          </a:p>
          <a:p>
            <a:r>
              <a:rPr lang="en-CN" dirty="0">
                <a:solidFill>
                  <a:schemeClr val="bg2">
                    <a:lumMod val="9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学生报告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F6D7691-9579-8243-A6CF-AE72C6A9E7AF}"/>
              </a:ext>
            </a:extLst>
          </p:cNvPr>
          <p:cNvSpPr txBox="1">
            <a:spLocks/>
          </p:cNvSpPr>
          <p:nvPr/>
        </p:nvSpPr>
        <p:spPr>
          <a:xfrm>
            <a:off x="3890629" y="100399"/>
            <a:ext cx="4410741" cy="906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热物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（第十七周）</a:t>
            </a:r>
            <a:endParaRPr lang="en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4290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B5B334-B01F-DA06-770A-EB875A841CF3}"/>
                  </a:ext>
                </a:extLst>
              </p:cNvPr>
              <p:cNvSpPr txBox="1"/>
              <p:nvPr/>
            </p:nvSpPr>
            <p:spPr>
              <a:xfrm>
                <a:off x="3671455" y="332509"/>
                <a:ext cx="4073236" cy="698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CN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CN" sz="3600" dirty="0">
                    <a:solidFill>
                      <a:srgbClr val="FF0000"/>
                    </a:solidFill>
                  </a:rPr>
                  <a:t> -rule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B5B334-B01F-DA06-770A-EB875A841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455" y="332509"/>
                <a:ext cx="4073236" cy="698589"/>
              </a:xfrm>
              <a:prstGeom prst="rect">
                <a:avLst/>
              </a:prstGeom>
              <a:blipFill>
                <a:blip r:embed="rId2"/>
                <a:stretch>
                  <a:fillRect t="-7143" b="-3035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168287E-11FE-8B21-29C9-B69757D9B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722" y="1680798"/>
            <a:ext cx="3882351" cy="27318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422869-ADBE-E8D8-A045-F024604230DF}"/>
                  </a:ext>
                </a:extLst>
              </p:cNvPr>
              <p:cNvSpPr txBox="1"/>
              <p:nvPr/>
            </p:nvSpPr>
            <p:spPr>
              <a:xfrm>
                <a:off x="7062102" y="2319819"/>
                <a:ext cx="3367668" cy="1453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𝑤𝑖𝑑𝑡h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𝑝𝑒𝑎𝑘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b="0" dirty="0"/>
              </a:p>
              <a:p>
                <a:r>
                  <a:rPr lang="en-CN" dirty="0"/>
                  <a:t>                     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N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CN" sz="32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den>
                    </m:f>
                  </m:oMath>
                </a14:m>
                <a:endParaRPr lang="en-CN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422869-ADBE-E8D8-A045-F02460423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102" y="2319819"/>
                <a:ext cx="3367668" cy="1453796"/>
              </a:xfrm>
              <a:prstGeom prst="rect">
                <a:avLst/>
              </a:prstGeom>
              <a:blipFill>
                <a:blip r:embed="rId4"/>
                <a:stretch>
                  <a:fillRect b="-86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6418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1B9B9C-F569-0149-B6B7-384106BB4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15" y="1052946"/>
            <a:ext cx="6266619" cy="51400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76C22F-2C41-C74B-984E-A68287839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894" y="2209656"/>
            <a:ext cx="5583106" cy="24386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39284E-1ADE-B87C-ED1A-FBC1B5CAB33E}"/>
                  </a:ext>
                </a:extLst>
              </p:cNvPr>
              <p:cNvSpPr txBox="1"/>
              <p:nvPr/>
            </p:nvSpPr>
            <p:spPr>
              <a:xfrm>
                <a:off x="3671455" y="332509"/>
                <a:ext cx="4073236" cy="698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CN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CN" sz="3600" dirty="0">
                    <a:solidFill>
                      <a:srgbClr val="FF0000"/>
                    </a:solidFill>
                  </a:rPr>
                  <a:t> -rule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39284E-1ADE-B87C-ED1A-FBC1B5CAB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455" y="332509"/>
                <a:ext cx="4073236" cy="698589"/>
              </a:xfrm>
              <a:prstGeom prst="rect">
                <a:avLst/>
              </a:prstGeom>
              <a:blipFill>
                <a:blip r:embed="rId4"/>
                <a:stretch>
                  <a:fillRect t="-7143" b="-3035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0714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1B9B9C-F569-0149-B6B7-384106BB4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15" y="1052946"/>
            <a:ext cx="6266619" cy="51400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76C22F-2C41-C74B-984E-A68287839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894" y="2209656"/>
            <a:ext cx="5583106" cy="24386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39284E-1ADE-B87C-ED1A-FBC1B5CAB33E}"/>
                  </a:ext>
                </a:extLst>
              </p:cNvPr>
              <p:cNvSpPr txBox="1"/>
              <p:nvPr/>
            </p:nvSpPr>
            <p:spPr>
              <a:xfrm>
                <a:off x="3671455" y="332509"/>
                <a:ext cx="4073236" cy="698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CN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CN" sz="3600" dirty="0">
                    <a:solidFill>
                      <a:srgbClr val="FF0000"/>
                    </a:solidFill>
                  </a:rPr>
                  <a:t> -rule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39284E-1ADE-B87C-ED1A-FBC1B5CAB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455" y="332509"/>
                <a:ext cx="4073236" cy="698589"/>
              </a:xfrm>
              <a:prstGeom prst="rect">
                <a:avLst/>
              </a:prstGeom>
              <a:blipFill>
                <a:blip r:embed="rId4"/>
                <a:stretch>
                  <a:fillRect t="-7143" b="-3035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2C9FF253-0F51-BEA1-4DB3-86BC77A3FD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715432" y="944428"/>
            <a:ext cx="6625525" cy="496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77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8AA504-A0AA-6442-AEDE-AE4D20C4074E}"/>
              </a:ext>
            </a:extLst>
          </p:cNvPr>
          <p:cNvSpPr txBox="1"/>
          <p:nvPr/>
        </p:nvSpPr>
        <p:spPr>
          <a:xfrm>
            <a:off x="429491" y="290945"/>
            <a:ext cx="10958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rgbClr val="FF0000"/>
                </a:solidFill>
              </a:rPr>
              <a:t>The Legendre Transform as an alternative way to display information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C725D-065F-F44D-9D02-322EC7BA2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055" y="1179873"/>
            <a:ext cx="8797636" cy="29478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4C72C1-935A-7141-8540-FB9350BF0319}"/>
                  </a:ext>
                </a:extLst>
              </p:cNvPr>
              <p:cNvSpPr txBox="1"/>
              <p:nvPr/>
            </p:nvSpPr>
            <p:spPr>
              <a:xfrm>
                <a:off x="9615056" y="1870364"/>
                <a:ext cx="19534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4C72C1-935A-7141-8540-FB9350BF0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056" y="1870364"/>
                <a:ext cx="195349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7C17EA15-8813-AE47-9E99-6F6E1FDFE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450" y="4493400"/>
            <a:ext cx="2959100" cy="50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FE54F3-ED96-4243-85B0-94FDCBFD2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6450" y="5848927"/>
            <a:ext cx="2959100" cy="508000"/>
          </a:xfrm>
          <a:prstGeom prst="rect">
            <a:avLst/>
          </a:prstGeom>
        </p:spPr>
      </p:pic>
      <p:sp>
        <p:nvSpPr>
          <p:cNvPr id="14" name="Down Arrow 13">
            <a:extLst>
              <a:ext uri="{FF2B5EF4-FFF2-40B4-BE49-F238E27FC236}">
                <a16:creationId xmlns:a16="http://schemas.microsoft.com/office/drawing/2014/main" id="{F1EB5A23-2868-F943-8BB9-92695317E9CF}"/>
              </a:ext>
            </a:extLst>
          </p:cNvPr>
          <p:cNvSpPr/>
          <p:nvPr/>
        </p:nvSpPr>
        <p:spPr>
          <a:xfrm>
            <a:off x="5791200" y="5001400"/>
            <a:ext cx="484909" cy="6767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69777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F4BFF97-AD8E-F347-A3F9-3B7952B6F846}"/>
                  </a:ext>
                </a:extLst>
              </p:cNvPr>
              <p:cNvSpPr txBox="1"/>
              <p:nvPr/>
            </p:nvSpPr>
            <p:spPr>
              <a:xfrm>
                <a:off x="720435" y="1981200"/>
                <a:ext cx="10543309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/>
                  <a:t>Helmholtz free energy: F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4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endParaRPr lang="en-US" sz="4000" b="0" dirty="0"/>
              </a:p>
              <a:p>
                <a:pPr algn="ctr"/>
                <a:r>
                  <a:rPr lang="en-US" sz="4000" b="0" dirty="0"/>
                  <a:t>Enthalpy: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𝑝𝑉</m:t>
                    </m:r>
                  </m:oMath>
                </a14:m>
                <a:endParaRPr lang="en-CN" sz="4000" dirty="0"/>
              </a:p>
              <a:p>
                <a:pPr algn="ctr"/>
                <a:r>
                  <a:rPr lang="en-US" sz="4000" b="0" dirty="0"/>
                  <a:t>Gibbs free energy: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CN" sz="4000" dirty="0"/>
              </a:p>
              <a:p>
                <a:pPr algn="ctr"/>
                <a:endParaRPr lang="en-CN" sz="4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F4BFF97-AD8E-F347-A3F9-3B7952B6F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35" y="1981200"/>
                <a:ext cx="10543309" cy="2554545"/>
              </a:xfrm>
              <a:prstGeom prst="rect">
                <a:avLst/>
              </a:prstGeom>
              <a:blipFill>
                <a:blip r:embed="rId2"/>
                <a:stretch>
                  <a:fillRect t="-396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A40AA51-D4AC-AB3D-3D0C-C55F533F1588}"/>
              </a:ext>
            </a:extLst>
          </p:cNvPr>
          <p:cNvSpPr txBox="1"/>
          <p:nvPr/>
        </p:nvSpPr>
        <p:spPr>
          <a:xfrm>
            <a:off x="429491" y="290945"/>
            <a:ext cx="10958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rgbClr val="FF0000"/>
                </a:solidFill>
              </a:rPr>
              <a:t>The Legendre Transform as an alternative way to display information</a:t>
            </a:r>
          </a:p>
        </p:txBody>
      </p:sp>
    </p:spTree>
    <p:extLst>
      <p:ext uri="{BB962C8B-B14F-4D97-AF65-F5344CB8AC3E}">
        <p14:creationId xmlns:p14="http://schemas.microsoft.com/office/powerpoint/2010/main" val="37353695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58CF6E-0600-8E43-B32A-02390CA25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37" y="1823148"/>
            <a:ext cx="9712036" cy="50348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7716D1-6E7E-7442-868A-5FA938039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1023048"/>
            <a:ext cx="4991100" cy="800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5FF678-8A04-4517-1EA4-B1534CEADD4D}"/>
              </a:ext>
            </a:extLst>
          </p:cNvPr>
          <p:cNvSpPr txBox="1"/>
          <p:nvPr/>
        </p:nvSpPr>
        <p:spPr>
          <a:xfrm>
            <a:off x="429491" y="290945"/>
            <a:ext cx="10958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rgbClr val="FF0000"/>
                </a:solidFill>
              </a:rPr>
              <a:t>The Legendre Transform as an alternative way to display information</a:t>
            </a:r>
          </a:p>
        </p:txBody>
      </p:sp>
    </p:spTree>
    <p:extLst>
      <p:ext uri="{BB962C8B-B14F-4D97-AF65-F5344CB8AC3E}">
        <p14:creationId xmlns:p14="http://schemas.microsoft.com/office/powerpoint/2010/main" val="41408315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15FF678-8A04-4517-1EA4-B1534CEADD4D}"/>
              </a:ext>
            </a:extLst>
          </p:cNvPr>
          <p:cNvSpPr txBox="1"/>
          <p:nvPr/>
        </p:nvSpPr>
        <p:spPr>
          <a:xfrm>
            <a:off x="429491" y="290945"/>
            <a:ext cx="10958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2800" dirty="0">
                <a:solidFill>
                  <a:srgbClr val="FF0000"/>
                </a:solidFill>
              </a:rPr>
              <a:t>Phase</a:t>
            </a:r>
            <a:r>
              <a:rPr lang="zh-CN" altLang="en-US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transition</a:t>
            </a:r>
            <a:endParaRPr lang="en-CN" sz="28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D74265-4150-A95C-8925-0C160D932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1" y="1413418"/>
            <a:ext cx="5087504" cy="33709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46B8E6-13FB-3328-12E4-F1C39BD31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714" y="1326380"/>
            <a:ext cx="5827450" cy="35450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6EC412-495F-2492-396F-B2A07EEDE8B4}"/>
              </a:ext>
            </a:extLst>
          </p:cNvPr>
          <p:cNvSpPr txBox="1"/>
          <p:nvPr/>
        </p:nvSpPr>
        <p:spPr>
          <a:xfrm>
            <a:off x="1413165" y="5383628"/>
            <a:ext cx="207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Thermal Potential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C8502-60E5-77B6-55A2-4EB8362D7549}"/>
              </a:ext>
            </a:extLst>
          </p:cNvPr>
          <p:cNvSpPr txBox="1"/>
          <p:nvPr/>
        </p:nvSpPr>
        <p:spPr>
          <a:xfrm>
            <a:off x="8128348" y="5383627"/>
            <a:ext cx="207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Susceptibility</a:t>
            </a:r>
          </a:p>
        </p:txBody>
      </p:sp>
    </p:spTree>
    <p:extLst>
      <p:ext uri="{BB962C8B-B14F-4D97-AF65-F5344CB8AC3E}">
        <p14:creationId xmlns:p14="http://schemas.microsoft.com/office/powerpoint/2010/main" val="24359606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4BA059-134B-9278-41EB-A955C8220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46" y="83780"/>
            <a:ext cx="5926282" cy="25048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641F97-3D39-D3B9-EF2E-8268F7C7D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45" y="2814533"/>
            <a:ext cx="6275855" cy="3688139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7002B0B-A24A-E366-6F92-C737025EC4AE}"/>
              </a:ext>
            </a:extLst>
          </p:cNvPr>
          <p:cNvSpPr txBox="1">
            <a:spLocks/>
          </p:cNvSpPr>
          <p:nvPr/>
        </p:nvSpPr>
        <p:spPr>
          <a:xfrm>
            <a:off x="308386" y="3437068"/>
            <a:ext cx="5787614" cy="2831951"/>
          </a:xfrm>
          <a:prstGeom prst="rect">
            <a:avLst/>
          </a:prstGeom>
        </p:spPr>
        <p:txBody>
          <a:bodyPr>
            <a:no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Nature is organized by 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Symmetry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4000" i="1" dirty="0">
                <a:solidFill>
                  <a:srgbClr val="FF0000"/>
                </a:solidFill>
              </a:rPr>
              <a:t>scale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05401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B4EF1E6A-93E9-E142-9419-9B435DBC58F6}"/>
              </a:ext>
            </a:extLst>
          </p:cNvPr>
          <p:cNvSpPr txBox="1">
            <a:spLocks/>
          </p:cNvSpPr>
          <p:nvPr/>
        </p:nvSpPr>
        <p:spPr>
          <a:xfrm>
            <a:off x="1541184" y="2047173"/>
            <a:ext cx="10231848" cy="20908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dirty="0">
                <a:solidFill>
                  <a:schemeClr val="bg2">
                    <a:lumMod val="9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复习</a:t>
            </a:r>
          </a:p>
          <a:p>
            <a:r>
              <a:rPr lang="en-CN" dirty="0">
                <a:solidFill>
                  <a:schemeClr val="bg2">
                    <a:lumMod val="9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感悟</a:t>
            </a:r>
          </a:p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学生报告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F6D7691-9579-8243-A6CF-AE72C6A9E7AF}"/>
              </a:ext>
            </a:extLst>
          </p:cNvPr>
          <p:cNvSpPr txBox="1">
            <a:spLocks/>
          </p:cNvSpPr>
          <p:nvPr/>
        </p:nvSpPr>
        <p:spPr>
          <a:xfrm>
            <a:off x="3890629" y="100399"/>
            <a:ext cx="4410741" cy="906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热物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（第十七周）</a:t>
            </a:r>
            <a:endParaRPr lang="en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1451DB-2161-3E57-C9CC-AAA88934E15D}"/>
              </a:ext>
            </a:extLst>
          </p:cNvPr>
          <p:cNvSpPr txBox="1"/>
          <p:nvPr/>
        </p:nvSpPr>
        <p:spPr>
          <a:xfrm>
            <a:off x="8301370" y="5997844"/>
            <a:ext cx="3531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2023.06.05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321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32413</TotalTime>
  <Words>1269</Words>
  <Application>Microsoft Macintosh PowerPoint</Application>
  <PresentationFormat>Widescreen</PresentationFormat>
  <Paragraphs>219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CMR10</vt:lpstr>
      <vt:lpstr>FangSong</vt:lpstr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509</cp:revision>
  <dcterms:created xsi:type="dcterms:W3CDTF">2022-02-02T22:31:46Z</dcterms:created>
  <dcterms:modified xsi:type="dcterms:W3CDTF">2023-06-05T09:02:03Z</dcterms:modified>
</cp:coreProperties>
</file>