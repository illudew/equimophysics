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300" r:id="rId2"/>
    <p:sldId id="257" r:id="rId3"/>
    <p:sldId id="316" r:id="rId4"/>
    <p:sldId id="306" r:id="rId5"/>
    <p:sldId id="258" r:id="rId6"/>
    <p:sldId id="309" r:id="rId7"/>
    <p:sldId id="318" r:id="rId8"/>
    <p:sldId id="259" r:id="rId9"/>
    <p:sldId id="308" r:id="rId10"/>
    <p:sldId id="319" r:id="rId11"/>
    <p:sldId id="307" r:id="rId12"/>
    <p:sldId id="310" r:id="rId13"/>
    <p:sldId id="303" r:id="rId14"/>
    <p:sldId id="311" r:id="rId15"/>
    <p:sldId id="265" r:id="rId16"/>
    <p:sldId id="312" r:id="rId17"/>
    <p:sldId id="268" r:id="rId18"/>
    <p:sldId id="273" r:id="rId19"/>
    <p:sldId id="269" r:id="rId20"/>
    <p:sldId id="313" r:id="rId21"/>
    <p:sldId id="274" r:id="rId22"/>
    <p:sldId id="279" r:id="rId23"/>
    <p:sldId id="320" r:id="rId24"/>
    <p:sldId id="280" r:id="rId25"/>
    <p:sldId id="282" r:id="rId26"/>
    <p:sldId id="321" r:id="rId27"/>
  </p:sldIdLst>
  <p:sldSz cx="9144000" cy="6858000" type="screen4x3"/>
  <p:notesSz cx="7099300" cy="10234613"/>
  <p:defaultTextStyle>
    <a:defPPr>
      <a:defRPr lang="zh-CN"/>
    </a:defPPr>
    <a:lvl1pPr marL="0" lvl="0"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77" d="100"/>
          <a:sy n="77" d="100"/>
        </p:scale>
        <p:origin x="1618" y="6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50:35.978"/>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0 445,'2516'0,"-2403"-1,1-4,-1-6,0-4,122-34,-172 32,0 3,0 2,1 3,72 0,105 13,184-5,-280-12,36-1,101 14,86-2,-2-28,-207 13,-99 13,0-3,111-27,-123 21,0 2,1 2,73-3,151 11,10-2,440-22,2 26,-270 1,-271-1,541-24,-75-15,3 39,-249 2,-70-2,358-3,-409-26,-5 1,378 25,-314 5,616-3,-926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50:37.012"/>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0 141,'3595'0,"-3399"-5,255-39,31 7,2 38,-183 2,-227-3,513-22,10-15,3 38,-233 2,2286-3,-2625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50:39.315"/>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1 613,'49'1,"0"-3,78-13,532-71,7 51,201-18,245-112,-933 127,39-8,-161 41,-1 2,79 5,-22 1,2049-3,-2095-3,115-22,-108 13,80-3,-17 15,28-1,-147-1,0-1,-1-1,1-1,-1 0,0-1,20-11,-20 9,-1 1,2 1,-1 0,1 1,0 1,19-2,34 5,134 16,-11 1,341-14,-270-4,-260 3,1-1,-1 0,0-1,0 0,1 1,-1-2,0 1,0 0,0-1,0 0,0 0,0-1,-1 1,1-1,6-6,-5 5,1 0,0 0,0 1,0 0,0 0,1 1,-1 0,1 0,-1 1,13-2,13 2,39 2,-28 0,182-1,214 3,-382 2,94 19,26 3,-159-25,0 1,0 2,33 11,-32-9,0-1,0-1,21 2,255 1,-14-2,266 11,-447-17,-77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50:40.424"/>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4829 0,'-2973'0,"2877"3,0 5,-113 22,-186 60,295-65,-181 31,182-39,5-5,0-4,-147-6,116-4,99 2</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2-11-24T12:50:41.520"/>
    </inkml:context>
    <inkml:brush xml:id="br0">
      <inkml:brushProperty name="width" value="0.3" units="cm"/>
      <inkml:brushProperty name="height" value="0.6" units="cm"/>
      <inkml:brushProperty name="color" value="#FFFC00"/>
      <inkml:brushProperty name="tip" value="rectangle"/>
      <inkml:brushProperty name="rasterOp" value="maskPen"/>
      <inkml:brushProperty name="ignorePressure" value="1"/>
    </inkml:brush>
  </inkml:definitions>
  <inkml:trace contextRef="#ctx0" brushRef="#br0">1 1,'2799'0,"-2747"3,-1 1,60 15,41 4,343-14,-303-11,2102 2,-1905 27,-58-1,-17-22,281 16,-65 47,-211-41,2-28,-120 0,1535 2,-1713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页眉占位符 93185"/>
          <p:cNvSpPr>
            <a:spLocks noGrp="1"/>
          </p:cNvSpPr>
          <p:nvPr>
            <p:ph type="hdr" sz="quarter"/>
          </p:nvPr>
        </p:nvSpPr>
        <p:spPr>
          <a:xfrm>
            <a:off x="0" y="0"/>
            <a:ext cx="3076575" cy="511175"/>
          </a:xfrm>
          <a:prstGeom prst="rect">
            <a:avLst/>
          </a:prstGeom>
          <a:noFill/>
          <a:ln w="9525">
            <a:noFill/>
          </a:ln>
        </p:spPr>
        <p:txBody>
          <a:bodyPr lIns="99048" tIns="49524" rIns="99048" bIns="49524"/>
          <a:lstStyle/>
          <a:p>
            <a:pPr lvl="0" defTabSz="990600"/>
            <a:endParaRPr lang="zh-CN" altLang="en-US" sz="1300" dirty="0"/>
          </a:p>
        </p:txBody>
      </p:sp>
      <p:sp>
        <p:nvSpPr>
          <p:cNvPr id="93187" name="日期占位符 93186"/>
          <p:cNvSpPr>
            <a:spLocks noGrp="1"/>
          </p:cNvSpPr>
          <p:nvPr>
            <p:ph type="dt" idx="1"/>
          </p:nvPr>
        </p:nvSpPr>
        <p:spPr>
          <a:xfrm>
            <a:off x="4021138" y="0"/>
            <a:ext cx="3076575" cy="511175"/>
          </a:xfrm>
          <a:prstGeom prst="rect">
            <a:avLst/>
          </a:prstGeom>
          <a:noFill/>
          <a:ln w="9525">
            <a:noFill/>
          </a:ln>
        </p:spPr>
        <p:txBody>
          <a:bodyPr lIns="99048" tIns="49524" rIns="99048" bIns="49524"/>
          <a:lstStyle/>
          <a:p>
            <a:pPr lvl="0" algn="r" defTabSz="990600"/>
            <a:endParaRPr lang="zh-CN" altLang="en-US" sz="1300" dirty="0"/>
          </a:p>
        </p:txBody>
      </p:sp>
      <p:sp>
        <p:nvSpPr>
          <p:cNvPr id="93188" name="幻灯片图像占位符 93187"/>
          <p:cNvSpPr>
            <a:spLocks noGrp="1" noRot="1" noChangeAspect="1" noTextEdit="1"/>
          </p:cNvSpPr>
          <p:nvPr>
            <p:ph type="sldImg" idx="2"/>
          </p:nvPr>
        </p:nvSpPr>
        <p:spPr>
          <a:xfrm>
            <a:off x="990600" y="768350"/>
            <a:ext cx="5118100" cy="3836988"/>
          </a:xfrm>
          <a:prstGeom prst="rect">
            <a:avLst/>
          </a:prstGeom>
          <a:ln w="9525" cap="flat" cmpd="sng">
            <a:solidFill>
              <a:srgbClr val="000000"/>
            </a:solidFill>
            <a:prstDash val="solid"/>
            <a:miter/>
            <a:headEnd type="none" w="med" len="med"/>
            <a:tailEnd type="none" w="med" len="med"/>
          </a:ln>
        </p:spPr>
      </p:sp>
      <p:sp>
        <p:nvSpPr>
          <p:cNvPr id="93189" name="文本占位符 93188"/>
          <p:cNvSpPr>
            <a:spLocks noGrp="1"/>
          </p:cNvSpPr>
          <p:nvPr>
            <p:ph type="body" sz="quarter" idx="3"/>
          </p:nvPr>
        </p:nvSpPr>
        <p:spPr>
          <a:xfrm>
            <a:off x="709613" y="4860925"/>
            <a:ext cx="5680075" cy="4605338"/>
          </a:xfrm>
          <a:prstGeom prst="rect">
            <a:avLst/>
          </a:prstGeom>
          <a:noFill/>
          <a:ln w="9525">
            <a:noFill/>
          </a:ln>
        </p:spPr>
        <p:txBody>
          <a:bodyPr lIns="99048" tIns="49524" rIns="99048" bIns="49524"/>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93190" name="页脚占位符 93189"/>
          <p:cNvSpPr>
            <a:spLocks noGrp="1"/>
          </p:cNvSpPr>
          <p:nvPr>
            <p:ph type="ftr" sz="quarter" idx="4"/>
          </p:nvPr>
        </p:nvSpPr>
        <p:spPr>
          <a:xfrm>
            <a:off x="0" y="9721850"/>
            <a:ext cx="3076575" cy="511175"/>
          </a:xfrm>
          <a:prstGeom prst="rect">
            <a:avLst/>
          </a:prstGeom>
          <a:noFill/>
          <a:ln w="9525">
            <a:noFill/>
          </a:ln>
        </p:spPr>
        <p:txBody>
          <a:bodyPr lIns="99048" tIns="49524" rIns="99048" bIns="49524" anchor="b" anchorCtr="0"/>
          <a:lstStyle/>
          <a:p>
            <a:pPr lvl="0" defTabSz="990600"/>
            <a:endParaRPr lang="zh-CN" altLang="en-US" sz="1300" dirty="0"/>
          </a:p>
        </p:txBody>
      </p:sp>
      <p:sp>
        <p:nvSpPr>
          <p:cNvPr id="93191" name="灯片编号占位符 93190"/>
          <p:cNvSpPr>
            <a:spLocks noGrp="1"/>
          </p:cNvSpPr>
          <p:nvPr>
            <p:ph type="sldNum" sz="quarter" idx="5"/>
          </p:nvPr>
        </p:nvSpPr>
        <p:spPr>
          <a:xfrm>
            <a:off x="4021138" y="9721850"/>
            <a:ext cx="3076575" cy="511175"/>
          </a:xfrm>
          <a:prstGeom prst="rect">
            <a:avLst/>
          </a:prstGeom>
          <a:noFill/>
          <a:ln w="9525">
            <a:noFill/>
          </a:ln>
        </p:spPr>
        <p:txBody>
          <a:bodyPr lIns="99048" tIns="49524" rIns="99048" bIns="49524" anchor="b" anchorCtr="0"/>
          <a:lstStyle/>
          <a:p>
            <a:pPr lvl="0" algn="r" defTabSz="990600"/>
            <a:fld id="{9A0DB2DC-4C9A-4742-B13C-FB6460FD3503}" type="slidenum">
              <a:rPr lang="zh-CN" altLang="en-US" sz="1300" dirty="0"/>
              <a:t>‹#›</a:t>
            </a:fld>
            <a:endParaRPr lang="zh-CN" altLang="en-US" sz="1300" dirty="0"/>
          </a:p>
        </p:txBody>
      </p:sp>
    </p:spTree>
  </p:cSld>
  <p:clrMap bg1="lt1" tx1="dk1" bg2="lt2" tx2="dk2" accent1="accent1" accent2="accent2" accent3="accent3" accent4="accent4" accent5="accent5" accent6="accent6" hlink="hlink" folHlink="folHlink"/>
  <p:hf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defTabSz="990600"/>
            <a:fld id="{9A0DB2DC-4C9A-4742-B13C-FB6460FD3503}" type="slidenum">
              <a:rPr lang="zh-CN" altLang="en-US" sz="1300" dirty="0"/>
              <a:t>15</a:t>
            </a:fld>
            <a:endParaRPr lang="zh-CN" altLang="en-US" sz="1300" dirty="0"/>
          </a:p>
        </p:txBody>
      </p:sp>
      <p:sp>
        <p:nvSpPr>
          <p:cNvPr id="114690" name="幻灯片图像占位符 114689"/>
          <p:cNvSpPr>
            <a:spLocks noGrp="1" noRot="1" noChangeAspect="1" noTextEdit="1"/>
          </p:cNvSpPr>
          <p:nvPr>
            <p:ph type="sldImg"/>
          </p:nvPr>
        </p:nvSpPr>
        <p:spPr>
          <a:xfrm>
            <a:off x="992188" y="768350"/>
            <a:ext cx="5114925" cy="3836988"/>
          </a:xfrm>
          <a:ln/>
        </p:spPr>
      </p:sp>
      <p:sp>
        <p:nvSpPr>
          <p:cNvPr id="114691" name="文本占位符 114690"/>
          <p:cNvSpPr>
            <a:spLocks noGrp="1"/>
          </p:cNvSpPr>
          <p:nvPr>
            <p:ph type="body" idx="1"/>
          </p:nvPr>
        </p:nvSpPr>
        <p:spPr>
          <a:ln/>
        </p:spPr>
        <p:txBody>
          <a:bodyPr lIns="99048" tIns="49524" rIns="99048" bIns="49524"/>
          <a:lstStyle/>
          <a:p>
            <a:pPr lvl="0"/>
            <a:r>
              <a:rPr lang="el-GR" altLang="zh-CN" dirty="0"/>
              <a:t>εr</a:t>
            </a:r>
            <a:r>
              <a:rPr lang="zh-CN" altLang="en-US" dirty="0"/>
              <a:t>平方的原因：</a:t>
            </a:r>
            <a:r>
              <a:rPr lang="en-US" altLang="zh-CN"/>
              <a:t>1</a:t>
            </a:r>
            <a:r>
              <a:rPr lang="zh-CN" altLang="en-US" dirty="0"/>
              <a:t>、受力被屏蔽，减小为原来的</a:t>
            </a:r>
            <a:r>
              <a:rPr lang="en-US" altLang="zh-CN"/>
              <a:t>1/</a:t>
            </a:r>
            <a:r>
              <a:rPr lang="el-GR" altLang="zh-CN" dirty="0"/>
              <a:t>εr</a:t>
            </a:r>
            <a:r>
              <a:rPr lang="en-US" altLang="zh-CN"/>
              <a:t>, </a:t>
            </a:r>
            <a:r>
              <a:rPr lang="zh-CN" altLang="en-US" dirty="0"/>
              <a:t>同时基态半径也扩大为原来的</a:t>
            </a:r>
            <a:r>
              <a:rPr lang="el-GR" altLang="zh-CN" dirty="0"/>
              <a:t>εr</a:t>
            </a:r>
            <a:r>
              <a:rPr lang="zh-CN" altLang="en-US" dirty="0"/>
              <a:t>倍。或直接从库仑电势给出结论。</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2"/>
          </p:nvPr>
        </p:nvSpPr>
        <p:spPr/>
        <p:txBody>
          <a:bodyPr/>
          <a:lstStyle/>
          <a:p>
            <a:pPr lvl="0" algn="r" defTabSz="990600"/>
            <a:fld id="{9A0DB2DC-4C9A-4742-B13C-FB6460FD3503}" type="slidenum">
              <a:rPr lang="zh-CN" altLang="en-US" sz="1300" dirty="0"/>
              <a:t>24</a:t>
            </a:fld>
            <a:endParaRPr lang="zh-CN" altLang="en-US" sz="1300" dirty="0"/>
          </a:p>
        </p:txBody>
      </p:sp>
      <p:sp>
        <p:nvSpPr>
          <p:cNvPr id="102402" name="幻灯片图像占位符 102401"/>
          <p:cNvSpPr>
            <a:spLocks noGrp="1" noRot="1" noChangeAspect="1" noTextEdit="1"/>
          </p:cNvSpPr>
          <p:nvPr>
            <p:ph type="sldImg"/>
          </p:nvPr>
        </p:nvSpPr>
        <p:spPr>
          <a:xfrm>
            <a:off x="992188" y="768350"/>
            <a:ext cx="5114925" cy="3836988"/>
          </a:xfrm>
          <a:ln/>
        </p:spPr>
      </p:sp>
      <p:sp>
        <p:nvSpPr>
          <p:cNvPr id="102403" name="文本占位符 102402"/>
          <p:cNvSpPr>
            <a:spLocks noGrp="1"/>
          </p:cNvSpPr>
          <p:nvPr>
            <p:ph type="body" idx="1"/>
          </p:nvPr>
        </p:nvSpPr>
        <p:spPr>
          <a:ln/>
        </p:spPr>
        <p:txBody>
          <a:bodyPr lIns="99048" tIns="49524" rIns="99048" bIns="49524"/>
          <a:lstStyle/>
          <a:p>
            <a:pPr lvl="0">
              <a:spcBef>
                <a:spcPct val="50000"/>
              </a:spcBef>
              <a:buFontTx/>
            </a:pPr>
            <a:r>
              <a:rPr lang="zh-CN" altLang="en-US" dirty="0"/>
              <a:t>空位时是施主还是受主，要看令一方的需求！但</a:t>
            </a:r>
            <a:r>
              <a:rPr lang="en-US" altLang="zh-CN" dirty="0" err="1"/>
              <a:t>GaAs</a:t>
            </a:r>
            <a:r>
              <a:rPr lang="zh-CN" altLang="en-US" dirty="0"/>
              <a:t>不同</a:t>
            </a:r>
          </a:p>
          <a:p>
            <a:pPr lvl="0"/>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cSld name="标题幻灯片">
    <p:bg>
      <p:bgPr>
        <a:solidFill>
          <a:schemeClr val="bg1"/>
        </a:solidFill>
        <a:effectLst/>
      </p:bgPr>
    </p:bg>
    <p:spTree>
      <p:nvGrpSpPr>
        <p:cNvPr id="1" name=""/>
        <p:cNvGrpSpPr/>
        <p:nvPr/>
      </p:nvGrpSpPr>
      <p:grpSpPr>
        <a:xfrm>
          <a:off x="0" y="0"/>
          <a:ext cx="0" cy="0"/>
          <a:chOff x="0" y="0"/>
          <a:chExt cx="0" cy="0"/>
        </a:xfrm>
      </p:grpSpPr>
      <p:sp>
        <p:nvSpPr>
          <p:cNvPr id="78850" name="标题 78849"/>
          <p:cNvSpPr>
            <a:spLocks noGrp="1"/>
          </p:cNvSpPr>
          <p:nvPr>
            <p:ph type="ctrTitle"/>
          </p:nvPr>
        </p:nvSpPr>
        <p:spPr>
          <a:xfrm>
            <a:off x="914400" y="1524000"/>
            <a:ext cx="7623175" cy="1752600"/>
          </a:xfrm>
          <a:prstGeom prst="rect">
            <a:avLst/>
          </a:prstGeom>
          <a:noFill/>
          <a:ln w="9525">
            <a:noFill/>
          </a:ln>
        </p:spPr>
        <p:txBody>
          <a:bodyPr anchor="t" anchorCtr="0"/>
          <a:lstStyle>
            <a:lvl1pPr lvl="0">
              <a:buClrTx/>
              <a:buSzTx/>
              <a:buFontTx/>
              <a:defRPr sz="5000"/>
            </a:lvl1pPr>
          </a:lstStyle>
          <a:p>
            <a:pPr lvl="0"/>
            <a:r>
              <a:rPr lang="zh-CN" altLang="en-US" dirty="0"/>
              <a:t>单击此处编辑母版标题样式</a:t>
            </a:r>
          </a:p>
        </p:txBody>
      </p:sp>
      <p:sp>
        <p:nvSpPr>
          <p:cNvPr id="78851" name="副标题 78850"/>
          <p:cNvSpPr>
            <a:spLocks noGrp="1"/>
          </p:cNvSpPr>
          <p:nvPr>
            <p:ph type="subTitle" idx="1"/>
          </p:nvPr>
        </p:nvSpPr>
        <p:spPr>
          <a:xfrm>
            <a:off x="1981200" y="3962400"/>
            <a:ext cx="6553200" cy="1752600"/>
          </a:xfrm>
          <a:prstGeom prst="rect">
            <a:avLst/>
          </a:prstGeom>
          <a:noFill/>
          <a:ln w="9525">
            <a:noFill/>
          </a:ln>
        </p:spPr>
        <p:txBody>
          <a:bodyPr anchor="t" anchorCtr="0"/>
          <a:lstStyle>
            <a:lvl1pPr marL="0" lvl="0" indent="0">
              <a:buClr>
                <a:schemeClr val="accent1"/>
              </a:buClr>
              <a:buSzPct val="65000"/>
              <a:buFont typeface="Wingdings" panose="05000000000000000000" pitchFamily="2" charset="2"/>
              <a:buNone/>
              <a:defRPr sz="2800"/>
            </a:lvl1pPr>
            <a:lvl2pPr marL="344805" lvl="1" indent="0" algn="ctr">
              <a:buClr>
                <a:schemeClr val="accent2"/>
              </a:buClr>
              <a:buSzPct val="60000"/>
              <a:buFont typeface="Wingdings" panose="05000000000000000000" pitchFamily="2" charset="2"/>
              <a:buNone/>
              <a:defRPr sz="2800"/>
            </a:lvl2pPr>
            <a:lvl3pPr marL="671830" lvl="2" indent="0" algn="ctr">
              <a:buClr>
                <a:schemeClr val="accent1"/>
              </a:buClr>
              <a:buSzPct val="65000"/>
              <a:buFont typeface="Wingdings" panose="05000000000000000000" pitchFamily="2" charset="2"/>
              <a:buNone/>
              <a:defRPr sz="2800"/>
            </a:lvl3pPr>
            <a:lvl4pPr marL="1024255" lvl="3" indent="0" algn="ctr">
              <a:buClr>
                <a:schemeClr val="accent2"/>
              </a:buClr>
              <a:buSzPct val="70000"/>
              <a:buFont typeface="Wingdings" panose="05000000000000000000" pitchFamily="2" charset="2"/>
              <a:buNone/>
              <a:defRPr sz="2800"/>
            </a:lvl4pPr>
            <a:lvl5pPr marL="1341755" lvl="4" indent="0" algn="ctr">
              <a:buClr>
                <a:schemeClr val="accent1"/>
              </a:buClr>
              <a:buSzPct val="75000"/>
              <a:buFont typeface="Wingdings" panose="05000000000000000000" pitchFamily="2" charset="2"/>
              <a:buNone/>
              <a:defRPr sz="2800"/>
            </a:lvl5pPr>
          </a:lstStyle>
          <a:p>
            <a:pPr lvl="0"/>
            <a:r>
              <a:rPr lang="zh-CN" altLang="en-US" dirty="0"/>
              <a:t>单击此处编辑母版副标题样式</a:t>
            </a:r>
          </a:p>
        </p:txBody>
      </p:sp>
      <p:sp>
        <p:nvSpPr>
          <p:cNvPr id="78852" name="日期占位符 78851"/>
          <p:cNvSpPr>
            <a:spLocks noGrp="1"/>
          </p:cNvSpPr>
          <p:nvPr>
            <p:ph type="dt" sz="half" idx="2"/>
          </p:nvPr>
        </p:nvSpPr>
        <p:spPr>
          <a:xfrm>
            <a:off x="457200" y="6243638"/>
            <a:ext cx="2133600" cy="457200"/>
          </a:xfrm>
          <a:prstGeom prst="rect">
            <a:avLst/>
          </a:prstGeom>
          <a:noFill/>
          <a:ln w="9525">
            <a:noFill/>
          </a:ln>
        </p:spPr>
        <p:txBody>
          <a:bodyPr anchor="b" anchorCtr="0"/>
          <a:lstStyle>
            <a:lvl1pPr>
              <a:defRPr sz="1200">
                <a:latin typeface="Garamond" panose="02020404030301010803" pitchFamily="18" charset="0"/>
              </a:defRPr>
            </a:lvl1pPr>
          </a:lstStyle>
          <a:p>
            <a:fld id="{BB962C8B-B14F-4D97-AF65-F5344CB8AC3E}" type="datetime1">
              <a:rPr lang="zh-CN" altLang="en-US" dirty="0"/>
              <a:t>2022/11/24</a:t>
            </a:fld>
            <a:endParaRPr lang="zh-CN" altLang="en-US" dirty="0">
              <a:latin typeface="Arial" panose="020B0604020202020204" pitchFamily="34" charset="0"/>
            </a:endParaRPr>
          </a:p>
        </p:txBody>
      </p:sp>
      <p:sp>
        <p:nvSpPr>
          <p:cNvPr id="78853" name="页脚占位符 78852"/>
          <p:cNvSpPr>
            <a:spLocks noGrp="1"/>
          </p:cNvSpPr>
          <p:nvPr>
            <p:ph type="ftr" sz="quarter" idx="3"/>
          </p:nvPr>
        </p:nvSpPr>
        <p:spPr>
          <a:xfrm>
            <a:off x="3124200" y="6243638"/>
            <a:ext cx="2895600" cy="457200"/>
          </a:xfrm>
          <a:prstGeom prst="rect">
            <a:avLst/>
          </a:prstGeom>
          <a:noFill/>
          <a:ln w="9525">
            <a:noFill/>
          </a:ln>
        </p:spPr>
        <p:txBody>
          <a:bodyPr anchor="b" anchorCtr="0"/>
          <a:lstStyle>
            <a:lvl1pPr algn="ctr">
              <a:defRPr sz="1200">
                <a:latin typeface="Garamond" panose="02020404030301010803" pitchFamily="18" charset="0"/>
              </a:defRPr>
            </a:lvl1pPr>
          </a:lstStyle>
          <a:p>
            <a:endParaRPr lang="zh-CN" altLang="en-US" dirty="0"/>
          </a:p>
        </p:txBody>
      </p:sp>
      <p:sp>
        <p:nvSpPr>
          <p:cNvPr id="78854" name="灯片编号占位符 78853"/>
          <p:cNvSpPr>
            <a:spLocks noGrp="1"/>
          </p:cNvSpPr>
          <p:nvPr>
            <p:ph type="sldNum" sz="quarter" idx="4"/>
          </p:nvPr>
        </p:nvSpPr>
        <p:spPr>
          <a:xfrm>
            <a:off x="6553200" y="6243638"/>
            <a:ext cx="2133600" cy="457200"/>
          </a:xfrm>
          <a:prstGeom prst="rect">
            <a:avLst/>
          </a:prstGeom>
          <a:noFill/>
          <a:ln w="9525">
            <a:noFill/>
          </a:ln>
        </p:spPr>
        <p:txBody>
          <a:bodyPr anchor="b" anchorCtr="0"/>
          <a:lstStyle>
            <a:lvl1pPr algn="r">
              <a:defRPr sz="1200">
                <a:latin typeface="Garamond" panose="02020404030301010803" pitchFamily="18" charset="0"/>
              </a:defRPr>
            </a:lvl1pPr>
          </a:lstStyle>
          <a:p>
            <a:fld id="{9A0DB2DC-4C9A-4742-B13C-FB6460FD3503}" type="slidenum">
              <a:rPr lang="zh-CN" altLang="en-US" dirty="0"/>
              <a:t>‹#›</a:t>
            </a:fld>
            <a:endParaRPr lang="zh-CN" altLang="en-US" dirty="0">
              <a:latin typeface="Arial" panose="020B0604020202020204" pitchFamily="34" charset="0"/>
            </a:endParaRPr>
          </a:p>
        </p:txBody>
      </p:sp>
      <p:sp>
        <p:nvSpPr>
          <p:cNvPr id="78855" name="任意多边形 78854"/>
          <p:cNvSpPr/>
          <p:nvPr/>
        </p:nvSpPr>
        <p:spPr>
          <a:xfrm>
            <a:off x="609600" y="1219200"/>
            <a:ext cx="7924800" cy="914400"/>
          </a:xfrm>
          <a:custGeom>
            <a:avLst/>
            <a:gdLst/>
            <a:ahLst/>
            <a:cxnLst/>
            <a:rect l="0" t="0" r="0" b="0"/>
            <a:pathLst>
              <a:path w="1000" h="1000">
                <a:moveTo>
                  <a:pt x="0" y="1000"/>
                </a:moveTo>
                <a:lnTo>
                  <a:pt x="0" y="0"/>
                </a:lnTo>
                <a:lnTo>
                  <a:pt x="1000" y="0"/>
                </a:lnTo>
              </a:path>
            </a:pathLst>
          </a:custGeom>
          <a:noFill/>
          <a:ln w="25400" cap="flat" cmpd="sng">
            <a:solidFill>
              <a:schemeClr val="accent1">
                <a:alpha val="100000"/>
              </a:schemeClr>
            </a:solidFill>
            <a:prstDash val="solid"/>
            <a:miter/>
            <a:headEnd type="none" w="med" len="med"/>
            <a:tailEnd type="none" w="med" len="med"/>
          </a:ln>
        </p:spPr>
        <p:txBody>
          <a:bodyPr/>
          <a:lstStyle/>
          <a:p>
            <a:endParaRPr lang="zh-CN" altLang="en-US"/>
          </a:p>
        </p:txBody>
      </p:sp>
      <p:sp>
        <p:nvSpPr>
          <p:cNvPr id="78856" name="直接连接符 78855"/>
          <p:cNvSpPr/>
          <p:nvPr/>
        </p:nvSpPr>
        <p:spPr>
          <a:xfrm>
            <a:off x="1981200" y="3962400"/>
            <a:ext cx="6511925" cy="0"/>
          </a:xfrm>
          <a:prstGeom prst="line">
            <a:avLst/>
          </a:prstGeom>
          <a:ln w="19050" cap="flat" cmpd="sng">
            <a:solidFill>
              <a:schemeClr val="accent1"/>
            </a:solidFill>
            <a:prstDash val="solid"/>
            <a:headEnd type="none" w="med" len="med"/>
            <a:tailEnd type="none" w="med" len="med"/>
          </a:ln>
        </p:spPr>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2504"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54296" y="1600200"/>
            <a:ext cx="4032504"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4" name="内容占位符 3"/>
          <p:cNvSpPr>
            <a:spLocks noGrp="1"/>
          </p:cNvSpPr>
          <p:nvPr>
            <p:ph sz="half" idx="2"/>
          </p:nvPr>
        </p:nvSpPr>
        <p:spPr>
          <a:xfrm>
            <a:off x="890081" y="2665379"/>
            <a:ext cx="3655181"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a:t>单击此处编辑母版文本样式</a:t>
            </a:r>
          </a:p>
        </p:txBody>
      </p:sp>
      <p:sp>
        <p:nvSpPr>
          <p:cNvPr id="6" name="内容占位符 5"/>
          <p:cNvSpPr>
            <a:spLocks noGrp="1"/>
          </p:cNvSpPr>
          <p:nvPr>
            <p:ph sz="quarter" idx="4"/>
          </p:nvPr>
        </p:nvSpPr>
        <p:spPr>
          <a:xfrm>
            <a:off x="4692704" y="2665379"/>
            <a:ext cx="3673182" cy="3524284"/>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8" name="页脚占位符 7"/>
          <p:cNvSpPr>
            <a:spLocks noGrp="1"/>
          </p:cNvSpPr>
          <p:nvPr>
            <p:ph type="ftr" sz="quarter" idx="11"/>
          </p:nvPr>
        </p:nvSpPr>
        <p:spPr/>
        <p:txBody>
          <a:bodyPr/>
          <a:lstStyle/>
          <a:p>
            <a:pPr lvl="0"/>
            <a:endParaRPr lang="zh-CN" altLang="en-US" dirty="0"/>
          </a:p>
        </p:txBody>
      </p:sp>
      <p:sp>
        <p:nvSpPr>
          <p:cNvPr id="9" name="灯片编号占位符 8"/>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4" name="页脚占位符 3"/>
          <p:cNvSpPr>
            <a:spLocks noGrp="1"/>
          </p:cNvSpPr>
          <p:nvPr>
            <p:ph type="ftr" sz="quarter" idx="11"/>
          </p:nvPr>
        </p:nvSpPr>
        <p:spPr/>
        <p:txBody>
          <a:bodyPr/>
          <a:lstStyle/>
          <a:p>
            <a:pPr lvl="0"/>
            <a:endParaRPr lang="zh-CN" altLang="en-US" dirty="0"/>
          </a:p>
        </p:txBody>
      </p:sp>
      <p:sp>
        <p:nvSpPr>
          <p:cNvPr id="5" name="灯片编号占位符 4"/>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3" name="页脚占位符 2"/>
          <p:cNvSpPr>
            <a:spLocks noGrp="1"/>
          </p:cNvSpPr>
          <p:nvPr>
            <p:ph type="ftr" sz="quarter" idx="11"/>
          </p:nvPr>
        </p:nvSpPr>
        <p:spPr/>
        <p:txBody>
          <a:bodyPr/>
          <a:lstStyle/>
          <a:p>
            <a:pPr lvl="0"/>
            <a:endParaRPr lang="zh-CN" altLang="en-US" dirty="0"/>
          </a:p>
        </p:txBody>
      </p:sp>
      <p:sp>
        <p:nvSpPr>
          <p:cNvPr id="4" name="灯片编号占位符 3"/>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5"/>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6" name="页脚占位符 5"/>
          <p:cNvSpPr>
            <a:spLocks noGrp="1"/>
          </p:cNvSpPr>
          <p:nvPr>
            <p:ph type="ftr" sz="quarter" idx="11"/>
          </p:nvPr>
        </p:nvSpPr>
        <p:spPr/>
        <p:txBody>
          <a:bodyPr/>
          <a:lstStyle/>
          <a:p>
            <a:pPr lvl="0"/>
            <a:endParaRPr lang="zh-CN" altLang="en-US" dirty="0"/>
          </a:p>
        </p:txBody>
      </p:sp>
      <p:sp>
        <p:nvSpPr>
          <p:cNvPr id="7" name="灯片编号占位符 6"/>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7813"/>
            <a:ext cx="20574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7813"/>
            <a:ext cx="605293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5" name="页脚占位符 4"/>
          <p:cNvSpPr>
            <a:spLocks noGrp="1"/>
          </p:cNvSpPr>
          <p:nvPr>
            <p:ph type="ftr" sz="quarter" idx="11"/>
          </p:nvPr>
        </p:nvSpPr>
        <p:spPr/>
        <p:txBody>
          <a:bodyPr/>
          <a:lstStyle/>
          <a:p>
            <a:pPr lvl="0"/>
            <a:endParaRPr lang="zh-CN" altLang="en-US" dirty="0"/>
          </a:p>
        </p:txBody>
      </p:sp>
      <p:sp>
        <p:nvSpPr>
          <p:cNvPr id="6" name="灯片编号占位符 5"/>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29150" y="1825625"/>
            <a:ext cx="3886200" cy="20986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29150" y="4076700"/>
            <a:ext cx="3886200" cy="21002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p:txBody>
          <a:bodyPr/>
          <a:lstStyle/>
          <a:p>
            <a:pPr lvl="0"/>
            <a:endParaRPr lang="zh-CN" altLang="en-US" dirty="0">
              <a:latin typeface="Arial" panose="020B0604020202020204" pitchFamily="34" charset="0"/>
            </a:endParaRPr>
          </a:p>
        </p:txBody>
      </p:sp>
      <p:sp>
        <p:nvSpPr>
          <p:cNvPr id="7" name="页脚占位符 6"/>
          <p:cNvSpPr>
            <a:spLocks noGrp="1"/>
          </p:cNvSpPr>
          <p:nvPr>
            <p:ph type="ftr" sz="quarter" idx="11"/>
          </p:nvPr>
        </p:nvSpPr>
        <p:spPr/>
        <p:txBody>
          <a:bodyPr/>
          <a:lstStyle/>
          <a:p>
            <a:pPr lvl="0"/>
            <a:endParaRPr lang="zh-CN" altLang="en-US" dirty="0"/>
          </a:p>
        </p:txBody>
      </p:sp>
      <p:sp>
        <p:nvSpPr>
          <p:cNvPr id="8" name="灯片编号占位符 7"/>
          <p:cNvSpPr>
            <a:spLocks noGrp="1"/>
          </p:cNvSpPr>
          <p:nvPr>
            <p:ph type="sldNum" sz="quarter" idx="12"/>
          </p:nvPr>
        </p:nvSpPr>
        <p:spPr/>
        <p:txBody>
          <a:bodyPr/>
          <a:lstStyle/>
          <a:p>
            <a:pPr lvl="0"/>
            <a:fld id="{9A0DB2DC-4C9A-4742-B13C-FB6460FD3503}" type="slidenum">
              <a:rPr lang="zh-CN" altLang="en-US" dirty="0"/>
              <a:t>‹#›</a:t>
            </a:fld>
            <a:endParaRPr lang="zh-CN" altLang="en-US" dirty="0">
              <a:latin typeface="Arial" panose="020B0604020202020204" pitchFamily="34" charset="0"/>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标题 77825"/>
          <p:cNvSpPr>
            <a:spLocks noGrp="1"/>
          </p:cNvSpPr>
          <p:nvPr>
            <p:ph type="title"/>
          </p:nvPr>
        </p:nvSpPr>
        <p:spPr>
          <a:xfrm>
            <a:off x="457200" y="277813"/>
            <a:ext cx="8229600" cy="1139825"/>
          </a:xfrm>
          <a:prstGeom prst="rect">
            <a:avLst/>
          </a:prstGeom>
          <a:noFill/>
          <a:ln w="9525">
            <a:noFill/>
          </a:ln>
        </p:spPr>
        <p:txBody>
          <a:bodyPr/>
          <a:lstStyle/>
          <a:p>
            <a:pPr lvl="0"/>
            <a:r>
              <a:rPr lang="zh-CN" altLang="en-US" dirty="0"/>
              <a:t>单击此处编辑母版标题样式</a:t>
            </a:r>
          </a:p>
        </p:txBody>
      </p:sp>
      <p:sp>
        <p:nvSpPr>
          <p:cNvPr id="77827" name="文本占位符 77826"/>
          <p:cNvSpPr>
            <a:spLocks noGrp="1"/>
          </p:cNvSpPr>
          <p:nvPr>
            <p:ph type="body" idx="1"/>
          </p:nvPr>
        </p:nvSpPr>
        <p:spPr>
          <a:xfrm>
            <a:off x="457200" y="1600200"/>
            <a:ext cx="8229600" cy="4530725"/>
          </a:xfrm>
          <a:prstGeom prst="rect">
            <a:avLst/>
          </a:prstGeom>
          <a:noFill/>
          <a:ln w="9525">
            <a:noFill/>
          </a:ln>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77828" name="日期占位符 77827"/>
          <p:cNvSpPr>
            <a:spLocks noGrp="1"/>
          </p:cNvSpPr>
          <p:nvPr>
            <p:ph type="dt" sz="half" idx="2"/>
          </p:nvPr>
        </p:nvSpPr>
        <p:spPr>
          <a:xfrm>
            <a:off x="457200" y="6243638"/>
            <a:ext cx="2133600" cy="457200"/>
          </a:xfrm>
          <a:prstGeom prst="rect">
            <a:avLst/>
          </a:prstGeom>
          <a:noFill/>
          <a:ln w="9525">
            <a:noFill/>
          </a:ln>
        </p:spPr>
        <p:txBody>
          <a:bodyPr anchor="b" anchorCtr="0"/>
          <a:lstStyle>
            <a:lvl1pPr>
              <a:defRPr sz="1200">
                <a:latin typeface="Garamond" panose="02020404030301010803" pitchFamily="18" charset="0"/>
              </a:defRPr>
            </a:lvl1pPr>
          </a:lstStyle>
          <a:p>
            <a:pPr lvl="0"/>
            <a:endParaRPr lang="zh-CN" altLang="en-US" dirty="0">
              <a:latin typeface="Arial" panose="020B0604020202020204" pitchFamily="34" charset="0"/>
            </a:endParaRPr>
          </a:p>
        </p:txBody>
      </p:sp>
      <p:sp>
        <p:nvSpPr>
          <p:cNvPr id="77829" name="页脚占位符 77828"/>
          <p:cNvSpPr>
            <a:spLocks noGrp="1"/>
          </p:cNvSpPr>
          <p:nvPr>
            <p:ph type="ftr" sz="quarter" idx="3"/>
          </p:nvPr>
        </p:nvSpPr>
        <p:spPr>
          <a:xfrm>
            <a:off x="3124200" y="6248400"/>
            <a:ext cx="2895600" cy="457200"/>
          </a:xfrm>
          <a:prstGeom prst="rect">
            <a:avLst/>
          </a:prstGeom>
          <a:noFill/>
          <a:ln w="9525">
            <a:noFill/>
          </a:ln>
        </p:spPr>
        <p:txBody>
          <a:bodyPr anchor="b" anchorCtr="0"/>
          <a:lstStyle>
            <a:lvl1pPr algn="ctr">
              <a:defRPr sz="1200">
                <a:latin typeface="Garamond" panose="02020404030301010803" pitchFamily="18" charset="0"/>
              </a:defRPr>
            </a:lvl1pPr>
          </a:lstStyle>
          <a:p>
            <a:pPr lvl="0"/>
            <a:endParaRPr lang="zh-CN" altLang="en-US" dirty="0"/>
          </a:p>
        </p:txBody>
      </p:sp>
      <p:sp>
        <p:nvSpPr>
          <p:cNvPr id="77830" name="灯片编号占位符 77829"/>
          <p:cNvSpPr>
            <a:spLocks noGrp="1"/>
          </p:cNvSpPr>
          <p:nvPr>
            <p:ph type="sldNum" sz="quarter" idx="4"/>
          </p:nvPr>
        </p:nvSpPr>
        <p:spPr>
          <a:xfrm>
            <a:off x="6553200" y="6243638"/>
            <a:ext cx="2133600" cy="457200"/>
          </a:xfrm>
          <a:prstGeom prst="rect">
            <a:avLst/>
          </a:prstGeom>
          <a:noFill/>
          <a:ln w="9525">
            <a:noFill/>
          </a:ln>
        </p:spPr>
        <p:txBody>
          <a:bodyPr anchor="b" anchorCtr="0"/>
          <a:lstStyle>
            <a:lvl1pPr algn="r">
              <a:defRPr sz="1200">
                <a:latin typeface="Garamond" panose="02020404030301010803" pitchFamily="18" charset="0"/>
              </a:defRPr>
            </a:lvl1pPr>
          </a:lstStyle>
          <a:p>
            <a:pPr lvl="0"/>
            <a:fld id="{9A0DB2DC-4C9A-4742-B13C-FB6460FD3503}" type="slidenum">
              <a:rPr lang="zh-CN" altLang="en-US" dirty="0"/>
              <a:t>‹#›</a:t>
            </a:fld>
            <a:endParaRPr lang="zh-CN" altLang="en-US" dirty="0">
              <a:latin typeface="Arial" panose="020B0604020202020204" pitchFamily="34" charset="0"/>
            </a:endParaRPr>
          </a:p>
        </p:txBody>
      </p:sp>
      <p:sp>
        <p:nvSpPr>
          <p:cNvPr id="77831" name="任意多边形 77830"/>
          <p:cNvSpPr/>
          <p:nvPr/>
        </p:nvSpPr>
        <p:spPr>
          <a:xfrm>
            <a:off x="381000" y="228600"/>
            <a:ext cx="8229600" cy="609600"/>
          </a:xfrm>
          <a:custGeom>
            <a:avLst/>
            <a:gdLst/>
            <a:ahLst/>
            <a:cxnLst/>
            <a:rect l="0" t="0" r="0" b="0"/>
            <a:pathLst>
              <a:path w="1000" h="1000">
                <a:moveTo>
                  <a:pt x="0" y="1000"/>
                </a:moveTo>
                <a:lnTo>
                  <a:pt x="0" y="0"/>
                </a:lnTo>
                <a:lnTo>
                  <a:pt x="1000" y="0"/>
                </a:lnTo>
              </a:path>
            </a:pathLst>
          </a:custGeom>
          <a:noFill/>
          <a:ln w="19050" cap="flat" cmpd="sng">
            <a:solidFill>
              <a:schemeClr val="accent1">
                <a:alpha val="100000"/>
              </a:schemeClr>
            </a:solidFill>
            <a:prstDash val="solid"/>
            <a:miter/>
            <a:headEnd type="none" w="med" len="med"/>
            <a:tailEnd type="none" w="med" len="med"/>
          </a:ln>
        </p:spPr>
        <p:txBody>
          <a:bodyPr/>
          <a:lstStyle/>
          <a:p>
            <a:endParaRPr lang="zh-CN" altLang="en-US"/>
          </a:p>
        </p:txBody>
      </p:sp>
      <p:sp>
        <p:nvSpPr>
          <p:cNvPr id="77832" name="直接连接符 77831"/>
          <p:cNvSpPr/>
          <p:nvPr/>
        </p:nvSpPr>
        <p:spPr>
          <a:xfrm>
            <a:off x="457200" y="6172200"/>
            <a:ext cx="8229600" cy="0"/>
          </a:xfrm>
          <a:prstGeom prst="line">
            <a:avLst/>
          </a:prstGeom>
          <a:ln w="19050" cap="flat" cmpd="sng">
            <a:solidFill>
              <a:schemeClr val="accent1"/>
            </a:solidFill>
            <a:prstDash val="soli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lvl1pPr marL="0" lvl="0" indent="0" algn="l" defTabSz="914400" rtl="0" eaLnBrk="1" fontAlgn="base" latinLnBrk="0" hangingPunct="1">
        <a:lnSpc>
          <a:spcPct val="100000"/>
        </a:lnSpc>
        <a:spcBef>
          <a:spcPct val="0"/>
        </a:spcBef>
        <a:spcAft>
          <a:spcPct val="0"/>
        </a:spcAft>
        <a:buNone/>
        <a:defRPr sz="4200" b="0" i="0" u="none" kern="1200" baseline="0">
          <a:solidFill>
            <a:schemeClr val="tx2"/>
          </a:solidFill>
          <a:latin typeface="+mj-lt"/>
          <a:ea typeface="+mj-ea"/>
          <a:cs typeface="+mj-cs"/>
        </a:defRPr>
      </a:lvl1pPr>
    </p:titleStyle>
    <p:bodyStyle>
      <a:lvl1pPr marL="342900" lvl="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3000" b="0" i="0" u="none" kern="1200" baseline="0">
          <a:solidFill>
            <a:schemeClr val="tx1"/>
          </a:solidFill>
          <a:latin typeface="+mn-lt"/>
          <a:ea typeface="+mn-ea"/>
          <a:cs typeface="+mn-cs"/>
        </a:defRPr>
      </a:lvl1pPr>
      <a:lvl2pPr marL="669925" lvl="1" indent="-32512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q"/>
        <a:defRPr sz="2600" b="0" i="0" u="none" kern="1200" baseline="0">
          <a:solidFill>
            <a:schemeClr val="tx1"/>
          </a:solidFill>
          <a:latin typeface="+mn-lt"/>
          <a:ea typeface="+mn-ea"/>
          <a:cs typeface="+mn-cs"/>
        </a:defRPr>
      </a:lvl2pPr>
      <a:lvl3pPr marL="1022350" lvl="2" indent="-35052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mn-lt"/>
          <a:ea typeface="+mn-ea"/>
          <a:cs typeface="+mn-cs"/>
        </a:defRPr>
      </a:lvl3pPr>
      <a:lvl4pPr marL="1339850" lvl="3" indent="-315595"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q"/>
        <a:defRPr sz="2000" b="0" i="0" u="none" kern="1200" baseline="0">
          <a:solidFill>
            <a:schemeClr val="tx1"/>
          </a:solidFill>
          <a:latin typeface="+mn-lt"/>
          <a:ea typeface="+mn-ea"/>
          <a:cs typeface="+mn-cs"/>
        </a:defRPr>
      </a:lvl4pPr>
      <a:lvl5pPr marL="1681480" lvl="4" indent="-339725"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5pPr>
      <a:lvl6pPr marL="2514600" lvl="5" indent="-2286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6pPr>
      <a:lvl7pPr marL="2971800" lvl="6" indent="-2286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7pPr>
      <a:lvl8pPr marL="3429000" lvl="7" indent="-2286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8pPr>
      <a:lvl9pPr marL="3886200" lvl="8" indent="-228600"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mn-lt"/>
          <a:ea typeface="+mn-ea"/>
          <a:cs typeface="+mn-cs"/>
        </a:defRPr>
      </a:lvl9pPr>
    </p:bodyStyle>
    <p:otherStyle>
      <a:lvl1pPr marL="0" lvl="0" indent="0" algn="l" defTabSz="914400" rtl="0" eaLnBrk="1" fontAlgn="base" latinLnBrk="0" hangingPunct="1">
        <a:lnSpc>
          <a:spcPct val="100000"/>
        </a:lnSpc>
        <a:spcBef>
          <a:spcPct val="0"/>
        </a:spcBef>
        <a:spcAft>
          <a:spcPct val="0"/>
        </a:spcAft>
        <a:buNone/>
        <a:defRPr sz="1800" b="0" i="0" u="none" kern="1200" baseline="0">
          <a:solidFill>
            <a:schemeClr val="tx1"/>
          </a:solidFill>
          <a:latin typeface="+mn-lt"/>
          <a:ea typeface="+mn-ea"/>
          <a:cs typeface="+mn-cs"/>
        </a:defRPr>
      </a:lvl1pPr>
      <a:lvl2pPr marL="457200" lvl="1"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sz="2800" b="0" i="0" u="none" kern="1200" baseline="0">
          <a:solidFill>
            <a:schemeClr val="tx1"/>
          </a:solidFill>
          <a:latin typeface="Arial" panose="020B0604020202020204" pitchFamily="34" charset="0"/>
          <a:ea typeface="宋体" panose="02010600030101010101" pitchFamily="2" charset="-122"/>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5.png"/><Relationship Id="rId5" Type="http://schemas.openxmlformats.org/officeDocument/2006/relationships/image" Target="../media/image2.png"/><Relationship Id="rId10" Type="http://schemas.openxmlformats.org/officeDocument/2006/relationships/customXml" Target="../ink/ink5.xml"/><Relationship Id="rId4" Type="http://schemas.openxmlformats.org/officeDocument/2006/relationships/customXml" Target="../ink/ink2.xml"/><Relationship Id="rId9"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wm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1.w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9.wmf"/><Relationship Id="rId2" Type="http://schemas.openxmlformats.org/officeDocument/2006/relationships/image" Target="../media/image18.w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20.wmf"/><Relationship Id="rId7" Type="http://schemas.openxmlformats.org/officeDocument/2006/relationships/image" Target="../media/image22.wmf"/><Relationship Id="rId2" Type="http://schemas.openxmlformats.org/officeDocument/2006/relationships/oleObject" Target="../embeddings/oleObject1.bin"/><Relationship Id="rId1" Type="http://schemas.openxmlformats.org/officeDocument/2006/relationships/slideLayout" Target="../slideLayouts/slideLayout2.xml"/><Relationship Id="rId6" Type="http://schemas.openxmlformats.org/officeDocument/2006/relationships/oleObject" Target="../embeddings/oleObject3.bin"/><Relationship Id="rId5" Type="http://schemas.openxmlformats.org/officeDocument/2006/relationships/image" Target="../media/image21.wmf"/><Relationship Id="rId4" Type="http://schemas.openxmlformats.org/officeDocument/2006/relationships/oleObject" Target="../embeddings/oleObject2.bin"/></Relationships>
</file>

<file path=ppt/slides/_rels/slide15.xml.rels><?xml version="1.0" encoding="UTF-8" standalone="yes"?>
<Relationships xmlns="http://schemas.openxmlformats.org/package/2006/relationships"><Relationship Id="rId8" Type="http://schemas.openxmlformats.org/officeDocument/2006/relationships/image" Target="../media/image25.wmf"/><Relationship Id="rId3" Type="http://schemas.openxmlformats.org/officeDocument/2006/relationships/oleObject" Target="../embeddings/oleObject4.bin"/><Relationship Id="rId7" Type="http://schemas.openxmlformats.org/officeDocument/2006/relationships/oleObject" Target="../embeddings/oleObject6.bin"/><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24.wmf"/><Relationship Id="rId5" Type="http://schemas.openxmlformats.org/officeDocument/2006/relationships/oleObject" Target="../embeddings/oleObject5.bin"/><Relationship Id="rId10" Type="http://schemas.openxmlformats.org/officeDocument/2006/relationships/image" Target="../media/image26.wmf"/><Relationship Id="rId4" Type="http://schemas.openxmlformats.org/officeDocument/2006/relationships/image" Target="../media/image23.wmf"/><Relationship Id="rId9" Type="http://schemas.openxmlformats.org/officeDocument/2006/relationships/oleObject" Target="../embeddings/oleObject7.bin"/></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9.w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标题 99329"/>
          <p:cNvSpPr>
            <a:spLocks noGrp="1"/>
          </p:cNvSpPr>
          <p:nvPr>
            <p:ph type="ctrTitle"/>
          </p:nvPr>
        </p:nvSpPr>
        <p:spPr>
          <a:xfrm>
            <a:off x="682625" y="2278063"/>
            <a:ext cx="7921625" cy="1150937"/>
          </a:xfrm>
          <a:ln/>
        </p:spPr>
        <p:txBody>
          <a:bodyPr anchor="t" anchorCtr="0"/>
          <a:lstStyle/>
          <a:p>
            <a:pPr algn="ctr" defTabSz="914400">
              <a:buSzTx/>
              <a:buFontTx/>
              <a:buNone/>
            </a:pPr>
            <a:r>
              <a:rPr lang="zh-CN" altLang="en-US" sz="4400" kern="1200" baseline="0" dirty="0">
                <a:latin typeface="黑体" panose="02010609060101010101" pitchFamily="2" charset="-122"/>
                <a:ea typeface="黑体" panose="02010609060101010101" pitchFamily="2" charset="-122"/>
              </a:rPr>
              <a:t>第</a:t>
            </a:r>
            <a:r>
              <a:rPr lang="en-US" altLang="zh-CN" sz="4400" kern="1200" baseline="0">
                <a:latin typeface="黑体" panose="02010609060101010101" pitchFamily="2" charset="-122"/>
                <a:ea typeface="黑体" panose="02010609060101010101" pitchFamily="2" charset="-122"/>
              </a:rPr>
              <a:t>2</a:t>
            </a:r>
            <a:r>
              <a:rPr lang="zh-CN" altLang="en-US" sz="4400" kern="1200" baseline="0" dirty="0">
                <a:latin typeface="黑体" panose="02010609060101010101" pitchFamily="2" charset="-122"/>
                <a:ea typeface="黑体" panose="02010609060101010101" pitchFamily="2" charset="-122"/>
              </a:rPr>
              <a:t>章 半导体中杂质和缺陷</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3073"/>
          <p:cNvSpPr>
            <a:spLocks noGrp="1"/>
          </p:cNvSpPr>
          <p:nvPr>
            <p:ph type="title"/>
          </p:nvPr>
        </p:nvSpPr>
        <p:spPr>
          <a:xfrm>
            <a:off x="684213" y="404813"/>
            <a:ext cx="8229600" cy="796925"/>
          </a:xfrm>
          <a:ln/>
        </p:spPr>
        <p:txBody>
          <a:bodyPr/>
          <a:lstStyle/>
          <a:p>
            <a:r>
              <a:rPr lang="en-US" altLang="zh-CN"/>
              <a:t>2.1 </a:t>
            </a:r>
            <a:r>
              <a:rPr lang="zh-CN" altLang="en-US" dirty="0"/>
              <a:t>硅锗晶体中的杂质能级</a:t>
            </a:r>
            <a:endParaRPr lang="zh-CN" altLang="en-US" b="1" dirty="0"/>
          </a:p>
        </p:txBody>
      </p:sp>
      <p:sp>
        <p:nvSpPr>
          <p:cNvPr id="3075" name="文本占位符 3074"/>
          <p:cNvSpPr>
            <a:spLocks noGrp="1"/>
          </p:cNvSpPr>
          <p:nvPr>
            <p:ph type="body" idx="1"/>
          </p:nvPr>
        </p:nvSpPr>
        <p:spPr>
          <a:xfrm>
            <a:off x="0" y="2060575"/>
            <a:ext cx="9144000" cy="1512888"/>
          </a:xfrm>
          <a:ln/>
        </p:spPr>
        <p:txBody>
          <a:bodyPr/>
          <a:lstStyle/>
          <a:p>
            <a:pPr lvl="1"/>
            <a:r>
              <a:rPr lang="zh-CN" altLang="en-US" b="1" dirty="0"/>
              <a:t>原子并非在格点上静止不动，而是在平衡位置附件振动；</a:t>
            </a:r>
            <a:endParaRPr lang="zh-CN" altLang="en-US" sz="2200" b="1"/>
          </a:p>
          <a:p>
            <a:pPr lvl="1"/>
            <a:r>
              <a:rPr lang="zh-CN" altLang="en-US" b="1" dirty="0"/>
              <a:t>材料不是绝对纯净，含若干</a:t>
            </a:r>
            <a:r>
              <a:rPr lang="zh-CN" altLang="en-US" b="1" dirty="0">
                <a:solidFill>
                  <a:srgbClr val="FF0000"/>
                </a:solidFill>
              </a:rPr>
              <a:t>杂质</a:t>
            </a:r>
            <a:r>
              <a:rPr lang="zh-CN" altLang="en-US" b="1" dirty="0"/>
              <a:t> </a:t>
            </a:r>
            <a:r>
              <a:rPr lang="en-US" altLang="zh-CN" b="1"/>
              <a:t>(</a:t>
            </a:r>
            <a:r>
              <a:rPr lang="zh-CN" altLang="en-US" b="1" dirty="0">
                <a:ea typeface="仿宋_GB2312" pitchFamily="49" charset="-122"/>
              </a:rPr>
              <a:t>外来的</a:t>
            </a:r>
            <a:r>
              <a:rPr lang="en-US" altLang="zh-CN" b="1"/>
              <a:t>)</a:t>
            </a:r>
            <a:r>
              <a:rPr lang="zh-CN" altLang="en-US" b="1" dirty="0"/>
              <a:t>；</a:t>
            </a:r>
          </a:p>
          <a:p>
            <a:pPr lvl="1"/>
            <a:r>
              <a:rPr lang="zh-CN" altLang="en-US" b="1" dirty="0"/>
              <a:t>半导体晶格不是绝对完美，存在缺陷 </a:t>
            </a:r>
            <a:r>
              <a:rPr lang="en-US" altLang="zh-CN" b="1"/>
              <a:t>(</a:t>
            </a:r>
            <a:r>
              <a:rPr lang="zh-CN" altLang="en-US" b="1" dirty="0">
                <a:ea typeface="仿宋_GB2312" pitchFamily="49" charset="-122"/>
              </a:rPr>
              <a:t>内在的</a:t>
            </a:r>
            <a:r>
              <a:rPr lang="en-US" altLang="zh-CN" b="1"/>
              <a:t>)</a:t>
            </a:r>
          </a:p>
        </p:txBody>
      </p:sp>
      <p:sp>
        <p:nvSpPr>
          <p:cNvPr id="3077" name="矩形 3076"/>
          <p:cNvSpPr/>
          <p:nvPr/>
        </p:nvSpPr>
        <p:spPr>
          <a:xfrm>
            <a:off x="611188" y="1498600"/>
            <a:ext cx="5184775" cy="519113"/>
          </a:xfrm>
          <a:prstGeom prst="rect">
            <a:avLst/>
          </a:prstGeom>
          <a:solidFill>
            <a:srgbClr val="33CCCC"/>
          </a:solidFill>
          <a:ln w="9525">
            <a:noFill/>
          </a:ln>
        </p:spPr>
        <p:txBody>
          <a:bodyPr wrap="none" anchor="t" anchorCtr="0">
            <a:spAutoFit/>
          </a:bodyPr>
          <a:lstStyle/>
          <a:p>
            <a:r>
              <a:rPr lang="zh-CN" altLang="en-US" b="1" dirty="0">
                <a:solidFill>
                  <a:srgbClr val="FF0000"/>
                </a:solidFill>
                <a:latin typeface="Arial" panose="020B0604020202020204" pitchFamily="34" charset="0"/>
              </a:rPr>
              <a:t>实际晶体与理想本征晶体的区别</a:t>
            </a:r>
          </a:p>
        </p:txBody>
      </p:sp>
      <p:sp>
        <p:nvSpPr>
          <p:cNvPr id="3078" name="矩形 3077"/>
          <p:cNvSpPr/>
          <p:nvPr/>
        </p:nvSpPr>
        <p:spPr>
          <a:xfrm>
            <a:off x="755650" y="3789363"/>
            <a:ext cx="6481763" cy="1800225"/>
          </a:xfrm>
          <a:prstGeom prst="rect">
            <a:avLst/>
          </a:prstGeom>
          <a:noFill/>
          <a:ln w="9525">
            <a:noFill/>
          </a:ln>
        </p:spPr>
        <p:txBody>
          <a:bodyPr>
            <a:spAutoFit/>
          </a:bodyPr>
          <a:lstStyle/>
          <a:p>
            <a:pPr lvl="2"/>
            <a:r>
              <a:rPr lang="zh-CN" altLang="en-US" sz="2800" b="1" dirty="0">
                <a:solidFill>
                  <a:srgbClr val="0000FF"/>
                </a:solidFill>
                <a:latin typeface="Arial" panose="020B0604020202020204" pitchFamily="34" charset="0"/>
              </a:rPr>
              <a:t>缺陷分类： </a:t>
            </a:r>
          </a:p>
          <a:p>
            <a:pPr lvl="2"/>
            <a:r>
              <a:rPr lang="zh-CN" altLang="en-US" sz="2800" b="1" dirty="0">
                <a:solidFill>
                  <a:srgbClr val="0000FF"/>
                </a:solidFill>
                <a:latin typeface="Arial" panose="020B0604020202020204" pitchFamily="34" charset="0"/>
              </a:rPr>
              <a:t>点缺陷（空位，间隙原子）</a:t>
            </a:r>
          </a:p>
          <a:p>
            <a:pPr lvl="2"/>
            <a:r>
              <a:rPr lang="zh-CN" altLang="en-US" sz="2800" b="1" dirty="0">
                <a:solidFill>
                  <a:srgbClr val="0000FF"/>
                </a:solidFill>
                <a:latin typeface="Arial" panose="020B0604020202020204" pitchFamily="34" charset="0"/>
              </a:rPr>
              <a:t>线缺陷（位错）</a:t>
            </a:r>
          </a:p>
          <a:p>
            <a:pPr lvl="2"/>
            <a:r>
              <a:rPr lang="zh-CN" altLang="en-US" sz="2800" b="1" dirty="0">
                <a:solidFill>
                  <a:srgbClr val="0000FF"/>
                </a:solidFill>
                <a:latin typeface="Arial" panose="020B0604020202020204" pitchFamily="34" charset="0"/>
              </a:rPr>
              <a:t>面缺陷（层错，晶粒间界）</a:t>
            </a:r>
          </a:p>
        </p:txBody>
      </p:sp>
      <mc:AlternateContent xmlns:mc="http://schemas.openxmlformats.org/markup-compatibility/2006">
        <mc:Choice xmlns:p14="http://schemas.microsoft.com/office/powerpoint/2010/main" Requires="p14">
          <p:contentPart p14:bwMode="auto" r:id="rId2">
            <p14:nvContentPartPr>
              <p14:cNvPr id="2" name="墨迹 1">
                <a:extLst>
                  <a:ext uri="{FF2B5EF4-FFF2-40B4-BE49-F238E27FC236}">
                    <a16:creationId xmlns:a16="http://schemas.microsoft.com/office/drawing/2014/main" id="{60414CD9-B71D-5158-8F73-A1B24BD130DE}"/>
                  </a:ext>
                </a:extLst>
              </p14:cNvPr>
              <p14:cNvContentPartPr/>
              <p14:nvPr/>
            </p14:nvContentPartPr>
            <p14:xfrm>
              <a:off x="1043233" y="2642572"/>
              <a:ext cx="5388840" cy="160560"/>
            </p14:xfrm>
          </p:contentPart>
        </mc:Choice>
        <mc:Fallback>
          <p:pic>
            <p:nvPicPr>
              <p:cNvPr id="2" name="墨迹 1">
                <a:extLst>
                  <a:ext uri="{FF2B5EF4-FFF2-40B4-BE49-F238E27FC236}">
                    <a16:creationId xmlns:a16="http://schemas.microsoft.com/office/drawing/2014/main" id="{60414CD9-B71D-5158-8F73-A1B24BD130DE}"/>
                  </a:ext>
                </a:extLst>
              </p:cNvPr>
              <p:cNvPicPr/>
              <p:nvPr/>
            </p:nvPicPr>
            <p:blipFill>
              <a:blip r:embed="rId3"/>
              <a:stretch>
                <a:fillRect/>
              </a:stretch>
            </p:blipFill>
            <p:spPr>
              <a:xfrm>
                <a:off x="989233" y="2534572"/>
                <a:ext cx="5496480" cy="3762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3" name="墨迹 2">
                <a:extLst>
                  <a:ext uri="{FF2B5EF4-FFF2-40B4-BE49-F238E27FC236}">
                    <a16:creationId xmlns:a16="http://schemas.microsoft.com/office/drawing/2014/main" id="{327CC927-855A-6CFA-8D72-3B6818687F38}"/>
                  </a:ext>
                </a:extLst>
              </p14:cNvPr>
              <p14:cNvContentPartPr/>
              <p14:nvPr/>
            </p14:nvContentPartPr>
            <p14:xfrm>
              <a:off x="2047273" y="3387772"/>
              <a:ext cx="3749760" cy="51120"/>
            </p14:xfrm>
          </p:contentPart>
        </mc:Choice>
        <mc:Fallback>
          <p:pic>
            <p:nvPicPr>
              <p:cNvPr id="3" name="墨迹 2">
                <a:extLst>
                  <a:ext uri="{FF2B5EF4-FFF2-40B4-BE49-F238E27FC236}">
                    <a16:creationId xmlns:a16="http://schemas.microsoft.com/office/drawing/2014/main" id="{327CC927-855A-6CFA-8D72-3B6818687F38}"/>
                  </a:ext>
                </a:extLst>
              </p:cNvPr>
              <p:cNvPicPr/>
              <p:nvPr/>
            </p:nvPicPr>
            <p:blipFill>
              <a:blip r:embed="rId5"/>
              <a:stretch>
                <a:fillRect/>
              </a:stretch>
            </p:blipFill>
            <p:spPr>
              <a:xfrm>
                <a:off x="1993273" y="3279772"/>
                <a:ext cx="3857400" cy="266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4" name="墨迹 3">
                <a:extLst>
                  <a:ext uri="{FF2B5EF4-FFF2-40B4-BE49-F238E27FC236}">
                    <a16:creationId xmlns:a16="http://schemas.microsoft.com/office/drawing/2014/main" id="{02D59D02-B568-861B-A139-EBD3F22C266A}"/>
                  </a:ext>
                </a:extLst>
              </p14:cNvPr>
              <p14:cNvContentPartPr/>
              <p14:nvPr/>
            </p14:nvContentPartPr>
            <p14:xfrm>
              <a:off x="1659193" y="4321252"/>
              <a:ext cx="4185000" cy="221040"/>
            </p14:xfrm>
          </p:contentPart>
        </mc:Choice>
        <mc:Fallback>
          <p:pic>
            <p:nvPicPr>
              <p:cNvPr id="4" name="墨迹 3">
                <a:extLst>
                  <a:ext uri="{FF2B5EF4-FFF2-40B4-BE49-F238E27FC236}">
                    <a16:creationId xmlns:a16="http://schemas.microsoft.com/office/drawing/2014/main" id="{02D59D02-B568-861B-A139-EBD3F22C266A}"/>
                  </a:ext>
                </a:extLst>
              </p:cNvPr>
              <p:cNvPicPr/>
              <p:nvPr/>
            </p:nvPicPr>
            <p:blipFill>
              <a:blip r:embed="rId7"/>
              <a:stretch>
                <a:fillRect/>
              </a:stretch>
            </p:blipFill>
            <p:spPr>
              <a:xfrm>
                <a:off x="1605553" y="4213612"/>
                <a:ext cx="4292640" cy="43668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5" name="墨迹 4">
                <a:extLst>
                  <a:ext uri="{FF2B5EF4-FFF2-40B4-BE49-F238E27FC236}">
                    <a16:creationId xmlns:a16="http://schemas.microsoft.com/office/drawing/2014/main" id="{D0B6D07E-E2FD-372F-4EB8-B7CC04AD8B64}"/>
                  </a:ext>
                </a:extLst>
              </p14:cNvPr>
              <p14:cNvContentPartPr/>
              <p14:nvPr/>
            </p14:nvContentPartPr>
            <p14:xfrm>
              <a:off x="2257153" y="4969252"/>
              <a:ext cx="1738800" cy="90360"/>
            </p14:xfrm>
          </p:contentPart>
        </mc:Choice>
        <mc:Fallback>
          <p:pic>
            <p:nvPicPr>
              <p:cNvPr id="5" name="墨迹 4">
                <a:extLst>
                  <a:ext uri="{FF2B5EF4-FFF2-40B4-BE49-F238E27FC236}">
                    <a16:creationId xmlns:a16="http://schemas.microsoft.com/office/drawing/2014/main" id="{D0B6D07E-E2FD-372F-4EB8-B7CC04AD8B64}"/>
                  </a:ext>
                </a:extLst>
              </p:cNvPr>
              <p:cNvPicPr/>
              <p:nvPr/>
            </p:nvPicPr>
            <p:blipFill>
              <a:blip r:embed="rId9"/>
              <a:stretch>
                <a:fillRect/>
              </a:stretch>
            </p:blipFill>
            <p:spPr>
              <a:xfrm>
                <a:off x="2203153" y="4861252"/>
                <a:ext cx="1846440" cy="30600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6" name="墨迹 5">
                <a:extLst>
                  <a:ext uri="{FF2B5EF4-FFF2-40B4-BE49-F238E27FC236}">
                    <a16:creationId xmlns:a16="http://schemas.microsoft.com/office/drawing/2014/main" id="{121EDDA3-B268-48E2-D50F-592EF615D5E0}"/>
                  </a:ext>
                </a:extLst>
              </p14:cNvPr>
              <p14:cNvContentPartPr/>
              <p14:nvPr/>
            </p14:nvContentPartPr>
            <p14:xfrm>
              <a:off x="1818313" y="5346532"/>
              <a:ext cx="3926160" cy="81720"/>
            </p14:xfrm>
          </p:contentPart>
        </mc:Choice>
        <mc:Fallback>
          <p:pic>
            <p:nvPicPr>
              <p:cNvPr id="6" name="墨迹 5">
                <a:extLst>
                  <a:ext uri="{FF2B5EF4-FFF2-40B4-BE49-F238E27FC236}">
                    <a16:creationId xmlns:a16="http://schemas.microsoft.com/office/drawing/2014/main" id="{121EDDA3-B268-48E2-D50F-592EF615D5E0}"/>
                  </a:ext>
                </a:extLst>
              </p:cNvPr>
              <p:cNvPicPr/>
              <p:nvPr/>
            </p:nvPicPr>
            <p:blipFill>
              <a:blip r:embed="rId11"/>
              <a:stretch>
                <a:fillRect/>
              </a:stretch>
            </p:blipFill>
            <p:spPr>
              <a:xfrm>
                <a:off x="1764673" y="5238892"/>
                <a:ext cx="4033800" cy="29736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2" name="文本框 119811"/>
          <p:cNvSpPr txBox="1"/>
          <p:nvPr/>
        </p:nvSpPr>
        <p:spPr>
          <a:xfrm>
            <a:off x="827088" y="2276475"/>
            <a:ext cx="7632700" cy="822325"/>
          </a:xfrm>
          <a:prstGeom prst="rect">
            <a:avLst/>
          </a:prstGeom>
          <a:noFill/>
          <a:ln w="9525">
            <a:noFill/>
          </a:ln>
        </p:spPr>
        <p:txBody>
          <a:bodyPr>
            <a:spAutoFit/>
          </a:bodyPr>
          <a:lstStyle/>
          <a:p>
            <a:pPr>
              <a:spcBef>
                <a:spcPct val="50000"/>
              </a:spcBef>
            </a:pPr>
            <a:r>
              <a:rPr lang="zh-CN" altLang="en-US" sz="2400" b="1" dirty="0">
                <a:solidFill>
                  <a:schemeClr val="accent2"/>
                </a:solidFill>
                <a:latin typeface="Arial" panose="020B0604020202020204" pitchFamily="34" charset="0"/>
                <a:ea typeface="仿宋_GB2312" pitchFamily="49" charset="-122"/>
              </a:rPr>
              <a:t>一般的硅平面器件，要求位错密度在</a:t>
            </a:r>
            <a:r>
              <a:rPr lang="en-US" altLang="zh-CN" sz="2400" b="1">
                <a:solidFill>
                  <a:schemeClr val="accent2"/>
                </a:solidFill>
                <a:latin typeface="Arial" panose="020B0604020202020204" pitchFamily="34" charset="0"/>
                <a:ea typeface="仿宋_GB2312" pitchFamily="49" charset="-122"/>
              </a:rPr>
              <a:t>10</a:t>
            </a:r>
            <a:r>
              <a:rPr lang="en-US" altLang="zh-CN" sz="2400" b="1" baseline="30000">
                <a:solidFill>
                  <a:schemeClr val="accent2"/>
                </a:solidFill>
                <a:latin typeface="Arial" panose="020B0604020202020204" pitchFamily="34" charset="0"/>
                <a:ea typeface="仿宋_GB2312" pitchFamily="49" charset="-122"/>
              </a:rPr>
              <a:t>3</a:t>
            </a:r>
            <a:r>
              <a:rPr lang="en-US" altLang="zh-CN" sz="2400" b="1">
                <a:solidFill>
                  <a:schemeClr val="accent2"/>
                </a:solidFill>
                <a:latin typeface="Arial" panose="020B0604020202020204" pitchFamily="34" charset="0"/>
                <a:ea typeface="仿宋_GB2312" pitchFamily="49" charset="-122"/>
              </a:rPr>
              <a:t>cm</a:t>
            </a:r>
            <a:r>
              <a:rPr lang="en-US" altLang="zh-CN" sz="2400" b="1" baseline="30000">
                <a:solidFill>
                  <a:schemeClr val="accent2"/>
                </a:solidFill>
                <a:latin typeface="Arial" panose="020B0604020202020204" pitchFamily="34" charset="0"/>
                <a:ea typeface="仿宋_GB2312" pitchFamily="49" charset="-122"/>
              </a:rPr>
              <a:t>-2</a:t>
            </a:r>
            <a:r>
              <a:rPr lang="zh-CN" altLang="en-US" sz="2400" b="1" dirty="0">
                <a:solidFill>
                  <a:schemeClr val="accent2"/>
                </a:solidFill>
                <a:latin typeface="Arial" panose="020B0604020202020204" pitchFamily="34" charset="0"/>
                <a:ea typeface="仿宋_GB2312" pitchFamily="49" charset="-122"/>
              </a:rPr>
              <a:t>以下，超过该值，将影响半导体的电导率和劣化器件的性能。</a:t>
            </a:r>
          </a:p>
        </p:txBody>
      </p:sp>
      <p:sp>
        <p:nvSpPr>
          <p:cNvPr id="119813" name="文本框 119812"/>
          <p:cNvSpPr txBox="1"/>
          <p:nvPr/>
        </p:nvSpPr>
        <p:spPr>
          <a:xfrm>
            <a:off x="611188" y="620713"/>
            <a:ext cx="8137525" cy="1370012"/>
          </a:xfrm>
          <a:prstGeom prst="rect">
            <a:avLst/>
          </a:prstGeom>
          <a:noFill/>
          <a:ln w="9525">
            <a:noFill/>
          </a:ln>
        </p:spPr>
        <p:txBody>
          <a:bodyPr>
            <a:spAutoFit/>
          </a:bodyPr>
          <a:lstStyle/>
          <a:p>
            <a:pPr>
              <a:spcBef>
                <a:spcPct val="50000"/>
              </a:spcBef>
            </a:pPr>
            <a:r>
              <a:rPr lang="zh-CN" altLang="en-US" sz="2400" b="1" dirty="0">
                <a:solidFill>
                  <a:srgbClr val="0000FF"/>
                </a:solidFill>
                <a:latin typeface="Arial" panose="020B0604020202020204" pitchFamily="34" charset="0"/>
                <a:ea typeface="仿宋_GB2312" pitchFamily="49" charset="-122"/>
              </a:rPr>
              <a:t>极微量的杂质和缺陷，极大影响半导体的物理、化学性质。</a:t>
            </a:r>
          </a:p>
          <a:p>
            <a:pPr>
              <a:spcBef>
                <a:spcPct val="50000"/>
              </a:spcBef>
            </a:pPr>
            <a:r>
              <a:rPr lang="zh-CN" altLang="en-US" sz="2400" b="1" dirty="0">
                <a:solidFill>
                  <a:srgbClr val="0000FF"/>
                </a:solidFill>
                <a:latin typeface="Arial" panose="020B0604020202020204" pitchFamily="34" charset="0"/>
                <a:ea typeface="仿宋_GB2312" pitchFamily="49" charset="-122"/>
              </a:rPr>
              <a:t>例如：硅中，以</a:t>
            </a:r>
            <a:r>
              <a:rPr lang="en-US" altLang="zh-CN" sz="2400" b="1">
                <a:solidFill>
                  <a:srgbClr val="0000FF"/>
                </a:solidFill>
                <a:latin typeface="Arial" panose="020B0604020202020204" pitchFamily="34" charset="0"/>
                <a:ea typeface="仿宋_GB2312" pitchFamily="49" charset="-122"/>
              </a:rPr>
              <a:t>10</a:t>
            </a:r>
            <a:r>
              <a:rPr lang="en-US" altLang="zh-CN" sz="2400" b="1" baseline="30000">
                <a:solidFill>
                  <a:srgbClr val="0000FF"/>
                </a:solidFill>
                <a:latin typeface="Arial" panose="020B0604020202020204" pitchFamily="34" charset="0"/>
                <a:ea typeface="仿宋_GB2312" pitchFamily="49" charset="-122"/>
              </a:rPr>
              <a:t>5</a:t>
            </a:r>
            <a:r>
              <a:rPr lang="zh-CN" altLang="en-US" sz="2400" b="1" dirty="0">
                <a:solidFill>
                  <a:srgbClr val="0000FF"/>
                </a:solidFill>
                <a:latin typeface="Arial" panose="020B0604020202020204" pitchFamily="34" charset="0"/>
                <a:ea typeface="仿宋_GB2312" pitchFamily="49" charset="-122"/>
              </a:rPr>
              <a:t>：</a:t>
            </a:r>
            <a:r>
              <a:rPr lang="en-US" altLang="zh-CN" sz="2400" b="1">
                <a:solidFill>
                  <a:srgbClr val="0000FF"/>
                </a:solidFill>
                <a:latin typeface="Arial" panose="020B0604020202020204" pitchFamily="34" charset="0"/>
                <a:ea typeface="仿宋_GB2312" pitchFamily="49" charset="-122"/>
              </a:rPr>
              <a:t>1</a:t>
            </a:r>
            <a:r>
              <a:rPr lang="zh-CN" altLang="en-US" sz="2400" b="1" dirty="0">
                <a:solidFill>
                  <a:srgbClr val="0000FF"/>
                </a:solidFill>
                <a:latin typeface="Arial" panose="020B0604020202020204" pitchFamily="34" charset="0"/>
                <a:ea typeface="仿宋_GB2312" pitchFamily="49" charset="-122"/>
              </a:rPr>
              <a:t>的比例掺如</a:t>
            </a:r>
            <a:r>
              <a:rPr lang="en-US" altLang="zh-CN" sz="2400" b="1">
                <a:solidFill>
                  <a:srgbClr val="0000FF"/>
                </a:solidFill>
                <a:latin typeface="Arial" panose="020B0604020202020204" pitchFamily="34" charset="0"/>
                <a:ea typeface="仿宋_GB2312" pitchFamily="49" charset="-122"/>
              </a:rPr>
              <a:t>B</a:t>
            </a:r>
            <a:r>
              <a:rPr lang="zh-CN" altLang="en-US" sz="2400" b="1" dirty="0">
                <a:solidFill>
                  <a:srgbClr val="0000FF"/>
                </a:solidFill>
                <a:latin typeface="Arial" panose="020B0604020202020204" pitchFamily="34" charset="0"/>
                <a:ea typeface="仿宋_GB2312" pitchFamily="49" charset="-122"/>
              </a:rPr>
              <a:t>杂质，电导率增加</a:t>
            </a:r>
            <a:r>
              <a:rPr lang="en-US" altLang="zh-CN" sz="2400" b="1">
                <a:solidFill>
                  <a:srgbClr val="0000FF"/>
                </a:solidFill>
                <a:latin typeface="Arial" panose="020B0604020202020204" pitchFamily="34" charset="0"/>
                <a:ea typeface="仿宋_GB2312" pitchFamily="49" charset="-122"/>
              </a:rPr>
              <a:t>10</a:t>
            </a:r>
            <a:r>
              <a:rPr lang="en-US" altLang="zh-CN" sz="2400" b="1" baseline="30000">
                <a:solidFill>
                  <a:srgbClr val="0000FF"/>
                </a:solidFill>
                <a:latin typeface="Arial" panose="020B0604020202020204" pitchFamily="34" charset="0"/>
                <a:ea typeface="仿宋_GB2312" pitchFamily="49" charset="-122"/>
              </a:rPr>
              <a:t>3</a:t>
            </a:r>
            <a:r>
              <a:rPr lang="zh-CN" altLang="en-US" sz="2400" b="1" dirty="0">
                <a:solidFill>
                  <a:srgbClr val="0000FF"/>
                </a:solidFill>
                <a:latin typeface="Arial" panose="020B0604020202020204" pitchFamily="34" charset="0"/>
                <a:ea typeface="仿宋_GB2312" pitchFamily="49" charset="-122"/>
              </a:rPr>
              <a:t>倍</a:t>
            </a:r>
            <a:endParaRPr lang="zh-CN" altLang="en-US" sz="2400" b="1" baseline="30000" dirty="0">
              <a:solidFill>
                <a:srgbClr val="0000FF"/>
              </a:solidFill>
              <a:latin typeface="Arial" panose="020B0604020202020204" pitchFamily="34" charset="0"/>
              <a:ea typeface="仿宋_GB2312" pitchFamily="49" charset="-122"/>
            </a:endParaRPr>
          </a:p>
        </p:txBody>
      </p:sp>
      <p:grpSp>
        <p:nvGrpSpPr>
          <p:cNvPr id="119815" name="组合 119814"/>
          <p:cNvGrpSpPr/>
          <p:nvPr/>
        </p:nvGrpSpPr>
        <p:grpSpPr>
          <a:xfrm>
            <a:off x="827088" y="3933825"/>
            <a:ext cx="7453312" cy="1917700"/>
            <a:chOff x="431" y="728"/>
            <a:chExt cx="4695" cy="1208"/>
          </a:xfrm>
        </p:grpSpPr>
        <p:sp>
          <p:nvSpPr>
            <p:cNvPr id="119816" name="矩形 119815"/>
            <p:cNvSpPr/>
            <p:nvPr/>
          </p:nvSpPr>
          <p:spPr>
            <a:xfrm>
              <a:off x="431" y="974"/>
              <a:ext cx="816" cy="596"/>
            </a:xfrm>
            <a:prstGeom prst="rect">
              <a:avLst/>
            </a:prstGeom>
            <a:solidFill>
              <a:srgbClr val="33CCCC"/>
            </a:solidFill>
            <a:ln w="9525">
              <a:noFill/>
            </a:ln>
          </p:spPr>
          <p:txBody>
            <a:bodyPr>
              <a:spAutoFit/>
            </a:bodyPr>
            <a:lstStyle/>
            <a:p>
              <a:r>
                <a:rPr lang="zh-CN" altLang="en-US" b="1" dirty="0">
                  <a:solidFill>
                    <a:srgbClr val="FF0000"/>
                  </a:solidFill>
                  <a:latin typeface="Arial" panose="020B0604020202020204" pitchFamily="34" charset="0"/>
                </a:rPr>
                <a:t>杂质的影响</a:t>
              </a:r>
            </a:p>
          </p:txBody>
        </p:sp>
        <p:sp>
          <p:nvSpPr>
            <p:cNvPr id="119817" name="矩形 119816"/>
            <p:cNvSpPr/>
            <p:nvPr/>
          </p:nvSpPr>
          <p:spPr>
            <a:xfrm>
              <a:off x="1610" y="728"/>
              <a:ext cx="3516" cy="1208"/>
            </a:xfrm>
            <a:prstGeom prst="rect">
              <a:avLst/>
            </a:prstGeom>
            <a:noFill/>
            <a:ln w="9525">
              <a:noFill/>
            </a:ln>
          </p:spPr>
          <p:txBody>
            <a:bodyPr>
              <a:spAutoFit/>
            </a:bodyPr>
            <a:lstStyle/>
            <a:p>
              <a:r>
                <a:rPr lang="en-US" altLang="zh-CN" sz="2400">
                  <a:latin typeface="楷体_GB2312" pitchFamily="49" charset="-122"/>
                  <a:ea typeface="楷体_GB2312" pitchFamily="49" charset="-122"/>
                </a:rPr>
                <a:t>1</a:t>
              </a:r>
              <a:r>
                <a:rPr lang="zh-CN" altLang="en-US" sz="2400" dirty="0">
                  <a:latin typeface="楷体_GB2312" pitchFamily="49" charset="-122"/>
                  <a:ea typeface="楷体_GB2312" pitchFamily="49" charset="-122"/>
                </a:rPr>
                <a:t>、</a:t>
              </a:r>
              <a:r>
                <a:rPr lang="zh-CN" altLang="en-US" sz="2400" b="1" dirty="0">
                  <a:solidFill>
                    <a:srgbClr val="FF0000"/>
                  </a:solidFill>
                  <a:latin typeface="Arial" panose="020B0604020202020204" pitchFamily="34" charset="0"/>
                  <a:ea typeface="楷体_GB2312" pitchFamily="49" charset="-122"/>
                </a:rPr>
                <a:t>改变周期性排布的原子产生的周期性势场，</a:t>
              </a:r>
              <a:r>
                <a:rPr lang="zh-CN" altLang="en-US" sz="2400" b="1" dirty="0">
                  <a:solidFill>
                    <a:srgbClr val="FF0000"/>
                  </a:solidFill>
                  <a:latin typeface="楷体_GB2312" pitchFamily="49" charset="-122"/>
                  <a:ea typeface="楷体_GB2312" pitchFamily="49" charset="-122"/>
                </a:rPr>
                <a:t>破坏了原有的能带结构，但可视为微扰，引入新的能级</a:t>
              </a:r>
            </a:p>
            <a:p>
              <a:endParaRPr lang="zh-CN" altLang="en-US" sz="2400" b="1" dirty="0">
                <a:latin typeface="楷体_GB2312" pitchFamily="49" charset="-122"/>
                <a:ea typeface="楷体_GB2312" pitchFamily="49" charset="-122"/>
              </a:endParaRPr>
            </a:p>
            <a:p>
              <a:r>
                <a:rPr lang="en-US" altLang="zh-CN" sz="2400">
                  <a:latin typeface="楷体_GB2312" pitchFamily="49" charset="-122"/>
                  <a:ea typeface="楷体_GB2312" pitchFamily="49" charset="-122"/>
                </a:rPr>
                <a:t>2</a:t>
              </a:r>
              <a:r>
                <a:rPr lang="zh-CN" altLang="en-US" sz="2400" dirty="0">
                  <a:latin typeface="楷体_GB2312" pitchFamily="49" charset="-122"/>
                  <a:ea typeface="楷体_GB2312" pitchFamily="49" charset="-122"/>
                </a:rPr>
                <a:t>、提供 </a:t>
              </a:r>
              <a:r>
                <a:rPr lang="zh-CN" altLang="en-US" sz="2400" dirty="0">
                  <a:solidFill>
                    <a:srgbClr val="0000FF"/>
                  </a:solidFill>
                  <a:latin typeface="楷体_GB2312" pitchFamily="49" charset="-122"/>
                  <a:ea typeface="楷体_GB2312" pitchFamily="49" charset="-122"/>
                </a:rPr>
                <a:t>导电用 的载流子</a:t>
              </a:r>
              <a:r>
                <a:rPr lang="zh-CN" altLang="en-US" sz="2400" dirty="0">
                  <a:latin typeface="楷体_GB2312" pitchFamily="49" charset="-122"/>
                  <a:ea typeface="楷体_GB2312" pitchFamily="49" charset="-122"/>
                </a:rPr>
                <a:t>（电子、空穴）</a:t>
              </a:r>
            </a:p>
          </p:txBody>
        </p:sp>
        <p:sp>
          <p:nvSpPr>
            <p:cNvPr id="119818" name="左大括号 119817"/>
            <p:cNvSpPr/>
            <p:nvPr/>
          </p:nvSpPr>
          <p:spPr>
            <a:xfrm>
              <a:off x="1384" y="890"/>
              <a:ext cx="181" cy="771"/>
            </a:xfrm>
            <a:prstGeom prst="leftBrace">
              <a:avLst>
                <a:gd name="adj1" fmla="val 35497"/>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9812"/>
                                        </p:tgtEl>
                                        <p:attrNameLst>
                                          <p:attrName>style.visibility</p:attrName>
                                        </p:attrNameLst>
                                      </p:cBhvr>
                                      <p:to>
                                        <p:strVal val="visible"/>
                                      </p:to>
                                    </p:set>
                                    <p:anim calcmode="lin" valueType="num">
                                      <p:cBhvr additive="base">
                                        <p:cTn id="7" dur="500" fill="hold"/>
                                        <p:tgtEl>
                                          <p:spTgt spid="119812"/>
                                        </p:tgtEl>
                                        <p:attrNameLst>
                                          <p:attrName>ppt_x</p:attrName>
                                        </p:attrNameLst>
                                      </p:cBhvr>
                                      <p:tavLst>
                                        <p:tav tm="0">
                                          <p:val>
                                            <p:strVal val="0-#ppt_w/2"/>
                                          </p:val>
                                        </p:tav>
                                        <p:tav tm="100000">
                                          <p:val>
                                            <p:strVal val="#ppt_x"/>
                                          </p:val>
                                        </p:tav>
                                      </p:tavLst>
                                    </p:anim>
                                    <p:anim calcmode="lin" valueType="num">
                                      <p:cBhvr additive="base">
                                        <p:cTn id="8" dur="500" fill="hold"/>
                                        <p:tgtEl>
                                          <p:spTgt spid="11981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19815"/>
                                        </p:tgtEl>
                                        <p:attrNameLst>
                                          <p:attrName>style.visibility</p:attrName>
                                        </p:attrNameLst>
                                      </p:cBhvr>
                                      <p:to>
                                        <p:strVal val="visible"/>
                                      </p:to>
                                    </p:set>
                                    <p:anim calcmode="lin" valueType="num">
                                      <p:cBhvr additive="base">
                                        <p:cTn id="13" dur="500" fill="hold"/>
                                        <p:tgtEl>
                                          <p:spTgt spid="119815"/>
                                        </p:tgtEl>
                                        <p:attrNameLst>
                                          <p:attrName>ppt_x</p:attrName>
                                        </p:attrNameLst>
                                      </p:cBhvr>
                                      <p:tavLst>
                                        <p:tav tm="0">
                                          <p:val>
                                            <p:strVal val="#ppt_x"/>
                                          </p:val>
                                        </p:tav>
                                        <p:tav tm="100000">
                                          <p:val>
                                            <p:strVal val="#ppt_x"/>
                                          </p:val>
                                        </p:tav>
                                      </p:tavLst>
                                    </p:anim>
                                    <p:anim calcmode="lin" valueType="num">
                                      <p:cBhvr additive="base">
                                        <p:cTn id="14" dur="500" fill="hold"/>
                                        <p:tgtEl>
                                          <p:spTgt spid="1198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1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7524" name="图片 107523"/>
          <p:cNvPicPr>
            <a:picLocks noChangeAspect="1"/>
          </p:cNvPicPr>
          <p:nvPr/>
        </p:nvPicPr>
        <p:blipFill>
          <a:blip r:embed="rId2"/>
          <a:stretch>
            <a:fillRect/>
          </a:stretch>
        </p:blipFill>
        <p:spPr>
          <a:xfrm>
            <a:off x="0" y="2492375"/>
            <a:ext cx="3816350" cy="3208338"/>
          </a:xfrm>
          <a:prstGeom prst="rect">
            <a:avLst/>
          </a:prstGeom>
          <a:noFill/>
          <a:ln w="9525">
            <a:noFill/>
          </a:ln>
        </p:spPr>
      </p:pic>
      <p:grpSp>
        <p:nvGrpSpPr>
          <p:cNvPr id="107530" name="组合 107529"/>
          <p:cNvGrpSpPr/>
          <p:nvPr/>
        </p:nvGrpSpPr>
        <p:grpSpPr>
          <a:xfrm>
            <a:off x="3513138" y="2492375"/>
            <a:ext cx="5630862" cy="1249363"/>
            <a:chOff x="505" y="346"/>
            <a:chExt cx="3547" cy="787"/>
          </a:xfrm>
        </p:grpSpPr>
        <p:sp>
          <p:nvSpPr>
            <p:cNvPr id="107525" name="文本框 107524"/>
            <p:cNvSpPr txBox="1"/>
            <p:nvPr/>
          </p:nvSpPr>
          <p:spPr>
            <a:xfrm>
              <a:off x="505" y="572"/>
              <a:ext cx="1844" cy="288"/>
            </a:xfrm>
            <a:prstGeom prst="rect">
              <a:avLst/>
            </a:prstGeom>
            <a:noFill/>
            <a:ln w="9525">
              <a:noFill/>
            </a:ln>
          </p:spPr>
          <p:txBody>
            <a:bodyPr wrap="none" anchor="t" anchorCtr="0">
              <a:spAutoFit/>
            </a:bodyPr>
            <a:lstStyle/>
            <a:p>
              <a:r>
                <a:rPr lang="zh-CN" altLang="en-US" sz="2400" b="1" dirty="0">
                  <a:solidFill>
                    <a:srgbClr val="FF0000"/>
                  </a:solidFill>
                  <a:latin typeface="Arial" panose="020B0604020202020204" pitchFamily="34" charset="0"/>
                  <a:ea typeface="仿宋_GB2312" pitchFamily="49" charset="-122"/>
                </a:rPr>
                <a:t>杂质原子位置区分：</a:t>
              </a:r>
            </a:p>
          </p:txBody>
        </p:sp>
        <p:sp>
          <p:nvSpPr>
            <p:cNvPr id="107526" name="矩形 107525"/>
            <p:cNvSpPr/>
            <p:nvPr/>
          </p:nvSpPr>
          <p:spPr>
            <a:xfrm>
              <a:off x="2971" y="845"/>
              <a:ext cx="1081" cy="288"/>
            </a:xfrm>
            <a:prstGeom prst="rect">
              <a:avLst/>
            </a:prstGeom>
            <a:noFill/>
            <a:ln w="9525">
              <a:noFill/>
            </a:ln>
          </p:spPr>
          <p:txBody>
            <a:bodyPr>
              <a:spAutoFit/>
            </a:bodyPr>
            <a:lstStyle/>
            <a:p>
              <a:r>
                <a:rPr lang="zh-CN" altLang="en-US" sz="2400" b="1" dirty="0">
                  <a:latin typeface="Arial" panose="020B0604020202020204" pitchFamily="34" charset="0"/>
                  <a:ea typeface="仿宋_GB2312" pitchFamily="49" charset="-122"/>
                </a:rPr>
                <a:t>替位式杂质</a:t>
              </a:r>
            </a:p>
          </p:txBody>
        </p:sp>
        <p:sp>
          <p:nvSpPr>
            <p:cNvPr id="107527" name="矩形 107526"/>
            <p:cNvSpPr/>
            <p:nvPr/>
          </p:nvSpPr>
          <p:spPr>
            <a:xfrm>
              <a:off x="2971" y="346"/>
              <a:ext cx="1076" cy="288"/>
            </a:xfrm>
            <a:prstGeom prst="rect">
              <a:avLst/>
            </a:prstGeom>
            <a:noFill/>
            <a:ln w="9525">
              <a:noFill/>
            </a:ln>
          </p:spPr>
          <p:txBody>
            <a:bodyPr wrap="none" anchor="t" anchorCtr="0">
              <a:spAutoFit/>
            </a:bodyPr>
            <a:lstStyle/>
            <a:p>
              <a:r>
                <a:rPr lang="zh-CN" altLang="en-US" sz="2400" b="1" dirty="0">
                  <a:latin typeface="Arial" panose="020B0604020202020204" pitchFamily="34" charset="0"/>
                  <a:ea typeface="仿宋_GB2312" pitchFamily="49" charset="-122"/>
                </a:rPr>
                <a:t>间隙式杂质</a:t>
              </a:r>
            </a:p>
          </p:txBody>
        </p:sp>
        <p:sp>
          <p:nvSpPr>
            <p:cNvPr id="107528" name="左大括号 107527"/>
            <p:cNvSpPr/>
            <p:nvPr/>
          </p:nvSpPr>
          <p:spPr>
            <a:xfrm>
              <a:off x="2842" y="482"/>
              <a:ext cx="182" cy="544"/>
            </a:xfrm>
            <a:prstGeom prst="leftBrace">
              <a:avLst>
                <a:gd name="adj1" fmla="val 24908"/>
                <a:gd name="adj2" fmla="val 50000"/>
              </a:avLst>
            </a:prstGeom>
            <a:noFill/>
            <a:ln w="22225" cap="flat" cmpd="sng">
              <a:solidFill>
                <a:schemeClr val="tx1"/>
              </a:solidFill>
              <a:prstDash val="solid"/>
              <a:headEnd type="none" w="med" len="med"/>
              <a:tailEnd type="none" w="med" len="med"/>
            </a:ln>
          </p:spPr>
          <p:txBody>
            <a:bodyPr/>
            <a:lstStyle/>
            <a:p>
              <a:endParaRPr lang="zh-CN" altLang="en-US"/>
            </a:p>
          </p:txBody>
        </p:sp>
      </p:grpSp>
      <p:sp>
        <p:nvSpPr>
          <p:cNvPr id="107531" name="矩形 107530"/>
          <p:cNvSpPr/>
          <p:nvPr/>
        </p:nvSpPr>
        <p:spPr>
          <a:xfrm>
            <a:off x="539750" y="569913"/>
            <a:ext cx="4608513" cy="519112"/>
          </a:xfrm>
          <a:prstGeom prst="rect">
            <a:avLst/>
          </a:prstGeom>
          <a:solidFill>
            <a:srgbClr val="33CCCC"/>
          </a:solidFill>
          <a:ln w="9525">
            <a:noFill/>
          </a:ln>
        </p:spPr>
        <p:txBody>
          <a:bodyPr wrap="none" anchor="t" anchorCtr="0">
            <a:spAutoFit/>
          </a:bodyPr>
          <a:lstStyle/>
          <a:p>
            <a:r>
              <a:rPr lang="en-US" altLang="zh-CN" b="1">
                <a:solidFill>
                  <a:srgbClr val="FF0000"/>
                </a:solidFill>
                <a:latin typeface="Arial" panose="020B0604020202020204" pitchFamily="34" charset="0"/>
              </a:rPr>
              <a:t>2.1</a:t>
            </a:r>
            <a:r>
              <a:rPr lang="zh-CN" altLang="en-US" b="1" dirty="0">
                <a:solidFill>
                  <a:srgbClr val="FF0000"/>
                </a:solidFill>
                <a:latin typeface="Arial" panose="020B0604020202020204" pitchFamily="34" charset="0"/>
              </a:rPr>
              <a:t>硅和锗晶体中的杂质能级</a:t>
            </a:r>
            <a:endParaRPr lang="zh-CN" altLang="en-US" b="1">
              <a:solidFill>
                <a:srgbClr val="FF0000"/>
              </a:solidFill>
              <a:latin typeface="Arial" panose="020B0604020202020204" pitchFamily="34" charset="0"/>
            </a:endParaRPr>
          </a:p>
        </p:txBody>
      </p:sp>
      <p:sp>
        <p:nvSpPr>
          <p:cNvPr id="107532" name="矩形 107531"/>
          <p:cNvSpPr/>
          <p:nvPr/>
        </p:nvSpPr>
        <p:spPr>
          <a:xfrm>
            <a:off x="395288" y="1341438"/>
            <a:ext cx="3217862" cy="519112"/>
          </a:xfrm>
          <a:prstGeom prst="rect">
            <a:avLst/>
          </a:prstGeom>
          <a:noFill/>
          <a:ln w="9525">
            <a:noFill/>
          </a:ln>
        </p:spPr>
        <p:txBody>
          <a:bodyPr wrap="none" anchor="t" anchorCtr="0">
            <a:spAutoFit/>
          </a:bodyPr>
          <a:lstStyle/>
          <a:p>
            <a:r>
              <a:rPr lang="en-US" altLang="zh-CN" b="1">
                <a:solidFill>
                  <a:srgbClr val="FF0000"/>
                </a:solidFill>
                <a:latin typeface="Arial" panose="020B0604020202020204" pitchFamily="34" charset="0"/>
              </a:rPr>
              <a:t>2.1.1 </a:t>
            </a:r>
            <a:r>
              <a:rPr lang="zh-CN" altLang="en-US" b="1" dirty="0">
                <a:solidFill>
                  <a:srgbClr val="FF0000"/>
                </a:solidFill>
                <a:latin typeface="Arial" panose="020B0604020202020204" pitchFamily="34" charset="0"/>
              </a:rPr>
              <a:t>杂质类型划分</a:t>
            </a:r>
            <a:endParaRPr lang="zh-CN" altLang="en-US" b="1">
              <a:solidFill>
                <a:srgbClr val="FF0000"/>
              </a:solidFill>
              <a:latin typeface="Arial" panose="020B0604020202020204" pitchFamily="34" charset="0"/>
            </a:endParaRPr>
          </a:p>
        </p:txBody>
      </p:sp>
      <p:sp>
        <p:nvSpPr>
          <p:cNvPr id="107543" name="矩形 107542"/>
          <p:cNvSpPr/>
          <p:nvPr/>
        </p:nvSpPr>
        <p:spPr>
          <a:xfrm>
            <a:off x="3924300" y="4076700"/>
            <a:ext cx="4932363" cy="1800225"/>
          </a:xfrm>
          <a:prstGeom prst="rect">
            <a:avLst/>
          </a:prstGeom>
          <a:noFill/>
          <a:ln w="9525">
            <a:noFill/>
          </a:ln>
        </p:spPr>
        <p:txBody>
          <a:bodyPr>
            <a:spAutoFit/>
          </a:bodyPr>
          <a:lstStyle/>
          <a:p>
            <a:r>
              <a:rPr lang="zh-CN" altLang="en-US" b="1" dirty="0">
                <a:latin typeface="Arial" panose="020B0604020202020204" pitchFamily="34" charset="0"/>
              </a:rPr>
              <a:t>间隙式杂质：杂质原子位于晶格原子的间隙位置；</a:t>
            </a:r>
          </a:p>
          <a:p>
            <a:r>
              <a:rPr lang="zh-CN" altLang="en-US" b="1" dirty="0">
                <a:latin typeface="Arial" panose="020B0604020202020204" pitchFamily="34" charset="0"/>
              </a:rPr>
              <a:t>替位式杂质：杂质原子位于晶格原子的格点位置。</a:t>
            </a:r>
          </a:p>
        </p:txBody>
      </p:sp>
      <p:pic>
        <p:nvPicPr>
          <p:cNvPr id="107544" name="图片 107543"/>
          <p:cNvPicPr>
            <a:picLocks noChangeAspect="1"/>
          </p:cNvPicPr>
          <p:nvPr/>
        </p:nvPicPr>
        <p:blipFill>
          <a:blip r:embed="rId3"/>
          <a:stretch>
            <a:fillRect/>
          </a:stretch>
        </p:blipFill>
        <p:spPr>
          <a:xfrm>
            <a:off x="3729038" y="1412875"/>
            <a:ext cx="5414962" cy="365125"/>
          </a:xfrm>
          <a:prstGeom prst="rect">
            <a:avLst/>
          </a:prstGeom>
          <a:noFill/>
          <a:ln w="9525">
            <a:noFill/>
          </a:ln>
        </p:spPr>
      </p:pic>
      <p:pic>
        <p:nvPicPr>
          <p:cNvPr id="107545" name="图片 107544"/>
          <p:cNvPicPr>
            <a:picLocks noChangeAspect="1"/>
          </p:cNvPicPr>
          <p:nvPr/>
        </p:nvPicPr>
        <p:blipFill>
          <a:blip r:embed="rId4"/>
          <a:stretch>
            <a:fillRect/>
          </a:stretch>
        </p:blipFill>
        <p:spPr>
          <a:xfrm>
            <a:off x="3054350" y="1916113"/>
            <a:ext cx="6089650" cy="323850"/>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文本占位符 4098"/>
          <p:cNvSpPr>
            <a:spLocks noGrp="1"/>
          </p:cNvSpPr>
          <p:nvPr>
            <p:ph type="body" idx="1"/>
          </p:nvPr>
        </p:nvSpPr>
        <p:spPr>
          <a:xfrm>
            <a:off x="395288" y="1125538"/>
            <a:ext cx="8229600" cy="1871662"/>
          </a:xfrm>
          <a:ln/>
        </p:spPr>
        <p:txBody>
          <a:bodyPr/>
          <a:lstStyle/>
          <a:p>
            <a:r>
              <a:rPr lang="zh-CN" altLang="en-US" dirty="0"/>
              <a:t>替位式杂质</a:t>
            </a:r>
          </a:p>
          <a:p>
            <a:pPr lvl="1"/>
            <a:r>
              <a:rPr lang="zh-CN" altLang="en-US" sz="2400" dirty="0">
                <a:latin typeface="楷体_GB2312" pitchFamily="49" charset="-122"/>
                <a:ea typeface="楷体_GB2312" pitchFamily="49" charset="-122"/>
              </a:rPr>
              <a:t>杂质原子的</a:t>
            </a:r>
            <a:r>
              <a:rPr lang="zh-CN" altLang="en-US" sz="2400" b="1" dirty="0">
                <a:solidFill>
                  <a:srgbClr val="FF0000"/>
                </a:solidFill>
                <a:latin typeface="楷体_GB2312" pitchFamily="49" charset="-122"/>
                <a:ea typeface="楷体_GB2312" pitchFamily="49" charset="-122"/>
              </a:rPr>
              <a:t>大小</a:t>
            </a:r>
            <a:r>
              <a:rPr lang="zh-CN" altLang="en-US" sz="2400" dirty="0">
                <a:latin typeface="楷体_GB2312" pitchFamily="49" charset="-122"/>
                <a:ea typeface="楷体_GB2312" pitchFamily="49" charset="-122"/>
              </a:rPr>
              <a:t>与晶体原子相似，价电子的</a:t>
            </a:r>
            <a:r>
              <a:rPr lang="zh-CN" altLang="en-US" sz="2400" b="1" dirty="0">
                <a:solidFill>
                  <a:srgbClr val="FF0000"/>
                </a:solidFill>
                <a:latin typeface="楷体_GB2312" pitchFamily="49" charset="-122"/>
                <a:ea typeface="楷体_GB2312" pitchFamily="49" charset="-122"/>
              </a:rPr>
              <a:t>壳层结构比较相近</a:t>
            </a:r>
            <a:r>
              <a:rPr lang="zh-CN" altLang="en-US" sz="2400" dirty="0">
                <a:latin typeface="楷体_GB2312" pitchFamily="49" charset="-122"/>
                <a:ea typeface="楷体_GB2312" pitchFamily="49" charset="-122"/>
              </a:rPr>
              <a:t>。</a:t>
            </a:r>
          </a:p>
          <a:p>
            <a:pPr lvl="1"/>
            <a:r>
              <a:rPr lang="en-US" altLang="zh-CN" sz="2400" b="1">
                <a:solidFill>
                  <a:srgbClr val="FF0000"/>
                </a:solidFill>
                <a:latin typeface="楷体_GB2312" pitchFamily="49" charset="-122"/>
                <a:ea typeface="楷体_GB2312" pitchFamily="49" charset="-122"/>
              </a:rPr>
              <a:t>III</a:t>
            </a:r>
            <a:r>
              <a:rPr lang="zh-CN" altLang="en-US" sz="2400" b="1" dirty="0">
                <a:solidFill>
                  <a:srgbClr val="FF0000"/>
                </a:solidFill>
                <a:latin typeface="楷体_GB2312" pitchFamily="49" charset="-122"/>
                <a:ea typeface="楷体_GB2312" pitchFamily="49" charset="-122"/>
              </a:rPr>
              <a:t>、</a:t>
            </a:r>
            <a:r>
              <a:rPr lang="en-US" altLang="zh-CN" sz="2400" b="1">
                <a:solidFill>
                  <a:srgbClr val="FF0000"/>
                </a:solidFill>
                <a:latin typeface="楷体_GB2312" pitchFamily="49" charset="-122"/>
                <a:ea typeface="楷体_GB2312" pitchFamily="49" charset="-122"/>
              </a:rPr>
              <a:t>V</a:t>
            </a:r>
            <a:r>
              <a:rPr lang="zh-CN" altLang="en-US" sz="2400" b="1" dirty="0">
                <a:solidFill>
                  <a:srgbClr val="FF0000"/>
                </a:solidFill>
                <a:latin typeface="楷体_GB2312" pitchFamily="49" charset="-122"/>
                <a:ea typeface="楷体_GB2312" pitchFamily="49" charset="-122"/>
              </a:rPr>
              <a:t>族元素在硅、锗中均为替位式杂质</a:t>
            </a:r>
            <a:r>
              <a:rPr lang="zh-CN" altLang="en-US" sz="2400" dirty="0">
                <a:latin typeface="楷体_GB2312" pitchFamily="49" charset="-122"/>
                <a:ea typeface="楷体_GB2312" pitchFamily="49" charset="-122"/>
              </a:rPr>
              <a:t>。</a:t>
            </a:r>
          </a:p>
          <a:p>
            <a:pPr lvl="1">
              <a:buNone/>
            </a:pPr>
            <a:endParaRPr lang="zh-CN" altLang="en-US" sz="2400">
              <a:latin typeface="楷体_GB2312" pitchFamily="49" charset="-122"/>
              <a:ea typeface="楷体_GB2312" pitchFamily="49" charset="-122"/>
            </a:endParaRPr>
          </a:p>
        </p:txBody>
      </p:sp>
      <p:sp>
        <p:nvSpPr>
          <p:cNvPr id="4101" name="文本框 4100"/>
          <p:cNvSpPr txBox="1"/>
          <p:nvPr/>
        </p:nvSpPr>
        <p:spPr>
          <a:xfrm>
            <a:off x="611188" y="476250"/>
            <a:ext cx="3384550" cy="519113"/>
          </a:xfrm>
          <a:prstGeom prst="rect">
            <a:avLst/>
          </a:prstGeom>
          <a:solidFill>
            <a:srgbClr val="33CCCC"/>
          </a:solidFill>
          <a:ln w="9525">
            <a:noFill/>
          </a:ln>
        </p:spPr>
        <p:txBody>
          <a:bodyPr wrap="none" anchor="t" anchorCtr="0">
            <a:spAutoFit/>
          </a:bodyPr>
          <a:lstStyle/>
          <a:p>
            <a:r>
              <a:rPr lang="zh-CN" altLang="en-US" dirty="0">
                <a:solidFill>
                  <a:srgbClr val="FF0000"/>
                </a:solidFill>
                <a:latin typeface="Arial" panose="020B0604020202020204" pitchFamily="34" charset="0"/>
                <a:ea typeface="黑体" panose="02010609060101010101" pitchFamily="2" charset="-122"/>
              </a:rPr>
              <a:t>两类型杂质的特点：</a:t>
            </a:r>
          </a:p>
        </p:txBody>
      </p:sp>
      <p:sp>
        <p:nvSpPr>
          <p:cNvPr id="4102" name="矩形 4101"/>
          <p:cNvSpPr/>
          <p:nvPr/>
        </p:nvSpPr>
        <p:spPr>
          <a:xfrm>
            <a:off x="971550" y="3357563"/>
            <a:ext cx="5759450" cy="946150"/>
          </a:xfrm>
          <a:prstGeom prst="rect">
            <a:avLst/>
          </a:prstGeom>
          <a:noFill/>
          <a:ln w="9525">
            <a:noFill/>
          </a:ln>
        </p:spPr>
        <p:txBody>
          <a:bodyPr>
            <a:spAutoFit/>
          </a:bodyPr>
          <a:lstStyle/>
          <a:p>
            <a:r>
              <a:rPr lang="zh-CN" altLang="en-US" dirty="0">
                <a:latin typeface="Arial" panose="020B0604020202020204" pitchFamily="34" charset="0"/>
              </a:rPr>
              <a:t>间隙式杂质：杂质原子较小，如离子锂</a:t>
            </a:r>
            <a:r>
              <a:rPr lang="zh-CN" altLang="en-US">
                <a:latin typeface="Arial" panose="020B0604020202020204" pitchFamily="34" charset="0"/>
              </a:rPr>
              <a:t> </a:t>
            </a:r>
            <a:r>
              <a:rPr lang="en-US" altLang="zh-CN">
                <a:latin typeface="Arial" panose="020B0604020202020204" pitchFamily="34" charset="0"/>
              </a:rPr>
              <a:t>(Li</a:t>
            </a:r>
            <a:r>
              <a:rPr lang="en-US" altLang="zh-CN" baseline="30000">
                <a:latin typeface="Arial" panose="020B0604020202020204" pitchFamily="34" charset="0"/>
              </a:rPr>
              <a:t>+</a:t>
            </a:r>
            <a:r>
              <a:rPr lang="en-US" altLang="zh-CN">
                <a:latin typeface="Arial" panose="020B0604020202020204" pitchFamily="34" charset="0"/>
              </a:rPr>
              <a:t>)</a:t>
            </a:r>
            <a:r>
              <a:rPr lang="zh-CN" altLang="en-US" dirty="0">
                <a:latin typeface="Arial" panose="020B0604020202020204" pitchFamily="34" charset="0"/>
              </a:rPr>
              <a:t>半径为</a:t>
            </a:r>
            <a:r>
              <a:rPr lang="en-US" altLang="zh-CN">
                <a:latin typeface="Arial" panose="020B0604020202020204" pitchFamily="34" charset="0"/>
              </a:rPr>
              <a:t>0.068nm</a:t>
            </a:r>
          </a:p>
        </p:txBody>
      </p:sp>
      <p:sp>
        <p:nvSpPr>
          <p:cNvPr id="4103" name="矩形 4102"/>
          <p:cNvSpPr/>
          <p:nvPr/>
        </p:nvSpPr>
        <p:spPr>
          <a:xfrm>
            <a:off x="755650" y="4652963"/>
            <a:ext cx="7848600" cy="946150"/>
          </a:xfrm>
          <a:prstGeom prst="rect">
            <a:avLst/>
          </a:prstGeom>
          <a:noFill/>
          <a:ln w="9525">
            <a:noFill/>
          </a:ln>
        </p:spPr>
        <p:txBody>
          <a:bodyPr>
            <a:spAutoFit/>
          </a:bodyPr>
          <a:lstStyle/>
          <a:p>
            <a:r>
              <a:rPr lang="zh-CN" altLang="en-US" dirty="0">
                <a:solidFill>
                  <a:srgbClr val="FF0000"/>
                </a:solidFill>
                <a:latin typeface="Arial" panose="020B0604020202020204" pitchFamily="34" charset="0"/>
              </a:rPr>
              <a:t>杂质浓度</a:t>
            </a:r>
            <a:r>
              <a:rPr lang="zh-CN" altLang="en-US" dirty="0">
                <a:latin typeface="Arial" panose="020B0604020202020204" pitchFamily="34" charset="0"/>
              </a:rPr>
              <a:t>：单位体积中的杂质原子数，表示半导体杂质的含量。</a:t>
            </a:r>
            <a:endParaRPr lang="zh-CN" altLang="en-US">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4102"/>
                                        </p:tgtEl>
                                        <p:attrNameLst>
                                          <p:attrName>style.visibility</p:attrName>
                                        </p:attrNameLst>
                                      </p:cBhvr>
                                      <p:to>
                                        <p:strVal val="visible"/>
                                      </p:to>
                                    </p:set>
                                    <p:anim calcmode="lin" valueType="num">
                                      <p:cBhvr additive="base">
                                        <p:cTn id="7" dur="500" fill="hold"/>
                                        <p:tgtEl>
                                          <p:spTgt spid="4102"/>
                                        </p:tgtEl>
                                        <p:attrNameLst>
                                          <p:attrName>ppt_x</p:attrName>
                                        </p:attrNameLst>
                                      </p:cBhvr>
                                      <p:tavLst>
                                        <p:tav tm="0">
                                          <p:val>
                                            <p:strVal val="0-#ppt_w/2"/>
                                          </p:val>
                                        </p:tav>
                                        <p:tav tm="100000">
                                          <p:val>
                                            <p:strVal val="#ppt_x"/>
                                          </p:val>
                                        </p:tav>
                                      </p:tavLst>
                                    </p:anim>
                                    <p:anim calcmode="lin" valueType="num">
                                      <p:cBhvr additive="base">
                                        <p:cTn id="8" dur="500" fill="hold"/>
                                        <p:tgtEl>
                                          <p:spTgt spid="4102"/>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4103"/>
                                        </p:tgtEl>
                                        <p:attrNameLst>
                                          <p:attrName>style.visibility</p:attrName>
                                        </p:attrNameLst>
                                      </p:cBhvr>
                                      <p:to>
                                        <p:strVal val="visible"/>
                                      </p:to>
                                    </p:set>
                                    <p:anim calcmode="lin" valueType="num">
                                      <p:cBhvr additive="base">
                                        <p:cTn id="13" dur="500" fill="hold"/>
                                        <p:tgtEl>
                                          <p:spTgt spid="4103"/>
                                        </p:tgtEl>
                                        <p:attrNameLst>
                                          <p:attrName>ppt_x</p:attrName>
                                        </p:attrNameLst>
                                      </p:cBhvr>
                                      <p:tavLst>
                                        <p:tav tm="0">
                                          <p:val>
                                            <p:strVal val="0-#ppt_w/2"/>
                                          </p:val>
                                        </p:tav>
                                        <p:tav tm="100000">
                                          <p:val>
                                            <p:strVal val="#ppt_x"/>
                                          </p:val>
                                        </p:tav>
                                      </p:tavLst>
                                    </p:anim>
                                    <p:anim calcmode="lin" valueType="num">
                                      <p:cBhvr additive="base">
                                        <p:cTn id="14" dur="500" fill="hold"/>
                                        <p:tgtEl>
                                          <p:spTgt spid="410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2" grpId="0"/>
      <p:bldP spid="410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0602" name="组合 110601"/>
          <p:cNvGrpSpPr/>
          <p:nvPr/>
        </p:nvGrpSpPr>
        <p:grpSpPr>
          <a:xfrm>
            <a:off x="1258888" y="765175"/>
            <a:ext cx="5486400" cy="1363663"/>
            <a:chOff x="921" y="630"/>
            <a:chExt cx="3456" cy="859"/>
          </a:xfrm>
        </p:grpSpPr>
        <p:sp>
          <p:nvSpPr>
            <p:cNvPr id="110597" name="文本框 110596"/>
            <p:cNvSpPr txBox="1"/>
            <p:nvPr/>
          </p:nvSpPr>
          <p:spPr>
            <a:xfrm>
              <a:off x="921" y="899"/>
              <a:ext cx="2040" cy="327"/>
            </a:xfrm>
            <a:prstGeom prst="rect">
              <a:avLst/>
            </a:prstGeom>
            <a:noFill/>
            <a:ln w="9525">
              <a:noFill/>
            </a:ln>
          </p:spPr>
          <p:txBody>
            <a:bodyPr wrap="none" anchor="t" anchorCtr="0">
              <a:spAutoFit/>
            </a:bodyPr>
            <a:lstStyle/>
            <a:p>
              <a:r>
                <a:rPr lang="en-US" altLang="zh-CN" b="1" dirty="0">
                  <a:solidFill>
                    <a:srgbClr val="FF0000"/>
                  </a:solidFill>
                  <a:latin typeface="Arial" panose="020B0604020202020204" pitchFamily="34" charset="0"/>
                  <a:ea typeface="仿宋_GB2312" pitchFamily="49" charset="-122"/>
                </a:rPr>
                <a:t>  </a:t>
              </a:r>
              <a:r>
                <a:rPr lang="zh-CN" altLang="en-US" b="1" dirty="0">
                  <a:solidFill>
                    <a:srgbClr val="FF0000"/>
                  </a:solidFill>
                  <a:latin typeface="Arial" panose="020B0604020202020204" pitchFamily="34" charset="0"/>
                  <a:ea typeface="仿宋_GB2312" pitchFamily="49" charset="-122"/>
                </a:rPr>
                <a:t>根据导电类型区分</a:t>
              </a:r>
            </a:p>
          </p:txBody>
        </p:sp>
        <p:sp>
          <p:nvSpPr>
            <p:cNvPr id="110598" name="矩形 110597"/>
            <p:cNvSpPr/>
            <p:nvPr/>
          </p:nvSpPr>
          <p:spPr>
            <a:xfrm>
              <a:off x="3296" y="1162"/>
              <a:ext cx="1081" cy="327"/>
            </a:xfrm>
            <a:prstGeom prst="rect">
              <a:avLst/>
            </a:prstGeom>
            <a:noFill/>
            <a:ln w="9525">
              <a:noFill/>
            </a:ln>
          </p:spPr>
          <p:txBody>
            <a:bodyPr>
              <a:spAutoFit/>
            </a:bodyPr>
            <a:lstStyle/>
            <a:p>
              <a:r>
                <a:rPr lang="zh-CN" altLang="en-US" b="1" dirty="0">
                  <a:latin typeface="Arial" panose="020B0604020202020204" pitchFamily="34" charset="0"/>
                  <a:ea typeface="仿宋_GB2312" pitchFamily="49" charset="-122"/>
                </a:rPr>
                <a:t>受主杂质</a:t>
              </a:r>
            </a:p>
          </p:txBody>
        </p:sp>
        <p:sp>
          <p:nvSpPr>
            <p:cNvPr id="110599" name="矩形 110598"/>
            <p:cNvSpPr/>
            <p:nvPr/>
          </p:nvSpPr>
          <p:spPr>
            <a:xfrm>
              <a:off x="3296" y="630"/>
              <a:ext cx="1016" cy="327"/>
            </a:xfrm>
            <a:prstGeom prst="rect">
              <a:avLst/>
            </a:prstGeom>
            <a:noFill/>
            <a:ln w="9525">
              <a:noFill/>
            </a:ln>
          </p:spPr>
          <p:txBody>
            <a:bodyPr wrap="none" anchor="t" anchorCtr="0">
              <a:spAutoFit/>
            </a:bodyPr>
            <a:lstStyle/>
            <a:p>
              <a:r>
                <a:rPr lang="zh-CN" altLang="en-US" b="1" dirty="0">
                  <a:latin typeface="Arial" panose="020B0604020202020204" pitchFamily="34" charset="0"/>
                  <a:ea typeface="仿宋_GB2312" pitchFamily="49" charset="-122"/>
                </a:rPr>
                <a:t>施主杂质</a:t>
              </a:r>
            </a:p>
          </p:txBody>
        </p:sp>
        <p:sp>
          <p:nvSpPr>
            <p:cNvPr id="110600" name="左大括号 110599"/>
            <p:cNvSpPr/>
            <p:nvPr/>
          </p:nvSpPr>
          <p:spPr>
            <a:xfrm>
              <a:off x="3122" y="799"/>
              <a:ext cx="182" cy="544"/>
            </a:xfrm>
            <a:prstGeom prst="leftBrace">
              <a:avLst>
                <a:gd name="adj1" fmla="val 24908"/>
                <a:gd name="adj2" fmla="val 50000"/>
              </a:avLst>
            </a:prstGeom>
            <a:noFill/>
            <a:ln w="22225" cap="flat" cmpd="sng">
              <a:solidFill>
                <a:schemeClr val="tx1"/>
              </a:solidFill>
              <a:prstDash val="solid"/>
              <a:headEnd type="none" w="med" len="med"/>
              <a:tailEnd type="none" w="med" len="med"/>
            </a:ln>
          </p:spPr>
          <p:txBody>
            <a:bodyPr/>
            <a:lstStyle/>
            <a:p>
              <a:endParaRPr lang="zh-CN" altLang="en-US"/>
            </a:p>
          </p:txBody>
        </p:sp>
      </p:grpSp>
      <p:sp>
        <p:nvSpPr>
          <p:cNvPr id="110604" name="矩形 110603"/>
          <p:cNvSpPr/>
          <p:nvPr/>
        </p:nvSpPr>
        <p:spPr>
          <a:xfrm>
            <a:off x="468313" y="333375"/>
            <a:ext cx="2366962" cy="519113"/>
          </a:xfrm>
          <a:prstGeom prst="rect">
            <a:avLst/>
          </a:prstGeom>
          <a:solidFill>
            <a:srgbClr val="33CCCC"/>
          </a:solidFill>
          <a:ln w="9525">
            <a:noFill/>
          </a:ln>
        </p:spPr>
        <p:txBody>
          <a:bodyPr wrap="none" anchor="t" anchorCtr="0">
            <a:spAutoFit/>
          </a:bodyPr>
          <a:lstStyle/>
          <a:p>
            <a:r>
              <a:rPr lang="en-US" altLang="zh-CN" b="1">
                <a:solidFill>
                  <a:srgbClr val="FF0000"/>
                </a:solidFill>
                <a:latin typeface="Arial" panose="020B0604020202020204" pitchFamily="34" charset="0"/>
              </a:rPr>
              <a:t>2</a:t>
            </a:r>
            <a:r>
              <a:rPr lang="zh-CN" altLang="en-US" b="1" dirty="0">
                <a:solidFill>
                  <a:srgbClr val="FF0000"/>
                </a:solidFill>
                <a:latin typeface="Arial" panose="020B0604020202020204" pitchFamily="34" charset="0"/>
              </a:rPr>
              <a:t>、杂质类型</a:t>
            </a:r>
            <a:r>
              <a:rPr lang="en-US" altLang="zh-CN" b="1">
                <a:solidFill>
                  <a:srgbClr val="FF0000"/>
                </a:solidFill>
                <a:latin typeface="Arial" panose="020B0604020202020204" pitchFamily="34" charset="0"/>
              </a:rPr>
              <a:t>2</a:t>
            </a:r>
          </a:p>
        </p:txBody>
      </p:sp>
      <p:sp>
        <p:nvSpPr>
          <p:cNvPr id="110605" name="文本框 110604"/>
          <p:cNvSpPr txBox="1"/>
          <p:nvPr/>
        </p:nvSpPr>
        <p:spPr>
          <a:xfrm>
            <a:off x="1476375" y="2349500"/>
            <a:ext cx="5824538" cy="488950"/>
          </a:xfrm>
          <a:prstGeom prst="rect">
            <a:avLst/>
          </a:prstGeom>
          <a:noFill/>
          <a:ln w="9525">
            <a:noFill/>
          </a:ln>
        </p:spPr>
        <p:txBody>
          <a:bodyPr wrap="none" anchor="t" anchorCtr="0">
            <a:spAutoFit/>
          </a:bodyPr>
          <a:lstStyle/>
          <a:p>
            <a:r>
              <a:rPr lang="zh-CN" altLang="en-US" sz="2600" b="1" dirty="0">
                <a:solidFill>
                  <a:srgbClr val="0000FF"/>
                </a:solidFill>
                <a:latin typeface="Arial" panose="020B0604020202020204" pitchFamily="34" charset="0"/>
                <a:ea typeface="仿宋_GB2312" pitchFamily="49" charset="-122"/>
              </a:rPr>
              <a:t>通常关注的参量：电离能和能级的位置</a:t>
            </a:r>
          </a:p>
        </p:txBody>
      </p:sp>
      <p:grpSp>
        <p:nvGrpSpPr>
          <p:cNvPr id="110606" name="组合 110605"/>
          <p:cNvGrpSpPr/>
          <p:nvPr/>
        </p:nvGrpSpPr>
        <p:grpSpPr>
          <a:xfrm>
            <a:off x="395288" y="3141663"/>
            <a:ext cx="7988300" cy="2360612"/>
            <a:chOff x="204" y="2144"/>
            <a:chExt cx="5032" cy="1487"/>
          </a:xfrm>
        </p:grpSpPr>
        <p:sp>
          <p:nvSpPr>
            <p:cNvPr id="110607" name="矩形 110606"/>
            <p:cNvSpPr/>
            <p:nvPr/>
          </p:nvSpPr>
          <p:spPr>
            <a:xfrm>
              <a:off x="204" y="2384"/>
              <a:ext cx="1088" cy="596"/>
            </a:xfrm>
            <a:prstGeom prst="rect">
              <a:avLst/>
            </a:prstGeom>
            <a:solidFill>
              <a:srgbClr val="33CCCC"/>
            </a:solidFill>
            <a:ln w="9525">
              <a:noFill/>
            </a:ln>
          </p:spPr>
          <p:txBody>
            <a:bodyPr>
              <a:spAutoFit/>
            </a:bodyPr>
            <a:lstStyle/>
            <a:p>
              <a:r>
                <a:rPr lang="zh-CN" altLang="en-US" b="1" dirty="0">
                  <a:solidFill>
                    <a:srgbClr val="FF0000"/>
                  </a:solidFill>
                  <a:latin typeface="Arial" panose="020B0604020202020204" pitchFamily="34" charset="0"/>
                </a:rPr>
                <a:t>杂质的类型划分</a:t>
              </a:r>
            </a:p>
          </p:txBody>
        </p:sp>
        <p:sp>
          <p:nvSpPr>
            <p:cNvPr id="110608" name="左大括号 110607"/>
            <p:cNvSpPr/>
            <p:nvPr/>
          </p:nvSpPr>
          <p:spPr>
            <a:xfrm>
              <a:off x="1383" y="2341"/>
              <a:ext cx="181" cy="953"/>
            </a:xfrm>
            <a:prstGeom prst="leftBrace">
              <a:avLst>
                <a:gd name="adj1" fmla="val 43876"/>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10609" name="文本框 110608"/>
            <p:cNvSpPr txBox="1"/>
            <p:nvPr/>
          </p:nvSpPr>
          <p:spPr>
            <a:xfrm>
              <a:off x="1610" y="2166"/>
              <a:ext cx="2036" cy="288"/>
            </a:xfrm>
            <a:prstGeom prst="rect">
              <a:avLst/>
            </a:prstGeom>
            <a:noFill/>
            <a:ln w="9525">
              <a:noFill/>
            </a:ln>
          </p:spPr>
          <p:txBody>
            <a:bodyPr wrap="none" anchor="t" anchorCtr="0">
              <a:spAutoFit/>
            </a:bodyPr>
            <a:lstStyle/>
            <a:p>
              <a:r>
                <a:rPr lang="zh-CN" altLang="en-US" sz="2400" dirty="0">
                  <a:latin typeface="Arial" panose="020B0604020202020204" pitchFamily="34" charset="0"/>
                  <a:ea typeface="楷体_GB2312" pitchFamily="49" charset="-122"/>
                </a:rPr>
                <a:t>所处位置：间隙、替位</a:t>
              </a:r>
            </a:p>
          </p:txBody>
        </p:sp>
        <p:sp>
          <p:nvSpPr>
            <p:cNvPr id="110610" name="文本框 110609"/>
            <p:cNvSpPr txBox="1"/>
            <p:nvPr/>
          </p:nvSpPr>
          <p:spPr>
            <a:xfrm>
              <a:off x="1610" y="2614"/>
              <a:ext cx="1844" cy="288"/>
            </a:xfrm>
            <a:prstGeom prst="rect">
              <a:avLst/>
            </a:prstGeom>
            <a:noFill/>
            <a:ln w="9525">
              <a:noFill/>
            </a:ln>
          </p:spPr>
          <p:txBody>
            <a:bodyPr wrap="none" anchor="t" anchorCtr="0">
              <a:spAutoFit/>
            </a:bodyPr>
            <a:lstStyle/>
            <a:p>
              <a:r>
                <a:rPr lang="zh-CN" altLang="en-US" sz="2400" dirty="0">
                  <a:latin typeface="Arial" panose="020B0604020202020204" pitchFamily="34" charset="0"/>
                  <a:ea typeface="楷体_GB2312" pitchFamily="49" charset="-122"/>
                </a:rPr>
                <a:t>导电类型：施、受主</a:t>
              </a:r>
            </a:p>
          </p:txBody>
        </p:sp>
        <p:sp>
          <p:nvSpPr>
            <p:cNvPr id="110611" name="文本框 110610"/>
            <p:cNvSpPr txBox="1"/>
            <p:nvPr/>
          </p:nvSpPr>
          <p:spPr>
            <a:xfrm>
              <a:off x="1610" y="3113"/>
              <a:ext cx="2036" cy="288"/>
            </a:xfrm>
            <a:prstGeom prst="rect">
              <a:avLst/>
            </a:prstGeom>
            <a:noFill/>
            <a:ln w="9525">
              <a:noFill/>
            </a:ln>
          </p:spPr>
          <p:txBody>
            <a:bodyPr wrap="none" anchor="t" anchorCtr="0">
              <a:spAutoFit/>
            </a:bodyPr>
            <a:lstStyle/>
            <a:p>
              <a:r>
                <a:rPr lang="zh-CN" altLang="en-US" sz="2400" dirty="0">
                  <a:latin typeface="Arial" panose="020B0604020202020204" pitchFamily="34" charset="0"/>
                  <a:ea typeface="楷体_GB2312" pitchFamily="49" charset="-122"/>
                </a:rPr>
                <a:t>能级位置：浅、深能级</a:t>
              </a:r>
            </a:p>
          </p:txBody>
        </p:sp>
        <p:sp>
          <p:nvSpPr>
            <p:cNvPr id="110612" name="文本框 110611"/>
            <p:cNvSpPr txBox="1"/>
            <p:nvPr/>
          </p:nvSpPr>
          <p:spPr>
            <a:xfrm>
              <a:off x="3923" y="2144"/>
              <a:ext cx="1268" cy="288"/>
            </a:xfrm>
            <a:prstGeom prst="rect">
              <a:avLst/>
            </a:prstGeom>
            <a:noFill/>
            <a:ln w="9525">
              <a:noFill/>
            </a:ln>
          </p:spPr>
          <p:txBody>
            <a:bodyPr wrap="none" anchor="t" anchorCtr="0">
              <a:spAutoFit/>
            </a:bodyPr>
            <a:lstStyle/>
            <a:p>
              <a:r>
                <a:rPr lang="zh-CN" altLang="en-US" sz="2400" dirty="0">
                  <a:latin typeface="Arial" panose="020B0604020202020204" pitchFamily="34" charset="0"/>
                  <a:ea typeface="楷体_GB2312" pitchFamily="49" charset="-122"/>
                </a:rPr>
                <a:t>分析杂质移动</a:t>
              </a:r>
            </a:p>
          </p:txBody>
        </p:sp>
        <p:sp>
          <p:nvSpPr>
            <p:cNvPr id="110613" name="文本框 110612"/>
            <p:cNvSpPr txBox="1"/>
            <p:nvPr/>
          </p:nvSpPr>
          <p:spPr>
            <a:xfrm>
              <a:off x="3923" y="2643"/>
              <a:ext cx="1268" cy="288"/>
            </a:xfrm>
            <a:prstGeom prst="rect">
              <a:avLst/>
            </a:prstGeom>
            <a:noFill/>
            <a:ln w="9525">
              <a:noFill/>
            </a:ln>
          </p:spPr>
          <p:txBody>
            <a:bodyPr wrap="none" anchor="t" anchorCtr="0">
              <a:spAutoFit/>
            </a:bodyPr>
            <a:lstStyle/>
            <a:p>
              <a:r>
                <a:rPr lang="zh-CN" altLang="en-US" sz="2400" dirty="0">
                  <a:latin typeface="Arial" panose="020B0604020202020204" pitchFamily="34" charset="0"/>
                  <a:ea typeface="楷体_GB2312" pitchFamily="49" charset="-122"/>
                </a:rPr>
                <a:t>分析杂质导电</a:t>
              </a:r>
            </a:p>
          </p:txBody>
        </p:sp>
        <p:sp>
          <p:nvSpPr>
            <p:cNvPr id="110614" name="文本框 110613"/>
            <p:cNvSpPr txBox="1"/>
            <p:nvPr/>
          </p:nvSpPr>
          <p:spPr>
            <a:xfrm>
              <a:off x="3923" y="3113"/>
              <a:ext cx="1313" cy="518"/>
            </a:xfrm>
            <a:prstGeom prst="rect">
              <a:avLst/>
            </a:prstGeom>
            <a:noFill/>
            <a:ln w="9525">
              <a:noFill/>
            </a:ln>
          </p:spPr>
          <p:txBody>
            <a:bodyPr>
              <a:spAutoFit/>
            </a:bodyPr>
            <a:lstStyle/>
            <a:p>
              <a:r>
                <a:rPr lang="zh-CN" altLang="en-US" sz="2400" dirty="0">
                  <a:latin typeface="Arial" panose="020B0604020202020204" pitchFamily="34" charset="0"/>
                  <a:ea typeface="楷体_GB2312" pitchFamily="49" charset="-122"/>
                </a:rPr>
                <a:t>分析非平衡载流子情况</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1860" name="图片 121859"/>
          <p:cNvPicPr>
            <a:picLocks noChangeAspect="1"/>
          </p:cNvPicPr>
          <p:nvPr/>
        </p:nvPicPr>
        <p:blipFill>
          <a:blip r:embed="rId2"/>
          <a:stretch>
            <a:fillRect/>
          </a:stretch>
        </p:blipFill>
        <p:spPr>
          <a:xfrm>
            <a:off x="5724525" y="908050"/>
            <a:ext cx="2520950" cy="2190750"/>
          </a:xfrm>
          <a:prstGeom prst="rect">
            <a:avLst/>
          </a:prstGeom>
          <a:noFill/>
          <a:ln w="9525">
            <a:noFill/>
          </a:ln>
        </p:spPr>
      </p:pic>
      <p:sp>
        <p:nvSpPr>
          <p:cNvPr id="121861" name="矩形 121860"/>
          <p:cNvSpPr/>
          <p:nvPr/>
        </p:nvSpPr>
        <p:spPr>
          <a:xfrm>
            <a:off x="539750" y="260350"/>
            <a:ext cx="7620000" cy="588963"/>
          </a:xfrm>
          <a:prstGeom prst="rect">
            <a:avLst/>
          </a:prstGeom>
          <a:solidFill>
            <a:srgbClr val="008000">
              <a:alpha val="53999"/>
            </a:srgbClr>
          </a:solidFill>
          <a:ln w="9525" cap="flat" cmpd="sng">
            <a:solidFill>
              <a:srgbClr val="FF0000"/>
            </a:solidFill>
            <a:prstDash val="solid"/>
            <a:miter/>
            <a:headEnd type="none" w="med" len="med"/>
            <a:tailEnd type="none" w="med" len="med"/>
          </a:ln>
        </p:spPr>
        <p:txBody>
          <a:bodyPr wrap="none" anchor="t" anchorCtr="0">
            <a:spAutoFit/>
          </a:bodyPr>
          <a:lstStyle/>
          <a:p>
            <a:pPr>
              <a:spcBef>
                <a:spcPct val="20000"/>
              </a:spcBef>
              <a:buClr>
                <a:schemeClr val="accent1"/>
              </a:buClr>
              <a:buSzPct val="65000"/>
              <a:buFont typeface="Wingdings" panose="05000000000000000000" pitchFamily="2" charset="2"/>
            </a:pPr>
            <a:r>
              <a:rPr lang="en-US" altLang="zh-CN" sz="3200" b="1">
                <a:latin typeface="楷体_GB2312" pitchFamily="49" charset="-122"/>
                <a:ea typeface="楷体_GB2312" pitchFamily="49" charset="-122"/>
              </a:rPr>
              <a:t>2.1.2</a:t>
            </a:r>
            <a:r>
              <a:rPr lang="zh-CN" altLang="en-US" sz="3200" b="1" dirty="0">
                <a:latin typeface="楷体_GB2312" pitchFamily="49" charset="-122"/>
                <a:ea typeface="楷体_GB2312" pitchFamily="49" charset="-122"/>
              </a:rPr>
              <a:t>施主杂质 （浓度：</a:t>
            </a:r>
            <a:r>
              <a:rPr lang="en-US" altLang="zh-CN" sz="3200" b="1">
                <a:latin typeface="Times New Roman" panose="02020603050405020304" pitchFamily="18" charset="0"/>
                <a:ea typeface="楷体_GB2312" pitchFamily="49" charset="-122"/>
              </a:rPr>
              <a:t>N</a:t>
            </a:r>
            <a:r>
              <a:rPr lang="en-US" altLang="zh-CN" sz="3200" b="1" baseline="-10000">
                <a:latin typeface="Times New Roman" panose="02020603050405020304" pitchFamily="18" charset="0"/>
                <a:ea typeface="楷体_GB2312" pitchFamily="49" charset="-122"/>
              </a:rPr>
              <a:t>D</a:t>
            </a:r>
            <a:r>
              <a:rPr lang="zh-CN" altLang="en-US" sz="3200" b="1" dirty="0">
                <a:latin typeface="楷体_GB2312" pitchFamily="49" charset="-122"/>
                <a:ea typeface="楷体_GB2312" pitchFamily="49" charset="-122"/>
              </a:rPr>
              <a:t>）、施主能级</a:t>
            </a:r>
          </a:p>
        </p:txBody>
      </p:sp>
      <p:pic>
        <p:nvPicPr>
          <p:cNvPr id="121862" name="图片 121861"/>
          <p:cNvPicPr>
            <a:picLocks noChangeAspect="1"/>
          </p:cNvPicPr>
          <p:nvPr/>
        </p:nvPicPr>
        <p:blipFill>
          <a:blip r:embed="rId3"/>
          <a:stretch>
            <a:fillRect/>
          </a:stretch>
        </p:blipFill>
        <p:spPr>
          <a:xfrm>
            <a:off x="684213" y="3284538"/>
            <a:ext cx="7632700" cy="666750"/>
          </a:xfrm>
          <a:prstGeom prst="rect">
            <a:avLst/>
          </a:prstGeom>
          <a:noFill/>
          <a:ln w="9525">
            <a:noFill/>
          </a:ln>
        </p:spPr>
      </p:pic>
      <p:sp>
        <p:nvSpPr>
          <p:cNvPr id="121863" name="文本框 121862"/>
          <p:cNvSpPr txBox="1"/>
          <p:nvPr/>
        </p:nvSpPr>
        <p:spPr>
          <a:xfrm>
            <a:off x="755650" y="1125538"/>
            <a:ext cx="4103688" cy="1800225"/>
          </a:xfrm>
          <a:prstGeom prst="rect">
            <a:avLst/>
          </a:prstGeom>
          <a:noFill/>
          <a:ln w="9525">
            <a:noFill/>
          </a:ln>
        </p:spPr>
        <p:txBody>
          <a:bodyPr>
            <a:spAutoFit/>
          </a:bodyPr>
          <a:lstStyle/>
          <a:p>
            <a:pPr>
              <a:spcBef>
                <a:spcPct val="50000"/>
              </a:spcBef>
            </a:pPr>
            <a:r>
              <a:rPr lang="en-US" altLang="zh-CN">
                <a:latin typeface="Arial" panose="020B0604020202020204" pitchFamily="34" charset="0"/>
              </a:rPr>
              <a:t>V</a:t>
            </a:r>
            <a:r>
              <a:rPr lang="zh-CN" altLang="en-US" dirty="0">
                <a:latin typeface="Arial" panose="020B0604020202020204" pitchFamily="34" charset="0"/>
              </a:rPr>
              <a:t>族元素在硅锗中是体位式掺杂，如掺磷原子，形成共价键后，剩余一个价电子。</a:t>
            </a:r>
          </a:p>
        </p:txBody>
      </p:sp>
      <p:sp>
        <p:nvSpPr>
          <p:cNvPr id="121864" name="矩形 121863"/>
          <p:cNvSpPr/>
          <p:nvPr/>
        </p:nvSpPr>
        <p:spPr>
          <a:xfrm>
            <a:off x="539750" y="4221163"/>
            <a:ext cx="7993063" cy="2282825"/>
          </a:xfrm>
          <a:prstGeom prst="rect">
            <a:avLst/>
          </a:prstGeom>
          <a:noFill/>
          <a:ln w="9525">
            <a:noFill/>
          </a:ln>
        </p:spPr>
        <p:txBody>
          <a:bodyPr>
            <a:spAutoFit/>
          </a:bodyPr>
          <a:lstStyle/>
          <a:p>
            <a:r>
              <a:rPr lang="zh-CN" altLang="en-US" sz="2400" dirty="0">
                <a:latin typeface="仿宋_GB2312" pitchFamily="49" charset="-122"/>
                <a:ea typeface="仿宋_GB2312" pitchFamily="49" charset="-122"/>
              </a:rPr>
              <a:t>磷原子很容易失去多余的一个电子而成为带正电的磷离子</a:t>
            </a:r>
            <a:r>
              <a:rPr lang="en-US" altLang="zh-CN" sz="2400">
                <a:latin typeface="仿宋_GB2312" pitchFamily="49" charset="-122"/>
                <a:ea typeface="仿宋_GB2312" pitchFamily="49" charset="-122"/>
              </a:rPr>
              <a:t>(P</a:t>
            </a:r>
            <a:r>
              <a:rPr lang="en-US" altLang="zh-CN" sz="2400" baseline="30000">
                <a:latin typeface="仿宋_GB2312" pitchFamily="49" charset="-122"/>
                <a:ea typeface="仿宋_GB2312" pitchFamily="49" charset="-122"/>
              </a:rPr>
              <a:t>+</a:t>
            </a:r>
            <a:r>
              <a:rPr lang="en-US" altLang="zh-CN" sz="2400">
                <a:latin typeface="仿宋_GB2312" pitchFamily="49" charset="-122"/>
                <a:ea typeface="仿宋_GB2312" pitchFamily="49" charset="-122"/>
              </a:rPr>
              <a:t>),</a:t>
            </a:r>
            <a:r>
              <a:rPr lang="zh-CN" altLang="en-US" sz="2400" dirty="0">
                <a:solidFill>
                  <a:srgbClr val="FF0000"/>
                </a:solidFill>
                <a:latin typeface="仿宋_GB2312" pitchFamily="49" charset="-122"/>
                <a:ea typeface="仿宋_GB2312" pitchFamily="49" charset="-122"/>
              </a:rPr>
              <a:t>磷离子称为正电中心</a:t>
            </a:r>
            <a:r>
              <a:rPr lang="en-US" altLang="zh-CN" sz="2400">
                <a:solidFill>
                  <a:srgbClr val="FF0000"/>
                </a:solidFill>
                <a:latin typeface="仿宋_GB2312" pitchFamily="49" charset="-122"/>
                <a:ea typeface="仿宋_GB2312" pitchFamily="49" charset="-122"/>
              </a:rPr>
              <a:t>(</a:t>
            </a:r>
            <a:r>
              <a:rPr lang="zh-CN" altLang="en-US" sz="2400" dirty="0">
                <a:solidFill>
                  <a:srgbClr val="FF0000"/>
                </a:solidFill>
                <a:latin typeface="仿宋_GB2312" pitchFamily="49" charset="-122"/>
                <a:ea typeface="仿宋_GB2312" pitchFamily="49" charset="-122"/>
              </a:rPr>
              <a:t>不能移动</a:t>
            </a:r>
            <a:r>
              <a:rPr lang="en-US" altLang="zh-CN" sz="2400">
                <a:solidFill>
                  <a:srgbClr val="FF0000"/>
                </a:solidFill>
                <a:latin typeface="仿宋_GB2312" pitchFamily="49" charset="-122"/>
                <a:ea typeface="仿宋_GB2312" pitchFamily="49" charset="-122"/>
              </a:rPr>
              <a:t>)</a:t>
            </a:r>
            <a:r>
              <a:rPr lang="zh-CN" altLang="en-US" sz="2400" dirty="0">
                <a:solidFill>
                  <a:srgbClr val="FF0000"/>
                </a:solidFill>
                <a:latin typeface="仿宋_GB2312" pitchFamily="49" charset="-122"/>
                <a:ea typeface="仿宋_GB2312" pitchFamily="49" charset="-122"/>
              </a:rPr>
              <a:t>。</a:t>
            </a:r>
          </a:p>
          <a:p>
            <a:endParaRPr lang="zh-CN" altLang="en-US" sz="2400" dirty="0">
              <a:solidFill>
                <a:srgbClr val="FF0000"/>
              </a:solidFill>
              <a:latin typeface="仿宋_GB2312" pitchFamily="49" charset="-122"/>
              <a:ea typeface="仿宋_GB2312" pitchFamily="49" charset="-122"/>
            </a:endParaRPr>
          </a:p>
          <a:p>
            <a:r>
              <a:rPr lang="zh-CN" altLang="en-US" sz="2400" dirty="0">
                <a:solidFill>
                  <a:srgbClr val="FF0000"/>
                </a:solidFill>
                <a:latin typeface="仿宋_GB2312" pitchFamily="49" charset="-122"/>
                <a:ea typeface="仿宋_GB2312" pitchFamily="49" charset="-122"/>
              </a:rPr>
              <a:t>杂质电离：多余的一个电子挣脱杂质原子的束缚称为导电电子的过程称为杂质电离。</a:t>
            </a:r>
            <a:r>
              <a:rPr lang="zh-CN" altLang="en-US" sz="2400" dirty="0">
                <a:latin typeface="仿宋_GB2312" pitchFamily="49" charset="-122"/>
                <a:ea typeface="仿宋_GB2312" pitchFamily="49" charset="-122"/>
              </a:rPr>
              <a:t>称此类杂质为施主杂质或</a:t>
            </a:r>
            <a:r>
              <a:rPr lang="en-US" altLang="zh-CN" sz="2400">
                <a:latin typeface="仿宋_GB2312" pitchFamily="49" charset="-122"/>
                <a:ea typeface="仿宋_GB2312" pitchFamily="49" charset="-122"/>
              </a:rPr>
              <a:t>n</a:t>
            </a:r>
            <a:r>
              <a:rPr lang="zh-CN" altLang="en-US" sz="2400" dirty="0">
                <a:latin typeface="仿宋_GB2312" pitchFamily="49" charset="-122"/>
                <a:ea typeface="仿宋_GB2312" pitchFamily="49" charset="-122"/>
              </a:rPr>
              <a:t>型杂质。</a:t>
            </a:r>
            <a:endParaRPr lang="zh-CN" altLang="en-US" sz="2400" b="1" dirty="0">
              <a:solidFill>
                <a:srgbClr val="0000FF"/>
              </a:solidFill>
              <a:latin typeface="仿宋_GB2312" pitchFamily="49" charset="-122"/>
              <a:ea typeface="仿宋_GB2312" pitchFamily="49"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5" name="文本占位符 5124"/>
          <p:cNvSpPr>
            <a:spLocks noGrp="1"/>
          </p:cNvSpPr>
          <p:nvPr>
            <p:ph type="body" idx="1"/>
          </p:nvPr>
        </p:nvSpPr>
        <p:spPr>
          <a:xfrm>
            <a:off x="468313" y="836613"/>
            <a:ext cx="7859712" cy="3095625"/>
          </a:xfrm>
          <a:ln/>
        </p:spPr>
        <p:txBody>
          <a:bodyPr/>
          <a:lstStyle/>
          <a:p>
            <a:pPr algn="just">
              <a:lnSpc>
                <a:spcPct val="90000"/>
              </a:lnSpc>
            </a:pPr>
            <a:r>
              <a:rPr lang="zh-CN" altLang="en-US" sz="2800" b="1" dirty="0">
                <a:latin typeface="楷体_GB2312" pitchFamily="49" charset="-122"/>
                <a:ea typeface="楷体_GB2312" pitchFamily="49" charset="-122"/>
              </a:rPr>
              <a:t>施主电离 </a:t>
            </a:r>
          </a:p>
          <a:p>
            <a:pPr lvl="1" algn="just">
              <a:lnSpc>
                <a:spcPct val="90000"/>
              </a:lnSpc>
            </a:pPr>
            <a:r>
              <a:rPr lang="en-US" altLang="zh-CN" b="1">
                <a:solidFill>
                  <a:srgbClr val="0000FF"/>
                </a:solidFill>
              </a:rPr>
              <a:t>V</a:t>
            </a:r>
            <a:r>
              <a:rPr lang="zh-CN" altLang="en-US" b="1" dirty="0">
                <a:solidFill>
                  <a:srgbClr val="0000FF"/>
                </a:solidFill>
              </a:rPr>
              <a:t>族元素在硅、锗中电离时能产生导电电子并形成正电中心的杂质称为</a:t>
            </a:r>
            <a:r>
              <a:rPr lang="zh-CN" altLang="en-US" dirty="0">
                <a:ea typeface="楷体_GB2312" pitchFamily="49" charset="-122"/>
              </a:rPr>
              <a:t>施主杂质。</a:t>
            </a:r>
          </a:p>
          <a:p>
            <a:pPr algn="just">
              <a:lnSpc>
                <a:spcPct val="90000"/>
              </a:lnSpc>
            </a:pPr>
            <a:r>
              <a:rPr lang="zh-CN" altLang="en-US" sz="2800" b="1" dirty="0">
                <a:latin typeface="楷体_GB2312" pitchFamily="49" charset="-122"/>
                <a:ea typeface="楷体_GB2312" pitchFamily="49" charset="-122"/>
              </a:rPr>
              <a:t>施主杂质未电离时是中性的，称为束缚态或中性态，电离后称为离化态。</a:t>
            </a:r>
          </a:p>
          <a:p>
            <a:pPr algn="just">
              <a:lnSpc>
                <a:spcPct val="90000"/>
              </a:lnSpc>
            </a:pPr>
            <a:r>
              <a:rPr lang="zh-CN" altLang="en-US" sz="2800" b="1" dirty="0">
                <a:latin typeface="楷体_GB2312" pitchFamily="49" charset="-122"/>
                <a:ea typeface="楷体_GB2312" pitchFamily="49" charset="-122"/>
              </a:rPr>
              <a:t>杂质电离能：多余的价电子挣脱束缚称为导电电子所需要的能量。</a:t>
            </a:r>
            <a:endParaRPr lang="zh-CN" altLang="en-US" baseline="-25000" dirty="0"/>
          </a:p>
        </p:txBody>
      </p:sp>
      <p:sp>
        <p:nvSpPr>
          <p:cNvPr id="5134" name="矩形 5133"/>
          <p:cNvSpPr/>
          <p:nvPr/>
        </p:nvSpPr>
        <p:spPr>
          <a:xfrm>
            <a:off x="684213" y="4365625"/>
            <a:ext cx="7345362" cy="946150"/>
          </a:xfrm>
          <a:prstGeom prst="rect">
            <a:avLst/>
          </a:prstGeom>
          <a:noFill/>
          <a:ln w="9525">
            <a:noFill/>
          </a:ln>
        </p:spPr>
        <p:txBody>
          <a:bodyPr>
            <a:spAutoFit/>
          </a:bodyPr>
          <a:lstStyle/>
          <a:p>
            <a:r>
              <a:rPr lang="en-US" altLang="zh-CN" b="1">
                <a:latin typeface="Arial" panose="020B0604020202020204" pitchFamily="34" charset="0"/>
              </a:rPr>
              <a:t>n</a:t>
            </a:r>
            <a:r>
              <a:rPr lang="zh-CN" altLang="en-US" b="1" dirty="0">
                <a:latin typeface="Arial" panose="020B0604020202020204" pitchFamily="34" charset="0"/>
              </a:rPr>
              <a:t>型半导体</a:t>
            </a:r>
          </a:p>
          <a:p>
            <a:pPr lvl="1"/>
            <a:r>
              <a:rPr lang="zh-CN" altLang="en-US" sz="2800" dirty="0">
                <a:latin typeface="Arial" panose="020B0604020202020204" pitchFamily="34" charset="0"/>
              </a:rPr>
              <a:t>主要靠导带电子导电的半导体。</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9573" name="图片 109572"/>
          <p:cNvPicPr>
            <a:picLocks noChangeAspect="1"/>
          </p:cNvPicPr>
          <p:nvPr/>
        </p:nvPicPr>
        <p:blipFill>
          <a:blip r:embed="rId2"/>
          <a:srcRect l="9280" r="-1265"/>
          <a:stretch>
            <a:fillRect/>
          </a:stretch>
        </p:blipFill>
        <p:spPr>
          <a:xfrm rot="21540000">
            <a:off x="684213" y="4292600"/>
            <a:ext cx="7850187" cy="2019300"/>
          </a:xfrm>
          <a:prstGeom prst="rect">
            <a:avLst/>
          </a:prstGeom>
          <a:noFill/>
          <a:ln w="9525">
            <a:noFill/>
          </a:ln>
        </p:spPr>
      </p:pic>
      <p:sp>
        <p:nvSpPr>
          <p:cNvPr id="109574" name="文本框 109573"/>
          <p:cNvSpPr txBox="1"/>
          <p:nvPr/>
        </p:nvSpPr>
        <p:spPr>
          <a:xfrm>
            <a:off x="684213" y="2492375"/>
            <a:ext cx="3598862" cy="1562100"/>
          </a:xfrm>
          <a:prstGeom prst="rect">
            <a:avLst/>
          </a:prstGeom>
          <a:solidFill>
            <a:srgbClr val="008080">
              <a:alpha val="50000"/>
            </a:srgbClr>
          </a:solidFill>
          <a:ln w="9525" cap="flat" cmpd="sng">
            <a:solidFill>
              <a:srgbClr val="FF0000"/>
            </a:solidFill>
            <a:prstDash val="solid"/>
            <a:miter/>
            <a:headEnd type="none" w="med" len="med"/>
            <a:tailEnd type="none" w="med" len="med"/>
          </a:ln>
        </p:spPr>
        <p:txBody>
          <a:bodyPr>
            <a:spAutoFit/>
          </a:bodyPr>
          <a:lstStyle/>
          <a:p>
            <a:r>
              <a:rPr lang="en-US" altLang="zh-CN" sz="2400" b="1">
                <a:solidFill>
                  <a:srgbClr val="0000FF"/>
                </a:solidFill>
                <a:latin typeface="仿宋_GB2312" pitchFamily="49" charset="-122"/>
                <a:ea typeface="仿宋_GB2312" pitchFamily="49" charset="-122"/>
              </a:rPr>
              <a:t>Si</a:t>
            </a:r>
            <a:r>
              <a:rPr lang="zh-CN" altLang="en-US" sz="2400" b="1" dirty="0">
                <a:solidFill>
                  <a:srgbClr val="0000FF"/>
                </a:solidFill>
                <a:latin typeface="仿宋_GB2312" pitchFamily="49" charset="-122"/>
                <a:ea typeface="仿宋_GB2312" pitchFamily="49" charset="-122"/>
              </a:rPr>
              <a:t>、</a:t>
            </a:r>
            <a:r>
              <a:rPr lang="en-US" altLang="zh-CN" sz="2400" b="1" err="1">
                <a:solidFill>
                  <a:srgbClr val="0000FF"/>
                </a:solidFill>
                <a:latin typeface="仿宋_GB2312" pitchFamily="49" charset="-122"/>
                <a:ea typeface="仿宋_GB2312" pitchFamily="49" charset="-122"/>
              </a:rPr>
              <a:t>Ge</a:t>
            </a:r>
            <a:r>
              <a:rPr lang="zh-CN" altLang="en-US" sz="2400" b="1" dirty="0">
                <a:solidFill>
                  <a:srgbClr val="0000FF"/>
                </a:solidFill>
                <a:latin typeface="仿宋_GB2312" pitchFamily="49" charset="-122"/>
                <a:ea typeface="仿宋_GB2312" pitchFamily="49" charset="-122"/>
              </a:rPr>
              <a:t>而言，施主通常是</a:t>
            </a:r>
            <a:r>
              <a:rPr lang="en-US" altLang="zh-CN" sz="2400" b="1">
                <a:solidFill>
                  <a:srgbClr val="0000FF"/>
                </a:solidFill>
                <a:latin typeface="仿宋_GB2312" pitchFamily="49" charset="-122"/>
                <a:ea typeface="仿宋_GB2312" pitchFamily="49" charset="-122"/>
              </a:rPr>
              <a:t>V</a:t>
            </a:r>
            <a:r>
              <a:rPr lang="zh-CN" altLang="en-US" sz="2400" b="1" dirty="0">
                <a:solidFill>
                  <a:srgbClr val="0000FF"/>
                </a:solidFill>
                <a:latin typeface="仿宋_GB2312" pitchFamily="49" charset="-122"/>
                <a:ea typeface="仿宋_GB2312" pitchFamily="49" charset="-122"/>
              </a:rPr>
              <a:t>族元素。电离能较小，在</a:t>
            </a:r>
            <a:r>
              <a:rPr lang="en-US" altLang="zh-CN" sz="2400" b="1">
                <a:solidFill>
                  <a:srgbClr val="0000FF"/>
                </a:solidFill>
                <a:latin typeface="仿宋_GB2312" pitchFamily="49" charset="-122"/>
                <a:ea typeface="仿宋_GB2312" pitchFamily="49" charset="-122"/>
              </a:rPr>
              <a:t>Si</a:t>
            </a:r>
            <a:r>
              <a:rPr lang="zh-CN" altLang="en-US" sz="2400" b="1" dirty="0">
                <a:solidFill>
                  <a:srgbClr val="0000FF"/>
                </a:solidFill>
                <a:latin typeface="仿宋_GB2312" pitchFamily="49" charset="-122"/>
                <a:ea typeface="仿宋_GB2312" pitchFamily="49" charset="-122"/>
              </a:rPr>
              <a:t>中约</a:t>
            </a:r>
            <a:r>
              <a:rPr lang="en-US" altLang="zh-CN" sz="2400" b="1">
                <a:solidFill>
                  <a:srgbClr val="0000FF"/>
                </a:solidFill>
                <a:latin typeface="仿宋_GB2312" pitchFamily="49" charset="-122"/>
                <a:ea typeface="仿宋_GB2312" pitchFamily="49" charset="-122"/>
              </a:rPr>
              <a:t>0.04</a:t>
            </a:r>
            <a:r>
              <a:rPr lang="zh-CN" altLang="en-US" sz="2400" b="1" dirty="0">
                <a:solidFill>
                  <a:srgbClr val="0000FF"/>
                </a:solidFill>
                <a:latin typeface="仿宋_GB2312" pitchFamily="49" charset="-122"/>
                <a:ea typeface="仿宋_GB2312" pitchFamily="49" charset="-122"/>
              </a:rPr>
              <a:t>～</a:t>
            </a:r>
            <a:r>
              <a:rPr lang="en-US" altLang="zh-CN" sz="2400" b="1">
                <a:solidFill>
                  <a:srgbClr val="0000FF"/>
                </a:solidFill>
                <a:latin typeface="仿宋_GB2312" pitchFamily="49" charset="-122"/>
                <a:ea typeface="仿宋_GB2312" pitchFamily="49" charset="-122"/>
              </a:rPr>
              <a:t>0.05eV</a:t>
            </a:r>
            <a:r>
              <a:rPr lang="zh-CN" altLang="en-US" sz="2400" b="1" dirty="0">
                <a:solidFill>
                  <a:srgbClr val="0000FF"/>
                </a:solidFill>
                <a:latin typeface="仿宋_GB2312" pitchFamily="49" charset="-122"/>
                <a:ea typeface="仿宋_GB2312" pitchFamily="49" charset="-122"/>
              </a:rPr>
              <a:t>，</a:t>
            </a:r>
            <a:r>
              <a:rPr lang="en-US" altLang="zh-CN" sz="2400" b="1" err="1">
                <a:solidFill>
                  <a:srgbClr val="0000FF"/>
                </a:solidFill>
                <a:latin typeface="仿宋_GB2312" pitchFamily="49" charset="-122"/>
                <a:ea typeface="仿宋_GB2312" pitchFamily="49" charset="-122"/>
              </a:rPr>
              <a:t>Ge</a:t>
            </a:r>
            <a:r>
              <a:rPr lang="zh-CN" altLang="en-US" sz="2400" b="1" dirty="0">
                <a:solidFill>
                  <a:srgbClr val="0000FF"/>
                </a:solidFill>
                <a:latin typeface="仿宋_GB2312" pitchFamily="49" charset="-122"/>
                <a:ea typeface="仿宋_GB2312" pitchFamily="49" charset="-122"/>
              </a:rPr>
              <a:t>中约</a:t>
            </a:r>
            <a:r>
              <a:rPr lang="en-US" altLang="zh-CN" sz="2400" b="1">
                <a:solidFill>
                  <a:srgbClr val="0000FF"/>
                </a:solidFill>
                <a:latin typeface="仿宋_GB2312" pitchFamily="49" charset="-122"/>
                <a:ea typeface="仿宋_GB2312" pitchFamily="49" charset="-122"/>
              </a:rPr>
              <a:t>0.01eV</a:t>
            </a:r>
            <a:r>
              <a:rPr lang="zh-CN" altLang="en-US" sz="2400" dirty="0">
                <a:solidFill>
                  <a:srgbClr val="0000FF"/>
                </a:solidFill>
                <a:latin typeface="仿宋_GB2312" pitchFamily="49" charset="-122"/>
                <a:ea typeface="仿宋_GB2312" pitchFamily="49" charset="-122"/>
              </a:rPr>
              <a:t>。</a:t>
            </a:r>
          </a:p>
        </p:txBody>
      </p:sp>
      <p:pic>
        <p:nvPicPr>
          <p:cNvPr id="109575" name="图片 109574"/>
          <p:cNvPicPr>
            <a:picLocks noChangeAspect="1"/>
          </p:cNvPicPr>
          <p:nvPr/>
        </p:nvPicPr>
        <p:blipFill>
          <a:blip r:embed="rId3"/>
          <a:stretch>
            <a:fillRect/>
          </a:stretch>
        </p:blipFill>
        <p:spPr>
          <a:xfrm rot="21540000">
            <a:off x="4932363" y="1989138"/>
            <a:ext cx="3352800" cy="2105025"/>
          </a:xfrm>
          <a:prstGeom prst="rect">
            <a:avLst/>
          </a:prstGeom>
          <a:noFill/>
          <a:ln w="9525">
            <a:noFill/>
          </a:ln>
        </p:spPr>
      </p:pic>
      <p:sp>
        <p:nvSpPr>
          <p:cNvPr id="109576" name="矩形 109575"/>
          <p:cNvSpPr/>
          <p:nvPr/>
        </p:nvSpPr>
        <p:spPr>
          <a:xfrm>
            <a:off x="250825" y="1484313"/>
            <a:ext cx="8497888" cy="946150"/>
          </a:xfrm>
          <a:prstGeom prst="rect">
            <a:avLst/>
          </a:prstGeom>
          <a:noFill/>
          <a:ln w="9525">
            <a:noFill/>
          </a:ln>
        </p:spPr>
        <p:txBody>
          <a:bodyPr>
            <a:spAutoFit/>
          </a:bodyPr>
          <a:lstStyle/>
          <a:p>
            <a:r>
              <a:rPr lang="en-US" altLang="zh-CN" sz="2400" b="1" dirty="0">
                <a:latin typeface="仿宋_GB2312" pitchFamily="49" charset="-122"/>
                <a:ea typeface="仿宋_GB2312" pitchFamily="49" charset="-122"/>
              </a:rPr>
              <a:t> </a:t>
            </a:r>
            <a:r>
              <a:rPr lang="zh-CN" altLang="en-US" sz="2400" b="1" dirty="0">
                <a:latin typeface="仿宋_GB2312" pitchFamily="49" charset="-122"/>
                <a:ea typeface="仿宋_GB2312" pitchFamily="49" charset="-122"/>
              </a:rPr>
              <a:t>施主杂质电子</a:t>
            </a:r>
            <a:r>
              <a:rPr lang="en-US" altLang="zh-CN" sz="2400" b="1" dirty="0">
                <a:latin typeface="仿宋_GB2312" pitchFamily="49" charset="-122"/>
                <a:ea typeface="仿宋_GB2312" pitchFamily="49" charset="-122"/>
                <a:sym typeface="Wingdings" panose="05000000000000000000" pitchFamily="2" charset="2"/>
              </a:rPr>
              <a:t></a:t>
            </a:r>
            <a:r>
              <a:rPr lang="zh-CN" altLang="en-US" sz="2400" b="1" dirty="0">
                <a:latin typeface="仿宋_GB2312" pitchFamily="49" charset="-122"/>
                <a:ea typeface="仿宋_GB2312" pitchFamily="49" charset="-122"/>
              </a:rPr>
              <a:t>导带电子所需要的能量，称为</a:t>
            </a:r>
            <a:r>
              <a:rPr lang="zh-CN" altLang="en-US" dirty="0">
                <a:latin typeface="Arial" panose="020B0604020202020204" pitchFamily="34" charset="0"/>
              </a:rPr>
              <a:t>施主杂质</a:t>
            </a:r>
            <a:r>
              <a:rPr lang="zh-CN" altLang="en-US" b="1" dirty="0">
                <a:solidFill>
                  <a:srgbClr val="FF0000"/>
                </a:solidFill>
                <a:latin typeface="Arial" panose="020B0604020202020204" pitchFamily="34" charset="0"/>
              </a:rPr>
              <a:t>电离能</a:t>
            </a:r>
            <a:r>
              <a:rPr lang="el-GR" altLang="zh-CN" dirty="0">
                <a:latin typeface="Arial" panose="020B0604020202020204" pitchFamily="34" charset="0"/>
              </a:rPr>
              <a:t>Δ</a:t>
            </a:r>
            <a:r>
              <a:rPr lang="en-US" altLang="zh-CN" baseline="-25000">
                <a:latin typeface="Arial" panose="020B0604020202020204" pitchFamily="34" charset="0"/>
              </a:rPr>
              <a:t>ED</a:t>
            </a:r>
            <a:r>
              <a:rPr lang="en-US" altLang="zh-CN">
                <a:latin typeface="Arial" panose="020B0604020202020204" pitchFamily="34" charset="0"/>
              </a:rPr>
              <a:t> </a:t>
            </a:r>
            <a:r>
              <a:rPr lang="zh-CN" altLang="en-US" dirty="0">
                <a:latin typeface="Arial" panose="020B0604020202020204" pitchFamily="34" charset="0"/>
              </a:rPr>
              <a:t>：</a:t>
            </a:r>
          </a:p>
        </p:txBody>
      </p:sp>
      <p:sp>
        <p:nvSpPr>
          <p:cNvPr id="109578" name="矩形 109577"/>
          <p:cNvSpPr/>
          <p:nvPr/>
        </p:nvSpPr>
        <p:spPr>
          <a:xfrm>
            <a:off x="468313" y="333375"/>
            <a:ext cx="8351837" cy="822325"/>
          </a:xfrm>
          <a:prstGeom prst="rect">
            <a:avLst/>
          </a:prstGeom>
          <a:noFill/>
          <a:ln w="9525">
            <a:noFill/>
          </a:ln>
        </p:spPr>
        <p:txBody>
          <a:bodyPr>
            <a:spAutoFit/>
          </a:bodyPr>
          <a:lstStyle/>
          <a:p>
            <a:r>
              <a:rPr lang="zh-CN" altLang="en-US" sz="2400" b="1" dirty="0">
                <a:solidFill>
                  <a:srgbClr val="FF0000"/>
                </a:solidFill>
                <a:latin typeface="楷体_GB2312" pitchFamily="49" charset="-122"/>
                <a:ea typeface="楷体_GB2312" pitchFamily="49" charset="-122"/>
              </a:rPr>
              <a:t>施主能级</a:t>
            </a:r>
            <a:r>
              <a:rPr lang="zh-CN" altLang="en-US" sz="2400" b="1" dirty="0">
                <a:latin typeface="楷体_GB2312" pitchFamily="49" charset="-122"/>
                <a:ea typeface="楷体_GB2312" pitchFamily="49" charset="-122"/>
              </a:rPr>
              <a:t>：在半导体中引入施主杂质，将在带隙中引入施主能级。 即被施主杂质束缚的电子的能量状态。记为 </a:t>
            </a:r>
            <a:r>
              <a:rPr lang="en-US" altLang="zh-CN" sz="2400" b="1">
                <a:latin typeface="楷体_GB2312" pitchFamily="49" charset="-122"/>
                <a:ea typeface="楷体_GB2312" pitchFamily="49" charset="-122"/>
              </a:rPr>
              <a:t>E</a:t>
            </a:r>
            <a:r>
              <a:rPr lang="en-US" altLang="zh-CN" sz="2400" b="1" baseline="-25000">
                <a:latin typeface="楷体_GB2312" pitchFamily="49" charset="-122"/>
                <a:ea typeface="楷体_GB2312" pitchFamily="49" charset="-122"/>
              </a:rPr>
              <a:t>D</a:t>
            </a:r>
            <a:r>
              <a:rPr lang="zh-CN" altLang="en-US" sz="2400" b="1" dirty="0">
                <a:latin typeface="楷体_GB2312" pitchFamily="49" charset="-122"/>
                <a:ea typeface="楷体_GB2312" pitchFamily="49" charset="-122"/>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884" name="图片 122883"/>
          <p:cNvPicPr>
            <a:picLocks noChangeAspect="1"/>
          </p:cNvPicPr>
          <p:nvPr/>
        </p:nvPicPr>
        <p:blipFill>
          <a:blip r:embed="rId2"/>
          <a:stretch>
            <a:fillRect/>
          </a:stretch>
        </p:blipFill>
        <p:spPr>
          <a:xfrm>
            <a:off x="327025" y="1052513"/>
            <a:ext cx="7743825" cy="457200"/>
          </a:xfrm>
          <a:prstGeom prst="rect">
            <a:avLst/>
          </a:prstGeom>
          <a:noFill/>
          <a:ln w="9525">
            <a:noFill/>
          </a:ln>
        </p:spPr>
      </p:pic>
      <p:sp>
        <p:nvSpPr>
          <p:cNvPr id="122885" name="矩形 122884"/>
          <p:cNvSpPr/>
          <p:nvPr/>
        </p:nvSpPr>
        <p:spPr>
          <a:xfrm>
            <a:off x="468313" y="404813"/>
            <a:ext cx="4719637" cy="519112"/>
          </a:xfrm>
          <a:prstGeom prst="rect">
            <a:avLst/>
          </a:prstGeom>
          <a:solidFill>
            <a:srgbClr val="008000">
              <a:alpha val="33000"/>
            </a:srgbClr>
          </a:solidFill>
          <a:ln w="9525">
            <a:noFill/>
          </a:ln>
        </p:spPr>
        <p:txBody>
          <a:bodyPr wrap="none" anchor="t" anchorCtr="0">
            <a:spAutoFit/>
          </a:bodyPr>
          <a:lstStyle/>
          <a:p>
            <a:r>
              <a:rPr lang="en-US" altLang="zh-CN" b="1">
                <a:latin typeface="黑体" panose="02010609060101010101" pitchFamily="2" charset="-122"/>
                <a:ea typeface="黑体" panose="02010609060101010101" pitchFamily="2" charset="-122"/>
              </a:rPr>
              <a:t>2.1.3</a:t>
            </a:r>
            <a:r>
              <a:rPr lang="zh-CN" altLang="en-US" b="1" dirty="0">
                <a:latin typeface="黑体" panose="02010609060101010101" pitchFamily="2" charset="-122"/>
                <a:ea typeface="黑体" panose="02010609060101010101" pitchFamily="2" charset="-122"/>
              </a:rPr>
              <a:t>受主杂质</a:t>
            </a:r>
            <a:r>
              <a:rPr lang="zh-CN" altLang="en-US" dirty="0">
                <a:latin typeface="黑体" panose="02010609060101010101" pitchFamily="2" charset="-122"/>
                <a:ea typeface="黑体" panose="02010609060101010101" pitchFamily="2" charset="-122"/>
              </a:rPr>
              <a:t>  </a:t>
            </a:r>
            <a:r>
              <a:rPr lang="en-US" altLang="zh-CN">
                <a:latin typeface="黑体" panose="02010609060101010101" pitchFamily="2" charset="-122"/>
                <a:ea typeface="黑体" panose="02010609060101010101" pitchFamily="2" charset="-122"/>
              </a:rPr>
              <a:t>(</a:t>
            </a:r>
            <a:r>
              <a:rPr lang="zh-CN" altLang="en-US" dirty="0">
                <a:latin typeface="黑体" panose="02010609060101010101" pitchFamily="2" charset="-122"/>
                <a:ea typeface="黑体" panose="02010609060101010101" pitchFamily="2" charset="-122"/>
              </a:rPr>
              <a:t>浓度：</a:t>
            </a:r>
            <a:r>
              <a:rPr lang="en-US" altLang="zh-CN">
                <a:latin typeface="Times New Roman" panose="02020603050405020304" pitchFamily="18" charset="0"/>
                <a:ea typeface="黑体" panose="02010609060101010101" pitchFamily="2" charset="-122"/>
              </a:rPr>
              <a:t>N</a:t>
            </a:r>
            <a:r>
              <a:rPr lang="en-US" altLang="zh-CN" baseline="-12000">
                <a:latin typeface="Times New Roman" panose="02020603050405020304" pitchFamily="18" charset="0"/>
                <a:ea typeface="黑体" panose="02010609060101010101" pitchFamily="2" charset="-122"/>
              </a:rPr>
              <a:t>A</a:t>
            </a:r>
            <a:r>
              <a:rPr lang="en-US" altLang="zh-CN">
                <a:latin typeface="黑体" panose="02010609060101010101" pitchFamily="2" charset="-122"/>
                <a:ea typeface="黑体" panose="02010609060101010101" pitchFamily="2" charset="-122"/>
              </a:rPr>
              <a:t>)</a:t>
            </a:r>
          </a:p>
        </p:txBody>
      </p:sp>
      <p:pic>
        <p:nvPicPr>
          <p:cNvPr id="122886" name="图片 122885"/>
          <p:cNvPicPr>
            <a:picLocks noChangeAspect="1"/>
          </p:cNvPicPr>
          <p:nvPr/>
        </p:nvPicPr>
        <p:blipFill>
          <a:blip r:embed="rId3"/>
          <a:stretch>
            <a:fillRect/>
          </a:stretch>
        </p:blipFill>
        <p:spPr>
          <a:xfrm>
            <a:off x="323850" y="1557338"/>
            <a:ext cx="3219450" cy="495300"/>
          </a:xfrm>
          <a:prstGeom prst="rect">
            <a:avLst/>
          </a:prstGeom>
          <a:noFill/>
          <a:ln w="9525">
            <a:noFill/>
          </a:ln>
        </p:spPr>
      </p:pic>
      <p:pic>
        <p:nvPicPr>
          <p:cNvPr id="122887" name="图片 122886"/>
          <p:cNvPicPr>
            <a:picLocks noChangeAspect="1"/>
          </p:cNvPicPr>
          <p:nvPr/>
        </p:nvPicPr>
        <p:blipFill>
          <a:blip r:embed="rId4"/>
          <a:stretch>
            <a:fillRect/>
          </a:stretch>
        </p:blipFill>
        <p:spPr>
          <a:xfrm>
            <a:off x="3551238" y="1589088"/>
            <a:ext cx="4981575" cy="400050"/>
          </a:xfrm>
          <a:prstGeom prst="rect">
            <a:avLst/>
          </a:prstGeom>
          <a:noFill/>
          <a:ln w="9525">
            <a:noFill/>
          </a:ln>
        </p:spPr>
      </p:pic>
      <p:pic>
        <p:nvPicPr>
          <p:cNvPr id="122888" name="图片 122887"/>
          <p:cNvPicPr>
            <a:picLocks noChangeAspect="1"/>
          </p:cNvPicPr>
          <p:nvPr/>
        </p:nvPicPr>
        <p:blipFill>
          <a:blip r:embed="rId5"/>
          <a:stretch>
            <a:fillRect/>
          </a:stretch>
        </p:blipFill>
        <p:spPr>
          <a:xfrm>
            <a:off x="323850" y="2060575"/>
            <a:ext cx="4953000" cy="400050"/>
          </a:xfrm>
          <a:prstGeom prst="rect">
            <a:avLst/>
          </a:prstGeom>
          <a:noFill/>
          <a:ln w="9525">
            <a:noFill/>
          </a:ln>
        </p:spPr>
      </p:pic>
      <p:pic>
        <p:nvPicPr>
          <p:cNvPr id="122889" name="图片 122888"/>
          <p:cNvPicPr>
            <a:picLocks noChangeAspect="1"/>
          </p:cNvPicPr>
          <p:nvPr/>
        </p:nvPicPr>
        <p:blipFill>
          <a:blip r:embed="rId6"/>
          <a:stretch>
            <a:fillRect/>
          </a:stretch>
        </p:blipFill>
        <p:spPr>
          <a:xfrm>
            <a:off x="5795963" y="2276475"/>
            <a:ext cx="3027362" cy="2589213"/>
          </a:xfrm>
          <a:prstGeom prst="rect">
            <a:avLst/>
          </a:prstGeom>
          <a:noFill/>
          <a:ln w="9525">
            <a:noFill/>
          </a:ln>
        </p:spPr>
      </p:pic>
      <p:sp>
        <p:nvSpPr>
          <p:cNvPr id="122890" name="矩形 122889"/>
          <p:cNvSpPr/>
          <p:nvPr/>
        </p:nvSpPr>
        <p:spPr>
          <a:xfrm>
            <a:off x="179388" y="2852738"/>
            <a:ext cx="4824412" cy="1187450"/>
          </a:xfrm>
          <a:prstGeom prst="rect">
            <a:avLst/>
          </a:prstGeom>
          <a:noFill/>
          <a:ln w="9525">
            <a:noFill/>
          </a:ln>
        </p:spPr>
        <p:txBody>
          <a:bodyPr>
            <a:spAutoFit/>
          </a:bodyPr>
          <a:lstStyle/>
          <a:p>
            <a:pPr lvl="1"/>
            <a:r>
              <a:rPr lang="zh-CN" altLang="en-US" sz="2400" b="1" dirty="0">
                <a:latin typeface="仿宋_GB2312" pitchFamily="49" charset="-122"/>
                <a:ea typeface="仿宋_GB2312" pitchFamily="49" charset="-122"/>
              </a:rPr>
              <a:t>受主电离：能够接受电子而产生导电空穴，形成负电中心的过程。</a:t>
            </a:r>
            <a:endParaRPr lang="zh-CN" altLang="en-US" sz="2400" b="1" dirty="0">
              <a:solidFill>
                <a:srgbClr val="FF0000"/>
              </a:solidFill>
              <a:latin typeface="仿宋_GB2312" pitchFamily="49" charset="-122"/>
              <a:ea typeface="仿宋_GB2312" pitchFamily="49" charset="-122"/>
            </a:endParaRPr>
          </a:p>
        </p:txBody>
      </p:sp>
      <p:sp>
        <p:nvSpPr>
          <p:cNvPr id="122891" name="矩形 122890"/>
          <p:cNvSpPr/>
          <p:nvPr/>
        </p:nvSpPr>
        <p:spPr>
          <a:xfrm>
            <a:off x="395288" y="4365625"/>
            <a:ext cx="7848600" cy="2227263"/>
          </a:xfrm>
          <a:prstGeom prst="rect">
            <a:avLst/>
          </a:prstGeom>
          <a:noFill/>
          <a:ln w="9525">
            <a:noFill/>
          </a:ln>
        </p:spPr>
        <p:txBody>
          <a:bodyPr>
            <a:spAutoFit/>
          </a:bodyPr>
          <a:lstStyle/>
          <a:p>
            <a:r>
              <a:rPr lang="zh-CN" altLang="en-US" b="1" dirty="0">
                <a:latin typeface="Arial" panose="020B0604020202020204" pitchFamily="34" charset="0"/>
              </a:rPr>
              <a:t>受主能级</a:t>
            </a:r>
          </a:p>
          <a:p>
            <a:pPr lvl="1"/>
            <a:r>
              <a:rPr lang="zh-CN" altLang="en-US" sz="2800" dirty="0">
                <a:latin typeface="Arial" panose="020B0604020202020204" pitchFamily="34" charset="0"/>
              </a:rPr>
              <a:t>半导体中引入受主杂质，在带隙内引入能级，即被受主杂质束缚的空穴的能量状态，记为</a:t>
            </a:r>
            <a:r>
              <a:rPr lang="en-US" altLang="zh-CN" sz="2800">
                <a:latin typeface="Arial" panose="020B0604020202020204" pitchFamily="34" charset="0"/>
              </a:rPr>
              <a:t>E</a:t>
            </a:r>
            <a:r>
              <a:rPr lang="en-US" altLang="zh-CN" sz="2800" baseline="-25000">
                <a:latin typeface="Arial" panose="020B0604020202020204" pitchFamily="34" charset="0"/>
              </a:rPr>
              <a:t>A</a:t>
            </a:r>
            <a:r>
              <a:rPr lang="zh-CN" altLang="en-US" sz="2800" dirty="0">
                <a:latin typeface="Arial" panose="020B0604020202020204" pitchFamily="34" charset="0"/>
              </a:rPr>
              <a:t>。</a:t>
            </a:r>
          </a:p>
          <a:p>
            <a:r>
              <a:rPr lang="en-US" altLang="zh-CN" b="1">
                <a:latin typeface="Arial" panose="020B0604020202020204" pitchFamily="34" charset="0"/>
              </a:rPr>
              <a:t>p</a:t>
            </a:r>
            <a:r>
              <a:rPr lang="zh-CN" altLang="en-US" b="1" dirty="0">
                <a:latin typeface="Arial" panose="020B0604020202020204" pitchFamily="34" charset="0"/>
              </a:rPr>
              <a:t>型半导体</a:t>
            </a:r>
          </a:p>
          <a:p>
            <a:pPr lvl="1"/>
            <a:r>
              <a:rPr lang="zh-CN" altLang="en-US" sz="2800" dirty="0">
                <a:latin typeface="Arial" panose="020B0604020202020204" pitchFamily="34" charset="0"/>
              </a:rPr>
              <a:t>依靠价带空穴导电的半导体。</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9" name="文本框 108548"/>
          <p:cNvSpPr txBox="1"/>
          <p:nvPr/>
        </p:nvSpPr>
        <p:spPr>
          <a:xfrm>
            <a:off x="468313" y="1412875"/>
            <a:ext cx="4249737" cy="1927225"/>
          </a:xfrm>
          <a:prstGeom prst="rect">
            <a:avLst/>
          </a:prstGeom>
          <a:solidFill>
            <a:srgbClr val="008080">
              <a:alpha val="44000"/>
            </a:srgbClr>
          </a:solidFill>
          <a:ln w="9525" cap="flat" cmpd="sng">
            <a:solidFill>
              <a:srgbClr val="FF0000"/>
            </a:solidFill>
            <a:prstDash val="solid"/>
            <a:miter/>
            <a:headEnd type="none" w="med" len="med"/>
            <a:tailEnd type="none" w="med" len="med"/>
          </a:ln>
        </p:spPr>
        <p:txBody>
          <a:bodyPr>
            <a:spAutoFit/>
          </a:bodyPr>
          <a:lstStyle/>
          <a:p>
            <a:r>
              <a:rPr lang="en-US" altLang="zh-CN" sz="2400" b="1">
                <a:solidFill>
                  <a:srgbClr val="0000FF"/>
                </a:solidFill>
                <a:latin typeface="仿宋_GB2312" pitchFamily="49" charset="-122"/>
                <a:ea typeface="仿宋_GB2312" pitchFamily="49" charset="-122"/>
              </a:rPr>
              <a:t>Si</a:t>
            </a:r>
            <a:r>
              <a:rPr lang="zh-CN" altLang="en-US" sz="2400" b="1" dirty="0">
                <a:solidFill>
                  <a:srgbClr val="0000FF"/>
                </a:solidFill>
                <a:latin typeface="仿宋_GB2312" pitchFamily="49" charset="-122"/>
                <a:ea typeface="仿宋_GB2312" pitchFamily="49" charset="-122"/>
              </a:rPr>
              <a:t>、</a:t>
            </a:r>
            <a:r>
              <a:rPr lang="en-US" altLang="zh-CN" sz="2400" b="1" err="1">
                <a:solidFill>
                  <a:srgbClr val="0000FF"/>
                </a:solidFill>
                <a:latin typeface="仿宋_GB2312" pitchFamily="49" charset="-122"/>
                <a:ea typeface="仿宋_GB2312" pitchFamily="49" charset="-122"/>
              </a:rPr>
              <a:t>Ge</a:t>
            </a:r>
            <a:r>
              <a:rPr lang="zh-CN" altLang="en-US" sz="2400" b="1" dirty="0">
                <a:solidFill>
                  <a:srgbClr val="0000FF"/>
                </a:solidFill>
                <a:latin typeface="仿宋_GB2312" pitchFamily="49" charset="-122"/>
                <a:ea typeface="仿宋_GB2312" pitchFamily="49" charset="-122"/>
              </a:rPr>
              <a:t>而言，施主通常是</a:t>
            </a:r>
            <a:r>
              <a:rPr lang="en-US" altLang="zh-CN" sz="2400" b="1">
                <a:solidFill>
                  <a:srgbClr val="0000FF"/>
                </a:solidFill>
                <a:latin typeface="仿宋_GB2312" pitchFamily="49" charset="-122"/>
                <a:ea typeface="仿宋_GB2312" pitchFamily="49" charset="-122"/>
              </a:rPr>
              <a:t>III</a:t>
            </a:r>
            <a:r>
              <a:rPr lang="zh-CN" altLang="en-US" sz="2400" b="1" dirty="0">
                <a:solidFill>
                  <a:srgbClr val="0000FF"/>
                </a:solidFill>
                <a:latin typeface="仿宋_GB2312" pitchFamily="49" charset="-122"/>
                <a:ea typeface="仿宋_GB2312" pitchFamily="49" charset="-122"/>
              </a:rPr>
              <a:t>族元素。电离能较小，在</a:t>
            </a:r>
            <a:r>
              <a:rPr lang="en-US" altLang="zh-CN" sz="2400" b="1">
                <a:solidFill>
                  <a:srgbClr val="0000FF"/>
                </a:solidFill>
                <a:latin typeface="仿宋_GB2312" pitchFamily="49" charset="-122"/>
                <a:ea typeface="仿宋_GB2312" pitchFamily="49" charset="-122"/>
              </a:rPr>
              <a:t>Si</a:t>
            </a:r>
            <a:r>
              <a:rPr lang="zh-CN" altLang="en-US" sz="2400" b="1" dirty="0">
                <a:solidFill>
                  <a:srgbClr val="0000FF"/>
                </a:solidFill>
                <a:latin typeface="仿宋_GB2312" pitchFamily="49" charset="-122"/>
                <a:ea typeface="仿宋_GB2312" pitchFamily="49" charset="-122"/>
              </a:rPr>
              <a:t>中约</a:t>
            </a:r>
            <a:r>
              <a:rPr lang="en-US" altLang="zh-CN" sz="2400" b="1">
                <a:solidFill>
                  <a:srgbClr val="0000FF"/>
                </a:solidFill>
                <a:latin typeface="仿宋_GB2312" pitchFamily="49" charset="-122"/>
                <a:ea typeface="仿宋_GB2312" pitchFamily="49" charset="-122"/>
              </a:rPr>
              <a:t>0.045</a:t>
            </a:r>
            <a:r>
              <a:rPr lang="zh-CN" altLang="en-US" sz="2400" b="1" dirty="0">
                <a:solidFill>
                  <a:srgbClr val="0000FF"/>
                </a:solidFill>
                <a:latin typeface="仿宋_GB2312" pitchFamily="49" charset="-122"/>
                <a:ea typeface="仿宋_GB2312" pitchFamily="49" charset="-122"/>
              </a:rPr>
              <a:t>～</a:t>
            </a:r>
            <a:r>
              <a:rPr lang="en-US" altLang="zh-CN" sz="2400" b="1">
                <a:solidFill>
                  <a:srgbClr val="0000FF"/>
                </a:solidFill>
                <a:latin typeface="仿宋_GB2312" pitchFamily="49" charset="-122"/>
                <a:ea typeface="仿宋_GB2312" pitchFamily="49" charset="-122"/>
              </a:rPr>
              <a:t>0.065eV</a:t>
            </a:r>
            <a:r>
              <a:rPr lang="zh-CN" altLang="en-US" sz="2400" b="1">
                <a:solidFill>
                  <a:srgbClr val="0000FF"/>
                </a:solidFill>
                <a:latin typeface="仿宋_GB2312" pitchFamily="49" charset="-122"/>
                <a:ea typeface="仿宋_GB2312" pitchFamily="49" charset="-122"/>
              </a:rPr>
              <a:t>【</a:t>
            </a:r>
            <a:r>
              <a:rPr lang="en-US" altLang="zh-CN" sz="2400" b="1">
                <a:solidFill>
                  <a:srgbClr val="0000FF"/>
                </a:solidFill>
                <a:latin typeface="仿宋_GB2312" pitchFamily="49" charset="-122"/>
                <a:ea typeface="仿宋_GB2312" pitchFamily="49" charset="-122"/>
              </a:rPr>
              <a:t>In</a:t>
            </a:r>
            <a:r>
              <a:rPr lang="zh-CN" altLang="en-US" sz="2400" b="1" dirty="0">
                <a:solidFill>
                  <a:srgbClr val="0000FF"/>
                </a:solidFill>
                <a:latin typeface="仿宋_GB2312" pitchFamily="49" charset="-122"/>
                <a:ea typeface="仿宋_GB2312" pitchFamily="49" charset="-122"/>
              </a:rPr>
              <a:t>是唯一例外，达</a:t>
            </a:r>
            <a:r>
              <a:rPr lang="en-US" altLang="zh-CN" sz="2400" b="1">
                <a:solidFill>
                  <a:srgbClr val="0000FF"/>
                </a:solidFill>
                <a:latin typeface="仿宋_GB2312" pitchFamily="49" charset="-122"/>
                <a:ea typeface="仿宋_GB2312" pitchFamily="49" charset="-122"/>
              </a:rPr>
              <a:t>0.16eV</a:t>
            </a:r>
            <a:r>
              <a:rPr lang="zh-CN" altLang="en-US" sz="2400" b="1">
                <a:solidFill>
                  <a:srgbClr val="0000FF"/>
                </a:solidFill>
                <a:latin typeface="仿宋_GB2312" pitchFamily="49" charset="-122"/>
                <a:ea typeface="仿宋_GB2312" pitchFamily="49" charset="-122"/>
              </a:rPr>
              <a:t>】</a:t>
            </a:r>
            <a:r>
              <a:rPr lang="zh-CN" altLang="en-US" sz="2400" b="1" dirty="0">
                <a:solidFill>
                  <a:srgbClr val="0000FF"/>
                </a:solidFill>
                <a:latin typeface="仿宋_GB2312" pitchFamily="49" charset="-122"/>
                <a:ea typeface="仿宋_GB2312" pitchFamily="49" charset="-122"/>
              </a:rPr>
              <a:t>，</a:t>
            </a:r>
            <a:r>
              <a:rPr lang="en-US" altLang="zh-CN" sz="2400" b="1" err="1">
                <a:solidFill>
                  <a:srgbClr val="0000FF"/>
                </a:solidFill>
                <a:latin typeface="仿宋_GB2312" pitchFamily="49" charset="-122"/>
                <a:ea typeface="仿宋_GB2312" pitchFamily="49" charset="-122"/>
              </a:rPr>
              <a:t>Ge</a:t>
            </a:r>
            <a:r>
              <a:rPr lang="zh-CN" altLang="en-US" sz="2400" b="1" dirty="0">
                <a:solidFill>
                  <a:srgbClr val="0000FF"/>
                </a:solidFill>
                <a:latin typeface="仿宋_GB2312" pitchFamily="49" charset="-122"/>
                <a:ea typeface="仿宋_GB2312" pitchFamily="49" charset="-122"/>
              </a:rPr>
              <a:t>中约</a:t>
            </a:r>
            <a:r>
              <a:rPr lang="en-US" altLang="zh-CN" sz="2400" b="1">
                <a:solidFill>
                  <a:srgbClr val="0000FF"/>
                </a:solidFill>
                <a:latin typeface="仿宋_GB2312" pitchFamily="49" charset="-122"/>
                <a:ea typeface="仿宋_GB2312" pitchFamily="49" charset="-122"/>
              </a:rPr>
              <a:t>0.01eV</a:t>
            </a:r>
            <a:r>
              <a:rPr lang="zh-CN" altLang="en-US" sz="2400" b="1" dirty="0">
                <a:solidFill>
                  <a:srgbClr val="0000FF"/>
                </a:solidFill>
                <a:latin typeface="仿宋_GB2312" pitchFamily="49" charset="-122"/>
                <a:ea typeface="仿宋_GB2312" pitchFamily="49" charset="-122"/>
              </a:rPr>
              <a:t>。</a:t>
            </a:r>
          </a:p>
        </p:txBody>
      </p:sp>
      <p:pic>
        <p:nvPicPr>
          <p:cNvPr id="108550" name="图片 108549"/>
          <p:cNvPicPr>
            <a:picLocks noChangeAspect="1"/>
          </p:cNvPicPr>
          <p:nvPr/>
        </p:nvPicPr>
        <p:blipFill>
          <a:blip r:embed="rId2"/>
          <a:stretch>
            <a:fillRect/>
          </a:stretch>
        </p:blipFill>
        <p:spPr>
          <a:xfrm rot="21540000">
            <a:off x="2411413" y="3789363"/>
            <a:ext cx="4267200" cy="1973262"/>
          </a:xfrm>
          <a:prstGeom prst="rect">
            <a:avLst/>
          </a:prstGeom>
          <a:noFill/>
          <a:ln w="9525">
            <a:noFill/>
          </a:ln>
        </p:spPr>
      </p:pic>
      <p:pic>
        <p:nvPicPr>
          <p:cNvPr id="108551" name="图片 108550"/>
          <p:cNvPicPr>
            <a:picLocks noChangeAspect="1"/>
          </p:cNvPicPr>
          <p:nvPr/>
        </p:nvPicPr>
        <p:blipFill>
          <a:blip r:embed="rId3"/>
          <a:srcRect l="2805" r="6331"/>
          <a:stretch>
            <a:fillRect/>
          </a:stretch>
        </p:blipFill>
        <p:spPr>
          <a:xfrm>
            <a:off x="5292725" y="1341438"/>
            <a:ext cx="3240088" cy="2219325"/>
          </a:xfrm>
          <a:prstGeom prst="rect">
            <a:avLst/>
          </a:prstGeom>
          <a:noFill/>
          <a:ln w="9525">
            <a:noFill/>
          </a:ln>
        </p:spPr>
      </p:pic>
      <p:sp>
        <p:nvSpPr>
          <p:cNvPr id="108552" name="矩形 108551"/>
          <p:cNvSpPr/>
          <p:nvPr/>
        </p:nvSpPr>
        <p:spPr>
          <a:xfrm>
            <a:off x="3937000" y="476250"/>
            <a:ext cx="5207000" cy="457200"/>
          </a:xfrm>
          <a:prstGeom prst="rect">
            <a:avLst/>
          </a:prstGeom>
          <a:noFill/>
          <a:ln w="9525">
            <a:noFill/>
          </a:ln>
        </p:spPr>
        <p:txBody>
          <a:bodyPr wrap="none" anchor="t" anchorCtr="0">
            <a:spAutoFit/>
          </a:bodyPr>
          <a:lstStyle/>
          <a:p>
            <a:r>
              <a:rPr lang="en-US" altLang="zh-CN" sz="2400" dirty="0">
                <a:latin typeface="仿宋_GB2312" pitchFamily="49" charset="-122"/>
                <a:ea typeface="仿宋_GB2312" pitchFamily="49" charset="-122"/>
              </a:rPr>
              <a:t> </a:t>
            </a:r>
            <a:r>
              <a:rPr lang="zh-CN" altLang="en-US" sz="2400" dirty="0">
                <a:latin typeface="仿宋_GB2312" pitchFamily="49" charset="-122"/>
                <a:ea typeface="仿宋_GB2312" pitchFamily="49" charset="-122"/>
              </a:rPr>
              <a:t>杂质空穴</a:t>
            </a:r>
            <a:r>
              <a:rPr lang="en-US" altLang="zh-CN" sz="2400" dirty="0">
                <a:latin typeface="仿宋_GB2312" pitchFamily="49" charset="-122"/>
                <a:ea typeface="仿宋_GB2312" pitchFamily="49" charset="-122"/>
                <a:sym typeface="Wingdings" panose="05000000000000000000" pitchFamily="2" charset="2"/>
              </a:rPr>
              <a:t></a:t>
            </a:r>
            <a:r>
              <a:rPr lang="zh-CN" altLang="en-US" sz="2400" dirty="0">
                <a:latin typeface="仿宋_GB2312" pitchFamily="49" charset="-122"/>
                <a:ea typeface="仿宋_GB2312" pitchFamily="49" charset="-122"/>
              </a:rPr>
              <a:t>价带空穴所需要的能量。</a:t>
            </a:r>
          </a:p>
        </p:txBody>
      </p:sp>
      <p:sp>
        <p:nvSpPr>
          <p:cNvPr id="108553" name="矩形 108552"/>
          <p:cNvSpPr/>
          <p:nvPr/>
        </p:nvSpPr>
        <p:spPr>
          <a:xfrm>
            <a:off x="436563" y="388938"/>
            <a:ext cx="3630612" cy="519112"/>
          </a:xfrm>
          <a:prstGeom prst="rect">
            <a:avLst/>
          </a:prstGeom>
          <a:solidFill>
            <a:srgbClr val="FFFF00"/>
          </a:solidFill>
          <a:ln w="9525">
            <a:noFill/>
          </a:ln>
        </p:spPr>
        <p:txBody>
          <a:bodyPr wrap="none" anchor="t" anchorCtr="0">
            <a:spAutoFit/>
          </a:bodyPr>
          <a:lstStyle/>
          <a:p>
            <a:r>
              <a:rPr lang="zh-CN" altLang="en-US" dirty="0">
                <a:latin typeface="黑体" panose="02010609060101010101" pitchFamily="2" charset="-122"/>
                <a:ea typeface="黑体" panose="02010609060101010101" pitchFamily="2" charset="-122"/>
              </a:rPr>
              <a:t>受主杂质</a:t>
            </a:r>
            <a:r>
              <a:rPr lang="zh-CN" altLang="en-US" b="1" dirty="0">
                <a:solidFill>
                  <a:srgbClr val="FF0000"/>
                </a:solidFill>
                <a:latin typeface="黑体" panose="02010609060101010101" pitchFamily="2" charset="-122"/>
                <a:ea typeface="黑体" panose="02010609060101010101" pitchFamily="2" charset="-122"/>
              </a:rPr>
              <a:t>电离能</a:t>
            </a:r>
            <a:r>
              <a:rPr lang="el-GR" altLang="zh-CN" dirty="0">
                <a:latin typeface="黑体" panose="02010609060101010101" pitchFamily="2" charset="-122"/>
                <a:ea typeface="黑体" panose="02010609060101010101" pitchFamily="2" charset="-122"/>
              </a:rPr>
              <a:t>Δ</a:t>
            </a:r>
            <a:r>
              <a:rPr lang="en-US" altLang="zh-CN" baseline="-25000">
                <a:latin typeface="黑体" panose="02010609060101010101" pitchFamily="2" charset="-122"/>
                <a:ea typeface="黑体" panose="02010609060101010101" pitchFamily="2" charset="-122"/>
              </a:rPr>
              <a:t>EA</a:t>
            </a:r>
            <a:r>
              <a:rPr lang="zh-CN" altLang="en-US" dirty="0">
                <a:latin typeface="黑体" panose="02010609060101010101" pitchFamily="2" charset="-122"/>
                <a:ea typeface="黑体" panose="02010609060101010101" pitchFamily="2" charset="-122"/>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20" name="矩形 111619"/>
          <p:cNvSpPr/>
          <p:nvPr/>
        </p:nvSpPr>
        <p:spPr>
          <a:xfrm>
            <a:off x="468313" y="692150"/>
            <a:ext cx="3438525" cy="519113"/>
          </a:xfrm>
          <a:prstGeom prst="rect">
            <a:avLst/>
          </a:prstGeom>
          <a:solidFill>
            <a:srgbClr val="33CCCC"/>
          </a:solidFill>
          <a:ln w="9525">
            <a:noFill/>
          </a:ln>
        </p:spPr>
        <p:txBody>
          <a:bodyPr wrap="none" anchor="t" anchorCtr="0">
            <a:spAutoFit/>
          </a:bodyPr>
          <a:lstStyle/>
          <a:p>
            <a:r>
              <a:rPr lang="en-US" altLang="zh-CN" b="1">
                <a:solidFill>
                  <a:srgbClr val="FF0000"/>
                </a:solidFill>
                <a:latin typeface="Arial" panose="020B0604020202020204" pitchFamily="34" charset="0"/>
              </a:rPr>
              <a:t>3</a:t>
            </a:r>
            <a:r>
              <a:rPr lang="zh-CN" altLang="en-US" b="1" dirty="0">
                <a:solidFill>
                  <a:srgbClr val="FF0000"/>
                </a:solidFill>
                <a:latin typeface="Arial" panose="020B0604020202020204" pitchFamily="34" charset="0"/>
              </a:rPr>
              <a:t>、杂质的划分类型</a:t>
            </a:r>
            <a:r>
              <a:rPr lang="en-US" altLang="zh-CN" b="1">
                <a:solidFill>
                  <a:srgbClr val="FF0000"/>
                </a:solidFill>
                <a:latin typeface="Arial" panose="020B0604020202020204" pitchFamily="34" charset="0"/>
              </a:rPr>
              <a:t>3</a:t>
            </a:r>
          </a:p>
        </p:txBody>
      </p:sp>
      <p:sp>
        <p:nvSpPr>
          <p:cNvPr id="111621" name="文本框 111620"/>
          <p:cNvSpPr txBox="1"/>
          <p:nvPr/>
        </p:nvSpPr>
        <p:spPr>
          <a:xfrm>
            <a:off x="4603750" y="1382713"/>
            <a:ext cx="2216150" cy="579437"/>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仿宋_GB2312" pitchFamily="49" charset="-122"/>
              </a:rPr>
              <a:t>浅能级杂质</a:t>
            </a:r>
          </a:p>
        </p:txBody>
      </p:sp>
      <p:sp>
        <p:nvSpPr>
          <p:cNvPr id="111622" name="文本框 111621"/>
          <p:cNvSpPr txBox="1"/>
          <p:nvPr/>
        </p:nvSpPr>
        <p:spPr>
          <a:xfrm>
            <a:off x="4643438" y="2205038"/>
            <a:ext cx="2216150" cy="579437"/>
          </a:xfrm>
          <a:prstGeom prst="rect">
            <a:avLst/>
          </a:prstGeom>
          <a:noFill/>
          <a:ln w="9525">
            <a:noFill/>
          </a:ln>
        </p:spPr>
        <p:txBody>
          <a:bodyPr wrap="none" anchor="t" anchorCtr="0">
            <a:spAutoFit/>
          </a:bodyPr>
          <a:lstStyle/>
          <a:p>
            <a:r>
              <a:rPr lang="zh-CN" altLang="en-US" sz="3200" dirty="0">
                <a:latin typeface="Arial" panose="020B0604020202020204" pitchFamily="34" charset="0"/>
                <a:ea typeface="仿宋_GB2312" pitchFamily="49" charset="-122"/>
              </a:rPr>
              <a:t>深能级杂质</a:t>
            </a:r>
          </a:p>
        </p:txBody>
      </p:sp>
      <p:sp>
        <p:nvSpPr>
          <p:cNvPr id="111623" name="文本框 111622"/>
          <p:cNvSpPr txBox="1"/>
          <p:nvPr/>
        </p:nvSpPr>
        <p:spPr>
          <a:xfrm>
            <a:off x="468313" y="1844675"/>
            <a:ext cx="3740150" cy="519113"/>
          </a:xfrm>
          <a:prstGeom prst="rect">
            <a:avLst/>
          </a:prstGeom>
          <a:noFill/>
          <a:ln w="9525">
            <a:noFill/>
          </a:ln>
        </p:spPr>
        <p:txBody>
          <a:bodyPr wrap="none" anchor="t" anchorCtr="0">
            <a:spAutoFit/>
          </a:bodyPr>
          <a:lstStyle/>
          <a:p>
            <a:r>
              <a:rPr lang="zh-CN" altLang="en-US" dirty="0">
                <a:latin typeface="Arial" panose="020B0604020202020204" pitchFamily="34" charset="0"/>
              </a:rPr>
              <a:t>根据杂质能级位置划分</a:t>
            </a:r>
          </a:p>
        </p:txBody>
      </p:sp>
      <p:sp>
        <p:nvSpPr>
          <p:cNvPr id="111624" name="左大括号 111623"/>
          <p:cNvSpPr/>
          <p:nvPr/>
        </p:nvSpPr>
        <p:spPr>
          <a:xfrm>
            <a:off x="4267200" y="1633538"/>
            <a:ext cx="215900" cy="1079500"/>
          </a:xfrm>
          <a:prstGeom prst="leftBrace">
            <a:avLst>
              <a:gd name="adj1" fmla="val 41666"/>
              <a:gd name="adj2" fmla="val 50000"/>
            </a:avLst>
          </a:prstGeom>
          <a:noFill/>
          <a:ln w="22225" cap="flat" cmpd="sng">
            <a:solidFill>
              <a:schemeClr val="tx1"/>
            </a:solidFill>
            <a:prstDash val="solid"/>
            <a:headEnd type="none" w="med" len="med"/>
            <a:tailEnd type="none" w="med" len="med"/>
          </a:ln>
        </p:spPr>
        <p:txBody>
          <a:bodyPr/>
          <a:lstStyle/>
          <a:p>
            <a:endParaRPr lang="zh-CN" altLang="en-US"/>
          </a:p>
        </p:txBody>
      </p:sp>
      <p:sp>
        <p:nvSpPr>
          <p:cNvPr id="111625" name="矩形 111624"/>
          <p:cNvSpPr/>
          <p:nvPr/>
        </p:nvSpPr>
        <p:spPr>
          <a:xfrm>
            <a:off x="611188" y="3357563"/>
            <a:ext cx="7777162" cy="1373187"/>
          </a:xfrm>
          <a:prstGeom prst="rect">
            <a:avLst/>
          </a:prstGeom>
          <a:noFill/>
          <a:ln w="9525">
            <a:noFill/>
          </a:ln>
        </p:spPr>
        <p:txBody>
          <a:bodyPr>
            <a:spAutoFit/>
          </a:bodyPr>
          <a:lstStyle/>
          <a:p>
            <a:r>
              <a:rPr lang="zh-CN" altLang="en-US" b="1" dirty="0">
                <a:latin typeface="Arial" panose="020B0604020202020204" pitchFamily="34" charset="0"/>
              </a:rPr>
              <a:t>施主能级很接近导带底，受主能级很接近价带顶。称为浅能级杂质。</a:t>
            </a:r>
          </a:p>
          <a:p>
            <a:r>
              <a:rPr lang="zh-CN" altLang="en-US" b="1" dirty="0">
                <a:latin typeface="Arial" panose="020B0604020202020204" pitchFamily="34" charset="0"/>
              </a:rPr>
              <a:t>室温下，</a:t>
            </a:r>
            <a:r>
              <a:rPr lang="en-US" altLang="zh-CN" b="1">
                <a:latin typeface="Arial" panose="020B0604020202020204" pitchFamily="34" charset="0"/>
              </a:rPr>
              <a:t>Ⅲ</a:t>
            </a:r>
            <a:r>
              <a:rPr lang="zh-CN" altLang="en-US" b="1" dirty="0">
                <a:latin typeface="Arial" panose="020B0604020202020204" pitchFamily="34" charset="0"/>
              </a:rPr>
              <a:t>、</a:t>
            </a:r>
            <a:r>
              <a:rPr lang="en-US" altLang="zh-CN" b="1">
                <a:latin typeface="Arial" panose="020B0604020202020204" pitchFamily="34" charset="0"/>
              </a:rPr>
              <a:t>Ⅴ</a:t>
            </a:r>
            <a:r>
              <a:rPr lang="zh-CN" altLang="en-US" b="1" dirty="0">
                <a:latin typeface="Arial" panose="020B0604020202020204" pitchFamily="34" charset="0"/>
              </a:rPr>
              <a:t>族杂质基本全部电离。</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3" name="矩形 104452"/>
          <p:cNvSpPr/>
          <p:nvPr/>
        </p:nvSpPr>
        <p:spPr>
          <a:xfrm>
            <a:off x="395288" y="1700213"/>
            <a:ext cx="7561262" cy="2076450"/>
          </a:xfrm>
          <a:prstGeom prst="rect">
            <a:avLst/>
          </a:prstGeom>
          <a:noFill/>
          <a:ln w="9525">
            <a:noFill/>
          </a:ln>
        </p:spPr>
        <p:txBody>
          <a:bodyPr anchor="ctr" anchorCtr="0">
            <a:spAutoFit/>
          </a:bodyPr>
          <a:lstStyle/>
          <a:p>
            <a:r>
              <a:rPr lang="zh-CN" altLang="en-US" sz="2600" dirty="0">
                <a:latin typeface="Arial" panose="020B0604020202020204" pitchFamily="34" charset="0"/>
              </a:rPr>
              <a:t>硅、锗中掺入</a:t>
            </a:r>
            <a:r>
              <a:rPr lang="en-US" altLang="zh-CN" sz="2600">
                <a:latin typeface="Arial" panose="020B0604020202020204" pitchFamily="34" charset="0"/>
              </a:rPr>
              <a:t>V</a:t>
            </a:r>
            <a:r>
              <a:rPr lang="zh-CN" altLang="en-US" sz="2600" dirty="0">
                <a:latin typeface="Arial" panose="020B0604020202020204" pitchFamily="34" charset="0"/>
              </a:rPr>
              <a:t>族的磷原子杂质时，磷原子周围比硅原子周围多一个束缚着的价电子。好像在硅、锗晶体中多加了一个“氢原子”。</a:t>
            </a:r>
          </a:p>
          <a:p>
            <a:r>
              <a:rPr lang="zh-CN" altLang="en-US" sz="2600" dirty="0">
                <a:latin typeface="Arial" panose="020B0604020202020204" pitchFamily="34" charset="0"/>
              </a:rPr>
              <a:t>杂质原子</a:t>
            </a:r>
            <a:r>
              <a:rPr lang="en-US" altLang="zh-CN" sz="2600">
                <a:latin typeface="Arial" panose="020B0604020202020204" pitchFamily="34" charset="0"/>
                <a:sym typeface="Wingdings" panose="05000000000000000000" pitchFamily="2" charset="2"/>
              </a:rPr>
              <a:t></a:t>
            </a:r>
            <a:r>
              <a:rPr lang="zh-CN" altLang="en-US" sz="2600" dirty="0">
                <a:latin typeface="Arial" panose="020B0604020202020204" pitchFamily="34" charset="0"/>
              </a:rPr>
              <a:t>氢原子</a:t>
            </a:r>
          </a:p>
          <a:p>
            <a:r>
              <a:rPr lang="zh-CN" altLang="en-US" sz="2600" dirty="0">
                <a:latin typeface="Arial" panose="020B0604020202020204" pitchFamily="34" charset="0"/>
              </a:rPr>
              <a:t>多余的价电子</a:t>
            </a:r>
            <a:r>
              <a:rPr lang="en-US" altLang="zh-CN" sz="2600" dirty="0">
                <a:latin typeface="Arial" panose="020B0604020202020204" pitchFamily="34" charset="0"/>
                <a:sym typeface="Wingdings" panose="05000000000000000000" pitchFamily="2" charset="2"/>
              </a:rPr>
              <a:t></a:t>
            </a:r>
            <a:r>
              <a:rPr lang="zh-CN" altLang="en-US" sz="2600" dirty="0">
                <a:latin typeface="Arial" panose="020B0604020202020204" pitchFamily="34" charset="0"/>
                <a:sym typeface="Wingdings" panose="05000000000000000000" pitchFamily="2" charset="2"/>
              </a:rPr>
              <a:t>氢外层电子</a:t>
            </a:r>
          </a:p>
        </p:txBody>
      </p:sp>
      <p:sp>
        <p:nvSpPr>
          <p:cNvPr id="104461" name="矩形 104460"/>
          <p:cNvSpPr/>
          <p:nvPr/>
        </p:nvSpPr>
        <p:spPr>
          <a:xfrm>
            <a:off x="468313" y="404813"/>
            <a:ext cx="6840537" cy="579437"/>
          </a:xfrm>
          <a:prstGeom prst="rect">
            <a:avLst/>
          </a:prstGeom>
          <a:solidFill>
            <a:srgbClr val="33CCCC"/>
          </a:solidFill>
          <a:ln w="9525">
            <a:noFill/>
          </a:ln>
        </p:spPr>
        <p:txBody>
          <a:bodyPr>
            <a:spAutoFit/>
          </a:bodyPr>
          <a:lstStyle/>
          <a:p>
            <a:r>
              <a:rPr lang="en-US" altLang="zh-CN" sz="3200" b="1">
                <a:solidFill>
                  <a:schemeClr val="tx2"/>
                </a:solidFill>
                <a:latin typeface="黑体" panose="02010609060101010101" pitchFamily="2" charset="-122"/>
                <a:ea typeface="黑体" panose="02010609060101010101" pitchFamily="2" charset="-122"/>
              </a:rPr>
              <a:t>4</a:t>
            </a:r>
            <a:r>
              <a:rPr lang="zh-CN" altLang="en-US" sz="3200" b="1" dirty="0">
                <a:solidFill>
                  <a:schemeClr val="tx2"/>
                </a:solidFill>
                <a:latin typeface="黑体" panose="02010609060101010101" pitchFamily="2" charset="-122"/>
                <a:ea typeface="黑体" panose="02010609060101010101" pitchFamily="2" charset="-122"/>
              </a:rPr>
              <a:t>、浅能级杂质电离能简单计算</a:t>
            </a:r>
          </a:p>
        </p:txBody>
      </p:sp>
      <p:sp>
        <p:nvSpPr>
          <p:cNvPr id="104464" name="矩形 104463"/>
          <p:cNvSpPr/>
          <p:nvPr/>
        </p:nvSpPr>
        <p:spPr>
          <a:xfrm>
            <a:off x="395288" y="1125538"/>
            <a:ext cx="1612900" cy="519112"/>
          </a:xfrm>
          <a:prstGeom prst="rect">
            <a:avLst/>
          </a:prstGeom>
          <a:noFill/>
          <a:ln w="9525">
            <a:noFill/>
          </a:ln>
        </p:spPr>
        <p:txBody>
          <a:bodyPr wrap="none" anchor="t" anchorCtr="0">
            <a:spAutoFit/>
          </a:bodyPr>
          <a:lstStyle/>
          <a:p>
            <a:r>
              <a:rPr lang="zh-CN" altLang="en-US" b="1" dirty="0">
                <a:latin typeface="Arial" panose="020B0604020202020204" pitchFamily="34" charset="0"/>
              </a:rPr>
              <a:t>类氢模型</a:t>
            </a:r>
          </a:p>
        </p:txBody>
      </p:sp>
      <p:sp>
        <p:nvSpPr>
          <p:cNvPr id="104466" name="矩形 104465"/>
          <p:cNvSpPr/>
          <p:nvPr/>
        </p:nvSpPr>
        <p:spPr>
          <a:xfrm>
            <a:off x="468313" y="4221163"/>
            <a:ext cx="8675687" cy="1800225"/>
          </a:xfrm>
          <a:prstGeom prst="rect">
            <a:avLst/>
          </a:prstGeom>
          <a:noFill/>
          <a:ln w="9525">
            <a:noFill/>
          </a:ln>
        </p:spPr>
        <p:txBody>
          <a:bodyPr>
            <a:spAutoFit/>
          </a:bodyPr>
          <a:lstStyle/>
          <a:p>
            <a:r>
              <a:rPr lang="zh-CN" altLang="en-US" dirty="0">
                <a:latin typeface="Arial" panose="020B0604020202020204" pitchFamily="34" charset="0"/>
                <a:sym typeface="Wingdings" panose="05000000000000000000" pitchFamily="2" charset="2"/>
              </a:rPr>
              <a:t>氢原子电离后，电子位于无穷远处，受束缚力很弱，也是准自由电子。</a:t>
            </a:r>
          </a:p>
          <a:p>
            <a:r>
              <a:rPr lang="zh-CN" altLang="en-US" dirty="0">
                <a:solidFill>
                  <a:srgbClr val="FF0000"/>
                </a:solidFill>
                <a:latin typeface="Arial" panose="020B0604020202020204" pitchFamily="34" charset="0"/>
                <a:sym typeface="Wingdings" panose="05000000000000000000" pitchFamily="2" charset="2"/>
              </a:rPr>
              <a:t>杂质离化后，杂质电子进入导带，成准自由电子；</a:t>
            </a:r>
          </a:p>
          <a:p>
            <a:endParaRPr lang="zh-CN" altLang="en-US" dirty="0">
              <a:solidFill>
                <a:srgbClr val="FF0000"/>
              </a:solidFill>
              <a:latin typeface="Arial" panose="020B0604020202020204" pitchFamily="34" charset="0"/>
              <a:sym typeface="Wingdings" panose="05000000000000000000" pitchFamily="2"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66"/>
                                        </p:tgtEl>
                                        <p:attrNameLst>
                                          <p:attrName>style.visibility</p:attrName>
                                        </p:attrNameLst>
                                      </p:cBhvr>
                                      <p:to>
                                        <p:strVal val="visible"/>
                                      </p:to>
                                    </p:set>
                                    <p:anim calcmode="lin" valueType="num">
                                      <p:cBhvr additive="base">
                                        <p:cTn id="7" dur="500" fill="hold"/>
                                        <p:tgtEl>
                                          <p:spTgt spid="104466"/>
                                        </p:tgtEl>
                                        <p:attrNameLst>
                                          <p:attrName>ppt_x</p:attrName>
                                        </p:attrNameLst>
                                      </p:cBhvr>
                                      <p:tavLst>
                                        <p:tav tm="0">
                                          <p:val>
                                            <p:strVal val="#ppt_x"/>
                                          </p:val>
                                        </p:tav>
                                        <p:tav tm="100000">
                                          <p:val>
                                            <p:strVal val="#ppt_x"/>
                                          </p:val>
                                        </p:tav>
                                      </p:tavLst>
                                    </p:anim>
                                    <p:anim calcmode="lin" valueType="num">
                                      <p:cBhvr additive="base">
                                        <p:cTn id="8" dur="500" fill="hold"/>
                                        <p:tgtEl>
                                          <p:spTgt spid="10446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6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2644" name="对象 112643"/>
          <p:cNvGraphicFramePr/>
          <p:nvPr/>
        </p:nvGraphicFramePr>
        <p:xfrm>
          <a:off x="4500563" y="2852738"/>
          <a:ext cx="2905125" cy="958850"/>
        </p:xfrm>
        <a:graphic>
          <a:graphicData uri="http://schemas.openxmlformats.org/presentationml/2006/ole">
            <mc:AlternateContent xmlns:mc="http://schemas.openxmlformats.org/markup-compatibility/2006">
              <mc:Choice xmlns:v="urn:schemas-microsoft-com:vml" Requires="v">
                <p:oleObj r:id="rId2" imgW="1384300" imgH="457200" progId="Equation.DSMT4">
                  <p:embed/>
                </p:oleObj>
              </mc:Choice>
              <mc:Fallback>
                <p:oleObj r:id="rId2" imgW="1384300" imgH="457200" progId="Equation.DSMT4">
                  <p:embed/>
                  <p:pic>
                    <p:nvPicPr>
                      <p:cNvPr id="0" name="图片 3075"/>
                      <p:cNvPicPr/>
                      <p:nvPr/>
                    </p:nvPicPr>
                    <p:blipFill>
                      <a:blip r:embed="rId3"/>
                      <a:stretch>
                        <a:fillRect/>
                      </a:stretch>
                    </p:blipFill>
                    <p:spPr>
                      <a:xfrm>
                        <a:off x="4500563" y="2852738"/>
                        <a:ext cx="2905125" cy="958850"/>
                      </a:xfrm>
                      <a:prstGeom prst="rect">
                        <a:avLst/>
                      </a:prstGeom>
                      <a:noFill/>
                      <a:ln w="38100">
                        <a:noFill/>
                        <a:miter/>
                      </a:ln>
                    </p:spPr>
                  </p:pic>
                </p:oleObj>
              </mc:Fallback>
            </mc:AlternateContent>
          </a:graphicData>
        </a:graphic>
      </p:graphicFrame>
      <p:graphicFrame>
        <p:nvGraphicFramePr>
          <p:cNvPr id="112645" name="对象 112644"/>
          <p:cNvGraphicFramePr/>
          <p:nvPr/>
        </p:nvGraphicFramePr>
        <p:xfrm>
          <a:off x="1258888" y="1557338"/>
          <a:ext cx="2027237" cy="958850"/>
        </p:xfrm>
        <a:graphic>
          <a:graphicData uri="http://schemas.openxmlformats.org/presentationml/2006/ole">
            <mc:AlternateContent xmlns:mc="http://schemas.openxmlformats.org/markup-compatibility/2006">
              <mc:Choice xmlns:v="urn:schemas-microsoft-com:vml" Requires="v">
                <p:oleObj r:id="rId4" imgW="965200" imgH="457200" progId="Equation.DSMT4">
                  <p:embed/>
                </p:oleObj>
              </mc:Choice>
              <mc:Fallback>
                <p:oleObj r:id="rId4" imgW="965200" imgH="457200" progId="Equation.DSMT4">
                  <p:embed/>
                  <p:pic>
                    <p:nvPicPr>
                      <p:cNvPr id="0" name="图片 3076"/>
                      <p:cNvPicPr/>
                      <p:nvPr/>
                    </p:nvPicPr>
                    <p:blipFill>
                      <a:blip r:embed="rId5"/>
                      <a:stretch>
                        <a:fillRect/>
                      </a:stretch>
                    </p:blipFill>
                    <p:spPr>
                      <a:xfrm>
                        <a:off x="1258888" y="1557338"/>
                        <a:ext cx="2027237" cy="958850"/>
                      </a:xfrm>
                      <a:prstGeom prst="rect">
                        <a:avLst/>
                      </a:prstGeom>
                      <a:noFill/>
                      <a:ln w="38100">
                        <a:noFill/>
                        <a:miter/>
                      </a:ln>
                    </p:spPr>
                  </p:pic>
                </p:oleObj>
              </mc:Fallback>
            </mc:AlternateContent>
          </a:graphicData>
        </a:graphic>
      </p:graphicFrame>
      <p:sp>
        <p:nvSpPr>
          <p:cNvPr id="112648" name="矩形 112647"/>
          <p:cNvSpPr/>
          <p:nvPr/>
        </p:nvSpPr>
        <p:spPr>
          <a:xfrm>
            <a:off x="468313" y="620713"/>
            <a:ext cx="3863975" cy="457200"/>
          </a:xfrm>
          <a:prstGeom prst="rect">
            <a:avLst/>
          </a:prstGeom>
          <a:noFill/>
          <a:ln w="9525">
            <a:noFill/>
          </a:ln>
        </p:spPr>
        <p:txBody>
          <a:bodyPr wrap="none" anchor="t" anchorCtr="0">
            <a:spAutoFit/>
          </a:bodyPr>
          <a:lstStyle/>
          <a:p>
            <a:pPr lvl="1">
              <a:spcBef>
                <a:spcPct val="20000"/>
              </a:spcBef>
              <a:buClr>
                <a:schemeClr val="accent2"/>
              </a:buClr>
              <a:buSzPct val="60000"/>
              <a:buFont typeface="Wingdings" panose="05000000000000000000" pitchFamily="2" charset="2"/>
              <a:buChar char="q"/>
            </a:pPr>
            <a:r>
              <a:rPr lang="zh-CN" altLang="en-US" sz="2400" b="1" dirty="0">
                <a:latin typeface="楷体_GB2312" pitchFamily="49" charset="-122"/>
                <a:ea typeface="楷体_GB2312" pitchFamily="49" charset="-122"/>
              </a:rPr>
              <a:t>氢原子中的电子能量：</a:t>
            </a:r>
          </a:p>
        </p:txBody>
      </p:sp>
      <p:sp>
        <p:nvSpPr>
          <p:cNvPr id="112649" name="矩形 112648"/>
          <p:cNvSpPr/>
          <p:nvPr/>
        </p:nvSpPr>
        <p:spPr>
          <a:xfrm>
            <a:off x="4067175" y="1700213"/>
            <a:ext cx="4681538" cy="457200"/>
          </a:xfrm>
          <a:prstGeom prst="rect">
            <a:avLst/>
          </a:prstGeom>
          <a:noFill/>
          <a:ln w="9525">
            <a:noFill/>
          </a:ln>
        </p:spPr>
        <p:txBody>
          <a:bodyPr>
            <a:spAutoFit/>
          </a:bodyPr>
          <a:lstStyle/>
          <a:p>
            <a:pPr>
              <a:spcBef>
                <a:spcPct val="20000"/>
              </a:spcBef>
              <a:buClr>
                <a:schemeClr val="accent2"/>
              </a:buClr>
              <a:buSzPct val="60000"/>
              <a:buFont typeface="Wingdings" panose="05000000000000000000" pitchFamily="2" charset="2"/>
              <a:buChar char="q"/>
            </a:pPr>
            <a:r>
              <a:rPr lang="en-US" altLang="zh-CN" sz="2400">
                <a:latin typeface="楷体_GB2312" pitchFamily="49" charset="-122"/>
                <a:ea typeface="楷体_GB2312" pitchFamily="49" charset="-122"/>
              </a:rPr>
              <a:t>n=1,2,3</a:t>
            </a:r>
            <a:r>
              <a:rPr lang="en-US" altLang="zh-CN" sz="2400">
                <a:latin typeface="Arial" panose="020B0604020202020204" pitchFamily="34" charset="0"/>
                <a:ea typeface="楷体_GB2312" pitchFamily="49" charset="-122"/>
              </a:rPr>
              <a:t>……</a:t>
            </a:r>
            <a:r>
              <a:rPr lang="zh-CN" altLang="en-US" sz="2400" dirty="0">
                <a:latin typeface="楷体_GB2312" pitchFamily="49" charset="-122"/>
                <a:ea typeface="楷体_GB2312" pitchFamily="49" charset="-122"/>
              </a:rPr>
              <a:t>，为主量子数，</a:t>
            </a:r>
          </a:p>
        </p:txBody>
      </p:sp>
      <p:graphicFrame>
        <p:nvGraphicFramePr>
          <p:cNvPr id="112651" name="对象 112650"/>
          <p:cNvGraphicFramePr/>
          <p:nvPr/>
        </p:nvGraphicFramePr>
        <p:xfrm>
          <a:off x="1908175" y="4941888"/>
          <a:ext cx="4392613" cy="947737"/>
        </p:xfrm>
        <a:graphic>
          <a:graphicData uri="http://schemas.openxmlformats.org/presentationml/2006/ole">
            <mc:AlternateContent xmlns:mc="http://schemas.openxmlformats.org/markup-compatibility/2006">
              <mc:Choice xmlns:v="urn:schemas-microsoft-com:vml" Requires="v">
                <p:oleObj r:id="rId6" imgW="2120900" imgH="457200" progId="Equation.3">
                  <p:embed/>
                </p:oleObj>
              </mc:Choice>
              <mc:Fallback>
                <p:oleObj r:id="rId6" imgW="2120900" imgH="457200" progId="Equation.3">
                  <p:embed/>
                  <p:pic>
                    <p:nvPicPr>
                      <p:cNvPr id="0" name="图片 3081"/>
                      <p:cNvPicPr/>
                      <p:nvPr/>
                    </p:nvPicPr>
                    <p:blipFill>
                      <a:blip r:embed="rId7"/>
                      <a:stretch>
                        <a:fillRect/>
                      </a:stretch>
                    </p:blipFill>
                    <p:spPr>
                      <a:xfrm>
                        <a:off x="1908175" y="4941888"/>
                        <a:ext cx="4392613" cy="947737"/>
                      </a:xfrm>
                      <a:prstGeom prst="rect">
                        <a:avLst/>
                      </a:prstGeom>
                      <a:noFill/>
                      <a:ln w="38100">
                        <a:noFill/>
                        <a:miter/>
                      </a:ln>
                    </p:spPr>
                  </p:pic>
                </p:oleObj>
              </mc:Fallback>
            </mc:AlternateContent>
          </a:graphicData>
        </a:graphic>
      </p:graphicFrame>
      <p:sp>
        <p:nvSpPr>
          <p:cNvPr id="112652" name="矩形 112651"/>
          <p:cNvSpPr/>
          <p:nvPr/>
        </p:nvSpPr>
        <p:spPr>
          <a:xfrm>
            <a:off x="900113" y="4294188"/>
            <a:ext cx="4564062" cy="549275"/>
          </a:xfrm>
          <a:prstGeom prst="rect">
            <a:avLst/>
          </a:prstGeom>
          <a:noFill/>
          <a:ln w="9525">
            <a:noFill/>
          </a:ln>
        </p:spPr>
        <p:txBody>
          <a:bodyPr wrap="none" anchor="t" anchorCtr="0">
            <a:spAutoFit/>
          </a:bodyPr>
          <a:lstStyle/>
          <a:p>
            <a:pPr>
              <a:spcBef>
                <a:spcPct val="20000"/>
              </a:spcBef>
              <a:buClr>
                <a:schemeClr val="accent1"/>
              </a:buClr>
              <a:buSzPct val="65000"/>
              <a:buFont typeface="Wingdings" panose="05000000000000000000" pitchFamily="2" charset="2"/>
              <a:buChar char="n"/>
            </a:pPr>
            <a:r>
              <a:rPr lang="zh-CN" altLang="en-US" sz="3000" dirty="0">
                <a:solidFill>
                  <a:srgbClr val="FF0000"/>
                </a:solidFill>
                <a:latin typeface="Arial" panose="020B0604020202020204" pitchFamily="34" charset="0"/>
                <a:ea typeface="楷体_GB2312" pitchFamily="49" charset="-122"/>
              </a:rPr>
              <a:t>氢原子基态电子的电离能</a:t>
            </a:r>
          </a:p>
        </p:txBody>
      </p:sp>
      <p:sp>
        <p:nvSpPr>
          <p:cNvPr id="112653" name="矩形 112652"/>
          <p:cNvSpPr/>
          <p:nvPr/>
        </p:nvSpPr>
        <p:spPr>
          <a:xfrm>
            <a:off x="1042988" y="3068638"/>
            <a:ext cx="3240087" cy="519112"/>
          </a:xfrm>
          <a:prstGeom prst="rect">
            <a:avLst/>
          </a:prstGeom>
          <a:noFill/>
          <a:ln w="9525">
            <a:noFill/>
          </a:ln>
        </p:spPr>
        <p:txBody>
          <a:bodyPr>
            <a:spAutoFit/>
          </a:bodyPr>
          <a:lstStyle/>
          <a:p>
            <a:pPr>
              <a:spcBef>
                <a:spcPct val="20000"/>
              </a:spcBef>
              <a:buClr>
                <a:schemeClr val="accent2"/>
              </a:buClr>
              <a:buSzPct val="60000"/>
              <a:buFont typeface="Wingdings" panose="05000000000000000000" pitchFamily="2" charset="2"/>
              <a:buChar char="q"/>
            </a:pPr>
            <a:r>
              <a:rPr lang="zh-CN" altLang="en-US" dirty="0">
                <a:latin typeface="Arial" panose="020B0604020202020204" pitchFamily="34" charset="0"/>
              </a:rPr>
              <a:t>当</a:t>
            </a:r>
            <a:r>
              <a:rPr lang="en-US" altLang="zh-CN">
                <a:latin typeface="Arial" panose="020B0604020202020204" pitchFamily="34" charset="0"/>
              </a:rPr>
              <a:t>n=1</a:t>
            </a:r>
            <a:r>
              <a:rPr lang="zh-CN" altLang="en-US" dirty="0">
                <a:latin typeface="Arial" panose="020B0604020202020204" pitchFamily="34" charset="0"/>
              </a:rPr>
              <a:t>和无穷时</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nodeType="clickEffect">
                                  <p:stCondLst>
                                    <p:cond delay="0"/>
                                  </p:stCondLst>
                                  <p:childTnLst>
                                    <p:set>
                                      <p:cBhvr>
                                        <p:cTn id="6" dur="1" fill="hold">
                                          <p:stCondLst>
                                            <p:cond delay="0"/>
                                          </p:stCondLst>
                                        </p:cTn>
                                        <p:tgtEl>
                                          <p:spTgt spid="112644"/>
                                        </p:tgtEl>
                                        <p:attrNameLst>
                                          <p:attrName>style.visibility</p:attrName>
                                        </p:attrNameLst>
                                      </p:cBhvr>
                                      <p:to>
                                        <p:strVal val="visible"/>
                                      </p:to>
                                    </p:set>
                                    <p:anim calcmode="lin" valueType="num">
                                      <p:cBhvr additive="base">
                                        <p:cTn id="7" dur="500" fill="hold"/>
                                        <p:tgtEl>
                                          <p:spTgt spid="112644"/>
                                        </p:tgtEl>
                                        <p:attrNameLst>
                                          <p:attrName>ppt_x</p:attrName>
                                        </p:attrNameLst>
                                      </p:cBhvr>
                                      <p:tavLst>
                                        <p:tav tm="0">
                                          <p:val>
                                            <p:strVal val="0-#ppt_w/2"/>
                                          </p:val>
                                        </p:tav>
                                        <p:tav tm="100000">
                                          <p:val>
                                            <p:strVal val="#ppt_x"/>
                                          </p:val>
                                        </p:tav>
                                      </p:tavLst>
                                    </p:anim>
                                    <p:anim calcmode="lin" valueType="num">
                                      <p:cBhvr additive="base">
                                        <p:cTn id="8" dur="500" fill="hold"/>
                                        <p:tgtEl>
                                          <p:spTgt spid="112644"/>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12653"/>
                                        </p:tgtEl>
                                        <p:attrNameLst>
                                          <p:attrName>style.visibility</p:attrName>
                                        </p:attrNameLst>
                                      </p:cBhvr>
                                      <p:to>
                                        <p:strVal val="visible"/>
                                      </p:to>
                                    </p:set>
                                    <p:anim calcmode="lin" valueType="num">
                                      <p:cBhvr additive="base">
                                        <p:cTn id="11" dur="500" fill="hold"/>
                                        <p:tgtEl>
                                          <p:spTgt spid="112653"/>
                                        </p:tgtEl>
                                        <p:attrNameLst>
                                          <p:attrName>ppt_x</p:attrName>
                                        </p:attrNameLst>
                                      </p:cBhvr>
                                      <p:tavLst>
                                        <p:tav tm="0">
                                          <p:val>
                                            <p:strVal val="0-#ppt_w/2"/>
                                          </p:val>
                                        </p:tav>
                                        <p:tav tm="100000">
                                          <p:val>
                                            <p:strVal val="#ppt_x"/>
                                          </p:val>
                                        </p:tav>
                                      </p:tavLst>
                                    </p:anim>
                                    <p:anim calcmode="lin" valueType="num">
                                      <p:cBhvr additive="base">
                                        <p:cTn id="12" dur="500" fill="hold"/>
                                        <p:tgtEl>
                                          <p:spTgt spid="112653"/>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12651"/>
                                        </p:tgtEl>
                                        <p:attrNameLst>
                                          <p:attrName>style.visibility</p:attrName>
                                        </p:attrNameLst>
                                      </p:cBhvr>
                                      <p:to>
                                        <p:strVal val="visible"/>
                                      </p:to>
                                    </p:set>
                                    <p:anim calcmode="lin" valueType="num">
                                      <p:cBhvr additive="base">
                                        <p:cTn id="17" dur="500" fill="hold"/>
                                        <p:tgtEl>
                                          <p:spTgt spid="112651"/>
                                        </p:tgtEl>
                                        <p:attrNameLst>
                                          <p:attrName>ppt_x</p:attrName>
                                        </p:attrNameLst>
                                      </p:cBhvr>
                                      <p:tavLst>
                                        <p:tav tm="0">
                                          <p:val>
                                            <p:strVal val="#ppt_x"/>
                                          </p:val>
                                        </p:tav>
                                        <p:tav tm="100000">
                                          <p:val>
                                            <p:strVal val="#ppt_x"/>
                                          </p:val>
                                        </p:tav>
                                      </p:tavLst>
                                    </p:anim>
                                    <p:anim calcmode="lin" valueType="num">
                                      <p:cBhvr additive="base">
                                        <p:cTn id="18" dur="500" fill="hold"/>
                                        <p:tgtEl>
                                          <p:spTgt spid="11265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112652"/>
                                        </p:tgtEl>
                                        <p:attrNameLst>
                                          <p:attrName>style.visibility</p:attrName>
                                        </p:attrNameLst>
                                      </p:cBhvr>
                                      <p:to>
                                        <p:strVal val="visible"/>
                                      </p:to>
                                    </p:set>
                                    <p:anim calcmode="lin" valueType="num">
                                      <p:cBhvr additive="base">
                                        <p:cTn id="21" dur="500" fill="hold"/>
                                        <p:tgtEl>
                                          <p:spTgt spid="112652"/>
                                        </p:tgtEl>
                                        <p:attrNameLst>
                                          <p:attrName>ppt_x</p:attrName>
                                        </p:attrNameLst>
                                      </p:cBhvr>
                                      <p:tavLst>
                                        <p:tav tm="0">
                                          <p:val>
                                            <p:strVal val="#ppt_x"/>
                                          </p:val>
                                        </p:tav>
                                        <p:tav tm="100000">
                                          <p:val>
                                            <p:strVal val="#ppt_x"/>
                                          </p:val>
                                        </p:tav>
                                      </p:tavLst>
                                    </p:anim>
                                    <p:anim calcmode="lin" valueType="num">
                                      <p:cBhvr additive="base">
                                        <p:cTn id="22" dur="500" fill="hold"/>
                                        <p:tgtEl>
                                          <p:spTgt spid="11265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52" grpId="0"/>
      <p:bldP spid="11265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8" name="矩形 11277"/>
          <p:cNvSpPr/>
          <p:nvPr/>
        </p:nvSpPr>
        <p:spPr>
          <a:xfrm>
            <a:off x="827088" y="4581525"/>
            <a:ext cx="7129462" cy="1081088"/>
          </a:xfrm>
          <a:prstGeom prst="rect">
            <a:avLst/>
          </a:prstGeom>
          <a:solidFill>
            <a:srgbClr val="33CCCC">
              <a:alpha val="57001"/>
            </a:srgbClr>
          </a:solidFill>
          <a:ln w="9525" cap="flat" cmpd="sng">
            <a:solidFill>
              <a:srgbClr val="FF0000"/>
            </a:solidFill>
            <a:prstDash val="solid"/>
            <a:miter/>
            <a:headEnd type="none" w="med" len="med"/>
            <a:tailEnd type="none" w="med" len="med"/>
          </a:ln>
        </p:spPr>
        <p:txBody>
          <a:bodyPr/>
          <a:lstStyle/>
          <a:p>
            <a:endParaRPr lang="zh-CN" altLang="en-US"/>
          </a:p>
        </p:txBody>
      </p:sp>
      <p:sp>
        <p:nvSpPr>
          <p:cNvPr id="11271" name="矩形 11270"/>
          <p:cNvSpPr/>
          <p:nvPr/>
        </p:nvSpPr>
        <p:spPr>
          <a:xfrm>
            <a:off x="468313" y="476250"/>
            <a:ext cx="7396162" cy="1187450"/>
          </a:xfrm>
          <a:prstGeom prst="rect">
            <a:avLst/>
          </a:prstGeom>
          <a:noFill/>
          <a:ln w="9525">
            <a:noFill/>
          </a:ln>
        </p:spPr>
        <p:txBody>
          <a:bodyPr>
            <a:spAutoFit/>
          </a:bodyPr>
          <a:lstStyle/>
          <a:p>
            <a:pPr>
              <a:spcBef>
                <a:spcPct val="20000"/>
              </a:spcBef>
              <a:buClr>
                <a:schemeClr val="accent1"/>
              </a:buClr>
              <a:buSzPct val="65000"/>
              <a:buFont typeface="Wingdings" panose="05000000000000000000" pitchFamily="2" charset="2"/>
              <a:buChar char="n"/>
            </a:pPr>
            <a:r>
              <a:rPr lang="zh-CN" altLang="en-US" sz="2400" dirty="0">
                <a:latin typeface="楷体_GB2312" pitchFamily="49" charset="-122"/>
                <a:ea typeface="楷体_GB2312" pitchFamily="49" charset="-122"/>
              </a:rPr>
              <a:t>考虑到晶体中正、负电荷处于</a:t>
            </a:r>
            <a:r>
              <a:rPr lang="zh-CN" altLang="en-US" sz="2400" b="1" dirty="0">
                <a:solidFill>
                  <a:srgbClr val="FF0000"/>
                </a:solidFill>
                <a:latin typeface="楷体_GB2312" pitchFamily="49" charset="-122"/>
                <a:ea typeface="楷体_GB2312" pitchFamily="49" charset="-122"/>
              </a:rPr>
              <a:t>介电常数</a:t>
            </a:r>
            <a:r>
              <a:rPr lang="el-GR" altLang="zh-CN" sz="2400" dirty="0">
                <a:latin typeface="楷体_GB2312" pitchFamily="49" charset="-122"/>
                <a:ea typeface="楷体_GB2312" pitchFamily="49" charset="-122"/>
              </a:rPr>
              <a:t>ε</a:t>
            </a:r>
            <a:r>
              <a:rPr lang="en-US" altLang="zh-CN" sz="2400">
                <a:latin typeface="楷体_GB2312" pitchFamily="49" charset="-122"/>
                <a:ea typeface="楷体_GB2312" pitchFamily="49" charset="-122"/>
              </a:rPr>
              <a:t>=</a:t>
            </a:r>
            <a:r>
              <a:rPr lang="el-GR" altLang="zh-CN" sz="2400" dirty="0">
                <a:latin typeface="楷体_GB2312" pitchFamily="49" charset="-122"/>
                <a:ea typeface="楷体_GB2312" pitchFamily="49" charset="-122"/>
              </a:rPr>
              <a:t>ε</a:t>
            </a:r>
            <a:r>
              <a:rPr lang="el-GR" altLang="zh-CN" sz="2400" baseline="-25000" dirty="0">
                <a:latin typeface="楷体_GB2312" pitchFamily="49" charset="-122"/>
                <a:ea typeface="楷体_GB2312" pitchFamily="49" charset="-122"/>
              </a:rPr>
              <a:t>0</a:t>
            </a:r>
            <a:r>
              <a:rPr lang="el-GR" altLang="zh-CN" sz="2400" dirty="0">
                <a:latin typeface="楷体_GB2312" pitchFamily="49" charset="-122"/>
                <a:ea typeface="楷体_GB2312" pitchFamily="49" charset="-122"/>
              </a:rPr>
              <a:t>ε</a:t>
            </a:r>
            <a:r>
              <a:rPr lang="el-GR" altLang="zh-CN" sz="2400" baseline="-25000" dirty="0">
                <a:latin typeface="楷体_GB2312" pitchFamily="49" charset="-122"/>
                <a:ea typeface="楷体_GB2312" pitchFamily="49" charset="-122"/>
              </a:rPr>
              <a:t>r</a:t>
            </a:r>
            <a:r>
              <a:rPr lang="zh-CN" altLang="en-US" sz="2400" dirty="0">
                <a:latin typeface="楷体_GB2312" pitchFamily="49" charset="-122"/>
                <a:ea typeface="楷体_GB2312" pitchFamily="49" charset="-122"/>
              </a:rPr>
              <a:t>的介质中，且在</a:t>
            </a:r>
            <a:r>
              <a:rPr lang="zh-CN" altLang="en-US" sz="2400" b="1" dirty="0">
                <a:solidFill>
                  <a:srgbClr val="FF0000"/>
                </a:solidFill>
                <a:latin typeface="楷体_GB2312" pitchFamily="49" charset="-122"/>
                <a:ea typeface="楷体_GB2312" pitchFamily="49" charset="-122"/>
              </a:rPr>
              <a:t>周期势场</a:t>
            </a:r>
            <a:r>
              <a:rPr lang="zh-CN" altLang="en-US" sz="2400" dirty="0">
                <a:latin typeface="楷体_GB2312" pitchFamily="49" charset="-122"/>
                <a:ea typeface="楷体_GB2312" pitchFamily="49" charset="-122"/>
              </a:rPr>
              <a:t>中运动，电子的质量要用有效质量所以有</a:t>
            </a:r>
            <a:endParaRPr lang="el-GR" altLang="zh-CN" sz="2400" dirty="0">
              <a:latin typeface="楷体_GB2312" pitchFamily="49" charset="-122"/>
              <a:ea typeface="楷体_GB2312" pitchFamily="49" charset="-122"/>
            </a:endParaRPr>
          </a:p>
        </p:txBody>
      </p:sp>
      <p:graphicFrame>
        <p:nvGraphicFramePr>
          <p:cNvPr id="11273" name="对象 11272"/>
          <p:cNvGraphicFramePr/>
          <p:nvPr/>
        </p:nvGraphicFramePr>
        <p:xfrm>
          <a:off x="2051050" y="2133600"/>
          <a:ext cx="2343150" cy="1081088"/>
        </p:xfrm>
        <a:graphic>
          <a:graphicData uri="http://schemas.openxmlformats.org/presentationml/2006/ole">
            <mc:AlternateContent xmlns:mc="http://schemas.openxmlformats.org/markup-compatibility/2006">
              <mc:Choice xmlns:v="urn:schemas-microsoft-com:vml" Requires="v">
                <p:oleObj r:id="rId3" imgW="989965" imgH="457200" progId="Equation.3">
                  <p:embed/>
                </p:oleObj>
              </mc:Choice>
              <mc:Fallback>
                <p:oleObj r:id="rId3" imgW="989965" imgH="457200" progId="Equation.3">
                  <p:embed/>
                  <p:pic>
                    <p:nvPicPr>
                      <p:cNvPr id="0" name="图片 3079"/>
                      <p:cNvPicPr/>
                      <p:nvPr/>
                    </p:nvPicPr>
                    <p:blipFill>
                      <a:blip r:embed="rId4"/>
                      <a:stretch>
                        <a:fillRect/>
                      </a:stretch>
                    </p:blipFill>
                    <p:spPr>
                      <a:xfrm>
                        <a:off x="2051050" y="2133600"/>
                        <a:ext cx="2343150" cy="1081088"/>
                      </a:xfrm>
                      <a:prstGeom prst="rect">
                        <a:avLst/>
                      </a:prstGeom>
                      <a:noFill/>
                      <a:ln w="38100">
                        <a:noFill/>
                        <a:miter/>
                      </a:ln>
                    </p:spPr>
                  </p:pic>
                </p:oleObj>
              </mc:Fallback>
            </mc:AlternateContent>
          </a:graphicData>
        </a:graphic>
      </p:graphicFrame>
      <p:graphicFrame>
        <p:nvGraphicFramePr>
          <p:cNvPr id="11274" name="对象 11273"/>
          <p:cNvGraphicFramePr/>
          <p:nvPr/>
        </p:nvGraphicFramePr>
        <p:xfrm>
          <a:off x="3924300" y="4535488"/>
          <a:ext cx="3816350" cy="1127125"/>
        </p:xfrm>
        <a:graphic>
          <a:graphicData uri="http://schemas.openxmlformats.org/presentationml/2006/ole">
            <mc:AlternateContent xmlns:mc="http://schemas.openxmlformats.org/markup-compatibility/2006">
              <mc:Choice xmlns:v="urn:schemas-microsoft-com:vml" Requires="v">
                <p:oleObj r:id="rId5" imgW="1625600" imgH="482600" progId="Equation.3">
                  <p:embed/>
                </p:oleObj>
              </mc:Choice>
              <mc:Fallback>
                <p:oleObj r:id="rId5" imgW="1625600" imgH="482600" progId="Equation.3">
                  <p:embed/>
                  <p:pic>
                    <p:nvPicPr>
                      <p:cNvPr id="0" name="图片 3080"/>
                      <p:cNvPicPr/>
                      <p:nvPr/>
                    </p:nvPicPr>
                    <p:blipFill>
                      <a:blip r:embed="rId6"/>
                      <a:stretch>
                        <a:fillRect/>
                      </a:stretch>
                    </p:blipFill>
                    <p:spPr>
                      <a:xfrm>
                        <a:off x="3924300" y="4535488"/>
                        <a:ext cx="3816350" cy="1127125"/>
                      </a:xfrm>
                      <a:prstGeom prst="rect">
                        <a:avLst/>
                      </a:prstGeom>
                      <a:noFill/>
                      <a:ln w="38100">
                        <a:noFill/>
                        <a:miter/>
                      </a:ln>
                    </p:spPr>
                  </p:pic>
                </p:oleObj>
              </mc:Fallback>
            </mc:AlternateContent>
          </a:graphicData>
        </a:graphic>
      </p:graphicFrame>
      <p:sp>
        <p:nvSpPr>
          <p:cNvPr id="11275" name="矩形 11274"/>
          <p:cNvSpPr/>
          <p:nvPr/>
        </p:nvSpPr>
        <p:spPr>
          <a:xfrm>
            <a:off x="468313" y="2060575"/>
            <a:ext cx="1295400" cy="1187450"/>
          </a:xfrm>
          <a:prstGeom prst="rect">
            <a:avLst/>
          </a:prstGeom>
          <a:noFill/>
          <a:ln w="9525">
            <a:noFill/>
          </a:ln>
        </p:spPr>
        <p:txBody>
          <a:bodyPr>
            <a:spAutoFit/>
          </a:bodyPr>
          <a:lstStyle/>
          <a:p>
            <a:pPr>
              <a:spcBef>
                <a:spcPct val="20000"/>
              </a:spcBef>
              <a:buClr>
                <a:schemeClr val="accent1"/>
              </a:buClr>
              <a:buSzPct val="65000"/>
              <a:buFont typeface="Wingdings" panose="05000000000000000000" pitchFamily="2" charset="2"/>
            </a:pPr>
            <a:r>
              <a:rPr lang="zh-CN" altLang="en-US" sz="2400" dirty="0">
                <a:latin typeface="Arial" panose="020B0604020202020204" pitchFamily="34" charset="0"/>
                <a:ea typeface="楷体_GB2312" pitchFamily="49" charset="-122"/>
              </a:rPr>
              <a:t>施主杂质电离能：</a:t>
            </a:r>
          </a:p>
        </p:txBody>
      </p:sp>
      <p:sp>
        <p:nvSpPr>
          <p:cNvPr id="11276" name="矩形 11275"/>
          <p:cNvSpPr/>
          <p:nvPr/>
        </p:nvSpPr>
        <p:spPr>
          <a:xfrm>
            <a:off x="971550" y="4867275"/>
            <a:ext cx="2622550" cy="457200"/>
          </a:xfrm>
          <a:prstGeom prst="rect">
            <a:avLst/>
          </a:prstGeom>
          <a:noFill/>
          <a:ln w="9525">
            <a:noFill/>
          </a:ln>
        </p:spPr>
        <p:txBody>
          <a:bodyPr wrap="none" anchor="t" anchorCtr="0">
            <a:spAutoFit/>
          </a:bodyPr>
          <a:lstStyle/>
          <a:p>
            <a:pPr>
              <a:spcBef>
                <a:spcPct val="20000"/>
              </a:spcBef>
              <a:buClr>
                <a:schemeClr val="accent1"/>
              </a:buClr>
              <a:buSzPct val="65000"/>
              <a:buFont typeface="Wingdings" panose="05000000000000000000" pitchFamily="2" charset="2"/>
            </a:pPr>
            <a:r>
              <a:rPr lang="zh-CN" altLang="en-US" sz="2400" dirty="0">
                <a:latin typeface="Arial" panose="020B0604020202020204" pitchFamily="34" charset="0"/>
                <a:ea typeface="楷体_GB2312" pitchFamily="49" charset="-122"/>
              </a:rPr>
              <a:t>受主杂质电离能：</a:t>
            </a:r>
          </a:p>
        </p:txBody>
      </p:sp>
      <p:sp>
        <p:nvSpPr>
          <p:cNvPr id="11279" name="文本框 11278"/>
          <p:cNvSpPr txBox="1"/>
          <p:nvPr/>
        </p:nvSpPr>
        <p:spPr>
          <a:xfrm>
            <a:off x="7956550" y="3573463"/>
            <a:ext cx="866775" cy="519112"/>
          </a:xfrm>
          <a:prstGeom prst="rect">
            <a:avLst/>
          </a:prstGeom>
          <a:noFill/>
          <a:ln w="9525">
            <a:noFill/>
          </a:ln>
        </p:spPr>
        <p:txBody>
          <a:bodyPr wrap="none" anchor="t" anchorCtr="0">
            <a:spAutoFit/>
          </a:bodyPr>
          <a:lstStyle/>
          <a:p>
            <a:r>
              <a:rPr lang="en-US" altLang="zh-CN">
                <a:latin typeface="Times New Roman" panose="02020603050405020304" pitchFamily="18" charset="0"/>
              </a:rPr>
              <a:t>(2.2)</a:t>
            </a:r>
          </a:p>
        </p:txBody>
      </p:sp>
      <p:sp>
        <p:nvSpPr>
          <p:cNvPr id="11280" name="文本框 11279"/>
          <p:cNvSpPr txBox="1"/>
          <p:nvPr/>
        </p:nvSpPr>
        <p:spPr>
          <a:xfrm>
            <a:off x="7953375" y="5357813"/>
            <a:ext cx="866775" cy="519112"/>
          </a:xfrm>
          <a:prstGeom prst="rect">
            <a:avLst/>
          </a:prstGeom>
          <a:noFill/>
          <a:ln w="9525">
            <a:noFill/>
          </a:ln>
        </p:spPr>
        <p:txBody>
          <a:bodyPr wrap="none" anchor="t" anchorCtr="0">
            <a:spAutoFit/>
          </a:bodyPr>
          <a:lstStyle/>
          <a:p>
            <a:r>
              <a:rPr lang="en-US" altLang="zh-CN">
                <a:latin typeface="Times New Roman" panose="02020603050405020304" pitchFamily="18" charset="0"/>
              </a:rPr>
              <a:t>(2.3)</a:t>
            </a:r>
          </a:p>
        </p:txBody>
      </p:sp>
      <p:graphicFrame>
        <p:nvGraphicFramePr>
          <p:cNvPr id="11281" name="内容占位符 11280"/>
          <p:cNvGraphicFramePr>
            <a:graphicFrameLocks noGrp="1"/>
          </p:cNvGraphicFramePr>
          <p:nvPr>
            <p:ph sz="half" idx="1"/>
          </p:nvPr>
        </p:nvGraphicFramePr>
        <p:xfrm>
          <a:off x="5651500" y="2276475"/>
          <a:ext cx="1582738" cy="863600"/>
        </p:xfrm>
        <a:graphic>
          <a:graphicData uri="http://schemas.openxmlformats.org/presentationml/2006/ole">
            <mc:AlternateContent xmlns:mc="http://schemas.openxmlformats.org/markup-compatibility/2006">
              <mc:Choice xmlns:v="urn:schemas-microsoft-com:vml" Requires="v">
                <p:oleObj r:id="rId7" imgW="838200" imgH="457200" progId="Equation.3">
                  <p:embed/>
                </p:oleObj>
              </mc:Choice>
              <mc:Fallback>
                <p:oleObj r:id="rId7" imgW="838200" imgH="457200" progId="Equation.3">
                  <p:embed/>
                  <p:pic>
                    <p:nvPicPr>
                      <p:cNvPr id="0" name="图片 3077"/>
                      <p:cNvPicPr/>
                      <p:nvPr/>
                    </p:nvPicPr>
                    <p:blipFill>
                      <a:blip r:embed="rId8"/>
                      <a:stretch>
                        <a:fillRect/>
                      </a:stretch>
                    </p:blipFill>
                    <p:spPr>
                      <a:xfrm>
                        <a:off x="5651500" y="2276475"/>
                        <a:ext cx="1582738" cy="863600"/>
                      </a:xfrm>
                      <a:prstGeom prst="rect">
                        <a:avLst/>
                      </a:prstGeom>
                      <a:noFill/>
                      <a:ln w="38100">
                        <a:miter/>
                      </a:ln>
                    </p:spPr>
                  </p:pic>
                </p:oleObj>
              </mc:Fallback>
            </mc:AlternateContent>
          </a:graphicData>
        </a:graphic>
      </p:graphicFrame>
      <p:graphicFrame>
        <p:nvGraphicFramePr>
          <p:cNvPr id="11283" name="内容占位符 11282"/>
          <p:cNvGraphicFramePr>
            <a:graphicFrameLocks noGrp="1"/>
          </p:cNvGraphicFramePr>
          <p:nvPr>
            <p:ph sz="half" idx="2"/>
          </p:nvPr>
        </p:nvGraphicFramePr>
        <p:xfrm>
          <a:off x="3851275" y="3429000"/>
          <a:ext cx="1873250" cy="976313"/>
        </p:xfrm>
        <a:graphic>
          <a:graphicData uri="http://schemas.openxmlformats.org/presentationml/2006/ole">
            <mc:AlternateContent xmlns:mc="http://schemas.openxmlformats.org/markup-compatibility/2006">
              <mc:Choice xmlns:v="urn:schemas-microsoft-com:vml" Requires="v">
                <p:oleObj r:id="rId9" imgW="876300" imgH="457200" progId="Equation.3">
                  <p:embed/>
                </p:oleObj>
              </mc:Choice>
              <mc:Fallback>
                <p:oleObj r:id="rId9" imgW="876300" imgH="457200" progId="Equation.3">
                  <p:embed/>
                  <p:pic>
                    <p:nvPicPr>
                      <p:cNvPr id="0" name="图片 3078"/>
                      <p:cNvPicPr/>
                      <p:nvPr/>
                    </p:nvPicPr>
                    <p:blipFill>
                      <a:blip r:embed="rId10"/>
                      <a:stretch>
                        <a:fillRect/>
                      </a:stretch>
                    </p:blipFill>
                    <p:spPr>
                      <a:xfrm>
                        <a:off x="3851275" y="3429000"/>
                        <a:ext cx="1873250" cy="976313"/>
                      </a:xfrm>
                      <a:prstGeom prst="rect">
                        <a:avLst/>
                      </a:prstGeom>
                      <a:noFill/>
                      <a:ln w="38100">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281"/>
                                        </p:tgtEl>
                                        <p:attrNameLst>
                                          <p:attrName>style.visibility</p:attrName>
                                        </p:attrNameLst>
                                      </p:cBhvr>
                                      <p:to>
                                        <p:strVal val="visible"/>
                                      </p:to>
                                    </p:set>
                                    <p:anim calcmode="lin" valueType="num">
                                      <p:cBhvr additive="base">
                                        <p:cTn id="7" dur="500" fill="hold"/>
                                        <p:tgtEl>
                                          <p:spTgt spid="11281"/>
                                        </p:tgtEl>
                                        <p:attrNameLst>
                                          <p:attrName>ppt_x</p:attrName>
                                        </p:attrNameLst>
                                      </p:cBhvr>
                                      <p:tavLst>
                                        <p:tav tm="0">
                                          <p:val>
                                            <p:strVal val="#ppt_x"/>
                                          </p:val>
                                        </p:tav>
                                        <p:tav tm="100000">
                                          <p:val>
                                            <p:strVal val="#ppt_x"/>
                                          </p:val>
                                        </p:tav>
                                      </p:tavLst>
                                    </p:anim>
                                    <p:anim calcmode="lin" valueType="num">
                                      <p:cBhvr additive="base">
                                        <p:cTn id="8" dur="500" fill="hold"/>
                                        <p:tgtEl>
                                          <p:spTgt spid="112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7" name="文本占位符 113666"/>
          <p:cNvSpPr>
            <a:spLocks noGrp="1"/>
          </p:cNvSpPr>
          <p:nvPr>
            <p:ph type="body" idx="1"/>
          </p:nvPr>
        </p:nvSpPr>
        <p:spPr>
          <a:xfrm>
            <a:off x="395288" y="4076700"/>
            <a:ext cx="5329237" cy="1368425"/>
          </a:xfrm>
          <a:ln/>
        </p:spPr>
        <p:txBody>
          <a:bodyPr/>
          <a:lstStyle/>
          <a:p>
            <a:pPr>
              <a:buNone/>
            </a:pPr>
            <a:r>
              <a:rPr lang="en-US" altLang="zh-CN"/>
              <a:t>1</a:t>
            </a:r>
            <a:r>
              <a:rPr lang="zh-CN" altLang="en-US" dirty="0"/>
              <a:t>、没反映出杂质原子的影响。</a:t>
            </a:r>
          </a:p>
          <a:p>
            <a:pPr>
              <a:buNone/>
            </a:pPr>
            <a:r>
              <a:rPr lang="en-US" altLang="zh-CN"/>
              <a:t>2</a:t>
            </a:r>
            <a:r>
              <a:rPr lang="zh-CN" altLang="en-US" dirty="0"/>
              <a:t>、本身是一个近似模型。</a:t>
            </a:r>
          </a:p>
        </p:txBody>
      </p:sp>
      <p:sp>
        <p:nvSpPr>
          <p:cNvPr id="113668" name="矩形 113667"/>
          <p:cNvSpPr/>
          <p:nvPr/>
        </p:nvSpPr>
        <p:spPr>
          <a:xfrm>
            <a:off x="395288" y="3357563"/>
            <a:ext cx="3448050" cy="579437"/>
          </a:xfrm>
          <a:prstGeom prst="rect">
            <a:avLst/>
          </a:prstGeom>
          <a:noFill/>
          <a:ln w="9525">
            <a:noFill/>
          </a:ln>
        </p:spPr>
        <p:txBody>
          <a:bodyPr wrap="none" anchor="t" anchorCtr="0">
            <a:spAutoFit/>
          </a:bodyPr>
          <a:lstStyle/>
          <a:p>
            <a:r>
              <a:rPr lang="zh-CN" altLang="en-US" sz="3200" b="1" dirty="0">
                <a:solidFill>
                  <a:schemeClr val="tx2"/>
                </a:solidFill>
                <a:latin typeface="Arial" panose="020B0604020202020204" pitchFamily="34" charset="0"/>
                <a:ea typeface="黑体" panose="02010609060101010101" pitchFamily="2" charset="-122"/>
              </a:rPr>
              <a:t>类氢模型的不足：</a:t>
            </a:r>
          </a:p>
        </p:txBody>
      </p:sp>
      <p:sp>
        <p:nvSpPr>
          <p:cNvPr id="113669" name="矩形 113668"/>
          <p:cNvSpPr/>
          <p:nvPr/>
        </p:nvSpPr>
        <p:spPr>
          <a:xfrm>
            <a:off x="395288" y="260350"/>
            <a:ext cx="8424862" cy="266382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3000" u="none" kern="1200" baseline="0">
                <a:solidFill>
                  <a:schemeClr val="tx1"/>
                </a:solidFill>
                <a:latin typeface="Arial" panose="020B0604020202020204" pitchFamily="34" charset="0"/>
                <a:ea typeface="宋体" panose="02010600030101010101" pitchFamily="2" charset="-122"/>
              </a:defRPr>
            </a:lvl1pPr>
            <a:lvl2pPr marL="669925" lvl="1" indent="-32512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q"/>
              <a:defRPr sz="2600" b="0" i="0" u="none" kern="1200" baseline="0">
                <a:solidFill>
                  <a:schemeClr val="tx1"/>
                </a:solidFill>
                <a:latin typeface="Arial" panose="020B0604020202020204" pitchFamily="34" charset="0"/>
                <a:ea typeface="宋体" panose="02010600030101010101" pitchFamily="2" charset="-122"/>
              </a:defRPr>
            </a:lvl2pPr>
            <a:lvl3pPr marL="1022350" lvl="2" indent="-35052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Arial" panose="020B0604020202020204" pitchFamily="34" charset="0"/>
                <a:ea typeface="宋体" panose="02010600030101010101" pitchFamily="2" charset="-122"/>
              </a:defRPr>
            </a:lvl3pPr>
            <a:lvl4pPr marL="1339850" lvl="3" indent="-315595"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q"/>
              <a:defRPr sz="2000" b="0" i="0" u="none" kern="1200" baseline="0">
                <a:solidFill>
                  <a:schemeClr val="tx1"/>
                </a:solidFill>
                <a:latin typeface="Arial" panose="020B0604020202020204" pitchFamily="34" charset="0"/>
                <a:ea typeface="宋体" panose="02010600030101010101" pitchFamily="2" charset="-122"/>
              </a:defRPr>
            </a:lvl4pPr>
            <a:lvl5pPr marL="1681480" lvl="4" indent="-339725"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buNone/>
            </a:pPr>
            <a:r>
              <a:rPr lang="en-US" altLang="zh-CN"/>
              <a:t>Si: </a:t>
            </a:r>
            <a:r>
              <a:rPr lang="en-US" altLang="zh-CN">
                <a:sym typeface="Symbol" panose="05050102010706020507" pitchFamily="18" charset="2"/>
              </a:rPr>
              <a:t></a:t>
            </a:r>
            <a:r>
              <a:rPr lang="en-US" altLang="zh-CN" baseline="-25000">
                <a:sym typeface="Symbol" panose="05050102010706020507" pitchFamily="18" charset="2"/>
              </a:rPr>
              <a:t>r</a:t>
            </a:r>
            <a:r>
              <a:rPr lang="en-US" altLang="zh-CN">
                <a:sym typeface="Symbol" panose="05050102010706020507" pitchFamily="18" charset="2"/>
              </a:rPr>
              <a:t>=12, </a:t>
            </a:r>
            <a:r>
              <a:rPr lang="el-GR" altLang="zh-CN" dirty="0">
                <a:cs typeface="Arial" panose="020B0604020202020204" pitchFamily="34" charset="0"/>
                <a:sym typeface="Symbol" panose="05050102010706020507" pitchFamily="18" charset="2"/>
              </a:rPr>
              <a:t>Δ</a:t>
            </a:r>
            <a:r>
              <a:rPr lang="en-US" altLang="zh-CN">
                <a:cs typeface="Arial" panose="020B0604020202020204" pitchFamily="34" charset="0"/>
                <a:sym typeface="Symbol" panose="05050102010706020507" pitchFamily="18" charset="2"/>
              </a:rPr>
              <a:t>E</a:t>
            </a:r>
            <a:r>
              <a:rPr lang="en-US" altLang="zh-CN" baseline="-25000">
                <a:cs typeface="Arial" panose="020B0604020202020204" pitchFamily="34" charset="0"/>
                <a:sym typeface="Symbol" panose="05050102010706020507" pitchFamily="18" charset="2"/>
              </a:rPr>
              <a:t>D</a:t>
            </a:r>
            <a:r>
              <a:rPr lang="en-US" altLang="zh-CN">
                <a:cs typeface="Arial" panose="020B0604020202020204" pitchFamily="34" charset="0"/>
                <a:sym typeface="Symbol" panose="05050102010706020507" pitchFamily="18" charset="2"/>
              </a:rPr>
              <a:t>=0.1m</a:t>
            </a:r>
            <a:r>
              <a:rPr lang="en-US" altLang="zh-CN" baseline="-25000">
                <a:cs typeface="Arial" panose="020B0604020202020204" pitchFamily="34" charset="0"/>
                <a:sym typeface="Symbol" panose="05050102010706020507" pitchFamily="18" charset="2"/>
              </a:rPr>
              <a:t>n</a:t>
            </a:r>
            <a:r>
              <a:rPr lang="en-US" altLang="zh-CN">
                <a:cs typeface="Arial" panose="020B0604020202020204" pitchFamily="34" charset="0"/>
                <a:sym typeface="Symbol" panose="05050102010706020507" pitchFamily="18" charset="2"/>
              </a:rPr>
              <a:t>*/m</a:t>
            </a:r>
            <a:r>
              <a:rPr lang="en-US" altLang="zh-CN" baseline="-25000">
                <a:cs typeface="Arial" panose="020B0604020202020204" pitchFamily="34" charset="0"/>
                <a:sym typeface="Symbol" panose="05050102010706020507" pitchFamily="18" charset="2"/>
              </a:rPr>
              <a:t>0</a:t>
            </a:r>
            <a:r>
              <a:rPr lang="zh-CN" altLang="en-US" dirty="0">
                <a:cs typeface="Arial" panose="020B0604020202020204" pitchFamily="34" charset="0"/>
                <a:sym typeface="Symbol" panose="05050102010706020507" pitchFamily="18" charset="2"/>
              </a:rPr>
              <a:t>，小于</a:t>
            </a:r>
            <a:r>
              <a:rPr lang="en-US" altLang="zh-CN">
                <a:cs typeface="Arial" panose="020B0604020202020204" pitchFamily="34" charset="0"/>
                <a:sym typeface="Symbol" panose="05050102010706020507" pitchFamily="18" charset="2"/>
              </a:rPr>
              <a:t>0.1eV.</a:t>
            </a:r>
          </a:p>
          <a:p>
            <a:pPr lvl="0">
              <a:buNone/>
            </a:pPr>
            <a:r>
              <a:rPr lang="en-US" altLang="zh-CN">
                <a:cs typeface="Arial" panose="020B0604020202020204" pitchFamily="34" charset="0"/>
                <a:sym typeface="Symbol" panose="05050102010706020507" pitchFamily="18" charset="2"/>
              </a:rPr>
              <a:t>     </a:t>
            </a:r>
            <a:r>
              <a:rPr lang="en-US" altLang="zh-CN" dirty="0" err="1">
                <a:cs typeface="Arial" panose="020B0604020202020204" pitchFamily="34" charset="0"/>
                <a:sym typeface="Symbol" panose="05050102010706020507" pitchFamily="18" charset="2"/>
              </a:rPr>
              <a:t>m</a:t>
            </a:r>
            <a:r>
              <a:rPr lang="en-US" altLang="zh-CN" baseline="-25000" dirty="0" err="1">
                <a:cs typeface="Arial" panose="020B0604020202020204" pitchFamily="34" charset="0"/>
                <a:sym typeface="Symbol" panose="05050102010706020507" pitchFamily="18" charset="2"/>
              </a:rPr>
              <a:t>n</a:t>
            </a:r>
            <a:r>
              <a:rPr lang="en-US" altLang="zh-CN">
                <a:cs typeface="Arial" panose="020B0604020202020204" pitchFamily="34" charset="0"/>
                <a:sym typeface="Symbol" panose="05050102010706020507" pitchFamily="18" charset="2"/>
              </a:rPr>
              <a:t>*=0.26 m</a:t>
            </a:r>
            <a:r>
              <a:rPr lang="en-US" altLang="zh-CN" baseline="-25000">
                <a:cs typeface="Arial" panose="020B0604020202020204" pitchFamily="34" charset="0"/>
                <a:sym typeface="Symbol" panose="05050102010706020507" pitchFamily="18" charset="2"/>
              </a:rPr>
              <a:t>0</a:t>
            </a:r>
            <a:r>
              <a:rPr lang="zh-CN" altLang="en-US" dirty="0">
                <a:cs typeface="Arial" panose="020B0604020202020204" pitchFamily="34" charset="0"/>
                <a:sym typeface="Symbol" panose="05050102010706020507" pitchFamily="18" charset="2"/>
              </a:rPr>
              <a:t>，</a:t>
            </a:r>
            <a:r>
              <a:rPr lang="zh-CN" altLang="en-US">
                <a:cs typeface="Arial" panose="020B0604020202020204" pitchFamily="34" charset="0"/>
                <a:sym typeface="Symbol" panose="05050102010706020507" pitchFamily="18" charset="2"/>
              </a:rPr>
              <a:t> </a:t>
            </a:r>
            <a:r>
              <a:rPr lang="el-GR" altLang="zh-CN" dirty="0">
                <a:cs typeface="Arial" panose="020B0604020202020204" pitchFamily="34" charset="0"/>
                <a:sym typeface="Symbol" panose="05050102010706020507" pitchFamily="18" charset="2"/>
              </a:rPr>
              <a:t>Δ</a:t>
            </a:r>
            <a:r>
              <a:rPr lang="en-US" altLang="zh-CN">
                <a:cs typeface="Arial" panose="020B0604020202020204" pitchFamily="34" charset="0"/>
                <a:sym typeface="Symbol" panose="05050102010706020507" pitchFamily="18" charset="2"/>
              </a:rPr>
              <a:t>E</a:t>
            </a:r>
            <a:r>
              <a:rPr lang="en-US" altLang="zh-CN" baseline="-25000">
                <a:cs typeface="Arial" panose="020B0604020202020204" pitchFamily="34" charset="0"/>
                <a:sym typeface="Symbol" panose="05050102010706020507" pitchFamily="18" charset="2"/>
              </a:rPr>
              <a:t>D</a:t>
            </a:r>
            <a:r>
              <a:rPr lang="en-US" altLang="zh-CN">
                <a:cs typeface="Arial" panose="020B0604020202020204" pitchFamily="34" charset="0"/>
                <a:sym typeface="Symbol" panose="05050102010706020507" pitchFamily="18" charset="2"/>
              </a:rPr>
              <a:t>=0.025 </a:t>
            </a:r>
            <a:r>
              <a:rPr lang="en-US" altLang="zh-CN" dirty="0" err="1">
                <a:cs typeface="Arial" panose="020B0604020202020204" pitchFamily="34" charset="0"/>
                <a:sym typeface="Symbol" panose="05050102010706020507" pitchFamily="18" charset="2"/>
              </a:rPr>
              <a:t>eV</a:t>
            </a:r>
            <a:r>
              <a:rPr lang="en-US" altLang="zh-CN">
                <a:cs typeface="Arial" panose="020B0604020202020204" pitchFamily="34" charset="0"/>
                <a:sym typeface="Symbol" panose="05050102010706020507" pitchFamily="18" charset="2"/>
              </a:rPr>
              <a:t>.</a:t>
            </a:r>
            <a:endParaRPr lang="en-US" altLang="el-GR" baseline="-25000">
              <a:cs typeface="Arial" panose="020B0604020202020204" pitchFamily="34" charset="0"/>
              <a:sym typeface="Symbol" panose="05050102010706020507" pitchFamily="18" charset="2"/>
            </a:endParaRPr>
          </a:p>
          <a:p>
            <a:pPr lvl="0">
              <a:buNone/>
            </a:pPr>
            <a:r>
              <a:rPr lang="en-US" altLang="zh-CN" dirty="0" err="1">
                <a:sym typeface="Symbol" panose="05050102010706020507" pitchFamily="18" charset="2"/>
              </a:rPr>
              <a:t>Ge:</a:t>
            </a:r>
            <a:r>
              <a:rPr lang="en-US" altLang="zh-CN" baseline="-25000" dirty="0" err="1">
                <a:sym typeface="Symbol" panose="05050102010706020507" pitchFamily="18" charset="2"/>
              </a:rPr>
              <a:t>r</a:t>
            </a:r>
            <a:r>
              <a:rPr lang="en-US" altLang="zh-CN">
                <a:sym typeface="Symbol" panose="05050102010706020507" pitchFamily="18" charset="2"/>
              </a:rPr>
              <a:t>=16, </a:t>
            </a:r>
            <a:r>
              <a:rPr lang="el-GR" altLang="zh-CN" dirty="0">
                <a:cs typeface="Arial" panose="020B0604020202020204" pitchFamily="34" charset="0"/>
                <a:sym typeface="Symbol" panose="05050102010706020507" pitchFamily="18" charset="2"/>
              </a:rPr>
              <a:t>Δ</a:t>
            </a:r>
            <a:r>
              <a:rPr lang="en-US" altLang="zh-CN">
                <a:cs typeface="Arial" panose="020B0604020202020204" pitchFamily="34" charset="0"/>
                <a:sym typeface="Symbol" panose="05050102010706020507" pitchFamily="18" charset="2"/>
              </a:rPr>
              <a:t>E</a:t>
            </a:r>
            <a:r>
              <a:rPr lang="en-US" altLang="zh-CN" baseline="-25000">
                <a:cs typeface="Arial" panose="020B0604020202020204" pitchFamily="34" charset="0"/>
                <a:sym typeface="Symbol" panose="05050102010706020507" pitchFamily="18" charset="2"/>
              </a:rPr>
              <a:t>D</a:t>
            </a:r>
            <a:r>
              <a:rPr lang="en-US" altLang="zh-CN">
                <a:cs typeface="Arial" panose="020B0604020202020204" pitchFamily="34" charset="0"/>
                <a:sym typeface="Symbol" panose="05050102010706020507" pitchFamily="18" charset="2"/>
              </a:rPr>
              <a:t>=0.05m</a:t>
            </a:r>
            <a:r>
              <a:rPr lang="en-US" altLang="zh-CN" baseline="-25000">
                <a:cs typeface="Arial" panose="020B0604020202020204" pitchFamily="34" charset="0"/>
                <a:sym typeface="Symbol" panose="05050102010706020507" pitchFamily="18" charset="2"/>
              </a:rPr>
              <a:t>n</a:t>
            </a:r>
            <a:r>
              <a:rPr lang="en-US" altLang="zh-CN">
                <a:cs typeface="Arial" panose="020B0604020202020204" pitchFamily="34" charset="0"/>
                <a:sym typeface="Symbol" panose="05050102010706020507" pitchFamily="18" charset="2"/>
              </a:rPr>
              <a:t>*/m</a:t>
            </a:r>
            <a:r>
              <a:rPr lang="en-US" altLang="zh-CN" baseline="-25000">
                <a:cs typeface="Arial" panose="020B0604020202020204" pitchFamily="34" charset="0"/>
                <a:sym typeface="Symbol" panose="05050102010706020507" pitchFamily="18" charset="2"/>
              </a:rPr>
              <a:t>0</a:t>
            </a:r>
            <a:r>
              <a:rPr lang="zh-CN" altLang="en-US" dirty="0">
                <a:cs typeface="Arial" panose="020B0604020202020204" pitchFamily="34" charset="0"/>
                <a:sym typeface="Symbol" panose="05050102010706020507" pitchFamily="18" charset="2"/>
              </a:rPr>
              <a:t>，小于</a:t>
            </a:r>
            <a:r>
              <a:rPr lang="en-US" altLang="zh-CN">
                <a:cs typeface="Arial" panose="020B0604020202020204" pitchFamily="34" charset="0"/>
                <a:sym typeface="Symbol" panose="05050102010706020507" pitchFamily="18" charset="2"/>
              </a:rPr>
              <a:t>0.05eV</a:t>
            </a:r>
          </a:p>
          <a:p>
            <a:pPr lvl="0">
              <a:buNone/>
            </a:pPr>
            <a:r>
              <a:rPr lang="en-US" altLang="zh-CN">
                <a:cs typeface="Arial" panose="020B0604020202020204" pitchFamily="34" charset="0"/>
                <a:sym typeface="Symbol" panose="05050102010706020507" pitchFamily="18" charset="2"/>
              </a:rPr>
              <a:t>    </a:t>
            </a:r>
            <a:r>
              <a:rPr lang="en-US" altLang="zh-CN" dirty="0" err="1">
                <a:cs typeface="Arial" panose="020B0604020202020204" pitchFamily="34" charset="0"/>
                <a:sym typeface="Symbol" panose="05050102010706020507" pitchFamily="18" charset="2"/>
              </a:rPr>
              <a:t>m</a:t>
            </a:r>
            <a:r>
              <a:rPr lang="en-US" altLang="zh-CN" baseline="-25000" dirty="0" err="1">
                <a:cs typeface="Arial" panose="020B0604020202020204" pitchFamily="34" charset="0"/>
                <a:sym typeface="Symbol" panose="05050102010706020507" pitchFamily="18" charset="2"/>
              </a:rPr>
              <a:t>n</a:t>
            </a:r>
            <a:r>
              <a:rPr lang="en-US" altLang="zh-CN">
                <a:cs typeface="Arial" panose="020B0604020202020204" pitchFamily="34" charset="0"/>
                <a:sym typeface="Symbol" panose="05050102010706020507" pitchFamily="18" charset="2"/>
              </a:rPr>
              <a:t>*=0.12 m</a:t>
            </a:r>
            <a:r>
              <a:rPr lang="en-US" altLang="zh-CN" baseline="-25000">
                <a:cs typeface="Arial" panose="020B0604020202020204" pitchFamily="34" charset="0"/>
                <a:sym typeface="Symbol" panose="05050102010706020507" pitchFamily="18" charset="2"/>
              </a:rPr>
              <a:t>0</a:t>
            </a:r>
            <a:r>
              <a:rPr lang="zh-CN" altLang="en-US" dirty="0">
                <a:cs typeface="Arial" panose="020B0604020202020204" pitchFamily="34" charset="0"/>
                <a:sym typeface="Symbol" panose="05050102010706020507" pitchFamily="18" charset="2"/>
              </a:rPr>
              <a:t>，</a:t>
            </a:r>
            <a:r>
              <a:rPr lang="zh-CN" altLang="en-US">
                <a:cs typeface="Arial" panose="020B0604020202020204" pitchFamily="34" charset="0"/>
                <a:sym typeface="Symbol" panose="05050102010706020507" pitchFamily="18" charset="2"/>
              </a:rPr>
              <a:t> </a:t>
            </a:r>
            <a:r>
              <a:rPr lang="el-GR" altLang="zh-CN" dirty="0">
                <a:cs typeface="Arial" panose="020B0604020202020204" pitchFamily="34" charset="0"/>
                <a:sym typeface="Symbol" panose="05050102010706020507" pitchFamily="18" charset="2"/>
              </a:rPr>
              <a:t>Δ</a:t>
            </a:r>
            <a:r>
              <a:rPr lang="en-US" altLang="zh-CN">
                <a:cs typeface="Arial" panose="020B0604020202020204" pitchFamily="34" charset="0"/>
                <a:sym typeface="Symbol" panose="05050102010706020507" pitchFamily="18" charset="2"/>
              </a:rPr>
              <a:t>E</a:t>
            </a:r>
            <a:r>
              <a:rPr lang="en-US" altLang="zh-CN" baseline="-25000">
                <a:cs typeface="Arial" panose="020B0604020202020204" pitchFamily="34" charset="0"/>
                <a:sym typeface="Symbol" panose="05050102010706020507" pitchFamily="18" charset="2"/>
              </a:rPr>
              <a:t>D</a:t>
            </a:r>
            <a:r>
              <a:rPr lang="en-US" altLang="zh-CN">
                <a:cs typeface="Arial" panose="020B0604020202020204" pitchFamily="34" charset="0"/>
                <a:sym typeface="Symbol" panose="05050102010706020507" pitchFamily="18" charset="2"/>
              </a:rPr>
              <a:t>=0.0046 </a:t>
            </a:r>
            <a:r>
              <a:rPr lang="en-US" altLang="zh-CN" dirty="0" err="1">
                <a:cs typeface="Arial" panose="020B0604020202020204" pitchFamily="34" charset="0"/>
                <a:sym typeface="Symbol" panose="05050102010706020507" pitchFamily="18" charset="2"/>
              </a:rPr>
              <a:t>eV</a:t>
            </a:r>
            <a:r>
              <a:rPr lang="en-US" altLang="zh-CN">
                <a:cs typeface="Arial" panose="020B0604020202020204" pitchFamily="34" charset="0"/>
                <a:sym typeface="Symbol" panose="05050102010706020507" pitchFamily="18" charset="2"/>
              </a:rPr>
              <a:t>.</a:t>
            </a:r>
            <a:endParaRPr lang="en-US" altLang="el-GR" baseline="-25000">
              <a:cs typeface="Arial" panose="020B0604020202020204" pitchFamily="34" charset="0"/>
              <a:sym typeface="Symbol" panose="05050102010706020507" pitchFamily="18" charset="2"/>
            </a:endParaRPr>
          </a:p>
          <a:p>
            <a:pPr lvl="0">
              <a:buNone/>
            </a:pPr>
            <a:r>
              <a:rPr lang="zh-CN" altLang="en-US" dirty="0">
                <a:cs typeface="Arial" panose="020B0604020202020204" pitchFamily="34" charset="0"/>
                <a:sym typeface="Symbol" panose="05050102010706020507" pitchFamily="18" charset="2"/>
              </a:rPr>
              <a:t>与实验结果很符合。</a:t>
            </a:r>
          </a:p>
          <a:p>
            <a:pPr lvl="0">
              <a:buNone/>
            </a:pPr>
            <a:endParaRPr lang="el-GR" altLang="en-US" dirty="0">
              <a:ea typeface="Arial" panose="020B0604020202020204" pitchFamily="34" charset="0"/>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500" fill="hold"/>
                                        <p:tgtEl>
                                          <p:spTgt spid="113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7">
                                            <p:txEl>
                                              <p:pRg st="1" end="1"/>
                                            </p:txEl>
                                          </p:spTgt>
                                        </p:tgtEl>
                                        <p:attrNameLst>
                                          <p:attrName>style.visibility</p:attrName>
                                        </p:attrNameLst>
                                      </p:cBhvr>
                                      <p:to>
                                        <p:strVal val="visible"/>
                                      </p:to>
                                    </p:set>
                                    <p:anim calcmode="lin" valueType="num">
                                      <p:cBhvr additive="base">
                                        <p:cTn id="13" dur="500" fill="hold"/>
                                        <p:tgtEl>
                                          <p:spTgt spid="11366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7">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113668"/>
                                        </p:tgtEl>
                                        <p:attrNameLst>
                                          <p:attrName>style.visibility</p:attrName>
                                        </p:attrNameLst>
                                      </p:cBhvr>
                                      <p:to>
                                        <p:strVal val="visible"/>
                                      </p:to>
                                    </p:set>
                                    <p:anim calcmode="lin" valueType="num">
                                      <p:cBhvr additive="base">
                                        <p:cTn id="17" dur="500" fill="hold"/>
                                        <p:tgtEl>
                                          <p:spTgt spid="113668"/>
                                        </p:tgtEl>
                                        <p:attrNameLst>
                                          <p:attrName>ppt_x</p:attrName>
                                        </p:attrNameLst>
                                      </p:cBhvr>
                                      <p:tavLst>
                                        <p:tav tm="0">
                                          <p:val>
                                            <p:strVal val="#ppt_x"/>
                                          </p:val>
                                        </p:tav>
                                        <p:tav tm="100000">
                                          <p:val>
                                            <p:strVal val="#ppt_x"/>
                                          </p:val>
                                        </p:tav>
                                      </p:tavLst>
                                    </p:anim>
                                    <p:anim calcmode="lin" valueType="num">
                                      <p:cBhvr additive="base">
                                        <p:cTn id="18" dur="500" fill="hold"/>
                                        <p:tgtEl>
                                          <p:spTgt spid="11366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P spid="11366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文本占位符 18434"/>
          <p:cNvSpPr>
            <a:spLocks noGrp="1"/>
          </p:cNvSpPr>
          <p:nvPr>
            <p:ph type="body" idx="1"/>
          </p:nvPr>
        </p:nvSpPr>
        <p:spPr>
          <a:xfrm>
            <a:off x="250825" y="2060575"/>
            <a:ext cx="8642350" cy="1800225"/>
          </a:xfrm>
          <a:ln/>
        </p:spPr>
        <p:txBody>
          <a:bodyPr/>
          <a:lstStyle/>
          <a:p>
            <a:r>
              <a:rPr lang="zh-CN" altLang="en-US" sz="2400" b="1" dirty="0">
                <a:latin typeface="Times New Roman" panose="02020603050405020304" pitchFamily="18" charset="0"/>
              </a:rPr>
              <a:t>当</a:t>
            </a:r>
            <a:r>
              <a:rPr lang="en-US" altLang="zh-CN" sz="2400" b="1">
                <a:latin typeface="Times New Roman" panose="02020603050405020304" pitchFamily="18" charset="0"/>
              </a:rPr>
              <a:t>N</a:t>
            </a:r>
            <a:r>
              <a:rPr lang="en-US" altLang="zh-CN" sz="2400" b="1" baseline="-25000">
                <a:latin typeface="Times New Roman" panose="02020603050405020304" pitchFamily="18" charset="0"/>
              </a:rPr>
              <a:t>D</a:t>
            </a:r>
            <a:r>
              <a:rPr lang="en-US" altLang="zh-CN" sz="2400" b="1">
                <a:latin typeface="Times New Roman" panose="02020603050405020304" pitchFamily="18" charset="0"/>
              </a:rPr>
              <a:t>(</a:t>
            </a:r>
            <a:r>
              <a:rPr lang="zh-CN" altLang="en-US" sz="2400" b="1" dirty="0">
                <a:latin typeface="Times New Roman" panose="02020603050405020304" pitchFamily="18" charset="0"/>
              </a:rPr>
              <a:t>施主杂质浓度</a:t>
            </a:r>
            <a:r>
              <a:rPr lang="en-US" altLang="zh-CN" sz="2400" b="1">
                <a:latin typeface="Times New Roman" panose="02020603050405020304" pitchFamily="18" charset="0"/>
              </a:rPr>
              <a:t>)&gt;&gt;N</a:t>
            </a:r>
            <a:r>
              <a:rPr lang="en-US" altLang="zh-CN" sz="2400" b="1" baseline="-25000">
                <a:latin typeface="Times New Roman" panose="02020603050405020304" pitchFamily="18" charset="0"/>
              </a:rPr>
              <a:t>A </a:t>
            </a:r>
            <a:r>
              <a:rPr lang="en-US" altLang="zh-CN" sz="2400" b="1">
                <a:latin typeface="Times New Roman" panose="02020603050405020304" pitchFamily="18" charset="0"/>
              </a:rPr>
              <a:t>(</a:t>
            </a:r>
            <a:r>
              <a:rPr lang="zh-CN" altLang="en-US" sz="2400" b="1" dirty="0">
                <a:latin typeface="Times New Roman" panose="02020603050405020304" pitchFamily="18" charset="0"/>
              </a:rPr>
              <a:t>受主杂质浓度</a:t>
            </a:r>
            <a:r>
              <a:rPr lang="en-US" altLang="zh-CN" sz="2400" b="1">
                <a:latin typeface="Times New Roman" panose="02020603050405020304" pitchFamily="18" charset="0"/>
              </a:rPr>
              <a:t>)</a:t>
            </a:r>
          </a:p>
          <a:p>
            <a:pPr lvl="1"/>
            <a:r>
              <a:rPr lang="en-US" altLang="zh-CN" sz="2400">
                <a:latin typeface="楷体_GB2312" pitchFamily="49" charset="-122"/>
                <a:ea typeface="楷体_GB2312" pitchFamily="49" charset="-122"/>
              </a:rPr>
              <a:t>  n(</a:t>
            </a:r>
            <a:r>
              <a:rPr lang="zh-CN" altLang="en-US" sz="2400" dirty="0">
                <a:latin typeface="楷体_GB2312" pitchFamily="49" charset="-122"/>
                <a:ea typeface="楷体_GB2312" pitchFamily="49" charset="-122"/>
              </a:rPr>
              <a:t>导带中电子浓度</a:t>
            </a:r>
            <a:r>
              <a:rPr lang="en-US" altLang="zh-CN" sz="2400">
                <a:latin typeface="楷体_GB2312" pitchFamily="49" charset="-122"/>
                <a:ea typeface="楷体_GB2312" pitchFamily="49" charset="-122"/>
              </a:rPr>
              <a:t>)= N</a:t>
            </a:r>
            <a:r>
              <a:rPr lang="en-US" altLang="zh-CN" sz="2400" baseline="-25000">
                <a:latin typeface="楷体_GB2312" pitchFamily="49" charset="-122"/>
                <a:ea typeface="楷体_GB2312" pitchFamily="49" charset="-122"/>
              </a:rPr>
              <a:t>D</a:t>
            </a:r>
            <a:r>
              <a:rPr lang="en-US" altLang="zh-CN" sz="2400">
                <a:latin typeface="楷体_GB2312" pitchFamily="49" charset="-122"/>
                <a:ea typeface="楷体_GB2312" pitchFamily="49" charset="-122"/>
              </a:rPr>
              <a:t>-N</a:t>
            </a:r>
            <a:r>
              <a:rPr lang="en-US" altLang="zh-CN" sz="2400" baseline="-25000">
                <a:latin typeface="楷体_GB2312" pitchFamily="49" charset="-122"/>
                <a:ea typeface="楷体_GB2312" pitchFamily="49" charset="-122"/>
              </a:rPr>
              <a:t>A </a:t>
            </a:r>
            <a:r>
              <a:rPr lang="en-US" altLang="zh-CN" sz="2400">
                <a:latin typeface="楷体_GB2312" pitchFamily="49" charset="-122"/>
                <a:ea typeface="楷体_GB2312" pitchFamily="49" charset="-122"/>
              </a:rPr>
              <a:t>≈</a:t>
            </a:r>
            <a:r>
              <a:rPr lang="en-US" altLang="zh-CN" sz="2400" baseline="-25000">
                <a:latin typeface="楷体_GB2312" pitchFamily="49" charset="-122"/>
                <a:ea typeface="楷体_GB2312" pitchFamily="49" charset="-122"/>
              </a:rPr>
              <a:t> </a:t>
            </a:r>
            <a:r>
              <a:rPr lang="en-US" altLang="zh-CN" sz="2400">
                <a:latin typeface="楷体_GB2312" pitchFamily="49" charset="-122"/>
                <a:ea typeface="楷体_GB2312" pitchFamily="49" charset="-122"/>
              </a:rPr>
              <a:t>N</a:t>
            </a:r>
            <a:r>
              <a:rPr lang="en-US" altLang="zh-CN" sz="2400" baseline="-25000">
                <a:latin typeface="楷体_GB2312" pitchFamily="49" charset="-122"/>
                <a:ea typeface="楷体_GB2312" pitchFamily="49" charset="-122"/>
              </a:rPr>
              <a:t>D</a:t>
            </a:r>
            <a:r>
              <a:rPr lang="zh-CN" altLang="en-US" sz="2400" dirty="0">
                <a:latin typeface="楷体_GB2312" pitchFamily="49" charset="-122"/>
                <a:ea typeface="楷体_GB2312" pitchFamily="49" charset="-122"/>
              </a:rPr>
              <a:t>，半导体是</a:t>
            </a:r>
            <a:r>
              <a:rPr lang="en-US" altLang="zh-CN" sz="2400">
                <a:latin typeface="楷体_GB2312" pitchFamily="49" charset="-122"/>
                <a:ea typeface="楷体_GB2312" pitchFamily="49" charset="-122"/>
              </a:rPr>
              <a:t>n</a:t>
            </a:r>
            <a:r>
              <a:rPr lang="zh-CN" altLang="en-US" sz="2400" dirty="0">
                <a:latin typeface="楷体_GB2312" pitchFamily="49" charset="-122"/>
                <a:ea typeface="楷体_GB2312" pitchFamily="49" charset="-122"/>
              </a:rPr>
              <a:t>型的</a:t>
            </a:r>
          </a:p>
          <a:p>
            <a:r>
              <a:rPr lang="zh-CN" altLang="en-US" sz="2400" b="1" dirty="0">
                <a:latin typeface="Times New Roman" panose="02020603050405020304" pitchFamily="18" charset="0"/>
              </a:rPr>
              <a:t>当</a:t>
            </a:r>
            <a:r>
              <a:rPr lang="en-US" altLang="zh-CN" sz="2400" b="1">
                <a:latin typeface="Times New Roman" panose="02020603050405020304" pitchFamily="18" charset="0"/>
              </a:rPr>
              <a:t>N</a:t>
            </a:r>
            <a:r>
              <a:rPr lang="en-US" altLang="zh-CN" sz="2400" b="1" baseline="-25000">
                <a:latin typeface="Times New Roman" panose="02020603050405020304" pitchFamily="18" charset="0"/>
              </a:rPr>
              <a:t>D</a:t>
            </a:r>
            <a:r>
              <a:rPr lang="en-US" altLang="zh-CN" sz="2400" b="1">
                <a:latin typeface="Times New Roman" panose="02020603050405020304" pitchFamily="18" charset="0"/>
              </a:rPr>
              <a:t>&lt;&lt;N</a:t>
            </a:r>
            <a:r>
              <a:rPr lang="en-US" altLang="zh-CN" sz="2400" b="1" baseline="-25000">
                <a:latin typeface="Times New Roman" panose="02020603050405020304" pitchFamily="18" charset="0"/>
              </a:rPr>
              <a:t>A</a:t>
            </a:r>
            <a:r>
              <a:rPr lang="zh-CN" altLang="en-US" sz="2400" b="1" dirty="0">
                <a:latin typeface="Times New Roman" panose="02020603050405020304" pitchFamily="18" charset="0"/>
              </a:rPr>
              <a:t>时</a:t>
            </a:r>
          </a:p>
          <a:p>
            <a:pPr lvl="1"/>
            <a:r>
              <a:rPr lang="zh-CN" altLang="en-US" sz="2400">
                <a:latin typeface="楷体_GB2312" pitchFamily="49" charset="-122"/>
                <a:ea typeface="楷体_GB2312" pitchFamily="49" charset="-122"/>
              </a:rPr>
              <a:t>  </a:t>
            </a:r>
            <a:r>
              <a:rPr lang="en-US" altLang="zh-CN" sz="2400">
                <a:latin typeface="楷体_GB2312" pitchFamily="49" charset="-122"/>
                <a:ea typeface="楷体_GB2312" pitchFamily="49" charset="-122"/>
              </a:rPr>
              <a:t>p (</a:t>
            </a:r>
            <a:r>
              <a:rPr lang="zh-CN" altLang="en-US" sz="2400" dirty="0">
                <a:latin typeface="楷体_GB2312" pitchFamily="49" charset="-122"/>
                <a:ea typeface="楷体_GB2312" pitchFamily="49" charset="-122"/>
              </a:rPr>
              <a:t>价带中空穴浓度</a:t>
            </a:r>
            <a:r>
              <a:rPr lang="en-US" altLang="zh-CN" sz="2400">
                <a:latin typeface="楷体_GB2312" pitchFamily="49" charset="-122"/>
                <a:ea typeface="楷体_GB2312" pitchFamily="49" charset="-122"/>
              </a:rPr>
              <a:t>)= N</a:t>
            </a:r>
            <a:r>
              <a:rPr lang="en-US" altLang="zh-CN" sz="2400" baseline="-25000">
                <a:latin typeface="楷体_GB2312" pitchFamily="49" charset="-122"/>
                <a:ea typeface="楷体_GB2312" pitchFamily="49" charset="-122"/>
              </a:rPr>
              <a:t>A</a:t>
            </a:r>
            <a:r>
              <a:rPr lang="en-US" altLang="zh-CN" sz="2400">
                <a:latin typeface="楷体_GB2312" pitchFamily="49" charset="-122"/>
                <a:ea typeface="楷体_GB2312" pitchFamily="49" charset="-122"/>
              </a:rPr>
              <a:t>-N</a:t>
            </a:r>
            <a:r>
              <a:rPr lang="en-US" altLang="zh-CN" sz="2400" baseline="-25000">
                <a:latin typeface="楷体_GB2312" pitchFamily="49" charset="-122"/>
                <a:ea typeface="楷体_GB2312" pitchFamily="49" charset="-122"/>
              </a:rPr>
              <a:t>D </a:t>
            </a:r>
            <a:r>
              <a:rPr lang="en-US" altLang="zh-CN" sz="2400">
                <a:latin typeface="楷体_GB2312" pitchFamily="49" charset="-122"/>
                <a:ea typeface="楷体_GB2312" pitchFamily="49" charset="-122"/>
              </a:rPr>
              <a:t>≈</a:t>
            </a:r>
            <a:r>
              <a:rPr lang="en-US" altLang="zh-CN" sz="2400" baseline="-25000">
                <a:latin typeface="楷体_GB2312" pitchFamily="49" charset="-122"/>
                <a:ea typeface="楷体_GB2312" pitchFamily="49" charset="-122"/>
              </a:rPr>
              <a:t> </a:t>
            </a:r>
            <a:r>
              <a:rPr lang="en-US" altLang="zh-CN" sz="2400">
                <a:latin typeface="楷体_GB2312" pitchFamily="49" charset="-122"/>
                <a:ea typeface="楷体_GB2312" pitchFamily="49" charset="-122"/>
              </a:rPr>
              <a:t>N</a:t>
            </a:r>
            <a:r>
              <a:rPr lang="en-US" altLang="zh-CN" sz="2400" baseline="-25000">
                <a:latin typeface="楷体_GB2312" pitchFamily="49" charset="-122"/>
                <a:ea typeface="楷体_GB2312" pitchFamily="49" charset="-122"/>
              </a:rPr>
              <a:t>A</a:t>
            </a:r>
            <a:r>
              <a:rPr lang="zh-CN" altLang="en-US" sz="2400" dirty="0">
                <a:latin typeface="楷体_GB2312" pitchFamily="49" charset="-122"/>
                <a:ea typeface="楷体_GB2312" pitchFamily="49" charset="-122"/>
              </a:rPr>
              <a:t>，半导体是</a:t>
            </a:r>
            <a:r>
              <a:rPr lang="en-US" altLang="zh-CN" sz="2400">
                <a:latin typeface="楷体_GB2312" pitchFamily="49" charset="-122"/>
                <a:ea typeface="楷体_GB2312" pitchFamily="49" charset="-122"/>
              </a:rPr>
              <a:t>p</a:t>
            </a:r>
            <a:r>
              <a:rPr lang="zh-CN" altLang="en-US" sz="2400" dirty="0">
                <a:latin typeface="楷体_GB2312" pitchFamily="49" charset="-122"/>
                <a:ea typeface="楷体_GB2312" pitchFamily="49" charset="-122"/>
              </a:rPr>
              <a:t>型的</a:t>
            </a:r>
          </a:p>
        </p:txBody>
      </p:sp>
      <p:sp>
        <p:nvSpPr>
          <p:cNvPr id="18436" name="矩形 18435"/>
          <p:cNvSpPr/>
          <p:nvPr/>
        </p:nvSpPr>
        <p:spPr>
          <a:xfrm>
            <a:off x="468313" y="333375"/>
            <a:ext cx="3803650" cy="549275"/>
          </a:xfrm>
          <a:prstGeom prst="rect">
            <a:avLst/>
          </a:prstGeom>
          <a:solidFill>
            <a:srgbClr val="33CCCC"/>
          </a:solidFill>
          <a:ln w="9525">
            <a:noFill/>
          </a:ln>
        </p:spPr>
        <p:txBody>
          <a:bodyPr wrap="none" anchor="t" anchorCtr="0">
            <a:spAutoFit/>
          </a:bodyPr>
          <a:lstStyle/>
          <a:p>
            <a:r>
              <a:rPr lang="en-US" altLang="zh-CN" sz="3000">
                <a:solidFill>
                  <a:srgbClr val="FF0000"/>
                </a:solidFill>
                <a:latin typeface="黑体" panose="02010609060101010101" pitchFamily="2" charset="-122"/>
                <a:ea typeface="黑体" panose="02010609060101010101" pitchFamily="2" charset="-122"/>
              </a:rPr>
              <a:t>2.1.5</a:t>
            </a:r>
            <a:r>
              <a:rPr lang="zh-CN" altLang="en-US" sz="3000" dirty="0">
                <a:solidFill>
                  <a:srgbClr val="FF0000"/>
                </a:solidFill>
                <a:latin typeface="黑体" panose="02010609060101010101" pitchFamily="2" charset="-122"/>
                <a:ea typeface="黑体" panose="02010609060101010101" pitchFamily="2" charset="-122"/>
              </a:rPr>
              <a:t>杂质的补偿作用</a:t>
            </a:r>
          </a:p>
        </p:txBody>
      </p:sp>
      <p:sp>
        <p:nvSpPr>
          <p:cNvPr id="18437" name="文本框 18436"/>
          <p:cNvSpPr txBox="1"/>
          <p:nvPr/>
        </p:nvSpPr>
        <p:spPr>
          <a:xfrm>
            <a:off x="827088" y="1052513"/>
            <a:ext cx="7777162" cy="831850"/>
          </a:xfrm>
          <a:prstGeom prst="rect">
            <a:avLst/>
          </a:prstGeom>
          <a:solidFill>
            <a:srgbClr val="33CCCC">
              <a:alpha val="47000"/>
            </a:srgbClr>
          </a:solidFill>
          <a:ln w="9525" cap="flat" cmpd="sng">
            <a:solidFill>
              <a:srgbClr val="FF0000"/>
            </a:solidFill>
            <a:prstDash val="solid"/>
            <a:miter/>
            <a:headEnd type="none" w="med" len="med"/>
            <a:tailEnd type="none" w="med" len="med"/>
          </a:ln>
        </p:spPr>
        <p:txBody>
          <a:bodyPr>
            <a:spAutoFit/>
          </a:bodyPr>
          <a:lstStyle/>
          <a:p>
            <a:r>
              <a:rPr lang="zh-CN" altLang="en-US" sz="2400" dirty="0">
                <a:latin typeface="Arial" panose="020B0604020202020204" pitchFamily="34" charset="0"/>
                <a:ea typeface="楷体_GB2312" pitchFamily="49" charset="-122"/>
              </a:rPr>
              <a:t>半导体中同时存在施主和受主杂质时，是</a:t>
            </a:r>
            <a:r>
              <a:rPr lang="en-US" altLang="zh-CN" sz="2400">
                <a:latin typeface="Arial" panose="020B0604020202020204" pitchFamily="34" charset="0"/>
                <a:ea typeface="楷体_GB2312" pitchFamily="49" charset="-122"/>
              </a:rPr>
              <a:t>p</a:t>
            </a:r>
            <a:r>
              <a:rPr lang="zh-CN" altLang="en-US" sz="2400" dirty="0">
                <a:latin typeface="Arial" panose="020B0604020202020204" pitchFamily="34" charset="0"/>
                <a:ea typeface="楷体_GB2312" pitchFamily="49" charset="-122"/>
              </a:rPr>
              <a:t>型还是</a:t>
            </a:r>
            <a:r>
              <a:rPr lang="en-US" altLang="zh-CN" sz="2400">
                <a:latin typeface="Arial" panose="020B0604020202020204" pitchFamily="34" charset="0"/>
                <a:ea typeface="楷体_GB2312" pitchFamily="49" charset="-122"/>
              </a:rPr>
              <a:t>n</a:t>
            </a:r>
            <a:r>
              <a:rPr lang="zh-CN" altLang="en-US" sz="2400" dirty="0">
                <a:latin typeface="Arial" panose="020B0604020202020204" pitchFamily="34" charset="0"/>
                <a:ea typeface="楷体_GB2312" pitchFamily="49" charset="-122"/>
              </a:rPr>
              <a:t>型？</a:t>
            </a:r>
          </a:p>
          <a:p>
            <a:r>
              <a:rPr lang="zh-CN" altLang="en-US" sz="2400" dirty="0">
                <a:latin typeface="Arial" panose="020B0604020202020204" pitchFamily="34" charset="0"/>
                <a:ea typeface="楷体_GB2312" pitchFamily="49" charset="-122"/>
              </a:rPr>
              <a:t>施主和受主间具有相互抵消作用，称为</a:t>
            </a:r>
            <a:r>
              <a:rPr lang="zh-CN" altLang="en-US" sz="2400" dirty="0">
                <a:solidFill>
                  <a:srgbClr val="FF0000"/>
                </a:solidFill>
                <a:latin typeface="Arial" panose="020B0604020202020204" pitchFamily="34" charset="0"/>
                <a:ea typeface="楷体_GB2312" pitchFamily="49" charset="-122"/>
              </a:rPr>
              <a:t>杂质的补偿作用</a:t>
            </a:r>
          </a:p>
        </p:txBody>
      </p:sp>
      <p:sp>
        <p:nvSpPr>
          <p:cNvPr id="18438" name="矩形 18437"/>
          <p:cNvSpPr/>
          <p:nvPr/>
        </p:nvSpPr>
        <p:spPr>
          <a:xfrm>
            <a:off x="179388" y="4149725"/>
            <a:ext cx="8569325" cy="1917700"/>
          </a:xfrm>
          <a:prstGeom prst="rect">
            <a:avLst/>
          </a:prstGeom>
          <a:noFill/>
          <a:ln w="9525">
            <a:noFill/>
          </a:ln>
        </p:spPr>
        <p:txBody>
          <a:bodyPr>
            <a:spAutoFit/>
          </a:bodyPr>
          <a:lstStyle/>
          <a:p>
            <a:r>
              <a:rPr lang="zh-CN" altLang="en-US" sz="2400" b="1" dirty="0">
                <a:solidFill>
                  <a:srgbClr val="0000FF"/>
                </a:solidFill>
                <a:latin typeface="楷体_GB2312" pitchFamily="49" charset="-122"/>
                <a:ea typeface="楷体_GB2312" pitchFamily="49" charset="-122"/>
              </a:rPr>
              <a:t>有效杂质浓度</a:t>
            </a:r>
          </a:p>
          <a:p>
            <a:pPr lvl="1"/>
            <a:r>
              <a:rPr lang="zh-CN" altLang="en-US" sz="2400" b="1" dirty="0">
                <a:solidFill>
                  <a:srgbClr val="0000FF"/>
                </a:solidFill>
                <a:latin typeface="楷体_GB2312" pitchFamily="49" charset="-122"/>
                <a:ea typeface="楷体_GB2312" pitchFamily="49" charset="-122"/>
              </a:rPr>
              <a:t>补偿后半导体中的净杂质浓度。 </a:t>
            </a:r>
            <a:r>
              <a:rPr lang="en-US" altLang="zh-CN" sz="2400" b="1">
                <a:solidFill>
                  <a:srgbClr val="0000FF"/>
                </a:solidFill>
                <a:latin typeface="楷体_GB2312" pitchFamily="49" charset="-122"/>
                <a:ea typeface="楷体_GB2312" pitchFamily="49" charset="-122"/>
              </a:rPr>
              <a:t>N</a:t>
            </a:r>
            <a:r>
              <a:rPr lang="en-US" altLang="zh-CN" sz="2400" b="1" baseline="-25000">
                <a:solidFill>
                  <a:srgbClr val="0000FF"/>
                </a:solidFill>
                <a:latin typeface="楷体_GB2312" pitchFamily="49" charset="-122"/>
                <a:ea typeface="楷体_GB2312" pitchFamily="49" charset="-122"/>
              </a:rPr>
              <a:t>D</a:t>
            </a:r>
            <a:r>
              <a:rPr lang="en-US" altLang="zh-CN" sz="2400" b="1">
                <a:solidFill>
                  <a:srgbClr val="0000FF"/>
                </a:solidFill>
                <a:latin typeface="楷体_GB2312" pitchFamily="49" charset="-122"/>
                <a:ea typeface="楷体_GB2312" pitchFamily="49" charset="-122"/>
              </a:rPr>
              <a:t>&gt;N</a:t>
            </a:r>
            <a:r>
              <a:rPr lang="en-US" altLang="zh-CN" sz="2400" b="1" baseline="-25000">
                <a:solidFill>
                  <a:srgbClr val="0000FF"/>
                </a:solidFill>
                <a:latin typeface="楷体_GB2312" pitchFamily="49" charset="-122"/>
                <a:ea typeface="楷体_GB2312" pitchFamily="49" charset="-122"/>
              </a:rPr>
              <a:t>A</a:t>
            </a:r>
            <a:r>
              <a:rPr lang="en-US" altLang="zh-CN" sz="2400" b="1">
                <a:solidFill>
                  <a:srgbClr val="0000FF"/>
                </a:solidFill>
                <a:latin typeface="楷体_GB2312" pitchFamily="49" charset="-122"/>
                <a:ea typeface="楷体_GB2312" pitchFamily="49" charset="-122"/>
              </a:rPr>
              <a:t>, </a:t>
            </a:r>
            <a:r>
              <a:rPr lang="zh-CN" altLang="en-US" sz="2400" b="1" dirty="0">
                <a:solidFill>
                  <a:srgbClr val="0000FF"/>
                </a:solidFill>
                <a:latin typeface="楷体_GB2312" pitchFamily="49" charset="-122"/>
                <a:ea typeface="楷体_GB2312" pitchFamily="49" charset="-122"/>
              </a:rPr>
              <a:t>有效杂质浓度为</a:t>
            </a:r>
            <a:r>
              <a:rPr lang="en-US" altLang="zh-CN" sz="2400" b="1">
                <a:solidFill>
                  <a:srgbClr val="0000FF"/>
                </a:solidFill>
                <a:latin typeface="楷体_GB2312" pitchFamily="49" charset="-122"/>
                <a:ea typeface="楷体_GB2312" pitchFamily="49" charset="-122"/>
              </a:rPr>
              <a:t>N</a:t>
            </a:r>
            <a:r>
              <a:rPr lang="en-US" altLang="zh-CN" sz="2400" b="1" baseline="-25000">
                <a:solidFill>
                  <a:srgbClr val="0000FF"/>
                </a:solidFill>
                <a:latin typeface="楷体_GB2312" pitchFamily="49" charset="-122"/>
                <a:ea typeface="楷体_GB2312" pitchFamily="49" charset="-122"/>
              </a:rPr>
              <a:t>D</a:t>
            </a:r>
            <a:r>
              <a:rPr lang="en-US" altLang="zh-CN" sz="2400" b="1">
                <a:solidFill>
                  <a:srgbClr val="0000FF"/>
                </a:solidFill>
                <a:latin typeface="楷体_GB2312" pitchFamily="49" charset="-122"/>
                <a:ea typeface="楷体_GB2312" pitchFamily="49" charset="-122"/>
              </a:rPr>
              <a:t>-NA</a:t>
            </a:r>
            <a:r>
              <a:rPr lang="zh-CN" altLang="en-US" sz="2400" b="1" dirty="0">
                <a:solidFill>
                  <a:srgbClr val="0000FF"/>
                </a:solidFill>
                <a:latin typeface="楷体_GB2312" pitchFamily="49" charset="-122"/>
                <a:ea typeface="楷体_GB2312" pitchFamily="49" charset="-122"/>
              </a:rPr>
              <a:t>；反过来一样。</a:t>
            </a:r>
            <a:endParaRPr lang="zh-CN" altLang="en-US" sz="2400" b="1" baseline="-25000">
              <a:solidFill>
                <a:srgbClr val="0000FF"/>
              </a:solidFill>
              <a:latin typeface="楷体_GB2312" pitchFamily="49" charset="-122"/>
              <a:ea typeface="楷体_GB2312" pitchFamily="49" charset="-122"/>
            </a:endParaRPr>
          </a:p>
          <a:p>
            <a:pPr lvl="1"/>
            <a:r>
              <a:rPr lang="zh-CN" altLang="en-US" sz="2400" b="1" dirty="0">
                <a:solidFill>
                  <a:srgbClr val="0000FF"/>
                </a:solidFill>
                <a:latin typeface="楷体_GB2312" pitchFamily="49" charset="-122"/>
                <a:ea typeface="楷体_GB2312" pitchFamily="49" charset="-122"/>
              </a:rPr>
              <a:t>当</a:t>
            </a:r>
            <a:r>
              <a:rPr lang="en-US" altLang="zh-CN" sz="2400" b="1">
                <a:solidFill>
                  <a:srgbClr val="0000FF"/>
                </a:solidFill>
                <a:latin typeface="楷体_GB2312" pitchFamily="49" charset="-122"/>
                <a:ea typeface="楷体_GB2312" pitchFamily="49" charset="-122"/>
              </a:rPr>
              <a:t>N</a:t>
            </a:r>
            <a:r>
              <a:rPr lang="en-US" altLang="zh-CN" sz="2400" b="1" baseline="-25000">
                <a:solidFill>
                  <a:srgbClr val="0000FF"/>
                </a:solidFill>
                <a:latin typeface="楷体_GB2312" pitchFamily="49" charset="-122"/>
                <a:ea typeface="楷体_GB2312" pitchFamily="49" charset="-122"/>
              </a:rPr>
              <a:t>D</a:t>
            </a:r>
            <a:r>
              <a:rPr lang="en-US" altLang="zh-CN" sz="2400" b="1">
                <a:solidFill>
                  <a:srgbClr val="0000FF"/>
                </a:solidFill>
                <a:latin typeface="楷体_GB2312" pitchFamily="49" charset="-122"/>
                <a:ea typeface="楷体_GB2312" pitchFamily="49" charset="-122"/>
              </a:rPr>
              <a:t>≈N</a:t>
            </a:r>
            <a:r>
              <a:rPr lang="en-US" altLang="zh-CN" sz="2400" b="1" baseline="-25000">
                <a:solidFill>
                  <a:srgbClr val="0000FF"/>
                </a:solidFill>
                <a:latin typeface="楷体_GB2312" pitchFamily="49" charset="-122"/>
                <a:ea typeface="楷体_GB2312" pitchFamily="49" charset="-122"/>
              </a:rPr>
              <a:t>A</a:t>
            </a:r>
            <a:r>
              <a:rPr lang="zh-CN" altLang="en-US" sz="2400" b="1" dirty="0">
                <a:solidFill>
                  <a:srgbClr val="0000FF"/>
                </a:solidFill>
                <a:latin typeface="楷体_GB2312" pitchFamily="49" charset="-122"/>
                <a:ea typeface="楷体_GB2312" pitchFamily="49" charset="-122"/>
              </a:rPr>
              <a:t>时：高度补偿半导体，杂质很多，性能很差，不能用来制造半导体</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 calcmode="lin" valueType="num">
                                      <p:cBhvr additive="base">
                                        <p:cTn id="7" dur="500" fill="hold"/>
                                        <p:tgtEl>
                                          <p:spTgt spid="1843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18435">
                                            <p:txEl>
                                              <p:pRg st="0" end="0"/>
                                            </p:tx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anim calcmode="lin" valueType="num">
                                      <p:cBhvr additive="base">
                                        <p:cTn id="11" dur="500" fill="hold"/>
                                        <p:tgtEl>
                                          <p:spTgt spid="18435">
                                            <p:txEl>
                                              <p:pRg st="1" end="1"/>
                                            </p:tx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1843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18435">
                                            <p:txEl>
                                              <p:pRg st="2" end="2"/>
                                            </p:txEl>
                                          </p:spTgt>
                                        </p:tgtEl>
                                        <p:attrNameLst>
                                          <p:attrName>style.visibility</p:attrName>
                                        </p:attrNameLst>
                                      </p:cBhvr>
                                      <p:to>
                                        <p:strVal val="visible"/>
                                      </p:to>
                                    </p:set>
                                    <p:anim calcmode="lin" valueType="num">
                                      <p:cBhvr additive="base">
                                        <p:cTn id="17" dur="500" fill="hold"/>
                                        <p:tgtEl>
                                          <p:spTgt spid="18435">
                                            <p:txEl>
                                              <p:pRg st="2" end="2"/>
                                            </p:tx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18435">
                                            <p:txEl>
                                              <p:pRg st="2" end="2"/>
                                            </p:tx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18435">
                                            <p:txEl>
                                              <p:pRg st="3" end="3"/>
                                            </p:txEl>
                                          </p:spTgt>
                                        </p:tgtEl>
                                        <p:attrNameLst>
                                          <p:attrName>style.visibility</p:attrName>
                                        </p:attrNameLst>
                                      </p:cBhvr>
                                      <p:to>
                                        <p:strVal val="visible"/>
                                      </p:to>
                                    </p:set>
                                    <p:anim calcmode="lin" valueType="num">
                                      <p:cBhvr additive="base">
                                        <p:cTn id="21" dur="500" fill="hold"/>
                                        <p:tgtEl>
                                          <p:spTgt spid="18435">
                                            <p:txEl>
                                              <p:pRg st="3" end="3"/>
                                            </p:tx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1843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8438"/>
                                        </p:tgtEl>
                                        <p:attrNameLst>
                                          <p:attrName>style.visibility</p:attrName>
                                        </p:attrNameLst>
                                      </p:cBhvr>
                                      <p:to>
                                        <p:strVal val="visible"/>
                                      </p:to>
                                    </p:set>
                                    <p:anim calcmode="lin" valueType="num">
                                      <p:cBhvr additive="base">
                                        <p:cTn id="27" dur="500" fill="hold"/>
                                        <p:tgtEl>
                                          <p:spTgt spid="18438"/>
                                        </p:tgtEl>
                                        <p:attrNameLst>
                                          <p:attrName>ppt_x</p:attrName>
                                        </p:attrNameLst>
                                      </p:cBhvr>
                                      <p:tavLst>
                                        <p:tav tm="0">
                                          <p:val>
                                            <p:strVal val="#ppt_x"/>
                                          </p:val>
                                        </p:tav>
                                        <p:tav tm="100000">
                                          <p:val>
                                            <p:strVal val="#ppt_x"/>
                                          </p:val>
                                        </p:tav>
                                      </p:tavLst>
                                    </p:anim>
                                    <p:anim calcmode="lin" valueType="num">
                                      <p:cBhvr additive="base">
                                        <p:cTn id="28" dur="500" fill="hold"/>
                                        <p:tgtEl>
                                          <p:spTgt spid="1843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1843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7" name="图片 23556" descr="载流子浓度示意图"/>
          <p:cNvPicPr>
            <a:picLocks noChangeAspect="1"/>
          </p:cNvPicPr>
          <p:nvPr/>
        </p:nvPicPr>
        <p:blipFill>
          <a:blip r:embed="rId2"/>
          <a:stretch>
            <a:fillRect/>
          </a:stretch>
        </p:blipFill>
        <p:spPr>
          <a:xfrm>
            <a:off x="1258888" y="327025"/>
            <a:ext cx="6480175" cy="6184900"/>
          </a:xfrm>
          <a:prstGeom prst="rect">
            <a:avLst/>
          </a:prstGeom>
          <a:noFill/>
          <a:ln w="9525">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61" name="矩形 19460"/>
          <p:cNvSpPr/>
          <p:nvPr/>
        </p:nvSpPr>
        <p:spPr>
          <a:xfrm>
            <a:off x="611188" y="333375"/>
            <a:ext cx="3422650" cy="549275"/>
          </a:xfrm>
          <a:prstGeom prst="rect">
            <a:avLst/>
          </a:prstGeom>
          <a:solidFill>
            <a:srgbClr val="33CCCC"/>
          </a:solidFill>
          <a:ln w="9525">
            <a:noFill/>
          </a:ln>
        </p:spPr>
        <p:txBody>
          <a:bodyPr wrap="none" anchor="t" anchorCtr="0">
            <a:spAutoFit/>
          </a:bodyPr>
          <a:lstStyle/>
          <a:p>
            <a:r>
              <a:rPr lang="en-US" altLang="zh-CN" sz="3000">
                <a:solidFill>
                  <a:srgbClr val="FF0000"/>
                </a:solidFill>
                <a:latin typeface="黑体" panose="02010609060101010101" pitchFamily="2" charset="-122"/>
                <a:ea typeface="黑体" panose="02010609060101010101" pitchFamily="2" charset="-122"/>
              </a:rPr>
              <a:t>2.1.6</a:t>
            </a:r>
            <a:r>
              <a:rPr lang="zh-CN" altLang="en-US" sz="3000" dirty="0">
                <a:solidFill>
                  <a:srgbClr val="FF0000"/>
                </a:solidFill>
                <a:latin typeface="黑体" panose="02010609060101010101" pitchFamily="2" charset="-122"/>
                <a:ea typeface="黑体" panose="02010609060101010101" pitchFamily="2" charset="-122"/>
              </a:rPr>
              <a:t>、深能级杂质</a:t>
            </a:r>
          </a:p>
        </p:txBody>
      </p:sp>
      <p:pic>
        <p:nvPicPr>
          <p:cNvPr id="19463" name="图片 19462" descr="各能级杂质"/>
          <p:cNvPicPr>
            <a:picLocks noChangeAspect="1"/>
          </p:cNvPicPr>
          <p:nvPr/>
        </p:nvPicPr>
        <p:blipFill>
          <a:blip r:embed="rId2"/>
          <a:stretch>
            <a:fillRect/>
          </a:stretch>
        </p:blipFill>
        <p:spPr>
          <a:xfrm>
            <a:off x="1187450" y="1196975"/>
            <a:ext cx="6264275" cy="4951413"/>
          </a:xfrm>
          <a:prstGeom prst="rect">
            <a:avLst/>
          </a:prstGeom>
          <a:noFill/>
          <a:ln w="9525">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7" name="矩形 115716"/>
          <p:cNvSpPr/>
          <p:nvPr/>
        </p:nvSpPr>
        <p:spPr>
          <a:xfrm>
            <a:off x="468313" y="404813"/>
            <a:ext cx="8064500" cy="2232025"/>
          </a:xfrm>
          <a:prstGeom prst="rect">
            <a:avLst/>
          </a:prstGeom>
          <a:noFill/>
          <a:ln w="9525">
            <a:noFill/>
          </a:ln>
        </p:spPr>
        <p:txBody>
          <a:bodyPr/>
          <a:lstStyle>
            <a:lvl1pPr marL="342900" lvl="0" indent="-34290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3000" u="none" kern="1200" baseline="0">
                <a:solidFill>
                  <a:schemeClr val="tx1"/>
                </a:solidFill>
                <a:latin typeface="Arial" panose="020B0604020202020204" pitchFamily="34" charset="0"/>
                <a:ea typeface="宋体" panose="02010600030101010101" pitchFamily="2" charset="-122"/>
              </a:defRPr>
            </a:lvl1pPr>
            <a:lvl2pPr marL="669925" lvl="1" indent="-325120" algn="l" defTabSz="914400" rtl="0" eaLnBrk="1" fontAlgn="base" latinLnBrk="0" hangingPunct="1">
              <a:lnSpc>
                <a:spcPct val="100000"/>
              </a:lnSpc>
              <a:spcBef>
                <a:spcPct val="20000"/>
              </a:spcBef>
              <a:spcAft>
                <a:spcPct val="0"/>
              </a:spcAft>
              <a:buClr>
                <a:schemeClr val="accent2"/>
              </a:buClr>
              <a:buSzPct val="60000"/>
              <a:buFont typeface="Wingdings" panose="05000000000000000000" pitchFamily="2" charset="2"/>
              <a:buChar char="q"/>
              <a:defRPr sz="2600" b="0" i="0" u="none" kern="1200" baseline="0">
                <a:solidFill>
                  <a:schemeClr val="tx1"/>
                </a:solidFill>
                <a:latin typeface="Arial" panose="020B0604020202020204" pitchFamily="34" charset="0"/>
                <a:ea typeface="宋体" panose="02010600030101010101" pitchFamily="2" charset="-122"/>
              </a:defRPr>
            </a:lvl2pPr>
            <a:lvl3pPr marL="1022350" lvl="2" indent="-350520" algn="l" defTabSz="914400" rtl="0" eaLnBrk="1" fontAlgn="base" latinLnBrk="0" hangingPunct="1">
              <a:lnSpc>
                <a:spcPct val="100000"/>
              </a:lnSpc>
              <a:spcBef>
                <a:spcPct val="20000"/>
              </a:spcBef>
              <a:spcAft>
                <a:spcPct val="0"/>
              </a:spcAft>
              <a:buClr>
                <a:schemeClr val="accent1"/>
              </a:buClr>
              <a:buSzPct val="65000"/>
              <a:buFont typeface="Wingdings" panose="05000000000000000000" pitchFamily="2" charset="2"/>
              <a:buChar char="n"/>
              <a:defRPr sz="2200" b="0" i="0" u="none" kern="1200" baseline="0">
                <a:solidFill>
                  <a:schemeClr val="tx1"/>
                </a:solidFill>
                <a:latin typeface="Arial" panose="020B0604020202020204" pitchFamily="34" charset="0"/>
                <a:ea typeface="宋体" panose="02010600030101010101" pitchFamily="2" charset="-122"/>
              </a:defRPr>
            </a:lvl3pPr>
            <a:lvl4pPr marL="1339850" lvl="3" indent="-315595" algn="l" defTabSz="914400" rtl="0" eaLnBrk="1" fontAlgn="base" latinLnBrk="0" hangingPunct="1">
              <a:lnSpc>
                <a:spcPct val="100000"/>
              </a:lnSpc>
              <a:spcBef>
                <a:spcPct val="20000"/>
              </a:spcBef>
              <a:spcAft>
                <a:spcPct val="0"/>
              </a:spcAft>
              <a:buClr>
                <a:schemeClr val="accent2"/>
              </a:buClr>
              <a:buSzPct val="70000"/>
              <a:buFont typeface="Wingdings" panose="05000000000000000000" pitchFamily="2" charset="2"/>
              <a:buChar char="q"/>
              <a:defRPr sz="2000" b="0" i="0" u="none" kern="1200" baseline="0">
                <a:solidFill>
                  <a:schemeClr val="tx1"/>
                </a:solidFill>
                <a:latin typeface="Arial" panose="020B0604020202020204" pitchFamily="34" charset="0"/>
                <a:ea typeface="宋体" panose="02010600030101010101" pitchFamily="2" charset="-122"/>
              </a:defRPr>
            </a:lvl4pPr>
            <a:lvl5pPr marL="1681480" lvl="4" indent="-339725" algn="l" defTabSz="914400" rtl="0" eaLnBrk="1" fontAlgn="base" latinLnBrk="0" hangingPunct="1">
              <a:lnSpc>
                <a:spcPct val="100000"/>
              </a:lnSpc>
              <a:spcBef>
                <a:spcPct val="20000"/>
              </a:spcBef>
              <a:spcAft>
                <a:spcPct val="0"/>
              </a:spcAft>
              <a:buClr>
                <a:schemeClr val="accent1"/>
              </a:buClr>
              <a:buSzPct val="75000"/>
              <a:buFont typeface="Wingdings" panose="05000000000000000000" pitchFamily="2" charset="2"/>
              <a:buChar char="§"/>
              <a:defRPr sz="2000" b="0" i="0" u="none" kern="1200" baseline="0">
                <a:solidFill>
                  <a:schemeClr val="tx1"/>
                </a:solidFill>
                <a:latin typeface="Arial" panose="020B0604020202020204" pitchFamily="34" charset="0"/>
                <a:ea typeface="宋体" panose="02010600030101010101" pitchFamily="2" charset="-122"/>
              </a:defRPr>
            </a:lvl5pPr>
          </a:lstStyle>
          <a:p>
            <a:pPr lvl="0">
              <a:lnSpc>
                <a:spcPct val="90000"/>
              </a:lnSpc>
            </a:pPr>
            <a:endParaRPr lang="en-US" altLang="zh-CN" sz="1000" dirty="0"/>
          </a:p>
          <a:p>
            <a:pPr lvl="0">
              <a:lnSpc>
                <a:spcPct val="90000"/>
              </a:lnSpc>
              <a:buSzPct val="55000"/>
            </a:pPr>
            <a:r>
              <a:rPr lang="zh-CN" altLang="en-US" b="1" dirty="0">
                <a:solidFill>
                  <a:srgbClr val="FF0000"/>
                </a:solidFill>
              </a:rPr>
              <a:t>深能级杂质特点：</a:t>
            </a:r>
          </a:p>
          <a:p>
            <a:pPr lvl="0">
              <a:lnSpc>
                <a:spcPct val="90000"/>
              </a:lnSpc>
              <a:buSzPct val="55000"/>
            </a:pPr>
            <a:endParaRPr lang="zh-CN" altLang="en-US" sz="1400" b="1" dirty="0">
              <a:solidFill>
                <a:srgbClr val="FF0000"/>
              </a:solidFill>
            </a:endParaRPr>
          </a:p>
          <a:p>
            <a:pPr lvl="1">
              <a:lnSpc>
                <a:spcPct val="90000"/>
              </a:lnSpc>
              <a:buNone/>
            </a:pP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1</a:t>
            </a:r>
            <a:r>
              <a:rPr lang="zh-CN" altLang="en-US" dirty="0">
                <a:latin typeface="楷体_GB2312" pitchFamily="49" charset="-122"/>
                <a:ea typeface="楷体_GB2312" pitchFamily="49" charset="-122"/>
              </a:rPr>
              <a:t>、多为替位式杂质；</a:t>
            </a:r>
            <a:endParaRPr lang="zh-CN" altLang="en-US">
              <a:latin typeface="楷体_GB2312" pitchFamily="49" charset="-122"/>
              <a:ea typeface="楷体_GB2312" pitchFamily="49" charset="-122"/>
            </a:endParaRPr>
          </a:p>
          <a:p>
            <a:pPr lvl="1" algn="just">
              <a:lnSpc>
                <a:spcPct val="90000"/>
              </a:lnSpc>
              <a:buNone/>
            </a:pPr>
            <a:r>
              <a:rPr lang="zh-CN" altLang="en-US">
                <a:latin typeface="楷体_GB2312" pitchFamily="49" charset="-122"/>
                <a:ea typeface="楷体_GB2312" pitchFamily="49" charset="-122"/>
              </a:rPr>
              <a:t>  </a:t>
            </a:r>
            <a:r>
              <a:rPr lang="en-US" altLang="zh-CN">
                <a:latin typeface="楷体_GB2312" pitchFamily="49" charset="-122"/>
                <a:ea typeface="楷体_GB2312" pitchFamily="49" charset="-122"/>
              </a:rPr>
              <a:t>2</a:t>
            </a:r>
            <a:r>
              <a:rPr lang="zh-CN" altLang="en-US" dirty="0">
                <a:latin typeface="楷体_GB2312" pitchFamily="49" charset="-122"/>
                <a:ea typeface="楷体_GB2312" pitchFamily="49" charset="-122"/>
              </a:rPr>
              <a:t>、硅、锗的禁带中产生的</a:t>
            </a:r>
            <a:r>
              <a:rPr lang="zh-CN" altLang="en-US" dirty="0">
                <a:solidFill>
                  <a:srgbClr val="0000FF"/>
                </a:solidFill>
                <a:latin typeface="楷体_GB2312" pitchFamily="49" charset="-122"/>
                <a:ea typeface="楷体_GB2312" pitchFamily="49" charset="-122"/>
              </a:rPr>
              <a:t>施主</a:t>
            </a:r>
            <a:r>
              <a:rPr lang="zh-CN" altLang="en-US" b="1" dirty="0">
                <a:solidFill>
                  <a:srgbClr val="0000FF"/>
                </a:solidFill>
                <a:latin typeface="楷体_GB2312" pitchFamily="49" charset="-122"/>
                <a:ea typeface="楷体_GB2312" pitchFamily="49" charset="-122"/>
              </a:rPr>
              <a:t>能级距离导带底和  价带顶较远</a:t>
            </a:r>
            <a:r>
              <a:rPr lang="zh-CN" altLang="en-US" dirty="0">
                <a:latin typeface="楷体_GB2312" pitchFamily="49" charset="-122"/>
                <a:ea typeface="楷体_GB2312" pitchFamily="49" charset="-122"/>
              </a:rPr>
              <a:t>，形成深能级，称为深能级杂质；</a:t>
            </a:r>
            <a:r>
              <a:rPr lang="zh-CN" altLang="en-US">
                <a:latin typeface="楷体_GB2312" pitchFamily="49" charset="-122"/>
                <a:ea typeface="楷体_GB2312" pitchFamily="49" charset="-122"/>
              </a:rPr>
              <a:t> </a:t>
            </a:r>
          </a:p>
        </p:txBody>
      </p:sp>
      <p:sp>
        <p:nvSpPr>
          <p:cNvPr id="115718" name="矩形 115717"/>
          <p:cNvSpPr/>
          <p:nvPr/>
        </p:nvSpPr>
        <p:spPr>
          <a:xfrm>
            <a:off x="1042988" y="5157788"/>
            <a:ext cx="7632700" cy="860425"/>
          </a:xfrm>
          <a:prstGeom prst="rect">
            <a:avLst/>
          </a:prstGeom>
          <a:noFill/>
          <a:ln w="9525">
            <a:noFill/>
          </a:ln>
        </p:spPr>
        <p:txBody>
          <a:bodyPr>
            <a:spAutoFit/>
          </a:bodyPr>
          <a:lstStyle/>
          <a:p>
            <a:pPr>
              <a:lnSpc>
                <a:spcPct val="90000"/>
              </a:lnSpc>
              <a:spcBef>
                <a:spcPct val="20000"/>
              </a:spcBef>
              <a:buClr>
                <a:schemeClr val="accent1"/>
              </a:buClr>
              <a:buSzPct val="65000"/>
              <a:buFont typeface="Wingdings" panose="05000000000000000000" pitchFamily="2" charset="2"/>
              <a:buChar char="n"/>
            </a:pPr>
            <a:r>
              <a:rPr lang="zh-CN" altLang="en-US" dirty="0">
                <a:latin typeface="Arial" panose="020B0604020202020204" pitchFamily="34" charset="0"/>
              </a:rPr>
              <a:t>对</a:t>
            </a:r>
            <a:r>
              <a:rPr lang="en-US" altLang="zh-CN">
                <a:latin typeface="Arial" panose="020B0604020202020204" pitchFamily="34" charset="0"/>
              </a:rPr>
              <a:t>Si</a:t>
            </a:r>
            <a:r>
              <a:rPr lang="zh-CN" altLang="en-US" dirty="0">
                <a:latin typeface="Arial" panose="020B0604020202020204" pitchFamily="34" charset="0"/>
              </a:rPr>
              <a:t>、</a:t>
            </a:r>
            <a:r>
              <a:rPr lang="en-US" altLang="zh-CN" dirty="0" err="1">
                <a:latin typeface="Arial" panose="020B0604020202020204" pitchFamily="34" charset="0"/>
              </a:rPr>
              <a:t>Ge</a:t>
            </a:r>
            <a:r>
              <a:rPr lang="zh-CN" altLang="en-US" dirty="0">
                <a:latin typeface="Arial" panose="020B0604020202020204" pitchFamily="34" charset="0"/>
              </a:rPr>
              <a:t>而言，深能级杂质通常为非</a:t>
            </a:r>
            <a:r>
              <a:rPr lang="en-US" altLang="zh-CN">
                <a:latin typeface="Arial" panose="020B0604020202020204" pitchFamily="34" charset="0"/>
              </a:rPr>
              <a:t>III</a:t>
            </a:r>
            <a:r>
              <a:rPr lang="zh-CN" altLang="en-US" dirty="0">
                <a:latin typeface="Arial" panose="020B0604020202020204" pitchFamily="34" charset="0"/>
              </a:rPr>
              <a:t>、</a:t>
            </a:r>
            <a:r>
              <a:rPr lang="en-US" altLang="zh-CN">
                <a:latin typeface="Arial" panose="020B0604020202020204" pitchFamily="34" charset="0"/>
              </a:rPr>
              <a:t>V</a:t>
            </a:r>
            <a:r>
              <a:rPr lang="zh-CN" altLang="en-US" dirty="0">
                <a:latin typeface="Arial" panose="020B0604020202020204" pitchFamily="34" charset="0"/>
              </a:rPr>
              <a:t>族元素（图</a:t>
            </a:r>
            <a:r>
              <a:rPr lang="en-US" altLang="zh-CN">
                <a:latin typeface="Arial" panose="020B0604020202020204" pitchFamily="34" charset="0"/>
              </a:rPr>
              <a:t>2-9</a:t>
            </a:r>
            <a:r>
              <a:rPr lang="zh-CN" altLang="en-US" dirty="0">
                <a:latin typeface="Arial" panose="020B0604020202020204" pitchFamily="34" charset="0"/>
              </a:rPr>
              <a:t>）。</a:t>
            </a:r>
          </a:p>
        </p:txBody>
      </p:sp>
      <p:sp>
        <p:nvSpPr>
          <p:cNvPr id="115719" name="矩形 115718"/>
          <p:cNvSpPr/>
          <p:nvPr/>
        </p:nvSpPr>
        <p:spPr>
          <a:xfrm>
            <a:off x="1187450" y="2852738"/>
            <a:ext cx="7272338" cy="1800225"/>
          </a:xfrm>
          <a:prstGeom prst="rect">
            <a:avLst/>
          </a:prstGeom>
          <a:noFill/>
          <a:ln w="9525">
            <a:noFill/>
          </a:ln>
        </p:spPr>
        <p:txBody>
          <a:bodyPr>
            <a:spAutoFit/>
          </a:bodyPr>
          <a:lstStyle/>
          <a:p>
            <a:pPr lvl="1"/>
            <a:r>
              <a:rPr lang="en-US" altLang="zh-CN" sz="2800">
                <a:latin typeface="Arial" panose="020B0604020202020204" pitchFamily="34" charset="0"/>
              </a:rPr>
              <a:t>3</a:t>
            </a:r>
            <a:r>
              <a:rPr lang="zh-CN" altLang="en-US" sz="2800" dirty="0">
                <a:latin typeface="Arial" panose="020B0604020202020204" pitchFamily="34" charset="0"/>
              </a:rPr>
              <a:t>、能</a:t>
            </a:r>
            <a:r>
              <a:rPr lang="zh-CN" altLang="en-US" sz="2800" b="1" dirty="0">
                <a:solidFill>
                  <a:srgbClr val="0000FF"/>
                </a:solidFill>
                <a:latin typeface="Arial" panose="020B0604020202020204" pitchFamily="34" charset="0"/>
              </a:rPr>
              <a:t>多次电离</a:t>
            </a:r>
            <a:r>
              <a:rPr lang="zh-CN" altLang="en-US" sz="2800" dirty="0">
                <a:latin typeface="Arial" panose="020B0604020202020204" pitchFamily="34" charset="0"/>
              </a:rPr>
              <a:t>，每电离均产生一个对应能级。</a:t>
            </a:r>
          </a:p>
          <a:p>
            <a:pPr lvl="1"/>
            <a:r>
              <a:rPr lang="zh-CN" altLang="en-US" sz="2800" b="1" dirty="0">
                <a:solidFill>
                  <a:srgbClr val="0000FF"/>
                </a:solidFill>
                <a:latin typeface="Arial" panose="020B0604020202020204" pitchFamily="34" charset="0"/>
              </a:rPr>
              <a:t>  </a:t>
            </a:r>
            <a:r>
              <a:rPr lang="en-US" altLang="zh-CN" sz="2800" b="1">
                <a:latin typeface="Arial" panose="020B0604020202020204" pitchFamily="34" charset="0"/>
              </a:rPr>
              <a:t>4</a:t>
            </a:r>
            <a:r>
              <a:rPr lang="zh-CN" altLang="en-US" sz="2800" b="1" dirty="0">
                <a:solidFill>
                  <a:srgbClr val="0000FF"/>
                </a:solidFill>
                <a:latin typeface="Arial" panose="020B0604020202020204" pitchFamily="34" charset="0"/>
              </a:rPr>
              <a:t>、含量少</a:t>
            </a:r>
            <a:r>
              <a:rPr lang="zh-CN" altLang="en-US" sz="2800" dirty="0">
                <a:latin typeface="Arial" panose="020B0604020202020204" pitchFamily="34" charset="0"/>
              </a:rPr>
              <a:t>，且对载流子浓度影响较小</a:t>
            </a:r>
            <a:r>
              <a:rPr lang="zh-CN" altLang="en-US" sz="2800">
                <a:latin typeface="Arial" panose="020B0604020202020204" pitchFamily="34" charset="0"/>
              </a:rPr>
              <a:t>【</a:t>
            </a:r>
            <a:r>
              <a:rPr lang="zh-CN" altLang="en-US" sz="2800" dirty="0">
                <a:latin typeface="Arial" panose="020B0604020202020204" pitchFamily="34" charset="0"/>
              </a:rPr>
              <a:t>两个原因</a:t>
            </a:r>
            <a:r>
              <a:rPr lang="zh-CN" altLang="en-US" sz="2800">
                <a:latin typeface="Arial" panose="020B0604020202020204" pitchFamily="34" charset="0"/>
              </a:rPr>
              <a:t>】</a:t>
            </a:r>
            <a:r>
              <a:rPr lang="zh-CN" altLang="en-US" sz="2800" dirty="0">
                <a:latin typeface="Arial" panose="020B0604020202020204" pitchFamily="34" charset="0"/>
              </a:rPr>
              <a:t>。</a:t>
            </a:r>
            <a:r>
              <a:rPr lang="zh-CN" altLang="en-US" sz="2800" b="1" dirty="0">
                <a:solidFill>
                  <a:srgbClr val="0000FF"/>
                </a:solidFill>
                <a:latin typeface="Arial" panose="020B0604020202020204" pitchFamily="34" charset="0"/>
              </a:rPr>
              <a:t>复合作用明显</a:t>
            </a:r>
            <a:r>
              <a:rPr lang="zh-CN" altLang="en-US" sz="2800" dirty="0">
                <a:latin typeface="Arial" panose="020B0604020202020204" pitchFamily="34" charset="0"/>
              </a:rPr>
              <a:t>，一般作为</a:t>
            </a:r>
            <a:r>
              <a:rPr lang="zh-CN" altLang="en-US" sz="2800" b="1" dirty="0">
                <a:solidFill>
                  <a:srgbClr val="0000FF"/>
                </a:solidFill>
                <a:latin typeface="Arial" panose="020B0604020202020204" pitchFamily="34" charset="0"/>
              </a:rPr>
              <a:t>复合中心</a:t>
            </a:r>
            <a:r>
              <a:rPr lang="zh-CN" altLang="en-US" sz="2800" dirty="0">
                <a:latin typeface="Arial" panose="020B0604020202020204" pitchFamily="34" charset="0"/>
              </a:rPr>
              <a:t>存在</a:t>
            </a:r>
            <a:r>
              <a:rPr lang="zh-CN" altLang="en-US" sz="2800">
                <a:latin typeface="Arial" panose="020B0604020202020204" pitchFamily="34" charset="0"/>
              </a:rPr>
              <a:t>【</a:t>
            </a:r>
            <a:r>
              <a:rPr lang="zh-CN" altLang="en-US" sz="2800" dirty="0">
                <a:latin typeface="Arial" panose="020B0604020202020204" pitchFamily="34" charset="0"/>
              </a:rPr>
              <a:t>非平衡时</a:t>
            </a:r>
            <a:r>
              <a:rPr lang="zh-CN" altLang="en-US" sz="2800">
                <a:latin typeface="Arial" panose="020B0604020202020204" pitchFamily="34" charset="0"/>
              </a:rPr>
              <a:t>】 </a:t>
            </a:r>
            <a:r>
              <a:rPr lang="zh-CN" altLang="en-US" sz="2800" dirty="0">
                <a:latin typeface="Arial" panose="020B0604020202020204" pitchFamily="34"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15719"/>
                                        </p:tgtEl>
                                        <p:attrNameLst>
                                          <p:attrName>style.visibility</p:attrName>
                                        </p:attrNameLst>
                                      </p:cBhvr>
                                      <p:to>
                                        <p:strVal val="visible"/>
                                      </p:to>
                                    </p:set>
                                    <p:anim calcmode="lin" valueType="num">
                                      <p:cBhvr additive="base">
                                        <p:cTn id="7" dur="500" fill="hold"/>
                                        <p:tgtEl>
                                          <p:spTgt spid="115719"/>
                                        </p:tgtEl>
                                        <p:attrNameLst>
                                          <p:attrName>ppt_x</p:attrName>
                                        </p:attrNameLst>
                                      </p:cBhvr>
                                      <p:tavLst>
                                        <p:tav tm="0">
                                          <p:val>
                                            <p:strVal val="0-#ppt_w/2"/>
                                          </p:val>
                                        </p:tav>
                                        <p:tav tm="100000">
                                          <p:val>
                                            <p:strVal val="#ppt_x"/>
                                          </p:val>
                                        </p:tav>
                                      </p:tavLst>
                                    </p:anim>
                                    <p:anim calcmode="lin" valueType="num">
                                      <p:cBhvr additive="base">
                                        <p:cTn id="8" dur="500" fill="hold"/>
                                        <p:tgtEl>
                                          <p:spTgt spid="115719"/>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5718"/>
                                        </p:tgtEl>
                                        <p:attrNameLst>
                                          <p:attrName>style.visibility</p:attrName>
                                        </p:attrNameLst>
                                      </p:cBhvr>
                                      <p:to>
                                        <p:strVal val="visible"/>
                                      </p:to>
                                    </p:set>
                                    <p:anim calcmode="lin" valueType="num">
                                      <p:cBhvr additive="base">
                                        <p:cTn id="13" dur="500" fill="hold"/>
                                        <p:tgtEl>
                                          <p:spTgt spid="115718"/>
                                        </p:tgtEl>
                                        <p:attrNameLst>
                                          <p:attrName>ppt_x</p:attrName>
                                        </p:attrNameLst>
                                      </p:cBhvr>
                                      <p:tavLst>
                                        <p:tav tm="0">
                                          <p:val>
                                            <p:strVal val="#ppt_x"/>
                                          </p:val>
                                        </p:tav>
                                        <p:tav tm="100000">
                                          <p:val>
                                            <p:strVal val="#ppt_x"/>
                                          </p:val>
                                        </p:tav>
                                      </p:tavLst>
                                    </p:anim>
                                    <p:anim calcmode="lin" valueType="num">
                                      <p:cBhvr additive="base">
                                        <p:cTn id="14" dur="500" fill="hold"/>
                                        <p:tgtEl>
                                          <p:spTgt spid="1157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5718" grpId="0"/>
      <p:bldP spid="11571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文本占位符 24578"/>
          <p:cNvSpPr>
            <a:spLocks noGrp="1"/>
          </p:cNvSpPr>
          <p:nvPr>
            <p:ph type="body" idx="1"/>
          </p:nvPr>
        </p:nvSpPr>
        <p:spPr>
          <a:xfrm>
            <a:off x="468313" y="549275"/>
            <a:ext cx="8229600" cy="2592388"/>
          </a:xfrm>
          <a:ln/>
        </p:spPr>
        <p:txBody>
          <a:bodyPr/>
          <a:lstStyle/>
          <a:p>
            <a:r>
              <a:rPr lang="zh-CN" altLang="en-US" sz="2600" dirty="0"/>
              <a:t>金是</a:t>
            </a:r>
            <a:r>
              <a:rPr lang="en-US" altLang="zh-CN" sz="2600"/>
              <a:t>I</a:t>
            </a:r>
            <a:r>
              <a:rPr lang="zh-CN" altLang="en-US" sz="2600" dirty="0"/>
              <a:t>族元素 </a:t>
            </a:r>
            <a:r>
              <a:rPr lang="en-US" altLang="zh-CN" sz="2600"/>
              <a:t>(</a:t>
            </a:r>
            <a:r>
              <a:rPr lang="zh-CN" altLang="en-US" sz="2000" dirty="0">
                <a:ea typeface="楷体_GB2312" pitchFamily="49" charset="-122"/>
              </a:rPr>
              <a:t>目前无完善的理论能够说明，只能定性</a:t>
            </a:r>
            <a:r>
              <a:rPr lang="en-US" altLang="zh-CN" sz="2600"/>
              <a:t>)</a:t>
            </a:r>
          </a:p>
          <a:p>
            <a:pPr lvl="1" algn="just"/>
            <a:r>
              <a:rPr lang="zh-CN" altLang="en-US" sz="2200" dirty="0"/>
              <a:t>故可失去一个电子，施主能级略高于价带顶；</a:t>
            </a:r>
          </a:p>
          <a:p>
            <a:pPr lvl="1" algn="just"/>
            <a:r>
              <a:rPr lang="zh-CN" altLang="en-US" sz="2200" dirty="0"/>
              <a:t>也可得到三个电子，形成稳定的共价键结构。</a:t>
            </a:r>
          </a:p>
          <a:p>
            <a:pPr lvl="1" algn="just">
              <a:buNone/>
            </a:pPr>
            <a:r>
              <a:rPr lang="zh-CN" altLang="en-US" sz="2200" dirty="0"/>
              <a:t>   实际中，</a:t>
            </a:r>
            <a:r>
              <a:rPr lang="en-US" altLang="zh-CN" sz="2200"/>
              <a:t>Au</a:t>
            </a:r>
            <a:r>
              <a:rPr lang="zh-CN" altLang="en-US" sz="2200" dirty="0">
                <a:latin typeface="楷体_GB2312" pitchFamily="49" charset="-122"/>
                <a:ea typeface="楷体_GB2312" pitchFamily="49" charset="-122"/>
              </a:rPr>
              <a:t>在</a:t>
            </a:r>
            <a:r>
              <a:rPr lang="en-US" altLang="zh-CN" sz="2200">
                <a:latin typeface="楷体_GB2312" pitchFamily="49" charset="-122"/>
                <a:ea typeface="楷体_GB2312" pitchFamily="49" charset="-122"/>
              </a:rPr>
              <a:t>Si</a:t>
            </a:r>
            <a:r>
              <a:rPr lang="zh-CN" altLang="en-US" sz="2200" dirty="0">
                <a:latin typeface="楷体_GB2312" pitchFamily="49" charset="-122"/>
                <a:ea typeface="楷体_GB2312" pitchFamily="49" charset="-122"/>
              </a:rPr>
              <a:t>：</a:t>
            </a:r>
            <a:r>
              <a:rPr lang="zh-CN" altLang="en-US" sz="2200" dirty="0">
                <a:solidFill>
                  <a:srgbClr val="0000FF"/>
                </a:solidFill>
                <a:latin typeface="楷体_GB2312" pitchFamily="49" charset="-122"/>
                <a:ea typeface="楷体_GB2312" pitchFamily="49" charset="-122"/>
              </a:rPr>
              <a:t>一受主、一施主</a:t>
            </a:r>
            <a:r>
              <a:rPr lang="zh-CN" altLang="en-US" sz="2200" dirty="0">
                <a:latin typeface="楷体_GB2312" pitchFamily="49" charset="-122"/>
                <a:ea typeface="楷体_GB2312" pitchFamily="49" charset="-122"/>
              </a:rPr>
              <a:t>能级。</a:t>
            </a:r>
          </a:p>
          <a:p>
            <a:pPr lvl="1" algn="just">
              <a:buNone/>
            </a:pPr>
            <a:r>
              <a:rPr lang="zh-CN" altLang="en-US" sz="2200" dirty="0">
                <a:latin typeface="楷体_GB2312" pitchFamily="49" charset="-122"/>
                <a:ea typeface="楷体_GB2312" pitchFamily="49" charset="-122"/>
              </a:rPr>
              <a:t>         在</a:t>
            </a:r>
            <a:r>
              <a:rPr lang="en-US" altLang="zh-CN" sz="2200" err="1">
                <a:latin typeface="楷体_GB2312" pitchFamily="49" charset="-122"/>
                <a:ea typeface="楷体_GB2312" pitchFamily="49" charset="-122"/>
              </a:rPr>
              <a:t>Ge</a:t>
            </a:r>
            <a:r>
              <a:rPr lang="zh-CN" altLang="en-US" sz="2200" dirty="0">
                <a:latin typeface="楷体_GB2312" pitchFamily="49" charset="-122"/>
                <a:ea typeface="楷体_GB2312" pitchFamily="49" charset="-122"/>
              </a:rPr>
              <a:t>中：三受主，一施主能级。</a:t>
            </a:r>
          </a:p>
          <a:p>
            <a:pPr lvl="1" algn="just">
              <a:buNone/>
            </a:pPr>
            <a:r>
              <a:rPr lang="zh-CN" altLang="en-US" sz="2200" dirty="0">
                <a:latin typeface="楷体_GB2312" pitchFamily="49" charset="-122"/>
                <a:ea typeface="楷体_GB2312" pitchFamily="49" charset="-122"/>
              </a:rPr>
              <a:t>  </a:t>
            </a:r>
            <a:endParaRPr lang="zh-CN" altLang="en-US" sz="2200"/>
          </a:p>
        </p:txBody>
      </p:sp>
      <p:pic>
        <p:nvPicPr>
          <p:cNvPr id="24580" name="图片 24579"/>
          <p:cNvPicPr>
            <a:picLocks noChangeAspect="1"/>
          </p:cNvPicPr>
          <p:nvPr/>
        </p:nvPicPr>
        <p:blipFill>
          <a:blip r:embed="rId2"/>
          <a:stretch>
            <a:fillRect/>
          </a:stretch>
        </p:blipFill>
        <p:spPr>
          <a:xfrm>
            <a:off x="539750" y="3068638"/>
            <a:ext cx="3384550" cy="2789237"/>
          </a:xfrm>
          <a:prstGeom prst="rect">
            <a:avLst/>
          </a:prstGeom>
          <a:noFill/>
          <a:ln w="9525">
            <a:noFill/>
          </a:ln>
        </p:spPr>
      </p:pic>
      <p:sp>
        <p:nvSpPr>
          <p:cNvPr id="24581" name="矩形 24580"/>
          <p:cNvSpPr/>
          <p:nvPr/>
        </p:nvSpPr>
        <p:spPr>
          <a:xfrm>
            <a:off x="4284663" y="3213100"/>
            <a:ext cx="4392612" cy="2654300"/>
          </a:xfrm>
          <a:prstGeom prst="rect">
            <a:avLst/>
          </a:prstGeom>
          <a:noFill/>
          <a:ln w="9525">
            <a:noFill/>
          </a:ln>
        </p:spPr>
        <p:txBody>
          <a:bodyPr>
            <a:spAutoFit/>
          </a:bodyPr>
          <a:lstStyle/>
          <a:p>
            <a:pPr lvl="1"/>
            <a:r>
              <a:rPr lang="zh-CN" altLang="en-US" sz="2800" dirty="0">
                <a:latin typeface="Arial" panose="020B0604020202020204" pitchFamily="34" charset="0"/>
              </a:rPr>
              <a:t>由于</a:t>
            </a:r>
            <a:r>
              <a:rPr lang="zh-CN" altLang="en-US" sz="2800" b="1" dirty="0">
                <a:solidFill>
                  <a:srgbClr val="FF0000"/>
                </a:solidFill>
                <a:latin typeface="Arial" panose="020B0604020202020204" pitchFamily="34" charset="0"/>
                <a:ea typeface="楷体_GB2312" pitchFamily="49" charset="-122"/>
              </a:rPr>
              <a:t>库仑力的排斥</a:t>
            </a:r>
            <a:r>
              <a:rPr lang="zh-CN" altLang="en-US" sz="2800" dirty="0">
                <a:latin typeface="Arial" panose="020B0604020202020204" pitchFamily="34" charset="0"/>
              </a:rPr>
              <a:t>作用，后获得电子的电离能大于先获得电子的电离能。即</a:t>
            </a:r>
            <a:r>
              <a:rPr lang="en-US" altLang="zh-CN" sz="2800">
                <a:latin typeface="Arial" panose="020B0604020202020204" pitchFamily="34" charset="0"/>
              </a:rPr>
              <a:t>E</a:t>
            </a:r>
            <a:r>
              <a:rPr lang="en-US" altLang="zh-CN" sz="2800" baseline="-25000">
                <a:latin typeface="Arial" panose="020B0604020202020204" pitchFamily="34" charset="0"/>
              </a:rPr>
              <a:t>A3</a:t>
            </a:r>
            <a:r>
              <a:rPr lang="en-US" altLang="zh-CN" sz="2800">
                <a:latin typeface="Arial" panose="020B0604020202020204" pitchFamily="34" charset="0"/>
              </a:rPr>
              <a:t>&gt;E</a:t>
            </a:r>
            <a:r>
              <a:rPr lang="en-US" altLang="zh-CN" sz="2800" baseline="-25000">
                <a:latin typeface="Arial" panose="020B0604020202020204" pitchFamily="34" charset="0"/>
              </a:rPr>
              <a:t>A2</a:t>
            </a:r>
            <a:r>
              <a:rPr lang="en-US" altLang="zh-CN" sz="2800">
                <a:latin typeface="Arial" panose="020B0604020202020204" pitchFamily="34" charset="0"/>
              </a:rPr>
              <a:t>&gt;E</a:t>
            </a:r>
            <a:r>
              <a:rPr lang="en-US" altLang="zh-CN" sz="2800" baseline="-25000">
                <a:latin typeface="Arial" panose="020B0604020202020204" pitchFamily="34" charset="0"/>
              </a:rPr>
              <a:t>A1</a:t>
            </a:r>
            <a:r>
              <a:rPr lang="zh-CN" altLang="en-US" sz="2800" dirty="0">
                <a:latin typeface="Arial" panose="020B0604020202020204" pitchFamily="34" charset="0"/>
              </a:rPr>
              <a:t>。</a:t>
            </a:r>
          </a:p>
          <a:p>
            <a:pPr lvl="1"/>
            <a:r>
              <a:rPr lang="zh-CN" altLang="en-US" sz="2800" dirty="0">
                <a:latin typeface="Arial" panose="020B0604020202020204" pitchFamily="34" charset="0"/>
              </a:rPr>
              <a:t>金在</a:t>
            </a:r>
            <a:r>
              <a:rPr lang="en-US" altLang="zh-CN" sz="2800" dirty="0" err="1">
                <a:latin typeface="Arial" panose="020B0604020202020204" pitchFamily="34" charset="0"/>
              </a:rPr>
              <a:t>Ge</a:t>
            </a:r>
            <a:r>
              <a:rPr lang="zh-CN" altLang="en-US" sz="2800" dirty="0">
                <a:latin typeface="Arial" panose="020B0604020202020204" pitchFamily="34" charset="0"/>
              </a:rPr>
              <a:t>中</a:t>
            </a:r>
            <a:r>
              <a:rPr lang="en-US" altLang="zh-CN" sz="2800">
                <a:latin typeface="Arial" panose="020B0604020202020204" pitchFamily="34" charset="0"/>
              </a:rPr>
              <a:t>E</a:t>
            </a:r>
            <a:r>
              <a:rPr lang="en-US" altLang="zh-CN" sz="2800" baseline="-25000">
                <a:latin typeface="Arial" panose="020B0604020202020204" pitchFamily="34" charset="0"/>
              </a:rPr>
              <a:t>D</a:t>
            </a:r>
            <a:r>
              <a:rPr lang="zh-CN" altLang="en-US" sz="2800" dirty="0">
                <a:latin typeface="Arial" panose="020B0604020202020204" pitchFamily="34" charset="0"/>
              </a:rPr>
              <a:t>、</a:t>
            </a:r>
            <a:r>
              <a:rPr lang="en-US" altLang="zh-CN" sz="2800">
                <a:latin typeface="Arial" panose="020B0604020202020204" pitchFamily="34" charset="0"/>
              </a:rPr>
              <a:t>E</a:t>
            </a:r>
            <a:r>
              <a:rPr lang="en-US" altLang="zh-CN" sz="2800" baseline="-25000">
                <a:latin typeface="Arial" panose="020B0604020202020204" pitchFamily="34" charset="0"/>
              </a:rPr>
              <a:t>A3</a:t>
            </a:r>
            <a:r>
              <a:rPr lang="zh-CN" altLang="en-US" sz="2800" dirty="0">
                <a:latin typeface="Arial" panose="020B0604020202020204" pitchFamily="34" charset="0"/>
              </a:rPr>
              <a:t>、</a:t>
            </a:r>
            <a:r>
              <a:rPr lang="en-US" altLang="zh-CN" sz="2800">
                <a:latin typeface="Arial" panose="020B0604020202020204" pitchFamily="34" charset="0"/>
              </a:rPr>
              <a:t>E</a:t>
            </a:r>
            <a:r>
              <a:rPr lang="en-US" altLang="zh-CN" sz="2800" baseline="-25000">
                <a:latin typeface="Arial" panose="020B0604020202020204" pitchFamily="34" charset="0"/>
              </a:rPr>
              <a:t>A2</a:t>
            </a:r>
            <a:r>
              <a:rPr lang="zh-CN" altLang="en-US" sz="2800" dirty="0">
                <a:latin typeface="Arial" panose="020B0604020202020204" pitchFamily="34" charset="0"/>
              </a:rPr>
              <a:t>、</a:t>
            </a:r>
            <a:r>
              <a:rPr lang="en-US" altLang="zh-CN" sz="2800">
                <a:latin typeface="Arial" panose="020B0604020202020204" pitchFamily="34" charset="0"/>
              </a:rPr>
              <a:t>E</a:t>
            </a:r>
            <a:r>
              <a:rPr lang="en-US" altLang="zh-CN" sz="2800" baseline="-25000">
                <a:latin typeface="Arial" panose="020B0604020202020204" pitchFamily="34" charset="0"/>
              </a:rPr>
              <a:t>A1</a:t>
            </a:r>
            <a:r>
              <a:rPr lang="zh-CN" altLang="en-US" sz="2800" dirty="0">
                <a:latin typeface="Arial" panose="020B0604020202020204" pitchFamily="34" charset="0"/>
              </a:rPr>
              <a:t>四个孤立能级。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580"/>
                                        </p:tgtEl>
                                        <p:attrNameLst>
                                          <p:attrName>style.visibility</p:attrName>
                                        </p:attrNameLst>
                                      </p:cBhvr>
                                      <p:to>
                                        <p:strVal val="visible"/>
                                      </p:to>
                                    </p:set>
                                    <p:anim calcmode="lin" valueType="num">
                                      <p:cBhvr additive="base">
                                        <p:cTn id="7" dur="500" fill="hold"/>
                                        <p:tgtEl>
                                          <p:spTgt spid="24580"/>
                                        </p:tgtEl>
                                        <p:attrNameLst>
                                          <p:attrName>ppt_x</p:attrName>
                                        </p:attrNameLst>
                                      </p:cBhvr>
                                      <p:tavLst>
                                        <p:tav tm="0">
                                          <p:val>
                                            <p:strVal val="#ppt_x"/>
                                          </p:val>
                                        </p:tav>
                                        <p:tav tm="100000">
                                          <p:val>
                                            <p:strVal val="#ppt_x"/>
                                          </p:val>
                                        </p:tav>
                                      </p:tavLst>
                                    </p:anim>
                                    <p:anim calcmode="lin" valueType="num">
                                      <p:cBhvr additive="base">
                                        <p:cTn id="8" dur="500" fill="hold"/>
                                        <p:tgtEl>
                                          <p:spTgt spid="24580"/>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4581"/>
                                        </p:tgtEl>
                                        <p:attrNameLst>
                                          <p:attrName>style.visibility</p:attrName>
                                        </p:attrNameLst>
                                      </p:cBhvr>
                                      <p:to>
                                        <p:strVal val="visible"/>
                                      </p:to>
                                    </p:set>
                                    <p:anim calcmode="lin" valueType="num">
                                      <p:cBhvr additive="base">
                                        <p:cTn id="13" dur="500" fill="hold"/>
                                        <p:tgtEl>
                                          <p:spTgt spid="24581"/>
                                        </p:tgtEl>
                                        <p:attrNameLst>
                                          <p:attrName>ppt_x</p:attrName>
                                        </p:attrNameLst>
                                      </p:cBhvr>
                                      <p:tavLst>
                                        <p:tav tm="0">
                                          <p:val>
                                            <p:strVal val="#ppt_x"/>
                                          </p:val>
                                        </p:tav>
                                        <p:tav tm="100000">
                                          <p:val>
                                            <p:strVal val="#ppt_x"/>
                                          </p:val>
                                        </p:tav>
                                      </p:tavLst>
                                    </p:anim>
                                    <p:anim calcmode="lin" valueType="num">
                                      <p:cBhvr additive="base">
                                        <p:cTn id="14" dur="500" fill="hold"/>
                                        <p:tgtEl>
                                          <p:spTgt spid="2458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81"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29697"/>
          <p:cNvSpPr>
            <a:spLocks noGrp="1"/>
          </p:cNvSpPr>
          <p:nvPr>
            <p:ph type="title"/>
          </p:nvPr>
        </p:nvSpPr>
        <p:spPr>
          <a:xfrm>
            <a:off x="395288" y="836613"/>
            <a:ext cx="1800225" cy="504825"/>
          </a:xfrm>
          <a:ln/>
        </p:spPr>
        <p:txBody>
          <a:bodyPr/>
          <a:lstStyle/>
          <a:p>
            <a:r>
              <a:rPr lang="en-US" altLang="zh-CN" sz="2400" b="1"/>
              <a:t>2.3.1</a:t>
            </a:r>
            <a:r>
              <a:rPr lang="zh-CN" altLang="en-US" sz="2400" b="1" dirty="0"/>
              <a:t>点缺陷</a:t>
            </a:r>
            <a:endParaRPr lang="zh-CN" altLang="en-US" sz="2400" b="1">
              <a:latin typeface="楷体_GB2312" pitchFamily="49" charset="-122"/>
              <a:ea typeface="楷体_GB2312" pitchFamily="49" charset="-122"/>
            </a:endParaRPr>
          </a:p>
        </p:txBody>
      </p:sp>
      <p:sp>
        <p:nvSpPr>
          <p:cNvPr id="29700" name="矩形 29699"/>
          <p:cNvSpPr/>
          <p:nvPr/>
        </p:nvSpPr>
        <p:spPr>
          <a:xfrm>
            <a:off x="179388" y="1268413"/>
            <a:ext cx="8748712" cy="2801937"/>
          </a:xfrm>
          <a:prstGeom prst="rect">
            <a:avLst/>
          </a:prstGeom>
          <a:noFill/>
          <a:ln w="9525">
            <a:noFill/>
          </a:ln>
        </p:spPr>
        <p:txBody>
          <a:bodyPr>
            <a:spAutoFit/>
          </a:bodyPr>
          <a:lstStyle/>
          <a:p>
            <a:r>
              <a:rPr lang="en-US" altLang="zh-CN" b="1">
                <a:solidFill>
                  <a:schemeClr val="accent2"/>
                </a:solidFill>
                <a:latin typeface="楷体_GB2312" pitchFamily="49" charset="-122"/>
                <a:ea typeface="楷体_GB2312" pitchFamily="49" charset="-122"/>
              </a:rPr>
              <a:t>1. </a:t>
            </a:r>
            <a:r>
              <a:rPr lang="zh-CN" altLang="en-US" b="1" dirty="0">
                <a:solidFill>
                  <a:schemeClr val="accent2"/>
                </a:solidFill>
                <a:latin typeface="楷体_GB2312" pitchFamily="49" charset="-122"/>
                <a:ea typeface="楷体_GB2312" pitchFamily="49" charset="-122"/>
              </a:rPr>
              <a:t>热缺陷（由温度决定） </a:t>
            </a:r>
          </a:p>
          <a:p>
            <a:endParaRPr lang="zh-CN" altLang="en-US" sz="1000" b="1" dirty="0">
              <a:solidFill>
                <a:schemeClr val="accent2"/>
              </a:solidFill>
              <a:latin typeface="楷体_GB2312" pitchFamily="49" charset="-122"/>
              <a:ea typeface="楷体_GB2312" pitchFamily="49" charset="-122"/>
            </a:endParaRPr>
          </a:p>
          <a:p>
            <a:r>
              <a:rPr lang="zh-CN" altLang="en-US" sz="2200" dirty="0">
                <a:latin typeface="楷体_GB2312" pitchFamily="49" charset="-122"/>
                <a:ea typeface="楷体_GB2312" pitchFamily="49" charset="-122"/>
              </a:rPr>
              <a:t>    </a:t>
            </a:r>
            <a:r>
              <a:rPr lang="zh-CN" altLang="en-US" sz="2400" dirty="0">
                <a:solidFill>
                  <a:srgbClr val="0000FF"/>
                </a:solidFill>
                <a:latin typeface="楷体_GB2312" pitchFamily="49" charset="-122"/>
                <a:ea typeface="楷体_GB2312" pitchFamily="49" charset="-122"/>
              </a:rPr>
              <a:t>晶格原子吸收热能后</a:t>
            </a:r>
            <a:r>
              <a:rPr lang="zh-CN" altLang="en-US" sz="2400" b="1" dirty="0">
                <a:solidFill>
                  <a:srgbClr val="0000FF"/>
                </a:solidFill>
                <a:latin typeface="楷体_GB2312" pitchFamily="49" charset="-122"/>
                <a:ea typeface="楷体_GB2312" pitchFamily="49" charset="-122"/>
              </a:rPr>
              <a:t>挤入晶格间隙</a:t>
            </a:r>
            <a:r>
              <a:rPr lang="zh-CN" altLang="en-US" sz="2400" dirty="0">
                <a:solidFill>
                  <a:srgbClr val="0000FF"/>
                </a:solidFill>
                <a:latin typeface="楷体_GB2312" pitchFamily="49" charset="-122"/>
                <a:ea typeface="楷体_GB2312" pitchFamily="49" charset="-122"/>
              </a:rPr>
              <a:t>，产生间隙原子</a:t>
            </a:r>
            <a:r>
              <a:rPr lang="en-US" altLang="zh-CN" sz="2400">
                <a:solidFill>
                  <a:srgbClr val="0000FF"/>
                </a:solidFill>
                <a:latin typeface="楷体_GB2312" pitchFamily="49" charset="-122"/>
                <a:ea typeface="楷体_GB2312" pitchFamily="49" charset="-122"/>
              </a:rPr>
              <a:t>,</a:t>
            </a:r>
            <a:r>
              <a:rPr lang="zh-CN" altLang="en-US" sz="2400" dirty="0">
                <a:solidFill>
                  <a:srgbClr val="0000FF"/>
                </a:solidFill>
                <a:latin typeface="楷体_GB2312" pitchFamily="49" charset="-122"/>
                <a:ea typeface="楷体_GB2312" pitchFamily="49" charset="-122"/>
              </a:rPr>
              <a:t>原来位置称为空位。</a:t>
            </a:r>
            <a:r>
              <a:rPr lang="zh-CN" altLang="en-US" sz="2400" dirty="0">
                <a:solidFill>
                  <a:srgbClr val="0000FF"/>
                </a:solidFill>
                <a:latin typeface="Arial" panose="020B0604020202020204" pitchFamily="34" charset="0"/>
              </a:rPr>
              <a:t>间隙原子与空位不断产生与复合，最后达到热平衡</a:t>
            </a:r>
            <a:endParaRPr lang="zh-CN" altLang="en-US" sz="2400" dirty="0">
              <a:solidFill>
                <a:srgbClr val="0000FF"/>
              </a:solidFill>
              <a:latin typeface="楷体_GB2312" pitchFamily="49" charset="-122"/>
              <a:ea typeface="楷体_GB2312" pitchFamily="49" charset="-122"/>
            </a:endParaRPr>
          </a:p>
          <a:p>
            <a:r>
              <a:rPr lang="zh-CN" altLang="en-US" sz="2200">
                <a:latin typeface="楷体_GB2312" pitchFamily="49" charset="-122"/>
                <a:ea typeface="楷体_GB2312" pitchFamily="49" charset="-122"/>
              </a:rPr>
              <a:t>       </a:t>
            </a:r>
            <a:r>
              <a:rPr lang="en-US" altLang="zh-CN" sz="2400" b="1">
                <a:latin typeface="仿宋_GB2312" pitchFamily="49" charset="-122"/>
                <a:ea typeface="仿宋_GB2312" pitchFamily="49" charset="-122"/>
              </a:rPr>
              <a:t>(a).</a:t>
            </a:r>
            <a:r>
              <a:rPr lang="zh-CN" altLang="en-US" sz="2400" b="1" dirty="0">
                <a:latin typeface="仿宋_GB2312" pitchFamily="49" charset="-122"/>
                <a:ea typeface="仿宋_GB2312" pitchFamily="49" charset="-122"/>
              </a:rPr>
              <a:t>弗伦克尔缺陷</a:t>
            </a:r>
          </a:p>
          <a:p>
            <a:pPr lvl="2"/>
            <a:r>
              <a:rPr lang="zh-CN" altLang="en-US" sz="2200" dirty="0">
                <a:latin typeface="仿宋_GB2312" pitchFamily="49" charset="-122"/>
                <a:ea typeface="仿宋_GB2312" pitchFamily="49" charset="-122"/>
              </a:rPr>
              <a:t>     成对出现的间隙原子和空位。</a:t>
            </a:r>
          </a:p>
          <a:p>
            <a:pPr lvl="1"/>
            <a:r>
              <a:rPr lang="zh-CN" altLang="en-US" sz="2400" b="1" dirty="0">
                <a:latin typeface="仿宋_GB2312" pitchFamily="49" charset="-122"/>
                <a:ea typeface="仿宋_GB2312" pitchFamily="49" charset="-122"/>
              </a:rPr>
              <a:t>   </a:t>
            </a:r>
            <a:r>
              <a:rPr lang="en-US" altLang="zh-CN" sz="2400" b="1">
                <a:latin typeface="仿宋_GB2312" pitchFamily="49" charset="-122"/>
                <a:ea typeface="仿宋_GB2312" pitchFamily="49" charset="-122"/>
              </a:rPr>
              <a:t>(b).</a:t>
            </a:r>
            <a:r>
              <a:rPr lang="zh-CN" altLang="en-US" sz="2400" b="1" dirty="0">
                <a:latin typeface="仿宋_GB2312" pitchFamily="49" charset="-122"/>
                <a:ea typeface="仿宋_GB2312" pitchFamily="49" charset="-122"/>
              </a:rPr>
              <a:t>肖特基缺陷</a:t>
            </a:r>
          </a:p>
          <a:p>
            <a:pPr lvl="2"/>
            <a:r>
              <a:rPr lang="zh-CN" altLang="en-US" sz="2200" dirty="0">
                <a:latin typeface="仿宋_GB2312" pitchFamily="49" charset="-122"/>
                <a:ea typeface="仿宋_GB2312" pitchFamily="49" charset="-122"/>
              </a:rPr>
              <a:t>     在晶体内只形成空位而没有间隙原子。</a:t>
            </a:r>
          </a:p>
        </p:txBody>
      </p:sp>
      <p:sp>
        <p:nvSpPr>
          <p:cNvPr id="29705" name="矩形 29704"/>
          <p:cNvSpPr/>
          <p:nvPr/>
        </p:nvSpPr>
        <p:spPr>
          <a:xfrm>
            <a:off x="468313" y="260350"/>
            <a:ext cx="4608512" cy="647700"/>
          </a:xfrm>
          <a:prstGeom prst="rect">
            <a:avLst/>
          </a:prstGeom>
          <a:noFill/>
          <a:ln w="9525">
            <a:noFill/>
          </a:ln>
        </p:spPr>
        <p:txBody>
          <a:bodyPr/>
          <a:lstStyle>
            <a:lvl1pPr marL="0" lvl="0" indent="0" algn="l" defTabSz="914400" rtl="0" eaLnBrk="1" fontAlgn="base" latinLnBrk="0" hangingPunct="1">
              <a:lnSpc>
                <a:spcPct val="100000"/>
              </a:lnSpc>
              <a:spcBef>
                <a:spcPct val="0"/>
              </a:spcBef>
              <a:spcAft>
                <a:spcPct val="0"/>
              </a:spcAft>
              <a:buNone/>
              <a:defRPr sz="4200" u="none" kern="1200" baseline="0">
                <a:solidFill>
                  <a:schemeClr val="tx2"/>
                </a:solidFill>
                <a:latin typeface="Garamond" panose="02020404030301010803" pitchFamily="18" charset="0"/>
                <a:ea typeface="宋体" panose="02010600030101010101" pitchFamily="2" charset="-122"/>
              </a:defRPr>
            </a:lvl1pPr>
          </a:lstStyle>
          <a:p>
            <a:pPr lvl="0"/>
            <a:r>
              <a:rPr lang="en-US" altLang="zh-CN" sz="3800"/>
              <a:t>2.3</a:t>
            </a:r>
            <a:r>
              <a:rPr lang="zh-CN" altLang="en-US" sz="3800" dirty="0"/>
              <a:t>缺陷、位错能级</a:t>
            </a:r>
            <a:endParaRPr lang="zh-CN" altLang="en-US" sz="3800"/>
          </a:p>
        </p:txBody>
      </p:sp>
      <p:pic>
        <p:nvPicPr>
          <p:cNvPr id="29706" name="图片 29705"/>
          <p:cNvPicPr>
            <a:picLocks noChangeAspect="1"/>
          </p:cNvPicPr>
          <p:nvPr/>
        </p:nvPicPr>
        <p:blipFill>
          <a:blip r:embed="rId2"/>
          <a:stretch>
            <a:fillRect/>
          </a:stretch>
        </p:blipFill>
        <p:spPr>
          <a:xfrm>
            <a:off x="1547813" y="4203700"/>
            <a:ext cx="2281237" cy="2654300"/>
          </a:xfrm>
          <a:prstGeom prst="rect">
            <a:avLst/>
          </a:prstGeom>
          <a:noFill/>
          <a:ln w="9525">
            <a:noFill/>
          </a:ln>
        </p:spPr>
      </p:pic>
      <p:pic>
        <p:nvPicPr>
          <p:cNvPr id="29707" name="图片 29706"/>
          <p:cNvPicPr>
            <a:picLocks noChangeAspect="1"/>
          </p:cNvPicPr>
          <p:nvPr/>
        </p:nvPicPr>
        <p:blipFill>
          <a:blip r:embed="rId3"/>
          <a:stretch>
            <a:fillRect/>
          </a:stretch>
        </p:blipFill>
        <p:spPr>
          <a:xfrm>
            <a:off x="5292725" y="4221163"/>
            <a:ext cx="2306638" cy="2636837"/>
          </a:xfrm>
          <a:prstGeom prst="rect">
            <a:avLst/>
          </a:prstGeom>
          <a:noFill/>
          <a:ln w="9525">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6" name="矩形 125955"/>
          <p:cNvSpPr/>
          <p:nvPr/>
        </p:nvSpPr>
        <p:spPr>
          <a:xfrm>
            <a:off x="1116013" y="2276475"/>
            <a:ext cx="7777162" cy="1377950"/>
          </a:xfrm>
          <a:prstGeom prst="rect">
            <a:avLst/>
          </a:prstGeom>
          <a:noFill/>
          <a:ln w="9525">
            <a:noFill/>
          </a:ln>
        </p:spPr>
        <p:txBody>
          <a:bodyPr>
            <a:spAutoFit/>
          </a:bodyPr>
          <a:lstStyle/>
          <a:p>
            <a:r>
              <a:rPr lang="en-US" altLang="zh-CN" b="1">
                <a:solidFill>
                  <a:schemeClr val="tx2"/>
                </a:solidFill>
                <a:latin typeface="楷体_GB2312" pitchFamily="49" charset="-122"/>
                <a:ea typeface="楷体_GB2312" pitchFamily="49" charset="-122"/>
              </a:rPr>
              <a:t>3. </a:t>
            </a:r>
            <a:r>
              <a:rPr lang="zh-CN" altLang="en-US" b="1" dirty="0">
                <a:solidFill>
                  <a:schemeClr val="tx2"/>
                </a:solidFill>
                <a:latin typeface="楷体_GB2312" pitchFamily="49" charset="-122"/>
                <a:ea typeface="楷体_GB2312" pitchFamily="49" charset="-122"/>
              </a:rPr>
              <a:t>替位原子</a:t>
            </a:r>
            <a:r>
              <a:rPr lang="en-US" altLang="zh-CN" b="1">
                <a:solidFill>
                  <a:schemeClr val="tx2"/>
                </a:solidFill>
                <a:latin typeface="楷体_GB2312" pitchFamily="49" charset="-122"/>
                <a:ea typeface="楷体_GB2312" pitchFamily="49" charset="-122"/>
              </a:rPr>
              <a:t>(</a:t>
            </a:r>
            <a:r>
              <a:rPr lang="zh-CN" altLang="en-US" b="1" dirty="0">
                <a:solidFill>
                  <a:schemeClr val="tx2"/>
                </a:solidFill>
                <a:latin typeface="楷体_GB2312" pitchFamily="49" charset="-122"/>
                <a:ea typeface="楷体_GB2312" pitchFamily="49" charset="-122"/>
              </a:rPr>
              <a:t>反结构缺陷</a:t>
            </a:r>
            <a:r>
              <a:rPr lang="en-US" altLang="zh-CN" b="1">
                <a:solidFill>
                  <a:schemeClr val="tx2"/>
                </a:solidFill>
                <a:latin typeface="楷体_GB2312" pitchFamily="49" charset="-122"/>
                <a:ea typeface="楷体_GB2312" pitchFamily="49" charset="-122"/>
              </a:rPr>
              <a:t>)</a:t>
            </a:r>
            <a:r>
              <a:rPr lang="zh-CN" altLang="en-US" b="1" dirty="0">
                <a:solidFill>
                  <a:schemeClr val="tx2"/>
                </a:solidFill>
                <a:latin typeface="楷体_GB2312" pitchFamily="49" charset="-122"/>
                <a:ea typeface="楷体_GB2312" pitchFamily="49" charset="-122"/>
              </a:rPr>
              <a:t>：</a:t>
            </a:r>
          </a:p>
          <a:p>
            <a:pPr>
              <a:spcBef>
                <a:spcPct val="35000"/>
              </a:spcBef>
            </a:pPr>
            <a:r>
              <a:rPr lang="zh-CN" altLang="en-US" sz="2400" dirty="0">
                <a:solidFill>
                  <a:schemeClr val="tx2"/>
                </a:solidFill>
                <a:latin typeface="仿宋_GB2312" pitchFamily="49" charset="-122"/>
                <a:ea typeface="仿宋_GB2312" pitchFamily="49" charset="-122"/>
              </a:rPr>
              <a:t>    </a:t>
            </a:r>
            <a:r>
              <a:rPr lang="zh-CN" altLang="en-US" sz="2400" b="1" dirty="0">
                <a:solidFill>
                  <a:schemeClr val="tx2"/>
                </a:solidFill>
                <a:latin typeface="仿宋_GB2312" pitchFamily="49" charset="-122"/>
                <a:ea typeface="仿宋_GB2312" pitchFamily="49" charset="-122"/>
              </a:rPr>
              <a:t>对</a:t>
            </a:r>
            <a:r>
              <a:rPr lang="en-US" altLang="zh-CN" sz="2400" b="1">
                <a:solidFill>
                  <a:schemeClr val="tx2"/>
                </a:solidFill>
                <a:latin typeface="仿宋_GB2312" pitchFamily="49" charset="-122"/>
                <a:ea typeface="仿宋_GB2312" pitchFamily="49" charset="-122"/>
              </a:rPr>
              <a:t>AB</a:t>
            </a:r>
            <a:r>
              <a:rPr lang="zh-CN" altLang="en-US" sz="2400" b="1" dirty="0">
                <a:solidFill>
                  <a:schemeClr val="tx2"/>
                </a:solidFill>
                <a:latin typeface="仿宋_GB2312" pitchFamily="49" charset="-122"/>
                <a:ea typeface="仿宋_GB2312" pitchFamily="49" charset="-122"/>
              </a:rPr>
              <a:t>化合物，</a:t>
            </a:r>
            <a:r>
              <a:rPr lang="en-US" altLang="zh-CN" sz="2400" b="1">
                <a:solidFill>
                  <a:schemeClr val="tx2"/>
                </a:solidFill>
                <a:latin typeface="仿宋_GB2312" pitchFamily="49" charset="-122"/>
                <a:ea typeface="仿宋_GB2312" pitchFamily="49" charset="-122"/>
              </a:rPr>
              <a:t>A</a:t>
            </a:r>
            <a:r>
              <a:rPr lang="zh-CN" altLang="en-US" sz="2400" b="1" dirty="0">
                <a:solidFill>
                  <a:schemeClr val="tx2"/>
                </a:solidFill>
                <a:latin typeface="仿宋_GB2312" pitchFamily="49" charset="-122"/>
                <a:ea typeface="仿宋_GB2312" pitchFamily="49" charset="-122"/>
              </a:rPr>
              <a:t>取代</a:t>
            </a:r>
            <a:r>
              <a:rPr lang="en-US" altLang="zh-CN" sz="2400" b="1">
                <a:solidFill>
                  <a:schemeClr val="tx2"/>
                </a:solidFill>
                <a:latin typeface="仿宋_GB2312" pitchFamily="49" charset="-122"/>
                <a:ea typeface="仿宋_GB2312" pitchFamily="49" charset="-122"/>
              </a:rPr>
              <a:t>B</a:t>
            </a:r>
            <a:r>
              <a:rPr lang="zh-CN" altLang="en-US" sz="2400" b="1" dirty="0">
                <a:solidFill>
                  <a:schemeClr val="tx2"/>
                </a:solidFill>
                <a:latin typeface="仿宋_GB2312" pitchFamily="49" charset="-122"/>
                <a:ea typeface="仿宋_GB2312" pitchFamily="49" charset="-122"/>
              </a:rPr>
              <a:t>写为</a:t>
            </a:r>
            <a:r>
              <a:rPr lang="en-US" altLang="zh-CN" sz="2400" b="1">
                <a:solidFill>
                  <a:schemeClr val="tx2"/>
                </a:solidFill>
                <a:latin typeface="仿宋_GB2312" pitchFamily="49" charset="-122"/>
                <a:ea typeface="仿宋_GB2312" pitchFamily="49" charset="-122"/>
              </a:rPr>
              <a:t>A</a:t>
            </a:r>
            <a:r>
              <a:rPr lang="en-US" altLang="zh-CN" sz="2400" b="1" baseline="-25000">
                <a:solidFill>
                  <a:schemeClr val="tx2"/>
                </a:solidFill>
                <a:latin typeface="仿宋_GB2312" pitchFamily="49" charset="-122"/>
                <a:ea typeface="仿宋_GB2312" pitchFamily="49" charset="-122"/>
              </a:rPr>
              <a:t>B</a:t>
            </a:r>
            <a:r>
              <a:rPr lang="en-US" altLang="zh-CN" sz="2400" b="1">
                <a:solidFill>
                  <a:schemeClr val="tx2"/>
                </a:solidFill>
                <a:latin typeface="仿宋_GB2312" pitchFamily="49" charset="-122"/>
                <a:ea typeface="仿宋_GB2312" pitchFamily="49" charset="-122"/>
              </a:rPr>
              <a:t>, </a:t>
            </a:r>
            <a:r>
              <a:rPr lang="zh-CN" altLang="en-US" sz="2400" b="1" dirty="0">
                <a:solidFill>
                  <a:schemeClr val="tx2"/>
                </a:solidFill>
                <a:latin typeface="仿宋_GB2312" pitchFamily="49" charset="-122"/>
                <a:ea typeface="仿宋_GB2312" pitchFamily="49" charset="-122"/>
              </a:rPr>
              <a:t>反过来，</a:t>
            </a:r>
            <a:r>
              <a:rPr lang="en-US" altLang="zh-CN" sz="2400" b="1">
                <a:solidFill>
                  <a:schemeClr val="tx2"/>
                </a:solidFill>
                <a:latin typeface="仿宋_GB2312" pitchFamily="49" charset="-122"/>
                <a:ea typeface="仿宋_GB2312" pitchFamily="49" charset="-122"/>
              </a:rPr>
              <a:t>B</a:t>
            </a:r>
            <a:r>
              <a:rPr lang="zh-CN" altLang="en-US" sz="2400" b="1" dirty="0">
                <a:solidFill>
                  <a:schemeClr val="tx2"/>
                </a:solidFill>
                <a:latin typeface="仿宋_GB2312" pitchFamily="49" charset="-122"/>
                <a:ea typeface="仿宋_GB2312" pitchFamily="49" charset="-122"/>
              </a:rPr>
              <a:t>取代</a:t>
            </a:r>
            <a:r>
              <a:rPr lang="en-US" altLang="zh-CN" sz="2400" b="1">
                <a:solidFill>
                  <a:schemeClr val="tx2"/>
                </a:solidFill>
                <a:latin typeface="仿宋_GB2312" pitchFamily="49" charset="-122"/>
                <a:ea typeface="仿宋_GB2312" pitchFamily="49" charset="-122"/>
              </a:rPr>
              <a:t>A</a:t>
            </a:r>
            <a:r>
              <a:rPr lang="zh-CN" altLang="en-US" sz="2400" b="1" dirty="0">
                <a:solidFill>
                  <a:schemeClr val="tx2"/>
                </a:solidFill>
                <a:latin typeface="仿宋_GB2312" pitchFamily="49" charset="-122"/>
                <a:ea typeface="仿宋_GB2312" pitchFamily="49" charset="-122"/>
              </a:rPr>
              <a:t>的位置为</a:t>
            </a:r>
            <a:r>
              <a:rPr lang="en-US" altLang="zh-CN" sz="2400" b="1">
                <a:solidFill>
                  <a:schemeClr val="tx2"/>
                </a:solidFill>
                <a:latin typeface="仿宋_GB2312" pitchFamily="49" charset="-122"/>
                <a:ea typeface="仿宋_GB2312" pitchFamily="49" charset="-122"/>
              </a:rPr>
              <a:t>B</a:t>
            </a:r>
            <a:r>
              <a:rPr lang="en-US" altLang="zh-CN" sz="2400" b="1" baseline="-25000">
                <a:solidFill>
                  <a:schemeClr val="tx2"/>
                </a:solidFill>
                <a:latin typeface="仿宋_GB2312" pitchFamily="49" charset="-122"/>
                <a:ea typeface="仿宋_GB2312" pitchFamily="49" charset="-122"/>
              </a:rPr>
              <a:t>A </a:t>
            </a:r>
            <a:r>
              <a:rPr lang="zh-CN" altLang="en-US" sz="2400" b="1" dirty="0">
                <a:solidFill>
                  <a:schemeClr val="tx2"/>
                </a:solidFill>
                <a:latin typeface="仿宋_GB2312" pitchFamily="49" charset="-122"/>
                <a:ea typeface="仿宋_GB2312" pitchFamily="49" charset="-122"/>
              </a:rPr>
              <a:t>（小写代表位置，大写代表占据该位置的原子）。</a:t>
            </a:r>
          </a:p>
        </p:txBody>
      </p:sp>
      <p:sp>
        <p:nvSpPr>
          <p:cNvPr id="125957" name="左大括号 125956"/>
          <p:cNvSpPr/>
          <p:nvPr/>
        </p:nvSpPr>
        <p:spPr>
          <a:xfrm>
            <a:off x="1042988" y="1268413"/>
            <a:ext cx="144462" cy="720725"/>
          </a:xfrm>
          <a:prstGeom prst="leftBrace">
            <a:avLst>
              <a:gd name="adj1" fmla="val 41575"/>
              <a:gd name="adj2" fmla="val 50000"/>
            </a:avLst>
          </a:prstGeom>
          <a:noFill/>
          <a:ln w="9525" cap="flat" cmpd="sng">
            <a:solidFill>
              <a:schemeClr val="tx1"/>
            </a:solidFill>
            <a:prstDash val="solid"/>
            <a:headEnd type="none" w="med" len="med"/>
            <a:tailEnd type="none" w="med" len="med"/>
          </a:ln>
        </p:spPr>
        <p:txBody>
          <a:bodyPr/>
          <a:lstStyle/>
          <a:p>
            <a:endParaRPr lang="zh-CN" altLang="en-US"/>
          </a:p>
        </p:txBody>
      </p:sp>
      <p:sp>
        <p:nvSpPr>
          <p:cNvPr id="125958" name="文本框 125957"/>
          <p:cNvSpPr txBox="1"/>
          <p:nvPr/>
        </p:nvSpPr>
        <p:spPr>
          <a:xfrm>
            <a:off x="179388" y="1052513"/>
            <a:ext cx="936625" cy="1187450"/>
          </a:xfrm>
          <a:prstGeom prst="rect">
            <a:avLst/>
          </a:prstGeom>
          <a:noFill/>
          <a:ln w="9525">
            <a:noFill/>
          </a:ln>
        </p:spPr>
        <p:txBody>
          <a:bodyPr>
            <a:spAutoFit/>
          </a:bodyPr>
          <a:lstStyle/>
          <a:p>
            <a:r>
              <a:rPr lang="zh-CN" altLang="en-US" sz="2400" b="1" dirty="0">
                <a:latin typeface="Arial" panose="020B0604020202020204" pitchFamily="34" charset="0"/>
                <a:ea typeface="楷体_GB2312" pitchFamily="49" charset="-122"/>
              </a:rPr>
              <a:t>化合物半导体</a:t>
            </a:r>
          </a:p>
        </p:txBody>
      </p:sp>
      <p:sp>
        <p:nvSpPr>
          <p:cNvPr id="125959" name="矩形 125958"/>
          <p:cNvSpPr/>
          <p:nvPr/>
        </p:nvSpPr>
        <p:spPr>
          <a:xfrm>
            <a:off x="1258888" y="1196975"/>
            <a:ext cx="7885112" cy="884238"/>
          </a:xfrm>
          <a:prstGeom prst="rect">
            <a:avLst/>
          </a:prstGeom>
          <a:noFill/>
          <a:ln w="9525">
            <a:noFill/>
          </a:ln>
        </p:spPr>
        <p:txBody>
          <a:bodyPr>
            <a:spAutoFit/>
          </a:bodyPr>
          <a:lstStyle/>
          <a:p>
            <a:r>
              <a:rPr lang="en-US" altLang="zh-CN" b="1">
                <a:solidFill>
                  <a:schemeClr val="tx2"/>
                </a:solidFill>
                <a:latin typeface="楷体_GB2312" pitchFamily="49" charset="-122"/>
                <a:ea typeface="楷体_GB2312" pitchFamily="49" charset="-122"/>
              </a:rPr>
              <a:t>2. </a:t>
            </a:r>
            <a:r>
              <a:rPr lang="zh-CN" altLang="en-US" b="1" dirty="0">
                <a:solidFill>
                  <a:schemeClr val="tx2"/>
                </a:solidFill>
                <a:latin typeface="楷体_GB2312" pitchFamily="49" charset="-122"/>
                <a:ea typeface="楷体_GB2312" pitchFamily="49" charset="-122"/>
              </a:rPr>
              <a:t>空位：</a:t>
            </a:r>
            <a:r>
              <a:rPr lang="zh-CN" altLang="en-US" dirty="0">
                <a:latin typeface="Arial" panose="020B0604020202020204" pitchFamily="34" charset="0"/>
              </a:rPr>
              <a:t> </a:t>
            </a:r>
            <a:r>
              <a:rPr lang="zh-CN" altLang="en-US" sz="2400" dirty="0">
                <a:latin typeface="Arial" panose="020B0604020202020204" pitchFamily="34" charset="0"/>
                <a:ea typeface="楷体_GB2312" pitchFamily="49" charset="-122"/>
              </a:rPr>
              <a:t>由于偏离正常的化学成分比。位置上原子消失，形成点缺陷。</a:t>
            </a:r>
            <a:endParaRPr lang="zh-CN" altLang="en-US" sz="2400" dirty="0">
              <a:solidFill>
                <a:schemeClr val="tx2"/>
              </a:solidFill>
              <a:latin typeface="Arial" panose="020B0604020202020204" pitchFamily="34" charset="0"/>
              <a:ea typeface="楷体_GB2312" pitchFamily="49" charset="-122"/>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标题 30724"/>
          <p:cNvSpPr>
            <a:spLocks noGrp="1"/>
          </p:cNvSpPr>
          <p:nvPr>
            <p:ph type="title"/>
          </p:nvPr>
        </p:nvSpPr>
        <p:spPr>
          <a:xfrm>
            <a:off x="457200" y="277813"/>
            <a:ext cx="5194300" cy="703262"/>
          </a:xfrm>
          <a:ln/>
        </p:spPr>
        <p:txBody>
          <a:bodyPr/>
          <a:lstStyle/>
          <a:p>
            <a:r>
              <a:rPr lang="zh-CN" altLang="en-US" sz="3800" dirty="0"/>
              <a:t>点缺陷引入的能级类型</a:t>
            </a:r>
            <a:endParaRPr lang="zh-CN" altLang="en-US" sz="3800"/>
          </a:p>
        </p:txBody>
      </p:sp>
      <p:sp>
        <p:nvSpPr>
          <p:cNvPr id="30726" name="矩形 30725"/>
          <p:cNvSpPr/>
          <p:nvPr/>
        </p:nvSpPr>
        <p:spPr>
          <a:xfrm>
            <a:off x="1476375" y="1341438"/>
            <a:ext cx="7056438" cy="1431925"/>
          </a:xfrm>
          <a:prstGeom prst="rect">
            <a:avLst/>
          </a:prstGeom>
          <a:noFill/>
          <a:ln w="9525">
            <a:noFill/>
          </a:ln>
        </p:spPr>
        <p:txBody>
          <a:bodyPr>
            <a:spAutoFit/>
          </a:bodyPr>
          <a:lstStyle/>
          <a:p>
            <a:r>
              <a:rPr lang="zh-CN" altLang="en-US" sz="2200" b="1" dirty="0">
                <a:solidFill>
                  <a:srgbClr val="0000FF"/>
                </a:solidFill>
                <a:latin typeface="仿宋_GB2312" pitchFamily="49" charset="-122"/>
                <a:ea typeface="仿宋_GB2312" pitchFamily="49" charset="-122"/>
              </a:rPr>
              <a:t>间隙原子</a:t>
            </a:r>
            <a:r>
              <a:rPr lang="zh-CN" altLang="en-US" sz="2200" dirty="0">
                <a:latin typeface="仿宋_GB2312" pitchFamily="49" charset="-122"/>
                <a:ea typeface="仿宋_GB2312" pitchFamily="49" charset="-122"/>
              </a:rPr>
              <a:t>有四个电子可以失去，所以倾向于表现出施主作用</a:t>
            </a:r>
            <a:r>
              <a:rPr lang="en-US" altLang="zh-CN" sz="2200">
                <a:latin typeface="仿宋_GB2312" pitchFamily="49" charset="-122"/>
                <a:ea typeface="仿宋_GB2312" pitchFamily="49" charset="-122"/>
              </a:rPr>
              <a:t>(</a:t>
            </a:r>
            <a:r>
              <a:rPr lang="zh-CN" altLang="en-US" sz="2200" dirty="0">
                <a:latin typeface="仿宋_GB2312" pitchFamily="49" charset="-122"/>
                <a:ea typeface="仿宋_GB2312" pitchFamily="49" charset="-122"/>
              </a:rPr>
              <a:t>也会起受主作用</a:t>
            </a:r>
            <a:r>
              <a:rPr lang="en-US" altLang="zh-CN" sz="2200">
                <a:latin typeface="仿宋_GB2312" pitchFamily="49" charset="-122"/>
                <a:ea typeface="仿宋_GB2312" pitchFamily="49" charset="-122"/>
              </a:rPr>
              <a:t>)</a:t>
            </a:r>
            <a:r>
              <a:rPr lang="zh-CN" altLang="en-US" sz="2200" dirty="0">
                <a:latin typeface="仿宋_GB2312" pitchFamily="49" charset="-122"/>
                <a:ea typeface="仿宋_GB2312" pitchFamily="49" charset="-122"/>
              </a:rPr>
              <a:t>。</a:t>
            </a:r>
          </a:p>
          <a:p>
            <a:r>
              <a:rPr lang="zh-CN" altLang="en-US" sz="2200" b="1" dirty="0">
                <a:solidFill>
                  <a:srgbClr val="0000FF"/>
                </a:solidFill>
                <a:latin typeface="仿宋_GB2312" pitchFamily="49" charset="-122"/>
                <a:ea typeface="仿宋_GB2312" pitchFamily="49" charset="-122"/>
              </a:rPr>
              <a:t>空位：</a:t>
            </a:r>
            <a:r>
              <a:rPr lang="zh-CN" altLang="en-US" sz="2200" dirty="0">
                <a:latin typeface="仿宋_GB2312" pitchFamily="49" charset="-122"/>
                <a:ea typeface="仿宋_GB2312" pitchFamily="49" charset="-122"/>
              </a:rPr>
              <a:t>形成的键不饱和，易于接受电子，所以空位表现出受主作用；</a:t>
            </a:r>
          </a:p>
        </p:txBody>
      </p:sp>
      <p:sp>
        <p:nvSpPr>
          <p:cNvPr id="30727" name="矩形 30726"/>
          <p:cNvSpPr/>
          <p:nvPr/>
        </p:nvSpPr>
        <p:spPr>
          <a:xfrm>
            <a:off x="1474788" y="3228975"/>
            <a:ext cx="7345362" cy="2647950"/>
          </a:xfrm>
          <a:prstGeom prst="rect">
            <a:avLst/>
          </a:prstGeom>
          <a:noFill/>
          <a:ln w="9525">
            <a:noFill/>
          </a:ln>
        </p:spPr>
        <p:txBody>
          <a:bodyPr>
            <a:spAutoFit/>
          </a:bodyPr>
          <a:lstStyle/>
          <a:p>
            <a:r>
              <a:rPr lang="zh-CN" altLang="en-US" sz="2400" b="1" dirty="0">
                <a:solidFill>
                  <a:srgbClr val="0000FF"/>
                </a:solidFill>
                <a:latin typeface="仿宋_GB2312" pitchFamily="49" charset="-122"/>
                <a:ea typeface="仿宋_GB2312" pitchFamily="49" charset="-122"/>
              </a:rPr>
              <a:t>空位：</a:t>
            </a:r>
            <a:r>
              <a:rPr lang="zh-CN" altLang="en-US" sz="2400" dirty="0">
                <a:latin typeface="仿宋_GB2312" pitchFamily="49" charset="-122"/>
                <a:ea typeface="仿宋_GB2312" pitchFamily="49" charset="-122"/>
              </a:rPr>
              <a:t>需要实际分析。</a:t>
            </a:r>
            <a:r>
              <a:rPr lang="en-US" altLang="zh-CN" sz="2400" dirty="0" err="1">
                <a:latin typeface="仿宋_GB2312" pitchFamily="49" charset="-122"/>
                <a:ea typeface="仿宋_GB2312" pitchFamily="49" charset="-122"/>
              </a:rPr>
              <a:t>GaAs</a:t>
            </a:r>
            <a:r>
              <a:rPr lang="zh-CN" altLang="en-US" sz="2400" dirty="0">
                <a:latin typeface="仿宋_GB2312" pitchFamily="49" charset="-122"/>
                <a:ea typeface="仿宋_GB2312" pitchFamily="49" charset="-122"/>
              </a:rPr>
              <a:t>中的镓空位和砷空位均表现为受主作用；离子性强的化合物半导体（</a:t>
            </a:r>
            <a:r>
              <a:rPr lang="en-US" altLang="zh-CN" sz="2400">
                <a:latin typeface="仿宋_GB2312" pitchFamily="49" charset="-122"/>
                <a:ea typeface="仿宋_GB2312" pitchFamily="49" charset="-122"/>
              </a:rPr>
              <a:t>M,X</a:t>
            </a:r>
            <a:r>
              <a:rPr lang="zh-CN" altLang="en-US" sz="2400" dirty="0">
                <a:latin typeface="仿宋_GB2312" pitchFamily="49" charset="-122"/>
                <a:ea typeface="仿宋_GB2312" pitchFamily="49" charset="-122"/>
              </a:rPr>
              <a:t>），正离子空位是受主，负离子空位是施主。</a:t>
            </a:r>
          </a:p>
          <a:p>
            <a:r>
              <a:rPr lang="zh-CN" altLang="en-US" sz="2400" b="1" dirty="0">
                <a:solidFill>
                  <a:srgbClr val="0000FF"/>
                </a:solidFill>
                <a:latin typeface="仿宋_GB2312" pitchFamily="49" charset="-122"/>
                <a:ea typeface="仿宋_GB2312" pitchFamily="49" charset="-122"/>
              </a:rPr>
              <a:t>间隙原子：</a:t>
            </a:r>
            <a:r>
              <a:rPr lang="zh-CN" altLang="en-US" sz="2400" dirty="0">
                <a:latin typeface="仿宋_GB2312" pitchFamily="49" charset="-122"/>
                <a:ea typeface="仿宋_GB2312" pitchFamily="49" charset="-122"/>
              </a:rPr>
              <a:t>金属原子为间隙原子时为施主，非金属原子为间隙原子时为受主。</a:t>
            </a:r>
          </a:p>
          <a:p>
            <a:r>
              <a:rPr lang="zh-CN" altLang="en-US" sz="2400" b="1" dirty="0">
                <a:solidFill>
                  <a:srgbClr val="0000FF"/>
                </a:solidFill>
                <a:latin typeface="仿宋_GB2312" pitchFamily="49" charset="-122"/>
                <a:ea typeface="仿宋_GB2312" pitchFamily="49" charset="-122"/>
              </a:rPr>
              <a:t>替位原子：</a:t>
            </a:r>
            <a:r>
              <a:rPr lang="zh-CN" altLang="en-US" sz="2400" dirty="0">
                <a:latin typeface="仿宋_GB2312" pitchFamily="49" charset="-122"/>
                <a:ea typeface="仿宋_GB2312" pitchFamily="49" charset="-122"/>
              </a:rPr>
              <a:t>离子性弱的二元化合物</a:t>
            </a:r>
            <a:r>
              <a:rPr lang="en-US" altLang="zh-CN" sz="2400">
                <a:latin typeface="仿宋_GB2312" pitchFamily="49" charset="-122"/>
                <a:ea typeface="仿宋_GB2312" pitchFamily="49" charset="-122"/>
              </a:rPr>
              <a:t>AB</a:t>
            </a:r>
            <a:r>
              <a:rPr lang="zh-CN" altLang="en-US" sz="2400" dirty="0">
                <a:latin typeface="仿宋_GB2312" pitchFamily="49" charset="-122"/>
                <a:ea typeface="仿宋_GB2312" pitchFamily="49" charset="-122"/>
              </a:rPr>
              <a:t>，替位原子</a:t>
            </a:r>
            <a:r>
              <a:rPr lang="en-US" altLang="zh-CN" sz="2400">
                <a:latin typeface="仿宋_GB2312" pitchFamily="49" charset="-122"/>
                <a:ea typeface="仿宋_GB2312" pitchFamily="49" charset="-122"/>
              </a:rPr>
              <a:t>A</a:t>
            </a:r>
            <a:r>
              <a:rPr lang="en-US" altLang="zh-CN" sz="2400" baseline="-25000">
                <a:latin typeface="仿宋_GB2312" pitchFamily="49" charset="-122"/>
                <a:ea typeface="仿宋_GB2312" pitchFamily="49" charset="-122"/>
              </a:rPr>
              <a:t>B</a:t>
            </a:r>
            <a:r>
              <a:rPr lang="zh-CN" altLang="en-US" sz="2400" dirty="0">
                <a:latin typeface="仿宋_GB2312" pitchFamily="49" charset="-122"/>
                <a:ea typeface="仿宋_GB2312" pitchFamily="49" charset="-122"/>
              </a:rPr>
              <a:t>是受主，</a:t>
            </a:r>
            <a:r>
              <a:rPr lang="en-US" altLang="zh-CN" sz="2400">
                <a:latin typeface="仿宋_GB2312" pitchFamily="49" charset="-122"/>
                <a:ea typeface="仿宋_GB2312" pitchFamily="49" charset="-122"/>
              </a:rPr>
              <a:t>BA</a:t>
            </a:r>
            <a:r>
              <a:rPr lang="zh-CN" altLang="en-US" sz="2400" dirty="0">
                <a:latin typeface="仿宋_GB2312" pitchFamily="49" charset="-122"/>
                <a:ea typeface="仿宋_GB2312" pitchFamily="49" charset="-122"/>
              </a:rPr>
              <a:t>是施主。</a:t>
            </a:r>
            <a:r>
              <a:rPr lang="en-US" altLang="zh-CN" sz="2400">
                <a:latin typeface="仿宋_GB2312" pitchFamily="49" charset="-122"/>
                <a:ea typeface="仿宋_GB2312" pitchFamily="49" charset="-122"/>
              </a:rPr>
              <a:t>[B</a:t>
            </a:r>
            <a:r>
              <a:rPr lang="zh-CN" altLang="en-US" sz="2400" dirty="0">
                <a:latin typeface="仿宋_GB2312" pitchFamily="49" charset="-122"/>
                <a:ea typeface="仿宋_GB2312" pitchFamily="49" charset="-122"/>
              </a:rPr>
              <a:t>元素价电子较多</a:t>
            </a:r>
            <a:r>
              <a:rPr lang="en-US" altLang="zh-CN" sz="2400">
                <a:latin typeface="仿宋_GB2312" pitchFamily="49" charset="-122"/>
                <a:ea typeface="仿宋_GB2312" pitchFamily="49" charset="-122"/>
              </a:rPr>
              <a:t>]</a:t>
            </a:r>
          </a:p>
        </p:txBody>
      </p:sp>
      <p:sp>
        <p:nvSpPr>
          <p:cNvPr id="30728" name="文本框 30727"/>
          <p:cNvSpPr txBox="1"/>
          <p:nvPr/>
        </p:nvSpPr>
        <p:spPr>
          <a:xfrm>
            <a:off x="107950" y="1341438"/>
            <a:ext cx="1028700" cy="1373187"/>
          </a:xfrm>
          <a:prstGeom prst="rect">
            <a:avLst/>
          </a:prstGeom>
          <a:noFill/>
          <a:ln w="9525">
            <a:noFill/>
          </a:ln>
        </p:spPr>
        <p:txBody>
          <a:bodyPr>
            <a:spAutoFit/>
          </a:bodyPr>
          <a:lstStyle/>
          <a:p>
            <a:r>
              <a:rPr lang="zh-CN" altLang="en-US" b="1" dirty="0">
                <a:solidFill>
                  <a:srgbClr val="FF0000"/>
                </a:solidFill>
                <a:latin typeface="Arial" panose="020B0604020202020204" pitchFamily="34" charset="0"/>
              </a:rPr>
              <a:t>元素半导体：</a:t>
            </a:r>
          </a:p>
        </p:txBody>
      </p:sp>
      <p:sp>
        <p:nvSpPr>
          <p:cNvPr id="30729" name="文本框 30728"/>
          <p:cNvSpPr txBox="1"/>
          <p:nvPr/>
        </p:nvSpPr>
        <p:spPr>
          <a:xfrm>
            <a:off x="34925" y="3784600"/>
            <a:ext cx="1028700" cy="1373188"/>
          </a:xfrm>
          <a:prstGeom prst="rect">
            <a:avLst/>
          </a:prstGeom>
          <a:noFill/>
          <a:ln w="9525">
            <a:noFill/>
          </a:ln>
        </p:spPr>
        <p:txBody>
          <a:bodyPr>
            <a:spAutoFit/>
          </a:bodyPr>
          <a:lstStyle/>
          <a:p>
            <a:r>
              <a:rPr lang="zh-CN" altLang="en-US" b="1" dirty="0">
                <a:solidFill>
                  <a:srgbClr val="FF0000"/>
                </a:solidFill>
                <a:latin typeface="Arial" panose="020B0604020202020204" pitchFamily="34" charset="0"/>
              </a:rPr>
              <a:t>化合物半导体：</a:t>
            </a:r>
          </a:p>
        </p:txBody>
      </p:sp>
      <p:sp>
        <p:nvSpPr>
          <p:cNvPr id="30731" name="左大括号 30730"/>
          <p:cNvSpPr/>
          <p:nvPr/>
        </p:nvSpPr>
        <p:spPr>
          <a:xfrm>
            <a:off x="1258888" y="1484313"/>
            <a:ext cx="217487" cy="936625"/>
          </a:xfrm>
          <a:prstGeom prst="leftBrace">
            <a:avLst>
              <a:gd name="adj1" fmla="val 35888"/>
              <a:gd name="adj2" fmla="val 50000"/>
            </a:avLst>
          </a:prstGeom>
          <a:noFill/>
          <a:ln w="25400" cap="flat" cmpd="sng">
            <a:solidFill>
              <a:schemeClr val="tx1"/>
            </a:solidFill>
            <a:prstDash val="solid"/>
            <a:headEnd type="none" w="med" len="med"/>
            <a:tailEnd type="none" w="med" len="med"/>
          </a:ln>
        </p:spPr>
        <p:txBody>
          <a:bodyPr/>
          <a:lstStyle/>
          <a:p>
            <a:endParaRPr lang="zh-CN" altLang="en-US"/>
          </a:p>
        </p:txBody>
      </p:sp>
      <p:sp>
        <p:nvSpPr>
          <p:cNvPr id="30732" name="左大括号 30731"/>
          <p:cNvSpPr/>
          <p:nvPr/>
        </p:nvSpPr>
        <p:spPr>
          <a:xfrm>
            <a:off x="1187450" y="3516313"/>
            <a:ext cx="288925" cy="1873250"/>
          </a:xfrm>
          <a:prstGeom prst="leftBrace">
            <a:avLst>
              <a:gd name="adj1" fmla="val 54029"/>
              <a:gd name="adj2" fmla="val 50000"/>
            </a:avLst>
          </a:prstGeom>
          <a:noFill/>
          <a:ln w="25400" cap="flat" cmpd="sng">
            <a:solidFill>
              <a:schemeClr val="tx1"/>
            </a:solidFill>
            <a:prstDash val="solid"/>
            <a:headEnd type="none" w="med" len="med"/>
            <a:tailEnd type="none" w="med" len="med"/>
          </a:ln>
        </p:spPr>
        <p:txBody>
          <a:bodyPr/>
          <a:lstStyle/>
          <a:p>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32769"/>
          <p:cNvSpPr>
            <a:spLocks noGrp="1"/>
          </p:cNvSpPr>
          <p:nvPr>
            <p:ph type="title"/>
          </p:nvPr>
        </p:nvSpPr>
        <p:spPr>
          <a:ln/>
        </p:spPr>
        <p:txBody>
          <a:bodyPr/>
          <a:lstStyle/>
          <a:p>
            <a:r>
              <a:rPr lang="en-US" altLang="zh-CN"/>
              <a:t>2.3.2</a:t>
            </a:r>
            <a:r>
              <a:rPr lang="zh-CN" altLang="en-US" dirty="0"/>
              <a:t>位错</a:t>
            </a:r>
            <a:endParaRPr lang="zh-CN" altLang="en-US"/>
          </a:p>
        </p:txBody>
      </p:sp>
      <p:sp>
        <p:nvSpPr>
          <p:cNvPr id="32771" name="文本占位符 32770"/>
          <p:cNvSpPr>
            <a:spLocks noGrp="1"/>
          </p:cNvSpPr>
          <p:nvPr>
            <p:ph type="body" idx="1"/>
          </p:nvPr>
        </p:nvSpPr>
        <p:spPr>
          <a:xfrm>
            <a:off x="468313" y="1125538"/>
            <a:ext cx="8229600" cy="2016125"/>
          </a:xfrm>
          <a:ln/>
        </p:spPr>
        <p:txBody>
          <a:bodyPr/>
          <a:lstStyle/>
          <a:p>
            <a:r>
              <a:rPr lang="zh-CN" altLang="en-US" dirty="0"/>
              <a:t>对半导体材料和器件的性能会产生重要影响。</a:t>
            </a:r>
          </a:p>
          <a:p>
            <a:pPr lvl="1"/>
            <a:r>
              <a:rPr lang="zh-CN" altLang="en-US" b="1" dirty="0">
                <a:cs typeface="Arial" panose="020B0604020202020204" pitchFamily="34" charset="0"/>
              </a:rPr>
              <a:t>锗中位错具有受主及施主的作用。与杂质间可能起补偿作用。</a:t>
            </a:r>
          </a:p>
          <a:p>
            <a:pPr lvl="1"/>
            <a:r>
              <a:rPr lang="zh-CN" altLang="en-US" dirty="0">
                <a:cs typeface="Arial" panose="020B0604020202020204" pitchFamily="34" charset="0"/>
              </a:rPr>
              <a:t>晶格畸变，</a:t>
            </a:r>
            <a:r>
              <a:rPr lang="zh-CN" altLang="en-US" dirty="0">
                <a:solidFill>
                  <a:srgbClr val="FF0000"/>
                </a:solidFill>
                <a:cs typeface="Arial" panose="020B0604020202020204" pitchFamily="34" charset="0"/>
              </a:rPr>
              <a:t>能带宽度发生变化</a:t>
            </a:r>
            <a:r>
              <a:rPr lang="zh-CN" altLang="en-US" dirty="0">
                <a:cs typeface="Arial" panose="020B0604020202020204" pitchFamily="34" charset="0"/>
              </a:rPr>
              <a:t>。</a:t>
            </a:r>
            <a:endParaRPr lang="zh-CN" altLang="en-US">
              <a:ea typeface="Arial" panose="020B0604020202020204" pitchFamily="34" charset="0"/>
            </a:endParaRPr>
          </a:p>
        </p:txBody>
      </p:sp>
      <p:sp>
        <p:nvSpPr>
          <p:cNvPr id="32774" name="矩形 32773"/>
          <p:cNvSpPr/>
          <p:nvPr/>
        </p:nvSpPr>
        <p:spPr>
          <a:xfrm>
            <a:off x="0" y="0"/>
            <a:ext cx="9144000" cy="0"/>
          </a:xfrm>
          <a:prstGeom prst="rect">
            <a:avLst/>
          </a:prstGeom>
          <a:noFill/>
          <a:ln w="9525">
            <a:noFill/>
          </a:ln>
        </p:spPr>
        <p:txBody>
          <a:bodyPr/>
          <a:lstStyle/>
          <a:p>
            <a:endParaRPr lang="zh-CN" altLang="en-US"/>
          </a:p>
        </p:txBody>
      </p:sp>
      <p:sp>
        <p:nvSpPr>
          <p:cNvPr id="32786" name="矩形 32785"/>
          <p:cNvSpPr/>
          <p:nvPr/>
        </p:nvSpPr>
        <p:spPr>
          <a:xfrm>
            <a:off x="0" y="3214688"/>
            <a:ext cx="9144000" cy="0"/>
          </a:xfrm>
          <a:prstGeom prst="rect">
            <a:avLst/>
          </a:prstGeom>
          <a:noFill/>
          <a:ln w="9525">
            <a:noFill/>
          </a:ln>
        </p:spPr>
        <p:txBody>
          <a:bodyPr/>
          <a:lstStyle/>
          <a:p>
            <a:endParaRPr lang="zh-CN" altLang="en-US"/>
          </a:p>
        </p:txBody>
      </p:sp>
      <p:sp>
        <p:nvSpPr>
          <p:cNvPr id="32787" name="矩形 32786"/>
          <p:cNvSpPr/>
          <p:nvPr/>
        </p:nvSpPr>
        <p:spPr>
          <a:xfrm>
            <a:off x="0" y="3643313"/>
            <a:ext cx="9144000" cy="0"/>
          </a:xfrm>
          <a:prstGeom prst="rect">
            <a:avLst/>
          </a:prstGeom>
          <a:noFill/>
          <a:ln w="9525">
            <a:noFill/>
          </a:ln>
        </p:spPr>
        <p:txBody>
          <a:bodyPr/>
          <a:lstStyle/>
          <a:p>
            <a:endParaRPr lang="zh-CN" altLang="en-US"/>
          </a:p>
        </p:txBody>
      </p:sp>
      <p:pic>
        <p:nvPicPr>
          <p:cNvPr id="32788" name="图片 32787"/>
          <p:cNvPicPr>
            <a:picLocks noChangeAspect="1"/>
          </p:cNvPicPr>
          <p:nvPr/>
        </p:nvPicPr>
        <p:blipFill>
          <a:blip r:embed="rId2"/>
          <a:stretch>
            <a:fillRect/>
          </a:stretch>
        </p:blipFill>
        <p:spPr>
          <a:xfrm>
            <a:off x="684213" y="3284538"/>
            <a:ext cx="2276475" cy="447675"/>
          </a:xfrm>
          <a:prstGeom prst="rect">
            <a:avLst/>
          </a:prstGeom>
          <a:noFill/>
          <a:ln w="9525">
            <a:noFill/>
          </a:ln>
        </p:spPr>
      </p:pic>
      <p:pic>
        <p:nvPicPr>
          <p:cNvPr id="32789" name="图片 32788"/>
          <p:cNvPicPr>
            <a:picLocks noChangeAspect="1"/>
          </p:cNvPicPr>
          <p:nvPr/>
        </p:nvPicPr>
        <p:blipFill>
          <a:blip r:embed="rId3"/>
          <a:stretch>
            <a:fillRect/>
          </a:stretch>
        </p:blipFill>
        <p:spPr>
          <a:xfrm>
            <a:off x="900113" y="3860800"/>
            <a:ext cx="2963862" cy="2589213"/>
          </a:xfrm>
          <a:prstGeom prst="rect">
            <a:avLst/>
          </a:prstGeom>
          <a:noFill/>
          <a:ln w="9525">
            <a:noFill/>
          </a:ln>
        </p:spPr>
      </p:pic>
      <p:pic>
        <p:nvPicPr>
          <p:cNvPr id="32790" name="图片 32789"/>
          <p:cNvPicPr>
            <a:picLocks noChangeAspect="1"/>
          </p:cNvPicPr>
          <p:nvPr/>
        </p:nvPicPr>
        <p:blipFill>
          <a:blip r:embed="rId4"/>
          <a:stretch>
            <a:fillRect/>
          </a:stretch>
        </p:blipFill>
        <p:spPr>
          <a:xfrm>
            <a:off x="5003800" y="3357563"/>
            <a:ext cx="3087688" cy="2863850"/>
          </a:xfrm>
          <a:prstGeom prst="rect">
            <a:avLst/>
          </a:prstGeom>
          <a:noFill/>
          <a:ln w="9525">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6980" name="图片 126979"/>
          <p:cNvPicPr>
            <a:picLocks noChangeAspect="1"/>
          </p:cNvPicPr>
          <p:nvPr/>
        </p:nvPicPr>
        <p:blipFill>
          <a:blip r:embed="rId2"/>
          <a:stretch>
            <a:fillRect/>
          </a:stretch>
        </p:blipFill>
        <p:spPr>
          <a:xfrm>
            <a:off x="395288" y="1484313"/>
            <a:ext cx="8039100" cy="1257300"/>
          </a:xfrm>
          <a:prstGeom prst="rect">
            <a:avLst/>
          </a:prstGeom>
          <a:noFill/>
          <a:ln w="9525">
            <a:noFill/>
          </a:ln>
        </p:spPr>
      </p:pic>
    </p:spTree>
  </p:cSld>
  <p:clrMapOvr>
    <a:masterClrMapping/>
  </p:clrMapOvr>
</p:sld>
</file>

<file path=ppt/theme/theme1.xml><?xml version="1.0" encoding="utf-8"?>
<a:theme xmlns:a="http://schemas.openxmlformats.org/drawingml/2006/main" name="Edge">
  <a:themeElements>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fontScheme name="">
      <a:majorFont>
        <a:latin typeface="Garamond"/>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FFFFFF"/>
        </a:dk1>
        <a:lt1>
          <a:srgbClr val="820000"/>
        </a:lt1>
        <a:dk2>
          <a:srgbClr val="FFFFFF"/>
        </a:dk2>
        <a:lt2>
          <a:srgbClr val="333333"/>
        </a:lt2>
        <a:accent1>
          <a:srgbClr val="FF9900"/>
        </a:accent1>
        <a:accent2>
          <a:srgbClr val="CC3300"/>
        </a:accent2>
        <a:accent3>
          <a:srgbClr val="C1AAAA"/>
        </a:accent3>
        <a:accent4>
          <a:srgbClr val="DCDCDC"/>
        </a:accent4>
        <a:accent5>
          <a:srgbClr val="FFCAAA"/>
        </a:accent5>
        <a:accent6>
          <a:srgbClr val="B72D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CCCCFF"/>
        </a:dk1>
        <a:lt1>
          <a:srgbClr val="0B0506"/>
        </a:lt1>
        <a:dk2>
          <a:srgbClr val="FFFFFF"/>
        </a:dk2>
        <a:lt2>
          <a:srgbClr val="333333"/>
        </a:lt2>
        <a:accent1>
          <a:srgbClr val="3366CC"/>
        </a:accent1>
        <a:accent2>
          <a:srgbClr val="3333CC"/>
        </a:accent2>
        <a:accent3>
          <a:srgbClr val="AAAAAA"/>
        </a:accent3>
        <a:accent4>
          <a:srgbClr val="AFAFDC"/>
        </a:accent4>
        <a:accent5>
          <a:srgbClr val="ADB9E2"/>
        </a:accent5>
        <a:accent6>
          <a:srgbClr val="2D2DB7"/>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221013"/>
        </a:lt1>
        <a:dk2>
          <a:srgbClr val="FFFFFF"/>
        </a:dk2>
        <a:lt2>
          <a:srgbClr val="333333"/>
        </a:lt2>
        <a:accent1>
          <a:srgbClr val="CC3300"/>
        </a:accent1>
        <a:accent2>
          <a:srgbClr val="CC9900"/>
        </a:accent2>
        <a:accent3>
          <a:srgbClr val="ABAAAA"/>
        </a:accent3>
        <a:accent4>
          <a:srgbClr val="DCDCDC"/>
        </a:accent4>
        <a:accent5>
          <a:srgbClr val="E2ADAA"/>
        </a:accent5>
        <a:accent6>
          <a:srgbClr val="B78900"/>
        </a:accent6>
        <a:hlink>
          <a:srgbClr val="808080"/>
        </a:hlink>
        <a:folHlink>
          <a:srgbClr val="666633"/>
        </a:folHlink>
      </a:clrScheme>
      <a:clrMap bg1="lt1" tx1="dk1" bg2="lt2" tx2="dk2" accent1="accent1" accent2="accent2" accent3="accent3" accent4="accent4" accent5="accent5" accent6="accent6" hlink="hlink" folHlink="folHlink"/>
    </a:extraClrScheme>
    <a:extraClrScheme>
      <a:clrScheme name="">
        <a:dk1>
          <a:srgbClr val="FFFFFF"/>
        </a:dk1>
        <a:lt1>
          <a:srgbClr val="0000CC"/>
        </a:lt1>
        <a:dk2>
          <a:srgbClr val="FFFFFF"/>
        </a:dk2>
        <a:lt2>
          <a:srgbClr val="11054B"/>
        </a:lt2>
        <a:accent1>
          <a:srgbClr val="FF6600"/>
        </a:accent1>
        <a:accent2>
          <a:srgbClr val="FF3300"/>
        </a:accent2>
        <a:accent3>
          <a:srgbClr val="AAAAE2"/>
        </a:accent3>
        <a:accent4>
          <a:srgbClr val="DCDCDC"/>
        </a:accent4>
        <a:accent5>
          <a:srgbClr val="FFB9AA"/>
        </a:accent5>
        <a:accent6>
          <a:srgbClr val="E52D00"/>
        </a:accent6>
        <a:hlink>
          <a:srgbClr val="CC9900"/>
        </a:hlink>
        <a:folHlink>
          <a:srgbClr val="B2B2B2"/>
        </a:folHlink>
      </a:clrScheme>
      <a:clrMap bg1="lt1" tx1="dk1" bg2="lt2" tx2="dk2" accent1="accent1" accent2="accent2" accent3="accent3" accent4="accent4" accent5="accent5" accent6="accent6" hlink="hlink" folHlink="folHlink"/>
    </a:extraClrScheme>
    <a:extraClrScheme>
      <a:clrScheme name="">
        <a:dk1>
          <a:srgbClr val="F8F8F8"/>
        </a:dk1>
        <a:lt1>
          <a:srgbClr val="002600"/>
        </a:lt1>
        <a:dk2>
          <a:srgbClr val="FAFACC"/>
        </a:dk2>
        <a:lt2>
          <a:srgbClr val="9B8D65"/>
        </a:lt2>
        <a:accent1>
          <a:srgbClr val="CC9933"/>
        </a:accent1>
        <a:accent2>
          <a:srgbClr val="8F9967"/>
        </a:accent2>
        <a:accent3>
          <a:srgbClr val="AAABAA"/>
        </a:accent3>
        <a:accent4>
          <a:srgbClr val="D6D6D6"/>
        </a:accent4>
        <a:accent5>
          <a:srgbClr val="E2CAAD"/>
        </a:accent5>
        <a:accent6>
          <a:srgbClr val="80895C"/>
        </a:accent6>
        <a:hlink>
          <a:srgbClr val="336600"/>
        </a:hlink>
        <a:folHlink>
          <a:srgbClr val="808000"/>
        </a:folHlink>
      </a:clrScheme>
      <a:clrMap bg1="lt1" tx1="dk1" bg2="lt2" tx2="dk2" accent1="accent1" accent2="accent2" accent3="accent3" accent4="accent4" accent5="accent5" accent6="accent6" hlink="hlink" folHlink="folHlink"/>
    </a:extraClrScheme>
    <a:extraClrScheme>
      <a:clrScheme name="">
        <a:dk1>
          <a:srgbClr val="FFFFFF"/>
        </a:dk1>
        <a:lt1>
          <a:srgbClr val="006699"/>
        </a:lt1>
        <a:dk2>
          <a:srgbClr val="FFFFFF"/>
        </a:dk2>
        <a:lt2>
          <a:srgbClr val="333333"/>
        </a:lt2>
        <a:accent1>
          <a:srgbClr val="CC9900"/>
        </a:accent1>
        <a:accent2>
          <a:srgbClr val="FF9900"/>
        </a:accent2>
        <a:accent3>
          <a:srgbClr val="AAB9CA"/>
        </a:accent3>
        <a:accent4>
          <a:srgbClr val="DCDCDC"/>
        </a:accent4>
        <a:accent5>
          <a:srgbClr val="E2CAAA"/>
        </a:accent5>
        <a:accent6>
          <a:srgbClr val="E58900"/>
        </a:accent6>
        <a:hlink>
          <a:srgbClr val="FFCC00"/>
        </a:hlink>
        <a:folHlink>
          <a:srgbClr val="706F37"/>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47329"/>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1C1C1"/>
        </a:accent5>
        <a:accent6>
          <a:srgbClr val="8989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36145"/>
        </a:accent6>
        <a:hlink>
          <a:srgbClr val="4C6D80"/>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Edge</Template>
  <TotalTime>11</TotalTime>
  <Words>1757</Words>
  <Application>Microsoft Office PowerPoint</Application>
  <PresentationFormat>全屏显示(4:3)</PresentationFormat>
  <Paragraphs>151</Paragraphs>
  <Slides>26</Slides>
  <Notes>2</Notes>
  <HiddenSlides>0</HiddenSlides>
  <MMClips>0</MMClips>
  <ScaleCrop>false</ScaleCrop>
  <HeadingPairs>
    <vt:vector size="8" baseType="variant">
      <vt:variant>
        <vt:lpstr>已用的字体</vt:lpstr>
      </vt:variant>
      <vt:variant>
        <vt:i4>7</vt:i4>
      </vt:variant>
      <vt:variant>
        <vt:lpstr>主题</vt:lpstr>
      </vt:variant>
      <vt:variant>
        <vt:i4>1</vt:i4>
      </vt:variant>
      <vt:variant>
        <vt:lpstr>嵌入 OLE 服务器</vt:lpstr>
      </vt:variant>
      <vt:variant>
        <vt:i4>2</vt:i4>
      </vt:variant>
      <vt:variant>
        <vt:lpstr>幻灯片标题</vt:lpstr>
      </vt:variant>
      <vt:variant>
        <vt:i4>26</vt:i4>
      </vt:variant>
    </vt:vector>
  </HeadingPairs>
  <TitlesOfParts>
    <vt:vector size="36" baseType="lpstr">
      <vt:lpstr>仿宋_GB2312</vt:lpstr>
      <vt:lpstr>黑体</vt:lpstr>
      <vt:lpstr>楷体_GB2312</vt:lpstr>
      <vt:lpstr>Arial</vt:lpstr>
      <vt:lpstr>Garamond</vt:lpstr>
      <vt:lpstr>Times New Roman</vt:lpstr>
      <vt:lpstr>Wingdings</vt:lpstr>
      <vt:lpstr>Edge</vt:lpstr>
      <vt:lpstr>Equation.DSMT4</vt:lpstr>
      <vt:lpstr>Equation.3</vt:lpstr>
      <vt:lpstr>第2章 半导体中杂质和缺陷</vt:lpstr>
      <vt:lpstr>2.1 硅锗晶体中的杂质能级</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2.3.1点缺陷</vt:lpstr>
      <vt:lpstr>PowerPoint 演示文稿</vt:lpstr>
      <vt:lpstr>点缺陷引入的能级类型</vt:lpstr>
      <vt:lpstr>2.3.2位错</vt:lpstr>
      <vt:lpstr>PowerPoint 演示文稿</vt:lpstr>
    </vt:vector>
  </TitlesOfParts>
  <Company>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半导体中杂志和缺陷能级</dc:title>
  <dc:creator>陈金伙</dc:creator>
  <cp:lastModifiedBy>韦 弘昊</cp:lastModifiedBy>
  <cp:revision>65</cp:revision>
  <dcterms:created xsi:type="dcterms:W3CDTF">2005-10-08T09:23:08Z</dcterms:created>
  <dcterms:modified xsi:type="dcterms:W3CDTF">2022-11-24T13:01:26Z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16A9ED0754904E5F9FA2EBD718040090</vt:lpwstr>
  </property>
  <property fmtid="{D5CDD505-2E9C-101B-9397-08002B2CF9AE}" pid="3" name="KSOProductBuildVer">
    <vt:lpwstr>2052-11.1.0.10938</vt:lpwstr>
  </property>
</Properties>
</file>