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2"/>
    <p:sldId id="261" r:id="rId3"/>
    <p:sldId id="262" r:id="rId4"/>
    <p:sldId id="263" r:id="rId5"/>
    <p:sldId id="264" r:id="rId6"/>
    <p:sldId id="265" r:id="rId7"/>
    <p:sldId id="266" r:id="rId8"/>
    <p:sldId id="268" r:id="rId9"/>
    <p:sldId id="267" r:id="rId10"/>
    <p:sldId id="269" r:id="rId11"/>
    <p:sldId id="270" r:id="rId12"/>
    <p:sldId id="271" r:id="rId13"/>
    <p:sldId id="275" r:id="rId14"/>
    <p:sldId id="274" r:id="rId15"/>
    <p:sldId id="284" r:id="rId16"/>
    <p:sldId id="283" r:id="rId17"/>
    <p:sldId id="277" r:id="rId18"/>
    <p:sldId id="272" r:id="rId19"/>
    <p:sldId id="273" r:id="rId20"/>
    <p:sldId id="278" r:id="rId21"/>
    <p:sldId id="280" r:id="rId22"/>
    <p:sldId id="281" r:id="rId23"/>
    <p:sldId id="285" r:id="rId24"/>
    <p:sldId id="282" r:id="rId25"/>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52"/>
    <p:restoredTop sz="94697"/>
  </p:normalViewPr>
  <p:slideViewPr>
    <p:cSldViewPr snapToGrid="0" snapToObjects="1">
      <p:cViewPr varScale="1">
        <p:scale>
          <a:sx n="115" d="100"/>
          <a:sy n="115" d="100"/>
        </p:scale>
        <p:origin x="240"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D7C1-D8EB-D547-BCEE-EC505565F5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2089B034-FF72-0842-A5AB-84F0A71076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3FD5C968-918F-8641-AE02-594B5224B66F}"/>
              </a:ext>
            </a:extLst>
          </p:cNvPr>
          <p:cNvSpPr>
            <a:spLocks noGrp="1"/>
          </p:cNvSpPr>
          <p:nvPr>
            <p:ph type="dt" sz="half" idx="10"/>
          </p:nvPr>
        </p:nvSpPr>
        <p:spPr/>
        <p:txBody>
          <a:bodyPr/>
          <a:lstStyle/>
          <a:p>
            <a:fld id="{E800E28F-22DF-9E47-9EC9-E68F8BF2B40B}" type="datetimeFigureOut">
              <a:rPr lang="en-CN" smtClean="0"/>
              <a:t>2023/2/20</a:t>
            </a:fld>
            <a:endParaRPr lang="en-CN"/>
          </a:p>
        </p:txBody>
      </p:sp>
      <p:sp>
        <p:nvSpPr>
          <p:cNvPr id="5" name="Footer Placeholder 4">
            <a:extLst>
              <a:ext uri="{FF2B5EF4-FFF2-40B4-BE49-F238E27FC236}">
                <a16:creationId xmlns:a16="http://schemas.microsoft.com/office/drawing/2014/main" id="{3519C305-E85D-1548-A375-1DBDEDB5978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2873FDED-A1AE-D846-9147-0D1EE8B81396}"/>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54886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2013E-BDF0-8C4A-B4ED-0D321223FDC4}"/>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007ABE0F-0622-5C49-AEF9-031610282B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F8EF4ABA-C3F7-F04B-B87A-4A9D3D3BA1AF}"/>
              </a:ext>
            </a:extLst>
          </p:cNvPr>
          <p:cNvSpPr>
            <a:spLocks noGrp="1"/>
          </p:cNvSpPr>
          <p:nvPr>
            <p:ph type="dt" sz="half" idx="10"/>
          </p:nvPr>
        </p:nvSpPr>
        <p:spPr/>
        <p:txBody>
          <a:bodyPr/>
          <a:lstStyle/>
          <a:p>
            <a:fld id="{E800E28F-22DF-9E47-9EC9-E68F8BF2B40B}" type="datetimeFigureOut">
              <a:rPr lang="en-CN" smtClean="0"/>
              <a:t>2023/2/20</a:t>
            </a:fld>
            <a:endParaRPr lang="en-CN"/>
          </a:p>
        </p:txBody>
      </p:sp>
      <p:sp>
        <p:nvSpPr>
          <p:cNvPr id="5" name="Footer Placeholder 4">
            <a:extLst>
              <a:ext uri="{FF2B5EF4-FFF2-40B4-BE49-F238E27FC236}">
                <a16:creationId xmlns:a16="http://schemas.microsoft.com/office/drawing/2014/main" id="{FD28897E-B07B-B441-BDAF-727D0E889B1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3FA11B97-AE03-0E47-93A0-D14C3D946881}"/>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43825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83D1F-C55B-2F42-AE7E-78E4DC54AD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86FFFBC5-80CC-8C45-9404-C9556920AE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B78CD9-0063-224A-90B2-5B178A6FB8BD}"/>
              </a:ext>
            </a:extLst>
          </p:cNvPr>
          <p:cNvSpPr>
            <a:spLocks noGrp="1"/>
          </p:cNvSpPr>
          <p:nvPr>
            <p:ph type="dt" sz="half" idx="10"/>
          </p:nvPr>
        </p:nvSpPr>
        <p:spPr/>
        <p:txBody>
          <a:bodyPr/>
          <a:lstStyle/>
          <a:p>
            <a:fld id="{E800E28F-22DF-9E47-9EC9-E68F8BF2B40B}" type="datetimeFigureOut">
              <a:rPr lang="en-CN" smtClean="0"/>
              <a:t>2023/2/20</a:t>
            </a:fld>
            <a:endParaRPr lang="en-CN"/>
          </a:p>
        </p:txBody>
      </p:sp>
      <p:sp>
        <p:nvSpPr>
          <p:cNvPr id="5" name="Footer Placeholder 4">
            <a:extLst>
              <a:ext uri="{FF2B5EF4-FFF2-40B4-BE49-F238E27FC236}">
                <a16:creationId xmlns:a16="http://schemas.microsoft.com/office/drawing/2014/main" id="{64A6CE81-9F37-BF4C-BDF3-A9FBC99E240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AF3B8F5E-2051-1745-8C26-13E510972A27}"/>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2648670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95BE8-2906-8E4F-AF10-6C859962C87A}"/>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65877BC1-205D-ED44-902E-6DC52E37DB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86DCF4BC-B5D9-7A46-9CA0-C1833531EB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729A32F2-DC1B-494A-8AB9-039BCA541EDF}"/>
              </a:ext>
            </a:extLst>
          </p:cNvPr>
          <p:cNvSpPr>
            <a:spLocks noGrp="1"/>
          </p:cNvSpPr>
          <p:nvPr>
            <p:ph type="dt" sz="half" idx="10"/>
          </p:nvPr>
        </p:nvSpPr>
        <p:spPr/>
        <p:txBody>
          <a:bodyPr/>
          <a:lstStyle/>
          <a:p>
            <a:fld id="{E800E28F-22DF-9E47-9EC9-E68F8BF2B40B}" type="datetimeFigureOut">
              <a:rPr lang="en-CN" smtClean="0"/>
              <a:t>2023/2/20</a:t>
            </a:fld>
            <a:endParaRPr lang="en-CN"/>
          </a:p>
        </p:txBody>
      </p:sp>
      <p:sp>
        <p:nvSpPr>
          <p:cNvPr id="6" name="Footer Placeholder 5">
            <a:extLst>
              <a:ext uri="{FF2B5EF4-FFF2-40B4-BE49-F238E27FC236}">
                <a16:creationId xmlns:a16="http://schemas.microsoft.com/office/drawing/2014/main" id="{1FC77452-A3E3-4443-92ED-FF9D858C7417}"/>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D6CB1547-4E3B-B44B-81F0-9E977B3EF147}"/>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816650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E04FC-EB95-6042-A824-3928DD90D352}"/>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F8826F3F-BBDF-4748-B28F-F8C02C1F26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BC1051-699C-4F4F-A964-DE4CCEF3BE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A05D3799-BF1A-B544-92F3-A668C8479A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7BDBCE-CA7F-5143-91B1-42C71E89D4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A9D47ACE-B299-B447-AB9F-A7E598DB00BB}"/>
              </a:ext>
            </a:extLst>
          </p:cNvPr>
          <p:cNvSpPr>
            <a:spLocks noGrp="1"/>
          </p:cNvSpPr>
          <p:nvPr>
            <p:ph type="dt" sz="half" idx="10"/>
          </p:nvPr>
        </p:nvSpPr>
        <p:spPr/>
        <p:txBody>
          <a:bodyPr/>
          <a:lstStyle/>
          <a:p>
            <a:fld id="{E800E28F-22DF-9E47-9EC9-E68F8BF2B40B}" type="datetimeFigureOut">
              <a:rPr lang="en-CN" smtClean="0"/>
              <a:t>2023/2/20</a:t>
            </a:fld>
            <a:endParaRPr lang="en-CN"/>
          </a:p>
        </p:txBody>
      </p:sp>
      <p:sp>
        <p:nvSpPr>
          <p:cNvPr id="8" name="Footer Placeholder 7">
            <a:extLst>
              <a:ext uri="{FF2B5EF4-FFF2-40B4-BE49-F238E27FC236}">
                <a16:creationId xmlns:a16="http://schemas.microsoft.com/office/drawing/2014/main" id="{E1CA539D-7612-E848-999B-9D151DFE0F4E}"/>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91C80D14-ED83-5545-8AE2-4469C82031B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860530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6444D-3A68-EB45-9015-DA6329C909CA}"/>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7EFBB93C-F3ED-3F47-B452-7C28F2091105}"/>
              </a:ext>
            </a:extLst>
          </p:cNvPr>
          <p:cNvSpPr>
            <a:spLocks noGrp="1"/>
          </p:cNvSpPr>
          <p:nvPr>
            <p:ph type="dt" sz="half" idx="10"/>
          </p:nvPr>
        </p:nvSpPr>
        <p:spPr/>
        <p:txBody>
          <a:bodyPr/>
          <a:lstStyle/>
          <a:p>
            <a:fld id="{E800E28F-22DF-9E47-9EC9-E68F8BF2B40B}" type="datetimeFigureOut">
              <a:rPr lang="en-CN" smtClean="0"/>
              <a:t>2023/2/20</a:t>
            </a:fld>
            <a:endParaRPr lang="en-CN"/>
          </a:p>
        </p:txBody>
      </p:sp>
      <p:sp>
        <p:nvSpPr>
          <p:cNvPr id="4" name="Footer Placeholder 3">
            <a:extLst>
              <a:ext uri="{FF2B5EF4-FFF2-40B4-BE49-F238E27FC236}">
                <a16:creationId xmlns:a16="http://schemas.microsoft.com/office/drawing/2014/main" id="{C90FAABE-D364-A94B-BEC5-9C8F70BD57F2}"/>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7DA6D1B4-DA1C-F240-90A2-84B2A717EF7E}"/>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18744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D0083D-F5D5-C543-B61F-4094F539E6A7}"/>
              </a:ext>
            </a:extLst>
          </p:cNvPr>
          <p:cNvSpPr>
            <a:spLocks noGrp="1"/>
          </p:cNvSpPr>
          <p:nvPr>
            <p:ph type="dt" sz="half" idx="10"/>
          </p:nvPr>
        </p:nvSpPr>
        <p:spPr/>
        <p:txBody>
          <a:bodyPr/>
          <a:lstStyle/>
          <a:p>
            <a:fld id="{E800E28F-22DF-9E47-9EC9-E68F8BF2B40B}" type="datetimeFigureOut">
              <a:rPr lang="en-CN" smtClean="0"/>
              <a:t>2023/2/20</a:t>
            </a:fld>
            <a:endParaRPr lang="en-CN"/>
          </a:p>
        </p:txBody>
      </p:sp>
      <p:sp>
        <p:nvSpPr>
          <p:cNvPr id="3" name="Footer Placeholder 2">
            <a:extLst>
              <a:ext uri="{FF2B5EF4-FFF2-40B4-BE49-F238E27FC236}">
                <a16:creationId xmlns:a16="http://schemas.microsoft.com/office/drawing/2014/main" id="{E0DDC8BC-428B-BB4D-8AEE-C6B272C6798C}"/>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378B49BB-14D1-1849-B437-37A7A6070E9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147709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D422E-2ECF-6E40-B192-F3102DB3C2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56070A34-B607-1742-A5C9-F66E9CB59C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688185AD-9C29-CE46-8CE9-E6D8F6BB58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88B05E-F489-3841-AF6F-1A1FE3BB3F71}"/>
              </a:ext>
            </a:extLst>
          </p:cNvPr>
          <p:cNvSpPr>
            <a:spLocks noGrp="1"/>
          </p:cNvSpPr>
          <p:nvPr>
            <p:ph type="dt" sz="half" idx="10"/>
          </p:nvPr>
        </p:nvSpPr>
        <p:spPr/>
        <p:txBody>
          <a:bodyPr/>
          <a:lstStyle/>
          <a:p>
            <a:fld id="{E800E28F-22DF-9E47-9EC9-E68F8BF2B40B}" type="datetimeFigureOut">
              <a:rPr lang="en-CN" smtClean="0"/>
              <a:t>2023/2/20</a:t>
            </a:fld>
            <a:endParaRPr lang="en-CN"/>
          </a:p>
        </p:txBody>
      </p:sp>
      <p:sp>
        <p:nvSpPr>
          <p:cNvPr id="6" name="Footer Placeholder 5">
            <a:extLst>
              <a:ext uri="{FF2B5EF4-FFF2-40B4-BE49-F238E27FC236}">
                <a16:creationId xmlns:a16="http://schemas.microsoft.com/office/drawing/2014/main" id="{D5D58E87-9859-F14A-B389-187843C24D8E}"/>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F152D493-6FBF-EA46-8CFB-E11E167F3225}"/>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507294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53968-37CC-B647-9F46-44E9F86425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0F620B7A-6421-6346-BBFA-BD37AAC93C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508ED188-FEB7-E74E-B65D-281002E7AA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4B8C2D-F1DB-C34A-AD60-DF4B2FE59B4C}"/>
              </a:ext>
            </a:extLst>
          </p:cNvPr>
          <p:cNvSpPr>
            <a:spLocks noGrp="1"/>
          </p:cNvSpPr>
          <p:nvPr>
            <p:ph type="dt" sz="half" idx="10"/>
          </p:nvPr>
        </p:nvSpPr>
        <p:spPr/>
        <p:txBody>
          <a:bodyPr/>
          <a:lstStyle/>
          <a:p>
            <a:fld id="{E800E28F-22DF-9E47-9EC9-E68F8BF2B40B}" type="datetimeFigureOut">
              <a:rPr lang="en-CN" smtClean="0"/>
              <a:t>2023/2/20</a:t>
            </a:fld>
            <a:endParaRPr lang="en-CN"/>
          </a:p>
        </p:txBody>
      </p:sp>
      <p:sp>
        <p:nvSpPr>
          <p:cNvPr id="6" name="Footer Placeholder 5">
            <a:extLst>
              <a:ext uri="{FF2B5EF4-FFF2-40B4-BE49-F238E27FC236}">
                <a16:creationId xmlns:a16="http://schemas.microsoft.com/office/drawing/2014/main" id="{2F1817A2-AEE3-244B-8185-A484A6B8C7D4}"/>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97410CD3-341B-C348-B1D4-069400F93D8A}"/>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238695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C41A4-A3DA-9C44-A87F-544863819FAD}"/>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00F37D03-3ABB-E94A-A564-7D516299FF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D225D3D3-9B3A-E34D-A7DB-07B8D9C07F2E}"/>
              </a:ext>
            </a:extLst>
          </p:cNvPr>
          <p:cNvSpPr>
            <a:spLocks noGrp="1"/>
          </p:cNvSpPr>
          <p:nvPr>
            <p:ph type="dt" sz="half" idx="10"/>
          </p:nvPr>
        </p:nvSpPr>
        <p:spPr/>
        <p:txBody>
          <a:bodyPr/>
          <a:lstStyle/>
          <a:p>
            <a:fld id="{E800E28F-22DF-9E47-9EC9-E68F8BF2B40B}" type="datetimeFigureOut">
              <a:rPr lang="en-CN" smtClean="0"/>
              <a:t>2023/2/20</a:t>
            </a:fld>
            <a:endParaRPr lang="en-CN"/>
          </a:p>
        </p:txBody>
      </p:sp>
      <p:sp>
        <p:nvSpPr>
          <p:cNvPr id="5" name="Footer Placeholder 4">
            <a:extLst>
              <a:ext uri="{FF2B5EF4-FFF2-40B4-BE49-F238E27FC236}">
                <a16:creationId xmlns:a16="http://schemas.microsoft.com/office/drawing/2014/main" id="{9951226C-2D9F-3E4D-8439-D1417E4DA26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15AA4E6-5819-4C43-8676-2EDC65D0B11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2077077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69D237-9FA6-7643-A46C-6BF452F3C3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B0F4148B-28D9-4E4F-98AA-281CE3B51E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F59114E8-0490-9844-A6E6-A76C29CB09BF}"/>
              </a:ext>
            </a:extLst>
          </p:cNvPr>
          <p:cNvSpPr>
            <a:spLocks noGrp="1"/>
          </p:cNvSpPr>
          <p:nvPr>
            <p:ph type="dt" sz="half" idx="10"/>
          </p:nvPr>
        </p:nvSpPr>
        <p:spPr/>
        <p:txBody>
          <a:bodyPr/>
          <a:lstStyle/>
          <a:p>
            <a:fld id="{E800E28F-22DF-9E47-9EC9-E68F8BF2B40B}" type="datetimeFigureOut">
              <a:rPr lang="en-CN" smtClean="0"/>
              <a:t>2023/2/20</a:t>
            </a:fld>
            <a:endParaRPr lang="en-CN"/>
          </a:p>
        </p:txBody>
      </p:sp>
      <p:sp>
        <p:nvSpPr>
          <p:cNvPr id="5" name="Footer Placeholder 4">
            <a:extLst>
              <a:ext uri="{FF2B5EF4-FFF2-40B4-BE49-F238E27FC236}">
                <a16:creationId xmlns:a16="http://schemas.microsoft.com/office/drawing/2014/main" id="{70A5F247-BB24-C14C-8BDC-3AEC6E2F44BC}"/>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209EBDF-B685-F445-BD1C-7044BC30248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707622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7E8360-99FB-314F-8FFC-5DFE146448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0FD170A0-1BBB-7549-88EE-B708486E0C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ED353904-8539-AE42-A677-9B45FCA67D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00E28F-22DF-9E47-9EC9-E68F8BF2B40B}" type="datetimeFigureOut">
              <a:rPr lang="en-CN" smtClean="0"/>
              <a:t>2023/2/20</a:t>
            </a:fld>
            <a:endParaRPr lang="en-CN"/>
          </a:p>
        </p:txBody>
      </p:sp>
      <p:sp>
        <p:nvSpPr>
          <p:cNvPr id="5" name="Footer Placeholder 4">
            <a:extLst>
              <a:ext uri="{FF2B5EF4-FFF2-40B4-BE49-F238E27FC236}">
                <a16:creationId xmlns:a16="http://schemas.microsoft.com/office/drawing/2014/main" id="{B3BDB817-6A9E-8D4B-93C6-69B4752E21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N"/>
          </a:p>
        </p:txBody>
      </p:sp>
      <p:sp>
        <p:nvSpPr>
          <p:cNvPr id="6" name="Slide Number Placeholder 5">
            <a:extLst>
              <a:ext uri="{FF2B5EF4-FFF2-40B4-BE49-F238E27FC236}">
                <a16:creationId xmlns:a16="http://schemas.microsoft.com/office/drawing/2014/main" id="{23920E11-ECD6-A240-8C4D-4AA249F37A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25E0B1-8A12-D049-82EE-CBBDFA3D597D}" type="slidenum">
              <a:rPr lang="en-CN" smtClean="0"/>
              <a:t>‹#›</a:t>
            </a:fld>
            <a:endParaRPr lang="en-CN"/>
          </a:p>
        </p:txBody>
      </p:sp>
    </p:spTree>
    <p:extLst>
      <p:ext uri="{BB962C8B-B14F-4D97-AF65-F5344CB8AC3E}">
        <p14:creationId xmlns:p14="http://schemas.microsoft.com/office/powerpoint/2010/main" val="52746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90.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90.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jpeg"/><Relationship Id="rId7" Type="http://schemas.openxmlformats.org/officeDocument/2006/relationships/image" Target="../media/image15.jpe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1.jpe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0.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0.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41.png"/><Relationship Id="rId2" Type="http://schemas.openxmlformats.org/officeDocument/2006/relationships/image" Target="../media/image331.png"/><Relationship Id="rId1" Type="http://schemas.openxmlformats.org/officeDocument/2006/relationships/slideLayout" Target="../slideLayouts/slideLayout2.xml"/><Relationship Id="rId4" Type="http://schemas.openxmlformats.org/officeDocument/2006/relationships/image" Target="../media/image352.png"/></Relationships>
</file>

<file path=ppt/slides/_rels/slide17.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10.png"/><Relationship Id="rId5" Type="http://schemas.openxmlformats.org/officeDocument/2006/relationships/image" Target="../media/image42.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1.png"/><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3E0AA-C95E-8844-BFC8-07F31CE21C93}"/>
              </a:ext>
            </a:extLst>
          </p:cNvPr>
          <p:cNvSpPr>
            <a:spLocks noGrp="1"/>
          </p:cNvSpPr>
          <p:nvPr>
            <p:ph type="ctrTitle"/>
          </p:nvPr>
        </p:nvSpPr>
        <p:spPr>
          <a:xfrm>
            <a:off x="1360666" y="160970"/>
            <a:ext cx="9144000" cy="906613"/>
          </a:xfrm>
        </p:spPr>
        <p:txBody>
          <a:bodyPr>
            <a:normAutofit fontScale="90000"/>
          </a:bodyPr>
          <a:lstStyle/>
          <a:p>
            <a:r>
              <a:rPr lang="en-CN" dirty="0">
                <a:solidFill>
                  <a:schemeClr val="bg1"/>
                </a:solidFill>
                <a:latin typeface="FangSong" panose="02010609060101010101" pitchFamily="49" charset="-122"/>
                <a:ea typeface="FangSong" panose="02010609060101010101" pitchFamily="49" charset="-122"/>
              </a:rPr>
              <a:t>热物</a:t>
            </a:r>
            <a:r>
              <a:rPr lang="zh-CN" altLang="en-US" dirty="0">
                <a:solidFill>
                  <a:schemeClr val="bg1"/>
                </a:solidFill>
                <a:latin typeface="FangSong" panose="02010609060101010101" pitchFamily="49" charset="-122"/>
                <a:ea typeface="FangSong" panose="02010609060101010101" pitchFamily="49" charset="-122"/>
              </a:rPr>
              <a:t>（第二周）</a:t>
            </a:r>
            <a:endParaRPr lang="en-CN" dirty="0">
              <a:solidFill>
                <a:schemeClr val="bg1"/>
              </a:solidFill>
              <a:latin typeface="FangSong" panose="02010609060101010101" pitchFamily="49" charset="-122"/>
              <a:ea typeface="FangSong" panose="02010609060101010101" pitchFamily="49" charset="-122"/>
            </a:endParaRPr>
          </a:p>
        </p:txBody>
      </p:sp>
      <p:sp>
        <p:nvSpPr>
          <p:cNvPr id="3" name="Subtitle 2">
            <a:extLst>
              <a:ext uri="{FF2B5EF4-FFF2-40B4-BE49-F238E27FC236}">
                <a16:creationId xmlns:a16="http://schemas.microsoft.com/office/drawing/2014/main" id="{4606B6AC-F9CA-164C-8C20-F1FCA50B1F09}"/>
              </a:ext>
            </a:extLst>
          </p:cNvPr>
          <p:cNvSpPr>
            <a:spLocks noGrp="1"/>
          </p:cNvSpPr>
          <p:nvPr>
            <p:ph type="subTitle" idx="1"/>
          </p:nvPr>
        </p:nvSpPr>
        <p:spPr>
          <a:xfrm>
            <a:off x="576145" y="2205007"/>
            <a:ext cx="11960412" cy="1666349"/>
          </a:xfrm>
        </p:spPr>
        <p:txBody>
          <a:bodyPr>
            <a:noAutofit/>
          </a:bodyPr>
          <a:lstStyle/>
          <a:p>
            <a:pPr marL="342900" indent="-342900" algn="l">
              <a:buFont typeface="Arial" panose="020B0604020202020204" pitchFamily="34" charset="0"/>
              <a:buChar char="•"/>
            </a:pPr>
            <a:r>
              <a:rPr lang="en-CN" sz="6000" dirty="0">
                <a:solidFill>
                  <a:schemeClr val="bg1"/>
                </a:solidFill>
              </a:rPr>
              <a:t>Sharpness</a:t>
            </a:r>
            <a:r>
              <a:rPr lang="zh-CN" altLang="en-US" sz="6000" dirty="0">
                <a:solidFill>
                  <a:schemeClr val="bg1"/>
                </a:solidFill>
              </a:rPr>
              <a:t> </a:t>
            </a:r>
            <a:r>
              <a:rPr lang="en-US" altLang="zh-CN" sz="6000" dirty="0">
                <a:solidFill>
                  <a:schemeClr val="bg1"/>
                </a:solidFill>
              </a:rPr>
              <a:t>of Multiplicity Function</a:t>
            </a:r>
          </a:p>
          <a:p>
            <a:pPr marL="342900" indent="-342900" algn="l">
              <a:buFont typeface="Arial" panose="020B0604020202020204" pitchFamily="34" charset="0"/>
              <a:buChar char="•"/>
            </a:pPr>
            <a:r>
              <a:rPr lang="en-US" sz="6000" dirty="0">
                <a:solidFill>
                  <a:schemeClr val="bg1"/>
                </a:solidFill>
              </a:rPr>
              <a:t>Most Probable Configuration</a:t>
            </a:r>
            <a:endParaRPr lang="en-CN" sz="6000" dirty="0">
              <a:solidFill>
                <a:schemeClr val="bg1"/>
              </a:solidFill>
            </a:endParaRPr>
          </a:p>
        </p:txBody>
      </p:sp>
    </p:spTree>
    <p:extLst>
      <p:ext uri="{BB962C8B-B14F-4D97-AF65-F5344CB8AC3E}">
        <p14:creationId xmlns:p14="http://schemas.microsoft.com/office/powerpoint/2010/main" val="136722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4C88D0E-1805-A44E-ADAF-8BA2DE6B9FF8}"/>
                  </a:ext>
                </a:extLst>
              </p:cNvPr>
              <p:cNvSpPr txBox="1"/>
              <p:nvPr/>
            </p:nvSpPr>
            <p:spPr>
              <a:xfrm>
                <a:off x="524107" y="301083"/>
                <a:ext cx="4499155" cy="535403"/>
              </a:xfrm>
              <a:prstGeom prst="rect">
                <a:avLst/>
              </a:prstGeom>
              <a:noFill/>
            </p:spPr>
            <p:txBody>
              <a:bodyPr wrap="square" rtlCol="0">
                <a:spAutoFit/>
              </a:bodyPr>
              <a:lstStyle/>
              <a:p>
                <a:r>
                  <a:rPr lang="en-CN" dirty="0">
                    <a:solidFill>
                      <a:schemeClr val="bg1"/>
                    </a:solidFill>
                  </a:rPr>
                  <a:t>以爱因斯坦固体为例</a:t>
                </a:r>
                <a:r>
                  <a:rPr lang="zh-CN" altLang="en-US" dirty="0">
                    <a:solidFill>
                      <a:schemeClr val="bg1"/>
                    </a:solidFill>
                  </a:rPr>
                  <a:t>（</a:t>
                </a:r>
                <a:r>
                  <a:rPr lang="en-US" dirty="0">
                    <a:solidFill>
                      <a:schemeClr val="bg1"/>
                    </a:solidFill>
                  </a:rPr>
                  <a:t> </a:t>
                </a:r>
                <a14:m>
                  <m:oMath xmlns:m="http://schemas.openxmlformats.org/officeDocument/2006/math">
                    <m:r>
                      <a:rPr lang="en-US" i="1">
                        <a:solidFill>
                          <a:schemeClr val="bg1"/>
                        </a:solidFill>
                        <a:latin typeface="Cambria Math" panose="02040503050406030204" pitchFamily="18" charset="0"/>
                      </a:rPr>
                      <m:t>𝑔</m:t>
                    </m:r>
                    <m:d>
                      <m:dPr>
                        <m:begChr m:val="["/>
                        <m:endChr m:val="]"/>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𝑁</m:t>
                        </m:r>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𝑞</m:t>
                        </m:r>
                      </m:e>
                    </m:d>
                    <m:r>
                      <a:rPr lang="en-US" i="1">
                        <a:solidFill>
                          <a:schemeClr val="bg1"/>
                        </a:solidFill>
                        <a:latin typeface="Cambria Math" panose="02040503050406030204" pitchFamily="18" charset="0"/>
                      </a:rPr>
                      <m:t>=</m:t>
                    </m:r>
                    <m:f>
                      <m:fPr>
                        <m:ctrlPr>
                          <a:rPr lang="en-US" i="1">
                            <a:solidFill>
                              <a:schemeClr val="bg1"/>
                            </a:solidFill>
                            <a:latin typeface="Cambria Math" panose="02040503050406030204" pitchFamily="18" charset="0"/>
                          </a:rPr>
                        </m:ctrlPr>
                      </m:fPr>
                      <m:num>
                        <m:d>
                          <m:dPr>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𝑞</m:t>
                            </m:r>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𝑁</m:t>
                            </m:r>
                            <m:r>
                              <a:rPr lang="en-US" i="1">
                                <a:solidFill>
                                  <a:schemeClr val="bg1"/>
                                </a:solidFill>
                                <a:latin typeface="Cambria Math" panose="02040503050406030204" pitchFamily="18" charset="0"/>
                              </a:rPr>
                              <m:t>−1</m:t>
                            </m:r>
                          </m:e>
                        </m:d>
                        <m:r>
                          <a:rPr lang="en-US" i="1">
                            <a:solidFill>
                              <a:schemeClr val="bg1"/>
                            </a:solidFill>
                            <a:latin typeface="Cambria Math" panose="02040503050406030204" pitchFamily="18" charset="0"/>
                          </a:rPr>
                          <m:t>!</m:t>
                        </m:r>
                      </m:num>
                      <m:den>
                        <m:r>
                          <a:rPr lang="en-US" i="1">
                            <a:solidFill>
                              <a:schemeClr val="bg1"/>
                            </a:solidFill>
                            <a:latin typeface="Cambria Math" panose="02040503050406030204" pitchFamily="18" charset="0"/>
                          </a:rPr>
                          <m:t>𝑞</m:t>
                        </m:r>
                        <m:r>
                          <a:rPr lang="en-US" i="1">
                            <a:solidFill>
                              <a:schemeClr val="bg1"/>
                            </a:solidFill>
                            <a:latin typeface="Cambria Math" panose="02040503050406030204" pitchFamily="18" charset="0"/>
                          </a:rPr>
                          <m:t>!</m:t>
                        </m:r>
                        <m:d>
                          <m:dPr>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𝑁</m:t>
                            </m:r>
                            <m:r>
                              <a:rPr lang="en-US" i="1">
                                <a:solidFill>
                                  <a:schemeClr val="bg1"/>
                                </a:solidFill>
                                <a:latin typeface="Cambria Math" panose="02040503050406030204" pitchFamily="18" charset="0"/>
                              </a:rPr>
                              <m:t>−1</m:t>
                            </m:r>
                          </m:e>
                        </m:d>
                        <m:r>
                          <a:rPr lang="en-US" i="1">
                            <a:solidFill>
                              <a:schemeClr val="bg1"/>
                            </a:solidFill>
                            <a:latin typeface="Cambria Math" panose="02040503050406030204" pitchFamily="18" charset="0"/>
                          </a:rPr>
                          <m:t>!</m:t>
                        </m:r>
                      </m:den>
                    </m:f>
                    <m:r>
                      <a:rPr lang="en-US" i="1">
                        <a:solidFill>
                          <a:schemeClr val="bg1"/>
                        </a:solidFill>
                        <a:latin typeface="Cambria Math" panose="02040503050406030204" pitchFamily="18" charset="0"/>
                      </a:rPr>
                      <m:t> </m:t>
                    </m:r>
                  </m:oMath>
                </a14:m>
                <a:r>
                  <a:rPr lang="zh-CN" altLang="en-US" dirty="0">
                    <a:solidFill>
                      <a:schemeClr val="bg1"/>
                    </a:solidFill>
                  </a:rPr>
                  <a:t>）</a:t>
                </a:r>
                <a:endParaRPr lang="en-CN" dirty="0">
                  <a:solidFill>
                    <a:schemeClr val="bg1"/>
                  </a:solidFill>
                </a:endParaRPr>
              </a:p>
            </p:txBody>
          </p:sp>
        </mc:Choice>
        <mc:Fallback xmlns="">
          <p:sp>
            <p:nvSpPr>
              <p:cNvPr id="4" name="TextBox 3">
                <a:extLst>
                  <a:ext uri="{FF2B5EF4-FFF2-40B4-BE49-F238E27FC236}">
                    <a16:creationId xmlns:a16="http://schemas.microsoft.com/office/drawing/2014/main" id="{94C88D0E-1805-A44E-ADAF-8BA2DE6B9FF8}"/>
                  </a:ext>
                </a:extLst>
              </p:cNvPr>
              <p:cNvSpPr txBox="1">
                <a:spLocks noRot="1" noChangeAspect="1" noMove="1" noResize="1" noEditPoints="1" noAdjustHandles="1" noChangeArrowheads="1" noChangeShapeType="1" noTextEdit="1"/>
              </p:cNvSpPr>
              <p:nvPr/>
            </p:nvSpPr>
            <p:spPr>
              <a:xfrm>
                <a:off x="524107" y="301083"/>
                <a:ext cx="4499155" cy="535403"/>
              </a:xfrm>
              <a:prstGeom prst="rect">
                <a:avLst/>
              </a:prstGeom>
              <a:blipFill>
                <a:blip r:embed="rId2"/>
                <a:stretch>
                  <a:fillRect l="-1127" r="-6197" b="-2326"/>
                </a:stretch>
              </a:blipFill>
            </p:spPr>
            <p:txBody>
              <a:bodyPr/>
              <a:lstStyle/>
              <a:p>
                <a:r>
                  <a:rPr lang="en-CN">
                    <a:noFill/>
                  </a:rPr>
                  <a:t> </a:t>
                </a:r>
              </a:p>
            </p:txBody>
          </p:sp>
        </mc:Fallback>
      </mc:AlternateContent>
      <p:pic>
        <p:nvPicPr>
          <p:cNvPr id="8" name="Picture 7">
            <a:extLst>
              <a:ext uri="{FF2B5EF4-FFF2-40B4-BE49-F238E27FC236}">
                <a16:creationId xmlns:a16="http://schemas.microsoft.com/office/drawing/2014/main" id="{873707A3-570B-D143-A9FE-2F1E2C698C1B}"/>
              </a:ext>
            </a:extLst>
          </p:cNvPr>
          <p:cNvPicPr>
            <a:picLocks noChangeAspect="1"/>
          </p:cNvPicPr>
          <p:nvPr/>
        </p:nvPicPr>
        <p:blipFill>
          <a:blip r:embed="rId3"/>
          <a:stretch>
            <a:fillRect/>
          </a:stretch>
        </p:blipFill>
        <p:spPr>
          <a:xfrm>
            <a:off x="2498724" y="1036492"/>
            <a:ext cx="7012413" cy="2928849"/>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B7BBD19-6893-2945-969B-96C16C7A15B1}"/>
                  </a:ext>
                </a:extLst>
              </p:cNvPr>
              <p:cNvSpPr txBox="1"/>
              <p:nvPr/>
            </p:nvSpPr>
            <p:spPr>
              <a:xfrm>
                <a:off x="524107" y="4471639"/>
                <a:ext cx="10961649" cy="1815882"/>
              </a:xfrm>
              <a:prstGeom prst="rect">
                <a:avLst/>
              </a:prstGeom>
              <a:noFill/>
            </p:spPr>
            <p:txBody>
              <a:bodyPr wrap="square" rtlCol="0">
                <a:spAutoFit/>
              </a:bodyPr>
              <a:lstStyle/>
              <a:p>
                <a:r>
                  <a:rPr lang="en-CN" dirty="0">
                    <a:solidFill>
                      <a:schemeClr val="bg1"/>
                    </a:solidFill>
                  </a:rPr>
                  <a:t>假设</a:t>
                </a:r>
                <a:r>
                  <a:rPr lang="zh-CN" altLang="en-US" dirty="0">
                    <a:solidFill>
                      <a:schemeClr val="bg1"/>
                    </a:solidFill>
                  </a:rPr>
                  <a:t>：</a:t>
                </a:r>
                <a:r>
                  <a:rPr lang="en-US" altLang="zh-CN" dirty="0">
                    <a:solidFill>
                      <a:schemeClr val="bg1"/>
                    </a:solidFill>
                  </a:rPr>
                  <a:t>weak</a:t>
                </a:r>
                <a:r>
                  <a:rPr lang="zh-CN" altLang="en-US" dirty="0">
                    <a:solidFill>
                      <a:schemeClr val="bg1"/>
                    </a:solidFill>
                  </a:rPr>
                  <a:t> </a:t>
                </a:r>
                <a:r>
                  <a:rPr lang="en-US" altLang="zh-CN" dirty="0">
                    <a:solidFill>
                      <a:schemeClr val="bg1"/>
                    </a:solidFill>
                  </a:rPr>
                  <a:t>coupled…so that the exchange of energy between them is much slower than the exchange of energy among atom with each solid.</a:t>
                </a:r>
              </a:p>
              <a:p>
                <a:endParaRPr lang="en-US" dirty="0">
                  <a:solidFill>
                    <a:schemeClr val="bg1"/>
                  </a:solidFill>
                </a:endParaRPr>
              </a:p>
              <a:p>
                <a:pPr algn="ctr"/>
                <a14:m>
                  <m:oMath xmlns:m="http://schemas.openxmlformats.org/officeDocument/2006/math">
                    <m:sSub>
                      <m:sSubPr>
                        <m:ctrlPr>
                          <a:rPr lang="en-CN"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𝑈</m:t>
                        </m:r>
                      </m:e>
                      <m:sub>
                        <m:r>
                          <a:rPr lang="en-US" b="0" i="1" smtClean="0">
                            <a:solidFill>
                              <a:schemeClr val="bg1"/>
                            </a:solidFill>
                            <a:latin typeface="Cambria Math" panose="02040503050406030204" pitchFamily="18" charset="0"/>
                          </a:rPr>
                          <m:t>𝐴</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𝑈</m:t>
                        </m:r>
                      </m:e>
                      <m:sub>
                        <m:r>
                          <a:rPr lang="en-US" b="0" i="1" smtClean="0">
                            <a:solidFill>
                              <a:schemeClr val="bg1"/>
                            </a:solidFill>
                            <a:latin typeface="Cambria Math" panose="02040503050406030204" pitchFamily="18" charset="0"/>
                          </a:rPr>
                          <m:t>𝐵</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𝑈</m:t>
                        </m:r>
                      </m:e>
                      <m:sub>
                        <m:r>
                          <a:rPr lang="en-US" b="0" i="1" smtClean="0">
                            <a:solidFill>
                              <a:schemeClr val="bg1"/>
                            </a:solidFill>
                            <a:latin typeface="Cambria Math" panose="02040503050406030204" pitchFamily="18" charset="0"/>
                          </a:rPr>
                          <m:t>𝑡</m:t>
                        </m:r>
                      </m:sub>
                    </m:sSub>
                    <m:r>
                      <a:rPr lang="en-US" b="0" i="1" smtClean="0">
                        <a:solidFill>
                          <a:schemeClr val="bg1"/>
                        </a:solidFill>
                        <a:latin typeface="Cambria Math" panose="02040503050406030204" pitchFamily="18" charset="0"/>
                      </a:rPr>
                      <m:t>                        </m:t>
                    </m:r>
                    <m:r>
                      <a:rPr lang="en-US" i="1">
                        <a:solidFill>
                          <a:schemeClr val="bg1"/>
                        </a:solidFill>
                        <a:latin typeface="Cambria Math" panose="02040503050406030204" pitchFamily="18" charset="0"/>
                      </a:rPr>
                      <m:t>总</m:t>
                    </m:r>
                    <m:r>
                      <a:rPr lang="en-US" i="1" smtClean="0">
                        <a:solidFill>
                          <a:schemeClr val="bg1"/>
                        </a:solidFill>
                        <a:latin typeface="Cambria Math" panose="02040503050406030204" pitchFamily="18" charset="0"/>
                      </a:rPr>
                      <m:t>能量</m:t>
                    </m:r>
                  </m:oMath>
                </a14:m>
                <a:r>
                  <a:rPr lang="en-US" b="0" dirty="0">
                    <a:solidFill>
                      <a:schemeClr val="bg1"/>
                    </a:solidFill>
                  </a:rPr>
                  <a:t>固定</a:t>
                </a:r>
              </a:p>
              <a:p>
                <a:r>
                  <a:rPr lang="en-CN" sz="4000" dirty="0">
                    <a:solidFill>
                      <a:schemeClr val="bg1"/>
                    </a:solidFill>
                  </a:rPr>
                  <a:t>AB各自能量可变化</a:t>
                </a:r>
                <a:r>
                  <a:rPr lang="zh-CN" altLang="en-US" sz="4000" dirty="0">
                    <a:solidFill>
                      <a:schemeClr val="bg1"/>
                    </a:solidFill>
                  </a:rPr>
                  <a:t>、极其缓慢</a:t>
                </a:r>
                <a:endParaRPr lang="en-CN" sz="4000" dirty="0">
                  <a:solidFill>
                    <a:schemeClr val="bg1"/>
                  </a:solidFill>
                </a:endParaRPr>
              </a:p>
            </p:txBody>
          </p:sp>
        </mc:Choice>
        <mc:Fallback xmlns="">
          <p:sp>
            <p:nvSpPr>
              <p:cNvPr id="9" name="TextBox 8">
                <a:extLst>
                  <a:ext uri="{FF2B5EF4-FFF2-40B4-BE49-F238E27FC236}">
                    <a16:creationId xmlns:a16="http://schemas.microsoft.com/office/drawing/2014/main" id="{6B7BBD19-6893-2945-969B-96C16C7A15B1}"/>
                  </a:ext>
                </a:extLst>
              </p:cNvPr>
              <p:cNvSpPr txBox="1">
                <a:spLocks noRot="1" noChangeAspect="1" noMove="1" noResize="1" noEditPoints="1" noAdjustHandles="1" noChangeArrowheads="1" noChangeShapeType="1" noTextEdit="1"/>
              </p:cNvSpPr>
              <p:nvPr/>
            </p:nvSpPr>
            <p:spPr>
              <a:xfrm>
                <a:off x="524107" y="4471639"/>
                <a:ext cx="10961649" cy="1815882"/>
              </a:xfrm>
              <a:prstGeom prst="rect">
                <a:avLst/>
              </a:prstGeom>
              <a:blipFill>
                <a:blip r:embed="rId4"/>
                <a:stretch>
                  <a:fillRect l="-1968" t="-2098" b="-14685"/>
                </a:stretch>
              </a:blipFill>
            </p:spPr>
            <p:txBody>
              <a:bodyPr/>
              <a:lstStyle/>
              <a:p>
                <a:r>
                  <a:rPr lang="en-CN">
                    <a:noFill/>
                  </a:rPr>
                  <a:t> </a:t>
                </a:r>
              </a:p>
            </p:txBody>
          </p:sp>
        </mc:Fallback>
      </mc:AlternateContent>
      <p:sp>
        <p:nvSpPr>
          <p:cNvPr id="2" name="TextBox 1">
            <a:extLst>
              <a:ext uri="{FF2B5EF4-FFF2-40B4-BE49-F238E27FC236}">
                <a16:creationId xmlns:a16="http://schemas.microsoft.com/office/drawing/2014/main" id="{E640FB0B-775B-B541-862C-77A2BFEDA7AF}"/>
              </a:ext>
            </a:extLst>
          </p:cNvPr>
          <p:cNvSpPr txBox="1"/>
          <p:nvPr/>
        </p:nvSpPr>
        <p:spPr>
          <a:xfrm>
            <a:off x="9915896" y="1650670"/>
            <a:ext cx="1864426" cy="646331"/>
          </a:xfrm>
          <a:prstGeom prst="rect">
            <a:avLst/>
          </a:prstGeom>
          <a:noFill/>
        </p:spPr>
        <p:txBody>
          <a:bodyPr wrap="square" rtlCol="0">
            <a:spAutoFit/>
          </a:bodyPr>
          <a:lstStyle/>
          <a:p>
            <a:r>
              <a:rPr lang="en-CN" dirty="0">
                <a:solidFill>
                  <a:schemeClr val="bg1"/>
                </a:solidFill>
              </a:rPr>
              <a:t>A+B system closed</a:t>
            </a:r>
          </a:p>
        </p:txBody>
      </p:sp>
      <p:sp>
        <p:nvSpPr>
          <p:cNvPr id="5" name="TextBox 4">
            <a:extLst>
              <a:ext uri="{FF2B5EF4-FFF2-40B4-BE49-F238E27FC236}">
                <a16:creationId xmlns:a16="http://schemas.microsoft.com/office/drawing/2014/main" id="{B3D16A3C-3402-7E44-8BE3-3EAE809C9E42}"/>
              </a:ext>
            </a:extLst>
          </p:cNvPr>
          <p:cNvSpPr txBox="1"/>
          <p:nvPr/>
        </p:nvSpPr>
        <p:spPr>
          <a:xfrm>
            <a:off x="6412675" y="439387"/>
            <a:ext cx="3871356" cy="369332"/>
          </a:xfrm>
          <a:prstGeom prst="rect">
            <a:avLst/>
          </a:prstGeom>
          <a:noFill/>
        </p:spPr>
        <p:txBody>
          <a:bodyPr wrap="square" rtlCol="0">
            <a:spAutoFit/>
          </a:bodyPr>
          <a:lstStyle/>
          <a:p>
            <a:r>
              <a:rPr lang="en-CN" dirty="0">
                <a:solidFill>
                  <a:schemeClr val="bg1"/>
                </a:solidFill>
              </a:rPr>
              <a:t>N谐振子数</a:t>
            </a:r>
            <a:r>
              <a:rPr lang="zh-CN" altLang="en-US" dirty="0">
                <a:solidFill>
                  <a:schemeClr val="bg1"/>
                </a:solidFill>
              </a:rPr>
              <a:t>；</a:t>
            </a:r>
            <a:r>
              <a:rPr lang="en-US" altLang="zh-CN" dirty="0">
                <a:solidFill>
                  <a:schemeClr val="bg1"/>
                </a:solidFill>
              </a:rPr>
              <a:t>q</a:t>
            </a:r>
            <a:r>
              <a:rPr lang="zh-CN" altLang="en-US" dirty="0">
                <a:solidFill>
                  <a:schemeClr val="bg1"/>
                </a:solidFill>
              </a:rPr>
              <a:t>能量</a:t>
            </a:r>
            <a:endParaRPr lang="en-CN" dirty="0">
              <a:solidFill>
                <a:schemeClr val="bg1"/>
              </a:solidFill>
            </a:endParaRPr>
          </a:p>
        </p:txBody>
      </p:sp>
    </p:spTree>
    <p:extLst>
      <p:ext uri="{BB962C8B-B14F-4D97-AF65-F5344CB8AC3E}">
        <p14:creationId xmlns:p14="http://schemas.microsoft.com/office/powerpoint/2010/main" val="4208559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4C88D0E-1805-A44E-ADAF-8BA2DE6B9FF8}"/>
                  </a:ext>
                </a:extLst>
              </p:cNvPr>
              <p:cNvSpPr txBox="1"/>
              <p:nvPr/>
            </p:nvSpPr>
            <p:spPr>
              <a:xfrm>
                <a:off x="524107" y="301083"/>
                <a:ext cx="9032488" cy="535403"/>
              </a:xfrm>
              <a:prstGeom prst="rect">
                <a:avLst/>
              </a:prstGeom>
              <a:noFill/>
            </p:spPr>
            <p:txBody>
              <a:bodyPr wrap="square" rtlCol="0">
                <a:spAutoFit/>
              </a:bodyPr>
              <a:lstStyle/>
              <a:p>
                <a:r>
                  <a:rPr lang="en-CN" dirty="0">
                    <a:solidFill>
                      <a:schemeClr val="bg1"/>
                    </a:solidFill>
                  </a:rPr>
                  <a:t>以爱因斯坦固体为例</a:t>
                </a:r>
                <a:r>
                  <a:rPr lang="zh-CN" altLang="en-US" dirty="0">
                    <a:solidFill>
                      <a:schemeClr val="bg1"/>
                    </a:solidFill>
                  </a:rPr>
                  <a:t>（</a:t>
                </a:r>
                <a:r>
                  <a:rPr lang="en-US" dirty="0">
                    <a:solidFill>
                      <a:schemeClr val="bg1"/>
                    </a:solidFill>
                  </a:rPr>
                  <a:t> </a:t>
                </a:r>
                <a14:m>
                  <m:oMath xmlns:m="http://schemas.openxmlformats.org/officeDocument/2006/math">
                    <m:r>
                      <a:rPr lang="en-US" i="1">
                        <a:solidFill>
                          <a:schemeClr val="bg1"/>
                        </a:solidFill>
                        <a:latin typeface="Cambria Math" panose="02040503050406030204" pitchFamily="18" charset="0"/>
                      </a:rPr>
                      <m:t>𝑔</m:t>
                    </m:r>
                    <m:d>
                      <m:dPr>
                        <m:begChr m:val="["/>
                        <m:endChr m:val="]"/>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𝑁</m:t>
                        </m:r>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𝑞</m:t>
                        </m:r>
                      </m:e>
                    </m:d>
                    <m:r>
                      <a:rPr lang="en-US" i="1">
                        <a:solidFill>
                          <a:schemeClr val="bg1"/>
                        </a:solidFill>
                        <a:latin typeface="Cambria Math" panose="02040503050406030204" pitchFamily="18" charset="0"/>
                      </a:rPr>
                      <m:t>=</m:t>
                    </m:r>
                    <m:f>
                      <m:fPr>
                        <m:ctrlPr>
                          <a:rPr lang="en-US" i="1">
                            <a:solidFill>
                              <a:schemeClr val="bg1"/>
                            </a:solidFill>
                            <a:latin typeface="Cambria Math" panose="02040503050406030204" pitchFamily="18" charset="0"/>
                          </a:rPr>
                        </m:ctrlPr>
                      </m:fPr>
                      <m:num>
                        <m:d>
                          <m:dPr>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𝑞</m:t>
                            </m:r>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𝑁</m:t>
                            </m:r>
                            <m:r>
                              <a:rPr lang="en-US" i="1">
                                <a:solidFill>
                                  <a:schemeClr val="bg1"/>
                                </a:solidFill>
                                <a:latin typeface="Cambria Math" panose="02040503050406030204" pitchFamily="18" charset="0"/>
                              </a:rPr>
                              <m:t>−1</m:t>
                            </m:r>
                          </m:e>
                        </m:d>
                        <m:r>
                          <a:rPr lang="en-US" i="1">
                            <a:solidFill>
                              <a:schemeClr val="bg1"/>
                            </a:solidFill>
                            <a:latin typeface="Cambria Math" panose="02040503050406030204" pitchFamily="18" charset="0"/>
                          </a:rPr>
                          <m:t>!</m:t>
                        </m:r>
                      </m:num>
                      <m:den>
                        <m:r>
                          <a:rPr lang="en-US" i="1">
                            <a:solidFill>
                              <a:schemeClr val="bg1"/>
                            </a:solidFill>
                            <a:latin typeface="Cambria Math" panose="02040503050406030204" pitchFamily="18" charset="0"/>
                          </a:rPr>
                          <m:t>𝑞</m:t>
                        </m:r>
                        <m:r>
                          <a:rPr lang="en-US" i="1">
                            <a:solidFill>
                              <a:schemeClr val="bg1"/>
                            </a:solidFill>
                            <a:latin typeface="Cambria Math" panose="02040503050406030204" pitchFamily="18" charset="0"/>
                          </a:rPr>
                          <m:t>!</m:t>
                        </m:r>
                        <m:d>
                          <m:dPr>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𝑁</m:t>
                            </m:r>
                            <m:r>
                              <a:rPr lang="en-US" i="1">
                                <a:solidFill>
                                  <a:schemeClr val="bg1"/>
                                </a:solidFill>
                                <a:latin typeface="Cambria Math" panose="02040503050406030204" pitchFamily="18" charset="0"/>
                              </a:rPr>
                              <m:t>−1</m:t>
                            </m:r>
                          </m:e>
                        </m:d>
                        <m:r>
                          <a:rPr lang="en-US" i="1">
                            <a:solidFill>
                              <a:schemeClr val="bg1"/>
                            </a:solidFill>
                            <a:latin typeface="Cambria Math" panose="02040503050406030204" pitchFamily="18" charset="0"/>
                          </a:rPr>
                          <m:t>!</m:t>
                        </m:r>
                      </m:den>
                    </m:f>
                    <m:r>
                      <a:rPr lang="en-US" i="1">
                        <a:solidFill>
                          <a:schemeClr val="bg1"/>
                        </a:solidFill>
                        <a:latin typeface="Cambria Math" panose="02040503050406030204" pitchFamily="18" charset="0"/>
                      </a:rPr>
                      <m:t> </m:t>
                    </m:r>
                  </m:oMath>
                </a14:m>
                <a:r>
                  <a:rPr lang="zh-CN" altLang="en-US" dirty="0">
                    <a:solidFill>
                      <a:schemeClr val="bg1"/>
                    </a:solidFill>
                  </a:rPr>
                  <a:t>）</a:t>
                </a:r>
                <a:endParaRPr lang="en-CN" dirty="0">
                  <a:solidFill>
                    <a:schemeClr val="bg1"/>
                  </a:solidFill>
                </a:endParaRPr>
              </a:p>
            </p:txBody>
          </p:sp>
        </mc:Choice>
        <mc:Fallback xmlns="">
          <p:sp>
            <p:nvSpPr>
              <p:cNvPr id="4" name="TextBox 3">
                <a:extLst>
                  <a:ext uri="{FF2B5EF4-FFF2-40B4-BE49-F238E27FC236}">
                    <a16:creationId xmlns:a16="http://schemas.microsoft.com/office/drawing/2014/main" id="{94C88D0E-1805-A44E-ADAF-8BA2DE6B9FF8}"/>
                  </a:ext>
                </a:extLst>
              </p:cNvPr>
              <p:cNvSpPr txBox="1">
                <a:spLocks noRot="1" noChangeAspect="1" noMove="1" noResize="1" noEditPoints="1" noAdjustHandles="1" noChangeArrowheads="1" noChangeShapeType="1" noTextEdit="1"/>
              </p:cNvSpPr>
              <p:nvPr/>
            </p:nvSpPr>
            <p:spPr>
              <a:xfrm>
                <a:off x="524107" y="301083"/>
                <a:ext cx="9032488" cy="535403"/>
              </a:xfrm>
              <a:prstGeom prst="rect">
                <a:avLst/>
              </a:prstGeom>
              <a:blipFill>
                <a:blip r:embed="rId2"/>
                <a:stretch>
                  <a:fillRect l="-562" b="-2326"/>
                </a:stretch>
              </a:blipFill>
            </p:spPr>
            <p:txBody>
              <a:bodyPr/>
              <a:lstStyle/>
              <a:p>
                <a:r>
                  <a:rPr lang="en-CN">
                    <a:noFill/>
                  </a:rPr>
                  <a:t> </a:t>
                </a:r>
              </a:p>
            </p:txBody>
          </p:sp>
        </mc:Fallback>
      </mc:AlternateContent>
      <p:pic>
        <p:nvPicPr>
          <p:cNvPr id="8" name="Picture 7">
            <a:extLst>
              <a:ext uri="{FF2B5EF4-FFF2-40B4-BE49-F238E27FC236}">
                <a16:creationId xmlns:a16="http://schemas.microsoft.com/office/drawing/2014/main" id="{873707A3-570B-D143-A9FE-2F1E2C698C1B}"/>
              </a:ext>
            </a:extLst>
          </p:cNvPr>
          <p:cNvPicPr>
            <a:picLocks noChangeAspect="1"/>
          </p:cNvPicPr>
          <p:nvPr/>
        </p:nvPicPr>
        <p:blipFill>
          <a:blip r:embed="rId3"/>
          <a:stretch>
            <a:fillRect/>
          </a:stretch>
        </p:blipFill>
        <p:spPr>
          <a:xfrm>
            <a:off x="2498724" y="1036492"/>
            <a:ext cx="7012413" cy="2928849"/>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B7BBD19-6893-2945-969B-96C16C7A15B1}"/>
                  </a:ext>
                </a:extLst>
              </p:cNvPr>
              <p:cNvSpPr txBox="1"/>
              <p:nvPr/>
            </p:nvSpPr>
            <p:spPr>
              <a:xfrm>
                <a:off x="524107" y="4471639"/>
                <a:ext cx="10961649" cy="1077218"/>
              </a:xfrm>
              <a:prstGeom prst="rect">
                <a:avLst/>
              </a:prstGeom>
              <a:noFill/>
            </p:spPr>
            <p:txBody>
              <a:bodyPr wrap="square" rtlCol="0">
                <a:spAutoFit/>
              </a:bodyPr>
              <a:lstStyle/>
              <a:p>
                <a:r>
                  <a:rPr lang="en-CN" sz="3200" dirty="0">
                    <a:solidFill>
                      <a:schemeClr val="bg1"/>
                    </a:solidFill>
                  </a:rPr>
                  <a:t>先考虑一个小系统</a:t>
                </a:r>
                <a:r>
                  <a:rPr lang="zh-CN" altLang="en-US" sz="3200" dirty="0">
                    <a:solidFill>
                      <a:schemeClr val="bg1"/>
                    </a:solidFill>
                  </a:rPr>
                  <a:t>，比如</a:t>
                </a:r>
                <a:endParaRPr lang="en-US" altLang="zh-CN" sz="3200" dirty="0">
                  <a:solidFill>
                    <a:schemeClr val="bg1"/>
                  </a:solidFill>
                </a:endParaRPr>
              </a:p>
              <a:p>
                <a:pPr/>
                <a14:m>
                  <m:oMathPara xmlns:m="http://schemas.openxmlformats.org/officeDocument/2006/math">
                    <m:oMathParaPr>
                      <m:jc m:val="centerGroup"/>
                    </m:oMathParaPr>
                    <m:oMath xmlns:m="http://schemas.openxmlformats.org/officeDocument/2006/math">
                      <m:sSub>
                        <m:sSubPr>
                          <m:ctrlPr>
                            <a:rPr lang="en-CN" sz="3200" i="1" smtClean="0">
                              <a:solidFill>
                                <a:schemeClr val="bg1"/>
                              </a:solidFill>
                              <a:latin typeface="Cambria Math" panose="02040503050406030204" pitchFamily="18" charset="0"/>
                            </a:rPr>
                          </m:ctrlPr>
                        </m:sSubPr>
                        <m:e>
                          <m:r>
                            <a:rPr lang="en-US" sz="3200" b="0" i="1" smtClean="0">
                              <a:solidFill>
                                <a:schemeClr val="bg1"/>
                              </a:solidFill>
                              <a:latin typeface="Cambria Math" panose="02040503050406030204" pitchFamily="18" charset="0"/>
                            </a:rPr>
                            <m:t>𝑁</m:t>
                          </m:r>
                        </m:e>
                        <m:sub>
                          <m:r>
                            <a:rPr lang="en-US" sz="3200" b="0" i="1" smtClean="0">
                              <a:solidFill>
                                <a:schemeClr val="bg1"/>
                              </a:solidFill>
                              <a:latin typeface="Cambria Math" panose="02040503050406030204" pitchFamily="18" charset="0"/>
                            </a:rPr>
                            <m:t>𝐴</m:t>
                          </m:r>
                        </m:sub>
                      </m:sSub>
                      <m:r>
                        <a:rPr lang="en-US" sz="3200" b="0" i="1" smtClean="0">
                          <a:solidFill>
                            <a:schemeClr val="bg1"/>
                          </a:solidFill>
                          <a:latin typeface="Cambria Math" panose="02040503050406030204" pitchFamily="18" charset="0"/>
                        </a:rPr>
                        <m:t>=</m:t>
                      </m:r>
                      <m:sSub>
                        <m:sSubPr>
                          <m:ctrlPr>
                            <a:rPr lang="en-US" sz="3200" b="0" i="1" smtClean="0">
                              <a:solidFill>
                                <a:schemeClr val="bg1"/>
                              </a:solidFill>
                              <a:latin typeface="Cambria Math" panose="02040503050406030204" pitchFamily="18" charset="0"/>
                            </a:rPr>
                          </m:ctrlPr>
                        </m:sSubPr>
                        <m:e>
                          <m:r>
                            <a:rPr lang="en-US" sz="3200" b="0" i="1" smtClean="0">
                              <a:solidFill>
                                <a:schemeClr val="bg1"/>
                              </a:solidFill>
                              <a:latin typeface="Cambria Math" panose="02040503050406030204" pitchFamily="18" charset="0"/>
                            </a:rPr>
                            <m:t>𝑁</m:t>
                          </m:r>
                        </m:e>
                        <m:sub>
                          <m:r>
                            <a:rPr lang="en-US" sz="3200" b="0" i="1" smtClean="0">
                              <a:solidFill>
                                <a:schemeClr val="bg1"/>
                              </a:solidFill>
                              <a:latin typeface="Cambria Math" panose="02040503050406030204" pitchFamily="18" charset="0"/>
                            </a:rPr>
                            <m:t>𝐵</m:t>
                          </m:r>
                        </m:sub>
                      </m:sSub>
                      <m:r>
                        <a:rPr lang="en-US" sz="3200" b="0" i="1" smtClean="0">
                          <a:solidFill>
                            <a:schemeClr val="bg1"/>
                          </a:solidFill>
                          <a:latin typeface="Cambria Math" panose="02040503050406030204" pitchFamily="18" charset="0"/>
                        </a:rPr>
                        <m:t>=3,                    </m:t>
                      </m:r>
                      <m:sSub>
                        <m:sSubPr>
                          <m:ctrlPr>
                            <a:rPr lang="en-US" sz="3200" b="0" i="1" smtClean="0">
                              <a:solidFill>
                                <a:schemeClr val="bg1"/>
                              </a:solidFill>
                              <a:latin typeface="Cambria Math" panose="02040503050406030204" pitchFamily="18" charset="0"/>
                            </a:rPr>
                          </m:ctrlPr>
                        </m:sSubPr>
                        <m:e>
                          <m:r>
                            <a:rPr lang="en-US" sz="3200" b="0" i="1" smtClean="0">
                              <a:solidFill>
                                <a:schemeClr val="bg1"/>
                              </a:solidFill>
                              <a:latin typeface="Cambria Math" panose="02040503050406030204" pitchFamily="18" charset="0"/>
                            </a:rPr>
                            <m:t>𝑞</m:t>
                          </m:r>
                        </m:e>
                        <m:sub>
                          <m:r>
                            <a:rPr lang="en-US" sz="3200" b="0" i="1" smtClean="0">
                              <a:solidFill>
                                <a:schemeClr val="bg1"/>
                              </a:solidFill>
                              <a:latin typeface="Cambria Math" panose="02040503050406030204" pitchFamily="18" charset="0"/>
                            </a:rPr>
                            <m:t>𝑡</m:t>
                          </m:r>
                        </m:sub>
                      </m:sSub>
                      <m:r>
                        <a:rPr lang="en-US" sz="3200" b="0" i="1" smtClean="0">
                          <a:solidFill>
                            <a:schemeClr val="bg1"/>
                          </a:solidFill>
                          <a:latin typeface="Cambria Math" panose="02040503050406030204" pitchFamily="18" charset="0"/>
                        </a:rPr>
                        <m:t>=</m:t>
                      </m:r>
                      <m:sSub>
                        <m:sSubPr>
                          <m:ctrlPr>
                            <a:rPr lang="en-US" sz="3200" b="0" i="1" smtClean="0">
                              <a:solidFill>
                                <a:schemeClr val="bg1"/>
                              </a:solidFill>
                              <a:latin typeface="Cambria Math" panose="02040503050406030204" pitchFamily="18" charset="0"/>
                            </a:rPr>
                          </m:ctrlPr>
                        </m:sSubPr>
                        <m:e>
                          <m:r>
                            <a:rPr lang="en-US" sz="3200" b="0" i="1" smtClean="0">
                              <a:solidFill>
                                <a:schemeClr val="bg1"/>
                              </a:solidFill>
                              <a:latin typeface="Cambria Math" panose="02040503050406030204" pitchFamily="18" charset="0"/>
                            </a:rPr>
                            <m:t>𝑞</m:t>
                          </m:r>
                        </m:e>
                        <m:sub>
                          <m:r>
                            <a:rPr lang="en-US" sz="3200" b="0" i="1" smtClean="0">
                              <a:solidFill>
                                <a:schemeClr val="bg1"/>
                              </a:solidFill>
                              <a:latin typeface="Cambria Math" panose="02040503050406030204" pitchFamily="18" charset="0"/>
                            </a:rPr>
                            <m:t>𝐴</m:t>
                          </m:r>
                        </m:sub>
                      </m:sSub>
                      <m:r>
                        <a:rPr lang="en-US" sz="3200" b="0" i="1" smtClean="0">
                          <a:solidFill>
                            <a:schemeClr val="bg1"/>
                          </a:solidFill>
                          <a:latin typeface="Cambria Math" panose="02040503050406030204" pitchFamily="18" charset="0"/>
                        </a:rPr>
                        <m:t>+</m:t>
                      </m:r>
                      <m:sSub>
                        <m:sSubPr>
                          <m:ctrlPr>
                            <a:rPr lang="en-US" sz="3200" b="0" i="1" smtClean="0">
                              <a:solidFill>
                                <a:schemeClr val="bg1"/>
                              </a:solidFill>
                              <a:latin typeface="Cambria Math" panose="02040503050406030204" pitchFamily="18" charset="0"/>
                            </a:rPr>
                          </m:ctrlPr>
                        </m:sSubPr>
                        <m:e>
                          <m:r>
                            <a:rPr lang="en-US" sz="3200" b="0" i="1" smtClean="0">
                              <a:solidFill>
                                <a:schemeClr val="bg1"/>
                              </a:solidFill>
                              <a:latin typeface="Cambria Math" panose="02040503050406030204" pitchFamily="18" charset="0"/>
                            </a:rPr>
                            <m:t>𝑞</m:t>
                          </m:r>
                        </m:e>
                        <m:sub>
                          <m:r>
                            <a:rPr lang="en-US" sz="3200" b="0" i="1" smtClean="0">
                              <a:solidFill>
                                <a:schemeClr val="bg1"/>
                              </a:solidFill>
                              <a:latin typeface="Cambria Math" panose="02040503050406030204" pitchFamily="18" charset="0"/>
                            </a:rPr>
                            <m:t>𝐵</m:t>
                          </m:r>
                        </m:sub>
                      </m:sSub>
                      <m:r>
                        <a:rPr lang="en-US" sz="3200" b="0" i="1" smtClean="0">
                          <a:solidFill>
                            <a:schemeClr val="bg1"/>
                          </a:solidFill>
                          <a:latin typeface="Cambria Math" panose="02040503050406030204" pitchFamily="18" charset="0"/>
                        </a:rPr>
                        <m:t>=6</m:t>
                      </m:r>
                    </m:oMath>
                  </m:oMathPara>
                </a14:m>
                <a:endParaRPr lang="en-CN" sz="3200" dirty="0">
                  <a:solidFill>
                    <a:schemeClr val="bg1"/>
                  </a:solidFill>
                </a:endParaRPr>
              </a:p>
            </p:txBody>
          </p:sp>
        </mc:Choice>
        <mc:Fallback xmlns="">
          <p:sp>
            <p:nvSpPr>
              <p:cNvPr id="9" name="TextBox 8">
                <a:extLst>
                  <a:ext uri="{FF2B5EF4-FFF2-40B4-BE49-F238E27FC236}">
                    <a16:creationId xmlns:a16="http://schemas.microsoft.com/office/drawing/2014/main" id="{6B7BBD19-6893-2945-969B-96C16C7A15B1}"/>
                  </a:ext>
                </a:extLst>
              </p:cNvPr>
              <p:cNvSpPr txBox="1">
                <a:spLocks noRot="1" noChangeAspect="1" noMove="1" noResize="1" noEditPoints="1" noAdjustHandles="1" noChangeArrowheads="1" noChangeShapeType="1" noTextEdit="1"/>
              </p:cNvSpPr>
              <p:nvPr/>
            </p:nvSpPr>
            <p:spPr>
              <a:xfrm>
                <a:off x="524107" y="4471639"/>
                <a:ext cx="10961649" cy="1077218"/>
              </a:xfrm>
              <a:prstGeom prst="rect">
                <a:avLst/>
              </a:prstGeom>
              <a:blipFill>
                <a:blip r:embed="rId4"/>
                <a:stretch>
                  <a:fillRect l="-1389" t="-8235" b="-11765"/>
                </a:stretch>
              </a:blipFill>
            </p:spPr>
            <p:txBody>
              <a:bodyPr/>
              <a:lstStyle/>
              <a:p>
                <a:r>
                  <a:rPr lang="en-CN">
                    <a:noFill/>
                  </a:rPr>
                  <a:t> </a:t>
                </a:r>
              </a:p>
            </p:txBody>
          </p:sp>
        </mc:Fallback>
      </mc:AlternateContent>
    </p:spTree>
    <p:extLst>
      <p:ext uri="{BB962C8B-B14F-4D97-AF65-F5344CB8AC3E}">
        <p14:creationId xmlns:p14="http://schemas.microsoft.com/office/powerpoint/2010/main" val="1652153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B7BBD19-6893-2945-969B-96C16C7A15B1}"/>
                  </a:ext>
                </a:extLst>
              </p:cNvPr>
              <p:cNvSpPr txBox="1"/>
              <p:nvPr/>
            </p:nvSpPr>
            <p:spPr>
              <a:xfrm>
                <a:off x="345687" y="100361"/>
                <a:ext cx="10961649" cy="646331"/>
              </a:xfrm>
              <a:prstGeom prst="rect">
                <a:avLst/>
              </a:prstGeom>
              <a:noFill/>
            </p:spPr>
            <p:txBody>
              <a:bodyPr wrap="square" rtlCol="0">
                <a:spAutoFit/>
              </a:bodyPr>
              <a:lstStyle/>
              <a:p>
                <a:r>
                  <a:rPr lang="en-CN" dirty="0">
                    <a:solidFill>
                      <a:schemeClr val="bg1"/>
                    </a:solidFill>
                  </a:rPr>
                  <a:t>先考虑一个小系统</a:t>
                </a:r>
                <a:r>
                  <a:rPr lang="zh-CN" altLang="en-US" dirty="0">
                    <a:solidFill>
                      <a:schemeClr val="bg1"/>
                    </a:solidFill>
                  </a:rPr>
                  <a:t>，比如</a:t>
                </a:r>
                <a:endParaRPr lang="en-US" altLang="zh-CN" dirty="0">
                  <a:solidFill>
                    <a:schemeClr val="bg1"/>
                  </a:solidFill>
                </a:endParaRPr>
              </a:p>
              <a:p>
                <a:pPr/>
                <a14:m>
                  <m:oMathPara xmlns:m="http://schemas.openxmlformats.org/officeDocument/2006/math">
                    <m:oMathParaPr>
                      <m:jc m:val="centerGroup"/>
                    </m:oMathParaPr>
                    <m:oMath xmlns:m="http://schemas.openxmlformats.org/officeDocument/2006/math">
                      <m:sSub>
                        <m:sSubPr>
                          <m:ctrlPr>
                            <a:rPr lang="en-CN"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𝑁</m:t>
                          </m:r>
                        </m:e>
                        <m:sub>
                          <m:r>
                            <a:rPr lang="en-US" b="0" i="1" smtClean="0">
                              <a:solidFill>
                                <a:schemeClr val="bg1"/>
                              </a:solidFill>
                              <a:latin typeface="Cambria Math" panose="02040503050406030204" pitchFamily="18" charset="0"/>
                            </a:rPr>
                            <m:t>𝐴</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𝑁</m:t>
                          </m:r>
                        </m:e>
                        <m:sub>
                          <m:r>
                            <a:rPr lang="en-US" b="0" i="1" smtClean="0">
                              <a:solidFill>
                                <a:schemeClr val="bg1"/>
                              </a:solidFill>
                              <a:latin typeface="Cambria Math" panose="02040503050406030204" pitchFamily="18" charset="0"/>
                            </a:rPr>
                            <m:t>𝐵</m:t>
                          </m:r>
                        </m:sub>
                      </m:sSub>
                      <m:r>
                        <a:rPr lang="en-US" b="0" i="1" smtClean="0">
                          <a:solidFill>
                            <a:schemeClr val="bg1"/>
                          </a:solidFill>
                          <a:latin typeface="Cambria Math" panose="02040503050406030204" pitchFamily="18" charset="0"/>
                        </a:rPr>
                        <m:t>=3,                    </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𝑞</m:t>
                          </m:r>
                        </m:e>
                        <m:sub>
                          <m:r>
                            <a:rPr lang="en-US" b="0" i="1" smtClean="0">
                              <a:solidFill>
                                <a:schemeClr val="bg1"/>
                              </a:solidFill>
                              <a:latin typeface="Cambria Math" panose="02040503050406030204" pitchFamily="18" charset="0"/>
                            </a:rPr>
                            <m:t>𝑡</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𝑞</m:t>
                          </m:r>
                        </m:e>
                        <m:sub>
                          <m:r>
                            <a:rPr lang="en-US" b="0" i="1" smtClean="0">
                              <a:solidFill>
                                <a:schemeClr val="bg1"/>
                              </a:solidFill>
                              <a:latin typeface="Cambria Math" panose="02040503050406030204" pitchFamily="18" charset="0"/>
                            </a:rPr>
                            <m:t>𝐴</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𝑞</m:t>
                          </m:r>
                        </m:e>
                        <m:sub>
                          <m:r>
                            <a:rPr lang="en-US" b="0" i="1" smtClean="0">
                              <a:solidFill>
                                <a:schemeClr val="bg1"/>
                              </a:solidFill>
                              <a:latin typeface="Cambria Math" panose="02040503050406030204" pitchFamily="18" charset="0"/>
                            </a:rPr>
                            <m:t>𝐵</m:t>
                          </m:r>
                        </m:sub>
                      </m:sSub>
                      <m:r>
                        <a:rPr lang="en-US" b="0" i="1" smtClean="0">
                          <a:solidFill>
                            <a:schemeClr val="bg1"/>
                          </a:solidFill>
                          <a:latin typeface="Cambria Math" panose="02040503050406030204" pitchFamily="18" charset="0"/>
                        </a:rPr>
                        <m:t>=6</m:t>
                      </m:r>
                    </m:oMath>
                  </m:oMathPara>
                </a14:m>
                <a:endParaRPr lang="en-CN" dirty="0">
                  <a:solidFill>
                    <a:schemeClr val="bg1"/>
                  </a:solidFill>
                </a:endParaRPr>
              </a:p>
            </p:txBody>
          </p:sp>
        </mc:Choice>
        <mc:Fallback xmlns="">
          <p:sp>
            <p:nvSpPr>
              <p:cNvPr id="9" name="TextBox 8">
                <a:extLst>
                  <a:ext uri="{FF2B5EF4-FFF2-40B4-BE49-F238E27FC236}">
                    <a16:creationId xmlns:a16="http://schemas.microsoft.com/office/drawing/2014/main" id="{6B7BBD19-6893-2945-969B-96C16C7A15B1}"/>
                  </a:ext>
                </a:extLst>
              </p:cNvPr>
              <p:cNvSpPr txBox="1">
                <a:spLocks noRot="1" noChangeAspect="1" noMove="1" noResize="1" noEditPoints="1" noAdjustHandles="1" noChangeArrowheads="1" noChangeShapeType="1" noTextEdit="1"/>
              </p:cNvSpPr>
              <p:nvPr/>
            </p:nvSpPr>
            <p:spPr>
              <a:xfrm>
                <a:off x="345687" y="100361"/>
                <a:ext cx="10961649" cy="646331"/>
              </a:xfrm>
              <a:prstGeom prst="rect">
                <a:avLst/>
              </a:prstGeom>
              <a:blipFill>
                <a:blip r:embed="rId2"/>
                <a:stretch>
                  <a:fillRect l="-463" t="-3846" b="-9615"/>
                </a:stretch>
              </a:blipFill>
            </p:spPr>
            <p:txBody>
              <a:bodyPr/>
              <a:lstStyle/>
              <a:p>
                <a:r>
                  <a:rPr lang="en-CN">
                    <a:noFill/>
                  </a:rPr>
                  <a:t> </a:t>
                </a:r>
              </a:p>
            </p:txBody>
          </p:sp>
        </mc:Fallback>
      </mc:AlternateContent>
      <p:pic>
        <p:nvPicPr>
          <p:cNvPr id="2" name="Picture 1">
            <a:extLst>
              <a:ext uri="{FF2B5EF4-FFF2-40B4-BE49-F238E27FC236}">
                <a16:creationId xmlns:a16="http://schemas.microsoft.com/office/drawing/2014/main" id="{FEAF4BEE-891F-F842-AFF1-10AEAF3140FB}"/>
              </a:ext>
            </a:extLst>
          </p:cNvPr>
          <p:cNvPicPr>
            <a:picLocks noChangeAspect="1"/>
          </p:cNvPicPr>
          <p:nvPr/>
        </p:nvPicPr>
        <p:blipFill>
          <a:blip r:embed="rId3"/>
          <a:stretch>
            <a:fillRect/>
          </a:stretch>
        </p:blipFill>
        <p:spPr>
          <a:xfrm>
            <a:off x="345687" y="1079248"/>
            <a:ext cx="11534078" cy="4368846"/>
          </a:xfrm>
          <a:prstGeom prst="rect">
            <a:avLst/>
          </a:prstGeom>
        </p:spPr>
      </p:pic>
      <p:sp>
        <p:nvSpPr>
          <p:cNvPr id="3" name="TextBox 2">
            <a:extLst>
              <a:ext uri="{FF2B5EF4-FFF2-40B4-BE49-F238E27FC236}">
                <a16:creationId xmlns:a16="http://schemas.microsoft.com/office/drawing/2014/main" id="{6D3CF1C7-916C-BB4B-A46C-27B32782E1C7}"/>
              </a:ext>
            </a:extLst>
          </p:cNvPr>
          <p:cNvSpPr txBox="1"/>
          <p:nvPr/>
        </p:nvSpPr>
        <p:spPr>
          <a:xfrm>
            <a:off x="8288977" y="3811979"/>
            <a:ext cx="415636" cy="369332"/>
          </a:xfrm>
          <a:prstGeom prst="rect">
            <a:avLst/>
          </a:prstGeom>
          <a:noFill/>
        </p:spPr>
        <p:txBody>
          <a:bodyPr wrap="square" rtlCol="0">
            <a:spAutoFit/>
          </a:bodyPr>
          <a:lstStyle/>
          <a:p>
            <a:r>
              <a:rPr lang="en-US" altLang="zh-CN" dirty="0"/>
              <a:t>+</a:t>
            </a:r>
            <a:endParaRPr lang="en-CN"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E2FDD3E-E250-E1A8-620B-E6ACB0F1754D}"/>
                  </a:ext>
                </a:extLst>
              </p:cNvPr>
              <p:cNvSpPr txBox="1"/>
              <p:nvPr/>
            </p:nvSpPr>
            <p:spPr>
              <a:xfrm>
                <a:off x="7670570" y="236438"/>
                <a:ext cx="6097384" cy="6765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panose="02040503050406030204" pitchFamily="18" charset="0"/>
                        </a:rPr>
                        <m:t>𝑔</m:t>
                      </m:r>
                      <m:d>
                        <m:dPr>
                          <m:begChr m:val="["/>
                          <m:endChr m:val="]"/>
                          <m:ctrlPr>
                            <a:rPr lang="en-US"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3</m:t>
                          </m:r>
                          <m:r>
                            <a:rPr lang="en-US" i="1">
                              <a:solidFill>
                                <a:srgbClr val="FF0000"/>
                              </a:solidFill>
                              <a:latin typeface="Cambria Math" panose="02040503050406030204" pitchFamily="18" charset="0"/>
                            </a:rPr>
                            <m:t>,</m:t>
                          </m:r>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𝑞</m:t>
                              </m:r>
                            </m:e>
                            <m:sub>
                              <m:r>
                                <a:rPr lang="en-US" b="0" i="1" smtClean="0">
                                  <a:solidFill>
                                    <a:srgbClr val="FF0000"/>
                                  </a:solidFill>
                                  <a:latin typeface="Cambria Math" panose="02040503050406030204" pitchFamily="18" charset="0"/>
                                </a:rPr>
                                <m:t>𝐴</m:t>
                              </m:r>
                            </m:sub>
                          </m:sSub>
                        </m:e>
                      </m:d>
                      <m:r>
                        <a:rPr lang="en-US" i="1">
                          <a:solidFill>
                            <a:srgbClr val="FF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𝑞</m:t>
                                  </m:r>
                                </m:e>
                                <m:sub>
                                  <m:r>
                                    <a:rPr lang="en-US" i="1">
                                      <a:solidFill>
                                        <a:srgbClr val="FF0000"/>
                                      </a:solidFill>
                                      <a:latin typeface="Cambria Math" panose="02040503050406030204" pitchFamily="18" charset="0"/>
                                    </a:rPr>
                                    <m:t>𝐴</m:t>
                                  </m:r>
                                </m:sub>
                              </m:sSub>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2</m:t>
                              </m:r>
                            </m:e>
                          </m:d>
                          <m:r>
                            <a:rPr lang="en-US" i="1">
                              <a:solidFill>
                                <a:srgbClr val="FF0000"/>
                              </a:solidFill>
                              <a:latin typeface="Cambria Math" panose="02040503050406030204" pitchFamily="18" charset="0"/>
                            </a:rPr>
                            <m:t>!</m:t>
                          </m:r>
                        </m:num>
                        <m:den>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𝑞</m:t>
                              </m:r>
                            </m:e>
                            <m:sub>
                              <m:r>
                                <a:rPr lang="en-US" i="1">
                                  <a:solidFill>
                                    <a:srgbClr val="FF0000"/>
                                  </a:solidFill>
                                  <a:latin typeface="Cambria Math" panose="02040503050406030204" pitchFamily="18" charset="0"/>
                                </a:rPr>
                                <m:t>𝐴</m:t>
                              </m:r>
                            </m:sub>
                          </m:sSub>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2</m:t>
                          </m:r>
                          <m:r>
                            <a:rPr lang="en-US" i="1">
                              <a:solidFill>
                                <a:srgbClr val="FF0000"/>
                              </a:solidFill>
                              <a:latin typeface="Cambria Math" panose="02040503050406030204" pitchFamily="18" charset="0"/>
                            </a:rPr>
                            <m:t>!</m:t>
                          </m:r>
                        </m:den>
                      </m:f>
                    </m:oMath>
                  </m:oMathPara>
                </a14:m>
                <a:endParaRPr lang="en-CN" dirty="0">
                  <a:solidFill>
                    <a:srgbClr val="FF0000"/>
                  </a:solidFill>
                </a:endParaRPr>
              </a:p>
            </p:txBody>
          </p:sp>
        </mc:Choice>
        <mc:Fallback xmlns="">
          <p:sp>
            <p:nvSpPr>
              <p:cNvPr id="5" name="TextBox 4">
                <a:extLst>
                  <a:ext uri="{FF2B5EF4-FFF2-40B4-BE49-F238E27FC236}">
                    <a16:creationId xmlns:a16="http://schemas.microsoft.com/office/drawing/2014/main" id="{AE2FDD3E-E250-E1A8-620B-E6ACB0F1754D}"/>
                  </a:ext>
                </a:extLst>
              </p:cNvPr>
              <p:cNvSpPr txBox="1">
                <a:spLocks noRot="1" noChangeAspect="1" noMove="1" noResize="1" noEditPoints="1" noAdjustHandles="1" noChangeArrowheads="1" noChangeShapeType="1" noTextEdit="1"/>
              </p:cNvSpPr>
              <p:nvPr/>
            </p:nvSpPr>
            <p:spPr>
              <a:xfrm>
                <a:off x="7670570" y="236438"/>
                <a:ext cx="6097384" cy="676532"/>
              </a:xfrm>
              <a:prstGeom prst="rect">
                <a:avLst/>
              </a:prstGeom>
              <a:blipFill>
                <a:blip r:embed="rId4"/>
                <a:stretch>
                  <a:fillRect b="-5556"/>
                </a:stretch>
              </a:blipFill>
            </p:spPr>
            <p:txBody>
              <a:bodyPr/>
              <a:lstStyle/>
              <a:p>
                <a:r>
                  <a:rPr lang="en-CN">
                    <a:noFill/>
                  </a:rPr>
                  <a:t> </a:t>
                </a:r>
              </a:p>
            </p:txBody>
          </p:sp>
        </mc:Fallback>
      </mc:AlternateContent>
    </p:spTree>
    <p:extLst>
      <p:ext uri="{BB962C8B-B14F-4D97-AF65-F5344CB8AC3E}">
        <p14:creationId xmlns:p14="http://schemas.microsoft.com/office/powerpoint/2010/main" val="2472722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B7BBD19-6893-2945-969B-96C16C7A15B1}"/>
              </a:ext>
            </a:extLst>
          </p:cNvPr>
          <p:cNvSpPr txBox="1"/>
          <p:nvPr/>
        </p:nvSpPr>
        <p:spPr>
          <a:xfrm>
            <a:off x="345687" y="100361"/>
            <a:ext cx="10961649" cy="369332"/>
          </a:xfrm>
          <a:prstGeom prst="rect">
            <a:avLst/>
          </a:prstGeom>
          <a:noFill/>
        </p:spPr>
        <p:txBody>
          <a:bodyPr wrap="square" rtlCol="0">
            <a:spAutoFit/>
          </a:bodyPr>
          <a:lstStyle/>
          <a:p>
            <a:r>
              <a:rPr lang="en-CN" dirty="0">
                <a:solidFill>
                  <a:schemeClr val="bg1"/>
                </a:solidFill>
              </a:rPr>
              <a:t>术语</a:t>
            </a:r>
            <a:r>
              <a:rPr lang="zh-CN" altLang="en-US" dirty="0">
                <a:solidFill>
                  <a:schemeClr val="bg1"/>
                </a:solidFill>
              </a:rPr>
              <a:t>：</a:t>
            </a:r>
            <a:endParaRPr lang="en-CN" dirty="0">
              <a:solidFill>
                <a:schemeClr val="bg1"/>
              </a:solidFil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138F7E1-0158-8A4F-8766-1097846FF286}"/>
                  </a:ext>
                </a:extLst>
              </p:cNvPr>
              <p:cNvSpPr txBox="1"/>
              <p:nvPr/>
            </p:nvSpPr>
            <p:spPr>
              <a:xfrm>
                <a:off x="760141" y="591014"/>
                <a:ext cx="10671717" cy="2031325"/>
              </a:xfrm>
              <a:prstGeom prst="rect">
                <a:avLst/>
              </a:prstGeom>
              <a:noFill/>
            </p:spPr>
            <p:txBody>
              <a:bodyPr wrap="square" rtlCol="0">
                <a:spAutoFit/>
              </a:bodyPr>
              <a:lstStyle/>
              <a:p>
                <a:r>
                  <a:rPr lang="en-CN" dirty="0">
                    <a:solidFill>
                      <a:srgbClr val="FF0000"/>
                    </a:solidFill>
                  </a:rPr>
                  <a:t>AB组成的体统是一个孤立系统</a:t>
                </a:r>
                <a:r>
                  <a:rPr lang="zh-CN" altLang="en-US" dirty="0">
                    <a:solidFill>
                      <a:srgbClr val="FF0000"/>
                    </a:solidFill>
                  </a:rPr>
                  <a:t>（</a:t>
                </a:r>
                <a:r>
                  <a:rPr lang="en-US" altLang="zh-CN" dirty="0">
                    <a:solidFill>
                      <a:srgbClr val="FF0000"/>
                    </a:solidFill>
                  </a:rPr>
                  <a:t>closed</a:t>
                </a:r>
                <a:r>
                  <a:rPr lang="zh-CN" altLang="en-US" dirty="0">
                    <a:solidFill>
                      <a:srgbClr val="FF0000"/>
                    </a:solidFill>
                  </a:rPr>
                  <a:t> </a:t>
                </a:r>
                <a:r>
                  <a:rPr lang="en-US" altLang="zh-CN" dirty="0">
                    <a:solidFill>
                      <a:srgbClr val="FF0000"/>
                    </a:solidFill>
                  </a:rPr>
                  <a:t>system</a:t>
                </a:r>
                <a:r>
                  <a:rPr lang="zh-CN" altLang="en-US" dirty="0">
                    <a:solidFill>
                      <a:srgbClr val="FF0000"/>
                    </a:solidFill>
                  </a:rPr>
                  <a:t>），具有确定的能量、</a:t>
                </a:r>
                <a:r>
                  <a:rPr lang="zh-CN" altLang="en-CN" dirty="0">
                    <a:solidFill>
                      <a:srgbClr val="FF0000"/>
                    </a:solidFill>
                  </a:rPr>
                  <a:t>粒子数</a:t>
                </a:r>
                <a:r>
                  <a:rPr lang="zh-CN" altLang="en-US" dirty="0">
                    <a:solidFill>
                      <a:srgbClr val="FF0000"/>
                    </a:solidFill>
                  </a:rPr>
                  <a:t>、体积</a:t>
                </a:r>
                <a:r>
                  <a:rPr lang="zh-CN" altLang="en-US" dirty="0">
                    <a:solidFill>
                      <a:schemeClr val="bg1"/>
                    </a:solidFill>
                  </a:rPr>
                  <a:t>。</a:t>
                </a:r>
                <a:r>
                  <a:rPr lang="en-US" altLang="zh-CN" dirty="0">
                    <a:solidFill>
                      <a:schemeClr val="bg1"/>
                    </a:solidFill>
                  </a:rPr>
                  <a:t>And constant values of all external parameters that may influence the system, including gravitational, electric, and magnetic fields.</a:t>
                </a:r>
              </a:p>
              <a:p>
                <a:endParaRPr lang="en-US" dirty="0">
                  <a:solidFill>
                    <a:schemeClr val="bg1"/>
                  </a:solidFill>
                </a:endParaRPr>
              </a:p>
              <a:p>
                <a:r>
                  <a:rPr lang="en-US" dirty="0">
                    <a:solidFill>
                      <a:schemeClr val="bg1"/>
                    </a:solidFill>
                  </a:rPr>
                  <a:t>A quantum state is accessible if its properties are compatible with the physical specification of the system: the energy of the state must be in the range within which the energy of the system is specified, and the number of particles must be in the range within which the number of particles is specified. With large systems we can never know either of these exactly, but it will suffice to have </a:t>
                </a:r>
                <a14:m>
                  <m:oMath xmlns:m="http://schemas.openxmlformats.org/officeDocument/2006/math">
                    <m:r>
                      <a:rPr lang="en-US" i="1" smtClean="0">
                        <a:solidFill>
                          <a:schemeClr val="bg1"/>
                        </a:solidFill>
                        <a:latin typeface="Cambria Math" panose="02040503050406030204" pitchFamily="18" charset="0"/>
                        <a:ea typeface="Cambria Math" panose="02040503050406030204" pitchFamily="18" charset="0"/>
                      </a:rPr>
                      <m:t>𝛿</m:t>
                    </m:r>
                    <m:r>
                      <a:rPr lang="en-US" b="0" i="1" smtClean="0">
                        <a:solidFill>
                          <a:schemeClr val="bg1"/>
                        </a:solidFill>
                        <a:latin typeface="Cambria Math" panose="02040503050406030204" pitchFamily="18" charset="0"/>
                        <a:ea typeface="Cambria Math" panose="02040503050406030204" pitchFamily="18" charset="0"/>
                      </a:rPr>
                      <m:t>𝑈</m:t>
                    </m:r>
                    <m:r>
                      <a:rPr lang="en-US" b="0" i="1" smtClean="0">
                        <a:solidFill>
                          <a:schemeClr val="bg1"/>
                        </a:solidFill>
                        <a:latin typeface="Cambria Math" panose="02040503050406030204" pitchFamily="18" charset="0"/>
                        <a:ea typeface="Cambria Math" panose="02040503050406030204" pitchFamily="18" charset="0"/>
                      </a:rPr>
                      <m:t>/</m:t>
                    </m:r>
                    <m:r>
                      <a:rPr lang="en-US" b="0" i="1" smtClean="0">
                        <a:solidFill>
                          <a:schemeClr val="bg1"/>
                        </a:solidFill>
                        <a:latin typeface="Cambria Math" panose="02040503050406030204" pitchFamily="18" charset="0"/>
                        <a:ea typeface="Cambria Math" panose="02040503050406030204" pitchFamily="18" charset="0"/>
                      </a:rPr>
                      <m:t>𝑈</m:t>
                    </m:r>
                    <m:r>
                      <a:rPr lang="en-US" b="0" i="1" smtClean="0">
                        <a:solidFill>
                          <a:schemeClr val="bg1"/>
                        </a:solidFill>
                        <a:latin typeface="Cambria Math" panose="02040503050406030204" pitchFamily="18" charset="0"/>
                        <a:ea typeface="Cambria Math" panose="02040503050406030204" pitchFamily="18" charset="0"/>
                      </a:rPr>
                      <m:t>≪1</m:t>
                    </m:r>
                  </m:oMath>
                </a14:m>
                <a:r>
                  <a:rPr lang="en-CN" dirty="0">
                    <a:solidFill>
                      <a:schemeClr val="bg1"/>
                    </a:solidFill>
                  </a:rPr>
                  <a:t> and </a:t>
                </a:r>
                <a14:m>
                  <m:oMath xmlns:m="http://schemas.openxmlformats.org/officeDocument/2006/math">
                    <m:r>
                      <a:rPr lang="en-CN" i="1" smtClean="0">
                        <a:solidFill>
                          <a:schemeClr val="bg1"/>
                        </a:solidFill>
                        <a:latin typeface="Cambria Math" panose="02040503050406030204" pitchFamily="18" charset="0"/>
                        <a:ea typeface="Cambria Math" panose="02040503050406030204" pitchFamily="18" charset="0"/>
                      </a:rPr>
                      <m:t>𝛿</m:t>
                    </m:r>
                    <m:r>
                      <a:rPr lang="en-US" b="0" i="1" smtClean="0">
                        <a:solidFill>
                          <a:schemeClr val="bg1"/>
                        </a:solidFill>
                        <a:latin typeface="Cambria Math" panose="02040503050406030204" pitchFamily="18" charset="0"/>
                        <a:ea typeface="Cambria Math" panose="02040503050406030204" pitchFamily="18" charset="0"/>
                      </a:rPr>
                      <m:t>𝑁</m:t>
                    </m:r>
                    <m:r>
                      <a:rPr lang="en-US" b="0" i="1" smtClean="0">
                        <a:solidFill>
                          <a:schemeClr val="bg1"/>
                        </a:solidFill>
                        <a:latin typeface="Cambria Math" panose="02040503050406030204" pitchFamily="18" charset="0"/>
                        <a:ea typeface="Cambria Math" panose="02040503050406030204" pitchFamily="18" charset="0"/>
                      </a:rPr>
                      <m:t>/</m:t>
                    </m:r>
                    <m:r>
                      <a:rPr lang="en-US" b="0" i="1" smtClean="0">
                        <a:solidFill>
                          <a:schemeClr val="bg1"/>
                        </a:solidFill>
                        <a:latin typeface="Cambria Math" panose="02040503050406030204" pitchFamily="18" charset="0"/>
                        <a:ea typeface="Cambria Math" panose="02040503050406030204" pitchFamily="18" charset="0"/>
                      </a:rPr>
                      <m:t>𝑁</m:t>
                    </m:r>
                    <m:r>
                      <a:rPr lang="en-US" b="0" i="1" smtClean="0">
                        <a:solidFill>
                          <a:schemeClr val="bg1"/>
                        </a:solidFill>
                        <a:latin typeface="Cambria Math" panose="02040503050406030204" pitchFamily="18" charset="0"/>
                        <a:ea typeface="Cambria Math" panose="02040503050406030204" pitchFamily="18" charset="0"/>
                      </a:rPr>
                      <m:t>≪1</m:t>
                    </m:r>
                  </m:oMath>
                </a14:m>
                <a:r>
                  <a:rPr lang="en-CN" dirty="0">
                    <a:solidFill>
                      <a:schemeClr val="bg1"/>
                    </a:solidFill>
                  </a:rPr>
                  <a:t>.</a:t>
                </a:r>
              </a:p>
            </p:txBody>
          </p:sp>
        </mc:Choice>
        <mc:Fallback xmlns="">
          <p:sp>
            <p:nvSpPr>
              <p:cNvPr id="3" name="TextBox 2">
                <a:extLst>
                  <a:ext uri="{FF2B5EF4-FFF2-40B4-BE49-F238E27FC236}">
                    <a16:creationId xmlns:a16="http://schemas.microsoft.com/office/drawing/2014/main" id="{0138F7E1-0158-8A4F-8766-1097846FF286}"/>
                  </a:ext>
                </a:extLst>
              </p:cNvPr>
              <p:cNvSpPr txBox="1">
                <a:spLocks noRot="1" noChangeAspect="1" noMove="1" noResize="1" noEditPoints="1" noAdjustHandles="1" noChangeArrowheads="1" noChangeShapeType="1" noTextEdit="1"/>
              </p:cNvSpPr>
              <p:nvPr/>
            </p:nvSpPr>
            <p:spPr>
              <a:xfrm>
                <a:off x="760141" y="591014"/>
                <a:ext cx="10671717" cy="2031325"/>
              </a:xfrm>
              <a:prstGeom prst="rect">
                <a:avLst/>
              </a:prstGeom>
              <a:blipFill>
                <a:blip r:embed="rId2"/>
                <a:stretch>
                  <a:fillRect l="-595" t="-1242" r="-713" b="-4348"/>
                </a:stretch>
              </a:blipFill>
            </p:spPr>
            <p:txBody>
              <a:bodyPr/>
              <a:lstStyle/>
              <a:p>
                <a:r>
                  <a:rPr lang="en-CN">
                    <a:noFill/>
                  </a:rPr>
                  <a:t> </a:t>
                </a:r>
              </a:p>
            </p:txBody>
          </p:sp>
        </mc:Fallback>
      </mc:AlternateContent>
      <p:pic>
        <p:nvPicPr>
          <p:cNvPr id="5" name="Picture 4">
            <a:extLst>
              <a:ext uri="{FF2B5EF4-FFF2-40B4-BE49-F238E27FC236}">
                <a16:creationId xmlns:a16="http://schemas.microsoft.com/office/drawing/2014/main" id="{91675C0B-779E-9049-BF26-6CD4CE63346A}"/>
              </a:ext>
            </a:extLst>
          </p:cNvPr>
          <p:cNvPicPr>
            <a:picLocks noChangeAspect="1"/>
          </p:cNvPicPr>
          <p:nvPr/>
        </p:nvPicPr>
        <p:blipFill>
          <a:blip r:embed="rId3"/>
          <a:stretch>
            <a:fillRect/>
          </a:stretch>
        </p:blipFill>
        <p:spPr>
          <a:xfrm>
            <a:off x="1126273" y="2743660"/>
            <a:ext cx="3837878" cy="3567258"/>
          </a:xfrm>
          <a:prstGeom prst="rect">
            <a:avLst/>
          </a:prstGeom>
        </p:spPr>
      </p:pic>
      <p:sp>
        <p:nvSpPr>
          <p:cNvPr id="6" name="TextBox 5">
            <a:extLst>
              <a:ext uri="{FF2B5EF4-FFF2-40B4-BE49-F238E27FC236}">
                <a16:creationId xmlns:a16="http://schemas.microsoft.com/office/drawing/2014/main" id="{09BA3C4C-84E7-D347-B320-AE2138EBD013}"/>
              </a:ext>
            </a:extLst>
          </p:cNvPr>
          <p:cNvSpPr txBox="1"/>
          <p:nvPr/>
        </p:nvSpPr>
        <p:spPr>
          <a:xfrm>
            <a:off x="5296829" y="2782669"/>
            <a:ext cx="6010507" cy="646331"/>
          </a:xfrm>
          <a:prstGeom prst="rect">
            <a:avLst/>
          </a:prstGeom>
          <a:noFill/>
        </p:spPr>
        <p:txBody>
          <a:bodyPr wrap="square" rtlCol="0">
            <a:spAutoFit/>
          </a:bodyPr>
          <a:lstStyle/>
          <a:p>
            <a:r>
              <a:rPr lang="en-CN" dirty="0">
                <a:solidFill>
                  <a:srgbClr val="FF0000"/>
                </a:solidFill>
              </a:rPr>
              <a:t>Accessible</a:t>
            </a:r>
            <a:r>
              <a:rPr lang="zh-CN" altLang="en-US" dirty="0">
                <a:solidFill>
                  <a:srgbClr val="FF0000"/>
                </a:solidFill>
              </a:rPr>
              <a:t>（</a:t>
            </a:r>
            <a:r>
              <a:rPr lang="zh-CN" altLang="en-CN" dirty="0">
                <a:solidFill>
                  <a:srgbClr val="FF0000"/>
                </a:solidFill>
              </a:rPr>
              <a:t>可及的</a:t>
            </a:r>
            <a:r>
              <a:rPr lang="zh-CN" altLang="en-US" dirty="0">
                <a:solidFill>
                  <a:srgbClr val="FF0000"/>
                </a:solidFill>
              </a:rPr>
              <a:t>）</a:t>
            </a:r>
            <a:r>
              <a:rPr lang="en-CN" dirty="0">
                <a:solidFill>
                  <a:schemeClr val="bg1"/>
                </a:solidFill>
              </a:rPr>
              <a:t> microstates=those(many) microstates consistent with fixed values of N,V,U.</a:t>
            </a:r>
          </a:p>
        </p:txBody>
      </p:sp>
      <p:pic>
        <p:nvPicPr>
          <p:cNvPr id="7" name="Picture 6">
            <a:extLst>
              <a:ext uri="{FF2B5EF4-FFF2-40B4-BE49-F238E27FC236}">
                <a16:creationId xmlns:a16="http://schemas.microsoft.com/office/drawing/2014/main" id="{EF46DF2F-1AF5-B747-AEB2-086F6247EA48}"/>
              </a:ext>
            </a:extLst>
          </p:cNvPr>
          <p:cNvPicPr>
            <a:picLocks noChangeAspect="1"/>
          </p:cNvPicPr>
          <p:nvPr/>
        </p:nvPicPr>
        <p:blipFill>
          <a:blip r:embed="rId4"/>
          <a:stretch>
            <a:fillRect/>
          </a:stretch>
        </p:blipFill>
        <p:spPr>
          <a:xfrm>
            <a:off x="5787281" y="4108862"/>
            <a:ext cx="6118526" cy="2317558"/>
          </a:xfrm>
          <a:prstGeom prst="rect">
            <a:avLst/>
          </a:prstGeom>
        </p:spPr>
      </p:pic>
    </p:spTree>
    <p:extLst>
      <p:ext uri="{BB962C8B-B14F-4D97-AF65-F5344CB8AC3E}">
        <p14:creationId xmlns:p14="http://schemas.microsoft.com/office/powerpoint/2010/main" val="2955224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B7BBD19-6893-2945-969B-96C16C7A15B1}"/>
              </a:ext>
            </a:extLst>
          </p:cNvPr>
          <p:cNvSpPr txBox="1"/>
          <p:nvPr/>
        </p:nvSpPr>
        <p:spPr>
          <a:xfrm>
            <a:off x="339582" y="1311644"/>
            <a:ext cx="10961649" cy="707886"/>
          </a:xfrm>
          <a:prstGeom prst="rect">
            <a:avLst/>
          </a:prstGeom>
          <a:noFill/>
        </p:spPr>
        <p:txBody>
          <a:bodyPr wrap="square" rtlCol="0">
            <a:spAutoFit/>
          </a:bodyPr>
          <a:lstStyle/>
          <a:p>
            <a:r>
              <a:rPr lang="en-CN" sz="4000" dirty="0">
                <a:solidFill>
                  <a:schemeClr val="bg1"/>
                </a:solidFill>
              </a:rPr>
              <a:t>Probability</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138F7E1-0158-8A4F-8766-1097846FF286}"/>
                  </a:ext>
                </a:extLst>
              </p:cNvPr>
              <p:cNvSpPr txBox="1"/>
              <p:nvPr/>
            </p:nvSpPr>
            <p:spPr>
              <a:xfrm>
                <a:off x="927652" y="2265427"/>
                <a:ext cx="10634834" cy="3286541"/>
              </a:xfrm>
              <a:prstGeom prst="rect">
                <a:avLst/>
              </a:prstGeom>
              <a:noFill/>
            </p:spPr>
            <p:txBody>
              <a:bodyPr wrap="square" rtlCol="0">
                <a:spAutoFit/>
              </a:bodyPr>
              <a:lstStyle/>
              <a:p>
                <a:r>
                  <a:rPr lang="en-US" b="1" dirty="0">
                    <a:solidFill>
                      <a:srgbClr val="FF0000"/>
                    </a:solidFill>
                  </a:rPr>
                  <a:t>The fundamental assumption of thermal physics is that </a:t>
                </a:r>
                <a:r>
                  <a:rPr lang="en-US" b="1" dirty="0">
                    <a:solidFill>
                      <a:schemeClr val="bg1"/>
                    </a:solidFill>
                  </a:rPr>
                  <a:t>a isolated system </a:t>
                </a:r>
                <a:r>
                  <a:rPr lang="en-US" b="1" dirty="0">
                    <a:solidFill>
                      <a:srgbClr val="FF0000"/>
                    </a:solidFill>
                  </a:rPr>
                  <a:t>is equally likely to be in any of the quantum states accessible to it.</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If an isolated system is found with </a:t>
                </a:r>
                <a:r>
                  <a:rPr lang="en-US" dirty="0">
                    <a:solidFill>
                      <a:srgbClr val="FF0000"/>
                    </a:solidFill>
                  </a:rPr>
                  <a:t>equal probability in each accessible microstate</a:t>
                </a:r>
                <a:r>
                  <a:rPr lang="en-US" dirty="0">
                    <a:solidFill>
                      <a:schemeClr val="bg1"/>
                    </a:solidFill>
                  </a:rPr>
                  <a:t>, then it is in </a:t>
                </a:r>
                <a:r>
                  <a:rPr lang="en-US" dirty="0">
                    <a:solidFill>
                      <a:srgbClr val="FF0000"/>
                    </a:solidFill>
                  </a:rPr>
                  <a:t>equilibrium</a:t>
                </a:r>
                <a:r>
                  <a:rPr lang="en-US" dirty="0">
                    <a:solidFill>
                      <a:schemeClr val="bg1"/>
                    </a:solidFill>
                  </a:rPr>
                  <a:t>.</a:t>
                </a:r>
              </a:p>
              <a:p>
                <a:pPr marL="285750" indent="-285750">
                  <a:buFont typeface="Arial" panose="020B0604020202020204" pitchFamily="34" charset="0"/>
                  <a:buChar char="•"/>
                </a:pPr>
                <a:r>
                  <a:rPr lang="en-US" dirty="0">
                    <a:solidFill>
                      <a:schemeClr val="bg1"/>
                    </a:solidFill>
                  </a:rPr>
                  <a:t>If an isolated system is not found with equal probability for each accessible microstate, it is not in equilibrium.          It then evolves to equilibrium.</a:t>
                </a:r>
              </a:p>
              <a:p>
                <a:pPr marL="285750" indent="-285750">
                  <a:buFont typeface="Arial" panose="020B0604020202020204" pitchFamily="34" charset="0"/>
                  <a:buChar char="•"/>
                </a:pPr>
                <a:endParaRPr lang="en-US" dirty="0">
                  <a:solidFill>
                    <a:schemeClr val="bg1"/>
                  </a:solidFill>
                </a:endParaRPr>
              </a:p>
              <a:p>
                <a:r>
                  <a:rPr lang="en-US" dirty="0">
                    <a:solidFill>
                      <a:schemeClr val="bg1"/>
                    </a:solidFill>
                  </a:rPr>
                  <a:t>Suppose we have a isolated system that we know is equally likely to be in any of the g accessible quantum states. Let s be a general state label. The probability P(s) of finding the system in this state is</a:t>
                </a:r>
              </a:p>
              <a:p>
                <a:pPr algn="ctr"/>
                <a14:m>
                  <m:oMath xmlns:m="http://schemas.openxmlformats.org/officeDocument/2006/math">
                    <m:r>
                      <a:rPr lang="en-US" b="0" i="1" smtClean="0">
                        <a:solidFill>
                          <a:srgbClr val="FF0000"/>
                        </a:solidFill>
                        <a:latin typeface="Cambria Math" panose="02040503050406030204" pitchFamily="18" charset="0"/>
                      </a:rPr>
                      <m:t>𝑃</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𝑠</m:t>
                        </m:r>
                      </m:e>
                    </m:d>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1</m:t>
                        </m:r>
                      </m:num>
                      <m:den>
                        <m:r>
                          <a:rPr lang="en-US" b="0" i="1" smtClean="0">
                            <a:solidFill>
                              <a:srgbClr val="FF0000"/>
                            </a:solidFill>
                            <a:latin typeface="Cambria Math" panose="02040503050406030204" pitchFamily="18" charset="0"/>
                          </a:rPr>
                          <m:t>𝑔</m:t>
                        </m:r>
                      </m:den>
                    </m:f>
                  </m:oMath>
                </a14:m>
                <a:r>
                  <a:rPr lang="en-US" dirty="0">
                    <a:solidFill>
                      <a:schemeClr val="bg1"/>
                    </a:solidFill>
                  </a:rPr>
                  <a:t> </a:t>
                </a:r>
              </a:p>
              <a:p>
                <a:r>
                  <a:rPr lang="en-US" dirty="0">
                    <a:solidFill>
                      <a:schemeClr val="bg1"/>
                    </a:solidFill>
                  </a:rPr>
                  <a:t>if the state s is accessible and P=0 otherwise.</a:t>
                </a:r>
                <a:endParaRPr lang="en-US" dirty="0"/>
              </a:p>
            </p:txBody>
          </p:sp>
        </mc:Choice>
        <mc:Fallback xmlns="">
          <p:sp>
            <p:nvSpPr>
              <p:cNvPr id="3" name="TextBox 2">
                <a:extLst>
                  <a:ext uri="{FF2B5EF4-FFF2-40B4-BE49-F238E27FC236}">
                    <a16:creationId xmlns:a16="http://schemas.microsoft.com/office/drawing/2014/main" id="{0138F7E1-0158-8A4F-8766-1097846FF286}"/>
                  </a:ext>
                </a:extLst>
              </p:cNvPr>
              <p:cNvSpPr txBox="1">
                <a:spLocks noRot="1" noChangeAspect="1" noMove="1" noResize="1" noEditPoints="1" noAdjustHandles="1" noChangeArrowheads="1" noChangeShapeType="1" noTextEdit="1"/>
              </p:cNvSpPr>
              <p:nvPr/>
            </p:nvSpPr>
            <p:spPr>
              <a:xfrm>
                <a:off x="927652" y="2265427"/>
                <a:ext cx="10634834" cy="3286541"/>
              </a:xfrm>
              <a:prstGeom prst="rect">
                <a:avLst/>
              </a:prstGeom>
              <a:blipFill>
                <a:blip r:embed="rId2"/>
                <a:stretch>
                  <a:fillRect l="-358" t="-769" b="-1923"/>
                </a:stretch>
              </a:blipFill>
            </p:spPr>
            <p:txBody>
              <a:bodyPr/>
              <a:lstStyle/>
              <a:p>
                <a:r>
                  <a:rPr lang="en-CN">
                    <a:noFill/>
                  </a:rPr>
                  <a:t> </a:t>
                </a:r>
              </a:p>
            </p:txBody>
          </p:sp>
        </mc:Fallback>
      </mc:AlternateContent>
      <p:sp>
        <p:nvSpPr>
          <p:cNvPr id="2" name="TextBox 1">
            <a:extLst>
              <a:ext uri="{FF2B5EF4-FFF2-40B4-BE49-F238E27FC236}">
                <a16:creationId xmlns:a16="http://schemas.microsoft.com/office/drawing/2014/main" id="{9F99AAF6-F5A2-1C44-B47D-BC0017FEA4A1}"/>
              </a:ext>
            </a:extLst>
          </p:cNvPr>
          <p:cNvSpPr txBox="1"/>
          <p:nvPr/>
        </p:nvSpPr>
        <p:spPr>
          <a:xfrm>
            <a:off x="2287497" y="542527"/>
            <a:ext cx="7065818" cy="523220"/>
          </a:xfrm>
          <a:prstGeom prst="rect">
            <a:avLst/>
          </a:prstGeom>
          <a:noFill/>
        </p:spPr>
        <p:txBody>
          <a:bodyPr wrap="square" rtlCol="0">
            <a:spAutoFit/>
          </a:bodyPr>
          <a:lstStyle/>
          <a:p>
            <a:pPr algn="ctr"/>
            <a:r>
              <a:rPr lang="en-CN" sz="2800" dirty="0">
                <a:solidFill>
                  <a:schemeClr val="bg1"/>
                </a:solidFill>
              </a:rPr>
              <a:t>如何理解微观态</a:t>
            </a:r>
            <a:r>
              <a:rPr lang="en-US" altLang="zh-CN" sz="2800" dirty="0">
                <a:solidFill>
                  <a:schemeClr val="bg1"/>
                </a:solidFill>
              </a:rPr>
              <a:t>/</a:t>
            </a:r>
            <a:r>
              <a:rPr lang="zh-CN" altLang="en-US" sz="2800" dirty="0">
                <a:solidFill>
                  <a:schemeClr val="bg1"/>
                </a:solidFill>
              </a:rPr>
              <a:t>宏观态出现的概率？</a:t>
            </a:r>
            <a:endParaRPr lang="en-CN" sz="2800" dirty="0">
              <a:solidFill>
                <a:schemeClr val="bg1"/>
              </a:solidFill>
            </a:endParaRPr>
          </a:p>
        </p:txBody>
      </p:sp>
      <p:sp>
        <p:nvSpPr>
          <p:cNvPr id="4" name="TextBox 3">
            <a:extLst>
              <a:ext uri="{FF2B5EF4-FFF2-40B4-BE49-F238E27FC236}">
                <a16:creationId xmlns:a16="http://schemas.microsoft.com/office/drawing/2014/main" id="{D72E1DF5-1140-0143-B3E8-8075A253FE24}"/>
              </a:ext>
            </a:extLst>
          </p:cNvPr>
          <p:cNvSpPr txBox="1"/>
          <p:nvPr/>
        </p:nvSpPr>
        <p:spPr>
          <a:xfrm>
            <a:off x="9353315" y="5618187"/>
            <a:ext cx="2049990" cy="584775"/>
          </a:xfrm>
          <a:prstGeom prst="rect">
            <a:avLst/>
          </a:prstGeom>
          <a:noFill/>
        </p:spPr>
        <p:txBody>
          <a:bodyPr wrap="square" rtlCol="0">
            <a:spAutoFit/>
          </a:bodyPr>
          <a:lstStyle/>
          <a:p>
            <a:r>
              <a:rPr lang="en-CN" sz="3200" dirty="0">
                <a:solidFill>
                  <a:srgbClr val="FF0000"/>
                </a:solidFill>
              </a:rPr>
              <a:t>非常重要</a:t>
            </a:r>
            <a:r>
              <a:rPr lang="zh-CN" altLang="en-US" sz="3200" dirty="0">
                <a:solidFill>
                  <a:srgbClr val="FF0000"/>
                </a:solidFill>
              </a:rPr>
              <a:t>！</a:t>
            </a:r>
            <a:endParaRPr lang="en-CN" sz="3200" dirty="0">
              <a:solidFill>
                <a:srgbClr val="FF0000"/>
              </a:solidFill>
            </a:endParaRPr>
          </a:p>
        </p:txBody>
      </p:sp>
    </p:spTree>
    <p:extLst>
      <p:ext uri="{BB962C8B-B14F-4D97-AF65-F5344CB8AC3E}">
        <p14:creationId xmlns:p14="http://schemas.microsoft.com/office/powerpoint/2010/main" val="2360488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B7BBD19-6893-2945-969B-96C16C7A15B1}"/>
              </a:ext>
            </a:extLst>
          </p:cNvPr>
          <p:cNvSpPr txBox="1"/>
          <p:nvPr/>
        </p:nvSpPr>
        <p:spPr>
          <a:xfrm>
            <a:off x="345687" y="100361"/>
            <a:ext cx="10961649" cy="369332"/>
          </a:xfrm>
          <a:prstGeom prst="rect">
            <a:avLst/>
          </a:prstGeom>
          <a:noFill/>
        </p:spPr>
        <p:txBody>
          <a:bodyPr wrap="square" rtlCol="0">
            <a:spAutoFit/>
          </a:bodyPr>
          <a:lstStyle/>
          <a:p>
            <a:r>
              <a:rPr lang="en-CN" dirty="0">
                <a:solidFill>
                  <a:schemeClr val="bg1"/>
                </a:solidFill>
              </a:rPr>
              <a:t>回到一个小系统</a:t>
            </a:r>
            <a:endParaRPr lang="en-US" altLang="zh-CN" dirty="0">
              <a:solidFill>
                <a:schemeClr val="bg1"/>
              </a:solidFill>
            </a:endParaRPr>
          </a:p>
        </p:txBody>
      </p:sp>
      <p:pic>
        <p:nvPicPr>
          <p:cNvPr id="2" name="Picture 1">
            <a:extLst>
              <a:ext uri="{FF2B5EF4-FFF2-40B4-BE49-F238E27FC236}">
                <a16:creationId xmlns:a16="http://schemas.microsoft.com/office/drawing/2014/main" id="{FEAF4BEE-891F-F842-AFF1-10AEAF3140FB}"/>
              </a:ext>
            </a:extLst>
          </p:cNvPr>
          <p:cNvPicPr>
            <a:picLocks noChangeAspect="1"/>
          </p:cNvPicPr>
          <p:nvPr/>
        </p:nvPicPr>
        <p:blipFill>
          <a:blip r:embed="rId2"/>
          <a:stretch>
            <a:fillRect/>
          </a:stretch>
        </p:blipFill>
        <p:spPr>
          <a:xfrm>
            <a:off x="312235" y="702715"/>
            <a:ext cx="11534078" cy="4368846"/>
          </a:xfrm>
          <a:prstGeom prst="rect">
            <a:avLst/>
          </a:prstGeom>
        </p:spPr>
      </p:pic>
      <p:sp>
        <p:nvSpPr>
          <p:cNvPr id="3" name="TextBox 2">
            <a:extLst>
              <a:ext uri="{FF2B5EF4-FFF2-40B4-BE49-F238E27FC236}">
                <a16:creationId xmlns:a16="http://schemas.microsoft.com/office/drawing/2014/main" id="{FCC278ED-C4A9-E74F-8BEC-DB04F7B0B839}"/>
              </a:ext>
            </a:extLst>
          </p:cNvPr>
          <p:cNvSpPr txBox="1"/>
          <p:nvPr/>
        </p:nvSpPr>
        <p:spPr>
          <a:xfrm>
            <a:off x="780585" y="5164570"/>
            <a:ext cx="10526751" cy="1200329"/>
          </a:xfrm>
          <a:prstGeom prst="rect">
            <a:avLst/>
          </a:prstGeom>
          <a:noFill/>
        </p:spPr>
        <p:txBody>
          <a:bodyPr wrap="square" rtlCol="0">
            <a:spAutoFit/>
          </a:bodyPr>
          <a:lstStyle/>
          <a:p>
            <a:pPr marL="285750" indent="-285750">
              <a:buFont typeface="Arial" panose="020B0604020202020204" pitchFamily="34" charset="0"/>
              <a:buChar char="•"/>
            </a:pPr>
            <a:r>
              <a:rPr lang="en-CN" sz="2400" dirty="0">
                <a:solidFill>
                  <a:schemeClr val="bg1"/>
                </a:solidFill>
              </a:rPr>
              <a:t>可及的微观态有</a:t>
            </a:r>
            <a:r>
              <a:rPr lang="en-US" altLang="zh-CN" sz="2400" dirty="0">
                <a:solidFill>
                  <a:schemeClr val="bg1"/>
                </a:solidFill>
              </a:rPr>
              <a:t>462</a:t>
            </a:r>
            <a:r>
              <a:rPr lang="zh-CN" altLang="en-US" sz="2400" dirty="0">
                <a:solidFill>
                  <a:schemeClr val="bg1"/>
                </a:solidFill>
              </a:rPr>
              <a:t>个，每个微观态的概率为</a:t>
            </a:r>
            <a:r>
              <a:rPr lang="en-US" altLang="zh-CN" sz="2400" dirty="0">
                <a:solidFill>
                  <a:schemeClr val="bg1"/>
                </a:solidFill>
              </a:rPr>
              <a:t>1/462</a:t>
            </a:r>
          </a:p>
          <a:p>
            <a:pPr marL="285750" indent="-285750">
              <a:buFont typeface="Arial" panose="020B0604020202020204" pitchFamily="34" charset="0"/>
              <a:buChar char="•"/>
            </a:pPr>
            <a:r>
              <a:rPr lang="en-US" sz="2400" dirty="0" err="1">
                <a:solidFill>
                  <a:schemeClr val="bg1"/>
                </a:solidFill>
              </a:rPr>
              <a:t>由qA标记的宏观态的概率不一样</a:t>
            </a:r>
            <a:r>
              <a:rPr lang="zh-CN" altLang="en-US" sz="2400" dirty="0">
                <a:solidFill>
                  <a:schemeClr val="bg1"/>
                </a:solidFill>
              </a:rPr>
              <a:t>，和其</a:t>
            </a:r>
            <a:r>
              <a:rPr lang="en-US" altLang="zh-CN" sz="2400" dirty="0">
                <a:solidFill>
                  <a:schemeClr val="bg1"/>
                </a:solidFill>
              </a:rPr>
              <a:t>Multiplicity</a:t>
            </a:r>
            <a:r>
              <a:rPr lang="zh-CN" altLang="en-US" sz="2400" dirty="0">
                <a:solidFill>
                  <a:schemeClr val="bg1"/>
                </a:solidFill>
              </a:rPr>
              <a:t>有关，比如</a:t>
            </a:r>
            <a:r>
              <a:rPr lang="en-US" altLang="zh-CN" sz="2400" dirty="0" err="1">
                <a:solidFill>
                  <a:schemeClr val="bg1"/>
                </a:solidFill>
              </a:rPr>
              <a:t>qA</a:t>
            </a:r>
            <a:r>
              <a:rPr lang="en-US" altLang="zh-CN" sz="2400" dirty="0">
                <a:solidFill>
                  <a:schemeClr val="bg1"/>
                </a:solidFill>
              </a:rPr>
              <a:t>=3</a:t>
            </a:r>
            <a:r>
              <a:rPr lang="zh-CN" altLang="en-US" sz="2400" dirty="0">
                <a:solidFill>
                  <a:schemeClr val="bg1"/>
                </a:solidFill>
              </a:rPr>
              <a:t>时，概率为</a:t>
            </a:r>
            <a:r>
              <a:rPr lang="en-US" altLang="zh-CN" sz="2400" dirty="0">
                <a:solidFill>
                  <a:schemeClr val="bg1"/>
                </a:solidFill>
              </a:rPr>
              <a:t>100/462</a:t>
            </a:r>
            <a:r>
              <a:rPr lang="zh-CN" altLang="en-US" sz="2400" dirty="0">
                <a:solidFill>
                  <a:schemeClr val="bg1"/>
                </a:solidFill>
              </a:rPr>
              <a:t>（最多）；</a:t>
            </a:r>
            <a:r>
              <a:rPr lang="en-US" altLang="zh-CN" sz="2400" dirty="0" err="1">
                <a:solidFill>
                  <a:schemeClr val="bg1"/>
                </a:solidFill>
              </a:rPr>
              <a:t>qA</a:t>
            </a:r>
            <a:r>
              <a:rPr lang="en-US" altLang="zh-CN" sz="2400" dirty="0">
                <a:solidFill>
                  <a:schemeClr val="bg1"/>
                </a:solidFill>
              </a:rPr>
              <a:t>=0</a:t>
            </a:r>
            <a:r>
              <a:rPr lang="zh-CN" altLang="en-US" sz="2400" dirty="0">
                <a:solidFill>
                  <a:schemeClr val="bg1"/>
                </a:solidFill>
              </a:rPr>
              <a:t>时，概率为</a:t>
            </a:r>
            <a:r>
              <a:rPr lang="en-US" altLang="zh-CN" sz="2400" dirty="0">
                <a:solidFill>
                  <a:schemeClr val="bg1"/>
                </a:solidFill>
              </a:rPr>
              <a:t>28/462</a:t>
            </a:r>
            <a:endParaRPr lang="en-CN" sz="2400" dirty="0">
              <a:solidFill>
                <a:schemeClr val="bg1"/>
              </a:solidFill>
            </a:endParaRPr>
          </a:p>
        </p:txBody>
      </p:sp>
    </p:spTree>
    <p:extLst>
      <p:ext uri="{BB962C8B-B14F-4D97-AF65-F5344CB8AC3E}">
        <p14:creationId xmlns:p14="http://schemas.microsoft.com/office/powerpoint/2010/main" val="2806679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D03510D-35DF-0340-A9CC-2FA5F9B384AB}"/>
                  </a:ext>
                </a:extLst>
              </p:cNvPr>
              <p:cNvSpPr txBox="1"/>
              <p:nvPr/>
            </p:nvSpPr>
            <p:spPr>
              <a:xfrm>
                <a:off x="312235" y="56384"/>
                <a:ext cx="10961649" cy="984885"/>
              </a:xfrm>
              <a:prstGeom prst="rect">
                <a:avLst/>
              </a:prstGeom>
              <a:noFill/>
            </p:spPr>
            <p:txBody>
              <a:bodyPr wrap="square" rtlCol="0">
                <a:spAutoFit/>
              </a:bodyPr>
              <a:lstStyle/>
              <a:p>
                <a:r>
                  <a:rPr lang="zh-CN" altLang="en-CN" sz="2000" dirty="0">
                    <a:solidFill>
                      <a:schemeClr val="bg1"/>
                    </a:solidFill>
                  </a:rPr>
                  <a:t>增加</a:t>
                </a:r>
                <a:r>
                  <a:rPr lang="en-US" altLang="zh-CN" sz="2000" dirty="0">
                    <a:solidFill>
                      <a:schemeClr val="bg1"/>
                    </a:solidFill>
                  </a:rPr>
                  <a:t>N</a:t>
                </a:r>
                <a:r>
                  <a:rPr lang="zh-CN" altLang="en-US" sz="2000" dirty="0">
                    <a:solidFill>
                      <a:schemeClr val="bg1"/>
                    </a:solidFill>
                  </a:rPr>
                  <a:t>和</a:t>
                </a:r>
                <a:r>
                  <a:rPr lang="en-US" altLang="zh-CN" sz="2000" dirty="0">
                    <a:solidFill>
                      <a:schemeClr val="bg1"/>
                    </a:solidFill>
                  </a:rPr>
                  <a:t>q</a:t>
                </a:r>
                <a:r>
                  <a:rPr lang="zh-CN" altLang="en-US" sz="2000" dirty="0">
                    <a:solidFill>
                      <a:schemeClr val="bg1"/>
                    </a:solidFill>
                  </a:rPr>
                  <a:t>，比如</a:t>
                </a:r>
                <a:endParaRPr lang="en-US" altLang="zh-CN" sz="2000" dirty="0">
                  <a:solidFill>
                    <a:schemeClr val="bg1"/>
                  </a:solidFill>
                </a:endParaRPr>
              </a:p>
              <a:p>
                <a:pPr/>
                <a14:m>
                  <m:oMathPara xmlns:m="http://schemas.openxmlformats.org/officeDocument/2006/math">
                    <m:oMathParaPr>
                      <m:jc m:val="centerGroup"/>
                    </m:oMathParaPr>
                    <m:oMath xmlns:m="http://schemas.openxmlformats.org/officeDocument/2006/math">
                      <m:sSub>
                        <m:sSubPr>
                          <m:ctrlPr>
                            <a:rPr lang="en-CN" sz="200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𝑁</m:t>
                          </m:r>
                        </m:e>
                        <m:sub>
                          <m:r>
                            <a:rPr lang="en-US" sz="2000" b="0" i="1" smtClean="0">
                              <a:solidFill>
                                <a:schemeClr val="bg1"/>
                              </a:solidFill>
                              <a:latin typeface="Cambria Math" panose="02040503050406030204" pitchFamily="18" charset="0"/>
                            </a:rPr>
                            <m:t>𝐴</m:t>
                          </m:r>
                        </m:sub>
                      </m:sSub>
                      <m:r>
                        <a:rPr lang="en-US" altLang="zh-CN" sz="2000" b="0" i="1" smtClean="0">
                          <a:solidFill>
                            <a:schemeClr val="bg1"/>
                          </a:solidFill>
                          <a:latin typeface="Cambria Math" panose="02040503050406030204" pitchFamily="18" charset="0"/>
                        </a:rPr>
                        <m:t>=300</m:t>
                      </m:r>
                      <m:r>
                        <a:rPr lang="zh-CN" alt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𝑁</m:t>
                          </m:r>
                        </m:e>
                        <m:sub>
                          <m:r>
                            <a:rPr lang="en-US" sz="2000" b="0" i="1" smtClean="0">
                              <a:solidFill>
                                <a:schemeClr val="bg1"/>
                              </a:solidFill>
                              <a:latin typeface="Cambria Math" panose="02040503050406030204" pitchFamily="18" charset="0"/>
                            </a:rPr>
                            <m:t>𝐵</m:t>
                          </m:r>
                        </m:sub>
                      </m:sSub>
                      <m:r>
                        <a:rPr lang="en-US" sz="2000" b="0" i="1" smtClean="0">
                          <a:solidFill>
                            <a:schemeClr val="bg1"/>
                          </a:solidFill>
                          <a:latin typeface="Cambria Math" panose="02040503050406030204" pitchFamily="18" charset="0"/>
                        </a:rPr>
                        <m:t>=</m:t>
                      </m:r>
                      <m:r>
                        <a:rPr lang="en-US" altLang="zh-CN" sz="2000" b="0" i="1" smtClean="0">
                          <a:solidFill>
                            <a:schemeClr val="bg1"/>
                          </a:solidFill>
                          <a:latin typeface="Cambria Math" panose="02040503050406030204" pitchFamily="18" charset="0"/>
                        </a:rPr>
                        <m:t>200</m:t>
                      </m:r>
                      <m:r>
                        <a:rPr lang="en-US" sz="2000" b="0" i="1" smtClean="0">
                          <a:solidFill>
                            <a:schemeClr val="bg1"/>
                          </a:solidFill>
                          <a:latin typeface="Cambria Math" panose="02040503050406030204" pitchFamily="18" charset="0"/>
                        </a:rPr>
                        <m:t>,                    </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𝑞</m:t>
                          </m:r>
                        </m:e>
                        <m:sub>
                          <m:r>
                            <a:rPr lang="en-US" sz="2000" b="0" i="1" smtClean="0">
                              <a:solidFill>
                                <a:schemeClr val="bg1"/>
                              </a:solidFill>
                              <a:latin typeface="Cambria Math" panose="02040503050406030204" pitchFamily="18" charset="0"/>
                            </a:rPr>
                            <m:t>𝑡</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𝑞</m:t>
                          </m:r>
                        </m:e>
                        <m:sub>
                          <m:r>
                            <a:rPr lang="en-US" sz="2000" b="0" i="1" smtClean="0">
                              <a:solidFill>
                                <a:schemeClr val="bg1"/>
                              </a:solidFill>
                              <a:latin typeface="Cambria Math" panose="02040503050406030204" pitchFamily="18" charset="0"/>
                            </a:rPr>
                            <m:t>𝐴</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𝑞</m:t>
                          </m:r>
                        </m:e>
                        <m:sub>
                          <m:r>
                            <a:rPr lang="en-US" sz="2000" b="0" i="1" smtClean="0">
                              <a:solidFill>
                                <a:schemeClr val="bg1"/>
                              </a:solidFill>
                              <a:latin typeface="Cambria Math" panose="02040503050406030204" pitchFamily="18" charset="0"/>
                            </a:rPr>
                            <m:t>𝐵</m:t>
                          </m:r>
                        </m:sub>
                      </m:sSub>
                      <m:r>
                        <a:rPr lang="en-US" sz="2000" b="0" i="1" smtClean="0">
                          <a:solidFill>
                            <a:schemeClr val="bg1"/>
                          </a:solidFill>
                          <a:latin typeface="Cambria Math" panose="02040503050406030204" pitchFamily="18" charset="0"/>
                        </a:rPr>
                        <m:t>=</m:t>
                      </m:r>
                      <m:r>
                        <a:rPr lang="en-US" altLang="zh-CN" sz="2000" b="0" i="1" smtClean="0">
                          <a:solidFill>
                            <a:schemeClr val="bg1"/>
                          </a:solidFill>
                          <a:latin typeface="Cambria Math" panose="02040503050406030204" pitchFamily="18" charset="0"/>
                        </a:rPr>
                        <m:t>100</m:t>
                      </m:r>
                    </m:oMath>
                  </m:oMathPara>
                </a14:m>
                <a:endParaRPr lang="en-CN" sz="2000" dirty="0">
                  <a:solidFill>
                    <a:schemeClr val="bg1"/>
                  </a:solidFill>
                </a:endParaRPr>
              </a:p>
              <a:p>
                <a:r>
                  <a:rPr lang="en-CN" dirty="0">
                    <a:solidFill>
                      <a:schemeClr val="bg1"/>
                    </a:solidFill>
                  </a:rPr>
                  <a:t>见mathematica文件multiplicity.nb</a:t>
                </a:r>
              </a:p>
            </p:txBody>
          </p:sp>
        </mc:Choice>
        <mc:Fallback xmlns="">
          <p:sp>
            <p:nvSpPr>
              <p:cNvPr id="5" name="TextBox 4">
                <a:extLst>
                  <a:ext uri="{FF2B5EF4-FFF2-40B4-BE49-F238E27FC236}">
                    <a16:creationId xmlns:a16="http://schemas.microsoft.com/office/drawing/2014/main" id="{ED03510D-35DF-0340-A9CC-2FA5F9B384AB}"/>
                  </a:ext>
                </a:extLst>
              </p:cNvPr>
              <p:cNvSpPr txBox="1">
                <a:spLocks noRot="1" noChangeAspect="1" noMove="1" noResize="1" noEditPoints="1" noAdjustHandles="1" noChangeArrowheads="1" noChangeShapeType="1" noTextEdit="1"/>
              </p:cNvSpPr>
              <p:nvPr/>
            </p:nvSpPr>
            <p:spPr>
              <a:xfrm>
                <a:off x="312235" y="56384"/>
                <a:ext cx="10961649" cy="984885"/>
              </a:xfrm>
              <a:prstGeom prst="rect">
                <a:avLst/>
              </a:prstGeom>
              <a:blipFill>
                <a:blip r:embed="rId2"/>
                <a:stretch>
                  <a:fillRect l="-579" t="-3797" b="-8861"/>
                </a:stretch>
              </a:blipFill>
            </p:spPr>
            <p:txBody>
              <a:bodyPr/>
              <a:lstStyle/>
              <a:p>
                <a:r>
                  <a:rPr lang="en-CN">
                    <a:noFill/>
                  </a:rPr>
                  <a:t> </a:t>
                </a:r>
              </a:p>
            </p:txBody>
          </p:sp>
        </mc:Fallback>
      </mc:AlternateContent>
      <p:pic>
        <p:nvPicPr>
          <p:cNvPr id="3" name="Picture 2">
            <a:extLst>
              <a:ext uri="{FF2B5EF4-FFF2-40B4-BE49-F238E27FC236}">
                <a16:creationId xmlns:a16="http://schemas.microsoft.com/office/drawing/2014/main" id="{A3DCCC14-2828-3948-A2D9-412E419BB906}"/>
              </a:ext>
            </a:extLst>
          </p:cNvPr>
          <p:cNvPicPr>
            <a:picLocks noChangeAspect="1"/>
          </p:cNvPicPr>
          <p:nvPr/>
        </p:nvPicPr>
        <p:blipFill>
          <a:blip r:embed="rId3"/>
          <a:stretch>
            <a:fillRect/>
          </a:stretch>
        </p:blipFill>
        <p:spPr>
          <a:xfrm>
            <a:off x="130099" y="1771450"/>
            <a:ext cx="5450578" cy="3603438"/>
          </a:xfrm>
          <a:prstGeom prst="rect">
            <a:avLst/>
          </a:prstGeom>
        </p:spPr>
      </p:pic>
      <p:sp>
        <p:nvSpPr>
          <p:cNvPr id="4" name="TextBox 3">
            <a:extLst>
              <a:ext uri="{FF2B5EF4-FFF2-40B4-BE49-F238E27FC236}">
                <a16:creationId xmlns:a16="http://schemas.microsoft.com/office/drawing/2014/main" id="{92CF1121-F461-2A4F-8E3B-C5581873B73B}"/>
              </a:ext>
            </a:extLst>
          </p:cNvPr>
          <p:cNvSpPr txBox="1"/>
          <p:nvPr/>
        </p:nvSpPr>
        <p:spPr>
          <a:xfrm>
            <a:off x="5748569" y="1596644"/>
            <a:ext cx="6277079" cy="1754326"/>
          </a:xfrm>
          <a:prstGeom prst="rect">
            <a:avLst/>
          </a:prstGeom>
          <a:noFill/>
        </p:spPr>
        <p:txBody>
          <a:bodyPr wrap="square" rtlCol="0">
            <a:spAutoFit/>
          </a:bodyPr>
          <a:lstStyle/>
          <a:p>
            <a:pPr marL="285750" indent="-285750">
              <a:buFont typeface="Arial" panose="020B0604020202020204" pitchFamily="34" charset="0"/>
              <a:buChar char="•"/>
            </a:pPr>
            <a:r>
              <a:rPr lang="en-CN" dirty="0">
                <a:solidFill>
                  <a:schemeClr val="bg1"/>
                </a:solidFill>
              </a:rPr>
              <a:t>以qA表征宏观态</a:t>
            </a:r>
          </a:p>
          <a:p>
            <a:pPr marL="285750" indent="-285750">
              <a:buFont typeface="Arial" panose="020B0604020202020204" pitchFamily="34" charset="0"/>
              <a:buChar char="•"/>
            </a:pPr>
            <a:r>
              <a:rPr lang="en-CN" dirty="0">
                <a:solidFill>
                  <a:schemeClr val="bg1"/>
                </a:solidFill>
              </a:rPr>
              <a:t>概率最少的宏观态(qA=0 or qA=100) Multiplicity=2.8*10</a:t>
            </a:r>
            <a:r>
              <a:rPr lang="en-CN" baseline="30000" dirty="0">
                <a:solidFill>
                  <a:schemeClr val="bg1"/>
                </a:solidFill>
              </a:rPr>
              <a:t>81</a:t>
            </a:r>
            <a:endParaRPr lang="en-CN" dirty="0">
              <a:solidFill>
                <a:schemeClr val="bg1"/>
              </a:solidFill>
            </a:endParaRPr>
          </a:p>
          <a:p>
            <a:pPr marL="285750" indent="-285750">
              <a:buFont typeface="Arial" panose="020B0604020202020204" pitchFamily="34" charset="0"/>
              <a:buChar char="•"/>
            </a:pPr>
            <a:r>
              <a:rPr lang="en-CN" dirty="0">
                <a:solidFill>
                  <a:schemeClr val="bg1"/>
                </a:solidFill>
              </a:rPr>
              <a:t>概率最多的宏观态(qA=59,60,61…) Multiplicity=7*10</a:t>
            </a:r>
            <a:r>
              <a:rPr lang="en-CN" baseline="30000" dirty="0">
                <a:solidFill>
                  <a:schemeClr val="bg1"/>
                </a:solidFill>
              </a:rPr>
              <a:t>114</a:t>
            </a:r>
            <a:endParaRPr lang="en-CN" dirty="0">
              <a:solidFill>
                <a:schemeClr val="bg1"/>
              </a:solidFill>
            </a:endParaRPr>
          </a:p>
          <a:p>
            <a:r>
              <a:rPr lang="en-CN" dirty="0">
                <a:solidFill>
                  <a:schemeClr val="bg1"/>
                </a:solidFill>
              </a:rPr>
              <a:t>      (各自都很大</a:t>
            </a:r>
            <a:r>
              <a:rPr lang="zh-CN" altLang="en-US" dirty="0">
                <a:solidFill>
                  <a:schemeClr val="bg1"/>
                </a:solidFill>
              </a:rPr>
              <a:t>，但这里重要的是比值，</a:t>
            </a:r>
            <a:r>
              <a:rPr lang="en-US" altLang="zh-CN" dirty="0">
                <a:solidFill>
                  <a:schemeClr val="bg1"/>
                </a:solidFill>
              </a:rPr>
              <a:t>The most likely </a:t>
            </a:r>
            <a:r>
              <a:rPr lang="en-US" altLang="zh-CN" dirty="0" err="1">
                <a:solidFill>
                  <a:schemeClr val="bg1"/>
                </a:solidFill>
              </a:rPr>
              <a:t>macrostates</a:t>
            </a:r>
            <a:r>
              <a:rPr lang="en-US" altLang="zh-CN" dirty="0">
                <a:solidFill>
                  <a:schemeClr val="bg1"/>
                </a:solidFill>
              </a:rPr>
              <a:t> is more than 10</a:t>
            </a:r>
            <a:r>
              <a:rPr lang="en-US" altLang="zh-CN" baseline="30000" dirty="0">
                <a:solidFill>
                  <a:schemeClr val="bg1"/>
                </a:solidFill>
              </a:rPr>
              <a:t>23</a:t>
            </a:r>
            <a:r>
              <a:rPr lang="en-US" altLang="zh-CN" dirty="0">
                <a:solidFill>
                  <a:schemeClr val="bg1"/>
                </a:solidFill>
              </a:rPr>
              <a:t> times more probable than the least likely </a:t>
            </a:r>
            <a:r>
              <a:rPr lang="en-US" altLang="zh-CN" dirty="0" err="1">
                <a:solidFill>
                  <a:schemeClr val="bg1"/>
                </a:solidFill>
              </a:rPr>
              <a:t>macrostates</a:t>
            </a:r>
            <a:r>
              <a:rPr lang="en-CN" dirty="0">
                <a:solidFill>
                  <a:schemeClr val="bg1"/>
                </a:solidFill>
              </a:rPr>
              <a:t>)</a:t>
            </a:r>
          </a:p>
        </p:txBody>
      </p:sp>
      <p:pic>
        <p:nvPicPr>
          <p:cNvPr id="6" name="Picture 5">
            <a:extLst>
              <a:ext uri="{FF2B5EF4-FFF2-40B4-BE49-F238E27FC236}">
                <a16:creationId xmlns:a16="http://schemas.microsoft.com/office/drawing/2014/main" id="{8F2070BD-C75E-AD49-B456-C12DD8A56CBC}"/>
              </a:ext>
            </a:extLst>
          </p:cNvPr>
          <p:cNvPicPr>
            <a:picLocks noChangeAspect="1"/>
          </p:cNvPicPr>
          <p:nvPr/>
        </p:nvPicPr>
        <p:blipFill>
          <a:blip r:embed="rId4"/>
          <a:stretch>
            <a:fillRect/>
          </a:stretch>
        </p:blipFill>
        <p:spPr>
          <a:xfrm>
            <a:off x="5748569" y="3971087"/>
            <a:ext cx="6443431" cy="1907199"/>
          </a:xfrm>
          <a:prstGeom prst="rect">
            <a:avLst/>
          </a:prstGeom>
        </p:spPr>
      </p:pic>
      <p:pic>
        <p:nvPicPr>
          <p:cNvPr id="7" name="Picture 6">
            <a:extLst>
              <a:ext uri="{FF2B5EF4-FFF2-40B4-BE49-F238E27FC236}">
                <a16:creationId xmlns:a16="http://schemas.microsoft.com/office/drawing/2014/main" id="{DDC76C38-F065-444D-9EF4-9EC1DEE7A2CC}"/>
              </a:ext>
            </a:extLst>
          </p:cNvPr>
          <p:cNvPicPr>
            <a:picLocks noChangeAspect="1"/>
          </p:cNvPicPr>
          <p:nvPr/>
        </p:nvPicPr>
        <p:blipFill>
          <a:blip r:embed="rId5"/>
          <a:stretch>
            <a:fillRect/>
          </a:stretch>
        </p:blipFill>
        <p:spPr>
          <a:xfrm>
            <a:off x="4469735" y="5878286"/>
            <a:ext cx="4389610" cy="859042"/>
          </a:xfrm>
          <a:prstGeom prst="rect">
            <a:avLst/>
          </a:prstGeom>
        </p:spPr>
      </p:pic>
    </p:spTree>
    <p:extLst>
      <p:ext uri="{BB962C8B-B14F-4D97-AF65-F5344CB8AC3E}">
        <p14:creationId xmlns:p14="http://schemas.microsoft.com/office/powerpoint/2010/main" val="3181292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D03510D-35DF-0340-A9CC-2FA5F9B384AB}"/>
                  </a:ext>
                </a:extLst>
              </p:cNvPr>
              <p:cNvSpPr txBox="1"/>
              <p:nvPr/>
            </p:nvSpPr>
            <p:spPr>
              <a:xfrm>
                <a:off x="423745" y="881574"/>
                <a:ext cx="10961649" cy="646331"/>
              </a:xfrm>
              <a:prstGeom prst="rect">
                <a:avLst/>
              </a:prstGeom>
              <a:noFill/>
            </p:spPr>
            <p:txBody>
              <a:bodyPr wrap="square" rtlCol="0">
                <a:spAutoFit/>
              </a:bodyPr>
              <a:lstStyle/>
              <a:p>
                <a:r>
                  <a:rPr lang="en-US" altLang="zh-CN" dirty="0">
                    <a:solidFill>
                      <a:schemeClr val="bg1"/>
                    </a:solidFill>
                  </a:rPr>
                  <a:t>2</a:t>
                </a:r>
                <a:r>
                  <a:rPr lang="zh-CN" altLang="en-US" dirty="0">
                    <a:solidFill>
                      <a:schemeClr val="bg1"/>
                    </a:solidFill>
                  </a:rPr>
                  <a:t>，</a:t>
                </a:r>
                <a:r>
                  <a:rPr lang="zh-CN" altLang="en-CN" dirty="0">
                    <a:solidFill>
                      <a:schemeClr val="bg1"/>
                    </a:solidFill>
                  </a:rPr>
                  <a:t>增加</a:t>
                </a:r>
                <a:r>
                  <a:rPr lang="en-US" altLang="zh-CN" dirty="0">
                    <a:solidFill>
                      <a:schemeClr val="bg1"/>
                    </a:solidFill>
                  </a:rPr>
                  <a:t>N</a:t>
                </a:r>
                <a:r>
                  <a:rPr lang="zh-CN" altLang="en-US" dirty="0">
                    <a:solidFill>
                      <a:schemeClr val="bg1"/>
                    </a:solidFill>
                  </a:rPr>
                  <a:t>和</a:t>
                </a:r>
                <a:r>
                  <a:rPr lang="en-US" altLang="zh-CN" dirty="0">
                    <a:solidFill>
                      <a:schemeClr val="bg1"/>
                    </a:solidFill>
                  </a:rPr>
                  <a:t>q</a:t>
                </a:r>
                <a:r>
                  <a:rPr lang="zh-CN" altLang="en-US" dirty="0">
                    <a:solidFill>
                      <a:schemeClr val="bg1"/>
                    </a:solidFill>
                  </a:rPr>
                  <a:t>，考虑较大系统，比如</a:t>
                </a:r>
                <a:endParaRPr lang="en-US" altLang="zh-CN" dirty="0">
                  <a:solidFill>
                    <a:schemeClr val="bg1"/>
                  </a:solidFill>
                </a:endParaRPr>
              </a:p>
              <a:p>
                <a:pPr/>
                <a14:m>
                  <m:oMathPara xmlns:m="http://schemas.openxmlformats.org/officeDocument/2006/math">
                    <m:oMathParaPr>
                      <m:jc m:val="centerGroup"/>
                    </m:oMathParaPr>
                    <m:oMath xmlns:m="http://schemas.openxmlformats.org/officeDocument/2006/math">
                      <m:sSub>
                        <m:sSubPr>
                          <m:ctrlPr>
                            <a:rPr lang="en-CN"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𝑁</m:t>
                          </m:r>
                        </m:e>
                        <m:sub>
                          <m:r>
                            <a:rPr lang="en-US" b="0" i="1" smtClean="0">
                              <a:solidFill>
                                <a:schemeClr val="bg1"/>
                              </a:solidFill>
                              <a:latin typeface="Cambria Math" panose="02040503050406030204" pitchFamily="18" charset="0"/>
                            </a:rPr>
                            <m:t>𝐴</m:t>
                          </m:r>
                        </m:sub>
                      </m:sSub>
                      <m:r>
                        <a:rPr lang="en-US" altLang="zh-CN" b="0" i="1" smtClean="0">
                          <a:solidFill>
                            <a:schemeClr val="bg1"/>
                          </a:solidFill>
                          <a:latin typeface="Cambria Math" panose="02040503050406030204" pitchFamily="18" charset="0"/>
                        </a:rPr>
                        <m:t>=300</m:t>
                      </m:r>
                      <m:r>
                        <a:rPr lang="zh-CN" alt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𝑁</m:t>
                          </m:r>
                        </m:e>
                        <m:sub>
                          <m:r>
                            <a:rPr lang="en-US" b="0" i="1" smtClean="0">
                              <a:solidFill>
                                <a:schemeClr val="bg1"/>
                              </a:solidFill>
                              <a:latin typeface="Cambria Math" panose="02040503050406030204" pitchFamily="18" charset="0"/>
                            </a:rPr>
                            <m:t>𝐵</m:t>
                          </m:r>
                        </m:sub>
                      </m:sSub>
                      <m:r>
                        <a:rPr lang="en-US" b="0" i="1" smtClean="0">
                          <a:solidFill>
                            <a:schemeClr val="bg1"/>
                          </a:solidFill>
                          <a:latin typeface="Cambria Math" panose="02040503050406030204" pitchFamily="18" charset="0"/>
                        </a:rPr>
                        <m:t>=</m:t>
                      </m:r>
                      <m:r>
                        <a:rPr lang="en-US" altLang="zh-CN" b="0" i="1" smtClean="0">
                          <a:solidFill>
                            <a:schemeClr val="bg1"/>
                          </a:solidFill>
                          <a:latin typeface="Cambria Math" panose="02040503050406030204" pitchFamily="18" charset="0"/>
                        </a:rPr>
                        <m:t>200</m:t>
                      </m:r>
                      <m:r>
                        <a:rPr lang="en-US" b="0" i="1" smtClean="0">
                          <a:solidFill>
                            <a:schemeClr val="bg1"/>
                          </a:solidFill>
                          <a:latin typeface="Cambria Math" panose="02040503050406030204" pitchFamily="18" charset="0"/>
                        </a:rPr>
                        <m:t>,                    </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𝑞</m:t>
                          </m:r>
                        </m:e>
                        <m:sub>
                          <m:r>
                            <a:rPr lang="en-US" b="0" i="1" smtClean="0">
                              <a:solidFill>
                                <a:schemeClr val="bg1"/>
                              </a:solidFill>
                              <a:latin typeface="Cambria Math" panose="02040503050406030204" pitchFamily="18" charset="0"/>
                            </a:rPr>
                            <m:t>𝑡</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𝑞</m:t>
                          </m:r>
                        </m:e>
                        <m:sub>
                          <m:r>
                            <a:rPr lang="en-US" b="0" i="1" smtClean="0">
                              <a:solidFill>
                                <a:schemeClr val="bg1"/>
                              </a:solidFill>
                              <a:latin typeface="Cambria Math" panose="02040503050406030204" pitchFamily="18" charset="0"/>
                            </a:rPr>
                            <m:t>𝐴</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𝑞</m:t>
                          </m:r>
                        </m:e>
                        <m:sub>
                          <m:r>
                            <a:rPr lang="en-US" b="0" i="1" smtClean="0">
                              <a:solidFill>
                                <a:schemeClr val="bg1"/>
                              </a:solidFill>
                              <a:latin typeface="Cambria Math" panose="02040503050406030204" pitchFamily="18" charset="0"/>
                            </a:rPr>
                            <m:t>𝐵</m:t>
                          </m:r>
                        </m:sub>
                      </m:sSub>
                      <m:r>
                        <a:rPr lang="en-US" b="0" i="1" smtClean="0">
                          <a:solidFill>
                            <a:schemeClr val="bg1"/>
                          </a:solidFill>
                          <a:latin typeface="Cambria Math" panose="02040503050406030204" pitchFamily="18" charset="0"/>
                        </a:rPr>
                        <m:t>=</m:t>
                      </m:r>
                      <m:r>
                        <a:rPr lang="en-US" altLang="zh-CN" b="0" i="1" smtClean="0">
                          <a:solidFill>
                            <a:schemeClr val="bg1"/>
                          </a:solidFill>
                          <a:latin typeface="Cambria Math" panose="02040503050406030204" pitchFamily="18" charset="0"/>
                        </a:rPr>
                        <m:t>100</m:t>
                      </m:r>
                    </m:oMath>
                  </m:oMathPara>
                </a14:m>
                <a:endParaRPr lang="en-CN" dirty="0">
                  <a:solidFill>
                    <a:schemeClr val="bg1"/>
                  </a:solidFill>
                </a:endParaRPr>
              </a:p>
            </p:txBody>
          </p:sp>
        </mc:Choice>
        <mc:Fallback xmlns="">
          <p:sp>
            <p:nvSpPr>
              <p:cNvPr id="5" name="TextBox 4">
                <a:extLst>
                  <a:ext uri="{FF2B5EF4-FFF2-40B4-BE49-F238E27FC236}">
                    <a16:creationId xmlns:a16="http://schemas.microsoft.com/office/drawing/2014/main" id="{ED03510D-35DF-0340-A9CC-2FA5F9B384AB}"/>
                  </a:ext>
                </a:extLst>
              </p:cNvPr>
              <p:cNvSpPr txBox="1">
                <a:spLocks noRot="1" noChangeAspect="1" noMove="1" noResize="1" noEditPoints="1" noAdjustHandles="1" noChangeArrowheads="1" noChangeShapeType="1" noTextEdit="1"/>
              </p:cNvSpPr>
              <p:nvPr/>
            </p:nvSpPr>
            <p:spPr>
              <a:xfrm>
                <a:off x="423745" y="881574"/>
                <a:ext cx="10961649" cy="646331"/>
              </a:xfrm>
              <a:prstGeom prst="rect">
                <a:avLst/>
              </a:prstGeom>
              <a:blipFill>
                <a:blip r:embed="rId2"/>
                <a:stretch>
                  <a:fillRect l="-463" t="-3846" b="-961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20C5361-CEA8-BB42-8349-D3F71314150A}"/>
                  </a:ext>
                </a:extLst>
              </p:cNvPr>
              <p:cNvSpPr txBox="1"/>
              <p:nvPr/>
            </p:nvSpPr>
            <p:spPr>
              <a:xfrm>
                <a:off x="423746" y="122852"/>
                <a:ext cx="10961649" cy="646331"/>
              </a:xfrm>
              <a:prstGeom prst="rect">
                <a:avLst/>
              </a:prstGeom>
              <a:noFill/>
            </p:spPr>
            <p:txBody>
              <a:bodyPr wrap="square" rtlCol="0">
                <a:spAutoFit/>
              </a:bodyPr>
              <a:lstStyle/>
              <a:p>
                <a:r>
                  <a:rPr lang="en-US" altLang="zh-CN" dirty="0">
                    <a:solidFill>
                      <a:schemeClr val="bg1"/>
                    </a:solidFill>
                  </a:rPr>
                  <a:t>1</a:t>
                </a:r>
                <a:r>
                  <a:rPr lang="zh-CN" altLang="en-US" dirty="0">
                    <a:solidFill>
                      <a:schemeClr val="bg1"/>
                    </a:solidFill>
                  </a:rPr>
                  <a:t>，</a:t>
                </a:r>
                <a:r>
                  <a:rPr lang="en-CN" dirty="0">
                    <a:solidFill>
                      <a:schemeClr val="bg1"/>
                    </a:solidFill>
                  </a:rPr>
                  <a:t>先考虑一个小系统</a:t>
                </a:r>
                <a:r>
                  <a:rPr lang="zh-CN" altLang="en-US" dirty="0">
                    <a:solidFill>
                      <a:schemeClr val="bg1"/>
                    </a:solidFill>
                  </a:rPr>
                  <a:t>，比如</a:t>
                </a:r>
                <a:endParaRPr lang="en-US" altLang="zh-CN" dirty="0">
                  <a:solidFill>
                    <a:schemeClr val="bg1"/>
                  </a:solidFill>
                </a:endParaRPr>
              </a:p>
              <a:p>
                <a:pPr/>
                <a14:m>
                  <m:oMathPara xmlns:m="http://schemas.openxmlformats.org/officeDocument/2006/math">
                    <m:oMathParaPr>
                      <m:jc m:val="centerGroup"/>
                    </m:oMathParaPr>
                    <m:oMath xmlns:m="http://schemas.openxmlformats.org/officeDocument/2006/math">
                      <m:sSub>
                        <m:sSubPr>
                          <m:ctrlPr>
                            <a:rPr lang="en-CN"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𝑁</m:t>
                          </m:r>
                        </m:e>
                        <m:sub>
                          <m:r>
                            <a:rPr lang="en-US" b="0" i="1" smtClean="0">
                              <a:solidFill>
                                <a:schemeClr val="bg1"/>
                              </a:solidFill>
                              <a:latin typeface="Cambria Math" panose="02040503050406030204" pitchFamily="18" charset="0"/>
                            </a:rPr>
                            <m:t>𝐴</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𝑁</m:t>
                          </m:r>
                        </m:e>
                        <m:sub>
                          <m:r>
                            <a:rPr lang="en-US" b="0" i="1" smtClean="0">
                              <a:solidFill>
                                <a:schemeClr val="bg1"/>
                              </a:solidFill>
                              <a:latin typeface="Cambria Math" panose="02040503050406030204" pitchFamily="18" charset="0"/>
                            </a:rPr>
                            <m:t>𝐵</m:t>
                          </m:r>
                        </m:sub>
                      </m:sSub>
                      <m:r>
                        <a:rPr lang="en-US" b="0" i="1" smtClean="0">
                          <a:solidFill>
                            <a:schemeClr val="bg1"/>
                          </a:solidFill>
                          <a:latin typeface="Cambria Math" panose="02040503050406030204" pitchFamily="18" charset="0"/>
                        </a:rPr>
                        <m:t>=3,                    </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𝑞</m:t>
                          </m:r>
                        </m:e>
                        <m:sub>
                          <m:r>
                            <a:rPr lang="en-US" b="0" i="1" smtClean="0">
                              <a:solidFill>
                                <a:schemeClr val="bg1"/>
                              </a:solidFill>
                              <a:latin typeface="Cambria Math" panose="02040503050406030204" pitchFamily="18" charset="0"/>
                            </a:rPr>
                            <m:t>𝑡</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𝑞</m:t>
                          </m:r>
                        </m:e>
                        <m:sub>
                          <m:r>
                            <a:rPr lang="en-US" b="0" i="1" smtClean="0">
                              <a:solidFill>
                                <a:schemeClr val="bg1"/>
                              </a:solidFill>
                              <a:latin typeface="Cambria Math" panose="02040503050406030204" pitchFamily="18" charset="0"/>
                            </a:rPr>
                            <m:t>𝐴</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𝑞</m:t>
                          </m:r>
                        </m:e>
                        <m:sub>
                          <m:r>
                            <a:rPr lang="en-US" b="0" i="1" smtClean="0">
                              <a:solidFill>
                                <a:schemeClr val="bg1"/>
                              </a:solidFill>
                              <a:latin typeface="Cambria Math" panose="02040503050406030204" pitchFamily="18" charset="0"/>
                            </a:rPr>
                            <m:t>𝐵</m:t>
                          </m:r>
                        </m:sub>
                      </m:sSub>
                      <m:r>
                        <a:rPr lang="en-US" b="0" i="1" smtClean="0">
                          <a:solidFill>
                            <a:schemeClr val="bg1"/>
                          </a:solidFill>
                          <a:latin typeface="Cambria Math" panose="02040503050406030204" pitchFamily="18" charset="0"/>
                        </a:rPr>
                        <m:t>=6</m:t>
                      </m:r>
                    </m:oMath>
                  </m:oMathPara>
                </a14:m>
                <a:endParaRPr lang="en-CN" dirty="0">
                  <a:solidFill>
                    <a:schemeClr val="bg1"/>
                  </a:solidFill>
                </a:endParaRPr>
              </a:p>
            </p:txBody>
          </p:sp>
        </mc:Choice>
        <mc:Fallback xmlns="">
          <p:sp>
            <p:nvSpPr>
              <p:cNvPr id="3" name="TextBox 2">
                <a:extLst>
                  <a:ext uri="{FF2B5EF4-FFF2-40B4-BE49-F238E27FC236}">
                    <a16:creationId xmlns:a16="http://schemas.microsoft.com/office/drawing/2014/main" id="{920C5361-CEA8-BB42-8349-D3F71314150A}"/>
                  </a:ext>
                </a:extLst>
              </p:cNvPr>
              <p:cNvSpPr txBox="1">
                <a:spLocks noRot="1" noChangeAspect="1" noMove="1" noResize="1" noEditPoints="1" noAdjustHandles="1" noChangeArrowheads="1" noChangeShapeType="1" noTextEdit="1"/>
              </p:cNvSpPr>
              <p:nvPr/>
            </p:nvSpPr>
            <p:spPr>
              <a:xfrm>
                <a:off x="423746" y="122852"/>
                <a:ext cx="10961649" cy="646331"/>
              </a:xfrm>
              <a:prstGeom prst="rect">
                <a:avLst/>
              </a:prstGeom>
              <a:blipFill>
                <a:blip r:embed="rId3"/>
                <a:stretch>
                  <a:fillRect l="-463" t="-3846" b="-9615"/>
                </a:stretch>
              </a:blipFill>
            </p:spPr>
            <p:txBody>
              <a:bodyPr/>
              <a:lstStyle/>
              <a:p>
                <a:r>
                  <a:rPr lang="en-CN">
                    <a:noFill/>
                  </a:rPr>
                  <a:t> </a:t>
                </a:r>
              </a:p>
            </p:txBody>
          </p:sp>
        </mc:Fallback>
      </mc:AlternateContent>
      <p:sp>
        <p:nvSpPr>
          <p:cNvPr id="4" name="TextBox 3">
            <a:extLst>
              <a:ext uri="{FF2B5EF4-FFF2-40B4-BE49-F238E27FC236}">
                <a16:creationId xmlns:a16="http://schemas.microsoft.com/office/drawing/2014/main" id="{C960D53D-930F-A047-9EBE-312D776BE811}"/>
              </a:ext>
            </a:extLst>
          </p:cNvPr>
          <p:cNvSpPr txBox="1"/>
          <p:nvPr/>
        </p:nvSpPr>
        <p:spPr>
          <a:xfrm>
            <a:off x="423744" y="1773044"/>
            <a:ext cx="10961649" cy="369332"/>
          </a:xfrm>
          <a:prstGeom prst="rect">
            <a:avLst/>
          </a:prstGeom>
          <a:noFill/>
        </p:spPr>
        <p:txBody>
          <a:bodyPr wrap="square" rtlCol="0">
            <a:spAutoFit/>
          </a:bodyPr>
          <a:lstStyle/>
          <a:p>
            <a:r>
              <a:rPr lang="en-US" altLang="zh-CN" dirty="0">
                <a:solidFill>
                  <a:schemeClr val="bg1"/>
                </a:solidFill>
              </a:rPr>
              <a:t>3</a:t>
            </a:r>
            <a:r>
              <a:rPr lang="zh-CN" altLang="en-US" dirty="0">
                <a:solidFill>
                  <a:schemeClr val="bg1"/>
                </a:solidFill>
              </a:rPr>
              <a:t>，</a:t>
            </a:r>
            <a:r>
              <a:rPr lang="en-CN" dirty="0">
                <a:solidFill>
                  <a:schemeClr val="bg1"/>
                </a:solidFill>
              </a:rPr>
              <a:t>非常大系统系统</a:t>
            </a:r>
            <a:r>
              <a:rPr lang="zh-CN" altLang="en-US" dirty="0">
                <a:solidFill>
                  <a:schemeClr val="bg1"/>
                </a:solidFill>
              </a:rPr>
              <a:t>？？？（回到</a:t>
            </a:r>
            <a:r>
              <a:rPr lang="en-US" altLang="zh-CN" dirty="0" err="1">
                <a:solidFill>
                  <a:schemeClr val="bg1"/>
                </a:solidFill>
              </a:rPr>
              <a:t>mathematica</a:t>
            </a:r>
            <a:r>
              <a:rPr lang="zh-CN" altLang="en-US" dirty="0">
                <a:solidFill>
                  <a:schemeClr val="bg1"/>
                </a:solidFill>
              </a:rPr>
              <a:t>）</a:t>
            </a:r>
            <a:endParaRPr lang="en-US" altLang="zh-CN" dirty="0">
              <a:solidFill>
                <a:schemeClr val="bg1"/>
              </a:solidFill>
            </a:endParaRPr>
          </a:p>
        </p:txBody>
      </p:sp>
      <p:pic>
        <p:nvPicPr>
          <p:cNvPr id="2" name="Picture 1">
            <a:extLst>
              <a:ext uri="{FF2B5EF4-FFF2-40B4-BE49-F238E27FC236}">
                <a16:creationId xmlns:a16="http://schemas.microsoft.com/office/drawing/2014/main" id="{1092D0E8-593E-E449-860B-D875011C7423}"/>
              </a:ext>
            </a:extLst>
          </p:cNvPr>
          <p:cNvPicPr>
            <a:picLocks noChangeAspect="1"/>
          </p:cNvPicPr>
          <p:nvPr/>
        </p:nvPicPr>
        <p:blipFill>
          <a:blip r:embed="rId4"/>
          <a:stretch>
            <a:fillRect/>
          </a:stretch>
        </p:blipFill>
        <p:spPr>
          <a:xfrm>
            <a:off x="1932359" y="2310360"/>
            <a:ext cx="10259641" cy="4247272"/>
          </a:xfrm>
          <a:prstGeom prst="rect">
            <a:avLst/>
          </a:prstGeom>
        </p:spPr>
      </p:pic>
    </p:spTree>
    <p:extLst>
      <p:ext uri="{BB962C8B-B14F-4D97-AF65-F5344CB8AC3E}">
        <p14:creationId xmlns:p14="http://schemas.microsoft.com/office/powerpoint/2010/main" val="1368748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A1F5BEE-8D80-3942-B761-F89D5A2F0B24}"/>
              </a:ext>
            </a:extLst>
          </p:cNvPr>
          <p:cNvSpPr txBox="1"/>
          <p:nvPr/>
        </p:nvSpPr>
        <p:spPr>
          <a:xfrm>
            <a:off x="4360127" y="245327"/>
            <a:ext cx="2471854" cy="369332"/>
          </a:xfrm>
          <a:prstGeom prst="rect">
            <a:avLst/>
          </a:prstGeom>
          <a:noFill/>
        </p:spPr>
        <p:txBody>
          <a:bodyPr wrap="square" rtlCol="0">
            <a:spAutoFit/>
          </a:bodyPr>
          <a:lstStyle/>
          <a:p>
            <a:r>
              <a:rPr lang="en-CN" dirty="0">
                <a:solidFill>
                  <a:schemeClr val="bg1"/>
                </a:solidFill>
              </a:rPr>
              <a:t>Stirling</a:t>
            </a:r>
            <a:r>
              <a:rPr lang="en-US" dirty="0">
                <a:solidFill>
                  <a:schemeClr val="bg1"/>
                </a:solidFill>
              </a:rPr>
              <a:t>’s approximation</a:t>
            </a:r>
            <a:endParaRPr lang="en-CN" dirty="0">
              <a:solidFill>
                <a:schemeClr val="bg1"/>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FE81A0B-27C4-8743-B8E7-B8EFDB3E291B}"/>
                  </a:ext>
                </a:extLst>
              </p:cNvPr>
              <p:cNvSpPr txBox="1"/>
              <p:nvPr/>
            </p:nvSpPr>
            <p:spPr>
              <a:xfrm>
                <a:off x="4059044" y="825190"/>
                <a:ext cx="2932771" cy="4019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𝑁</m:t>
                      </m:r>
                      <m:r>
                        <a:rPr lang="en-US" b="0" i="1" smtClean="0">
                          <a:solidFill>
                            <a:schemeClr val="bg1"/>
                          </a:solidFill>
                          <a:latin typeface="Cambria Math" panose="02040503050406030204" pitchFamily="18" charset="0"/>
                        </a:rPr>
                        <m:t>!≈</m:t>
                      </m:r>
                      <m:sSup>
                        <m:sSupPr>
                          <m:ctrlPr>
                            <a:rPr lang="en-US" b="0" i="1" smtClean="0">
                              <a:solidFill>
                                <a:schemeClr val="bg1"/>
                              </a:solidFill>
                              <a:latin typeface="Cambria Math" panose="02040503050406030204" pitchFamily="18" charset="0"/>
                              <a:ea typeface="Cambria Math" panose="02040503050406030204" pitchFamily="18" charset="0"/>
                            </a:rPr>
                          </m:ctrlPr>
                        </m:sSupPr>
                        <m:e>
                          <m:r>
                            <a:rPr lang="en-US" b="0" i="1" smtClean="0">
                              <a:solidFill>
                                <a:schemeClr val="bg1"/>
                              </a:solidFill>
                              <a:latin typeface="Cambria Math" panose="02040503050406030204" pitchFamily="18" charset="0"/>
                              <a:ea typeface="Cambria Math" panose="02040503050406030204" pitchFamily="18" charset="0"/>
                            </a:rPr>
                            <m:t>𝑁</m:t>
                          </m:r>
                        </m:e>
                        <m:sup>
                          <m:r>
                            <a:rPr lang="en-US" b="0" i="1" smtClean="0">
                              <a:solidFill>
                                <a:schemeClr val="bg1"/>
                              </a:solidFill>
                              <a:latin typeface="Cambria Math" panose="02040503050406030204" pitchFamily="18" charset="0"/>
                              <a:ea typeface="Cambria Math" panose="02040503050406030204" pitchFamily="18" charset="0"/>
                            </a:rPr>
                            <m:t>𝑁</m:t>
                          </m:r>
                        </m:sup>
                      </m:sSup>
                      <m:sSup>
                        <m:sSupPr>
                          <m:ctrlPr>
                            <a:rPr lang="en-US" b="0" i="1" smtClean="0">
                              <a:solidFill>
                                <a:schemeClr val="bg1"/>
                              </a:solidFill>
                              <a:latin typeface="Cambria Math" panose="02040503050406030204" pitchFamily="18" charset="0"/>
                              <a:ea typeface="Cambria Math" panose="02040503050406030204" pitchFamily="18" charset="0"/>
                            </a:rPr>
                          </m:ctrlPr>
                        </m:sSupPr>
                        <m:e>
                          <m:r>
                            <a:rPr lang="en-US" b="0" i="1" smtClean="0">
                              <a:solidFill>
                                <a:schemeClr val="bg1"/>
                              </a:solidFill>
                              <a:latin typeface="Cambria Math" panose="02040503050406030204" pitchFamily="18" charset="0"/>
                              <a:ea typeface="Cambria Math" panose="02040503050406030204" pitchFamily="18" charset="0"/>
                            </a:rPr>
                            <m:t>𝑒</m:t>
                          </m:r>
                        </m:e>
                        <m:sup>
                          <m:r>
                            <a:rPr lang="en-US" b="0" i="1" smtClean="0">
                              <a:solidFill>
                                <a:schemeClr val="bg1"/>
                              </a:solidFill>
                              <a:latin typeface="Cambria Math" panose="02040503050406030204" pitchFamily="18" charset="0"/>
                              <a:ea typeface="Cambria Math" panose="02040503050406030204" pitchFamily="18" charset="0"/>
                            </a:rPr>
                            <m:t>−</m:t>
                          </m:r>
                          <m:r>
                            <a:rPr lang="en-US" b="0" i="1" smtClean="0">
                              <a:solidFill>
                                <a:schemeClr val="bg1"/>
                              </a:solidFill>
                              <a:latin typeface="Cambria Math" panose="02040503050406030204" pitchFamily="18" charset="0"/>
                              <a:ea typeface="Cambria Math" panose="02040503050406030204" pitchFamily="18" charset="0"/>
                            </a:rPr>
                            <m:t>𝑁</m:t>
                          </m:r>
                        </m:sup>
                      </m:sSup>
                      <m:rad>
                        <m:radPr>
                          <m:degHide m:val="on"/>
                          <m:ctrlPr>
                            <a:rPr lang="en-US" b="0" i="1" smtClean="0">
                              <a:solidFill>
                                <a:schemeClr val="bg1"/>
                              </a:solidFill>
                              <a:latin typeface="Cambria Math" panose="02040503050406030204" pitchFamily="18" charset="0"/>
                              <a:ea typeface="Cambria Math" panose="02040503050406030204" pitchFamily="18" charset="0"/>
                            </a:rPr>
                          </m:ctrlPr>
                        </m:radPr>
                        <m:deg/>
                        <m:e>
                          <m:r>
                            <a:rPr lang="en-US" b="0" i="1" smtClean="0">
                              <a:solidFill>
                                <a:schemeClr val="bg1"/>
                              </a:solidFill>
                              <a:latin typeface="Cambria Math" panose="02040503050406030204" pitchFamily="18" charset="0"/>
                              <a:ea typeface="Cambria Math" panose="02040503050406030204" pitchFamily="18" charset="0"/>
                            </a:rPr>
                            <m:t>2</m:t>
                          </m:r>
                          <m:r>
                            <a:rPr lang="en-US" b="0" i="1" smtClean="0">
                              <a:solidFill>
                                <a:schemeClr val="bg1"/>
                              </a:solidFill>
                              <a:latin typeface="Cambria Math" panose="02040503050406030204" pitchFamily="18" charset="0"/>
                              <a:ea typeface="Cambria Math" panose="02040503050406030204" pitchFamily="18" charset="0"/>
                            </a:rPr>
                            <m:t>𝜋</m:t>
                          </m:r>
                          <m:r>
                            <a:rPr lang="en-US" b="0" i="1" smtClean="0">
                              <a:solidFill>
                                <a:schemeClr val="bg1"/>
                              </a:solidFill>
                              <a:latin typeface="Cambria Math" panose="02040503050406030204" pitchFamily="18" charset="0"/>
                              <a:ea typeface="Cambria Math" panose="02040503050406030204" pitchFamily="18" charset="0"/>
                            </a:rPr>
                            <m:t>𝑁</m:t>
                          </m:r>
                        </m:e>
                      </m:rad>
                      <m:r>
                        <a:rPr lang="en-US" b="0" i="1" smtClean="0">
                          <a:solidFill>
                            <a:schemeClr val="bg1"/>
                          </a:solidFill>
                          <a:latin typeface="Cambria Math" panose="02040503050406030204" pitchFamily="18" charset="0"/>
                          <a:ea typeface="Cambria Math" panose="02040503050406030204" pitchFamily="18" charset="0"/>
                        </a:rPr>
                        <m:t>=</m:t>
                      </m:r>
                      <m:r>
                        <a:rPr lang="en-US" b="0" i="1" smtClean="0">
                          <a:solidFill>
                            <a:schemeClr val="bg1"/>
                          </a:solidFill>
                          <a:latin typeface="Cambria Math" panose="02040503050406030204" pitchFamily="18" charset="0"/>
                          <a:ea typeface="Cambria Math" panose="02040503050406030204" pitchFamily="18" charset="0"/>
                        </a:rPr>
                        <m:t>𝑆</m:t>
                      </m:r>
                      <m:r>
                        <a:rPr lang="en-US" b="0" i="1" smtClean="0">
                          <a:solidFill>
                            <a:schemeClr val="bg1"/>
                          </a:solidFill>
                          <a:latin typeface="Cambria Math" panose="02040503050406030204" pitchFamily="18" charset="0"/>
                          <a:ea typeface="Cambria Math" panose="02040503050406030204" pitchFamily="18" charset="0"/>
                        </a:rPr>
                        <m:t>(</m:t>
                      </m:r>
                      <m:r>
                        <a:rPr lang="en-US" b="0" i="1" smtClean="0">
                          <a:solidFill>
                            <a:schemeClr val="bg1"/>
                          </a:solidFill>
                          <a:latin typeface="Cambria Math" panose="02040503050406030204" pitchFamily="18" charset="0"/>
                          <a:ea typeface="Cambria Math" panose="02040503050406030204" pitchFamily="18" charset="0"/>
                        </a:rPr>
                        <m:t>𝑁</m:t>
                      </m:r>
                      <m:r>
                        <a:rPr lang="en-US" b="0" i="1" smtClean="0">
                          <a:solidFill>
                            <a:schemeClr val="bg1"/>
                          </a:solidFill>
                          <a:latin typeface="Cambria Math" panose="02040503050406030204" pitchFamily="18" charset="0"/>
                          <a:ea typeface="Cambria Math" panose="02040503050406030204" pitchFamily="18" charset="0"/>
                        </a:rPr>
                        <m:t>)</m:t>
                      </m:r>
                    </m:oMath>
                  </m:oMathPara>
                </a14:m>
                <a:endParaRPr lang="en-CN" dirty="0">
                  <a:solidFill>
                    <a:schemeClr val="bg1"/>
                  </a:solidFill>
                </a:endParaRPr>
              </a:p>
            </p:txBody>
          </p:sp>
        </mc:Choice>
        <mc:Fallback xmlns="">
          <p:sp>
            <p:nvSpPr>
              <p:cNvPr id="7" name="TextBox 6">
                <a:extLst>
                  <a:ext uri="{FF2B5EF4-FFF2-40B4-BE49-F238E27FC236}">
                    <a16:creationId xmlns:a16="http://schemas.microsoft.com/office/drawing/2014/main" id="{6FE81A0B-27C4-8743-B8E7-B8EFDB3E291B}"/>
                  </a:ext>
                </a:extLst>
              </p:cNvPr>
              <p:cNvSpPr txBox="1">
                <a:spLocks noRot="1" noChangeAspect="1" noMove="1" noResize="1" noEditPoints="1" noAdjustHandles="1" noChangeArrowheads="1" noChangeShapeType="1" noTextEdit="1"/>
              </p:cNvSpPr>
              <p:nvPr/>
            </p:nvSpPr>
            <p:spPr>
              <a:xfrm>
                <a:off x="4059044" y="825190"/>
                <a:ext cx="2932771" cy="401970"/>
              </a:xfrm>
              <a:prstGeom prst="rect">
                <a:avLst/>
              </a:prstGeom>
              <a:blipFill>
                <a:blip r:embed="rId2"/>
                <a:stretch>
                  <a:fillRect b="-15152"/>
                </a:stretch>
              </a:blipFill>
            </p:spPr>
            <p:txBody>
              <a:bodyPr/>
              <a:lstStyle/>
              <a:p>
                <a:r>
                  <a:rPr lang="en-CN">
                    <a:noFill/>
                  </a:rPr>
                  <a:t> </a:t>
                </a:r>
              </a:p>
            </p:txBody>
          </p:sp>
        </mc:Fallback>
      </mc:AlternateContent>
      <p:pic>
        <p:nvPicPr>
          <p:cNvPr id="9" name="Picture 8">
            <a:extLst>
              <a:ext uri="{FF2B5EF4-FFF2-40B4-BE49-F238E27FC236}">
                <a16:creationId xmlns:a16="http://schemas.microsoft.com/office/drawing/2014/main" id="{FE183B21-88F0-E546-99E0-70BA204197EE}"/>
              </a:ext>
            </a:extLst>
          </p:cNvPr>
          <p:cNvPicPr>
            <a:picLocks noChangeAspect="1"/>
          </p:cNvPicPr>
          <p:nvPr/>
        </p:nvPicPr>
        <p:blipFill>
          <a:blip r:embed="rId3"/>
          <a:stretch>
            <a:fillRect/>
          </a:stretch>
        </p:blipFill>
        <p:spPr>
          <a:xfrm>
            <a:off x="540060" y="1647438"/>
            <a:ext cx="4889500" cy="1511300"/>
          </a:xfrm>
          <a:prstGeom prst="rect">
            <a:avLst/>
          </a:prstGeom>
        </p:spPr>
      </p:pic>
      <p:sp>
        <p:nvSpPr>
          <p:cNvPr id="10" name="TextBox 9">
            <a:extLst>
              <a:ext uri="{FF2B5EF4-FFF2-40B4-BE49-F238E27FC236}">
                <a16:creationId xmlns:a16="http://schemas.microsoft.com/office/drawing/2014/main" id="{FC806127-58EE-6945-BB5C-652C2705CD11}"/>
              </a:ext>
            </a:extLst>
          </p:cNvPr>
          <p:cNvSpPr txBox="1"/>
          <p:nvPr/>
        </p:nvSpPr>
        <p:spPr>
          <a:xfrm>
            <a:off x="702527" y="1806498"/>
            <a:ext cx="4371278" cy="369332"/>
          </a:xfrm>
          <a:prstGeom prst="rect">
            <a:avLst/>
          </a:prstGeom>
          <a:noFill/>
        </p:spPr>
        <p:txBody>
          <a:bodyPr wrap="square" rtlCol="0">
            <a:spAutoFit/>
          </a:bodyPr>
          <a:lstStyle/>
          <a:p>
            <a:r>
              <a:rPr lang="en-CN" dirty="0"/>
              <a:t>N                    N!-S(N)                    (N!-S(N))/N!</a:t>
            </a:r>
          </a:p>
        </p:txBody>
      </p:sp>
      <p:sp>
        <p:nvSpPr>
          <p:cNvPr id="11" name="TextBox 10">
            <a:extLst>
              <a:ext uri="{FF2B5EF4-FFF2-40B4-BE49-F238E27FC236}">
                <a16:creationId xmlns:a16="http://schemas.microsoft.com/office/drawing/2014/main" id="{FDCFA9D7-14E2-4347-B4DF-433FE43958BE}"/>
              </a:ext>
            </a:extLst>
          </p:cNvPr>
          <p:cNvSpPr txBox="1"/>
          <p:nvPr/>
        </p:nvSpPr>
        <p:spPr>
          <a:xfrm>
            <a:off x="5429560" y="2175830"/>
            <a:ext cx="6628626" cy="369332"/>
          </a:xfrm>
          <a:prstGeom prst="rect">
            <a:avLst/>
          </a:prstGeom>
          <a:noFill/>
        </p:spPr>
        <p:txBody>
          <a:bodyPr wrap="square" rtlCol="0">
            <a:spAutoFit/>
          </a:bodyPr>
          <a:lstStyle/>
          <a:p>
            <a:r>
              <a:rPr lang="en-CN" dirty="0">
                <a:solidFill>
                  <a:schemeClr val="bg1"/>
                </a:solidFill>
              </a:rPr>
              <a:t>S(N)是N</a:t>
            </a:r>
            <a:r>
              <a:rPr lang="en-US" dirty="0">
                <a:solidFill>
                  <a:schemeClr val="bg1"/>
                </a:solidFill>
              </a:rPr>
              <a:t>!</a:t>
            </a:r>
            <a:r>
              <a:rPr lang="zh-CN" altLang="en-US" dirty="0">
                <a:solidFill>
                  <a:schemeClr val="bg1"/>
                </a:solidFill>
              </a:rPr>
              <a:t>的“渐近”近似，之差增加（无界），相对差趋于零！</a:t>
            </a:r>
            <a:endParaRPr lang="en-US" altLang="zh-CN" dirty="0">
              <a:solidFill>
                <a:schemeClr val="bg1"/>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3DDC71C-F13F-9548-8BC0-90B8DF52B23E}"/>
                  </a:ext>
                </a:extLst>
              </p:cNvPr>
              <p:cNvSpPr txBox="1"/>
              <p:nvPr/>
            </p:nvSpPr>
            <p:spPr>
              <a:xfrm>
                <a:off x="702527" y="3668751"/>
                <a:ext cx="10749775" cy="672428"/>
              </a:xfrm>
              <a:prstGeom prst="rect">
                <a:avLst/>
              </a:prstGeom>
              <a:noFill/>
            </p:spPr>
            <p:txBody>
              <a:bodyPr wrap="square" rtlCol="0">
                <a:spAutoFit/>
              </a:bodyPr>
              <a:lstStyle/>
              <a:p>
                <a:r>
                  <a:rPr lang="en-CN" dirty="0">
                    <a:solidFill>
                      <a:schemeClr val="bg1"/>
                    </a:solidFill>
                  </a:rPr>
                  <a:t>If N is large number, then N! is a very large number, and often the correction factor </a:t>
                </a:r>
                <a14:m>
                  <m:oMath xmlns:m="http://schemas.openxmlformats.org/officeDocument/2006/math">
                    <m:rad>
                      <m:radPr>
                        <m:degHide m:val="on"/>
                        <m:ctrlPr>
                          <a:rPr lang="en-CN" i="1" smtClean="0">
                            <a:solidFill>
                              <a:schemeClr val="bg1"/>
                            </a:solidFill>
                            <a:latin typeface="Cambria Math" panose="02040503050406030204" pitchFamily="18" charset="0"/>
                          </a:rPr>
                        </m:ctrlPr>
                      </m:radPr>
                      <m:deg/>
                      <m:e>
                        <m:r>
                          <a:rPr lang="en-US" b="0" i="1" smtClean="0">
                            <a:solidFill>
                              <a:schemeClr val="bg1"/>
                            </a:solidFill>
                            <a:latin typeface="Cambria Math" panose="02040503050406030204" pitchFamily="18" charset="0"/>
                          </a:rPr>
                          <m:t>2</m:t>
                        </m:r>
                        <m:r>
                          <a:rPr lang="en-US" b="0" i="1" smtClean="0">
                            <a:solidFill>
                              <a:schemeClr val="bg1"/>
                            </a:solidFill>
                            <a:latin typeface="Cambria Math" panose="02040503050406030204" pitchFamily="18" charset="0"/>
                            <a:ea typeface="Cambria Math" panose="02040503050406030204" pitchFamily="18" charset="0"/>
                          </a:rPr>
                          <m:t>𝜋</m:t>
                        </m:r>
                        <m:r>
                          <a:rPr lang="en-US" b="0" i="1" smtClean="0">
                            <a:solidFill>
                              <a:schemeClr val="bg1"/>
                            </a:solidFill>
                            <a:latin typeface="Cambria Math" panose="02040503050406030204" pitchFamily="18" charset="0"/>
                            <a:ea typeface="Cambria Math" panose="02040503050406030204" pitchFamily="18" charset="0"/>
                          </a:rPr>
                          <m:t>𝑁</m:t>
                        </m:r>
                      </m:e>
                    </m:rad>
                  </m:oMath>
                </a14:m>
                <a:r>
                  <a:rPr lang="en-CN" dirty="0">
                    <a:solidFill>
                      <a:schemeClr val="bg1"/>
                    </a:solidFill>
                  </a:rPr>
                  <a:t>(which is only a large number) can be omitted.</a:t>
                </a:r>
              </a:p>
            </p:txBody>
          </p:sp>
        </mc:Choice>
        <mc:Fallback xmlns="">
          <p:sp>
            <p:nvSpPr>
              <p:cNvPr id="12" name="TextBox 11">
                <a:extLst>
                  <a:ext uri="{FF2B5EF4-FFF2-40B4-BE49-F238E27FC236}">
                    <a16:creationId xmlns:a16="http://schemas.microsoft.com/office/drawing/2014/main" id="{B3DDC71C-F13F-9548-8BC0-90B8DF52B23E}"/>
                  </a:ext>
                </a:extLst>
              </p:cNvPr>
              <p:cNvSpPr txBox="1">
                <a:spLocks noRot="1" noChangeAspect="1" noMove="1" noResize="1" noEditPoints="1" noAdjustHandles="1" noChangeArrowheads="1" noChangeShapeType="1" noTextEdit="1"/>
              </p:cNvSpPr>
              <p:nvPr/>
            </p:nvSpPr>
            <p:spPr>
              <a:xfrm>
                <a:off x="702527" y="3668751"/>
                <a:ext cx="10749775" cy="672428"/>
              </a:xfrm>
              <a:prstGeom prst="rect">
                <a:avLst/>
              </a:prstGeom>
              <a:blipFill>
                <a:blip r:embed="rId4"/>
                <a:stretch>
                  <a:fillRect l="-472" b="-1296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32A678C-F218-E641-B960-71B005E14AF9}"/>
                  </a:ext>
                </a:extLst>
              </p:cNvPr>
              <p:cNvSpPr txBox="1"/>
              <p:nvPr/>
            </p:nvSpPr>
            <p:spPr>
              <a:xfrm>
                <a:off x="2688761" y="4902179"/>
                <a:ext cx="6055112"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b="0" i="1" smtClean="0">
                          <a:solidFill>
                            <a:srgbClr val="FF0000"/>
                          </a:solidFill>
                          <a:latin typeface="Cambria Math" panose="02040503050406030204" pitchFamily="18" charset="0"/>
                        </a:rPr>
                        <m:t>𝑙𝑜𝑔𝑁</m:t>
                      </m:r>
                      <m:r>
                        <a:rPr lang="en-US" sz="4000" b="0" i="1" smtClean="0">
                          <a:solidFill>
                            <a:srgbClr val="FF0000"/>
                          </a:solidFill>
                          <a:latin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𝑁</m:t>
                      </m:r>
                      <m:func>
                        <m:funcPr>
                          <m:ctrlPr>
                            <a:rPr lang="en-US" sz="4000" b="0" i="1" smtClean="0">
                              <a:solidFill>
                                <a:srgbClr val="FF0000"/>
                              </a:solidFill>
                              <a:latin typeface="Cambria Math" panose="02040503050406030204" pitchFamily="18" charset="0"/>
                              <a:ea typeface="Cambria Math" panose="02040503050406030204" pitchFamily="18" charset="0"/>
                            </a:rPr>
                          </m:ctrlPr>
                        </m:funcPr>
                        <m:fName>
                          <m:r>
                            <m:rPr>
                              <m:sty m:val="p"/>
                            </m:rPr>
                            <a:rPr lang="en-US" sz="4000" b="0" i="0" smtClean="0">
                              <a:solidFill>
                                <a:srgbClr val="FF0000"/>
                              </a:solidFill>
                              <a:latin typeface="Cambria Math" panose="02040503050406030204" pitchFamily="18" charset="0"/>
                              <a:ea typeface="Cambria Math" panose="02040503050406030204" pitchFamily="18" charset="0"/>
                            </a:rPr>
                            <m:t>log</m:t>
                          </m:r>
                        </m:fName>
                        <m:e>
                          <m:r>
                            <a:rPr lang="en-US" sz="4000" b="0" i="1" smtClean="0">
                              <a:solidFill>
                                <a:srgbClr val="FF0000"/>
                              </a:solidFill>
                              <a:latin typeface="Cambria Math" panose="02040503050406030204" pitchFamily="18" charset="0"/>
                              <a:ea typeface="Cambria Math" panose="02040503050406030204" pitchFamily="18" charset="0"/>
                            </a:rPr>
                            <m:t>𝑁</m:t>
                          </m:r>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𝑁</m:t>
                          </m:r>
                        </m:e>
                      </m:func>
                    </m:oMath>
                  </m:oMathPara>
                </a14:m>
                <a:endParaRPr lang="en-CN" sz="4000" dirty="0"/>
              </a:p>
            </p:txBody>
          </p:sp>
        </mc:Choice>
        <mc:Fallback xmlns="">
          <p:sp>
            <p:nvSpPr>
              <p:cNvPr id="13" name="TextBox 12">
                <a:extLst>
                  <a:ext uri="{FF2B5EF4-FFF2-40B4-BE49-F238E27FC236}">
                    <a16:creationId xmlns:a16="http://schemas.microsoft.com/office/drawing/2014/main" id="{032A678C-F218-E641-B960-71B005E14AF9}"/>
                  </a:ext>
                </a:extLst>
              </p:cNvPr>
              <p:cNvSpPr txBox="1">
                <a:spLocks noRot="1" noChangeAspect="1" noMove="1" noResize="1" noEditPoints="1" noAdjustHandles="1" noChangeArrowheads="1" noChangeShapeType="1" noTextEdit="1"/>
              </p:cNvSpPr>
              <p:nvPr/>
            </p:nvSpPr>
            <p:spPr>
              <a:xfrm>
                <a:off x="2688761" y="4902179"/>
                <a:ext cx="6055112" cy="707886"/>
              </a:xfrm>
              <a:prstGeom prst="rect">
                <a:avLst/>
              </a:prstGeom>
              <a:blipFill>
                <a:blip r:embed="rId5"/>
                <a:stretch>
                  <a:fillRect b="-24561"/>
                </a:stretch>
              </a:blipFill>
            </p:spPr>
            <p:txBody>
              <a:bodyPr/>
              <a:lstStyle/>
              <a:p>
                <a:r>
                  <a:rPr lang="en-CN">
                    <a:noFill/>
                  </a:rPr>
                  <a:t> </a:t>
                </a:r>
              </a:p>
            </p:txBody>
          </p:sp>
        </mc:Fallback>
      </mc:AlternateContent>
    </p:spTree>
    <p:extLst>
      <p:ext uri="{BB962C8B-B14F-4D97-AF65-F5344CB8AC3E}">
        <p14:creationId xmlns:p14="http://schemas.microsoft.com/office/powerpoint/2010/main" val="1652449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7DA74B2-9E6B-5243-B51E-6386F8E4218F}"/>
                  </a:ext>
                </a:extLst>
              </p:cNvPr>
              <p:cNvSpPr txBox="1"/>
              <p:nvPr/>
            </p:nvSpPr>
            <p:spPr>
              <a:xfrm>
                <a:off x="630044" y="213720"/>
                <a:ext cx="8079057" cy="535403"/>
              </a:xfrm>
              <a:prstGeom prst="rect">
                <a:avLst/>
              </a:prstGeom>
              <a:noFill/>
            </p:spPr>
            <p:txBody>
              <a:bodyPr wrap="square">
                <a:spAutoFit/>
              </a:bodyPr>
              <a:lstStyle/>
              <a:p>
                <a:r>
                  <a:rPr lang="en-US" dirty="0">
                    <a:solidFill>
                      <a:schemeClr val="bg1"/>
                    </a:solidFill>
                    <a:latin typeface="FangSong" panose="02010609060101010101" pitchFamily="49" charset="-122"/>
                    <a:ea typeface="FangSong" panose="02010609060101010101" pitchFamily="49" charset="-122"/>
                  </a:rPr>
                  <a:t>考虑一个爱因斯坦固体</a:t>
                </a:r>
                <a:r>
                  <a:rPr lang="en-US" dirty="0">
                    <a:solidFill>
                      <a:schemeClr val="bg1"/>
                    </a:solidFill>
                  </a:rPr>
                  <a:t> </a:t>
                </a:r>
                <a14:m>
                  <m:oMath xmlns:m="http://schemas.openxmlformats.org/officeDocument/2006/math">
                    <m:r>
                      <a:rPr lang="en-US" i="1" smtClean="0">
                        <a:solidFill>
                          <a:schemeClr val="bg1"/>
                        </a:solidFill>
                        <a:latin typeface="Cambria Math" panose="02040503050406030204" pitchFamily="18" charset="0"/>
                      </a:rPr>
                      <m:t>𝑔</m:t>
                    </m:r>
                    <m:d>
                      <m:dPr>
                        <m:begChr m:val="["/>
                        <m:endChr m:val="]"/>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𝑁</m:t>
                        </m:r>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𝑞</m:t>
                        </m:r>
                      </m:e>
                    </m:d>
                    <m:r>
                      <a:rPr lang="en-US" i="1">
                        <a:solidFill>
                          <a:schemeClr val="bg1"/>
                        </a:solidFill>
                        <a:latin typeface="Cambria Math" panose="02040503050406030204" pitchFamily="18" charset="0"/>
                      </a:rPr>
                      <m:t>=</m:t>
                    </m:r>
                    <m:f>
                      <m:fPr>
                        <m:ctrlPr>
                          <a:rPr lang="en-US" i="1">
                            <a:solidFill>
                              <a:schemeClr val="bg1"/>
                            </a:solidFill>
                            <a:latin typeface="Cambria Math" panose="02040503050406030204" pitchFamily="18" charset="0"/>
                          </a:rPr>
                        </m:ctrlPr>
                      </m:fPr>
                      <m:num>
                        <m:d>
                          <m:dPr>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𝑞</m:t>
                            </m:r>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𝑁</m:t>
                            </m:r>
                            <m:r>
                              <a:rPr lang="en-US" i="1">
                                <a:solidFill>
                                  <a:schemeClr val="bg1"/>
                                </a:solidFill>
                                <a:latin typeface="Cambria Math" panose="02040503050406030204" pitchFamily="18" charset="0"/>
                              </a:rPr>
                              <m:t>−1</m:t>
                            </m:r>
                          </m:e>
                        </m:d>
                        <m:r>
                          <a:rPr lang="en-US" i="1">
                            <a:solidFill>
                              <a:schemeClr val="bg1"/>
                            </a:solidFill>
                            <a:latin typeface="Cambria Math" panose="02040503050406030204" pitchFamily="18" charset="0"/>
                          </a:rPr>
                          <m:t>!</m:t>
                        </m:r>
                      </m:num>
                      <m:den>
                        <m:r>
                          <a:rPr lang="en-US" i="1">
                            <a:solidFill>
                              <a:schemeClr val="bg1"/>
                            </a:solidFill>
                            <a:latin typeface="Cambria Math" panose="02040503050406030204" pitchFamily="18" charset="0"/>
                          </a:rPr>
                          <m:t>𝑞</m:t>
                        </m:r>
                        <m:r>
                          <a:rPr lang="en-US" i="1">
                            <a:solidFill>
                              <a:schemeClr val="bg1"/>
                            </a:solidFill>
                            <a:latin typeface="Cambria Math" panose="02040503050406030204" pitchFamily="18" charset="0"/>
                          </a:rPr>
                          <m:t>!</m:t>
                        </m:r>
                        <m:d>
                          <m:dPr>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𝑁</m:t>
                            </m:r>
                            <m:r>
                              <a:rPr lang="en-US" i="1">
                                <a:solidFill>
                                  <a:schemeClr val="bg1"/>
                                </a:solidFill>
                                <a:latin typeface="Cambria Math" panose="02040503050406030204" pitchFamily="18" charset="0"/>
                              </a:rPr>
                              <m:t>−1</m:t>
                            </m:r>
                          </m:e>
                        </m:d>
                        <m:r>
                          <a:rPr lang="en-US" i="1">
                            <a:solidFill>
                              <a:schemeClr val="bg1"/>
                            </a:solidFill>
                            <a:latin typeface="Cambria Math" panose="02040503050406030204" pitchFamily="18" charset="0"/>
                          </a:rPr>
                          <m:t>!</m:t>
                        </m:r>
                      </m:den>
                    </m:f>
                  </m:oMath>
                </a14:m>
                <a:r>
                  <a:rPr lang="en-CN" dirty="0">
                    <a:solidFill>
                      <a:schemeClr val="bg1"/>
                    </a:solidFill>
                  </a:rPr>
                  <a:t> and N,q are large number and </a:t>
                </a:r>
                <a14:m>
                  <m:oMath xmlns:m="http://schemas.openxmlformats.org/officeDocument/2006/math">
                    <m:r>
                      <a:rPr lang="en-US" b="0" i="1" smtClean="0">
                        <a:solidFill>
                          <a:schemeClr val="bg1"/>
                        </a:solidFill>
                        <a:latin typeface="Cambria Math" panose="02040503050406030204" pitchFamily="18" charset="0"/>
                      </a:rPr>
                      <m:t>𝑞</m:t>
                    </m:r>
                    <m:r>
                      <a:rPr lang="en-US" b="0" i="1" smtClean="0">
                        <a:solidFill>
                          <a:schemeClr val="bg1"/>
                        </a:solidFill>
                        <a:latin typeface="Cambria Math" panose="02040503050406030204" pitchFamily="18" charset="0"/>
                        <a:ea typeface="Cambria Math" panose="02040503050406030204" pitchFamily="18" charset="0"/>
                      </a:rPr>
                      <m:t>≫</m:t>
                    </m:r>
                    <m:r>
                      <a:rPr lang="en-US" b="0" i="1" smtClean="0">
                        <a:solidFill>
                          <a:schemeClr val="bg1"/>
                        </a:solidFill>
                        <a:latin typeface="Cambria Math" panose="02040503050406030204" pitchFamily="18" charset="0"/>
                        <a:ea typeface="Cambria Math" panose="02040503050406030204" pitchFamily="18" charset="0"/>
                      </a:rPr>
                      <m:t>𝑁</m:t>
                    </m:r>
                  </m:oMath>
                </a14:m>
                <a:endParaRPr lang="en-CN" dirty="0">
                  <a:solidFill>
                    <a:schemeClr val="bg1"/>
                  </a:solidFill>
                </a:endParaRPr>
              </a:p>
            </p:txBody>
          </p:sp>
        </mc:Choice>
        <mc:Fallback xmlns="">
          <p:sp>
            <p:nvSpPr>
              <p:cNvPr id="5" name="TextBox 4">
                <a:extLst>
                  <a:ext uri="{FF2B5EF4-FFF2-40B4-BE49-F238E27FC236}">
                    <a16:creationId xmlns:a16="http://schemas.microsoft.com/office/drawing/2014/main" id="{17DA74B2-9E6B-5243-B51E-6386F8E4218F}"/>
                  </a:ext>
                </a:extLst>
              </p:cNvPr>
              <p:cNvSpPr txBox="1">
                <a:spLocks noRot="1" noChangeAspect="1" noMove="1" noResize="1" noEditPoints="1" noAdjustHandles="1" noChangeArrowheads="1" noChangeShapeType="1" noTextEdit="1"/>
              </p:cNvSpPr>
              <p:nvPr/>
            </p:nvSpPr>
            <p:spPr>
              <a:xfrm>
                <a:off x="630044" y="213720"/>
                <a:ext cx="8079057" cy="535403"/>
              </a:xfrm>
              <a:prstGeom prst="rect">
                <a:avLst/>
              </a:prstGeom>
              <a:blipFill>
                <a:blip r:embed="rId2"/>
                <a:stretch>
                  <a:fillRect l="-628"/>
                </a:stretch>
              </a:blipFill>
            </p:spPr>
            <p:txBody>
              <a:bodyPr/>
              <a:lstStyle/>
              <a:p>
                <a:r>
                  <a:rPr lang="en-CN">
                    <a:noFill/>
                  </a:rPr>
                  <a:t> </a:t>
                </a:r>
              </a:p>
            </p:txBody>
          </p:sp>
        </mc:Fallback>
      </mc:AlternateContent>
      <p:pic>
        <p:nvPicPr>
          <p:cNvPr id="6" name="Picture 5">
            <a:extLst>
              <a:ext uri="{FF2B5EF4-FFF2-40B4-BE49-F238E27FC236}">
                <a16:creationId xmlns:a16="http://schemas.microsoft.com/office/drawing/2014/main" id="{97CE0CDA-14AB-A84A-8760-A1534B004C45}"/>
              </a:ext>
            </a:extLst>
          </p:cNvPr>
          <p:cNvPicPr>
            <a:picLocks noChangeAspect="1"/>
          </p:cNvPicPr>
          <p:nvPr/>
        </p:nvPicPr>
        <p:blipFill>
          <a:blip r:embed="rId3"/>
          <a:stretch>
            <a:fillRect/>
          </a:stretch>
        </p:blipFill>
        <p:spPr>
          <a:xfrm>
            <a:off x="1362620" y="957377"/>
            <a:ext cx="9137027" cy="5686903"/>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822DFD0-53C5-4948-8BAA-BA685DD9071D}"/>
                  </a:ext>
                </a:extLst>
              </p:cNvPr>
              <p:cNvSpPr txBox="1"/>
              <p:nvPr/>
            </p:nvSpPr>
            <p:spPr>
              <a:xfrm>
                <a:off x="8709101" y="5006897"/>
                <a:ext cx="3267309" cy="12645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b="0" i="1" smtClean="0">
                          <a:solidFill>
                            <a:srgbClr val="FF0000"/>
                          </a:solidFill>
                          <a:latin typeface="Cambria Math" panose="02040503050406030204" pitchFamily="18" charset="0"/>
                        </a:rPr>
                        <m:t>𝑔</m:t>
                      </m:r>
                      <m:r>
                        <a:rPr lang="en-US" sz="4000" b="0" i="1" smtClean="0">
                          <a:solidFill>
                            <a:srgbClr val="FF0000"/>
                          </a:solidFill>
                          <a:latin typeface="Cambria Math" panose="02040503050406030204" pitchFamily="18" charset="0"/>
                          <a:ea typeface="Cambria Math" panose="02040503050406030204" pitchFamily="18" charset="0"/>
                        </a:rPr>
                        <m:t>=</m:t>
                      </m:r>
                      <m:sSup>
                        <m:sSupPr>
                          <m:ctrlPr>
                            <a:rPr lang="en-US" sz="4000" b="0" i="1" smtClean="0">
                              <a:solidFill>
                                <a:srgbClr val="FF0000"/>
                              </a:solidFill>
                              <a:latin typeface="Cambria Math" panose="02040503050406030204" pitchFamily="18" charset="0"/>
                              <a:ea typeface="Cambria Math" panose="02040503050406030204" pitchFamily="18" charset="0"/>
                            </a:rPr>
                          </m:ctrlPr>
                        </m:sSupPr>
                        <m:e>
                          <m:d>
                            <m:dPr>
                              <m:ctrlPr>
                                <a:rPr lang="en-US" sz="4000" b="0" i="1" smtClean="0">
                                  <a:solidFill>
                                    <a:srgbClr val="FF0000"/>
                                  </a:solidFill>
                                  <a:latin typeface="Cambria Math" panose="02040503050406030204" pitchFamily="18" charset="0"/>
                                  <a:ea typeface="Cambria Math" panose="02040503050406030204" pitchFamily="18" charset="0"/>
                                </a:rPr>
                              </m:ctrlPr>
                            </m:dPr>
                            <m:e>
                              <m:f>
                                <m:fPr>
                                  <m:ctrlPr>
                                    <a:rPr lang="en-US" sz="4000" b="0" i="1" smtClean="0">
                                      <a:solidFill>
                                        <a:srgbClr val="FF0000"/>
                                      </a:solidFill>
                                      <a:latin typeface="Cambria Math" panose="02040503050406030204" pitchFamily="18" charset="0"/>
                                      <a:ea typeface="Cambria Math" panose="02040503050406030204" pitchFamily="18" charset="0"/>
                                    </a:rPr>
                                  </m:ctrlPr>
                                </m:fPr>
                                <m:num>
                                  <m:r>
                                    <a:rPr lang="en-US" sz="4000" b="0" i="1" smtClean="0">
                                      <a:solidFill>
                                        <a:srgbClr val="FF0000"/>
                                      </a:solidFill>
                                      <a:latin typeface="Cambria Math" panose="02040503050406030204" pitchFamily="18" charset="0"/>
                                      <a:ea typeface="Cambria Math" panose="02040503050406030204" pitchFamily="18" charset="0"/>
                                    </a:rPr>
                                    <m:t>𝑒</m:t>
                                  </m:r>
                                </m:num>
                                <m:den>
                                  <m:r>
                                    <a:rPr lang="en-US" sz="4000" b="0" i="1" smtClean="0">
                                      <a:solidFill>
                                        <a:srgbClr val="FF0000"/>
                                      </a:solidFill>
                                      <a:latin typeface="Cambria Math" panose="02040503050406030204" pitchFamily="18" charset="0"/>
                                      <a:ea typeface="Cambria Math" panose="02040503050406030204" pitchFamily="18" charset="0"/>
                                    </a:rPr>
                                    <m:t>𝑁</m:t>
                                  </m:r>
                                </m:den>
                              </m:f>
                            </m:e>
                          </m:d>
                        </m:e>
                        <m:sup>
                          <m:r>
                            <a:rPr lang="en-US" sz="4000" b="0" i="1" smtClean="0">
                              <a:solidFill>
                                <a:srgbClr val="FF0000"/>
                              </a:solidFill>
                              <a:latin typeface="Cambria Math" panose="02040503050406030204" pitchFamily="18" charset="0"/>
                              <a:ea typeface="Cambria Math" panose="02040503050406030204" pitchFamily="18" charset="0"/>
                            </a:rPr>
                            <m:t>𝑁</m:t>
                          </m:r>
                        </m:sup>
                      </m:sSup>
                      <m:sSup>
                        <m:sSupPr>
                          <m:ctrlPr>
                            <a:rPr lang="en-US" sz="4000" b="0" i="1" smtClean="0">
                              <a:solidFill>
                                <a:srgbClr val="FF0000"/>
                              </a:solidFill>
                              <a:latin typeface="Cambria Math" panose="02040503050406030204" pitchFamily="18" charset="0"/>
                              <a:ea typeface="Cambria Math" panose="02040503050406030204" pitchFamily="18" charset="0"/>
                            </a:rPr>
                          </m:ctrlPr>
                        </m:sSupPr>
                        <m:e>
                          <m:r>
                            <a:rPr lang="en-US" sz="4000" b="0" i="1" smtClean="0">
                              <a:solidFill>
                                <a:srgbClr val="FF0000"/>
                              </a:solidFill>
                              <a:latin typeface="Cambria Math" panose="02040503050406030204" pitchFamily="18" charset="0"/>
                              <a:ea typeface="Cambria Math" panose="02040503050406030204" pitchFamily="18" charset="0"/>
                            </a:rPr>
                            <m:t>𝑞</m:t>
                          </m:r>
                        </m:e>
                        <m:sup>
                          <m:r>
                            <a:rPr lang="en-US" sz="4000" b="0" i="1" smtClean="0">
                              <a:solidFill>
                                <a:srgbClr val="FF0000"/>
                              </a:solidFill>
                              <a:latin typeface="Cambria Math" panose="02040503050406030204" pitchFamily="18" charset="0"/>
                              <a:ea typeface="Cambria Math" panose="02040503050406030204" pitchFamily="18" charset="0"/>
                            </a:rPr>
                            <m:t>𝑁</m:t>
                          </m:r>
                        </m:sup>
                      </m:sSup>
                    </m:oMath>
                  </m:oMathPara>
                </a14:m>
                <a:endParaRPr lang="en-CN" sz="4000" dirty="0">
                  <a:solidFill>
                    <a:srgbClr val="FF0000"/>
                  </a:solidFill>
                </a:endParaRPr>
              </a:p>
            </p:txBody>
          </p:sp>
        </mc:Choice>
        <mc:Fallback xmlns="">
          <p:sp>
            <p:nvSpPr>
              <p:cNvPr id="2" name="TextBox 1">
                <a:extLst>
                  <a:ext uri="{FF2B5EF4-FFF2-40B4-BE49-F238E27FC236}">
                    <a16:creationId xmlns:a16="http://schemas.microsoft.com/office/drawing/2014/main" id="{B822DFD0-53C5-4948-8BAA-BA685DD9071D}"/>
                  </a:ext>
                </a:extLst>
              </p:cNvPr>
              <p:cNvSpPr txBox="1">
                <a:spLocks noRot="1" noChangeAspect="1" noMove="1" noResize="1" noEditPoints="1" noAdjustHandles="1" noChangeArrowheads="1" noChangeShapeType="1" noTextEdit="1"/>
              </p:cNvSpPr>
              <p:nvPr/>
            </p:nvSpPr>
            <p:spPr>
              <a:xfrm>
                <a:off x="8709101" y="5006897"/>
                <a:ext cx="3267309" cy="1264513"/>
              </a:xfrm>
              <a:prstGeom prst="rect">
                <a:avLst/>
              </a:prstGeom>
              <a:blipFill>
                <a:blip r:embed="rId4"/>
                <a:stretch>
                  <a:fillRect b="-10000"/>
                </a:stretch>
              </a:blipFill>
            </p:spPr>
            <p:txBody>
              <a:bodyPr/>
              <a:lstStyle/>
              <a:p>
                <a:r>
                  <a:rPr lang="en-CN">
                    <a:noFill/>
                  </a:rPr>
                  <a:t> </a:t>
                </a:r>
              </a:p>
            </p:txBody>
          </p:sp>
        </mc:Fallback>
      </mc:AlternateContent>
    </p:spTree>
    <p:extLst>
      <p:ext uri="{BB962C8B-B14F-4D97-AF65-F5344CB8AC3E}">
        <p14:creationId xmlns:p14="http://schemas.microsoft.com/office/powerpoint/2010/main" val="3837751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7DA74B2-9E6B-5243-B51E-6386F8E4218F}"/>
                  </a:ext>
                </a:extLst>
              </p:cNvPr>
              <p:cNvSpPr txBox="1"/>
              <p:nvPr/>
            </p:nvSpPr>
            <p:spPr>
              <a:xfrm>
                <a:off x="630044" y="213720"/>
                <a:ext cx="7231565" cy="535403"/>
              </a:xfrm>
              <a:prstGeom prst="rect">
                <a:avLst/>
              </a:prstGeom>
              <a:noFill/>
            </p:spPr>
            <p:txBody>
              <a:bodyPr wrap="square">
                <a:spAutoFit/>
              </a:bodyPr>
              <a:lstStyle/>
              <a:p>
                <a:r>
                  <a:rPr lang="en-US" dirty="0">
                    <a:solidFill>
                      <a:schemeClr val="bg1"/>
                    </a:solidFill>
                  </a:rPr>
                  <a:t>Consider </a:t>
                </a:r>
                <a14:m>
                  <m:oMath xmlns:m="http://schemas.openxmlformats.org/officeDocument/2006/math">
                    <m:r>
                      <a:rPr lang="en-US" i="1" smtClean="0">
                        <a:solidFill>
                          <a:schemeClr val="bg1"/>
                        </a:solidFill>
                        <a:latin typeface="Cambria Math" panose="02040503050406030204" pitchFamily="18" charset="0"/>
                      </a:rPr>
                      <m:t>𝑔</m:t>
                    </m:r>
                    <m:d>
                      <m:dPr>
                        <m:begChr m:val="["/>
                        <m:endChr m:val="]"/>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𝑁</m:t>
                        </m:r>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𝑞</m:t>
                        </m:r>
                      </m:e>
                    </m:d>
                    <m:r>
                      <a:rPr lang="en-US" i="1">
                        <a:solidFill>
                          <a:schemeClr val="bg1"/>
                        </a:solidFill>
                        <a:latin typeface="Cambria Math" panose="02040503050406030204" pitchFamily="18" charset="0"/>
                      </a:rPr>
                      <m:t>=</m:t>
                    </m:r>
                    <m:f>
                      <m:fPr>
                        <m:ctrlPr>
                          <a:rPr lang="en-US" i="1">
                            <a:solidFill>
                              <a:schemeClr val="bg1"/>
                            </a:solidFill>
                            <a:latin typeface="Cambria Math" panose="02040503050406030204" pitchFamily="18" charset="0"/>
                          </a:rPr>
                        </m:ctrlPr>
                      </m:fPr>
                      <m:num>
                        <m:d>
                          <m:dPr>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𝑞</m:t>
                            </m:r>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𝑁</m:t>
                            </m:r>
                            <m:r>
                              <a:rPr lang="en-US" i="1">
                                <a:solidFill>
                                  <a:schemeClr val="bg1"/>
                                </a:solidFill>
                                <a:latin typeface="Cambria Math" panose="02040503050406030204" pitchFamily="18" charset="0"/>
                              </a:rPr>
                              <m:t>−1</m:t>
                            </m:r>
                          </m:e>
                        </m:d>
                        <m:r>
                          <a:rPr lang="en-US" i="1">
                            <a:solidFill>
                              <a:schemeClr val="bg1"/>
                            </a:solidFill>
                            <a:latin typeface="Cambria Math" panose="02040503050406030204" pitchFamily="18" charset="0"/>
                          </a:rPr>
                          <m:t>!</m:t>
                        </m:r>
                      </m:num>
                      <m:den>
                        <m:r>
                          <a:rPr lang="en-US" i="1">
                            <a:solidFill>
                              <a:schemeClr val="bg1"/>
                            </a:solidFill>
                            <a:latin typeface="Cambria Math" panose="02040503050406030204" pitchFamily="18" charset="0"/>
                          </a:rPr>
                          <m:t>𝑞</m:t>
                        </m:r>
                        <m:r>
                          <a:rPr lang="en-US" i="1">
                            <a:solidFill>
                              <a:schemeClr val="bg1"/>
                            </a:solidFill>
                            <a:latin typeface="Cambria Math" panose="02040503050406030204" pitchFamily="18" charset="0"/>
                          </a:rPr>
                          <m:t>!</m:t>
                        </m:r>
                        <m:d>
                          <m:dPr>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𝑁</m:t>
                            </m:r>
                            <m:r>
                              <a:rPr lang="en-US" i="1">
                                <a:solidFill>
                                  <a:schemeClr val="bg1"/>
                                </a:solidFill>
                                <a:latin typeface="Cambria Math" panose="02040503050406030204" pitchFamily="18" charset="0"/>
                              </a:rPr>
                              <m:t>−1</m:t>
                            </m:r>
                          </m:e>
                        </m:d>
                        <m:r>
                          <a:rPr lang="en-US" i="1">
                            <a:solidFill>
                              <a:schemeClr val="bg1"/>
                            </a:solidFill>
                            <a:latin typeface="Cambria Math" panose="02040503050406030204" pitchFamily="18" charset="0"/>
                          </a:rPr>
                          <m:t>!</m:t>
                        </m:r>
                      </m:den>
                    </m:f>
                  </m:oMath>
                </a14:m>
                <a:r>
                  <a:rPr lang="en-CN" dirty="0">
                    <a:solidFill>
                      <a:schemeClr val="bg1"/>
                    </a:solidFill>
                  </a:rPr>
                  <a:t> </a:t>
                </a:r>
                <a14:m>
                  <m:oMath xmlns:m="http://schemas.openxmlformats.org/officeDocument/2006/math">
                    <m:r>
                      <a:rPr lang="en-CN" i="1" dirty="0" smtClean="0">
                        <a:solidFill>
                          <a:schemeClr val="bg1"/>
                        </a:solidFill>
                        <a:latin typeface="Cambria Math" panose="02040503050406030204" pitchFamily="18" charset="0"/>
                        <a:ea typeface="Cambria Math" panose="02040503050406030204" pitchFamily="18" charset="0"/>
                      </a:rPr>
                      <m:t>→</m:t>
                    </m:r>
                    <m:r>
                      <a:rPr lang="en-US" b="0" i="1" dirty="0" smtClean="0">
                        <a:solidFill>
                          <a:schemeClr val="bg1"/>
                        </a:solidFill>
                        <a:latin typeface="Cambria Math" panose="02040503050406030204" pitchFamily="18" charset="0"/>
                        <a:ea typeface="Cambria Math" panose="02040503050406030204" pitchFamily="18" charset="0"/>
                      </a:rPr>
                      <m:t>𝑔</m:t>
                    </m:r>
                    <m:r>
                      <a:rPr lang="en-US" b="0" i="1" dirty="0" smtClean="0">
                        <a:solidFill>
                          <a:schemeClr val="bg1"/>
                        </a:solidFill>
                        <a:latin typeface="Cambria Math" panose="02040503050406030204" pitchFamily="18" charset="0"/>
                        <a:ea typeface="Cambria Math" panose="02040503050406030204" pitchFamily="18" charset="0"/>
                      </a:rPr>
                      <m:t>=</m:t>
                    </m:r>
                    <m:sSup>
                      <m:sSupPr>
                        <m:ctrlPr>
                          <a:rPr lang="en-US" b="0" i="1" dirty="0" smtClean="0">
                            <a:solidFill>
                              <a:schemeClr val="bg1"/>
                            </a:solidFill>
                            <a:latin typeface="Cambria Math" panose="02040503050406030204" pitchFamily="18" charset="0"/>
                            <a:ea typeface="Cambria Math" panose="02040503050406030204" pitchFamily="18" charset="0"/>
                          </a:rPr>
                        </m:ctrlPr>
                      </m:sSupPr>
                      <m:e>
                        <m:r>
                          <a:rPr lang="en-US" b="0" i="1" dirty="0" smtClean="0">
                            <a:solidFill>
                              <a:schemeClr val="bg1"/>
                            </a:solidFill>
                            <a:latin typeface="Cambria Math" panose="02040503050406030204" pitchFamily="18" charset="0"/>
                            <a:ea typeface="Cambria Math" panose="02040503050406030204" pitchFamily="18" charset="0"/>
                          </a:rPr>
                          <m:t>(</m:t>
                        </m:r>
                        <m:f>
                          <m:fPr>
                            <m:ctrlPr>
                              <a:rPr lang="en-US" b="0" i="1" dirty="0" smtClean="0">
                                <a:solidFill>
                                  <a:schemeClr val="bg1"/>
                                </a:solidFill>
                                <a:latin typeface="Cambria Math" panose="02040503050406030204" pitchFamily="18" charset="0"/>
                                <a:ea typeface="Cambria Math" panose="02040503050406030204" pitchFamily="18" charset="0"/>
                              </a:rPr>
                            </m:ctrlPr>
                          </m:fPr>
                          <m:num>
                            <m:r>
                              <a:rPr lang="en-US" b="0" i="1" dirty="0" smtClean="0">
                                <a:solidFill>
                                  <a:schemeClr val="bg1"/>
                                </a:solidFill>
                                <a:latin typeface="Cambria Math" panose="02040503050406030204" pitchFamily="18" charset="0"/>
                                <a:ea typeface="Cambria Math" panose="02040503050406030204" pitchFamily="18" charset="0"/>
                              </a:rPr>
                              <m:t>𝑒𝑞</m:t>
                            </m:r>
                          </m:num>
                          <m:den>
                            <m:r>
                              <a:rPr lang="en-US" b="0" i="1" dirty="0" smtClean="0">
                                <a:solidFill>
                                  <a:schemeClr val="bg1"/>
                                </a:solidFill>
                                <a:latin typeface="Cambria Math" panose="02040503050406030204" pitchFamily="18" charset="0"/>
                                <a:ea typeface="Cambria Math" panose="02040503050406030204" pitchFamily="18" charset="0"/>
                              </a:rPr>
                              <m:t>𝑁</m:t>
                            </m:r>
                          </m:den>
                        </m:f>
                        <m:r>
                          <a:rPr lang="en-US" b="0" i="1" dirty="0" smtClean="0">
                            <a:solidFill>
                              <a:schemeClr val="bg1"/>
                            </a:solidFill>
                            <a:latin typeface="Cambria Math" panose="02040503050406030204" pitchFamily="18" charset="0"/>
                            <a:ea typeface="Cambria Math" panose="02040503050406030204" pitchFamily="18" charset="0"/>
                          </a:rPr>
                          <m:t>)</m:t>
                        </m:r>
                      </m:e>
                      <m:sup>
                        <m:r>
                          <a:rPr lang="en-US" b="0" i="1" dirty="0" smtClean="0">
                            <a:solidFill>
                              <a:schemeClr val="bg1"/>
                            </a:solidFill>
                            <a:latin typeface="Cambria Math" panose="02040503050406030204" pitchFamily="18" charset="0"/>
                            <a:ea typeface="Cambria Math" panose="02040503050406030204" pitchFamily="18" charset="0"/>
                          </a:rPr>
                          <m:t>𝑁</m:t>
                        </m:r>
                      </m:sup>
                    </m:sSup>
                    <m:r>
                      <a:rPr lang="en-US" b="0" i="1" dirty="0" smtClean="0">
                        <a:solidFill>
                          <a:schemeClr val="bg1"/>
                        </a:solidFill>
                        <a:latin typeface="Cambria Math" panose="02040503050406030204" pitchFamily="18" charset="0"/>
                        <a:ea typeface="Cambria Math" panose="02040503050406030204" pitchFamily="18" charset="0"/>
                      </a:rPr>
                      <m:t> </m:t>
                    </m:r>
                  </m:oMath>
                </a14:m>
                <a:r>
                  <a:rPr lang="en-CN" dirty="0">
                    <a:solidFill>
                      <a:schemeClr val="bg1"/>
                    </a:solidFill>
                  </a:rPr>
                  <a:t>suppose N</a:t>
                </a:r>
                <a:r>
                  <a:rPr lang="en-CN" baseline="-25000" dirty="0">
                    <a:solidFill>
                      <a:schemeClr val="bg1"/>
                    </a:solidFill>
                  </a:rPr>
                  <a:t>A</a:t>
                </a:r>
                <a:r>
                  <a:rPr lang="en-CN" dirty="0">
                    <a:solidFill>
                      <a:schemeClr val="bg1"/>
                    </a:solidFill>
                  </a:rPr>
                  <a:t>=N</a:t>
                </a:r>
                <a:r>
                  <a:rPr lang="en-CN" baseline="-25000" dirty="0">
                    <a:solidFill>
                      <a:schemeClr val="bg1"/>
                    </a:solidFill>
                  </a:rPr>
                  <a:t>B</a:t>
                </a:r>
                <a:r>
                  <a:rPr lang="en-CN" dirty="0">
                    <a:solidFill>
                      <a:schemeClr val="bg1"/>
                    </a:solidFill>
                  </a:rPr>
                  <a:t>=N,</a:t>
                </a:r>
              </a:p>
            </p:txBody>
          </p:sp>
        </mc:Choice>
        <mc:Fallback xmlns="">
          <p:sp>
            <p:nvSpPr>
              <p:cNvPr id="5" name="TextBox 4">
                <a:extLst>
                  <a:ext uri="{FF2B5EF4-FFF2-40B4-BE49-F238E27FC236}">
                    <a16:creationId xmlns:a16="http://schemas.microsoft.com/office/drawing/2014/main" id="{17DA74B2-9E6B-5243-B51E-6386F8E4218F}"/>
                  </a:ext>
                </a:extLst>
              </p:cNvPr>
              <p:cNvSpPr txBox="1">
                <a:spLocks noRot="1" noChangeAspect="1" noMove="1" noResize="1" noEditPoints="1" noAdjustHandles="1" noChangeArrowheads="1" noChangeShapeType="1" noTextEdit="1"/>
              </p:cNvSpPr>
              <p:nvPr/>
            </p:nvSpPr>
            <p:spPr>
              <a:xfrm>
                <a:off x="630044" y="213720"/>
                <a:ext cx="7231565" cy="535403"/>
              </a:xfrm>
              <a:prstGeom prst="rect">
                <a:avLst/>
              </a:prstGeom>
              <a:blipFill>
                <a:blip r:embed="rId2"/>
                <a:stretch>
                  <a:fillRect l="-701"/>
                </a:stretch>
              </a:blipFill>
            </p:spPr>
            <p:txBody>
              <a:bodyPr/>
              <a:lstStyle/>
              <a:p>
                <a:r>
                  <a:rPr lang="en-CN">
                    <a:noFill/>
                  </a:rPr>
                  <a:t> </a:t>
                </a:r>
              </a:p>
            </p:txBody>
          </p:sp>
        </mc:Fallback>
      </mc:AlternateContent>
      <p:pic>
        <p:nvPicPr>
          <p:cNvPr id="4" name="Picture 3">
            <a:extLst>
              <a:ext uri="{FF2B5EF4-FFF2-40B4-BE49-F238E27FC236}">
                <a16:creationId xmlns:a16="http://schemas.microsoft.com/office/drawing/2014/main" id="{F3789ACE-E5DF-D74E-A6D3-02C0543268CC}"/>
              </a:ext>
            </a:extLst>
          </p:cNvPr>
          <p:cNvPicPr>
            <a:picLocks noChangeAspect="1"/>
          </p:cNvPicPr>
          <p:nvPr/>
        </p:nvPicPr>
        <p:blipFill>
          <a:blip r:embed="rId3"/>
          <a:stretch>
            <a:fillRect/>
          </a:stretch>
        </p:blipFill>
        <p:spPr>
          <a:xfrm>
            <a:off x="3856677" y="749123"/>
            <a:ext cx="4478646" cy="1870579"/>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BE1959E-8F69-6E44-BB81-90C7E138BF8E}"/>
                  </a:ext>
                </a:extLst>
              </p:cNvPr>
              <p:cNvSpPr txBox="1"/>
              <p:nvPr/>
            </p:nvSpPr>
            <p:spPr>
              <a:xfrm>
                <a:off x="22304" y="3173449"/>
                <a:ext cx="3902927" cy="56489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b="0" i="1" smtClean="0">
                          <a:solidFill>
                            <a:schemeClr val="bg1"/>
                          </a:solidFill>
                          <a:latin typeface="Cambria Math" panose="02040503050406030204" pitchFamily="18" charset="0"/>
                        </a:rPr>
                        <m:t>𝑔</m:t>
                      </m:r>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𝑔</m:t>
                          </m:r>
                        </m:e>
                        <m:sub>
                          <m:r>
                            <a:rPr lang="en-US" b="0" i="1" smtClean="0">
                              <a:solidFill>
                                <a:schemeClr val="bg1"/>
                              </a:solidFill>
                              <a:latin typeface="Cambria Math" panose="02040503050406030204" pitchFamily="18" charset="0"/>
                            </a:rPr>
                            <m:t>𝐴</m:t>
                          </m:r>
                        </m:sub>
                      </m:sSub>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𝑔</m:t>
                          </m:r>
                        </m:e>
                        <m:sub>
                          <m:r>
                            <a:rPr lang="en-US" b="0" i="1" smtClean="0">
                              <a:solidFill>
                                <a:schemeClr val="bg1"/>
                              </a:solidFill>
                              <a:latin typeface="Cambria Math" panose="02040503050406030204" pitchFamily="18" charset="0"/>
                            </a:rPr>
                            <m:t>𝐵</m:t>
                          </m:r>
                        </m:sub>
                      </m:sSub>
                      <m:r>
                        <a:rPr lang="en-US" b="0" i="1" smtClean="0">
                          <a:solidFill>
                            <a:schemeClr val="bg1"/>
                          </a:solidFill>
                          <a:latin typeface="Cambria Math" panose="02040503050406030204" pitchFamily="18" charset="0"/>
                        </a:rPr>
                        <m:t>=</m:t>
                      </m:r>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m:t>
                          </m: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𝑒</m:t>
                              </m:r>
                            </m:num>
                            <m:den>
                              <m:r>
                                <a:rPr lang="en-US" b="0" i="1" smtClean="0">
                                  <a:solidFill>
                                    <a:schemeClr val="bg1"/>
                                  </a:solidFill>
                                  <a:latin typeface="Cambria Math" panose="02040503050406030204" pitchFamily="18" charset="0"/>
                                </a:rPr>
                                <m:t>𝑁</m:t>
                              </m:r>
                            </m:den>
                          </m:f>
                          <m:r>
                            <a:rPr lang="en-US" b="0" i="1" smtClean="0">
                              <a:solidFill>
                                <a:schemeClr val="bg1"/>
                              </a:solidFill>
                              <a:latin typeface="Cambria Math" panose="02040503050406030204" pitchFamily="18" charset="0"/>
                            </a:rPr>
                            <m:t>)</m:t>
                          </m:r>
                        </m:e>
                        <m:sup>
                          <m:r>
                            <a:rPr lang="en-US" b="0" i="1" smtClean="0">
                              <a:solidFill>
                                <a:schemeClr val="bg1"/>
                              </a:solidFill>
                              <a:latin typeface="Cambria Math" panose="02040503050406030204" pitchFamily="18" charset="0"/>
                            </a:rPr>
                            <m:t>2</m:t>
                          </m:r>
                          <m:r>
                            <a:rPr lang="en-US" b="0" i="1" smtClean="0">
                              <a:solidFill>
                                <a:schemeClr val="bg1"/>
                              </a:solidFill>
                              <a:latin typeface="Cambria Math" panose="02040503050406030204" pitchFamily="18" charset="0"/>
                            </a:rPr>
                            <m:t>𝑁</m:t>
                          </m:r>
                        </m:sup>
                      </m:sSup>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 </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𝑞</m:t>
                              </m:r>
                            </m:e>
                            <m:sub>
                              <m:r>
                                <a:rPr lang="en-US" b="0" i="1" smtClean="0">
                                  <a:solidFill>
                                    <a:schemeClr val="bg1"/>
                                  </a:solidFill>
                                  <a:latin typeface="Cambria Math" panose="02040503050406030204" pitchFamily="18" charset="0"/>
                                </a:rPr>
                                <m:t>𝐴</m:t>
                              </m:r>
                            </m:sub>
                          </m:sSub>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𝑞</m:t>
                          </m:r>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𝑞</m:t>
                              </m:r>
                            </m:e>
                            <m:sub>
                              <m:r>
                                <a:rPr lang="en-US" b="0" i="1" smtClean="0">
                                  <a:solidFill>
                                    <a:schemeClr val="bg1"/>
                                  </a:solidFill>
                                  <a:latin typeface="Cambria Math" panose="02040503050406030204" pitchFamily="18" charset="0"/>
                                </a:rPr>
                                <m:t>𝐴</m:t>
                              </m:r>
                            </m:sub>
                          </m:sSub>
                          <m:r>
                            <a:rPr lang="en-US" b="0" i="1" smtClean="0">
                              <a:solidFill>
                                <a:schemeClr val="bg1"/>
                              </a:solidFill>
                              <a:latin typeface="Cambria Math" panose="02040503050406030204" pitchFamily="18" charset="0"/>
                            </a:rPr>
                            <m:t>) )</m:t>
                          </m:r>
                        </m:e>
                        <m:sup>
                          <m:r>
                            <a:rPr lang="en-US" b="0" i="1" smtClean="0">
                              <a:solidFill>
                                <a:schemeClr val="bg1"/>
                              </a:solidFill>
                              <a:latin typeface="Cambria Math" panose="02040503050406030204" pitchFamily="18" charset="0"/>
                            </a:rPr>
                            <m:t>𝑁</m:t>
                          </m:r>
                        </m:sup>
                      </m:sSup>
                    </m:oMath>
                  </m:oMathPara>
                </a14:m>
                <a:endParaRPr lang="en-CN" dirty="0"/>
              </a:p>
            </p:txBody>
          </p:sp>
        </mc:Choice>
        <mc:Fallback xmlns="">
          <p:sp>
            <p:nvSpPr>
              <p:cNvPr id="2" name="TextBox 1">
                <a:extLst>
                  <a:ext uri="{FF2B5EF4-FFF2-40B4-BE49-F238E27FC236}">
                    <a16:creationId xmlns:a16="http://schemas.microsoft.com/office/drawing/2014/main" id="{4BE1959E-8F69-6E44-BB81-90C7E138BF8E}"/>
                  </a:ext>
                </a:extLst>
              </p:cNvPr>
              <p:cNvSpPr txBox="1">
                <a:spLocks noRot="1" noChangeAspect="1" noMove="1" noResize="1" noEditPoints="1" noAdjustHandles="1" noChangeArrowheads="1" noChangeShapeType="1" noTextEdit="1"/>
              </p:cNvSpPr>
              <p:nvPr/>
            </p:nvSpPr>
            <p:spPr>
              <a:xfrm>
                <a:off x="22304" y="3173449"/>
                <a:ext cx="3902927" cy="564898"/>
              </a:xfrm>
              <a:prstGeom prst="rect">
                <a:avLst/>
              </a:prstGeom>
              <a:blipFill>
                <a:blip r:embed="rId4"/>
                <a:stretch>
                  <a:fillRect b="-444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FB1F8A5-E619-C742-8DE0-34AE6CEB89EC}"/>
                  </a:ext>
                </a:extLst>
              </p:cNvPr>
              <p:cNvSpPr txBox="1"/>
              <p:nvPr/>
            </p:nvSpPr>
            <p:spPr>
              <a:xfrm>
                <a:off x="199380" y="4716974"/>
                <a:ext cx="3802566" cy="461473"/>
              </a:xfrm>
              <a:prstGeom prst="rect">
                <a:avLst/>
              </a:prstGeom>
              <a:noFill/>
            </p:spPr>
            <p:txBody>
              <a:bodyPr wrap="square" rtlCol="0">
                <a:spAutoFit/>
              </a:bodyPr>
              <a:lstStyle/>
              <a:p>
                <a:r>
                  <a:rPr lang="en-US" dirty="0">
                    <a:solidFill>
                      <a:schemeClr val="bg1"/>
                    </a:solidFill>
                  </a:rPr>
                  <a:t>P</a:t>
                </a:r>
                <a:r>
                  <a:rPr lang="en-CN" dirty="0">
                    <a:solidFill>
                      <a:schemeClr val="bg1"/>
                    </a:solidFill>
                  </a:rPr>
                  <a:t>eak</a:t>
                </a:r>
                <a:r>
                  <a:rPr lang="zh-CN" altLang="en-US" dirty="0">
                    <a:solidFill>
                      <a:schemeClr val="bg1"/>
                    </a:solidFill>
                  </a:rPr>
                  <a:t> </a:t>
                </a:r>
                <a14:m>
                  <m:oMath xmlns:m="http://schemas.openxmlformats.org/officeDocument/2006/math">
                    <m:sSub>
                      <m:sSubPr>
                        <m:ctrlPr>
                          <a:rPr lang="en-CN"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𝑔</m:t>
                        </m:r>
                      </m:e>
                      <m:sub>
                        <m:r>
                          <a:rPr lang="en-US" b="0" i="1" smtClean="0">
                            <a:solidFill>
                              <a:schemeClr val="bg1"/>
                            </a:solidFill>
                            <a:latin typeface="Cambria Math" panose="02040503050406030204" pitchFamily="18" charset="0"/>
                          </a:rPr>
                          <m:t>𝑚𝑎𝑥</m:t>
                        </m:r>
                      </m:sub>
                    </m:sSub>
                    <m:r>
                      <a:rPr lang="en-US" b="0" i="1" smtClean="0">
                        <a:solidFill>
                          <a:schemeClr val="bg1"/>
                        </a:solidFill>
                        <a:latin typeface="Cambria Math" panose="02040503050406030204" pitchFamily="18" charset="0"/>
                      </a:rPr>
                      <m:t>=</m:t>
                    </m:r>
                    <m:sSup>
                      <m:sSupPr>
                        <m:ctrlPr>
                          <a:rPr lang="en-US" i="1">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m:t>
                        </m:r>
                        <m:f>
                          <m:fPr>
                            <m:ctrlPr>
                              <a:rPr lang="en-US" i="1">
                                <a:solidFill>
                                  <a:schemeClr val="bg1"/>
                                </a:solidFill>
                                <a:latin typeface="Cambria Math" panose="02040503050406030204" pitchFamily="18" charset="0"/>
                              </a:rPr>
                            </m:ctrlPr>
                          </m:fPr>
                          <m:num>
                            <m:r>
                              <a:rPr lang="en-US" i="1">
                                <a:solidFill>
                                  <a:schemeClr val="bg1"/>
                                </a:solidFill>
                                <a:latin typeface="Cambria Math" panose="02040503050406030204" pitchFamily="18" charset="0"/>
                              </a:rPr>
                              <m:t>𝑒</m:t>
                            </m:r>
                          </m:num>
                          <m:den>
                            <m:r>
                              <a:rPr lang="en-US" i="1">
                                <a:solidFill>
                                  <a:schemeClr val="bg1"/>
                                </a:solidFill>
                                <a:latin typeface="Cambria Math" panose="02040503050406030204" pitchFamily="18" charset="0"/>
                              </a:rPr>
                              <m:t>𝑁</m:t>
                            </m:r>
                          </m:den>
                        </m:f>
                        <m:r>
                          <a:rPr lang="en-US" i="1">
                            <a:solidFill>
                              <a:schemeClr val="bg1"/>
                            </a:solidFill>
                            <a:latin typeface="Cambria Math" panose="02040503050406030204" pitchFamily="18" charset="0"/>
                          </a:rPr>
                          <m:t>)</m:t>
                        </m:r>
                      </m:e>
                      <m:sup>
                        <m:r>
                          <a:rPr lang="en-US" i="1">
                            <a:solidFill>
                              <a:schemeClr val="bg1"/>
                            </a:solidFill>
                            <a:latin typeface="Cambria Math" panose="02040503050406030204" pitchFamily="18" charset="0"/>
                          </a:rPr>
                          <m:t>2</m:t>
                        </m:r>
                        <m:r>
                          <a:rPr lang="en-US" i="1">
                            <a:solidFill>
                              <a:schemeClr val="bg1"/>
                            </a:solidFill>
                            <a:latin typeface="Cambria Math" panose="02040503050406030204" pitchFamily="18" charset="0"/>
                          </a:rPr>
                          <m:t>𝑁</m:t>
                        </m:r>
                      </m:sup>
                    </m:sSup>
                    <m:sSup>
                      <m:sSupPr>
                        <m:ctrlPr>
                          <a:rPr lang="en-US"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m:t>
                        </m: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𝑞</m:t>
                            </m:r>
                          </m:num>
                          <m:den>
                            <m:r>
                              <a:rPr lang="en-US" b="0" i="1" smtClean="0">
                                <a:solidFill>
                                  <a:schemeClr val="bg1"/>
                                </a:solidFill>
                                <a:latin typeface="Cambria Math" panose="02040503050406030204" pitchFamily="18" charset="0"/>
                              </a:rPr>
                              <m:t>2</m:t>
                            </m:r>
                          </m:den>
                        </m:f>
                        <m:r>
                          <a:rPr lang="en-US" b="0" i="1" smtClean="0">
                            <a:solidFill>
                              <a:schemeClr val="bg1"/>
                            </a:solidFill>
                            <a:latin typeface="Cambria Math" panose="02040503050406030204" pitchFamily="18" charset="0"/>
                          </a:rPr>
                          <m:t>)</m:t>
                        </m:r>
                      </m:e>
                      <m:sup>
                        <m:r>
                          <a:rPr lang="en-US" b="0" i="1" smtClean="0">
                            <a:solidFill>
                              <a:schemeClr val="bg1"/>
                            </a:solidFill>
                            <a:latin typeface="Cambria Math" panose="02040503050406030204" pitchFamily="18" charset="0"/>
                          </a:rPr>
                          <m:t>2</m:t>
                        </m:r>
                        <m:r>
                          <a:rPr lang="en-US" b="0" i="1" smtClean="0">
                            <a:solidFill>
                              <a:schemeClr val="bg1"/>
                            </a:solidFill>
                            <a:latin typeface="Cambria Math" panose="02040503050406030204" pitchFamily="18" charset="0"/>
                          </a:rPr>
                          <m:t>𝑁</m:t>
                        </m:r>
                      </m:sup>
                    </m:sSup>
                  </m:oMath>
                </a14:m>
                <a:endParaRPr lang="en-CN" dirty="0">
                  <a:solidFill>
                    <a:schemeClr val="bg1"/>
                  </a:solidFill>
                </a:endParaRPr>
              </a:p>
            </p:txBody>
          </p:sp>
        </mc:Choice>
        <mc:Fallback xmlns="">
          <p:sp>
            <p:nvSpPr>
              <p:cNvPr id="3" name="TextBox 2">
                <a:extLst>
                  <a:ext uri="{FF2B5EF4-FFF2-40B4-BE49-F238E27FC236}">
                    <a16:creationId xmlns:a16="http://schemas.microsoft.com/office/drawing/2014/main" id="{4FB1F8A5-E619-C742-8DE0-34AE6CEB89EC}"/>
                  </a:ext>
                </a:extLst>
              </p:cNvPr>
              <p:cNvSpPr txBox="1">
                <a:spLocks noRot="1" noChangeAspect="1" noMove="1" noResize="1" noEditPoints="1" noAdjustHandles="1" noChangeArrowheads="1" noChangeShapeType="1" noTextEdit="1"/>
              </p:cNvSpPr>
              <p:nvPr/>
            </p:nvSpPr>
            <p:spPr>
              <a:xfrm>
                <a:off x="199380" y="4716974"/>
                <a:ext cx="3802566" cy="461473"/>
              </a:xfrm>
              <a:prstGeom prst="rect">
                <a:avLst/>
              </a:prstGeom>
              <a:blipFill>
                <a:blip r:embed="rId5"/>
                <a:stretch>
                  <a:fillRect l="-1333" b="-10811"/>
                </a:stretch>
              </a:blipFill>
            </p:spPr>
            <p:txBody>
              <a:bodyPr/>
              <a:lstStyle/>
              <a:p>
                <a:r>
                  <a:rPr lang="en-CN">
                    <a:noFill/>
                  </a:rPr>
                  <a:t> </a:t>
                </a:r>
              </a:p>
            </p:txBody>
          </p:sp>
        </mc:Fallback>
      </mc:AlternateContent>
      <p:sp>
        <p:nvSpPr>
          <p:cNvPr id="7" name="Right Arrow 6">
            <a:extLst>
              <a:ext uri="{FF2B5EF4-FFF2-40B4-BE49-F238E27FC236}">
                <a16:creationId xmlns:a16="http://schemas.microsoft.com/office/drawing/2014/main" id="{F0AC0F85-0A4F-BB42-87F6-0E8A8BE7FCB5}"/>
              </a:ext>
            </a:extLst>
          </p:cNvPr>
          <p:cNvSpPr/>
          <p:nvPr/>
        </p:nvSpPr>
        <p:spPr>
          <a:xfrm rot="4584314">
            <a:off x="1068407" y="4055856"/>
            <a:ext cx="837878" cy="1099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53D651F-D3F0-514E-86C8-594ED56EDA26}"/>
                  </a:ext>
                </a:extLst>
              </p:cNvPr>
              <p:cNvSpPr txBox="1"/>
              <p:nvPr/>
            </p:nvSpPr>
            <p:spPr>
              <a:xfrm>
                <a:off x="874029" y="3828359"/>
                <a:ext cx="1226634" cy="5648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𝑞</m:t>
                          </m:r>
                        </m:e>
                        <m:sub>
                          <m:r>
                            <a:rPr lang="en-US" b="0" i="1" smtClean="0">
                              <a:solidFill>
                                <a:schemeClr val="bg1"/>
                              </a:solidFill>
                              <a:latin typeface="Cambria Math" panose="02040503050406030204" pitchFamily="18" charset="0"/>
                            </a:rPr>
                            <m:t>𝐴</m:t>
                          </m:r>
                        </m:sub>
                      </m:sSub>
                      <m:r>
                        <a:rPr lang="en-US" b="0" i="1" smtClean="0">
                          <a:solidFill>
                            <a:schemeClr val="bg1"/>
                          </a:solidFill>
                          <a:latin typeface="Cambria Math" panose="02040503050406030204" pitchFamily="18" charset="0"/>
                        </a:rPr>
                        <m:t>=</m:t>
                      </m: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𝑞</m:t>
                          </m:r>
                        </m:num>
                        <m:den>
                          <m:r>
                            <a:rPr lang="en-US" b="0" i="1" smtClean="0">
                              <a:solidFill>
                                <a:schemeClr val="bg1"/>
                              </a:solidFill>
                              <a:latin typeface="Cambria Math" panose="02040503050406030204" pitchFamily="18" charset="0"/>
                            </a:rPr>
                            <m:t>2</m:t>
                          </m:r>
                        </m:den>
                      </m:f>
                    </m:oMath>
                  </m:oMathPara>
                </a14:m>
                <a:endParaRPr lang="en-CN" dirty="0"/>
              </a:p>
            </p:txBody>
          </p:sp>
        </mc:Choice>
        <mc:Fallback xmlns="">
          <p:sp>
            <p:nvSpPr>
              <p:cNvPr id="8" name="TextBox 7">
                <a:extLst>
                  <a:ext uri="{FF2B5EF4-FFF2-40B4-BE49-F238E27FC236}">
                    <a16:creationId xmlns:a16="http://schemas.microsoft.com/office/drawing/2014/main" id="{153D651F-D3F0-514E-86C8-594ED56EDA26}"/>
                  </a:ext>
                </a:extLst>
              </p:cNvPr>
              <p:cNvSpPr txBox="1">
                <a:spLocks noRot="1" noChangeAspect="1" noMove="1" noResize="1" noEditPoints="1" noAdjustHandles="1" noChangeArrowheads="1" noChangeShapeType="1" noTextEdit="1"/>
              </p:cNvSpPr>
              <p:nvPr/>
            </p:nvSpPr>
            <p:spPr>
              <a:xfrm>
                <a:off x="874029" y="3828359"/>
                <a:ext cx="1226634" cy="564898"/>
              </a:xfrm>
              <a:prstGeom prst="rect">
                <a:avLst/>
              </a:prstGeom>
              <a:blipFill>
                <a:blip r:embed="rId6"/>
                <a:stretch>
                  <a:fillRect b="-4348"/>
                </a:stretch>
              </a:blipFill>
            </p:spPr>
            <p:txBody>
              <a:bodyPr/>
              <a:lstStyle/>
              <a:p>
                <a:r>
                  <a:rPr lang="en-CN">
                    <a:noFill/>
                  </a:rPr>
                  <a:t> </a:t>
                </a:r>
              </a:p>
            </p:txBody>
          </p:sp>
        </mc:Fallback>
      </mc:AlternateContent>
      <p:pic>
        <p:nvPicPr>
          <p:cNvPr id="9" name="Picture 8">
            <a:extLst>
              <a:ext uri="{FF2B5EF4-FFF2-40B4-BE49-F238E27FC236}">
                <a16:creationId xmlns:a16="http://schemas.microsoft.com/office/drawing/2014/main" id="{7AD14959-CF45-E44B-A5F2-39509004884F}"/>
              </a:ext>
            </a:extLst>
          </p:cNvPr>
          <p:cNvPicPr>
            <a:picLocks noChangeAspect="1"/>
          </p:cNvPicPr>
          <p:nvPr/>
        </p:nvPicPr>
        <p:blipFill>
          <a:blip r:embed="rId7"/>
          <a:stretch>
            <a:fillRect/>
          </a:stretch>
        </p:blipFill>
        <p:spPr>
          <a:xfrm>
            <a:off x="3501482" y="2706542"/>
            <a:ext cx="5408396" cy="4020863"/>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DA527E5-2B65-6246-9A4D-22F334BA6EFD}"/>
                  </a:ext>
                </a:extLst>
              </p:cNvPr>
              <p:cNvSpPr txBox="1"/>
              <p:nvPr/>
            </p:nvSpPr>
            <p:spPr>
              <a:xfrm>
                <a:off x="9445138" y="1922641"/>
                <a:ext cx="2274794" cy="1863139"/>
              </a:xfrm>
              <a:prstGeom prst="rect">
                <a:avLst/>
              </a:prstGeom>
              <a:noFill/>
            </p:spPr>
            <p:txBody>
              <a:bodyPr wrap="square" rtlCol="0">
                <a:spAutoFit/>
              </a:bodyPr>
              <a:lstStyle/>
              <a:p>
                <a:pPr marL="285750" indent="-285750">
                  <a:buFont typeface="Arial" panose="020B0604020202020204" pitchFamily="34" charset="0"/>
                  <a:buChar char="•"/>
                </a:pPr>
                <a:r>
                  <a:rPr lang="en-CN" dirty="0">
                    <a:solidFill>
                      <a:schemeClr val="bg1"/>
                    </a:solidFill>
                  </a:rPr>
                  <a:t>左边高斯波包的宽度</a:t>
                </a:r>
                <a:r>
                  <a:rPr lang="zh-CN" altLang="en-US" dirty="0">
                    <a:solidFill>
                      <a:schemeClr val="bg1"/>
                    </a:solidFill>
                  </a:rPr>
                  <a:t> </a:t>
                </a:r>
                <a14:m>
                  <m:oMath xmlns:m="http://schemas.openxmlformats.org/officeDocument/2006/math">
                    <m:f>
                      <m:fPr>
                        <m:ctrlPr>
                          <a:rPr lang="en-US" altLang="zh-CN" i="1" smtClean="0">
                            <a:solidFill>
                              <a:schemeClr val="bg1"/>
                            </a:solidFill>
                            <a:latin typeface="Cambria Math" panose="02040503050406030204" pitchFamily="18" charset="0"/>
                          </a:rPr>
                        </m:ctrlPr>
                      </m:fPr>
                      <m:num>
                        <m:r>
                          <a:rPr lang="en-US" altLang="zh-CN" b="0" i="1" smtClean="0">
                            <a:solidFill>
                              <a:schemeClr val="bg1"/>
                            </a:solidFill>
                            <a:latin typeface="Cambria Math" panose="02040503050406030204" pitchFamily="18" charset="0"/>
                          </a:rPr>
                          <m:t>𝑞</m:t>
                        </m:r>
                      </m:num>
                      <m:den>
                        <m:rad>
                          <m:radPr>
                            <m:degHide m:val="on"/>
                            <m:ctrlPr>
                              <a:rPr lang="en-US" altLang="zh-CN" i="1" smtClean="0">
                                <a:solidFill>
                                  <a:schemeClr val="bg1"/>
                                </a:solidFill>
                                <a:latin typeface="Cambria Math" panose="02040503050406030204" pitchFamily="18" charset="0"/>
                              </a:rPr>
                            </m:ctrlPr>
                          </m:radPr>
                          <m:deg/>
                          <m:e>
                            <m:r>
                              <a:rPr lang="en-US" altLang="zh-CN" b="0" i="1" smtClean="0">
                                <a:solidFill>
                                  <a:schemeClr val="bg1"/>
                                </a:solidFill>
                                <a:latin typeface="Cambria Math" panose="02040503050406030204" pitchFamily="18" charset="0"/>
                              </a:rPr>
                              <m:t>𝑁</m:t>
                            </m:r>
                          </m:e>
                        </m:rad>
                      </m:den>
                    </m:f>
                  </m:oMath>
                </a14:m>
                <a:r>
                  <a:rPr lang="en-CN" dirty="0">
                    <a:solidFill>
                      <a:schemeClr val="bg1"/>
                    </a:solidFill>
                  </a:rPr>
                  <a:t> 很大</a:t>
                </a:r>
                <a:r>
                  <a:rPr lang="zh-CN" altLang="en-US" dirty="0">
                    <a:solidFill>
                      <a:schemeClr val="bg1"/>
                    </a:solidFill>
                  </a:rPr>
                  <a:t>，涨落很大？</a:t>
                </a:r>
                <a:endParaRPr lang="en-CN" dirty="0">
                  <a:solidFill>
                    <a:schemeClr val="bg1"/>
                  </a:solidFill>
                </a:endParaRPr>
              </a:p>
              <a:p>
                <a:pPr marL="285750" indent="-285750">
                  <a:buFont typeface="Arial" panose="020B0604020202020204" pitchFamily="34" charset="0"/>
                  <a:buChar char="•"/>
                </a:pPr>
                <a:r>
                  <a:rPr lang="en-CN" dirty="0">
                    <a:solidFill>
                      <a:schemeClr val="bg1"/>
                    </a:solidFill>
                  </a:rPr>
                  <a:t>占整个qA取值比例</a:t>
                </a:r>
                <a:r>
                  <a:rPr lang="zh-CN" altLang="en-US" dirty="0">
                    <a:solidFill>
                      <a:schemeClr val="bg1"/>
                    </a:solidFill>
                  </a:rPr>
                  <a:t> </a:t>
                </a:r>
                <a14:m>
                  <m:oMath xmlns:m="http://schemas.openxmlformats.org/officeDocument/2006/math">
                    <m:f>
                      <m:fPr>
                        <m:ctrlPr>
                          <a:rPr lang="en-US" altLang="zh-CN" i="1" smtClean="0">
                            <a:solidFill>
                              <a:schemeClr val="bg1"/>
                            </a:solidFill>
                            <a:latin typeface="Cambria Math" panose="02040503050406030204" pitchFamily="18" charset="0"/>
                          </a:rPr>
                        </m:ctrlPr>
                      </m:fPr>
                      <m:num>
                        <m:f>
                          <m:fPr>
                            <m:ctrlPr>
                              <a:rPr lang="en-US" altLang="zh-CN" i="1" smtClean="0">
                                <a:solidFill>
                                  <a:schemeClr val="bg1"/>
                                </a:solidFill>
                                <a:latin typeface="Cambria Math" panose="02040503050406030204" pitchFamily="18" charset="0"/>
                              </a:rPr>
                            </m:ctrlPr>
                          </m:fPr>
                          <m:num>
                            <m:r>
                              <a:rPr lang="en-US" altLang="zh-CN" b="0" i="1" smtClean="0">
                                <a:solidFill>
                                  <a:schemeClr val="bg1"/>
                                </a:solidFill>
                                <a:latin typeface="Cambria Math" panose="02040503050406030204" pitchFamily="18" charset="0"/>
                              </a:rPr>
                              <m:t>𝑞</m:t>
                            </m:r>
                          </m:num>
                          <m:den>
                            <m:rad>
                              <m:radPr>
                                <m:degHide m:val="on"/>
                                <m:ctrlPr>
                                  <a:rPr lang="en-US" altLang="zh-CN" i="1" smtClean="0">
                                    <a:solidFill>
                                      <a:schemeClr val="bg1"/>
                                    </a:solidFill>
                                    <a:latin typeface="Cambria Math" panose="02040503050406030204" pitchFamily="18" charset="0"/>
                                  </a:rPr>
                                </m:ctrlPr>
                              </m:radPr>
                              <m:deg/>
                              <m:e>
                                <m:r>
                                  <a:rPr lang="en-US" altLang="zh-CN" b="0" i="1" smtClean="0">
                                    <a:solidFill>
                                      <a:schemeClr val="bg1"/>
                                    </a:solidFill>
                                    <a:latin typeface="Cambria Math" panose="02040503050406030204" pitchFamily="18" charset="0"/>
                                  </a:rPr>
                                  <m:t>𝑁</m:t>
                                </m:r>
                              </m:e>
                            </m:rad>
                          </m:den>
                        </m:f>
                      </m:num>
                      <m:den>
                        <m:r>
                          <a:rPr lang="en-US" altLang="zh-CN" b="0" i="1" smtClean="0">
                            <a:solidFill>
                              <a:schemeClr val="bg1"/>
                            </a:solidFill>
                            <a:latin typeface="Cambria Math" panose="02040503050406030204" pitchFamily="18" charset="0"/>
                          </a:rPr>
                          <m:t>𝑞</m:t>
                        </m:r>
                      </m:den>
                    </m:f>
                    <m:r>
                      <a:rPr lang="en-US" altLang="zh-CN" i="1" smtClean="0">
                        <a:solidFill>
                          <a:schemeClr val="bg1"/>
                        </a:solidFill>
                        <a:latin typeface="Cambria Math" panose="02040503050406030204" pitchFamily="18" charset="0"/>
                        <a:ea typeface="Cambria Math" panose="02040503050406030204" pitchFamily="18" charset="0"/>
                      </a:rPr>
                      <m:t>=</m:t>
                    </m:r>
                    <m:f>
                      <m:fPr>
                        <m:ctrlPr>
                          <a:rPr lang="en-US" altLang="zh-CN" i="1" smtClean="0">
                            <a:solidFill>
                              <a:schemeClr val="bg1"/>
                            </a:solidFill>
                            <a:latin typeface="Cambria Math" panose="02040503050406030204" pitchFamily="18" charset="0"/>
                            <a:ea typeface="Cambria Math" panose="02040503050406030204" pitchFamily="18" charset="0"/>
                          </a:rPr>
                        </m:ctrlPr>
                      </m:fPr>
                      <m:num>
                        <m:r>
                          <a:rPr lang="en-US" altLang="zh-CN" b="0" i="1" smtClean="0">
                            <a:solidFill>
                              <a:schemeClr val="bg1"/>
                            </a:solidFill>
                            <a:latin typeface="Cambria Math" panose="02040503050406030204" pitchFamily="18" charset="0"/>
                            <a:ea typeface="Cambria Math" panose="02040503050406030204" pitchFamily="18" charset="0"/>
                          </a:rPr>
                          <m:t>1</m:t>
                        </m:r>
                      </m:num>
                      <m:den>
                        <m:rad>
                          <m:radPr>
                            <m:degHide m:val="on"/>
                            <m:ctrlPr>
                              <a:rPr lang="en-US" altLang="zh-CN" i="1" smtClean="0">
                                <a:solidFill>
                                  <a:schemeClr val="bg1"/>
                                </a:solidFill>
                                <a:latin typeface="Cambria Math" panose="02040503050406030204" pitchFamily="18" charset="0"/>
                                <a:ea typeface="Cambria Math" panose="02040503050406030204" pitchFamily="18" charset="0"/>
                              </a:rPr>
                            </m:ctrlPr>
                          </m:radPr>
                          <m:deg/>
                          <m:e>
                            <m:r>
                              <a:rPr lang="en-US" altLang="zh-CN" b="0" i="1" smtClean="0">
                                <a:solidFill>
                                  <a:schemeClr val="bg1"/>
                                </a:solidFill>
                                <a:latin typeface="Cambria Math" panose="02040503050406030204" pitchFamily="18" charset="0"/>
                                <a:ea typeface="Cambria Math" panose="02040503050406030204" pitchFamily="18" charset="0"/>
                              </a:rPr>
                              <m:t>𝑁</m:t>
                            </m:r>
                          </m:e>
                        </m:rad>
                      </m:den>
                    </m:f>
                  </m:oMath>
                </a14:m>
                <a:r>
                  <a:rPr lang="en-CN" dirty="0">
                    <a:solidFill>
                      <a:schemeClr val="bg1"/>
                    </a:solidFill>
                  </a:rPr>
                  <a:t> 很小</a:t>
                </a:r>
              </a:p>
            </p:txBody>
          </p:sp>
        </mc:Choice>
        <mc:Fallback xmlns="">
          <p:sp>
            <p:nvSpPr>
              <p:cNvPr id="10" name="TextBox 9">
                <a:extLst>
                  <a:ext uri="{FF2B5EF4-FFF2-40B4-BE49-F238E27FC236}">
                    <a16:creationId xmlns:a16="http://schemas.microsoft.com/office/drawing/2014/main" id="{9DA527E5-2B65-6246-9A4D-22F334BA6EFD}"/>
                  </a:ext>
                </a:extLst>
              </p:cNvPr>
              <p:cNvSpPr txBox="1">
                <a:spLocks noRot="1" noChangeAspect="1" noMove="1" noResize="1" noEditPoints="1" noAdjustHandles="1" noChangeArrowheads="1" noChangeShapeType="1" noTextEdit="1"/>
              </p:cNvSpPr>
              <p:nvPr/>
            </p:nvSpPr>
            <p:spPr>
              <a:xfrm>
                <a:off x="9445138" y="1922641"/>
                <a:ext cx="2274794" cy="1863139"/>
              </a:xfrm>
              <a:prstGeom prst="rect">
                <a:avLst/>
              </a:prstGeom>
              <a:blipFill>
                <a:blip r:embed="rId8"/>
                <a:stretch>
                  <a:fillRect l="-1657" t="-1351"/>
                </a:stretch>
              </a:blipFill>
            </p:spPr>
            <p:txBody>
              <a:bodyPr/>
              <a:lstStyle/>
              <a:p>
                <a:r>
                  <a:rPr lang="en-CN">
                    <a:noFill/>
                  </a:rPr>
                  <a:t> </a:t>
                </a:r>
              </a:p>
            </p:txBody>
          </p:sp>
        </mc:Fallback>
      </mc:AlternateContent>
      <p:pic>
        <p:nvPicPr>
          <p:cNvPr id="11" name="Picture 10">
            <a:extLst>
              <a:ext uri="{FF2B5EF4-FFF2-40B4-BE49-F238E27FC236}">
                <a16:creationId xmlns:a16="http://schemas.microsoft.com/office/drawing/2014/main" id="{EEF1A9E8-29F5-DC49-9365-1BA7E077D8E4}"/>
              </a:ext>
            </a:extLst>
          </p:cNvPr>
          <p:cNvPicPr>
            <a:picLocks noChangeAspect="1"/>
          </p:cNvPicPr>
          <p:nvPr/>
        </p:nvPicPr>
        <p:blipFill>
          <a:blip r:embed="rId9"/>
          <a:stretch>
            <a:fillRect/>
          </a:stretch>
        </p:blipFill>
        <p:spPr>
          <a:xfrm>
            <a:off x="1520599" y="5144030"/>
            <a:ext cx="1891671" cy="1617793"/>
          </a:xfrm>
          <a:prstGeom prst="rect">
            <a:avLst/>
          </a:prstGeom>
        </p:spPr>
      </p:pic>
    </p:spTree>
    <p:extLst>
      <p:ext uri="{BB962C8B-B14F-4D97-AF65-F5344CB8AC3E}">
        <p14:creationId xmlns:p14="http://schemas.microsoft.com/office/powerpoint/2010/main" val="132214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BE31B8A-A597-F744-9F24-175FBC7AD0D1}"/>
              </a:ext>
            </a:extLst>
          </p:cNvPr>
          <p:cNvSpPr txBox="1"/>
          <p:nvPr/>
        </p:nvSpPr>
        <p:spPr>
          <a:xfrm>
            <a:off x="1962615" y="103946"/>
            <a:ext cx="7750097" cy="707886"/>
          </a:xfrm>
          <a:prstGeom prst="rect">
            <a:avLst/>
          </a:prstGeom>
          <a:noFill/>
        </p:spPr>
        <p:txBody>
          <a:bodyPr wrap="square" rtlCol="0">
            <a:spAutoFit/>
          </a:bodyPr>
          <a:lstStyle/>
          <a:p>
            <a:pPr algn="ctr"/>
            <a:r>
              <a:rPr lang="en-CN" sz="4000" dirty="0">
                <a:solidFill>
                  <a:schemeClr val="bg1"/>
                </a:solidFill>
              </a:rPr>
              <a:t>Interacting Ideal Gasses</a:t>
            </a:r>
          </a:p>
        </p:txBody>
      </p:sp>
      <p:pic>
        <p:nvPicPr>
          <p:cNvPr id="2" name="Picture 1">
            <a:extLst>
              <a:ext uri="{FF2B5EF4-FFF2-40B4-BE49-F238E27FC236}">
                <a16:creationId xmlns:a16="http://schemas.microsoft.com/office/drawing/2014/main" id="{07228786-8AA0-854F-9B5D-C57FE69AB74F}"/>
              </a:ext>
            </a:extLst>
          </p:cNvPr>
          <p:cNvPicPr>
            <a:picLocks noChangeAspect="1"/>
          </p:cNvPicPr>
          <p:nvPr/>
        </p:nvPicPr>
        <p:blipFill>
          <a:blip r:embed="rId2"/>
          <a:stretch>
            <a:fillRect/>
          </a:stretch>
        </p:blipFill>
        <p:spPr>
          <a:xfrm>
            <a:off x="3782254" y="811832"/>
            <a:ext cx="3882351" cy="1783962"/>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F58ED92-0725-8145-890B-63506A59F0CD}"/>
                  </a:ext>
                </a:extLst>
              </p:cNvPr>
              <p:cNvSpPr txBox="1"/>
              <p:nvPr/>
            </p:nvSpPr>
            <p:spPr>
              <a:xfrm>
                <a:off x="1991" y="2924024"/>
                <a:ext cx="5203902" cy="3796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𝑔</m:t>
                          </m:r>
                        </m:e>
                        <m:sub>
                          <m:r>
                            <a:rPr lang="en-US" b="0" i="1" smtClean="0">
                              <a:solidFill>
                                <a:schemeClr val="bg1"/>
                              </a:solidFill>
                              <a:latin typeface="Cambria Math" panose="02040503050406030204" pitchFamily="18" charset="0"/>
                            </a:rPr>
                            <m:t>𝑡</m:t>
                          </m:r>
                        </m:sub>
                      </m:sSub>
                      <m:r>
                        <a:rPr lang="en-US" b="0" i="1" smtClean="0">
                          <a:solidFill>
                            <a:schemeClr val="bg1"/>
                          </a:solidFill>
                          <a:latin typeface="Cambria Math" panose="02040503050406030204" pitchFamily="18" charset="0"/>
                        </a:rPr>
                        <m:t>=</m:t>
                      </m:r>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𝑓</m:t>
                          </m:r>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𝑁</m:t>
                          </m:r>
                          <m:r>
                            <a:rPr lang="en-US" b="0" i="1" smtClean="0">
                              <a:solidFill>
                                <a:schemeClr val="bg1"/>
                              </a:solidFill>
                              <a:latin typeface="Cambria Math" panose="02040503050406030204" pitchFamily="18" charset="0"/>
                            </a:rPr>
                            <m:t>))</m:t>
                          </m:r>
                        </m:e>
                        <m:sup>
                          <m:r>
                            <a:rPr lang="en-US" b="0" i="1" smtClean="0">
                              <a:solidFill>
                                <a:schemeClr val="bg1"/>
                              </a:solidFill>
                              <a:latin typeface="Cambria Math" panose="02040503050406030204" pitchFamily="18" charset="0"/>
                            </a:rPr>
                            <m:t>2</m:t>
                          </m:r>
                        </m:sup>
                      </m:sSup>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𝑉</m:t>
                              </m:r>
                            </m:e>
                            <m:sub>
                              <m:r>
                                <a:rPr lang="en-US" b="0" i="1" smtClean="0">
                                  <a:solidFill>
                                    <a:schemeClr val="bg1"/>
                                  </a:solidFill>
                                  <a:latin typeface="Cambria Math" panose="02040503050406030204" pitchFamily="18" charset="0"/>
                                </a:rPr>
                                <m:t>𝐴</m:t>
                              </m:r>
                            </m:sub>
                          </m:sSub>
                          <m:r>
                            <a:rPr lang="en-US" b="0" i="1" smtClean="0">
                              <a:solidFill>
                                <a:schemeClr val="bg1"/>
                              </a:solidFill>
                              <a:latin typeface="Cambria Math" panose="02040503050406030204" pitchFamily="18" charset="0"/>
                            </a:rPr>
                            <m:t> </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𝑉</m:t>
                              </m:r>
                            </m:e>
                            <m:sub>
                              <m:r>
                                <a:rPr lang="en-US" b="0" i="1" smtClean="0">
                                  <a:solidFill>
                                    <a:schemeClr val="bg1"/>
                                  </a:solidFill>
                                  <a:latin typeface="Cambria Math" panose="02040503050406030204" pitchFamily="18" charset="0"/>
                                </a:rPr>
                                <m:t>𝐵</m:t>
                              </m:r>
                            </m:sub>
                          </m:sSub>
                          <m:r>
                            <a:rPr lang="en-US" b="0" i="1" smtClean="0">
                              <a:solidFill>
                                <a:schemeClr val="bg1"/>
                              </a:solidFill>
                              <a:latin typeface="Cambria Math" panose="02040503050406030204" pitchFamily="18" charset="0"/>
                            </a:rPr>
                            <m:t> )</m:t>
                          </m:r>
                        </m:e>
                        <m:sup>
                          <m:r>
                            <a:rPr lang="en-US" b="0" i="1" smtClean="0">
                              <a:solidFill>
                                <a:schemeClr val="bg1"/>
                              </a:solidFill>
                              <a:latin typeface="Cambria Math" panose="02040503050406030204" pitchFamily="18" charset="0"/>
                            </a:rPr>
                            <m:t>𝑁</m:t>
                          </m:r>
                        </m:sup>
                      </m:sSup>
                      <m:r>
                        <a:rPr lang="en-US" b="0" i="1" smtClean="0">
                          <a:solidFill>
                            <a:schemeClr val="bg1"/>
                          </a:solidFill>
                          <a:latin typeface="Cambria Math" panose="02040503050406030204" pitchFamily="18" charset="0"/>
                        </a:rPr>
                        <m:t> </m:t>
                      </m:r>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𝑈</m:t>
                              </m:r>
                            </m:e>
                            <m:sub>
                              <m:r>
                                <a:rPr lang="en-US" b="0" i="1" smtClean="0">
                                  <a:solidFill>
                                    <a:schemeClr val="bg1"/>
                                  </a:solidFill>
                                  <a:latin typeface="Cambria Math" panose="02040503050406030204" pitchFamily="18" charset="0"/>
                                </a:rPr>
                                <m:t>𝐴</m:t>
                              </m:r>
                            </m:sub>
                          </m:sSub>
                          <m:r>
                            <a:rPr lang="en-US" b="0" i="1" smtClean="0">
                              <a:solidFill>
                                <a:schemeClr val="bg1"/>
                              </a:solidFill>
                              <a:latin typeface="Cambria Math" panose="02040503050406030204" pitchFamily="18" charset="0"/>
                            </a:rPr>
                            <m:t> </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𝑈</m:t>
                              </m:r>
                            </m:e>
                            <m:sub>
                              <m:r>
                                <a:rPr lang="en-US" b="0" i="1" smtClean="0">
                                  <a:solidFill>
                                    <a:schemeClr val="bg1"/>
                                  </a:solidFill>
                                  <a:latin typeface="Cambria Math" panose="02040503050406030204" pitchFamily="18" charset="0"/>
                                </a:rPr>
                                <m:t>𝐵</m:t>
                              </m:r>
                            </m:sub>
                          </m:sSub>
                          <m:r>
                            <a:rPr lang="en-US" b="0" i="1" smtClean="0">
                              <a:solidFill>
                                <a:schemeClr val="bg1"/>
                              </a:solidFill>
                              <a:latin typeface="Cambria Math" panose="02040503050406030204" pitchFamily="18" charset="0"/>
                            </a:rPr>
                            <m:t> )</m:t>
                          </m:r>
                        </m:e>
                        <m:sup>
                          <m:r>
                            <a:rPr lang="en-US" b="0" i="1" smtClean="0">
                              <a:solidFill>
                                <a:schemeClr val="bg1"/>
                              </a:solidFill>
                              <a:latin typeface="Cambria Math" panose="02040503050406030204" pitchFamily="18" charset="0"/>
                            </a:rPr>
                            <m:t>3</m:t>
                          </m:r>
                          <m:r>
                            <a:rPr lang="en-US" b="0" i="1" smtClean="0">
                              <a:solidFill>
                                <a:schemeClr val="bg1"/>
                              </a:solidFill>
                              <a:latin typeface="Cambria Math" panose="02040503050406030204" pitchFamily="18" charset="0"/>
                            </a:rPr>
                            <m:t>𝑁</m:t>
                          </m:r>
                          <m:r>
                            <a:rPr lang="en-US" b="0" i="1" smtClean="0">
                              <a:solidFill>
                                <a:schemeClr val="bg1"/>
                              </a:solidFill>
                              <a:latin typeface="Cambria Math" panose="02040503050406030204" pitchFamily="18" charset="0"/>
                            </a:rPr>
                            <m:t>/2</m:t>
                          </m:r>
                        </m:sup>
                      </m:sSup>
                    </m:oMath>
                  </m:oMathPara>
                </a14:m>
                <a:endParaRPr lang="en-CN" dirty="0"/>
              </a:p>
            </p:txBody>
          </p:sp>
        </mc:Choice>
        <mc:Fallback xmlns="">
          <p:sp>
            <p:nvSpPr>
              <p:cNvPr id="3" name="TextBox 2">
                <a:extLst>
                  <a:ext uri="{FF2B5EF4-FFF2-40B4-BE49-F238E27FC236}">
                    <a16:creationId xmlns:a16="http://schemas.microsoft.com/office/drawing/2014/main" id="{6F58ED92-0725-8145-890B-63506A59F0CD}"/>
                  </a:ext>
                </a:extLst>
              </p:cNvPr>
              <p:cNvSpPr txBox="1">
                <a:spLocks noRot="1" noChangeAspect="1" noMove="1" noResize="1" noEditPoints="1" noAdjustHandles="1" noChangeArrowheads="1" noChangeShapeType="1" noTextEdit="1"/>
              </p:cNvSpPr>
              <p:nvPr/>
            </p:nvSpPr>
            <p:spPr>
              <a:xfrm>
                <a:off x="1991" y="2924024"/>
                <a:ext cx="5203902" cy="379656"/>
              </a:xfrm>
              <a:prstGeom prst="rect">
                <a:avLst/>
              </a:prstGeom>
              <a:blipFill>
                <a:blip r:embed="rId3"/>
                <a:stretch>
                  <a:fillRect b="-1290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EF213ED-9212-4E4C-9F00-E78C90513155}"/>
                  </a:ext>
                </a:extLst>
              </p:cNvPr>
              <p:cNvSpPr txBox="1"/>
              <p:nvPr/>
            </p:nvSpPr>
            <p:spPr>
              <a:xfrm>
                <a:off x="7664605" y="2831403"/>
                <a:ext cx="4635192" cy="56489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b="0" i="1" smtClean="0">
                          <a:solidFill>
                            <a:schemeClr val="bg1"/>
                          </a:solidFill>
                          <a:latin typeface="Cambria Math" panose="02040503050406030204" pitchFamily="18" charset="0"/>
                        </a:rPr>
                        <m:t>𝑟𝑒𝑚𝑒𝑚𝑏𝑒𝑟</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𝑔</m:t>
                      </m:r>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𝑔</m:t>
                          </m:r>
                        </m:e>
                        <m:sub>
                          <m:r>
                            <a:rPr lang="en-US" b="0" i="1" smtClean="0">
                              <a:solidFill>
                                <a:schemeClr val="bg1"/>
                              </a:solidFill>
                              <a:latin typeface="Cambria Math" panose="02040503050406030204" pitchFamily="18" charset="0"/>
                            </a:rPr>
                            <m:t>𝐴</m:t>
                          </m:r>
                        </m:sub>
                      </m:sSub>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𝑔</m:t>
                          </m:r>
                        </m:e>
                        <m:sub>
                          <m:r>
                            <a:rPr lang="en-US" b="0" i="1" smtClean="0">
                              <a:solidFill>
                                <a:schemeClr val="bg1"/>
                              </a:solidFill>
                              <a:latin typeface="Cambria Math" panose="02040503050406030204" pitchFamily="18" charset="0"/>
                            </a:rPr>
                            <m:t>𝐵</m:t>
                          </m:r>
                        </m:sub>
                      </m:sSub>
                      <m:r>
                        <a:rPr lang="en-US" b="0" i="1" smtClean="0">
                          <a:solidFill>
                            <a:schemeClr val="bg1"/>
                          </a:solidFill>
                          <a:latin typeface="Cambria Math" panose="02040503050406030204" pitchFamily="18" charset="0"/>
                        </a:rPr>
                        <m:t>=</m:t>
                      </m:r>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m:t>
                          </m: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𝑒</m:t>
                              </m:r>
                            </m:num>
                            <m:den>
                              <m:r>
                                <a:rPr lang="en-US" b="0" i="1" smtClean="0">
                                  <a:solidFill>
                                    <a:schemeClr val="bg1"/>
                                  </a:solidFill>
                                  <a:latin typeface="Cambria Math" panose="02040503050406030204" pitchFamily="18" charset="0"/>
                                </a:rPr>
                                <m:t>𝑁</m:t>
                              </m:r>
                            </m:den>
                          </m:f>
                          <m:r>
                            <a:rPr lang="en-US" b="0" i="1" smtClean="0">
                              <a:solidFill>
                                <a:schemeClr val="bg1"/>
                              </a:solidFill>
                              <a:latin typeface="Cambria Math" panose="02040503050406030204" pitchFamily="18" charset="0"/>
                            </a:rPr>
                            <m:t>)</m:t>
                          </m:r>
                        </m:e>
                        <m:sup>
                          <m:r>
                            <a:rPr lang="en-US" b="0" i="1" smtClean="0">
                              <a:solidFill>
                                <a:schemeClr val="bg1"/>
                              </a:solidFill>
                              <a:latin typeface="Cambria Math" panose="02040503050406030204" pitchFamily="18" charset="0"/>
                            </a:rPr>
                            <m:t>2</m:t>
                          </m:r>
                          <m:r>
                            <a:rPr lang="en-US" b="0" i="1" smtClean="0">
                              <a:solidFill>
                                <a:schemeClr val="bg1"/>
                              </a:solidFill>
                              <a:latin typeface="Cambria Math" panose="02040503050406030204" pitchFamily="18" charset="0"/>
                            </a:rPr>
                            <m:t>𝑁</m:t>
                          </m:r>
                        </m:sup>
                      </m:sSup>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 </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𝑞</m:t>
                              </m:r>
                            </m:e>
                            <m:sub>
                              <m:r>
                                <a:rPr lang="en-US" b="0" i="1" smtClean="0">
                                  <a:solidFill>
                                    <a:schemeClr val="bg1"/>
                                  </a:solidFill>
                                  <a:latin typeface="Cambria Math" panose="02040503050406030204" pitchFamily="18" charset="0"/>
                                </a:rPr>
                                <m:t>𝐴</m:t>
                              </m:r>
                            </m:sub>
                          </m:sSub>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𝑞</m:t>
                              </m:r>
                            </m:e>
                            <m:sub>
                              <m:r>
                                <a:rPr lang="en-US" b="0" i="1" smtClean="0">
                                  <a:solidFill>
                                    <a:schemeClr val="bg1"/>
                                  </a:solidFill>
                                  <a:latin typeface="Cambria Math" panose="02040503050406030204" pitchFamily="18" charset="0"/>
                                </a:rPr>
                                <m:t>𝐵</m:t>
                              </m:r>
                            </m:sub>
                          </m:sSub>
                          <m:r>
                            <a:rPr lang="en-US" b="0" i="1" smtClean="0">
                              <a:solidFill>
                                <a:schemeClr val="bg1"/>
                              </a:solidFill>
                              <a:latin typeface="Cambria Math" panose="02040503050406030204" pitchFamily="18" charset="0"/>
                            </a:rPr>
                            <m:t> )</m:t>
                          </m:r>
                        </m:e>
                        <m:sup>
                          <m:r>
                            <a:rPr lang="en-US" b="0" i="1" smtClean="0">
                              <a:solidFill>
                                <a:schemeClr val="bg1"/>
                              </a:solidFill>
                              <a:latin typeface="Cambria Math" panose="02040503050406030204" pitchFamily="18" charset="0"/>
                            </a:rPr>
                            <m:t>𝑁</m:t>
                          </m:r>
                        </m:sup>
                      </m:sSup>
                    </m:oMath>
                  </m:oMathPara>
                </a14:m>
                <a:endParaRPr lang="en-CN" dirty="0"/>
              </a:p>
            </p:txBody>
          </p:sp>
        </mc:Choice>
        <mc:Fallback xmlns="">
          <p:sp>
            <p:nvSpPr>
              <p:cNvPr id="7" name="TextBox 6">
                <a:extLst>
                  <a:ext uri="{FF2B5EF4-FFF2-40B4-BE49-F238E27FC236}">
                    <a16:creationId xmlns:a16="http://schemas.microsoft.com/office/drawing/2014/main" id="{8EF213ED-9212-4E4C-9F00-E78C90513155}"/>
                  </a:ext>
                </a:extLst>
              </p:cNvPr>
              <p:cNvSpPr txBox="1">
                <a:spLocks noRot="1" noChangeAspect="1" noMove="1" noResize="1" noEditPoints="1" noAdjustHandles="1" noChangeArrowheads="1" noChangeShapeType="1" noTextEdit="1"/>
              </p:cNvSpPr>
              <p:nvPr/>
            </p:nvSpPr>
            <p:spPr>
              <a:xfrm>
                <a:off x="7664605" y="2831403"/>
                <a:ext cx="4635192" cy="564898"/>
              </a:xfrm>
              <a:prstGeom prst="rect">
                <a:avLst/>
              </a:prstGeom>
              <a:blipFill>
                <a:blip r:embed="rId4"/>
                <a:stretch>
                  <a:fillRect b="-4348"/>
                </a:stretch>
              </a:blipFill>
            </p:spPr>
            <p:txBody>
              <a:bodyPr/>
              <a:lstStyle/>
              <a:p>
                <a:r>
                  <a:rPr lang="en-CN">
                    <a:noFill/>
                  </a:rPr>
                  <a:t> </a:t>
                </a:r>
              </a:p>
            </p:txBody>
          </p:sp>
        </mc:Fallback>
      </mc:AlternateContent>
      <p:pic>
        <p:nvPicPr>
          <p:cNvPr id="4" name="Picture 3">
            <a:extLst>
              <a:ext uri="{FF2B5EF4-FFF2-40B4-BE49-F238E27FC236}">
                <a16:creationId xmlns:a16="http://schemas.microsoft.com/office/drawing/2014/main" id="{C076C565-9CD2-6C45-AFAC-251B4AB3E802}"/>
              </a:ext>
            </a:extLst>
          </p:cNvPr>
          <p:cNvPicPr>
            <a:picLocks noChangeAspect="1"/>
          </p:cNvPicPr>
          <p:nvPr/>
        </p:nvPicPr>
        <p:blipFill>
          <a:blip r:embed="rId5"/>
          <a:stretch>
            <a:fillRect/>
          </a:stretch>
        </p:blipFill>
        <p:spPr>
          <a:xfrm>
            <a:off x="3896487" y="4022217"/>
            <a:ext cx="3882351" cy="2731837"/>
          </a:xfrm>
          <a:prstGeom prst="rect">
            <a:avLst/>
          </a:prstGeom>
        </p:spPr>
      </p:pic>
      <p:sp>
        <p:nvSpPr>
          <p:cNvPr id="5" name="Down Arrow 4">
            <a:extLst>
              <a:ext uri="{FF2B5EF4-FFF2-40B4-BE49-F238E27FC236}">
                <a16:creationId xmlns:a16="http://schemas.microsoft.com/office/drawing/2014/main" id="{37F201BD-67C1-2E43-B55D-200C54D5F6BD}"/>
              </a:ext>
            </a:extLst>
          </p:cNvPr>
          <p:cNvSpPr/>
          <p:nvPr/>
        </p:nvSpPr>
        <p:spPr>
          <a:xfrm>
            <a:off x="5358159" y="3221710"/>
            <a:ext cx="959005" cy="53525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3C6766A-25B7-3941-958F-534B9D3D96F2}"/>
                  </a:ext>
                </a:extLst>
              </p:cNvPr>
              <p:cNvSpPr txBox="1"/>
              <p:nvPr/>
            </p:nvSpPr>
            <p:spPr>
              <a:xfrm>
                <a:off x="8073483" y="4270917"/>
                <a:ext cx="3367668" cy="14537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𝑤𝑖𝑑𝑡h</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𝑜𝑓</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𝑝𝑒𝑎𝑘</m:t>
                      </m:r>
                      <m:r>
                        <a:rPr lang="en-US" b="0" i="1" smtClean="0">
                          <a:solidFill>
                            <a:schemeClr val="bg1"/>
                          </a:solidFill>
                          <a:latin typeface="Cambria Math" panose="02040503050406030204" pitchFamily="18" charset="0"/>
                        </a:rPr>
                        <m:t>=</m:t>
                      </m:r>
                      <m:f>
                        <m:fPr>
                          <m:ctrlPr>
                            <a:rPr lang="en-US" b="0" i="1" smtClean="0">
                              <a:solidFill>
                                <a:schemeClr val="bg1"/>
                              </a:solidFill>
                              <a:latin typeface="Cambria Math" panose="02040503050406030204" pitchFamily="18" charset="0"/>
                            </a:rPr>
                          </m:ctrlPr>
                        </m:fPr>
                        <m:num>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𝑈</m:t>
                              </m:r>
                            </m:e>
                            <m:sub>
                              <m:r>
                                <a:rPr lang="en-US" b="0" i="1" smtClean="0">
                                  <a:solidFill>
                                    <a:schemeClr val="bg1"/>
                                  </a:solidFill>
                                  <a:latin typeface="Cambria Math" panose="02040503050406030204" pitchFamily="18" charset="0"/>
                                </a:rPr>
                                <m:t>𝑡</m:t>
                              </m:r>
                            </m:sub>
                          </m:sSub>
                        </m:num>
                        <m:den>
                          <m:rad>
                            <m:radPr>
                              <m:degHide m:val="on"/>
                              <m:ctrlPr>
                                <a:rPr lang="en-US" b="0" i="1" smtClean="0">
                                  <a:solidFill>
                                    <a:schemeClr val="bg1"/>
                                  </a:solidFill>
                                  <a:latin typeface="Cambria Math" panose="02040503050406030204" pitchFamily="18" charset="0"/>
                                </a:rPr>
                              </m:ctrlPr>
                            </m:radPr>
                            <m:deg/>
                            <m:e>
                              <m:r>
                                <a:rPr lang="en-US" b="0" i="1" smtClean="0">
                                  <a:solidFill>
                                    <a:schemeClr val="bg1"/>
                                  </a:solidFill>
                                  <a:latin typeface="Cambria Math" panose="02040503050406030204" pitchFamily="18" charset="0"/>
                                </a:rPr>
                                <m:t>3</m:t>
                              </m:r>
                              <m:r>
                                <a:rPr lang="en-US" b="0" i="1" smtClean="0">
                                  <a:solidFill>
                                    <a:schemeClr val="bg1"/>
                                  </a:solidFill>
                                  <a:latin typeface="Cambria Math" panose="02040503050406030204" pitchFamily="18" charset="0"/>
                                </a:rPr>
                                <m:t>𝑁</m:t>
                              </m:r>
                              <m:r>
                                <a:rPr lang="en-US" b="0" i="1" smtClean="0">
                                  <a:solidFill>
                                    <a:schemeClr val="bg1"/>
                                  </a:solidFill>
                                  <a:latin typeface="Cambria Math" panose="02040503050406030204" pitchFamily="18" charset="0"/>
                                </a:rPr>
                                <m:t>/2</m:t>
                              </m:r>
                            </m:e>
                          </m:rad>
                        </m:den>
                      </m:f>
                    </m:oMath>
                  </m:oMathPara>
                </a14:m>
                <a:endParaRPr lang="en-US" b="0" dirty="0">
                  <a:solidFill>
                    <a:schemeClr val="bg1"/>
                  </a:solidFill>
                </a:endParaRPr>
              </a:p>
              <a:p>
                <a:r>
                  <a:rPr lang="en-CN" dirty="0">
                    <a:solidFill>
                      <a:schemeClr val="bg1"/>
                    </a:solidFill>
                  </a:rPr>
                  <a:t>                                           </a:t>
                </a:r>
                <a14:m>
                  <m:oMath xmlns:m="http://schemas.openxmlformats.org/officeDocument/2006/math">
                    <m:f>
                      <m:fPr>
                        <m:ctrlPr>
                          <a:rPr lang="en-CN" sz="3200" i="1" smtClean="0">
                            <a:solidFill>
                              <a:schemeClr val="bg1"/>
                            </a:solidFill>
                            <a:latin typeface="Cambria Math" panose="02040503050406030204" pitchFamily="18" charset="0"/>
                          </a:rPr>
                        </m:ctrlPr>
                      </m:fPr>
                      <m:num>
                        <m:sSub>
                          <m:sSubPr>
                            <m:ctrlPr>
                              <a:rPr lang="en-CN" sz="3200" i="1" smtClean="0">
                                <a:solidFill>
                                  <a:schemeClr val="bg1"/>
                                </a:solidFill>
                                <a:latin typeface="Cambria Math" panose="02040503050406030204" pitchFamily="18" charset="0"/>
                              </a:rPr>
                            </m:ctrlPr>
                          </m:sSubPr>
                          <m:e>
                            <m:r>
                              <a:rPr lang="en-US" sz="3200" b="0" i="1" smtClean="0">
                                <a:solidFill>
                                  <a:schemeClr val="bg1"/>
                                </a:solidFill>
                                <a:latin typeface="Cambria Math" panose="02040503050406030204" pitchFamily="18" charset="0"/>
                              </a:rPr>
                              <m:t>𝑉</m:t>
                            </m:r>
                          </m:e>
                          <m:sub>
                            <m:r>
                              <a:rPr lang="en-US" sz="3200" b="0" i="1" smtClean="0">
                                <a:solidFill>
                                  <a:schemeClr val="bg1"/>
                                </a:solidFill>
                                <a:latin typeface="Cambria Math" panose="02040503050406030204" pitchFamily="18" charset="0"/>
                              </a:rPr>
                              <m:t>𝑡</m:t>
                            </m:r>
                          </m:sub>
                        </m:sSub>
                      </m:num>
                      <m:den>
                        <m:rad>
                          <m:radPr>
                            <m:degHide m:val="on"/>
                            <m:ctrlPr>
                              <a:rPr lang="en-CN" sz="3200" i="1" smtClean="0">
                                <a:solidFill>
                                  <a:schemeClr val="bg1"/>
                                </a:solidFill>
                                <a:latin typeface="Cambria Math" panose="02040503050406030204" pitchFamily="18" charset="0"/>
                              </a:rPr>
                            </m:ctrlPr>
                          </m:radPr>
                          <m:deg/>
                          <m:e>
                            <m:r>
                              <a:rPr lang="en-US" sz="3200" b="0" i="1" smtClean="0">
                                <a:solidFill>
                                  <a:schemeClr val="bg1"/>
                                </a:solidFill>
                                <a:latin typeface="Cambria Math" panose="02040503050406030204" pitchFamily="18" charset="0"/>
                              </a:rPr>
                              <m:t>𝑁</m:t>
                            </m:r>
                          </m:e>
                        </m:rad>
                      </m:den>
                    </m:f>
                  </m:oMath>
                </a14:m>
                <a:endParaRPr lang="en-CN" sz="3200" dirty="0"/>
              </a:p>
            </p:txBody>
          </p:sp>
        </mc:Choice>
        <mc:Fallback xmlns="">
          <p:sp>
            <p:nvSpPr>
              <p:cNvPr id="8" name="TextBox 7">
                <a:extLst>
                  <a:ext uri="{FF2B5EF4-FFF2-40B4-BE49-F238E27FC236}">
                    <a16:creationId xmlns:a16="http://schemas.microsoft.com/office/drawing/2014/main" id="{83C6766A-25B7-3941-958F-534B9D3D96F2}"/>
                  </a:ext>
                </a:extLst>
              </p:cNvPr>
              <p:cNvSpPr txBox="1">
                <a:spLocks noRot="1" noChangeAspect="1" noMove="1" noResize="1" noEditPoints="1" noAdjustHandles="1" noChangeArrowheads="1" noChangeShapeType="1" noTextEdit="1"/>
              </p:cNvSpPr>
              <p:nvPr/>
            </p:nvSpPr>
            <p:spPr>
              <a:xfrm>
                <a:off x="8073483" y="4270917"/>
                <a:ext cx="3367668" cy="1453796"/>
              </a:xfrm>
              <a:prstGeom prst="rect">
                <a:avLst/>
              </a:prstGeom>
              <a:blipFill>
                <a:blip r:embed="rId6"/>
                <a:stretch>
                  <a:fillRect b="-870"/>
                </a:stretch>
              </a:blipFill>
            </p:spPr>
            <p:txBody>
              <a:bodyPr/>
              <a:lstStyle/>
              <a:p>
                <a:r>
                  <a:rPr lang="en-CN">
                    <a:noFill/>
                  </a:rPr>
                  <a:t> </a:t>
                </a:r>
              </a:p>
            </p:txBody>
          </p:sp>
        </mc:Fallback>
      </mc:AlternateContent>
      <p:sp>
        <p:nvSpPr>
          <p:cNvPr id="9" name="TextBox 8">
            <a:extLst>
              <a:ext uri="{FF2B5EF4-FFF2-40B4-BE49-F238E27FC236}">
                <a16:creationId xmlns:a16="http://schemas.microsoft.com/office/drawing/2014/main" id="{4A8382C5-4A5D-6145-B98C-FC744567E22E}"/>
              </a:ext>
            </a:extLst>
          </p:cNvPr>
          <p:cNvSpPr txBox="1"/>
          <p:nvPr/>
        </p:nvSpPr>
        <p:spPr>
          <a:xfrm>
            <a:off x="234176" y="267629"/>
            <a:ext cx="2397512" cy="369332"/>
          </a:xfrm>
          <a:prstGeom prst="rect">
            <a:avLst/>
          </a:prstGeom>
          <a:noFill/>
        </p:spPr>
        <p:txBody>
          <a:bodyPr wrap="square" rtlCol="0">
            <a:spAutoFit/>
          </a:bodyPr>
          <a:lstStyle/>
          <a:p>
            <a:r>
              <a:rPr lang="en-CN" dirty="0">
                <a:solidFill>
                  <a:schemeClr val="bg1"/>
                </a:solidFill>
              </a:rPr>
              <a:t>补遗一</a:t>
            </a:r>
          </a:p>
        </p:txBody>
      </p:sp>
    </p:spTree>
    <p:extLst>
      <p:ext uri="{BB962C8B-B14F-4D97-AF65-F5344CB8AC3E}">
        <p14:creationId xmlns:p14="http://schemas.microsoft.com/office/powerpoint/2010/main" val="1668497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B7BBD19-6893-2945-969B-96C16C7A15B1}"/>
              </a:ext>
            </a:extLst>
          </p:cNvPr>
          <p:cNvSpPr txBox="1"/>
          <p:nvPr/>
        </p:nvSpPr>
        <p:spPr>
          <a:xfrm>
            <a:off x="345687" y="100361"/>
            <a:ext cx="10961649" cy="707886"/>
          </a:xfrm>
          <a:prstGeom prst="rect">
            <a:avLst/>
          </a:prstGeom>
          <a:noFill/>
        </p:spPr>
        <p:txBody>
          <a:bodyPr wrap="square" rtlCol="0">
            <a:spAutoFit/>
          </a:bodyPr>
          <a:lstStyle/>
          <a:p>
            <a:r>
              <a:rPr lang="en-CN" sz="4000" dirty="0">
                <a:solidFill>
                  <a:schemeClr val="bg1"/>
                </a:solidFill>
              </a:rPr>
              <a:t>统计平均值</a:t>
            </a:r>
            <a:r>
              <a:rPr lang="zh-CN" altLang="en-US" sz="4000" dirty="0">
                <a:solidFill>
                  <a:schemeClr val="bg1"/>
                </a:solidFill>
              </a:rPr>
              <a:t>（扩展一下）</a:t>
            </a:r>
            <a:endParaRPr lang="en-CN" sz="4000" dirty="0">
              <a:solidFill>
                <a:schemeClr val="bg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80A627B-F27D-054D-B949-1042CF23869D}"/>
                  </a:ext>
                </a:extLst>
              </p:cNvPr>
              <p:cNvSpPr txBox="1"/>
              <p:nvPr/>
            </p:nvSpPr>
            <p:spPr>
              <a:xfrm>
                <a:off x="810321" y="1025912"/>
                <a:ext cx="9367025" cy="2367636"/>
              </a:xfrm>
              <a:prstGeom prst="rect">
                <a:avLst/>
              </a:prstGeom>
              <a:noFill/>
            </p:spPr>
            <p:txBody>
              <a:bodyPr wrap="square" rtlCol="0">
                <a:spAutoFit/>
              </a:bodyPr>
              <a:lstStyle/>
              <a:p>
                <a:pPr marL="285750" indent="-285750">
                  <a:buFont typeface="Arial" panose="020B0604020202020204" pitchFamily="34" charset="0"/>
                  <a:buChar char="•"/>
                </a:pPr>
                <a:r>
                  <a:rPr lang="en-CN" dirty="0">
                    <a:solidFill>
                      <a:srgbClr val="FF0000"/>
                    </a:solidFill>
                  </a:rPr>
                  <a:t>The average value, or mean value</a:t>
                </a:r>
                <a:r>
                  <a:rPr lang="en-CN" dirty="0">
                    <a:solidFill>
                      <a:schemeClr val="bg1"/>
                    </a:solidFill>
                  </a:rPr>
                  <a:t>, of a function f(s) taken over a probability distribution function P(s) is defined as</a:t>
                </a:r>
              </a:p>
              <a:p>
                <a:pPr algn="ctr"/>
                <a14:m>
                  <m:oMathPara xmlns:m="http://schemas.openxmlformats.org/officeDocument/2006/math">
                    <m:oMathParaPr>
                      <m:jc m:val="centerGroup"/>
                    </m:oMathParaPr>
                    <m:oMath xmlns:m="http://schemas.openxmlformats.org/officeDocument/2006/math">
                      <m:acc>
                        <m:accPr>
                          <m:chr m:val="̅"/>
                          <m:ctrlPr>
                            <a:rPr lang="en-CN" i="1" smtClean="0">
                              <a:solidFill>
                                <a:schemeClr val="bg1"/>
                              </a:solidFill>
                              <a:latin typeface="Cambria Math" panose="02040503050406030204" pitchFamily="18" charset="0"/>
                            </a:rPr>
                          </m:ctrlPr>
                        </m:accPr>
                        <m:e>
                          <m:r>
                            <a:rPr lang="en-US" b="0" i="1" smtClean="0">
                              <a:solidFill>
                                <a:schemeClr val="bg1"/>
                              </a:solidFill>
                              <a:latin typeface="Cambria Math" panose="02040503050406030204" pitchFamily="18" charset="0"/>
                            </a:rPr>
                            <m:t>𝑓</m:t>
                          </m:r>
                        </m:e>
                      </m:acc>
                      <m:r>
                        <a:rPr lang="en-CN" i="1" smtClean="0">
                          <a:solidFill>
                            <a:schemeClr val="bg1"/>
                          </a:solidFill>
                          <a:latin typeface="Cambria Math" panose="02040503050406030204" pitchFamily="18" charset="0"/>
                          <a:ea typeface="Cambria Math" panose="02040503050406030204" pitchFamily="18" charset="0"/>
                        </a:rPr>
                        <m:t>=</m:t>
                      </m:r>
                      <m:d>
                        <m:dPr>
                          <m:begChr m:val="⟨"/>
                          <m:endChr m:val="⟩"/>
                          <m:ctrlPr>
                            <a:rPr lang="en-CN" i="1" smtClean="0">
                              <a:solidFill>
                                <a:schemeClr val="bg1"/>
                              </a:solidFill>
                              <a:latin typeface="Cambria Math" panose="02040503050406030204" pitchFamily="18" charset="0"/>
                              <a:ea typeface="Cambria Math" panose="02040503050406030204" pitchFamily="18" charset="0"/>
                            </a:rPr>
                          </m:ctrlPr>
                        </m:dPr>
                        <m:e>
                          <m:r>
                            <a:rPr lang="en-US" b="0" i="1" smtClean="0">
                              <a:solidFill>
                                <a:schemeClr val="bg1"/>
                              </a:solidFill>
                              <a:latin typeface="Cambria Math" panose="02040503050406030204" pitchFamily="18" charset="0"/>
                              <a:ea typeface="Cambria Math" panose="02040503050406030204" pitchFamily="18" charset="0"/>
                            </a:rPr>
                            <m:t>𝑓</m:t>
                          </m:r>
                        </m:e>
                      </m:d>
                      <m:r>
                        <a:rPr lang="en-US" b="0" i="1" smtClean="0">
                          <a:solidFill>
                            <a:schemeClr val="bg1"/>
                          </a:solidFill>
                          <a:latin typeface="Cambria Math" panose="02040503050406030204" pitchFamily="18" charset="0"/>
                          <a:ea typeface="Cambria Math" panose="02040503050406030204" pitchFamily="18" charset="0"/>
                        </a:rPr>
                        <m:t>=</m:t>
                      </m:r>
                      <m:nary>
                        <m:naryPr>
                          <m:chr m:val="∑"/>
                          <m:supHide m:val="on"/>
                          <m:ctrlPr>
                            <a:rPr lang="en-US" b="0" i="1" smtClean="0">
                              <a:solidFill>
                                <a:schemeClr val="bg1"/>
                              </a:solidFill>
                              <a:latin typeface="Cambria Math" panose="02040503050406030204" pitchFamily="18" charset="0"/>
                              <a:ea typeface="Cambria Math" panose="02040503050406030204" pitchFamily="18" charset="0"/>
                            </a:rPr>
                          </m:ctrlPr>
                        </m:naryPr>
                        <m:sub>
                          <m:r>
                            <m:rPr>
                              <m:brk m:alnAt="7"/>
                            </m:rPr>
                            <a:rPr lang="en-US" b="0" i="1" smtClean="0">
                              <a:solidFill>
                                <a:schemeClr val="bg1"/>
                              </a:solidFill>
                              <a:latin typeface="Cambria Math" panose="02040503050406030204" pitchFamily="18" charset="0"/>
                              <a:ea typeface="Cambria Math" panose="02040503050406030204" pitchFamily="18" charset="0"/>
                            </a:rPr>
                            <m:t>𝑠</m:t>
                          </m:r>
                        </m:sub>
                        <m:sup/>
                        <m:e>
                          <m:r>
                            <a:rPr lang="en-US" b="0" i="1" smtClean="0">
                              <a:solidFill>
                                <a:schemeClr val="bg1"/>
                              </a:solidFill>
                              <a:latin typeface="Cambria Math" panose="02040503050406030204" pitchFamily="18" charset="0"/>
                              <a:ea typeface="Cambria Math" panose="02040503050406030204" pitchFamily="18" charset="0"/>
                            </a:rPr>
                            <m:t>𝑓</m:t>
                          </m:r>
                          <m:d>
                            <m:dPr>
                              <m:ctrlPr>
                                <a:rPr lang="en-US" b="0" i="1" smtClean="0">
                                  <a:solidFill>
                                    <a:schemeClr val="bg1"/>
                                  </a:solidFill>
                                  <a:latin typeface="Cambria Math" panose="02040503050406030204" pitchFamily="18" charset="0"/>
                                  <a:ea typeface="Cambria Math" panose="02040503050406030204" pitchFamily="18" charset="0"/>
                                </a:rPr>
                              </m:ctrlPr>
                            </m:dPr>
                            <m:e>
                              <m:r>
                                <a:rPr lang="en-US" b="0" i="1" smtClean="0">
                                  <a:solidFill>
                                    <a:schemeClr val="bg1"/>
                                  </a:solidFill>
                                  <a:latin typeface="Cambria Math" panose="02040503050406030204" pitchFamily="18" charset="0"/>
                                  <a:ea typeface="Cambria Math" panose="02040503050406030204" pitchFamily="18" charset="0"/>
                                </a:rPr>
                                <m:t>𝑠</m:t>
                              </m:r>
                            </m:e>
                          </m:d>
                          <m:r>
                            <a:rPr lang="en-US" b="0" i="1" smtClean="0">
                              <a:solidFill>
                                <a:schemeClr val="bg1"/>
                              </a:solidFill>
                              <a:latin typeface="Cambria Math" panose="02040503050406030204" pitchFamily="18" charset="0"/>
                              <a:ea typeface="Cambria Math" panose="02040503050406030204" pitchFamily="18" charset="0"/>
                            </a:rPr>
                            <m:t>𝑃</m:t>
                          </m:r>
                          <m:r>
                            <a:rPr lang="en-US" b="0" i="1" smtClean="0">
                              <a:solidFill>
                                <a:schemeClr val="bg1"/>
                              </a:solidFill>
                              <a:latin typeface="Cambria Math" panose="02040503050406030204" pitchFamily="18" charset="0"/>
                              <a:ea typeface="Cambria Math" panose="02040503050406030204" pitchFamily="18" charset="0"/>
                            </a:rPr>
                            <m:t>(</m:t>
                          </m:r>
                          <m:r>
                            <a:rPr lang="en-US" b="0" i="1" smtClean="0">
                              <a:solidFill>
                                <a:schemeClr val="bg1"/>
                              </a:solidFill>
                              <a:latin typeface="Cambria Math" panose="02040503050406030204" pitchFamily="18" charset="0"/>
                              <a:ea typeface="Cambria Math" panose="02040503050406030204" pitchFamily="18" charset="0"/>
                            </a:rPr>
                            <m:t>𝑠</m:t>
                          </m:r>
                          <m:r>
                            <a:rPr lang="en-US" b="0" i="1" smtClean="0">
                              <a:solidFill>
                                <a:schemeClr val="bg1"/>
                              </a:solidFill>
                              <a:latin typeface="Cambria Math" panose="02040503050406030204" pitchFamily="18" charset="0"/>
                              <a:ea typeface="Cambria Math" panose="02040503050406030204" pitchFamily="18" charset="0"/>
                            </a:rPr>
                            <m:t>)</m:t>
                          </m:r>
                        </m:e>
                      </m:nary>
                    </m:oMath>
                  </m:oMathPara>
                </a14:m>
                <a:endParaRPr lang="en-CN" dirty="0">
                  <a:solidFill>
                    <a:schemeClr val="bg1"/>
                  </a:solidFill>
                </a:endParaRPr>
              </a:p>
              <a:p>
                <a:r>
                  <a:rPr lang="en-US" dirty="0">
                    <a:solidFill>
                      <a:schemeClr val="bg1"/>
                    </a:solidFill>
                  </a:rPr>
                  <a:t>provided that the distribution function is normalized to unity.</a:t>
                </a:r>
              </a:p>
              <a:p>
                <a:pPr marL="285750" indent="-285750">
                  <a:buFont typeface="Arial" panose="020B0604020202020204" pitchFamily="34" charset="0"/>
                  <a:buChar char="•"/>
                </a:pPr>
                <a:r>
                  <a:rPr lang="en-US" dirty="0">
                    <a:solidFill>
                      <a:schemeClr val="bg1"/>
                    </a:solidFill>
                  </a:rPr>
                  <a:t>T</a:t>
                </a:r>
                <a:r>
                  <a:rPr lang="en-CN" dirty="0">
                    <a:solidFill>
                      <a:schemeClr val="bg1"/>
                    </a:solidFill>
                  </a:rPr>
                  <a:t>he root-mean-square(r.m.s</a:t>
                </a:r>
                <a:r>
                  <a:rPr lang="zh-CN" altLang="en-US" dirty="0">
                    <a:solidFill>
                      <a:schemeClr val="bg1"/>
                    </a:solidFill>
                  </a:rPr>
                  <a:t>，均方根</a:t>
                </a:r>
                <a:r>
                  <a:rPr lang="en-CN" dirty="0">
                    <a:solidFill>
                      <a:schemeClr val="bg1"/>
                    </a:solidFill>
                  </a:rPr>
                  <a:t>) </a:t>
                </a:r>
                <a:r>
                  <a:rPr lang="en-CN" dirty="0">
                    <a:solidFill>
                      <a:srgbClr val="FF0000"/>
                    </a:solidFill>
                  </a:rPr>
                  <a:t>fluctuation of the quantity f</a:t>
                </a:r>
              </a:p>
              <a:p>
                <a:pPr algn="ctr"/>
                <a14:m>
                  <m:oMathPara xmlns:m="http://schemas.openxmlformats.org/officeDocument/2006/math">
                    <m:oMathParaPr>
                      <m:jc m:val="centerGroup"/>
                    </m:oMathParaPr>
                    <m:oMath xmlns:m="http://schemas.openxmlformats.org/officeDocument/2006/math">
                      <m:sSup>
                        <m:sSupPr>
                          <m:ctrlPr>
                            <a:rPr lang="en-CN" i="1" smtClean="0">
                              <a:solidFill>
                                <a:schemeClr val="bg1"/>
                              </a:solidFill>
                              <a:latin typeface="Cambria Math" panose="02040503050406030204" pitchFamily="18" charset="0"/>
                            </a:rPr>
                          </m:ctrlPr>
                        </m:sSupPr>
                        <m:e>
                          <m:d>
                            <m:dPr>
                              <m:begChr m:val="⟨"/>
                              <m:endChr m:val="⟩"/>
                              <m:ctrlPr>
                                <a:rPr lang="en-CN" i="1">
                                  <a:solidFill>
                                    <a:schemeClr val="bg1"/>
                                  </a:solidFill>
                                  <a:latin typeface="Cambria Math" panose="02040503050406030204" pitchFamily="18" charset="0"/>
                                </a:rPr>
                              </m:ctrlPr>
                            </m:dPr>
                            <m:e>
                              <m:sSup>
                                <m:sSupPr>
                                  <m:ctrlPr>
                                    <a:rPr lang="en-CN" i="1">
                                      <a:solidFill>
                                        <a:schemeClr val="bg1"/>
                                      </a:solidFill>
                                      <a:latin typeface="Cambria Math" panose="02040503050406030204" pitchFamily="18" charset="0"/>
                                    </a:rPr>
                                  </m:ctrlPr>
                                </m:sSupPr>
                                <m:e>
                                  <m:d>
                                    <m:dPr>
                                      <m:ctrlPr>
                                        <a:rPr lang="en-CN" i="1">
                                          <a:solidFill>
                                            <a:schemeClr val="bg1"/>
                                          </a:solidFill>
                                          <a:latin typeface="Cambria Math" panose="02040503050406030204" pitchFamily="18" charset="0"/>
                                        </a:rPr>
                                      </m:ctrlPr>
                                    </m:dPr>
                                    <m:e>
                                      <m:r>
                                        <a:rPr lang="en-CN" i="1">
                                          <a:solidFill>
                                            <a:schemeClr val="bg1"/>
                                          </a:solidFill>
                                          <a:latin typeface="Cambria Math" panose="02040503050406030204" pitchFamily="18" charset="0"/>
                                          <a:ea typeface="Cambria Math" panose="02040503050406030204" pitchFamily="18" charset="0"/>
                                        </a:rPr>
                                        <m:t>∆</m:t>
                                      </m:r>
                                      <m:r>
                                        <a:rPr lang="en-US" i="1">
                                          <a:solidFill>
                                            <a:schemeClr val="bg1"/>
                                          </a:solidFill>
                                          <a:latin typeface="Cambria Math" panose="02040503050406030204" pitchFamily="18" charset="0"/>
                                          <a:ea typeface="Cambria Math" panose="02040503050406030204" pitchFamily="18" charset="0"/>
                                        </a:rPr>
                                        <m:t>𝑓</m:t>
                                      </m:r>
                                    </m:e>
                                  </m:d>
                                </m:e>
                                <m:sup>
                                  <m:r>
                                    <a:rPr lang="en-US" i="1">
                                      <a:solidFill>
                                        <a:schemeClr val="bg1"/>
                                      </a:solidFill>
                                      <a:latin typeface="Cambria Math" panose="02040503050406030204" pitchFamily="18" charset="0"/>
                                    </a:rPr>
                                    <m:t>2</m:t>
                                  </m:r>
                                </m:sup>
                              </m:sSup>
                            </m:e>
                          </m:d>
                        </m:e>
                        <m:sup>
                          <m:r>
                            <a:rPr lang="en-US" b="0" i="1" smtClean="0">
                              <a:solidFill>
                                <a:schemeClr val="bg1"/>
                              </a:solidFill>
                              <a:latin typeface="Cambria Math" panose="02040503050406030204" pitchFamily="18" charset="0"/>
                            </a:rPr>
                            <m:t>1/2</m:t>
                          </m:r>
                        </m:sup>
                      </m:sSup>
                      <m:r>
                        <a:rPr lang="en-US" b="0" i="1" smtClean="0">
                          <a:solidFill>
                            <a:schemeClr val="bg1"/>
                          </a:solidFill>
                          <a:latin typeface="Cambria Math" panose="02040503050406030204" pitchFamily="18" charset="0"/>
                        </a:rPr>
                        <m:t>=</m:t>
                      </m:r>
                      <m:sSup>
                        <m:sSupPr>
                          <m:ctrlPr>
                            <a:rPr lang="en-US" b="0" i="1" smtClean="0">
                              <a:solidFill>
                                <a:schemeClr val="bg1"/>
                              </a:solidFill>
                              <a:latin typeface="Cambria Math" panose="02040503050406030204" pitchFamily="18" charset="0"/>
                            </a:rPr>
                          </m:ctrlPr>
                        </m:sSupPr>
                        <m:e>
                          <m:d>
                            <m:dPr>
                              <m:ctrlPr>
                                <a:rPr lang="en-US" b="0" i="1" smtClean="0">
                                  <a:solidFill>
                                    <a:schemeClr val="bg1"/>
                                  </a:solidFill>
                                  <a:latin typeface="Cambria Math" panose="02040503050406030204" pitchFamily="18" charset="0"/>
                                </a:rPr>
                              </m:ctrlPr>
                            </m:dPr>
                            <m:e>
                              <m:acc>
                                <m:accPr>
                                  <m:chr m:val="̅"/>
                                  <m:ctrlPr>
                                    <a:rPr lang="en-US" b="0" i="1" smtClean="0">
                                      <a:solidFill>
                                        <a:schemeClr val="bg1"/>
                                      </a:solidFill>
                                      <a:latin typeface="Cambria Math" panose="02040503050406030204" pitchFamily="18" charset="0"/>
                                    </a:rPr>
                                  </m:ctrlPr>
                                </m:accPr>
                                <m:e>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𝑓</m:t>
                                      </m:r>
                                    </m:e>
                                    <m:sup>
                                      <m:r>
                                        <a:rPr lang="en-US" b="0" i="1" smtClean="0">
                                          <a:solidFill>
                                            <a:schemeClr val="bg1"/>
                                          </a:solidFill>
                                          <a:latin typeface="Cambria Math" panose="02040503050406030204" pitchFamily="18" charset="0"/>
                                        </a:rPr>
                                        <m:t>2</m:t>
                                      </m:r>
                                    </m:sup>
                                  </m:sSup>
                                </m:e>
                              </m:acc>
                              <m:r>
                                <a:rPr lang="en-US" b="0" i="1" smtClean="0">
                                  <a:solidFill>
                                    <a:schemeClr val="bg1"/>
                                  </a:solidFill>
                                  <a:latin typeface="Cambria Math" panose="02040503050406030204" pitchFamily="18" charset="0"/>
                                </a:rPr>
                                <m:t>−</m:t>
                              </m:r>
                              <m:sSup>
                                <m:sSupPr>
                                  <m:ctrlPr>
                                    <a:rPr lang="en-US" b="0" i="1" smtClean="0">
                                      <a:solidFill>
                                        <a:schemeClr val="bg1"/>
                                      </a:solidFill>
                                      <a:latin typeface="Cambria Math" panose="02040503050406030204" pitchFamily="18" charset="0"/>
                                    </a:rPr>
                                  </m:ctrlPr>
                                </m:sSupPr>
                                <m:e>
                                  <m:d>
                                    <m:dPr>
                                      <m:ctrlPr>
                                        <a:rPr lang="en-US" b="0" i="1" smtClean="0">
                                          <a:solidFill>
                                            <a:schemeClr val="bg1"/>
                                          </a:solidFill>
                                          <a:latin typeface="Cambria Math" panose="02040503050406030204" pitchFamily="18" charset="0"/>
                                        </a:rPr>
                                      </m:ctrlPr>
                                    </m:dPr>
                                    <m:e>
                                      <m:acc>
                                        <m:accPr>
                                          <m:chr m:val="̅"/>
                                          <m:ctrlPr>
                                            <a:rPr lang="en-US" b="0" i="1" smtClean="0">
                                              <a:solidFill>
                                                <a:schemeClr val="bg1"/>
                                              </a:solidFill>
                                              <a:latin typeface="Cambria Math" panose="02040503050406030204" pitchFamily="18" charset="0"/>
                                            </a:rPr>
                                          </m:ctrlPr>
                                        </m:accPr>
                                        <m:e>
                                          <m:r>
                                            <a:rPr lang="en-US" b="0" i="1" smtClean="0">
                                              <a:solidFill>
                                                <a:schemeClr val="bg1"/>
                                              </a:solidFill>
                                              <a:latin typeface="Cambria Math" panose="02040503050406030204" pitchFamily="18" charset="0"/>
                                            </a:rPr>
                                            <m:t>𝑓</m:t>
                                          </m:r>
                                        </m:e>
                                      </m:acc>
                                    </m:e>
                                  </m:d>
                                </m:e>
                                <m:sup>
                                  <m:r>
                                    <a:rPr lang="en-US" b="0" i="1" smtClean="0">
                                      <a:solidFill>
                                        <a:schemeClr val="bg1"/>
                                      </a:solidFill>
                                      <a:latin typeface="Cambria Math" panose="02040503050406030204" pitchFamily="18" charset="0"/>
                                    </a:rPr>
                                    <m:t>2</m:t>
                                  </m:r>
                                </m:sup>
                              </m:sSup>
                            </m:e>
                          </m:d>
                        </m:e>
                        <m:sup>
                          <m:r>
                            <a:rPr lang="en-US" b="0" i="1" smtClean="0">
                              <a:solidFill>
                                <a:schemeClr val="bg1"/>
                              </a:solidFill>
                              <a:latin typeface="Cambria Math" panose="02040503050406030204" pitchFamily="18" charset="0"/>
                            </a:rPr>
                            <m:t>1/2</m:t>
                          </m:r>
                        </m:sup>
                      </m:sSup>
                    </m:oMath>
                  </m:oMathPara>
                </a14:m>
                <a:endParaRPr lang="en-CN" dirty="0">
                  <a:solidFill>
                    <a:schemeClr val="bg1"/>
                  </a:solidFill>
                </a:endParaRPr>
              </a:p>
            </p:txBody>
          </p:sp>
        </mc:Choice>
        <mc:Fallback xmlns="">
          <p:sp>
            <p:nvSpPr>
              <p:cNvPr id="2" name="TextBox 1">
                <a:extLst>
                  <a:ext uri="{FF2B5EF4-FFF2-40B4-BE49-F238E27FC236}">
                    <a16:creationId xmlns:a16="http://schemas.microsoft.com/office/drawing/2014/main" id="{080A627B-F27D-054D-B949-1042CF23869D}"/>
                  </a:ext>
                </a:extLst>
              </p:cNvPr>
              <p:cNvSpPr txBox="1">
                <a:spLocks noRot="1" noChangeAspect="1" noMove="1" noResize="1" noEditPoints="1" noAdjustHandles="1" noChangeArrowheads="1" noChangeShapeType="1" noTextEdit="1"/>
              </p:cNvSpPr>
              <p:nvPr/>
            </p:nvSpPr>
            <p:spPr>
              <a:xfrm>
                <a:off x="810321" y="1025912"/>
                <a:ext cx="9367025" cy="2367636"/>
              </a:xfrm>
              <a:prstGeom prst="rect">
                <a:avLst/>
              </a:prstGeom>
              <a:blipFill>
                <a:blip r:embed="rId2"/>
                <a:stretch>
                  <a:fillRect l="-406" t="-16489" b="-11170"/>
                </a:stretch>
              </a:blipFill>
            </p:spPr>
            <p:txBody>
              <a:bodyPr/>
              <a:lstStyle/>
              <a:p>
                <a:r>
                  <a:rPr lang="en-CN">
                    <a:noFill/>
                  </a:rPr>
                  <a:t> </a:t>
                </a:r>
              </a:p>
            </p:txBody>
          </p:sp>
        </mc:Fallback>
      </mc:AlternateContent>
      <p:sp>
        <p:nvSpPr>
          <p:cNvPr id="8" name="TextBox 7">
            <a:extLst>
              <a:ext uri="{FF2B5EF4-FFF2-40B4-BE49-F238E27FC236}">
                <a16:creationId xmlns:a16="http://schemas.microsoft.com/office/drawing/2014/main" id="{EE3AF854-D1FE-5B4D-8A6F-E5157DAD4C2C}"/>
              </a:ext>
            </a:extLst>
          </p:cNvPr>
          <p:cNvSpPr txBox="1"/>
          <p:nvPr/>
        </p:nvSpPr>
        <p:spPr>
          <a:xfrm>
            <a:off x="5208131" y="5735457"/>
            <a:ext cx="2274849" cy="923330"/>
          </a:xfrm>
          <a:prstGeom prst="rect">
            <a:avLst/>
          </a:prstGeom>
          <a:noFill/>
        </p:spPr>
        <p:txBody>
          <a:bodyPr wrap="square" rtlCol="0">
            <a:spAutoFit/>
          </a:bodyPr>
          <a:lstStyle/>
          <a:p>
            <a:r>
              <a:rPr lang="zh-CN" altLang="en-US" dirty="0">
                <a:solidFill>
                  <a:schemeClr val="bg1"/>
                </a:solidFill>
              </a:rPr>
              <a:t>？？</a:t>
            </a:r>
            <a:endParaRPr lang="en-US" altLang="zh-CN" dirty="0">
              <a:solidFill>
                <a:schemeClr val="bg1"/>
              </a:solidFill>
            </a:endParaRPr>
          </a:p>
          <a:p>
            <a:r>
              <a:rPr lang="en-CN" dirty="0">
                <a:solidFill>
                  <a:schemeClr val="bg1"/>
                </a:solidFill>
              </a:rPr>
              <a:t>参考Landau统计力学书的一般性说明</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687319C-2A59-0341-BCAA-879CCAB3BF3E}"/>
                  </a:ext>
                </a:extLst>
              </p:cNvPr>
              <p:cNvSpPr txBox="1"/>
              <p:nvPr/>
            </p:nvSpPr>
            <p:spPr>
              <a:xfrm>
                <a:off x="1312176" y="3768310"/>
                <a:ext cx="3958683" cy="14940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sz="4000" i="1" smtClean="0">
                              <a:solidFill>
                                <a:srgbClr val="FF0000"/>
                              </a:solidFill>
                              <a:latin typeface="Cambria Math" panose="02040503050406030204" pitchFamily="18" charset="0"/>
                            </a:rPr>
                          </m:ctrlPr>
                        </m:fPr>
                        <m:num>
                          <m:sSup>
                            <m:sSupPr>
                              <m:ctrlPr>
                                <a:rPr lang="en-CN" sz="4000" i="1" smtClean="0">
                                  <a:solidFill>
                                    <a:srgbClr val="FF0000"/>
                                  </a:solidFill>
                                  <a:latin typeface="Cambria Math" panose="02040503050406030204" pitchFamily="18" charset="0"/>
                                </a:rPr>
                              </m:ctrlPr>
                            </m:sSupPr>
                            <m:e>
                              <m:d>
                                <m:dPr>
                                  <m:begChr m:val="⟨"/>
                                  <m:endChr m:val="⟩"/>
                                  <m:ctrlPr>
                                    <a:rPr lang="en-CN" sz="4000" i="1" smtClean="0">
                                      <a:solidFill>
                                        <a:srgbClr val="FF0000"/>
                                      </a:solidFill>
                                      <a:latin typeface="Cambria Math" panose="02040503050406030204" pitchFamily="18" charset="0"/>
                                    </a:rPr>
                                  </m:ctrlPr>
                                </m:dPr>
                                <m:e>
                                  <m:sSup>
                                    <m:sSupPr>
                                      <m:ctrlPr>
                                        <a:rPr lang="en-CN" sz="4000" i="1" smtClean="0">
                                          <a:solidFill>
                                            <a:srgbClr val="FF0000"/>
                                          </a:solidFill>
                                          <a:latin typeface="Cambria Math" panose="02040503050406030204" pitchFamily="18" charset="0"/>
                                        </a:rPr>
                                      </m:ctrlPr>
                                    </m:sSupPr>
                                    <m:e>
                                      <m:r>
                                        <a:rPr lang="en-US" sz="4000" b="0" i="1" smtClean="0">
                                          <a:solidFill>
                                            <a:srgbClr val="FF0000"/>
                                          </a:solidFill>
                                          <a:latin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𝑓</m:t>
                                      </m:r>
                                      <m:r>
                                        <a:rPr lang="en-US" sz="4000" b="0" i="1" smtClean="0">
                                          <a:solidFill>
                                            <a:srgbClr val="FF0000"/>
                                          </a:solidFill>
                                          <a:latin typeface="Cambria Math" panose="02040503050406030204" pitchFamily="18" charset="0"/>
                                        </a:rPr>
                                        <m:t>)</m:t>
                                      </m:r>
                                    </m:e>
                                    <m:sup>
                                      <m:r>
                                        <a:rPr lang="en-US" sz="4000" b="0" i="1" smtClean="0">
                                          <a:solidFill>
                                            <a:srgbClr val="FF0000"/>
                                          </a:solidFill>
                                          <a:latin typeface="Cambria Math" panose="02040503050406030204" pitchFamily="18" charset="0"/>
                                        </a:rPr>
                                        <m:t>2</m:t>
                                      </m:r>
                                    </m:sup>
                                  </m:sSup>
                                </m:e>
                              </m:d>
                            </m:e>
                            <m:sup>
                              <m:r>
                                <a:rPr lang="en-US" sz="4000" b="0" i="1" smtClean="0">
                                  <a:solidFill>
                                    <a:srgbClr val="FF0000"/>
                                  </a:solidFill>
                                  <a:latin typeface="Cambria Math" panose="02040503050406030204" pitchFamily="18" charset="0"/>
                                </a:rPr>
                                <m:t>1/2</m:t>
                              </m:r>
                            </m:sup>
                          </m:sSup>
                        </m:num>
                        <m:den>
                          <m:acc>
                            <m:accPr>
                              <m:chr m:val="̅"/>
                              <m:ctrlPr>
                                <a:rPr lang="en-CN" sz="4000" i="1" smtClean="0">
                                  <a:solidFill>
                                    <a:srgbClr val="FF0000"/>
                                  </a:solidFill>
                                  <a:latin typeface="Cambria Math" panose="02040503050406030204" pitchFamily="18" charset="0"/>
                                </a:rPr>
                              </m:ctrlPr>
                            </m:accPr>
                            <m:e>
                              <m:r>
                                <a:rPr lang="en-US" sz="4000" b="0" i="1" smtClean="0">
                                  <a:solidFill>
                                    <a:srgbClr val="FF0000"/>
                                  </a:solidFill>
                                  <a:latin typeface="Cambria Math" panose="02040503050406030204" pitchFamily="18" charset="0"/>
                                </a:rPr>
                                <m:t>𝑓</m:t>
                              </m:r>
                            </m:e>
                          </m:acc>
                        </m:den>
                      </m:f>
                      <m:r>
                        <a:rPr lang="en-CN" sz="4000" i="1" smtClean="0">
                          <a:solidFill>
                            <a:srgbClr val="FF0000"/>
                          </a:solidFill>
                          <a:latin typeface="Cambria Math" panose="02040503050406030204" pitchFamily="18" charset="0"/>
                          <a:ea typeface="Cambria Math" panose="02040503050406030204" pitchFamily="18" charset="0"/>
                        </a:rPr>
                        <m:t>∝</m:t>
                      </m:r>
                      <m:f>
                        <m:fPr>
                          <m:ctrlPr>
                            <a:rPr lang="en-CN" sz="4000" i="1" smtClean="0">
                              <a:solidFill>
                                <a:srgbClr val="FF0000"/>
                              </a:solidFill>
                              <a:latin typeface="Cambria Math" panose="02040503050406030204" pitchFamily="18" charset="0"/>
                              <a:ea typeface="Cambria Math" panose="02040503050406030204" pitchFamily="18" charset="0"/>
                            </a:rPr>
                          </m:ctrlPr>
                        </m:fPr>
                        <m:num>
                          <m:r>
                            <a:rPr lang="en-US" sz="4000" b="0" i="1" smtClean="0">
                              <a:solidFill>
                                <a:srgbClr val="FF0000"/>
                              </a:solidFill>
                              <a:latin typeface="Cambria Math" panose="02040503050406030204" pitchFamily="18" charset="0"/>
                              <a:ea typeface="Cambria Math" panose="02040503050406030204" pitchFamily="18" charset="0"/>
                            </a:rPr>
                            <m:t>1</m:t>
                          </m:r>
                        </m:num>
                        <m:den>
                          <m:rad>
                            <m:radPr>
                              <m:degHide m:val="on"/>
                              <m:ctrlPr>
                                <a:rPr lang="en-CN" sz="4000" i="1" smtClean="0">
                                  <a:solidFill>
                                    <a:srgbClr val="FF0000"/>
                                  </a:solidFill>
                                  <a:latin typeface="Cambria Math" panose="02040503050406030204" pitchFamily="18" charset="0"/>
                                  <a:ea typeface="Cambria Math" panose="02040503050406030204" pitchFamily="18" charset="0"/>
                                </a:rPr>
                              </m:ctrlPr>
                            </m:radPr>
                            <m:deg/>
                            <m:e>
                              <m:r>
                                <a:rPr lang="en-US" sz="4000" b="0" i="1" smtClean="0">
                                  <a:solidFill>
                                    <a:srgbClr val="FF0000"/>
                                  </a:solidFill>
                                  <a:latin typeface="Cambria Math" panose="02040503050406030204" pitchFamily="18" charset="0"/>
                                  <a:ea typeface="Cambria Math" panose="02040503050406030204" pitchFamily="18" charset="0"/>
                                </a:rPr>
                                <m:t>𝑁</m:t>
                              </m:r>
                            </m:e>
                          </m:rad>
                        </m:den>
                      </m:f>
                    </m:oMath>
                  </m:oMathPara>
                </a14:m>
                <a:endParaRPr lang="en-CN" sz="4000" dirty="0"/>
              </a:p>
            </p:txBody>
          </p:sp>
        </mc:Choice>
        <mc:Fallback xmlns="">
          <p:sp>
            <p:nvSpPr>
              <p:cNvPr id="3" name="TextBox 2">
                <a:extLst>
                  <a:ext uri="{FF2B5EF4-FFF2-40B4-BE49-F238E27FC236}">
                    <a16:creationId xmlns:a16="http://schemas.microsoft.com/office/drawing/2014/main" id="{0687319C-2A59-0341-BCAA-879CCAB3BF3E}"/>
                  </a:ext>
                </a:extLst>
              </p:cNvPr>
              <p:cNvSpPr txBox="1">
                <a:spLocks noRot="1" noChangeAspect="1" noMove="1" noResize="1" noEditPoints="1" noAdjustHandles="1" noChangeArrowheads="1" noChangeShapeType="1" noTextEdit="1"/>
              </p:cNvSpPr>
              <p:nvPr/>
            </p:nvSpPr>
            <p:spPr>
              <a:xfrm>
                <a:off x="1312176" y="3768310"/>
                <a:ext cx="3958683" cy="1494063"/>
              </a:xfrm>
              <a:prstGeom prst="rect">
                <a:avLst/>
              </a:prstGeom>
              <a:blipFill>
                <a:blip r:embed="rId3"/>
                <a:stretch>
                  <a:fillRect b="-10084"/>
                </a:stretch>
              </a:blipFill>
            </p:spPr>
            <p:txBody>
              <a:bodyPr/>
              <a:lstStyle/>
              <a:p>
                <a:r>
                  <a:rPr lang="en-CN">
                    <a:noFill/>
                  </a:rPr>
                  <a:t> </a:t>
                </a:r>
              </a:p>
            </p:txBody>
          </p:sp>
        </mc:Fallback>
      </mc:AlternateContent>
      <p:pic>
        <p:nvPicPr>
          <p:cNvPr id="4" name="Picture 3">
            <a:extLst>
              <a:ext uri="{FF2B5EF4-FFF2-40B4-BE49-F238E27FC236}">
                <a16:creationId xmlns:a16="http://schemas.microsoft.com/office/drawing/2014/main" id="{178105B5-AA7B-75A9-6DAD-B5CD881F15B6}"/>
              </a:ext>
            </a:extLst>
          </p:cNvPr>
          <p:cNvPicPr>
            <a:picLocks noChangeAspect="1"/>
          </p:cNvPicPr>
          <p:nvPr/>
        </p:nvPicPr>
        <p:blipFill>
          <a:blip r:embed="rId4"/>
          <a:stretch>
            <a:fillRect/>
          </a:stretch>
        </p:blipFill>
        <p:spPr>
          <a:xfrm>
            <a:off x="7482980" y="2915363"/>
            <a:ext cx="4573825" cy="3842276"/>
          </a:xfrm>
          <a:prstGeom prst="rect">
            <a:avLst/>
          </a:prstGeom>
        </p:spPr>
      </p:pic>
    </p:spTree>
    <p:extLst>
      <p:ext uri="{BB962C8B-B14F-4D97-AF65-F5344CB8AC3E}">
        <p14:creationId xmlns:p14="http://schemas.microsoft.com/office/powerpoint/2010/main" val="2241657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8B4BB71-476E-2F40-977D-3C5B648AF23A}"/>
                  </a:ext>
                </a:extLst>
              </p:cNvPr>
              <p:cNvSpPr txBox="1"/>
              <p:nvPr/>
            </p:nvSpPr>
            <p:spPr>
              <a:xfrm>
                <a:off x="570941" y="334306"/>
                <a:ext cx="7506259" cy="12645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b="0" i="1" smtClean="0">
                          <a:solidFill>
                            <a:srgbClr val="FF0000"/>
                          </a:solidFill>
                          <a:latin typeface="Cambria Math" panose="02040503050406030204" pitchFamily="18" charset="0"/>
                          <a:ea typeface="Cambria Math" panose="02040503050406030204" pitchFamily="18" charset="0"/>
                        </a:rPr>
                        <m:t>𝑔</m:t>
                      </m:r>
                      <m:d>
                        <m:dPr>
                          <m:begChr m:val="["/>
                          <m:endChr m:val="]"/>
                          <m:ctrlPr>
                            <a:rPr lang="en-US" sz="4000" b="0" i="1" smtClean="0">
                              <a:solidFill>
                                <a:srgbClr val="FF0000"/>
                              </a:solidFill>
                              <a:latin typeface="Cambria Math" panose="02040503050406030204" pitchFamily="18" charset="0"/>
                              <a:ea typeface="Cambria Math" panose="02040503050406030204" pitchFamily="18" charset="0"/>
                            </a:rPr>
                          </m:ctrlPr>
                        </m:dPr>
                        <m:e>
                          <m:r>
                            <a:rPr lang="en-US" sz="4000" b="0" i="1" smtClean="0">
                              <a:solidFill>
                                <a:srgbClr val="FF0000"/>
                              </a:solidFill>
                              <a:latin typeface="Cambria Math" panose="02040503050406030204" pitchFamily="18" charset="0"/>
                              <a:ea typeface="Cambria Math" panose="02040503050406030204" pitchFamily="18" charset="0"/>
                            </a:rPr>
                            <m:t>𝑁</m:t>
                          </m:r>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𝑞</m:t>
                          </m:r>
                        </m:e>
                      </m:d>
                      <m:r>
                        <a:rPr lang="en-US" sz="4000" b="0" i="1" smtClean="0">
                          <a:solidFill>
                            <a:srgbClr val="FF0000"/>
                          </a:solidFill>
                          <a:latin typeface="Cambria Math" panose="02040503050406030204" pitchFamily="18" charset="0"/>
                          <a:ea typeface="Cambria Math" panose="02040503050406030204" pitchFamily="18" charset="0"/>
                        </a:rPr>
                        <m:t>=</m:t>
                      </m:r>
                      <m:sSup>
                        <m:sSupPr>
                          <m:ctrlPr>
                            <a:rPr lang="en-US" sz="4000" b="0" i="1" smtClean="0">
                              <a:solidFill>
                                <a:srgbClr val="FF0000"/>
                              </a:solidFill>
                              <a:latin typeface="Cambria Math" panose="02040503050406030204" pitchFamily="18" charset="0"/>
                              <a:ea typeface="Cambria Math" panose="02040503050406030204" pitchFamily="18" charset="0"/>
                            </a:rPr>
                          </m:ctrlPr>
                        </m:sSupPr>
                        <m:e>
                          <m:d>
                            <m:dPr>
                              <m:ctrlPr>
                                <a:rPr lang="en-US" sz="4000" b="0" i="1" smtClean="0">
                                  <a:solidFill>
                                    <a:srgbClr val="FF0000"/>
                                  </a:solidFill>
                                  <a:latin typeface="Cambria Math" panose="02040503050406030204" pitchFamily="18" charset="0"/>
                                  <a:ea typeface="Cambria Math" panose="02040503050406030204" pitchFamily="18" charset="0"/>
                                </a:rPr>
                              </m:ctrlPr>
                            </m:dPr>
                            <m:e>
                              <m:f>
                                <m:fPr>
                                  <m:ctrlPr>
                                    <a:rPr lang="en-US" sz="4000" b="0" i="1" smtClean="0">
                                      <a:solidFill>
                                        <a:srgbClr val="FF0000"/>
                                      </a:solidFill>
                                      <a:latin typeface="Cambria Math" panose="02040503050406030204" pitchFamily="18" charset="0"/>
                                      <a:ea typeface="Cambria Math" panose="02040503050406030204" pitchFamily="18" charset="0"/>
                                    </a:rPr>
                                  </m:ctrlPr>
                                </m:fPr>
                                <m:num>
                                  <m:r>
                                    <a:rPr lang="en-US" sz="4000" b="0" i="1" smtClean="0">
                                      <a:solidFill>
                                        <a:srgbClr val="FF0000"/>
                                      </a:solidFill>
                                      <a:latin typeface="Cambria Math" panose="02040503050406030204" pitchFamily="18" charset="0"/>
                                      <a:ea typeface="Cambria Math" panose="02040503050406030204" pitchFamily="18" charset="0"/>
                                    </a:rPr>
                                    <m:t>𝑒</m:t>
                                  </m:r>
                                </m:num>
                                <m:den>
                                  <m:r>
                                    <a:rPr lang="en-US" sz="4000" b="0" i="1" smtClean="0">
                                      <a:solidFill>
                                        <a:srgbClr val="FF0000"/>
                                      </a:solidFill>
                                      <a:latin typeface="Cambria Math" panose="02040503050406030204" pitchFamily="18" charset="0"/>
                                      <a:ea typeface="Cambria Math" panose="02040503050406030204" pitchFamily="18" charset="0"/>
                                    </a:rPr>
                                    <m:t>𝑁</m:t>
                                  </m:r>
                                </m:den>
                              </m:f>
                            </m:e>
                          </m:d>
                        </m:e>
                        <m:sup>
                          <m:r>
                            <a:rPr lang="en-US" sz="4000" b="0" i="1" smtClean="0">
                              <a:solidFill>
                                <a:srgbClr val="FF0000"/>
                              </a:solidFill>
                              <a:latin typeface="Cambria Math" panose="02040503050406030204" pitchFamily="18" charset="0"/>
                              <a:ea typeface="Cambria Math" panose="02040503050406030204" pitchFamily="18" charset="0"/>
                            </a:rPr>
                            <m:t>2</m:t>
                          </m:r>
                          <m:r>
                            <a:rPr lang="en-US" sz="4000" b="0" i="1" smtClean="0">
                              <a:solidFill>
                                <a:srgbClr val="FF0000"/>
                              </a:solidFill>
                              <a:latin typeface="Cambria Math" panose="02040503050406030204" pitchFamily="18" charset="0"/>
                              <a:ea typeface="Cambria Math" panose="02040503050406030204" pitchFamily="18" charset="0"/>
                            </a:rPr>
                            <m:t>𝑁</m:t>
                          </m:r>
                        </m:sup>
                      </m:sSup>
                      <m:sSup>
                        <m:sSupPr>
                          <m:ctrlPr>
                            <a:rPr lang="en-US" sz="4000" b="0" i="1" smtClean="0">
                              <a:solidFill>
                                <a:srgbClr val="FF0000"/>
                              </a:solidFill>
                              <a:latin typeface="Cambria Math" panose="02040503050406030204" pitchFamily="18" charset="0"/>
                              <a:ea typeface="Cambria Math" panose="02040503050406030204" pitchFamily="18" charset="0"/>
                            </a:rPr>
                          </m:ctrlPr>
                        </m:sSupPr>
                        <m:e>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𝑞</m:t>
                          </m:r>
                          <m:d>
                            <m:dPr>
                              <m:ctrlPr>
                                <a:rPr lang="en-US" sz="4000" b="0" i="1" smtClean="0">
                                  <a:solidFill>
                                    <a:srgbClr val="FF0000"/>
                                  </a:solidFill>
                                  <a:latin typeface="Cambria Math" panose="02040503050406030204" pitchFamily="18" charset="0"/>
                                  <a:ea typeface="Cambria Math" panose="02040503050406030204" pitchFamily="18" charset="0"/>
                                </a:rPr>
                              </m:ctrlPr>
                            </m:dPr>
                            <m:e>
                              <m:sSub>
                                <m:sSubPr>
                                  <m:ctrlPr>
                                    <a:rPr lang="en-US" sz="4000" b="0" i="1" smtClean="0">
                                      <a:solidFill>
                                        <a:srgbClr val="FF0000"/>
                                      </a:solidFill>
                                      <a:latin typeface="Cambria Math" panose="02040503050406030204" pitchFamily="18" charset="0"/>
                                      <a:ea typeface="Cambria Math" panose="02040503050406030204" pitchFamily="18" charset="0"/>
                                    </a:rPr>
                                  </m:ctrlPr>
                                </m:sSubPr>
                                <m:e>
                                  <m:r>
                                    <a:rPr lang="en-US" sz="4000" b="0" i="1" smtClean="0">
                                      <a:solidFill>
                                        <a:srgbClr val="FF0000"/>
                                      </a:solidFill>
                                      <a:latin typeface="Cambria Math" panose="02040503050406030204" pitchFamily="18" charset="0"/>
                                      <a:ea typeface="Cambria Math" panose="02040503050406030204" pitchFamily="18" charset="0"/>
                                    </a:rPr>
                                    <m:t>𝑞</m:t>
                                  </m:r>
                                </m:e>
                                <m:sub>
                                  <m:r>
                                    <a:rPr lang="en-US" sz="4000" b="0" i="1" smtClean="0">
                                      <a:solidFill>
                                        <a:srgbClr val="FF0000"/>
                                      </a:solidFill>
                                      <a:latin typeface="Cambria Math" panose="02040503050406030204" pitchFamily="18" charset="0"/>
                                      <a:ea typeface="Cambria Math" panose="02040503050406030204" pitchFamily="18" charset="0"/>
                                    </a:rPr>
                                    <m:t>𝑚𝑎𝑥</m:t>
                                  </m:r>
                                </m:sub>
                              </m:sSub>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𝑞</m:t>
                              </m:r>
                            </m:e>
                          </m:d>
                          <m:r>
                            <a:rPr lang="en-US" sz="4000" b="0" i="1" smtClean="0">
                              <a:solidFill>
                                <a:srgbClr val="FF0000"/>
                              </a:solidFill>
                              <a:latin typeface="Cambria Math" panose="02040503050406030204" pitchFamily="18" charset="0"/>
                              <a:ea typeface="Cambria Math" panose="02040503050406030204" pitchFamily="18" charset="0"/>
                            </a:rPr>
                            <m:t> )</m:t>
                          </m:r>
                        </m:e>
                        <m:sup>
                          <m:r>
                            <a:rPr lang="en-US" sz="4000" b="0" i="1" smtClean="0">
                              <a:solidFill>
                                <a:srgbClr val="FF0000"/>
                              </a:solidFill>
                              <a:latin typeface="Cambria Math" panose="02040503050406030204" pitchFamily="18" charset="0"/>
                              <a:ea typeface="Cambria Math" panose="02040503050406030204" pitchFamily="18" charset="0"/>
                            </a:rPr>
                            <m:t>𝑁</m:t>
                          </m:r>
                        </m:sup>
                      </m:sSup>
                    </m:oMath>
                  </m:oMathPara>
                </a14:m>
                <a:endParaRPr lang="en-CN" sz="4000" dirty="0">
                  <a:solidFill>
                    <a:srgbClr val="FF0000"/>
                  </a:solidFill>
                </a:endParaRPr>
              </a:p>
            </p:txBody>
          </p:sp>
        </mc:Choice>
        <mc:Fallback xmlns="">
          <p:sp>
            <p:nvSpPr>
              <p:cNvPr id="4" name="TextBox 3">
                <a:extLst>
                  <a:ext uri="{FF2B5EF4-FFF2-40B4-BE49-F238E27FC236}">
                    <a16:creationId xmlns:a16="http://schemas.microsoft.com/office/drawing/2014/main" id="{78B4BB71-476E-2F40-977D-3C5B648AF23A}"/>
                  </a:ext>
                </a:extLst>
              </p:cNvPr>
              <p:cNvSpPr txBox="1">
                <a:spLocks noRot="1" noChangeAspect="1" noMove="1" noResize="1" noEditPoints="1" noAdjustHandles="1" noChangeArrowheads="1" noChangeShapeType="1" noTextEdit="1"/>
              </p:cNvSpPr>
              <p:nvPr/>
            </p:nvSpPr>
            <p:spPr>
              <a:xfrm>
                <a:off x="570941" y="334306"/>
                <a:ext cx="7506259" cy="1264513"/>
              </a:xfrm>
              <a:prstGeom prst="rect">
                <a:avLst/>
              </a:prstGeom>
              <a:blipFill>
                <a:blip r:embed="rId2"/>
                <a:stretch>
                  <a:fillRect l="-677" b="-9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F2D75BE-922A-F34A-94CD-B7307F4C3D1E}"/>
                  </a:ext>
                </a:extLst>
              </p:cNvPr>
              <p:cNvSpPr txBox="1"/>
              <p:nvPr/>
            </p:nvSpPr>
            <p:spPr>
              <a:xfrm>
                <a:off x="8077200" y="1064602"/>
                <a:ext cx="4937760" cy="369332"/>
              </a:xfrm>
              <a:prstGeom prst="rect">
                <a:avLst/>
              </a:prstGeom>
              <a:noFill/>
            </p:spPr>
            <p:txBody>
              <a:bodyPr wrap="square" rtlCol="0">
                <a:spAutoFit/>
              </a:bodyPr>
              <a:lstStyle/>
              <a:p>
                <a:r>
                  <a:rPr lang="en-CN" dirty="0">
                    <a:solidFill>
                      <a:schemeClr val="bg1"/>
                    </a:solidFill>
                  </a:rPr>
                  <a:t>系统能量 </a:t>
                </a:r>
                <a14:m>
                  <m:oMath xmlns:m="http://schemas.openxmlformats.org/officeDocument/2006/math">
                    <m:sSub>
                      <m:sSubPr>
                        <m:ctrlPr>
                          <a:rPr lang="en-CN"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𝑞</m:t>
                        </m:r>
                      </m:e>
                      <m:sub>
                        <m:r>
                          <a:rPr lang="en-US" b="0" i="1" smtClean="0">
                            <a:solidFill>
                              <a:schemeClr val="bg1"/>
                            </a:solidFill>
                            <a:latin typeface="Cambria Math" panose="02040503050406030204" pitchFamily="18" charset="0"/>
                          </a:rPr>
                          <m:t>𝑚𝑎𝑥</m:t>
                        </m:r>
                      </m:sub>
                    </m:sSub>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h𝑓</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𝑎𝑛𝑑</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𝑞</m:t>
                    </m:r>
                    <m:r>
                      <a:rPr lang="en-US" b="0" i="1" smtClean="0">
                        <a:solidFill>
                          <a:schemeClr val="bg1"/>
                        </a:solidFill>
                        <a:latin typeface="Cambria Math" panose="02040503050406030204" pitchFamily="18" charset="0"/>
                        <a:ea typeface="Cambria Math" panose="02040503050406030204" pitchFamily="18" charset="0"/>
                      </a:rPr>
                      <m:t>∈[0,</m:t>
                    </m:r>
                    <m:sSub>
                      <m:sSubPr>
                        <m:ctrlPr>
                          <a:rPr lang="en-US" b="0" i="1" smtClean="0">
                            <a:solidFill>
                              <a:schemeClr val="bg1"/>
                            </a:solidFill>
                            <a:latin typeface="Cambria Math" panose="02040503050406030204" pitchFamily="18" charset="0"/>
                            <a:ea typeface="Cambria Math" panose="02040503050406030204" pitchFamily="18" charset="0"/>
                          </a:rPr>
                        </m:ctrlPr>
                      </m:sSubPr>
                      <m:e>
                        <m:r>
                          <a:rPr lang="en-US" b="0" i="1" smtClean="0">
                            <a:solidFill>
                              <a:schemeClr val="bg1"/>
                            </a:solidFill>
                            <a:latin typeface="Cambria Math" panose="02040503050406030204" pitchFamily="18" charset="0"/>
                            <a:ea typeface="Cambria Math" panose="02040503050406030204" pitchFamily="18" charset="0"/>
                          </a:rPr>
                          <m:t>𝑞</m:t>
                        </m:r>
                      </m:e>
                      <m:sub>
                        <m:r>
                          <a:rPr lang="en-US" b="0" i="1" smtClean="0">
                            <a:solidFill>
                              <a:schemeClr val="bg1"/>
                            </a:solidFill>
                            <a:latin typeface="Cambria Math" panose="02040503050406030204" pitchFamily="18" charset="0"/>
                            <a:ea typeface="Cambria Math" panose="02040503050406030204" pitchFamily="18" charset="0"/>
                          </a:rPr>
                          <m:t>𝑚𝑎𝑥</m:t>
                        </m:r>
                      </m:sub>
                    </m:sSub>
                    <m:r>
                      <a:rPr lang="en-US" b="0" i="1" smtClean="0">
                        <a:solidFill>
                          <a:schemeClr val="bg1"/>
                        </a:solidFill>
                        <a:latin typeface="Cambria Math" panose="02040503050406030204" pitchFamily="18" charset="0"/>
                        <a:ea typeface="Cambria Math" panose="02040503050406030204" pitchFamily="18" charset="0"/>
                      </a:rPr>
                      <m:t>,1]</m:t>
                    </m:r>
                  </m:oMath>
                </a14:m>
                <a:endParaRPr lang="en-CN" dirty="0">
                  <a:solidFill>
                    <a:schemeClr val="bg1"/>
                  </a:solidFill>
                </a:endParaRPr>
              </a:p>
            </p:txBody>
          </p:sp>
        </mc:Choice>
        <mc:Fallback xmlns="">
          <p:sp>
            <p:nvSpPr>
              <p:cNvPr id="2" name="TextBox 1">
                <a:extLst>
                  <a:ext uri="{FF2B5EF4-FFF2-40B4-BE49-F238E27FC236}">
                    <a16:creationId xmlns:a16="http://schemas.microsoft.com/office/drawing/2014/main" id="{BF2D75BE-922A-F34A-94CD-B7307F4C3D1E}"/>
                  </a:ext>
                </a:extLst>
              </p:cNvPr>
              <p:cNvSpPr txBox="1">
                <a:spLocks noRot="1" noChangeAspect="1" noMove="1" noResize="1" noEditPoints="1" noAdjustHandles="1" noChangeArrowheads="1" noChangeShapeType="1" noTextEdit="1"/>
              </p:cNvSpPr>
              <p:nvPr/>
            </p:nvSpPr>
            <p:spPr>
              <a:xfrm>
                <a:off x="8077200" y="1064602"/>
                <a:ext cx="4937760" cy="369332"/>
              </a:xfrm>
              <a:prstGeom prst="rect">
                <a:avLst/>
              </a:prstGeom>
              <a:blipFill>
                <a:blip r:embed="rId3"/>
                <a:stretch>
                  <a:fillRect l="-1028" t="-10345" b="-2413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D34E886-C8A1-F74B-B14E-B503936CC5AB}"/>
                  </a:ext>
                </a:extLst>
              </p:cNvPr>
              <p:cNvSpPr txBox="1"/>
              <p:nvPr/>
            </p:nvSpPr>
            <p:spPr>
              <a:xfrm>
                <a:off x="3192780" y="2139839"/>
                <a:ext cx="5318760" cy="11308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2800" i="1" smtClean="0">
                              <a:solidFill>
                                <a:schemeClr val="bg1"/>
                              </a:solidFill>
                              <a:latin typeface="Cambria Math" panose="02040503050406030204" pitchFamily="18" charset="0"/>
                            </a:rPr>
                          </m:ctrlPr>
                        </m:sSubPr>
                        <m:e>
                          <m:r>
                            <a:rPr lang="en-US" sz="2800" b="0" i="1" smtClean="0">
                              <a:solidFill>
                                <a:schemeClr val="bg1"/>
                              </a:solidFill>
                              <a:latin typeface="Cambria Math" panose="02040503050406030204" pitchFamily="18" charset="0"/>
                            </a:rPr>
                            <m:t>𝑃</m:t>
                          </m:r>
                        </m:e>
                        <m:sub>
                          <m:r>
                            <a:rPr lang="en-US" sz="2800" b="0" i="1" smtClean="0">
                              <a:solidFill>
                                <a:schemeClr val="bg1"/>
                              </a:solidFill>
                              <a:latin typeface="Cambria Math" panose="02040503050406030204" pitchFamily="18" charset="0"/>
                            </a:rPr>
                            <m:t>𝑠</m:t>
                          </m:r>
                        </m:sub>
                      </m:sSub>
                      <m:r>
                        <a:rPr lang="en-US" sz="2800" b="0" i="1" smtClean="0">
                          <a:solidFill>
                            <a:schemeClr val="bg1"/>
                          </a:solidFill>
                          <a:latin typeface="Cambria Math" panose="02040503050406030204" pitchFamily="18" charset="0"/>
                        </a:rPr>
                        <m:t>=</m:t>
                      </m:r>
                      <m:f>
                        <m:fPr>
                          <m:ctrlPr>
                            <a:rPr lang="en-CN"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𝑔</m:t>
                          </m:r>
                          <m:d>
                            <m:dPr>
                              <m:begChr m:val="["/>
                              <m:endChr m:val="]"/>
                              <m:ctrlPr>
                                <a:rPr lang="en-US" sz="2800" b="0" i="1" smtClean="0">
                                  <a:solidFill>
                                    <a:schemeClr val="bg1"/>
                                  </a:solidFill>
                                  <a:latin typeface="Cambria Math" panose="02040503050406030204" pitchFamily="18" charset="0"/>
                                </a:rPr>
                              </m:ctrlPr>
                            </m:dPr>
                            <m:e>
                              <m:r>
                                <a:rPr lang="en-US" sz="2800" b="0" i="1" smtClean="0">
                                  <a:solidFill>
                                    <a:schemeClr val="bg1"/>
                                  </a:solidFill>
                                  <a:latin typeface="Cambria Math" panose="02040503050406030204" pitchFamily="18" charset="0"/>
                                </a:rPr>
                                <m:t>𝑁</m:t>
                              </m:r>
                              <m:r>
                                <a:rPr lang="en-US" sz="2800" b="0" i="1" smtClean="0">
                                  <a:solidFill>
                                    <a:schemeClr val="bg1"/>
                                  </a:solidFill>
                                  <a:latin typeface="Cambria Math" panose="02040503050406030204" pitchFamily="18" charset="0"/>
                                </a:rPr>
                                <m:t>,</m:t>
                              </m:r>
                              <m:sSub>
                                <m:sSubPr>
                                  <m:ctrlPr>
                                    <a:rPr lang="en-US" sz="2800" b="0" i="1" smtClean="0">
                                      <a:solidFill>
                                        <a:schemeClr val="bg1"/>
                                      </a:solidFill>
                                      <a:latin typeface="Cambria Math" panose="02040503050406030204" pitchFamily="18" charset="0"/>
                                    </a:rPr>
                                  </m:ctrlPr>
                                </m:sSubPr>
                                <m:e>
                                  <m:r>
                                    <a:rPr lang="en-US" sz="2800" b="0" i="1" smtClean="0">
                                      <a:solidFill>
                                        <a:schemeClr val="bg1"/>
                                      </a:solidFill>
                                      <a:latin typeface="Cambria Math" panose="02040503050406030204" pitchFamily="18" charset="0"/>
                                    </a:rPr>
                                    <m:t>𝑞</m:t>
                                  </m:r>
                                </m:e>
                                <m:sub>
                                  <m:r>
                                    <a:rPr lang="en-US" sz="2800" b="0" i="1" smtClean="0">
                                      <a:solidFill>
                                        <a:schemeClr val="bg1"/>
                                      </a:solidFill>
                                      <a:latin typeface="Cambria Math" panose="02040503050406030204" pitchFamily="18" charset="0"/>
                                    </a:rPr>
                                    <m:t>𝑠</m:t>
                                  </m:r>
                                </m:sub>
                              </m:sSub>
                            </m:e>
                          </m:d>
                        </m:num>
                        <m:den>
                          <m:nary>
                            <m:naryPr>
                              <m:chr m:val="∑"/>
                              <m:ctrlPr>
                                <a:rPr lang="en-CN" sz="2800" i="1" smtClean="0">
                                  <a:solidFill>
                                    <a:schemeClr val="bg1"/>
                                  </a:solidFill>
                                  <a:latin typeface="Cambria Math" panose="02040503050406030204" pitchFamily="18" charset="0"/>
                                </a:rPr>
                              </m:ctrlPr>
                            </m:naryPr>
                            <m:sub>
                              <m:r>
                                <m:rPr>
                                  <m:brk m:alnAt="23"/>
                                </m:rPr>
                                <a:rPr lang="en-US" sz="2800" b="0" i="1" smtClean="0">
                                  <a:solidFill>
                                    <a:schemeClr val="bg1"/>
                                  </a:solidFill>
                                  <a:latin typeface="Cambria Math" panose="02040503050406030204" pitchFamily="18" charset="0"/>
                                </a:rPr>
                                <m:t>𝑞</m:t>
                              </m:r>
                              <m:r>
                                <a:rPr lang="en-US" sz="2800" b="0" i="1" smtClean="0">
                                  <a:solidFill>
                                    <a:schemeClr val="bg1"/>
                                  </a:solidFill>
                                  <a:latin typeface="Cambria Math" panose="02040503050406030204" pitchFamily="18" charset="0"/>
                                </a:rPr>
                                <m:t>=0</m:t>
                              </m:r>
                            </m:sub>
                            <m:sup>
                              <m:sSub>
                                <m:sSubPr>
                                  <m:ctrlPr>
                                    <a:rPr lang="en-CN" sz="2800" i="1" smtClean="0">
                                      <a:solidFill>
                                        <a:schemeClr val="bg1"/>
                                      </a:solidFill>
                                      <a:latin typeface="Cambria Math" panose="02040503050406030204" pitchFamily="18" charset="0"/>
                                    </a:rPr>
                                  </m:ctrlPr>
                                </m:sSubPr>
                                <m:e>
                                  <m:r>
                                    <a:rPr lang="en-US" sz="2800" b="0" i="1" smtClean="0">
                                      <a:solidFill>
                                        <a:schemeClr val="bg1"/>
                                      </a:solidFill>
                                      <a:latin typeface="Cambria Math" panose="02040503050406030204" pitchFamily="18" charset="0"/>
                                    </a:rPr>
                                    <m:t>𝑞</m:t>
                                  </m:r>
                                </m:e>
                                <m:sub>
                                  <m:r>
                                    <a:rPr lang="en-US" sz="2800" b="0" i="1" smtClean="0">
                                      <a:solidFill>
                                        <a:schemeClr val="bg1"/>
                                      </a:solidFill>
                                      <a:latin typeface="Cambria Math" panose="02040503050406030204" pitchFamily="18" charset="0"/>
                                    </a:rPr>
                                    <m:t>𝑚𝑎𝑥</m:t>
                                  </m:r>
                                </m:sub>
                              </m:sSub>
                            </m:sup>
                            <m:e>
                              <m:r>
                                <a:rPr lang="en-US" sz="2800" b="0" i="1" smtClean="0">
                                  <a:solidFill>
                                    <a:schemeClr val="bg1"/>
                                  </a:solidFill>
                                  <a:latin typeface="Cambria Math" panose="02040503050406030204" pitchFamily="18" charset="0"/>
                                </a:rPr>
                                <m:t>𝑔</m:t>
                              </m:r>
                              <m:d>
                                <m:dPr>
                                  <m:begChr m:val="["/>
                                  <m:endChr m:val="]"/>
                                  <m:ctrlPr>
                                    <a:rPr lang="en-US" sz="2800" b="0" i="1" smtClean="0">
                                      <a:solidFill>
                                        <a:schemeClr val="bg1"/>
                                      </a:solidFill>
                                      <a:latin typeface="Cambria Math" panose="02040503050406030204" pitchFamily="18" charset="0"/>
                                    </a:rPr>
                                  </m:ctrlPr>
                                </m:dPr>
                                <m:e>
                                  <m:r>
                                    <a:rPr lang="en-US" sz="2800" b="0" i="1" smtClean="0">
                                      <a:solidFill>
                                        <a:schemeClr val="bg1"/>
                                      </a:solidFill>
                                      <a:latin typeface="Cambria Math" panose="02040503050406030204" pitchFamily="18" charset="0"/>
                                    </a:rPr>
                                    <m:t>𝑁</m:t>
                                  </m:r>
                                  <m:r>
                                    <a:rPr lang="en-US" sz="2800" b="0" i="1" smtClean="0">
                                      <a:solidFill>
                                        <a:schemeClr val="bg1"/>
                                      </a:solidFill>
                                      <a:latin typeface="Cambria Math" panose="02040503050406030204" pitchFamily="18" charset="0"/>
                                    </a:rPr>
                                    <m:t>,</m:t>
                                  </m:r>
                                  <m:r>
                                    <a:rPr lang="en-US" sz="2800" b="0" i="1" smtClean="0">
                                      <a:solidFill>
                                        <a:schemeClr val="bg1"/>
                                      </a:solidFill>
                                      <a:latin typeface="Cambria Math" panose="02040503050406030204" pitchFamily="18" charset="0"/>
                                    </a:rPr>
                                    <m:t>𝑞</m:t>
                                  </m:r>
                                </m:e>
                              </m:d>
                            </m:e>
                          </m:nary>
                        </m:den>
                      </m:f>
                    </m:oMath>
                  </m:oMathPara>
                </a14:m>
                <a:endParaRPr lang="en-CN" sz="2800" dirty="0"/>
              </a:p>
            </p:txBody>
          </p:sp>
        </mc:Choice>
        <mc:Fallback xmlns="">
          <p:sp>
            <p:nvSpPr>
              <p:cNvPr id="3" name="TextBox 2">
                <a:extLst>
                  <a:ext uri="{FF2B5EF4-FFF2-40B4-BE49-F238E27FC236}">
                    <a16:creationId xmlns:a16="http://schemas.microsoft.com/office/drawing/2014/main" id="{BD34E886-C8A1-F74B-B14E-B503936CC5AB}"/>
                  </a:ext>
                </a:extLst>
              </p:cNvPr>
              <p:cNvSpPr txBox="1">
                <a:spLocks noRot="1" noChangeAspect="1" noMove="1" noResize="1" noEditPoints="1" noAdjustHandles="1" noChangeArrowheads="1" noChangeShapeType="1" noTextEdit="1"/>
              </p:cNvSpPr>
              <p:nvPr/>
            </p:nvSpPr>
            <p:spPr>
              <a:xfrm>
                <a:off x="3192780" y="2139839"/>
                <a:ext cx="5318760" cy="1130822"/>
              </a:xfrm>
              <a:prstGeom prst="rect">
                <a:avLst/>
              </a:prstGeom>
              <a:blipFill>
                <a:blip r:embed="rId4"/>
                <a:stretch>
                  <a:fillRect t="-13333" b="-82222"/>
                </a:stretch>
              </a:blipFill>
            </p:spPr>
            <p:txBody>
              <a:bodyPr/>
              <a:lstStyle/>
              <a:p>
                <a:r>
                  <a:rPr lang="en-CN">
                    <a:noFill/>
                  </a:rPr>
                  <a:t> </a:t>
                </a:r>
              </a:p>
            </p:txBody>
          </p:sp>
        </mc:Fallback>
      </mc:AlternateContent>
      <p:sp>
        <p:nvSpPr>
          <p:cNvPr id="5" name="TextBox 4">
            <a:extLst>
              <a:ext uri="{FF2B5EF4-FFF2-40B4-BE49-F238E27FC236}">
                <a16:creationId xmlns:a16="http://schemas.microsoft.com/office/drawing/2014/main" id="{39AC1EEF-7BD6-764F-8484-0B314DA9D043}"/>
              </a:ext>
            </a:extLst>
          </p:cNvPr>
          <p:cNvSpPr txBox="1"/>
          <p:nvPr/>
        </p:nvSpPr>
        <p:spPr>
          <a:xfrm>
            <a:off x="716280" y="1965960"/>
            <a:ext cx="4267200" cy="381000"/>
          </a:xfrm>
          <a:prstGeom prst="rect">
            <a:avLst/>
          </a:prstGeom>
          <a:noFill/>
        </p:spPr>
        <p:txBody>
          <a:bodyPr wrap="square" rtlCol="0">
            <a:spAutoFit/>
          </a:bodyPr>
          <a:lstStyle/>
          <a:p>
            <a:r>
              <a:rPr lang="en-CN" dirty="0">
                <a:solidFill>
                  <a:schemeClr val="bg1"/>
                </a:solidFill>
              </a:rPr>
              <a:t>处于宏观态s的概率</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454140B-6579-5D49-8F9C-A65DC1BC0CF4}"/>
                  </a:ext>
                </a:extLst>
              </p:cNvPr>
              <p:cNvSpPr txBox="1"/>
              <p:nvPr/>
            </p:nvSpPr>
            <p:spPr>
              <a:xfrm>
                <a:off x="7128792" y="3602880"/>
                <a:ext cx="5088113" cy="3255120"/>
              </a:xfrm>
              <a:prstGeom prst="rect">
                <a:avLst/>
              </a:prstGeom>
              <a:solidFill>
                <a:schemeClr val="accent2"/>
              </a:solidFill>
            </p:spPr>
            <p:txBody>
              <a:bodyPr wrap="square" rtlCol="0">
                <a:spAutoFit/>
              </a:bodyPr>
              <a:lstStyle/>
              <a:p>
                <a:pPr marL="285750" indent="-285750">
                  <a:buFont typeface="Arial" panose="020B0604020202020204" pitchFamily="34" charset="0"/>
                  <a:buChar char="•"/>
                </a:pPr>
                <a:r>
                  <a:rPr lang="en-CN" dirty="0"/>
                  <a:t>The average value, or mean value, of a function f(s) taken over a probability distribution function P(s) is defined as</a:t>
                </a:r>
              </a:p>
              <a:p>
                <a:pPr algn="ctr"/>
                <a14:m>
                  <m:oMathPara xmlns:m="http://schemas.openxmlformats.org/officeDocument/2006/math">
                    <m:oMathParaPr>
                      <m:jc m:val="centerGroup"/>
                    </m:oMathParaPr>
                    <m:oMath xmlns:m="http://schemas.openxmlformats.org/officeDocument/2006/math">
                      <m:acc>
                        <m:accPr>
                          <m:chr m:val="̅"/>
                          <m:ctrlPr>
                            <a:rPr lang="en-CN" i="1" smtClean="0">
                              <a:latin typeface="Cambria Math" panose="02040503050406030204" pitchFamily="18" charset="0"/>
                            </a:rPr>
                          </m:ctrlPr>
                        </m:accPr>
                        <m:e>
                          <m:r>
                            <a:rPr lang="en-US" b="0" i="1" smtClean="0">
                              <a:latin typeface="Cambria Math" panose="02040503050406030204" pitchFamily="18" charset="0"/>
                            </a:rPr>
                            <m:t>𝑓</m:t>
                          </m:r>
                        </m:e>
                      </m:acc>
                      <m:r>
                        <a:rPr lang="en-CN" i="1" smtClean="0">
                          <a:latin typeface="Cambria Math" panose="02040503050406030204" pitchFamily="18" charset="0"/>
                          <a:ea typeface="Cambria Math" panose="02040503050406030204" pitchFamily="18" charset="0"/>
                        </a:rPr>
                        <m:t>=</m:t>
                      </m:r>
                      <m:d>
                        <m:dPr>
                          <m:begChr m:val="⟨"/>
                          <m:endChr m:val="⟩"/>
                          <m:ctrlPr>
                            <a:rPr lang="en-CN"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𝑓</m:t>
                          </m:r>
                        </m:e>
                      </m:d>
                      <m:r>
                        <a:rPr lang="en-US" b="0" i="1" smtClean="0">
                          <a:latin typeface="Cambria Math" panose="02040503050406030204" pitchFamily="18" charset="0"/>
                          <a:ea typeface="Cambria Math" panose="02040503050406030204" pitchFamily="18" charset="0"/>
                        </a:rPr>
                        <m:t>=</m:t>
                      </m:r>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𝑠</m:t>
                          </m:r>
                        </m:sub>
                        <m:sup/>
                        <m:e>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e>
                          </m:d>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e>
                      </m:nary>
                    </m:oMath>
                  </m:oMathPara>
                </a14:m>
                <a:endParaRPr lang="en-CN" dirty="0"/>
              </a:p>
              <a:p>
                <a:r>
                  <a:rPr lang="en-US" dirty="0"/>
                  <a:t>provided that the distribution function is normalized to unity.</a:t>
                </a:r>
              </a:p>
              <a:p>
                <a:pPr marL="285750" indent="-285750">
                  <a:buFont typeface="Arial" panose="020B0604020202020204" pitchFamily="34" charset="0"/>
                  <a:buChar char="•"/>
                </a:pPr>
                <a:r>
                  <a:rPr lang="en-US" dirty="0"/>
                  <a:t>T</a:t>
                </a:r>
                <a:r>
                  <a:rPr lang="en-CN" dirty="0"/>
                  <a:t>he root-mean-square(r.m.s) fluctuation of the quantity f</a:t>
                </a:r>
              </a:p>
              <a:p>
                <a:pPr algn="ctr"/>
                <a14:m>
                  <m:oMathPara xmlns:m="http://schemas.openxmlformats.org/officeDocument/2006/math">
                    <m:oMathParaPr>
                      <m:jc m:val="centerGroup"/>
                    </m:oMathParaPr>
                    <m:oMath xmlns:m="http://schemas.openxmlformats.org/officeDocument/2006/math">
                      <m:sSup>
                        <m:sSupPr>
                          <m:ctrlPr>
                            <a:rPr lang="en-CN" i="1" smtClean="0">
                              <a:latin typeface="Cambria Math" panose="02040503050406030204" pitchFamily="18" charset="0"/>
                            </a:rPr>
                          </m:ctrlPr>
                        </m:sSupPr>
                        <m:e>
                          <m:d>
                            <m:dPr>
                              <m:begChr m:val="⟨"/>
                              <m:endChr m:val="⟩"/>
                              <m:ctrlPr>
                                <a:rPr lang="en-CN" i="1">
                                  <a:latin typeface="Cambria Math" panose="02040503050406030204" pitchFamily="18" charset="0"/>
                                </a:rPr>
                              </m:ctrlPr>
                            </m:dPr>
                            <m:e>
                              <m:sSup>
                                <m:sSupPr>
                                  <m:ctrlPr>
                                    <a:rPr lang="en-CN" i="1">
                                      <a:latin typeface="Cambria Math" panose="02040503050406030204" pitchFamily="18" charset="0"/>
                                    </a:rPr>
                                  </m:ctrlPr>
                                </m:sSupPr>
                                <m:e>
                                  <m:d>
                                    <m:dPr>
                                      <m:ctrlPr>
                                        <a:rPr lang="en-CN" i="1">
                                          <a:latin typeface="Cambria Math" panose="02040503050406030204" pitchFamily="18" charset="0"/>
                                        </a:rPr>
                                      </m:ctrlPr>
                                    </m:dPr>
                                    <m:e>
                                      <m:r>
                                        <a:rPr lang="en-CN"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𝑓</m:t>
                                      </m:r>
                                    </m:e>
                                  </m:d>
                                </m:e>
                                <m:sup>
                                  <m:r>
                                    <a:rPr lang="en-US" i="1">
                                      <a:latin typeface="Cambria Math" panose="02040503050406030204" pitchFamily="18" charset="0"/>
                                    </a:rPr>
                                    <m:t>2</m:t>
                                  </m:r>
                                </m:sup>
                              </m:sSup>
                            </m:e>
                          </m:d>
                        </m:e>
                        <m:sup>
                          <m:r>
                            <a:rPr lang="en-US" b="0" i="1" smtClean="0">
                              <a:latin typeface="Cambria Math" panose="02040503050406030204" pitchFamily="18" charset="0"/>
                            </a:rPr>
                            <m:t>1/2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2</m:t>
                                      </m:r>
                                    </m:sup>
                                  </m:sSup>
                                </m:e>
                              </m:acc>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𝑓</m:t>
                                          </m:r>
                                        </m:e>
                                      </m:acc>
                                    </m:e>
                                  </m:d>
                                </m:e>
                                <m:sup>
                                  <m:r>
                                    <a:rPr lang="en-US" b="0" i="1" smtClean="0">
                                      <a:latin typeface="Cambria Math" panose="02040503050406030204" pitchFamily="18" charset="0"/>
                                    </a:rPr>
                                    <m:t>2</m:t>
                                  </m:r>
                                </m:sup>
                              </m:sSup>
                            </m:e>
                          </m:d>
                        </m:e>
                        <m:sup>
                          <m:r>
                            <a:rPr lang="en-US" b="0" i="1" smtClean="0">
                              <a:latin typeface="Cambria Math" panose="02040503050406030204" pitchFamily="18" charset="0"/>
                            </a:rPr>
                            <m:t>1/2</m:t>
                          </m:r>
                        </m:sup>
                      </m:sSup>
                    </m:oMath>
                  </m:oMathPara>
                </a14:m>
                <a:endParaRPr lang="en-CN" dirty="0"/>
              </a:p>
            </p:txBody>
          </p:sp>
        </mc:Choice>
        <mc:Fallback xmlns="">
          <p:sp>
            <p:nvSpPr>
              <p:cNvPr id="9" name="TextBox 8">
                <a:extLst>
                  <a:ext uri="{FF2B5EF4-FFF2-40B4-BE49-F238E27FC236}">
                    <a16:creationId xmlns:a16="http://schemas.microsoft.com/office/drawing/2014/main" id="{4454140B-6579-5D49-8F9C-A65DC1BC0CF4}"/>
                  </a:ext>
                </a:extLst>
              </p:cNvPr>
              <p:cNvSpPr txBox="1">
                <a:spLocks noRot="1" noChangeAspect="1" noMove="1" noResize="1" noEditPoints="1" noAdjustHandles="1" noChangeArrowheads="1" noChangeShapeType="1" noTextEdit="1"/>
              </p:cNvSpPr>
              <p:nvPr/>
            </p:nvSpPr>
            <p:spPr>
              <a:xfrm>
                <a:off x="7128792" y="3602880"/>
                <a:ext cx="5088113" cy="3255120"/>
              </a:xfrm>
              <a:prstGeom prst="rect">
                <a:avLst/>
              </a:prstGeom>
              <a:blipFill>
                <a:blip r:embed="rId5"/>
                <a:stretch>
                  <a:fillRect l="-998" t="-3502" r="-149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761E323-9493-D34D-8D01-B96B3753D1CD}"/>
                  </a:ext>
                </a:extLst>
              </p:cNvPr>
              <p:cNvSpPr txBox="1"/>
              <p:nvPr/>
            </p:nvSpPr>
            <p:spPr>
              <a:xfrm>
                <a:off x="870538" y="4690285"/>
                <a:ext cx="3958683" cy="14940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sz="4000" i="1" smtClean="0">
                              <a:solidFill>
                                <a:srgbClr val="FF0000"/>
                              </a:solidFill>
                              <a:latin typeface="Cambria Math" panose="02040503050406030204" pitchFamily="18" charset="0"/>
                            </a:rPr>
                          </m:ctrlPr>
                        </m:fPr>
                        <m:num>
                          <m:sSup>
                            <m:sSupPr>
                              <m:ctrlPr>
                                <a:rPr lang="en-CN" sz="4000" i="1" smtClean="0">
                                  <a:solidFill>
                                    <a:srgbClr val="FF0000"/>
                                  </a:solidFill>
                                  <a:latin typeface="Cambria Math" panose="02040503050406030204" pitchFamily="18" charset="0"/>
                                </a:rPr>
                              </m:ctrlPr>
                            </m:sSupPr>
                            <m:e>
                              <m:d>
                                <m:dPr>
                                  <m:begChr m:val="⟨"/>
                                  <m:endChr m:val="⟩"/>
                                  <m:ctrlPr>
                                    <a:rPr lang="en-CN" sz="4000" i="1" smtClean="0">
                                      <a:solidFill>
                                        <a:srgbClr val="FF0000"/>
                                      </a:solidFill>
                                      <a:latin typeface="Cambria Math" panose="02040503050406030204" pitchFamily="18" charset="0"/>
                                    </a:rPr>
                                  </m:ctrlPr>
                                </m:dPr>
                                <m:e>
                                  <m:sSup>
                                    <m:sSupPr>
                                      <m:ctrlPr>
                                        <a:rPr lang="en-CN" sz="4000" i="1" smtClean="0">
                                          <a:solidFill>
                                            <a:srgbClr val="FF0000"/>
                                          </a:solidFill>
                                          <a:latin typeface="Cambria Math" panose="02040503050406030204" pitchFamily="18" charset="0"/>
                                        </a:rPr>
                                      </m:ctrlPr>
                                    </m:sSupPr>
                                    <m:e>
                                      <m:r>
                                        <a:rPr lang="en-US" sz="4000" b="0" i="1" smtClean="0">
                                          <a:solidFill>
                                            <a:srgbClr val="FF0000"/>
                                          </a:solidFill>
                                          <a:latin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𝑓</m:t>
                                      </m:r>
                                      <m:r>
                                        <a:rPr lang="en-US" sz="4000" b="0" i="1" smtClean="0">
                                          <a:solidFill>
                                            <a:srgbClr val="FF0000"/>
                                          </a:solidFill>
                                          <a:latin typeface="Cambria Math" panose="02040503050406030204" pitchFamily="18" charset="0"/>
                                        </a:rPr>
                                        <m:t>)</m:t>
                                      </m:r>
                                    </m:e>
                                    <m:sup>
                                      <m:r>
                                        <a:rPr lang="en-US" sz="4000" b="0" i="1" smtClean="0">
                                          <a:solidFill>
                                            <a:srgbClr val="FF0000"/>
                                          </a:solidFill>
                                          <a:latin typeface="Cambria Math" panose="02040503050406030204" pitchFamily="18" charset="0"/>
                                        </a:rPr>
                                        <m:t>2</m:t>
                                      </m:r>
                                    </m:sup>
                                  </m:sSup>
                                </m:e>
                              </m:d>
                            </m:e>
                            <m:sup>
                              <m:r>
                                <a:rPr lang="en-US" sz="4000" b="0" i="1" smtClean="0">
                                  <a:solidFill>
                                    <a:srgbClr val="FF0000"/>
                                  </a:solidFill>
                                  <a:latin typeface="Cambria Math" panose="02040503050406030204" pitchFamily="18" charset="0"/>
                                </a:rPr>
                                <m:t>1/2</m:t>
                              </m:r>
                            </m:sup>
                          </m:sSup>
                        </m:num>
                        <m:den>
                          <m:acc>
                            <m:accPr>
                              <m:chr m:val="̅"/>
                              <m:ctrlPr>
                                <a:rPr lang="en-CN" sz="4000" i="1" smtClean="0">
                                  <a:solidFill>
                                    <a:srgbClr val="FF0000"/>
                                  </a:solidFill>
                                  <a:latin typeface="Cambria Math" panose="02040503050406030204" pitchFamily="18" charset="0"/>
                                </a:rPr>
                              </m:ctrlPr>
                            </m:accPr>
                            <m:e>
                              <m:r>
                                <a:rPr lang="en-US" sz="4000" b="0" i="1" smtClean="0">
                                  <a:solidFill>
                                    <a:srgbClr val="FF0000"/>
                                  </a:solidFill>
                                  <a:latin typeface="Cambria Math" panose="02040503050406030204" pitchFamily="18" charset="0"/>
                                </a:rPr>
                                <m:t>𝑓</m:t>
                              </m:r>
                            </m:e>
                          </m:acc>
                        </m:den>
                      </m:f>
                      <m:r>
                        <a:rPr lang="en-CN" sz="4000" i="1" smtClean="0">
                          <a:solidFill>
                            <a:srgbClr val="FF0000"/>
                          </a:solidFill>
                          <a:latin typeface="Cambria Math" panose="02040503050406030204" pitchFamily="18" charset="0"/>
                          <a:ea typeface="Cambria Math" panose="02040503050406030204" pitchFamily="18" charset="0"/>
                        </a:rPr>
                        <m:t>∝</m:t>
                      </m:r>
                      <m:f>
                        <m:fPr>
                          <m:ctrlPr>
                            <a:rPr lang="en-CN" sz="4000" i="1" smtClean="0">
                              <a:solidFill>
                                <a:srgbClr val="FF0000"/>
                              </a:solidFill>
                              <a:latin typeface="Cambria Math" panose="02040503050406030204" pitchFamily="18" charset="0"/>
                              <a:ea typeface="Cambria Math" panose="02040503050406030204" pitchFamily="18" charset="0"/>
                            </a:rPr>
                          </m:ctrlPr>
                        </m:fPr>
                        <m:num>
                          <m:r>
                            <a:rPr lang="en-US" sz="4000" b="0" i="1" smtClean="0">
                              <a:solidFill>
                                <a:srgbClr val="FF0000"/>
                              </a:solidFill>
                              <a:latin typeface="Cambria Math" panose="02040503050406030204" pitchFamily="18" charset="0"/>
                              <a:ea typeface="Cambria Math" panose="02040503050406030204" pitchFamily="18" charset="0"/>
                            </a:rPr>
                            <m:t>1</m:t>
                          </m:r>
                        </m:num>
                        <m:den>
                          <m:rad>
                            <m:radPr>
                              <m:degHide m:val="on"/>
                              <m:ctrlPr>
                                <a:rPr lang="en-CN" sz="4000" i="1" smtClean="0">
                                  <a:solidFill>
                                    <a:srgbClr val="FF0000"/>
                                  </a:solidFill>
                                  <a:latin typeface="Cambria Math" panose="02040503050406030204" pitchFamily="18" charset="0"/>
                                  <a:ea typeface="Cambria Math" panose="02040503050406030204" pitchFamily="18" charset="0"/>
                                </a:rPr>
                              </m:ctrlPr>
                            </m:radPr>
                            <m:deg/>
                            <m:e>
                              <m:r>
                                <a:rPr lang="en-US" sz="4000" b="0" i="1" smtClean="0">
                                  <a:solidFill>
                                    <a:srgbClr val="FF0000"/>
                                  </a:solidFill>
                                  <a:latin typeface="Cambria Math" panose="02040503050406030204" pitchFamily="18" charset="0"/>
                                  <a:ea typeface="Cambria Math" panose="02040503050406030204" pitchFamily="18" charset="0"/>
                                </a:rPr>
                                <m:t>𝑁</m:t>
                              </m:r>
                            </m:e>
                          </m:rad>
                        </m:den>
                      </m:f>
                    </m:oMath>
                  </m:oMathPara>
                </a14:m>
                <a:endParaRPr lang="en-CN" sz="4000" dirty="0"/>
              </a:p>
            </p:txBody>
          </p:sp>
        </mc:Choice>
        <mc:Fallback xmlns="">
          <p:sp>
            <p:nvSpPr>
              <p:cNvPr id="12" name="TextBox 11">
                <a:extLst>
                  <a:ext uri="{FF2B5EF4-FFF2-40B4-BE49-F238E27FC236}">
                    <a16:creationId xmlns:a16="http://schemas.microsoft.com/office/drawing/2014/main" id="{7761E323-9493-D34D-8D01-B96B3753D1CD}"/>
                  </a:ext>
                </a:extLst>
              </p:cNvPr>
              <p:cNvSpPr txBox="1">
                <a:spLocks noRot="1" noChangeAspect="1" noMove="1" noResize="1" noEditPoints="1" noAdjustHandles="1" noChangeArrowheads="1" noChangeShapeType="1" noTextEdit="1"/>
              </p:cNvSpPr>
              <p:nvPr/>
            </p:nvSpPr>
            <p:spPr>
              <a:xfrm>
                <a:off x="870538" y="4690285"/>
                <a:ext cx="3958683" cy="1494063"/>
              </a:xfrm>
              <a:prstGeom prst="rect">
                <a:avLst/>
              </a:prstGeom>
              <a:blipFill>
                <a:blip r:embed="rId6"/>
                <a:stretch>
                  <a:fillRect b="-11017"/>
                </a:stretch>
              </a:blipFill>
            </p:spPr>
            <p:txBody>
              <a:bodyPr/>
              <a:lstStyle/>
              <a:p>
                <a:r>
                  <a:rPr lang="en-CN">
                    <a:noFill/>
                  </a:rPr>
                  <a:t> </a:t>
                </a:r>
              </a:p>
            </p:txBody>
          </p:sp>
        </mc:Fallback>
      </mc:AlternateContent>
      <p:sp>
        <p:nvSpPr>
          <p:cNvPr id="6" name="TextBox 5">
            <a:extLst>
              <a:ext uri="{FF2B5EF4-FFF2-40B4-BE49-F238E27FC236}">
                <a16:creationId xmlns:a16="http://schemas.microsoft.com/office/drawing/2014/main" id="{C0AFFD56-EB24-DA48-AC94-32FD46E9F3A7}"/>
              </a:ext>
            </a:extLst>
          </p:cNvPr>
          <p:cNvSpPr txBox="1"/>
          <p:nvPr/>
        </p:nvSpPr>
        <p:spPr>
          <a:xfrm>
            <a:off x="716280" y="3934925"/>
            <a:ext cx="4180114" cy="646331"/>
          </a:xfrm>
          <a:prstGeom prst="rect">
            <a:avLst/>
          </a:prstGeom>
          <a:noFill/>
        </p:spPr>
        <p:txBody>
          <a:bodyPr wrap="square" rtlCol="0">
            <a:spAutoFit/>
          </a:bodyPr>
          <a:lstStyle/>
          <a:p>
            <a:r>
              <a:rPr lang="en-US" dirty="0" err="1">
                <a:solidFill>
                  <a:schemeClr val="bg1"/>
                </a:solidFill>
              </a:rPr>
              <a:t>q的</a:t>
            </a:r>
            <a:r>
              <a:rPr lang="en-CN" dirty="0">
                <a:solidFill>
                  <a:schemeClr val="bg1"/>
                </a:solidFill>
              </a:rPr>
              <a:t>平均值</a:t>
            </a:r>
            <a:r>
              <a:rPr lang="zh-CN" altLang="en-US" dirty="0">
                <a:solidFill>
                  <a:schemeClr val="bg1"/>
                </a:solidFill>
              </a:rPr>
              <a:t>？</a:t>
            </a:r>
            <a:endParaRPr lang="en-US" altLang="zh-CN" dirty="0">
              <a:solidFill>
                <a:schemeClr val="bg1"/>
              </a:solidFill>
            </a:endParaRPr>
          </a:p>
          <a:p>
            <a:r>
              <a:rPr lang="zh-CN" altLang="en-US" dirty="0">
                <a:solidFill>
                  <a:schemeClr val="bg1"/>
                </a:solidFill>
              </a:rPr>
              <a:t>涨落？</a:t>
            </a:r>
            <a:endParaRPr lang="en-CN" dirty="0">
              <a:solidFill>
                <a:schemeClr val="bg1"/>
              </a:solidFill>
            </a:endParaRPr>
          </a:p>
        </p:txBody>
      </p:sp>
    </p:spTree>
    <p:extLst>
      <p:ext uri="{BB962C8B-B14F-4D97-AF65-F5344CB8AC3E}">
        <p14:creationId xmlns:p14="http://schemas.microsoft.com/office/powerpoint/2010/main" val="2913851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BE31B8A-A597-F744-9F24-175FBC7AD0D1}"/>
                  </a:ext>
                </a:extLst>
              </p:cNvPr>
              <p:cNvSpPr txBox="1"/>
              <p:nvPr/>
            </p:nvSpPr>
            <p:spPr>
              <a:xfrm>
                <a:off x="1962615" y="103946"/>
                <a:ext cx="7750097" cy="707886"/>
              </a:xfrm>
              <a:prstGeom prst="rect">
                <a:avLst/>
              </a:prstGeom>
              <a:noFill/>
            </p:spPr>
            <p:txBody>
              <a:bodyPr wrap="square" rtlCol="0">
                <a:spAutoFit/>
              </a:bodyPr>
              <a:lstStyle/>
              <a:p>
                <a:pPr algn="ctr"/>
                <a:r>
                  <a:rPr lang="en-CN" sz="4000" dirty="0">
                    <a:solidFill>
                      <a:schemeClr val="bg1"/>
                    </a:solidFill>
                  </a:rPr>
                  <a:t>Binary</a:t>
                </a:r>
                <a:r>
                  <a:rPr lang="zh-CN" altLang="en-US" sz="4000" dirty="0">
                    <a:solidFill>
                      <a:schemeClr val="bg1"/>
                    </a:solidFill>
                  </a:rPr>
                  <a:t> </a:t>
                </a:r>
                <a:r>
                  <a:rPr lang="en-US" altLang="zh-CN" sz="4000" dirty="0">
                    <a:solidFill>
                      <a:schemeClr val="bg1"/>
                    </a:solidFill>
                  </a:rPr>
                  <a:t>model(</a:t>
                </a:r>
                <a14:m>
                  <m:oMath xmlns:m="http://schemas.openxmlformats.org/officeDocument/2006/math">
                    <m:r>
                      <a:rPr lang="en-US" altLang="zh-CN" sz="4000" b="0" i="1" smtClean="0">
                        <a:solidFill>
                          <a:schemeClr val="bg1"/>
                        </a:solidFill>
                        <a:latin typeface="Cambria Math" panose="02040503050406030204" pitchFamily="18" charset="0"/>
                      </a:rPr>
                      <m:t>𝑁</m:t>
                    </m:r>
                    <m:r>
                      <a:rPr lang="en-US" altLang="zh-CN" sz="4000" b="0" i="1" smtClean="0">
                        <a:solidFill>
                          <a:schemeClr val="bg1"/>
                        </a:solidFill>
                        <a:latin typeface="Cambria Math" panose="02040503050406030204" pitchFamily="18" charset="0"/>
                        <a:ea typeface="Cambria Math" panose="02040503050406030204" pitchFamily="18" charset="0"/>
                      </a:rPr>
                      <m:t>≫1 </m:t>
                    </m:r>
                    <m:r>
                      <a:rPr lang="en-US" altLang="zh-CN" sz="4000" b="0" i="1" smtClean="0">
                        <a:solidFill>
                          <a:schemeClr val="bg1"/>
                        </a:solidFill>
                        <a:latin typeface="Cambria Math" panose="02040503050406030204" pitchFamily="18" charset="0"/>
                        <a:ea typeface="Cambria Math" panose="02040503050406030204" pitchFamily="18" charset="0"/>
                      </a:rPr>
                      <m:t>𝑎𝑛𝑑</m:t>
                    </m:r>
                    <m:r>
                      <a:rPr lang="en-US" altLang="zh-CN" sz="4000" b="0" i="1" smtClean="0">
                        <a:solidFill>
                          <a:schemeClr val="bg1"/>
                        </a:solidFill>
                        <a:latin typeface="Cambria Math" panose="02040503050406030204" pitchFamily="18" charset="0"/>
                        <a:ea typeface="Cambria Math" panose="02040503050406030204" pitchFamily="18" charset="0"/>
                      </a:rPr>
                      <m:t> |</m:t>
                    </m:r>
                    <m:r>
                      <a:rPr lang="en-US" altLang="zh-CN" sz="4000" b="0" i="1" smtClean="0">
                        <a:solidFill>
                          <a:schemeClr val="bg1"/>
                        </a:solidFill>
                        <a:latin typeface="Cambria Math" panose="02040503050406030204" pitchFamily="18" charset="0"/>
                        <a:ea typeface="Cambria Math" panose="02040503050406030204" pitchFamily="18" charset="0"/>
                      </a:rPr>
                      <m:t>𝑠</m:t>
                    </m:r>
                    <m:r>
                      <a:rPr lang="en-US" altLang="zh-CN" sz="4000" b="0" i="1" smtClean="0">
                        <a:solidFill>
                          <a:schemeClr val="bg1"/>
                        </a:solidFill>
                        <a:latin typeface="Cambria Math" panose="02040503050406030204" pitchFamily="18" charset="0"/>
                        <a:ea typeface="Cambria Math" panose="02040503050406030204" pitchFamily="18" charset="0"/>
                      </a:rPr>
                      <m:t>|≪</m:t>
                    </m:r>
                    <m:r>
                      <a:rPr lang="en-US" altLang="zh-CN" sz="4000" b="0" i="1" smtClean="0">
                        <a:solidFill>
                          <a:schemeClr val="bg1"/>
                        </a:solidFill>
                        <a:latin typeface="Cambria Math" panose="02040503050406030204" pitchFamily="18" charset="0"/>
                        <a:ea typeface="Cambria Math" panose="02040503050406030204" pitchFamily="18" charset="0"/>
                      </a:rPr>
                      <m:t>𝑁</m:t>
                    </m:r>
                  </m:oMath>
                </a14:m>
                <a:r>
                  <a:rPr lang="en-US" altLang="zh-CN" sz="4000" dirty="0">
                    <a:solidFill>
                      <a:schemeClr val="bg1"/>
                    </a:solidFill>
                  </a:rPr>
                  <a:t>)</a:t>
                </a:r>
              </a:p>
            </p:txBody>
          </p:sp>
        </mc:Choice>
        <mc:Fallback xmlns="">
          <p:sp>
            <p:nvSpPr>
              <p:cNvPr id="11" name="TextBox 10">
                <a:extLst>
                  <a:ext uri="{FF2B5EF4-FFF2-40B4-BE49-F238E27FC236}">
                    <a16:creationId xmlns:a16="http://schemas.microsoft.com/office/drawing/2014/main" id="{6BE31B8A-A597-F744-9F24-175FBC7AD0D1}"/>
                  </a:ext>
                </a:extLst>
              </p:cNvPr>
              <p:cNvSpPr txBox="1">
                <a:spLocks noRot="1" noChangeAspect="1" noMove="1" noResize="1" noEditPoints="1" noAdjustHandles="1" noChangeArrowheads="1" noChangeShapeType="1" noTextEdit="1"/>
              </p:cNvSpPr>
              <p:nvPr/>
            </p:nvSpPr>
            <p:spPr>
              <a:xfrm>
                <a:off x="1962615" y="103946"/>
                <a:ext cx="7750097" cy="707886"/>
              </a:xfrm>
              <a:prstGeom prst="rect">
                <a:avLst/>
              </a:prstGeom>
              <a:blipFill>
                <a:blip r:embed="rId2"/>
                <a:stretch>
                  <a:fillRect l="-655" t="-14286" r="-655" b="-37500"/>
                </a:stretch>
              </a:blipFill>
            </p:spPr>
            <p:txBody>
              <a:bodyPr/>
              <a:lstStyle/>
              <a:p>
                <a:r>
                  <a:rPr lang="en-CN">
                    <a:noFill/>
                  </a:rPr>
                  <a:t> </a:t>
                </a:r>
              </a:p>
            </p:txBody>
          </p:sp>
        </mc:Fallback>
      </mc:AlternateContent>
      <p:sp>
        <p:nvSpPr>
          <p:cNvPr id="9" name="TextBox 8">
            <a:extLst>
              <a:ext uri="{FF2B5EF4-FFF2-40B4-BE49-F238E27FC236}">
                <a16:creationId xmlns:a16="http://schemas.microsoft.com/office/drawing/2014/main" id="{4A8382C5-4A5D-6145-B98C-FC744567E22E}"/>
              </a:ext>
            </a:extLst>
          </p:cNvPr>
          <p:cNvSpPr txBox="1"/>
          <p:nvPr/>
        </p:nvSpPr>
        <p:spPr>
          <a:xfrm>
            <a:off x="234176" y="267629"/>
            <a:ext cx="2397512" cy="369332"/>
          </a:xfrm>
          <a:prstGeom prst="rect">
            <a:avLst/>
          </a:prstGeom>
          <a:noFill/>
        </p:spPr>
        <p:txBody>
          <a:bodyPr wrap="square" rtlCol="0">
            <a:spAutoFit/>
          </a:bodyPr>
          <a:lstStyle/>
          <a:p>
            <a:r>
              <a:rPr lang="en-CN" dirty="0">
                <a:solidFill>
                  <a:schemeClr val="bg1"/>
                </a:solidFill>
              </a:rPr>
              <a:t>补遗二</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0696F35-9011-4646-9AD0-9A637927FE3A}"/>
                  </a:ext>
                </a:extLst>
              </p:cNvPr>
              <p:cNvSpPr txBox="1"/>
              <p:nvPr/>
            </p:nvSpPr>
            <p:spPr>
              <a:xfrm>
                <a:off x="593766" y="1080655"/>
                <a:ext cx="10925299" cy="6840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𝑔</m:t>
                      </m:r>
                      <m:r>
                        <a:rPr lang="en-US" b="0" i="1" smtClean="0">
                          <a:solidFill>
                            <a:schemeClr val="bg1"/>
                          </a:solidFill>
                          <a:latin typeface="Cambria Math" panose="02040503050406030204" pitchFamily="18" charset="0"/>
                        </a:rPr>
                        <m:t>=</m:t>
                      </m: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𝑁</m:t>
                          </m:r>
                          <m:r>
                            <a:rPr lang="en-US" b="0" i="1" smtClean="0">
                              <a:solidFill>
                                <a:schemeClr val="bg1"/>
                              </a:solidFill>
                              <a:latin typeface="Cambria Math" panose="02040503050406030204" pitchFamily="18" charset="0"/>
                            </a:rPr>
                            <m:t>!</m:t>
                          </m:r>
                        </m:num>
                        <m:den>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𝑁</m:t>
                              </m:r>
                            </m:e>
                            <m:sub>
                              <m:r>
                                <a:rPr lang="en-US" b="0" i="1" smtClean="0">
                                  <a:solidFill>
                                    <a:schemeClr val="bg1"/>
                                  </a:solidFill>
                                  <a:latin typeface="Cambria Math" panose="02040503050406030204" pitchFamily="18" charset="0"/>
                                  <a:ea typeface="Cambria Math" panose="02040503050406030204" pitchFamily="18" charset="0"/>
                                </a:rPr>
                                <m:t>↑</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𝑁</m:t>
                              </m:r>
                            </m:e>
                            <m:sub>
                              <m:r>
                                <a:rPr lang="en-US" b="0" i="1" smtClean="0">
                                  <a:solidFill>
                                    <a:schemeClr val="bg1"/>
                                  </a:solidFill>
                                  <a:latin typeface="Cambria Math" panose="02040503050406030204" pitchFamily="18" charset="0"/>
                                  <a:ea typeface="Cambria Math" panose="02040503050406030204" pitchFamily="18" charset="0"/>
                                </a:rPr>
                                <m:t>↓</m:t>
                              </m:r>
                            </m:sub>
                          </m:sSub>
                          <m:r>
                            <a:rPr lang="en-US" b="0" i="1" smtClean="0">
                              <a:solidFill>
                                <a:schemeClr val="bg1"/>
                              </a:solidFill>
                              <a:latin typeface="Cambria Math" panose="02040503050406030204" pitchFamily="18" charset="0"/>
                            </a:rPr>
                            <m:t>!</m:t>
                          </m:r>
                        </m:den>
                      </m:f>
                      <m:r>
                        <a:rPr lang="en-US" b="0" i="1" smtClean="0">
                          <a:solidFill>
                            <a:schemeClr val="bg1"/>
                          </a:solidFill>
                          <a:latin typeface="Cambria Math" panose="02040503050406030204" pitchFamily="18" charset="0"/>
                          <a:ea typeface="Cambria Math" panose="02040503050406030204" pitchFamily="18" charset="0"/>
                        </a:rPr>
                        <m:t>→</m:t>
                      </m:r>
                      <m:r>
                        <a:rPr lang="en-US" b="0" i="1" smtClean="0">
                          <a:solidFill>
                            <a:schemeClr val="bg1"/>
                          </a:solidFill>
                          <a:latin typeface="Cambria Math" panose="02040503050406030204" pitchFamily="18" charset="0"/>
                          <a:ea typeface="Cambria Math" panose="02040503050406030204" pitchFamily="18" charset="0"/>
                        </a:rPr>
                        <m:t>𝑔</m:t>
                      </m:r>
                      <m:d>
                        <m:dPr>
                          <m:begChr m:val="["/>
                          <m:endChr m:val="]"/>
                          <m:ctrlPr>
                            <a:rPr lang="en-US" b="0" i="1" smtClean="0">
                              <a:solidFill>
                                <a:schemeClr val="bg1"/>
                              </a:solidFill>
                              <a:latin typeface="Cambria Math" panose="02040503050406030204" pitchFamily="18" charset="0"/>
                              <a:ea typeface="Cambria Math" panose="02040503050406030204" pitchFamily="18" charset="0"/>
                            </a:rPr>
                          </m:ctrlPr>
                        </m:dPr>
                        <m:e>
                          <m:r>
                            <a:rPr lang="en-US" b="0" i="1" smtClean="0">
                              <a:solidFill>
                                <a:schemeClr val="bg1"/>
                              </a:solidFill>
                              <a:latin typeface="Cambria Math" panose="02040503050406030204" pitchFamily="18" charset="0"/>
                              <a:ea typeface="Cambria Math" panose="02040503050406030204" pitchFamily="18" charset="0"/>
                            </a:rPr>
                            <m:t>𝑁</m:t>
                          </m:r>
                          <m:r>
                            <a:rPr lang="en-US" b="0" i="1" smtClean="0">
                              <a:solidFill>
                                <a:schemeClr val="bg1"/>
                              </a:solidFill>
                              <a:latin typeface="Cambria Math" panose="02040503050406030204" pitchFamily="18" charset="0"/>
                              <a:ea typeface="Cambria Math" panose="02040503050406030204" pitchFamily="18" charset="0"/>
                            </a:rPr>
                            <m:t>,0</m:t>
                          </m:r>
                        </m:e>
                      </m:d>
                      <m:sSup>
                        <m:sSupPr>
                          <m:ctrlPr>
                            <a:rPr lang="en-US" b="0" i="1" smtClean="0">
                              <a:solidFill>
                                <a:schemeClr val="bg1"/>
                              </a:solidFill>
                              <a:latin typeface="Cambria Math" panose="02040503050406030204" pitchFamily="18" charset="0"/>
                              <a:ea typeface="Cambria Math" panose="02040503050406030204" pitchFamily="18" charset="0"/>
                            </a:rPr>
                          </m:ctrlPr>
                        </m:sSupPr>
                        <m:e>
                          <m:r>
                            <a:rPr lang="en-US" b="0" i="1" smtClean="0">
                              <a:solidFill>
                                <a:schemeClr val="bg1"/>
                              </a:solidFill>
                              <a:latin typeface="Cambria Math" panose="02040503050406030204" pitchFamily="18" charset="0"/>
                              <a:ea typeface="Cambria Math" panose="02040503050406030204" pitchFamily="18" charset="0"/>
                            </a:rPr>
                            <m:t>𝑒</m:t>
                          </m:r>
                        </m:e>
                        <m:sup>
                          <m:r>
                            <a:rPr lang="en-US" b="0" i="1" smtClean="0">
                              <a:solidFill>
                                <a:schemeClr val="bg1"/>
                              </a:solidFill>
                              <a:latin typeface="Cambria Math" panose="02040503050406030204" pitchFamily="18" charset="0"/>
                              <a:ea typeface="Cambria Math" panose="02040503050406030204" pitchFamily="18" charset="0"/>
                            </a:rPr>
                            <m:t>−2 </m:t>
                          </m:r>
                          <m:f>
                            <m:fPr>
                              <m:ctrlPr>
                                <a:rPr lang="en-US" b="0" i="1" smtClean="0">
                                  <a:solidFill>
                                    <a:schemeClr val="bg1"/>
                                  </a:solidFill>
                                  <a:latin typeface="Cambria Math" panose="02040503050406030204" pitchFamily="18" charset="0"/>
                                  <a:ea typeface="Cambria Math" panose="02040503050406030204" pitchFamily="18" charset="0"/>
                                </a:rPr>
                              </m:ctrlPr>
                            </m:fPr>
                            <m:num>
                              <m:sSup>
                                <m:sSupPr>
                                  <m:ctrlPr>
                                    <a:rPr lang="en-US" b="0" i="1" smtClean="0">
                                      <a:solidFill>
                                        <a:schemeClr val="bg1"/>
                                      </a:solidFill>
                                      <a:latin typeface="Cambria Math" panose="02040503050406030204" pitchFamily="18" charset="0"/>
                                      <a:ea typeface="Cambria Math" panose="02040503050406030204" pitchFamily="18" charset="0"/>
                                    </a:rPr>
                                  </m:ctrlPr>
                                </m:sSupPr>
                                <m:e>
                                  <m:r>
                                    <a:rPr lang="en-US" b="0" i="1" smtClean="0">
                                      <a:solidFill>
                                        <a:schemeClr val="bg1"/>
                                      </a:solidFill>
                                      <a:latin typeface="Cambria Math" panose="02040503050406030204" pitchFamily="18" charset="0"/>
                                      <a:ea typeface="Cambria Math" panose="02040503050406030204" pitchFamily="18" charset="0"/>
                                    </a:rPr>
                                    <m:t>𝑠</m:t>
                                  </m:r>
                                </m:e>
                                <m:sup>
                                  <m:r>
                                    <a:rPr lang="en-US" b="0" i="1" smtClean="0">
                                      <a:solidFill>
                                        <a:schemeClr val="bg1"/>
                                      </a:solidFill>
                                      <a:latin typeface="Cambria Math" panose="02040503050406030204" pitchFamily="18" charset="0"/>
                                      <a:ea typeface="Cambria Math" panose="02040503050406030204" pitchFamily="18" charset="0"/>
                                    </a:rPr>
                                    <m:t>2</m:t>
                                  </m:r>
                                </m:sup>
                              </m:sSup>
                            </m:num>
                            <m:den>
                              <m:r>
                                <a:rPr lang="en-US" b="0" i="1" smtClean="0">
                                  <a:solidFill>
                                    <a:schemeClr val="bg1"/>
                                  </a:solidFill>
                                  <a:latin typeface="Cambria Math" panose="02040503050406030204" pitchFamily="18" charset="0"/>
                                  <a:ea typeface="Cambria Math" panose="02040503050406030204" pitchFamily="18" charset="0"/>
                                </a:rPr>
                                <m:t>𝑁</m:t>
                              </m:r>
                            </m:den>
                          </m:f>
                        </m:sup>
                      </m:sSup>
                    </m:oMath>
                  </m:oMathPara>
                </a14:m>
                <a:endParaRPr lang="en-CN" dirty="0">
                  <a:solidFill>
                    <a:schemeClr val="bg1"/>
                  </a:solidFill>
                </a:endParaRPr>
              </a:p>
            </p:txBody>
          </p:sp>
        </mc:Choice>
        <mc:Fallback xmlns="">
          <p:sp>
            <p:nvSpPr>
              <p:cNvPr id="6" name="TextBox 5">
                <a:extLst>
                  <a:ext uri="{FF2B5EF4-FFF2-40B4-BE49-F238E27FC236}">
                    <a16:creationId xmlns:a16="http://schemas.microsoft.com/office/drawing/2014/main" id="{90696F35-9011-4646-9AD0-9A637927FE3A}"/>
                  </a:ext>
                </a:extLst>
              </p:cNvPr>
              <p:cNvSpPr txBox="1">
                <a:spLocks noRot="1" noChangeAspect="1" noMove="1" noResize="1" noEditPoints="1" noAdjustHandles="1" noChangeArrowheads="1" noChangeShapeType="1" noTextEdit="1"/>
              </p:cNvSpPr>
              <p:nvPr/>
            </p:nvSpPr>
            <p:spPr>
              <a:xfrm>
                <a:off x="593766" y="1080655"/>
                <a:ext cx="10925299" cy="684098"/>
              </a:xfrm>
              <a:prstGeom prst="rect">
                <a:avLst/>
              </a:prstGeom>
              <a:blipFill>
                <a:blip r:embed="rId3"/>
                <a:stretch>
                  <a:fillRect b="-181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6EDD586-D823-3642-B531-542C6FA61BD4}"/>
                  </a:ext>
                </a:extLst>
              </p:cNvPr>
              <p:cNvSpPr txBox="1"/>
              <p:nvPr/>
            </p:nvSpPr>
            <p:spPr>
              <a:xfrm>
                <a:off x="234176" y="1866815"/>
                <a:ext cx="3123211" cy="6832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𝑃𝑜𝑙𝑎𝑟𝑖𝑧𝑎𝑡𝑖𝑜𝑛</m:t>
                      </m:r>
                      <m:r>
                        <a:rPr lang="en-US" b="0" i="1" smtClean="0">
                          <a:solidFill>
                            <a:schemeClr val="bg1"/>
                          </a:solidFill>
                          <a:latin typeface="Cambria Math" panose="02040503050406030204" pitchFamily="18" charset="0"/>
                        </a:rPr>
                        <m:t>=</m:t>
                      </m:r>
                      <m:f>
                        <m:fPr>
                          <m:ctrlPr>
                            <a:rPr lang="en-US" b="0" i="1" smtClean="0">
                              <a:solidFill>
                                <a:schemeClr val="bg1"/>
                              </a:solidFill>
                              <a:latin typeface="Cambria Math" panose="02040503050406030204" pitchFamily="18" charset="0"/>
                            </a:rPr>
                          </m:ctrlPr>
                        </m:fPr>
                        <m:num>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𝑁</m:t>
                              </m:r>
                            </m:e>
                            <m:sub>
                              <m:r>
                                <a:rPr lang="en-US" b="0" i="1" smtClean="0">
                                  <a:solidFill>
                                    <a:schemeClr val="bg1"/>
                                  </a:solidFill>
                                  <a:latin typeface="Cambria Math" panose="02040503050406030204" pitchFamily="18" charset="0"/>
                                  <a:ea typeface="Cambria Math" panose="02040503050406030204" pitchFamily="18" charset="0"/>
                                </a:rPr>
                                <m:t>↑</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𝑁</m:t>
                              </m:r>
                            </m:e>
                            <m:sub>
                              <m:r>
                                <a:rPr lang="en-US" b="0" i="1" smtClean="0">
                                  <a:solidFill>
                                    <a:schemeClr val="bg1"/>
                                  </a:solidFill>
                                  <a:latin typeface="Cambria Math" panose="02040503050406030204" pitchFamily="18" charset="0"/>
                                  <a:ea typeface="Cambria Math" panose="02040503050406030204" pitchFamily="18" charset="0"/>
                                </a:rPr>
                                <m:t>↓</m:t>
                              </m:r>
                            </m:sub>
                          </m:sSub>
                        </m:num>
                        <m:den>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𝑁</m:t>
                              </m:r>
                            </m:e>
                            <m:sub>
                              <m:r>
                                <a:rPr lang="en-US" i="1">
                                  <a:solidFill>
                                    <a:schemeClr val="bg1"/>
                                  </a:solidFill>
                                  <a:latin typeface="Cambria Math" panose="02040503050406030204" pitchFamily="18" charset="0"/>
                                  <a:ea typeface="Cambria Math" panose="02040503050406030204" pitchFamily="18" charset="0"/>
                                </a:rPr>
                                <m:t>↑</m:t>
                              </m:r>
                            </m:sub>
                          </m:sSub>
                          <m:r>
                            <a:rPr lang="en-US" b="0" i="1" smtClean="0">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𝑁</m:t>
                              </m:r>
                            </m:e>
                            <m:sub>
                              <m:r>
                                <a:rPr lang="en-US" i="1">
                                  <a:solidFill>
                                    <a:schemeClr val="bg1"/>
                                  </a:solidFill>
                                  <a:latin typeface="Cambria Math" panose="02040503050406030204" pitchFamily="18" charset="0"/>
                                  <a:ea typeface="Cambria Math" panose="02040503050406030204" pitchFamily="18" charset="0"/>
                                </a:rPr>
                                <m:t>↓</m:t>
                              </m:r>
                            </m:sub>
                          </m:sSub>
                        </m:den>
                      </m:f>
                      <m:r>
                        <a:rPr lang="en-US" b="0" i="1" smtClean="0">
                          <a:solidFill>
                            <a:schemeClr val="bg1"/>
                          </a:solidFill>
                          <a:latin typeface="Cambria Math" panose="02040503050406030204" pitchFamily="18" charset="0"/>
                        </a:rPr>
                        <m:t>=</m:t>
                      </m: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2</m:t>
                          </m:r>
                          <m:r>
                            <a:rPr lang="en-US" b="0" i="1" smtClean="0">
                              <a:solidFill>
                                <a:schemeClr val="bg1"/>
                              </a:solidFill>
                              <a:latin typeface="Cambria Math" panose="02040503050406030204" pitchFamily="18" charset="0"/>
                            </a:rPr>
                            <m:t>𝑠</m:t>
                          </m:r>
                        </m:num>
                        <m:den>
                          <m:r>
                            <a:rPr lang="en-US" b="0" i="1" smtClean="0">
                              <a:solidFill>
                                <a:schemeClr val="bg1"/>
                              </a:solidFill>
                              <a:latin typeface="Cambria Math" panose="02040503050406030204" pitchFamily="18" charset="0"/>
                            </a:rPr>
                            <m:t>𝑁</m:t>
                          </m:r>
                        </m:den>
                      </m:f>
                    </m:oMath>
                  </m:oMathPara>
                </a14:m>
                <a:endParaRPr lang="en-CN" dirty="0">
                  <a:solidFill>
                    <a:schemeClr val="bg1"/>
                  </a:solidFill>
                </a:endParaRPr>
              </a:p>
            </p:txBody>
          </p:sp>
        </mc:Choice>
        <mc:Fallback xmlns="">
          <p:sp>
            <p:nvSpPr>
              <p:cNvPr id="10" name="TextBox 9">
                <a:extLst>
                  <a:ext uri="{FF2B5EF4-FFF2-40B4-BE49-F238E27FC236}">
                    <a16:creationId xmlns:a16="http://schemas.microsoft.com/office/drawing/2014/main" id="{06EDD586-D823-3642-B531-542C6FA61BD4}"/>
                  </a:ext>
                </a:extLst>
              </p:cNvPr>
              <p:cNvSpPr txBox="1">
                <a:spLocks noRot="1" noChangeAspect="1" noMove="1" noResize="1" noEditPoints="1" noAdjustHandles="1" noChangeArrowheads="1" noChangeShapeType="1" noTextEdit="1"/>
              </p:cNvSpPr>
              <p:nvPr/>
            </p:nvSpPr>
            <p:spPr>
              <a:xfrm>
                <a:off x="234176" y="1866815"/>
                <a:ext cx="3123211" cy="683264"/>
              </a:xfrm>
              <a:prstGeom prst="rect">
                <a:avLst/>
              </a:prstGeom>
              <a:blipFill>
                <a:blip r:embed="rId4"/>
                <a:stretch>
                  <a:fillRect/>
                </a:stretch>
              </a:blipFill>
            </p:spPr>
            <p:txBody>
              <a:bodyPr/>
              <a:lstStyle/>
              <a:p>
                <a:r>
                  <a:rPr lang="en-CN">
                    <a:noFill/>
                  </a:rPr>
                  <a:t> </a:t>
                </a:r>
              </a:p>
            </p:txBody>
          </p:sp>
        </mc:Fallback>
      </mc:AlternateContent>
      <p:sp>
        <p:nvSpPr>
          <p:cNvPr id="2" name="TextBox 1">
            <a:extLst>
              <a:ext uri="{FF2B5EF4-FFF2-40B4-BE49-F238E27FC236}">
                <a16:creationId xmlns:a16="http://schemas.microsoft.com/office/drawing/2014/main" id="{AC94F4EC-3308-D1E7-62D4-7912C7EC3D7B}"/>
              </a:ext>
            </a:extLst>
          </p:cNvPr>
          <p:cNvSpPr txBox="1"/>
          <p:nvPr/>
        </p:nvSpPr>
        <p:spPr>
          <a:xfrm>
            <a:off x="1071716" y="2939845"/>
            <a:ext cx="2694039" cy="369332"/>
          </a:xfrm>
          <a:prstGeom prst="rect">
            <a:avLst/>
          </a:prstGeom>
          <a:noFill/>
        </p:spPr>
        <p:txBody>
          <a:bodyPr wrap="square" rtlCol="0">
            <a:spAutoFit/>
          </a:bodyPr>
          <a:lstStyle/>
          <a:p>
            <a:r>
              <a:rPr lang="en-CN" dirty="0">
                <a:solidFill>
                  <a:schemeClr val="bg1"/>
                </a:solidFill>
              </a:rPr>
              <a:t>见Binary.nb</a:t>
            </a:r>
          </a:p>
        </p:txBody>
      </p:sp>
    </p:spTree>
    <p:extLst>
      <p:ext uri="{BB962C8B-B14F-4D97-AF65-F5344CB8AC3E}">
        <p14:creationId xmlns:p14="http://schemas.microsoft.com/office/powerpoint/2010/main" val="3333198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BE31B8A-A597-F744-9F24-175FBC7AD0D1}"/>
              </a:ext>
            </a:extLst>
          </p:cNvPr>
          <p:cNvSpPr txBox="1"/>
          <p:nvPr/>
        </p:nvSpPr>
        <p:spPr>
          <a:xfrm>
            <a:off x="2110553" y="1566863"/>
            <a:ext cx="7750097" cy="1015663"/>
          </a:xfrm>
          <a:prstGeom prst="rect">
            <a:avLst/>
          </a:prstGeom>
          <a:noFill/>
        </p:spPr>
        <p:txBody>
          <a:bodyPr wrap="square" rtlCol="0">
            <a:spAutoFit/>
          </a:bodyPr>
          <a:lstStyle/>
          <a:p>
            <a:pPr algn="ctr"/>
            <a:r>
              <a:rPr lang="en-CN" sz="6000" dirty="0"/>
              <a:t>Sharpness!!!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E1F001D-A85C-4644-A2B3-84AFF77AC4C0}"/>
                  </a:ext>
                </a:extLst>
              </p:cNvPr>
              <p:cNvSpPr txBox="1"/>
              <p:nvPr/>
            </p:nvSpPr>
            <p:spPr>
              <a:xfrm>
                <a:off x="6792651" y="2197510"/>
                <a:ext cx="2787805" cy="19995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sz="6000" i="1" smtClean="0">
                              <a:solidFill>
                                <a:srgbClr val="FF0000"/>
                              </a:solidFill>
                              <a:latin typeface="Cambria Math" panose="02040503050406030204" pitchFamily="18" charset="0"/>
                            </a:rPr>
                          </m:ctrlPr>
                        </m:fPr>
                        <m:num>
                          <m:r>
                            <a:rPr lang="en-US" sz="6000" b="0" i="1" smtClean="0">
                              <a:solidFill>
                                <a:srgbClr val="FF0000"/>
                              </a:solidFill>
                              <a:latin typeface="Cambria Math" panose="02040503050406030204" pitchFamily="18" charset="0"/>
                            </a:rPr>
                            <m:t>1</m:t>
                          </m:r>
                        </m:num>
                        <m:den>
                          <m:rad>
                            <m:radPr>
                              <m:degHide m:val="on"/>
                              <m:ctrlPr>
                                <a:rPr lang="en-CN" sz="6000" i="1" smtClean="0">
                                  <a:solidFill>
                                    <a:srgbClr val="FF0000"/>
                                  </a:solidFill>
                                  <a:latin typeface="Cambria Math" panose="02040503050406030204" pitchFamily="18" charset="0"/>
                                </a:rPr>
                              </m:ctrlPr>
                            </m:radPr>
                            <m:deg/>
                            <m:e>
                              <m:r>
                                <a:rPr lang="en-US" sz="6000" b="0" i="1" smtClean="0">
                                  <a:solidFill>
                                    <a:srgbClr val="FF0000"/>
                                  </a:solidFill>
                                  <a:latin typeface="Cambria Math" panose="02040503050406030204" pitchFamily="18" charset="0"/>
                                </a:rPr>
                                <m:t>𝑁</m:t>
                              </m:r>
                            </m:e>
                          </m:rad>
                        </m:den>
                      </m:f>
                    </m:oMath>
                  </m:oMathPara>
                </a14:m>
                <a:endParaRPr lang="en-CN" sz="6000" dirty="0"/>
              </a:p>
            </p:txBody>
          </p:sp>
        </mc:Choice>
        <mc:Fallback xmlns="">
          <p:sp>
            <p:nvSpPr>
              <p:cNvPr id="2" name="TextBox 1">
                <a:extLst>
                  <a:ext uri="{FF2B5EF4-FFF2-40B4-BE49-F238E27FC236}">
                    <a16:creationId xmlns:a16="http://schemas.microsoft.com/office/drawing/2014/main" id="{1E1F001D-A85C-4644-A2B3-84AFF77AC4C0}"/>
                  </a:ext>
                </a:extLst>
              </p:cNvPr>
              <p:cNvSpPr txBox="1">
                <a:spLocks noRot="1" noChangeAspect="1" noMove="1" noResize="1" noEditPoints="1" noAdjustHandles="1" noChangeArrowheads="1" noChangeShapeType="1" noTextEdit="1"/>
              </p:cNvSpPr>
              <p:nvPr/>
            </p:nvSpPr>
            <p:spPr>
              <a:xfrm>
                <a:off x="6792651" y="2197510"/>
                <a:ext cx="2787805" cy="1999586"/>
              </a:xfrm>
              <a:prstGeom prst="rect">
                <a:avLst/>
              </a:prstGeom>
              <a:blipFill>
                <a:blip r:embed="rId2"/>
                <a:stretch>
                  <a:fillRect b="-6289"/>
                </a:stretch>
              </a:blipFill>
            </p:spPr>
            <p:txBody>
              <a:bodyPr/>
              <a:lstStyle/>
              <a:p>
                <a:r>
                  <a:rPr lang="en-CN">
                    <a:noFill/>
                  </a:rPr>
                  <a:t> </a:t>
                </a:r>
              </a:p>
            </p:txBody>
          </p:sp>
        </mc:Fallback>
      </mc:AlternateContent>
      <p:pic>
        <p:nvPicPr>
          <p:cNvPr id="1026" name="Picture 2">
            <a:extLst>
              <a:ext uri="{FF2B5EF4-FFF2-40B4-BE49-F238E27FC236}">
                <a16:creationId xmlns:a16="http://schemas.microsoft.com/office/drawing/2014/main" id="{C3E3C4EF-F08F-B04A-A797-388CDE2016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0932" y="424344"/>
            <a:ext cx="3474669" cy="5820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90778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6DD7BE1-C336-4640-A83B-6C6FC15E09AD}"/>
              </a:ext>
            </a:extLst>
          </p:cNvPr>
          <p:cNvSpPr txBox="1"/>
          <p:nvPr/>
        </p:nvSpPr>
        <p:spPr>
          <a:xfrm>
            <a:off x="556445" y="1552771"/>
            <a:ext cx="10827834" cy="5016758"/>
          </a:xfrm>
          <a:prstGeom prst="rect">
            <a:avLst/>
          </a:prstGeom>
          <a:noFill/>
        </p:spPr>
        <p:txBody>
          <a:bodyPr wrap="square" rtlCol="0">
            <a:spAutoFit/>
          </a:bodyPr>
          <a:lstStyle/>
          <a:p>
            <a:pPr marL="285750" indent="-285750">
              <a:buFont typeface="Arial" panose="020B0604020202020204" pitchFamily="34" charset="0"/>
              <a:buChar char="•"/>
            </a:pPr>
            <a:r>
              <a:rPr lang="en-CN" sz="3200" dirty="0">
                <a:solidFill>
                  <a:schemeClr val="bg1"/>
                </a:solidFill>
              </a:rPr>
              <a:t>当两个非常大的两个爱因斯坦固体进行热接触</a:t>
            </a:r>
            <a:r>
              <a:rPr lang="zh-CN" altLang="en-US" sz="3200" dirty="0">
                <a:solidFill>
                  <a:schemeClr val="bg1"/>
                </a:solidFill>
              </a:rPr>
              <a:t>，存在一个最</a:t>
            </a:r>
            <a:r>
              <a:rPr lang="zh-CN" altLang="en-CN" sz="3200" dirty="0">
                <a:solidFill>
                  <a:schemeClr val="bg1"/>
                </a:solidFill>
              </a:rPr>
              <a:t>概然</a:t>
            </a:r>
            <a:r>
              <a:rPr lang="zh-CN" altLang="en-US" sz="3200" dirty="0">
                <a:solidFill>
                  <a:schemeClr val="bg1"/>
                </a:solidFill>
              </a:rPr>
              <a:t>的宏观态，任何随机偏离该宏观态的涨落都</a:t>
            </a:r>
            <a:r>
              <a:rPr lang="en-US" altLang="zh-CN" sz="3200" dirty="0">
                <a:solidFill>
                  <a:schemeClr val="bg1"/>
                </a:solidFill>
              </a:rPr>
              <a:t>utterly unmeasurable. </a:t>
            </a:r>
            <a:r>
              <a:rPr lang="zh-CN" altLang="en-US" sz="3200" dirty="0">
                <a:solidFill>
                  <a:schemeClr val="bg1"/>
                </a:solidFill>
              </a:rPr>
              <a:t>如果我们想看到这些涨落，需要使观测到不可思议的精度。</a:t>
            </a:r>
            <a:endParaRPr lang="en-US" altLang="zh-CN" sz="3200" dirty="0">
              <a:solidFill>
                <a:schemeClr val="bg1"/>
              </a:solidFill>
            </a:endParaRPr>
          </a:p>
          <a:p>
            <a:pPr marL="285750" indent="-285750">
              <a:buFont typeface="Arial" panose="020B0604020202020204" pitchFamily="34" charset="0"/>
              <a:buChar char="•"/>
            </a:pPr>
            <a:r>
              <a:rPr lang="zh-CN" altLang="en-US" sz="3200" dirty="0">
                <a:solidFill>
                  <a:schemeClr val="bg1"/>
                </a:solidFill>
              </a:rPr>
              <a:t>对于</a:t>
            </a:r>
            <a:r>
              <a:rPr lang="en-US" altLang="zh-CN" sz="3200" dirty="0">
                <a:solidFill>
                  <a:schemeClr val="bg1"/>
                </a:solidFill>
              </a:rPr>
              <a:t>AB</a:t>
            </a:r>
            <a:r>
              <a:rPr lang="zh-CN" altLang="en-US" sz="3200" dirty="0">
                <a:solidFill>
                  <a:schemeClr val="bg1"/>
                </a:solidFill>
              </a:rPr>
              <a:t>两系统，所有微观态等概率</a:t>
            </a:r>
            <a:r>
              <a:rPr lang="en-US" altLang="zh-CN" sz="3200" dirty="0">
                <a:solidFill>
                  <a:schemeClr val="bg1"/>
                </a:solidFill>
              </a:rPr>
              <a:t>=</a:t>
            </a:r>
            <a:r>
              <a:rPr lang="zh-CN" altLang="en-US" sz="3200" dirty="0">
                <a:solidFill>
                  <a:schemeClr val="bg1"/>
                </a:solidFill>
              </a:rPr>
              <a:t>热平衡</a:t>
            </a:r>
            <a:r>
              <a:rPr lang="en-US" altLang="zh-CN" sz="3200" dirty="0">
                <a:solidFill>
                  <a:schemeClr val="bg1"/>
                </a:solidFill>
              </a:rPr>
              <a:t>=</a:t>
            </a:r>
            <a:r>
              <a:rPr lang="zh-CN" altLang="en-US" sz="3200" dirty="0">
                <a:solidFill>
                  <a:schemeClr val="bg1"/>
                </a:solidFill>
              </a:rPr>
              <a:t>最概然态</a:t>
            </a:r>
            <a:endParaRPr lang="en-US" altLang="zh-CN" sz="3200" dirty="0">
              <a:solidFill>
                <a:schemeClr val="bg1"/>
              </a:solidFill>
            </a:endParaRPr>
          </a:p>
          <a:p>
            <a:pPr marL="285750" indent="-285750">
              <a:buFont typeface="Arial" panose="020B0604020202020204" pitchFamily="34" charset="0"/>
              <a:buChar char="•"/>
            </a:pPr>
            <a:r>
              <a:rPr lang="en-US" altLang="zh-CN" sz="3200" dirty="0">
                <a:solidFill>
                  <a:schemeClr val="bg1"/>
                </a:solidFill>
              </a:rPr>
              <a:t>A relatively small number of configurations will dominate the statistical properties of the combined system.</a:t>
            </a:r>
          </a:p>
          <a:p>
            <a:pPr marL="285750" indent="-285750">
              <a:buFont typeface="Arial" panose="020B0604020202020204" pitchFamily="34" charset="0"/>
              <a:buChar char="•"/>
            </a:pPr>
            <a:r>
              <a:rPr lang="en-US" sz="3200" dirty="0">
                <a:solidFill>
                  <a:schemeClr val="bg1"/>
                </a:solidFill>
              </a:rPr>
              <a:t>The limit where a system become infinitely large, so that measurable fluctuations away from the most like microstate never occur, is called </a:t>
            </a:r>
            <a:r>
              <a:rPr lang="en-US" sz="3200" dirty="0">
                <a:solidFill>
                  <a:srgbClr val="FF0000"/>
                </a:solidFill>
              </a:rPr>
              <a:t>the thermodynamic limit</a:t>
            </a:r>
            <a:r>
              <a:rPr lang="en-US" sz="3200" dirty="0">
                <a:solidFill>
                  <a:schemeClr val="bg1"/>
                </a:solidFill>
              </a:rPr>
              <a:t>.</a:t>
            </a:r>
            <a:endParaRPr lang="en-CN" sz="3200" dirty="0">
              <a:solidFill>
                <a:schemeClr val="bg1"/>
              </a:solidFill>
            </a:endParaRPr>
          </a:p>
        </p:txBody>
      </p:sp>
      <p:sp>
        <p:nvSpPr>
          <p:cNvPr id="11" name="TextBox 10">
            <a:extLst>
              <a:ext uri="{FF2B5EF4-FFF2-40B4-BE49-F238E27FC236}">
                <a16:creationId xmlns:a16="http://schemas.microsoft.com/office/drawing/2014/main" id="{6BE31B8A-A597-F744-9F24-175FBC7AD0D1}"/>
              </a:ext>
            </a:extLst>
          </p:cNvPr>
          <p:cNvSpPr txBox="1"/>
          <p:nvPr/>
        </p:nvSpPr>
        <p:spPr>
          <a:xfrm>
            <a:off x="2095313" y="288471"/>
            <a:ext cx="7750097" cy="707886"/>
          </a:xfrm>
          <a:prstGeom prst="rect">
            <a:avLst/>
          </a:prstGeom>
          <a:noFill/>
        </p:spPr>
        <p:txBody>
          <a:bodyPr wrap="square" rtlCol="0">
            <a:spAutoFit/>
          </a:bodyPr>
          <a:lstStyle/>
          <a:p>
            <a:pPr algn="ctr"/>
            <a:r>
              <a:rPr lang="en-CN" sz="4000" dirty="0">
                <a:solidFill>
                  <a:schemeClr val="bg1"/>
                </a:solidFill>
              </a:rPr>
              <a:t>Most Probable Configuration</a:t>
            </a:r>
          </a:p>
        </p:txBody>
      </p:sp>
    </p:spTree>
    <p:extLst>
      <p:ext uri="{BB962C8B-B14F-4D97-AF65-F5344CB8AC3E}">
        <p14:creationId xmlns:p14="http://schemas.microsoft.com/office/powerpoint/2010/main" val="412446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BE31B8A-A597-F744-9F24-175FBC7AD0D1}"/>
              </a:ext>
            </a:extLst>
          </p:cNvPr>
          <p:cNvSpPr txBox="1"/>
          <p:nvPr/>
        </p:nvSpPr>
        <p:spPr>
          <a:xfrm>
            <a:off x="1895708" y="89210"/>
            <a:ext cx="7750097" cy="707886"/>
          </a:xfrm>
          <a:prstGeom prst="rect">
            <a:avLst/>
          </a:prstGeom>
          <a:noFill/>
        </p:spPr>
        <p:txBody>
          <a:bodyPr wrap="square" rtlCol="0">
            <a:spAutoFit/>
          </a:bodyPr>
          <a:lstStyle/>
          <a:p>
            <a:pPr algn="ctr"/>
            <a:r>
              <a:rPr lang="en-CN" sz="4000" dirty="0">
                <a:solidFill>
                  <a:srgbClr val="FF0000"/>
                </a:solidFill>
              </a:rPr>
              <a:t>Most Probable Configuration</a:t>
            </a:r>
          </a:p>
        </p:txBody>
      </p:sp>
      <p:sp>
        <p:nvSpPr>
          <p:cNvPr id="2" name="TextBox 1">
            <a:extLst>
              <a:ext uri="{FF2B5EF4-FFF2-40B4-BE49-F238E27FC236}">
                <a16:creationId xmlns:a16="http://schemas.microsoft.com/office/drawing/2014/main" id="{EA334B1A-8009-C249-8FD3-A8081BE4C9A9}"/>
              </a:ext>
            </a:extLst>
          </p:cNvPr>
          <p:cNvSpPr txBox="1"/>
          <p:nvPr/>
        </p:nvSpPr>
        <p:spPr>
          <a:xfrm>
            <a:off x="758283" y="1193176"/>
            <a:ext cx="10894741" cy="1477328"/>
          </a:xfrm>
          <a:prstGeom prst="rect">
            <a:avLst/>
          </a:prstGeom>
          <a:noFill/>
        </p:spPr>
        <p:txBody>
          <a:bodyPr wrap="square" rtlCol="0">
            <a:spAutoFit/>
          </a:bodyPr>
          <a:lstStyle/>
          <a:p>
            <a:r>
              <a:rPr lang="en-CN" dirty="0">
                <a:solidFill>
                  <a:schemeClr val="bg1"/>
                </a:solidFill>
              </a:rPr>
              <a:t>Such a sharp maxium is property of every realistic type of large system for whih exact solutions are available: We postulate that it is a general properties of all large system. From the sharpness property it follows that fluctuation about the most probable configuration are small. The important result follows that the values of the average physical properties of large system in thermal contact with another large system are accurately described by the properties of the most probable configuration. Such average values are called thermal equilibrium values.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11D4A97-5164-4647-ACAA-E1379A233BC4}"/>
                  </a:ext>
                </a:extLst>
              </p:cNvPr>
              <p:cNvSpPr txBox="1"/>
              <p:nvPr/>
            </p:nvSpPr>
            <p:spPr>
              <a:xfrm>
                <a:off x="1716173" y="3284883"/>
                <a:ext cx="8497229" cy="15826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b="0" i="1" smtClean="0">
                          <a:solidFill>
                            <a:schemeClr val="bg1"/>
                          </a:solidFill>
                          <a:latin typeface="Cambria Math" panose="02040503050406030204" pitchFamily="18" charset="0"/>
                        </a:rPr>
                        <m:t>𝑔</m:t>
                      </m:r>
                      <m:r>
                        <a:rPr lang="en-US" sz="4000" b="0" i="1" smtClean="0">
                          <a:solidFill>
                            <a:schemeClr val="bg1"/>
                          </a:solidFill>
                          <a:latin typeface="Cambria Math" panose="02040503050406030204" pitchFamily="18" charset="0"/>
                        </a:rPr>
                        <m:t>=</m:t>
                      </m:r>
                      <m:nary>
                        <m:naryPr>
                          <m:chr m:val="∑"/>
                          <m:subHide m:val="on"/>
                          <m:supHide m:val="on"/>
                          <m:ctrlPr>
                            <a:rPr lang="en-US" sz="4000" b="0" i="1" smtClean="0">
                              <a:solidFill>
                                <a:schemeClr val="bg1"/>
                              </a:solidFill>
                              <a:latin typeface="Cambria Math" panose="02040503050406030204" pitchFamily="18" charset="0"/>
                            </a:rPr>
                          </m:ctrlPr>
                        </m:naryPr>
                        <m:sub/>
                        <m:sup/>
                        <m:e>
                          <m:sSub>
                            <m:sSubPr>
                              <m:ctrlPr>
                                <a:rPr lang="en-US" sz="4000" b="0" i="1" smtClean="0">
                                  <a:solidFill>
                                    <a:schemeClr val="bg1"/>
                                  </a:solidFill>
                                  <a:latin typeface="Cambria Math" panose="02040503050406030204" pitchFamily="18" charset="0"/>
                                </a:rPr>
                              </m:ctrlPr>
                            </m:sSubPr>
                            <m:e>
                              <m:r>
                                <a:rPr lang="en-US" sz="4000" b="0" i="1" smtClean="0">
                                  <a:solidFill>
                                    <a:schemeClr val="bg1"/>
                                  </a:solidFill>
                                  <a:latin typeface="Cambria Math" panose="02040503050406030204" pitchFamily="18" charset="0"/>
                                </a:rPr>
                                <m:t>𝑔</m:t>
                              </m:r>
                            </m:e>
                            <m:sub>
                              <m:r>
                                <a:rPr lang="en-US" sz="4000" b="0" i="1" smtClean="0">
                                  <a:solidFill>
                                    <a:schemeClr val="bg1"/>
                                  </a:solidFill>
                                  <a:latin typeface="Cambria Math" panose="02040503050406030204" pitchFamily="18" charset="0"/>
                                </a:rPr>
                                <m:t>𝐴</m:t>
                              </m:r>
                            </m:sub>
                          </m:sSub>
                          <m:sSub>
                            <m:sSubPr>
                              <m:ctrlPr>
                                <a:rPr lang="en-US" sz="4000" b="0" i="1" smtClean="0">
                                  <a:solidFill>
                                    <a:schemeClr val="bg1"/>
                                  </a:solidFill>
                                  <a:latin typeface="Cambria Math" panose="02040503050406030204" pitchFamily="18" charset="0"/>
                                </a:rPr>
                              </m:ctrlPr>
                            </m:sSubPr>
                            <m:e>
                              <m:r>
                                <a:rPr lang="en-US" sz="4000" b="0" i="1" smtClean="0">
                                  <a:solidFill>
                                    <a:schemeClr val="bg1"/>
                                  </a:solidFill>
                                  <a:latin typeface="Cambria Math" panose="02040503050406030204" pitchFamily="18" charset="0"/>
                                </a:rPr>
                                <m:t>𝑔</m:t>
                              </m:r>
                            </m:e>
                            <m:sub>
                              <m:r>
                                <a:rPr lang="en-US" sz="4000" b="0" i="1" smtClean="0">
                                  <a:solidFill>
                                    <a:schemeClr val="bg1"/>
                                  </a:solidFill>
                                  <a:latin typeface="Cambria Math" panose="02040503050406030204" pitchFamily="18" charset="0"/>
                                </a:rPr>
                                <m:t>𝐵</m:t>
                              </m:r>
                            </m:sub>
                          </m:sSub>
                          <m:r>
                            <a:rPr lang="en-US" sz="4000" b="0" i="1" smtClean="0">
                              <a:solidFill>
                                <a:schemeClr val="bg1"/>
                              </a:solidFill>
                              <a:latin typeface="Cambria Math" panose="02040503050406030204" pitchFamily="18" charset="0"/>
                              <a:ea typeface="Cambria Math" panose="02040503050406030204" pitchFamily="18" charset="0"/>
                            </a:rPr>
                            <m:t>≈</m:t>
                          </m:r>
                          <m:sSub>
                            <m:sSubPr>
                              <m:ctrlPr>
                                <a:rPr lang="en-US" sz="4000" b="0" i="1" smtClean="0">
                                  <a:solidFill>
                                    <a:schemeClr val="bg1"/>
                                  </a:solidFill>
                                  <a:latin typeface="Cambria Math" panose="02040503050406030204" pitchFamily="18" charset="0"/>
                                  <a:ea typeface="Cambria Math" panose="02040503050406030204" pitchFamily="18" charset="0"/>
                                </a:rPr>
                              </m:ctrlPr>
                            </m:sSubPr>
                            <m:e>
                              <m:r>
                                <a:rPr lang="en-US" sz="4000" b="0" i="1" smtClean="0">
                                  <a:solidFill>
                                    <a:schemeClr val="bg1"/>
                                  </a:solidFill>
                                  <a:latin typeface="Cambria Math" panose="02040503050406030204" pitchFamily="18" charset="0"/>
                                  <a:ea typeface="Cambria Math" panose="02040503050406030204" pitchFamily="18" charset="0"/>
                                </a:rPr>
                                <m:t>𝑔</m:t>
                              </m:r>
                            </m:e>
                            <m:sub>
                              <m:r>
                                <a:rPr lang="en-US" sz="4000" b="0" i="1" smtClean="0">
                                  <a:solidFill>
                                    <a:schemeClr val="bg1"/>
                                  </a:solidFill>
                                  <a:latin typeface="Cambria Math" panose="02040503050406030204" pitchFamily="18" charset="0"/>
                                  <a:ea typeface="Cambria Math" panose="02040503050406030204" pitchFamily="18" charset="0"/>
                                </a:rPr>
                                <m:t>𝐴</m:t>
                              </m:r>
                            </m:sub>
                          </m:sSub>
                          <m:r>
                            <a:rPr lang="en-US" sz="4000" b="0" i="1" smtClean="0">
                              <a:solidFill>
                                <a:schemeClr val="bg1"/>
                              </a:solidFill>
                              <a:latin typeface="Cambria Math" panose="02040503050406030204" pitchFamily="18" charset="0"/>
                              <a:ea typeface="Cambria Math" panose="02040503050406030204" pitchFamily="18" charset="0"/>
                            </a:rPr>
                            <m:t>(</m:t>
                          </m:r>
                          <m:acc>
                            <m:accPr>
                              <m:chr m:val="̂"/>
                              <m:ctrlPr>
                                <a:rPr lang="en-US" sz="4000" b="0" i="1" smtClean="0">
                                  <a:solidFill>
                                    <a:schemeClr val="bg1"/>
                                  </a:solidFill>
                                  <a:latin typeface="Cambria Math" panose="02040503050406030204" pitchFamily="18" charset="0"/>
                                  <a:ea typeface="Cambria Math" panose="02040503050406030204" pitchFamily="18" charset="0"/>
                                </a:rPr>
                              </m:ctrlPr>
                            </m:accPr>
                            <m:e>
                              <m:sSub>
                                <m:sSubPr>
                                  <m:ctrlPr>
                                    <a:rPr lang="en-US" sz="4000" b="0" i="1" smtClean="0">
                                      <a:solidFill>
                                        <a:schemeClr val="bg1"/>
                                      </a:solidFill>
                                      <a:latin typeface="Cambria Math" panose="02040503050406030204" pitchFamily="18" charset="0"/>
                                      <a:ea typeface="Cambria Math" panose="02040503050406030204" pitchFamily="18" charset="0"/>
                                    </a:rPr>
                                  </m:ctrlPr>
                                </m:sSubPr>
                                <m:e>
                                  <m:r>
                                    <a:rPr lang="en-US" sz="4000" b="0" i="1" smtClean="0">
                                      <a:solidFill>
                                        <a:schemeClr val="bg1"/>
                                      </a:solidFill>
                                      <a:latin typeface="Cambria Math" panose="02040503050406030204" pitchFamily="18" charset="0"/>
                                      <a:ea typeface="Cambria Math" panose="02040503050406030204" pitchFamily="18" charset="0"/>
                                    </a:rPr>
                                    <m:t>𝑞</m:t>
                                  </m:r>
                                </m:e>
                                <m:sub>
                                  <m:r>
                                    <a:rPr lang="en-US" sz="4000" b="0" i="1" smtClean="0">
                                      <a:solidFill>
                                        <a:schemeClr val="bg1"/>
                                      </a:solidFill>
                                      <a:latin typeface="Cambria Math" panose="02040503050406030204" pitchFamily="18" charset="0"/>
                                      <a:ea typeface="Cambria Math" panose="02040503050406030204" pitchFamily="18" charset="0"/>
                                    </a:rPr>
                                    <m:t>𝐴</m:t>
                                  </m:r>
                                </m:sub>
                              </m:sSub>
                            </m:e>
                          </m:acc>
                          <m:r>
                            <a:rPr lang="en-US" sz="4000" b="0" i="1" smtClean="0">
                              <a:solidFill>
                                <a:schemeClr val="bg1"/>
                              </a:solidFill>
                              <a:latin typeface="Cambria Math" panose="02040503050406030204" pitchFamily="18" charset="0"/>
                              <a:ea typeface="Cambria Math" panose="02040503050406030204" pitchFamily="18" charset="0"/>
                            </a:rPr>
                            <m:t>)</m:t>
                          </m:r>
                          <m:sSub>
                            <m:sSubPr>
                              <m:ctrlPr>
                                <a:rPr lang="en-US" sz="4000" b="0" i="1" smtClean="0">
                                  <a:solidFill>
                                    <a:schemeClr val="bg1"/>
                                  </a:solidFill>
                                  <a:latin typeface="Cambria Math" panose="02040503050406030204" pitchFamily="18" charset="0"/>
                                  <a:ea typeface="Cambria Math" panose="02040503050406030204" pitchFamily="18" charset="0"/>
                                </a:rPr>
                              </m:ctrlPr>
                            </m:sSubPr>
                            <m:e>
                              <m:r>
                                <a:rPr lang="en-US" sz="4000" b="0" i="1" smtClean="0">
                                  <a:solidFill>
                                    <a:schemeClr val="bg1"/>
                                  </a:solidFill>
                                  <a:latin typeface="Cambria Math" panose="02040503050406030204" pitchFamily="18" charset="0"/>
                                  <a:ea typeface="Cambria Math" panose="02040503050406030204" pitchFamily="18" charset="0"/>
                                </a:rPr>
                                <m:t>𝑔</m:t>
                              </m:r>
                            </m:e>
                            <m:sub>
                              <m:r>
                                <a:rPr lang="en-US" sz="4000" b="0" i="1" smtClean="0">
                                  <a:solidFill>
                                    <a:schemeClr val="bg1"/>
                                  </a:solidFill>
                                  <a:latin typeface="Cambria Math" panose="02040503050406030204" pitchFamily="18" charset="0"/>
                                  <a:ea typeface="Cambria Math" panose="02040503050406030204" pitchFamily="18" charset="0"/>
                                </a:rPr>
                                <m:t>𝐵</m:t>
                              </m:r>
                            </m:sub>
                          </m:sSub>
                          <m:r>
                            <a:rPr lang="en-US" sz="4000" b="0" i="1" smtClean="0">
                              <a:solidFill>
                                <a:schemeClr val="bg1"/>
                              </a:solidFill>
                              <a:latin typeface="Cambria Math" panose="02040503050406030204" pitchFamily="18" charset="0"/>
                              <a:ea typeface="Cambria Math" panose="02040503050406030204" pitchFamily="18" charset="0"/>
                            </a:rPr>
                            <m:t>(</m:t>
                          </m:r>
                          <m:r>
                            <a:rPr lang="en-US" sz="4000" b="0" i="1" smtClean="0">
                              <a:solidFill>
                                <a:schemeClr val="bg1"/>
                              </a:solidFill>
                              <a:latin typeface="Cambria Math" panose="02040503050406030204" pitchFamily="18" charset="0"/>
                              <a:ea typeface="Cambria Math" panose="02040503050406030204" pitchFamily="18" charset="0"/>
                            </a:rPr>
                            <m:t>𝑞</m:t>
                          </m:r>
                          <m:r>
                            <a:rPr lang="en-US" sz="4000" b="0" i="1" smtClean="0">
                              <a:solidFill>
                                <a:schemeClr val="bg1"/>
                              </a:solidFill>
                              <a:latin typeface="Cambria Math" panose="02040503050406030204" pitchFamily="18" charset="0"/>
                              <a:ea typeface="Cambria Math" panose="02040503050406030204" pitchFamily="18" charset="0"/>
                            </a:rPr>
                            <m:t>−</m:t>
                          </m:r>
                          <m:acc>
                            <m:accPr>
                              <m:chr m:val="̂"/>
                              <m:ctrlPr>
                                <a:rPr lang="en-US" sz="4000" b="0" i="1" smtClean="0">
                                  <a:solidFill>
                                    <a:schemeClr val="bg1"/>
                                  </a:solidFill>
                                  <a:latin typeface="Cambria Math" panose="02040503050406030204" pitchFamily="18" charset="0"/>
                                  <a:ea typeface="Cambria Math" panose="02040503050406030204" pitchFamily="18" charset="0"/>
                                </a:rPr>
                              </m:ctrlPr>
                            </m:accPr>
                            <m:e>
                              <m:sSub>
                                <m:sSubPr>
                                  <m:ctrlPr>
                                    <a:rPr lang="en-US" sz="4000" b="0" i="1" smtClean="0">
                                      <a:solidFill>
                                        <a:schemeClr val="bg1"/>
                                      </a:solidFill>
                                      <a:latin typeface="Cambria Math" panose="02040503050406030204" pitchFamily="18" charset="0"/>
                                      <a:ea typeface="Cambria Math" panose="02040503050406030204" pitchFamily="18" charset="0"/>
                                    </a:rPr>
                                  </m:ctrlPr>
                                </m:sSubPr>
                                <m:e>
                                  <m:r>
                                    <a:rPr lang="en-US" sz="4000" b="0" i="1" smtClean="0">
                                      <a:solidFill>
                                        <a:schemeClr val="bg1"/>
                                      </a:solidFill>
                                      <a:latin typeface="Cambria Math" panose="02040503050406030204" pitchFamily="18" charset="0"/>
                                      <a:ea typeface="Cambria Math" panose="02040503050406030204" pitchFamily="18" charset="0"/>
                                    </a:rPr>
                                    <m:t>𝑞</m:t>
                                  </m:r>
                                </m:e>
                                <m:sub>
                                  <m:r>
                                    <a:rPr lang="en-US" sz="4000" b="0" i="1" smtClean="0">
                                      <a:solidFill>
                                        <a:schemeClr val="bg1"/>
                                      </a:solidFill>
                                      <a:latin typeface="Cambria Math" panose="02040503050406030204" pitchFamily="18" charset="0"/>
                                      <a:ea typeface="Cambria Math" panose="02040503050406030204" pitchFamily="18" charset="0"/>
                                    </a:rPr>
                                    <m:t>𝐴</m:t>
                                  </m:r>
                                </m:sub>
                              </m:sSub>
                            </m:e>
                          </m:acc>
                          <m:r>
                            <a:rPr lang="en-US" sz="4000" b="0" i="1" smtClean="0">
                              <a:solidFill>
                                <a:schemeClr val="bg1"/>
                              </a:solidFill>
                              <a:latin typeface="Cambria Math" panose="02040503050406030204" pitchFamily="18" charset="0"/>
                              <a:ea typeface="Cambria Math" panose="02040503050406030204" pitchFamily="18" charset="0"/>
                            </a:rPr>
                            <m:t>)</m:t>
                          </m:r>
                        </m:e>
                      </m:nary>
                    </m:oMath>
                  </m:oMathPara>
                </a14:m>
                <a:endParaRPr lang="en-CN" sz="4000" dirty="0"/>
              </a:p>
            </p:txBody>
          </p:sp>
        </mc:Choice>
        <mc:Fallback xmlns="">
          <p:sp>
            <p:nvSpPr>
              <p:cNvPr id="3" name="TextBox 2">
                <a:extLst>
                  <a:ext uri="{FF2B5EF4-FFF2-40B4-BE49-F238E27FC236}">
                    <a16:creationId xmlns:a16="http://schemas.microsoft.com/office/drawing/2014/main" id="{E11D4A97-5164-4647-ACAA-E1379A233BC4}"/>
                  </a:ext>
                </a:extLst>
              </p:cNvPr>
              <p:cNvSpPr txBox="1">
                <a:spLocks noRot="1" noChangeAspect="1" noMove="1" noResize="1" noEditPoints="1" noAdjustHandles="1" noChangeArrowheads="1" noChangeShapeType="1" noTextEdit="1"/>
              </p:cNvSpPr>
              <p:nvPr/>
            </p:nvSpPr>
            <p:spPr>
              <a:xfrm>
                <a:off x="1716173" y="3284883"/>
                <a:ext cx="8497229" cy="1582677"/>
              </a:xfrm>
              <a:prstGeom prst="rect">
                <a:avLst/>
              </a:prstGeom>
              <a:blipFill>
                <a:blip r:embed="rId2"/>
                <a:stretch>
                  <a:fillRect l="-5224" t="-136508" b="-187302"/>
                </a:stretch>
              </a:blipFill>
            </p:spPr>
            <p:txBody>
              <a:bodyPr/>
              <a:lstStyle/>
              <a:p>
                <a:r>
                  <a:rPr lang="en-CN">
                    <a:noFill/>
                  </a:rPr>
                  <a:t> </a:t>
                </a:r>
              </a:p>
            </p:txBody>
          </p:sp>
        </mc:Fallback>
      </mc:AlternateContent>
    </p:spTree>
    <p:extLst>
      <p:ext uri="{BB962C8B-B14F-4D97-AF65-F5344CB8AC3E}">
        <p14:creationId xmlns:p14="http://schemas.microsoft.com/office/powerpoint/2010/main" val="4068598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BE31B8A-A597-F744-9F24-175FBC7AD0D1}"/>
              </a:ext>
            </a:extLst>
          </p:cNvPr>
          <p:cNvSpPr txBox="1"/>
          <p:nvPr/>
        </p:nvSpPr>
        <p:spPr>
          <a:xfrm>
            <a:off x="1895708" y="89210"/>
            <a:ext cx="7750097" cy="707886"/>
          </a:xfrm>
          <a:prstGeom prst="rect">
            <a:avLst/>
          </a:prstGeom>
          <a:noFill/>
        </p:spPr>
        <p:txBody>
          <a:bodyPr wrap="square" rtlCol="0">
            <a:spAutoFit/>
          </a:bodyPr>
          <a:lstStyle/>
          <a:p>
            <a:pPr algn="ctr"/>
            <a:r>
              <a:rPr lang="en-CN" sz="4000" dirty="0">
                <a:solidFill>
                  <a:srgbClr val="FF0000"/>
                </a:solidFill>
              </a:rPr>
              <a:t>Most Probable Configuration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11D4A97-5164-4647-ACAA-E1379A233BC4}"/>
                  </a:ext>
                </a:extLst>
              </p:cNvPr>
              <p:cNvSpPr txBox="1"/>
              <p:nvPr/>
            </p:nvSpPr>
            <p:spPr>
              <a:xfrm>
                <a:off x="1690069" y="1257619"/>
                <a:ext cx="8497229" cy="1093761"/>
              </a:xfrm>
              <a:prstGeom prst="rect">
                <a:avLst/>
              </a:prstGeom>
              <a:noFill/>
            </p:spPr>
            <p:txBody>
              <a:bodyPr wrap="square" rtlCol="0">
                <a:spAutoFit/>
              </a:bodyPr>
              <a:lstStyle/>
              <a:p>
                <a:pPr algn="ctr"/>
                <a:r>
                  <a:rPr lang="en-US" sz="4000" b="0" dirty="0">
                    <a:solidFill>
                      <a:schemeClr val="bg1"/>
                    </a:solidFill>
                  </a:rPr>
                  <a:t>d</a:t>
                </a:r>
                <a14:m>
                  <m:oMath xmlns:m="http://schemas.openxmlformats.org/officeDocument/2006/math">
                    <m:r>
                      <a:rPr lang="en-US" sz="4000" b="0" i="1" smtClean="0">
                        <a:solidFill>
                          <a:schemeClr val="bg1"/>
                        </a:solidFill>
                        <a:latin typeface="Cambria Math" panose="02040503050406030204" pitchFamily="18" charset="0"/>
                      </a:rPr>
                      <m:t>𝑔</m:t>
                    </m:r>
                    <m:r>
                      <a:rPr lang="en-US" sz="4000" dirty="0">
                        <a:solidFill>
                          <a:schemeClr val="bg1"/>
                        </a:solidFill>
                        <a:latin typeface="Cambria Math" panose="02040503050406030204" pitchFamily="18" charset="0"/>
                        <a:ea typeface="Cambria Math" panose="02040503050406030204" pitchFamily="18" charset="0"/>
                      </a:rPr>
                      <m:t>=</m:t>
                    </m:r>
                    <m:f>
                      <m:fPr>
                        <m:ctrlPr>
                          <a:rPr lang="en-US" sz="4000" i="1" dirty="0" smtClean="0">
                            <a:solidFill>
                              <a:schemeClr val="bg1"/>
                            </a:solidFill>
                            <a:latin typeface="Cambria Math" panose="02040503050406030204" pitchFamily="18" charset="0"/>
                            <a:ea typeface="Cambria Math" panose="02040503050406030204" pitchFamily="18" charset="0"/>
                          </a:rPr>
                        </m:ctrlPr>
                      </m:fPr>
                      <m:num>
                        <m:r>
                          <a:rPr lang="en-US" sz="4000" i="1" dirty="0" smtClean="0">
                            <a:solidFill>
                              <a:schemeClr val="bg1"/>
                            </a:solidFill>
                            <a:latin typeface="Cambria Math" panose="02040503050406030204" pitchFamily="18" charset="0"/>
                            <a:ea typeface="Cambria Math" panose="02040503050406030204" pitchFamily="18" charset="0"/>
                          </a:rPr>
                          <m:t>𝜕</m:t>
                        </m:r>
                        <m:sSub>
                          <m:sSubPr>
                            <m:ctrlPr>
                              <a:rPr lang="en-US" sz="4000" i="1" dirty="0" smtClean="0">
                                <a:solidFill>
                                  <a:schemeClr val="bg1"/>
                                </a:solidFill>
                                <a:latin typeface="Cambria Math" panose="02040503050406030204" pitchFamily="18" charset="0"/>
                                <a:ea typeface="Cambria Math" panose="02040503050406030204" pitchFamily="18" charset="0"/>
                              </a:rPr>
                            </m:ctrlPr>
                          </m:sSubPr>
                          <m:e>
                            <m:r>
                              <a:rPr lang="en-US" sz="4000" b="0" i="1" dirty="0" smtClean="0">
                                <a:solidFill>
                                  <a:schemeClr val="bg1"/>
                                </a:solidFill>
                                <a:latin typeface="Cambria Math" panose="02040503050406030204" pitchFamily="18" charset="0"/>
                                <a:ea typeface="Cambria Math" panose="02040503050406030204" pitchFamily="18" charset="0"/>
                              </a:rPr>
                              <m:t>𝑔</m:t>
                            </m:r>
                          </m:e>
                          <m:sub>
                            <m:r>
                              <a:rPr lang="en-US" sz="4000" b="0" i="1" dirty="0" smtClean="0">
                                <a:solidFill>
                                  <a:schemeClr val="bg1"/>
                                </a:solidFill>
                                <a:latin typeface="Cambria Math" panose="02040503050406030204" pitchFamily="18" charset="0"/>
                                <a:ea typeface="Cambria Math" panose="02040503050406030204" pitchFamily="18" charset="0"/>
                              </a:rPr>
                              <m:t>1</m:t>
                            </m:r>
                          </m:sub>
                        </m:sSub>
                      </m:num>
                      <m:den>
                        <m:r>
                          <a:rPr lang="en-US" sz="4000" i="1" dirty="0" smtClean="0">
                            <a:solidFill>
                              <a:schemeClr val="bg1"/>
                            </a:solidFill>
                            <a:latin typeface="Cambria Math" panose="02040503050406030204" pitchFamily="18" charset="0"/>
                            <a:ea typeface="Cambria Math" panose="02040503050406030204" pitchFamily="18" charset="0"/>
                          </a:rPr>
                          <m:t>𝜕</m:t>
                        </m:r>
                        <m:sSub>
                          <m:sSubPr>
                            <m:ctrlPr>
                              <a:rPr lang="en-US" sz="4000" i="1" dirty="0" smtClean="0">
                                <a:solidFill>
                                  <a:schemeClr val="bg1"/>
                                </a:solidFill>
                                <a:latin typeface="Cambria Math" panose="02040503050406030204" pitchFamily="18" charset="0"/>
                                <a:ea typeface="Cambria Math" panose="02040503050406030204" pitchFamily="18" charset="0"/>
                              </a:rPr>
                            </m:ctrlPr>
                          </m:sSubPr>
                          <m:e>
                            <m:r>
                              <a:rPr lang="en-US" sz="4000" b="0" i="1" dirty="0" smtClean="0">
                                <a:solidFill>
                                  <a:schemeClr val="bg1"/>
                                </a:solidFill>
                                <a:latin typeface="Cambria Math" panose="02040503050406030204" pitchFamily="18" charset="0"/>
                                <a:ea typeface="Cambria Math" panose="02040503050406030204" pitchFamily="18" charset="0"/>
                              </a:rPr>
                              <m:t>𝑈</m:t>
                            </m:r>
                          </m:e>
                          <m:sub>
                            <m:r>
                              <a:rPr lang="en-US" sz="4000" b="0" i="1" dirty="0" smtClean="0">
                                <a:solidFill>
                                  <a:schemeClr val="bg1"/>
                                </a:solidFill>
                                <a:latin typeface="Cambria Math" panose="02040503050406030204" pitchFamily="18" charset="0"/>
                                <a:ea typeface="Cambria Math" panose="02040503050406030204" pitchFamily="18" charset="0"/>
                              </a:rPr>
                              <m:t>1</m:t>
                            </m:r>
                          </m:sub>
                        </m:sSub>
                      </m:den>
                    </m:f>
                    <m:sSub>
                      <m:sSubPr>
                        <m:ctrlPr>
                          <a:rPr lang="en-US" sz="4000" i="1" dirty="0" smtClean="0">
                            <a:solidFill>
                              <a:schemeClr val="bg1"/>
                            </a:solidFill>
                            <a:latin typeface="Cambria Math" panose="02040503050406030204" pitchFamily="18" charset="0"/>
                            <a:ea typeface="Cambria Math" panose="02040503050406030204" pitchFamily="18" charset="0"/>
                          </a:rPr>
                        </m:ctrlPr>
                      </m:sSubPr>
                      <m:e>
                        <m:r>
                          <a:rPr lang="en-US" sz="4000" b="0" i="1" dirty="0" smtClean="0">
                            <a:solidFill>
                              <a:schemeClr val="bg1"/>
                            </a:solidFill>
                            <a:latin typeface="Cambria Math" panose="02040503050406030204" pitchFamily="18" charset="0"/>
                            <a:ea typeface="Cambria Math" panose="02040503050406030204" pitchFamily="18" charset="0"/>
                          </a:rPr>
                          <m:t>𝑔</m:t>
                        </m:r>
                      </m:e>
                      <m:sub>
                        <m:r>
                          <a:rPr lang="en-US" sz="4000" b="0" i="1" dirty="0" smtClean="0">
                            <a:solidFill>
                              <a:schemeClr val="bg1"/>
                            </a:solidFill>
                            <a:latin typeface="Cambria Math" panose="02040503050406030204" pitchFamily="18" charset="0"/>
                            <a:ea typeface="Cambria Math" panose="02040503050406030204" pitchFamily="18" charset="0"/>
                          </a:rPr>
                          <m:t>2</m:t>
                        </m:r>
                      </m:sub>
                    </m:sSub>
                    <m:r>
                      <a:rPr lang="en-US" sz="4000" b="0" i="1" dirty="0" smtClean="0">
                        <a:solidFill>
                          <a:schemeClr val="bg1"/>
                        </a:solidFill>
                        <a:latin typeface="Cambria Math" panose="02040503050406030204" pitchFamily="18" charset="0"/>
                        <a:ea typeface="Cambria Math" panose="02040503050406030204" pitchFamily="18" charset="0"/>
                      </a:rPr>
                      <m:t>𝑑</m:t>
                    </m:r>
                    <m:sSub>
                      <m:sSubPr>
                        <m:ctrlPr>
                          <a:rPr lang="en-US" sz="4000" b="0" i="1" dirty="0" smtClean="0">
                            <a:solidFill>
                              <a:schemeClr val="bg1"/>
                            </a:solidFill>
                            <a:latin typeface="Cambria Math" panose="02040503050406030204" pitchFamily="18" charset="0"/>
                            <a:ea typeface="Cambria Math" panose="02040503050406030204" pitchFamily="18" charset="0"/>
                          </a:rPr>
                        </m:ctrlPr>
                      </m:sSubPr>
                      <m:e>
                        <m:r>
                          <a:rPr lang="en-US" sz="4000" b="0" i="1" dirty="0" smtClean="0">
                            <a:solidFill>
                              <a:schemeClr val="bg1"/>
                            </a:solidFill>
                            <a:latin typeface="Cambria Math" panose="02040503050406030204" pitchFamily="18" charset="0"/>
                            <a:ea typeface="Cambria Math" panose="02040503050406030204" pitchFamily="18" charset="0"/>
                          </a:rPr>
                          <m:t>𝑈</m:t>
                        </m:r>
                      </m:e>
                      <m:sub>
                        <m:r>
                          <a:rPr lang="en-US" sz="4000" b="0" i="1" dirty="0" smtClean="0">
                            <a:solidFill>
                              <a:schemeClr val="bg1"/>
                            </a:solidFill>
                            <a:latin typeface="Cambria Math" panose="02040503050406030204" pitchFamily="18" charset="0"/>
                            <a:ea typeface="Cambria Math" panose="02040503050406030204" pitchFamily="18" charset="0"/>
                          </a:rPr>
                          <m:t>1</m:t>
                        </m:r>
                      </m:sub>
                    </m:sSub>
                    <m:r>
                      <a:rPr lang="en-US" sz="4000" b="0" i="1" dirty="0" smtClean="0">
                        <a:solidFill>
                          <a:schemeClr val="bg1"/>
                        </a:solidFill>
                        <a:latin typeface="Cambria Math" panose="02040503050406030204" pitchFamily="18" charset="0"/>
                        <a:ea typeface="Cambria Math" panose="02040503050406030204" pitchFamily="18" charset="0"/>
                      </a:rPr>
                      <m:t>+</m:t>
                    </m:r>
                    <m:f>
                      <m:fPr>
                        <m:ctrlPr>
                          <a:rPr lang="en-US" sz="4000" i="1" dirty="0">
                            <a:solidFill>
                              <a:schemeClr val="bg1"/>
                            </a:solidFill>
                            <a:latin typeface="Cambria Math" panose="02040503050406030204" pitchFamily="18" charset="0"/>
                            <a:ea typeface="Cambria Math" panose="02040503050406030204" pitchFamily="18" charset="0"/>
                          </a:rPr>
                        </m:ctrlPr>
                      </m:fPr>
                      <m:num>
                        <m:r>
                          <a:rPr lang="en-US" sz="4000" i="1" dirty="0" smtClean="0">
                            <a:solidFill>
                              <a:schemeClr val="bg1"/>
                            </a:solidFill>
                            <a:latin typeface="Cambria Math" panose="02040503050406030204" pitchFamily="18" charset="0"/>
                            <a:ea typeface="Cambria Math" panose="02040503050406030204" pitchFamily="18" charset="0"/>
                          </a:rPr>
                          <m:t>𝜕</m:t>
                        </m:r>
                        <m:sSub>
                          <m:sSubPr>
                            <m:ctrlPr>
                              <a:rPr lang="en-US" sz="4000" i="1" dirty="0" smtClean="0">
                                <a:solidFill>
                                  <a:schemeClr val="bg1"/>
                                </a:solidFill>
                                <a:latin typeface="Cambria Math" panose="02040503050406030204" pitchFamily="18" charset="0"/>
                                <a:ea typeface="Cambria Math" panose="02040503050406030204" pitchFamily="18" charset="0"/>
                              </a:rPr>
                            </m:ctrlPr>
                          </m:sSubPr>
                          <m:e>
                            <m:r>
                              <a:rPr lang="en-US" sz="4000" b="0" i="1" dirty="0" smtClean="0">
                                <a:solidFill>
                                  <a:schemeClr val="bg1"/>
                                </a:solidFill>
                                <a:latin typeface="Cambria Math" panose="02040503050406030204" pitchFamily="18" charset="0"/>
                                <a:ea typeface="Cambria Math" panose="02040503050406030204" pitchFamily="18" charset="0"/>
                              </a:rPr>
                              <m:t>𝑔</m:t>
                            </m:r>
                          </m:e>
                          <m:sub>
                            <m:r>
                              <a:rPr lang="en-US" sz="4000" b="0" i="1" dirty="0" smtClean="0">
                                <a:solidFill>
                                  <a:schemeClr val="bg1"/>
                                </a:solidFill>
                                <a:latin typeface="Cambria Math" panose="02040503050406030204" pitchFamily="18" charset="0"/>
                                <a:ea typeface="Cambria Math" panose="02040503050406030204" pitchFamily="18" charset="0"/>
                              </a:rPr>
                              <m:t>2</m:t>
                            </m:r>
                          </m:sub>
                        </m:sSub>
                      </m:num>
                      <m:den>
                        <m:r>
                          <a:rPr lang="en-US" sz="4000" i="1" dirty="0" smtClean="0">
                            <a:solidFill>
                              <a:schemeClr val="bg1"/>
                            </a:solidFill>
                            <a:latin typeface="Cambria Math" panose="02040503050406030204" pitchFamily="18" charset="0"/>
                            <a:ea typeface="Cambria Math" panose="02040503050406030204" pitchFamily="18" charset="0"/>
                          </a:rPr>
                          <m:t>𝜕</m:t>
                        </m:r>
                        <m:sSub>
                          <m:sSubPr>
                            <m:ctrlPr>
                              <a:rPr lang="en-US" sz="4000" i="1" dirty="0" smtClean="0">
                                <a:solidFill>
                                  <a:schemeClr val="bg1"/>
                                </a:solidFill>
                                <a:latin typeface="Cambria Math" panose="02040503050406030204" pitchFamily="18" charset="0"/>
                                <a:ea typeface="Cambria Math" panose="02040503050406030204" pitchFamily="18" charset="0"/>
                              </a:rPr>
                            </m:ctrlPr>
                          </m:sSubPr>
                          <m:e>
                            <m:r>
                              <a:rPr lang="en-US" sz="4000" b="0" i="1" dirty="0" smtClean="0">
                                <a:solidFill>
                                  <a:schemeClr val="bg1"/>
                                </a:solidFill>
                                <a:latin typeface="Cambria Math" panose="02040503050406030204" pitchFamily="18" charset="0"/>
                                <a:ea typeface="Cambria Math" panose="02040503050406030204" pitchFamily="18" charset="0"/>
                              </a:rPr>
                              <m:t>𝑈</m:t>
                            </m:r>
                          </m:e>
                          <m:sub>
                            <m:r>
                              <a:rPr lang="en-US" sz="4000" b="0" i="1" dirty="0" smtClean="0">
                                <a:solidFill>
                                  <a:schemeClr val="bg1"/>
                                </a:solidFill>
                                <a:latin typeface="Cambria Math" panose="02040503050406030204" pitchFamily="18" charset="0"/>
                                <a:ea typeface="Cambria Math" panose="02040503050406030204" pitchFamily="18" charset="0"/>
                              </a:rPr>
                              <m:t>2</m:t>
                            </m:r>
                          </m:sub>
                        </m:sSub>
                      </m:den>
                    </m:f>
                    <m:sSub>
                      <m:sSubPr>
                        <m:ctrlPr>
                          <a:rPr lang="en-US" sz="4000" i="1" dirty="0">
                            <a:solidFill>
                              <a:schemeClr val="bg1"/>
                            </a:solidFill>
                            <a:latin typeface="Cambria Math" panose="02040503050406030204" pitchFamily="18" charset="0"/>
                            <a:ea typeface="Cambria Math" panose="02040503050406030204" pitchFamily="18" charset="0"/>
                          </a:rPr>
                        </m:ctrlPr>
                      </m:sSubPr>
                      <m:e>
                        <m:r>
                          <a:rPr lang="en-US" sz="4000" i="1" dirty="0">
                            <a:solidFill>
                              <a:schemeClr val="bg1"/>
                            </a:solidFill>
                            <a:latin typeface="Cambria Math" panose="02040503050406030204" pitchFamily="18" charset="0"/>
                            <a:ea typeface="Cambria Math" panose="02040503050406030204" pitchFamily="18" charset="0"/>
                          </a:rPr>
                          <m:t>𝑔</m:t>
                        </m:r>
                      </m:e>
                      <m:sub>
                        <m:r>
                          <a:rPr lang="en-US" sz="4000" b="0" i="1" dirty="0" smtClean="0">
                            <a:solidFill>
                              <a:schemeClr val="bg1"/>
                            </a:solidFill>
                            <a:latin typeface="Cambria Math" panose="02040503050406030204" pitchFamily="18" charset="0"/>
                            <a:ea typeface="Cambria Math" panose="02040503050406030204" pitchFamily="18" charset="0"/>
                          </a:rPr>
                          <m:t>1</m:t>
                        </m:r>
                      </m:sub>
                    </m:sSub>
                    <m:r>
                      <a:rPr lang="en-US" sz="4000" i="1" dirty="0">
                        <a:solidFill>
                          <a:schemeClr val="bg1"/>
                        </a:solidFill>
                        <a:latin typeface="Cambria Math" panose="02040503050406030204" pitchFamily="18" charset="0"/>
                        <a:ea typeface="Cambria Math" panose="02040503050406030204" pitchFamily="18" charset="0"/>
                      </a:rPr>
                      <m:t>𝑑</m:t>
                    </m:r>
                    <m:sSub>
                      <m:sSubPr>
                        <m:ctrlPr>
                          <a:rPr lang="en-US" sz="4000" i="1" dirty="0">
                            <a:solidFill>
                              <a:schemeClr val="bg1"/>
                            </a:solidFill>
                            <a:latin typeface="Cambria Math" panose="02040503050406030204" pitchFamily="18" charset="0"/>
                            <a:ea typeface="Cambria Math" panose="02040503050406030204" pitchFamily="18" charset="0"/>
                          </a:rPr>
                        </m:ctrlPr>
                      </m:sSubPr>
                      <m:e>
                        <m:r>
                          <a:rPr lang="en-US" sz="4000" i="1" dirty="0">
                            <a:solidFill>
                              <a:schemeClr val="bg1"/>
                            </a:solidFill>
                            <a:latin typeface="Cambria Math" panose="02040503050406030204" pitchFamily="18" charset="0"/>
                            <a:ea typeface="Cambria Math" panose="02040503050406030204" pitchFamily="18" charset="0"/>
                          </a:rPr>
                          <m:t>𝑈</m:t>
                        </m:r>
                      </m:e>
                      <m:sub>
                        <m:r>
                          <a:rPr lang="en-US" sz="4000" b="0" i="1" dirty="0" smtClean="0">
                            <a:solidFill>
                              <a:schemeClr val="bg1"/>
                            </a:solidFill>
                            <a:latin typeface="Cambria Math" panose="02040503050406030204" pitchFamily="18" charset="0"/>
                            <a:ea typeface="Cambria Math" panose="02040503050406030204" pitchFamily="18" charset="0"/>
                          </a:rPr>
                          <m:t>2</m:t>
                        </m:r>
                      </m:sub>
                    </m:sSub>
                    <m:r>
                      <a:rPr lang="en-US" sz="4000" b="0" i="1" smtClean="0">
                        <a:solidFill>
                          <a:schemeClr val="bg1"/>
                        </a:solidFill>
                        <a:latin typeface="Cambria Math" panose="02040503050406030204" pitchFamily="18" charset="0"/>
                      </a:rPr>
                      <m:t>=0</m:t>
                    </m:r>
                  </m:oMath>
                </a14:m>
                <a:endParaRPr lang="en-CN" sz="4000" dirty="0">
                  <a:solidFill>
                    <a:schemeClr val="bg1"/>
                  </a:solidFill>
                </a:endParaRPr>
              </a:p>
            </p:txBody>
          </p:sp>
        </mc:Choice>
        <mc:Fallback xmlns="">
          <p:sp>
            <p:nvSpPr>
              <p:cNvPr id="3" name="TextBox 2">
                <a:extLst>
                  <a:ext uri="{FF2B5EF4-FFF2-40B4-BE49-F238E27FC236}">
                    <a16:creationId xmlns:a16="http://schemas.microsoft.com/office/drawing/2014/main" id="{E11D4A97-5164-4647-ACAA-E1379A233BC4}"/>
                  </a:ext>
                </a:extLst>
              </p:cNvPr>
              <p:cNvSpPr txBox="1">
                <a:spLocks noRot="1" noChangeAspect="1" noMove="1" noResize="1" noEditPoints="1" noAdjustHandles="1" noChangeArrowheads="1" noChangeShapeType="1" noTextEdit="1"/>
              </p:cNvSpPr>
              <p:nvPr/>
            </p:nvSpPr>
            <p:spPr>
              <a:xfrm>
                <a:off x="1690069" y="1257619"/>
                <a:ext cx="8497229" cy="1093761"/>
              </a:xfrm>
              <a:prstGeom prst="rect">
                <a:avLst/>
              </a:prstGeom>
              <a:blipFill>
                <a:blip r:embed="rId2"/>
                <a:stretch>
                  <a:fillRect b="-227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CCA0E94-4365-9C46-BA89-825669E25575}"/>
                  </a:ext>
                </a:extLst>
              </p:cNvPr>
              <p:cNvSpPr txBox="1"/>
              <p:nvPr/>
            </p:nvSpPr>
            <p:spPr>
              <a:xfrm>
                <a:off x="735981" y="2982981"/>
                <a:ext cx="3869473" cy="369332"/>
              </a:xfrm>
              <a:prstGeom prst="rect">
                <a:avLst/>
              </a:prstGeom>
              <a:noFill/>
            </p:spPr>
            <p:txBody>
              <a:bodyPr wrap="square" rtlCol="0">
                <a:spAutoFit/>
              </a:bodyPr>
              <a:lstStyle/>
              <a:p>
                <a:r>
                  <a:rPr lang="en-US" dirty="0">
                    <a:solidFill>
                      <a:schemeClr val="bg1"/>
                    </a:solidFill>
                  </a:rPr>
                  <a:t>N</a:t>
                </a:r>
                <a:r>
                  <a:rPr lang="en-CN" dirty="0">
                    <a:solidFill>
                      <a:schemeClr val="bg1"/>
                    </a:solidFill>
                  </a:rPr>
                  <a:t>ote: </a:t>
                </a:r>
                <a14:m>
                  <m:oMath xmlns:m="http://schemas.openxmlformats.org/officeDocument/2006/math">
                    <m:r>
                      <a:rPr lang="en-US" b="0" i="1" smtClean="0">
                        <a:solidFill>
                          <a:schemeClr val="bg1"/>
                        </a:solidFill>
                        <a:latin typeface="Cambria Math" panose="02040503050406030204" pitchFamily="18" charset="0"/>
                      </a:rPr>
                      <m:t>𝑑𝑈</m:t>
                    </m:r>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𝑑</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𝑈</m:t>
                        </m:r>
                      </m:e>
                      <m:sub>
                        <m:r>
                          <a:rPr lang="en-US" b="0" i="1" smtClean="0">
                            <a:solidFill>
                              <a:schemeClr val="bg1"/>
                            </a:solidFill>
                            <a:latin typeface="Cambria Math" panose="02040503050406030204" pitchFamily="18" charset="0"/>
                          </a:rPr>
                          <m:t>1</m:t>
                        </m:r>
                      </m:sub>
                    </m:sSub>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𝑑</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𝑈</m:t>
                        </m:r>
                      </m:e>
                      <m:sub>
                        <m:r>
                          <a:rPr lang="en-US" b="0" i="1" smtClean="0">
                            <a:solidFill>
                              <a:schemeClr val="bg1"/>
                            </a:solidFill>
                            <a:latin typeface="Cambria Math" panose="02040503050406030204" pitchFamily="18" charset="0"/>
                          </a:rPr>
                          <m:t>2</m:t>
                        </m:r>
                      </m:sub>
                    </m:sSub>
                    <m:r>
                      <a:rPr lang="en-US" b="0" i="1" smtClean="0">
                        <a:solidFill>
                          <a:schemeClr val="bg1"/>
                        </a:solidFill>
                        <a:latin typeface="Cambria Math" panose="02040503050406030204" pitchFamily="18" charset="0"/>
                      </a:rPr>
                      <m:t>==0</m:t>
                    </m:r>
                  </m:oMath>
                </a14:m>
                <a:endParaRPr lang="en-CN" dirty="0">
                  <a:solidFill>
                    <a:schemeClr val="bg1"/>
                  </a:solidFill>
                </a:endParaRPr>
              </a:p>
            </p:txBody>
          </p:sp>
        </mc:Choice>
        <mc:Fallback xmlns="">
          <p:sp>
            <p:nvSpPr>
              <p:cNvPr id="5" name="TextBox 4">
                <a:extLst>
                  <a:ext uri="{FF2B5EF4-FFF2-40B4-BE49-F238E27FC236}">
                    <a16:creationId xmlns:a16="http://schemas.microsoft.com/office/drawing/2014/main" id="{ECCA0E94-4365-9C46-BA89-825669E25575}"/>
                  </a:ext>
                </a:extLst>
              </p:cNvPr>
              <p:cNvSpPr txBox="1">
                <a:spLocks noRot="1" noChangeAspect="1" noMove="1" noResize="1" noEditPoints="1" noAdjustHandles="1" noChangeArrowheads="1" noChangeShapeType="1" noTextEdit="1"/>
              </p:cNvSpPr>
              <p:nvPr/>
            </p:nvSpPr>
            <p:spPr>
              <a:xfrm>
                <a:off x="735981" y="2982981"/>
                <a:ext cx="3869473" cy="369332"/>
              </a:xfrm>
              <a:prstGeom prst="rect">
                <a:avLst/>
              </a:prstGeom>
              <a:blipFill>
                <a:blip r:embed="rId3"/>
                <a:stretch>
                  <a:fillRect l="-1639" t="-6667" b="-2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1923D54-05AF-E14A-B631-CBB4E86D7FA8}"/>
                  </a:ext>
                </a:extLst>
              </p:cNvPr>
              <p:cNvSpPr txBox="1"/>
              <p:nvPr/>
            </p:nvSpPr>
            <p:spPr>
              <a:xfrm>
                <a:off x="350521" y="4857950"/>
                <a:ext cx="5166360" cy="137076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US" sz="4000" i="1" dirty="0" smtClean="0">
                              <a:solidFill>
                                <a:schemeClr val="bg1"/>
                              </a:solidFill>
                              <a:latin typeface="Cambria Math" panose="02040503050406030204" pitchFamily="18" charset="0"/>
                              <a:ea typeface="Cambria Math" panose="02040503050406030204" pitchFamily="18" charset="0"/>
                            </a:rPr>
                          </m:ctrlPr>
                        </m:fPr>
                        <m:num>
                          <m:r>
                            <a:rPr lang="en-US" sz="4000" b="0" i="1" dirty="0" smtClean="0">
                              <a:solidFill>
                                <a:schemeClr val="bg1"/>
                              </a:solidFill>
                              <a:latin typeface="Cambria Math" panose="02040503050406030204" pitchFamily="18" charset="0"/>
                              <a:ea typeface="Cambria Math" panose="02040503050406030204" pitchFamily="18" charset="0"/>
                            </a:rPr>
                            <m:t>1</m:t>
                          </m:r>
                        </m:num>
                        <m:den>
                          <m:sSub>
                            <m:sSubPr>
                              <m:ctrlPr>
                                <a:rPr lang="en-US" sz="4000" i="1" dirty="0" smtClean="0">
                                  <a:solidFill>
                                    <a:schemeClr val="bg1"/>
                                  </a:solidFill>
                                  <a:latin typeface="Cambria Math" panose="02040503050406030204" pitchFamily="18" charset="0"/>
                                  <a:ea typeface="Cambria Math" panose="02040503050406030204" pitchFamily="18" charset="0"/>
                                </a:rPr>
                              </m:ctrlPr>
                            </m:sSubPr>
                            <m:e>
                              <m:r>
                                <a:rPr lang="en-US" sz="4000" b="0" i="1" dirty="0" smtClean="0">
                                  <a:solidFill>
                                    <a:schemeClr val="bg1"/>
                                  </a:solidFill>
                                  <a:latin typeface="Cambria Math" panose="02040503050406030204" pitchFamily="18" charset="0"/>
                                  <a:ea typeface="Cambria Math" panose="02040503050406030204" pitchFamily="18" charset="0"/>
                                </a:rPr>
                                <m:t>𝑔</m:t>
                              </m:r>
                            </m:e>
                            <m:sub>
                              <m:r>
                                <a:rPr lang="en-US" sz="4000" b="0" i="1" dirty="0" smtClean="0">
                                  <a:solidFill>
                                    <a:schemeClr val="bg1"/>
                                  </a:solidFill>
                                  <a:latin typeface="Cambria Math" panose="02040503050406030204" pitchFamily="18" charset="0"/>
                                  <a:ea typeface="Cambria Math" panose="02040503050406030204" pitchFamily="18" charset="0"/>
                                </a:rPr>
                                <m:t>1</m:t>
                              </m:r>
                            </m:sub>
                          </m:sSub>
                        </m:den>
                      </m:f>
                      <m:f>
                        <m:fPr>
                          <m:ctrlPr>
                            <a:rPr lang="en-US" sz="4000" i="1" dirty="0" smtClean="0">
                              <a:solidFill>
                                <a:schemeClr val="bg1"/>
                              </a:solidFill>
                              <a:latin typeface="Cambria Math" panose="02040503050406030204" pitchFamily="18" charset="0"/>
                              <a:ea typeface="Cambria Math" panose="02040503050406030204" pitchFamily="18" charset="0"/>
                            </a:rPr>
                          </m:ctrlPr>
                        </m:fPr>
                        <m:num>
                          <m:r>
                            <a:rPr lang="en-US" sz="4000" i="1" dirty="0" smtClean="0">
                              <a:solidFill>
                                <a:schemeClr val="bg1"/>
                              </a:solidFill>
                              <a:latin typeface="Cambria Math" panose="02040503050406030204" pitchFamily="18" charset="0"/>
                              <a:ea typeface="Cambria Math" panose="02040503050406030204" pitchFamily="18" charset="0"/>
                            </a:rPr>
                            <m:t>𝜕</m:t>
                          </m:r>
                          <m:sSub>
                            <m:sSubPr>
                              <m:ctrlPr>
                                <a:rPr lang="en-US" sz="4000" i="1" dirty="0" smtClean="0">
                                  <a:solidFill>
                                    <a:schemeClr val="bg1"/>
                                  </a:solidFill>
                                  <a:latin typeface="Cambria Math" panose="02040503050406030204" pitchFamily="18" charset="0"/>
                                  <a:ea typeface="Cambria Math" panose="02040503050406030204" pitchFamily="18" charset="0"/>
                                </a:rPr>
                              </m:ctrlPr>
                            </m:sSubPr>
                            <m:e>
                              <m:r>
                                <a:rPr lang="en-US" sz="4000" b="0" i="1" dirty="0" smtClean="0">
                                  <a:solidFill>
                                    <a:schemeClr val="bg1"/>
                                  </a:solidFill>
                                  <a:latin typeface="Cambria Math" panose="02040503050406030204" pitchFamily="18" charset="0"/>
                                  <a:ea typeface="Cambria Math" panose="02040503050406030204" pitchFamily="18" charset="0"/>
                                </a:rPr>
                                <m:t>𝑔</m:t>
                              </m:r>
                            </m:e>
                            <m:sub>
                              <m:r>
                                <a:rPr lang="en-US" sz="4000" b="0" i="1" dirty="0" smtClean="0">
                                  <a:solidFill>
                                    <a:schemeClr val="bg1"/>
                                  </a:solidFill>
                                  <a:latin typeface="Cambria Math" panose="02040503050406030204" pitchFamily="18" charset="0"/>
                                  <a:ea typeface="Cambria Math" panose="02040503050406030204" pitchFamily="18" charset="0"/>
                                </a:rPr>
                                <m:t>1</m:t>
                              </m:r>
                            </m:sub>
                          </m:sSub>
                        </m:num>
                        <m:den>
                          <m:r>
                            <a:rPr lang="en-US" sz="4000" i="1" dirty="0" smtClean="0">
                              <a:solidFill>
                                <a:schemeClr val="bg1"/>
                              </a:solidFill>
                              <a:latin typeface="Cambria Math" panose="02040503050406030204" pitchFamily="18" charset="0"/>
                              <a:ea typeface="Cambria Math" panose="02040503050406030204" pitchFamily="18" charset="0"/>
                            </a:rPr>
                            <m:t>𝜕</m:t>
                          </m:r>
                          <m:sSub>
                            <m:sSubPr>
                              <m:ctrlPr>
                                <a:rPr lang="en-US" sz="4000" i="1" dirty="0" smtClean="0">
                                  <a:solidFill>
                                    <a:schemeClr val="bg1"/>
                                  </a:solidFill>
                                  <a:latin typeface="Cambria Math" panose="02040503050406030204" pitchFamily="18" charset="0"/>
                                  <a:ea typeface="Cambria Math" panose="02040503050406030204" pitchFamily="18" charset="0"/>
                                </a:rPr>
                              </m:ctrlPr>
                            </m:sSubPr>
                            <m:e>
                              <m:r>
                                <a:rPr lang="en-US" sz="4000" b="0" i="1" dirty="0" smtClean="0">
                                  <a:solidFill>
                                    <a:schemeClr val="bg1"/>
                                  </a:solidFill>
                                  <a:latin typeface="Cambria Math" panose="02040503050406030204" pitchFamily="18" charset="0"/>
                                  <a:ea typeface="Cambria Math" panose="02040503050406030204" pitchFamily="18" charset="0"/>
                                </a:rPr>
                                <m:t>𝑈</m:t>
                              </m:r>
                            </m:e>
                            <m:sub>
                              <m:r>
                                <a:rPr lang="en-US" sz="4000" b="0" i="1" dirty="0" smtClean="0">
                                  <a:solidFill>
                                    <a:schemeClr val="bg1"/>
                                  </a:solidFill>
                                  <a:latin typeface="Cambria Math" panose="02040503050406030204" pitchFamily="18" charset="0"/>
                                  <a:ea typeface="Cambria Math" panose="02040503050406030204" pitchFamily="18" charset="0"/>
                                </a:rPr>
                                <m:t>1</m:t>
                              </m:r>
                            </m:sub>
                          </m:sSub>
                        </m:den>
                      </m:f>
                      <m:r>
                        <a:rPr lang="en-US" sz="4000" i="1" dirty="0">
                          <a:solidFill>
                            <a:schemeClr val="bg1"/>
                          </a:solidFill>
                          <a:latin typeface="Cambria Math" panose="02040503050406030204" pitchFamily="18" charset="0"/>
                          <a:ea typeface="Cambria Math" panose="02040503050406030204" pitchFamily="18" charset="0"/>
                        </a:rPr>
                        <m:t>=</m:t>
                      </m:r>
                      <m:f>
                        <m:fPr>
                          <m:ctrlPr>
                            <a:rPr lang="en-US" sz="4000" i="1" dirty="0" smtClean="0">
                              <a:solidFill>
                                <a:schemeClr val="bg1"/>
                              </a:solidFill>
                              <a:latin typeface="Cambria Math" panose="02040503050406030204" pitchFamily="18" charset="0"/>
                              <a:ea typeface="Cambria Math" panose="02040503050406030204" pitchFamily="18" charset="0"/>
                            </a:rPr>
                          </m:ctrlPr>
                        </m:fPr>
                        <m:num>
                          <m:r>
                            <a:rPr lang="en-US" sz="4000" b="0" i="1" dirty="0" smtClean="0">
                              <a:solidFill>
                                <a:schemeClr val="bg1"/>
                              </a:solidFill>
                              <a:latin typeface="Cambria Math" panose="02040503050406030204" pitchFamily="18" charset="0"/>
                              <a:ea typeface="Cambria Math" panose="02040503050406030204" pitchFamily="18" charset="0"/>
                            </a:rPr>
                            <m:t>1</m:t>
                          </m:r>
                        </m:num>
                        <m:den>
                          <m:sSub>
                            <m:sSubPr>
                              <m:ctrlPr>
                                <a:rPr lang="en-US" sz="4000" i="1" dirty="0" smtClean="0">
                                  <a:solidFill>
                                    <a:schemeClr val="bg1"/>
                                  </a:solidFill>
                                  <a:latin typeface="Cambria Math" panose="02040503050406030204" pitchFamily="18" charset="0"/>
                                  <a:ea typeface="Cambria Math" panose="02040503050406030204" pitchFamily="18" charset="0"/>
                                </a:rPr>
                              </m:ctrlPr>
                            </m:sSubPr>
                            <m:e>
                              <m:r>
                                <a:rPr lang="en-US" sz="4000" b="0" i="1" dirty="0" smtClean="0">
                                  <a:solidFill>
                                    <a:schemeClr val="bg1"/>
                                  </a:solidFill>
                                  <a:latin typeface="Cambria Math" panose="02040503050406030204" pitchFamily="18" charset="0"/>
                                  <a:ea typeface="Cambria Math" panose="02040503050406030204" pitchFamily="18" charset="0"/>
                                </a:rPr>
                                <m:t>𝑔</m:t>
                              </m:r>
                            </m:e>
                            <m:sub>
                              <m:r>
                                <a:rPr lang="en-US" sz="4000" b="0" i="1" dirty="0" smtClean="0">
                                  <a:solidFill>
                                    <a:schemeClr val="bg1"/>
                                  </a:solidFill>
                                  <a:latin typeface="Cambria Math" panose="02040503050406030204" pitchFamily="18" charset="0"/>
                                  <a:ea typeface="Cambria Math" panose="02040503050406030204" pitchFamily="18" charset="0"/>
                                </a:rPr>
                                <m:t>2</m:t>
                              </m:r>
                            </m:sub>
                          </m:sSub>
                        </m:den>
                      </m:f>
                      <m:f>
                        <m:fPr>
                          <m:ctrlPr>
                            <a:rPr lang="en-US" sz="4000" i="1" dirty="0">
                              <a:solidFill>
                                <a:schemeClr val="bg1"/>
                              </a:solidFill>
                              <a:latin typeface="Cambria Math" panose="02040503050406030204" pitchFamily="18" charset="0"/>
                              <a:ea typeface="Cambria Math" panose="02040503050406030204" pitchFamily="18" charset="0"/>
                            </a:rPr>
                          </m:ctrlPr>
                        </m:fPr>
                        <m:num>
                          <m:r>
                            <a:rPr lang="en-US" sz="4000" i="1" dirty="0" smtClean="0">
                              <a:solidFill>
                                <a:schemeClr val="bg1"/>
                              </a:solidFill>
                              <a:latin typeface="Cambria Math" panose="02040503050406030204" pitchFamily="18" charset="0"/>
                              <a:ea typeface="Cambria Math" panose="02040503050406030204" pitchFamily="18" charset="0"/>
                            </a:rPr>
                            <m:t>𝜕</m:t>
                          </m:r>
                          <m:sSub>
                            <m:sSubPr>
                              <m:ctrlPr>
                                <a:rPr lang="en-US" sz="4000" i="1" dirty="0" smtClean="0">
                                  <a:solidFill>
                                    <a:schemeClr val="bg1"/>
                                  </a:solidFill>
                                  <a:latin typeface="Cambria Math" panose="02040503050406030204" pitchFamily="18" charset="0"/>
                                  <a:ea typeface="Cambria Math" panose="02040503050406030204" pitchFamily="18" charset="0"/>
                                </a:rPr>
                              </m:ctrlPr>
                            </m:sSubPr>
                            <m:e>
                              <m:r>
                                <a:rPr lang="en-US" sz="4000" b="0" i="1" dirty="0" smtClean="0">
                                  <a:solidFill>
                                    <a:schemeClr val="bg1"/>
                                  </a:solidFill>
                                  <a:latin typeface="Cambria Math" panose="02040503050406030204" pitchFamily="18" charset="0"/>
                                  <a:ea typeface="Cambria Math" panose="02040503050406030204" pitchFamily="18" charset="0"/>
                                </a:rPr>
                                <m:t>𝑔</m:t>
                              </m:r>
                            </m:e>
                            <m:sub>
                              <m:r>
                                <a:rPr lang="en-US" sz="4000" b="0" i="1" dirty="0" smtClean="0">
                                  <a:solidFill>
                                    <a:schemeClr val="bg1"/>
                                  </a:solidFill>
                                  <a:latin typeface="Cambria Math" panose="02040503050406030204" pitchFamily="18" charset="0"/>
                                  <a:ea typeface="Cambria Math" panose="02040503050406030204" pitchFamily="18" charset="0"/>
                                </a:rPr>
                                <m:t>2</m:t>
                              </m:r>
                            </m:sub>
                          </m:sSub>
                        </m:num>
                        <m:den>
                          <m:r>
                            <a:rPr lang="en-US" sz="4000" i="1" dirty="0" smtClean="0">
                              <a:solidFill>
                                <a:schemeClr val="bg1"/>
                              </a:solidFill>
                              <a:latin typeface="Cambria Math" panose="02040503050406030204" pitchFamily="18" charset="0"/>
                              <a:ea typeface="Cambria Math" panose="02040503050406030204" pitchFamily="18" charset="0"/>
                            </a:rPr>
                            <m:t>𝜕</m:t>
                          </m:r>
                          <m:sSub>
                            <m:sSubPr>
                              <m:ctrlPr>
                                <a:rPr lang="en-US" sz="4000" i="1" dirty="0" smtClean="0">
                                  <a:solidFill>
                                    <a:schemeClr val="bg1"/>
                                  </a:solidFill>
                                  <a:latin typeface="Cambria Math" panose="02040503050406030204" pitchFamily="18" charset="0"/>
                                  <a:ea typeface="Cambria Math" panose="02040503050406030204" pitchFamily="18" charset="0"/>
                                </a:rPr>
                              </m:ctrlPr>
                            </m:sSubPr>
                            <m:e>
                              <m:r>
                                <a:rPr lang="en-US" sz="4000" b="0" i="1" dirty="0" smtClean="0">
                                  <a:solidFill>
                                    <a:schemeClr val="bg1"/>
                                  </a:solidFill>
                                  <a:latin typeface="Cambria Math" panose="02040503050406030204" pitchFamily="18" charset="0"/>
                                  <a:ea typeface="Cambria Math" panose="02040503050406030204" pitchFamily="18" charset="0"/>
                                </a:rPr>
                                <m:t>𝑈</m:t>
                              </m:r>
                            </m:e>
                            <m:sub>
                              <m:r>
                                <a:rPr lang="en-US" sz="4000" b="0" i="1" dirty="0" smtClean="0">
                                  <a:solidFill>
                                    <a:schemeClr val="bg1"/>
                                  </a:solidFill>
                                  <a:latin typeface="Cambria Math" panose="02040503050406030204" pitchFamily="18" charset="0"/>
                                  <a:ea typeface="Cambria Math" panose="02040503050406030204" pitchFamily="18" charset="0"/>
                                </a:rPr>
                                <m:t>2</m:t>
                              </m:r>
                            </m:sub>
                          </m:sSub>
                        </m:den>
                      </m:f>
                    </m:oMath>
                  </m:oMathPara>
                </a14:m>
                <a:endParaRPr lang="en-CN" sz="4000" dirty="0"/>
              </a:p>
            </p:txBody>
          </p:sp>
        </mc:Choice>
        <mc:Fallback xmlns="">
          <p:sp>
            <p:nvSpPr>
              <p:cNvPr id="6" name="TextBox 5">
                <a:extLst>
                  <a:ext uri="{FF2B5EF4-FFF2-40B4-BE49-F238E27FC236}">
                    <a16:creationId xmlns:a16="http://schemas.microsoft.com/office/drawing/2014/main" id="{B1923D54-05AF-E14A-B631-CBB4E86D7FA8}"/>
                  </a:ext>
                </a:extLst>
              </p:cNvPr>
              <p:cNvSpPr txBox="1">
                <a:spLocks noRot="1" noChangeAspect="1" noMove="1" noResize="1" noEditPoints="1" noAdjustHandles="1" noChangeArrowheads="1" noChangeShapeType="1" noTextEdit="1"/>
              </p:cNvSpPr>
              <p:nvPr/>
            </p:nvSpPr>
            <p:spPr>
              <a:xfrm>
                <a:off x="350521" y="4857950"/>
                <a:ext cx="5166360" cy="1370760"/>
              </a:xfrm>
              <a:prstGeom prst="rect">
                <a:avLst/>
              </a:prstGeom>
              <a:blipFill>
                <a:blip r:embed="rId4"/>
                <a:stretch>
                  <a:fillRect b="-9174"/>
                </a:stretch>
              </a:blipFill>
            </p:spPr>
            <p:txBody>
              <a:bodyPr/>
              <a:lstStyle/>
              <a:p>
                <a:r>
                  <a:rPr lang="en-CN">
                    <a:noFill/>
                  </a:rPr>
                  <a:t> </a:t>
                </a:r>
              </a:p>
            </p:txBody>
          </p:sp>
        </mc:Fallback>
      </mc:AlternateContent>
      <p:sp>
        <p:nvSpPr>
          <p:cNvPr id="4" name="Down Arrow 3">
            <a:extLst>
              <a:ext uri="{FF2B5EF4-FFF2-40B4-BE49-F238E27FC236}">
                <a16:creationId xmlns:a16="http://schemas.microsoft.com/office/drawing/2014/main" id="{874595AE-3C31-894E-BB51-A08AE0424A86}"/>
              </a:ext>
            </a:extLst>
          </p:cNvPr>
          <p:cNvSpPr/>
          <p:nvPr/>
        </p:nvSpPr>
        <p:spPr>
          <a:xfrm>
            <a:off x="2933701" y="3646393"/>
            <a:ext cx="1562099" cy="10932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TextBox 6">
            <a:extLst>
              <a:ext uri="{FF2B5EF4-FFF2-40B4-BE49-F238E27FC236}">
                <a16:creationId xmlns:a16="http://schemas.microsoft.com/office/drawing/2014/main" id="{65D80220-B739-504F-9A85-9BCF1B07F989}"/>
              </a:ext>
            </a:extLst>
          </p:cNvPr>
          <p:cNvSpPr txBox="1"/>
          <p:nvPr/>
        </p:nvSpPr>
        <p:spPr>
          <a:xfrm>
            <a:off x="735981" y="4244797"/>
            <a:ext cx="2583180" cy="369332"/>
          </a:xfrm>
          <a:prstGeom prst="rect">
            <a:avLst/>
          </a:prstGeom>
          <a:noFill/>
        </p:spPr>
        <p:txBody>
          <a:bodyPr wrap="square" rtlCol="0">
            <a:spAutoFit/>
          </a:bodyPr>
          <a:lstStyle/>
          <a:p>
            <a:r>
              <a:rPr lang="en-CN" dirty="0">
                <a:solidFill>
                  <a:schemeClr val="bg1"/>
                </a:solidFill>
              </a:rPr>
              <a:t>热平衡条件</a:t>
            </a:r>
          </a:p>
        </p:txBody>
      </p:sp>
      <p:sp>
        <p:nvSpPr>
          <p:cNvPr id="8" name="Right Arrow 7">
            <a:extLst>
              <a:ext uri="{FF2B5EF4-FFF2-40B4-BE49-F238E27FC236}">
                <a16:creationId xmlns:a16="http://schemas.microsoft.com/office/drawing/2014/main" id="{ABAEF0CE-80DC-F44A-A6AD-FFB742652589}"/>
              </a:ext>
            </a:extLst>
          </p:cNvPr>
          <p:cNvSpPr/>
          <p:nvPr/>
        </p:nvSpPr>
        <p:spPr>
          <a:xfrm>
            <a:off x="5349240" y="4739640"/>
            <a:ext cx="2773680" cy="6705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8C73DFD-AD4D-4648-9BF1-1C1AD7141B16}"/>
                  </a:ext>
                </a:extLst>
              </p:cNvPr>
              <p:cNvSpPr txBox="1"/>
              <p:nvPr/>
            </p:nvSpPr>
            <p:spPr>
              <a:xfrm>
                <a:off x="5516881" y="5543330"/>
                <a:ext cx="3341649" cy="1215013"/>
              </a:xfrm>
              <a:prstGeom prst="rect">
                <a:avLst/>
              </a:prstGeom>
              <a:noFill/>
            </p:spPr>
            <p:txBody>
              <a:bodyPr wrap="square" rtlCol="0">
                <a:spAutoFit/>
              </a:bodyPr>
              <a:lstStyle/>
              <a:p>
                <a:r>
                  <a:rPr lang="en-US" i="1" dirty="0">
                    <a:solidFill>
                      <a:schemeClr val="bg1"/>
                    </a:solidFill>
                    <a:latin typeface="Cambria Math" panose="02040503050406030204" pitchFamily="18" charset="0"/>
                    <a:ea typeface="Cambria Math" panose="02040503050406030204" pitchFamily="18" charset="0"/>
                  </a:rPr>
                  <a:t>引入</a:t>
                </a:r>
              </a:p>
              <a:p>
                <a14:m>
                  <m:oMath xmlns:m="http://schemas.openxmlformats.org/officeDocument/2006/math">
                    <m:r>
                      <a:rPr lang="en-CN" i="1" smtClean="0">
                        <a:solidFill>
                          <a:schemeClr val="bg1"/>
                        </a:solidFill>
                        <a:latin typeface="Cambria Math" panose="02040503050406030204" pitchFamily="18" charset="0"/>
                        <a:ea typeface="Cambria Math" panose="02040503050406030204" pitchFamily="18" charset="0"/>
                      </a:rPr>
                      <m:t>𝜎</m:t>
                    </m:r>
                    <m:r>
                      <a:rPr lang="en-US" altLang="zh-CN" b="0" i="1" smtClean="0">
                        <a:solidFill>
                          <a:schemeClr val="bg1"/>
                        </a:solidFill>
                        <a:latin typeface="Cambria Math" panose="02040503050406030204" pitchFamily="18" charset="0"/>
                        <a:ea typeface="Cambria Math" panose="02040503050406030204" pitchFamily="18" charset="0"/>
                      </a:rPr>
                      <m:t>=</m:t>
                    </m:r>
                  </m:oMath>
                </a14:m>
                <a:r>
                  <a:rPr lang="en-CN" dirty="0">
                    <a:solidFill>
                      <a:schemeClr val="bg1"/>
                    </a:solidFill>
                  </a:rPr>
                  <a:t>log[g]</a:t>
                </a:r>
                <a:r>
                  <a:rPr lang="zh-CN" altLang="en-US" dirty="0">
                    <a:solidFill>
                      <a:schemeClr val="bg1"/>
                    </a:solidFill>
                  </a:rPr>
                  <a:t>。。。</a:t>
                </a:r>
                <a:r>
                  <a:rPr lang="en-US" altLang="zh-CN" dirty="0">
                    <a:solidFill>
                      <a:schemeClr val="bg1"/>
                    </a:solidFill>
                  </a:rPr>
                  <a:t>entropy</a:t>
                </a:r>
                <a:endParaRPr lang="en-CN" dirty="0">
                  <a:solidFill>
                    <a:schemeClr val="bg1"/>
                  </a:solidFill>
                </a:endParaRPr>
              </a:p>
              <a:p>
                <a:pPr/>
                <a14:m>
                  <m:oMathPara xmlns:m="http://schemas.openxmlformats.org/officeDocument/2006/math">
                    <m:oMathParaPr>
                      <m:jc m:val="left"/>
                    </m:oMathParaPr>
                    <m:oMath xmlns:m="http://schemas.openxmlformats.org/officeDocument/2006/math">
                      <m:f>
                        <m:fPr>
                          <m:ctrlPr>
                            <a:rPr lang="en-CN"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1</m:t>
                          </m:r>
                        </m:num>
                        <m:den>
                          <m:r>
                            <a:rPr lang="en-CN" i="1" smtClean="0">
                              <a:solidFill>
                                <a:schemeClr val="bg1"/>
                              </a:solidFill>
                              <a:latin typeface="Cambria Math" panose="02040503050406030204" pitchFamily="18" charset="0"/>
                              <a:ea typeface="Cambria Math" panose="02040503050406030204" pitchFamily="18" charset="0"/>
                            </a:rPr>
                            <m:t>𝜏</m:t>
                          </m:r>
                        </m:den>
                      </m:f>
                      <m:r>
                        <a:rPr lang="en-CN" i="1" smtClean="0">
                          <a:solidFill>
                            <a:schemeClr val="bg1"/>
                          </a:solidFill>
                          <a:latin typeface="Cambria Math" panose="02040503050406030204" pitchFamily="18" charset="0"/>
                          <a:ea typeface="Cambria Math" panose="02040503050406030204" pitchFamily="18" charset="0"/>
                        </a:rPr>
                        <m:t>=</m:t>
                      </m:r>
                      <m:sSub>
                        <m:sSubPr>
                          <m:ctrlPr>
                            <a:rPr lang="en-CN" i="1" smtClean="0">
                              <a:solidFill>
                                <a:schemeClr val="bg1"/>
                              </a:solidFill>
                              <a:latin typeface="Cambria Math" panose="02040503050406030204" pitchFamily="18" charset="0"/>
                              <a:ea typeface="Cambria Math" panose="02040503050406030204" pitchFamily="18" charset="0"/>
                            </a:rPr>
                          </m:ctrlPr>
                        </m:sSubPr>
                        <m:e>
                          <m:d>
                            <m:dPr>
                              <m:ctrlPr>
                                <a:rPr lang="en-CN" i="1" smtClean="0">
                                  <a:solidFill>
                                    <a:schemeClr val="bg1"/>
                                  </a:solidFill>
                                  <a:latin typeface="Cambria Math" panose="02040503050406030204" pitchFamily="18" charset="0"/>
                                  <a:ea typeface="Cambria Math" panose="02040503050406030204" pitchFamily="18" charset="0"/>
                                </a:rPr>
                              </m:ctrlPr>
                            </m:dPr>
                            <m:e>
                              <m:f>
                                <m:fPr>
                                  <m:ctrlPr>
                                    <a:rPr lang="en-CN" i="1" smtClean="0">
                                      <a:solidFill>
                                        <a:schemeClr val="bg1"/>
                                      </a:solidFill>
                                      <a:latin typeface="Cambria Math" panose="02040503050406030204" pitchFamily="18" charset="0"/>
                                      <a:ea typeface="Cambria Math" panose="02040503050406030204" pitchFamily="18" charset="0"/>
                                    </a:rPr>
                                  </m:ctrlPr>
                                </m:fPr>
                                <m:num>
                                  <m:r>
                                    <a:rPr lang="en-CN" i="1" smtClean="0">
                                      <a:solidFill>
                                        <a:schemeClr val="bg1"/>
                                      </a:solidFill>
                                      <a:latin typeface="Cambria Math" panose="02040503050406030204" pitchFamily="18" charset="0"/>
                                      <a:ea typeface="Cambria Math" panose="02040503050406030204" pitchFamily="18" charset="0"/>
                                    </a:rPr>
                                    <m:t>𝜕</m:t>
                                  </m:r>
                                  <m:r>
                                    <a:rPr lang="en-US" b="0" i="1" smtClean="0">
                                      <a:solidFill>
                                        <a:schemeClr val="bg1"/>
                                      </a:solidFill>
                                      <a:latin typeface="Cambria Math" panose="02040503050406030204" pitchFamily="18" charset="0"/>
                                      <a:ea typeface="Cambria Math" panose="02040503050406030204" pitchFamily="18" charset="0"/>
                                    </a:rPr>
                                    <m:t> </m:t>
                                  </m:r>
                                  <m:r>
                                    <a:rPr lang="en-US" b="0" i="1" smtClean="0">
                                      <a:solidFill>
                                        <a:schemeClr val="bg1"/>
                                      </a:solidFill>
                                      <a:latin typeface="Cambria Math" panose="02040503050406030204" pitchFamily="18" charset="0"/>
                                      <a:ea typeface="Cambria Math" panose="02040503050406030204" pitchFamily="18" charset="0"/>
                                    </a:rPr>
                                    <m:t>𝜎</m:t>
                                  </m:r>
                                </m:num>
                                <m:den>
                                  <m:r>
                                    <a:rPr lang="en-CN" i="1" smtClean="0">
                                      <a:solidFill>
                                        <a:schemeClr val="bg1"/>
                                      </a:solidFill>
                                      <a:latin typeface="Cambria Math" panose="02040503050406030204" pitchFamily="18" charset="0"/>
                                      <a:ea typeface="Cambria Math" panose="02040503050406030204" pitchFamily="18" charset="0"/>
                                    </a:rPr>
                                    <m:t>𝜕</m:t>
                                  </m:r>
                                  <m:r>
                                    <a:rPr lang="en-US" b="0" i="1" smtClean="0">
                                      <a:solidFill>
                                        <a:schemeClr val="bg1"/>
                                      </a:solidFill>
                                      <a:latin typeface="Cambria Math" panose="02040503050406030204" pitchFamily="18" charset="0"/>
                                      <a:ea typeface="Cambria Math" panose="02040503050406030204" pitchFamily="18" charset="0"/>
                                    </a:rPr>
                                    <m:t> </m:t>
                                  </m:r>
                                  <m:r>
                                    <a:rPr lang="en-US" b="0" i="1" smtClean="0">
                                      <a:solidFill>
                                        <a:schemeClr val="bg1"/>
                                      </a:solidFill>
                                      <a:latin typeface="Cambria Math" panose="02040503050406030204" pitchFamily="18" charset="0"/>
                                      <a:ea typeface="Cambria Math" panose="02040503050406030204" pitchFamily="18" charset="0"/>
                                    </a:rPr>
                                    <m:t>𝑈</m:t>
                                  </m:r>
                                </m:den>
                              </m:f>
                            </m:e>
                          </m:d>
                        </m:e>
                        <m:sub>
                          <m:r>
                            <a:rPr lang="en-US" b="0" i="1" smtClean="0">
                              <a:solidFill>
                                <a:schemeClr val="bg1"/>
                              </a:solidFill>
                              <a:latin typeface="Cambria Math" panose="02040503050406030204" pitchFamily="18" charset="0"/>
                              <a:ea typeface="Cambria Math" panose="02040503050406030204" pitchFamily="18" charset="0"/>
                            </a:rPr>
                            <m:t>𝑁</m:t>
                          </m:r>
                        </m:sub>
                      </m:sSub>
                      <m:r>
                        <a:rPr lang="zh-CN" altLang="en-US" b="0" i="1" smtClean="0">
                          <a:solidFill>
                            <a:schemeClr val="bg1"/>
                          </a:solidFill>
                          <a:latin typeface="Cambria Math" panose="02040503050406030204" pitchFamily="18" charset="0"/>
                          <a:ea typeface="Cambria Math" panose="02040503050406030204" pitchFamily="18" charset="0"/>
                        </a:rPr>
                        <m:t>。。。</m:t>
                      </m:r>
                      <m:r>
                        <m:rPr>
                          <m:sty m:val="p"/>
                        </m:rPr>
                        <a:rPr lang="en-US" altLang="zh-CN" i="1">
                          <a:solidFill>
                            <a:schemeClr val="bg1"/>
                          </a:solidFill>
                          <a:latin typeface="Cambria Math" panose="02040503050406030204" pitchFamily="18" charset="0"/>
                          <a:ea typeface="Cambria Math" panose="02040503050406030204" pitchFamily="18" charset="0"/>
                        </a:rPr>
                        <m:t>temperature</m:t>
                      </m:r>
                    </m:oMath>
                  </m:oMathPara>
                </a14:m>
                <a:endParaRPr lang="en-CN" dirty="0">
                  <a:solidFill>
                    <a:schemeClr val="bg1"/>
                  </a:solidFill>
                </a:endParaRPr>
              </a:p>
            </p:txBody>
          </p:sp>
        </mc:Choice>
        <mc:Fallback xmlns="">
          <p:sp>
            <p:nvSpPr>
              <p:cNvPr id="9" name="TextBox 8">
                <a:extLst>
                  <a:ext uri="{FF2B5EF4-FFF2-40B4-BE49-F238E27FC236}">
                    <a16:creationId xmlns:a16="http://schemas.microsoft.com/office/drawing/2014/main" id="{18C73DFD-AD4D-4648-9BF1-1C1AD7141B16}"/>
                  </a:ext>
                </a:extLst>
              </p:cNvPr>
              <p:cNvSpPr txBox="1">
                <a:spLocks noRot="1" noChangeAspect="1" noMove="1" noResize="1" noEditPoints="1" noAdjustHandles="1" noChangeArrowheads="1" noChangeShapeType="1" noTextEdit="1"/>
              </p:cNvSpPr>
              <p:nvPr/>
            </p:nvSpPr>
            <p:spPr>
              <a:xfrm>
                <a:off x="5516881" y="5543330"/>
                <a:ext cx="3341649" cy="1215013"/>
              </a:xfrm>
              <a:prstGeom prst="rect">
                <a:avLst/>
              </a:prstGeom>
              <a:blipFill>
                <a:blip r:embed="rId5"/>
                <a:stretch>
                  <a:fillRect l="-1515" t="-4124" b="-515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A5255F1-1708-614B-A3F5-3675D996F191}"/>
                  </a:ext>
                </a:extLst>
              </p:cNvPr>
              <p:cNvSpPr txBox="1"/>
              <p:nvPr/>
            </p:nvSpPr>
            <p:spPr>
              <a:xfrm>
                <a:off x="8727873" y="4739640"/>
                <a:ext cx="253244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2800" i="1" smtClean="0">
                              <a:solidFill>
                                <a:srgbClr val="FF0000"/>
                              </a:solidFill>
                              <a:latin typeface="Cambria Math" panose="02040503050406030204" pitchFamily="18" charset="0"/>
                            </a:rPr>
                          </m:ctrlPr>
                        </m:sSubPr>
                        <m:e>
                          <m:r>
                            <a:rPr lang="en-CN" sz="2800" i="1" smtClean="0">
                              <a:solidFill>
                                <a:srgbClr val="FF0000"/>
                              </a:solidFill>
                              <a:latin typeface="Cambria Math" panose="02040503050406030204" pitchFamily="18" charset="0"/>
                              <a:ea typeface="Cambria Math" panose="02040503050406030204" pitchFamily="18" charset="0"/>
                            </a:rPr>
                            <m:t>𝜏</m:t>
                          </m:r>
                        </m:e>
                        <m:sub>
                          <m:r>
                            <a:rPr lang="en-US" altLang="zh-CN" sz="2800" b="0" i="1" smtClean="0">
                              <a:solidFill>
                                <a:srgbClr val="FF0000"/>
                              </a:solidFill>
                              <a:latin typeface="Cambria Math" panose="02040503050406030204" pitchFamily="18" charset="0"/>
                            </a:rPr>
                            <m:t>1</m:t>
                          </m:r>
                        </m:sub>
                      </m:sSub>
                      <m:r>
                        <a:rPr lang="en-CN" sz="2800" i="1" smtClean="0">
                          <a:solidFill>
                            <a:srgbClr val="FF0000"/>
                          </a:solidFill>
                          <a:latin typeface="Cambria Math" panose="02040503050406030204" pitchFamily="18" charset="0"/>
                          <a:ea typeface="Cambria Math" panose="02040503050406030204" pitchFamily="18" charset="0"/>
                        </a:rPr>
                        <m:t>=</m:t>
                      </m:r>
                      <m:sSub>
                        <m:sSubPr>
                          <m:ctrlPr>
                            <a:rPr lang="en-CN" sz="2800" i="1" smtClean="0">
                              <a:solidFill>
                                <a:srgbClr val="FF0000"/>
                              </a:solidFill>
                              <a:latin typeface="Cambria Math" panose="02040503050406030204" pitchFamily="18" charset="0"/>
                              <a:ea typeface="Cambria Math" panose="02040503050406030204" pitchFamily="18" charset="0"/>
                            </a:rPr>
                          </m:ctrlPr>
                        </m:sSubPr>
                        <m:e>
                          <m:r>
                            <a:rPr lang="en-CN" sz="2800" i="1" smtClean="0">
                              <a:solidFill>
                                <a:srgbClr val="FF0000"/>
                              </a:solidFill>
                              <a:latin typeface="Cambria Math" panose="02040503050406030204" pitchFamily="18" charset="0"/>
                              <a:ea typeface="Cambria Math" panose="02040503050406030204" pitchFamily="18" charset="0"/>
                            </a:rPr>
                            <m:t>𝜏</m:t>
                          </m:r>
                        </m:e>
                        <m:sub>
                          <m:r>
                            <a:rPr lang="en-US" altLang="zh-CN" sz="2800" b="0" i="1" smtClean="0">
                              <a:solidFill>
                                <a:srgbClr val="FF0000"/>
                              </a:solidFill>
                              <a:latin typeface="Cambria Math" panose="02040503050406030204" pitchFamily="18" charset="0"/>
                              <a:ea typeface="Cambria Math" panose="02040503050406030204" pitchFamily="18" charset="0"/>
                            </a:rPr>
                            <m:t>2</m:t>
                          </m:r>
                        </m:sub>
                      </m:sSub>
                    </m:oMath>
                  </m:oMathPara>
                </a14:m>
                <a:endParaRPr lang="en-CN" sz="2800" dirty="0"/>
              </a:p>
            </p:txBody>
          </p:sp>
        </mc:Choice>
        <mc:Fallback xmlns="">
          <p:sp>
            <p:nvSpPr>
              <p:cNvPr id="10" name="TextBox 9">
                <a:extLst>
                  <a:ext uri="{FF2B5EF4-FFF2-40B4-BE49-F238E27FC236}">
                    <a16:creationId xmlns:a16="http://schemas.microsoft.com/office/drawing/2014/main" id="{1A5255F1-1708-614B-A3F5-3675D996F191}"/>
                  </a:ext>
                </a:extLst>
              </p:cNvPr>
              <p:cNvSpPr txBox="1">
                <a:spLocks noRot="1" noChangeAspect="1" noMove="1" noResize="1" noEditPoints="1" noAdjustHandles="1" noChangeArrowheads="1" noChangeShapeType="1" noTextEdit="1"/>
              </p:cNvSpPr>
              <p:nvPr/>
            </p:nvSpPr>
            <p:spPr>
              <a:xfrm>
                <a:off x="8727873" y="4739640"/>
                <a:ext cx="2532442" cy="523220"/>
              </a:xfrm>
              <a:prstGeom prst="rect">
                <a:avLst/>
              </a:prstGeom>
              <a:blipFill>
                <a:blip r:embed="rId6"/>
                <a:stretch>
                  <a:fillRect b="-2381"/>
                </a:stretch>
              </a:blipFill>
            </p:spPr>
            <p:txBody>
              <a:bodyPr/>
              <a:lstStyle/>
              <a:p>
                <a:r>
                  <a:rPr lang="en-CN">
                    <a:noFill/>
                  </a:rPr>
                  <a:t> </a:t>
                </a:r>
              </a:p>
            </p:txBody>
          </p:sp>
        </mc:Fallback>
      </mc:AlternateContent>
    </p:spTree>
    <p:extLst>
      <p:ext uri="{BB962C8B-B14F-4D97-AF65-F5344CB8AC3E}">
        <p14:creationId xmlns:p14="http://schemas.microsoft.com/office/powerpoint/2010/main" val="1457100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BE31B8A-A597-F744-9F24-175FBC7AD0D1}"/>
              </a:ext>
            </a:extLst>
          </p:cNvPr>
          <p:cNvSpPr txBox="1"/>
          <p:nvPr/>
        </p:nvSpPr>
        <p:spPr>
          <a:xfrm>
            <a:off x="1895708" y="89210"/>
            <a:ext cx="7750097" cy="707886"/>
          </a:xfrm>
          <a:prstGeom prst="rect">
            <a:avLst/>
          </a:prstGeom>
          <a:noFill/>
        </p:spPr>
        <p:txBody>
          <a:bodyPr wrap="square" rtlCol="0">
            <a:spAutoFit/>
          </a:bodyPr>
          <a:lstStyle/>
          <a:p>
            <a:pPr algn="ctr"/>
            <a:r>
              <a:rPr lang="en-CN" sz="4000" dirty="0">
                <a:solidFill>
                  <a:srgbClr val="FF0000"/>
                </a:solidFill>
              </a:rPr>
              <a:t>Entropy</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330F23A-D32E-B146-A35D-A2F022AA6148}"/>
                  </a:ext>
                </a:extLst>
              </p:cNvPr>
              <p:cNvSpPr txBox="1"/>
              <p:nvPr/>
            </p:nvSpPr>
            <p:spPr>
              <a:xfrm>
                <a:off x="3688080" y="1990129"/>
                <a:ext cx="1087988" cy="369332"/>
              </a:xfrm>
              <a:prstGeom prst="rect">
                <a:avLst/>
              </a:prstGeom>
              <a:noFill/>
            </p:spPr>
            <p:txBody>
              <a:bodyPr wrap="square">
                <a:spAutoFit/>
              </a:bodyPr>
              <a:lstStyle/>
              <a:p>
                <a14:m>
                  <m:oMath xmlns:m="http://schemas.openxmlformats.org/officeDocument/2006/math">
                    <m:r>
                      <a:rPr lang="en-CN" i="1" smtClean="0">
                        <a:solidFill>
                          <a:srgbClr val="7030A0"/>
                        </a:solidFill>
                        <a:latin typeface="Cambria Math" panose="02040503050406030204" pitchFamily="18" charset="0"/>
                        <a:ea typeface="Cambria Math" panose="02040503050406030204" pitchFamily="18" charset="0"/>
                      </a:rPr>
                      <m:t>𝜎</m:t>
                    </m:r>
                    <m:r>
                      <a:rPr lang="en-US" altLang="zh-CN" b="0" i="1" smtClean="0">
                        <a:solidFill>
                          <a:srgbClr val="7030A0"/>
                        </a:solidFill>
                        <a:latin typeface="Cambria Math" panose="02040503050406030204" pitchFamily="18" charset="0"/>
                        <a:ea typeface="Cambria Math" panose="02040503050406030204" pitchFamily="18" charset="0"/>
                      </a:rPr>
                      <m:t>=</m:t>
                    </m:r>
                  </m:oMath>
                </a14:m>
                <a:r>
                  <a:rPr lang="en-CN" dirty="0">
                    <a:solidFill>
                      <a:srgbClr val="7030A0"/>
                    </a:solidFill>
                  </a:rPr>
                  <a:t>log[g]</a:t>
                </a:r>
                <a:endParaRPr lang="en-CN" dirty="0"/>
              </a:p>
            </p:txBody>
          </p:sp>
        </mc:Choice>
        <mc:Fallback xmlns="">
          <p:sp>
            <p:nvSpPr>
              <p:cNvPr id="6" name="TextBox 5">
                <a:extLst>
                  <a:ext uri="{FF2B5EF4-FFF2-40B4-BE49-F238E27FC236}">
                    <a16:creationId xmlns:a16="http://schemas.microsoft.com/office/drawing/2014/main" id="{8330F23A-D32E-B146-A35D-A2F022AA6148}"/>
                  </a:ext>
                </a:extLst>
              </p:cNvPr>
              <p:cNvSpPr txBox="1">
                <a:spLocks noRot="1" noChangeAspect="1" noMove="1" noResize="1" noEditPoints="1" noAdjustHandles="1" noChangeArrowheads="1" noChangeShapeType="1" noTextEdit="1"/>
              </p:cNvSpPr>
              <p:nvPr/>
            </p:nvSpPr>
            <p:spPr>
              <a:xfrm>
                <a:off x="3688080" y="1990129"/>
                <a:ext cx="1087988" cy="369332"/>
              </a:xfrm>
              <a:prstGeom prst="rect">
                <a:avLst/>
              </a:prstGeom>
              <a:blipFill>
                <a:blip r:embed="rId2"/>
                <a:stretch>
                  <a:fillRect t="-6667" r="-4651" b="-26667"/>
                </a:stretch>
              </a:blipFill>
            </p:spPr>
            <p:txBody>
              <a:bodyPr/>
              <a:lstStyle/>
              <a:p>
                <a:r>
                  <a:rPr lang="en-CN">
                    <a:noFill/>
                  </a:rPr>
                  <a:t> </a:t>
                </a:r>
              </a:p>
            </p:txBody>
          </p:sp>
        </mc:Fallback>
      </mc:AlternateContent>
      <p:sp>
        <p:nvSpPr>
          <p:cNvPr id="5" name="TextBox 4">
            <a:extLst>
              <a:ext uri="{FF2B5EF4-FFF2-40B4-BE49-F238E27FC236}">
                <a16:creationId xmlns:a16="http://schemas.microsoft.com/office/drawing/2014/main" id="{B2B03B48-D6C2-B64F-A7CE-AFFDD9593626}"/>
              </a:ext>
            </a:extLst>
          </p:cNvPr>
          <p:cNvSpPr txBox="1"/>
          <p:nvPr/>
        </p:nvSpPr>
        <p:spPr>
          <a:xfrm>
            <a:off x="579120" y="1066800"/>
            <a:ext cx="8092440" cy="2585323"/>
          </a:xfrm>
          <a:prstGeom prst="rect">
            <a:avLst/>
          </a:prstGeom>
          <a:noFill/>
        </p:spPr>
        <p:txBody>
          <a:bodyPr wrap="square" rtlCol="0">
            <a:spAutoFit/>
          </a:bodyPr>
          <a:lstStyle/>
          <a:p>
            <a:pPr marL="285750" indent="-285750">
              <a:buFont typeface="Arial" panose="020B0604020202020204" pitchFamily="34" charset="0"/>
              <a:buChar char="•"/>
            </a:pPr>
            <a:r>
              <a:rPr lang="en-CN" dirty="0"/>
              <a:t>Any large system in equilibrium will be found in the macrostate with the greatest multiplicity(aside from fluctuations that are normally too small to measure)…Multiplicity tends to increase.</a:t>
            </a:r>
          </a:p>
          <a:p>
            <a:pPr marL="285750" indent="-285750">
              <a:buFont typeface="Arial" panose="020B0604020202020204" pitchFamily="34" charset="0"/>
              <a:buChar char="•"/>
            </a:pPr>
            <a:endParaRPr lang="en-CN" dirty="0"/>
          </a:p>
          <a:p>
            <a:pPr marL="285750" indent="-285750">
              <a:buFont typeface="Arial" panose="020B0604020202020204" pitchFamily="34" charset="0"/>
              <a:buChar char="•"/>
            </a:pPr>
            <a:endParaRPr lang="en-CN" dirty="0"/>
          </a:p>
          <a:p>
            <a:pPr marL="285750" indent="-285750">
              <a:buFont typeface="Arial" panose="020B0604020202020204" pitchFamily="34" charset="0"/>
              <a:buChar char="•"/>
            </a:pPr>
            <a:r>
              <a:rPr lang="en-CN" dirty="0"/>
              <a:t>Any large system in equilibrium will be found in the macrostate with the greatest entropy(aside from fluctuations that are normally too small to measure)…Entropy tends to increase.</a:t>
            </a:r>
          </a:p>
          <a:p>
            <a:endParaRPr lang="en-CN" dirty="0"/>
          </a:p>
        </p:txBody>
      </p:sp>
      <p:sp>
        <p:nvSpPr>
          <p:cNvPr id="7" name="TextBox 6">
            <a:extLst>
              <a:ext uri="{FF2B5EF4-FFF2-40B4-BE49-F238E27FC236}">
                <a16:creationId xmlns:a16="http://schemas.microsoft.com/office/drawing/2014/main" id="{EA7503CC-89EB-7843-B914-1A892C675C2F}"/>
              </a:ext>
            </a:extLst>
          </p:cNvPr>
          <p:cNvSpPr txBox="1"/>
          <p:nvPr/>
        </p:nvSpPr>
        <p:spPr>
          <a:xfrm>
            <a:off x="9645805" y="1990129"/>
            <a:ext cx="1813560" cy="369332"/>
          </a:xfrm>
          <a:prstGeom prst="rect">
            <a:avLst/>
          </a:prstGeom>
          <a:noFill/>
        </p:spPr>
        <p:txBody>
          <a:bodyPr wrap="square" rtlCol="0">
            <a:spAutoFit/>
          </a:bodyPr>
          <a:lstStyle/>
          <a:p>
            <a:r>
              <a:rPr lang="en-CN" dirty="0"/>
              <a:t>热力学第二定律</a:t>
            </a:r>
          </a:p>
        </p:txBody>
      </p:sp>
      <p:sp>
        <p:nvSpPr>
          <p:cNvPr id="8" name="Right Brace 7">
            <a:extLst>
              <a:ext uri="{FF2B5EF4-FFF2-40B4-BE49-F238E27FC236}">
                <a16:creationId xmlns:a16="http://schemas.microsoft.com/office/drawing/2014/main" id="{6E165924-5625-5842-8E36-69988D4D9696}"/>
              </a:ext>
            </a:extLst>
          </p:cNvPr>
          <p:cNvSpPr/>
          <p:nvPr/>
        </p:nvSpPr>
        <p:spPr>
          <a:xfrm>
            <a:off x="8671560" y="1066800"/>
            <a:ext cx="807720" cy="2179320"/>
          </a:xfrm>
          <a:prstGeom prst="rightBrace">
            <a:avLst/>
          </a:prstGeom>
          <a:ln w="412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pic>
        <p:nvPicPr>
          <p:cNvPr id="9" name="Picture 8">
            <a:extLst>
              <a:ext uri="{FF2B5EF4-FFF2-40B4-BE49-F238E27FC236}">
                <a16:creationId xmlns:a16="http://schemas.microsoft.com/office/drawing/2014/main" id="{F166FCA1-83D8-DD4E-93EB-28ABD38C6D4B}"/>
              </a:ext>
            </a:extLst>
          </p:cNvPr>
          <p:cNvPicPr>
            <a:picLocks noChangeAspect="1"/>
          </p:cNvPicPr>
          <p:nvPr/>
        </p:nvPicPr>
        <p:blipFill>
          <a:blip r:embed="rId3"/>
          <a:stretch>
            <a:fillRect/>
          </a:stretch>
        </p:blipFill>
        <p:spPr>
          <a:xfrm>
            <a:off x="2407920" y="3652123"/>
            <a:ext cx="7604760" cy="2850463"/>
          </a:xfrm>
          <a:prstGeom prst="rect">
            <a:avLst/>
          </a:prstGeom>
        </p:spPr>
      </p:pic>
    </p:spTree>
    <p:extLst>
      <p:ext uri="{BB962C8B-B14F-4D97-AF65-F5344CB8AC3E}">
        <p14:creationId xmlns:p14="http://schemas.microsoft.com/office/powerpoint/2010/main" val="19006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BE31B8A-A597-F744-9F24-175FBC7AD0D1}"/>
              </a:ext>
            </a:extLst>
          </p:cNvPr>
          <p:cNvSpPr txBox="1"/>
          <p:nvPr/>
        </p:nvSpPr>
        <p:spPr>
          <a:xfrm>
            <a:off x="1895708" y="89210"/>
            <a:ext cx="7750097" cy="707886"/>
          </a:xfrm>
          <a:prstGeom prst="rect">
            <a:avLst/>
          </a:prstGeom>
          <a:noFill/>
        </p:spPr>
        <p:txBody>
          <a:bodyPr wrap="square" rtlCol="0">
            <a:spAutoFit/>
          </a:bodyPr>
          <a:lstStyle/>
          <a:p>
            <a:pPr algn="ctr"/>
            <a:r>
              <a:rPr lang="en-CN" sz="4000" dirty="0">
                <a:solidFill>
                  <a:srgbClr val="FF0000"/>
                </a:solidFill>
              </a:rPr>
              <a:t>Why log?</a:t>
            </a:r>
          </a:p>
        </p:txBody>
      </p:sp>
      <p:sp>
        <p:nvSpPr>
          <p:cNvPr id="2" name="TextBox 1">
            <a:extLst>
              <a:ext uri="{FF2B5EF4-FFF2-40B4-BE49-F238E27FC236}">
                <a16:creationId xmlns:a16="http://schemas.microsoft.com/office/drawing/2014/main" id="{955A8776-C8F6-CD44-B8D8-113B381692EF}"/>
              </a:ext>
            </a:extLst>
          </p:cNvPr>
          <p:cNvSpPr txBox="1"/>
          <p:nvPr/>
        </p:nvSpPr>
        <p:spPr>
          <a:xfrm>
            <a:off x="609007" y="797096"/>
            <a:ext cx="6080760" cy="923330"/>
          </a:xfrm>
          <a:prstGeom prst="rect">
            <a:avLst/>
          </a:prstGeom>
          <a:noFill/>
        </p:spPr>
        <p:txBody>
          <a:bodyPr wrap="square" rtlCol="0">
            <a:spAutoFit/>
          </a:bodyPr>
          <a:lstStyle/>
          <a:p>
            <a:pPr marL="285750" indent="-285750">
              <a:buFont typeface="Arial" panose="020B0604020202020204" pitchFamily="34" charset="0"/>
              <a:buChar char="•"/>
            </a:pPr>
            <a:r>
              <a:rPr lang="en-CN" dirty="0">
                <a:solidFill>
                  <a:schemeClr val="bg1"/>
                </a:solidFill>
              </a:rPr>
              <a:t>大变小</a:t>
            </a:r>
          </a:p>
          <a:p>
            <a:pPr marL="285750" indent="-285750">
              <a:buFont typeface="Arial" panose="020B0604020202020204" pitchFamily="34" charset="0"/>
              <a:buChar char="•"/>
            </a:pPr>
            <a:r>
              <a:rPr lang="en-CN" dirty="0">
                <a:solidFill>
                  <a:schemeClr val="bg1"/>
                </a:solidFill>
              </a:rPr>
              <a:t>相乘变相加</a:t>
            </a:r>
          </a:p>
          <a:p>
            <a:pPr marL="285750" indent="-285750">
              <a:buFont typeface="Arial" panose="020B0604020202020204" pitchFamily="34" charset="0"/>
              <a:buChar char="•"/>
            </a:pPr>
            <a:r>
              <a:rPr lang="en-CN" dirty="0">
                <a:solidFill>
                  <a:schemeClr val="bg1"/>
                </a:solidFill>
              </a:rPr>
              <a:t>不敏感</a:t>
            </a:r>
            <a:r>
              <a:rPr lang="zh-CN" altLang="en-US" dirty="0">
                <a:solidFill>
                  <a:schemeClr val="bg1"/>
                </a:solidFill>
              </a:rPr>
              <a:t>（</a:t>
            </a:r>
            <a:r>
              <a:rPr lang="en-US" altLang="zh-CN" dirty="0">
                <a:solidFill>
                  <a:schemeClr val="bg1"/>
                </a:solidFill>
              </a:rPr>
              <a:t>Kittel</a:t>
            </a:r>
            <a:r>
              <a:rPr lang="zh-CN" altLang="en-US" dirty="0">
                <a:solidFill>
                  <a:schemeClr val="bg1"/>
                </a:solidFill>
              </a:rPr>
              <a:t>书介绍，请大家自行阅读）</a:t>
            </a:r>
            <a:endParaRPr lang="en-CN" dirty="0">
              <a:solidFill>
                <a:schemeClr val="bg1"/>
              </a:solidFill>
            </a:endParaRPr>
          </a:p>
        </p:txBody>
      </p:sp>
    </p:spTree>
    <p:extLst>
      <p:ext uri="{BB962C8B-B14F-4D97-AF65-F5344CB8AC3E}">
        <p14:creationId xmlns:p14="http://schemas.microsoft.com/office/powerpoint/2010/main" val="10856788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BE31B8A-A597-F744-9F24-175FBC7AD0D1}"/>
              </a:ext>
            </a:extLst>
          </p:cNvPr>
          <p:cNvSpPr txBox="1"/>
          <p:nvPr/>
        </p:nvSpPr>
        <p:spPr>
          <a:xfrm>
            <a:off x="1928959" y="791755"/>
            <a:ext cx="7750097" cy="707886"/>
          </a:xfrm>
          <a:prstGeom prst="rect">
            <a:avLst/>
          </a:prstGeom>
          <a:noFill/>
        </p:spPr>
        <p:txBody>
          <a:bodyPr wrap="square" rtlCol="0">
            <a:spAutoFit/>
          </a:bodyPr>
          <a:lstStyle/>
          <a:p>
            <a:pPr algn="ctr"/>
            <a:r>
              <a:rPr lang="en-CN" sz="4000" dirty="0">
                <a:solidFill>
                  <a:srgbClr val="FF0000"/>
                </a:solidFill>
              </a:rPr>
              <a:t>Laws of Thermodynamics</a:t>
            </a:r>
          </a:p>
        </p:txBody>
      </p:sp>
      <p:sp>
        <p:nvSpPr>
          <p:cNvPr id="2" name="TextBox 1">
            <a:extLst>
              <a:ext uri="{FF2B5EF4-FFF2-40B4-BE49-F238E27FC236}">
                <a16:creationId xmlns:a16="http://schemas.microsoft.com/office/drawing/2014/main" id="{955A8776-C8F6-CD44-B8D8-113B381692EF}"/>
              </a:ext>
            </a:extLst>
          </p:cNvPr>
          <p:cNvSpPr txBox="1"/>
          <p:nvPr/>
        </p:nvSpPr>
        <p:spPr>
          <a:xfrm>
            <a:off x="609007" y="797096"/>
            <a:ext cx="6080760" cy="923330"/>
          </a:xfrm>
          <a:prstGeom prst="rect">
            <a:avLst/>
          </a:prstGeom>
          <a:noFill/>
        </p:spPr>
        <p:txBody>
          <a:bodyPr wrap="square" rtlCol="0">
            <a:spAutoFit/>
          </a:bodyPr>
          <a:lstStyle/>
          <a:p>
            <a:pPr marL="285750" indent="-285750">
              <a:buFont typeface="Arial" panose="020B0604020202020204" pitchFamily="34" charset="0"/>
              <a:buChar char="•"/>
            </a:pPr>
            <a:r>
              <a:rPr lang="en-CN" dirty="0">
                <a:solidFill>
                  <a:schemeClr val="bg1"/>
                </a:solidFill>
              </a:rPr>
              <a:t>大变小</a:t>
            </a:r>
          </a:p>
          <a:p>
            <a:pPr marL="285750" indent="-285750">
              <a:buFont typeface="Arial" panose="020B0604020202020204" pitchFamily="34" charset="0"/>
              <a:buChar char="•"/>
            </a:pPr>
            <a:r>
              <a:rPr lang="en-CN" dirty="0">
                <a:solidFill>
                  <a:schemeClr val="bg1"/>
                </a:solidFill>
              </a:rPr>
              <a:t>相乘变相加</a:t>
            </a:r>
          </a:p>
          <a:p>
            <a:pPr marL="285750" indent="-285750">
              <a:buFont typeface="Arial" panose="020B0604020202020204" pitchFamily="34" charset="0"/>
              <a:buChar char="•"/>
            </a:pPr>
            <a:r>
              <a:rPr lang="en-CN" dirty="0">
                <a:solidFill>
                  <a:schemeClr val="bg1"/>
                </a:solidFill>
              </a:rPr>
              <a:t>不敏感</a:t>
            </a:r>
            <a:r>
              <a:rPr lang="zh-CN" altLang="en-US" dirty="0">
                <a:solidFill>
                  <a:schemeClr val="bg1"/>
                </a:solidFill>
              </a:rPr>
              <a:t>（</a:t>
            </a:r>
            <a:r>
              <a:rPr lang="en-US" altLang="zh-CN" dirty="0">
                <a:solidFill>
                  <a:schemeClr val="bg1"/>
                </a:solidFill>
              </a:rPr>
              <a:t>Kittel</a:t>
            </a:r>
            <a:r>
              <a:rPr lang="zh-CN" altLang="en-US" dirty="0">
                <a:solidFill>
                  <a:schemeClr val="bg1"/>
                </a:solidFill>
              </a:rPr>
              <a:t>书介绍，请大家自行阅读）</a:t>
            </a:r>
            <a:endParaRPr lang="en-CN" dirty="0">
              <a:solidFill>
                <a:schemeClr val="bg1"/>
              </a:solidFill>
            </a:endParaRPr>
          </a:p>
        </p:txBody>
      </p:sp>
      <p:sp>
        <p:nvSpPr>
          <p:cNvPr id="3" name="TextBox 2">
            <a:extLst>
              <a:ext uri="{FF2B5EF4-FFF2-40B4-BE49-F238E27FC236}">
                <a16:creationId xmlns:a16="http://schemas.microsoft.com/office/drawing/2014/main" id="{82175337-DF95-2B78-F9C1-F3495D4ED57C}"/>
              </a:ext>
            </a:extLst>
          </p:cNvPr>
          <p:cNvSpPr txBox="1"/>
          <p:nvPr/>
        </p:nvSpPr>
        <p:spPr>
          <a:xfrm>
            <a:off x="451658" y="1986741"/>
            <a:ext cx="11288684" cy="2031325"/>
          </a:xfrm>
          <a:prstGeom prst="rect">
            <a:avLst/>
          </a:prstGeom>
          <a:noFill/>
        </p:spPr>
        <p:txBody>
          <a:bodyPr wrap="square" rtlCol="0">
            <a:spAutoFit/>
          </a:bodyPr>
          <a:lstStyle/>
          <a:p>
            <a:r>
              <a:rPr lang="en-CN" b="1" dirty="0"/>
              <a:t>Zeroth law. </a:t>
            </a:r>
            <a:r>
              <a:rPr lang="en-CN" dirty="0"/>
              <a:t>If two systems are in thermal equilibrium with a third system, they must be in thermal equilibrium with each other.</a:t>
            </a:r>
          </a:p>
          <a:p>
            <a:r>
              <a:rPr lang="en-CN" b="1" dirty="0"/>
              <a:t>First law. </a:t>
            </a:r>
            <a:r>
              <a:rPr lang="en-CN" dirty="0"/>
              <a:t>Heat is a form of energy(the rpinciple of conservation of energy).</a:t>
            </a:r>
          </a:p>
          <a:p>
            <a:r>
              <a:rPr lang="en-CN" b="1" dirty="0"/>
              <a:t>Second law. </a:t>
            </a:r>
            <a:r>
              <a:rPr lang="en-CN" dirty="0"/>
              <a:t>(the statistical statement) If a closed system is in a configuration that is not the equilibrium configuartion, the most probalbe consequence will be that the entropy of the system will increase monotonically in successive instants of time.</a:t>
            </a:r>
          </a:p>
          <a:p>
            <a:r>
              <a:rPr lang="en-CN" b="1" dirty="0"/>
              <a:t>Third law. </a:t>
            </a:r>
            <a:r>
              <a:rPr lang="en-CN" dirty="0"/>
              <a:t>The entropy of a system approaches a constant values at the temperature approaches zero.</a:t>
            </a:r>
          </a:p>
        </p:txBody>
      </p:sp>
    </p:spTree>
    <p:extLst>
      <p:ext uri="{BB962C8B-B14F-4D97-AF65-F5344CB8AC3E}">
        <p14:creationId xmlns:p14="http://schemas.microsoft.com/office/powerpoint/2010/main" val="3503423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BE31B8A-A597-F744-9F24-175FBC7AD0D1}"/>
              </a:ext>
            </a:extLst>
          </p:cNvPr>
          <p:cNvSpPr txBox="1"/>
          <p:nvPr/>
        </p:nvSpPr>
        <p:spPr>
          <a:xfrm>
            <a:off x="1895708" y="89210"/>
            <a:ext cx="7750097" cy="707886"/>
          </a:xfrm>
          <a:prstGeom prst="rect">
            <a:avLst/>
          </a:prstGeom>
          <a:noFill/>
        </p:spPr>
        <p:txBody>
          <a:bodyPr wrap="square" rtlCol="0">
            <a:spAutoFit/>
          </a:bodyPr>
          <a:lstStyle/>
          <a:p>
            <a:pPr algn="ctr"/>
            <a:r>
              <a:rPr lang="en-CN" sz="4000" dirty="0">
                <a:solidFill>
                  <a:srgbClr val="FF0000"/>
                </a:solidFill>
              </a:rPr>
              <a:t>推荐推广</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55A8776-C8F6-CD44-B8D8-113B381692EF}"/>
                  </a:ext>
                </a:extLst>
              </p:cNvPr>
              <p:cNvSpPr txBox="1"/>
              <p:nvPr/>
            </p:nvSpPr>
            <p:spPr>
              <a:xfrm>
                <a:off x="76200" y="1478280"/>
                <a:ext cx="12039600" cy="3540841"/>
              </a:xfrm>
              <a:prstGeom prst="rect">
                <a:avLst/>
              </a:prstGeom>
              <a:noFill/>
            </p:spPr>
            <p:txBody>
              <a:bodyPr wrap="square" rtlCol="0">
                <a:spAutoFit/>
              </a:bodyPr>
              <a:lstStyle/>
              <a:p>
                <a:pPr marL="285750" indent="-285750">
                  <a:buFont typeface="Arial" panose="020B0604020202020204" pitchFamily="34" charset="0"/>
                  <a:buChar char="•"/>
                </a:pPr>
                <a:r>
                  <a:rPr lang="en-CN" sz="2800" dirty="0"/>
                  <a:t>Information theory </a:t>
                </a:r>
              </a:p>
              <a:p>
                <a:r>
                  <a:rPr lang="en-CN" sz="2800" dirty="0"/>
                  <a:t>      Claude Shannon in 1948…expressed in terms of discrete set of probabilities</a:t>
                </a:r>
              </a:p>
              <a:p>
                <a:pPr algn="ctr"/>
                <a14:m>
                  <m:oMath xmlns:m="http://schemas.openxmlformats.org/officeDocument/2006/math">
                    <m:r>
                      <a:rPr lang="en-US" sz="2800" b="0" i="1" smtClean="0">
                        <a:latin typeface="Cambria Math" panose="02040503050406030204" pitchFamily="18" charset="0"/>
                      </a:rPr>
                      <m:t>𝐻</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𝑋</m:t>
                        </m:r>
                      </m:e>
                    </m:d>
                    <m:r>
                      <a:rPr lang="en-US" sz="2800" b="0" i="1" smtClean="0">
                        <a:latin typeface="Cambria Math" panose="02040503050406030204" pitchFamily="18" charset="0"/>
                      </a:rPr>
                      <m:t>=−</m:t>
                    </m:r>
                    <m:nary>
                      <m:naryPr>
                        <m:chr m:val="∑"/>
                        <m:ctrlPr>
                          <a:rPr lang="en-US" sz="2800" b="0" i="1" smtClean="0">
                            <a:latin typeface="Cambria Math" panose="02040503050406030204" pitchFamily="18" charset="0"/>
                          </a:rPr>
                        </m:ctrlPr>
                      </m:naryPr>
                      <m:sub>
                        <m:r>
                          <m:rPr>
                            <m:brk m:alnAt="23"/>
                          </m:rPr>
                          <a:rPr lang="en-US" sz="2800" b="0" i="1" smtClean="0">
                            <a:latin typeface="Cambria Math" panose="02040503050406030204" pitchFamily="18" charset="0"/>
                          </a:rPr>
                          <m:t>𝑖</m:t>
                        </m:r>
                        <m:r>
                          <a:rPr lang="en-US" sz="2800" b="0" i="1" smtClean="0">
                            <a:latin typeface="Cambria Math" panose="02040503050406030204" pitchFamily="18" charset="0"/>
                          </a:rPr>
                          <m:t>=1</m:t>
                        </m:r>
                      </m:sub>
                      <m:sup>
                        <m:r>
                          <a:rPr lang="en-US" sz="2800" b="0" i="1" smtClean="0">
                            <a:latin typeface="Cambria Math" panose="02040503050406030204" pitchFamily="18" charset="0"/>
                          </a:rPr>
                          <m:t>𝑛</m:t>
                        </m:r>
                      </m:sup>
                      <m:e>
                        <m:r>
                          <a:rPr lang="en-US" sz="2800" b="0" i="1" smtClean="0">
                            <a:latin typeface="Cambria Math" panose="02040503050406030204" pitchFamily="18" charset="0"/>
                          </a:rPr>
                          <m:t>𝑝</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𝑖</m:t>
                                </m:r>
                              </m:sub>
                            </m:sSub>
                          </m:e>
                        </m:d>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𝑝</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e>
                        </m:func>
                      </m:e>
                    </m:nary>
                  </m:oMath>
                </a14:m>
                <a:r>
                  <a:rPr lang="en-CN" sz="2800" dirty="0"/>
                  <a:t> </a:t>
                </a:r>
              </a:p>
              <a:p>
                <a:pPr marL="285750" indent="-285750">
                  <a:buFont typeface="Arial" panose="020B0604020202020204" pitchFamily="34" charset="0"/>
                  <a:buChar char="•"/>
                </a:pPr>
                <a:endParaRPr lang="en-CN" sz="2800" dirty="0"/>
              </a:p>
              <a:p>
                <a:pPr marL="285750" indent="-285750">
                  <a:buFont typeface="Arial" panose="020B0604020202020204" pitchFamily="34" charset="0"/>
                  <a:buChar char="•"/>
                </a:pPr>
                <a:r>
                  <a:rPr lang="en-US" sz="2800" dirty="0"/>
                  <a:t>Q</a:t>
                </a:r>
                <a:r>
                  <a:rPr lang="en-CN" sz="2800" dirty="0"/>
                  <a:t>uantum mechanics</a:t>
                </a:r>
              </a:p>
              <a:p>
                <a:r>
                  <a:rPr lang="en-CN" sz="2800" dirty="0"/>
                  <a:t>     John von Neumann’s entropy…</a:t>
                </a:r>
              </a:p>
              <a:p>
                <a:pPr algn="ct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𝑆</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𝑘</m:t>
                          </m:r>
                        </m:e>
                        <m:sub>
                          <m:r>
                            <a:rPr lang="en-US" sz="2800" b="0" i="1" smtClean="0">
                              <a:latin typeface="Cambria Math" panose="02040503050406030204" pitchFamily="18" charset="0"/>
                            </a:rPr>
                            <m:t>𝐵</m:t>
                          </m:r>
                        </m:sub>
                      </m:sSub>
                      <m:r>
                        <a:rPr lang="en-US" sz="2800" b="0" i="1" smtClean="0">
                          <a:latin typeface="Cambria Math" panose="02040503050406030204" pitchFamily="18" charset="0"/>
                        </a:rPr>
                        <m:t>𝑇𝑟</m:t>
                      </m:r>
                      <m:r>
                        <a:rPr lang="en-US" sz="2800" b="0" i="1" smtClean="0">
                          <a:latin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𝜌</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𝑙𝑜𝑔</m:t>
                      </m:r>
                      <m:r>
                        <a:rPr lang="en-US" sz="2800" b="0" i="1" smtClean="0">
                          <a:latin typeface="Cambria Math" panose="02040503050406030204" pitchFamily="18" charset="0"/>
                          <a:ea typeface="Cambria Math" panose="02040503050406030204" pitchFamily="18" charset="0"/>
                        </a:rPr>
                        <m:t>𝜌</m:t>
                      </m:r>
                      <m:r>
                        <a:rPr lang="en-US" sz="2800" b="0" i="1" smtClean="0">
                          <a:latin typeface="Cambria Math" panose="02040503050406030204" pitchFamily="18" charset="0"/>
                        </a:rPr>
                        <m:t>)</m:t>
                      </m:r>
                    </m:oMath>
                  </m:oMathPara>
                </a14:m>
                <a:endParaRPr lang="en-CN" sz="2800" dirty="0"/>
              </a:p>
              <a:p>
                <a:r>
                  <a:rPr lang="en-CN" sz="2800" dirty="0"/>
                  <a:t>     with </a:t>
                </a:r>
                <a14:m>
                  <m:oMath xmlns:m="http://schemas.openxmlformats.org/officeDocument/2006/math">
                    <m:r>
                      <a:rPr lang="en-CN" sz="2800" i="1" smtClean="0">
                        <a:latin typeface="Cambria Math" panose="02040503050406030204" pitchFamily="18" charset="0"/>
                        <a:ea typeface="Cambria Math" panose="02040503050406030204" pitchFamily="18" charset="0"/>
                      </a:rPr>
                      <m:t>𝜌</m:t>
                    </m:r>
                    <m:r>
                      <a:rPr lang="en-US" sz="2800" b="0" i="1" smtClean="0">
                        <a:latin typeface="Cambria Math" panose="02040503050406030204" pitchFamily="18" charset="0"/>
                        <a:ea typeface="Cambria Math" panose="02040503050406030204" pitchFamily="18" charset="0"/>
                      </a:rPr>
                      <m:t> </m:t>
                    </m:r>
                  </m:oMath>
                </a14:m>
                <a:r>
                  <a:rPr lang="en-CN" sz="2800" dirty="0"/>
                  <a:t>is the density matrix and Tr is the trace operator.</a:t>
                </a:r>
              </a:p>
            </p:txBody>
          </p:sp>
        </mc:Choice>
        <mc:Fallback xmlns="">
          <p:sp>
            <p:nvSpPr>
              <p:cNvPr id="2" name="TextBox 1">
                <a:extLst>
                  <a:ext uri="{FF2B5EF4-FFF2-40B4-BE49-F238E27FC236}">
                    <a16:creationId xmlns:a16="http://schemas.microsoft.com/office/drawing/2014/main" id="{955A8776-C8F6-CD44-B8D8-113B381692EF}"/>
                  </a:ext>
                </a:extLst>
              </p:cNvPr>
              <p:cNvSpPr txBox="1">
                <a:spLocks noRot="1" noChangeAspect="1" noMove="1" noResize="1" noEditPoints="1" noAdjustHandles="1" noChangeArrowheads="1" noChangeShapeType="1" noTextEdit="1"/>
              </p:cNvSpPr>
              <p:nvPr/>
            </p:nvSpPr>
            <p:spPr>
              <a:xfrm>
                <a:off x="76200" y="1478280"/>
                <a:ext cx="12039600" cy="3540841"/>
              </a:xfrm>
              <a:prstGeom prst="rect">
                <a:avLst/>
              </a:prstGeom>
              <a:blipFill>
                <a:blip r:embed="rId2"/>
                <a:stretch>
                  <a:fillRect l="-948" t="-1786" b="-392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4A6C496-EE7F-6C4B-AE36-30A319F03FB5}"/>
                  </a:ext>
                </a:extLst>
              </p:cNvPr>
              <p:cNvSpPr txBox="1"/>
              <p:nvPr/>
            </p:nvSpPr>
            <p:spPr>
              <a:xfrm>
                <a:off x="9319261" y="2671948"/>
                <a:ext cx="2033549" cy="661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𝑔</m:t>
                          </m:r>
                        </m:den>
                      </m:f>
                    </m:oMath>
                  </m:oMathPara>
                </a14:m>
                <a:endParaRPr lang="en-CN" dirty="0"/>
              </a:p>
            </p:txBody>
          </p:sp>
        </mc:Choice>
        <mc:Fallback xmlns="">
          <p:sp>
            <p:nvSpPr>
              <p:cNvPr id="3" name="TextBox 2">
                <a:extLst>
                  <a:ext uri="{FF2B5EF4-FFF2-40B4-BE49-F238E27FC236}">
                    <a16:creationId xmlns:a16="http://schemas.microsoft.com/office/drawing/2014/main" id="{D4A6C496-EE7F-6C4B-AE36-30A319F03FB5}"/>
                  </a:ext>
                </a:extLst>
              </p:cNvPr>
              <p:cNvSpPr txBox="1">
                <a:spLocks noRot="1" noChangeAspect="1" noMove="1" noResize="1" noEditPoints="1" noAdjustHandles="1" noChangeArrowheads="1" noChangeShapeType="1" noTextEdit="1"/>
              </p:cNvSpPr>
              <p:nvPr/>
            </p:nvSpPr>
            <p:spPr>
              <a:xfrm>
                <a:off x="9319261" y="2671948"/>
                <a:ext cx="2033549" cy="661335"/>
              </a:xfrm>
              <a:prstGeom prst="rect">
                <a:avLst/>
              </a:prstGeom>
              <a:blipFill>
                <a:blip r:embed="rId3"/>
                <a:stretch>
                  <a:fillRect b="-3774"/>
                </a:stretch>
              </a:blipFill>
            </p:spPr>
            <p:txBody>
              <a:bodyPr/>
              <a:lstStyle/>
              <a:p>
                <a:r>
                  <a:rPr lang="en-CN">
                    <a:noFill/>
                  </a:rPr>
                  <a:t> </a:t>
                </a:r>
              </a:p>
            </p:txBody>
          </p:sp>
        </mc:Fallback>
      </mc:AlternateContent>
    </p:spTree>
    <p:extLst>
      <p:ext uri="{BB962C8B-B14F-4D97-AF65-F5344CB8AC3E}">
        <p14:creationId xmlns:p14="http://schemas.microsoft.com/office/powerpoint/2010/main" val="37882432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10808</TotalTime>
  <Words>1505</Words>
  <Application>Microsoft Macintosh PowerPoint</Application>
  <PresentationFormat>Widescreen</PresentationFormat>
  <Paragraphs>142</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FangSong</vt:lpstr>
      <vt:lpstr>Arial</vt:lpstr>
      <vt:lpstr>Calibri</vt:lpstr>
      <vt:lpstr>Calibri Light</vt:lpstr>
      <vt:lpstr>Cambria Math</vt:lpstr>
      <vt:lpstr>Office Theme</vt:lpstr>
      <vt:lpstr>热物（第二周）</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167</cp:revision>
  <dcterms:created xsi:type="dcterms:W3CDTF">2022-02-02T22:31:46Z</dcterms:created>
  <dcterms:modified xsi:type="dcterms:W3CDTF">2023-02-20T03:38:54Z</dcterms:modified>
</cp:coreProperties>
</file>