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2"/>
  </p:notesMasterIdLst>
  <p:sldIdLst>
    <p:sldId id="261" r:id="rId2"/>
    <p:sldId id="494" r:id="rId3"/>
    <p:sldId id="495" r:id="rId4"/>
    <p:sldId id="508" r:id="rId5"/>
    <p:sldId id="505" r:id="rId6"/>
    <p:sldId id="506" r:id="rId7"/>
    <p:sldId id="496" r:id="rId8"/>
    <p:sldId id="623" r:id="rId9"/>
    <p:sldId id="509" r:id="rId10"/>
    <p:sldId id="612" r:id="rId11"/>
    <p:sldId id="511" r:id="rId12"/>
    <p:sldId id="510" r:id="rId13"/>
    <p:sldId id="632" r:id="rId14"/>
    <p:sldId id="265" r:id="rId15"/>
    <p:sldId id="607" r:id="rId16"/>
    <p:sldId id="597" r:id="rId17"/>
    <p:sldId id="613" r:id="rId18"/>
    <p:sldId id="614" r:id="rId19"/>
    <p:sldId id="598" r:id="rId20"/>
    <p:sldId id="599" r:id="rId21"/>
    <p:sldId id="600" r:id="rId22"/>
    <p:sldId id="601" r:id="rId23"/>
    <p:sldId id="602" r:id="rId24"/>
    <p:sldId id="603" r:id="rId25"/>
    <p:sldId id="604" r:id="rId26"/>
    <p:sldId id="605" r:id="rId27"/>
    <p:sldId id="540" r:id="rId28"/>
    <p:sldId id="426" r:id="rId29"/>
    <p:sldId id="429" r:id="rId30"/>
    <p:sldId id="427" r:id="rId31"/>
    <p:sldId id="430" r:id="rId32"/>
    <p:sldId id="431" r:id="rId33"/>
    <p:sldId id="432" r:id="rId34"/>
    <p:sldId id="433" r:id="rId35"/>
    <p:sldId id="606" r:id="rId36"/>
    <p:sldId id="434" r:id="rId37"/>
    <p:sldId id="435" r:id="rId38"/>
    <p:sldId id="438" r:id="rId39"/>
    <p:sldId id="439" r:id="rId40"/>
    <p:sldId id="440" r:id="rId41"/>
    <p:sldId id="436" r:id="rId42"/>
    <p:sldId id="618" r:id="rId43"/>
    <p:sldId id="620" r:id="rId44"/>
    <p:sldId id="621" r:id="rId45"/>
    <p:sldId id="472" r:id="rId46"/>
    <p:sldId id="441" r:id="rId47"/>
    <p:sldId id="442" r:id="rId48"/>
    <p:sldId id="437" r:id="rId49"/>
    <p:sldId id="636" r:id="rId50"/>
    <p:sldId id="637" r:id="rId51"/>
    <p:sldId id="443" r:id="rId52"/>
    <p:sldId id="444" r:id="rId53"/>
    <p:sldId id="445" r:id="rId54"/>
    <p:sldId id="486" r:id="rId55"/>
    <p:sldId id="622" r:id="rId56"/>
    <p:sldId id="633" r:id="rId57"/>
    <p:sldId id="635" r:id="rId58"/>
    <p:sldId id="634" r:id="rId59"/>
    <p:sldId id="616" r:id="rId60"/>
    <p:sldId id="449" r:id="rId61"/>
    <p:sldId id="487" r:id="rId62"/>
    <p:sldId id="450" r:id="rId63"/>
    <p:sldId id="451" r:id="rId64"/>
    <p:sldId id="454" r:id="rId65"/>
    <p:sldId id="452" r:id="rId66"/>
    <p:sldId id="453" r:id="rId67"/>
    <p:sldId id="455" r:id="rId68"/>
    <p:sldId id="456" r:id="rId69"/>
    <p:sldId id="457" r:id="rId70"/>
    <p:sldId id="447" r:id="rId71"/>
    <p:sldId id="458" r:id="rId72"/>
    <p:sldId id="559" r:id="rId73"/>
    <p:sldId id="459" r:id="rId74"/>
    <p:sldId id="560" r:id="rId75"/>
    <p:sldId id="460" r:id="rId76"/>
    <p:sldId id="490" r:id="rId77"/>
    <p:sldId id="462" r:id="rId78"/>
    <p:sldId id="561" r:id="rId79"/>
    <p:sldId id="491" r:id="rId80"/>
    <p:sldId id="625" r:id="rId81"/>
    <p:sldId id="626" r:id="rId82"/>
    <p:sldId id="477" r:id="rId83"/>
    <p:sldId id="628" r:id="rId84"/>
    <p:sldId id="448" r:id="rId85"/>
    <p:sldId id="464" r:id="rId86"/>
    <p:sldId id="562" r:id="rId87"/>
    <p:sldId id="608" r:id="rId88"/>
    <p:sldId id="465" r:id="rId89"/>
    <p:sldId id="570" r:id="rId90"/>
    <p:sldId id="563" r:id="rId91"/>
    <p:sldId id="564" r:id="rId92"/>
    <p:sldId id="565" r:id="rId93"/>
    <p:sldId id="609" r:id="rId94"/>
    <p:sldId id="275" r:id="rId95"/>
    <p:sldId id="566" r:id="rId96"/>
    <p:sldId id="567" r:id="rId97"/>
    <p:sldId id="483" r:id="rId98"/>
    <p:sldId id="630" r:id="rId99"/>
    <p:sldId id="629" r:id="rId100"/>
    <p:sldId id="484" r:id="rId101"/>
    <p:sldId id="485" r:id="rId102"/>
    <p:sldId id="276" r:id="rId103"/>
    <p:sldId id="568" r:id="rId104"/>
    <p:sldId id="569" r:id="rId105"/>
    <p:sldId id="611" r:id="rId106"/>
    <p:sldId id="631" r:id="rId107"/>
    <p:sldId id="479" r:id="rId108"/>
    <p:sldId id="492" r:id="rId109"/>
    <p:sldId id="493" r:id="rId110"/>
    <p:sldId id="596" r:id="rId11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3333FF"/>
    <a:srgbClr val="000099"/>
    <a:srgbClr val="FF0000"/>
    <a:srgbClr val="FF33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11" autoAdjust="0"/>
    <p:restoredTop sz="95326" autoAdjust="0"/>
  </p:normalViewPr>
  <p:slideViewPr>
    <p:cSldViewPr>
      <p:cViewPr varScale="1">
        <p:scale>
          <a:sx n="86" d="100"/>
          <a:sy n="86" d="100"/>
        </p:scale>
        <p:origin x="106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7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4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4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43.wmf"/><Relationship Id="rId5" Type="http://schemas.openxmlformats.org/officeDocument/2006/relationships/image" Target="../media/image33.wmf"/><Relationship Id="rId4" Type="http://schemas.openxmlformats.org/officeDocument/2006/relationships/image" Target="../media/image5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5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wmf"/><Relationship Id="rId1" Type="http://schemas.openxmlformats.org/officeDocument/2006/relationships/image" Target="../media/image43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6.wmf"/><Relationship Id="rId1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70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1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2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wmf"/><Relationship Id="rId1" Type="http://schemas.openxmlformats.org/officeDocument/2006/relationships/image" Target="../media/image123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34.wmf"/><Relationship Id="rId1" Type="http://schemas.openxmlformats.org/officeDocument/2006/relationships/image" Target="../media/image133.wmf"/><Relationship Id="rId4" Type="http://schemas.openxmlformats.org/officeDocument/2006/relationships/image" Target="../media/image135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9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9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8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wmf"/><Relationship Id="rId1" Type="http://schemas.openxmlformats.org/officeDocument/2006/relationships/image" Target="../media/image172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wmf"/><Relationship Id="rId1" Type="http://schemas.openxmlformats.org/officeDocument/2006/relationships/image" Target="../media/image168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2" Type="http://schemas.openxmlformats.org/officeDocument/2006/relationships/image" Target="../media/image173.wmf"/><Relationship Id="rId1" Type="http://schemas.openxmlformats.org/officeDocument/2006/relationships/image" Target="../media/image168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wmf"/><Relationship Id="rId1" Type="http://schemas.openxmlformats.org/officeDocument/2006/relationships/image" Target="../media/image168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wmf"/><Relationship Id="rId1" Type="http://schemas.openxmlformats.org/officeDocument/2006/relationships/image" Target="../media/image177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wmf"/><Relationship Id="rId7" Type="http://schemas.openxmlformats.org/officeDocument/2006/relationships/image" Target="../media/image189.wmf"/><Relationship Id="rId2" Type="http://schemas.openxmlformats.org/officeDocument/2006/relationships/image" Target="../media/image168.wmf"/><Relationship Id="rId1" Type="http://schemas.openxmlformats.org/officeDocument/2006/relationships/image" Target="../media/image177.wmf"/><Relationship Id="rId6" Type="http://schemas.openxmlformats.org/officeDocument/2006/relationships/image" Target="../media/image188.wmf"/><Relationship Id="rId5" Type="http://schemas.openxmlformats.org/officeDocument/2006/relationships/image" Target="../media/image187.wmf"/><Relationship Id="rId4" Type="http://schemas.openxmlformats.org/officeDocument/2006/relationships/image" Target="../media/image186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wmf"/><Relationship Id="rId2" Type="http://schemas.openxmlformats.org/officeDocument/2006/relationships/image" Target="../media/image191.wmf"/><Relationship Id="rId1" Type="http://schemas.openxmlformats.org/officeDocument/2006/relationships/image" Target="../media/image190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3.w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wmf"/><Relationship Id="rId1" Type="http://schemas.openxmlformats.org/officeDocument/2006/relationships/image" Target="../media/image196.w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3.w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wmf"/><Relationship Id="rId1" Type="http://schemas.openxmlformats.org/officeDocument/2006/relationships/image" Target="../media/image204.w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wmf"/><Relationship Id="rId1" Type="http://schemas.openxmlformats.org/officeDocument/2006/relationships/image" Target="../media/image217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w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Relationship Id="rId4" Type="http://schemas.openxmlformats.org/officeDocument/2006/relationships/image" Target="../media/image221.w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2.w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wmf"/><Relationship Id="rId1" Type="http://schemas.openxmlformats.org/officeDocument/2006/relationships/image" Target="../media/image223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wmf"/><Relationship Id="rId2" Type="http://schemas.openxmlformats.org/officeDocument/2006/relationships/image" Target="../media/image224.wmf"/><Relationship Id="rId1" Type="http://schemas.openxmlformats.org/officeDocument/2006/relationships/image" Target="../media/image223.wmf"/><Relationship Id="rId4" Type="http://schemas.openxmlformats.org/officeDocument/2006/relationships/image" Target="../media/image227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wmf"/><Relationship Id="rId2" Type="http://schemas.openxmlformats.org/officeDocument/2006/relationships/image" Target="../media/image229.png"/><Relationship Id="rId1" Type="http://schemas.openxmlformats.org/officeDocument/2006/relationships/image" Target="../media/image228.png"/><Relationship Id="rId5" Type="http://schemas.openxmlformats.org/officeDocument/2006/relationships/image" Target="../media/image231.wmf"/><Relationship Id="rId4" Type="http://schemas.openxmlformats.org/officeDocument/2006/relationships/image" Target="../media/image230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wmf"/><Relationship Id="rId2" Type="http://schemas.openxmlformats.org/officeDocument/2006/relationships/image" Target="../media/image233.wmf"/><Relationship Id="rId1" Type="http://schemas.openxmlformats.org/officeDocument/2006/relationships/image" Target="../media/image232.wmf"/><Relationship Id="rId4" Type="http://schemas.openxmlformats.org/officeDocument/2006/relationships/image" Target="../media/image227.wmf"/></Relationships>
</file>

<file path=ppt/drawings/_rels/vmlDrawing5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5.wmf"/><Relationship Id="rId1" Type="http://schemas.openxmlformats.org/officeDocument/2006/relationships/image" Target="../media/image234.w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wmf"/><Relationship Id="rId3" Type="http://schemas.openxmlformats.org/officeDocument/2006/relationships/image" Target="../media/image240.wmf"/><Relationship Id="rId7" Type="http://schemas.openxmlformats.org/officeDocument/2006/relationships/image" Target="../media/image233.wmf"/><Relationship Id="rId2" Type="http://schemas.openxmlformats.org/officeDocument/2006/relationships/image" Target="../media/image239.wmf"/><Relationship Id="rId1" Type="http://schemas.openxmlformats.org/officeDocument/2006/relationships/image" Target="../media/image238.wmf"/><Relationship Id="rId6" Type="http://schemas.openxmlformats.org/officeDocument/2006/relationships/image" Target="../media/image243.wmf"/><Relationship Id="rId5" Type="http://schemas.openxmlformats.org/officeDocument/2006/relationships/image" Target="../media/image242.wmf"/><Relationship Id="rId4" Type="http://schemas.openxmlformats.org/officeDocument/2006/relationships/image" Target="../media/image241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wmf"/><Relationship Id="rId2" Type="http://schemas.openxmlformats.org/officeDocument/2006/relationships/image" Target="../media/image242.wmf"/><Relationship Id="rId1" Type="http://schemas.openxmlformats.org/officeDocument/2006/relationships/image" Target="../media/image241.wmf"/><Relationship Id="rId6" Type="http://schemas.openxmlformats.org/officeDocument/2006/relationships/image" Target="../media/image245.wmf"/><Relationship Id="rId5" Type="http://schemas.openxmlformats.org/officeDocument/2006/relationships/image" Target="../media/image230.wmf"/><Relationship Id="rId4" Type="http://schemas.openxmlformats.org/officeDocument/2006/relationships/image" Target="../media/image223.w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6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wmf"/><Relationship Id="rId2" Type="http://schemas.openxmlformats.org/officeDocument/2006/relationships/image" Target="../media/image223.wmf"/><Relationship Id="rId1" Type="http://schemas.openxmlformats.org/officeDocument/2006/relationships/image" Target="../media/image247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wmf"/><Relationship Id="rId2" Type="http://schemas.openxmlformats.org/officeDocument/2006/relationships/image" Target="../media/image223.wmf"/><Relationship Id="rId1" Type="http://schemas.openxmlformats.org/officeDocument/2006/relationships/image" Target="../media/image245.wmf"/></Relationships>
</file>

<file path=ppt/drawings/_rels/vmlDrawing6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wmf"/><Relationship Id="rId1" Type="http://schemas.openxmlformats.org/officeDocument/2006/relationships/image" Target="../media/image223.wmf"/></Relationships>
</file>

<file path=ppt/drawings/_rels/vmlDrawing6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9.wmf"/><Relationship Id="rId1" Type="http://schemas.openxmlformats.org/officeDocument/2006/relationships/image" Target="../media/image24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D81E67-F28C-411B-9903-086CA902E411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1969C4-D0CD-4FB6-822B-C3A511516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094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i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1969C4-D0CD-4FB6-822B-C3A511516B59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164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BD93C-E19A-4412-8F37-E4D022B22A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6457233"/>
      </p:ext>
    </p:extLst>
  </p:cSld>
  <p:clrMapOvr>
    <a:masterClrMapping/>
  </p:clrMapOvr>
  <p:transition spd="med">
    <p:pull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16101-2221-4847-8A7E-D7CEFDAF98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285140"/>
      </p:ext>
    </p:extLst>
  </p:cSld>
  <p:clrMapOvr>
    <a:masterClrMapping/>
  </p:clrMapOvr>
  <p:transition spd="med">
    <p:pull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301CC-E8A7-4F56-BDA4-825C13196A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3121009"/>
      </p:ext>
    </p:extLst>
  </p:cSld>
  <p:clrMapOvr>
    <a:masterClrMapping/>
  </p:clrMapOvr>
  <p:transition spd="med">
    <p:pull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EFC815-E246-4568-B2C4-BCBFAA549B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4217332"/>
      </p:ext>
    </p:extLst>
  </p:cSld>
  <p:clrMapOvr>
    <a:masterClrMapping/>
  </p:clrMapOvr>
  <p:transition spd="med">
    <p:pull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BD5E87-1EAD-4D5A-99BB-BEE92BA8B9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4466906"/>
      </p:ext>
    </p:extLst>
  </p:cSld>
  <p:clrMapOvr>
    <a:masterClrMapping/>
  </p:clrMapOvr>
  <p:transition spd="med">
    <p:pull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40CB2-3156-4E31-9EC2-C4E1D4982B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0853382"/>
      </p:ext>
    </p:extLst>
  </p:cSld>
  <p:clrMapOvr>
    <a:masterClrMapping/>
  </p:clrMapOvr>
  <p:transition spd="med">
    <p:pull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7C7363-DBDC-434E-9944-39207D819B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25041"/>
      </p:ext>
    </p:extLst>
  </p:cSld>
  <p:clrMapOvr>
    <a:masterClrMapping/>
  </p:clrMapOvr>
  <p:transition spd="med">
    <p:pull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2D0290-6257-4895-A77F-02D0A83828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749809"/>
      </p:ext>
    </p:extLst>
  </p:cSld>
  <p:clrMapOvr>
    <a:masterClrMapping/>
  </p:clrMapOvr>
  <p:transition spd="med">
    <p:pull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540C24-1817-40AE-854F-8A18CC277C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8787170"/>
      </p:ext>
    </p:extLst>
  </p:cSld>
  <p:clrMapOvr>
    <a:masterClrMapping/>
  </p:clrMapOvr>
  <p:transition spd="med">
    <p:pull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BDC552-661D-4CC1-AA44-77B317EF99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87095"/>
      </p:ext>
    </p:extLst>
  </p:cSld>
  <p:clrMapOvr>
    <a:masterClrMapping/>
  </p:clrMapOvr>
  <p:transition spd="med">
    <p:pull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1D8BF8-B8A1-4E13-A7F1-F263ADEED9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3068697"/>
      </p:ext>
    </p:extLst>
  </p:cSld>
  <p:clrMapOvr>
    <a:masterClrMapping/>
  </p:clrMapOvr>
  <p:transition spd="med">
    <p:pull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3E2ECFB-CDAF-45F6-A276-68D5237076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ll dir="r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3" Type="http://schemas.openxmlformats.org/officeDocument/2006/relationships/image" Target="../media/image3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2.wmf"/><Relationship Id="rId4" Type="http://schemas.openxmlformats.org/officeDocument/2006/relationships/image" Target="../media/image4.png"/><Relationship Id="rId9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3.png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2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3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3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7.wmf"/><Relationship Id="rId7" Type="http://schemas.openxmlformats.org/officeDocument/2006/relationships/image" Target="../media/image4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5.w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33.wmf"/><Relationship Id="rId3" Type="http://schemas.openxmlformats.org/officeDocument/2006/relationships/oleObject" Target="../embeddings/oleObject40.bin"/><Relationship Id="rId7" Type="http://schemas.openxmlformats.org/officeDocument/2006/relationships/image" Target="../media/image55.png"/><Relationship Id="rId12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2.wmf"/><Relationship Id="rId11" Type="http://schemas.openxmlformats.org/officeDocument/2006/relationships/image" Target="../media/image54.wmf"/><Relationship Id="rId5" Type="http://schemas.openxmlformats.org/officeDocument/2006/relationships/oleObject" Target="../embeddings/oleObject41.bin"/><Relationship Id="rId15" Type="http://schemas.openxmlformats.org/officeDocument/2006/relationships/image" Target="../media/image43.wmf"/><Relationship Id="rId10" Type="http://schemas.openxmlformats.org/officeDocument/2006/relationships/oleObject" Target="../embeddings/oleObject43.bin"/><Relationship Id="rId4" Type="http://schemas.openxmlformats.org/officeDocument/2006/relationships/image" Target="../media/image51.wmf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4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56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oleObject" Target="../embeddings/oleObject50.bin"/><Relationship Id="rId7" Type="http://schemas.openxmlformats.org/officeDocument/2006/relationships/image" Target="../media/image5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6.wmf"/><Relationship Id="rId11" Type="http://schemas.openxmlformats.org/officeDocument/2006/relationships/image" Target="../media/image56.wmf"/><Relationship Id="rId5" Type="http://schemas.openxmlformats.org/officeDocument/2006/relationships/oleObject" Target="../embeddings/oleObject51.bin"/><Relationship Id="rId10" Type="http://schemas.openxmlformats.org/officeDocument/2006/relationships/oleObject" Target="../embeddings/oleObject52.bin"/><Relationship Id="rId4" Type="http://schemas.openxmlformats.org/officeDocument/2006/relationships/image" Target="../media/image45.wmf"/><Relationship Id="rId9" Type="http://schemas.openxmlformats.org/officeDocument/2006/relationships/image" Target="../media/image5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image" Target="../media/image46.wmf"/><Relationship Id="rId3" Type="http://schemas.openxmlformats.org/officeDocument/2006/relationships/image" Target="../media/image58.png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1.wmf"/><Relationship Id="rId11" Type="http://schemas.openxmlformats.org/officeDocument/2006/relationships/image" Target="../media/image45.wmf"/><Relationship Id="rId5" Type="http://schemas.openxmlformats.org/officeDocument/2006/relationships/image" Target="../media/image59.wmf"/><Relationship Id="rId10" Type="http://schemas.openxmlformats.org/officeDocument/2006/relationships/oleObject" Target="../embeddings/oleObject53.bin"/><Relationship Id="rId4" Type="http://schemas.openxmlformats.org/officeDocument/2006/relationships/image" Target="../media/image60.png"/><Relationship Id="rId9" Type="http://schemas.openxmlformats.org/officeDocument/2006/relationships/image" Target="../media/image64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43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6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70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6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71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66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5.wmf"/><Relationship Id="rId5" Type="http://schemas.openxmlformats.org/officeDocument/2006/relationships/image" Target="../media/image34.wmf"/><Relationship Id="rId4" Type="http://schemas.openxmlformats.org/officeDocument/2006/relationships/oleObject" Target="../embeddings/oleObject67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image" Target="../media/image78.png"/><Relationship Id="rId7" Type="http://schemas.openxmlformats.org/officeDocument/2006/relationships/image" Target="../media/image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68.bin"/><Relationship Id="rId5" Type="http://schemas.openxmlformats.org/officeDocument/2006/relationships/image" Target="../media/image80.png"/><Relationship Id="rId10" Type="http://schemas.openxmlformats.org/officeDocument/2006/relationships/image" Target="../media/image75.wmf"/><Relationship Id="rId4" Type="http://schemas.openxmlformats.org/officeDocument/2006/relationships/image" Target="../media/image79.png"/><Relationship Id="rId9" Type="http://schemas.openxmlformats.org/officeDocument/2006/relationships/image" Target="../media/image77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89.wmf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3.png"/><Relationship Id="rId11" Type="http://schemas.openxmlformats.org/officeDocument/2006/relationships/image" Target="../media/image88.wmf"/><Relationship Id="rId5" Type="http://schemas.openxmlformats.org/officeDocument/2006/relationships/image" Target="../media/image92.png"/><Relationship Id="rId10" Type="http://schemas.openxmlformats.org/officeDocument/2006/relationships/oleObject" Target="../embeddings/oleObject71.bin"/><Relationship Id="rId4" Type="http://schemas.openxmlformats.org/officeDocument/2006/relationships/image" Target="../media/image91.png"/><Relationship Id="rId9" Type="http://schemas.openxmlformats.org/officeDocument/2006/relationships/image" Target="../media/image87.wmf"/><Relationship Id="rId14" Type="http://schemas.openxmlformats.org/officeDocument/2006/relationships/image" Target="../media/image75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75.wmf"/><Relationship Id="rId4" Type="http://schemas.openxmlformats.org/officeDocument/2006/relationships/image" Target="../media/image101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10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wmf"/><Relationship Id="rId5" Type="http://schemas.openxmlformats.org/officeDocument/2006/relationships/image" Target="../media/image75.wmf"/><Relationship Id="rId4" Type="http://schemas.openxmlformats.org/officeDocument/2006/relationships/image" Target="../media/image10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w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12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111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6.wmf"/><Relationship Id="rId11" Type="http://schemas.openxmlformats.org/officeDocument/2006/relationships/image" Target="../media/image120.png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119.png"/><Relationship Id="rId4" Type="http://schemas.openxmlformats.org/officeDocument/2006/relationships/image" Target="../media/image115.wmf"/><Relationship Id="rId9" Type="http://schemas.openxmlformats.org/officeDocument/2006/relationships/image" Target="../media/image11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3" Type="http://schemas.openxmlformats.org/officeDocument/2006/relationships/image" Target="../media/image125.png"/><Relationship Id="rId7" Type="http://schemas.openxmlformats.org/officeDocument/2006/relationships/image" Target="../media/image123.wmf"/><Relationship Id="rId12" Type="http://schemas.openxmlformats.org/officeDocument/2006/relationships/image" Target="../media/image12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121.png"/><Relationship Id="rId5" Type="http://schemas.openxmlformats.org/officeDocument/2006/relationships/image" Target="../media/image127.png"/><Relationship Id="rId10" Type="http://schemas.openxmlformats.org/officeDocument/2006/relationships/image" Target="../media/image108.wmf"/><Relationship Id="rId4" Type="http://schemas.openxmlformats.org/officeDocument/2006/relationships/image" Target="../media/image126.png"/><Relationship Id="rId9" Type="http://schemas.openxmlformats.org/officeDocument/2006/relationships/image" Target="../media/image124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1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132.w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85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35.wmf"/><Relationship Id="rId3" Type="http://schemas.openxmlformats.org/officeDocument/2006/relationships/oleObject" Target="../embeddings/oleObject87.bin"/><Relationship Id="rId7" Type="http://schemas.openxmlformats.org/officeDocument/2006/relationships/image" Target="../media/image136.png"/><Relationship Id="rId12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34.wmf"/><Relationship Id="rId11" Type="http://schemas.openxmlformats.org/officeDocument/2006/relationships/image" Target="../media/image134.wmf"/><Relationship Id="rId5" Type="http://schemas.openxmlformats.org/officeDocument/2006/relationships/oleObject" Target="../embeddings/oleObject88.bin"/><Relationship Id="rId10" Type="http://schemas.openxmlformats.org/officeDocument/2006/relationships/oleObject" Target="../embeddings/oleObject89.bin"/><Relationship Id="rId4" Type="http://schemas.openxmlformats.org/officeDocument/2006/relationships/image" Target="../media/image133.wmf"/><Relationship Id="rId9" Type="http://schemas.openxmlformats.org/officeDocument/2006/relationships/image" Target="../media/image13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1.png"/><Relationship Id="rId4" Type="http://schemas.openxmlformats.org/officeDocument/2006/relationships/image" Target="../media/image12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5" Type="http://schemas.openxmlformats.org/officeDocument/2006/relationships/image" Target="../media/image128.png"/><Relationship Id="rId4" Type="http://schemas.openxmlformats.org/officeDocument/2006/relationships/image" Target="../media/image1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150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5" Type="http://schemas.openxmlformats.org/officeDocument/2006/relationships/image" Target="../media/image149.wmf"/><Relationship Id="rId4" Type="http://schemas.openxmlformats.org/officeDocument/2006/relationships/oleObject" Target="../embeddings/oleObject92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wmf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13" Type="http://schemas.openxmlformats.org/officeDocument/2006/relationships/image" Target="../media/image160.wmf"/><Relationship Id="rId3" Type="http://schemas.openxmlformats.org/officeDocument/2006/relationships/image" Target="../media/image156.png"/><Relationship Id="rId7" Type="http://schemas.openxmlformats.org/officeDocument/2006/relationships/image" Target="../media/image153.wmf"/><Relationship Id="rId12" Type="http://schemas.openxmlformats.org/officeDocument/2006/relationships/image" Target="../media/image15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93.bin"/><Relationship Id="rId11" Type="http://schemas.openxmlformats.org/officeDocument/2006/relationships/image" Target="../media/image155.wmf"/><Relationship Id="rId5" Type="http://schemas.openxmlformats.org/officeDocument/2006/relationships/image" Target="../media/image158.png"/><Relationship Id="rId10" Type="http://schemas.openxmlformats.org/officeDocument/2006/relationships/oleObject" Target="../embeddings/oleObject95.bin"/><Relationship Id="rId4" Type="http://schemas.openxmlformats.org/officeDocument/2006/relationships/image" Target="../media/image157.png"/><Relationship Id="rId9" Type="http://schemas.openxmlformats.org/officeDocument/2006/relationships/image" Target="../media/image154.wmf"/><Relationship Id="rId14" Type="http://schemas.openxmlformats.org/officeDocument/2006/relationships/image" Target="../media/image150.w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wmf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wmf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3" Type="http://schemas.openxmlformats.org/officeDocument/2006/relationships/image" Target="../media/image107.png"/><Relationship Id="rId7" Type="http://schemas.openxmlformats.org/officeDocument/2006/relationships/image" Target="../media/image165.wmf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wmf"/><Relationship Id="rId5" Type="http://schemas.openxmlformats.org/officeDocument/2006/relationships/image" Target="../media/image163.wmf"/><Relationship Id="rId4" Type="http://schemas.openxmlformats.org/officeDocument/2006/relationships/image" Target="../media/image162.png"/><Relationship Id="rId9" Type="http://schemas.openxmlformats.org/officeDocument/2006/relationships/image" Target="../media/image167.w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69.png"/><Relationship Id="rId7" Type="http://schemas.openxmlformats.org/officeDocument/2006/relationships/image" Target="../media/image16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96.bin"/><Relationship Id="rId5" Type="http://schemas.openxmlformats.org/officeDocument/2006/relationships/image" Target="../media/image170.png"/><Relationship Id="rId4" Type="http://schemas.openxmlformats.org/officeDocument/2006/relationships/image" Target="../media/image16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7" Type="http://schemas.openxmlformats.org/officeDocument/2006/relationships/image" Target="../media/image17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73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172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3" Type="http://schemas.openxmlformats.org/officeDocument/2006/relationships/image" Target="../media/image161.png"/><Relationship Id="rId7" Type="http://schemas.openxmlformats.org/officeDocument/2006/relationships/image" Target="../media/image17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100.bin"/><Relationship Id="rId5" Type="http://schemas.openxmlformats.org/officeDocument/2006/relationships/image" Target="../media/image168.wmf"/><Relationship Id="rId4" Type="http://schemas.openxmlformats.org/officeDocument/2006/relationships/oleObject" Target="../embeddings/oleObject99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wmf"/><Relationship Id="rId2" Type="http://schemas.openxmlformats.org/officeDocument/2006/relationships/image" Target="../media/image174.wmf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73.w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168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image" Target="../media/image169.png"/><Relationship Id="rId7" Type="http://schemas.openxmlformats.org/officeDocument/2006/relationships/image" Target="../media/image17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105.bin"/><Relationship Id="rId5" Type="http://schemas.openxmlformats.org/officeDocument/2006/relationships/image" Target="../media/image168.wmf"/><Relationship Id="rId4" Type="http://schemas.openxmlformats.org/officeDocument/2006/relationships/oleObject" Target="../embeddings/oleObject104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oleObject" Target="../embeddings/oleObject106.bin"/><Relationship Id="rId7" Type="http://schemas.openxmlformats.org/officeDocument/2006/relationships/image" Target="../media/image17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68.w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77.wmf"/><Relationship Id="rId9" Type="http://schemas.openxmlformats.org/officeDocument/2006/relationships/image" Target="../media/image17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png"/><Relationship Id="rId5" Type="http://schemas.openxmlformats.org/officeDocument/2006/relationships/image" Target="../media/image178.png"/><Relationship Id="rId4" Type="http://schemas.openxmlformats.org/officeDocument/2006/relationships/image" Target="../media/image183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oleObject" Target="../embeddings/oleObject113.bin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8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9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4.bin"/><Relationship Id="rId10" Type="http://schemas.openxmlformats.org/officeDocument/2006/relationships/image" Target="../media/image186.wmf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88.w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69.png"/><Relationship Id="rId11" Type="http://schemas.openxmlformats.org/officeDocument/2006/relationships/image" Target="../media/image192.wmf"/><Relationship Id="rId5" Type="http://schemas.openxmlformats.org/officeDocument/2006/relationships/image" Target="../media/image180.png"/><Relationship Id="rId10" Type="http://schemas.openxmlformats.org/officeDocument/2006/relationships/image" Target="../media/image187.wmf"/><Relationship Id="rId4" Type="http://schemas.openxmlformats.org/officeDocument/2006/relationships/image" Target="../media/image190.wmf"/><Relationship Id="rId9" Type="http://schemas.openxmlformats.org/officeDocument/2006/relationships/oleObject" Target="../embeddings/oleObject117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7" Type="http://schemas.openxmlformats.org/officeDocument/2006/relationships/image" Target="../media/image12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93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95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98.png"/><Relationship Id="rId5" Type="http://schemas.openxmlformats.org/officeDocument/2006/relationships/image" Target="../media/image197.png"/><Relationship Id="rId4" Type="http://schemas.openxmlformats.org/officeDocument/2006/relationships/image" Target="../media/image196.w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00.png"/><Relationship Id="rId5" Type="http://schemas.openxmlformats.org/officeDocument/2006/relationships/image" Target="../media/image193.wmf"/><Relationship Id="rId4" Type="http://schemas.openxmlformats.org/officeDocument/2006/relationships/oleObject" Target="../embeddings/oleObject121.bin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3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3" Type="http://schemas.openxmlformats.org/officeDocument/2006/relationships/image" Target="../media/image200.png"/><Relationship Id="rId7" Type="http://schemas.openxmlformats.org/officeDocument/2006/relationships/image" Target="../media/image20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122.bin"/><Relationship Id="rId5" Type="http://schemas.openxmlformats.org/officeDocument/2006/relationships/image" Target="../media/image207.png"/><Relationship Id="rId4" Type="http://schemas.openxmlformats.org/officeDocument/2006/relationships/image" Target="../media/image206.png"/><Relationship Id="rId9" Type="http://schemas.openxmlformats.org/officeDocument/2006/relationships/image" Target="../media/image205.wmf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3" Type="http://schemas.openxmlformats.org/officeDocument/2006/relationships/image" Target="../media/image209.png"/><Relationship Id="rId7" Type="http://schemas.openxmlformats.org/officeDocument/2006/relationships/image" Target="../media/image213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2.png"/><Relationship Id="rId5" Type="http://schemas.openxmlformats.org/officeDocument/2006/relationships/image" Target="../media/image211.png"/><Relationship Id="rId4" Type="http://schemas.openxmlformats.org/officeDocument/2006/relationships/image" Target="../media/image210.png"/><Relationship Id="rId9" Type="http://schemas.openxmlformats.org/officeDocument/2006/relationships/image" Target="../media/image215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.bin"/><Relationship Id="rId7" Type="http://schemas.openxmlformats.org/officeDocument/2006/relationships/image" Target="../media/image12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18.wmf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217.wmf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20.wmf"/><Relationship Id="rId5" Type="http://schemas.openxmlformats.org/officeDocument/2006/relationships/oleObject" Target="../embeddings/oleObject127.bin"/><Relationship Id="rId10" Type="http://schemas.openxmlformats.org/officeDocument/2006/relationships/image" Target="../media/image221.wmf"/><Relationship Id="rId4" Type="http://schemas.openxmlformats.org/officeDocument/2006/relationships/image" Target="../media/image219.wmf"/><Relationship Id="rId9" Type="http://schemas.openxmlformats.org/officeDocument/2006/relationships/oleObject" Target="../embeddings/oleObject129.bin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4" Type="http://schemas.openxmlformats.org/officeDocument/2006/relationships/image" Target="../media/image222.wmf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7" Type="http://schemas.openxmlformats.org/officeDocument/2006/relationships/image" Target="../media/image22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oleObject" Target="../embeddings/oleObject132.bin"/><Relationship Id="rId5" Type="http://schemas.openxmlformats.org/officeDocument/2006/relationships/image" Target="../media/image223.wmf"/><Relationship Id="rId4" Type="http://schemas.openxmlformats.org/officeDocument/2006/relationships/oleObject" Target="../embeddings/oleObject131.bin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3" Type="http://schemas.openxmlformats.org/officeDocument/2006/relationships/image" Target="../media/image225.png"/><Relationship Id="rId7" Type="http://schemas.openxmlformats.org/officeDocument/2006/relationships/image" Target="../media/image22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227.wmf"/><Relationship Id="rId5" Type="http://schemas.openxmlformats.org/officeDocument/2006/relationships/image" Target="../media/image223.wmf"/><Relationship Id="rId10" Type="http://schemas.openxmlformats.org/officeDocument/2006/relationships/oleObject" Target="../embeddings/oleObject136.bin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226.wmf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23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229.png"/><Relationship Id="rId11" Type="http://schemas.openxmlformats.org/officeDocument/2006/relationships/oleObject" Target="../embeddings/oleObject141.bin"/><Relationship Id="rId5" Type="http://schemas.openxmlformats.org/officeDocument/2006/relationships/oleObject" Target="../embeddings/oleObject138.bin"/><Relationship Id="rId10" Type="http://schemas.openxmlformats.org/officeDocument/2006/relationships/image" Target="../media/image230.wmf"/><Relationship Id="rId4" Type="http://schemas.openxmlformats.org/officeDocument/2006/relationships/image" Target="../media/image228.png"/><Relationship Id="rId9" Type="http://schemas.openxmlformats.org/officeDocument/2006/relationships/oleObject" Target="../embeddings/oleObject140.bin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233.wmf"/><Relationship Id="rId5" Type="http://schemas.openxmlformats.org/officeDocument/2006/relationships/oleObject" Target="../embeddings/oleObject143.bin"/><Relationship Id="rId10" Type="http://schemas.openxmlformats.org/officeDocument/2006/relationships/image" Target="../media/image227.wmf"/><Relationship Id="rId4" Type="http://schemas.openxmlformats.org/officeDocument/2006/relationships/image" Target="../media/image232.wmf"/><Relationship Id="rId9" Type="http://schemas.openxmlformats.org/officeDocument/2006/relationships/oleObject" Target="../embeddings/oleObject145.bin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3" Type="http://schemas.openxmlformats.org/officeDocument/2006/relationships/image" Target="../media/image236.png"/><Relationship Id="rId7" Type="http://schemas.openxmlformats.org/officeDocument/2006/relationships/oleObject" Target="../embeddings/oleObject1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237.png"/><Relationship Id="rId5" Type="http://schemas.openxmlformats.org/officeDocument/2006/relationships/image" Target="../media/image234.wmf"/><Relationship Id="rId4" Type="http://schemas.openxmlformats.org/officeDocument/2006/relationships/oleObject" Target="../embeddings/oleObject146.bin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244.wmf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242.wmf"/><Relationship Id="rId17" Type="http://schemas.openxmlformats.org/officeDocument/2006/relationships/oleObject" Target="../embeddings/oleObject1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3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239.wmf"/><Relationship Id="rId11" Type="http://schemas.openxmlformats.org/officeDocument/2006/relationships/oleObject" Target="../embeddings/oleObject152.bin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10" Type="http://schemas.openxmlformats.org/officeDocument/2006/relationships/image" Target="../media/image241.wmf"/><Relationship Id="rId4" Type="http://schemas.openxmlformats.org/officeDocument/2006/relationships/image" Target="../media/image238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243.wmf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13" Type="http://schemas.openxmlformats.org/officeDocument/2006/relationships/oleObject" Target="../embeddings/oleObject161.bin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2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242.wmf"/><Relationship Id="rId11" Type="http://schemas.openxmlformats.org/officeDocument/2006/relationships/oleObject" Target="../embeddings/oleObject160.bin"/><Relationship Id="rId5" Type="http://schemas.openxmlformats.org/officeDocument/2006/relationships/oleObject" Target="../embeddings/oleObject157.bin"/><Relationship Id="rId10" Type="http://schemas.openxmlformats.org/officeDocument/2006/relationships/image" Target="../media/image223.wmf"/><Relationship Id="rId4" Type="http://schemas.openxmlformats.org/officeDocument/2006/relationships/image" Target="../media/image241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245.wmf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7.vml"/><Relationship Id="rId4" Type="http://schemas.openxmlformats.org/officeDocument/2006/relationships/image" Target="../media/image246.wmf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223.wmf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247.wmf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223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245.wmf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2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0.vml"/><Relationship Id="rId6" Type="http://schemas.openxmlformats.org/officeDocument/2006/relationships/oleObject" Target="../embeddings/oleObject170.bin"/><Relationship Id="rId5" Type="http://schemas.openxmlformats.org/officeDocument/2006/relationships/image" Target="../media/image223.wmf"/><Relationship Id="rId4" Type="http://schemas.openxmlformats.org/officeDocument/2006/relationships/oleObject" Target="../embeddings/oleObject169.bin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249.wmf"/><Relationship Id="rId5" Type="http://schemas.openxmlformats.org/officeDocument/2006/relationships/oleObject" Target="../embeddings/oleObject172.bin"/><Relationship Id="rId4" Type="http://schemas.openxmlformats.org/officeDocument/2006/relationships/image" Target="../media/image24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827088" y="1989138"/>
            <a:ext cx="7407275" cy="152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en-US" altLang="zh-CN" sz="3600" b="1"/>
              <a:t>7 First order ordinary differential equations (</a:t>
            </a:r>
            <a:r>
              <a:rPr lang="en-US" altLang="zh-CN" sz="3600" b="1">
                <a:solidFill>
                  <a:srgbClr val="FF0000"/>
                </a:solidFill>
              </a:rPr>
              <a:t>ODE</a:t>
            </a:r>
            <a:r>
              <a:rPr lang="en-US" altLang="zh-CN" sz="3600" b="1"/>
              <a:t>)</a:t>
            </a:r>
          </a:p>
        </p:txBody>
      </p:sp>
    </p:spTree>
  </p:cSld>
  <p:clrMapOvr>
    <a:masterClrMapping/>
  </p:clrMapOvr>
  <p:transition spd="med">
    <p:pull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Text Box 2"/>
          <p:cNvSpPr txBox="1">
            <a:spLocks noChangeArrowheads="1"/>
          </p:cNvSpPr>
          <p:nvPr/>
        </p:nvSpPr>
        <p:spPr bwMode="auto">
          <a:xfrm>
            <a:off x="971550" y="3767138"/>
            <a:ext cx="69992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Ordinary differential equations  (</a:t>
            </a:r>
            <a:r>
              <a:rPr lang="en-US" altLang="zh-CN" sz="3200" b="1">
                <a:solidFill>
                  <a:srgbClr val="FF0000"/>
                </a:solidFill>
              </a:rPr>
              <a:t>ODE</a:t>
            </a:r>
            <a:r>
              <a:rPr lang="en-US" altLang="zh-CN" sz="3200" b="1"/>
              <a:t>)</a:t>
            </a:r>
          </a:p>
        </p:txBody>
      </p:sp>
      <p:sp>
        <p:nvSpPr>
          <p:cNvPr id="267267" name="Text Box 3"/>
          <p:cNvSpPr txBox="1">
            <a:spLocks noChangeArrowheads="1"/>
          </p:cNvSpPr>
          <p:nvPr/>
        </p:nvSpPr>
        <p:spPr bwMode="auto">
          <a:xfrm>
            <a:off x="1003300" y="4649788"/>
            <a:ext cx="63769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Partial differential equations (PDE)</a:t>
            </a:r>
            <a:endParaRPr lang="en-US" altLang="zh-CN" sz="3200"/>
          </a:p>
        </p:txBody>
      </p:sp>
      <p:sp>
        <p:nvSpPr>
          <p:cNvPr id="267268" name="Text Box 4"/>
          <p:cNvSpPr txBox="1">
            <a:spLocks noChangeArrowheads="1"/>
          </p:cNvSpPr>
          <p:nvPr/>
        </p:nvSpPr>
        <p:spPr bwMode="auto">
          <a:xfrm>
            <a:off x="1066800" y="5513388"/>
            <a:ext cx="55213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Order of differential equations</a:t>
            </a:r>
            <a:endParaRPr lang="en-US" altLang="zh-CN" sz="3200"/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755650" y="549275"/>
            <a:ext cx="567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0000"/>
                </a:solidFill>
              </a:rPr>
              <a:t>Basic Concepts and Definitions</a:t>
            </a:r>
            <a:r>
              <a:rPr lang="en-US" altLang="zh-CN" sz="3200" b="1"/>
              <a:t> </a:t>
            </a:r>
          </a:p>
        </p:txBody>
      </p:sp>
      <p:sp>
        <p:nvSpPr>
          <p:cNvPr id="267270" name="Text Box 6"/>
          <p:cNvSpPr txBox="1">
            <a:spLocks noChangeArrowheads="1"/>
          </p:cNvSpPr>
          <p:nvPr/>
        </p:nvSpPr>
        <p:spPr bwMode="auto">
          <a:xfrm>
            <a:off x="1403350" y="1628775"/>
            <a:ext cx="39639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Differential equations</a:t>
            </a:r>
            <a:endParaRPr lang="en-US" altLang="zh-CN" sz="3200"/>
          </a:p>
        </p:txBody>
      </p:sp>
      <p:graphicFrame>
        <p:nvGraphicFramePr>
          <p:cNvPr id="267271" name="Object 7"/>
          <p:cNvGraphicFramePr>
            <a:graphicFrameLocks noChangeAspect="1"/>
          </p:cNvGraphicFramePr>
          <p:nvPr/>
        </p:nvGraphicFramePr>
        <p:xfrm>
          <a:off x="611188" y="2498725"/>
          <a:ext cx="704215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公式" r:id="rId3" imgW="2159000" imgH="241300" progId="Equation.3">
                  <p:embed/>
                </p:oleObj>
              </mc:Choice>
              <mc:Fallback>
                <p:oleObj name="公式" r:id="rId3" imgW="21590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498725"/>
                        <a:ext cx="704215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6" grpId="0" autoUpdateAnimBg="0"/>
      <p:bldP spid="267267" grpId="0" autoUpdateAnimBg="0"/>
      <p:bldP spid="267268" grpId="0" autoUpdateAnimBg="0"/>
      <p:bldP spid="26727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4581525"/>
            <a:ext cx="266700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8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4365625"/>
            <a:ext cx="32004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1331913" y="333375"/>
            <a:ext cx="39639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Differential equations</a:t>
            </a:r>
            <a:endParaRPr lang="en-US" altLang="zh-CN" sz="3200"/>
          </a:p>
        </p:txBody>
      </p:sp>
      <p:pic>
        <p:nvPicPr>
          <p:cNvPr id="26829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5516563"/>
            <a:ext cx="4419600" cy="117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829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989138"/>
            <a:ext cx="7993062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68296" name="Object 8"/>
          <p:cNvGraphicFramePr>
            <a:graphicFrameLocks noChangeAspect="1"/>
          </p:cNvGraphicFramePr>
          <p:nvPr/>
        </p:nvGraphicFramePr>
        <p:xfrm>
          <a:off x="611188" y="1125538"/>
          <a:ext cx="704215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" name="公式" r:id="rId7" imgW="2159000" imgH="241300" progId="Equation.3">
                  <p:embed/>
                </p:oleObj>
              </mc:Choice>
              <mc:Fallback>
                <p:oleObj name="公式" r:id="rId7" imgW="21590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125538"/>
                        <a:ext cx="7042150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7" name="Object 9"/>
          <p:cNvGraphicFramePr>
            <a:graphicFrameLocks noChangeAspect="1"/>
          </p:cNvGraphicFramePr>
          <p:nvPr/>
        </p:nvGraphicFramePr>
        <p:xfrm>
          <a:off x="1692275" y="3284538"/>
          <a:ext cx="4722813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" name="公式" r:id="rId9" imgW="1447800" imgH="228600" progId="Equation.3">
                  <p:embed/>
                </p:oleObj>
              </mc:Choice>
              <mc:Fallback>
                <p:oleObj name="公式" r:id="rId9" imgW="14478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284538"/>
                        <a:ext cx="4722813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8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8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2987675" y="765175"/>
          <a:ext cx="2484438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8" name="公式" r:id="rId3" imgW="748975" imgH="393529" progId="Equation.3">
                  <p:embed/>
                </p:oleObj>
              </mc:Choice>
              <mc:Fallback>
                <p:oleObj name="公式" r:id="rId3" imgW="748975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765175"/>
                        <a:ext cx="2484438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5"/>
          <p:cNvGraphicFramePr>
            <a:graphicFrameLocks noChangeAspect="1"/>
          </p:cNvGraphicFramePr>
          <p:nvPr/>
        </p:nvGraphicFramePr>
        <p:xfrm>
          <a:off x="2627313" y="4005263"/>
          <a:ext cx="2654300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9" name="公式" r:id="rId5" imgW="799753" imgH="393529" progId="Equation.3">
                  <p:embed/>
                </p:oleObj>
              </mc:Choice>
              <mc:Fallback>
                <p:oleObj name="公式" r:id="rId5" imgW="799753" imgH="39352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005263"/>
                        <a:ext cx="2654300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6"/>
          <p:cNvGraphicFramePr>
            <a:graphicFrameLocks noChangeAspect="1"/>
          </p:cNvGraphicFramePr>
          <p:nvPr/>
        </p:nvGraphicFramePr>
        <p:xfrm>
          <a:off x="2771775" y="2349500"/>
          <a:ext cx="2443163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0" name="公式" r:id="rId7" imgW="736280" imgH="393529" progId="Equation.3">
                  <p:embed/>
                </p:oleObj>
              </mc:Choice>
              <mc:Fallback>
                <p:oleObj name="公式" r:id="rId7" imgW="736280" imgH="39352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349500"/>
                        <a:ext cx="2443163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9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626381"/>
              </p:ext>
            </p:extLst>
          </p:nvPr>
        </p:nvGraphicFramePr>
        <p:xfrm>
          <a:off x="1074769" y="1146642"/>
          <a:ext cx="403860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9" r:id="rId3" imgW="1155700" imgH="228600" progId="Equation.3">
                  <p:embed/>
                </p:oleObj>
              </mc:Choice>
              <mc:Fallback>
                <p:oleObj r:id="rId3" imgW="11557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769" y="1146642"/>
                        <a:ext cx="403860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785121"/>
              </p:ext>
            </p:extLst>
          </p:nvPr>
        </p:nvGraphicFramePr>
        <p:xfrm>
          <a:off x="276256" y="2224650"/>
          <a:ext cx="56356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0" name="公式" r:id="rId5" imgW="2197100" imgH="393700" progId="Equation.3">
                  <p:embed/>
                </p:oleObj>
              </mc:Choice>
              <mc:Fallback>
                <p:oleObj name="公式" r:id="rId5" imgW="21971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56" y="2224650"/>
                        <a:ext cx="563562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126708"/>
              </p:ext>
            </p:extLst>
          </p:nvPr>
        </p:nvGraphicFramePr>
        <p:xfrm>
          <a:off x="486698" y="3284984"/>
          <a:ext cx="50863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1" r:id="rId7" imgW="1981200" imgH="419100" progId="Equation.3">
                  <p:embed/>
                </p:oleObj>
              </mc:Choice>
              <mc:Fallback>
                <p:oleObj r:id="rId7" imgW="19812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698" y="3284984"/>
                        <a:ext cx="508635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708082"/>
              </p:ext>
            </p:extLst>
          </p:nvPr>
        </p:nvGraphicFramePr>
        <p:xfrm>
          <a:off x="499996" y="4581128"/>
          <a:ext cx="3810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2" r:id="rId9" imgW="1485900" imgH="393700" progId="Equation.3">
                  <p:embed/>
                </p:oleObj>
              </mc:Choice>
              <mc:Fallback>
                <p:oleObj r:id="rId9" imgW="14859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996" y="4581128"/>
                        <a:ext cx="38100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1259632" y="188640"/>
            <a:ext cx="57927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dirty="0"/>
              <a:t>Differential equations in Physics</a:t>
            </a:r>
            <a:endParaRPr lang="en-US" altLang="zh-CN" sz="32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079E52-9EE0-4EA9-B8DB-1BD1508739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6256" y="5889898"/>
            <a:ext cx="3482703" cy="7794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17AB36F-6C93-41B6-869E-94413F2DF08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09996" y="5587530"/>
            <a:ext cx="4495800" cy="962025"/>
          </a:xfrm>
          <a:prstGeom prst="rect">
            <a:avLst/>
          </a:prstGeom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609600" y="914400"/>
            <a:ext cx="7696200" cy="5029200"/>
            <a:chOff x="720" y="1152"/>
            <a:chExt cx="2592" cy="1860"/>
          </a:xfrm>
        </p:grpSpPr>
        <p:pic>
          <p:nvPicPr>
            <p:cNvPr id="717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" y="1200"/>
              <a:ext cx="1104" cy="17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7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4" y="1152"/>
              <a:ext cx="1488" cy="18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609600" y="533400"/>
            <a:ext cx="685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The solutions of differential equations</a:t>
            </a:r>
            <a:r>
              <a:rPr lang="en-US" altLang="zh-CN" sz="3200"/>
              <a:t>.</a:t>
            </a:r>
          </a:p>
        </p:txBody>
      </p:sp>
      <p:pic>
        <p:nvPicPr>
          <p:cNvPr id="269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484784"/>
            <a:ext cx="266700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693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218082"/>
              </p:ext>
            </p:extLst>
          </p:nvPr>
        </p:nvGraphicFramePr>
        <p:xfrm>
          <a:off x="5508104" y="1192683"/>
          <a:ext cx="2484438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4" name="公式" r:id="rId4" imgW="748975" imgH="393529" progId="Equation.3">
                  <p:embed/>
                </p:oleObj>
              </mc:Choice>
              <mc:Fallback>
                <p:oleObj name="公式" r:id="rId4" imgW="748975" imgH="39352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1192683"/>
                        <a:ext cx="2484438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480725"/>
              </p:ext>
            </p:extLst>
          </p:nvPr>
        </p:nvGraphicFramePr>
        <p:xfrm>
          <a:off x="5076056" y="3140968"/>
          <a:ext cx="28638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" name="公式" r:id="rId6" imgW="863225" imgH="203112" progId="Equation.3">
                  <p:embed/>
                </p:oleObj>
              </mc:Choice>
              <mc:Fallback>
                <p:oleObj name="公式" r:id="rId6" imgW="863225" imgH="203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3140968"/>
                        <a:ext cx="28638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104928"/>
              </p:ext>
            </p:extLst>
          </p:nvPr>
        </p:nvGraphicFramePr>
        <p:xfrm>
          <a:off x="1259632" y="2708920"/>
          <a:ext cx="2232025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6" name="公式" r:id="rId8" imgW="672808" imgH="418918" progId="Equation.3">
                  <p:embed/>
                </p:oleObj>
              </mc:Choice>
              <mc:Fallback>
                <p:oleObj name="公式" r:id="rId8" imgW="672808" imgH="418918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2708920"/>
                        <a:ext cx="2232025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29786"/>
              </p:ext>
            </p:extLst>
          </p:nvPr>
        </p:nvGraphicFramePr>
        <p:xfrm>
          <a:off x="3169196" y="5661248"/>
          <a:ext cx="3600450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7" name="公式" r:id="rId10" imgW="1002865" imgH="228501" progId="Equation.3">
                  <p:embed/>
                </p:oleObj>
              </mc:Choice>
              <mc:Fallback>
                <p:oleObj name="公式" r:id="rId10" imgW="1002865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9196" y="5661248"/>
                        <a:ext cx="3600450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475656" y="4653136"/>
            <a:ext cx="2483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i="1" dirty="0">
                <a:latin typeface="+mn-lt"/>
              </a:rPr>
              <a:t>t=0 </a:t>
            </a:r>
            <a:r>
              <a:rPr lang="zh-CN" altLang="en-US" sz="3200" b="1" dirty="0">
                <a:latin typeface="+mn-lt"/>
              </a:rPr>
              <a:t>时，</a:t>
            </a:r>
            <a:r>
              <a:rPr lang="en-US" altLang="zh-CN" sz="3200" b="1" i="1" dirty="0">
                <a:latin typeface="+mn-lt"/>
              </a:rPr>
              <a:t>y=y</a:t>
            </a:r>
            <a:r>
              <a:rPr lang="en-US" altLang="zh-CN" sz="3200" b="1" i="1" baseline="-25000" dirty="0">
                <a:latin typeface="+mn-lt"/>
              </a:rPr>
              <a:t>0</a:t>
            </a:r>
            <a:endParaRPr lang="zh-CN" altLang="en-US" sz="3200" b="1" i="1" baseline="-25000" dirty="0">
              <a:latin typeface="+mn-lt"/>
            </a:endParaRP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827088" y="836613"/>
          <a:ext cx="2484437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1" name="公式" r:id="rId3" imgW="748975" imgH="393529" progId="Equation.3">
                  <p:embed/>
                </p:oleObj>
              </mc:Choice>
              <mc:Fallback>
                <p:oleObj name="公式" r:id="rId3" imgW="748975" imgH="3935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836613"/>
                        <a:ext cx="2484437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1" name="Object 3"/>
          <p:cNvGraphicFramePr>
            <a:graphicFrameLocks noChangeAspect="1"/>
          </p:cNvGraphicFramePr>
          <p:nvPr/>
        </p:nvGraphicFramePr>
        <p:xfrm>
          <a:off x="827088" y="4005263"/>
          <a:ext cx="2654300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2" name="公式" r:id="rId5" imgW="799753" imgH="393529" progId="Equation.3">
                  <p:embed/>
                </p:oleObj>
              </mc:Choice>
              <mc:Fallback>
                <p:oleObj name="公式" r:id="rId5" imgW="799753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005263"/>
                        <a:ext cx="2654300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2" name="Object 4"/>
          <p:cNvGraphicFramePr>
            <a:graphicFrameLocks noChangeAspect="1"/>
          </p:cNvGraphicFramePr>
          <p:nvPr/>
        </p:nvGraphicFramePr>
        <p:xfrm>
          <a:off x="755650" y="2420938"/>
          <a:ext cx="2443163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3" name="公式" r:id="rId7" imgW="736280" imgH="393529" progId="Equation.3">
                  <p:embed/>
                </p:oleObj>
              </mc:Choice>
              <mc:Fallback>
                <p:oleObj name="公式" r:id="rId7" imgW="736280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420938"/>
                        <a:ext cx="2443163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4643438" y="1052513"/>
          <a:ext cx="360045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4" name="公式" r:id="rId9" imgW="1002865" imgH="228501" progId="Equation.3">
                  <p:embed/>
                </p:oleObj>
              </mc:Choice>
              <mc:Fallback>
                <p:oleObj name="公式" r:id="rId9" imgW="1002865" imgH="22850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052513"/>
                        <a:ext cx="3600450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4" name="Object 6"/>
          <p:cNvGraphicFramePr>
            <a:graphicFrameLocks noChangeAspect="1"/>
          </p:cNvGraphicFramePr>
          <p:nvPr/>
        </p:nvGraphicFramePr>
        <p:xfrm>
          <a:off x="4564063" y="2636838"/>
          <a:ext cx="33274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5" name="公式" r:id="rId11" imgW="927100" imgH="228600" progId="Equation.3">
                  <p:embed/>
                </p:oleObj>
              </mc:Choice>
              <mc:Fallback>
                <p:oleObj name="公式" r:id="rId11" imgW="9271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2636838"/>
                        <a:ext cx="3327400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5" name="Object 7"/>
          <p:cNvGraphicFramePr>
            <a:graphicFrameLocks noChangeAspect="1"/>
          </p:cNvGraphicFramePr>
          <p:nvPr/>
        </p:nvGraphicFramePr>
        <p:xfrm>
          <a:off x="4716463" y="4221163"/>
          <a:ext cx="3827462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6" name="公式" r:id="rId13" imgW="1066800" imgH="228600" progId="Equation.3">
                  <p:embed/>
                </p:oleObj>
              </mc:Choice>
              <mc:Fallback>
                <p:oleObj name="公式" r:id="rId13" imgW="10668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221163"/>
                        <a:ext cx="3827462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096" name="Text Box 8"/>
          <p:cNvSpPr txBox="1">
            <a:spLocks noChangeArrowheads="1"/>
          </p:cNvSpPr>
          <p:nvPr/>
        </p:nvSpPr>
        <p:spPr bwMode="auto">
          <a:xfrm>
            <a:off x="381000" y="5729288"/>
            <a:ext cx="85455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The analytical solutions of differential equations</a:t>
            </a:r>
            <a:endParaRPr lang="en-US" altLang="zh-CN" sz="3200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3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3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3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3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3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3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3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3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323850" y="63500"/>
            <a:ext cx="8280400" cy="675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 b="1"/>
              <a:t>在自然科学的许多领域中，都会遇到微分方程的求解问题。然而，我们知道，只有少数十分简单的微分方程能够用初等方法求得它们的</a:t>
            </a:r>
            <a:r>
              <a:rPr lang="zh-CN" altLang="en-US" sz="3600" b="1">
                <a:solidFill>
                  <a:srgbClr val="000099"/>
                </a:solidFill>
              </a:rPr>
              <a:t>解析解</a:t>
            </a:r>
            <a:r>
              <a:rPr lang="zh-CN" altLang="en-US" sz="3200" b="1"/>
              <a:t>，多数情形只能利用近似方法求解。在常微分方程课中有级数解法，逐步逼近法等就是近似解法。这些方法可以给出解的近似表达式，通常称为</a:t>
            </a:r>
            <a:r>
              <a:rPr lang="zh-CN" altLang="en-US" sz="3600" b="1">
                <a:solidFill>
                  <a:srgbClr val="000099"/>
                </a:solidFill>
              </a:rPr>
              <a:t>近似解析方法</a:t>
            </a:r>
            <a:r>
              <a:rPr lang="zh-CN" altLang="en-US" sz="3200" b="1"/>
              <a:t>。还有一类近似方法称为</a:t>
            </a:r>
            <a:r>
              <a:rPr lang="zh-CN" altLang="en-US" sz="3600" b="1">
                <a:solidFill>
                  <a:srgbClr val="000099"/>
                </a:solidFill>
              </a:rPr>
              <a:t>数值</a:t>
            </a:r>
            <a:r>
              <a:rPr lang="zh-CN" altLang="en-US" sz="3200" b="1"/>
              <a:t>方法，它可以给出</a:t>
            </a:r>
            <a:r>
              <a:rPr lang="zh-CN" altLang="en-US" sz="3600" b="1">
                <a:solidFill>
                  <a:srgbClr val="000099"/>
                </a:solidFill>
              </a:rPr>
              <a:t>解在一些离散点上的近似值</a:t>
            </a:r>
            <a:r>
              <a:rPr lang="zh-CN" altLang="en-US" sz="3200" b="1"/>
              <a:t>。利用计算机解微分方程主要使用数值方法。 </a:t>
            </a:r>
          </a:p>
        </p:txBody>
      </p:sp>
    </p:spTree>
  </p:cSld>
  <p:clrMapOvr>
    <a:masterClrMapping/>
  </p:clrMapOvr>
  <p:transition spd="med">
    <p:pull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250825" y="1341438"/>
            <a:ext cx="8512175" cy="374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This section of the course </a:t>
            </a:r>
            <a:r>
              <a:rPr lang="en-US" altLang="zh-CN" sz="3200" b="1">
                <a:solidFill>
                  <a:srgbClr val="000099"/>
                </a:solidFill>
              </a:rPr>
              <a:t>introduces some </a:t>
            </a:r>
            <a:r>
              <a:rPr lang="en-US" altLang="zh-CN" sz="3600" b="1">
                <a:solidFill>
                  <a:srgbClr val="000099"/>
                </a:solidFill>
              </a:rPr>
              <a:t>commonly used methods</a:t>
            </a:r>
            <a:r>
              <a:rPr lang="en-US" altLang="zh-CN" sz="3200" b="1"/>
              <a:t> for determining the </a:t>
            </a:r>
            <a:r>
              <a:rPr lang="en-US" altLang="zh-CN" sz="3600" b="1">
                <a:solidFill>
                  <a:srgbClr val="000099"/>
                </a:solidFill>
              </a:rPr>
              <a:t>numerical solutions</a:t>
            </a:r>
            <a:r>
              <a:rPr lang="en-US" altLang="zh-CN" sz="3200" b="1"/>
              <a:t> of ordinary differential equations. These methods will then be used as the basis for solving some types of partial differential equations.</a:t>
            </a:r>
          </a:p>
        </p:txBody>
      </p:sp>
    </p:spTree>
  </p:cSld>
  <p:clrMapOvr>
    <a:masterClrMapping/>
  </p:clrMapOvr>
  <p:transition spd="med">
    <p:pull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Text Box 2"/>
          <p:cNvSpPr txBox="1">
            <a:spLocks noChangeArrowheads="1"/>
          </p:cNvSpPr>
          <p:nvPr/>
        </p:nvSpPr>
        <p:spPr bwMode="auto">
          <a:xfrm>
            <a:off x="179388" y="3571875"/>
            <a:ext cx="86868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>
                <a:latin typeface="CMR12" charset="0"/>
              </a:rPr>
              <a:t>In most physical problem, one only needs to find a </a:t>
            </a:r>
            <a:r>
              <a:rPr lang="en-US" altLang="zh-CN" sz="3600">
                <a:solidFill>
                  <a:srgbClr val="FF0000"/>
                </a:solidFill>
                <a:latin typeface="CMR12" charset="0"/>
              </a:rPr>
              <a:t>special solution</a:t>
            </a:r>
            <a:r>
              <a:rPr lang="en-US" altLang="zh-CN" sz="3200">
                <a:latin typeface="CMR12" charset="0"/>
              </a:rPr>
              <a:t> by adding some condition, such as the solution of</a:t>
            </a:r>
            <a:endParaRPr lang="en-US" altLang="zh-CN" sz="3200"/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228600" y="228600"/>
            <a:ext cx="4498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>
                <a:latin typeface="CMR12" charset="0"/>
              </a:rPr>
              <a:t>Here we use the notations:</a:t>
            </a:r>
            <a:endParaRPr lang="en-US" altLang="zh-CN" sz="3200"/>
          </a:p>
        </p:txBody>
      </p:sp>
      <p:pic>
        <p:nvPicPr>
          <p:cNvPr id="3020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188913"/>
            <a:ext cx="2519363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208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836613"/>
            <a:ext cx="7416800" cy="973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208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060575"/>
            <a:ext cx="18446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208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1773238"/>
            <a:ext cx="1905000" cy="101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2089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852738"/>
            <a:ext cx="295275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2090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852738"/>
            <a:ext cx="1944688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2091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5300663"/>
            <a:ext cx="5943600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2092" name="Picture 1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5013325"/>
            <a:ext cx="213360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2093" name="Picture 1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5734050"/>
            <a:ext cx="158432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2094" name="Text Box 14"/>
          <p:cNvSpPr txBox="1">
            <a:spLocks noChangeArrowheads="1"/>
          </p:cNvSpPr>
          <p:nvPr/>
        </p:nvSpPr>
        <p:spPr bwMode="auto">
          <a:xfrm>
            <a:off x="395288" y="6122988"/>
            <a:ext cx="70215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>
                <a:latin typeface="CMR12" charset="0"/>
              </a:rPr>
              <a:t>This is called an </a:t>
            </a:r>
            <a:r>
              <a:rPr lang="en-US" altLang="zh-CN" sz="3600">
                <a:solidFill>
                  <a:srgbClr val="FF0000"/>
                </a:solidFill>
                <a:latin typeface="CMTI12" charset="0"/>
              </a:rPr>
              <a:t>initial</a:t>
            </a:r>
            <a:r>
              <a:rPr lang="en-US" altLang="zh-CN" sz="3200">
                <a:latin typeface="CMTI12" charset="0"/>
              </a:rPr>
              <a:t> value problem</a:t>
            </a:r>
            <a:r>
              <a:rPr lang="en-US" altLang="zh-CN" sz="3200">
                <a:latin typeface="CMR12" charset="0"/>
              </a:rPr>
              <a:t>.</a:t>
            </a:r>
            <a:endParaRPr lang="en-US" altLang="zh-CN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2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2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2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2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2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2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2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2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2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2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2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2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2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2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2" grpId="0"/>
      <p:bldP spid="30209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9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3315" name="Object 8"/>
          <p:cNvGraphicFramePr>
            <a:graphicFrameLocks noChangeAspect="1"/>
          </p:cNvGraphicFramePr>
          <p:nvPr/>
        </p:nvGraphicFramePr>
        <p:xfrm>
          <a:off x="900113" y="1603375"/>
          <a:ext cx="3360737" cy="249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2" name="公式" r:id="rId3" imgW="889000" imgH="660400" progId="Equation.3">
                  <p:embed/>
                </p:oleObj>
              </mc:Choice>
              <mc:Fallback>
                <p:oleObj name="公式" r:id="rId3" imgW="889000" imgH="660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603375"/>
                        <a:ext cx="3360737" cy="249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6" name="Object 10"/>
          <p:cNvGraphicFramePr>
            <a:graphicFrameLocks noChangeAspect="1"/>
          </p:cNvGraphicFramePr>
          <p:nvPr/>
        </p:nvGraphicFramePr>
        <p:xfrm>
          <a:off x="900113" y="4484688"/>
          <a:ext cx="3071812" cy="182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3" name="公式" r:id="rId5" imgW="812447" imgH="482391" progId="Equation.3">
                  <p:embed/>
                </p:oleObj>
              </mc:Choice>
              <mc:Fallback>
                <p:oleObj name="公式" r:id="rId5" imgW="812447" imgH="48239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484688"/>
                        <a:ext cx="3071812" cy="182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7" name="Object 11"/>
          <p:cNvGraphicFramePr>
            <a:graphicFrameLocks noChangeAspect="1"/>
          </p:cNvGraphicFramePr>
          <p:nvPr/>
        </p:nvGraphicFramePr>
        <p:xfrm>
          <a:off x="4932363" y="2324100"/>
          <a:ext cx="3216275" cy="249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4" name="公式" r:id="rId7" imgW="850531" imgH="660113" progId="Equation.3">
                  <p:embed/>
                </p:oleObj>
              </mc:Choice>
              <mc:Fallback>
                <p:oleObj name="公式" r:id="rId7" imgW="850531" imgH="66011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324100"/>
                        <a:ext cx="3216275" cy="249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 Box 12"/>
          <p:cNvSpPr txBox="1">
            <a:spLocks noChangeArrowheads="1"/>
          </p:cNvSpPr>
          <p:nvPr/>
        </p:nvSpPr>
        <p:spPr bwMode="auto">
          <a:xfrm>
            <a:off x="347663" y="641350"/>
            <a:ext cx="77898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The numerical solutions of first order </a:t>
            </a:r>
            <a:r>
              <a:rPr lang="en-US" altLang="zh-CN" sz="3600" b="1">
                <a:solidFill>
                  <a:srgbClr val="FF0000"/>
                </a:solidFill>
              </a:rPr>
              <a:t>ODE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1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1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1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1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584325" y="152400"/>
            <a:ext cx="6948488" cy="593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7.1 Taylor series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7.2 Finite difference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7.3 Euler method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7.4 Implicit methods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i="1"/>
              <a:t>      </a:t>
            </a:r>
            <a:r>
              <a:rPr lang="en-US" altLang="zh-CN" sz="3200" b="1" i="1"/>
              <a:t>7.4.1 Backward Euler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i="1"/>
              <a:t>      7.4.2 Richardson extrapolation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i="1"/>
              <a:t>     7.4.3 Crank-Nicholson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7.5 Truncation error and Stability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7.6 Multistep methods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7.7 Predictor-corrector methods.</a:t>
            </a:r>
          </a:p>
        </p:txBody>
      </p:sp>
    </p:spTree>
  </p:cSld>
  <p:clrMapOvr>
    <a:masterClrMapping/>
  </p:clrMapOvr>
  <p:transition spd="med">
    <p:pull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468313" y="981075"/>
            <a:ext cx="828675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00"/>
                </a:solidFill>
              </a:rPr>
              <a:t>The central idea behind the majority of methods discussed in this course is the Taylor Series expansion of a function about a point</a:t>
            </a:r>
            <a:r>
              <a:rPr lang="en-US" altLang="zh-CN" sz="3200" b="1"/>
              <a:t> </a:t>
            </a:r>
          </a:p>
        </p:txBody>
      </p:sp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4643438" y="3141663"/>
          <a:ext cx="2736850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2" name="Equation" r:id="rId3" imgW="1040948" imgH="228501" progId="Equation.3">
                  <p:embed/>
                </p:oleObj>
              </mc:Choice>
              <mc:Fallback>
                <p:oleObj name="Equation" r:id="rId3" imgW="1040948" imgH="22850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141663"/>
                        <a:ext cx="2736850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539750" y="3141663"/>
          <a:ext cx="308927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3" name="Equation" r:id="rId5" imgW="825500" imgH="203200" progId="Equation.3">
                  <p:embed/>
                </p:oleObj>
              </mc:Choice>
              <mc:Fallback>
                <p:oleObj name="Equation" r:id="rId5" imgW="825500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141663"/>
                        <a:ext cx="3089275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Rectangle 8"/>
          <p:cNvSpPr>
            <a:spLocks noChangeArrowheads="1"/>
          </p:cNvSpPr>
          <p:nvPr/>
        </p:nvSpPr>
        <p:spPr bwMode="auto">
          <a:xfrm>
            <a:off x="971550" y="333375"/>
            <a:ext cx="2535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 Taylor series</a:t>
            </a:r>
          </a:p>
        </p:txBody>
      </p:sp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304800" y="5486400"/>
          <a:ext cx="8839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4" name="Equation" r:id="rId7" imgW="4406900" imgH="419100" progId="Equation.3">
                  <p:embed/>
                </p:oleObj>
              </mc:Choice>
              <mc:Fallback>
                <p:oleObj name="Equation" r:id="rId7" imgW="4406900" imgH="419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486400"/>
                        <a:ext cx="8839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0"/>
          <p:cNvGraphicFramePr>
            <a:graphicFrameLocks noChangeAspect="1"/>
          </p:cNvGraphicFramePr>
          <p:nvPr/>
        </p:nvGraphicFramePr>
        <p:xfrm>
          <a:off x="250825" y="4365625"/>
          <a:ext cx="8382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5" name="Equation" r:id="rId9" imgW="3479800" imgH="419100" progId="Equation.3">
                  <p:embed/>
                </p:oleObj>
              </mc:Choice>
              <mc:Fallback>
                <p:oleObj name="Equation" r:id="rId9" imgW="3479800" imgH="419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365625"/>
                        <a:ext cx="8382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1619250" y="3068638"/>
          <a:ext cx="2736850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2" name="公式" r:id="rId3" imgW="418918" imgH="177723" progId="Equation.3">
                  <p:embed/>
                </p:oleObj>
              </mc:Choice>
              <mc:Fallback>
                <p:oleObj name="公式" r:id="rId3" imgW="418918" imgH="17772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068638"/>
                        <a:ext cx="2736850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395288" y="115888"/>
          <a:ext cx="7848600" cy="240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3" name="公式" r:id="rId5" imgW="2273300" imgH="838200" progId="Equation.3">
                  <p:embed/>
                </p:oleObj>
              </mc:Choice>
              <mc:Fallback>
                <p:oleObj name="公式" r:id="rId5" imgW="2273300" imgH="838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15888"/>
                        <a:ext cx="7848600" cy="240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250825" y="4365625"/>
          <a:ext cx="82804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4" name="公式" r:id="rId7" imgW="2260600" imgH="419100" progId="Equation.3">
                  <p:embed/>
                </p:oleObj>
              </mc:Choice>
              <mc:Fallback>
                <p:oleObj name="公式" r:id="rId7" imgW="22606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365625"/>
                        <a:ext cx="8280400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ChangeArrowheads="1"/>
          </p:cNvSpPr>
          <p:nvPr/>
        </p:nvSpPr>
        <p:spPr bwMode="auto">
          <a:xfrm>
            <a:off x="381000" y="2852738"/>
            <a:ext cx="8763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>
                <a:latin typeface="CMR12" charset="0"/>
              </a:rPr>
              <a:t>The </a:t>
            </a:r>
            <a:r>
              <a:rPr lang="en-US" altLang="zh-CN" sz="3200">
                <a:solidFill>
                  <a:srgbClr val="FF3300"/>
                </a:solidFill>
                <a:latin typeface="CMR12" charset="0"/>
              </a:rPr>
              <a:t>first-order</a:t>
            </a:r>
            <a:r>
              <a:rPr lang="en-US" altLang="zh-CN" sz="3200">
                <a:latin typeface="CMR12" charset="0"/>
              </a:rPr>
              <a:t> Taylor series method: Let </a:t>
            </a:r>
            <a:r>
              <a:rPr lang="en-US" altLang="zh-CN" sz="3200" i="1">
                <a:latin typeface="CMMI12" charset="0"/>
              </a:rPr>
              <a:t>y</a:t>
            </a:r>
            <a:r>
              <a:rPr lang="en-US" altLang="zh-CN" sz="3200" i="1">
                <a:latin typeface="CMR12" charset="0"/>
              </a:rPr>
              <a:t>(</a:t>
            </a:r>
            <a:r>
              <a:rPr lang="en-US" altLang="zh-CN" sz="3200" i="1">
                <a:latin typeface="CMMI12" charset="0"/>
              </a:rPr>
              <a:t>x</a:t>
            </a:r>
            <a:r>
              <a:rPr lang="en-US" altLang="zh-CN" sz="3200" i="1">
                <a:latin typeface="CMR12" charset="0"/>
              </a:rPr>
              <a:t>)</a:t>
            </a:r>
            <a:r>
              <a:rPr lang="en-US" altLang="zh-CN" sz="3200">
                <a:latin typeface="CMR12" charset="0"/>
              </a:rPr>
              <a:t> be a solution and</a:t>
            </a:r>
            <a:endParaRPr lang="en-US" altLang="zh-CN" sz="3200"/>
          </a:p>
        </p:txBody>
      </p:sp>
      <p:graphicFrame>
        <p:nvGraphicFramePr>
          <p:cNvPr id="444420" name="Object 4"/>
          <p:cNvGraphicFramePr>
            <a:graphicFrameLocks noChangeAspect="1"/>
          </p:cNvGraphicFramePr>
          <p:nvPr/>
        </p:nvGraphicFramePr>
        <p:xfrm>
          <a:off x="0" y="2060575"/>
          <a:ext cx="8648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0" name="公式" r:id="rId3" imgW="3136900" imgH="228600" progId="Equation.3">
                  <p:embed/>
                </p:oleObj>
              </mc:Choice>
              <mc:Fallback>
                <p:oleObj name="公式" r:id="rId3" imgW="31369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060575"/>
                        <a:ext cx="86487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323850" y="260350"/>
            <a:ext cx="2905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/>
              <a:t>7.1 Taylor series</a:t>
            </a:r>
          </a:p>
        </p:txBody>
      </p:sp>
      <p:graphicFrame>
        <p:nvGraphicFramePr>
          <p:cNvPr id="444422" name="Object 6"/>
          <p:cNvGraphicFramePr>
            <a:graphicFrameLocks noChangeAspect="1"/>
          </p:cNvGraphicFramePr>
          <p:nvPr/>
        </p:nvGraphicFramePr>
        <p:xfrm>
          <a:off x="539750" y="4076700"/>
          <a:ext cx="676910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1" name="公式" r:id="rId5" imgW="2145369" imgH="393529" progId="Equation.3">
                  <p:embed/>
                </p:oleObj>
              </mc:Choice>
              <mc:Fallback>
                <p:oleObj name="公式" r:id="rId5" imgW="2145369" imgH="39352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076700"/>
                        <a:ext cx="6769100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3" name="Object 7"/>
          <p:cNvGraphicFramePr>
            <a:graphicFrameLocks noChangeAspect="1"/>
          </p:cNvGraphicFramePr>
          <p:nvPr/>
        </p:nvGraphicFramePr>
        <p:xfrm>
          <a:off x="1763713" y="5661025"/>
          <a:ext cx="2852737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2" name="公式" r:id="rId7" imgW="901309" imgH="228501" progId="Equation.3">
                  <p:embed/>
                </p:oleObj>
              </mc:Choice>
              <mc:Fallback>
                <p:oleObj name="公式" r:id="rId7" imgW="901309" imgH="22850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661025"/>
                        <a:ext cx="2852737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8"/>
          <p:cNvGraphicFramePr>
            <a:graphicFrameLocks noChangeAspect="1"/>
          </p:cNvGraphicFramePr>
          <p:nvPr/>
        </p:nvGraphicFramePr>
        <p:xfrm>
          <a:off x="4572000" y="0"/>
          <a:ext cx="3071813" cy="182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3" name="公式" r:id="rId9" imgW="812447" imgH="482391" progId="Equation.3">
                  <p:embed/>
                </p:oleObj>
              </mc:Choice>
              <mc:Fallback>
                <p:oleObj name="公式" r:id="rId9" imgW="812447" imgH="48239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0"/>
                        <a:ext cx="3071813" cy="182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4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4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4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1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808038" y="40481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274638" y="333375"/>
            <a:ext cx="8545512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600" b="1">
                <a:solidFill>
                  <a:srgbClr val="FF0000"/>
                </a:solidFill>
              </a:rPr>
              <a:t>Example</a:t>
            </a:r>
            <a:r>
              <a:rPr lang="en-US" altLang="zh-CN" sz="3200" b="1"/>
              <a:t>: Solve the following initial value problem by using the first-order Tayor series methods to obtain y(−0.8) with h = 0.1.</a:t>
            </a:r>
          </a:p>
        </p:txBody>
      </p:sp>
      <p:grpSp>
        <p:nvGrpSpPr>
          <p:cNvPr id="461828" name="Group 4"/>
          <p:cNvGrpSpPr>
            <a:grpSpLocks/>
          </p:cNvGrpSpPr>
          <p:nvPr/>
        </p:nvGrpSpPr>
        <p:grpSpPr bwMode="auto">
          <a:xfrm>
            <a:off x="1042988" y="2563813"/>
            <a:ext cx="4745037" cy="1944687"/>
            <a:chOff x="975" y="2024"/>
            <a:chExt cx="3125" cy="1379"/>
          </a:xfrm>
        </p:grpSpPr>
        <p:graphicFrame>
          <p:nvGraphicFramePr>
            <p:cNvPr id="18438" name="Object 5"/>
            <p:cNvGraphicFramePr>
              <a:graphicFrameLocks noChangeAspect="1"/>
            </p:cNvGraphicFramePr>
            <p:nvPr/>
          </p:nvGraphicFramePr>
          <p:xfrm>
            <a:off x="975" y="2024"/>
            <a:ext cx="3125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3" name="公式" r:id="rId3" imgW="1384300" imgH="241300" progId="Equation.3">
                    <p:embed/>
                  </p:oleObj>
                </mc:Choice>
                <mc:Fallback>
                  <p:oleObj name="公式" r:id="rId3" imgW="1384300" imgH="241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024"/>
                          <a:ext cx="3125" cy="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9" name="Object 6"/>
            <p:cNvGraphicFramePr>
              <a:graphicFrameLocks noChangeAspect="1"/>
            </p:cNvGraphicFramePr>
            <p:nvPr/>
          </p:nvGraphicFramePr>
          <p:xfrm>
            <a:off x="1066" y="2886"/>
            <a:ext cx="1519" cy="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4" name="公式" r:id="rId5" imgW="672808" imgH="203112" progId="Equation.3">
                    <p:embed/>
                  </p:oleObj>
                </mc:Choice>
                <mc:Fallback>
                  <p:oleObj name="公式" r:id="rId5" imgW="672808" imgH="203112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2886"/>
                          <a:ext cx="1519" cy="5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1831" name="Object 7"/>
          <p:cNvGraphicFramePr>
            <a:graphicFrameLocks noChangeAspect="1"/>
          </p:cNvGraphicFramePr>
          <p:nvPr/>
        </p:nvGraphicFramePr>
        <p:xfrm>
          <a:off x="1403350" y="4797425"/>
          <a:ext cx="2852738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5" name="公式" r:id="rId7" imgW="901309" imgH="228501" progId="Equation.3">
                  <p:embed/>
                </p:oleObj>
              </mc:Choice>
              <mc:Fallback>
                <p:oleObj name="公式" r:id="rId7" imgW="901309" imgH="22850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797425"/>
                        <a:ext cx="2852738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6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8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11738"/>
            <a:ext cx="8929687" cy="129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107950" y="260350"/>
            <a:ext cx="45386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/>
              <a:t>First-order Taylor method:</a:t>
            </a:r>
          </a:p>
        </p:txBody>
      </p:sp>
      <p:grpSp>
        <p:nvGrpSpPr>
          <p:cNvPr id="19460" name="Group 5"/>
          <p:cNvGrpSpPr>
            <a:grpSpLocks/>
          </p:cNvGrpSpPr>
          <p:nvPr/>
        </p:nvGrpSpPr>
        <p:grpSpPr bwMode="auto">
          <a:xfrm>
            <a:off x="4787900" y="476250"/>
            <a:ext cx="4024313" cy="1757363"/>
            <a:chOff x="975" y="2024"/>
            <a:chExt cx="3125" cy="1379"/>
          </a:xfrm>
        </p:grpSpPr>
        <p:graphicFrame>
          <p:nvGraphicFramePr>
            <p:cNvPr id="19464" name="Object 6"/>
            <p:cNvGraphicFramePr>
              <a:graphicFrameLocks noChangeAspect="1"/>
            </p:cNvGraphicFramePr>
            <p:nvPr/>
          </p:nvGraphicFramePr>
          <p:xfrm>
            <a:off x="975" y="2024"/>
            <a:ext cx="3125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8" name="公式" r:id="rId4" imgW="1384300" imgH="241300" progId="Equation.3">
                    <p:embed/>
                  </p:oleObj>
                </mc:Choice>
                <mc:Fallback>
                  <p:oleObj name="公式" r:id="rId4" imgW="1384300" imgH="2413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024"/>
                          <a:ext cx="3125" cy="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5" name="Object 7"/>
            <p:cNvGraphicFramePr>
              <a:graphicFrameLocks noChangeAspect="1"/>
            </p:cNvGraphicFramePr>
            <p:nvPr/>
          </p:nvGraphicFramePr>
          <p:xfrm>
            <a:off x="1066" y="2886"/>
            <a:ext cx="1519" cy="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9" name="公式" r:id="rId6" imgW="672808" imgH="203112" progId="Equation.3">
                    <p:embed/>
                  </p:oleObj>
                </mc:Choice>
                <mc:Fallback>
                  <p:oleObj name="公式" r:id="rId6" imgW="672808" imgH="203112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2886"/>
                          <a:ext cx="1519" cy="5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462857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492375"/>
            <a:ext cx="8137525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2859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3284538"/>
            <a:ext cx="90376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2860" name="Picture 1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4149725"/>
            <a:ext cx="2016125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2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2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179388" y="260350"/>
            <a:ext cx="876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>
                <a:latin typeface="CMR12" charset="0"/>
              </a:rPr>
              <a:t>The second-order Taylor series method:</a:t>
            </a:r>
            <a:endParaRPr lang="en-US" altLang="zh-CN" sz="3200"/>
          </a:p>
        </p:txBody>
      </p:sp>
      <p:graphicFrame>
        <p:nvGraphicFramePr>
          <p:cNvPr id="445444" name="Object 4"/>
          <p:cNvGraphicFramePr>
            <a:graphicFrameLocks noChangeAspect="1"/>
          </p:cNvGraphicFramePr>
          <p:nvPr/>
        </p:nvGraphicFramePr>
        <p:xfrm>
          <a:off x="1463675" y="3086100"/>
          <a:ext cx="156845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6" name="公式" r:id="rId3" imgW="507780" imgH="393529" progId="Equation.3">
                  <p:embed/>
                </p:oleObj>
              </mc:Choice>
              <mc:Fallback>
                <p:oleObj name="公式" r:id="rId3" imgW="507780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675" y="3086100"/>
                        <a:ext cx="156845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45" name="Object 5"/>
          <p:cNvGraphicFramePr>
            <a:graphicFrameLocks noChangeAspect="1"/>
          </p:cNvGraphicFramePr>
          <p:nvPr/>
        </p:nvGraphicFramePr>
        <p:xfrm>
          <a:off x="331788" y="4260850"/>
          <a:ext cx="5800725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7" name="公式" r:id="rId5" imgW="1879600" imgH="393700" progId="Equation.3">
                  <p:embed/>
                </p:oleObj>
              </mc:Choice>
              <mc:Fallback>
                <p:oleObj name="公式" r:id="rId5" imgW="18796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8" y="4260850"/>
                        <a:ext cx="5800725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544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10106025"/>
            <a:ext cx="7162800" cy="89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45447" name="Object 7"/>
          <p:cNvGraphicFramePr>
            <a:graphicFrameLocks noChangeAspect="1"/>
          </p:cNvGraphicFramePr>
          <p:nvPr/>
        </p:nvGraphicFramePr>
        <p:xfrm>
          <a:off x="704850" y="5484813"/>
          <a:ext cx="5410200" cy="1284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8" name="公式" r:id="rId8" imgW="1752600" imgH="419100" progId="Equation.3">
                  <p:embed/>
                </p:oleObj>
              </mc:Choice>
              <mc:Fallback>
                <p:oleObj name="公式" r:id="rId8" imgW="1752600" imgH="419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5484813"/>
                        <a:ext cx="5410200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48" name="Object 8"/>
          <p:cNvGraphicFramePr>
            <a:graphicFrameLocks noChangeAspect="1"/>
          </p:cNvGraphicFramePr>
          <p:nvPr/>
        </p:nvGraphicFramePr>
        <p:xfrm>
          <a:off x="684213" y="1893888"/>
          <a:ext cx="4651375" cy="131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9" name="公式" r:id="rId10" imgW="1473200" imgH="419100" progId="Equation.3">
                  <p:embed/>
                </p:oleObj>
              </mc:Choice>
              <mc:Fallback>
                <p:oleObj name="公式" r:id="rId10" imgW="1473200" imgH="419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893888"/>
                        <a:ext cx="4651375" cy="1312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49" name="Object 9"/>
          <p:cNvGraphicFramePr>
            <a:graphicFrameLocks noChangeAspect="1"/>
          </p:cNvGraphicFramePr>
          <p:nvPr/>
        </p:nvGraphicFramePr>
        <p:xfrm>
          <a:off x="5435600" y="2852738"/>
          <a:ext cx="280828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0" name="公式" r:id="rId12" imgW="812447" imgH="482391" progId="Equation.3">
                  <p:embed/>
                </p:oleObj>
              </mc:Choice>
              <mc:Fallback>
                <p:oleObj name="公式" r:id="rId12" imgW="812447" imgH="48239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852738"/>
                        <a:ext cx="2808288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50" name="Object 10"/>
          <p:cNvGraphicFramePr>
            <a:graphicFrameLocks noChangeAspect="1"/>
          </p:cNvGraphicFramePr>
          <p:nvPr/>
        </p:nvGraphicFramePr>
        <p:xfrm>
          <a:off x="755650" y="692150"/>
          <a:ext cx="676910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1" name="公式" r:id="rId14" imgW="2145369" imgH="393529" progId="Equation.3">
                  <p:embed/>
                </p:oleObj>
              </mc:Choice>
              <mc:Fallback>
                <p:oleObj name="公式" r:id="rId14" imgW="2145369" imgH="39352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692150"/>
                        <a:ext cx="6769100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5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5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5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5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5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5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4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5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5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45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5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808038" y="40481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130175" y="333375"/>
            <a:ext cx="8763000" cy="186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Example: Solve the following initial value problem by using the second order Tayor series methods to obtain y(−0.8) with h = 0.1.</a:t>
            </a:r>
          </a:p>
        </p:txBody>
      </p:sp>
      <p:grpSp>
        <p:nvGrpSpPr>
          <p:cNvPr id="446468" name="Group 4"/>
          <p:cNvGrpSpPr>
            <a:grpSpLocks/>
          </p:cNvGrpSpPr>
          <p:nvPr/>
        </p:nvGrpSpPr>
        <p:grpSpPr bwMode="auto">
          <a:xfrm>
            <a:off x="2268538" y="2276475"/>
            <a:ext cx="4608512" cy="2016125"/>
            <a:chOff x="975" y="2024"/>
            <a:chExt cx="3125" cy="1379"/>
          </a:xfrm>
        </p:grpSpPr>
        <p:graphicFrame>
          <p:nvGraphicFramePr>
            <p:cNvPr id="21511" name="Object 5"/>
            <p:cNvGraphicFramePr>
              <a:graphicFrameLocks noChangeAspect="1"/>
            </p:cNvGraphicFramePr>
            <p:nvPr/>
          </p:nvGraphicFramePr>
          <p:xfrm>
            <a:off x="975" y="2024"/>
            <a:ext cx="3125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97" name="公式" r:id="rId3" imgW="1384300" imgH="241300" progId="Equation.3">
                    <p:embed/>
                  </p:oleObj>
                </mc:Choice>
                <mc:Fallback>
                  <p:oleObj name="公式" r:id="rId3" imgW="1384300" imgH="241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024"/>
                          <a:ext cx="3125" cy="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2" name="Object 6"/>
            <p:cNvGraphicFramePr>
              <a:graphicFrameLocks noChangeAspect="1"/>
            </p:cNvGraphicFramePr>
            <p:nvPr/>
          </p:nvGraphicFramePr>
          <p:xfrm>
            <a:off x="1066" y="2886"/>
            <a:ext cx="1519" cy="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98" name="公式" r:id="rId5" imgW="672808" imgH="203112" progId="Equation.3">
                    <p:embed/>
                  </p:oleObj>
                </mc:Choice>
                <mc:Fallback>
                  <p:oleObj name="公式" r:id="rId5" imgW="672808" imgH="203112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2886"/>
                          <a:ext cx="1519" cy="5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6472" name="Object 8"/>
          <p:cNvGraphicFramePr>
            <a:graphicFrameLocks noChangeAspect="1"/>
          </p:cNvGraphicFramePr>
          <p:nvPr/>
        </p:nvGraphicFramePr>
        <p:xfrm>
          <a:off x="1835150" y="4232275"/>
          <a:ext cx="5410200" cy="128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9" name="公式" r:id="rId7" imgW="1752600" imgH="419100" progId="Equation.3">
                  <p:embed/>
                </p:oleObj>
              </mc:Choice>
              <mc:Fallback>
                <p:oleObj name="公式" r:id="rId7" imgW="1752600" imgH="419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232275"/>
                        <a:ext cx="5410200" cy="1284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473" name="Object 9"/>
          <p:cNvGraphicFramePr>
            <a:graphicFrameLocks noChangeAspect="1"/>
          </p:cNvGraphicFramePr>
          <p:nvPr/>
        </p:nvGraphicFramePr>
        <p:xfrm>
          <a:off x="1873250" y="5457825"/>
          <a:ext cx="5332413" cy="128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0" name="公式" r:id="rId9" imgW="1727200" imgH="419100" progId="Equation.3">
                  <p:embed/>
                </p:oleObj>
              </mc:Choice>
              <mc:Fallback>
                <p:oleObj name="公式" r:id="rId9" imgW="1727200" imgH="419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0" y="5457825"/>
                        <a:ext cx="5332413" cy="1284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4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6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6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6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6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5"/>
          <p:cNvGrpSpPr>
            <a:grpSpLocks/>
          </p:cNvGrpSpPr>
          <p:nvPr/>
        </p:nvGrpSpPr>
        <p:grpSpPr bwMode="auto">
          <a:xfrm>
            <a:off x="2339975" y="333375"/>
            <a:ext cx="4024313" cy="1757363"/>
            <a:chOff x="975" y="2024"/>
            <a:chExt cx="3125" cy="1379"/>
          </a:xfrm>
        </p:grpSpPr>
        <p:graphicFrame>
          <p:nvGraphicFramePr>
            <p:cNvPr id="22536" name="Object 6"/>
            <p:cNvGraphicFramePr>
              <a:graphicFrameLocks noChangeAspect="1"/>
            </p:cNvGraphicFramePr>
            <p:nvPr/>
          </p:nvGraphicFramePr>
          <p:xfrm>
            <a:off x="975" y="2024"/>
            <a:ext cx="3125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01" name="公式" r:id="rId3" imgW="1384300" imgH="241300" progId="Equation.3">
                    <p:embed/>
                  </p:oleObj>
                </mc:Choice>
                <mc:Fallback>
                  <p:oleObj name="公式" r:id="rId3" imgW="1384300" imgH="2413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024"/>
                          <a:ext cx="3125" cy="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7" name="Object 7"/>
            <p:cNvGraphicFramePr>
              <a:graphicFrameLocks noChangeAspect="1"/>
            </p:cNvGraphicFramePr>
            <p:nvPr/>
          </p:nvGraphicFramePr>
          <p:xfrm>
            <a:off x="1066" y="2886"/>
            <a:ext cx="1519" cy="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02" name="公式" r:id="rId5" imgW="672808" imgH="203112" progId="Equation.3">
                    <p:embed/>
                  </p:oleObj>
                </mc:Choice>
                <mc:Fallback>
                  <p:oleObj name="公式" r:id="rId5" imgW="672808" imgH="203112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2886"/>
                          <a:ext cx="1519" cy="5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7496" name="Text Box 8"/>
          <p:cNvSpPr txBox="1">
            <a:spLocks noChangeArrowheads="1"/>
          </p:cNvSpPr>
          <p:nvPr/>
        </p:nvSpPr>
        <p:spPr bwMode="auto">
          <a:xfrm>
            <a:off x="827088" y="2205038"/>
            <a:ext cx="60864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/>
              <a:t> Second-order Taylor method. Since</a:t>
            </a:r>
          </a:p>
        </p:txBody>
      </p:sp>
      <p:pic>
        <p:nvPicPr>
          <p:cNvPr id="447498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012953"/>
            <a:ext cx="8351838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7499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149353"/>
            <a:ext cx="7848600" cy="87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7500" name="Picture 1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1443"/>
            <a:ext cx="8964613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4750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919428"/>
              </p:ext>
            </p:extLst>
          </p:nvPr>
        </p:nvGraphicFramePr>
        <p:xfrm>
          <a:off x="1835150" y="2780928"/>
          <a:ext cx="5332413" cy="1284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3" name="公式" r:id="rId10" imgW="1727200" imgH="419100" progId="Equation.3">
                  <p:embed/>
                </p:oleObj>
              </mc:Choice>
              <mc:Fallback>
                <p:oleObj name="公式" r:id="rId10" imgW="1727200" imgH="4191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780928"/>
                        <a:ext cx="5332413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4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7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7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7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7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47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7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47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81075"/>
            <a:ext cx="6624638" cy="73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691197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852738"/>
            <a:ext cx="8964612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851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716338"/>
            <a:ext cx="5545137" cy="56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851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292600"/>
            <a:ext cx="8569325" cy="67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8519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5157788"/>
            <a:ext cx="8785225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8520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949950"/>
            <a:ext cx="42481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762000" y="152400"/>
          <a:ext cx="4024313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5" name="公式" r:id="rId10" imgW="1384300" imgH="241300" progId="Equation.3">
                  <p:embed/>
                </p:oleObj>
              </mc:Choice>
              <mc:Fallback>
                <p:oleObj name="公式" r:id="rId10" imgW="1384300" imgH="241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2400"/>
                        <a:ext cx="4024313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0"/>
          <p:cNvGraphicFramePr>
            <a:graphicFrameLocks noChangeAspect="1"/>
          </p:cNvGraphicFramePr>
          <p:nvPr/>
        </p:nvGraphicFramePr>
        <p:xfrm>
          <a:off x="5562600" y="228600"/>
          <a:ext cx="195580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6" name="公式" r:id="rId12" imgW="672808" imgH="203112" progId="Equation.3">
                  <p:embed/>
                </p:oleObj>
              </mc:Choice>
              <mc:Fallback>
                <p:oleObj name="公式" r:id="rId12" imgW="672808" imgH="203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28600"/>
                        <a:ext cx="1955800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8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8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8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8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8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8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8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8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827088" y="404813"/>
          <a:ext cx="6769100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5" name="公式" r:id="rId3" imgW="2145369" imgH="393529" progId="Equation.3">
                  <p:embed/>
                </p:oleObj>
              </mc:Choice>
              <mc:Fallback>
                <p:oleObj name="公式" r:id="rId3" imgW="2145369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04813"/>
                        <a:ext cx="6769100" cy="1233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2916238" y="4221163"/>
            <a:ext cx="31416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三阶泰勒级数法 </a:t>
            </a:r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635000" y="2060575"/>
          <a:ext cx="7343775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6" name="公式" r:id="rId5" imgW="1943100" imgH="419100" progId="Equation.3">
                  <p:embed/>
                </p:oleObj>
              </mc:Choice>
              <mc:Fallback>
                <p:oleObj name="公式" r:id="rId5" imgW="19431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2060575"/>
                        <a:ext cx="7343775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250825" y="620713"/>
            <a:ext cx="67675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例  导出用三阶泰勒级数法解方程	</a:t>
            </a:r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1547813" y="1916113"/>
          <a:ext cx="320516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8" name="公式" r:id="rId3" imgW="723586" imgH="228501" progId="Equation.3">
                  <p:embed/>
                </p:oleObj>
              </mc:Choice>
              <mc:Fallback>
                <p:oleObj name="公式" r:id="rId3" imgW="723586" imgH="22850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916113"/>
                        <a:ext cx="3205162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5580063" y="2781300"/>
            <a:ext cx="22240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的计算公式</a:t>
            </a:r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468313" y="4149725"/>
          <a:ext cx="7246937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9" name="公式" r:id="rId5" imgW="1917700" imgH="419100" progId="Equation.3">
                  <p:embed/>
                </p:oleObj>
              </mc:Choice>
              <mc:Fallback>
                <p:oleObj name="公式" r:id="rId5" imgW="19177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149725"/>
                        <a:ext cx="7246937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2195513" y="1052513"/>
          <a:ext cx="446405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4" name="公式" r:id="rId3" imgW="1244600" imgH="228600" progId="Equation.3">
                  <p:embed/>
                </p:oleObj>
              </mc:Choice>
              <mc:Fallback>
                <p:oleObj name="公式" r:id="rId3" imgW="12446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052513"/>
                        <a:ext cx="4464050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0" y="2390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3248025"/>
            <a:ext cx="29273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000"/>
              <a:t>			</a:t>
            </a:r>
            <a:endParaRPr lang="en-US" altLang="zh-CN"/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1835150" y="-26988"/>
          <a:ext cx="3205163" cy="1016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5" name="公式" r:id="rId5" imgW="723586" imgH="228501" progId="Equation.3">
                  <p:embed/>
                </p:oleObj>
              </mc:Choice>
              <mc:Fallback>
                <p:oleObj name="公式" r:id="rId5" imgW="723586" imgH="22850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-26988"/>
                        <a:ext cx="3205163" cy="1016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590" name="Object 6"/>
          <p:cNvGraphicFramePr>
            <a:graphicFrameLocks noChangeAspect="1"/>
          </p:cNvGraphicFramePr>
          <p:nvPr/>
        </p:nvGraphicFramePr>
        <p:xfrm>
          <a:off x="611188" y="2060575"/>
          <a:ext cx="79930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6" name="公式" r:id="rId7" imgW="2184400" imgH="228600" progId="Equation.3">
                  <p:embed/>
                </p:oleObj>
              </mc:Choice>
              <mc:Fallback>
                <p:oleObj name="公式" r:id="rId7" imgW="21844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060575"/>
                        <a:ext cx="799306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591" name="Object 7"/>
          <p:cNvGraphicFramePr>
            <a:graphicFrameLocks noChangeAspect="1"/>
          </p:cNvGraphicFramePr>
          <p:nvPr/>
        </p:nvGraphicFramePr>
        <p:xfrm>
          <a:off x="539750" y="3284538"/>
          <a:ext cx="7777163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7" name="公式" r:id="rId9" imgW="1930400" imgH="482600" progId="Equation.3">
                  <p:embed/>
                </p:oleObj>
              </mc:Choice>
              <mc:Fallback>
                <p:oleObj name="公式" r:id="rId9" imgW="1930400" imgH="482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284538"/>
                        <a:ext cx="7777163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/>
        </p:nvGraphicFramePr>
        <p:xfrm>
          <a:off x="900113" y="5286375"/>
          <a:ext cx="7246937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8" name="公式" r:id="rId11" imgW="1917700" imgH="419100" progId="Equation.3">
                  <p:embed/>
                </p:oleObj>
              </mc:Choice>
              <mc:Fallback>
                <p:oleObj name="公式" r:id="rId11" imgW="1917700" imgH="419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286375"/>
                        <a:ext cx="7246937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593" name="Line 9"/>
          <p:cNvSpPr>
            <a:spLocks noChangeShapeType="1"/>
          </p:cNvSpPr>
          <p:nvPr/>
        </p:nvSpPr>
        <p:spPr bwMode="auto">
          <a:xfrm>
            <a:off x="2627313" y="2924175"/>
            <a:ext cx="194468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1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1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1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1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1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1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9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69850" y="1074738"/>
          <a:ext cx="8896350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6" name="公式" r:id="rId3" imgW="3098800" imgH="482600" progId="Equation.3">
                  <p:embed/>
                </p:oleObj>
              </mc:Choice>
              <mc:Fallback>
                <p:oleObj name="公式" r:id="rId3" imgW="3098800" imgH="482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" y="1074738"/>
                        <a:ext cx="8896350" cy="1379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2611" name="Rectangle 3"/>
          <p:cNvSpPr>
            <a:spLocks noChangeArrowheads="1"/>
          </p:cNvSpPr>
          <p:nvPr/>
        </p:nvSpPr>
        <p:spPr bwMode="auto">
          <a:xfrm>
            <a:off x="179388" y="2554288"/>
            <a:ext cx="8964612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泰勒级数法只要初值问题的真解充分光滑，就可以获得精确度较高的数值解。但是须计算</a:t>
            </a:r>
            <a:r>
              <a:rPr lang="en-US" altLang="zh-CN" sz="3200" b="1" i="1">
                <a:ea typeface="楷体_GB2312" pitchFamily="49" charset="-122"/>
              </a:rPr>
              <a:t>y</a:t>
            </a:r>
            <a:r>
              <a:rPr lang="en-US" altLang="zh-CN" sz="3200" b="1">
                <a:ea typeface="楷体_GB2312" pitchFamily="49" charset="-122"/>
              </a:rPr>
              <a:t>(</a:t>
            </a:r>
            <a:r>
              <a:rPr lang="en-US" altLang="zh-CN" sz="3200" b="1" i="1">
                <a:ea typeface="楷体_GB2312" pitchFamily="49" charset="-122"/>
              </a:rPr>
              <a:t>x</a:t>
            </a:r>
            <a:r>
              <a:rPr lang="en-US" altLang="zh-CN" sz="3200" b="1">
                <a:ea typeface="楷体_GB2312" pitchFamily="49" charset="-122"/>
              </a:rPr>
              <a:t>)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的各阶导数，这当</a:t>
            </a:r>
            <a:r>
              <a:rPr lang="en-US" altLang="zh-CN" sz="3200" b="1" i="1">
                <a:ea typeface="楷体_GB2312" pitchFamily="49" charset="-122"/>
              </a:rPr>
              <a:t>f</a:t>
            </a:r>
            <a:r>
              <a:rPr lang="en-US" altLang="zh-CN" sz="3200" b="1">
                <a:ea typeface="楷体_GB2312" pitchFamily="49" charset="-122"/>
              </a:rPr>
              <a:t> (</a:t>
            </a:r>
            <a:r>
              <a:rPr lang="en-US" altLang="zh-CN" sz="3200" b="1" i="1">
                <a:ea typeface="楷体_GB2312" pitchFamily="49" charset="-122"/>
              </a:rPr>
              <a:t>x, y</a:t>
            </a:r>
            <a:r>
              <a:rPr lang="en-US" altLang="zh-CN" sz="3200" b="1">
                <a:ea typeface="楷体_GB2312" pitchFamily="49" charset="-122"/>
              </a:rPr>
              <a:t>)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的表达式复杂时是很繁琐的。</a:t>
            </a:r>
            <a:endParaRPr lang="zh-CN" altLang="en-US" sz="3200" b="1">
              <a:latin typeface="楷体_GB2312" pitchFamily="49" charset="-122"/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452612" name="Rectangle 4"/>
          <p:cNvSpPr>
            <a:spLocks noChangeArrowheads="1"/>
          </p:cNvSpPr>
          <p:nvPr/>
        </p:nvSpPr>
        <p:spPr bwMode="auto">
          <a:xfrm>
            <a:off x="1331913" y="4724400"/>
            <a:ext cx="7812087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能否构造一种格式，既保留泰勒级数法精确度较高的优点，又避免过多的计算        </a:t>
            </a:r>
            <a:r>
              <a:rPr lang="en-US" altLang="zh-CN" sz="3200" b="1" i="1">
                <a:ea typeface="楷体_GB2312" pitchFamily="49" charset="-122"/>
              </a:rPr>
              <a:t>f</a:t>
            </a:r>
            <a:r>
              <a:rPr lang="en-US" altLang="zh-CN" sz="3200" b="1">
                <a:ea typeface="楷体_GB2312" pitchFamily="49" charset="-122"/>
              </a:rPr>
              <a:t> (</a:t>
            </a:r>
            <a:r>
              <a:rPr lang="en-US" altLang="zh-CN" sz="3200" b="1" i="1">
                <a:ea typeface="楷体_GB2312" pitchFamily="49" charset="-122"/>
              </a:rPr>
              <a:t>x, y</a:t>
            </a:r>
            <a:r>
              <a:rPr lang="en-US" altLang="zh-CN" sz="3200" b="1">
                <a:ea typeface="楷体_GB2312" pitchFamily="49" charset="-122"/>
              </a:rPr>
              <a:t>)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的各阶偏导数呢？ </a:t>
            </a:r>
          </a:p>
        </p:txBody>
      </p:sp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1076325" y="115888"/>
          <a:ext cx="565626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7" name="公式" r:id="rId5" imgW="1663700" imgH="228600" progId="Equation.3">
                  <p:embed/>
                </p:oleObj>
              </mc:Choice>
              <mc:Fallback>
                <p:oleObj name="公式" r:id="rId5" imgW="16637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25" y="115888"/>
                        <a:ext cx="5656263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2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2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2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2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611" grpId="0"/>
      <p:bldP spid="4526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5" name="Text Box 5"/>
          <p:cNvSpPr txBox="1">
            <a:spLocks noChangeArrowheads="1"/>
          </p:cNvSpPr>
          <p:nvPr/>
        </p:nvSpPr>
        <p:spPr bwMode="auto">
          <a:xfrm>
            <a:off x="206375" y="2879725"/>
            <a:ext cx="86868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>
                <a:solidFill>
                  <a:srgbClr val="000000"/>
                </a:solidFill>
              </a:rPr>
              <a:t>We shall denote the exact solution at some </a:t>
            </a:r>
            <a:r>
              <a:rPr lang="en-US" altLang="zh-CN" sz="3200" b="1" i="1">
                <a:solidFill>
                  <a:srgbClr val="000080"/>
                </a:solidFill>
              </a:rPr>
              <a:t>t 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= t</a:t>
            </a:r>
            <a:r>
              <a:rPr lang="en-US" altLang="zh-CN" sz="3200" b="1" baseline="-25000">
                <a:solidFill>
                  <a:srgbClr val="008080"/>
                </a:solidFill>
              </a:rPr>
              <a:t>0</a:t>
            </a:r>
            <a:r>
              <a:rPr lang="en-US" altLang="zh-CN" sz="3200" b="1" i="1">
                <a:solidFill>
                  <a:srgbClr val="000080"/>
                </a:solidFill>
              </a:rPr>
              <a:t>+n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 </a:t>
            </a:r>
            <a:r>
              <a:rPr lang="en-US" altLang="zh-CN" sz="3200" b="1">
                <a:solidFill>
                  <a:srgbClr val="000000"/>
                </a:solidFill>
              </a:rPr>
              <a:t>by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t=t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>
                <a:solidFill>
                  <a:srgbClr val="000080"/>
                </a:solidFill>
              </a:rPr>
              <a:t>) </a:t>
            </a:r>
            <a:r>
              <a:rPr lang="en-US" altLang="zh-CN" sz="3200" b="1">
                <a:solidFill>
                  <a:srgbClr val="000000"/>
                </a:solidFill>
              </a:rPr>
              <a:t>and our approximate solution by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>
                <a:solidFill>
                  <a:srgbClr val="000000"/>
                </a:solidFill>
              </a:rPr>
              <a:t>. We then look to solve </a:t>
            </a:r>
            <a:r>
              <a:rPr lang="en-US" altLang="zh-CN" sz="3200" b="1" i="1">
                <a:solidFill>
                  <a:srgbClr val="000080"/>
                </a:solidFill>
              </a:rPr>
              <a:t>Y’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00"/>
                </a:solidFill>
              </a:rPr>
              <a:t>=f(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).</a:t>
            </a:r>
          </a:p>
        </p:txBody>
      </p:sp>
      <p:sp>
        <p:nvSpPr>
          <p:cNvPr id="363526" name="Text Box 6"/>
          <p:cNvSpPr txBox="1">
            <a:spLocks noChangeArrowheads="1"/>
          </p:cNvSpPr>
          <p:nvPr/>
        </p:nvSpPr>
        <p:spPr bwMode="auto">
          <a:xfrm>
            <a:off x="179388" y="4941888"/>
            <a:ext cx="87630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>
                <a:solidFill>
                  <a:srgbClr val="000000"/>
                </a:solidFill>
              </a:rPr>
              <a:t>at each of the points in the domain, where </a:t>
            </a:r>
            <a:r>
              <a:rPr lang="en-US" altLang="zh-CN" sz="3200" b="1" i="1">
                <a:solidFill>
                  <a:srgbClr val="000080"/>
                </a:solidFill>
              </a:rPr>
              <a:t>Y’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8080"/>
                </a:solidFill>
              </a:rPr>
              <a:t> </a:t>
            </a:r>
            <a:r>
              <a:rPr lang="en-US" altLang="zh-CN" sz="3200" b="1">
                <a:solidFill>
                  <a:srgbClr val="000000"/>
                </a:solidFill>
              </a:rPr>
              <a:t>is an approximation to </a:t>
            </a:r>
            <a:r>
              <a:rPr lang="en-US" altLang="zh-CN" sz="3200" b="1" i="1">
                <a:solidFill>
                  <a:srgbClr val="000080"/>
                </a:solidFill>
              </a:rPr>
              <a:t>dy</a:t>
            </a:r>
            <a:r>
              <a:rPr lang="en-US" altLang="zh-CN" sz="3200" b="1">
                <a:solidFill>
                  <a:srgbClr val="000080"/>
                </a:solidFill>
              </a:rPr>
              <a:t>/</a:t>
            </a:r>
            <a:r>
              <a:rPr lang="en-US" altLang="zh-CN" sz="3200" b="1" i="1">
                <a:solidFill>
                  <a:srgbClr val="000080"/>
                </a:solidFill>
              </a:rPr>
              <a:t>dt </a:t>
            </a:r>
            <a:r>
              <a:rPr lang="en-US" altLang="zh-CN" sz="3200" b="1">
                <a:solidFill>
                  <a:srgbClr val="000000"/>
                </a:solidFill>
              </a:rPr>
              <a:t>based on the discrete set of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  <a:endParaRPr lang="en-US" altLang="zh-CN" sz="3200" b="1"/>
          </a:p>
        </p:txBody>
      </p:sp>
      <p:sp>
        <p:nvSpPr>
          <p:cNvPr id="28676" name="Rectangle 7"/>
          <p:cNvSpPr>
            <a:spLocks noChangeArrowheads="1"/>
          </p:cNvSpPr>
          <p:nvPr/>
        </p:nvSpPr>
        <p:spPr bwMode="auto">
          <a:xfrm>
            <a:off x="323850" y="260350"/>
            <a:ext cx="4572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/>
              <a:t>7.2 Finite difference</a:t>
            </a:r>
          </a:p>
        </p:txBody>
      </p:sp>
      <p:pic>
        <p:nvPicPr>
          <p:cNvPr id="36352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060575"/>
            <a:ext cx="6481762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8678" name="Object 9"/>
          <p:cNvGraphicFramePr>
            <a:graphicFrameLocks noChangeAspect="1"/>
          </p:cNvGraphicFramePr>
          <p:nvPr/>
        </p:nvGraphicFramePr>
        <p:xfrm>
          <a:off x="5219700" y="0"/>
          <a:ext cx="3216275" cy="206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0" name="公式" r:id="rId4" imgW="850531" imgH="660113" progId="Equation.3">
                  <p:embed/>
                </p:oleObj>
              </mc:Choice>
              <mc:Fallback>
                <p:oleObj name="公式" r:id="rId4" imgW="850531" imgH="66011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0"/>
                        <a:ext cx="3216275" cy="206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6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6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5" grpId="0"/>
      <p:bldP spid="3635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395288" y="260350"/>
            <a:ext cx="424815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/>
              <a:t>7.3 Euler method</a:t>
            </a:r>
          </a:p>
        </p:txBody>
      </p:sp>
      <p:pic>
        <p:nvPicPr>
          <p:cNvPr id="19559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276475"/>
            <a:ext cx="8229600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3476" name="Oval 4"/>
          <p:cNvSpPr>
            <a:spLocks noChangeArrowheads="1"/>
          </p:cNvSpPr>
          <p:nvPr/>
        </p:nvSpPr>
        <p:spPr bwMode="auto">
          <a:xfrm>
            <a:off x="468313" y="2349500"/>
            <a:ext cx="3024187" cy="10080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9701" name="Object 6"/>
          <p:cNvGraphicFramePr>
            <a:graphicFrameLocks noChangeAspect="1"/>
          </p:cNvGraphicFramePr>
          <p:nvPr/>
        </p:nvGraphicFramePr>
        <p:xfrm>
          <a:off x="4787900" y="260350"/>
          <a:ext cx="3216275" cy="177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4" name="公式" r:id="rId4" imgW="850531" imgH="660113" progId="Equation.3">
                  <p:embed/>
                </p:oleObj>
              </mc:Choice>
              <mc:Fallback>
                <p:oleObj name="公式" r:id="rId4" imgW="850531" imgH="66011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60350"/>
                        <a:ext cx="3216275" cy="177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348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4652963"/>
            <a:ext cx="6624637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609600"/>
            <a:ext cx="4343400" cy="77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3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5834063"/>
            <a:ext cx="7543800" cy="69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0724" name="Group 12"/>
          <p:cNvGrpSpPr>
            <a:grpSpLocks/>
          </p:cNvGrpSpPr>
          <p:nvPr/>
        </p:nvGrpSpPr>
        <p:grpSpPr bwMode="auto">
          <a:xfrm>
            <a:off x="684213" y="549275"/>
            <a:ext cx="6840537" cy="5040313"/>
            <a:chOff x="476" y="482"/>
            <a:chExt cx="4113" cy="2959"/>
          </a:xfrm>
        </p:grpSpPr>
        <p:pic>
          <p:nvPicPr>
            <p:cNvPr id="30726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482"/>
              <a:ext cx="4113" cy="2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30727" name="Object 10"/>
            <p:cNvGraphicFramePr>
              <a:graphicFrameLocks noChangeAspect="1"/>
            </p:cNvGraphicFramePr>
            <p:nvPr/>
          </p:nvGraphicFramePr>
          <p:xfrm>
            <a:off x="1882" y="3113"/>
            <a:ext cx="565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1" name="公式" r:id="rId6" imgW="444307" imgH="228501" progId="Equation.3">
                    <p:embed/>
                  </p:oleObj>
                </mc:Choice>
                <mc:Fallback>
                  <p:oleObj name="公式" r:id="rId6" imgW="444307" imgH="228501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2" y="3113"/>
                          <a:ext cx="565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8" name="Object 11"/>
            <p:cNvGraphicFramePr>
              <a:graphicFrameLocks noChangeAspect="1"/>
            </p:cNvGraphicFramePr>
            <p:nvPr/>
          </p:nvGraphicFramePr>
          <p:xfrm>
            <a:off x="3376" y="3067"/>
            <a:ext cx="66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2" name="公式" r:id="rId8" imgW="520700" imgH="228600" progId="Equation.3">
                    <p:embed/>
                  </p:oleObj>
                </mc:Choice>
                <mc:Fallback>
                  <p:oleObj name="公式" r:id="rId8" imgW="520700" imgH="228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6" y="3067"/>
                          <a:ext cx="66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0725" name="Picture 1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620713"/>
            <a:ext cx="4959350" cy="67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228600" y="2736850"/>
            <a:ext cx="8763000" cy="401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3200" b="1">
                <a:solidFill>
                  <a:srgbClr val="000000"/>
                </a:solidFill>
              </a:rPr>
              <a:t>Comparing the Euler method equation for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8080"/>
                </a:solidFill>
              </a:rPr>
              <a:t> </a:t>
            </a:r>
            <a:r>
              <a:rPr lang="en-US" altLang="zh-CN" sz="3200" b="1">
                <a:solidFill>
                  <a:srgbClr val="000000"/>
                </a:solidFill>
              </a:rPr>
              <a:t>with the the Taylor Series expansion for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>
                <a:solidFill>
                  <a:srgbClr val="000000"/>
                </a:solidFill>
              </a:rPr>
              <a:t>, shows that the </a:t>
            </a:r>
            <a:r>
              <a:rPr lang="en-US" altLang="zh-CN" sz="3600" b="1">
                <a:solidFill>
                  <a:srgbClr val="0000CC"/>
                </a:solidFill>
              </a:rPr>
              <a:t>error</a:t>
            </a:r>
            <a:r>
              <a:rPr lang="en-US" altLang="zh-CN" sz="3200" b="1">
                <a:solidFill>
                  <a:srgbClr val="000000"/>
                </a:solidFill>
              </a:rPr>
              <a:t> in the finite difference approximation becomes an </a:t>
            </a:r>
            <a:r>
              <a:rPr lang="en-US" altLang="zh-CN" sz="3200" b="1" i="1">
                <a:solidFill>
                  <a:srgbClr val="000080"/>
                </a:solidFill>
              </a:rPr>
              <a:t>O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baseline="30000">
                <a:solidFill>
                  <a:srgbClr val="800080"/>
                </a:solidFill>
              </a:rPr>
              <a:t>2</a:t>
            </a:r>
            <a:r>
              <a:rPr lang="en-US" altLang="zh-CN" sz="3200" b="1">
                <a:solidFill>
                  <a:srgbClr val="000080"/>
                </a:solidFill>
              </a:rPr>
              <a:t>)</a:t>
            </a:r>
            <a:r>
              <a:rPr lang="en-US" altLang="zh-CN" sz="3200" b="1">
                <a:solidFill>
                  <a:srgbClr val="000000"/>
                </a:solidFill>
              </a:rPr>
              <a:t>. Thus the Euler method is first order accurate and is often referred to as a </a:t>
            </a:r>
            <a:r>
              <a:rPr lang="en-US" altLang="zh-CN" sz="3200" b="1" i="1">
                <a:solidFill>
                  <a:srgbClr val="000099"/>
                </a:solidFill>
              </a:rPr>
              <a:t>first order method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3174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8229600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8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773238"/>
            <a:ext cx="4959350" cy="67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"/>
            <a:ext cx="6629400" cy="159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05000"/>
            <a:ext cx="82296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514600"/>
            <a:ext cx="36576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2565400"/>
            <a:ext cx="165735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00400"/>
            <a:ext cx="41148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150" y="3068638"/>
            <a:ext cx="3810000" cy="365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6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868863"/>
            <a:ext cx="427513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"/>
            <a:ext cx="2514600" cy="1017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071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641600"/>
            <a:ext cx="15240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071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565400"/>
            <a:ext cx="1676400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071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573463"/>
            <a:ext cx="2133600" cy="69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0718" name="Picture 1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4724400"/>
            <a:ext cx="17526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00722" name="Object 18"/>
          <p:cNvGraphicFramePr>
            <a:graphicFrameLocks noChangeAspect="1"/>
          </p:cNvGraphicFramePr>
          <p:nvPr/>
        </p:nvGraphicFramePr>
        <p:xfrm>
          <a:off x="3419475" y="3284538"/>
          <a:ext cx="4327525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6" name="公式" r:id="rId8" imgW="1180588" imgH="431613" progId="Equation.3">
                  <p:embed/>
                </p:oleObj>
              </mc:Choice>
              <mc:Fallback>
                <p:oleObj name="公式" r:id="rId8" imgW="1180588" imgH="431613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284538"/>
                        <a:ext cx="4327525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24" name="Object 20"/>
          <p:cNvGraphicFramePr>
            <a:graphicFrameLocks noChangeAspect="1"/>
          </p:cNvGraphicFramePr>
          <p:nvPr/>
        </p:nvGraphicFramePr>
        <p:xfrm>
          <a:off x="2697163" y="1628775"/>
          <a:ext cx="395287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7" name="公式" r:id="rId10" imgW="1079032" imgH="253890" progId="Equation.3">
                  <p:embed/>
                </p:oleObj>
              </mc:Choice>
              <mc:Fallback>
                <p:oleObj name="公式" r:id="rId10" imgW="1079032" imgH="25389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1628775"/>
                        <a:ext cx="3952875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29" name="Object 25"/>
          <p:cNvGraphicFramePr>
            <a:graphicFrameLocks noChangeAspect="1"/>
          </p:cNvGraphicFramePr>
          <p:nvPr/>
        </p:nvGraphicFramePr>
        <p:xfrm>
          <a:off x="2339975" y="5229225"/>
          <a:ext cx="6421438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8" name="公式" r:id="rId12" imgW="1752600" imgH="431800" progId="Equation.3">
                  <p:embed/>
                </p:oleObj>
              </mc:Choice>
              <mc:Fallback>
                <p:oleObj name="公式" r:id="rId12" imgW="1752600" imgH="4318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229225"/>
                        <a:ext cx="6421438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02" name="Picture 2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549275"/>
            <a:ext cx="4959350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0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0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512763"/>
            <a:ext cx="556260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04950"/>
            <a:ext cx="5257800" cy="65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86000"/>
            <a:ext cx="5562600" cy="67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221038"/>
            <a:ext cx="7010400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22" name="Text Box 7"/>
          <p:cNvSpPr txBox="1">
            <a:spLocks noChangeArrowheads="1"/>
          </p:cNvSpPr>
          <p:nvPr/>
        </p:nvSpPr>
        <p:spPr bwMode="auto">
          <a:xfrm>
            <a:off x="1057275" y="561975"/>
            <a:ext cx="4778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4000" b="1"/>
              <a:t>Y</a:t>
            </a:r>
          </a:p>
        </p:txBody>
      </p:sp>
      <p:sp>
        <p:nvSpPr>
          <p:cNvPr id="34823" name="Text Box 8"/>
          <p:cNvSpPr txBox="1">
            <a:spLocks noChangeArrowheads="1"/>
          </p:cNvSpPr>
          <p:nvPr/>
        </p:nvSpPr>
        <p:spPr bwMode="auto">
          <a:xfrm>
            <a:off x="1141413" y="1412875"/>
            <a:ext cx="4778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4000" b="1"/>
              <a:t>Y</a:t>
            </a:r>
          </a:p>
        </p:txBody>
      </p:sp>
      <p:sp>
        <p:nvSpPr>
          <p:cNvPr id="34824" name="Text Box 9"/>
          <p:cNvSpPr txBox="1">
            <a:spLocks noChangeArrowheads="1"/>
          </p:cNvSpPr>
          <p:nvPr/>
        </p:nvSpPr>
        <p:spPr bwMode="auto">
          <a:xfrm>
            <a:off x="1090613" y="2276475"/>
            <a:ext cx="4778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4000" b="1"/>
              <a:t>Y</a:t>
            </a:r>
          </a:p>
        </p:txBody>
      </p:sp>
      <p:sp>
        <p:nvSpPr>
          <p:cNvPr id="34825" name="Text Box 10"/>
          <p:cNvSpPr txBox="1">
            <a:spLocks noChangeArrowheads="1"/>
          </p:cNvSpPr>
          <p:nvPr/>
        </p:nvSpPr>
        <p:spPr bwMode="auto">
          <a:xfrm>
            <a:off x="1141413" y="3181350"/>
            <a:ext cx="4778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4000" b="1"/>
              <a:t>Y</a:t>
            </a:r>
          </a:p>
        </p:txBody>
      </p:sp>
    </p:spTree>
  </p:cSld>
  <p:clrMapOvr>
    <a:masterClrMapping/>
  </p:clrMapOvr>
  <p:transition spd="med">
    <p:pull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89154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333375"/>
            <a:ext cx="2514600" cy="1017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107950" y="2133600"/>
            <a:ext cx="8893175" cy="209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en-US" altLang="zh-CN" sz="3200" b="1"/>
              <a:t>The Euler method is termed an </a:t>
            </a:r>
            <a:r>
              <a:rPr lang="en-US" altLang="zh-CN" sz="3600" b="1" i="1">
                <a:solidFill>
                  <a:srgbClr val="FF0000"/>
                </a:solidFill>
              </a:rPr>
              <a:t>explicit</a:t>
            </a:r>
            <a:r>
              <a:rPr lang="en-US" altLang="zh-CN" sz="3200" b="1" i="1"/>
              <a:t> </a:t>
            </a:r>
            <a:r>
              <a:rPr lang="en-US" altLang="zh-CN" sz="3200" b="1"/>
              <a:t>method because we are able to write down an explicit solution for </a:t>
            </a:r>
            <a:r>
              <a:rPr lang="en-US" altLang="zh-CN" sz="3200" b="1" i="1"/>
              <a:t>Y</a:t>
            </a:r>
            <a:r>
              <a:rPr lang="en-US" altLang="zh-CN" sz="3200" b="1" i="1" baseline="-25000"/>
              <a:t>n+</a:t>
            </a:r>
            <a:r>
              <a:rPr lang="en-US" altLang="zh-CN" sz="3200" b="1" baseline="-25000"/>
              <a:t>1</a:t>
            </a:r>
            <a:r>
              <a:rPr lang="en-US" altLang="zh-CN" sz="3200" b="1"/>
              <a:t> in terms of “known” values at </a:t>
            </a:r>
            <a:r>
              <a:rPr lang="en-US" altLang="zh-CN" sz="3200" b="1" i="1"/>
              <a:t>t</a:t>
            </a:r>
            <a:r>
              <a:rPr lang="en-US" altLang="zh-CN" sz="3200" b="1" i="1" baseline="-25000"/>
              <a:t>n</a:t>
            </a:r>
            <a:r>
              <a:rPr lang="en-US" altLang="zh-CN" sz="3200" b="1"/>
              <a:t>.</a:t>
            </a:r>
          </a:p>
        </p:txBody>
      </p:sp>
      <p:graphicFrame>
        <p:nvGraphicFramePr>
          <p:cNvPr id="36867" name="Object 4"/>
          <p:cNvGraphicFramePr>
            <a:graphicFrameLocks noChangeAspect="1"/>
          </p:cNvGraphicFramePr>
          <p:nvPr/>
        </p:nvGraphicFramePr>
        <p:xfrm>
          <a:off x="636588" y="4965700"/>
          <a:ext cx="7151687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0" name="公式" r:id="rId3" imgW="1892300" imgH="419100" progId="Equation.3">
                  <p:embed/>
                </p:oleObj>
              </mc:Choice>
              <mc:Fallback>
                <p:oleObj name="公式" r:id="rId3" imgW="18923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8" y="4965700"/>
                        <a:ext cx="7151687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868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981075"/>
            <a:ext cx="4959350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539750" y="260350"/>
            <a:ext cx="4572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/>
              <a:t>7.4 Implicit methods</a:t>
            </a:r>
            <a:endParaRPr lang="en-US" altLang="zh-CN" sz="3200" b="1" i="1"/>
          </a:p>
        </p:txBody>
      </p:sp>
      <p:pic>
        <p:nvPicPr>
          <p:cNvPr id="2037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3581400" cy="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3780" name="Rectangle 4"/>
          <p:cNvSpPr>
            <a:spLocks noChangeArrowheads="1"/>
          </p:cNvSpPr>
          <p:nvPr/>
        </p:nvSpPr>
        <p:spPr bwMode="auto">
          <a:xfrm>
            <a:off x="1835150" y="4535488"/>
            <a:ext cx="5791200" cy="206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/>
              <a:t>7.4.1 Backward Euler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/>
              <a:t>7.4.2 Richardson extrapolation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/>
              <a:t>7.4.3 Crank-Nicholson</a:t>
            </a:r>
          </a:p>
        </p:txBody>
      </p:sp>
      <p:pic>
        <p:nvPicPr>
          <p:cNvPr id="20378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371600"/>
            <a:ext cx="3505200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3782" name="Rectangle 6"/>
          <p:cNvSpPr>
            <a:spLocks noChangeArrowheads="1"/>
          </p:cNvSpPr>
          <p:nvPr/>
        </p:nvSpPr>
        <p:spPr bwMode="auto">
          <a:xfrm>
            <a:off x="250825" y="2644775"/>
            <a:ext cx="8642350" cy="186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/>
              <a:t>computationally more expensive for a single step than explicit methods, but offer advantages in terms of stability and/or accuracy in many circumstances.</a:t>
            </a:r>
            <a:endParaRPr lang="en-US" altLang="zh-CN" sz="3200" i="1"/>
          </a:p>
        </p:txBody>
      </p:sp>
      <p:graphicFrame>
        <p:nvGraphicFramePr>
          <p:cNvPr id="37895" name="Object 8"/>
          <p:cNvGraphicFramePr>
            <a:graphicFrameLocks noChangeAspect="1"/>
          </p:cNvGraphicFramePr>
          <p:nvPr/>
        </p:nvGraphicFramePr>
        <p:xfrm>
          <a:off x="5580063" y="188913"/>
          <a:ext cx="292735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9" name="公式" r:id="rId5" imgW="774364" imgH="393529" progId="Equation.3">
                  <p:embed/>
                </p:oleObj>
              </mc:Choice>
              <mc:Fallback>
                <p:oleObj name="公式" r:id="rId5" imgW="774364" imgH="39352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88913"/>
                        <a:ext cx="2927350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6" name="TextBox 1"/>
          <p:cNvSpPr txBox="1">
            <a:spLocks noChangeArrowheads="1"/>
          </p:cNvSpPr>
          <p:nvPr/>
        </p:nvSpPr>
        <p:spPr bwMode="auto">
          <a:xfrm>
            <a:off x="1295400" y="1989138"/>
            <a:ext cx="14144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FF0000"/>
                </a:solidFill>
              </a:rPr>
              <a:t>explicit</a:t>
            </a:r>
            <a:endParaRPr lang="zh-CN" altLang="en-US" sz="3200"/>
          </a:p>
        </p:txBody>
      </p:sp>
      <p:sp>
        <p:nvSpPr>
          <p:cNvPr id="37897" name="TextBox 10"/>
          <p:cNvSpPr txBox="1">
            <a:spLocks noChangeArrowheads="1"/>
          </p:cNvSpPr>
          <p:nvPr/>
        </p:nvSpPr>
        <p:spPr bwMode="auto">
          <a:xfrm>
            <a:off x="5940425" y="1976438"/>
            <a:ext cx="1460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FF0000"/>
                </a:solidFill>
              </a:rPr>
              <a:t>implicit</a:t>
            </a:r>
            <a:endParaRPr lang="zh-CN" altLang="en-US" sz="3200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80" grpId="0" autoUpdateAnimBg="0"/>
      <p:bldP spid="203782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323850" y="188913"/>
            <a:ext cx="46196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/>
              <a:t>7.4.1 Backward Euler </a:t>
            </a:r>
          </a:p>
        </p:txBody>
      </p:sp>
      <p:pic>
        <p:nvPicPr>
          <p:cNvPr id="2048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56388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644900"/>
            <a:ext cx="6400800" cy="84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91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28600"/>
            <a:ext cx="3124200" cy="101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10" name="Rectangle 10"/>
          <p:cNvSpPr>
            <a:spLocks noChangeArrowheads="1"/>
          </p:cNvSpPr>
          <p:nvPr/>
        </p:nvSpPr>
        <p:spPr bwMode="auto">
          <a:xfrm>
            <a:off x="5724525" y="2420938"/>
            <a:ext cx="2928938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/>
              <a:t>Forward Euler </a:t>
            </a:r>
          </a:p>
        </p:txBody>
      </p:sp>
      <p:sp>
        <p:nvSpPr>
          <p:cNvPr id="204811" name="Rectangle 11"/>
          <p:cNvSpPr>
            <a:spLocks noChangeArrowheads="1"/>
          </p:cNvSpPr>
          <p:nvPr/>
        </p:nvSpPr>
        <p:spPr bwMode="auto">
          <a:xfrm>
            <a:off x="6011863" y="5899150"/>
            <a:ext cx="3024187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/>
              <a:t>Backward Euler </a:t>
            </a:r>
          </a:p>
        </p:txBody>
      </p:sp>
      <p:pic>
        <p:nvPicPr>
          <p:cNvPr id="204812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349500"/>
            <a:ext cx="475297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13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4994275"/>
            <a:ext cx="575151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4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10" grpId="0"/>
      <p:bldP spid="2048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00200"/>
            <a:ext cx="6443663" cy="460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93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692150"/>
            <a:ext cx="5751513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250825" y="1412875"/>
            <a:ext cx="856932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As the derivative </a:t>
            </a:r>
            <a:r>
              <a:rPr lang="en-US" altLang="zh-CN" sz="3200" b="1" i="1" dirty="0" err="1">
                <a:solidFill>
                  <a:srgbClr val="000080"/>
                </a:solidFill>
              </a:rPr>
              <a:t>Y’</a:t>
            </a:r>
            <a:r>
              <a:rPr lang="en-US" altLang="zh-CN" sz="3200" b="1" i="1" baseline="-25000" dirty="0" err="1">
                <a:solidFill>
                  <a:srgbClr val="008080"/>
                </a:solidFill>
              </a:rPr>
              <a:t>n</a:t>
            </a:r>
            <a:r>
              <a:rPr lang="en-US" altLang="zh-CN" sz="3200" b="1" i="1" dirty="0">
                <a:solidFill>
                  <a:srgbClr val="008080"/>
                </a:solidFill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</a:rPr>
              <a:t>is approximated only to the </a:t>
            </a:r>
            <a:r>
              <a:rPr lang="en-US" altLang="zh-CN" sz="3200" b="1" dirty="0">
                <a:solidFill>
                  <a:srgbClr val="FF3300"/>
                </a:solidFill>
              </a:rPr>
              <a:t>first order</a:t>
            </a:r>
            <a:r>
              <a:rPr lang="en-US" altLang="zh-CN" sz="3200" b="1" dirty="0">
                <a:solidFill>
                  <a:srgbClr val="000000"/>
                </a:solidFill>
              </a:rPr>
              <a:t>, the Backward Euler method has errors of </a:t>
            </a:r>
            <a:r>
              <a:rPr lang="en-US" altLang="zh-CN" sz="3200" b="1" i="1" dirty="0">
                <a:solidFill>
                  <a:srgbClr val="000080"/>
                </a:solidFill>
              </a:rPr>
              <a:t>O</a:t>
            </a:r>
            <a:r>
              <a:rPr lang="en-US" altLang="zh-CN" sz="3200" b="1" dirty="0">
                <a:solidFill>
                  <a:srgbClr val="000080"/>
                </a:solidFill>
              </a:rPr>
              <a:t>(</a:t>
            </a:r>
            <a:r>
              <a:rPr lang="en-US" altLang="zh-CN" sz="3200" b="1" dirty="0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 dirty="0">
                <a:solidFill>
                  <a:srgbClr val="000080"/>
                </a:solidFill>
              </a:rPr>
              <a:t>t</a:t>
            </a:r>
            <a:r>
              <a:rPr lang="en-US" altLang="zh-CN" sz="3200" b="1" baseline="30000" dirty="0">
                <a:solidFill>
                  <a:srgbClr val="800080"/>
                </a:solidFill>
              </a:rPr>
              <a:t>2</a:t>
            </a:r>
            <a:r>
              <a:rPr lang="en-US" altLang="zh-CN" sz="3200" b="1" dirty="0">
                <a:solidFill>
                  <a:srgbClr val="000080"/>
                </a:solidFill>
              </a:rPr>
              <a:t>)</a:t>
            </a:r>
            <a:r>
              <a:rPr lang="en-US" altLang="zh-CN" sz="3200" b="1" dirty="0">
                <a:solidFill>
                  <a:srgbClr val="000000"/>
                </a:solidFill>
              </a:rPr>
              <a:t>, exactly as for the Euler method. The solution process will, however, tend to be more stable and hence accurate, especially for </a:t>
            </a:r>
            <a:r>
              <a:rPr lang="en-US" altLang="zh-CN" sz="3200" b="1" i="1" dirty="0">
                <a:solidFill>
                  <a:srgbClr val="FF3300"/>
                </a:solidFill>
              </a:rPr>
              <a:t>stiff </a:t>
            </a:r>
            <a:r>
              <a:rPr lang="en-US" altLang="zh-CN" sz="3200" b="1" dirty="0">
                <a:solidFill>
                  <a:srgbClr val="000000"/>
                </a:solidFill>
              </a:rPr>
              <a:t>problems (problems where </a:t>
            </a:r>
            <a:r>
              <a:rPr lang="en-US" altLang="zh-CN" sz="3200" b="1" i="1" dirty="0">
                <a:solidFill>
                  <a:srgbClr val="000080"/>
                </a:solidFill>
              </a:rPr>
              <a:t>f</a:t>
            </a:r>
            <a:r>
              <a:rPr lang="en-US" altLang="zh-CN" sz="3200" i="1" dirty="0">
                <a:solidFill>
                  <a:srgbClr val="000080"/>
                </a:solidFill>
              </a:rPr>
              <a:t>’</a:t>
            </a:r>
            <a:r>
              <a:rPr lang="en-US" altLang="zh-CN" sz="3200" b="1" i="1" dirty="0">
                <a:solidFill>
                  <a:srgbClr val="000080"/>
                </a:solidFill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</a:rPr>
              <a:t>is large). An example of this is shown in the following figure .</a:t>
            </a:r>
            <a:endParaRPr lang="en-US" altLang="zh-CN" sz="3200" b="1" dirty="0"/>
          </a:p>
        </p:txBody>
      </p:sp>
      <p:pic>
        <p:nvPicPr>
          <p:cNvPr id="4096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549275"/>
            <a:ext cx="5751513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oup 8"/>
          <p:cNvGrpSpPr>
            <a:grpSpLocks/>
          </p:cNvGrpSpPr>
          <p:nvPr/>
        </p:nvGrpSpPr>
        <p:grpSpPr bwMode="auto">
          <a:xfrm>
            <a:off x="900113" y="260350"/>
            <a:ext cx="7272337" cy="6172200"/>
            <a:chOff x="567" y="177"/>
            <a:chExt cx="4309" cy="3893"/>
          </a:xfrm>
        </p:grpSpPr>
        <p:pic>
          <p:nvPicPr>
            <p:cNvPr id="41993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177"/>
              <a:ext cx="4309" cy="38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1994" name="Line 3"/>
            <p:cNvSpPr>
              <a:spLocks noChangeShapeType="1"/>
            </p:cNvSpPr>
            <p:nvPr/>
          </p:nvSpPr>
          <p:spPr bwMode="auto">
            <a:xfrm>
              <a:off x="930" y="1434"/>
              <a:ext cx="635" cy="158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5" name="Line 5"/>
            <p:cNvSpPr>
              <a:spLocks noChangeShapeType="1"/>
            </p:cNvSpPr>
            <p:nvPr/>
          </p:nvSpPr>
          <p:spPr bwMode="auto">
            <a:xfrm>
              <a:off x="1564" y="3067"/>
              <a:ext cx="862" cy="681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6" name="Line 6"/>
            <p:cNvSpPr>
              <a:spLocks noChangeShapeType="1"/>
            </p:cNvSpPr>
            <p:nvPr/>
          </p:nvSpPr>
          <p:spPr bwMode="auto">
            <a:xfrm>
              <a:off x="2426" y="3793"/>
              <a:ext cx="907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7" name="Line 7"/>
            <p:cNvSpPr>
              <a:spLocks noChangeShapeType="1"/>
            </p:cNvSpPr>
            <p:nvPr/>
          </p:nvSpPr>
          <p:spPr bwMode="auto">
            <a:xfrm>
              <a:off x="3243" y="3793"/>
              <a:ext cx="907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9933" name="Group 13"/>
          <p:cNvGrpSpPr>
            <a:grpSpLocks/>
          </p:cNvGrpSpPr>
          <p:nvPr/>
        </p:nvGrpSpPr>
        <p:grpSpPr bwMode="auto">
          <a:xfrm>
            <a:off x="1463675" y="2073275"/>
            <a:ext cx="5484813" cy="1211263"/>
            <a:chOff x="922" y="1306"/>
            <a:chExt cx="3455" cy="763"/>
          </a:xfrm>
        </p:grpSpPr>
        <p:sp>
          <p:nvSpPr>
            <p:cNvPr id="41989" name="Line 9"/>
            <p:cNvSpPr>
              <a:spLocks noChangeShapeType="1"/>
            </p:cNvSpPr>
            <p:nvPr/>
          </p:nvSpPr>
          <p:spPr bwMode="auto">
            <a:xfrm>
              <a:off x="922" y="1306"/>
              <a:ext cx="680" cy="589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0" name="Line 10"/>
            <p:cNvSpPr>
              <a:spLocks noChangeShapeType="1"/>
            </p:cNvSpPr>
            <p:nvPr/>
          </p:nvSpPr>
          <p:spPr bwMode="auto">
            <a:xfrm>
              <a:off x="1655" y="1933"/>
              <a:ext cx="907" cy="91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1" name="Line 11"/>
            <p:cNvSpPr>
              <a:spLocks noChangeShapeType="1"/>
            </p:cNvSpPr>
            <p:nvPr/>
          </p:nvSpPr>
          <p:spPr bwMode="auto">
            <a:xfrm>
              <a:off x="2562" y="2024"/>
              <a:ext cx="908" cy="45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2" name="Line 12"/>
            <p:cNvSpPr>
              <a:spLocks noChangeShapeType="1"/>
            </p:cNvSpPr>
            <p:nvPr/>
          </p:nvSpPr>
          <p:spPr bwMode="auto">
            <a:xfrm>
              <a:off x="3470" y="2048"/>
              <a:ext cx="907" cy="0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41988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620713"/>
            <a:ext cx="575151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381000" y="152400"/>
            <a:ext cx="57912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 i="1"/>
              <a:t>7.4.2 Richardson extrapolation</a:t>
            </a:r>
          </a:p>
        </p:txBody>
      </p:sp>
      <p:sp>
        <p:nvSpPr>
          <p:cNvPr id="205827" name="Text Box 3"/>
          <p:cNvSpPr txBox="1">
            <a:spLocks noChangeArrowheads="1"/>
          </p:cNvSpPr>
          <p:nvPr/>
        </p:nvSpPr>
        <p:spPr bwMode="auto">
          <a:xfrm>
            <a:off x="288925" y="1052513"/>
            <a:ext cx="7812088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3200" b="1">
                <a:solidFill>
                  <a:srgbClr val="000000"/>
                </a:solidFill>
              </a:rPr>
              <a:t>The Romberg integration approach</a:t>
            </a:r>
            <a:endParaRPr lang="en-US" altLang="zh-CN" sz="3200" b="1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323850" y="981075"/>
            <a:ext cx="4783138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0" lang="en-US" altLang="zh-CN" sz="3200" b="1">
                <a:solidFill>
                  <a:srgbClr val="000000"/>
                </a:solidFill>
              </a:rPr>
              <a:t>With the Trapezium Rule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468313" y="188913"/>
            <a:ext cx="4286250" cy="80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en-US" altLang="zh-CN" sz="3600" b="1"/>
              <a:t>Romberg integration</a:t>
            </a:r>
            <a:endParaRPr kumimoji="0" lang="en-US" altLang="zh-CN" sz="1800">
              <a:latin typeface="Arial" pitchFamily="34" charset="0"/>
            </a:endParaRP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5435600" y="404813"/>
            <a:ext cx="31527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3200" b="1">
                <a:latin typeface="Arial" pitchFamily="34" charset="0"/>
              </a:rPr>
              <a:t>龙贝格求积公式</a:t>
            </a:r>
            <a:r>
              <a:rPr kumimoji="0" lang="zh-CN" altLang="en-US" sz="3200">
                <a:latin typeface="Arial" pitchFamily="34" charset="0"/>
              </a:rPr>
              <a:t> </a:t>
            </a:r>
          </a:p>
        </p:txBody>
      </p:sp>
      <p:grpSp>
        <p:nvGrpSpPr>
          <p:cNvPr id="44037" name="Group 5"/>
          <p:cNvGrpSpPr>
            <a:grpSpLocks/>
          </p:cNvGrpSpPr>
          <p:nvPr/>
        </p:nvGrpSpPr>
        <p:grpSpPr bwMode="auto">
          <a:xfrm>
            <a:off x="323850" y="1773238"/>
            <a:ext cx="8293100" cy="1146175"/>
            <a:chOff x="295" y="1434"/>
            <a:chExt cx="5224" cy="722"/>
          </a:xfrm>
        </p:grpSpPr>
        <p:graphicFrame>
          <p:nvGraphicFramePr>
            <p:cNvPr id="44043" name="Object 6"/>
            <p:cNvGraphicFramePr>
              <a:graphicFrameLocks noChangeAspect="1"/>
            </p:cNvGraphicFramePr>
            <p:nvPr/>
          </p:nvGraphicFramePr>
          <p:xfrm>
            <a:off x="1927" y="1434"/>
            <a:ext cx="3592" cy="6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87" name="公式" r:id="rId3" imgW="2159000" imgH="393700" progId="Equation.3">
                    <p:embed/>
                  </p:oleObj>
                </mc:Choice>
                <mc:Fallback>
                  <p:oleObj name="公式" r:id="rId3" imgW="2159000" imgH="3937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1434"/>
                          <a:ext cx="3592" cy="6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44" name="Object 7"/>
            <p:cNvGraphicFramePr>
              <a:graphicFrameLocks noChangeAspect="1"/>
            </p:cNvGraphicFramePr>
            <p:nvPr/>
          </p:nvGraphicFramePr>
          <p:xfrm>
            <a:off x="295" y="1434"/>
            <a:ext cx="1587" cy="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88" name="Equation" r:id="rId5" imgW="952087" imgH="495085" progId="Equation.3">
                    <p:embed/>
                  </p:oleObj>
                </mc:Choice>
                <mc:Fallback>
                  <p:oleObj name="Equation" r:id="rId5" imgW="952087" imgH="495085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1434"/>
                          <a:ext cx="1587" cy="7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038" name="Rectangle 8"/>
          <p:cNvSpPr>
            <a:spLocks noChangeArrowheads="1"/>
          </p:cNvSpPr>
          <p:nvPr/>
        </p:nvSpPr>
        <p:spPr bwMode="auto">
          <a:xfrm>
            <a:off x="250825" y="2924175"/>
            <a:ext cx="752475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0" lang="en-US" altLang="zh-CN" sz="3200" b="1">
                <a:solidFill>
                  <a:srgbClr val="000000"/>
                </a:solidFill>
              </a:rPr>
              <a:t>With the Compound Trapezium Rule</a:t>
            </a:r>
          </a:p>
        </p:txBody>
      </p:sp>
      <p:sp>
        <p:nvSpPr>
          <p:cNvPr id="44039" name="Text Box 9"/>
          <p:cNvSpPr txBox="1">
            <a:spLocks noChangeArrowheads="1"/>
          </p:cNvSpPr>
          <p:nvPr/>
        </p:nvSpPr>
        <p:spPr bwMode="auto">
          <a:xfrm>
            <a:off x="179388" y="3716338"/>
            <a:ext cx="8785225" cy="135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en-US" altLang="zh-CN" sz="3200" b="1">
                <a:solidFill>
                  <a:srgbClr val="000000"/>
                </a:solidFill>
              </a:rPr>
              <a:t>While the error for each step is </a:t>
            </a:r>
            <a:r>
              <a:rPr kumimoji="0" lang="en-US" altLang="zh-CN" sz="3200" b="1" i="1">
                <a:solidFill>
                  <a:srgbClr val="000080"/>
                </a:solidFill>
              </a:rPr>
              <a:t>O</a:t>
            </a:r>
            <a:r>
              <a:rPr kumimoji="0" lang="en-US" altLang="zh-CN" sz="3200" b="1">
                <a:solidFill>
                  <a:srgbClr val="000080"/>
                </a:solidFill>
              </a:rPr>
              <a:t>(</a:t>
            </a:r>
            <a:r>
              <a:rPr kumimoji="0"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kumimoji="0" lang="en-US" altLang="zh-CN" sz="3200" b="1" i="1">
                <a:solidFill>
                  <a:srgbClr val="000080"/>
                </a:solidFill>
              </a:rPr>
              <a:t>x</a:t>
            </a:r>
            <a:r>
              <a:rPr kumimoji="0" lang="en-US" altLang="zh-CN" sz="3200" b="1" baseline="30000">
                <a:solidFill>
                  <a:srgbClr val="800080"/>
                </a:solidFill>
              </a:rPr>
              <a:t>3</a:t>
            </a:r>
            <a:r>
              <a:rPr kumimoji="0" lang="en-US" altLang="zh-CN" sz="3200" b="1">
                <a:solidFill>
                  <a:srgbClr val="000080"/>
                </a:solidFill>
              </a:rPr>
              <a:t>)</a:t>
            </a:r>
            <a:r>
              <a:rPr kumimoji="0" lang="en-US" altLang="zh-CN" sz="3200" b="1">
                <a:solidFill>
                  <a:srgbClr val="000000"/>
                </a:solidFill>
              </a:rPr>
              <a:t>, the cumulative error is </a:t>
            </a:r>
            <a:r>
              <a:rPr kumimoji="0" lang="en-US" altLang="zh-CN" sz="3200" b="1" i="1">
                <a:solidFill>
                  <a:srgbClr val="000080"/>
                </a:solidFill>
              </a:rPr>
              <a:t>n </a:t>
            </a:r>
            <a:r>
              <a:rPr kumimoji="0" lang="en-US" altLang="zh-CN" sz="3200" b="1">
                <a:solidFill>
                  <a:srgbClr val="000000"/>
                </a:solidFill>
              </a:rPr>
              <a:t>times this or </a:t>
            </a:r>
            <a:r>
              <a:rPr kumimoji="0" lang="en-US" altLang="zh-CN" sz="3200" b="1" i="1">
                <a:solidFill>
                  <a:srgbClr val="000080"/>
                </a:solidFill>
              </a:rPr>
              <a:t>O</a:t>
            </a:r>
            <a:r>
              <a:rPr kumimoji="0" lang="en-US" altLang="zh-CN" sz="3200" b="1">
                <a:solidFill>
                  <a:srgbClr val="000080"/>
                </a:solidFill>
              </a:rPr>
              <a:t>(</a:t>
            </a:r>
            <a:r>
              <a:rPr kumimoji="0"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kumimoji="0" lang="en-US" altLang="zh-CN" sz="3200" b="1" i="1">
                <a:solidFill>
                  <a:srgbClr val="000080"/>
                </a:solidFill>
              </a:rPr>
              <a:t>x</a:t>
            </a:r>
            <a:r>
              <a:rPr kumimoji="0" lang="en-US" altLang="zh-CN" sz="3200" b="1" baseline="30000">
                <a:solidFill>
                  <a:srgbClr val="800080"/>
                </a:solidFill>
              </a:rPr>
              <a:t>2</a:t>
            </a:r>
            <a:r>
              <a:rPr kumimoji="0" lang="en-US" altLang="zh-CN" sz="3200" b="1">
                <a:solidFill>
                  <a:srgbClr val="000080"/>
                </a:solidFill>
              </a:rPr>
              <a:t>) ~ </a:t>
            </a:r>
            <a:r>
              <a:rPr kumimoji="0" lang="en-US" altLang="zh-CN" sz="3200" b="1" i="1">
                <a:solidFill>
                  <a:srgbClr val="000080"/>
                </a:solidFill>
              </a:rPr>
              <a:t>O</a:t>
            </a:r>
            <a:r>
              <a:rPr kumimoji="0" lang="en-US" altLang="zh-CN" sz="3200" b="1">
                <a:solidFill>
                  <a:srgbClr val="000080"/>
                </a:solidFill>
              </a:rPr>
              <a:t>(</a:t>
            </a:r>
            <a:r>
              <a:rPr kumimoji="0" lang="en-US" altLang="zh-CN" sz="3200" b="1" i="1">
                <a:solidFill>
                  <a:srgbClr val="000080"/>
                </a:solidFill>
              </a:rPr>
              <a:t>n</a:t>
            </a:r>
            <a:r>
              <a:rPr kumimoji="0" lang="en-US" altLang="zh-CN" sz="3200" b="1" baseline="30000">
                <a:solidFill>
                  <a:srgbClr val="800080"/>
                </a:solidFill>
              </a:rPr>
              <a:t>-2</a:t>
            </a:r>
            <a:r>
              <a:rPr kumimoji="0" lang="en-US" altLang="zh-CN" sz="3200" b="1">
                <a:solidFill>
                  <a:srgbClr val="000080"/>
                </a:solidFill>
              </a:rPr>
              <a:t>)</a:t>
            </a:r>
            <a:endParaRPr kumimoji="0" lang="en-US" altLang="zh-CN" sz="3200" b="1" baseline="30000">
              <a:solidFill>
                <a:srgbClr val="800080"/>
              </a:solidFill>
            </a:endParaRPr>
          </a:p>
        </p:txBody>
      </p:sp>
      <p:sp>
        <p:nvSpPr>
          <p:cNvPr id="44040" name="Text Box 10"/>
          <p:cNvSpPr txBox="1">
            <a:spLocks noChangeArrowheads="1"/>
          </p:cNvSpPr>
          <p:nvPr/>
        </p:nvSpPr>
        <p:spPr bwMode="auto">
          <a:xfrm>
            <a:off x="7235825" y="2708275"/>
            <a:ext cx="1584325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kumimoji="0" lang="en-US" altLang="zh-CN" sz="3200" b="1" i="1">
                <a:solidFill>
                  <a:srgbClr val="000080"/>
                </a:solidFill>
              </a:rPr>
              <a:t>x=h</a:t>
            </a:r>
            <a:endParaRPr kumimoji="0" lang="en-US" altLang="zh-CN" sz="3200" b="1" baseline="30000">
              <a:solidFill>
                <a:srgbClr val="800080"/>
              </a:solidFill>
            </a:endParaRPr>
          </a:p>
        </p:txBody>
      </p:sp>
      <p:sp>
        <p:nvSpPr>
          <p:cNvPr id="467979" name="Rectangle 11"/>
          <p:cNvSpPr>
            <a:spLocks noChangeArrowheads="1"/>
          </p:cNvSpPr>
          <p:nvPr/>
        </p:nvSpPr>
        <p:spPr bwMode="auto">
          <a:xfrm>
            <a:off x="468313" y="5589588"/>
            <a:ext cx="295275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0" lang="en-US" altLang="zh-CN" sz="3200" b="1" i="1">
                <a:solidFill>
                  <a:srgbClr val="000080"/>
                </a:solidFill>
              </a:rPr>
              <a:t>T</a:t>
            </a:r>
            <a:r>
              <a:rPr kumimoji="0" lang="en-US" altLang="zh-CN" sz="3200" b="1">
                <a:solidFill>
                  <a:srgbClr val="000080"/>
                </a:solidFill>
              </a:rPr>
              <a:t>(</a:t>
            </a:r>
            <a:r>
              <a:rPr kumimoji="0"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kumimoji="0" lang="en-US" altLang="zh-CN" sz="3200" b="1" i="1">
                <a:solidFill>
                  <a:srgbClr val="000080"/>
                </a:solidFill>
              </a:rPr>
              <a:t>x</a:t>
            </a:r>
            <a:r>
              <a:rPr kumimoji="0" lang="en-US" altLang="zh-CN" sz="3200" b="1">
                <a:solidFill>
                  <a:srgbClr val="000080"/>
                </a:solidFill>
              </a:rPr>
              <a:t>)     </a:t>
            </a:r>
            <a:r>
              <a:rPr kumimoji="0" lang="en-US" altLang="zh-CN" sz="3200" b="1" i="1">
                <a:solidFill>
                  <a:srgbClr val="000080"/>
                </a:solidFill>
              </a:rPr>
              <a:t>c</a:t>
            </a:r>
            <a:r>
              <a:rPr kumimoji="0"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kumimoji="0" lang="en-US" altLang="zh-CN" sz="3200" b="1" i="1">
                <a:solidFill>
                  <a:srgbClr val="000080"/>
                </a:solidFill>
              </a:rPr>
              <a:t>x</a:t>
            </a:r>
            <a:r>
              <a:rPr kumimoji="0" lang="en-US" altLang="zh-CN" sz="3200" b="1" baseline="30000">
                <a:solidFill>
                  <a:srgbClr val="800080"/>
                </a:solidFill>
              </a:rPr>
              <a:t>2</a:t>
            </a:r>
            <a:endParaRPr kumimoji="0" lang="en-US" altLang="zh-CN" sz="3200" b="1">
              <a:solidFill>
                <a:srgbClr val="000000"/>
              </a:solidFill>
            </a:endParaRPr>
          </a:p>
        </p:txBody>
      </p:sp>
      <p:sp>
        <p:nvSpPr>
          <p:cNvPr id="467980" name="Rectangle 12"/>
          <p:cNvSpPr>
            <a:spLocks noChangeArrowheads="1"/>
          </p:cNvSpPr>
          <p:nvPr/>
        </p:nvSpPr>
        <p:spPr bwMode="auto">
          <a:xfrm>
            <a:off x="4068763" y="5661025"/>
            <a:ext cx="446405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0" lang="en-US" altLang="zh-CN" sz="3200" b="1" i="1">
                <a:solidFill>
                  <a:srgbClr val="000080"/>
                </a:solidFill>
              </a:rPr>
              <a:t>T</a:t>
            </a:r>
            <a:r>
              <a:rPr kumimoji="0" lang="en-US" altLang="zh-CN" sz="3200" b="1">
                <a:solidFill>
                  <a:srgbClr val="000080"/>
                </a:solidFill>
              </a:rPr>
              <a:t>(</a:t>
            </a:r>
            <a:r>
              <a:rPr kumimoji="0"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kumimoji="0" lang="en-US" altLang="zh-CN" sz="3200" b="1" i="1">
                <a:solidFill>
                  <a:srgbClr val="000080"/>
                </a:solidFill>
              </a:rPr>
              <a:t>x</a:t>
            </a:r>
            <a:r>
              <a:rPr kumimoji="0" lang="en-US" altLang="zh-CN" sz="3200" b="1">
                <a:solidFill>
                  <a:srgbClr val="000080"/>
                </a:solidFill>
              </a:rPr>
              <a:t>/2)      </a:t>
            </a:r>
            <a:r>
              <a:rPr kumimoji="0" lang="en-US" altLang="zh-CN" sz="3200" b="1" i="1">
                <a:solidFill>
                  <a:srgbClr val="000080"/>
                </a:solidFill>
              </a:rPr>
              <a:t>c</a:t>
            </a:r>
            <a:r>
              <a:rPr kumimoji="0"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kumimoji="0" lang="en-US" altLang="zh-CN" sz="3200" b="1" i="1">
                <a:solidFill>
                  <a:srgbClr val="000080"/>
                </a:solidFill>
              </a:rPr>
              <a:t>x</a:t>
            </a:r>
            <a:r>
              <a:rPr kumimoji="0" lang="en-US" altLang="zh-CN" sz="3200" b="1" baseline="30000">
                <a:solidFill>
                  <a:srgbClr val="800080"/>
                </a:solidFill>
              </a:rPr>
              <a:t>2</a:t>
            </a:r>
            <a:r>
              <a:rPr kumimoji="0" lang="en-US" altLang="zh-CN" sz="3200" b="1">
                <a:solidFill>
                  <a:srgbClr val="000080"/>
                </a:solidFill>
              </a:rPr>
              <a:t>/4</a:t>
            </a:r>
            <a:endParaRPr kumimoji="0" lang="en-US" altLang="zh-CN" sz="32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7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7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7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7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9" grpId="0" autoUpdateAnimBg="0"/>
      <p:bldP spid="467980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" y="404813"/>
            <a:ext cx="8820150" cy="1376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0019" name="Rectangle 3"/>
          <p:cNvSpPr>
            <a:spLocks noChangeArrowheads="1"/>
          </p:cNvSpPr>
          <p:nvPr/>
        </p:nvSpPr>
        <p:spPr bwMode="auto">
          <a:xfrm>
            <a:off x="395288" y="2638425"/>
            <a:ext cx="8458200" cy="294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0" lang="en-US" altLang="zh-CN" sz="3600">
                <a:solidFill>
                  <a:srgbClr val="000000"/>
                </a:solidFill>
              </a:rPr>
              <a:t>By choosing the weighting factor </a:t>
            </a:r>
            <a:r>
              <a:rPr kumimoji="0" lang="en-US" altLang="zh-CN" sz="3600">
                <a:solidFill>
                  <a:srgbClr val="008000"/>
                </a:solidFill>
                <a:latin typeface="Symbol" pitchFamily="18" charset="2"/>
              </a:rPr>
              <a:t>a </a:t>
            </a:r>
            <a:r>
              <a:rPr kumimoji="0" lang="en-US" altLang="zh-CN" sz="3600">
                <a:solidFill>
                  <a:srgbClr val="000080"/>
                </a:solidFill>
              </a:rPr>
              <a:t>= 4/3 </a:t>
            </a:r>
            <a:r>
              <a:rPr kumimoji="0" lang="en-US" altLang="zh-CN" sz="3600">
                <a:solidFill>
                  <a:srgbClr val="000000"/>
                </a:solidFill>
              </a:rPr>
              <a:t>we eliminate the leading order (</a:t>
            </a:r>
            <a:r>
              <a:rPr kumimoji="0" lang="en-US" altLang="zh-CN" sz="3600" i="1">
                <a:solidFill>
                  <a:srgbClr val="000080"/>
                </a:solidFill>
              </a:rPr>
              <a:t>O</a:t>
            </a:r>
            <a:r>
              <a:rPr kumimoji="0" lang="en-US" altLang="zh-CN" sz="3600">
                <a:solidFill>
                  <a:srgbClr val="000080"/>
                </a:solidFill>
              </a:rPr>
              <a:t>(</a:t>
            </a:r>
            <a:r>
              <a:rPr kumimoji="0" lang="en-US" altLang="zh-CN" sz="3600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kumimoji="0" lang="en-US" altLang="zh-CN" sz="3600" i="1">
                <a:solidFill>
                  <a:srgbClr val="000080"/>
                </a:solidFill>
              </a:rPr>
              <a:t>x</a:t>
            </a:r>
            <a:r>
              <a:rPr kumimoji="0" lang="en-US" altLang="zh-CN" sz="3600" baseline="30000">
                <a:solidFill>
                  <a:srgbClr val="800080"/>
                </a:solidFill>
              </a:rPr>
              <a:t>2</a:t>
            </a:r>
            <a:r>
              <a:rPr kumimoji="0" lang="en-US" altLang="zh-CN" sz="3600">
                <a:solidFill>
                  <a:srgbClr val="000080"/>
                </a:solidFill>
              </a:rPr>
              <a:t>)</a:t>
            </a:r>
            <a:r>
              <a:rPr kumimoji="0" lang="en-US" altLang="zh-CN" sz="3600">
                <a:solidFill>
                  <a:srgbClr val="000000"/>
                </a:solidFill>
              </a:rPr>
              <a:t>) error terms, relegating the error to </a:t>
            </a:r>
            <a:r>
              <a:rPr kumimoji="0" lang="en-US" altLang="zh-CN" sz="3600" i="1">
                <a:solidFill>
                  <a:srgbClr val="000080"/>
                </a:solidFill>
              </a:rPr>
              <a:t>O</a:t>
            </a:r>
            <a:r>
              <a:rPr kumimoji="0" lang="en-US" altLang="zh-CN" sz="3600">
                <a:solidFill>
                  <a:srgbClr val="000080"/>
                </a:solidFill>
              </a:rPr>
              <a:t>(</a:t>
            </a:r>
            <a:r>
              <a:rPr kumimoji="0" lang="en-US" altLang="zh-CN" sz="3600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kumimoji="0" lang="en-US" altLang="zh-CN" sz="3600" i="1">
                <a:solidFill>
                  <a:srgbClr val="000080"/>
                </a:solidFill>
              </a:rPr>
              <a:t>x</a:t>
            </a:r>
            <a:r>
              <a:rPr kumimoji="0" lang="en-US" altLang="zh-CN" sz="3600" baseline="30000">
                <a:solidFill>
                  <a:srgbClr val="800080"/>
                </a:solidFill>
              </a:rPr>
              <a:t>4</a:t>
            </a:r>
            <a:r>
              <a:rPr kumimoji="0" lang="en-US" altLang="zh-CN" sz="3600">
                <a:solidFill>
                  <a:srgbClr val="000080"/>
                </a:solidFill>
              </a:rPr>
              <a:t>)</a:t>
            </a:r>
            <a:r>
              <a:rPr kumimoji="0" lang="en-US" altLang="zh-CN" sz="3600">
                <a:solidFill>
                  <a:srgbClr val="000000"/>
                </a:solidFill>
              </a:rPr>
              <a:t>. Thus we have </a:t>
            </a:r>
          </a:p>
        </p:txBody>
      </p:sp>
      <p:pic>
        <p:nvPicPr>
          <p:cNvPr id="4700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5730875"/>
            <a:ext cx="7543800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0021" name="Rectangle 5"/>
          <p:cNvSpPr>
            <a:spLocks noChangeArrowheads="1"/>
          </p:cNvSpPr>
          <p:nvPr/>
        </p:nvSpPr>
        <p:spPr bwMode="auto">
          <a:xfrm>
            <a:off x="468313" y="1916113"/>
            <a:ext cx="2303462" cy="80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0" lang="en-US" altLang="zh-CN" sz="3600" b="1">
                <a:solidFill>
                  <a:srgbClr val="008000"/>
                </a:solidFill>
                <a:latin typeface="Symbol" pitchFamily="18" charset="2"/>
              </a:rPr>
              <a:t>a/</a:t>
            </a:r>
            <a:r>
              <a:rPr kumimoji="0" lang="en-US" altLang="zh-CN" sz="3600" b="1">
                <a:solidFill>
                  <a:srgbClr val="000080"/>
                </a:solidFill>
              </a:rPr>
              <a:t>4+1-</a:t>
            </a:r>
            <a:r>
              <a:rPr kumimoji="0" lang="en-US" altLang="zh-CN" sz="3600" b="1">
                <a:solidFill>
                  <a:srgbClr val="008000"/>
                </a:solidFill>
                <a:latin typeface="Symbol" pitchFamily="18" charset="2"/>
              </a:rPr>
              <a:t>a</a:t>
            </a:r>
            <a:r>
              <a:rPr kumimoji="0" lang="en-US" altLang="zh-CN" sz="3600" b="1">
                <a:solidFill>
                  <a:srgbClr val="000080"/>
                </a:solidFill>
              </a:rPr>
              <a:t>=0</a:t>
            </a:r>
          </a:p>
        </p:txBody>
      </p:sp>
      <p:sp>
        <p:nvSpPr>
          <p:cNvPr id="470022" name="Rectangle 6"/>
          <p:cNvSpPr>
            <a:spLocks noChangeArrowheads="1"/>
          </p:cNvSpPr>
          <p:nvPr/>
        </p:nvSpPr>
        <p:spPr bwMode="auto">
          <a:xfrm>
            <a:off x="3779838" y="1844675"/>
            <a:ext cx="2303462" cy="80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0" lang="en-US" altLang="zh-CN" sz="3600" b="1">
                <a:solidFill>
                  <a:srgbClr val="008000"/>
                </a:solidFill>
                <a:latin typeface="Symbol" pitchFamily="18" charset="2"/>
              </a:rPr>
              <a:t>a=</a:t>
            </a:r>
            <a:r>
              <a:rPr kumimoji="0" lang="en-US" altLang="zh-CN" sz="3600" b="1">
                <a:solidFill>
                  <a:srgbClr val="000080"/>
                </a:solidFill>
              </a:rPr>
              <a:t>4/3</a:t>
            </a:r>
          </a:p>
        </p:txBody>
      </p:sp>
      <p:sp>
        <p:nvSpPr>
          <p:cNvPr id="470023" name="Line 7"/>
          <p:cNvSpPr>
            <a:spLocks noChangeShapeType="1"/>
          </p:cNvSpPr>
          <p:nvPr/>
        </p:nvSpPr>
        <p:spPr bwMode="auto">
          <a:xfrm>
            <a:off x="5724525" y="4149725"/>
            <a:ext cx="11525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0024" name="Line 8"/>
          <p:cNvSpPr>
            <a:spLocks noChangeShapeType="1"/>
          </p:cNvSpPr>
          <p:nvPr/>
        </p:nvSpPr>
        <p:spPr bwMode="auto">
          <a:xfrm>
            <a:off x="5795963" y="4868863"/>
            <a:ext cx="11525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0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0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0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0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0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0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0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0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0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0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0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0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19" grpId="0"/>
      <p:bldP spid="470021" grpId="0"/>
      <p:bldP spid="470022" grpId="0"/>
      <p:bldP spid="470023" grpId="0" animBg="1"/>
      <p:bldP spid="4700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693863" y="684213"/>
            <a:ext cx="5108575" cy="641350"/>
          </a:xfrm>
          <a:noFill/>
        </p:spPr>
        <p:txBody>
          <a:bodyPr anchor="b">
            <a:spAutoFit/>
          </a:bodyPr>
          <a:lstStyle/>
          <a:p>
            <a:pPr eaLnBrk="1" hangingPunct="1"/>
            <a:r>
              <a:rPr lang="zh-CN" altLang="en-US" sz="4800"/>
              <a:t>龙贝格公式</a:t>
            </a: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533400" y="3414713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CC"/>
                </a:solidFill>
              </a:rPr>
              <a:t>同理可得</a:t>
            </a:r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3048000" y="3303588"/>
          <a:ext cx="2465388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6" name="Equation" r:id="rId3" imgW="1066337" imgH="406224" progId="Equation.3">
                  <p:embed/>
                </p:oleObj>
              </mc:Choice>
              <mc:Fallback>
                <p:oleObj name="Equation" r:id="rId3" imgW="1066337" imgH="4062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303588"/>
                        <a:ext cx="2465388" cy="930275"/>
                      </a:xfrm>
                      <a:prstGeom prst="rect">
                        <a:avLst/>
                      </a:prstGeom>
                      <a:noFill/>
                      <a:ln w="57150" cmpd="thinThick">
                        <a:solidFill>
                          <a:srgbClr val="CC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533400" y="2281238"/>
            <a:ext cx="1970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CC"/>
                </a:solidFill>
              </a:rPr>
              <a:t>一般地，有</a:t>
            </a:r>
          </a:p>
        </p:txBody>
      </p:sp>
      <p:graphicFrame>
        <p:nvGraphicFramePr>
          <p:cNvPr id="46086" name="Object 6"/>
          <p:cNvGraphicFramePr>
            <a:graphicFrameLocks noChangeAspect="1"/>
          </p:cNvGraphicFramePr>
          <p:nvPr/>
        </p:nvGraphicFramePr>
        <p:xfrm>
          <a:off x="3048000" y="2000250"/>
          <a:ext cx="24606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7" name="Equation" r:id="rId5" imgW="965200" imgH="393700" progId="Equation.3">
                  <p:embed/>
                </p:oleObj>
              </mc:Choice>
              <mc:Fallback>
                <p:oleObj name="Equation" r:id="rId5" imgW="9652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000250"/>
                        <a:ext cx="2460625" cy="993775"/>
                      </a:xfrm>
                      <a:prstGeom prst="rect">
                        <a:avLst/>
                      </a:prstGeom>
                      <a:noFill/>
                      <a:ln w="57150" cmpd="thinThick">
                        <a:solidFill>
                          <a:srgbClr val="CC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7"/>
          <p:cNvGraphicFramePr>
            <a:graphicFrameLocks noChangeAspect="1"/>
          </p:cNvGraphicFramePr>
          <p:nvPr/>
        </p:nvGraphicFramePr>
        <p:xfrm>
          <a:off x="3048000" y="4514850"/>
          <a:ext cx="2522538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8" name="Equation" r:id="rId7" imgW="1091726" imgH="406224" progId="Equation.3">
                  <p:embed/>
                </p:oleObj>
              </mc:Choice>
              <mc:Fallback>
                <p:oleObj name="Equation" r:id="rId7" imgW="1091726" imgH="40622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514850"/>
                        <a:ext cx="2522538" cy="930275"/>
                      </a:xfrm>
                      <a:prstGeom prst="rect">
                        <a:avLst/>
                      </a:prstGeom>
                      <a:noFill/>
                      <a:ln w="57150" cmpd="thinThick">
                        <a:solidFill>
                          <a:srgbClr val="CC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533400" y="4778375"/>
            <a:ext cx="1979613" cy="528638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990000"/>
                </a:solidFill>
                <a:ea typeface="黑体" pitchFamily="49" charset="-122"/>
              </a:rPr>
              <a:t>龙贝格公式</a:t>
            </a:r>
          </a:p>
        </p:txBody>
      </p:sp>
      <p:sp>
        <p:nvSpPr>
          <p:cNvPr id="46089" name="Line 9"/>
          <p:cNvSpPr>
            <a:spLocks noChangeShapeType="1"/>
          </p:cNvSpPr>
          <p:nvPr/>
        </p:nvSpPr>
        <p:spPr bwMode="auto">
          <a:xfrm flipH="1">
            <a:off x="2514600" y="4972050"/>
            <a:ext cx="503238" cy="1588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46090" name="Picture 10" descr="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225" y="2246313"/>
            <a:ext cx="155416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1" name="Picture 11" descr="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3455988"/>
            <a:ext cx="15652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2" name="Picture 12" descr="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4743450"/>
            <a:ext cx="16144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5157788"/>
            <a:ext cx="3124200" cy="101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107" name="Text Box 5"/>
          <p:cNvSpPr txBox="1">
            <a:spLocks noChangeArrowheads="1"/>
          </p:cNvSpPr>
          <p:nvPr/>
        </p:nvSpPr>
        <p:spPr bwMode="auto">
          <a:xfrm>
            <a:off x="323850" y="981075"/>
            <a:ext cx="8534400" cy="325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3200">
                <a:solidFill>
                  <a:srgbClr val="000000"/>
                </a:solidFill>
              </a:rPr>
              <a:t>The Romberg integration approach (presented in section 6.7) of using two approximations of different step size to construct a more accurate estimate may also be used for numerical solution of ordinary differential equations.</a:t>
            </a:r>
            <a:endParaRPr lang="en-US" altLang="zh-CN" sz="3200"/>
          </a:p>
        </p:txBody>
      </p:sp>
    </p:spTree>
  </p:cSld>
  <p:clrMapOvr>
    <a:masterClrMapping/>
  </p:clrMapOvr>
  <p:transition spd="med">
    <p:pull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179388" y="188913"/>
            <a:ext cx="8964612" cy="325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3200" b="1">
                <a:solidFill>
                  <a:srgbClr val="000000"/>
                </a:solidFill>
              </a:rPr>
              <a:t>Again, if we have the estimate for some time </a:t>
            </a:r>
            <a:r>
              <a:rPr lang="en-US" altLang="zh-CN" sz="3200" b="1" i="1">
                <a:solidFill>
                  <a:srgbClr val="000080"/>
                </a:solidFill>
              </a:rPr>
              <a:t>t </a:t>
            </a:r>
            <a:r>
              <a:rPr lang="en-US" altLang="zh-CN" sz="3200" b="1">
                <a:solidFill>
                  <a:srgbClr val="000000"/>
                </a:solidFill>
              </a:rPr>
              <a:t>calculated using a time step 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>
                <a:solidFill>
                  <a:srgbClr val="000000"/>
                </a:solidFill>
              </a:rPr>
              <a:t>, then for both the Euler and Backward Euler methods the approximate solution is related to the true solution by</a:t>
            </a:r>
          </a:p>
        </p:txBody>
      </p:sp>
      <p:sp>
        <p:nvSpPr>
          <p:cNvPr id="210947" name="Text Box 3"/>
          <p:cNvSpPr txBox="1">
            <a:spLocks noChangeArrowheads="1"/>
          </p:cNvSpPr>
          <p:nvPr/>
        </p:nvSpPr>
        <p:spPr bwMode="auto">
          <a:xfrm>
            <a:off x="1979613" y="2852738"/>
            <a:ext cx="4198937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>
                <a:solidFill>
                  <a:srgbClr val="000080"/>
                </a:solidFill>
              </a:rPr>
              <a:t>,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>
                <a:solidFill>
                  <a:srgbClr val="000080"/>
                </a:solidFill>
              </a:rPr>
              <a:t>) 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>
                <a:solidFill>
                  <a:srgbClr val="000080"/>
                </a:solidFill>
              </a:rPr>
              <a:t>) + </a:t>
            </a:r>
            <a:r>
              <a:rPr lang="en-US" altLang="zh-CN" sz="3200" b="1" i="1">
                <a:solidFill>
                  <a:srgbClr val="000080"/>
                </a:solidFill>
              </a:rPr>
              <a:t>c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baseline="30000">
                <a:solidFill>
                  <a:srgbClr val="800080"/>
                </a:solidFill>
              </a:rPr>
              <a:t>2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10948" name="Text Box 4"/>
          <p:cNvSpPr txBox="1">
            <a:spLocks noChangeArrowheads="1"/>
          </p:cNvSpPr>
          <p:nvPr/>
        </p:nvSpPr>
        <p:spPr bwMode="auto">
          <a:xfrm>
            <a:off x="152400" y="3746500"/>
            <a:ext cx="8763000" cy="262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3200" b="1">
                <a:solidFill>
                  <a:srgbClr val="000000"/>
                </a:solidFill>
              </a:rPr>
              <a:t>Similarly an estimate using a step size 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>
                <a:solidFill>
                  <a:srgbClr val="000080"/>
                </a:solidFill>
              </a:rPr>
              <a:t>/2 </a:t>
            </a:r>
            <a:r>
              <a:rPr lang="en-US" altLang="zh-CN" sz="3200" b="1">
                <a:solidFill>
                  <a:srgbClr val="000000"/>
                </a:solidFill>
              </a:rPr>
              <a:t>will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3200" b="1">
                <a:solidFill>
                  <a:srgbClr val="000000"/>
                </a:solidFill>
              </a:rPr>
              <a:t>follow  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>
                <a:solidFill>
                  <a:srgbClr val="000080"/>
                </a:solidFill>
              </a:rPr>
              <a:t>,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>
                <a:solidFill>
                  <a:srgbClr val="000080"/>
                </a:solidFill>
              </a:rPr>
              <a:t>/2) 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>
                <a:solidFill>
                  <a:srgbClr val="000080"/>
                </a:solidFill>
              </a:rPr>
              <a:t>) + </a:t>
            </a:r>
            <a:r>
              <a:rPr lang="en-US" altLang="zh-CN" sz="3200" b="1">
                <a:solidFill>
                  <a:srgbClr val="800080"/>
                </a:solidFill>
              </a:rPr>
              <a:t>1</a:t>
            </a:r>
            <a:r>
              <a:rPr lang="en-US" altLang="zh-CN" sz="3200" b="1">
                <a:solidFill>
                  <a:srgbClr val="000080"/>
                </a:solidFill>
              </a:rPr>
              <a:t>/</a:t>
            </a:r>
            <a:r>
              <a:rPr lang="en-US" altLang="zh-CN" sz="3200" b="1">
                <a:solidFill>
                  <a:srgbClr val="008080"/>
                </a:solidFill>
              </a:rPr>
              <a:t>4</a:t>
            </a:r>
            <a:r>
              <a:rPr lang="en-US" altLang="zh-CN" sz="3200" b="1" i="1">
                <a:solidFill>
                  <a:srgbClr val="000080"/>
                </a:solidFill>
              </a:rPr>
              <a:t>c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baseline="30000">
                <a:solidFill>
                  <a:srgbClr val="800080"/>
                </a:solidFill>
              </a:rPr>
              <a:t>2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>
                <a:solidFill>
                  <a:srgbClr val="000000"/>
                </a:solidFill>
              </a:rPr>
              <a:t>as 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>
                <a:solidFill>
                  <a:srgbClr val="000080"/>
                </a:solidFill>
                <a:latin typeface="Symbol" pitchFamily="18" charset="2"/>
              </a:rPr>
              <a:t>®</a:t>
            </a:r>
            <a:r>
              <a:rPr lang="en-US" altLang="zh-CN" sz="3200" b="1">
                <a:solidFill>
                  <a:srgbClr val="000080"/>
                </a:solidFill>
              </a:rPr>
              <a:t>0</a:t>
            </a:r>
            <a:r>
              <a:rPr lang="en-US" altLang="zh-CN" sz="3200" b="1">
                <a:solidFill>
                  <a:srgbClr val="000000"/>
                </a:solidFill>
              </a:rPr>
              <a:t>. Combining these two estimates to try and cancel the </a:t>
            </a:r>
            <a:r>
              <a:rPr lang="en-US" altLang="zh-CN" sz="3200" b="1" i="1">
                <a:solidFill>
                  <a:srgbClr val="000080"/>
                </a:solidFill>
              </a:rPr>
              <a:t>O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baseline="30000">
                <a:solidFill>
                  <a:srgbClr val="800080"/>
                </a:solidFill>
              </a:rPr>
              <a:t>2</a:t>
            </a:r>
            <a:r>
              <a:rPr lang="en-US" altLang="zh-CN" sz="3200" b="1">
                <a:solidFill>
                  <a:srgbClr val="000080"/>
                </a:solidFill>
              </a:rPr>
              <a:t>) </a:t>
            </a:r>
            <a:r>
              <a:rPr lang="en-US" altLang="zh-CN" sz="3200" b="1">
                <a:solidFill>
                  <a:srgbClr val="000000"/>
                </a:solidFill>
              </a:rPr>
              <a:t>errors gives the improved estimate as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 autoUpdateAnimBg="0"/>
      <p:bldP spid="210948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0600"/>
            <a:ext cx="6934200" cy="74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1971" name="Text Box 3"/>
          <p:cNvSpPr txBox="1">
            <a:spLocks noChangeArrowheads="1"/>
          </p:cNvSpPr>
          <p:nvPr/>
        </p:nvSpPr>
        <p:spPr bwMode="auto">
          <a:xfrm>
            <a:off x="611188" y="2565400"/>
            <a:ext cx="7940675" cy="199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3200" b="1"/>
              <a:t>The same approach may be applied to higher order methods such as those presented in the following sections.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1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ChangeArrowheads="1"/>
          </p:cNvSpPr>
          <p:nvPr/>
        </p:nvSpPr>
        <p:spPr bwMode="auto">
          <a:xfrm>
            <a:off x="323850" y="333375"/>
            <a:ext cx="57912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 i="1" dirty="0"/>
              <a:t>7.4.3 Crank-Nicholson</a:t>
            </a:r>
          </a:p>
        </p:txBody>
      </p:sp>
      <p:pic>
        <p:nvPicPr>
          <p:cNvPr id="206851" name="Picture 10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149080"/>
            <a:ext cx="34290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852" name="Picture 10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220518"/>
            <a:ext cx="3313113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6853" name="Rectangle 1029"/>
          <p:cNvSpPr>
            <a:spLocks noChangeArrowheads="1"/>
          </p:cNvSpPr>
          <p:nvPr/>
        </p:nvSpPr>
        <p:spPr bwMode="auto">
          <a:xfrm>
            <a:off x="228600" y="1219200"/>
            <a:ext cx="3048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/>
              <a:t>Euler method</a:t>
            </a:r>
          </a:p>
        </p:txBody>
      </p:sp>
      <p:sp>
        <p:nvSpPr>
          <p:cNvPr id="206854" name="Rectangle 1030"/>
          <p:cNvSpPr>
            <a:spLocks noChangeArrowheads="1"/>
          </p:cNvSpPr>
          <p:nvPr/>
        </p:nvSpPr>
        <p:spPr bwMode="auto">
          <a:xfrm>
            <a:off x="323850" y="2276872"/>
            <a:ext cx="3048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dirty="0"/>
              <a:t>backward Euler</a:t>
            </a:r>
            <a:endParaRPr lang="en-US" altLang="zh-CN" sz="3200" i="1" dirty="0"/>
          </a:p>
        </p:txBody>
      </p:sp>
      <p:pic>
        <p:nvPicPr>
          <p:cNvPr id="206861" name="Picture 103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1341438"/>
            <a:ext cx="4343400" cy="77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6863" name="Text Box 1039"/>
          <p:cNvSpPr txBox="1">
            <a:spLocks noChangeArrowheads="1"/>
          </p:cNvSpPr>
          <p:nvPr/>
        </p:nvSpPr>
        <p:spPr bwMode="auto">
          <a:xfrm>
            <a:off x="395288" y="2924944"/>
            <a:ext cx="8382000" cy="135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3200" dirty="0">
                <a:solidFill>
                  <a:srgbClr val="000000"/>
                </a:solidFill>
              </a:rPr>
              <a:t> the Euler method and the Backward Euler method have errors of </a:t>
            </a:r>
            <a:r>
              <a:rPr lang="en-US" altLang="zh-CN" sz="3200" i="1" dirty="0">
                <a:solidFill>
                  <a:srgbClr val="000080"/>
                </a:solidFill>
              </a:rPr>
              <a:t>O</a:t>
            </a:r>
            <a:r>
              <a:rPr lang="en-US" altLang="zh-CN" sz="3200" dirty="0">
                <a:solidFill>
                  <a:srgbClr val="000080"/>
                </a:solidFill>
              </a:rPr>
              <a:t>(</a:t>
            </a:r>
            <a:r>
              <a:rPr lang="en-US" altLang="zh-CN" sz="3200" dirty="0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i="1" dirty="0">
                <a:solidFill>
                  <a:srgbClr val="000080"/>
                </a:solidFill>
              </a:rPr>
              <a:t>t</a:t>
            </a:r>
            <a:r>
              <a:rPr lang="en-US" altLang="zh-CN" sz="3200" baseline="30000" dirty="0">
                <a:solidFill>
                  <a:srgbClr val="800080"/>
                </a:solidFill>
              </a:rPr>
              <a:t>2</a:t>
            </a:r>
            <a:r>
              <a:rPr lang="en-US" altLang="zh-CN" sz="3200" dirty="0">
                <a:solidFill>
                  <a:srgbClr val="000080"/>
                </a:solidFill>
              </a:rPr>
              <a:t>)</a:t>
            </a:r>
            <a:endParaRPr lang="en-US" altLang="zh-CN" sz="3200" dirty="0">
              <a:solidFill>
                <a:srgbClr val="000000"/>
              </a:solidFill>
            </a:endParaRPr>
          </a:p>
        </p:txBody>
      </p:sp>
      <p:graphicFrame>
        <p:nvGraphicFramePr>
          <p:cNvPr id="206864" name="Object 10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237117"/>
              </p:ext>
            </p:extLst>
          </p:nvPr>
        </p:nvGraphicFramePr>
        <p:xfrm>
          <a:off x="611188" y="4833293"/>
          <a:ext cx="3619500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1" name="Equation" r:id="rId6" imgW="1320227" imgH="393529" progId="Equation.3">
                  <p:embed/>
                </p:oleObj>
              </mc:Choice>
              <mc:Fallback>
                <p:oleObj name="Equation" r:id="rId6" imgW="1320227" imgH="393529" progId="Equation.3">
                  <p:embed/>
                  <p:pic>
                    <p:nvPicPr>
                      <p:cNvPr id="0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833293"/>
                        <a:ext cx="3619500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65" name="Object 10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337539"/>
              </p:ext>
            </p:extLst>
          </p:nvPr>
        </p:nvGraphicFramePr>
        <p:xfrm>
          <a:off x="4748213" y="4842818"/>
          <a:ext cx="335280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2" name="公式" r:id="rId8" imgW="1320227" imgH="393529" progId="Equation.3">
                  <p:embed/>
                </p:oleObj>
              </mc:Choice>
              <mc:Fallback>
                <p:oleObj name="公式" r:id="rId8" imgW="1320227" imgH="393529" progId="Equation.3">
                  <p:embed/>
                  <p:pic>
                    <p:nvPicPr>
                      <p:cNvPr id="0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8213" y="4842818"/>
                        <a:ext cx="3352800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6866" name="Picture 104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2349897"/>
            <a:ext cx="4887913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188" name="Picture 104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260350"/>
            <a:ext cx="3124200" cy="101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5877272"/>
            <a:ext cx="7850187" cy="87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6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6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6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6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6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6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6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6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6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6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3" grpId="0" autoUpdateAnimBg="0"/>
      <p:bldP spid="206854" grpId="0" autoUpdateAnimBg="0"/>
      <p:bldP spid="206863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3573" name="Object 5"/>
          <p:cNvGraphicFramePr>
            <a:graphicFrameLocks noChangeAspect="1"/>
          </p:cNvGraphicFramePr>
          <p:nvPr/>
        </p:nvGraphicFramePr>
        <p:xfrm>
          <a:off x="106363" y="1557338"/>
          <a:ext cx="90741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2" name="公式" r:id="rId3" imgW="4559300" imgH="419100" progId="Equation.3">
                  <p:embed/>
                </p:oleObj>
              </mc:Choice>
              <mc:Fallback>
                <p:oleObj name="公式" r:id="rId3" imgW="45593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3" y="1557338"/>
                        <a:ext cx="907415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3" name="Object 6"/>
          <p:cNvGraphicFramePr>
            <a:graphicFrameLocks noChangeAspect="1"/>
          </p:cNvGraphicFramePr>
          <p:nvPr/>
        </p:nvGraphicFramePr>
        <p:xfrm>
          <a:off x="179388" y="188913"/>
          <a:ext cx="7696200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3" name="Equation" r:id="rId5" imgW="3213100" imgH="419100" progId="Equation.3">
                  <p:embed/>
                </p:oleObj>
              </mc:Choice>
              <mc:Fallback>
                <p:oleObj name="Equation" r:id="rId5" imgW="32131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88913"/>
                        <a:ext cx="7696200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0" name="Object 12"/>
          <p:cNvGraphicFramePr>
            <a:graphicFrameLocks noChangeAspect="1"/>
          </p:cNvGraphicFramePr>
          <p:nvPr/>
        </p:nvGraphicFramePr>
        <p:xfrm>
          <a:off x="342900" y="2476500"/>
          <a:ext cx="8456613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4" name="公式" r:id="rId7" imgW="5003800" imgH="660400" progId="Equation.3">
                  <p:embed/>
                </p:oleObj>
              </mc:Choice>
              <mc:Fallback>
                <p:oleObj name="公式" r:id="rId7" imgW="5003800" imgH="660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" y="2476500"/>
                        <a:ext cx="8456613" cy="127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1" name="Object 13"/>
          <p:cNvGraphicFramePr>
            <a:graphicFrameLocks noChangeAspect="1"/>
          </p:cNvGraphicFramePr>
          <p:nvPr/>
        </p:nvGraphicFramePr>
        <p:xfrm>
          <a:off x="179388" y="4076700"/>
          <a:ext cx="9177337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5" name="公式" r:id="rId9" imgW="5003800" imgH="660400" progId="Equation.3">
                  <p:embed/>
                </p:oleObj>
              </mc:Choice>
              <mc:Fallback>
                <p:oleObj name="公式" r:id="rId9" imgW="5003800" imgH="660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076700"/>
                        <a:ext cx="9177337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2" name="Object 14"/>
          <p:cNvGraphicFramePr>
            <a:graphicFrameLocks noChangeAspect="1"/>
          </p:cNvGraphicFramePr>
          <p:nvPr/>
        </p:nvGraphicFramePr>
        <p:xfrm>
          <a:off x="3059113" y="5661025"/>
          <a:ext cx="360045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6" name="公式" r:id="rId11" imgW="1181100" imgH="228600" progId="Equation.3">
                  <p:embed/>
                </p:oleObj>
              </mc:Choice>
              <mc:Fallback>
                <p:oleObj name="公式" r:id="rId11" imgW="11811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661025"/>
                        <a:ext cx="360045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3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3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6" name="Object 4"/>
          <p:cNvGraphicFramePr>
            <a:graphicFrameLocks noChangeAspect="1"/>
          </p:cNvGraphicFramePr>
          <p:nvPr/>
        </p:nvGraphicFramePr>
        <p:xfrm>
          <a:off x="2411413" y="260350"/>
          <a:ext cx="37449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8" name="公式" r:id="rId3" imgW="1181100" imgH="228600" progId="Equation.3">
                  <p:embed/>
                </p:oleObj>
              </mc:Choice>
              <mc:Fallback>
                <p:oleObj name="公式" r:id="rId3" imgW="11811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60350"/>
                        <a:ext cx="37449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599" name="Object 7"/>
          <p:cNvGraphicFramePr>
            <a:graphicFrameLocks noChangeAspect="1"/>
          </p:cNvGraphicFramePr>
          <p:nvPr/>
        </p:nvGraphicFramePr>
        <p:xfrm>
          <a:off x="0" y="1989138"/>
          <a:ext cx="3216275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9" name="公式" r:id="rId5" imgW="850531" imgH="660113" progId="Equation.3">
                  <p:embed/>
                </p:oleObj>
              </mc:Choice>
              <mc:Fallback>
                <p:oleObj name="公式" r:id="rId5" imgW="850531" imgH="66011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989138"/>
                        <a:ext cx="3216275" cy="230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4600" name="Group 8"/>
          <p:cNvGrpSpPr>
            <a:grpSpLocks/>
          </p:cNvGrpSpPr>
          <p:nvPr/>
        </p:nvGrpSpPr>
        <p:grpSpPr bwMode="auto">
          <a:xfrm>
            <a:off x="971550" y="4940300"/>
            <a:ext cx="7345363" cy="1079500"/>
            <a:chOff x="2112" y="2160"/>
            <a:chExt cx="1896" cy="210"/>
          </a:xfrm>
        </p:grpSpPr>
        <p:pic>
          <p:nvPicPr>
            <p:cNvPr id="52232" name="Picture 9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2" y="2160"/>
              <a:ext cx="654" cy="1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233" name="Picture 10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" y="2160"/>
              <a:ext cx="122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494603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5942013"/>
            <a:ext cx="7850187" cy="87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94604" name="Object 12"/>
          <p:cNvGraphicFramePr>
            <a:graphicFrameLocks noChangeAspect="1"/>
          </p:cNvGraphicFramePr>
          <p:nvPr/>
        </p:nvGraphicFramePr>
        <p:xfrm>
          <a:off x="3924300" y="3500438"/>
          <a:ext cx="36639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0" name="公式" r:id="rId10" imgW="1155700" imgH="228600" progId="Equation.3">
                  <p:embed/>
                </p:oleObj>
              </mc:Choice>
              <mc:Fallback>
                <p:oleObj name="公式" r:id="rId10" imgW="11557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500438"/>
                        <a:ext cx="36639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4"/>
          <p:cNvGraphicFramePr>
            <a:graphicFrameLocks noChangeAspect="1"/>
          </p:cNvGraphicFramePr>
          <p:nvPr/>
        </p:nvGraphicFramePr>
        <p:xfrm>
          <a:off x="3489325" y="1412875"/>
          <a:ext cx="36242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1" name="公式" r:id="rId12" imgW="1143000" imgH="228600" progId="Equation.3">
                  <p:embed/>
                </p:oleObj>
              </mc:Choice>
              <mc:Fallback>
                <p:oleObj name="公式" r:id="rId12" imgW="1143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325" y="1412875"/>
                        <a:ext cx="36242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412776"/>
            <a:ext cx="7850187" cy="87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251" name="Text Box 9"/>
          <p:cNvSpPr txBox="1">
            <a:spLocks noChangeArrowheads="1"/>
          </p:cNvSpPr>
          <p:nvPr/>
        </p:nvSpPr>
        <p:spPr bwMode="auto">
          <a:xfrm>
            <a:off x="130175" y="2997200"/>
            <a:ext cx="87630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>
                <a:solidFill>
                  <a:srgbClr val="000000"/>
                </a:solidFill>
              </a:rPr>
              <a:t>As with the Backward Euler, the method is </a:t>
            </a:r>
            <a:r>
              <a:rPr lang="en-US" altLang="zh-CN" sz="3200" b="1">
                <a:solidFill>
                  <a:srgbClr val="0000CC"/>
                </a:solidFill>
              </a:rPr>
              <a:t>implicit</a:t>
            </a:r>
            <a:r>
              <a:rPr lang="en-US" altLang="zh-CN" sz="3200" b="1">
                <a:solidFill>
                  <a:srgbClr val="000000"/>
                </a:solidFill>
              </a:rPr>
              <a:t> and it is not, in general, possible to write an explicit expression for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n+</a:t>
            </a:r>
            <a:r>
              <a:rPr lang="en-US" altLang="zh-CN" sz="3200" b="1" baseline="-25000">
                <a:solidFill>
                  <a:srgbClr val="008080"/>
                </a:solidFill>
              </a:rPr>
              <a:t>1</a:t>
            </a:r>
            <a:r>
              <a:rPr lang="en-US" altLang="zh-CN" sz="3200" b="1">
                <a:solidFill>
                  <a:srgbClr val="008080"/>
                </a:solidFill>
              </a:rPr>
              <a:t> </a:t>
            </a:r>
            <a:r>
              <a:rPr lang="en-US" altLang="zh-CN" sz="3200" b="1">
                <a:solidFill>
                  <a:srgbClr val="000000"/>
                </a:solidFill>
              </a:rPr>
              <a:t>in terms of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  <a:endParaRPr lang="en-US" altLang="zh-CN" sz="3200" b="1"/>
          </a:p>
        </p:txBody>
      </p:sp>
      <p:sp>
        <p:nvSpPr>
          <p:cNvPr id="213003" name="Text Box 11"/>
          <p:cNvSpPr txBox="1">
            <a:spLocks noChangeArrowheads="1"/>
          </p:cNvSpPr>
          <p:nvPr/>
        </p:nvSpPr>
        <p:spPr bwMode="auto">
          <a:xfrm>
            <a:off x="395288" y="5445125"/>
            <a:ext cx="7924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Proof that the Crank-Nicholson method is </a:t>
            </a:r>
            <a:r>
              <a:rPr lang="en-US" altLang="zh-CN" sz="3200" b="1">
                <a:solidFill>
                  <a:srgbClr val="0000CC"/>
                </a:solidFill>
              </a:rPr>
              <a:t>second order</a:t>
            </a:r>
            <a:r>
              <a:rPr lang="en-US" altLang="zh-CN" sz="3200" b="1"/>
              <a:t> accurate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3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3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003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019" name="Picture 10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75" y="1412875"/>
            <a:ext cx="7272338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4020" name="Picture 10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852738"/>
            <a:ext cx="8424863" cy="149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276" name="Picture 10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33375"/>
            <a:ext cx="80645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4027" name="Group 1035"/>
          <p:cNvGrpSpPr>
            <a:grpSpLocks/>
          </p:cNvGrpSpPr>
          <p:nvPr/>
        </p:nvGrpSpPr>
        <p:grpSpPr bwMode="auto">
          <a:xfrm>
            <a:off x="0" y="4508500"/>
            <a:ext cx="9144000" cy="1646238"/>
            <a:chOff x="0" y="2840"/>
            <a:chExt cx="5760" cy="1037"/>
          </a:xfrm>
        </p:grpSpPr>
        <p:pic>
          <p:nvPicPr>
            <p:cNvPr id="54278" name="Picture 103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86"/>
              <a:ext cx="5760" cy="9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4279" name="Text Box 1034"/>
            <p:cNvSpPr txBox="1">
              <a:spLocks noChangeArrowheads="1"/>
            </p:cNvSpPr>
            <p:nvPr/>
          </p:nvSpPr>
          <p:spPr bwMode="auto">
            <a:xfrm>
              <a:off x="204" y="2840"/>
              <a:ext cx="50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200" b="1">
                  <a:latin typeface="黑体" pitchFamily="49" charset="-122"/>
                  <a:ea typeface="黑体" pitchFamily="49" charset="-122"/>
                </a:rPr>
                <a:t>左</a:t>
              </a:r>
              <a:r>
                <a:rPr lang="en-US" altLang="zh-CN" sz="3200" b="1">
                  <a:latin typeface="黑体" pitchFamily="49" charset="-122"/>
                  <a:ea typeface="黑体" pitchFamily="49" charset="-122"/>
                </a:rPr>
                <a:t>=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412875"/>
            <a:ext cx="8893175" cy="118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4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565400"/>
            <a:ext cx="5184775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4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644900"/>
            <a:ext cx="4248150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1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88925"/>
            <a:ext cx="8820150" cy="97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49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4724400"/>
            <a:ext cx="8686800" cy="184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5050" name="Text Box 10"/>
          <p:cNvSpPr txBox="1">
            <a:spLocks noChangeArrowheads="1"/>
          </p:cNvSpPr>
          <p:nvPr/>
        </p:nvSpPr>
        <p:spPr bwMode="auto">
          <a:xfrm>
            <a:off x="7026275" y="5772150"/>
            <a:ext cx="10017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黑体" pitchFamily="49" charset="-122"/>
                <a:ea typeface="黑体" pitchFamily="49" charset="-122"/>
              </a:rPr>
              <a:t>=</a:t>
            </a:r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右 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916363"/>
            <a:ext cx="8915400" cy="188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632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1000"/>
            <a:ext cx="6705600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57029" name="Group 5"/>
          <p:cNvGrpSpPr>
            <a:grpSpLocks/>
          </p:cNvGrpSpPr>
          <p:nvPr/>
        </p:nvGrpSpPr>
        <p:grpSpPr bwMode="auto">
          <a:xfrm>
            <a:off x="0" y="1484313"/>
            <a:ext cx="9144000" cy="1646237"/>
            <a:chOff x="0" y="2840"/>
            <a:chExt cx="5760" cy="1037"/>
          </a:xfrm>
        </p:grpSpPr>
        <p:pic>
          <p:nvPicPr>
            <p:cNvPr id="56328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86"/>
              <a:ext cx="5760" cy="9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6329" name="Text Box 7"/>
            <p:cNvSpPr txBox="1">
              <a:spLocks noChangeArrowheads="1"/>
            </p:cNvSpPr>
            <p:nvPr/>
          </p:nvSpPr>
          <p:spPr bwMode="auto">
            <a:xfrm>
              <a:off x="204" y="2840"/>
              <a:ext cx="50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200" b="1">
                  <a:latin typeface="黑体" pitchFamily="49" charset="-122"/>
                  <a:ea typeface="黑体" pitchFamily="49" charset="-122"/>
                </a:rPr>
                <a:t>左</a:t>
              </a:r>
              <a:r>
                <a:rPr lang="en-US" altLang="zh-CN" sz="3200" b="1">
                  <a:latin typeface="黑体" pitchFamily="49" charset="-122"/>
                  <a:ea typeface="黑体" pitchFamily="49" charset="-122"/>
                </a:rPr>
                <a:t>=</a:t>
              </a:r>
            </a:p>
          </p:txBody>
        </p:sp>
      </p:grpSp>
      <p:sp>
        <p:nvSpPr>
          <p:cNvPr id="257032" name="Text Box 8"/>
          <p:cNvSpPr txBox="1">
            <a:spLocks noChangeArrowheads="1"/>
          </p:cNvSpPr>
          <p:nvPr/>
        </p:nvSpPr>
        <p:spPr bwMode="auto">
          <a:xfrm>
            <a:off x="755650" y="3209925"/>
            <a:ext cx="10017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右</a:t>
            </a:r>
            <a:r>
              <a:rPr lang="en-US" altLang="zh-CN" sz="3200" b="1">
                <a:latin typeface="黑体" pitchFamily="49" charset="-122"/>
                <a:ea typeface="黑体" pitchFamily="49" charset="-122"/>
              </a:rPr>
              <a:t>= </a:t>
            </a:r>
          </a:p>
        </p:txBody>
      </p:sp>
      <p:sp>
        <p:nvSpPr>
          <p:cNvPr id="257033" name="Rectangle 9"/>
          <p:cNvSpPr>
            <a:spLocks noChangeArrowheads="1"/>
          </p:cNvSpPr>
          <p:nvPr/>
        </p:nvSpPr>
        <p:spPr bwMode="auto">
          <a:xfrm>
            <a:off x="2220913" y="1773238"/>
            <a:ext cx="6875462" cy="132238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7034" name="Rectangle 10"/>
          <p:cNvSpPr>
            <a:spLocks noChangeArrowheads="1"/>
          </p:cNvSpPr>
          <p:nvPr/>
        </p:nvSpPr>
        <p:spPr bwMode="auto">
          <a:xfrm>
            <a:off x="1692275" y="4797425"/>
            <a:ext cx="6335713" cy="132238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7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7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7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7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7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7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32" grpId="0"/>
      <p:bldP spid="257033" grpId="0" animBg="1"/>
      <p:bldP spid="25703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6" name="Group 2"/>
          <p:cNvGrpSpPr>
            <a:grpSpLocks/>
          </p:cNvGrpSpPr>
          <p:nvPr/>
        </p:nvGrpSpPr>
        <p:grpSpPr bwMode="auto">
          <a:xfrm>
            <a:off x="900113" y="569913"/>
            <a:ext cx="7272337" cy="6172200"/>
            <a:chOff x="567" y="177"/>
            <a:chExt cx="4309" cy="3893"/>
          </a:xfrm>
        </p:grpSpPr>
        <p:pic>
          <p:nvPicPr>
            <p:cNvPr id="5735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177"/>
              <a:ext cx="4309" cy="38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7358" name="Line 4"/>
            <p:cNvSpPr>
              <a:spLocks noChangeShapeType="1"/>
            </p:cNvSpPr>
            <p:nvPr/>
          </p:nvSpPr>
          <p:spPr bwMode="auto">
            <a:xfrm>
              <a:off x="930" y="1434"/>
              <a:ext cx="635" cy="158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9" name="Line 5"/>
            <p:cNvSpPr>
              <a:spLocks noChangeShapeType="1"/>
            </p:cNvSpPr>
            <p:nvPr/>
          </p:nvSpPr>
          <p:spPr bwMode="auto">
            <a:xfrm>
              <a:off x="1564" y="3067"/>
              <a:ext cx="862" cy="681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0" name="Line 6"/>
            <p:cNvSpPr>
              <a:spLocks noChangeShapeType="1"/>
            </p:cNvSpPr>
            <p:nvPr/>
          </p:nvSpPr>
          <p:spPr bwMode="auto">
            <a:xfrm>
              <a:off x="2426" y="3793"/>
              <a:ext cx="907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1" name="Line 7"/>
            <p:cNvSpPr>
              <a:spLocks noChangeShapeType="1"/>
            </p:cNvSpPr>
            <p:nvPr/>
          </p:nvSpPr>
          <p:spPr bwMode="auto">
            <a:xfrm>
              <a:off x="3243" y="3793"/>
              <a:ext cx="907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347" name="Group 8"/>
          <p:cNvGrpSpPr>
            <a:grpSpLocks/>
          </p:cNvGrpSpPr>
          <p:nvPr/>
        </p:nvGrpSpPr>
        <p:grpSpPr bwMode="auto">
          <a:xfrm>
            <a:off x="1476375" y="2420938"/>
            <a:ext cx="5484813" cy="1211262"/>
            <a:chOff x="922" y="1306"/>
            <a:chExt cx="3455" cy="763"/>
          </a:xfrm>
        </p:grpSpPr>
        <p:sp>
          <p:nvSpPr>
            <p:cNvPr id="57353" name="Line 9"/>
            <p:cNvSpPr>
              <a:spLocks noChangeShapeType="1"/>
            </p:cNvSpPr>
            <p:nvPr/>
          </p:nvSpPr>
          <p:spPr bwMode="auto">
            <a:xfrm>
              <a:off x="922" y="1306"/>
              <a:ext cx="680" cy="589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4" name="Line 10"/>
            <p:cNvSpPr>
              <a:spLocks noChangeShapeType="1"/>
            </p:cNvSpPr>
            <p:nvPr/>
          </p:nvSpPr>
          <p:spPr bwMode="auto">
            <a:xfrm>
              <a:off x="1655" y="1933"/>
              <a:ext cx="907" cy="91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5" name="Line 11"/>
            <p:cNvSpPr>
              <a:spLocks noChangeShapeType="1"/>
            </p:cNvSpPr>
            <p:nvPr/>
          </p:nvSpPr>
          <p:spPr bwMode="auto">
            <a:xfrm>
              <a:off x="2562" y="2024"/>
              <a:ext cx="908" cy="45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6" name="Line 12"/>
            <p:cNvSpPr>
              <a:spLocks noChangeShapeType="1"/>
            </p:cNvSpPr>
            <p:nvPr/>
          </p:nvSpPr>
          <p:spPr bwMode="auto">
            <a:xfrm>
              <a:off x="3470" y="2048"/>
              <a:ext cx="907" cy="0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57348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60350"/>
            <a:ext cx="6705600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349" name="Line 14"/>
          <p:cNvSpPr>
            <a:spLocks noChangeShapeType="1"/>
          </p:cNvSpPr>
          <p:nvPr/>
        </p:nvSpPr>
        <p:spPr bwMode="auto">
          <a:xfrm>
            <a:off x="1547813" y="2492375"/>
            <a:ext cx="1008062" cy="1368425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0" name="Line 15"/>
          <p:cNvSpPr>
            <a:spLocks noChangeShapeType="1"/>
          </p:cNvSpPr>
          <p:nvPr/>
        </p:nvSpPr>
        <p:spPr bwMode="auto">
          <a:xfrm>
            <a:off x="2555875" y="3873500"/>
            <a:ext cx="1511300" cy="4318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1" name="Line 16"/>
          <p:cNvSpPr>
            <a:spLocks noChangeShapeType="1"/>
          </p:cNvSpPr>
          <p:nvPr/>
        </p:nvSpPr>
        <p:spPr bwMode="auto">
          <a:xfrm>
            <a:off x="4067175" y="4306888"/>
            <a:ext cx="1441450" cy="71437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2" name="Line 17"/>
          <p:cNvSpPr>
            <a:spLocks noChangeShapeType="1"/>
          </p:cNvSpPr>
          <p:nvPr/>
        </p:nvSpPr>
        <p:spPr bwMode="auto">
          <a:xfrm>
            <a:off x="5507038" y="4365625"/>
            <a:ext cx="14414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pull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539750" y="88900"/>
            <a:ext cx="7993063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/>
              <a:t>7.5 Truncation error and Stability</a:t>
            </a:r>
          </a:p>
        </p:txBody>
      </p:sp>
      <p:sp>
        <p:nvSpPr>
          <p:cNvPr id="489475" name="Rectangle 3"/>
          <p:cNvSpPr>
            <a:spLocks noChangeArrowheads="1"/>
          </p:cNvSpPr>
          <p:nvPr/>
        </p:nvSpPr>
        <p:spPr bwMode="auto">
          <a:xfrm>
            <a:off x="228600" y="2201863"/>
            <a:ext cx="85344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>
                <a:solidFill>
                  <a:srgbClr val="000000"/>
                </a:solidFill>
              </a:rPr>
              <a:t>The </a:t>
            </a:r>
            <a:r>
              <a:rPr lang="en-US" altLang="zh-CN" sz="3200" b="1" i="1">
                <a:solidFill>
                  <a:srgbClr val="3333FF"/>
                </a:solidFill>
              </a:rPr>
              <a:t>global truncation error</a:t>
            </a:r>
            <a:r>
              <a:rPr lang="en-US" altLang="zh-CN" sz="3200" b="1" i="1">
                <a:solidFill>
                  <a:srgbClr val="000000"/>
                </a:solidFill>
              </a:rPr>
              <a:t> </a:t>
            </a:r>
            <a:r>
              <a:rPr lang="en-US" altLang="zh-CN" sz="3200" b="1">
                <a:solidFill>
                  <a:srgbClr val="000000"/>
                </a:solidFill>
              </a:rPr>
              <a:t>at the </a:t>
            </a:r>
            <a:r>
              <a:rPr lang="en-US" altLang="zh-CN" sz="3200" b="1" i="1">
                <a:solidFill>
                  <a:srgbClr val="000080"/>
                </a:solidFill>
              </a:rPr>
              <a:t>n</a:t>
            </a:r>
            <a:r>
              <a:rPr lang="en-US" altLang="zh-CN" sz="3200" b="1">
                <a:solidFill>
                  <a:srgbClr val="000000"/>
                </a:solidFill>
              </a:rPr>
              <a:t>th step is the cumulative total of the truncation error at the previous steps and is</a:t>
            </a:r>
          </a:p>
        </p:txBody>
      </p:sp>
      <p:sp>
        <p:nvSpPr>
          <p:cNvPr id="489476" name="Text Box 4"/>
          <p:cNvSpPr txBox="1">
            <a:spLocks noChangeArrowheads="1"/>
          </p:cNvSpPr>
          <p:nvPr/>
        </p:nvSpPr>
        <p:spPr bwMode="auto">
          <a:xfrm>
            <a:off x="179388" y="4216400"/>
            <a:ext cx="8512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00"/>
                </a:solidFill>
              </a:rPr>
              <a:t>In contrast, the </a:t>
            </a:r>
            <a:r>
              <a:rPr lang="en-US" altLang="zh-CN" sz="2800" b="1" i="1">
                <a:solidFill>
                  <a:srgbClr val="3333FF"/>
                </a:solidFill>
              </a:rPr>
              <a:t>local truncation error</a:t>
            </a:r>
            <a:r>
              <a:rPr lang="en-US" altLang="zh-CN" sz="2800" b="1" i="1">
                <a:solidFill>
                  <a:srgbClr val="000000"/>
                </a:solidFill>
              </a:rPr>
              <a:t> </a:t>
            </a:r>
            <a:r>
              <a:rPr lang="en-US" altLang="zh-CN" sz="2800" b="1">
                <a:solidFill>
                  <a:srgbClr val="000000"/>
                </a:solidFill>
              </a:rPr>
              <a:t>for the </a:t>
            </a:r>
            <a:r>
              <a:rPr lang="en-US" altLang="zh-CN" sz="2800" b="1" i="1">
                <a:solidFill>
                  <a:srgbClr val="000080"/>
                </a:solidFill>
              </a:rPr>
              <a:t>n</a:t>
            </a:r>
            <a:r>
              <a:rPr lang="en-US" altLang="zh-CN" sz="2800" b="1">
                <a:solidFill>
                  <a:srgbClr val="000000"/>
                </a:solidFill>
              </a:rPr>
              <a:t>th step is</a:t>
            </a:r>
            <a:endParaRPr lang="en-US" altLang="zh-CN" sz="2800" b="1"/>
          </a:p>
        </p:txBody>
      </p:sp>
      <p:sp>
        <p:nvSpPr>
          <p:cNvPr id="489477" name="Text Box 5"/>
          <p:cNvSpPr txBox="1">
            <a:spLocks noChangeArrowheads="1"/>
          </p:cNvSpPr>
          <p:nvPr/>
        </p:nvSpPr>
        <p:spPr bwMode="auto">
          <a:xfrm>
            <a:off x="152400" y="5368925"/>
            <a:ext cx="8991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00"/>
                </a:solidFill>
              </a:rPr>
              <a:t>where </a:t>
            </a:r>
            <a:r>
              <a:rPr lang="en-US" altLang="zh-CN" sz="2800" b="1" i="1">
                <a:solidFill>
                  <a:srgbClr val="000080"/>
                </a:solidFill>
              </a:rPr>
              <a:t>y</a:t>
            </a:r>
            <a:r>
              <a:rPr lang="en-US" altLang="zh-CN" sz="28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i="1">
                <a:solidFill>
                  <a:srgbClr val="000080"/>
                </a:solidFill>
              </a:rPr>
              <a:t>* </a:t>
            </a:r>
            <a:r>
              <a:rPr lang="en-US" altLang="zh-CN" sz="2800" b="1">
                <a:solidFill>
                  <a:srgbClr val="000000"/>
                </a:solidFill>
              </a:rPr>
              <a:t>the exact solution of our differential equation but with the initial condition </a:t>
            </a:r>
            <a:r>
              <a:rPr lang="en-US" altLang="zh-CN" sz="2800" b="1" i="1">
                <a:solidFill>
                  <a:srgbClr val="000080"/>
                </a:solidFill>
              </a:rPr>
              <a:t>y</a:t>
            </a:r>
            <a:r>
              <a:rPr lang="en-US" altLang="zh-CN" sz="2800" b="1" i="1" baseline="-25000">
                <a:solidFill>
                  <a:srgbClr val="008080"/>
                </a:solidFill>
              </a:rPr>
              <a:t>n–</a:t>
            </a:r>
            <a:r>
              <a:rPr lang="en-US" altLang="zh-CN" sz="2800" b="1" baseline="-25000">
                <a:solidFill>
                  <a:srgbClr val="008080"/>
                </a:solidFill>
              </a:rPr>
              <a:t>1</a:t>
            </a:r>
            <a:r>
              <a:rPr lang="en-US" altLang="zh-CN" sz="2800" b="1" i="1">
                <a:solidFill>
                  <a:srgbClr val="000080"/>
                </a:solidFill>
              </a:rPr>
              <a:t>*</a:t>
            </a:r>
            <a:r>
              <a:rPr lang="en-US" altLang="zh-CN" sz="2800" b="1">
                <a:solidFill>
                  <a:srgbClr val="000080"/>
                </a:solidFill>
              </a:rPr>
              <a:t>=</a:t>
            </a:r>
            <a:r>
              <a:rPr lang="en-US" altLang="zh-CN" sz="2800" b="1" i="1">
                <a:solidFill>
                  <a:srgbClr val="000080"/>
                </a:solidFill>
              </a:rPr>
              <a:t>Y</a:t>
            </a:r>
            <a:r>
              <a:rPr lang="en-US" altLang="zh-CN" sz="2800" b="1" i="1" baseline="-25000">
                <a:solidFill>
                  <a:srgbClr val="008080"/>
                </a:solidFill>
              </a:rPr>
              <a:t>n–</a:t>
            </a:r>
            <a:r>
              <a:rPr lang="en-US" altLang="zh-CN" sz="2800" b="1" baseline="-25000">
                <a:solidFill>
                  <a:srgbClr val="008080"/>
                </a:solidFill>
              </a:rPr>
              <a:t>1</a:t>
            </a:r>
            <a:r>
              <a:rPr lang="en-US" altLang="zh-CN" sz="2800" b="1">
                <a:solidFill>
                  <a:srgbClr val="000000"/>
                </a:solidFill>
              </a:rPr>
              <a:t>. </a:t>
            </a:r>
            <a:endParaRPr lang="en-US" altLang="zh-CN" sz="2800" b="1"/>
          </a:p>
        </p:txBody>
      </p:sp>
      <p:pic>
        <p:nvPicPr>
          <p:cNvPr id="4894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3500438"/>
            <a:ext cx="1981200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94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4783138"/>
            <a:ext cx="1676400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9483" name="Text Box 11"/>
          <p:cNvSpPr txBox="1">
            <a:spLocks noChangeArrowheads="1"/>
          </p:cNvSpPr>
          <p:nvPr/>
        </p:nvSpPr>
        <p:spPr bwMode="auto">
          <a:xfrm>
            <a:off x="1692275" y="692150"/>
            <a:ext cx="66960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</a:t>
            </a:r>
            <a:r>
              <a:rPr lang="en-US" altLang="zh-CN" sz="3200" b="1" i="1">
                <a:solidFill>
                  <a:srgbClr val="000000"/>
                </a:solidFill>
              </a:rPr>
              <a:t>=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0</a:t>
            </a:r>
            <a:r>
              <a:rPr lang="en-US" altLang="zh-CN" sz="3200" b="1" i="1">
                <a:solidFill>
                  <a:srgbClr val="000080"/>
                </a:solidFill>
              </a:rPr>
              <a:t>+h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(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0 </a:t>
            </a:r>
            <a:r>
              <a:rPr lang="en-US" altLang="zh-CN" sz="3200" b="1" i="1">
                <a:solidFill>
                  <a:srgbClr val="000080"/>
                </a:solidFill>
              </a:rPr>
              <a:t>,y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0</a:t>
            </a:r>
            <a:r>
              <a:rPr lang="en-US" altLang="zh-CN" sz="3200" b="1" i="1">
                <a:solidFill>
                  <a:srgbClr val="000080"/>
                </a:solidFill>
              </a:rPr>
              <a:t>)+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 =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err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 </a:t>
            </a:r>
          </a:p>
        </p:txBody>
      </p:sp>
      <p:sp>
        <p:nvSpPr>
          <p:cNvPr id="489484" name="Text Box 12"/>
          <p:cNvSpPr txBox="1">
            <a:spLocks noChangeArrowheads="1"/>
          </p:cNvSpPr>
          <p:nvPr/>
        </p:nvSpPr>
        <p:spPr bwMode="auto">
          <a:xfrm>
            <a:off x="1476375" y="1412875"/>
            <a:ext cx="71278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2</a:t>
            </a:r>
            <a:r>
              <a:rPr lang="en-US" altLang="zh-CN" sz="3200" b="1" i="1">
                <a:solidFill>
                  <a:srgbClr val="000000"/>
                </a:solidFill>
              </a:rPr>
              <a:t>=Y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</a:t>
            </a:r>
            <a:r>
              <a:rPr lang="en-US" altLang="zh-CN" sz="3200" b="1" i="1">
                <a:solidFill>
                  <a:srgbClr val="000080"/>
                </a:solidFill>
              </a:rPr>
              <a:t>+h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(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 </a:t>
            </a:r>
            <a:r>
              <a:rPr lang="en-US" altLang="zh-CN" sz="3200" b="1" i="1">
                <a:solidFill>
                  <a:srgbClr val="000080"/>
                </a:solidFill>
              </a:rPr>
              <a:t>,Y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</a:t>
            </a:r>
            <a:r>
              <a:rPr lang="en-US" altLang="zh-CN" sz="3200" b="1" i="1">
                <a:solidFill>
                  <a:srgbClr val="000080"/>
                </a:solidFill>
              </a:rPr>
              <a:t>) </a:t>
            </a:r>
            <a:r>
              <a:rPr lang="en-US" altLang="zh-CN" b="1" i="1">
                <a:solidFill>
                  <a:srgbClr val="000080"/>
                </a:solidFill>
              </a:rPr>
              <a:t>+</a:t>
            </a:r>
            <a:r>
              <a:rPr lang="en-US" altLang="zh-CN" b="1" i="1">
                <a:solidFill>
                  <a:srgbClr val="000080"/>
                </a:solidFill>
                <a:sym typeface="Symbol" pitchFamily="18" charset="2"/>
              </a:rPr>
              <a:t>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=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2</a:t>
            </a:r>
            <a:r>
              <a:rPr lang="en-US" altLang="zh-CN" sz="3200" b="1" i="1">
                <a:solidFill>
                  <a:srgbClr val="000080"/>
                </a:solidFill>
              </a:rPr>
              <a:t>+C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12 </a:t>
            </a:r>
            <a:r>
              <a:rPr lang="en-US" altLang="zh-CN" sz="3200" b="1" i="1">
                <a:solidFill>
                  <a:srgbClr val="000080"/>
                </a:solidFill>
              </a:rPr>
              <a:t>err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err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2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9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9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9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9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9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9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9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9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5" grpId="0" autoUpdateAnimBg="0"/>
      <p:bldP spid="489476" grpId="0" autoUpdateAnimBg="0"/>
      <p:bldP spid="489477" grpId="0" autoUpdateAnimBg="0"/>
      <p:bldP spid="489483" grpId="0"/>
      <p:bldP spid="48948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7" name="Rectangle 3"/>
          <p:cNvSpPr>
            <a:spLocks noChangeArrowheads="1"/>
          </p:cNvSpPr>
          <p:nvPr/>
        </p:nvSpPr>
        <p:spPr bwMode="auto">
          <a:xfrm>
            <a:off x="323850" y="404813"/>
            <a:ext cx="85344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>
                <a:solidFill>
                  <a:srgbClr val="000000"/>
                </a:solidFill>
              </a:rPr>
              <a:t>The </a:t>
            </a:r>
            <a:r>
              <a:rPr lang="en-US" altLang="zh-CN" sz="3200" b="1" i="1">
                <a:solidFill>
                  <a:srgbClr val="3333FF"/>
                </a:solidFill>
              </a:rPr>
              <a:t>global truncation error</a:t>
            </a:r>
            <a:r>
              <a:rPr lang="en-US" altLang="zh-CN" sz="3200" b="1" i="1">
                <a:solidFill>
                  <a:srgbClr val="000000"/>
                </a:solidFill>
              </a:rPr>
              <a:t> </a:t>
            </a:r>
            <a:r>
              <a:rPr lang="en-US" altLang="zh-CN" sz="3200" b="1">
                <a:solidFill>
                  <a:srgbClr val="000000"/>
                </a:solidFill>
              </a:rPr>
              <a:t>at the </a:t>
            </a:r>
            <a:r>
              <a:rPr lang="en-US" altLang="zh-CN" sz="3200" b="1" i="1">
                <a:solidFill>
                  <a:srgbClr val="000080"/>
                </a:solidFill>
              </a:rPr>
              <a:t>n</a:t>
            </a:r>
            <a:r>
              <a:rPr lang="en-US" altLang="zh-CN" sz="3200" b="1">
                <a:solidFill>
                  <a:srgbClr val="000000"/>
                </a:solidFill>
              </a:rPr>
              <a:t>th step</a:t>
            </a:r>
          </a:p>
        </p:txBody>
      </p:sp>
      <p:sp>
        <p:nvSpPr>
          <p:cNvPr id="492548" name="Text Box 4"/>
          <p:cNvSpPr txBox="1">
            <a:spLocks noChangeArrowheads="1"/>
          </p:cNvSpPr>
          <p:nvPr/>
        </p:nvSpPr>
        <p:spPr bwMode="auto">
          <a:xfrm>
            <a:off x="395288" y="2060575"/>
            <a:ext cx="8512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00"/>
                </a:solidFill>
              </a:rPr>
              <a:t>In contrast, the </a:t>
            </a:r>
            <a:r>
              <a:rPr lang="en-US" altLang="zh-CN" sz="2800" b="1" i="1">
                <a:solidFill>
                  <a:srgbClr val="3333FF"/>
                </a:solidFill>
              </a:rPr>
              <a:t>local truncation error</a:t>
            </a:r>
            <a:r>
              <a:rPr lang="en-US" altLang="zh-CN" sz="2800" b="1" i="1">
                <a:solidFill>
                  <a:srgbClr val="000000"/>
                </a:solidFill>
              </a:rPr>
              <a:t> </a:t>
            </a:r>
            <a:r>
              <a:rPr lang="en-US" altLang="zh-CN" sz="2800" b="1">
                <a:solidFill>
                  <a:srgbClr val="000000"/>
                </a:solidFill>
              </a:rPr>
              <a:t>for the </a:t>
            </a:r>
            <a:r>
              <a:rPr lang="en-US" altLang="zh-CN" sz="2800" b="1" i="1">
                <a:solidFill>
                  <a:srgbClr val="000080"/>
                </a:solidFill>
              </a:rPr>
              <a:t>n</a:t>
            </a:r>
            <a:r>
              <a:rPr lang="en-US" altLang="zh-CN" sz="2800" b="1">
                <a:solidFill>
                  <a:srgbClr val="000000"/>
                </a:solidFill>
              </a:rPr>
              <a:t>th step is</a:t>
            </a:r>
            <a:endParaRPr lang="en-US" altLang="zh-CN" sz="2800" b="1"/>
          </a:p>
        </p:txBody>
      </p:sp>
      <p:sp>
        <p:nvSpPr>
          <p:cNvPr id="492549" name="Text Box 5"/>
          <p:cNvSpPr txBox="1">
            <a:spLocks noChangeArrowheads="1"/>
          </p:cNvSpPr>
          <p:nvPr/>
        </p:nvSpPr>
        <p:spPr bwMode="auto">
          <a:xfrm>
            <a:off x="152400" y="4005263"/>
            <a:ext cx="47799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00"/>
                </a:solidFill>
              </a:rPr>
              <a:t> Note that </a:t>
            </a:r>
            <a:r>
              <a:rPr lang="en-US" altLang="zh-CN" sz="2800" b="1" i="1">
                <a:solidFill>
                  <a:srgbClr val="000080"/>
                </a:solidFill>
              </a:rPr>
              <a:t>E</a:t>
            </a:r>
            <a:r>
              <a:rPr lang="en-US" altLang="zh-CN" sz="28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i="1">
                <a:solidFill>
                  <a:srgbClr val="008080"/>
                </a:solidFill>
              </a:rPr>
              <a:t> </a:t>
            </a:r>
            <a:r>
              <a:rPr lang="en-US" altLang="zh-CN" sz="2800" b="1">
                <a:solidFill>
                  <a:srgbClr val="000000"/>
                </a:solidFill>
              </a:rPr>
              <a:t>is not simply</a:t>
            </a:r>
            <a:endParaRPr lang="en-US" altLang="zh-CN" sz="2800" b="1"/>
          </a:p>
        </p:txBody>
      </p:sp>
      <p:pic>
        <p:nvPicPr>
          <p:cNvPr id="49255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1341438"/>
            <a:ext cx="1981200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255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997200"/>
            <a:ext cx="16764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255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3860800"/>
            <a:ext cx="10477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2553" name="Text Box 9"/>
          <p:cNvSpPr txBox="1">
            <a:spLocks noChangeArrowheads="1"/>
          </p:cNvSpPr>
          <p:nvPr/>
        </p:nvSpPr>
        <p:spPr bwMode="auto">
          <a:xfrm>
            <a:off x="250825" y="5192713"/>
            <a:ext cx="8748713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solidFill>
                  <a:srgbClr val="000000"/>
                </a:solidFill>
              </a:rPr>
              <a:t>which would give </a:t>
            </a:r>
            <a:r>
              <a:rPr lang="en-US" altLang="zh-CN" sz="2800" b="1" i="1">
                <a:solidFill>
                  <a:srgbClr val="000080"/>
                </a:solidFill>
              </a:rPr>
              <a:t>E</a:t>
            </a:r>
            <a:r>
              <a:rPr lang="en-US" altLang="zh-CN" sz="28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i="1">
                <a:solidFill>
                  <a:srgbClr val="008080"/>
                </a:solidFill>
              </a:rPr>
              <a:t> </a:t>
            </a:r>
            <a:r>
              <a:rPr lang="en-US" altLang="zh-CN" sz="2800" b="1">
                <a:solidFill>
                  <a:srgbClr val="000080"/>
                </a:solidFill>
              </a:rPr>
              <a:t>= </a:t>
            </a:r>
            <a:r>
              <a:rPr lang="en-US" altLang="zh-CN" sz="2800" b="1" i="1">
                <a:solidFill>
                  <a:srgbClr val="000080"/>
                </a:solidFill>
              </a:rPr>
              <a:t>O</a:t>
            </a:r>
            <a:r>
              <a:rPr lang="en-US" altLang="zh-CN" sz="2800" b="1">
                <a:solidFill>
                  <a:srgbClr val="000080"/>
                </a:solidFill>
              </a:rPr>
              <a:t>(</a:t>
            </a:r>
            <a:r>
              <a:rPr lang="en-US" altLang="zh-CN" sz="2800" b="1" i="1">
                <a:solidFill>
                  <a:srgbClr val="000080"/>
                </a:solidFill>
              </a:rPr>
              <a:t>ne</a:t>
            </a:r>
            <a:r>
              <a:rPr lang="en-US" altLang="zh-CN" sz="28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>
                <a:solidFill>
                  <a:srgbClr val="000080"/>
                </a:solidFill>
              </a:rPr>
              <a:t>)</a:t>
            </a:r>
            <a:r>
              <a:rPr lang="en-US" altLang="zh-CN" sz="2800" b="1">
                <a:solidFill>
                  <a:srgbClr val="000000"/>
                </a:solidFill>
              </a:rPr>
              <a:t>. It also depends on the </a:t>
            </a:r>
            <a:r>
              <a:rPr lang="en-US" altLang="zh-CN" sz="3200" b="1" i="1">
                <a:solidFill>
                  <a:srgbClr val="3333FF"/>
                </a:solidFill>
              </a:rPr>
              <a:t>stability</a:t>
            </a:r>
            <a:r>
              <a:rPr lang="en-US" altLang="zh-CN" sz="2800" b="1" i="1">
                <a:solidFill>
                  <a:srgbClr val="000000"/>
                </a:solidFill>
              </a:rPr>
              <a:t> </a:t>
            </a:r>
            <a:r>
              <a:rPr lang="en-US" altLang="zh-CN" sz="2800" b="1">
                <a:solidFill>
                  <a:srgbClr val="000000"/>
                </a:solidFill>
              </a:rPr>
              <a:t>of the method and we aim for </a:t>
            </a:r>
            <a:r>
              <a:rPr lang="en-US" altLang="zh-CN" sz="2800" b="1" i="1">
                <a:solidFill>
                  <a:srgbClr val="000080"/>
                </a:solidFill>
              </a:rPr>
              <a:t>E</a:t>
            </a:r>
            <a:r>
              <a:rPr lang="en-US" altLang="zh-CN" sz="28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i="1">
                <a:solidFill>
                  <a:srgbClr val="008080"/>
                </a:solidFill>
              </a:rPr>
              <a:t> </a:t>
            </a:r>
            <a:r>
              <a:rPr lang="en-US" altLang="zh-CN" sz="2800" b="1">
                <a:solidFill>
                  <a:srgbClr val="000080"/>
                </a:solidFill>
              </a:rPr>
              <a:t>= </a:t>
            </a:r>
            <a:r>
              <a:rPr lang="en-US" altLang="zh-CN" sz="2800" b="1" i="1">
                <a:solidFill>
                  <a:srgbClr val="000080"/>
                </a:solidFill>
              </a:rPr>
              <a:t>O</a:t>
            </a:r>
            <a:r>
              <a:rPr lang="en-US" altLang="zh-CN" sz="2800" b="1">
                <a:solidFill>
                  <a:srgbClr val="000080"/>
                </a:solidFill>
              </a:rPr>
              <a:t>(</a:t>
            </a:r>
            <a:r>
              <a:rPr lang="en-US" altLang="zh-CN" sz="2800" b="1" i="1">
                <a:solidFill>
                  <a:srgbClr val="000080"/>
                </a:solidFill>
              </a:rPr>
              <a:t>e</a:t>
            </a:r>
            <a:r>
              <a:rPr lang="en-US" altLang="zh-CN" sz="28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>
                <a:solidFill>
                  <a:srgbClr val="000080"/>
                </a:solidFill>
              </a:rPr>
              <a:t>)</a:t>
            </a:r>
            <a:r>
              <a:rPr lang="en-US" altLang="zh-CN" sz="2800" b="1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92554" name="Text Box 10"/>
          <p:cNvSpPr txBox="1">
            <a:spLocks noChangeArrowheads="1"/>
          </p:cNvSpPr>
          <p:nvPr/>
        </p:nvSpPr>
        <p:spPr bwMode="auto">
          <a:xfrm>
            <a:off x="3492500" y="2924175"/>
            <a:ext cx="54006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00"/>
                </a:solidFill>
              </a:rPr>
              <a:t>=Y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</a:t>
            </a:r>
            <a:r>
              <a:rPr lang="en-US" altLang="zh-CN" sz="3200" b="1" i="1">
                <a:solidFill>
                  <a:srgbClr val="000080"/>
                </a:solidFill>
              </a:rPr>
              <a:t>+h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(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 </a:t>
            </a:r>
            <a:r>
              <a:rPr lang="en-US" altLang="zh-CN" sz="3200" b="1" i="1">
                <a:solidFill>
                  <a:srgbClr val="000080"/>
                </a:solidFill>
              </a:rPr>
              <a:t>,Y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 </a:t>
            </a:r>
            <a:r>
              <a:rPr lang="en-US" altLang="zh-CN" sz="3200" b="1" i="1">
                <a:solidFill>
                  <a:srgbClr val="000080"/>
                </a:solidFill>
              </a:rPr>
              <a:t>)+O(h</a:t>
            </a:r>
            <a:r>
              <a:rPr lang="en-US" altLang="zh-CN" sz="3200" b="1" i="1" baseline="30000">
                <a:solidFill>
                  <a:srgbClr val="000080"/>
                </a:solidFill>
              </a:rPr>
              <a:t>p+1</a:t>
            </a:r>
            <a:r>
              <a:rPr lang="en-US" altLang="zh-CN" sz="3200" b="1" i="1">
                <a:solidFill>
                  <a:srgbClr val="000080"/>
                </a:solidFill>
              </a:rPr>
              <a:t>)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2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2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2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2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47" grpId="0" autoUpdateAnimBg="0"/>
      <p:bldP spid="492548" grpId="0" autoUpdateAnimBg="0"/>
      <p:bldP spid="492549" grpId="0" autoUpdateAnimBg="0"/>
      <p:bldP spid="492553" grpId="0" autoUpdateAnimBg="0"/>
      <p:bldP spid="49255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539750" y="188913"/>
            <a:ext cx="4572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/>
              <a:t>Stability of the method </a:t>
            </a:r>
          </a:p>
        </p:txBody>
      </p:sp>
      <p:sp>
        <p:nvSpPr>
          <p:cNvPr id="490499" name="Text Box 3"/>
          <p:cNvSpPr txBox="1">
            <a:spLocks noChangeArrowheads="1"/>
          </p:cNvSpPr>
          <p:nvPr/>
        </p:nvSpPr>
        <p:spPr bwMode="auto">
          <a:xfrm>
            <a:off x="381000" y="1031875"/>
            <a:ext cx="8550275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/>
              <a:t>The stability of a method can be even more important than its accuracy as measured by the order of the truncation error.</a:t>
            </a:r>
          </a:p>
        </p:txBody>
      </p:sp>
      <p:pic>
        <p:nvPicPr>
          <p:cNvPr id="604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52400"/>
            <a:ext cx="3124200" cy="101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0501" name="AutoShape 5"/>
          <p:cNvSpPr>
            <a:spLocks noChangeArrowheads="1"/>
          </p:cNvSpPr>
          <p:nvPr/>
        </p:nvSpPr>
        <p:spPr bwMode="auto">
          <a:xfrm rot="10800000">
            <a:off x="971550" y="1989138"/>
            <a:ext cx="1727200" cy="2376487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66 w 21600"/>
              <a:gd name="T13" fmla="*/ 0 h 21600"/>
              <a:gd name="T14" fmla="*/ 21234 w 21600"/>
              <a:gd name="T15" fmla="*/ 12999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283" y="10576"/>
                </a:moveTo>
                <a:cubicBezTo>
                  <a:pt x="2405" y="5959"/>
                  <a:pt x="6182" y="2280"/>
                  <a:pt x="10800" y="2281"/>
                </a:cubicBezTo>
                <a:cubicBezTo>
                  <a:pt x="15417" y="2281"/>
                  <a:pt x="19194" y="5959"/>
                  <a:pt x="19316" y="10576"/>
                </a:cubicBezTo>
                <a:lnTo>
                  <a:pt x="21596" y="10516"/>
                </a:lnTo>
                <a:cubicBezTo>
                  <a:pt x="21442" y="4664"/>
                  <a:pt x="16654" y="-1"/>
                  <a:pt x="10799" y="0"/>
                </a:cubicBezTo>
                <a:cubicBezTo>
                  <a:pt x="4945" y="0"/>
                  <a:pt x="157" y="4664"/>
                  <a:pt x="3" y="10516"/>
                </a:cubicBezTo>
                <a:lnTo>
                  <a:pt x="2283" y="10576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0502" name="Oval 6"/>
          <p:cNvSpPr>
            <a:spLocks noChangeArrowheads="1"/>
          </p:cNvSpPr>
          <p:nvPr/>
        </p:nvSpPr>
        <p:spPr bwMode="auto">
          <a:xfrm>
            <a:off x="1619250" y="3670300"/>
            <a:ext cx="431800" cy="431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0503" name="AutoShape 7"/>
          <p:cNvSpPr>
            <a:spLocks noChangeArrowheads="1"/>
          </p:cNvSpPr>
          <p:nvPr/>
        </p:nvSpPr>
        <p:spPr bwMode="auto">
          <a:xfrm>
            <a:off x="5219700" y="3141663"/>
            <a:ext cx="1727200" cy="2376487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66 w 21600"/>
              <a:gd name="T13" fmla="*/ 0 h 21600"/>
              <a:gd name="T14" fmla="*/ 21234 w 21600"/>
              <a:gd name="T15" fmla="*/ 12999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283" y="10576"/>
                </a:moveTo>
                <a:cubicBezTo>
                  <a:pt x="2405" y="5959"/>
                  <a:pt x="6182" y="2280"/>
                  <a:pt x="10800" y="2281"/>
                </a:cubicBezTo>
                <a:cubicBezTo>
                  <a:pt x="15417" y="2281"/>
                  <a:pt x="19194" y="5959"/>
                  <a:pt x="19316" y="10576"/>
                </a:cubicBezTo>
                <a:lnTo>
                  <a:pt x="21596" y="10516"/>
                </a:lnTo>
                <a:cubicBezTo>
                  <a:pt x="21442" y="4664"/>
                  <a:pt x="16654" y="-1"/>
                  <a:pt x="10799" y="0"/>
                </a:cubicBezTo>
                <a:cubicBezTo>
                  <a:pt x="4945" y="0"/>
                  <a:pt x="157" y="4664"/>
                  <a:pt x="3" y="10516"/>
                </a:cubicBezTo>
                <a:lnTo>
                  <a:pt x="2283" y="10576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0504" name="Oval 8"/>
          <p:cNvSpPr>
            <a:spLocks noChangeArrowheads="1"/>
          </p:cNvSpPr>
          <p:nvPr/>
        </p:nvSpPr>
        <p:spPr bwMode="auto">
          <a:xfrm>
            <a:off x="5867400" y="2709863"/>
            <a:ext cx="431800" cy="431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0505" name="Text Box 9"/>
          <p:cNvSpPr txBox="1">
            <a:spLocks noChangeArrowheads="1"/>
          </p:cNvSpPr>
          <p:nvPr/>
        </p:nvSpPr>
        <p:spPr bwMode="auto">
          <a:xfrm>
            <a:off x="1692275" y="4508500"/>
            <a:ext cx="66960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</a:t>
            </a:r>
            <a:r>
              <a:rPr lang="en-US" altLang="zh-CN" sz="3200" b="1" i="1">
                <a:solidFill>
                  <a:srgbClr val="000000"/>
                </a:solidFill>
              </a:rPr>
              <a:t>=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0</a:t>
            </a:r>
            <a:r>
              <a:rPr lang="en-US" altLang="zh-CN" sz="3200" b="1" i="1">
                <a:solidFill>
                  <a:srgbClr val="000080"/>
                </a:solidFill>
              </a:rPr>
              <a:t>+h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(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0 </a:t>
            </a:r>
            <a:r>
              <a:rPr lang="en-US" altLang="zh-CN" sz="3200" b="1" i="1">
                <a:solidFill>
                  <a:srgbClr val="000080"/>
                </a:solidFill>
              </a:rPr>
              <a:t>,y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0</a:t>
            </a:r>
            <a:r>
              <a:rPr lang="en-US" altLang="zh-CN" sz="3200" b="1" i="1">
                <a:solidFill>
                  <a:srgbClr val="000080"/>
                </a:solidFill>
              </a:rPr>
              <a:t>)+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 =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err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 </a:t>
            </a:r>
          </a:p>
        </p:txBody>
      </p:sp>
      <p:sp>
        <p:nvSpPr>
          <p:cNvPr id="490506" name="Text Box 10"/>
          <p:cNvSpPr txBox="1">
            <a:spLocks noChangeArrowheads="1"/>
          </p:cNvSpPr>
          <p:nvPr/>
        </p:nvSpPr>
        <p:spPr bwMode="auto">
          <a:xfrm>
            <a:off x="1476375" y="5229225"/>
            <a:ext cx="71278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2</a:t>
            </a:r>
            <a:r>
              <a:rPr lang="en-US" altLang="zh-CN" sz="3200" b="1" i="1">
                <a:solidFill>
                  <a:srgbClr val="000000"/>
                </a:solidFill>
              </a:rPr>
              <a:t>=Y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</a:t>
            </a:r>
            <a:r>
              <a:rPr lang="en-US" altLang="zh-CN" sz="3200" b="1" i="1">
                <a:solidFill>
                  <a:srgbClr val="000080"/>
                </a:solidFill>
              </a:rPr>
              <a:t>+h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(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 </a:t>
            </a:r>
            <a:r>
              <a:rPr lang="en-US" altLang="zh-CN" sz="3200" b="1" i="1">
                <a:solidFill>
                  <a:srgbClr val="000080"/>
                </a:solidFill>
              </a:rPr>
              <a:t>,Y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</a:t>
            </a:r>
            <a:r>
              <a:rPr lang="en-US" altLang="zh-CN" sz="3200" b="1" i="1">
                <a:solidFill>
                  <a:srgbClr val="000080"/>
                </a:solidFill>
              </a:rPr>
              <a:t>) </a:t>
            </a:r>
            <a:r>
              <a:rPr lang="en-US" altLang="zh-CN" b="1" i="1">
                <a:solidFill>
                  <a:srgbClr val="000080"/>
                </a:solidFill>
              </a:rPr>
              <a:t>+</a:t>
            </a:r>
            <a:r>
              <a:rPr lang="en-US" altLang="zh-CN" b="1" i="1">
                <a:solidFill>
                  <a:srgbClr val="000080"/>
                </a:solidFill>
                <a:sym typeface="Symbol" pitchFamily="18" charset="2"/>
              </a:rPr>
              <a:t>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=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2</a:t>
            </a:r>
            <a:r>
              <a:rPr lang="en-US" altLang="zh-CN" sz="3200" b="1" i="1">
                <a:solidFill>
                  <a:srgbClr val="000080"/>
                </a:solidFill>
              </a:rPr>
              <a:t>+C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12 </a:t>
            </a:r>
            <a:r>
              <a:rPr lang="en-US" altLang="zh-CN" sz="3200" b="1" i="1">
                <a:solidFill>
                  <a:srgbClr val="000080"/>
                </a:solidFill>
              </a:rPr>
              <a:t>err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err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2</a:t>
            </a:r>
          </a:p>
        </p:txBody>
      </p:sp>
      <p:sp>
        <p:nvSpPr>
          <p:cNvPr id="490507" name="Text Box 11"/>
          <p:cNvSpPr txBox="1">
            <a:spLocks noChangeArrowheads="1"/>
          </p:cNvSpPr>
          <p:nvPr/>
        </p:nvSpPr>
        <p:spPr bwMode="auto">
          <a:xfrm>
            <a:off x="539750" y="6021388"/>
            <a:ext cx="8243888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i+1</a:t>
            </a:r>
            <a:r>
              <a:rPr lang="en-US" altLang="zh-CN" sz="3200" b="1" i="1">
                <a:solidFill>
                  <a:srgbClr val="000000"/>
                </a:solidFill>
              </a:rPr>
              <a:t>=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i+1</a:t>
            </a:r>
            <a:r>
              <a:rPr lang="en-US" altLang="zh-CN" sz="3200" b="1" i="1">
                <a:solidFill>
                  <a:srgbClr val="000080"/>
                </a:solidFill>
              </a:rPr>
              <a:t>+C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1(i+1) </a:t>
            </a:r>
            <a:r>
              <a:rPr lang="en-US" altLang="zh-CN" sz="3200" b="1" i="1">
                <a:solidFill>
                  <a:srgbClr val="000080"/>
                </a:solidFill>
              </a:rPr>
              <a:t>err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1 </a:t>
            </a:r>
            <a:r>
              <a:rPr lang="en-US" altLang="zh-CN" sz="3200" b="1" i="1">
                <a:solidFill>
                  <a:srgbClr val="000080"/>
                </a:solidFill>
              </a:rPr>
              <a:t>+C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2(i+1) </a:t>
            </a:r>
            <a:r>
              <a:rPr lang="en-US" altLang="zh-CN" sz="3200" b="1" i="1">
                <a:solidFill>
                  <a:srgbClr val="000080"/>
                </a:solidFill>
              </a:rPr>
              <a:t>err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2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b="1" i="1">
                <a:solidFill>
                  <a:srgbClr val="000080"/>
                </a:solidFill>
                <a:sym typeface="Symbol" pitchFamily="18" charset="2"/>
              </a:rPr>
              <a:t> </a:t>
            </a:r>
            <a:r>
              <a:rPr lang="en-US" altLang="zh-CN" sz="3200" b="1" i="1">
                <a:solidFill>
                  <a:srgbClr val="000080"/>
                </a:solidFill>
              </a:rPr>
              <a:t>C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i(i+1) </a:t>
            </a:r>
            <a:r>
              <a:rPr lang="en-US" altLang="zh-CN" sz="3200" b="1" i="1">
                <a:solidFill>
                  <a:srgbClr val="000080"/>
                </a:solidFill>
              </a:rPr>
              <a:t>err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i 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0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90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9" grpId="0" autoUpdateAnimBg="0"/>
      <p:bldP spid="490501" grpId="0" animBg="1"/>
      <p:bldP spid="490502" grpId="0" animBg="1"/>
      <p:bldP spid="490503" grpId="0" animBg="1"/>
      <p:bldP spid="490504" grpId="0" animBg="1"/>
      <p:bldP spid="490505" grpId="0"/>
      <p:bldP spid="490506" grpId="0"/>
      <p:bldP spid="49050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468313" y="404813"/>
            <a:ext cx="4572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/>
              <a:t> Stability </a:t>
            </a:r>
          </a:p>
        </p:txBody>
      </p:sp>
      <p:sp>
        <p:nvSpPr>
          <p:cNvPr id="464901" name="Text Box 5"/>
          <p:cNvSpPr txBox="1">
            <a:spLocks noChangeArrowheads="1"/>
          </p:cNvSpPr>
          <p:nvPr/>
        </p:nvSpPr>
        <p:spPr bwMode="auto">
          <a:xfrm>
            <a:off x="395288" y="3541713"/>
            <a:ext cx="8550275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>
                <a:solidFill>
                  <a:srgbClr val="000000"/>
                </a:solidFill>
              </a:rPr>
              <a:t>The exact solution is bounded (</a:t>
            </a:r>
            <a:r>
              <a:rPr lang="en-US" altLang="zh-CN" sz="3200" i="1">
                <a:solidFill>
                  <a:srgbClr val="000000"/>
                </a:solidFill>
              </a:rPr>
              <a:t>i.e. </a:t>
            </a:r>
            <a:r>
              <a:rPr lang="en-US" altLang="zh-CN" sz="3200">
                <a:solidFill>
                  <a:srgbClr val="000000"/>
                </a:solidFill>
              </a:rPr>
              <a:t>does not increase without limit) provided </a:t>
            </a:r>
            <a:r>
              <a:rPr lang="en-US" altLang="zh-CN" sz="3200">
                <a:solidFill>
                  <a:srgbClr val="000080"/>
                </a:solidFill>
              </a:rPr>
              <a:t>Re</a:t>
            </a:r>
            <a:r>
              <a:rPr lang="en-US" altLang="zh-CN" sz="3200">
                <a:solidFill>
                  <a:srgbClr val="008000"/>
                </a:solidFill>
                <a:latin typeface="Symbol" pitchFamily="18" charset="2"/>
              </a:rPr>
              <a:t>l </a:t>
            </a:r>
            <a:r>
              <a:rPr lang="en-US" altLang="zh-CN" sz="3200">
                <a:solidFill>
                  <a:srgbClr val="000080"/>
                </a:solidFill>
                <a:latin typeface="Symbol" pitchFamily="18" charset="2"/>
              </a:rPr>
              <a:t>£ </a:t>
            </a:r>
            <a:r>
              <a:rPr lang="en-US" altLang="zh-CN" sz="3200">
                <a:solidFill>
                  <a:srgbClr val="000080"/>
                </a:solidFill>
              </a:rPr>
              <a:t>0</a:t>
            </a:r>
            <a:r>
              <a:rPr lang="en-US" altLang="zh-CN" sz="3200">
                <a:solidFill>
                  <a:srgbClr val="000000"/>
                </a:solidFill>
              </a:rPr>
              <a:t>. Substituting this into the Euler method shows</a:t>
            </a:r>
          </a:p>
        </p:txBody>
      </p:sp>
      <p:sp>
        <p:nvSpPr>
          <p:cNvPr id="464902" name="Text Box 6"/>
          <p:cNvSpPr txBox="1">
            <a:spLocks noChangeArrowheads="1"/>
          </p:cNvSpPr>
          <p:nvPr/>
        </p:nvSpPr>
        <p:spPr bwMode="auto">
          <a:xfrm>
            <a:off x="1979613" y="5702300"/>
            <a:ext cx="4248150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600" b="1" i="1">
                <a:solidFill>
                  <a:srgbClr val="000080"/>
                </a:solidFill>
              </a:rPr>
              <a:t>Y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600" b="1" baseline="-25000">
                <a:solidFill>
                  <a:srgbClr val="008080"/>
                </a:solidFill>
              </a:rPr>
              <a:t>+1</a:t>
            </a:r>
            <a:r>
              <a:rPr lang="en-US" altLang="zh-CN" sz="3600" b="1" i="1">
                <a:solidFill>
                  <a:srgbClr val="000080"/>
                </a:solidFill>
              </a:rPr>
              <a:t>= Y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600" b="1" i="1">
                <a:solidFill>
                  <a:srgbClr val="000080"/>
                </a:solidFill>
              </a:rPr>
              <a:t>+</a:t>
            </a:r>
            <a:r>
              <a:rPr lang="en-US" altLang="zh-CN" sz="36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600" b="1" i="1">
                <a:solidFill>
                  <a:srgbClr val="000080"/>
                </a:solidFill>
              </a:rPr>
              <a:t>t</a:t>
            </a:r>
            <a:r>
              <a:rPr lang="en-US" altLang="zh-CN" sz="3600" b="1" baseline="30000">
                <a:solidFill>
                  <a:srgbClr val="800080"/>
                </a:solidFill>
              </a:rPr>
              <a:t> </a:t>
            </a:r>
            <a:r>
              <a:rPr lang="en-US" altLang="zh-CN" sz="3600" b="1" i="1">
                <a:solidFill>
                  <a:srgbClr val="000080"/>
                </a:solidFill>
              </a:rPr>
              <a:t> f(t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n </a:t>
            </a:r>
            <a:r>
              <a:rPr lang="en-US" altLang="zh-CN" sz="3600" b="1" i="1">
                <a:solidFill>
                  <a:srgbClr val="000080"/>
                </a:solidFill>
              </a:rPr>
              <a:t>,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600" b="1" i="1">
                <a:solidFill>
                  <a:srgbClr val="000080"/>
                </a:solidFill>
              </a:rPr>
              <a:t>Y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n </a:t>
            </a:r>
            <a:r>
              <a:rPr lang="en-US" altLang="zh-CN" sz="3600" b="1" i="1">
                <a:solidFill>
                  <a:srgbClr val="000080"/>
                </a:solidFill>
              </a:rPr>
              <a:t>)</a:t>
            </a:r>
            <a:endParaRPr lang="en-US" altLang="zh-CN" sz="3600" b="1"/>
          </a:p>
        </p:txBody>
      </p:sp>
      <p:pic>
        <p:nvPicPr>
          <p:cNvPr id="6144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333375"/>
            <a:ext cx="3124200" cy="101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4904" name="Text Box 8"/>
          <p:cNvSpPr txBox="1">
            <a:spLocks noChangeArrowheads="1"/>
          </p:cNvSpPr>
          <p:nvPr/>
        </p:nvSpPr>
        <p:spPr bwMode="auto">
          <a:xfrm>
            <a:off x="395288" y="1700213"/>
            <a:ext cx="50292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/>
              <a:t>Suppose we are solving</a:t>
            </a:r>
          </a:p>
        </p:txBody>
      </p:sp>
      <p:pic>
        <p:nvPicPr>
          <p:cNvPr id="46490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1628775"/>
            <a:ext cx="2735263" cy="98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64906" name="Object 10"/>
          <p:cNvGraphicFramePr>
            <a:graphicFrameLocks noChangeAspect="1"/>
          </p:cNvGraphicFramePr>
          <p:nvPr/>
        </p:nvGraphicFramePr>
        <p:xfrm>
          <a:off x="4564063" y="2636838"/>
          <a:ext cx="33274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1" name="公式" r:id="rId5" imgW="927100" imgH="228600" progId="Equation.3">
                  <p:embed/>
                </p:oleObj>
              </mc:Choice>
              <mc:Fallback>
                <p:oleObj name="公式" r:id="rId5" imgW="9271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2636838"/>
                        <a:ext cx="3327400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4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4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4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4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4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4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4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4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4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4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901" grpId="0" autoUpdateAnimBg="0"/>
      <p:bldP spid="464902" grpId="0" autoUpdateAnimBg="0"/>
      <p:bldP spid="464904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5"/>
          <p:cNvSpPr txBox="1">
            <a:spLocks noChangeArrowheads="1"/>
          </p:cNvSpPr>
          <p:nvPr/>
        </p:nvSpPr>
        <p:spPr bwMode="auto">
          <a:xfrm>
            <a:off x="762000" y="381000"/>
            <a:ext cx="37179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baseline="30000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 f(t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,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)</a:t>
            </a:r>
            <a:endParaRPr lang="en-US" altLang="zh-CN" sz="3200" b="1"/>
          </a:p>
        </p:txBody>
      </p:sp>
      <p:sp>
        <p:nvSpPr>
          <p:cNvPr id="219142" name="Text Box 6"/>
          <p:cNvSpPr txBox="1">
            <a:spLocks noChangeArrowheads="1"/>
          </p:cNvSpPr>
          <p:nvPr/>
        </p:nvSpPr>
        <p:spPr bwMode="auto">
          <a:xfrm>
            <a:off x="468313" y="1268760"/>
            <a:ext cx="304165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baseline="30000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endParaRPr lang="en-US" altLang="zh-CN" sz="3200" b="1"/>
          </a:p>
        </p:txBody>
      </p:sp>
      <p:sp>
        <p:nvSpPr>
          <p:cNvPr id="219143" name="Text Box 7"/>
          <p:cNvSpPr txBox="1">
            <a:spLocks noChangeArrowheads="1"/>
          </p:cNvSpPr>
          <p:nvPr/>
        </p:nvSpPr>
        <p:spPr bwMode="auto">
          <a:xfrm>
            <a:off x="395288" y="2276822"/>
            <a:ext cx="3052762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 i="1">
                <a:solidFill>
                  <a:srgbClr val="000080"/>
                </a:solidFill>
              </a:rPr>
              <a:t>= (1+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</a:p>
        </p:txBody>
      </p:sp>
      <p:sp>
        <p:nvSpPr>
          <p:cNvPr id="219144" name="Text Box 8"/>
          <p:cNvSpPr txBox="1">
            <a:spLocks noChangeArrowheads="1"/>
          </p:cNvSpPr>
          <p:nvPr/>
        </p:nvSpPr>
        <p:spPr bwMode="auto">
          <a:xfrm>
            <a:off x="4859338" y="2276822"/>
            <a:ext cx="2989262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= (1+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</a:t>
            </a:r>
          </a:p>
        </p:txBody>
      </p:sp>
      <p:sp>
        <p:nvSpPr>
          <p:cNvPr id="219145" name="Text Box 9"/>
          <p:cNvSpPr txBox="1">
            <a:spLocks noChangeArrowheads="1"/>
          </p:cNvSpPr>
          <p:nvPr/>
        </p:nvSpPr>
        <p:spPr bwMode="auto">
          <a:xfrm>
            <a:off x="152400" y="3141439"/>
            <a:ext cx="5459413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 i="1">
                <a:solidFill>
                  <a:srgbClr val="000080"/>
                </a:solidFill>
              </a:rPr>
              <a:t>= (1+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= (1+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</a:t>
            </a:r>
            <a:r>
              <a:rPr lang="en-US" altLang="zh-CN" sz="3200" b="1" i="1" baseline="30000">
                <a:solidFill>
                  <a:srgbClr val="000080"/>
                </a:solidFill>
              </a:rPr>
              <a:t>2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</a:t>
            </a:r>
          </a:p>
        </p:txBody>
      </p:sp>
      <p:sp>
        <p:nvSpPr>
          <p:cNvPr id="219146" name="Text Box 10"/>
          <p:cNvSpPr txBox="1">
            <a:spLocks noChangeArrowheads="1"/>
          </p:cNvSpPr>
          <p:nvPr/>
        </p:nvSpPr>
        <p:spPr bwMode="auto">
          <a:xfrm>
            <a:off x="446505" y="4717740"/>
            <a:ext cx="2232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000000"/>
                </a:solidFill>
              </a:rPr>
              <a:t>If </a:t>
            </a:r>
            <a:r>
              <a:rPr lang="en-US" altLang="zh-CN" sz="3200" b="1" dirty="0" err="1">
                <a:solidFill>
                  <a:srgbClr val="000080"/>
                </a:solidFill>
              </a:rPr>
              <a:t>Re</a:t>
            </a:r>
            <a:r>
              <a:rPr lang="en-US" altLang="zh-CN" sz="3200" b="1" dirty="0" err="1">
                <a:solidFill>
                  <a:srgbClr val="008000"/>
                </a:solidFill>
                <a:latin typeface="Symbol" pitchFamily="18" charset="2"/>
              </a:rPr>
              <a:t>l</a:t>
            </a:r>
            <a:r>
              <a:rPr lang="en-US" altLang="zh-CN" sz="3200" b="1" dirty="0">
                <a:solidFill>
                  <a:srgbClr val="008000"/>
                </a:solidFill>
                <a:latin typeface="Symbol" pitchFamily="18" charset="2"/>
              </a:rPr>
              <a:t> </a:t>
            </a:r>
            <a:r>
              <a:rPr lang="en-US" altLang="zh-CN" sz="3200" b="1" dirty="0">
                <a:solidFill>
                  <a:srgbClr val="000080"/>
                </a:solidFill>
              </a:rPr>
              <a:t>&lt; 0</a:t>
            </a:r>
            <a:endParaRPr lang="en-US" altLang="zh-CN" sz="3200" b="1" dirty="0"/>
          </a:p>
        </p:txBody>
      </p:sp>
      <p:sp>
        <p:nvSpPr>
          <p:cNvPr id="219147" name="Text Box 11"/>
          <p:cNvSpPr txBox="1">
            <a:spLocks noChangeArrowheads="1"/>
          </p:cNvSpPr>
          <p:nvPr/>
        </p:nvSpPr>
        <p:spPr bwMode="auto">
          <a:xfrm>
            <a:off x="304800" y="5562600"/>
            <a:ext cx="22828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  <a:cs typeface="Times New Roman" pitchFamily="18" charset="0"/>
              </a:rPr>
              <a:t>|</a:t>
            </a:r>
            <a:r>
              <a:rPr lang="en-US" altLang="zh-CN" sz="3200" b="1" i="1">
                <a:solidFill>
                  <a:srgbClr val="000080"/>
                </a:solidFill>
              </a:rPr>
              <a:t>1+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 </a:t>
            </a:r>
            <a:r>
              <a:rPr lang="en-US" altLang="zh-CN" sz="3200" b="1" i="1">
                <a:solidFill>
                  <a:srgbClr val="000080"/>
                </a:solidFill>
                <a:cs typeface="Times New Roman" pitchFamily="18" charset="0"/>
              </a:rPr>
              <a:t>|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 </a:t>
            </a:r>
            <a:r>
              <a:rPr lang="en-US" altLang="zh-CN" sz="3200" b="1" i="1">
                <a:solidFill>
                  <a:srgbClr val="000080"/>
                </a:solidFill>
              </a:rPr>
              <a:t>1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</a:p>
        </p:txBody>
      </p:sp>
      <p:sp>
        <p:nvSpPr>
          <p:cNvPr id="219148" name="Text Box 12"/>
          <p:cNvSpPr txBox="1">
            <a:spLocks noChangeArrowheads="1"/>
          </p:cNvSpPr>
          <p:nvPr/>
        </p:nvSpPr>
        <p:spPr bwMode="auto">
          <a:xfrm>
            <a:off x="3276600" y="5157788"/>
            <a:ext cx="21050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1+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  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 </a:t>
            </a:r>
            <a:r>
              <a:rPr lang="en-US" altLang="zh-CN" sz="3200" b="1" i="1">
                <a:solidFill>
                  <a:srgbClr val="000080"/>
                </a:solidFill>
              </a:rPr>
              <a:t>1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</a:p>
        </p:txBody>
      </p:sp>
      <p:sp>
        <p:nvSpPr>
          <p:cNvPr id="219149" name="Text Box 13"/>
          <p:cNvSpPr txBox="1">
            <a:spLocks noChangeArrowheads="1"/>
          </p:cNvSpPr>
          <p:nvPr/>
        </p:nvSpPr>
        <p:spPr bwMode="auto">
          <a:xfrm>
            <a:off x="3200400" y="6019800"/>
            <a:ext cx="2509838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-(1+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  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 </a:t>
            </a:r>
            <a:r>
              <a:rPr lang="en-US" altLang="zh-CN" sz="3200" b="1" i="1">
                <a:solidFill>
                  <a:srgbClr val="000080"/>
                </a:solidFill>
              </a:rPr>
              <a:t>1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</a:p>
        </p:txBody>
      </p:sp>
      <p:sp>
        <p:nvSpPr>
          <p:cNvPr id="219150" name="Text Box 14"/>
          <p:cNvSpPr txBox="1">
            <a:spLocks noChangeArrowheads="1"/>
          </p:cNvSpPr>
          <p:nvPr/>
        </p:nvSpPr>
        <p:spPr bwMode="auto">
          <a:xfrm>
            <a:off x="6484938" y="6162675"/>
            <a:ext cx="20701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  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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 </a:t>
            </a:r>
            <a:r>
              <a:rPr lang="en-US" altLang="zh-CN" sz="3200" b="1">
                <a:solidFill>
                  <a:srgbClr val="000080"/>
                </a:solidFill>
              </a:rPr>
              <a:t> 2|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l</a:t>
            </a:r>
            <a:r>
              <a:rPr lang="en-US" altLang="zh-CN" sz="3200" b="1">
                <a:solidFill>
                  <a:srgbClr val="000080"/>
                </a:solidFill>
              </a:rPr>
              <a:t>|</a:t>
            </a:r>
            <a:r>
              <a:rPr lang="en-US" altLang="zh-CN" sz="3200" b="1" baseline="30000">
                <a:solidFill>
                  <a:srgbClr val="800080"/>
                </a:solidFill>
              </a:rPr>
              <a:t>–1</a:t>
            </a:r>
          </a:p>
        </p:txBody>
      </p:sp>
      <p:sp>
        <p:nvSpPr>
          <p:cNvPr id="219151" name="Text Box 15"/>
          <p:cNvSpPr txBox="1">
            <a:spLocks noChangeArrowheads="1"/>
          </p:cNvSpPr>
          <p:nvPr/>
        </p:nvSpPr>
        <p:spPr bwMode="auto">
          <a:xfrm>
            <a:off x="4716463" y="1341785"/>
            <a:ext cx="32004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baseline="30000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</a:t>
            </a:r>
            <a:endParaRPr lang="en-US" altLang="zh-CN" sz="3200" b="1"/>
          </a:p>
        </p:txBody>
      </p:sp>
      <p:sp>
        <p:nvSpPr>
          <p:cNvPr id="219152" name="Text Box 16"/>
          <p:cNvSpPr txBox="1">
            <a:spLocks noChangeArrowheads="1"/>
          </p:cNvSpPr>
          <p:nvPr/>
        </p:nvSpPr>
        <p:spPr bwMode="auto">
          <a:xfrm>
            <a:off x="5562600" y="3217639"/>
            <a:ext cx="3429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80"/>
                </a:solidFill>
              </a:rPr>
              <a:t>=</a:t>
            </a:r>
            <a:r>
              <a:rPr lang="en-US" altLang="zh-CN" sz="3200" b="1" i="1" dirty="0">
                <a:solidFill>
                  <a:srgbClr val="000080"/>
                </a:solidFill>
                <a:cs typeface="Times New Roman" pitchFamily="18" charset="0"/>
              </a:rPr>
              <a:t>…</a:t>
            </a:r>
            <a:r>
              <a:rPr lang="en-US" altLang="zh-CN" sz="3200" b="1" i="1" dirty="0">
                <a:solidFill>
                  <a:srgbClr val="000080"/>
                </a:solidFill>
              </a:rPr>
              <a:t>= (1+</a:t>
            </a:r>
            <a:r>
              <a:rPr lang="en-US" altLang="zh-CN" sz="3200" b="1" dirty="0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 dirty="0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 dirty="0">
                <a:solidFill>
                  <a:srgbClr val="000080"/>
                </a:solidFill>
              </a:rPr>
              <a:t>t) </a:t>
            </a:r>
            <a:r>
              <a:rPr lang="en-US" altLang="zh-CN" sz="3200" b="1" i="1" baseline="30000" dirty="0">
                <a:solidFill>
                  <a:srgbClr val="000080"/>
                </a:solidFill>
              </a:rPr>
              <a:t>n+1</a:t>
            </a:r>
            <a:r>
              <a:rPr lang="en-US" altLang="zh-CN" sz="3200" b="1" i="1" baseline="-25000" dirty="0">
                <a:solidFill>
                  <a:srgbClr val="008080"/>
                </a:solidFill>
              </a:rPr>
              <a:t> </a:t>
            </a:r>
            <a:r>
              <a:rPr lang="en-US" altLang="zh-CN" sz="3200" b="1" i="1" dirty="0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 dirty="0">
                <a:solidFill>
                  <a:srgbClr val="008080"/>
                </a:solidFill>
              </a:rPr>
              <a:t>0</a:t>
            </a:r>
          </a:p>
        </p:txBody>
      </p:sp>
      <p:sp>
        <p:nvSpPr>
          <p:cNvPr id="219153" name="Text Box 17"/>
          <p:cNvSpPr txBox="1">
            <a:spLocks noChangeArrowheads="1"/>
          </p:cNvSpPr>
          <p:nvPr/>
        </p:nvSpPr>
        <p:spPr bwMode="auto">
          <a:xfrm>
            <a:off x="3348038" y="4365104"/>
            <a:ext cx="4627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000000"/>
                </a:solidFill>
              </a:rPr>
              <a:t>we require </a:t>
            </a:r>
            <a:r>
              <a:rPr lang="en-US" altLang="zh-CN" sz="3200" b="1" dirty="0">
                <a:solidFill>
                  <a:srgbClr val="000080"/>
                </a:solidFill>
              </a:rPr>
              <a:t>|1 + </a:t>
            </a:r>
            <a:r>
              <a:rPr lang="en-US" altLang="zh-CN" sz="3200" b="1" dirty="0" err="1">
                <a:solidFill>
                  <a:srgbClr val="008000"/>
                </a:solidFill>
                <a:latin typeface="Symbol" pitchFamily="18" charset="2"/>
              </a:rPr>
              <a:t>lD</a:t>
            </a:r>
            <a:r>
              <a:rPr lang="en-US" altLang="zh-CN" sz="3200" b="1" i="1" dirty="0" err="1">
                <a:solidFill>
                  <a:srgbClr val="000080"/>
                </a:solidFill>
              </a:rPr>
              <a:t>t</a:t>
            </a:r>
            <a:r>
              <a:rPr lang="en-US" altLang="zh-CN" sz="3200" b="1" dirty="0">
                <a:solidFill>
                  <a:srgbClr val="000080"/>
                </a:solidFill>
              </a:rPr>
              <a:t>| </a:t>
            </a:r>
            <a:r>
              <a:rPr lang="en-US" altLang="zh-CN" sz="3200" b="1" dirty="0">
                <a:solidFill>
                  <a:srgbClr val="000080"/>
                </a:solidFill>
                <a:latin typeface="Symbol" pitchFamily="18" charset="2"/>
              </a:rPr>
              <a:t>£ </a:t>
            </a:r>
            <a:r>
              <a:rPr lang="en-US" altLang="zh-CN" sz="3200" b="1" dirty="0">
                <a:solidFill>
                  <a:srgbClr val="000080"/>
                </a:solidFill>
              </a:rPr>
              <a:t>1</a:t>
            </a:r>
            <a:r>
              <a:rPr lang="en-US" altLang="zh-CN" sz="3200" b="1" dirty="0">
                <a:solidFill>
                  <a:srgbClr val="000000"/>
                </a:solidFill>
              </a:rPr>
              <a:t>.</a:t>
            </a:r>
            <a:endParaRPr lang="en-US" altLang="zh-CN" sz="3200" b="1" dirty="0"/>
          </a:p>
        </p:txBody>
      </p:sp>
      <p:pic>
        <p:nvPicPr>
          <p:cNvPr id="62479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333375"/>
            <a:ext cx="2447925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9155" name="Text Box 19"/>
          <p:cNvSpPr txBox="1">
            <a:spLocks noChangeArrowheads="1"/>
          </p:cNvSpPr>
          <p:nvPr/>
        </p:nvSpPr>
        <p:spPr bwMode="auto">
          <a:xfrm>
            <a:off x="6300280" y="5327650"/>
            <a:ext cx="1584088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 dirty="0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 dirty="0">
                <a:solidFill>
                  <a:srgbClr val="000080"/>
                </a:solidFill>
              </a:rPr>
              <a:t>t  </a:t>
            </a:r>
            <a:r>
              <a:rPr lang="en-US" altLang="zh-CN" sz="3200" b="1" i="1" dirty="0">
                <a:solidFill>
                  <a:srgbClr val="000080"/>
                </a:solidFill>
                <a:sym typeface="Symbol" pitchFamily="18" charset="2"/>
              </a:rPr>
              <a:t> 0</a:t>
            </a:r>
            <a:r>
              <a:rPr lang="en-US" altLang="zh-CN" sz="3200" b="1" i="1" baseline="-25000" dirty="0">
                <a:solidFill>
                  <a:srgbClr val="008080"/>
                </a:solidFill>
              </a:rPr>
              <a:t> 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536079"/>
              </p:ext>
            </p:extLst>
          </p:nvPr>
        </p:nvGraphicFramePr>
        <p:xfrm>
          <a:off x="304800" y="4028343"/>
          <a:ext cx="2319462" cy="624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02" name="公式" r:id="rId4" imgW="927100" imgH="228600" progId="Equation.3">
                  <p:embed/>
                </p:oleObj>
              </mc:Choice>
              <mc:Fallback>
                <p:oleObj name="公式" r:id="rId4" imgW="9271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028343"/>
                        <a:ext cx="2319462" cy="6247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9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9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9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9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9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9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9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9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9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9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2" grpId="0" autoUpdateAnimBg="0"/>
      <p:bldP spid="219143" grpId="0" autoUpdateAnimBg="0"/>
      <p:bldP spid="219144" grpId="0" autoUpdateAnimBg="0"/>
      <p:bldP spid="219145" grpId="0" autoUpdateAnimBg="0"/>
      <p:bldP spid="219146" grpId="0" autoUpdateAnimBg="0"/>
      <p:bldP spid="219147" grpId="0" autoUpdateAnimBg="0"/>
      <p:bldP spid="219148" grpId="0" autoUpdateAnimBg="0"/>
      <p:bldP spid="219149" grpId="0" autoUpdateAnimBg="0"/>
      <p:bldP spid="219150" grpId="0" autoUpdateAnimBg="0"/>
      <p:bldP spid="219151" grpId="0" autoUpdateAnimBg="0"/>
      <p:bldP spid="219152" grpId="0" autoUpdateAnimBg="0"/>
      <p:bldP spid="219153" grpId="0" autoUpdateAnimBg="0"/>
      <p:bldP spid="219155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484313"/>
            <a:ext cx="7777162" cy="507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33400"/>
            <a:ext cx="8001000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492" name="Text Box 14"/>
          <p:cNvSpPr txBox="1">
            <a:spLocks noChangeArrowheads="1"/>
          </p:cNvSpPr>
          <p:nvPr/>
        </p:nvSpPr>
        <p:spPr bwMode="auto">
          <a:xfrm>
            <a:off x="7164388" y="1484313"/>
            <a:ext cx="18526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 </a:t>
            </a:r>
            <a:r>
              <a:rPr lang="en-US" altLang="zh-CN" sz="3200" b="1">
                <a:solidFill>
                  <a:srgbClr val="000080"/>
                </a:solidFill>
              </a:rPr>
              <a:t>&lt; 2|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l</a:t>
            </a:r>
            <a:r>
              <a:rPr lang="en-US" altLang="zh-CN" sz="3200" b="1">
                <a:solidFill>
                  <a:srgbClr val="000080"/>
                </a:solidFill>
              </a:rPr>
              <a:t>|</a:t>
            </a:r>
            <a:r>
              <a:rPr lang="en-US" altLang="zh-CN" sz="3200" b="1" baseline="30000">
                <a:solidFill>
                  <a:srgbClr val="800080"/>
                </a:solidFill>
              </a:rPr>
              <a:t>–1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8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8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3"/>
          <p:cNvSpPr txBox="1">
            <a:spLocks noChangeArrowheads="1"/>
          </p:cNvSpPr>
          <p:nvPr/>
        </p:nvSpPr>
        <p:spPr bwMode="auto">
          <a:xfrm>
            <a:off x="4284663" y="333375"/>
            <a:ext cx="207327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600" b="1" i="1">
                <a:solidFill>
                  <a:srgbClr val="000080"/>
                </a:solidFill>
              </a:rPr>
              <a:t>t </a:t>
            </a:r>
            <a:r>
              <a:rPr lang="en-US" altLang="zh-CN" sz="3600" b="1">
                <a:solidFill>
                  <a:srgbClr val="000080"/>
                </a:solidFill>
              </a:rPr>
              <a:t> </a:t>
            </a:r>
            <a:r>
              <a:rPr lang="en-US" altLang="zh-CN" sz="3600" b="1">
                <a:solidFill>
                  <a:srgbClr val="000080"/>
                </a:solidFill>
                <a:sym typeface="Symbol" pitchFamily="18" charset="2"/>
              </a:rPr>
              <a:t></a:t>
            </a:r>
            <a:r>
              <a:rPr lang="en-US" altLang="zh-CN" sz="3600" b="1">
                <a:solidFill>
                  <a:srgbClr val="000080"/>
                </a:solidFill>
              </a:rPr>
              <a:t>2|</a:t>
            </a:r>
            <a:r>
              <a:rPr lang="en-US" altLang="zh-CN" sz="3600" b="1">
                <a:solidFill>
                  <a:srgbClr val="008000"/>
                </a:solidFill>
                <a:latin typeface="Symbol" pitchFamily="18" charset="2"/>
              </a:rPr>
              <a:t>l</a:t>
            </a:r>
            <a:r>
              <a:rPr lang="en-US" altLang="zh-CN" sz="3600" b="1">
                <a:solidFill>
                  <a:srgbClr val="000080"/>
                </a:solidFill>
              </a:rPr>
              <a:t>|</a:t>
            </a:r>
            <a:r>
              <a:rPr lang="en-US" altLang="zh-CN" sz="3600" b="1" baseline="30000">
                <a:solidFill>
                  <a:srgbClr val="800080"/>
                </a:solidFill>
              </a:rPr>
              <a:t>–1</a:t>
            </a:r>
          </a:p>
        </p:txBody>
      </p:sp>
      <p:sp>
        <p:nvSpPr>
          <p:cNvPr id="220164" name="Text Box 4"/>
          <p:cNvSpPr txBox="1">
            <a:spLocks noChangeArrowheads="1"/>
          </p:cNvSpPr>
          <p:nvPr/>
        </p:nvSpPr>
        <p:spPr bwMode="auto">
          <a:xfrm>
            <a:off x="179388" y="1196975"/>
            <a:ext cx="88392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The reason why we consider the behavior of above equation is that it is a model for the behavior of small errors.</a:t>
            </a:r>
          </a:p>
        </p:txBody>
      </p:sp>
      <p:sp>
        <p:nvSpPr>
          <p:cNvPr id="220165" name="Text Box 5"/>
          <p:cNvSpPr txBox="1">
            <a:spLocks noChangeArrowheads="1"/>
          </p:cNvSpPr>
          <p:nvPr/>
        </p:nvSpPr>
        <p:spPr bwMode="auto">
          <a:xfrm>
            <a:off x="1763713" y="4149725"/>
            <a:ext cx="37496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i="1">
                <a:solidFill>
                  <a:srgbClr val="000080"/>
                </a:solidFill>
              </a:rPr>
              <a:t>y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$</a:t>
            </a:r>
            <a:r>
              <a:rPr lang="en-US" altLang="zh-CN" sz="3600" b="1" i="1">
                <a:solidFill>
                  <a:srgbClr val="008080"/>
                </a:solidFill>
              </a:rPr>
              <a:t> </a:t>
            </a:r>
            <a:r>
              <a:rPr lang="en-US" altLang="zh-CN" sz="3600" b="1" i="1">
                <a:solidFill>
                  <a:srgbClr val="000080"/>
                </a:solidFill>
              </a:rPr>
              <a:t>= y + </a:t>
            </a:r>
            <a:r>
              <a:rPr lang="en-US" altLang="zh-CN" sz="3600" b="1" i="1">
                <a:solidFill>
                  <a:srgbClr val="008000"/>
                </a:solidFill>
                <a:latin typeface="Symbol" pitchFamily="18" charset="2"/>
              </a:rPr>
              <a:t>e</a:t>
            </a:r>
          </a:p>
        </p:txBody>
      </p:sp>
      <p:sp>
        <p:nvSpPr>
          <p:cNvPr id="220166" name="Text Box 6"/>
          <p:cNvSpPr txBox="1">
            <a:spLocks noChangeArrowheads="1"/>
          </p:cNvSpPr>
          <p:nvPr/>
        </p:nvSpPr>
        <p:spPr bwMode="auto">
          <a:xfrm>
            <a:off x="152400" y="4800600"/>
            <a:ext cx="8839200" cy="191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>
                <a:solidFill>
                  <a:srgbClr val="000000"/>
                </a:solidFill>
              </a:rPr>
              <a:t>where 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e </a:t>
            </a:r>
            <a:r>
              <a:rPr lang="en-US" altLang="zh-CN" sz="3200" b="1">
                <a:solidFill>
                  <a:srgbClr val="000000"/>
                </a:solidFill>
              </a:rPr>
              <a:t>is the (small) error. Substituting this into our differential equation of the form </a:t>
            </a:r>
            <a:r>
              <a:rPr lang="en-US" altLang="zh-CN" sz="3600" b="1" i="1">
                <a:solidFill>
                  <a:srgbClr val="000080"/>
                </a:solidFill>
              </a:rPr>
              <a:t>y’ </a:t>
            </a:r>
            <a:r>
              <a:rPr lang="en-US" altLang="zh-CN" sz="3600" b="1">
                <a:solidFill>
                  <a:srgbClr val="000080"/>
                </a:solidFill>
              </a:rPr>
              <a:t>= </a:t>
            </a:r>
            <a:r>
              <a:rPr lang="en-US" altLang="zh-CN" sz="3600" b="1" i="1">
                <a:solidFill>
                  <a:srgbClr val="000080"/>
                </a:solidFill>
              </a:rPr>
              <a:t>f</a:t>
            </a:r>
            <a:r>
              <a:rPr lang="en-US" altLang="zh-CN" sz="3600" b="1">
                <a:solidFill>
                  <a:srgbClr val="000080"/>
                </a:solidFill>
              </a:rPr>
              <a:t>(</a:t>
            </a:r>
            <a:r>
              <a:rPr lang="en-US" altLang="zh-CN" sz="3600" b="1" i="1">
                <a:solidFill>
                  <a:srgbClr val="000080"/>
                </a:solidFill>
              </a:rPr>
              <a:t>t</a:t>
            </a:r>
            <a:r>
              <a:rPr lang="en-US" altLang="zh-CN" sz="3600" b="1">
                <a:solidFill>
                  <a:srgbClr val="000080"/>
                </a:solidFill>
              </a:rPr>
              <a:t>,</a:t>
            </a:r>
            <a:r>
              <a:rPr lang="en-US" altLang="zh-CN" sz="3600" b="1" i="1">
                <a:solidFill>
                  <a:srgbClr val="000080"/>
                </a:solidFill>
              </a:rPr>
              <a:t>y</a:t>
            </a:r>
            <a:r>
              <a:rPr lang="en-US" altLang="zh-CN" sz="3600" b="1">
                <a:solidFill>
                  <a:srgbClr val="000080"/>
                </a:solidFill>
              </a:rPr>
              <a:t>)</a:t>
            </a:r>
            <a:r>
              <a:rPr lang="en-US" altLang="zh-CN" sz="3200" b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0000"/>
                </a:solidFill>
              </a:rPr>
              <a:t>and using a Taylor Series expansion gives</a:t>
            </a:r>
          </a:p>
        </p:txBody>
      </p:sp>
      <p:sp>
        <p:nvSpPr>
          <p:cNvPr id="220167" name="Text Box 7"/>
          <p:cNvSpPr txBox="1">
            <a:spLocks noChangeArrowheads="1"/>
          </p:cNvSpPr>
          <p:nvPr/>
        </p:nvSpPr>
        <p:spPr bwMode="auto">
          <a:xfrm>
            <a:off x="304800" y="2852738"/>
            <a:ext cx="8839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0000"/>
                </a:solidFill>
              </a:rPr>
              <a:t>Suppose that at some stage during the solution process our approximate solution is</a:t>
            </a:r>
            <a:endParaRPr lang="en-US" altLang="zh-CN" sz="3200" b="1"/>
          </a:p>
        </p:txBody>
      </p:sp>
      <p:pic>
        <p:nvPicPr>
          <p:cNvPr id="64519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60350"/>
            <a:ext cx="2519363" cy="90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8">
            <a:extLst>
              <a:ext uri="{FF2B5EF4-FFF2-40B4-BE49-F238E27FC236}">
                <a16:creationId xmlns:a16="http://schemas.microsoft.com/office/drawing/2014/main" id="{A508446E-119B-4D55-B3D1-94419EAAA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791" y="337170"/>
            <a:ext cx="2447925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4" grpId="0" autoUpdateAnimBg="0"/>
      <p:bldP spid="220165" grpId="0" autoUpdateAnimBg="0"/>
      <p:bldP spid="220166" grpId="0" autoUpdateAnimBg="0"/>
      <p:bldP spid="220167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6"/>
          <p:cNvSpPr txBox="1">
            <a:spLocks noChangeArrowheads="1"/>
          </p:cNvSpPr>
          <p:nvPr/>
        </p:nvSpPr>
        <p:spPr bwMode="auto">
          <a:xfrm>
            <a:off x="844550" y="188913"/>
            <a:ext cx="4495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i="1">
                <a:solidFill>
                  <a:srgbClr val="000080"/>
                </a:solidFill>
              </a:rPr>
              <a:t>y</a:t>
            </a:r>
            <a:r>
              <a:rPr lang="en-US" altLang="zh-CN" sz="3600" b="1" baseline="-25000">
                <a:solidFill>
                  <a:srgbClr val="008080"/>
                </a:solidFill>
              </a:rPr>
              <a:t>$</a:t>
            </a:r>
            <a:r>
              <a:rPr lang="en-US" altLang="zh-CN" sz="3600" b="1">
                <a:solidFill>
                  <a:srgbClr val="008080"/>
                </a:solidFill>
              </a:rPr>
              <a:t> </a:t>
            </a:r>
            <a:r>
              <a:rPr lang="en-US" altLang="zh-CN" sz="3600" b="1">
                <a:solidFill>
                  <a:srgbClr val="000080"/>
                </a:solidFill>
              </a:rPr>
              <a:t>= </a:t>
            </a:r>
            <a:r>
              <a:rPr lang="en-US" altLang="zh-CN" sz="3600" b="1" i="1">
                <a:solidFill>
                  <a:srgbClr val="000080"/>
                </a:solidFill>
              </a:rPr>
              <a:t>y </a:t>
            </a:r>
            <a:r>
              <a:rPr lang="en-US" altLang="zh-CN" sz="3600" b="1">
                <a:solidFill>
                  <a:srgbClr val="000080"/>
                </a:solidFill>
              </a:rPr>
              <a:t>+ </a:t>
            </a:r>
            <a:r>
              <a:rPr lang="en-US" altLang="zh-CN" sz="3600" b="1">
                <a:solidFill>
                  <a:srgbClr val="008000"/>
                </a:solidFill>
                <a:latin typeface="Symbol" pitchFamily="18" charset="2"/>
              </a:rPr>
              <a:t>e,  </a:t>
            </a:r>
            <a:r>
              <a:rPr lang="en-US" altLang="zh-CN" sz="3600" b="1" i="1">
                <a:solidFill>
                  <a:srgbClr val="000080"/>
                </a:solidFill>
              </a:rPr>
              <a:t>y’ </a:t>
            </a:r>
            <a:r>
              <a:rPr lang="en-US" altLang="zh-CN" sz="3600" b="1">
                <a:solidFill>
                  <a:srgbClr val="000080"/>
                </a:solidFill>
              </a:rPr>
              <a:t>= </a:t>
            </a:r>
            <a:r>
              <a:rPr lang="en-US" altLang="zh-CN" sz="3600" b="1" i="1">
                <a:solidFill>
                  <a:srgbClr val="000080"/>
                </a:solidFill>
              </a:rPr>
              <a:t>f</a:t>
            </a:r>
            <a:r>
              <a:rPr lang="en-US" altLang="zh-CN" sz="3600" b="1">
                <a:solidFill>
                  <a:srgbClr val="000080"/>
                </a:solidFill>
              </a:rPr>
              <a:t>(</a:t>
            </a:r>
            <a:r>
              <a:rPr lang="en-US" altLang="zh-CN" sz="3600" b="1" i="1">
                <a:solidFill>
                  <a:srgbClr val="000080"/>
                </a:solidFill>
              </a:rPr>
              <a:t>t</a:t>
            </a:r>
            <a:r>
              <a:rPr lang="en-US" altLang="zh-CN" sz="3600" b="1">
                <a:solidFill>
                  <a:srgbClr val="000080"/>
                </a:solidFill>
              </a:rPr>
              <a:t>,</a:t>
            </a:r>
            <a:r>
              <a:rPr lang="en-US" altLang="zh-CN" sz="3600" b="1" i="1">
                <a:solidFill>
                  <a:srgbClr val="000080"/>
                </a:solidFill>
              </a:rPr>
              <a:t>y</a:t>
            </a:r>
            <a:r>
              <a:rPr lang="en-US" altLang="zh-CN" sz="3600" b="1">
                <a:solidFill>
                  <a:srgbClr val="000080"/>
                </a:solidFill>
              </a:rPr>
              <a:t>) </a:t>
            </a:r>
          </a:p>
        </p:txBody>
      </p:sp>
      <p:pic>
        <p:nvPicPr>
          <p:cNvPr id="2211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688" y="1436688"/>
            <a:ext cx="2489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119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563" y="2551113"/>
            <a:ext cx="3878262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1195" name="Text Box 11"/>
          <p:cNvSpPr txBox="1">
            <a:spLocks noChangeArrowheads="1"/>
          </p:cNvSpPr>
          <p:nvPr/>
        </p:nvSpPr>
        <p:spPr bwMode="auto">
          <a:xfrm>
            <a:off x="6084888" y="3644900"/>
            <a:ext cx="24384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600" b="1" i="1">
                <a:solidFill>
                  <a:srgbClr val="000080"/>
                </a:solidFill>
              </a:rPr>
              <a:t>t </a:t>
            </a:r>
            <a:r>
              <a:rPr lang="en-US" altLang="zh-CN" sz="3600" b="1">
                <a:solidFill>
                  <a:srgbClr val="000080"/>
                </a:solidFill>
                <a:sym typeface="Symbol" pitchFamily="18" charset="2"/>
              </a:rPr>
              <a:t></a:t>
            </a:r>
            <a:r>
              <a:rPr lang="en-US" altLang="zh-CN" sz="3600" b="1">
                <a:solidFill>
                  <a:srgbClr val="000080"/>
                </a:solidFill>
              </a:rPr>
              <a:t>2|</a:t>
            </a:r>
            <a:r>
              <a:rPr lang="en-US" altLang="zh-CN" sz="3600" b="1">
                <a:solidFill>
                  <a:srgbClr val="008000"/>
                </a:solidFill>
                <a:latin typeface="Symbol" pitchFamily="18" charset="2"/>
              </a:rPr>
              <a:t>l</a:t>
            </a:r>
            <a:r>
              <a:rPr lang="en-US" altLang="zh-CN" sz="3600" b="1">
                <a:solidFill>
                  <a:srgbClr val="000080"/>
                </a:solidFill>
              </a:rPr>
              <a:t>|</a:t>
            </a:r>
            <a:r>
              <a:rPr lang="en-US" altLang="zh-CN" sz="3600" b="1" baseline="30000">
                <a:solidFill>
                  <a:srgbClr val="800080"/>
                </a:solidFill>
              </a:rPr>
              <a:t>–1</a:t>
            </a:r>
          </a:p>
        </p:txBody>
      </p:sp>
      <p:pic>
        <p:nvPicPr>
          <p:cNvPr id="221196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4292600"/>
            <a:ext cx="3024187" cy="142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21197" name="Object 13"/>
          <p:cNvGraphicFramePr>
            <a:graphicFrameLocks noChangeAspect="1"/>
          </p:cNvGraphicFramePr>
          <p:nvPr/>
        </p:nvGraphicFramePr>
        <p:xfrm>
          <a:off x="323850" y="3644900"/>
          <a:ext cx="2016125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16" name="公式" r:id="rId6" imgW="634725" imgH="418918" progId="Equation.3">
                  <p:embed/>
                </p:oleObj>
              </mc:Choice>
              <mc:Fallback>
                <p:oleObj name="公式" r:id="rId6" imgW="634725" imgH="41891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644900"/>
                        <a:ext cx="2016125" cy="1319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200" name="Object 16"/>
          <p:cNvGraphicFramePr>
            <a:graphicFrameLocks noChangeAspect="1"/>
          </p:cNvGraphicFramePr>
          <p:nvPr/>
        </p:nvGraphicFramePr>
        <p:xfrm>
          <a:off x="250825" y="5084763"/>
          <a:ext cx="1439863" cy="127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17" name="公式" r:id="rId8" imgW="469900" imgH="419100" progId="Equation.3">
                  <p:embed/>
                </p:oleObj>
              </mc:Choice>
              <mc:Fallback>
                <p:oleObj name="公式" r:id="rId8" imgW="469900" imgH="4191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5084763"/>
                        <a:ext cx="1439863" cy="1274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202" name="Object 18"/>
          <p:cNvGraphicFramePr>
            <a:graphicFrameLocks noChangeAspect="1"/>
          </p:cNvGraphicFramePr>
          <p:nvPr/>
        </p:nvGraphicFramePr>
        <p:xfrm>
          <a:off x="2771775" y="4365625"/>
          <a:ext cx="18716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18" name="公式" r:id="rId10" imgW="444114" imgH="177646" progId="Equation.3">
                  <p:embed/>
                </p:oleObj>
              </mc:Choice>
              <mc:Fallback>
                <p:oleObj name="公式" r:id="rId10" imgW="444114" imgH="17764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4365625"/>
                        <a:ext cx="187166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1203" name="Picture 1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196975"/>
            <a:ext cx="3455988" cy="121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1193" name="AutoShape 9"/>
          <p:cNvSpPr>
            <a:spLocks noChangeArrowheads="1"/>
          </p:cNvSpPr>
          <p:nvPr/>
        </p:nvSpPr>
        <p:spPr bwMode="auto">
          <a:xfrm>
            <a:off x="1690688" y="1196975"/>
            <a:ext cx="865187" cy="246062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21204" name="Picture 20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0" y="1484313"/>
            <a:ext cx="1944688" cy="80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1205" name="Picture 21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2636838"/>
            <a:ext cx="2232025" cy="80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1207" name="Text Box 23"/>
          <p:cNvSpPr txBox="1">
            <a:spLocks noChangeArrowheads="1"/>
          </p:cNvSpPr>
          <p:nvPr/>
        </p:nvSpPr>
        <p:spPr bwMode="auto">
          <a:xfrm>
            <a:off x="1619250" y="5877272"/>
            <a:ext cx="72358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 dirty="0">
                <a:solidFill>
                  <a:srgbClr val="008080"/>
                </a:solidFill>
              </a:rPr>
              <a:t>i+1</a:t>
            </a:r>
            <a:r>
              <a:rPr lang="en-US" altLang="zh-CN" sz="3200" b="1" i="1" dirty="0">
                <a:solidFill>
                  <a:srgbClr val="000000"/>
                </a:solidFill>
              </a:rPr>
              <a:t>=</a:t>
            </a:r>
            <a:r>
              <a:rPr lang="en-US" altLang="zh-CN" sz="3200" b="1" i="1" dirty="0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 dirty="0">
                <a:solidFill>
                  <a:srgbClr val="008080"/>
                </a:solidFill>
              </a:rPr>
              <a:t>i+1</a:t>
            </a:r>
            <a:r>
              <a:rPr lang="en-US" altLang="zh-CN" sz="3200" b="1" i="1" dirty="0">
                <a:solidFill>
                  <a:srgbClr val="000080"/>
                </a:solidFill>
              </a:rPr>
              <a:t>+C</a:t>
            </a:r>
            <a:r>
              <a:rPr lang="en-US" altLang="zh-CN" sz="3200" b="1" i="1" baseline="-25000" dirty="0">
                <a:solidFill>
                  <a:srgbClr val="008080"/>
                </a:solidFill>
              </a:rPr>
              <a:t>1(i+1) </a:t>
            </a:r>
            <a:r>
              <a:rPr lang="en-US" altLang="zh-CN" sz="3200" b="1" i="1" dirty="0">
                <a:solidFill>
                  <a:srgbClr val="000080"/>
                </a:solidFill>
              </a:rPr>
              <a:t>err</a:t>
            </a:r>
            <a:r>
              <a:rPr lang="en-US" altLang="zh-CN" sz="3200" b="1" i="1" baseline="-25000" dirty="0">
                <a:solidFill>
                  <a:srgbClr val="008080"/>
                </a:solidFill>
              </a:rPr>
              <a:t>1 </a:t>
            </a:r>
            <a:r>
              <a:rPr lang="en-US" altLang="zh-CN" sz="3200" b="1" i="1" dirty="0">
                <a:solidFill>
                  <a:srgbClr val="000080"/>
                </a:solidFill>
              </a:rPr>
              <a:t>+C</a:t>
            </a:r>
            <a:r>
              <a:rPr lang="en-US" altLang="zh-CN" sz="3200" b="1" i="1" baseline="-25000" dirty="0">
                <a:solidFill>
                  <a:srgbClr val="008080"/>
                </a:solidFill>
              </a:rPr>
              <a:t>2(i+1) </a:t>
            </a:r>
            <a:r>
              <a:rPr lang="en-US" altLang="zh-CN" sz="3200" b="1" i="1" dirty="0">
                <a:solidFill>
                  <a:srgbClr val="000080"/>
                </a:solidFill>
              </a:rPr>
              <a:t>err</a:t>
            </a:r>
            <a:r>
              <a:rPr lang="en-US" altLang="zh-CN" sz="3200" b="1" i="1" baseline="-25000" dirty="0">
                <a:solidFill>
                  <a:srgbClr val="008080"/>
                </a:solidFill>
              </a:rPr>
              <a:t>2 </a:t>
            </a:r>
            <a:r>
              <a:rPr lang="en-US" altLang="zh-CN" sz="3200" b="1" i="1" dirty="0">
                <a:solidFill>
                  <a:srgbClr val="000080"/>
                </a:solidFill>
              </a:rPr>
              <a:t>+ </a:t>
            </a:r>
            <a:r>
              <a:rPr lang="en-US" altLang="zh-CN" b="1" i="1" dirty="0">
                <a:solidFill>
                  <a:srgbClr val="000080"/>
                </a:solidFill>
                <a:sym typeface="Symbol" pitchFamily="18" charset="2"/>
              </a:rPr>
              <a:t> </a:t>
            </a:r>
            <a:r>
              <a:rPr lang="en-US" altLang="zh-CN" sz="3200" b="1" i="1" dirty="0">
                <a:solidFill>
                  <a:srgbClr val="000080"/>
                </a:solidFill>
              </a:rPr>
              <a:t>err</a:t>
            </a:r>
            <a:r>
              <a:rPr lang="en-US" altLang="zh-CN" sz="3200" b="1" i="1" baseline="-25000" dirty="0">
                <a:solidFill>
                  <a:srgbClr val="008080"/>
                </a:solidFill>
              </a:rPr>
              <a:t>i+1 </a:t>
            </a:r>
          </a:p>
        </p:txBody>
      </p:sp>
      <p:sp>
        <p:nvSpPr>
          <p:cNvPr id="221208" name="Rectangle 24"/>
          <p:cNvSpPr>
            <a:spLocks noChangeArrowheads="1"/>
          </p:cNvSpPr>
          <p:nvPr/>
        </p:nvSpPr>
        <p:spPr bwMode="auto">
          <a:xfrm>
            <a:off x="5362575" y="4437063"/>
            <a:ext cx="3313113" cy="125095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1209" name="AutoShape 25"/>
          <p:cNvSpPr>
            <a:spLocks noChangeArrowheads="1"/>
          </p:cNvSpPr>
          <p:nvPr/>
        </p:nvSpPr>
        <p:spPr bwMode="auto">
          <a:xfrm>
            <a:off x="2941638" y="1196975"/>
            <a:ext cx="838200" cy="246062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1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1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1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1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1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1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1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1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1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1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1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1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1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1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1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1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95" grpId="0" autoUpdateAnimBg="0"/>
      <p:bldP spid="221193" grpId="0" animBg="1"/>
      <p:bldP spid="221207" grpId="0"/>
      <p:bldP spid="221208" grpId="0" animBg="1"/>
      <p:bldP spid="22120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3"/>
          <p:cNvSpPr txBox="1">
            <a:spLocks noChangeArrowheads="1"/>
          </p:cNvSpPr>
          <p:nvPr/>
        </p:nvSpPr>
        <p:spPr bwMode="auto">
          <a:xfrm>
            <a:off x="539750" y="620713"/>
            <a:ext cx="57753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In Backward Euler method</a:t>
            </a: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1116013" y="1916113"/>
            <a:ext cx="5373687" cy="75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600" b="1" i="1">
                <a:solidFill>
                  <a:srgbClr val="000080"/>
                </a:solidFill>
              </a:rPr>
              <a:t>Y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600" b="1" baseline="-25000">
                <a:solidFill>
                  <a:srgbClr val="008080"/>
                </a:solidFill>
              </a:rPr>
              <a:t>+1</a:t>
            </a:r>
            <a:r>
              <a:rPr lang="en-US" altLang="zh-CN" sz="3600" b="1" i="1">
                <a:solidFill>
                  <a:srgbClr val="000080"/>
                </a:solidFill>
              </a:rPr>
              <a:t>= Y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600" b="1" i="1">
                <a:solidFill>
                  <a:srgbClr val="000080"/>
                </a:solidFill>
              </a:rPr>
              <a:t>+</a:t>
            </a:r>
            <a:r>
              <a:rPr lang="en-US" altLang="zh-CN" sz="36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600" b="1" i="1">
                <a:solidFill>
                  <a:srgbClr val="000080"/>
                </a:solidFill>
              </a:rPr>
              <a:t>t</a:t>
            </a:r>
            <a:r>
              <a:rPr lang="en-US" altLang="zh-CN" sz="3600" b="1" baseline="30000">
                <a:solidFill>
                  <a:srgbClr val="800080"/>
                </a:solidFill>
              </a:rPr>
              <a:t> </a:t>
            </a:r>
            <a:r>
              <a:rPr lang="en-US" altLang="zh-CN" sz="3600" b="1" i="1">
                <a:solidFill>
                  <a:srgbClr val="000080"/>
                </a:solidFill>
              </a:rPr>
              <a:t> f(t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n+1 </a:t>
            </a:r>
            <a:r>
              <a:rPr lang="en-US" altLang="zh-CN" sz="3600" b="1" i="1">
                <a:solidFill>
                  <a:srgbClr val="000080"/>
                </a:solidFill>
              </a:rPr>
              <a:t>,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600" b="1" i="1">
                <a:solidFill>
                  <a:srgbClr val="000080"/>
                </a:solidFill>
              </a:rPr>
              <a:t>Y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n+1 </a:t>
            </a:r>
            <a:r>
              <a:rPr lang="en-US" altLang="zh-CN" sz="3600" b="1" i="1">
                <a:solidFill>
                  <a:srgbClr val="000080"/>
                </a:solidFill>
              </a:rPr>
              <a:t>)</a:t>
            </a:r>
            <a:endParaRPr lang="en-US" altLang="zh-CN" sz="3600" b="1"/>
          </a:p>
        </p:txBody>
      </p:sp>
      <p:pic>
        <p:nvPicPr>
          <p:cNvPr id="22426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3716338"/>
            <a:ext cx="23749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0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1" name="Text Box 3"/>
          <p:cNvSpPr txBox="1">
            <a:spLocks noChangeArrowheads="1"/>
          </p:cNvSpPr>
          <p:nvPr/>
        </p:nvSpPr>
        <p:spPr bwMode="auto">
          <a:xfrm>
            <a:off x="304800" y="990600"/>
            <a:ext cx="8458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/>
              <a:t>In comparison, solution of above equation by the Backward Euler method</a:t>
            </a:r>
          </a:p>
        </p:txBody>
      </p:sp>
      <p:sp>
        <p:nvSpPr>
          <p:cNvPr id="222216" name="Text Box 8"/>
          <p:cNvSpPr txBox="1">
            <a:spLocks noChangeArrowheads="1"/>
          </p:cNvSpPr>
          <p:nvPr/>
        </p:nvSpPr>
        <p:spPr bwMode="auto">
          <a:xfrm>
            <a:off x="250825" y="2276475"/>
            <a:ext cx="42894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baseline="30000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 f(t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n+1 </a:t>
            </a:r>
            <a:r>
              <a:rPr lang="en-US" altLang="zh-CN" sz="3200" b="1" i="1">
                <a:solidFill>
                  <a:srgbClr val="000080"/>
                </a:solidFill>
              </a:rPr>
              <a:t>,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n+1 </a:t>
            </a:r>
            <a:r>
              <a:rPr lang="en-US" altLang="zh-CN" sz="3200" b="1" i="1">
                <a:solidFill>
                  <a:srgbClr val="000080"/>
                </a:solidFill>
              </a:rPr>
              <a:t>)</a:t>
            </a:r>
            <a:endParaRPr lang="en-US" altLang="zh-CN" sz="3200" b="1"/>
          </a:p>
        </p:txBody>
      </p:sp>
      <p:sp>
        <p:nvSpPr>
          <p:cNvPr id="222217" name="Text Box 9"/>
          <p:cNvSpPr txBox="1">
            <a:spLocks noChangeArrowheads="1"/>
          </p:cNvSpPr>
          <p:nvPr/>
        </p:nvSpPr>
        <p:spPr bwMode="auto">
          <a:xfrm>
            <a:off x="5003800" y="2276475"/>
            <a:ext cx="37338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baseline="30000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n+1</a:t>
            </a:r>
            <a:endParaRPr lang="en-US" altLang="zh-CN" sz="3200" b="1"/>
          </a:p>
        </p:txBody>
      </p:sp>
      <p:sp>
        <p:nvSpPr>
          <p:cNvPr id="222218" name="Text Box 10"/>
          <p:cNvSpPr txBox="1">
            <a:spLocks noChangeArrowheads="1"/>
          </p:cNvSpPr>
          <p:nvPr/>
        </p:nvSpPr>
        <p:spPr bwMode="auto">
          <a:xfrm>
            <a:off x="323850" y="3284538"/>
            <a:ext cx="36576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/(1-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</a:t>
            </a:r>
          </a:p>
        </p:txBody>
      </p:sp>
      <p:sp>
        <p:nvSpPr>
          <p:cNvPr id="222219" name="Text Box 11"/>
          <p:cNvSpPr txBox="1">
            <a:spLocks noChangeArrowheads="1"/>
          </p:cNvSpPr>
          <p:nvPr/>
        </p:nvSpPr>
        <p:spPr bwMode="auto">
          <a:xfrm>
            <a:off x="76200" y="5157788"/>
            <a:ext cx="89916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 i="1">
                <a:solidFill>
                  <a:srgbClr val="000080"/>
                </a:solidFill>
              </a:rPr>
              <a:t>=Y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/(1-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=Y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 </a:t>
            </a:r>
            <a:r>
              <a:rPr lang="en-US" altLang="zh-CN" sz="3200" b="1" i="1">
                <a:solidFill>
                  <a:srgbClr val="000080"/>
                </a:solidFill>
              </a:rPr>
              <a:t>/(1-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 </a:t>
            </a:r>
            <a:r>
              <a:rPr lang="en-US" altLang="zh-CN" sz="3200" b="1" i="1" baseline="30000">
                <a:solidFill>
                  <a:srgbClr val="000080"/>
                </a:solidFill>
              </a:rPr>
              <a:t>2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=</a:t>
            </a:r>
            <a:r>
              <a:rPr lang="en-US" altLang="zh-CN" sz="3200" b="1" i="1">
                <a:solidFill>
                  <a:srgbClr val="000080"/>
                </a:solidFill>
                <a:cs typeface="Times New Roman" pitchFamily="18" charset="0"/>
              </a:rPr>
              <a:t>…</a:t>
            </a:r>
            <a:r>
              <a:rPr lang="en-US" altLang="zh-CN" sz="3200" b="1" i="1">
                <a:solidFill>
                  <a:srgbClr val="000080"/>
                </a:solidFill>
              </a:rPr>
              <a:t>=Y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0 </a:t>
            </a:r>
            <a:r>
              <a:rPr lang="en-US" altLang="zh-CN" sz="3200" b="1" i="1">
                <a:solidFill>
                  <a:srgbClr val="000080"/>
                </a:solidFill>
              </a:rPr>
              <a:t>/(1-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 </a:t>
            </a:r>
            <a:r>
              <a:rPr lang="en-US" altLang="zh-CN" sz="3200" b="1" i="1" baseline="30000">
                <a:solidFill>
                  <a:srgbClr val="000080"/>
                </a:solidFill>
              </a:rPr>
              <a:t>n+1</a:t>
            </a:r>
          </a:p>
        </p:txBody>
      </p:sp>
      <p:sp>
        <p:nvSpPr>
          <p:cNvPr id="222222" name="Text Box 14"/>
          <p:cNvSpPr txBox="1">
            <a:spLocks noChangeArrowheads="1"/>
          </p:cNvSpPr>
          <p:nvPr/>
        </p:nvSpPr>
        <p:spPr bwMode="auto">
          <a:xfrm>
            <a:off x="4787900" y="3213100"/>
            <a:ext cx="37338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baseline="30000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endParaRPr lang="en-US" altLang="zh-CN" sz="3200" b="1"/>
          </a:p>
        </p:txBody>
      </p:sp>
      <p:sp>
        <p:nvSpPr>
          <p:cNvPr id="222223" name="Text Box 15"/>
          <p:cNvSpPr txBox="1">
            <a:spLocks noChangeArrowheads="1"/>
          </p:cNvSpPr>
          <p:nvPr/>
        </p:nvSpPr>
        <p:spPr bwMode="auto">
          <a:xfrm>
            <a:off x="323850" y="4292600"/>
            <a:ext cx="36576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 </a:t>
            </a:r>
            <a:r>
              <a:rPr lang="en-US" altLang="zh-CN" sz="3200" b="1" i="1">
                <a:solidFill>
                  <a:srgbClr val="000080"/>
                </a:solidFill>
              </a:rPr>
              <a:t>/(1-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</a:t>
            </a:r>
          </a:p>
        </p:txBody>
      </p:sp>
      <p:sp>
        <p:nvSpPr>
          <p:cNvPr id="222224" name="Text Box 16"/>
          <p:cNvSpPr txBox="1">
            <a:spLocks noChangeArrowheads="1"/>
          </p:cNvSpPr>
          <p:nvPr/>
        </p:nvSpPr>
        <p:spPr bwMode="auto">
          <a:xfrm>
            <a:off x="2673350" y="5921375"/>
            <a:ext cx="2185988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  <a:cs typeface="Times New Roman" pitchFamily="18" charset="0"/>
              </a:rPr>
              <a:t>|</a:t>
            </a:r>
            <a:r>
              <a:rPr lang="en-US" altLang="zh-CN" sz="3200" b="1" i="1">
                <a:solidFill>
                  <a:srgbClr val="000080"/>
                </a:solidFill>
              </a:rPr>
              <a:t>1-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 </a:t>
            </a:r>
            <a:r>
              <a:rPr lang="en-US" altLang="zh-CN" sz="3200" b="1" i="1">
                <a:solidFill>
                  <a:srgbClr val="000080"/>
                </a:solidFill>
                <a:cs typeface="Times New Roman" pitchFamily="18" charset="0"/>
              </a:rPr>
              <a:t>|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 </a:t>
            </a:r>
            <a:r>
              <a:rPr lang="en-US" altLang="zh-CN" sz="3200" b="1" i="1">
                <a:solidFill>
                  <a:srgbClr val="000080"/>
                </a:solidFill>
              </a:rPr>
              <a:t>1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</a:p>
        </p:txBody>
      </p:sp>
      <p:pic>
        <p:nvPicPr>
          <p:cNvPr id="67594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88913"/>
            <a:ext cx="23749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7595" name="Text Box 18"/>
          <p:cNvSpPr txBox="1">
            <a:spLocks noChangeArrowheads="1"/>
          </p:cNvSpPr>
          <p:nvPr/>
        </p:nvSpPr>
        <p:spPr bwMode="auto">
          <a:xfrm>
            <a:off x="3348038" y="260350"/>
            <a:ext cx="5373687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600" b="1" i="1">
                <a:solidFill>
                  <a:srgbClr val="000080"/>
                </a:solidFill>
              </a:rPr>
              <a:t>Y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600" b="1" baseline="-25000">
                <a:solidFill>
                  <a:srgbClr val="008080"/>
                </a:solidFill>
              </a:rPr>
              <a:t>+1</a:t>
            </a:r>
            <a:r>
              <a:rPr lang="en-US" altLang="zh-CN" sz="3600" b="1" i="1">
                <a:solidFill>
                  <a:srgbClr val="000080"/>
                </a:solidFill>
              </a:rPr>
              <a:t>= Y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600" b="1" i="1">
                <a:solidFill>
                  <a:srgbClr val="000080"/>
                </a:solidFill>
              </a:rPr>
              <a:t>+</a:t>
            </a:r>
            <a:r>
              <a:rPr lang="en-US" altLang="zh-CN" sz="36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600" b="1" i="1">
                <a:solidFill>
                  <a:srgbClr val="000080"/>
                </a:solidFill>
              </a:rPr>
              <a:t>t</a:t>
            </a:r>
            <a:r>
              <a:rPr lang="en-US" altLang="zh-CN" sz="3600" b="1" baseline="30000">
                <a:solidFill>
                  <a:srgbClr val="800080"/>
                </a:solidFill>
              </a:rPr>
              <a:t> </a:t>
            </a:r>
            <a:r>
              <a:rPr lang="en-US" altLang="zh-CN" sz="3600" b="1" i="1">
                <a:solidFill>
                  <a:srgbClr val="000080"/>
                </a:solidFill>
              </a:rPr>
              <a:t> f(t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n+1 </a:t>
            </a:r>
            <a:r>
              <a:rPr lang="en-US" altLang="zh-CN" sz="3600" b="1" i="1">
                <a:solidFill>
                  <a:srgbClr val="000080"/>
                </a:solidFill>
              </a:rPr>
              <a:t>,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600" b="1" i="1">
                <a:solidFill>
                  <a:srgbClr val="000080"/>
                </a:solidFill>
              </a:rPr>
              <a:t>Y</a:t>
            </a:r>
            <a:r>
              <a:rPr lang="en-US" altLang="zh-CN" sz="3600" b="1" i="1" baseline="-25000">
                <a:solidFill>
                  <a:srgbClr val="008080"/>
                </a:solidFill>
              </a:rPr>
              <a:t>n+1 </a:t>
            </a:r>
            <a:r>
              <a:rPr lang="en-US" altLang="zh-CN" sz="3600" b="1" i="1">
                <a:solidFill>
                  <a:srgbClr val="000080"/>
                </a:solidFill>
              </a:rPr>
              <a:t>)</a:t>
            </a:r>
            <a:endParaRPr lang="en-US" altLang="zh-CN" sz="3600" b="1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2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2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2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2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2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2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2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2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2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2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2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2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 autoUpdateAnimBg="0"/>
      <p:bldP spid="222216" grpId="0" autoUpdateAnimBg="0"/>
      <p:bldP spid="222217" grpId="0" autoUpdateAnimBg="0"/>
      <p:bldP spid="222218" grpId="0" autoUpdateAnimBg="0"/>
      <p:bldP spid="222219" grpId="0" autoUpdateAnimBg="0"/>
      <p:bldP spid="222222" grpId="0" autoUpdateAnimBg="0"/>
      <p:bldP spid="222223" grpId="0" autoUpdateAnimBg="0"/>
      <p:bldP spid="222224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152400" y="457200"/>
            <a:ext cx="89916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 i="1">
                <a:solidFill>
                  <a:srgbClr val="000080"/>
                </a:solidFill>
              </a:rPr>
              <a:t>=Y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/(1-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=Y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 </a:t>
            </a:r>
            <a:r>
              <a:rPr lang="en-US" altLang="zh-CN" sz="3200" b="1" i="1">
                <a:solidFill>
                  <a:srgbClr val="000080"/>
                </a:solidFill>
              </a:rPr>
              <a:t>/(1-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 </a:t>
            </a:r>
            <a:r>
              <a:rPr lang="en-US" altLang="zh-CN" sz="3200" b="1" i="1" baseline="30000">
                <a:solidFill>
                  <a:srgbClr val="000080"/>
                </a:solidFill>
              </a:rPr>
              <a:t>2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=</a:t>
            </a:r>
            <a:r>
              <a:rPr lang="en-US" altLang="zh-CN" sz="3200" b="1" i="1">
                <a:solidFill>
                  <a:srgbClr val="000080"/>
                </a:solidFill>
                <a:cs typeface="Times New Roman" pitchFamily="18" charset="0"/>
              </a:rPr>
              <a:t>…</a:t>
            </a:r>
            <a:r>
              <a:rPr lang="en-US" altLang="zh-CN" sz="3200" b="1" i="1">
                <a:solidFill>
                  <a:srgbClr val="000080"/>
                </a:solidFill>
              </a:rPr>
              <a:t>=Y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0 </a:t>
            </a:r>
            <a:r>
              <a:rPr lang="en-US" altLang="zh-CN" sz="3200" b="1" i="1">
                <a:solidFill>
                  <a:srgbClr val="000080"/>
                </a:solidFill>
              </a:rPr>
              <a:t>/(1-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 </a:t>
            </a:r>
            <a:r>
              <a:rPr lang="en-US" altLang="zh-CN" sz="3200" b="1" i="1" baseline="30000">
                <a:solidFill>
                  <a:srgbClr val="000080"/>
                </a:solidFill>
              </a:rPr>
              <a:t>n+1</a:t>
            </a:r>
          </a:p>
        </p:txBody>
      </p:sp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250825" y="1557338"/>
            <a:ext cx="2185988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  <a:cs typeface="Times New Roman" pitchFamily="18" charset="0"/>
              </a:rPr>
              <a:t>|</a:t>
            </a:r>
            <a:r>
              <a:rPr lang="en-US" altLang="zh-CN" sz="3200" b="1" i="1">
                <a:solidFill>
                  <a:srgbClr val="000080"/>
                </a:solidFill>
              </a:rPr>
              <a:t>1-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 </a:t>
            </a:r>
            <a:r>
              <a:rPr lang="en-US" altLang="zh-CN" sz="3200" b="1" i="1">
                <a:solidFill>
                  <a:srgbClr val="000080"/>
                </a:solidFill>
                <a:cs typeface="Times New Roman" pitchFamily="18" charset="0"/>
              </a:rPr>
              <a:t>|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 </a:t>
            </a:r>
            <a:r>
              <a:rPr lang="en-US" altLang="zh-CN" sz="3200" b="1" i="1">
                <a:solidFill>
                  <a:srgbClr val="000080"/>
                </a:solidFill>
              </a:rPr>
              <a:t>1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</a:p>
        </p:txBody>
      </p:sp>
      <p:sp>
        <p:nvSpPr>
          <p:cNvPr id="223236" name="Text Box 4"/>
          <p:cNvSpPr txBox="1">
            <a:spLocks noChangeArrowheads="1"/>
          </p:cNvSpPr>
          <p:nvPr/>
        </p:nvSpPr>
        <p:spPr bwMode="auto">
          <a:xfrm>
            <a:off x="323850" y="3816350"/>
            <a:ext cx="85344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>
                <a:solidFill>
                  <a:srgbClr val="000000"/>
                </a:solidFill>
              </a:rPr>
              <a:t>For </a:t>
            </a:r>
            <a:r>
              <a:rPr lang="en-US" altLang="zh-CN" sz="3200" b="1">
                <a:solidFill>
                  <a:srgbClr val="000080"/>
                </a:solidFill>
              </a:rPr>
              <a:t>Re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l </a:t>
            </a:r>
            <a:r>
              <a:rPr lang="en-US" altLang="zh-CN" sz="3200" b="1">
                <a:solidFill>
                  <a:srgbClr val="000080"/>
                </a:solidFill>
                <a:latin typeface="Symbol" pitchFamily="18" charset="2"/>
              </a:rPr>
              <a:t>£ </a:t>
            </a:r>
            <a:r>
              <a:rPr lang="en-US" altLang="zh-CN" sz="3200" b="1">
                <a:solidFill>
                  <a:srgbClr val="000080"/>
                </a:solidFill>
              </a:rPr>
              <a:t>0 </a:t>
            </a:r>
            <a:r>
              <a:rPr lang="en-US" altLang="zh-CN" sz="3200" b="1">
                <a:solidFill>
                  <a:srgbClr val="000000"/>
                </a:solidFill>
              </a:rPr>
              <a:t>this is always satisfied and so the Backward Euler method is unconditionally stable.</a:t>
            </a:r>
            <a:endParaRPr lang="en-US" altLang="zh-CN" sz="3200" b="1"/>
          </a:p>
        </p:txBody>
      </p:sp>
      <p:sp>
        <p:nvSpPr>
          <p:cNvPr id="68613" name="Text Box 1035"/>
          <p:cNvSpPr txBox="1">
            <a:spLocks noChangeArrowheads="1"/>
          </p:cNvSpPr>
          <p:nvPr/>
        </p:nvSpPr>
        <p:spPr bwMode="auto">
          <a:xfrm>
            <a:off x="3924300" y="1628775"/>
            <a:ext cx="1906588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80"/>
                </a:solidFill>
              </a:rPr>
              <a:t>1- </a:t>
            </a:r>
            <a:r>
              <a:rPr lang="en-US" altLang="zh-CN" sz="3200" b="1" dirty="0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 dirty="0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 dirty="0">
                <a:solidFill>
                  <a:srgbClr val="000080"/>
                </a:solidFill>
              </a:rPr>
              <a:t>t </a:t>
            </a:r>
            <a:r>
              <a:rPr lang="en-US" altLang="zh-CN" sz="3200" b="1" i="1" dirty="0">
                <a:solidFill>
                  <a:srgbClr val="000080"/>
                </a:solidFill>
                <a:sym typeface="Symbol" pitchFamily="18" charset="2"/>
              </a:rPr>
              <a:t> </a:t>
            </a:r>
            <a:r>
              <a:rPr lang="en-US" altLang="zh-CN" sz="3200" b="1" i="1" dirty="0">
                <a:solidFill>
                  <a:srgbClr val="000080"/>
                </a:solidFill>
              </a:rPr>
              <a:t>1</a:t>
            </a:r>
            <a:r>
              <a:rPr lang="en-US" altLang="zh-CN" sz="3200" b="1" i="1" baseline="-25000" dirty="0">
                <a:solidFill>
                  <a:srgbClr val="008080"/>
                </a:solidFill>
              </a:rPr>
              <a:t> </a:t>
            </a:r>
          </a:p>
        </p:txBody>
      </p:sp>
      <p:sp>
        <p:nvSpPr>
          <p:cNvPr id="68614" name="Text Box 1036"/>
          <p:cNvSpPr txBox="1">
            <a:spLocks noChangeArrowheads="1"/>
          </p:cNvSpPr>
          <p:nvPr/>
        </p:nvSpPr>
        <p:spPr bwMode="auto">
          <a:xfrm>
            <a:off x="6156325" y="1700213"/>
            <a:ext cx="1703388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-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 </a:t>
            </a:r>
            <a:r>
              <a:rPr lang="en-US" altLang="zh-CN" sz="3200" b="1" i="1">
                <a:solidFill>
                  <a:srgbClr val="000080"/>
                </a:solidFill>
                <a:sym typeface="Symbol" pitchFamily="18" charset="2"/>
              </a:rPr>
              <a:t> 0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</a:p>
        </p:txBody>
      </p:sp>
      <p:sp>
        <p:nvSpPr>
          <p:cNvPr id="68615" name="Text Box 1035"/>
          <p:cNvSpPr txBox="1">
            <a:spLocks noChangeArrowheads="1"/>
          </p:cNvSpPr>
          <p:nvPr/>
        </p:nvSpPr>
        <p:spPr bwMode="auto">
          <a:xfrm>
            <a:off x="3132138" y="2573338"/>
            <a:ext cx="2334293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80"/>
                </a:solidFill>
              </a:rPr>
              <a:t>-(1- </a:t>
            </a:r>
            <a:r>
              <a:rPr lang="en-US" altLang="zh-CN" sz="3200" b="1" dirty="0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 dirty="0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 dirty="0">
                <a:solidFill>
                  <a:srgbClr val="000080"/>
                </a:solidFill>
              </a:rPr>
              <a:t>t) </a:t>
            </a:r>
            <a:r>
              <a:rPr lang="en-US" altLang="zh-CN" sz="3200" b="1" i="1" dirty="0">
                <a:solidFill>
                  <a:srgbClr val="000080"/>
                </a:solidFill>
                <a:sym typeface="Symbol" pitchFamily="18" charset="2"/>
              </a:rPr>
              <a:t> </a:t>
            </a:r>
            <a:r>
              <a:rPr lang="en-US" altLang="zh-CN" sz="3200" b="1" i="1" dirty="0">
                <a:solidFill>
                  <a:srgbClr val="000080"/>
                </a:solidFill>
              </a:rPr>
              <a:t>1</a:t>
            </a:r>
            <a:r>
              <a:rPr lang="en-US" altLang="zh-CN" sz="3200" b="1" i="1" baseline="-25000" dirty="0">
                <a:solidFill>
                  <a:srgbClr val="008080"/>
                </a:solidFill>
              </a:rPr>
              <a:t> </a:t>
            </a:r>
          </a:p>
        </p:txBody>
      </p:sp>
      <p:sp>
        <p:nvSpPr>
          <p:cNvPr id="68616" name="Text Box 1035"/>
          <p:cNvSpPr txBox="1">
            <a:spLocks noChangeArrowheads="1"/>
          </p:cNvSpPr>
          <p:nvPr/>
        </p:nvSpPr>
        <p:spPr bwMode="auto">
          <a:xfrm>
            <a:off x="5724525" y="2576513"/>
            <a:ext cx="1481496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 dirty="0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 dirty="0">
                <a:solidFill>
                  <a:srgbClr val="000080"/>
                </a:solidFill>
              </a:rPr>
              <a:t>t </a:t>
            </a:r>
            <a:r>
              <a:rPr lang="en-US" altLang="zh-CN" sz="3200" b="1" i="1" dirty="0">
                <a:solidFill>
                  <a:srgbClr val="000080"/>
                </a:solidFill>
                <a:sym typeface="Symbol" pitchFamily="18" charset="2"/>
              </a:rPr>
              <a:t> 2</a:t>
            </a:r>
            <a:r>
              <a:rPr lang="en-US" altLang="zh-CN" sz="3200" b="1" i="1" baseline="-25000" dirty="0">
                <a:solidFill>
                  <a:srgbClr val="008080"/>
                </a:solidFill>
              </a:rPr>
              <a:t> 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6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228600" y="620713"/>
            <a:ext cx="85344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>
                <a:solidFill>
                  <a:srgbClr val="000000"/>
                </a:solidFill>
              </a:rPr>
              <a:t>The Crank-Nicholson method may be analyzed in a similar fashion with</a:t>
            </a:r>
            <a:endParaRPr lang="en-US" altLang="zh-CN" sz="3200" b="1"/>
          </a:p>
        </p:txBody>
      </p:sp>
      <p:pic>
        <p:nvPicPr>
          <p:cNvPr id="2252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997200"/>
            <a:ext cx="8305800" cy="92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28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4868863"/>
            <a:ext cx="23749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341438"/>
            <a:ext cx="8713788" cy="966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6308" name="Text Box 4"/>
          <p:cNvSpPr txBox="1">
            <a:spLocks noChangeArrowheads="1"/>
          </p:cNvSpPr>
          <p:nvPr/>
        </p:nvSpPr>
        <p:spPr bwMode="auto">
          <a:xfrm>
            <a:off x="755650" y="2565400"/>
            <a:ext cx="59436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 i="1">
                <a:solidFill>
                  <a:srgbClr val="000080"/>
                </a:solidFill>
              </a:rPr>
              <a:t> -Y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=1/2</a:t>
            </a:r>
            <a:r>
              <a:rPr lang="en-US" altLang="zh-CN" sz="3200" b="1">
                <a:solidFill>
                  <a:srgbClr val="000080"/>
                </a:solidFill>
              </a:rPr>
              <a:t>[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baseline="30000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n+1</a:t>
            </a:r>
            <a:r>
              <a:rPr lang="en-US" altLang="zh-CN" sz="3200" b="1" baseline="30000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 +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baseline="30000">
                <a:solidFill>
                  <a:srgbClr val="800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>
                <a:solidFill>
                  <a:srgbClr val="000080"/>
                </a:solidFill>
              </a:rPr>
              <a:t>]</a:t>
            </a:r>
          </a:p>
        </p:txBody>
      </p:sp>
      <p:sp>
        <p:nvSpPr>
          <p:cNvPr id="226309" name="Text Box 5"/>
          <p:cNvSpPr txBox="1">
            <a:spLocks noChangeArrowheads="1"/>
          </p:cNvSpPr>
          <p:nvPr/>
        </p:nvSpPr>
        <p:spPr bwMode="auto">
          <a:xfrm>
            <a:off x="827088" y="3644900"/>
            <a:ext cx="6096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 (1-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t/2) 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 i="1">
                <a:solidFill>
                  <a:srgbClr val="000080"/>
                </a:solidFill>
              </a:rPr>
              <a:t>= (1+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t/2)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</a:p>
        </p:txBody>
      </p:sp>
      <p:sp>
        <p:nvSpPr>
          <p:cNvPr id="226312" name="Text Box 8"/>
          <p:cNvSpPr txBox="1">
            <a:spLocks noChangeArrowheads="1"/>
          </p:cNvSpPr>
          <p:nvPr/>
        </p:nvSpPr>
        <p:spPr bwMode="auto">
          <a:xfrm>
            <a:off x="684213" y="4797425"/>
            <a:ext cx="6840537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 i="1">
                <a:solidFill>
                  <a:srgbClr val="000080"/>
                </a:solidFill>
              </a:rPr>
              <a:t>= </a:t>
            </a:r>
            <a:r>
              <a:rPr lang="en-US" altLang="zh-CN" sz="3200" b="1">
                <a:solidFill>
                  <a:srgbClr val="000080"/>
                </a:solidFill>
              </a:rPr>
              <a:t>[</a:t>
            </a:r>
            <a:r>
              <a:rPr lang="en-US" altLang="zh-CN" sz="3200" b="1" i="1">
                <a:solidFill>
                  <a:srgbClr val="000080"/>
                </a:solidFill>
              </a:rPr>
              <a:t>(1+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t/2)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/(1-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</a:t>
            </a:r>
            <a:r>
              <a:rPr lang="en-US" altLang="zh-CN" sz="3200" b="1">
                <a:solidFill>
                  <a:srgbClr val="000080"/>
                </a:solidFill>
              </a:rPr>
              <a:t>]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 i="1" baseline="30000">
                <a:solidFill>
                  <a:srgbClr val="0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 </a:t>
            </a:r>
          </a:p>
        </p:txBody>
      </p:sp>
      <p:sp>
        <p:nvSpPr>
          <p:cNvPr id="226313" name="Text Box 9"/>
          <p:cNvSpPr txBox="1">
            <a:spLocks noChangeArrowheads="1"/>
          </p:cNvSpPr>
          <p:nvPr/>
        </p:nvSpPr>
        <p:spPr bwMode="auto">
          <a:xfrm>
            <a:off x="684213" y="5805488"/>
            <a:ext cx="7272337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 i="1">
                <a:solidFill>
                  <a:srgbClr val="000080"/>
                </a:solidFill>
              </a:rPr>
              <a:t>= </a:t>
            </a:r>
            <a:r>
              <a:rPr lang="en-US" altLang="zh-CN" sz="3200" b="1">
                <a:solidFill>
                  <a:srgbClr val="000080"/>
                </a:solidFill>
              </a:rPr>
              <a:t>[</a:t>
            </a:r>
            <a:r>
              <a:rPr lang="en-US" altLang="zh-CN" sz="3200" b="1" i="1">
                <a:solidFill>
                  <a:srgbClr val="000080"/>
                </a:solidFill>
              </a:rPr>
              <a:t>(1+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t/2)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/(1-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</a:t>
            </a:r>
            <a:r>
              <a:rPr lang="en-US" altLang="zh-CN" sz="3200" b="1">
                <a:solidFill>
                  <a:srgbClr val="000080"/>
                </a:solidFill>
              </a:rPr>
              <a:t>]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 i="1" baseline="30000">
                <a:solidFill>
                  <a:srgbClr val="000080"/>
                </a:solidFill>
              </a:rPr>
              <a:t>n+1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0 </a:t>
            </a:r>
          </a:p>
        </p:txBody>
      </p:sp>
      <p:pic>
        <p:nvPicPr>
          <p:cNvPr id="70663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333375"/>
            <a:ext cx="23749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6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6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6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6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8" grpId="0" autoUpdateAnimBg="0"/>
      <p:bldP spid="226309" grpId="0" autoUpdateAnimBg="0"/>
      <p:bldP spid="226312" grpId="0" autoUpdateAnimBg="0"/>
      <p:bldP spid="226313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/>
          <p:cNvSpPr txBox="1">
            <a:spLocks noChangeArrowheads="1"/>
          </p:cNvSpPr>
          <p:nvPr/>
        </p:nvSpPr>
        <p:spPr bwMode="auto">
          <a:xfrm>
            <a:off x="457200" y="609600"/>
            <a:ext cx="8001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 i="1">
                <a:solidFill>
                  <a:srgbClr val="000080"/>
                </a:solidFill>
              </a:rPr>
              <a:t>= </a:t>
            </a:r>
            <a:r>
              <a:rPr lang="en-US" altLang="zh-CN" sz="3200" b="1">
                <a:solidFill>
                  <a:srgbClr val="000080"/>
                </a:solidFill>
              </a:rPr>
              <a:t>[</a:t>
            </a:r>
            <a:r>
              <a:rPr lang="en-US" altLang="zh-CN" sz="3200" b="1" i="1">
                <a:solidFill>
                  <a:srgbClr val="000080"/>
                </a:solidFill>
              </a:rPr>
              <a:t>(1+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t/2)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/(1- </a:t>
            </a:r>
            <a:r>
              <a:rPr lang="en-US" altLang="zh-CN" sz="3200" b="1">
                <a:solidFill>
                  <a:srgbClr val="000080"/>
                </a:solidFill>
                <a:sym typeface="Symbol" pitchFamily="18" charset="2"/>
              </a:rPr>
              <a:t>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t)</a:t>
            </a:r>
            <a:r>
              <a:rPr lang="en-US" altLang="zh-CN" sz="3200" b="1">
                <a:solidFill>
                  <a:srgbClr val="000080"/>
                </a:solidFill>
              </a:rPr>
              <a:t>]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 i="1" baseline="30000">
                <a:solidFill>
                  <a:srgbClr val="000080"/>
                </a:solidFill>
              </a:rPr>
              <a:t>n+1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0 </a:t>
            </a:r>
          </a:p>
        </p:txBody>
      </p:sp>
      <p:sp>
        <p:nvSpPr>
          <p:cNvPr id="227331" name="Text Box 3"/>
          <p:cNvSpPr txBox="1">
            <a:spLocks noChangeArrowheads="1"/>
          </p:cNvSpPr>
          <p:nvPr/>
        </p:nvSpPr>
        <p:spPr bwMode="auto">
          <a:xfrm>
            <a:off x="381000" y="2603500"/>
            <a:ext cx="8321675" cy="262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3200" b="1">
                <a:solidFill>
                  <a:srgbClr val="000000"/>
                </a:solidFill>
              </a:rPr>
              <a:t>with the magnitude of the term in square brackets always less than unity for </a:t>
            </a:r>
            <a:r>
              <a:rPr lang="en-US" altLang="zh-CN" sz="3200" b="1">
                <a:solidFill>
                  <a:srgbClr val="000080"/>
                </a:solidFill>
              </a:rPr>
              <a:t>Re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l </a:t>
            </a:r>
            <a:r>
              <a:rPr lang="en-US" altLang="zh-CN" sz="3200" b="1">
                <a:solidFill>
                  <a:srgbClr val="000080"/>
                </a:solidFill>
              </a:rPr>
              <a:t>&lt; 0</a:t>
            </a:r>
            <a:r>
              <a:rPr lang="en-US" altLang="zh-CN" sz="3200" b="1">
                <a:solidFill>
                  <a:srgbClr val="000000"/>
                </a:solidFill>
              </a:rPr>
              <a:t>. Thus, like Backward Euler, Crank-Nicholson is </a:t>
            </a:r>
            <a:r>
              <a:rPr lang="en-US" altLang="zh-CN" sz="3200" b="1">
                <a:solidFill>
                  <a:srgbClr val="FF0000"/>
                </a:solidFill>
              </a:rPr>
              <a:t>unconditionally stable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  <a:endParaRPr lang="en-US" altLang="zh-CN" sz="3200" b="1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1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468313" y="549275"/>
            <a:ext cx="7272337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/>
              <a:t>7.7 </a:t>
            </a:r>
            <a:r>
              <a:rPr lang="zh-CN" altLang="en-US" sz="3200" b="1"/>
              <a:t>线性多步法 （</a:t>
            </a:r>
            <a:r>
              <a:rPr lang="en-US" altLang="zh-CN" sz="3200" b="1"/>
              <a:t>Multistep methods</a:t>
            </a:r>
            <a:r>
              <a:rPr lang="zh-CN" altLang="en-US" sz="3200" b="1"/>
              <a:t>）</a:t>
            </a:r>
          </a:p>
        </p:txBody>
      </p:sp>
      <p:sp>
        <p:nvSpPr>
          <p:cNvPr id="72707" name="Rectangle 5"/>
          <p:cNvSpPr>
            <a:spLocks noChangeArrowheads="1"/>
          </p:cNvSpPr>
          <p:nvPr/>
        </p:nvSpPr>
        <p:spPr bwMode="auto">
          <a:xfrm>
            <a:off x="468313" y="1406525"/>
            <a:ext cx="8202612" cy="389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endParaRPr lang="en-US" altLang="zh-CN" sz="3200" b="1"/>
          </a:p>
          <a:p>
            <a:pPr eaLnBrk="1" hangingPunct="1">
              <a:lnSpc>
                <a:spcPct val="130000"/>
              </a:lnSpc>
            </a:pPr>
            <a:r>
              <a:rPr lang="en-US" altLang="zh-CN" sz="3200" b="1"/>
              <a:t>	</a:t>
            </a:r>
            <a:r>
              <a:rPr lang="zh-CN" altLang="en-US" sz="3200" b="1"/>
              <a:t>前面介绍的方法，统称为单步法，就是在计算 </a:t>
            </a:r>
            <a:r>
              <a:rPr lang="en-US" altLang="zh-CN" sz="3200" b="1" i="1"/>
              <a:t>y</a:t>
            </a:r>
            <a:r>
              <a:rPr lang="en-US" altLang="zh-CN" sz="3200" b="1" i="1" baseline="-25000"/>
              <a:t>n</a:t>
            </a:r>
            <a:r>
              <a:rPr lang="en-US" altLang="zh-CN" sz="3200" b="1" baseline="-25000"/>
              <a:t>+1 </a:t>
            </a:r>
            <a:r>
              <a:rPr lang="zh-CN" altLang="en-US" sz="3200" b="1"/>
              <a:t>时，只用到前面一步 </a:t>
            </a:r>
            <a:r>
              <a:rPr lang="en-US" altLang="zh-CN" sz="3200" b="1" i="1"/>
              <a:t>y</a:t>
            </a:r>
            <a:r>
              <a:rPr lang="en-US" altLang="zh-CN" sz="3200" b="1" baseline="-25000"/>
              <a:t>n </a:t>
            </a:r>
            <a:r>
              <a:rPr lang="zh-CN" altLang="en-US" sz="3200" b="1"/>
              <a:t>的值。本节我们将介绍利用前边已经算出来的若干个值 </a:t>
            </a:r>
            <a:r>
              <a:rPr lang="en-US" altLang="zh-CN" sz="3200" b="1" i="1"/>
              <a:t>y</a:t>
            </a:r>
            <a:r>
              <a:rPr lang="en-US" altLang="zh-CN" sz="3200" b="1" baseline="-25000"/>
              <a:t>n-k</a:t>
            </a:r>
            <a:r>
              <a:rPr lang="zh-CN" altLang="en-US" sz="3200" b="1"/>
              <a:t>，</a:t>
            </a:r>
            <a:r>
              <a:rPr lang="en-US" altLang="zh-CN" sz="3200" b="1" i="1"/>
              <a:t>y</a:t>
            </a:r>
            <a:r>
              <a:rPr lang="en-US" altLang="zh-CN" sz="3200" b="1" baseline="-25000"/>
              <a:t>n-k+1</a:t>
            </a:r>
            <a:r>
              <a:rPr lang="zh-CN" altLang="en-US" sz="3200" b="1"/>
              <a:t>，</a:t>
            </a:r>
            <a:r>
              <a:rPr lang="en-US" altLang="zh-CN" sz="3200" b="1"/>
              <a:t>…</a:t>
            </a:r>
            <a:r>
              <a:rPr lang="zh-CN" altLang="en-US" sz="3200" b="1"/>
              <a:t>，</a:t>
            </a:r>
            <a:r>
              <a:rPr lang="en-US" altLang="zh-CN" sz="3200" b="1" i="1"/>
              <a:t>y</a:t>
            </a:r>
            <a:r>
              <a:rPr lang="en-US" altLang="zh-CN" sz="3200" b="1" baseline="-25000"/>
              <a:t>n-1</a:t>
            </a:r>
            <a:r>
              <a:rPr lang="zh-CN" altLang="en-US" sz="3200" b="1"/>
              <a:t>，</a:t>
            </a:r>
            <a:r>
              <a:rPr lang="en-US" altLang="zh-CN" sz="3200" b="1" i="1"/>
              <a:t>y</a:t>
            </a:r>
            <a:r>
              <a:rPr lang="en-US" altLang="zh-CN" sz="3200" b="1" baseline="-25000"/>
              <a:t>n</a:t>
            </a:r>
            <a:r>
              <a:rPr lang="zh-CN" altLang="en-US" sz="3200" b="1"/>
              <a:t>，来求得 </a:t>
            </a:r>
            <a:r>
              <a:rPr lang="en-US" altLang="zh-CN" sz="3200" b="1" i="1"/>
              <a:t>y</a:t>
            </a:r>
            <a:r>
              <a:rPr lang="en-US" altLang="zh-CN" sz="3200" b="1" i="1" baseline="-25000"/>
              <a:t>n</a:t>
            </a:r>
            <a:r>
              <a:rPr lang="en-US" altLang="zh-CN" sz="3200" b="1" baseline="-25000"/>
              <a:t>+1</a:t>
            </a:r>
            <a:r>
              <a:rPr lang="en-US" altLang="zh-CN" sz="3200" b="1"/>
              <a:t> </a:t>
            </a:r>
            <a:r>
              <a:rPr lang="zh-CN" altLang="en-US" sz="3200" b="1"/>
              <a:t>的高精度公式</a:t>
            </a:r>
            <a:r>
              <a:rPr lang="en-US" altLang="zh-CN" sz="3200" b="1"/>
              <a:t>――</a:t>
            </a:r>
            <a:r>
              <a:rPr lang="zh-CN" altLang="en-US" sz="3200" b="1"/>
              <a:t>线性多步方法。</a:t>
            </a:r>
          </a:p>
        </p:txBody>
      </p:sp>
    </p:spTree>
  </p:cSld>
  <p:clrMapOvr>
    <a:masterClrMapping/>
  </p:clrMapOvr>
  <p:transition spd="med">
    <p:pull dir="r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323850" y="1514475"/>
            <a:ext cx="81534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0000"/>
                </a:solidFill>
              </a:rPr>
              <a:t>By utilising only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n–s+</a:t>
            </a:r>
            <a:r>
              <a:rPr lang="en-US" altLang="zh-CN" sz="3200" b="1" baseline="-25000">
                <a:solidFill>
                  <a:srgbClr val="008080"/>
                </a:solidFill>
              </a:rPr>
              <a:t>1</a:t>
            </a:r>
            <a:r>
              <a:rPr lang="en-US" altLang="zh-CN" sz="3200" b="1">
                <a:solidFill>
                  <a:srgbClr val="000000"/>
                </a:solidFill>
              </a:rPr>
              <a:t>,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n–s+</a:t>
            </a:r>
            <a:r>
              <a:rPr lang="en-US" altLang="zh-CN" sz="3200" b="1" baseline="-25000">
                <a:solidFill>
                  <a:srgbClr val="008080"/>
                </a:solidFill>
              </a:rPr>
              <a:t>2</a:t>
            </a:r>
            <a:r>
              <a:rPr lang="en-US" altLang="zh-CN" sz="3200" b="1">
                <a:solidFill>
                  <a:srgbClr val="000000"/>
                </a:solidFill>
              </a:rPr>
              <a:t>,…,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8080"/>
                </a:solidFill>
              </a:rPr>
              <a:t> </a:t>
            </a:r>
            <a:r>
              <a:rPr lang="en-US" altLang="zh-CN" sz="3200" b="1">
                <a:solidFill>
                  <a:srgbClr val="000000"/>
                </a:solidFill>
              </a:rPr>
              <a:t>we may construct an approximation to the derivatives of orders </a:t>
            </a:r>
            <a:r>
              <a:rPr lang="en-US" altLang="zh-CN" sz="3200" b="1">
                <a:solidFill>
                  <a:srgbClr val="000080"/>
                </a:solidFill>
              </a:rPr>
              <a:t>1 </a:t>
            </a:r>
            <a:r>
              <a:rPr lang="en-US" altLang="zh-CN" sz="3200" b="1">
                <a:solidFill>
                  <a:srgbClr val="000000"/>
                </a:solidFill>
              </a:rPr>
              <a:t>to </a:t>
            </a:r>
            <a:r>
              <a:rPr lang="en-US" altLang="zh-CN" sz="3200" b="1" i="1">
                <a:solidFill>
                  <a:srgbClr val="000080"/>
                </a:solidFill>
              </a:rPr>
              <a:t>s </a:t>
            </a:r>
            <a:r>
              <a:rPr lang="en-US" altLang="zh-CN" sz="3200" b="1">
                <a:solidFill>
                  <a:srgbClr val="000000"/>
                </a:solidFill>
              </a:rPr>
              <a:t>at 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>
                <a:solidFill>
                  <a:srgbClr val="000000"/>
                </a:solidFill>
              </a:rPr>
              <a:t>. </a:t>
            </a:r>
            <a:endParaRPr lang="en-US" altLang="zh-CN" sz="3200" b="1"/>
          </a:p>
        </p:txBody>
      </p:sp>
      <p:sp>
        <p:nvSpPr>
          <p:cNvPr id="228355" name="Text Box 3"/>
          <p:cNvSpPr txBox="1">
            <a:spLocks noChangeArrowheads="1"/>
          </p:cNvSpPr>
          <p:nvPr/>
        </p:nvSpPr>
        <p:spPr bwMode="auto">
          <a:xfrm>
            <a:off x="349250" y="3189288"/>
            <a:ext cx="4724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0000"/>
                </a:solidFill>
              </a:rPr>
              <a:t>For example, if </a:t>
            </a:r>
            <a:r>
              <a:rPr lang="en-US" altLang="zh-CN" sz="3200" b="1" i="1">
                <a:solidFill>
                  <a:srgbClr val="000080"/>
                </a:solidFill>
              </a:rPr>
              <a:t>s </a:t>
            </a:r>
            <a:r>
              <a:rPr lang="en-US" altLang="zh-CN" sz="3200" b="1">
                <a:solidFill>
                  <a:srgbClr val="000080"/>
                </a:solidFill>
              </a:rPr>
              <a:t>= 2, b</a:t>
            </a:r>
            <a:r>
              <a:rPr lang="en-US" altLang="zh-CN" sz="3200" b="1">
                <a:solidFill>
                  <a:srgbClr val="000000"/>
                </a:solidFill>
              </a:rPr>
              <a:t>y utilising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n–</a:t>
            </a:r>
            <a:r>
              <a:rPr lang="en-US" altLang="zh-CN" sz="3200" b="1" baseline="-25000">
                <a:solidFill>
                  <a:srgbClr val="008080"/>
                </a:solidFill>
              </a:rPr>
              <a:t>1</a:t>
            </a:r>
            <a:r>
              <a:rPr lang="en-US" altLang="zh-CN" sz="3200" b="1">
                <a:solidFill>
                  <a:srgbClr val="000000"/>
                </a:solidFill>
              </a:rPr>
              <a:t>,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8080"/>
                </a:solidFill>
              </a:rPr>
              <a:t> </a:t>
            </a:r>
            <a:r>
              <a:rPr lang="en-US" altLang="zh-CN" sz="3200" b="1">
                <a:solidFill>
                  <a:srgbClr val="000000"/>
                </a:solidFill>
              </a:rPr>
              <a:t>then </a:t>
            </a:r>
          </a:p>
        </p:txBody>
      </p:sp>
      <p:pic>
        <p:nvPicPr>
          <p:cNvPr id="2283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863" y="5661025"/>
            <a:ext cx="1873250" cy="93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836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3135313"/>
            <a:ext cx="3124200" cy="101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8365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438" y="4724400"/>
            <a:ext cx="6477000" cy="808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8366" name="Text Box 14"/>
          <p:cNvSpPr txBox="1">
            <a:spLocks noChangeArrowheads="1"/>
          </p:cNvSpPr>
          <p:nvPr/>
        </p:nvSpPr>
        <p:spPr bwMode="auto">
          <a:xfrm>
            <a:off x="5264150" y="5803900"/>
            <a:ext cx="20161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Y"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8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f ’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</a:p>
        </p:txBody>
      </p:sp>
      <p:grpSp>
        <p:nvGrpSpPr>
          <p:cNvPr id="73736" name="Group 15"/>
          <p:cNvGrpSpPr>
            <a:grpSpLocks/>
          </p:cNvGrpSpPr>
          <p:nvPr/>
        </p:nvGrpSpPr>
        <p:grpSpPr bwMode="auto">
          <a:xfrm>
            <a:off x="231775" y="115888"/>
            <a:ext cx="8228013" cy="1217612"/>
            <a:chOff x="113" y="3475"/>
            <a:chExt cx="5183" cy="767"/>
          </a:xfrm>
        </p:grpSpPr>
        <p:pic>
          <p:nvPicPr>
            <p:cNvPr id="73737" name="Picture 1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3475"/>
              <a:ext cx="403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38" name="Picture 17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" y="3520"/>
              <a:ext cx="502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39" name="Picture 18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9" y="3520"/>
              <a:ext cx="613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40" name="Picture 19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5" y="3521"/>
              <a:ext cx="667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41" name="Picture 20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2" y="3907"/>
              <a:ext cx="2521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742" name="Rectangle 21"/>
            <p:cNvSpPr>
              <a:spLocks noChangeArrowheads="1"/>
            </p:cNvSpPr>
            <p:nvPr/>
          </p:nvSpPr>
          <p:spPr bwMode="auto">
            <a:xfrm>
              <a:off x="476" y="3475"/>
              <a:ext cx="35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cs typeface="Times New Roman" pitchFamily="18" charset="0"/>
                </a:rPr>
                <a:t>= </a:t>
              </a:r>
              <a:endParaRPr lang="en-US" altLang="zh-CN" sz="3600" b="1"/>
            </a:p>
          </p:txBody>
        </p:sp>
        <p:sp>
          <p:nvSpPr>
            <p:cNvPr id="73743" name="Rectangle 22"/>
            <p:cNvSpPr>
              <a:spLocks noChangeArrowheads="1"/>
            </p:cNvSpPr>
            <p:nvPr/>
          </p:nvSpPr>
          <p:spPr bwMode="auto">
            <a:xfrm>
              <a:off x="1156" y="3475"/>
              <a:ext cx="28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cs typeface="Times New Roman" pitchFamily="18" charset="0"/>
                </a:rPr>
                <a:t>+</a:t>
              </a:r>
              <a:endParaRPr lang="en-US" altLang="zh-CN" sz="3600" b="1"/>
            </a:p>
          </p:txBody>
        </p:sp>
        <p:sp>
          <p:nvSpPr>
            <p:cNvPr id="73744" name="Rectangle 23"/>
            <p:cNvSpPr>
              <a:spLocks noChangeArrowheads="1"/>
            </p:cNvSpPr>
            <p:nvPr/>
          </p:nvSpPr>
          <p:spPr bwMode="auto">
            <a:xfrm>
              <a:off x="2064" y="3521"/>
              <a:ext cx="73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cs typeface="Times New Roman" pitchFamily="18" charset="0"/>
                </a:rPr>
                <a:t>+…+</a:t>
              </a:r>
              <a:endParaRPr lang="en-US" altLang="zh-CN" sz="3600" b="1"/>
            </a:p>
          </p:txBody>
        </p:sp>
        <p:sp>
          <p:nvSpPr>
            <p:cNvPr id="73745" name="Rectangle 24"/>
            <p:cNvSpPr>
              <a:spLocks noChangeArrowheads="1"/>
            </p:cNvSpPr>
            <p:nvPr/>
          </p:nvSpPr>
          <p:spPr bwMode="auto">
            <a:xfrm>
              <a:off x="1882" y="3838"/>
              <a:ext cx="53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cs typeface="Times New Roman" pitchFamily="18" charset="0"/>
                </a:rPr>
                <a:t>+h(</a:t>
              </a:r>
              <a:endParaRPr lang="en-US" altLang="zh-CN" sz="3600" b="1"/>
            </a:p>
          </p:txBody>
        </p:sp>
        <p:sp>
          <p:nvSpPr>
            <p:cNvPr id="73746" name="Rectangle 25"/>
            <p:cNvSpPr>
              <a:spLocks noChangeArrowheads="1"/>
            </p:cNvSpPr>
            <p:nvPr/>
          </p:nvSpPr>
          <p:spPr bwMode="auto">
            <a:xfrm>
              <a:off x="5012" y="3838"/>
              <a:ext cx="2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cs typeface="Times New Roman" pitchFamily="18" charset="0"/>
                </a:rPr>
                <a:t>) </a:t>
              </a:r>
              <a:endParaRPr lang="en-US" altLang="zh-CN" sz="3600" b="1"/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8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8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8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8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8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8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8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8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autoUpdateAnimBg="0"/>
      <p:bldP spid="22836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549275"/>
            <a:ext cx="1662112" cy="83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9132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652963"/>
            <a:ext cx="6477000" cy="80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9133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5734050"/>
            <a:ext cx="4191000" cy="814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89135" name="Object 15"/>
          <p:cNvGraphicFramePr>
            <a:graphicFrameLocks noChangeAspect="1"/>
          </p:cNvGraphicFramePr>
          <p:nvPr/>
        </p:nvGraphicFramePr>
        <p:xfrm>
          <a:off x="468313" y="1916113"/>
          <a:ext cx="7696200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3" name="公式" r:id="rId6" imgW="3213100" imgH="419100" progId="Equation.3">
                  <p:embed/>
                </p:oleObj>
              </mc:Choice>
              <mc:Fallback>
                <p:oleObj name="公式" r:id="rId6" imgW="3213100" imgH="4191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916113"/>
                        <a:ext cx="7696200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Text Box 16"/>
          <p:cNvSpPr txBox="1">
            <a:spLocks noChangeArrowheads="1"/>
          </p:cNvSpPr>
          <p:nvPr/>
        </p:nvSpPr>
        <p:spPr bwMode="auto">
          <a:xfrm>
            <a:off x="4140200" y="620713"/>
            <a:ext cx="20161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Y"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8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f ’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539750" y="3427413"/>
            <a:ext cx="5903913" cy="782637"/>
            <a:chOff x="250825" y="3500438"/>
            <a:chExt cx="5903913" cy="782637"/>
          </a:xfrm>
        </p:grpSpPr>
        <p:pic>
          <p:nvPicPr>
            <p:cNvPr id="74760" name="Picture 5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8538" y="3500438"/>
              <a:ext cx="3886200" cy="782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4761" name="Text Box 16"/>
            <p:cNvSpPr txBox="1">
              <a:spLocks noChangeArrowheads="1"/>
            </p:cNvSpPr>
            <p:nvPr/>
          </p:nvSpPr>
          <p:spPr bwMode="auto">
            <a:xfrm>
              <a:off x="250825" y="3526766"/>
              <a:ext cx="2016125" cy="683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3200" b="1" i="1">
                  <a:solidFill>
                    <a:srgbClr val="000080"/>
                  </a:solidFill>
                </a:rPr>
                <a:t>Y"</a:t>
              </a:r>
              <a:r>
                <a:rPr lang="en-US" altLang="zh-CN" sz="3200" b="1" i="1" baseline="-25000">
                  <a:solidFill>
                    <a:srgbClr val="008080"/>
                  </a:solidFill>
                </a:rPr>
                <a:t>n</a:t>
              </a:r>
              <a:r>
                <a:rPr lang="en-US" altLang="zh-CN" sz="3200" b="1" i="1">
                  <a:solidFill>
                    <a:srgbClr val="008080"/>
                  </a:solidFill>
                </a:rPr>
                <a:t> </a:t>
              </a:r>
              <a:r>
                <a:rPr lang="en-US" altLang="zh-CN" sz="3200" b="1">
                  <a:solidFill>
                    <a:srgbClr val="000080"/>
                  </a:solidFill>
                </a:rPr>
                <a:t>= </a:t>
              </a:r>
              <a:r>
                <a:rPr lang="en-US" altLang="zh-CN" sz="3200" b="1" i="1">
                  <a:solidFill>
                    <a:srgbClr val="000080"/>
                  </a:solidFill>
                </a:rPr>
                <a:t>f ’</a:t>
              </a:r>
              <a:r>
                <a:rPr lang="en-US" altLang="zh-CN" sz="3200" b="1" i="1" baseline="-25000">
                  <a:solidFill>
                    <a:srgbClr val="008080"/>
                  </a:solidFill>
                </a:rPr>
                <a:t>n</a:t>
              </a:r>
              <a:r>
                <a:rPr lang="en-US" altLang="zh-CN" sz="3200" b="1">
                  <a:solidFill>
                    <a:srgbClr val="000080"/>
                  </a:solidFill>
                </a:rPr>
                <a:t>=</a:t>
              </a:r>
              <a:endParaRPr lang="en-US" altLang="zh-CN" sz="3200" b="1" i="1" baseline="-25000">
                <a:solidFill>
                  <a:srgbClr val="008080"/>
                </a:solidFill>
              </a:endParaRP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8228013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>
                <a:solidFill>
                  <a:srgbClr val="000000"/>
                </a:solidFill>
              </a:rPr>
              <a:t>For </a:t>
            </a:r>
            <a:r>
              <a:rPr lang="en-US" altLang="zh-CN" sz="3200" b="1" i="1">
                <a:solidFill>
                  <a:srgbClr val="000080"/>
                </a:solidFill>
              </a:rPr>
              <a:t>s=</a:t>
            </a:r>
            <a:r>
              <a:rPr lang="en-US" altLang="zh-CN" sz="3200" b="1">
                <a:solidFill>
                  <a:srgbClr val="000080"/>
                </a:solidFill>
              </a:rPr>
              <a:t>3 b</a:t>
            </a:r>
            <a:r>
              <a:rPr lang="en-US" altLang="zh-CN" sz="3200" b="1">
                <a:solidFill>
                  <a:srgbClr val="000000"/>
                </a:solidFill>
              </a:rPr>
              <a:t>y utilising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n–2</a:t>
            </a:r>
            <a:r>
              <a:rPr lang="en-US" altLang="zh-CN" sz="3200" b="1">
                <a:solidFill>
                  <a:srgbClr val="000000"/>
                </a:solidFill>
              </a:rPr>
              <a:t>,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n–</a:t>
            </a:r>
            <a:r>
              <a:rPr lang="en-US" altLang="zh-CN" sz="3200" b="1" baseline="-25000">
                <a:solidFill>
                  <a:srgbClr val="008080"/>
                </a:solidFill>
              </a:rPr>
              <a:t>1</a:t>
            </a:r>
            <a:r>
              <a:rPr lang="en-US" altLang="zh-CN" sz="3200" b="1">
                <a:solidFill>
                  <a:srgbClr val="000000"/>
                </a:solidFill>
              </a:rPr>
              <a:t>, </a:t>
            </a: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8080"/>
                </a:solidFill>
              </a:rPr>
              <a:t> </a:t>
            </a:r>
            <a:r>
              <a:rPr lang="en-US" altLang="zh-CN" sz="3200" b="1">
                <a:solidFill>
                  <a:srgbClr val="000000"/>
                </a:solidFill>
              </a:rPr>
              <a:t>then we can  have </a:t>
            </a:r>
            <a:r>
              <a:rPr lang="en-US" altLang="zh-CN" sz="3200" b="1" i="1">
                <a:solidFill>
                  <a:srgbClr val="000080"/>
                </a:solidFill>
              </a:rPr>
              <a:t>Y’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>
                <a:solidFill>
                  <a:srgbClr val="000000"/>
                </a:solidFill>
              </a:rPr>
              <a:t> , </a:t>
            </a:r>
            <a:r>
              <a:rPr lang="en-US" altLang="zh-CN" sz="3200" b="1" i="1">
                <a:solidFill>
                  <a:srgbClr val="000080"/>
                </a:solidFill>
              </a:rPr>
              <a:t>Y"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   </a:t>
            </a:r>
            <a:r>
              <a:rPr lang="en-US" altLang="zh-CN" sz="3200" b="1">
                <a:solidFill>
                  <a:srgbClr val="000000"/>
                </a:solidFill>
              </a:rPr>
              <a:t>and </a:t>
            </a:r>
            <a:r>
              <a:rPr lang="en-US" altLang="zh-CN" sz="3200" b="1" i="1">
                <a:solidFill>
                  <a:srgbClr val="000080"/>
                </a:solidFill>
              </a:rPr>
              <a:t>Y’"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</a:p>
        </p:txBody>
      </p:sp>
      <p:sp>
        <p:nvSpPr>
          <p:cNvPr id="229382" name="Text Box 6"/>
          <p:cNvSpPr txBox="1">
            <a:spLocks noChangeArrowheads="1"/>
          </p:cNvSpPr>
          <p:nvPr/>
        </p:nvSpPr>
        <p:spPr bwMode="auto">
          <a:xfrm>
            <a:off x="468313" y="4697413"/>
            <a:ext cx="532765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n-2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</a:rPr>
              <a:t>-4 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 </a:t>
            </a:r>
            <a:r>
              <a:rPr lang="en-US" altLang="zh-CN" sz="3200" b="1" i="1">
                <a:solidFill>
                  <a:srgbClr val="000080"/>
                </a:solidFill>
              </a:rPr>
              <a:t>= -</a:t>
            </a:r>
            <a:r>
              <a:rPr lang="en-US" altLang="zh-CN" sz="3200" b="1">
                <a:solidFill>
                  <a:srgbClr val="000080"/>
                </a:solidFill>
              </a:rPr>
              <a:t>3</a:t>
            </a:r>
            <a:r>
              <a:rPr lang="en-US" altLang="zh-CN" sz="3200" b="1" i="1">
                <a:solidFill>
                  <a:srgbClr val="000080"/>
                </a:solidFill>
              </a:rPr>
              <a:t>f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</a:rPr>
              <a:t>+</a:t>
            </a:r>
            <a:r>
              <a:rPr lang="en-US" altLang="zh-CN" sz="3200" b="1">
                <a:solidFill>
                  <a:srgbClr val="000000"/>
                </a:solidFill>
              </a:rPr>
              <a:t>2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 </a:t>
            </a:r>
            <a:r>
              <a:rPr lang="en-US" altLang="zh-CN" sz="3200" b="1">
                <a:solidFill>
                  <a:srgbClr val="0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f’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</a:p>
        </p:txBody>
      </p:sp>
      <p:graphicFrame>
        <p:nvGraphicFramePr>
          <p:cNvPr id="229385" name="Object 9"/>
          <p:cNvGraphicFramePr>
            <a:graphicFrameLocks noChangeAspect="1"/>
          </p:cNvGraphicFramePr>
          <p:nvPr/>
        </p:nvGraphicFramePr>
        <p:xfrm>
          <a:off x="468313" y="2492375"/>
          <a:ext cx="76962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7" name="公式" r:id="rId3" imgW="3213100" imgH="419100" progId="Equation.3">
                  <p:embed/>
                </p:oleObj>
              </mc:Choice>
              <mc:Fallback>
                <p:oleObj name="公式" r:id="rId3" imgW="3213100" imgH="419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492375"/>
                        <a:ext cx="7696200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8" name="Object 12"/>
          <p:cNvGraphicFramePr>
            <a:graphicFrameLocks noChangeAspect="1"/>
          </p:cNvGraphicFramePr>
          <p:nvPr/>
        </p:nvGraphicFramePr>
        <p:xfrm>
          <a:off x="179388" y="3563938"/>
          <a:ext cx="835342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8" name="公式" r:id="rId5" imgW="3644900" imgH="419100" progId="Equation.3">
                  <p:embed/>
                </p:oleObj>
              </mc:Choice>
              <mc:Fallback>
                <p:oleObj name="公式" r:id="rId5" imgW="3644900" imgH="4191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563938"/>
                        <a:ext cx="8353425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89" name="Text Box 13"/>
          <p:cNvSpPr txBox="1">
            <a:spLocks noChangeArrowheads="1"/>
          </p:cNvSpPr>
          <p:nvPr/>
        </p:nvSpPr>
        <p:spPr bwMode="auto">
          <a:xfrm>
            <a:off x="395288" y="5705475"/>
            <a:ext cx="6697662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Y"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8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f’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= </a:t>
            </a:r>
            <a:r>
              <a:rPr lang="en-US" altLang="zh-CN" sz="3200" b="1">
                <a:solidFill>
                  <a:srgbClr val="000080"/>
                </a:solidFill>
              </a:rPr>
              <a:t>(3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</a:rPr>
              <a:t>-4 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</a:t>
            </a:r>
            <a:r>
              <a:rPr lang="en-US" altLang="zh-CN" sz="3200" b="1">
                <a:solidFill>
                  <a:srgbClr val="000080"/>
                </a:solidFill>
              </a:rPr>
              <a:t>+ 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n-2</a:t>
            </a:r>
            <a:r>
              <a:rPr lang="en-US" altLang="zh-CN" sz="3200" b="1">
                <a:solidFill>
                  <a:srgbClr val="000080"/>
                </a:solidFill>
              </a:rPr>
              <a:t>)</a:t>
            </a:r>
            <a:r>
              <a:rPr lang="en-US" altLang="zh-CN" sz="3200" b="1">
                <a:solidFill>
                  <a:srgbClr val="000000"/>
                </a:solidFill>
              </a:rPr>
              <a:t>/2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 </a:t>
            </a:r>
          </a:p>
        </p:txBody>
      </p:sp>
      <p:sp>
        <p:nvSpPr>
          <p:cNvPr id="229390" name="Text Box 14"/>
          <p:cNvSpPr txBox="1">
            <a:spLocks noChangeArrowheads="1"/>
          </p:cNvSpPr>
          <p:nvPr/>
        </p:nvSpPr>
        <p:spPr bwMode="auto">
          <a:xfrm>
            <a:off x="6156325" y="5013325"/>
            <a:ext cx="273685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Y’"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f"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endParaRPr lang="en-US" altLang="zh-CN" sz="3200" b="1">
              <a:solidFill>
                <a:srgbClr val="000000"/>
              </a:solidFill>
            </a:endParaRPr>
          </a:p>
        </p:txBody>
      </p:sp>
      <p:pic>
        <p:nvPicPr>
          <p:cNvPr id="229391" name="Picture 1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827213"/>
            <a:ext cx="6975475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9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9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9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9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82" grpId="0" autoUpdateAnimBg="0"/>
      <p:bldP spid="229389" grpId="0" autoUpdateAnimBg="0"/>
      <p:bldP spid="229390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8" name="Text Box 4"/>
          <p:cNvSpPr txBox="1">
            <a:spLocks noChangeArrowheads="1"/>
          </p:cNvSpPr>
          <p:nvPr/>
        </p:nvSpPr>
        <p:spPr bwMode="auto">
          <a:xfrm>
            <a:off x="2916238" y="4006850"/>
            <a:ext cx="5976937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Y"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8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f’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= </a:t>
            </a:r>
            <a:r>
              <a:rPr lang="en-US" altLang="zh-CN" sz="3200" b="1">
                <a:solidFill>
                  <a:srgbClr val="000080"/>
                </a:solidFill>
              </a:rPr>
              <a:t>(3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</a:rPr>
              <a:t>-4 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</a:t>
            </a:r>
            <a:r>
              <a:rPr lang="en-US" altLang="zh-CN" sz="3200" b="1">
                <a:solidFill>
                  <a:srgbClr val="000080"/>
                </a:solidFill>
              </a:rPr>
              <a:t>+ 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n-2</a:t>
            </a:r>
            <a:r>
              <a:rPr lang="en-US" altLang="zh-CN" sz="3200" b="1">
                <a:solidFill>
                  <a:srgbClr val="000080"/>
                </a:solidFill>
              </a:rPr>
              <a:t>)</a:t>
            </a:r>
            <a:r>
              <a:rPr lang="en-US" altLang="zh-CN" sz="3200" b="1">
                <a:solidFill>
                  <a:srgbClr val="000000"/>
                </a:solidFill>
              </a:rPr>
              <a:t>/2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 </a:t>
            </a:r>
          </a:p>
        </p:txBody>
      </p:sp>
      <p:pic>
        <p:nvPicPr>
          <p:cNvPr id="390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935413"/>
            <a:ext cx="1662113" cy="833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0150" name="Text Box 6"/>
          <p:cNvSpPr txBox="1">
            <a:spLocks noChangeArrowheads="1"/>
          </p:cNvSpPr>
          <p:nvPr/>
        </p:nvSpPr>
        <p:spPr bwMode="auto">
          <a:xfrm>
            <a:off x="900113" y="2276475"/>
            <a:ext cx="6265862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n-2</a:t>
            </a:r>
            <a:r>
              <a:rPr lang="en-US" altLang="zh-CN" sz="3200" b="1">
                <a:solidFill>
                  <a:srgbClr val="000080"/>
                </a:solidFill>
              </a:rPr>
              <a:t>- 2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</a:t>
            </a:r>
            <a:r>
              <a:rPr lang="en-US" altLang="zh-CN" sz="3200" b="1" i="1">
                <a:solidFill>
                  <a:srgbClr val="000080"/>
                </a:solidFill>
              </a:rPr>
              <a:t>= -f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>
                <a:solidFill>
                  <a:srgbClr val="000080"/>
                </a:solidFill>
              </a:rPr>
              <a:t> +</a:t>
            </a:r>
            <a:r>
              <a:rPr lang="en-US" altLang="zh-CN" sz="3200" b="1" i="1">
                <a:solidFill>
                  <a:srgbClr val="000080"/>
                </a:solidFill>
              </a:rPr>
              <a:t> f"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baseline="30000">
                <a:solidFill>
                  <a:srgbClr val="800080"/>
                </a:solidFill>
              </a:rPr>
              <a:t>2</a:t>
            </a:r>
          </a:p>
        </p:txBody>
      </p:sp>
      <p:graphicFrame>
        <p:nvGraphicFramePr>
          <p:cNvPr id="76805" name="Object 9"/>
          <p:cNvGraphicFramePr>
            <a:graphicFrameLocks noChangeAspect="1"/>
          </p:cNvGraphicFramePr>
          <p:nvPr/>
        </p:nvGraphicFramePr>
        <p:xfrm>
          <a:off x="539750" y="115888"/>
          <a:ext cx="7696200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2" name="公式" r:id="rId4" imgW="3213100" imgH="419100" progId="Equation.3">
                  <p:embed/>
                </p:oleObj>
              </mc:Choice>
              <mc:Fallback>
                <p:oleObj name="公式" r:id="rId4" imgW="3213100" imgH="419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15888"/>
                        <a:ext cx="7696200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6" name="Object 10"/>
          <p:cNvGraphicFramePr>
            <a:graphicFrameLocks noChangeAspect="1"/>
          </p:cNvGraphicFramePr>
          <p:nvPr/>
        </p:nvGraphicFramePr>
        <p:xfrm>
          <a:off x="250825" y="1187450"/>
          <a:ext cx="835342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3" name="公式" r:id="rId6" imgW="3644900" imgH="419100" progId="Equation.3">
                  <p:embed/>
                </p:oleObj>
              </mc:Choice>
              <mc:Fallback>
                <p:oleObj name="公式" r:id="rId6" imgW="3644900" imgH="419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187450"/>
                        <a:ext cx="8353425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0158" name="Text Box 14"/>
          <p:cNvSpPr txBox="1">
            <a:spLocks noChangeArrowheads="1"/>
          </p:cNvSpPr>
          <p:nvPr/>
        </p:nvSpPr>
        <p:spPr bwMode="auto">
          <a:xfrm>
            <a:off x="755650" y="3141663"/>
            <a:ext cx="6265863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Y’"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f"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 = 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</a:rPr>
              <a:t>- 2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</a:t>
            </a:r>
            <a:r>
              <a:rPr lang="en-US" altLang="zh-CN" sz="3200" b="1">
                <a:solidFill>
                  <a:srgbClr val="000080"/>
                </a:solidFill>
              </a:rPr>
              <a:t>+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n-2</a:t>
            </a:r>
            <a:r>
              <a:rPr lang="en-US" altLang="zh-CN" sz="3200" b="1">
                <a:solidFill>
                  <a:srgbClr val="000080"/>
                </a:solidFill>
              </a:rPr>
              <a:t>)/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</a:t>
            </a:r>
            <a:r>
              <a:rPr lang="en-US" altLang="zh-CN" sz="3200" b="1" baseline="30000">
                <a:solidFill>
                  <a:srgbClr val="800080"/>
                </a:solidFill>
              </a:rPr>
              <a:t>2</a:t>
            </a:r>
            <a:endParaRPr lang="en-US" altLang="zh-CN" sz="3200" b="1">
              <a:solidFill>
                <a:srgbClr val="000000"/>
              </a:solidFill>
            </a:endParaRPr>
          </a:p>
        </p:txBody>
      </p:sp>
      <p:pic>
        <p:nvPicPr>
          <p:cNvPr id="390159" name="Picture 1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868863"/>
            <a:ext cx="6975475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0160" name="Text Box 16"/>
          <p:cNvSpPr txBox="1">
            <a:spLocks noChangeArrowheads="1"/>
          </p:cNvSpPr>
          <p:nvPr/>
        </p:nvSpPr>
        <p:spPr bwMode="auto">
          <a:xfrm>
            <a:off x="1403350" y="5516563"/>
            <a:ext cx="69850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=Y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8080"/>
                </a:solidFill>
              </a:rPr>
              <a:t> +</a:t>
            </a:r>
            <a:r>
              <a:rPr lang="en-US" altLang="zh-CN" sz="3200" b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 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 </a:t>
            </a:r>
            <a:r>
              <a:rPr lang="en-US" altLang="zh-CN" sz="3200" b="1">
                <a:solidFill>
                  <a:srgbClr val="000080"/>
                </a:solidFill>
              </a:rPr>
              <a:t>(3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</a:rPr>
              <a:t>-4 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</a:t>
            </a:r>
            <a:r>
              <a:rPr lang="en-US" altLang="zh-CN" sz="3200" b="1">
                <a:solidFill>
                  <a:srgbClr val="000080"/>
                </a:solidFill>
              </a:rPr>
              <a:t>+ 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n-2</a:t>
            </a:r>
            <a:r>
              <a:rPr lang="en-US" altLang="zh-CN" sz="3200" b="1">
                <a:solidFill>
                  <a:srgbClr val="000080"/>
                </a:solidFill>
              </a:rPr>
              <a:t>)</a:t>
            </a:r>
            <a:r>
              <a:rPr lang="en-US" altLang="zh-CN" sz="3200" b="1">
                <a:solidFill>
                  <a:srgbClr val="000000"/>
                </a:solidFill>
              </a:rPr>
              <a:t>/4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 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f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 </a:t>
            </a:r>
            <a:r>
              <a:rPr lang="en-US" altLang="zh-CN" sz="3200" b="1">
                <a:solidFill>
                  <a:srgbClr val="000080"/>
                </a:solidFill>
              </a:rPr>
              <a:t>-2 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n-1</a:t>
            </a:r>
            <a:r>
              <a:rPr lang="en-US" altLang="zh-CN" sz="3200" b="1">
                <a:solidFill>
                  <a:srgbClr val="000080"/>
                </a:solidFill>
              </a:rPr>
              <a:t>+ </a:t>
            </a:r>
            <a:r>
              <a:rPr lang="en-US" altLang="zh-CN" sz="3200" b="1" i="1">
                <a:solidFill>
                  <a:srgbClr val="000080"/>
                </a:solidFill>
              </a:rPr>
              <a:t>f 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n-2</a:t>
            </a:r>
            <a:r>
              <a:rPr lang="en-US" altLang="zh-CN" sz="3200" b="1">
                <a:solidFill>
                  <a:srgbClr val="000080"/>
                </a:solidFill>
              </a:rPr>
              <a:t>)</a:t>
            </a:r>
            <a:r>
              <a:rPr lang="en-US" altLang="zh-CN" sz="3200" b="1">
                <a:solidFill>
                  <a:srgbClr val="000000"/>
                </a:solidFill>
              </a:rPr>
              <a:t>/6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0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0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0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0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0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0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0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0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0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0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8" grpId="0" autoUpdateAnimBg="0"/>
      <p:bldP spid="390150" grpId="0" autoUpdateAnimBg="0"/>
      <p:bldP spid="390158" grpId="0" autoUpdateAnimBg="0"/>
      <p:bldP spid="390160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6" name="Text Box 6"/>
          <p:cNvSpPr txBox="1">
            <a:spLocks noChangeArrowheads="1"/>
          </p:cNvSpPr>
          <p:nvPr/>
        </p:nvSpPr>
        <p:spPr bwMode="auto">
          <a:xfrm>
            <a:off x="346075" y="3933825"/>
            <a:ext cx="87630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>
                <a:solidFill>
                  <a:srgbClr val="000000"/>
                </a:solidFill>
              </a:rPr>
              <a:t>These methods are called </a:t>
            </a:r>
            <a:r>
              <a:rPr lang="en-US" altLang="zh-CN" sz="3200" b="1" i="1">
                <a:solidFill>
                  <a:srgbClr val="FF3300"/>
                </a:solidFill>
              </a:rPr>
              <a:t>Adams-Bashforth</a:t>
            </a:r>
            <a:r>
              <a:rPr lang="en-US" altLang="zh-CN" sz="3200" b="1" i="1">
                <a:solidFill>
                  <a:srgbClr val="000000"/>
                </a:solidFill>
              </a:rPr>
              <a:t> </a:t>
            </a:r>
            <a:r>
              <a:rPr lang="en-US" altLang="zh-CN" sz="3200" b="1">
                <a:solidFill>
                  <a:srgbClr val="000000"/>
                </a:solidFill>
              </a:rPr>
              <a:t>methods. Note that </a:t>
            </a:r>
            <a:r>
              <a:rPr lang="en-US" altLang="zh-CN" sz="3200" b="1" i="1">
                <a:solidFill>
                  <a:srgbClr val="000080"/>
                </a:solidFill>
              </a:rPr>
              <a:t>s </a:t>
            </a:r>
            <a:r>
              <a:rPr lang="en-US" altLang="zh-CN" sz="3200" b="1">
                <a:solidFill>
                  <a:srgbClr val="000080"/>
                </a:solidFill>
              </a:rPr>
              <a:t>= 1 </a:t>
            </a:r>
            <a:r>
              <a:rPr lang="en-US" altLang="zh-CN" sz="3200" b="1">
                <a:solidFill>
                  <a:srgbClr val="000000"/>
                </a:solidFill>
              </a:rPr>
              <a:t>recovers the Euler method.</a:t>
            </a:r>
            <a:endParaRPr lang="en-US" altLang="zh-CN" sz="3200" b="1"/>
          </a:p>
        </p:txBody>
      </p:sp>
      <p:pic>
        <p:nvPicPr>
          <p:cNvPr id="7782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908050"/>
            <a:ext cx="7702550" cy="65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782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844675"/>
            <a:ext cx="6624638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6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85344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>
                <a:solidFill>
                  <a:srgbClr val="000000"/>
                </a:solidFill>
              </a:rPr>
              <a:t>For </a:t>
            </a:r>
            <a:r>
              <a:rPr lang="en-US" altLang="zh-CN" sz="3200" b="1" i="1">
                <a:solidFill>
                  <a:srgbClr val="000080"/>
                </a:solidFill>
              </a:rPr>
              <a:t>s=4</a:t>
            </a:r>
            <a:r>
              <a:rPr lang="en-US" altLang="zh-CN" sz="3200" b="1">
                <a:solidFill>
                  <a:srgbClr val="000080"/>
                </a:solidFill>
              </a:rPr>
              <a:t> b</a:t>
            </a:r>
            <a:r>
              <a:rPr lang="en-US" altLang="zh-CN" sz="3200" b="1">
                <a:solidFill>
                  <a:srgbClr val="000000"/>
                </a:solidFill>
              </a:rPr>
              <a:t>y utilising </a:t>
            </a:r>
            <a:r>
              <a:rPr lang="en-US" altLang="zh-CN" sz="3200" b="1" i="1">
                <a:solidFill>
                  <a:srgbClr val="000000"/>
                </a:solidFill>
              </a:rPr>
              <a:t>f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n–3</a:t>
            </a:r>
            <a:r>
              <a:rPr lang="en-US" altLang="zh-CN" sz="3200" b="1">
                <a:solidFill>
                  <a:srgbClr val="000000"/>
                </a:solidFill>
              </a:rPr>
              <a:t>, </a:t>
            </a:r>
            <a:r>
              <a:rPr lang="en-US" altLang="zh-CN" sz="3200" b="1" i="1">
                <a:solidFill>
                  <a:srgbClr val="000000"/>
                </a:solidFill>
              </a:rPr>
              <a:t>f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n–2</a:t>
            </a:r>
            <a:r>
              <a:rPr lang="en-US" altLang="zh-CN" sz="3200" b="1">
                <a:solidFill>
                  <a:srgbClr val="000000"/>
                </a:solidFill>
              </a:rPr>
              <a:t>, </a:t>
            </a:r>
            <a:r>
              <a:rPr lang="en-US" altLang="zh-CN" sz="3200" b="1" i="1">
                <a:solidFill>
                  <a:srgbClr val="000000"/>
                </a:solidFill>
              </a:rPr>
              <a:t>f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n–</a:t>
            </a:r>
            <a:r>
              <a:rPr lang="en-US" altLang="zh-CN" sz="3200" b="1" baseline="-25000">
                <a:solidFill>
                  <a:srgbClr val="008080"/>
                </a:solidFill>
              </a:rPr>
              <a:t>1</a:t>
            </a:r>
            <a:r>
              <a:rPr lang="en-US" altLang="zh-CN" sz="3200" b="1">
                <a:solidFill>
                  <a:srgbClr val="000000"/>
                </a:solidFill>
              </a:rPr>
              <a:t>, </a:t>
            </a:r>
            <a:r>
              <a:rPr lang="en-US" altLang="zh-CN" sz="3200" b="1" i="1">
                <a:solidFill>
                  <a:srgbClr val="000000"/>
                </a:solidFill>
              </a:rPr>
              <a:t>f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8080"/>
                </a:solidFill>
              </a:rPr>
              <a:t> </a:t>
            </a:r>
            <a:r>
              <a:rPr lang="en-US" altLang="zh-CN" sz="3200" b="1">
                <a:solidFill>
                  <a:srgbClr val="000000"/>
                </a:solidFill>
              </a:rPr>
              <a:t>then we can  have </a:t>
            </a:r>
            <a:r>
              <a:rPr lang="en-US" altLang="zh-CN" sz="3200" b="1" i="1">
                <a:solidFill>
                  <a:srgbClr val="000080"/>
                </a:solidFill>
              </a:rPr>
              <a:t>Y’</a:t>
            </a:r>
            <a:r>
              <a:rPr lang="en-US" altLang="zh-CN" sz="3200" b="1">
                <a:solidFill>
                  <a:srgbClr val="000000"/>
                </a:solidFill>
              </a:rPr>
              <a:t> , </a:t>
            </a:r>
            <a:r>
              <a:rPr lang="en-US" altLang="zh-CN" sz="3200" b="1" i="1">
                <a:solidFill>
                  <a:srgbClr val="000080"/>
                </a:solidFill>
              </a:rPr>
              <a:t>Y"</a:t>
            </a:r>
            <a:r>
              <a:rPr lang="en-US" altLang="zh-CN" sz="3200" b="1">
                <a:solidFill>
                  <a:srgbClr val="000000"/>
                </a:solidFill>
              </a:rPr>
              <a:t> , and </a:t>
            </a:r>
            <a:r>
              <a:rPr lang="en-US" altLang="zh-CN" sz="3200" b="1" i="1">
                <a:solidFill>
                  <a:srgbClr val="000080"/>
                </a:solidFill>
              </a:rPr>
              <a:t>Y'"</a:t>
            </a:r>
            <a:r>
              <a:rPr lang="en-US" altLang="zh-CN" sz="3200" b="1">
                <a:solidFill>
                  <a:srgbClr val="000000"/>
                </a:solidFill>
              </a:rPr>
              <a:t> and </a:t>
            </a:r>
            <a:r>
              <a:rPr lang="en-US" altLang="zh-CN" sz="3200" b="1" i="1">
                <a:solidFill>
                  <a:srgbClr val="000080"/>
                </a:solidFill>
              </a:rPr>
              <a:t>Y"'' </a:t>
            </a:r>
            <a:r>
              <a:rPr lang="en-US" altLang="zh-CN" sz="3200" b="1" i="1">
                <a:solidFill>
                  <a:srgbClr val="008080"/>
                </a:solidFill>
              </a:rPr>
              <a:t>n</a:t>
            </a:r>
          </a:p>
        </p:txBody>
      </p:sp>
      <p:graphicFrame>
        <p:nvGraphicFramePr>
          <p:cNvPr id="78851" name="Object 7"/>
          <p:cNvGraphicFramePr>
            <a:graphicFrameLocks noChangeAspect="1"/>
          </p:cNvGraphicFramePr>
          <p:nvPr/>
        </p:nvGraphicFramePr>
        <p:xfrm>
          <a:off x="539750" y="2420938"/>
          <a:ext cx="7696200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17" name="公式" r:id="rId3" imgW="3213100" imgH="419100" progId="Equation.3">
                  <p:embed/>
                </p:oleObj>
              </mc:Choice>
              <mc:Fallback>
                <p:oleObj name="公式" r:id="rId3" imgW="3213100" imgH="419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420938"/>
                        <a:ext cx="7696200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2" name="Object 8"/>
          <p:cNvGraphicFramePr>
            <a:graphicFrameLocks noChangeAspect="1"/>
          </p:cNvGraphicFramePr>
          <p:nvPr/>
        </p:nvGraphicFramePr>
        <p:xfrm>
          <a:off x="250825" y="3563938"/>
          <a:ext cx="835342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18" name="公式" r:id="rId5" imgW="3644900" imgH="419100" progId="Equation.3">
                  <p:embed/>
                </p:oleObj>
              </mc:Choice>
              <mc:Fallback>
                <p:oleObj name="公式" r:id="rId5" imgW="3644900" imgH="419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563938"/>
                        <a:ext cx="8353425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3" name="Object 9"/>
          <p:cNvGraphicFramePr>
            <a:graphicFrameLocks noChangeAspect="1"/>
          </p:cNvGraphicFramePr>
          <p:nvPr/>
        </p:nvGraphicFramePr>
        <p:xfrm>
          <a:off x="336550" y="4724400"/>
          <a:ext cx="847090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19" name="公式" r:id="rId7" imgW="3695700" imgH="419100" progId="Equation.3">
                  <p:embed/>
                </p:oleObj>
              </mc:Choice>
              <mc:Fallback>
                <p:oleObj name="公式" r:id="rId7" imgW="3695700" imgH="419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" y="4724400"/>
                        <a:ext cx="8470900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533400" y="457200"/>
            <a:ext cx="8001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0000CC"/>
                </a:solidFill>
              </a:rPr>
              <a:t>Implicit</a:t>
            </a:r>
            <a:r>
              <a:rPr lang="en-US" altLang="zh-CN" sz="3200" b="1">
                <a:solidFill>
                  <a:srgbClr val="000000"/>
                </a:solidFill>
              </a:rPr>
              <a:t> Adams-Bashforth methods are also possible if we use information about </a:t>
            </a:r>
            <a:r>
              <a:rPr lang="en-US" altLang="zh-CN" sz="3200" b="1" i="1">
                <a:solidFill>
                  <a:srgbClr val="000080"/>
                </a:solidFill>
              </a:rPr>
              <a:t>f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>
                <a:solidFill>
                  <a:srgbClr val="008080"/>
                </a:solidFill>
              </a:rPr>
              <a:t> </a:t>
            </a:r>
            <a:r>
              <a:rPr lang="en-US" altLang="zh-CN" sz="3200" b="1">
                <a:solidFill>
                  <a:srgbClr val="000000"/>
                </a:solidFill>
              </a:rPr>
              <a:t>in addition to earlier time steps.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000000"/>
                </a:solidFill>
              </a:rPr>
              <a:t>The corresponding </a:t>
            </a:r>
            <a:r>
              <a:rPr lang="en-US" altLang="zh-CN" sz="3200" b="1" i="1">
                <a:solidFill>
                  <a:srgbClr val="000080"/>
                </a:solidFill>
              </a:rPr>
              <a:t>s </a:t>
            </a:r>
            <a:r>
              <a:rPr lang="en-US" altLang="zh-CN" sz="3200" b="1">
                <a:solidFill>
                  <a:srgbClr val="000080"/>
                </a:solidFill>
              </a:rPr>
              <a:t>= 2 </a:t>
            </a:r>
            <a:r>
              <a:rPr lang="en-US" altLang="zh-CN" sz="3200" b="1">
                <a:solidFill>
                  <a:srgbClr val="000000"/>
                </a:solidFill>
              </a:rPr>
              <a:t>method then uses</a:t>
            </a:r>
          </a:p>
        </p:txBody>
      </p:sp>
      <p:pic>
        <p:nvPicPr>
          <p:cNvPr id="23246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819698"/>
            <a:ext cx="1662113" cy="83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2462" name="Text Box 14"/>
          <p:cNvSpPr txBox="1">
            <a:spLocks noChangeArrowheads="1"/>
          </p:cNvSpPr>
          <p:nvPr/>
        </p:nvSpPr>
        <p:spPr bwMode="auto">
          <a:xfrm>
            <a:off x="3924300" y="3891136"/>
            <a:ext cx="20161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i="1">
                <a:solidFill>
                  <a:srgbClr val="000080"/>
                </a:solidFill>
              </a:rPr>
              <a:t>Y" </a:t>
            </a:r>
            <a:r>
              <a:rPr lang="en-US" altLang="zh-CN" sz="3200" i="1" baseline="-25000">
                <a:solidFill>
                  <a:srgbClr val="008080"/>
                </a:solidFill>
              </a:rPr>
              <a:t>n</a:t>
            </a:r>
            <a:r>
              <a:rPr lang="en-US" altLang="zh-CN" sz="3200" i="1">
                <a:solidFill>
                  <a:srgbClr val="008080"/>
                </a:solidFill>
              </a:rPr>
              <a:t> </a:t>
            </a:r>
            <a:r>
              <a:rPr lang="en-US" altLang="zh-CN" sz="3200">
                <a:solidFill>
                  <a:srgbClr val="000080"/>
                </a:solidFill>
              </a:rPr>
              <a:t>= </a:t>
            </a:r>
            <a:r>
              <a:rPr lang="en-US" altLang="zh-CN" sz="3200" i="1">
                <a:solidFill>
                  <a:srgbClr val="000080"/>
                </a:solidFill>
              </a:rPr>
              <a:t>f’ </a:t>
            </a:r>
          </a:p>
        </p:txBody>
      </p:sp>
      <p:graphicFrame>
        <p:nvGraphicFramePr>
          <p:cNvPr id="232466" name="Object 18"/>
          <p:cNvGraphicFramePr>
            <a:graphicFrameLocks noChangeAspect="1"/>
          </p:cNvGraphicFramePr>
          <p:nvPr/>
        </p:nvGraphicFramePr>
        <p:xfrm>
          <a:off x="323850" y="4581525"/>
          <a:ext cx="76962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22" name="公式" r:id="rId4" imgW="3213100" imgH="419100" progId="Equation.3">
                  <p:embed/>
                </p:oleObj>
              </mc:Choice>
              <mc:Fallback>
                <p:oleObj name="公式" r:id="rId4" imgW="3213100" imgH="4191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581525"/>
                        <a:ext cx="7696200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67" name="Text Box 19"/>
          <p:cNvSpPr txBox="1">
            <a:spLocks noChangeArrowheads="1"/>
          </p:cNvSpPr>
          <p:nvPr/>
        </p:nvSpPr>
        <p:spPr bwMode="auto">
          <a:xfrm>
            <a:off x="6084888" y="3891136"/>
            <a:ext cx="2843212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i="1">
                <a:solidFill>
                  <a:srgbClr val="000080"/>
                </a:solidFill>
              </a:rPr>
              <a:t> </a:t>
            </a:r>
            <a:r>
              <a:rPr lang="en-US" altLang="zh-CN" sz="3200" b="1" i="1"/>
              <a:t>’ ’ ’</a:t>
            </a:r>
            <a:r>
              <a:rPr lang="en-US" altLang="zh-CN"/>
              <a:t> </a:t>
            </a:r>
            <a:r>
              <a:rPr lang="en-US" altLang="zh-CN" sz="3200" i="1" baseline="-25000">
                <a:solidFill>
                  <a:srgbClr val="008080"/>
                </a:solidFill>
              </a:rPr>
              <a:t>n</a:t>
            </a:r>
            <a:r>
              <a:rPr lang="en-US" altLang="zh-CN" sz="3200" i="1">
                <a:solidFill>
                  <a:srgbClr val="008080"/>
                </a:solidFill>
              </a:rPr>
              <a:t> </a:t>
            </a:r>
            <a:r>
              <a:rPr lang="en-US" altLang="zh-CN" sz="3200">
                <a:solidFill>
                  <a:srgbClr val="000080"/>
                </a:solidFill>
              </a:rPr>
              <a:t>= </a:t>
            </a:r>
            <a:r>
              <a:rPr lang="en-US" altLang="zh-CN" sz="3200" i="1">
                <a:solidFill>
                  <a:srgbClr val="000080"/>
                </a:solidFill>
              </a:rPr>
              <a:t>f </a:t>
            </a:r>
            <a:r>
              <a:rPr lang="en-US" altLang="zh-CN" sz="3200" b="1" i="1"/>
              <a:t>’ ’ </a:t>
            </a:r>
            <a:r>
              <a:rPr lang="en-US" altLang="zh-CN" sz="3200" i="1" baseline="-25000">
                <a:solidFill>
                  <a:srgbClr val="008080"/>
                </a:solidFill>
              </a:rPr>
              <a:t>n</a:t>
            </a:r>
            <a:r>
              <a:rPr lang="en-US" altLang="zh-CN" sz="3200" i="1">
                <a:solidFill>
                  <a:srgbClr val="000080"/>
                </a:solidFill>
              </a:rPr>
              <a:t> </a:t>
            </a:r>
          </a:p>
        </p:txBody>
      </p:sp>
      <p:graphicFrame>
        <p:nvGraphicFramePr>
          <p:cNvPr id="232468" name="Object 20"/>
          <p:cNvGraphicFramePr>
            <a:graphicFrameLocks noChangeAspect="1"/>
          </p:cNvGraphicFramePr>
          <p:nvPr/>
        </p:nvGraphicFramePr>
        <p:xfrm>
          <a:off x="381000" y="5603875"/>
          <a:ext cx="7726363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23" name="公式" r:id="rId6" imgW="3225800" imgH="419100" progId="Equation.3">
                  <p:embed/>
                </p:oleObj>
              </mc:Choice>
              <mc:Fallback>
                <p:oleObj name="公式" r:id="rId6" imgW="3225800" imgH="4191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603875"/>
                        <a:ext cx="7726363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6">
            <a:extLst>
              <a:ext uri="{FF2B5EF4-FFF2-40B4-BE49-F238E27FC236}">
                <a16:creationId xmlns:a16="http://schemas.microsoft.com/office/drawing/2014/main" id="{FEC30AA5-B797-4637-A000-970A52FAC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908995"/>
            <a:ext cx="8424863" cy="80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2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2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2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2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2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2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62" grpId="0"/>
      <p:bldP spid="232467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898" name="Object 9"/>
          <p:cNvGraphicFramePr>
            <a:graphicFrameLocks noChangeAspect="1"/>
          </p:cNvGraphicFramePr>
          <p:nvPr/>
        </p:nvGraphicFramePr>
        <p:xfrm>
          <a:off x="381000" y="1484313"/>
          <a:ext cx="7726363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44" name="公式" r:id="rId3" imgW="3225800" imgH="419100" progId="Equation.3">
                  <p:embed/>
                </p:oleObj>
              </mc:Choice>
              <mc:Fallback>
                <p:oleObj name="公式" r:id="rId3" imgW="3225800" imgH="419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484313"/>
                        <a:ext cx="7726363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9" name="Object 11"/>
          <p:cNvGraphicFramePr>
            <a:graphicFrameLocks noChangeAspect="1"/>
          </p:cNvGraphicFramePr>
          <p:nvPr/>
        </p:nvGraphicFramePr>
        <p:xfrm>
          <a:off x="539750" y="404813"/>
          <a:ext cx="7696200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45" name="公式" r:id="rId5" imgW="3213100" imgH="419100" progId="Equation.3">
                  <p:embed/>
                </p:oleObj>
              </mc:Choice>
              <mc:Fallback>
                <p:oleObj name="公式" r:id="rId5" imgW="3213100" imgH="419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04813"/>
                        <a:ext cx="7696200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1180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141663"/>
            <a:ext cx="4176713" cy="684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1181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292600"/>
            <a:ext cx="5905500" cy="77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DB39ED1-5FE7-4543-92AF-97F1DFD87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5645299"/>
            <a:ext cx="8424863" cy="80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1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1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60350"/>
            <a:ext cx="1905000" cy="92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2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412875"/>
            <a:ext cx="4311650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2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492375"/>
            <a:ext cx="5688013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215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573463"/>
            <a:ext cx="8424863" cy="80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215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724400"/>
            <a:ext cx="7632700" cy="98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2152" name="Text Box 8"/>
          <p:cNvSpPr txBox="1">
            <a:spLocks noChangeArrowheads="1"/>
          </p:cNvSpPr>
          <p:nvPr/>
        </p:nvSpPr>
        <p:spPr bwMode="auto">
          <a:xfrm>
            <a:off x="6153150" y="333375"/>
            <a:ext cx="2667000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00"/>
                </a:solidFill>
              </a:rPr>
              <a:t>This family of implicit methods is known as </a:t>
            </a:r>
            <a:r>
              <a:rPr lang="en-US" altLang="zh-CN" sz="2800" b="1" i="1">
                <a:solidFill>
                  <a:srgbClr val="FF3300"/>
                </a:solidFill>
              </a:rPr>
              <a:t>Adams-Moulton</a:t>
            </a:r>
            <a:r>
              <a:rPr lang="en-US" altLang="zh-CN" sz="2800" b="1" i="1">
                <a:solidFill>
                  <a:srgbClr val="000000"/>
                </a:solidFill>
              </a:rPr>
              <a:t> </a:t>
            </a:r>
            <a:r>
              <a:rPr lang="en-US" altLang="zh-CN" sz="2800" b="1">
                <a:solidFill>
                  <a:srgbClr val="000000"/>
                </a:solidFill>
              </a:rPr>
              <a:t>methods.</a:t>
            </a:r>
            <a:endParaRPr lang="en-US" altLang="zh-CN" sz="2800" b="1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2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2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52" grpId="0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46" name="Object 2"/>
          <p:cNvGraphicFramePr>
            <a:graphicFrameLocks noChangeAspect="1"/>
          </p:cNvGraphicFramePr>
          <p:nvPr/>
        </p:nvGraphicFramePr>
        <p:xfrm>
          <a:off x="466725" y="936625"/>
          <a:ext cx="7405688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0" name="公式" r:id="rId3" imgW="3225800" imgH="419100" progId="Equation.3">
                  <p:embed/>
                </p:oleObj>
              </mc:Choice>
              <mc:Fallback>
                <p:oleObj name="公式" r:id="rId3" imgW="32258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936625"/>
                        <a:ext cx="7405688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7" name="Object 3"/>
          <p:cNvGraphicFramePr>
            <a:graphicFrameLocks noChangeAspect="1"/>
          </p:cNvGraphicFramePr>
          <p:nvPr/>
        </p:nvGraphicFramePr>
        <p:xfrm>
          <a:off x="611188" y="0"/>
          <a:ext cx="737870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1" name="公式" r:id="rId5" imgW="3213100" imgH="419100" progId="Equation.3">
                  <p:embed/>
                </p:oleObj>
              </mc:Choice>
              <mc:Fallback>
                <p:oleObj name="公式" r:id="rId5" imgW="32131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0"/>
                        <a:ext cx="7378700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250825" y="1916113"/>
          <a:ext cx="8281988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2" name="公式" r:id="rId7" imgW="3606800" imgH="419100" progId="Equation.3">
                  <p:embed/>
                </p:oleObj>
              </mc:Choice>
              <mc:Fallback>
                <p:oleObj name="公式" r:id="rId7" imgW="36068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916113"/>
                        <a:ext cx="8281988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89" name="Object 5"/>
          <p:cNvGraphicFramePr>
            <a:graphicFrameLocks noChangeAspect="1"/>
          </p:cNvGraphicFramePr>
          <p:nvPr/>
        </p:nvGraphicFramePr>
        <p:xfrm>
          <a:off x="1187450" y="3141663"/>
          <a:ext cx="5849938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3" name="公式" r:id="rId9" imgW="2082800" imgH="419100" progId="Equation.3">
                  <p:embed/>
                </p:oleObj>
              </mc:Choice>
              <mc:Fallback>
                <p:oleObj name="公式" r:id="rId9" imgW="20828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141663"/>
                        <a:ext cx="5849938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90" name="Object 6"/>
          <p:cNvGraphicFramePr>
            <a:graphicFrameLocks noChangeAspect="1"/>
          </p:cNvGraphicFramePr>
          <p:nvPr/>
        </p:nvGraphicFramePr>
        <p:xfrm>
          <a:off x="882650" y="5084763"/>
          <a:ext cx="709771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4" name="公式" r:id="rId11" imgW="2527300" imgH="241300" progId="Equation.3">
                  <p:embed/>
                </p:oleObj>
              </mc:Choice>
              <mc:Fallback>
                <p:oleObj name="公式" r:id="rId11" imgW="25273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50" y="5084763"/>
                        <a:ext cx="7097713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91" name="Object 7"/>
          <p:cNvGraphicFramePr>
            <a:graphicFrameLocks noChangeAspect="1"/>
          </p:cNvGraphicFramePr>
          <p:nvPr/>
        </p:nvGraphicFramePr>
        <p:xfrm>
          <a:off x="684213" y="4365625"/>
          <a:ext cx="709771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5" name="公式" r:id="rId13" imgW="2527300" imgH="241300" progId="Equation.3">
                  <p:embed/>
                </p:oleObj>
              </mc:Choice>
              <mc:Fallback>
                <p:oleObj name="公式" r:id="rId13" imgW="25273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365625"/>
                        <a:ext cx="709771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92" name="Object 8"/>
          <p:cNvGraphicFramePr>
            <a:graphicFrameLocks noChangeAspect="1"/>
          </p:cNvGraphicFramePr>
          <p:nvPr/>
        </p:nvGraphicFramePr>
        <p:xfrm>
          <a:off x="684213" y="5949950"/>
          <a:ext cx="7062787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6" name="公式" r:id="rId15" imgW="2514600" imgH="241300" progId="Equation.3">
                  <p:embed/>
                </p:oleObj>
              </mc:Choice>
              <mc:Fallback>
                <p:oleObj name="公式" r:id="rId15" imgW="25146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949950"/>
                        <a:ext cx="7062787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7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7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7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7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7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7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970" name="Object 2"/>
          <p:cNvGraphicFramePr>
            <a:graphicFrameLocks noChangeAspect="1"/>
          </p:cNvGraphicFramePr>
          <p:nvPr/>
        </p:nvGraphicFramePr>
        <p:xfrm>
          <a:off x="1042988" y="333375"/>
          <a:ext cx="650240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0" name="公式" r:id="rId3" imgW="2832100" imgH="419100" progId="Equation.3">
                  <p:embed/>
                </p:oleObj>
              </mc:Choice>
              <mc:Fallback>
                <p:oleObj name="公式" r:id="rId3" imgW="28321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33375"/>
                        <a:ext cx="6502400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3068638"/>
            <a:ext cx="5905500" cy="77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397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268413"/>
            <a:ext cx="1662112" cy="833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3973" name="Object 5"/>
          <p:cNvGraphicFramePr>
            <a:graphicFrameLocks noChangeAspect="1"/>
          </p:cNvGraphicFramePr>
          <p:nvPr/>
        </p:nvGraphicFramePr>
        <p:xfrm>
          <a:off x="900113" y="4076700"/>
          <a:ext cx="7062787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1" name="公式" r:id="rId7" imgW="2514600" imgH="241300" progId="Equation.3">
                  <p:embed/>
                </p:oleObj>
              </mc:Choice>
              <mc:Fallback>
                <p:oleObj name="公式" r:id="rId7" imgW="25146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076700"/>
                        <a:ext cx="7062787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4" name="Text Box 6"/>
          <p:cNvSpPr txBox="1">
            <a:spLocks noChangeArrowheads="1"/>
          </p:cNvSpPr>
          <p:nvPr/>
        </p:nvSpPr>
        <p:spPr bwMode="auto">
          <a:xfrm>
            <a:off x="2411413" y="6021388"/>
            <a:ext cx="3854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latin typeface="Arial" pitchFamily="34" charset="0"/>
              </a:rPr>
              <a:t>四 阶亚当斯隐式公式。</a:t>
            </a:r>
          </a:p>
        </p:txBody>
      </p:sp>
      <p:graphicFrame>
        <p:nvGraphicFramePr>
          <p:cNvPr id="83975" name="Object 7"/>
          <p:cNvGraphicFramePr>
            <a:graphicFrameLocks noChangeAspect="1"/>
          </p:cNvGraphicFramePr>
          <p:nvPr/>
        </p:nvGraphicFramePr>
        <p:xfrm>
          <a:off x="882650" y="2349500"/>
          <a:ext cx="709771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2" name="公式" r:id="rId9" imgW="2527300" imgH="241300" progId="Equation.3">
                  <p:embed/>
                </p:oleObj>
              </mc:Choice>
              <mc:Fallback>
                <p:oleObj name="公式" r:id="rId9" imgW="25273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50" y="2349500"/>
                        <a:ext cx="7097713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3976" name="Picture 8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797425"/>
            <a:ext cx="7812088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4"/>
          <p:cNvSpPr>
            <a:spLocks noChangeArrowheads="1"/>
          </p:cNvSpPr>
          <p:nvPr/>
        </p:nvSpPr>
        <p:spPr bwMode="auto">
          <a:xfrm>
            <a:off x="900113" y="188913"/>
            <a:ext cx="6096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/>
              <a:t>7.8 Predictor-corrector methods</a:t>
            </a:r>
          </a:p>
        </p:txBody>
      </p:sp>
      <p:pic>
        <p:nvPicPr>
          <p:cNvPr id="2478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3016250"/>
            <a:ext cx="4824413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7814" name="Text Box 6"/>
          <p:cNvSpPr txBox="1">
            <a:spLocks noChangeArrowheads="1"/>
          </p:cNvSpPr>
          <p:nvPr/>
        </p:nvSpPr>
        <p:spPr bwMode="auto">
          <a:xfrm>
            <a:off x="323850" y="3735388"/>
            <a:ext cx="8569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Applying the theory for direct iteration, we may write</a:t>
            </a:r>
          </a:p>
        </p:txBody>
      </p:sp>
      <p:pic>
        <p:nvPicPr>
          <p:cNvPr id="24781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5013325"/>
            <a:ext cx="3455987" cy="63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7820" name="Rectangle 12"/>
          <p:cNvSpPr>
            <a:spLocks noChangeArrowheads="1"/>
          </p:cNvSpPr>
          <p:nvPr/>
        </p:nvSpPr>
        <p:spPr bwMode="auto">
          <a:xfrm>
            <a:off x="323850" y="2276475"/>
            <a:ext cx="7561263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the Backward Euler method has the form</a:t>
            </a:r>
          </a:p>
        </p:txBody>
      </p:sp>
      <p:graphicFrame>
        <p:nvGraphicFramePr>
          <p:cNvPr id="247821" name="Object 13"/>
          <p:cNvGraphicFramePr>
            <a:graphicFrameLocks noChangeAspect="1"/>
          </p:cNvGraphicFramePr>
          <p:nvPr/>
        </p:nvGraphicFramePr>
        <p:xfrm>
          <a:off x="3636963" y="4456113"/>
          <a:ext cx="46799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24" name="公式" r:id="rId5" imgW="1676400" imgH="241300" progId="Equation.3">
                  <p:embed/>
                </p:oleObj>
              </mc:Choice>
              <mc:Fallback>
                <p:oleObj name="公式" r:id="rId5" imgW="1676400" imgH="2413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963" y="4456113"/>
                        <a:ext cx="467995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7822" name="Picture 1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557338"/>
            <a:ext cx="4343400" cy="77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7823" name="Rectangle 15"/>
          <p:cNvSpPr>
            <a:spLocks noChangeArrowheads="1"/>
          </p:cNvSpPr>
          <p:nvPr/>
        </p:nvSpPr>
        <p:spPr bwMode="auto">
          <a:xfrm>
            <a:off x="395288" y="908050"/>
            <a:ext cx="7561262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the Euler method has the form</a:t>
            </a:r>
          </a:p>
        </p:txBody>
      </p:sp>
      <p:sp>
        <p:nvSpPr>
          <p:cNvPr id="85002" name="Text Box 16"/>
          <p:cNvSpPr txBox="1">
            <a:spLocks noChangeArrowheads="1"/>
          </p:cNvSpPr>
          <p:nvPr/>
        </p:nvSpPr>
        <p:spPr bwMode="auto">
          <a:xfrm>
            <a:off x="223838" y="5795963"/>
            <a:ext cx="87407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The solution will gradually approach the Backward Euler solution. 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7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7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7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7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7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7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7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7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7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7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4" grpId="0" autoUpdateAnimBg="0"/>
      <p:bldP spid="247820" grpId="0"/>
      <p:bldP spid="24782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539750" y="333375"/>
            <a:ext cx="7632700" cy="135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3200" b="1"/>
              <a:t>A similar strategy may be applied to the Crank-Nicholson method to obtain</a:t>
            </a:r>
          </a:p>
        </p:txBody>
      </p:sp>
      <p:graphicFrame>
        <p:nvGraphicFramePr>
          <p:cNvPr id="480261" name="Object 5"/>
          <p:cNvGraphicFramePr>
            <a:graphicFrameLocks noChangeAspect="1"/>
          </p:cNvGraphicFramePr>
          <p:nvPr/>
        </p:nvGraphicFramePr>
        <p:xfrm>
          <a:off x="684213" y="1989138"/>
          <a:ext cx="694848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66" name="公式" r:id="rId3" imgW="2717800" imgH="241300" progId="Equation.3">
                  <p:embed/>
                </p:oleObj>
              </mc:Choice>
              <mc:Fallback>
                <p:oleObj name="公式" r:id="rId3" imgW="27178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989138"/>
                        <a:ext cx="6948487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8026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933825"/>
            <a:ext cx="4968875" cy="1109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026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3933825"/>
            <a:ext cx="3124200" cy="116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80264" name="Object 8"/>
          <p:cNvGraphicFramePr>
            <a:graphicFrameLocks noChangeAspect="1"/>
          </p:cNvGraphicFramePr>
          <p:nvPr/>
        </p:nvGraphicFramePr>
        <p:xfrm>
          <a:off x="2771775" y="2997200"/>
          <a:ext cx="46799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67" name="公式" r:id="rId7" imgW="1676400" imgH="241300" progId="Equation.3">
                  <p:embed/>
                </p:oleObj>
              </mc:Choice>
              <mc:Fallback>
                <p:oleObj name="公式" r:id="rId7" imgW="16764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997200"/>
                        <a:ext cx="467995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265" name="Text Box 9"/>
          <p:cNvSpPr txBox="1">
            <a:spLocks noChangeArrowheads="1"/>
          </p:cNvSpPr>
          <p:nvPr/>
        </p:nvSpPr>
        <p:spPr bwMode="auto">
          <a:xfrm>
            <a:off x="323850" y="5661025"/>
            <a:ext cx="87407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Note that this convergence criterion is more stringent than the stability criterion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0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0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0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0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0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0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26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3"/>
          <p:cNvSpPr txBox="1">
            <a:spLocks noChangeArrowheads="1"/>
          </p:cNvSpPr>
          <p:nvPr/>
        </p:nvSpPr>
        <p:spPr bwMode="auto">
          <a:xfrm>
            <a:off x="228600" y="620713"/>
            <a:ext cx="8686800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One can apply a less accurate algorithm to predict the next value Y</a:t>
            </a:r>
            <a:r>
              <a:rPr lang="en-US" altLang="zh-CN" sz="3200" b="1" baseline="-25000"/>
              <a:t>n+1</a:t>
            </a:r>
            <a:r>
              <a:rPr lang="en-US" altLang="zh-CN" sz="3200" b="1"/>
              <a:t> first, for example, using the Euler algorithm, and then apply a better algorithm to improve the new value.</a:t>
            </a:r>
          </a:p>
        </p:txBody>
      </p:sp>
      <p:pic>
        <p:nvPicPr>
          <p:cNvPr id="8704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3284538"/>
            <a:ext cx="5830887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7044" name="Object 6"/>
          <p:cNvGraphicFramePr>
            <a:graphicFrameLocks noChangeAspect="1"/>
          </p:cNvGraphicFramePr>
          <p:nvPr/>
        </p:nvGraphicFramePr>
        <p:xfrm>
          <a:off x="1835150" y="5445125"/>
          <a:ext cx="54006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67" name="公式" r:id="rId4" imgW="1676400" imgH="241300" progId="Equation.3">
                  <p:embed/>
                </p:oleObj>
              </mc:Choice>
              <mc:Fallback>
                <p:oleObj name="公式" r:id="rId4" imgW="16764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445125"/>
                        <a:ext cx="5400675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704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4437063"/>
            <a:ext cx="449580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9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6868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The simplest of these methods combines the Euler method as the predictor</a:t>
            </a:r>
          </a:p>
        </p:txBody>
      </p:sp>
      <p:sp>
        <p:nvSpPr>
          <p:cNvPr id="88067" name="Text Box 6"/>
          <p:cNvSpPr txBox="1">
            <a:spLocks noChangeArrowheads="1"/>
          </p:cNvSpPr>
          <p:nvPr/>
        </p:nvSpPr>
        <p:spPr bwMode="auto">
          <a:xfrm>
            <a:off x="304800" y="457200"/>
            <a:ext cx="86868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i="1"/>
              <a:t>7.8.1 Improved Euler method</a:t>
            </a:r>
            <a:endParaRPr lang="en-US" altLang="zh-CN" sz="3200" b="1"/>
          </a:p>
        </p:txBody>
      </p:sp>
      <p:sp>
        <p:nvSpPr>
          <p:cNvPr id="234503" name="Text Box 7"/>
          <p:cNvSpPr txBox="1">
            <a:spLocks noChangeArrowheads="1"/>
          </p:cNvSpPr>
          <p:nvPr/>
        </p:nvSpPr>
        <p:spPr bwMode="auto">
          <a:xfrm>
            <a:off x="228600" y="4876800"/>
            <a:ext cx="86868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The final solution is the mean of these:</a:t>
            </a:r>
          </a:p>
        </p:txBody>
      </p:sp>
      <p:sp>
        <p:nvSpPr>
          <p:cNvPr id="234504" name="Text Box 8"/>
          <p:cNvSpPr txBox="1">
            <a:spLocks noChangeArrowheads="1"/>
          </p:cNvSpPr>
          <p:nvPr/>
        </p:nvSpPr>
        <p:spPr bwMode="auto">
          <a:xfrm>
            <a:off x="152400" y="3352800"/>
            <a:ext cx="86868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and then the Backward Euler to give the corrector </a:t>
            </a:r>
          </a:p>
        </p:txBody>
      </p:sp>
      <p:pic>
        <p:nvPicPr>
          <p:cNvPr id="23450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438400"/>
            <a:ext cx="449580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450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4005263"/>
            <a:ext cx="4810125" cy="87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4507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5805488"/>
            <a:ext cx="4230688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4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4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4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4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autoUpdateAnimBg="0"/>
      <p:bldP spid="234503" grpId="0" autoUpdateAnimBg="0"/>
      <p:bldP spid="234504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5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8909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0"/>
            <a:ext cx="449580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9092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92150"/>
            <a:ext cx="5329237" cy="96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9093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628775"/>
            <a:ext cx="5616575" cy="94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92201" name="Object 9"/>
          <p:cNvGraphicFramePr>
            <a:graphicFrameLocks noChangeAspect="1"/>
          </p:cNvGraphicFramePr>
          <p:nvPr/>
        </p:nvGraphicFramePr>
        <p:xfrm>
          <a:off x="1116013" y="2565400"/>
          <a:ext cx="58547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39" name="公式" r:id="rId6" imgW="2260600" imgH="393700" progId="Equation.3">
                  <p:embed/>
                </p:oleObj>
              </mc:Choice>
              <mc:Fallback>
                <p:oleObj name="公式" r:id="rId6" imgW="2260600" imgH="393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565400"/>
                        <a:ext cx="58547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2204" name="Rectangle 12"/>
          <p:cNvSpPr>
            <a:spLocks noChangeArrowheads="1"/>
          </p:cNvSpPr>
          <p:nvPr/>
        </p:nvSpPr>
        <p:spPr bwMode="auto">
          <a:xfrm>
            <a:off x="250825" y="3527425"/>
            <a:ext cx="6842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迭代 </a:t>
            </a:r>
            <a:r>
              <a:rPr lang="en-US" altLang="zh-CN" sz="2800" b="1"/>
              <a:t>n </a:t>
            </a:r>
            <a:r>
              <a:rPr lang="zh-CN" altLang="en-US" sz="2800" b="1"/>
              <a:t>次的改进欧拉法计算公式如下：</a:t>
            </a:r>
          </a:p>
        </p:txBody>
      </p:sp>
      <p:graphicFrame>
        <p:nvGraphicFramePr>
          <p:cNvPr id="392205" name="Object 13"/>
          <p:cNvGraphicFramePr>
            <a:graphicFrameLocks noChangeAspect="1"/>
          </p:cNvGraphicFramePr>
          <p:nvPr/>
        </p:nvGraphicFramePr>
        <p:xfrm>
          <a:off x="1692275" y="4243388"/>
          <a:ext cx="6380163" cy="242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0" name="公式" r:id="rId8" imgW="2463800" imgH="939800" progId="Equation.3">
                  <p:embed/>
                </p:oleObj>
              </mc:Choice>
              <mc:Fallback>
                <p:oleObj name="公式" r:id="rId8" imgW="2463800" imgH="939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243388"/>
                        <a:ext cx="6380163" cy="242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2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2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2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2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2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2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204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4"/>
          <p:cNvSpPr txBox="1">
            <a:spLocks noChangeArrowheads="1"/>
          </p:cNvSpPr>
          <p:nvPr/>
        </p:nvSpPr>
        <p:spPr bwMode="auto">
          <a:xfrm>
            <a:off x="250825" y="487363"/>
            <a:ext cx="8713788" cy="375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3200" b="1" dirty="0"/>
              <a:t>这就是先用欧拉法由</a:t>
            </a:r>
            <a:r>
              <a:rPr lang="en-US" altLang="zh-CN" sz="3200" b="1" dirty="0"/>
              <a:t>(</a:t>
            </a:r>
            <a:r>
              <a:rPr lang="en-US" altLang="zh-CN" sz="3200" b="1" i="1" dirty="0" err="1"/>
              <a:t>x</a:t>
            </a:r>
            <a:r>
              <a:rPr lang="en-US" altLang="zh-CN" sz="3200" b="1" i="1" baseline="-25000" dirty="0" err="1"/>
              <a:t>n</a:t>
            </a:r>
            <a:r>
              <a:rPr lang="en-US" altLang="zh-CN" sz="3200" b="1" dirty="0"/>
              <a:t>, </a:t>
            </a:r>
            <a:r>
              <a:rPr lang="en-US" altLang="zh-CN" sz="3200" b="1" i="1" dirty="0" err="1"/>
              <a:t>y</a:t>
            </a:r>
            <a:r>
              <a:rPr lang="en-US" altLang="zh-CN" sz="3200" b="1" i="1" baseline="-25000" dirty="0" err="1"/>
              <a:t>n</a:t>
            </a:r>
            <a:r>
              <a:rPr lang="en-US" altLang="zh-CN" sz="3200" b="1" dirty="0"/>
              <a:t>)</a:t>
            </a:r>
            <a:r>
              <a:rPr lang="zh-CN" altLang="en-US" sz="3200" b="1" dirty="0"/>
              <a:t>得出</a:t>
            </a:r>
            <a:r>
              <a:rPr lang="en-US" altLang="zh-CN" sz="3200" b="1" i="1" dirty="0"/>
              <a:t>y</a:t>
            </a:r>
            <a:r>
              <a:rPr lang="en-US" altLang="zh-CN" sz="3200" b="1" dirty="0"/>
              <a:t>(</a:t>
            </a:r>
            <a:r>
              <a:rPr lang="en-US" altLang="zh-CN" sz="3200" b="1" i="1" dirty="0"/>
              <a:t>x</a:t>
            </a:r>
            <a:r>
              <a:rPr lang="en-US" altLang="zh-CN" sz="3200" b="1" i="1" baseline="-25000" dirty="0"/>
              <a:t>n+1</a:t>
            </a:r>
            <a:r>
              <a:rPr lang="en-US" altLang="zh-CN" sz="3200" b="1" dirty="0"/>
              <a:t>)</a:t>
            </a:r>
            <a:r>
              <a:rPr lang="zh-CN" altLang="en-US" sz="3200" b="1" dirty="0"/>
              <a:t>的初始近似值</a:t>
            </a:r>
            <a:r>
              <a:rPr lang="en-US" altLang="zh-CN" sz="3200" b="1" i="1" dirty="0"/>
              <a:t>y</a:t>
            </a:r>
            <a:r>
              <a:rPr lang="en-US" altLang="zh-CN" sz="3200" b="1" i="1" baseline="-25000" dirty="0"/>
              <a:t>n+1</a:t>
            </a:r>
            <a:r>
              <a:rPr lang="en-US" altLang="zh-CN" sz="3200" b="1" baseline="30000" dirty="0"/>
              <a:t>0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，然后用上式中第二式进行迭代，反复改进这个近似值，直到 </a:t>
            </a:r>
            <a:r>
              <a:rPr lang="en-US" altLang="zh-CN" sz="3200" b="1" dirty="0"/>
              <a:t>|</a:t>
            </a:r>
            <a:r>
              <a:rPr lang="en-US" altLang="zh-CN" sz="3200" b="1" i="1" dirty="0"/>
              <a:t>y</a:t>
            </a:r>
            <a:r>
              <a:rPr lang="en-US" altLang="zh-CN" sz="3200" b="1" i="1" baseline="-25000" dirty="0"/>
              <a:t>n+1</a:t>
            </a:r>
            <a:r>
              <a:rPr lang="en-US" altLang="zh-CN" sz="3200" b="1" i="1" baseline="30000" dirty="0"/>
              <a:t>k+1</a:t>
            </a:r>
            <a:r>
              <a:rPr lang="en-US" altLang="zh-CN" sz="3200" b="1" i="1" dirty="0"/>
              <a:t> - y</a:t>
            </a:r>
            <a:r>
              <a:rPr lang="en-US" altLang="zh-CN" sz="3200" b="1" i="1" baseline="-25000" dirty="0"/>
              <a:t>n+1</a:t>
            </a:r>
            <a:r>
              <a:rPr lang="en-US" altLang="zh-CN" sz="3200" b="1" i="1" baseline="30000" dirty="0"/>
              <a:t>k</a:t>
            </a:r>
            <a:r>
              <a:rPr lang="en-US" altLang="zh-CN" sz="3200" b="1" dirty="0"/>
              <a:t> |&lt;</a:t>
            </a:r>
            <a:r>
              <a:rPr lang="en-US" altLang="zh-CN" sz="3200" b="1" i="1" dirty="0">
                <a:sym typeface="Symbol" pitchFamily="18" charset="2"/>
              </a:rPr>
              <a:t>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（</a:t>
            </a:r>
            <a:r>
              <a:rPr lang="zh-CN" altLang="en-US" sz="3200" b="1" i="1" dirty="0">
                <a:sym typeface="Symbol" pitchFamily="18" charset="2"/>
              </a:rPr>
              <a:t></a:t>
            </a:r>
            <a:r>
              <a:rPr lang="zh-CN" altLang="en-US" sz="3200" b="1" dirty="0"/>
              <a:t>为所允许的误差）为止，并把 </a:t>
            </a:r>
            <a:r>
              <a:rPr lang="en-US" altLang="zh-CN" sz="3200" b="1" i="1" dirty="0"/>
              <a:t>y</a:t>
            </a:r>
            <a:r>
              <a:rPr lang="en-US" altLang="zh-CN" sz="3200" b="1" i="1" baseline="-25000" dirty="0"/>
              <a:t>n+1</a:t>
            </a:r>
            <a:r>
              <a:rPr lang="en-US" altLang="zh-CN" sz="3200" b="1" i="1" baseline="30000" dirty="0"/>
              <a:t>k </a:t>
            </a:r>
            <a:r>
              <a:rPr lang="zh-CN" altLang="en-US" sz="3200" b="1" dirty="0"/>
              <a:t>取作</a:t>
            </a:r>
            <a:r>
              <a:rPr lang="en-US" altLang="zh-CN" sz="3200" b="1" i="1" dirty="0"/>
              <a:t>y</a:t>
            </a:r>
            <a:r>
              <a:rPr lang="en-US" altLang="zh-CN" sz="3200" b="1" dirty="0"/>
              <a:t>(</a:t>
            </a:r>
            <a:r>
              <a:rPr lang="en-US" altLang="zh-CN" sz="3200" b="1" i="1" dirty="0"/>
              <a:t>x</a:t>
            </a:r>
            <a:r>
              <a:rPr lang="en-US" altLang="zh-CN" sz="3200" b="1" i="1" baseline="-25000" dirty="0"/>
              <a:t>n+1</a:t>
            </a:r>
            <a:r>
              <a:rPr lang="en-US" altLang="zh-CN" sz="3200" b="1" dirty="0"/>
              <a:t>)</a:t>
            </a:r>
            <a:r>
              <a:rPr lang="zh-CN" altLang="en-US" sz="3200" b="1" dirty="0"/>
              <a:t>的近似值</a:t>
            </a:r>
            <a:r>
              <a:rPr lang="en-US" altLang="zh-CN" sz="3200" b="1" i="1" dirty="0"/>
              <a:t>y</a:t>
            </a:r>
            <a:r>
              <a:rPr lang="en-US" altLang="zh-CN" sz="3200" b="1" i="1" baseline="-25000" dirty="0"/>
              <a:t>n+1</a:t>
            </a:r>
            <a:r>
              <a:rPr lang="zh-CN" altLang="en-US" sz="3200" b="1" dirty="0"/>
              <a:t>。这个方法就叫改进欧拉方法。</a:t>
            </a:r>
          </a:p>
        </p:txBody>
      </p:sp>
    </p:spTree>
  </p:cSld>
  <p:clrMapOvr>
    <a:masterClrMapping/>
  </p:clrMapOvr>
  <p:transition spd="med">
    <p:pull dir="r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844675"/>
            <a:ext cx="3311525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1628775"/>
            <a:ext cx="3889375" cy="75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636838"/>
            <a:ext cx="3886200" cy="68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2636838"/>
            <a:ext cx="3733800" cy="79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581400"/>
            <a:ext cx="4953000" cy="80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419600"/>
            <a:ext cx="6629400" cy="65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2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181600"/>
            <a:ext cx="40386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29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943600"/>
            <a:ext cx="4648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1146" name="Text Box 10"/>
          <p:cNvSpPr txBox="1">
            <a:spLocks noChangeArrowheads="1"/>
          </p:cNvSpPr>
          <p:nvPr/>
        </p:nvSpPr>
        <p:spPr bwMode="auto">
          <a:xfrm>
            <a:off x="136525" y="152400"/>
            <a:ext cx="8778875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0000"/>
                </a:solidFill>
              </a:rPr>
              <a:t>To understand the stability of this method we again use the </a:t>
            </a:r>
            <a:r>
              <a:rPr lang="en-US" altLang="zh-CN" sz="3200" b="1" i="1">
                <a:solidFill>
                  <a:srgbClr val="000080"/>
                </a:solidFill>
              </a:rPr>
              <a:t>y’ = 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l</a:t>
            </a:r>
            <a:r>
              <a:rPr lang="en-US" altLang="zh-CN" sz="3200" b="1" i="1">
                <a:solidFill>
                  <a:srgbClr val="000080"/>
                </a:solidFill>
              </a:rPr>
              <a:t>y </a:t>
            </a:r>
            <a:r>
              <a:rPr lang="en-US" altLang="zh-CN" sz="3200" b="1">
                <a:solidFill>
                  <a:srgbClr val="000000"/>
                </a:solidFill>
              </a:rPr>
              <a:t>so that the three steps described by the above equations become</a:t>
            </a:r>
            <a:endParaRPr lang="en-US" altLang="zh-CN" sz="3200" b="1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85800"/>
            <a:ext cx="45720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163" name="Text Box 3"/>
          <p:cNvSpPr txBox="1">
            <a:spLocks noChangeArrowheads="1"/>
          </p:cNvSpPr>
          <p:nvPr/>
        </p:nvSpPr>
        <p:spPr bwMode="auto">
          <a:xfrm>
            <a:off x="5867400" y="762000"/>
            <a:ext cx="24114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0000"/>
                </a:solidFill>
              </a:rPr>
              <a:t>(for </a:t>
            </a:r>
            <a:r>
              <a:rPr lang="en-US" altLang="zh-CN" sz="3200" b="1">
                <a:solidFill>
                  <a:srgbClr val="000080"/>
                </a:solidFill>
              </a:rPr>
              <a:t>Re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l </a:t>
            </a:r>
            <a:r>
              <a:rPr lang="en-US" altLang="zh-CN" sz="3200" b="1">
                <a:solidFill>
                  <a:srgbClr val="000080"/>
                </a:solidFill>
              </a:rPr>
              <a:t>&lt; 0</a:t>
            </a:r>
            <a:r>
              <a:rPr lang="en-US" altLang="zh-CN" sz="3200" b="1">
                <a:solidFill>
                  <a:srgbClr val="000000"/>
                </a:solidFill>
              </a:rPr>
              <a:t>)</a:t>
            </a:r>
            <a:endParaRPr lang="en-US" altLang="zh-CN" sz="3200" b="1"/>
          </a:p>
        </p:txBody>
      </p:sp>
      <p:sp>
        <p:nvSpPr>
          <p:cNvPr id="406532" name="Text Box 4"/>
          <p:cNvSpPr txBox="1">
            <a:spLocks noChangeArrowheads="1"/>
          </p:cNvSpPr>
          <p:nvPr/>
        </p:nvSpPr>
        <p:spPr bwMode="auto">
          <a:xfrm>
            <a:off x="990600" y="1752600"/>
            <a:ext cx="5927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0000"/>
                </a:solidFill>
              </a:rPr>
              <a:t>which in turn restricts 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D</a:t>
            </a:r>
            <a:r>
              <a:rPr lang="en-US" altLang="zh-CN" sz="3200" b="1" i="1">
                <a:solidFill>
                  <a:srgbClr val="000080"/>
                </a:solidFill>
              </a:rPr>
              <a:t>t </a:t>
            </a:r>
            <a:r>
              <a:rPr lang="en-US" altLang="zh-CN" sz="3200" b="1">
                <a:solidFill>
                  <a:srgbClr val="000080"/>
                </a:solidFill>
              </a:rPr>
              <a:t>&lt; 2|</a:t>
            </a:r>
            <a:r>
              <a:rPr lang="en-US" altLang="zh-CN" sz="3200" b="1">
                <a:solidFill>
                  <a:srgbClr val="008000"/>
                </a:solidFill>
                <a:latin typeface="Symbol" pitchFamily="18" charset="2"/>
              </a:rPr>
              <a:t>l</a:t>
            </a:r>
            <a:r>
              <a:rPr lang="en-US" altLang="zh-CN" sz="3200" b="1">
                <a:solidFill>
                  <a:srgbClr val="000080"/>
                </a:solidFill>
              </a:rPr>
              <a:t>|</a:t>
            </a:r>
            <a:r>
              <a:rPr lang="en-US" altLang="zh-CN" sz="3200" b="1" baseline="30000">
                <a:solidFill>
                  <a:srgbClr val="800080"/>
                </a:solidFill>
              </a:rPr>
              <a:t>–1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  <a:endParaRPr lang="en-US" altLang="zh-CN" sz="3200" b="1"/>
          </a:p>
        </p:txBody>
      </p:sp>
      <p:sp>
        <p:nvSpPr>
          <p:cNvPr id="406533" name="Text Box 5"/>
          <p:cNvSpPr txBox="1">
            <a:spLocks noChangeArrowheads="1"/>
          </p:cNvSpPr>
          <p:nvPr/>
        </p:nvSpPr>
        <p:spPr bwMode="auto">
          <a:xfrm>
            <a:off x="152400" y="3200400"/>
            <a:ext cx="8696325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The accuracy of the method is, however, second order as may be seen by comparisons with the Taylor Series expansion.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2" grpId="0" autoUpdateAnimBg="0"/>
      <p:bldP spid="406533" grpId="0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86" name="Object 5"/>
          <p:cNvGraphicFramePr>
            <a:graphicFrameLocks noChangeAspect="1"/>
          </p:cNvGraphicFramePr>
          <p:nvPr/>
        </p:nvGraphicFramePr>
        <p:xfrm>
          <a:off x="2339975" y="0"/>
          <a:ext cx="2519363" cy="198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34" name="公式" r:id="rId3" imgW="812447" imgH="634725" progId="Equation.3">
                  <p:embed/>
                </p:oleObj>
              </mc:Choice>
              <mc:Fallback>
                <p:oleObj name="公式" r:id="rId3" imgW="812447" imgH="63472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0"/>
                        <a:ext cx="2519363" cy="198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7" name="Object 4"/>
          <p:cNvGraphicFramePr>
            <a:graphicFrameLocks noChangeAspect="1"/>
          </p:cNvGraphicFramePr>
          <p:nvPr/>
        </p:nvGraphicFramePr>
        <p:xfrm>
          <a:off x="755650" y="4581525"/>
          <a:ext cx="7345363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35" name="公式" r:id="rId5" imgW="2578100" imgH="444500" progId="Equation.3">
                  <p:embed/>
                </p:oleObj>
              </mc:Choice>
              <mc:Fallback>
                <p:oleObj name="公式" r:id="rId5" imgW="25781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581525"/>
                        <a:ext cx="7345363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8" name="Rectangle 6"/>
          <p:cNvSpPr>
            <a:spLocks noChangeArrowheads="1"/>
          </p:cNvSpPr>
          <p:nvPr/>
        </p:nvSpPr>
        <p:spPr bwMode="auto">
          <a:xfrm>
            <a:off x="468313" y="260350"/>
            <a:ext cx="292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例</a:t>
            </a:r>
            <a:r>
              <a:rPr lang="zh-CN" altLang="en-US" sz="3200"/>
              <a:t>			</a:t>
            </a:r>
          </a:p>
        </p:txBody>
      </p:sp>
      <p:sp>
        <p:nvSpPr>
          <p:cNvPr id="93189" name="Rectangle 7"/>
          <p:cNvSpPr>
            <a:spLocks noChangeArrowheads="1"/>
          </p:cNvSpPr>
          <p:nvPr/>
        </p:nvSpPr>
        <p:spPr bwMode="auto">
          <a:xfrm>
            <a:off x="5508625" y="549275"/>
            <a:ext cx="36353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在区间</a:t>
            </a:r>
            <a:r>
              <a:rPr lang="en-US" altLang="zh-CN" sz="3200" b="1"/>
              <a:t>[0, 1.5]</a:t>
            </a:r>
            <a:r>
              <a:rPr lang="zh-CN" altLang="en-US" sz="3200" b="1"/>
              <a:t>上，取</a:t>
            </a:r>
            <a:r>
              <a:rPr lang="en-US" altLang="zh-CN" sz="3200" b="1" i="1"/>
              <a:t>h</a:t>
            </a:r>
            <a:r>
              <a:rPr lang="en-US" altLang="zh-CN" sz="3200" b="1"/>
              <a:t> = 0.1</a:t>
            </a:r>
            <a:r>
              <a:rPr lang="zh-CN" altLang="en-US" sz="3200" b="1"/>
              <a:t>，求解。</a:t>
            </a:r>
          </a:p>
        </p:txBody>
      </p:sp>
      <p:sp>
        <p:nvSpPr>
          <p:cNvPr id="93190" name="Rectangle 9"/>
          <p:cNvSpPr>
            <a:spLocks noChangeArrowheads="1"/>
          </p:cNvSpPr>
          <p:nvPr/>
        </p:nvSpPr>
        <p:spPr bwMode="auto">
          <a:xfrm>
            <a:off x="179388" y="2133600"/>
            <a:ext cx="84137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3200" b="1"/>
              <a:t>解：</a:t>
            </a:r>
          </a:p>
          <a:p>
            <a:r>
              <a:rPr lang="zh-CN" altLang="en-US" sz="3200" b="1"/>
              <a:t>	（</a:t>
            </a:r>
            <a:r>
              <a:rPr lang="en-US" altLang="zh-CN" sz="3200" b="1"/>
              <a:t>1</a:t>
            </a:r>
            <a:r>
              <a:rPr lang="zh-CN" altLang="en-US" sz="3200" b="1"/>
              <a:t>）用欧拉法计算公式如下：		</a:t>
            </a:r>
          </a:p>
        </p:txBody>
      </p:sp>
      <p:pic>
        <p:nvPicPr>
          <p:cNvPr id="93191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3573463"/>
            <a:ext cx="4343400" cy="77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pull dir="r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210" name="Object 6"/>
          <p:cNvGraphicFramePr>
            <a:graphicFrameLocks noChangeAspect="1"/>
          </p:cNvGraphicFramePr>
          <p:nvPr/>
        </p:nvGraphicFramePr>
        <p:xfrm>
          <a:off x="755650" y="3278188"/>
          <a:ext cx="3313113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01" name="公式" r:id="rId3" imgW="1358310" imgH="444307" progId="Equation.3">
                  <p:embed/>
                </p:oleObj>
              </mc:Choice>
              <mc:Fallback>
                <p:oleObj name="公式" r:id="rId3" imgW="1358310" imgH="44430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278188"/>
                        <a:ext cx="3313113" cy="108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1" name="Object 5"/>
          <p:cNvGraphicFramePr>
            <a:graphicFrameLocks noChangeAspect="1"/>
          </p:cNvGraphicFramePr>
          <p:nvPr/>
        </p:nvGraphicFramePr>
        <p:xfrm>
          <a:off x="323850" y="4240213"/>
          <a:ext cx="6783388" cy="2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02" name="公式" r:id="rId5" imgW="2616200" imgH="914400" progId="Equation.3">
                  <p:embed/>
                </p:oleObj>
              </mc:Choice>
              <mc:Fallback>
                <p:oleObj name="公式" r:id="rId5" imgW="2616200" imgH="91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240213"/>
                        <a:ext cx="6783388" cy="237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2" name="Rectangle 7"/>
          <p:cNvSpPr>
            <a:spLocks noChangeArrowheads="1"/>
          </p:cNvSpPr>
          <p:nvPr/>
        </p:nvSpPr>
        <p:spPr bwMode="auto">
          <a:xfrm>
            <a:off x="0" y="2549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13" name="Rectangle 8"/>
          <p:cNvSpPr>
            <a:spLocks noChangeArrowheads="1"/>
          </p:cNvSpPr>
          <p:nvPr/>
        </p:nvSpPr>
        <p:spPr bwMode="auto">
          <a:xfrm>
            <a:off x="0" y="2997200"/>
            <a:ext cx="29273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000"/>
              <a:t>			</a:t>
            </a:r>
            <a:endParaRPr lang="en-US" altLang="zh-CN"/>
          </a:p>
        </p:txBody>
      </p:sp>
      <p:sp>
        <p:nvSpPr>
          <p:cNvPr id="94214" name="Rectangle 12"/>
          <p:cNvSpPr>
            <a:spLocks noChangeArrowheads="1"/>
          </p:cNvSpPr>
          <p:nvPr/>
        </p:nvSpPr>
        <p:spPr bwMode="auto">
          <a:xfrm>
            <a:off x="250825" y="333375"/>
            <a:ext cx="86391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（</a:t>
            </a:r>
            <a:r>
              <a:rPr lang="en-US" altLang="zh-CN" sz="3200" b="1"/>
              <a:t>2</a:t>
            </a:r>
            <a:r>
              <a:rPr lang="zh-CN" altLang="en-US" sz="3200" b="1"/>
              <a:t>）用迭代一次的改进欧拉法计算公式如下：</a:t>
            </a:r>
          </a:p>
        </p:txBody>
      </p:sp>
      <p:graphicFrame>
        <p:nvGraphicFramePr>
          <p:cNvPr id="400397" name="Object 13"/>
          <p:cNvGraphicFramePr>
            <a:graphicFrameLocks noChangeAspect="1"/>
          </p:cNvGraphicFramePr>
          <p:nvPr/>
        </p:nvGraphicFramePr>
        <p:xfrm>
          <a:off x="1258888" y="931863"/>
          <a:ext cx="6380162" cy="242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03" name="公式" r:id="rId7" imgW="2463800" imgH="939800" progId="Equation.3">
                  <p:embed/>
                </p:oleObj>
              </mc:Choice>
              <mc:Fallback>
                <p:oleObj name="公式" r:id="rId7" imgW="2463800" imgH="939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931863"/>
                        <a:ext cx="6380162" cy="242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6" name="Object 14"/>
          <p:cNvGraphicFramePr>
            <a:graphicFrameLocks noChangeAspect="1"/>
          </p:cNvGraphicFramePr>
          <p:nvPr/>
        </p:nvGraphicFramePr>
        <p:xfrm>
          <a:off x="7332663" y="4005263"/>
          <a:ext cx="1811337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04" name="公式" r:id="rId9" imgW="698197" imgH="406224" progId="Equation.3">
                  <p:embed/>
                </p:oleObj>
              </mc:Choice>
              <mc:Fallback>
                <p:oleObj name="公式" r:id="rId9" imgW="698197" imgH="40622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2663" y="4005263"/>
                        <a:ext cx="1811337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0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0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1572" name="Group 164"/>
          <p:cNvGraphicFramePr>
            <a:graphicFrameLocks noGrp="1"/>
          </p:cNvGraphicFramePr>
          <p:nvPr/>
        </p:nvGraphicFramePr>
        <p:xfrm>
          <a:off x="539750" y="1946275"/>
          <a:ext cx="7848600" cy="7832918"/>
        </p:xfrm>
        <a:graphic>
          <a:graphicData uri="http://schemas.openxmlformats.org/drawingml/2006/table">
            <a:tbl>
              <a:tblPr/>
              <a:tblGrid>
                <a:gridCol w="1189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5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7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1" lang="en-US" altLang="zh-CN" sz="28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欧拉法</a:t>
                      </a: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1" lang="en-US" altLang="zh-CN" sz="28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迭代改进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准确解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1.1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1.095909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1.095445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1.191818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1.184096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1.183216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1.277438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1.260201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1.264911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0.4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1.358213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1.343360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1.341641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0.5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1.435133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1.416102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1.414214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1.508966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1.482956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1.483240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0.7</a:t>
                      </a: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1.580338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1.552515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1.549193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2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62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62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962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962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962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95303" name="Rectangle 165"/>
          <p:cNvSpPr>
            <a:spLocks noChangeArrowheads="1"/>
          </p:cNvSpPr>
          <p:nvPr/>
        </p:nvSpPr>
        <p:spPr bwMode="auto">
          <a:xfrm>
            <a:off x="323850" y="260350"/>
            <a:ext cx="30400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cs typeface="Times New Roman" pitchFamily="18" charset="0"/>
              </a:rPr>
              <a:t>本题的精确解为</a:t>
            </a:r>
            <a:endParaRPr lang="zh-CN" altLang="en-US" sz="3200" b="1"/>
          </a:p>
        </p:txBody>
      </p:sp>
      <p:graphicFrame>
        <p:nvGraphicFramePr>
          <p:cNvPr id="95304" name="Object 166"/>
          <p:cNvGraphicFramePr>
            <a:graphicFrameLocks noChangeAspect="1"/>
          </p:cNvGraphicFramePr>
          <p:nvPr/>
        </p:nvGraphicFramePr>
        <p:xfrm>
          <a:off x="4356100" y="260350"/>
          <a:ext cx="252095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27" name="公式" r:id="rId3" imgW="876300" imgH="228600" progId="Equation.3">
                  <p:embed/>
                </p:oleObj>
              </mc:Choice>
              <mc:Fallback>
                <p:oleObj name="公式" r:id="rId3" imgW="876300" imgH="228600" progId="Equation.3">
                  <p:embed/>
                  <p:pic>
                    <p:nvPicPr>
                      <p:cNvPr id="0" name="Object 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60350"/>
                        <a:ext cx="252095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05" name="Rectangle 167"/>
          <p:cNvSpPr>
            <a:spLocks noChangeArrowheads="1"/>
          </p:cNvSpPr>
          <p:nvPr/>
        </p:nvSpPr>
        <p:spPr bwMode="auto">
          <a:xfrm>
            <a:off x="468313" y="1268413"/>
            <a:ext cx="80708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cs typeface="Times New Roman" pitchFamily="18" charset="0"/>
              </a:rPr>
              <a:t>可用来检验近似解的精确程度计算结果如下</a:t>
            </a:r>
            <a:r>
              <a:rPr lang="en-US" altLang="zh-CN" sz="3200" b="1">
                <a:cs typeface="Times New Roman" pitchFamily="18" charset="0"/>
              </a:rPr>
              <a:t>:</a:t>
            </a:r>
          </a:p>
        </p:txBody>
      </p:sp>
    </p:spTree>
  </p:cSld>
  <p:clrMapOvr>
    <a:masterClrMapping/>
  </p:clrMapOvr>
  <p:transition spd="med">
    <p:pull dir="r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838" name="Group 110"/>
          <p:cNvGraphicFramePr>
            <a:graphicFrameLocks noGrp="1"/>
          </p:cNvGraphicFramePr>
          <p:nvPr/>
        </p:nvGraphicFramePr>
        <p:xfrm>
          <a:off x="539750" y="668338"/>
          <a:ext cx="7920038" cy="8161342"/>
        </p:xfrm>
        <a:graphic>
          <a:graphicData uri="http://schemas.openxmlformats.org/drawingml/2006/table">
            <a:tbl>
              <a:tblPr/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1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1" lang="en-US" altLang="zh-CN" sz="32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endParaRPr kumimoji="1" lang="en-US" altLang="zh-CN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欧拉法</a:t>
                      </a:r>
                      <a:r>
                        <a:rPr kumimoji="1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1" lang="en-US" altLang="zh-CN" sz="28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迭代改进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准确解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1.649783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1.616476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1.612452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1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0.9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1.717779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1.678168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1.673320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5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1.0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1.784770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1.737869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1.732051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1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1.1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1.85118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1.795822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1.788854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5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1.2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1.917464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1.852242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1.843909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1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1.3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1.984046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1.907323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1.897367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65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1.4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2.051404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1.961253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1.949359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1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1.5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2.120052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2.014207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2.000000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95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95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1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95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11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095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11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4"/>
          <p:cNvSpPr>
            <a:spLocks noChangeArrowheads="1"/>
          </p:cNvSpPr>
          <p:nvPr/>
        </p:nvSpPr>
        <p:spPr bwMode="auto">
          <a:xfrm>
            <a:off x="457200" y="457200"/>
            <a:ext cx="80025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/>
              <a:t>7.8.2  Runge-Kutta (</a:t>
            </a:r>
            <a:r>
              <a:rPr lang="zh-CN" altLang="en-US" sz="3200" b="1"/>
              <a:t>龙格</a:t>
            </a:r>
            <a:r>
              <a:rPr lang="en-US" altLang="zh-CN" sz="3200" b="1"/>
              <a:t>―</a:t>
            </a:r>
            <a:r>
              <a:rPr lang="zh-CN" altLang="en-US" sz="3200" b="1"/>
              <a:t>库塔</a:t>
            </a:r>
            <a:r>
              <a:rPr lang="en-US" altLang="zh-CN" sz="3200" b="1"/>
              <a:t>)</a:t>
            </a:r>
            <a:r>
              <a:rPr lang="en-US" altLang="zh-CN" sz="3200" b="1" i="1"/>
              <a:t> methods</a:t>
            </a:r>
          </a:p>
        </p:txBody>
      </p:sp>
      <p:sp>
        <p:nvSpPr>
          <p:cNvPr id="97283" name="Rectangle 5"/>
          <p:cNvSpPr>
            <a:spLocks noChangeArrowheads="1"/>
          </p:cNvSpPr>
          <p:nvPr/>
        </p:nvSpPr>
        <p:spPr bwMode="auto">
          <a:xfrm>
            <a:off x="179388" y="1584325"/>
            <a:ext cx="8640762" cy="389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 b="1"/>
              <a:t>由上节知道，</a:t>
            </a:r>
            <a:r>
              <a:rPr lang="zh-CN" altLang="en-US" sz="3200" b="1">
                <a:solidFill>
                  <a:srgbClr val="3333FF"/>
                </a:solidFill>
              </a:rPr>
              <a:t>截断误差的阶</a:t>
            </a:r>
            <a:r>
              <a:rPr lang="zh-CN" altLang="en-US" sz="3200" b="1"/>
              <a:t>是衡量一个方法精度高低的主要依据。能否用提高</a:t>
            </a:r>
            <a:r>
              <a:rPr lang="zh-CN" altLang="en-US" sz="3200" b="1">
                <a:solidFill>
                  <a:srgbClr val="3333FF"/>
                </a:solidFill>
              </a:rPr>
              <a:t>截断误差阶</a:t>
            </a:r>
            <a:r>
              <a:rPr lang="zh-CN" altLang="en-US" sz="3200" b="1"/>
              <a:t>来提高方法的精确度呢？回答是肯定的。前面介绍的泰勒级数法就是基于这种思想构造出来的。本节介绍的龙格</a:t>
            </a:r>
            <a:r>
              <a:rPr lang="en-US" altLang="zh-CN" sz="3200" b="1"/>
              <a:t>―</a:t>
            </a:r>
            <a:r>
              <a:rPr lang="zh-CN" altLang="en-US" sz="3200" b="1"/>
              <a:t>库塔法就是基于这种思想构造出来的。 </a:t>
            </a:r>
          </a:p>
        </p:txBody>
      </p:sp>
    </p:spTree>
  </p:cSld>
  <p:clrMapOvr>
    <a:masterClrMapping/>
  </p:clrMapOvr>
  <p:transition spd="med">
    <p:pull dir="r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0"/>
            <a:ext cx="2665412" cy="108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02436" name="Object 4"/>
          <p:cNvGraphicFramePr>
            <a:graphicFrameLocks noChangeAspect="1"/>
          </p:cNvGraphicFramePr>
          <p:nvPr/>
        </p:nvGraphicFramePr>
        <p:xfrm>
          <a:off x="3132138" y="1052513"/>
          <a:ext cx="4392612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56" name="Equation" r:id="rId4" imgW="1244600" imgH="444500" progId="Equation.3">
                  <p:embed/>
                </p:oleObj>
              </mc:Choice>
              <mc:Fallback>
                <p:oleObj name="Equation" r:id="rId4" imgW="12446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1052513"/>
                        <a:ext cx="4392612" cy="1379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2437" name="Rectangle 5"/>
          <p:cNvSpPr>
            <a:spLocks noChangeArrowheads="1"/>
          </p:cNvSpPr>
          <p:nvPr/>
        </p:nvSpPr>
        <p:spPr bwMode="auto">
          <a:xfrm>
            <a:off x="395288" y="2565400"/>
            <a:ext cx="259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graphicFrame>
        <p:nvGraphicFramePr>
          <p:cNvPr id="402438" name="Object 6"/>
          <p:cNvGraphicFramePr>
            <a:graphicFrameLocks noChangeAspect="1"/>
          </p:cNvGraphicFramePr>
          <p:nvPr/>
        </p:nvGraphicFramePr>
        <p:xfrm>
          <a:off x="3276600" y="2349500"/>
          <a:ext cx="55626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57" name="Equation" r:id="rId6" imgW="1981200" imgH="444500" progId="Equation.3">
                  <p:embed/>
                </p:oleObj>
              </mc:Choice>
              <mc:Fallback>
                <p:oleObj name="Equation" r:id="rId6" imgW="19812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349500"/>
                        <a:ext cx="5562600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2442" name="Rectangle 10"/>
          <p:cNvSpPr>
            <a:spLocks noChangeArrowheads="1"/>
          </p:cNvSpPr>
          <p:nvPr/>
        </p:nvSpPr>
        <p:spPr bwMode="auto">
          <a:xfrm>
            <a:off x="539750" y="3860800"/>
            <a:ext cx="7704138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 b="1"/>
              <a:t>显然，当 </a:t>
            </a:r>
            <a:r>
              <a:rPr lang="en-US" altLang="zh-CN" sz="3200" b="1"/>
              <a:t>N = </a:t>
            </a:r>
            <a:r>
              <a:rPr lang="en-US" altLang="zh-CN" sz="3200" b="1">
                <a:sym typeface="Symbol" pitchFamily="18" charset="2"/>
              </a:rPr>
              <a:t>1</a:t>
            </a:r>
            <a:r>
              <a:rPr lang="zh-CN" altLang="en-US" sz="3200" b="1">
                <a:sym typeface="Symbol" pitchFamily="18" charset="2"/>
              </a:rPr>
              <a:t>时，上式就是欧拉公式。</a:t>
            </a:r>
            <a:endParaRPr lang="zh-CN" altLang="en-US" b="1"/>
          </a:p>
        </p:txBody>
      </p:sp>
      <p:sp>
        <p:nvSpPr>
          <p:cNvPr id="402443" name="Rectangle 11"/>
          <p:cNvSpPr>
            <a:spLocks noChangeArrowheads="1"/>
          </p:cNvSpPr>
          <p:nvPr/>
        </p:nvSpPr>
        <p:spPr bwMode="auto">
          <a:xfrm>
            <a:off x="395288" y="5516563"/>
            <a:ext cx="7704137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 b="1">
                <a:sym typeface="Symbol" pitchFamily="18" charset="2"/>
              </a:rPr>
              <a:t>下面我们先导出</a:t>
            </a:r>
            <a:r>
              <a:rPr lang="en-US" altLang="zh-CN" sz="3200" b="1">
                <a:sym typeface="Symbol" pitchFamily="18" charset="2"/>
              </a:rPr>
              <a:t>N </a:t>
            </a:r>
            <a:r>
              <a:rPr lang="en-US" altLang="zh-CN" sz="3200" b="1"/>
              <a:t> =</a:t>
            </a:r>
            <a:r>
              <a:rPr lang="en-US" altLang="zh-CN" sz="3200" b="1">
                <a:sym typeface="Symbol" pitchFamily="18" charset="2"/>
              </a:rPr>
              <a:t>2</a:t>
            </a:r>
            <a:r>
              <a:rPr lang="zh-CN" altLang="en-US" sz="3200" b="1">
                <a:sym typeface="Symbol" pitchFamily="18" charset="2"/>
              </a:rPr>
              <a:t>时的公式。</a:t>
            </a:r>
          </a:p>
        </p:txBody>
      </p:sp>
      <p:sp>
        <p:nvSpPr>
          <p:cNvPr id="402444" name="Rectangle 12"/>
          <p:cNvSpPr>
            <a:spLocks noChangeArrowheads="1"/>
          </p:cNvSpPr>
          <p:nvPr/>
        </p:nvSpPr>
        <p:spPr bwMode="auto">
          <a:xfrm>
            <a:off x="179388" y="4697413"/>
            <a:ext cx="8713787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 b="1"/>
              <a:t>当 </a:t>
            </a:r>
            <a:r>
              <a:rPr lang="en-US" altLang="zh-CN" sz="3200" b="1"/>
              <a:t>N &gt; </a:t>
            </a:r>
            <a:r>
              <a:rPr lang="en-US" altLang="zh-CN" sz="3200" b="1">
                <a:sym typeface="Symbol" pitchFamily="18" charset="2"/>
              </a:rPr>
              <a:t>1</a:t>
            </a:r>
            <a:r>
              <a:rPr lang="zh-CN" altLang="en-US" sz="3200" b="1">
                <a:sym typeface="Symbol" pitchFamily="18" charset="2"/>
              </a:rPr>
              <a:t>时，上式就是</a:t>
            </a:r>
            <a:r>
              <a:rPr lang="en-US" altLang="zh-CN" sz="3200" b="1"/>
              <a:t>N</a:t>
            </a:r>
            <a:r>
              <a:rPr lang="zh-CN" altLang="en-US" sz="3200" b="1"/>
              <a:t>阶的龙格</a:t>
            </a:r>
            <a:r>
              <a:rPr lang="en-US" altLang="zh-CN" sz="3200" b="1"/>
              <a:t>―</a:t>
            </a:r>
            <a:r>
              <a:rPr lang="zh-CN" altLang="en-US" sz="3200" b="1"/>
              <a:t>库塔</a:t>
            </a:r>
            <a:r>
              <a:rPr lang="zh-CN" altLang="en-US" sz="3200" b="1">
                <a:sym typeface="Symbol" pitchFamily="18" charset="2"/>
              </a:rPr>
              <a:t>公式。</a:t>
            </a:r>
          </a:p>
        </p:txBody>
      </p:sp>
      <p:sp>
        <p:nvSpPr>
          <p:cNvPr id="98313" name="Rectangle 13"/>
          <p:cNvSpPr>
            <a:spLocks noChangeArrowheads="1"/>
          </p:cNvSpPr>
          <p:nvPr/>
        </p:nvSpPr>
        <p:spPr bwMode="auto">
          <a:xfrm>
            <a:off x="179388" y="133350"/>
            <a:ext cx="3957637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 b="1"/>
              <a:t>龙格</a:t>
            </a:r>
            <a:r>
              <a:rPr lang="en-US" altLang="zh-CN" sz="3200" b="1"/>
              <a:t>―</a:t>
            </a:r>
            <a:r>
              <a:rPr lang="zh-CN" altLang="en-US" sz="3200" b="1"/>
              <a:t>库塔法的思想</a:t>
            </a:r>
            <a:r>
              <a:rPr lang="zh-CN" altLang="en-US" sz="3200"/>
              <a:t> 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2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2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7" grpId="0" autoUpdateAnimBg="0"/>
      <p:bldP spid="402442" grpId="0"/>
      <p:bldP spid="402443" grpId="0"/>
      <p:bldP spid="402444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130175"/>
            <a:ext cx="2449513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9331" name="Object 3"/>
          <p:cNvGraphicFramePr>
            <a:graphicFrameLocks noChangeAspect="1"/>
          </p:cNvGraphicFramePr>
          <p:nvPr/>
        </p:nvGraphicFramePr>
        <p:xfrm>
          <a:off x="1187450" y="1176338"/>
          <a:ext cx="4752975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20" name="Equation" r:id="rId4" imgW="1244600" imgH="444500" progId="Equation.3">
                  <p:embed/>
                </p:oleObj>
              </mc:Choice>
              <mc:Fallback>
                <p:oleObj name="Equation" r:id="rId4" imgW="12446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176338"/>
                        <a:ext cx="4752975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2" name="Rectangle 4"/>
          <p:cNvSpPr>
            <a:spLocks noChangeArrowheads="1"/>
          </p:cNvSpPr>
          <p:nvPr/>
        </p:nvSpPr>
        <p:spPr bwMode="auto">
          <a:xfrm>
            <a:off x="277813" y="2781300"/>
            <a:ext cx="259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graphicFrame>
        <p:nvGraphicFramePr>
          <p:cNvPr id="99333" name="Object 5"/>
          <p:cNvGraphicFramePr>
            <a:graphicFrameLocks noChangeAspect="1"/>
          </p:cNvGraphicFramePr>
          <p:nvPr/>
        </p:nvGraphicFramePr>
        <p:xfrm>
          <a:off x="3203575" y="2544763"/>
          <a:ext cx="55626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21" name="Equation" r:id="rId6" imgW="1981200" imgH="444500" progId="Equation.3">
                  <p:embed/>
                </p:oleObj>
              </mc:Choice>
              <mc:Fallback>
                <p:oleObj name="Equation" r:id="rId6" imgW="19812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2544763"/>
                        <a:ext cx="5562600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64" name="Object 8"/>
          <p:cNvGraphicFramePr>
            <a:graphicFrameLocks noChangeAspect="1"/>
          </p:cNvGraphicFramePr>
          <p:nvPr/>
        </p:nvGraphicFramePr>
        <p:xfrm>
          <a:off x="755650" y="3913188"/>
          <a:ext cx="51847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22" name="公式" r:id="rId8" imgW="1816100" imgH="241300" progId="Equation.3">
                  <p:embed/>
                </p:oleObj>
              </mc:Choice>
              <mc:Fallback>
                <p:oleObj name="公式" r:id="rId8" imgW="18161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913188"/>
                        <a:ext cx="518477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5" name="Object 11"/>
          <p:cNvGraphicFramePr>
            <a:graphicFrameLocks noChangeAspect="1"/>
          </p:cNvGraphicFramePr>
          <p:nvPr/>
        </p:nvGraphicFramePr>
        <p:xfrm>
          <a:off x="684213" y="5065713"/>
          <a:ext cx="61118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23" name="公式" r:id="rId10" imgW="1600200" imgH="241300" progId="Equation.3">
                  <p:embed/>
                </p:oleObj>
              </mc:Choice>
              <mc:Fallback>
                <p:oleObj name="公式" r:id="rId10" imgW="1600200" imgH="2413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065713"/>
                        <a:ext cx="6111875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3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3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354" name="Object 5"/>
          <p:cNvGraphicFramePr>
            <a:graphicFrameLocks noChangeAspect="1"/>
          </p:cNvGraphicFramePr>
          <p:nvPr/>
        </p:nvGraphicFramePr>
        <p:xfrm>
          <a:off x="539750" y="260350"/>
          <a:ext cx="2879725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65" name="位图图像" r:id="rId3" imgW="2048161" imgH="619211" progId="Paint.Picture">
                  <p:embed/>
                </p:oleObj>
              </mc:Choice>
              <mc:Fallback>
                <p:oleObj name="位图图像" r:id="rId3" imgW="2048161" imgH="619211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60350"/>
                        <a:ext cx="2879725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5" name="Object 6"/>
          <p:cNvGraphicFramePr>
            <a:graphicFrameLocks noChangeAspect="1"/>
          </p:cNvGraphicFramePr>
          <p:nvPr/>
        </p:nvGraphicFramePr>
        <p:xfrm>
          <a:off x="468313" y="1412875"/>
          <a:ext cx="84582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66" name="位图图像" r:id="rId5" imgW="6811326" imgH="733333" progId="Paint.Picture">
                  <p:embed/>
                </p:oleObj>
              </mc:Choice>
              <mc:Fallback>
                <p:oleObj name="位图图像" r:id="rId5" imgW="6811326" imgH="733333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412875"/>
                        <a:ext cx="84582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9" name="Object 7"/>
          <p:cNvGraphicFramePr>
            <a:graphicFrameLocks noChangeAspect="1"/>
          </p:cNvGraphicFramePr>
          <p:nvPr/>
        </p:nvGraphicFramePr>
        <p:xfrm>
          <a:off x="533400" y="2406650"/>
          <a:ext cx="4975225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67" name="Equation" r:id="rId7" imgW="1244600" imgH="444500" progId="Equation.3">
                  <p:embed/>
                </p:oleObj>
              </mc:Choice>
              <mc:Fallback>
                <p:oleObj name="Equation" r:id="rId7" imgW="12446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406650"/>
                        <a:ext cx="4975225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0" name="Object 8"/>
          <p:cNvGraphicFramePr>
            <a:graphicFrameLocks noChangeAspect="1"/>
          </p:cNvGraphicFramePr>
          <p:nvPr/>
        </p:nvGraphicFramePr>
        <p:xfrm>
          <a:off x="900113" y="3933825"/>
          <a:ext cx="509905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68" name="Equation" r:id="rId9" imgW="1816100" imgH="241300" progId="Equation.3">
                  <p:embed/>
                </p:oleObj>
              </mc:Choice>
              <mc:Fallback>
                <p:oleObj name="Equation" r:id="rId9" imgW="18161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933825"/>
                        <a:ext cx="509905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61" name="Rectangle 9"/>
          <p:cNvSpPr>
            <a:spLocks noChangeArrowheads="1"/>
          </p:cNvSpPr>
          <p:nvPr/>
        </p:nvSpPr>
        <p:spPr bwMode="auto">
          <a:xfrm>
            <a:off x="6084888" y="2997200"/>
            <a:ext cx="259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graphicFrame>
        <p:nvGraphicFramePr>
          <p:cNvPr id="253962" name="Object 10"/>
          <p:cNvGraphicFramePr>
            <a:graphicFrameLocks noChangeAspect="1"/>
          </p:cNvGraphicFramePr>
          <p:nvPr/>
        </p:nvGraphicFramePr>
        <p:xfrm>
          <a:off x="0" y="4797425"/>
          <a:ext cx="9144000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69" name="Equation" r:id="rId11" imgW="3556000" imgH="393700" progId="Equation.3">
                  <p:embed/>
                </p:oleObj>
              </mc:Choice>
              <mc:Fallback>
                <p:oleObj name="Equation" r:id="rId11" imgW="3556000" imgH="393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797425"/>
                        <a:ext cx="9144000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3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3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3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3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61" grpId="0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378" name="Object 3"/>
          <p:cNvGraphicFramePr>
            <a:graphicFrameLocks noChangeAspect="1"/>
          </p:cNvGraphicFramePr>
          <p:nvPr/>
        </p:nvGraphicFramePr>
        <p:xfrm>
          <a:off x="1524000" y="152400"/>
          <a:ext cx="5410200" cy="208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67" name="Equation" r:id="rId3" imgW="1841500" imgH="635000" progId="Equation.3">
                  <p:embed/>
                </p:oleObj>
              </mc:Choice>
              <mc:Fallback>
                <p:oleObj name="Equation" r:id="rId3" imgW="1841500" imgH="635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52400"/>
                        <a:ext cx="5410200" cy="208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308" name="Rectangle 4"/>
          <p:cNvSpPr>
            <a:spLocks noChangeArrowheads="1"/>
          </p:cNvSpPr>
          <p:nvPr/>
        </p:nvSpPr>
        <p:spPr bwMode="auto">
          <a:xfrm>
            <a:off x="6445250" y="2349500"/>
            <a:ext cx="259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</a:t>
            </a:r>
          </a:p>
        </p:txBody>
      </p:sp>
      <p:graphicFrame>
        <p:nvGraphicFramePr>
          <p:cNvPr id="482309" name="Object 5"/>
          <p:cNvGraphicFramePr>
            <a:graphicFrameLocks noChangeAspect="1"/>
          </p:cNvGraphicFramePr>
          <p:nvPr/>
        </p:nvGraphicFramePr>
        <p:xfrm>
          <a:off x="611188" y="3860800"/>
          <a:ext cx="7315200" cy="176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68" name="公式" r:id="rId5" imgW="2628900" imgH="635000" progId="Equation.3">
                  <p:embed/>
                </p:oleObj>
              </mc:Choice>
              <mc:Fallback>
                <p:oleObj name="公式" r:id="rId5" imgW="2628900" imgH="635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860800"/>
                        <a:ext cx="7315200" cy="176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10" name="Object 6"/>
          <p:cNvGraphicFramePr>
            <a:graphicFrameLocks noChangeAspect="1"/>
          </p:cNvGraphicFramePr>
          <p:nvPr/>
        </p:nvGraphicFramePr>
        <p:xfrm>
          <a:off x="428625" y="5575300"/>
          <a:ext cx="7672388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69" name="公式" r:id="rId7" imgW="2590800" imgH="419100" progId="Equation.3">
                  <p:embed/>
                </p:oleObj>
              </mc:Choice>
              <mc:Fallback>
                <p:oleObj name="公式" r:id="rId7" imgW="25908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5575300"/>
                        <a:ext cx="7672388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2" name="Object 7"/>
          <p:cNvGraphicFramePr>
            <a:graphicFrameLocks noChangeAspect="1"/>
          </p:cNvGraphicFramePr>
          <p:nvPr/>
        </p:nvGraphicFramePr>
        <p:xfrm>
          <a:off x="179388" y="2708275"/>
          <a:ext cx="611187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70" name="公式" r:id="rId9" imgW="1600200" imgH="241300" progId="Equation.3">
                  <p:embed/>
                </p:oleObj>
              </mc:Choice>
              <mc:Fallback>
                <p:oleObj name="公式" r:id="rId9" imgW="16002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708275"/>
                        <a:ext cx="611187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08" grpId="0" autoUpdateAnimBg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41663"/>
            <a:ext cx="9144000" cy="145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02403" name="Object 3"/>
          <p:cNvGraphicFramePr>
            <a:graphicFrameLocks noChangeAspect="1"/>
          </p:cNvGraphicFramePr>
          <p:nvPr/>
        </p:nvGraphicFramePr>
        <p:xfrm>
          <a:off x="684213" y="620713"/>
          <a:ext cx="7672387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8" name="公式" r:id="rId4" imgW="2590800" imgH="419100" progId="Equation.3">
                  <p:embed/>
                </p:oleObj>
              </mc:Choice>
              <mc:Fallback>
                <p:oleObj name="公式" r:id="rId4" imgW="25908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620713"/>
                        <a:ext cx="7672387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8128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205038"/>
            <a:ext cx="8675687" cy="661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81290" name="Object 10"/>
          <p:cNvGraphicFramePr>
            <a:graphicFrameLocks noChangeAspect="1"/>
          </p:cNvGraphicFramePr>
          <p:nvPr/>
        </p:nvGraphicFramePr>
        <p:xfrm>
          <a:off x="611188" y="4652963"/>
          <a:ext cx="7115175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9" name="公式" r:id="rId7" imgW="2641600" imgH="838200" progId="Equation.3">
                  <p:embed/>
                </p:oleObj>
              </mc:Choice>
              <mc:Fallback>
                <p:oleObj name="公式" r:id="rId7" imgW="2641600" imgH="838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652963"/>
                        <a:ext cx="7115175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980" name="Object 4"/>
          <p:cNvGraphicFramePr>
            <a:graphicFrameLocks noChangeAspect="1"/>
          </p:cNvGraphicFramePr>
          <p:nvPr/>
        </p:nvGraphicFramePr>
        <p:xfrm>
          <a:off x="762000" y="4973638"/>
          <a:ext cx="18478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14" name="Equation" r:id="rId3" imgW="685502" imgH="215806" progId="Equation.3">
                  <p:embed/>
                </p:oleObj>
              </mc:Choice>
              <mc:Fallback>
                <p:oleObj name="Equation" r:id="rId3" imgW="685502" imgH="2158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973638"/>
                        <a:ext cx="184785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81" name="Object 5"/>
          <p:cNvGraphicFramePr>
            <a:graphicFrameLocks noChangeAspect="1"/>
          </p:cNvGraphicFramePr>
          <p:nvPr/>
        </p:nvGraphicFramePr>
        <p:xfrm>
          <a:off x="3124200" y="4745038"/>
          <a:ext cx="1606550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15" name="Equation" r:id="rId5" imgW="596641" imgH="393529" progId="Equation.3">
                  <p:embed/>
                </p:oleObj>
              </mc:Choice>
              <mc:Fallback>
                <p:oleObj name="Equation" r:id="rId5" imgW="596641" imgH="39352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745038"/>
                        <a:ext cx="1606550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82" name="Object 6"/>
          <p:cNvGraphicFramePr>
            <a:graphicFrameLocks noChangeAspect="1"/>
          </p:cNvGraphicFramePr>
          <p:nvPr/>
        </p:nvGraphicFramePr>
        <p:xfrm>
          <a:off x="5257800" y="4745038"/>
          <a:ext cx="1674813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16" name="Equation" r:id="rId7" imgW="622030" imgH="393529" progId="Equation.3">
                  <p:embed/>
                </p:oleObj>
              </mc:Choice>
              <mc:Fallback>
                <p:oleObj name="Equation" r:id="rId7" imgW="622030" imgH="39352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745038"/>
                        <a:ext cx="1674813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84" name="Object 8"/>
          <p:cNvGraphicFramePr>
            <a:graphicFrameLocks noChangeAspect="1"/>
          </p:cNvGraphicFramePr>
          <p:nvPr/>
        </p:nvGraphicFramePr>
        <p:xfrm>
          <a:off x="831850" y="5676900"/>
          <a:ext cx="1230313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17" name="Equation" r:id="rId9" imgW="457002" imgH="393529" progId="Equation.3">
                  <p:embed/>
                </p:oleObj>
              </mc:Choice>
              <mc:Fallback>
                <p:oleObj name="Equation" r:id="rId9" imgW="457002" imgH="39352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5676900"/>
                        <a:ext cx="1230313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85" name="Object 9"/>
          <p:cNvGraphicFramePr>
            <a:graphicFrameLocks noChangeAspect="1"/>
          </p:cNvGraphicFramePr>
          <p:nvPr/>
        </p:nvGraphicFramePr>
        <p:xfrm>
          <a:off x="2760663" y="5753100"/>
          <a:ext cx="1195387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18" name="Equation" r:id="rId11" imgW="444307" imgH="393529" progId="Equation.3">
                  <p:embed/>
                </p:oleObj>
              </mc:Choice>
              <mc:Fallback>
                <p:oleObj name="Equation" r:id="rId11" imgW="444307" imgH="39352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663" y="5753100"/>
                        <a:ext cx="1195387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86" name="Object 10"/>
          <p:cNvGraphicFramePr>
            <a:graphicFrameLocks noChangeAspect="1"/>
          </p:cNvGraphicFramePr>
          <p:nvPr/>
        </p:nvGraphicFramePr>
        <p:xfrm>
          <a:off x="5138738" y="5915025"/>
          <a:ext cx="19145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19" name="Equation" r:id="rId13" imgW="710891" imgH="215806" progId="Equation.3">
                  <p:embed/>
                </p:oleObj>
              </mc:Choice>
              <mc:Fallback>
                <p:oleObj name="Equation" r:id="rId13" imgW="710891" imgH="21580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738" y="5915025"/>
                        <a:ext cx="191452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02" name="Line 2"/>
          <p:cNvSpPr>
            <a:spLocks noChangeShapeType="1"/>
          </p:cNvSpPr>
          <p:nvPr/>
        </p:nvSpPr>
        <p:spPr bwMode="auto">
          <a:xfrm>
            <a:off x="2339975" y="1125538"/>
            <a:ext cx="165576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03" name="Line 3"/>
          <p:cNvSpPr>
            <a:spLocks noChangeShapeType="1"/>
          </p:cNvSpPr>
          <p:nvPr/>
        </p:nvSpPr>
        <p:spPr bwMode="auto">
          <a:xfrm>
            <a:off x="3132138" y="3357563"/>
            <a:ext cx="5762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04" name="Line 4"/>
          <p:cNvSpPr>
            <a:spLocks noChangeShapeType="1"/>
          </p:cNvSpPr>
          <p:nvPr/>
        </p:nvSpPr>
        <p:spPr bwMode="auto">
          <a:xfrm>
            <a:off x="4211638" y="3502025"/>
            <a:ext cx="10795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05" name="Line 5"/>
          <p:cNvSpPr>
            <a:spLocks noChangeShapeType="1"/>
          </p:cNvSpPr>
          <p:nvPr/>
        </p:nvSpPr>
        <p:spPr bwMode="auto">
          <a:xfrm>
            <a:off x="4211638" y="3573463"/>
            <a:ext cx="10795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06" name="Line 6"/>
          <p:cNvSpPr>
            <a:spLocks noChangeShapeType="1"/>
          </p:cNvSpPr>
          <p:nvPr/>
        </p:nvSpPr>
        <p:spPr bwMode="auto">
          <a:xfrm flipV="1">
            <a:off x="5724525" y="1268413"/>
            <a:ext cx="719138" cy="15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07" name="Line 7"/>
          <p:cNvSpPr>
            <a:spLocks noChangeShapeType="1"/>
          </p:cNvSpPr>
          <p:nvPr/>
        </p:nvSpPr>
        <p:spPr bwMode="auto">
          <a:xfrm flipV="1">
            <a:off x="5724525" y="1341438"/>
            <a:ext cx="79216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10" name="Line 10"/>
          <p:cNvSpPr>
            <a:spLocks noChangeShapeType="1"/>
          </p:cNvSpPr>
          <p:nvPr/>
        </p:nvSpPr>
        <p:spPr bwMode="auto">
          <a:xfrm>
            <a:off x="5508625" y="3430588"/>
            <a:ext cx="10795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11" name="Line 11"/>
          <p:cNvSpPr>
            <a:spLocks noChangeShapeType="1"/>
          </p:cNvSpPr>
          <p:nvPr/>
        </p:nvSpPr>
        <p:spPr bwMode="auto">
          <a:xfrm>
            <a:off x="5508625" y="3502025"/>
            <a:ext cx="10795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12" name="Line 12"/>
          <p:cNvSpPr>
            <a:spLocks noChangeShapeType="1"/>
          </p:cNvSpPr>
          <p:nvPr/>
        </p:nvSpPr>
        <p:spPr bwMode="auto">
          <a:xfrm>
            <a:off x="5508625" y="3573463"/>
            <a:ext cx="10795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13" name="Line 13"/>
          <p:cNvSpPr>
            <a:spLocks noChangeShapeType="1"/>
          </p:cNvSpPr>
          <p:nvPr/>
        </p:nvSpPr>
        <p:spPr bwMode="auto">
          <a:xfrm>
            <a:off x="7092950" y="1198563"/>
            <a:ext cx="10795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14" name="Line 14"/>
          <p:cNvSpPr>
            <a:spLocks noChangeShapeType="1"/>
          </p:cNvSpPr>
          <p:nvPr/>
        </p:nvSpPr>
        <p:spPr bwMode="auto">
          <a:xfrm>
            <a:off x="7092950" y="1270000"/>
            <a:ext cx="10795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15" name="Line 15"/>
          <p:cNvSpPr>
            <a:spLocks noChangeShapeType="1"/>
          </p:cNvSpPr>
          <p:nvPr/>
        </p:nvSpPr>
        <p:spPr bwMode="auto">
          <a:xfrm>
            <a:off x="7092950" y="1341438"/>
            <a:ext cx="10795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09616" name="Object 16"/>
          <p:cNvGraphicFramePr>
            <a:graphicFrameLocks noChangeAspect="1"/>
          </p:cNvGraphicFramePr>
          <p:nvPr/>
        </p:nvGraphicFramePr>
        <p:xfrm>
          <a:off x="641350" y="476250"/>
          <a:ext cx="7493000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20" name="公式" r:id="rId15" imgW="2628900" imgH="635000" progId="Equation.3">
                  <p:embed/>
                </p:oleObj>
              </mc:Choice>
              <mc:Fallback>
                <p:oleObj name="公式" r:id="rId15" imgW="2628900" imgH="6350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" y="476250"/>
                        <a:ext cx="7493000" cy="180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7" name="Object 17"/>
          <p:cNvGraphicFramePr>
            <a:graphicFrameLocks noChangeAspect="1"/>
          </p:cNvGraphicFramePr>
          <p:nvPr/>
        </p:nvGraphicFramePr>
        <p:xfrm>
          <a:off x="395288" y="2459038"/>
          <a:ext cx="7632700" cy="212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21" name="公式" r:id="rId17" imgW="2641600" imgH="838200" progId="Equation.3">
                  <p:embed/>
                </p:oleObj>
              </mc:Choice>
              <mc:Fallback>
                <p:oleObj name="公式" r:id="rId17" imgW="2641600" imgH="838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459038"/>
                        <a:ext cx="7632700" cy="212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9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9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9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9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09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09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09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09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9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09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09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9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09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09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09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9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54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54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54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54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54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54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54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54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2" grpId="0" animBg="1"/>
      <p:bldP spid="409603" grpId="0" animBg="1"/>
      <p:bldP spid="409604" grpId="0" animBg="1"/>
      <p:bldP spid="409605" grpId="0" animBg="1"/>
      <p:bldP spid="409606" grpId="0" animBg="1"/>
      <p:bldP spid="409607" grpId="0" animBg="1"/>
      <p:bldP spid="409610" grpId="0" animBg="1"/>
      <p:bldP spid="409611" grpId="0" animBg="1"/>
      <p:bldP spid="409612" grpId="0" animBg="1"/>
      <p:bldP spid="409613" grpId="0" animBg="1"/>
      <p:bldP spid="409614" grpId="0" animBg="1"/>
      <p:bldP spid="40961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50" name="Object 2"/>
          <p:cNvGraphicFramePr>
            <a:graphicFrameLocks noChangeAspect="1"/>
          </p:cNvGraphicFramePr>
          <p:nvPr/>
        </p:nvGraphicFramePr>
        <p:xfrm>
          <a:off x="1042988" y="188913"/>
          <a:ext cx="1023937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87" name="Equation" r:id="rId3" imgW="457002" imgH="393529" progId="Equation.3">
                  <p:embed/>
                </p:oleObj>
              </mc:Choice>
              <mc:Fallback>
                <p:oleObj name="Equation" r:id="rId3" imgW="457002" imgH="3935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88913"/>
                        <a:ext cx="1023937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2916238" y="44450"/>
          <a:ext cx="10795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88" name="Equation" r:id="rId5" imgW="444307" imgH="393529" progId="Equation.3">
                  <p:embed/>
                </p:oleObj>
              </mc:Choice>
              <mc:Fallback>
                <p:oleObj name="Equation" r:id="rId5" imgW="444307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4450"/>
                        <a:ext cx="10795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2" name="Object 4"/>
          <p:cNvGraphicFramePr>
            <a:graphicFrameLocks noChangeAspect="1"/>
          </p:cNvGraphicFramePr>
          <p:nvPr/>
        </p:nvGraphicFramePr>
        <p:xfrm>
          <a:off x="5148263" y="333375"/>
          <a:ext cx="19145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89" name="Equation" r:id="rId7" imgW="710891" imgH="215806" progId="Equation.3">
                  <p:embed/>
                </p:oleObj>
              </mc:Choice>
              <mc:Fallback>
                <p:oleObj name="Equation" r:id="rId7" imgW="710891" imgH="2158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333375"/>
                        <a:ext cx="191452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5" name="Object 5"/>
          <p:cNvGraphicFramePr>
            <a:graphicFrameLocks noChangeAspect="1"/>
          </p:cNvGraphicFramePr>
          <p:nvPr/>
        </p:nvGraphicFramePr>
        <p:xfrm>
          <a:off x="323850" y="1125538"/>
          <a:ext cx="5268913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90" name="Equation" r:id="rId9" imgW="1244600" imgH="444500" progId="Equation.3">
                  <p:embed/>
                </p:oleObj>
              </mc:Choice>
              <mc:Fallback>
                <p:oleObj name="Equation" r:id="rId9" imgW="12446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125538"/>
                        <a:ext cx="5268913" cy="151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6" name="Object 6"/>
          <p:cNvGraphicFramePr>
            <a:graphicFrameLocks noChangeAspect="1"/>
          </p:cNvGraphicFramePr>
          <p:nvPr/>
        </p:nvGraphicFramePr>
        <p:xfrm>
          <a:off x="468313" y="2636838"/>
          <a:ext cx="532765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91" name="Equation" r:id="rId11" imgW="1816100" imgH="241300" progId="Equation.3">
                  <p:embed/>
                </p:oleObj>
              </mc:Choice>
              <mc:Fallback>
                <p:oleObj name="Equation" r:id="rId11" imgW="18161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636838"/>
                        <a:ext cx="5327650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07" name="Rectangle 7"/>
          <p:cNvSpPr>
            <a:spLocks noChangeArrowheads="1"/>
          </p:cNvSpPr>
          <p:nvPr/>
        </p:nvSpPr>
        <p:spPr bwMode="auto">
          <a:xfrm>
            <a:off x="6156325" y="1700213"/>
            <a:ext cx="2590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sp>
        <p:nvSpPr>
          <p:cNvPr id="256008" name="Rectangle 8"/>
          <p:cNvSpPr>
            <a:spLocks noChangeArrowheads="1"/>
          </p:cNvSpPr>
          <p:nvPr/>
        </p:nvSpPr>
        <p:spPr bwMode="auto">
          <a:xfrm>
            <a:off x="179388" y="3789363"/>
            <a:ext cx="46085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000080"/>
                </a:solidFill>
              </a:rPr>
              <a:t>)/2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6009" name="Rectangle 9"/>
          <p:cNvSpPr>
            <a:spLocks noChangeArrowheads="1"/>
          </p:cNvSpPr>
          <p:nvPr/>
        </p:nvSpPr>
        <p:spPr bwMode="auto">
          <a:xfrm>
            <a:off x="250825" y="5661025"/>
            <a:ext cx="4248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)</a:t>
            </a:r>
          </a:p>
        </p:txBody>
      </p:sp>
      <p:sp>
        <p:nvSpPr>
          <p:cNvPr id="256010" name="Rectangle 10"/>
          <p:cNvSpPr>
            <a:spLocks noChangeArrowheads="1"/>
          </p:cNvSpPr>
          <p:nvPr/>
        </p:nvSpPr>
        <p:spPr bwMode="auto">
          <a:xfrm>
            <a:off x="468313" y="4797425"/>
            <a:ext cx="259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graphicFrame>
        <p:nvGraphicFramePr>
          <p:cNvPr id="256012" name="Object 12"/>
          <p:cNvGraphicFramePr>
            <a:graphicFrameLocks noChangeAspect="1"/>
          </p:cNvGraphicFramePr>
          <p:nvPr/>
        </p:nvGraphicFramePr>
        <p:xfrm>
          <a:off x="5508625" y="3860800"/>
          <a:ext cx="2713038" cy="169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92" name="公式" r:id="rId13" imgW="774364" imgH="482391" progId="Equation.3">
                  <p:embed/>
                </p:oleObj>
              </mc:Choice>
              <mc:Fallback>
                <p:oleObj name="公式" r:id="rId13" imgW="774364" imgH="48239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860800"/>
                        <a:ext cx="2713038" cy="169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13" name="Rectangle 13"/>
          <p:cNvSpPr>
            <a:spLocks noChangeArrowheads="1"/>
          </p:cNvSpPr>
          <p:nvPr/>
        </p:nvSpPr>
        <p:spPr bwMode="auto">
          <a:xfrm>
            <a:off x="107950" y="3644900"/>
            <a:ext cx="5040313" cy="273685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6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6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6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6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7" grpId="0" autoUpdateAnimBg="0"/>
      <p:bldP spid="256008" grpId="0" autoUpdateAnimBg="0"/>
      <p:bldP spid="256009" grpId="0" autoUpdateAnimBg="0"/>
      <p:bldP spid="256010" grpId="0" autoUpdateAnimBg="0"/>
      <p:bldP spid="256013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ChangeArrowheads="1"/>
          </p:cNvSpPr>
          <p:nvPr/>
        </p:nvSpPr>
        <p:spPr bwMode="auto">
          <a:xfrm>
            <a:off x="755650" y="1049338"/>
            <a:ext cx="6248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000080"/>
                </a:solidFill>
              </a:rPr>
              <a:t>)/2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05475" name="Rectangle 10"/>
          <p:cNvSpPr>
            <a:spLocks noChangeArrowheads="1"/>
          </p:cNvSpPr>
          <p:nvPr/>
        </p:nvSpPr>
        <p:spPr bwMode="auto">
          <a:xfrm>
            <a:off x="3851275" y="1912938"/>
            <a:ext cx="43926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)</a:t>
            </a:r>
          </a:p>
        </p:txBody>
      </p:sp>
      <p:sp>
        <p:nvSpPr>
          <p:cNvPr id="105476" name="Rectangle 11"/>
          <p:cNvSpPr>
            <a:spLocks noChangeArrowheads="1"/>
          </p:cNvSpPr>
          <p:nvPr/>
        </p:nvSpPr>
        <p:spPr bwMode="auto">
          <a:xfrm>
            <a:off x="468313" y="1912938"/>
            <a:ext cx="2590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sp>
        <p:nvSpPr>
          <p:cNvPr id="105477" name="Text Box 16"/>
          <p:cNvSpPr txBox="1">
            <a:spLocks noChangeArrowheads="1"/>
          </p:cNvSpPr>
          <p:nvPr/>
        </p:nvSpPr>
        <p:spPr bwMode="auto">
          <a:xfrm>
            <a:off x="323850" y="260350"/>
            <a:ext cx="77771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Second order</a:t>
            </a:r>
            <a:r>
              <a:rPr lang="en-US" altLang="zh-CN" sz="3200" b="1" i="1"/>
              <a:t>Runge-Kutta methods </a:t>
            </a:r>
            <a:endParaRPr lang="en-US" altLang="zh-CN" sz="3200" b="1"/>
          </a:p>
        </p:txBody>
      </p:sp>
      <p:graphicFrame>
        <p:nvGraphicFramePr>
          <p:cNvPr id="23570" name="Object 18"/>
          <p:cNvGraphicFramePr>
            <a:graphicFrameLocks noChangeAspect="1"/>
          </p:cNvGraphicFramePr>
          <p:nvPr/>
        </p:nvGraphicFramePr>
        <p:xfrm>
          <a:off x="1187450" y="3789363"/>
          <a:ext cx="6697663" cy="254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03" name="公式" r:id="rId3" imgW="2463800" imgH="939800" progId="Equation.3">
                  <p:embed/>
                </p:oleObj>
              </mc:Choice>
              <mc:Fallback>
                <p:oleObj name="公式" r:id="rId3" imgW="2463800" imgH="9398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789363"/>
                        <a:ext cx="6697663" cy="254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1" name="Text Box 19"/>
          <p:cNvSpPr txBox="1">
            <a:spLocks noChangeArrowheads="1"/>
          </p:cNvSpPr>
          <p:nvPr/>
        </p:nvSpPr>
        <p:spPr bwMode="auto">
          <a:xfrm>
            <a:off x="457200" y="2852738"/>
            <a:ext cx="72104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Improved Euler method</a:t>
            </a: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971550" y="3644900"/>
            <a:ext cx="7416800" cy="273685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5481" name="Rectangle 22"/>
          <p:cNvSpPr>
            <a:spLocks noChangeArrowheads="1"/>
          </p:cNvSpPr>
          <p:nvPr/>
        </p:nvSpPr>
        <p:spPr bwMode="auto">
          <a:xfrm>
            <a:off x="323850" y="908050"/>
            <a:ext cx="7848600" cy="187325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1" grpId="0"/>
      <p:bldP spid="23573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91" name="Text Box 11"/>
          <p:cNvSpPr txBox="1">
            <a:spLocks noChangeArrowheads="1"/>
          </p:cNvSpPr>
          <p:nvPr/>
        </p:nvSpPr>
        <p:spPr bwMode="auto">
          <a:xfrm>
            <a:off x="179388" y="2492375"/>
            <a:ext cx="2009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Third order</a:t>
            </a:r>
          </a:p>
        </p:txBody>
      </p:sp>
      <p:graphicFrame>
        <p:nvGraphicFramePr>
          <p:cNvPr id="404492" name="Object 12"/>
          <p:cNvGraphicFramePr>
            <a:graphicFrameLocks noChangeAspect="1"/>
          </p:cNvGraphicFramePr>
          <p:nvPr/>
        </p:nvGraphicFramePr>
        <p:xfrm>
          <a:off x="3059113" y="3089275"/>
          <a:ext cx="4673600" cy="353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67" name="公式" r:id="rId3" imgW="1778000" imgH="1346200" progId="Equation.3">
                  <p:embed/>
                </p:oleObj>
              </mc:Choice>
              <mc:Fallback>
                <p:oleObj name="公式" r:id="rId3" imgW="1778000" imgH="1346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089275"/>
                        <a:ext cx="4673600" cy="353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0" name="Object 14"/>
          <p:cNvGraphicFramePr>
            <a:graphicFrameLocks noChangeAspect="1"/>
          </p:cNvGraphicFramePr>
          <p:nvPr/>
        </p:nvGraphicFramePr>
        <p:xfrm>
          <a:off x="395288" y="0"/>
          <a:ext cx="4752975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68" name="Equation" r:id="rId5" imgW="1244600" imgH="444500" progId="Equation.3">
                  <p:embed/>
                </p:oleObj>
              </mc:Choice>
              <mc:Fallback>
                <p:oleObj name="Equation" r:id="rId5" imgW="1244600" imgH="4445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0"/>
                        <a:ext cx="4752975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1" name="Rectangle 16"/>
          <p:cNvSpPr>
            <a:spLocks noChangeArrowheads="1"/>
          </p:cNvSpPr>
          <p:nvPr/>
        </p:nvSpPr>
        <p:spPr bwMode="auto">
          <a:xfrm>
            <a:off x="5867400" y="549275"/>
            <a:ext cx="259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graphicFrame>
        <p:nvGraphicFramePr>
          <p:cNvPr id="106502" name="Object 17"/>
          <p:cNvGraphicFramePr>
            <a:graphicFrameLocks noChangeAspect="1"/>
          </p:cNvGraphicFramePr>
          <p:nvPr/>
        </p:nvGraphicFramePr>
        <p:xfrm>
          <a:off x="611188" y="1268413"/>
          <a:ext cx="5113337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69" name="Equation" r:id="rId7" imgW="1981200" imgH="444500" progId="Equation.3">
                  <p:embed/>
                </p:oleObj>
              </mc:Choice>
              <mc:Fallback>
                <p:oleObj name="Equation" r:id="rId7" imgW="1981200" imgH="4445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268413"/>
                        <a:ext cx="5113337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98" name="Rectangle 18"/>
          <p:cNvSpPr>
            <a:spLocks noChangeArrowheads="1"/>
          </p:cNvSpPr>
          <p:nvPr/>
        </p:nvSpPr>
        <p:spPr bwMode="auto">
          <a:xfrm>
            <a:off x="2413000" y="2997200"/>
            <a:ext cx="5472113" cy="360045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4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4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4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4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91" grpId="0"/>
      <p:bldP spid="404498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ChangeArrowheads="1"/>
          </p:cNvSpPr>
          <p:nvPr/>
        </p:nvSpPr>
        <p:spPr bwMode="auto">
          <a:xfrm>
            <a:off x="838200" y="2743200"/>
            <a:ext cx="70469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>
                <a:solidFill>
                  <a:srgbClr val="000080"/>
                </a:solidFill>
              </a:rPr>
              <a:t>2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>
                <a:solidFill>
                  <a:srgbClr val="000080"/>
                </a:solidFill>
              </a:rPr>
              <a:t>2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(3)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k</a:t>
            </a:r>
            <a:r>
              <a:rPr lang="en-US" altLang="zh-CN" sz="3200" b="1" baseline="30000">
                <a:solidFill>
                  <a:srgbClr val="800080"/>
                </a:solidFill>
              </a:rPr>
              <a:t>(4)</a:t>
            </a:r>
            <a:r>
              <a:rPr lang="en-US" altLang="zh-CN" sz="3200" b="1">
                <a:solidFill>
                  <a:srgbClr val="000080"/>
                </a:solidFill>
              </a:rPr>
              <a:t>)/6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05510" name="Rectangle 6"/>
          <p:cNvSpPr>
            <a:spLocks noChangeArrowheads="1"/>
          </p:cNvSpPr>
          <p:nvPr/>
        </p:nvSpPr>
        <p:spPr bwMode="auto">
          <a:xfrm>
            <a:off x="552450" y="3657600"/>
            <a:ext cx="259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sp>
        <p:nvSpPr>
          <p:cNvPr id="405511" name="Rectangle 7"/>
          <p:cNvSpPr>
            <a:spLocks noChangeArrowheads="1"/>
          </p:cNvSpPr>
          <p:nvPr/>
        </p:nvSpPr>
        <p:spPr bwMode="auto">
          <a:xfrm>
            <a:off x="476250" y="4433888"/>
            <a:ext cx="4724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+h/2,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/2)</a:t>
            </a:r>
          </a:p>
        </p:txBody>
      </p:sp>
      <p:sp>
        <p:nvSpPr>
          <p:cNvPr id="405512" name="Rectangle 8"/>
          <p:cNvSpPr>
            <a:spLocks noChangeArrowheads="1"/>
          </p:cNvSpPr>
          <p:nvPr/>
        </p:nvSpPr>
        <p:spPr bwMode="auto">
          <a:xfrm>
            <a:off x="400050" y="5226050"/>
            <a:ext cx="4724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(3)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+h/2,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 i="1">
                <a:solidFill>
                  <a:srgbClr val="000080"/>
                </a:solidFill>
              </a:rPr>
              <a:t>/2)</a:t>
            </a:r>
          </a:p>
        </p:txBody>
      </p:sp>
      <p:sp>
        <p:nvSpPr>
          <p:cNvPr id="405513" name="Rectangle 9"/>
          <p:cNvSpPr>
            <a:spLocks noChangeArrowheads="1"/>
          </p:cNvSpPr>
          <p:nvPr/>
        </p:nvSpPr>
        <p:spPr bwMode="auto">
          <a:xfrm>
            <a:off x="323850" y="5945188"/>
            <a:ext cx="4724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(4)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(3)</a:t>
            </a:r>
            <a:r>
              <a:rPr lang="en-US" altLang="zh-CN" sz="3200" b="1" i="1">
                <a:solidFill>
                  <a:srgbClr val="000080"/>
                </a:solidFill>
              </a:rPr>
              <a:t>)</a:t>
            </a:r>
          </a:p>
        </p:txBody>
      </p:sp>
      <p:sp>
        <p:nvSpPr>
          <p:cNvPr id="107527" name="Text Box 11"/>
          <p:cNvSpPr txBox="1">
            <a:spLocks noChangeArrowheads="1"/>
          </p:cNvSpPr>
          <p:nvPr/>
        </p:nvSpPr>
        <p:spPr bwMode="auto">
          <a:xfrm>
            <a:off x="228600" y="2057400"/>
            <a:ext cx="2189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Fourth order</a:t>
            </a:r>
          </a:p>
        </p:txBody>
      </p:sp>
      <p:sp>
        <p:nvSpPr>
          <p:cNvPr id="107528" name="Rectangle 12"/>
          <p:cNvSpPr>
            <a:spLocks noChangeArrowheads="1"/>
          </p:cNvSpPr>
          <p:nvPr/>
        </p:nvSpPr>
        <p:spPr bwMode="auto">
          <a:xfrm>
            <a:off x="0" y="2757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7529" name="Object 14"/>
          <p:cNvGraphicFramePr>
            <a:graphicFrameLocks noChangeAspect="1"/>
          </p:cNvGraphicFramePr>
          <p:nvPr/>
        </p:nvGraphicFramePr>
        <p:xfrm>
          <a:off x="5724525" y="3789363"/>
          <a:ext cx="2927350" cy="182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8" name="公式" r:id="rId3" imgW="774364" imgH="482391" progId="Equation.3">
                  <p:embed/>
                </p:oleObj>
              </mc:Choice>
              <mc:Fallback>
                <p:oleObj name="公式" r:id="rId3" imgW="774364" imgH="48239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789363"/>
                        <a:ext cx="2927350" cy="182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0" name="Object 15"/>
          <p:cNvGraphicFramePr>
            <a:graphicFrameLocks noChangeAspect="1"/>
          </p:cNvGraphicFramePr>
          <p:nvPr/>
        </p:nvGraphicFramePr>
        <p:xfrm>
          <a:off x="468313" y="0"/>
          <a:ext cx="4752975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9" name="Equation" r:id="rId5" imgW="1244600" imgH="444500" progId="Equation.3">
                  <p:embed/>
                </p:oleObj>
              </mc:Choice>
              <mc:Fallback>
                <p:oleObj name="Equation" r:id="rId5" imgW="1244600" imgH="4445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0"/>
                        <a:ext cx="4752975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31" name="Rectangle 17"/>
          <p:cNvSpPr>
            <a:spLocks noChangeArrowheads="1"/>
          </p:cNvSpPr>
          <p:nvPr/>
        </p:nvSpPr>
        <p:spPr bwMode="auto">
          <a:xfrm>
            <a:off x="6083300" y="547688"/>
            <a:ext cx="2590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graphicFrame>
        <p:nvGraphicFramePr>
          <p:cNvPr id="107532" name="Object 18"/>
          <p:cNvGraphicFramePr>
            <a:graphicFrameLocks noChangeAspect="1"/>
          </p:cNvGraphicFramePr>
          <p:nvPr/>
        </p:nvGraphicFramePr>
        <p:xfrm>
          <a:off x="539750" y="1125538"/>
          <a:ext cx="55626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00" name="Equation" r:id="rId7" imgW="1981200" imgH="444500" progId="Equation.3">
                  <p:embed/>
                </p:oleObj>
              </mc:Choice>
              <mc:Fallback>
                <p:oleObj name="Equation" r:id="rId7" imgW="1981200" imgH="4445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125538"/>
                        <a:ext cx="5562600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23" name="Rectangle 19"/>
          <p:cNvSpPr>
            <a:spLocks noChangeArrowheads="1"/>
          </p:cNvSpPr>
          <p:nvPr/>
        </p:nvSpPr>
        <p:spPr bwMode="auto">
          <a:xfrm>
            <a:off x="107950" y="3644900"/>
            <a:ext cx="5040313" cy="295275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5524" name="Rectangle 20"/>
          <p:cNvSpPr>
            <a:spLocks noChangeArrowheads="1"/>
          </p:cNvSpPr>
          <p:nvPr/>
        </p:nvSpPr>
        <p:spPr bwMode="auto">
          <a:xfrm>
            <a:off x="827088" y="2636838"/>
            <a:ext cx="6624637" cy="79216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5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5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5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5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6" grpId="0" autoUpdateAnimBg="0"/>
      <p:bldP spid="405510" grpId="0" autoUpdateAnimBg="0"/>
      <p:bldP spid="405511" grpId="0" autoUpdateAnimBg="0"/>
      <p:bldP spid="405512" grpId="0" autoUpdateAnimBg="0"/>
      <p:bldP spid="405513" grpId="0" autoUpdateAnimBg="0"/>
      <p:bldP spid="405523" grpId="0" animBg="1"/>
      <p:bldP spid="405524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9" name="Rectangle 3"/>
          <p:cNvSpPr>
            <a:spLocks noChangeArrowheads="1"/>
          </p:cNvSpPr>
          <p:nvPr/>
        </p:nvSpPr>
        <p:spPr bwMode="auto">
          <a:xfrm>
            <a:off x="827088" y="4897438"/>
            <a:ext cx="6248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600" b="1" i="1">
                <a:solidFill>
                  <a:srgbClr val="FF0000"/>
                </a:solidFill>
              </a:rPr>
              <a:t>h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000080"/>
                </a:solidFill>
              </a:rPr>
              <a:t>)/2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59780" name="Rectangle 4"/>
          <p:cNvSpPr>
            <a:spLocks noChangeArrowheads="1"/>
          </p:cNvSpPr>
          <p:nvPr/>
        </p:nvSpPr>
        <p:spPr bwMode="auto">
          <a:xfrm>
            <a:off x="3733800" y="5729288"/>
            <a:ext cx="45831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600" b="1" i="1">
                <a:solidFill>
                  <a:srgbClr val="FF0000"/>
                </a:solidFill>
              </a:rPr>
              <a:t>h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)</a:t>
            </a:r>
          </a:p>
        </p:txBody>
      </p:sp>
      <p:sp>
        <p:nvSpPr>
          <p:cNvPr id="459781" name="Rectangle 5"/>
          <p:cNvSpPr>
            <a:spLocks noChangeArrowheads="1"/>
          </p:cNvSpPr>
          <p:nvPr/>
        </p:nvSpPr>
        <p:spPr bwMode="auto">
          <a:xfrm>
            <a:off x="990600" y="5729288"/>
            <a:ext cx="2590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sp>
        <p:nvSpPr>
          <p:cNvPr id="108549" name="Text Box 10"/>
          <p:cNvSpPr txBox="1">
            <a:spLocks noChangeArrowheads="1"/>
          </p:cNvSpPr>
          <p:nvPr/>
        </p:nvSpPr>
        <p:spPr bwMode="auto">
          <a:xfrm>
            <a:off x="179388" y="2205038"/>
            <a:ext cx="2208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Second order</a:t>
            </a:r>
          </a:p>
        </p:txBody>
      </p:sp>
      <p:sp>
        <p:nvSpPr>
          <p:cNvPr id="108550" name="Rectangle 12"/>
          <p:cNvSpPr>
            <a:spLocks noChangeArrowheads="1"/>
          </p:cNvSpPr>
          <p:nvPr/>
        </p:nvSpPr>
        <p:spPr bwMode="auto">
          <a:xfrm>
            <a:off x="0" y="2757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8551" name="Object 14"/>
          <p:cNvGraphicFramePr>
            <a:graphicFrameLocks noChangeAspect="1"/>
          </p:cNvGraphicFramePr>
          <p:nvPr/>
        </p:nvGraphicFramePr>
        <p:xfrm>
          <a:off x="468313" y="0"/>
          <a:ext cx="4752975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01" name="Equation" r:id="rId4" imgW="1244600" imgH="444500" progId="Equation.3">
                  <p:embed/>
                </p:oleObj>
              </mc:Choice>
              <mc:Fallback>
                <p:oleObj name="Equation" r:id="rId4" imgW="1244600" imgH="4445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0"/>
                        <a:ext cx="4752975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2" name="Rectangle 15"/>
          <p:cNvSpPr>
            <a:spLocks noChangeArrowheads="1"/>
          </p:cNvSpPr>
          <p:nvPr/>
        </p:nvSpPr>
        <p:spPr bwMode="auto">
          <a:xfrm>
            <a:off x="6083300" y="547688"/>
            <a:ext cx="2590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graphicFrame>
        <p:nvGraphicFramePr>
          <p:cNvPr id="108553" name="Object 16"/>
          <p:cNvGraphicFramePr>
            <a:graphicFrameLocks noChangeAspect="1"/>
          </p:cNvGraphicFramePr>
          <p:nvPr/>
        </p:nvGraphicFramePr>
        <p:xfrm>
          <a:off x="539750" y="1125538"/>
          <a:ext cx="55626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02" name="Equation" r:id="rId6" imgW="1981200" imgH="444500" progId="Equation.3">
                  <p:embed/>
                </p:oleObj>
              </mc:Choice>
              <mc:Fallback>
                <p:oleObj name="Equation" r:id="rId6" imgW="1981200" imgH="4445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125538"/>
                        <a:ext cx="5562600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4" name="Rectangle 17"/>
          <p:cNvSpPr>
            <a:spLocks noChangeArrowheads="1"/>
          </p:cNvSpPr>
          <p:nvPr/>
        </p:nvSpPr>
        <p:spPr bwMode="auto">
          <a:xfrm>
            <a:off x="755650" y="2849563"/>
            <a:ext cx="6248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000080"/>
                </a:solidFill>
              </a:rPr>
              <a:t>)/2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08555" name="Rectangle 18"/>
          <p:cNvSpPr>
            <a:spLocks noChangeArrowheads="1"/>
          </p:cNvSpPr>
          <p:nvPr/>
        </p:nvSpPr>
        <p:spPr bwMode="auto">
          <a:xfrm>
            <a:off x="3851275" y="3644900"/>
            <a:ext cx="43926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000080"/>
                </a:solidFill>
              </a:rPr>
              <a:t>=</a:t>
            </a:r>
            <a:r>
              <a:rPr lang="en-US" altLang="zh-CN" sz="3600" b="1">
                <a:solidFill>
                  <a:srgbClr val="000080"/>
                </a:solidFill>
              </a:rPr>
              <a:t> </a:t>
            </a:r>
            <a:r>
              <a:rPr lang="en-US" altLang="zh-CN" sz="3600" b="1" i="1">
                <a:solidFill>
                  <a:srgbClr val="FF0000"/>
                </a:solidFill>
              </a:rPr>
              <a:t>h</a:t>
            </a:r>
            <a:r>
              <a:rPr lang="en-US" altLang="zh-CN" sz="3200" b="1" i="1">
                <a:solidFill>
                  <a:srgbClr val="000080"/>
                </a:solidFill>
              </a:rPr>
              <a:t>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)</a:t>
            </a:r>
          </a:p>
        </p:txBody>
      </p:sp>
      <p:sp>
        <p:nvSpPr>
          <p:cNvPr id="108556" name="Rectangle 19"/>
          <p:cNvSpPr>
            <a:spLocks noChangeArrowheads="1"/>
          </p:cNvSpPr>
          <p:nvPr/>
        </p:nvSpPr>
        <p:spPr bwMode="auto">
          <a:xfrm>
            <a:off x="611188" y="3644900"/>
            <a:ext cx="2590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</a:t>
            </a:r>
            <a:r>
              <a:rPr lang="en-US" altLang="zh-CN" sz="3600" b="1" i="1">
                <a:solidFill>
                  <a:srgbClr val="FF0000"/>
                </a:solidFill>
              </a:rPr>
              <a:t>h</a:t>
            </a:r>
            <a:r>
              <a:rPr lang="en-US" altLang="zh-CN" sz="3200" b="1" i="1">
                <a:solidFill>
                  <a:srgbClr val="000080"/>
                </a:solidFill>
              </a:rPr>
              <a:t>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sp>
        <p:nvSpPr>
          <p:cNvPr id="108557" name="Rectangle 20"/>
          <p:cNvSpPr>
            <a:spLocks noChangeArrowheads="1"/>
          </p:cNvSpPr>
          <p:nvPr/>
        </p:nvSpPr>
        <p:spPr bwMode="auto">
          <a:xfrm>
            <a:off x="250825" y="2852738"/>
            <a:ext cx="7777163" cy="151288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9797" name="Rectangle 21"/>
          <p:cNvSpPr>
            <a:spLocks noChangeArrowheads="1"/>
          </p:cNvSpPr>
          <p:nvPr/>
        </p:nvSpPr>
        <p:spPr bwMode="auto">
          <a:xfrm>
            <a:off x="179388" y="4868863"/>
            <a:ext cx="7777162" cy="151288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9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9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9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9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9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9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9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9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779" grpId="0"/>
      <p:bldP spid="459780" grpId="0"/>
      <p:bldP spid="459781" grpId="0"/>
      <p:bldP spid="459797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ChangeArrowheads="1"/>
          </p:cNvSpPr>
          <p:nvPr/>
        </p:nvSpPr>
        <p:spPr bwMode="auto">
          <a:xfrm>
            <a:off x="611188" y="3786188"/>
            <a:ext cx="70469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 i="1">
                <a:solidFill>
                  <a:srgbClr val="FF0000"/>
                </a:solidFill>
              </a:rPr>
              <a:t>h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>
                <a:solidFill>
                  <a:srgbClr val="000080"/>
                </a:solidFill>
              </a:rPr>
              <a:t>2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>
                <a:solidFill>
                  <a:srgbClr val="000080"/>
                </a:solidFill>
              </a:rPr>
              <a:t>2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(3)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k</a:t>
            </a:r>
            <a:r>
              <a:rPr lang="en-US" altLang="zh-CN" sz="3200" b="1" baseline="30000">
                <a:solidFill>
                  <a:srgbClr val="800080"/>
                </a:solidFill>
              </a:rPr>
              <a:t>(4)</a:t>
            </a:r>
            <a:r>
              <a:rPr lang="en-US" altLang="zh-CN" sz="3200" b="1">
                <a:solidFill>
                  <a:srgbClr val="000080"/>
                </a:solidFill>
              </a:rPr>
              <a:t>)/6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83334" name="Rectangle 6"/>
          <p:cNvSpPr>
            <a:spLocks noChangeArrowheads="1"/>
          </p:cNvSpPr>
          <p:nvPr/>
        </p:nvSpPr>
        <p:spPr bwMode="auto">
          <a:xfrm>
            <a:off x="323850" y="4437063"/>
            <a:ext cx="2590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sp>
        <p:nvSpPr>
          <p:cNvPr id="483335" name="Rectangle 7"/>
          <p:cNvSpPr>
            <a:spLocks noChangeArrowheads="1"/>
          </p:cNvSpPr>
          <p:nvPr/>
        </p:nvSpPr>
        <p:spPr bwMode="auto">
          <a:xfrm>
            <a:off x="2800350" y="4506913"/>
            <a:ext cx="4724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+h/2,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i="1">
                <a:solidFill>
                  <a:srgbClr val="FF0000"/>
                </a:solidFill>
              </a:rPr>
              <a:t>h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/2)</a:t>
            </a:r>
          </a:p>
        </p:txBody>
      </p:sp>
      <p:sp>
        <p:nvSpPr>
          <p:cNvPr id="483336" name="Rectangle 8"/>
          <p:cNvSpPr>
            <a:spLocks noChangeArrowheads="1"/>
          </p:cNvSpPr>
          <p:nvPr/>
        </p:nvSpPr>
        <p:spPr bwMode="auto">
          <a:xfrm>
            <a:off x="1139825" y="5299075"/>
            <a:ext cx="4724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(3)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+h/2,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FF0000"/>
                </a:solidFill>
              </a:rPr>
              <a:t>h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 i="1">
                <a:solidFill>
                  <a:srgbClr val="000080"/>
                </a:solidFill>
              </a:rPr>
              <a:t>/2)</a:t>
            </a:r>
          </a:p>
        </p:txBody>
      </p:sp>
      <p:sp>
        <p:nvSpPr>
          <p:cNvPr id="483337" name="Rectangle 9"/>
          <p:cNvSpPr>
            <a:spLocks noChangeArrowheads="1"/>
          </p:cNvSpPr>
          <p:nvPr/>
        </p:nvSpPr>
        <p:spPr bwMode="auto">
          <a:xfrm>
            <a:off x="1063625" y="6018213"/>
            <a:ext cx="4724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(4)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FF0000"/>
                </a:solidFill>
              </a:rPr>
              <a:t>h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(3)</a:t>
            </a:r>
            <a:r>
              <a:rPr lang="en-US" altLang="zh-CN" sz="3200" b="1" i="1">
                <a:solidFill>
                  <a:srgbClr val="000080"/>
                </a:solidFill>
              </a:rPr>
              <a:t>)</a:t>
            </a:r>
          </a:p>
        </p:txBody>
      </p:sp>
      <p:sp>
        <p:nvSpPr>
          <p:cNvPr id="109575" name="Text Box 11"/>
          <p:cNvSpPr txBox="1">
            <a:spLocks noChangeArrowheads="1"/>
          </p:cNvSpPr>
          <p:nvPr/>
        </p:nvSpPr>
        <p:spPr bwMode="auto">
          <a:xfrm>
            <a:off x="179388" y="30163"/>
            <a:ext cx="21891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Fourth order</a:t>
            </a:r>
          </a:p>
        </p:txBody>
      </p:sp>
      <p:sp>
        <p:nvSpPr>
          <p:cNvPr id="109576" name="Rectangle 12"/>
          <p:cNvSpPr>
            <a:spLocks noChangeArrowheads="1"/>
          </p:cNvSpPr>
          <p:nvPr/>
        </p:nvSpPr>
        <p:spPr bwMode="auto">
          <a:xfrm>
            <a:off x="0" y="2757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9577" name="Rectangle 14"/>
          <p:cNvSpPr>
            <a:spLocks noChangeArrowheads="1"/>
          </p:cNvSpPr>
          <p:nvPr/>
        </p:nvSpPr>
        <p:spPr bwMode="auto">
          <a:xfrm>
            <a:off x="73025" y="700088"/>
            <a:ext cx="8820150" cy="280035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3343" name="Rectangle 15"/>
          <p:cNvSpPr>
            <a:spLocks noChangeArrowheads="1"/>
          </p:cNvSpPr>
          <p:nvPr/>
        </p:nvSpPr>
        <p:spPr bwMode="auto">
          <a:xfrm>
            <a:off x="179388" y="3644900"/>
            <a:ext cx="7777162" cy="302418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9579" name="Rectangle 16"/>
          <p:cNvSpPr>
            <a:spLocks noChangeArrowheads="1"/>
          </p:cNvSpPr>
          <p:nvPr/>
        </p:nvSpPr>
        <p:spPr bwMode="auto">
          <a:xfrm>
            <a:off x="838200" y="836613"/>
            <a:ext cx="70469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>
                <a:solidFill>
                  <a:srgbClr val="000080"/>
                </a:solidFill>
              </a:rPr>
              <a:t>2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>
                <a:solidFill>
                  <a:srgbClr val="000080"/>
                </a:solidFill>
              </a:rPr>
              <a:t>2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(3)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k</a:t>
            </a:r>
            <a:r>
              <a:rPr lang="en-US" altLang="zh-CN" sz="3200" b="1" baseline="30000">
                <a:solidFill>
                  <a:srgbClr val="800080"/>
                </a:solidFill>
              </a:rPr>
              <a:t>(4)</a:t>
            </a:r>
            <a:r>
              <a:rPr lang="en-US" altLang="zh-CN" sz="3200" b="1">
                <a:solidFill>
                  <a:srgbClr val="000080"/>
                </a:solidFill>
              </a:rPr>
              <a:t>)/6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09580" name="Rectangle 17"/>
          <p:cNvSpPr>
            <a:spLocks noChangeArrowheads="1"/>
          </p:cNvSpPr>
          <p:nvPr/>
        </p:nvSpPr>
        <p:spPr bwMode="auto">
          <a:xfrm>
            <a:off x="552450" y="1625600"/>
            <a:ext cx="259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</a:t>
            </a:r>
            <a:r>
              <a:rPr lang="en-US" altLang="zh-CN" sz="3200" b="1" i="1">
                <a:solidFill>
                  <a:srgbClr val="FF0000"/>
                </a:solidFill>
              </a:rPr>
              <a:t>h</a:t>
            </a:r>
            <a:r>
              <a:rPr lang="en-US" altLang="zh-CN" sz="3200" b="1" i="1">
                <a:solidFill>
                  <a:srgbClr val="000080"/>
                </a:solidFill>
              </a:rPr>
              <a:t>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sp>
        <p:nvSpPr>
          <p:cNvPr id="109581" name="Rectangle 18"/>
          <p:cNvSpPr>
            <a:spLocks noChangeArrowheads="1"/>
          </p:cNvSpPr>
          <p:nvPr/>
        </p:nvSpPr>
        <p:spPr bwMode="auto">
          <a:xfrm>
            <a:off x="3419475" y="1625600"/>
            <a:ext cx="4724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FF0000"/>
                </a:solidFill>
              </a:rPr>
              <a:t>h</a:t>
            </a:r>
            <a:r>
              <a:rPr lang="en-US" altLang="zh-CN" sz="3200" b="1" i="1">
                <a:solidFill>
                  <a:srgbClr val="000080"/>
                </a:solidFill>
              </a:rPr>
              <a:t>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+h/2,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/2)</a:t>
            </a:r>
          </a:p>
        </p:txBody>
      </p:sp>
      <p:sp>
        <p:nvSpPr>
          <p:cNvPr id="109582" name="Rectangle 19"/>
          <p:cNvSpPr>
            <a:spLocks noChangeArrowheads="1"/>
          </p:cNvSpPr>
          <p:nvPr/>
        </p:nvSpPr>
        <p:spPr bwMode="auto">
          <a:xfrm>
            <a:off x="250825" y="2492375"/>
            <a:ext cx="4724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(3)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FF0000"/>
                </a:solidFill>
              </a:rPr>
              <a:t>h</a:t>
            </a:r>
            <a:r>
              <a:rPr lang="en-US" altLang="zh-CN" sz="3200" b="1" i="1">
                <a:solidFill>
                  <a:srgbClr val="000080"/>
                </a:solidFill>
              </a:rPr>
              <a:t>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+h/2,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 i="1">
                <a:solidFill>
                  <a:srgbClr val="000080"/>
                </a:solidFill>
              </a:rPr>
              <a:t>/2)</a:t>
            </a:r>
          </a:p>
        </p:txBody>
      </p:sp>
      <p:sp>
        <p:nvSpPr>
          <p:cNvPr id="109583" name="Rectangle 20"/>
          <p:cNvSpPr>
            <a:spLocks noChangeArrowheads="1"/>
          </p:cNvSpPr>
          <p:nvPr/>
        </p:nvSpPr>
        <p:spPr bwMode="auto">
          <a:xfrm>
            <a:off x="4859338" y="2489200"/>
            <a:ext cx="41052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(4)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FF0000"/>
                </a:solidFill>
              </a:rPr>
              <a:t>h</a:t>
            </a:r>
            <a:r>
              <a:rPr lang="en-US" altLang="zh-CN" sz="3200" b="1" i="1">
                <a:solidFill>
                  <a:srgbClr val="000080"/>
                </a:solidFill>
              </a:rPr>
              <a:t>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(3)</a:t>
            </a:r>
            <a:r>
              <a:rPr lang="en-US" altLang="zh-CN" sz="3200" b="1" i="1">
                <a:solidFill>
                  <a:srgbClr val="000080"/>
                </a:solidFill>
              </a:rPr>
              <a:t>)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3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3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3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3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3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3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3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3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0" grpId="0"/>
      <p:bldP spid="483334" grpId="0"/>
      <p:bldP spid="483335" grpId="0"/>
      <p:bldP spid="483336" grpId="0"/>
      <p:bldP spid="483337" grpId="0"/>
      <p:bldP spid="483343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3"/>
          <p:cNvSpPr txBox="1">
            <a:spLocks noChangeArrowheads="1"/>
          </p:cNvSpPr>
          <p:nvPr/>
        </p:nvSpPr>
        <p:spPr bwMode="auto">
          <a:xfrm>
            <a:off x="468313" y="260350"/>
            <a:ext cx="7864475" cy="199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 b="1">
                <a:solidFill>
                  <a:srgbClr val="000000"/>
                </a:solidFill>
                <a:ea typeface="仿宋_GB2312" pitchFamily="49" charset="-122"/>
              </a:rPr>
              <a:t>对初值问题</a:t>
            </a:r>
            <a:r>
              <a:rPr lang="en-US" altLang="zh-CN" sz="3200" b="1">
                <a:solidFill>
                  <a:srgbClr val="000000"/>
                </a:solidFill>
                <a:ea typeface="仿宋_GB2312" pitchFamily="49" charset="-122"/>
              </a:rPr>
              <a:t>u’=u/2, u(0)=1,</a:t>
            </a:r>
            <a:r>
              <a:rPr lang="zh-CN" altLang="en-US" sz="3200" b="1">
                <a:solidFill>
                  <a:srgbClr val="000000"/>
                </a:solidFill>
                <a:ea typeface="仿宋_GB2312" pitchFamily="49" charset="-122"/>
              </a:rPr>
              <a:t>分别用二阶和四阶</a:t>
            </a:r>
            <a:r>
              <a:rPr lang="en-US" altLang="zh-CN" sz="3200" b="1">
                <a:solidFill>
                  <a:srgbClr val="000000"/>
                </a:solidFill>
                <a:ea typeface="仿宋_GB2312" pitchFamily="49" charset="-122"/>
              </a:rPr>
              <a:t>Runge-Kutta </a:t>
            </a:r>
            <a:r>
              <a:rPr lang="zh-CN" altLang="en-US" sz="3200" b="1">
                <a:solidFill>
                  <a:srgbClr val="000000"/>
                </a:solidFill>
                <a:ea typeface="仿宋_GB2312" pitchFamily="49" charset="-122"/>
              </a:rPr>
              <a:t>法求其数值解，步长为</a:t>
            </a:r>
            <a:r>
              <a:rPr lang="en-US" altLang="zh-CN" sz="3200" b="1">
                <a:solidFill>
                  <a:srgbClr val="000000"/>
                </a:solidFill>
                <a:ea typeface="仿宋_GB2312" pitchFamily="49" charset="-122"/>
              </a:rPr>
              <a:t>h=0.2</a:t>
            </a:r>
            <a:r>
              <a:rPr lang="zh-CN" altLang="en-US" sz="3200" b="1">
                <a:solidFill>
                  <a:srgbClr val="000000"/>
                </a:solidFill>
                <a:ea typeface="仿宋_GB2312" pitchFamily="49" charset="-122"/>
              </a:rPr>
              <a:t>，求解区间为</a:t>
            </a:r>
            <a:r>
              <a:rPr lang="en-US" altLang="zh-CN" sz="3200" b="1">
                <a:solidFill>
                  <a:srgbClr val="000000"/>
                </a:solidFill>
                <a:ea typeface="仿宋_GB2312" pitchFamily="49" charset="-122"/>
              </a:rPr>
              <a:t>[0</a:t>
            </a:r>
            <a:r>
              <a:rPr lang="zh-CN" altLang="en-US" sz="3200" b="1">
                <a:solidFill>
                  <a:srgbClr val="000000"/>
                </a:solidFill>
                <a:ea typeface="仿宋_GB2312" pitchFamily="49" charset="-122"/>
              </a:rPr>
              <a:t>，</a:t>
            </a:r>
            <a:r>
              <a:rPr lang="en-US" altLang="zh-CN" sz="3200" b="1">
                <a:solidFill>
                  <a:srgbClr val="000000"/>
                </a:solidFill>
                <a:ea typeface="仿宋_GB2312" pitchFamily="49" charset="-122"/>
              </a:rPr>
              <a:t>0.4]</a:t>
            </a:r>
            <a:r>
              <a:rPr lang="zh-CN" altLang="en-US" sz="3200" b="1">
                <a:solidFill>
                  <a:srgbClr val="000000"/>
                </a:solidFill>
                <a:ea typeface="仿宋_GB2312" pitchFamily="49" charset="-122"/>
              </a:rPr>
              <a:t>。</a:t>
            </a:r>
          </a:p>
        </p:txBody>
      </p:sp>
      <p:sp>
        <p:nvSpPr>
          <p:cNvPr id="110595" name="Rectangle 1037"/>
          <p:cNvSpPr>
            <a:spLocks noChangeArrowheads="1"/>
          </p:cNvSpPr>
          <p:nvPr/>
        </p:nvSpPr>
        <p:spPr bwMode="auto">
          <a:xfrm>
            <a:off x="827088" y="2492375"/>
            <a:ext cx="6248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000080"/>
                </a:solidFill>
              </a:rPr>
              <a:t>)/2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10596" name="Rectangle 1038"/>
          <p:cNvSpPr>
            <a:spLocks noChangeArrowheads="1"/>
          </p:cNvSpPr>
          <p:nvPr/>
        </p:nvSpPr>
        <p:spPr bwMode="auto">
          <a:xfrm>
            <a:off x="3779838" y="3357563"/>
            <a:ext cx="45831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)</a:t>
            </a:r>
          </a:p>
        </p:txBody>
      </p:sp>
      <p:sp>
        <p:nvSpPr>
          <p:cNvPr id="110597" name="Rectangle 1039"/>
          <p:cNvSpPr>
            <a:spLocks noChangeArrowheads="1"/>
          </p:cNvSpPr>
          <p:nvPr/>
        </p:nvSpPr>
        <p:spPr bwMode="auto">
          <a:xfrm>
            <a:off x="827088" y="3357563"/>
            <a:ext cx="2590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sp>
        <p:nvSpPr>
          <p:cNvPr id="110598" name="Rectangle 1040"/>
          <p:cNvSpPr>
            <a:spLocks noChangeArrowheads="1"/>
          </p:cNvSpPr>
          <p:nvPr/>
        </p:nvSpPr>
        <p:spPr bwMode="auto">
          <a:xfrm>
            <a:off x="395288" y="4292600"/>
            <a:ext cx="77835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Y</a:t>
            </a:r>
            <a:r>
              <a:rPr lang="en-US" altLang="zh-CN" sz="32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baseline="-25000">
                <a:solidFill>
                  <a:srgbClr val="008080"/>
                </a:solidFill>
              </a:rPr>
              <a:t>+1</a:t>
            </a:r>
            <a:r>
              <a:rPr lang="en-US" altLang="zh-CN" sz="3200" b="1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=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>
                <a:solidFill>
                  <a:srgbClr val="000080"/>
                </a:solidFill>
              </a:rPr>
              <a:t>(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>
                <a:solidFill>
                  <a:srgbClr val="000080"/>
                </a:solidFill>
              </a:rPr>
              <a:t>2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</a:t>
            </a:r>
            <a:r>
              <a:rPr lang="en-US" altLang="zh-CN" sz="3200" b="1">
                <a:solidFill>
                  <a:srgbClr val="000080"/>
                </a:solidFill>
              </a:rPr>
              <a:t>2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(3)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+ k</a:t>
            </a:r>
            <a:r>
              <a:rPr lang="en-US" altLang="zh-CN" sz="3200" b="1" baseline="30000">
                <a:solidFill>
                  <a:srgbClr val="800080"/>
                </a:solidFill>
              </a:rPr>
              <a:t>(4)</a:t>
            </a:r>
            <a:r>
              <a:rPr lang="en-US" altLang="zh-CN" sz="3200" b="1">
                <a:solidFill>
                  <a:srgbClr val="000080"/>
                </a:solidFill>
              </a:rPr>
              <a:t>)/6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10599" name="Rectangle 1041"/>
          <p:cNvSpPr>
            <a:spLocks noChangeArrowheads="1"/>
          </p:cNvSpPr>
          <p:nvPr/>
        </p:nvSpPr>
        <p:spPr bwMode="auto">
          <a:xfrm>
            <a:off x="533400" y="5103813"/>
            <a:ext cx="2590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=h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</a:t>
            </a:r>
            <a:r>
              <a:rPr lang="en-US" altLang="zh-CN" sz="3200" b="1" i="1">
                <a:solidFill>
                  <a:srgbClr val="000080"/>
                </a:solidFill>
              </a:rPr>
              <a:t>);</a:t>
            </a:r>
          </a:p>
        </p:txBody>
      </p:sp>
      <p:sp>
        <p:nvSpPr>
          <p:cNvPr id="110600" name="Rectangle 1042"/>
          <p:cNvSpPr>
            <a:spLocks noChangeArrowheads="1"/>
          </p:cNvSpPr>
          <p:nvPr/>
        </p:nvSpPr>
        <p:spPr bwMode="auto">
          <a:xfrm>
            <a:off x="3733800" y="5103813"/>
            <a:ext cx="4724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+h/2,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(1)</a:t>
            </a:r>
            <a:r>
              <a:rPr lang="en-US" altLang="zh-CN" sz="3200" b="1" i="1">
                <a:solidFill>
                  <a:srgbClr val="000080"/>
                </a:solidFill>
              </a:rPr>
              <a:t>/2)</a:t>
            </a:r>
          </a:p>
        </p:txBody>
      </p:sp>
      <p:sp>
        <p:nvSpPr>
          <p:cNvPr id="110601" name="Rectangle 1043"/>
          <p:cNvSpPr>
            <a:spLocks noChangeArrowheads="1"/>
          </p:cNvSpPr>
          <p:nvPr/>
        </p:nvSpPr>
        <p:spPr bwMode="auto">
          <a:xfrm>
            <a:off x="107950" y="5942013"/>
            <a:ext cx="4724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(3)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+h/2,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(2)</a:t>
            </a:r>
            <a:r>
              <a:rPr lang="en-US" altLang="zh-CN" sz="3200" b="1" i="1">
                <a:solidFill>
                  <a:srgbClr val="000080"/>
                </a:solidFill>
              </a:rPr>
              <a:t>/2)</a:t>
            </a:r>
          </a:p>
        </p:txBody>
      </p:sp>
      <p:sp>
        <p:nvSpPr>
          <p:cNvPr id="110602" name="Rectangle 1044"/>
          <p:cNvSpPr>
            <a:spLocks noChangeArrowheads="1"/>
          </p:cNvSpPr>
          <p:nvPr/>
        </p:nvSpPr>
        <p:spPr bwMode="auto">
          <a:xfrm>
            <a:off x="4841875" y="5876925"/>
            <a:ext cx="426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(4)</a:t>
            </a:r>
            <a:r>
              <a:rPr lang="en-US" altLang="zh-CN" sz="3200" b="1">
                <a:solidFill>
                  <a:srgbClr val="000080"/>
                </a:solidFill>
              </a:rPr>
              <a:t>= </a:t>
            </a:r>
            <a:r>
              <a:rPr lang="en-US" altLang="zh-CN" sz="3200" b="1" i="1">
                <a:solidFill>
                  <a:srgbClr val="000080"/>
                </a:solidFill>
              </a:rPr>
              <a:t>h f(t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+h, Y</a:t>
            </a:r>
            <a:r>
              <a:rPr lang="en-US" altLang="zh-CN" sz="3200" b="1" baseline="-25000">
                <a:solidFill>
                  <a:srgbClr val="008080"/>
                </a:solidFill>
              </a:rPr>
              <a:t>n </a:t>
            </a:r>
            <a:r>
              <a:rPr lang="en-US" altLang="zh-CN" sz="3200" b="1" i="1">
                <a:solidFill>
                  <a:srgbClr val="000080"/>
                </a:solidFill>
              </a:rPr>
              <a:t>+</a:t>
            </a:r>
            <a:r>
              <a:rPr lang="en-US" altLang="zh-CN" sz="3200" b="1" baseline="-25000">
                <a:solidFill>
                  <a:srgbClr val="008080"/>
                </a:solidFill>
              </a:rPr>
              <a:t> </a:t>
            </a:r>
            <a:r>
              <a:rPr lang="en-US" altLang="zh-CN" sz="3200" b="1" i="1">
                <a:solidFill>
                  <a:srgbClr val="000080"/>
                </a:solidFill>
              </a:rPr>
              <a:t>k</a:t>
            </a:r>
            <a:r>
              <a:rPr lang="en-US" altLang="zh-CN" sz="3200" b="1" baseline="30000">
                <a:solidFill>
                  <a:srgbClr val="800080"/>
                </a:solidFill>
              </a:rPr>
              <a:t>(3)</a:t>
            </a:r>
            <a:r>
              <a:rPr lang="en-US" altLang="zh-CN" sz="3200" b="1" i="1">
                <a:solidFill>
                  <a:srgbClr val="000080"/>
                </a:solidFill>
              </a:rPr>
              <a:t>)</a:t>
            </a:r>
          </a:p>
        </p:txBody>
      </p:sp>
      <p:sp>
        <p:nvSpPr>
          <p:cNvPr id="110603" name="Rectangle 1045"/>
          <p:cNvSpPr>
            <a:spLocks noChangeArrowheads="1"/>
          </p:cNvSpPr>
          <p:nvPr/>
        </p:nvSpPr>
        <p:spPr bwMode="auto">
          <a:xfrm>
            <a:off x="250825" y="2527300"/>
            <a:ext cx="7777163" cy="151288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0604" name="Rectangle 1046"/>
          <p:cNvSpPr>
            <a:spLocks noChangeArrowheads="1"/>
          </p:cNvSpPr>
          <p:nvPr/>
        </p:nvSpPr>
        <p:spPr bwMode="auto">
          <a:xfrm>
            <a:off x="71438" y="4221163"/>
            <a:ext cx="8893175" cy="237648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pull dir="r"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ChangeArrowheads="1"/>
          </p:cNvSpPr>
          <p:nvPr/>
        </p:nvSpPr>
        <p:spPr bwMode="auto">
          <a:xfrm>
            <a:off x="250825" y="1700213"/>
            <a:ext cx="624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Y</a:t>
            </a:r>
            <a:r>
              <a:rPr lang="en-US" altLang="zh-CN" sz="28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baseline="-25000">
                <a:solidFill>
                  <a:srgbClr val="008080"/>
                </a:solidFill>
              </a:rPr>
              <a:t>+1</a:t>
            </a:r>
            <a:r>
              <a:rPr lang="en-US" altLang="zh-CN" sz="2800" b="1">
                <a:solidFill>
                  <a:srgbClr val="008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= Y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 </a:t>
            </a:r>
            <a:r>
              <a:rPr lang="en-US" altLang="zh-CN" sz="2800" b="1">
                <a:solidFill>
                  <a:srgbClr val="000080"/>
                </a:solidFill>
              </a:rPr>
              <a:t>(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(1)</a:t>
            </a: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+ k</a:t>
            </a:r>
            <a:r>
              <a:rPr lang="en-US" altLang="zh-CN" sz="2800" b="1" baseline="30000">
                <a:solidFill>
                  <a:srgbClr val="800080"/>
                </a:solidFill>
              </a:rPr>
              <a:t>(2)</a:t>
            </a:r>
            <a:r>
              <a:rPr lang="en-US" altLang="zh-CN" sz="2800" b="1">
                <a:solidFill>
                  <a:srgbClr val="000080"/>
                </a:solidFill>
              </a:rPr>
              <a:t>)/2</a:t>
            </a:r>
            <a:r>
              <a:rPr lang="en-US" altLang="zh-CN" sz="2800" b="1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11619" name="Rectangle 3"/>
          <p:cNvSpPr>
            <a:spLocks noChangeArrowheads="1"/>
          </p:cNvSpPr>
          <p:nvPr/>
        </p:nvSpPr>
        <p:spPr bwMode="auto">
          <a:xfrm>
            <a:off x="4267200" y="2276475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(2)</a:t>
            </a:r>
            <a:r>
              <a:rPr lang="en-US" altLang="zh-CN" sz="2800" b="1">
                <a:solidFill>
                  <a:srgbClr val="000080"/>
                </a:solidFill>
              </a:rPr>
              <a:t>= </a:t>
            </a:r>
            <a:r>
              <a:rPr lang="en-US" altLang="zh-CN" sz="2800" b="1" i="1">
                <a:solidFill>
                  <a:srgbClr val="000080"/>
                </a:solidFill>
              </a:rPr>
              <a:t>h f(t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+h, Y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</a:t>
            </a:r>
            <a:r>
              <a:rPr lang="en-US" altLang="zh-CN" sz="2800" b="1" baseline="-25000">
                <a:solidFill>
                  <a:srgbClr val="008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(1)</a:t>
            </a:r>
            <a:r>
              <a:rPr lang="en-US" altLang="zh-CN" sz="2800" b="1" i="1">
                <a:solidFill>
                  <a:srgbClr val="000080"/>
                </a:solidFill>
              </a:rPr>
              <a:t>)</a:t>
            </a:r>
          </a:p>
        </p:txBody>
      </p:sp>
      <p:sp>
        <p:nvSpPr>
          <p:cNvPr id="111620" name="Rectangle 4"/>
          <p:cNvSpPr>
            <a:spLocks noChangeArrowheads="1"/>
          </p:cNvSpPr>
          <p:nvPr/>
        </p:nvSpPr>
        <p:spPr bwMode="auto">
          <a:xfrm>
            <a:off x="4643438" y="1557338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(1)</a:t>
            </a:r>
            <a:r>
              <a:rPr lang="en-US" altLang="zh-CN" sz="2800" b="1" i="1">
                <a:solidFill>
                  <a:srgbClr val="000080"/>
                </a:solidFill>
              </a:rPr>
              <a:t>=h f(t</a:t>
            </a:r>
            <a:r>
              <a:rPr lang="en-US" altLang="zh-CN" sz="2800" b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i="1">
                <a:solidFill>
                  <a:srgbClr val="000080"/>
                </a:solidFill>
              </a:rPr>
              <a:t>, Y</a:t>
            </a:r>
            <a:r>
              <a:rPr lang="en-US" altLang="zh-CN" sz="2800" b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i="1">
                <a:solidFill>
                  <a:srgbClr val="000080"/>
                </a:solidFill>
              </a:rPr>
              <a:t>);</a:t>
            </a:r>
          </a:p>
        </p:txBody>
      </p:sp>
      <p:sp>
        <p:nvSpPr>
          <p:cNvPr id="111621" name="Text Box 6"/>
          <p:cNvSpPr txBox="1">
            <a:spLocks noChangeArrowheads="1"/>
          </p:cNvSpPr>
          <p:nvPr/>
        </p:nvSpPr>
        <p:spPr bwMode="auto">
          <a:xfrm>
            <a:off x="457200" y="76200"/>
            <a:ext cx="8362950" cy="135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 b="1">
                <a:solidFill>
                  <a:srgbClr val="000000"/>
                </a:solidFill>
                <a:ea typeface="仿宋_GB2312" pitchFamily="49" charset="-122"/>
              </a:rPr>
              <a:t>对初值问题</a:t>
            </a:r>
            <a:r>
              <a:rPr lang="en-US" altLang="zh-CN" sz="3200" b="1">
                <a:solidFill>
                  <a:srgbClr val="000000"/>
                </a:solidFill>
                <a:ea typeface="仿宋_GB2312" pitchFamily="49" charset="-122"/>
              </a:rPr>
              <a:t>u’=u/2, u(0)=1,</a:t>
            </a:r>
            <a:r>
              <a:rPr lang="zh-CN" altLang="en-US" sz="3200" b="1">
                <a:solidFill>
                  <a:srgbClr val="000000"/>
                </a:solidFill>
                <a:ea typeface="仿宋_GB2312" pitchFamily="49" charset="-122"/>
              </a:rPr>
              <a:t>分别用二阶</a:t>
            </a:r>
            <a:r>
              <a:rPr lang="en-US" altLang="zh-CN" sz="3200" b="1">
                <a:solidFill>
                  <a:srgbClr val="000000"/>
                </a:solidFill>
                <a:ea typeface="仿宋_GB2312" pitchFamily="49" charset="-122"/>
              </a:rPr>
              <a:t>Runge-Kutta </a:t>
            </a:r>
            <a:r>
              <a:rPr lang="zh-CN" altLang="en-US" sz="3200" b="1">
                <a:solidFill>
                  <a:srgbClr val="000000"/>
                </a:solidFill>
                <a:ea typeface="仿宋_GB2312" pitchFamily="49" charset="-122"/>
              </a:rPr>
              <a:t>法求其数值解，步长为</a:t>
            </a:r>
            <a:r>
              <a:rPr lang="en-US" altLang="zh-CN" sz="3200" b="1">
                <a:solidFill>
                  <a:srgbClr val="000000"/>
                </a:solidFill>
                <a:ea typeface="仿宋_GB2312" pitchFamily="49" charset="-122"/>
              </a:rPr>
              <a:t>h=0.2</a:t>
            </a:r>
            <a:r>
              <a:rPr lang="zh-CN" altLang="en-US" sz="3200" b="1">
                <a:solidFill>
                  <a:srgbClr val="000000"/>
                </a:solidFill>
                <a:ea typeface="仿宋_GB2312" pitchFamily="49" charset="-122"/>
              </a:rPr>
              <a:t>。</a:t>
            </a:r>
          </a:p>
        </p:txBody>
      </p:sp>
      <p:sp>
        <p:nvSpPr>
          <p:cNvPr id="263175" name="Rectangle 7"/>
          <p:cNvSpPr>
            <a:spLocks noChangeArrowheads="1"/>
          </p:cNvSpPr>
          <p:nvPr/>
        </p:nvSpPr>
        <p:spPr bwMode="auto">
          <a:xfrm>
            <a:off x="468313" y="2852738"/>
            <a:ext cx="7127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(1)</a:t>
            </a:r>
            <a:r>
              <a:rPr lang="en-US" altLang="zh-CN" sz="2800" b="1" i="1">
                <a:solidFill>
                  <a:srgbClr val="000080"/>
                </a:solidFill>
              </a:rPr>
              <a:t>=h f(t</a:t>
            </a:r>
            <a:r>
              <a:rPr lang="en-US" altLang="zh-CN" sz="2800" b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i="1">
                <a:solidFill>
                  <a:srgbClr val="000080"/>
                </a:solidFill>
              </a:rPr>
              <a:t>, Y</a:t>
            </a:r>
            <a:r>
              <a:rPr lang="en-US" altLang="zh-CN" sz="2800" b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i="1">
                <a:solidFill>
                  <a:srgbClr val="000080"/>
                </a:solidFill>
              </a:rPr>
              <a:t>)=0.2*</a:t>
            </a:r>
            <a:r>
              <a:rPr lang="en-US" altLang="zh-CN" sz="3200" b="1">
                <a:solidFill>
                  <a:srgbClr val="000000"/>
                </a:solidFill>
                <a:ea typeface="仿宋_GB2312" pitchFamily="49" charset="-122"/>
              </a:rPr>
              <a:t>u(0)</a:t>
            </a:r>
            <a:r>
              <a:rPr lang="en-US" altLang="zh-CN" sz="2800" b="1" i="1">
                <a:solidFill>
                  <a:srgbClr val="000080"/>
                </a:solidFill>
              </a:rPr>
              <a:t>/2 </a:t>
            </a:r>
            <a:r>
              <a:rPr lang="en-US" altLang="zh-CN" sz="3200" b="1">
                <a:solidFill>
                  <a:srgbClr val="000000"/>
                </a:solidFill>
                <a:ea typeface="仿宋_GB2312" pitchFamily="49" charset="-122"/>
              </a:rPr>
              <a:t>=</a:t>
            </a:r>
            <a:r>
              <a:rPr lang="en-US" altLang="zh-CN" sz="2800" b="1" i="1">
                <a:solidFill>
                  <a:srgbClr val="000080"/>
                </a:solidFill>
              </a:rPr>
              <a:t> 0.2*1/2=</a:t>
            </a:r>
            <a:r>
              <a:rPr lang="en-US" altLang="zh-CN"/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0.1</a:t>
            </a:r>
          </a:p>
        </p:txBody>
      </p:sp>
      <p:sp>
        <p:nvSpPr>
          <p:cNvPr id="263176" name="Rectangle 8"/>
          <p:cNvSpPr>
            <a:spLocks noChangeArrowheads="1"/>
          </p:cNvSpPr>
          <p:nvPr/>
        </p:nvSpPr>
        <p:spPr bwMode="auto">
          <a:xfrm>
            <a:off x="381000" y="3500438"/>
            <a:ext cx="746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(2)</a:t>
            </a:r>
            <a:r>
              <a:rPr lang="en-US" altLang="zh-CN" sz="2800" b="1">
                <a:solidFill>
                  <a:srgbClr val="000080"/>
                </a:solidFill>
              </a:rPr>
              <a:t>= </a:t>
            </a:r>
            <a:r>
              <a:rPr lang="en-US" altLang="zh-CN" sz="2800" b="1" i="1">
                <a:solidFill>
                  <a:srgbClr val="000080"/>
                </a:solidFill>
              </a:rPr>
              <a:t>h f(t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+h, Y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</a:t>
            </a:r>
            <a:r>
              <a:rPr lang="en-US" altLang="zh-CN" sz="2800" b="1" baseline="-25000">
                <a:solidFill>
                  <a:srgbClr val="008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(1)</a:t>
            </a:r>
            <a:r>
              <a:rPr lang="en-US" altLang="zh-CN" sz="2800" b="1" i="1">
                <a:solidFill>
                  <a:srgbClr val="000080"/>
                </a:solidFill>
              </a:rPr>
              <a:t>)=0.2*(1+0.1)/2=0.11</a:t>
            </a:r>
          </a:p>
        </p:txBody>
      </p:sp>
      <p:sp>
        <p:nvSpPr>
          <p:cNvPr id="263177" name="Rectangle 9"/>
          <p:cNvSpPr>
            <a:spLocks noChangeArrowheads="1"/>
          </p:cNvSpPr>
          <p:nvPr/>
        </p:nvSpPr>
        <p:spPr bwMode="auto">
          <a:xfrm>
            <a:off x="457200" y="4221163"/>
            <a:ext cx="807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Y</a:t>
            </a:r>
            <a:r>
              <a:rPr lang="en-US" altLang="zh-CN" sz="28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baseline="-25000">
                <a:solidFill>
                  <a:srgbClr val="008080"/>
                </a:solidFill>
              </a:rPr>
              <a:t>+1</a:t>
            </a:r>
            <a:r>
              <a:rPr lang="en-US" altLang="zh-CN" sz="2800" b="1">
                <a:solidFill>
                  <a:srgbClr val="008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= Y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 </a:t>
            </a:r>
            <a:r>
              <a:rPr lang="en-US" altLang="zh-CN" sz="2800" b="1">
                <a:solidFill>
                  <a:srgbClr val="000080"/>
                </a:solidFill>
              </a:rPr>
              <a:t>(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(1)</a:t>
            </a: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+ k</a:t>
            </a:r>
            <a:r>
              <a:rPr lang="en-US" altLang="zh-CN" sz="2800" b="1" baseline="30000">
                <a:solidFill>
                  <a:srgbClr val="800080"/>
                </a:solidFill>
              </a:rPr>
              <a:t>(2)</a:t>
            </a:r>
            <a:r>
              <a:rPr lang="en-US" altLang="zh-CN" sz="2800" b="1">
                <a:solidFill>
                  <a:srgbClr val="000080"/>
                </a:solidFill>
              </a:rPr>
              <a:t>)/2</a:t>
            </a:r>
            <a:r>
              <a:rPr lang="en-US" altLang="zh-CN" sz="2800" b="1">
                <a:solidFill>
                  <a:srgbClr val="000000"/>
                </a:solidFill>
              </a:rPr>
              <a:t>.=1.+0.21/2=1.105</a:t>
            </a:r>
          </a:p>
        </p:txBody>
      </p:sp>
      <p:sp>
        <p:nvSpPr>
          <p:cNvPr id="263178" name="Rectangle 10"/>
          <p:cNvSpPr>
            <a:spLocks noChangeArrowheads="1"/>
          </p:cNvSpPr>
          <p:nvPr/>
        </p:nvSpPr>
        <p:spPr bwMode="auto">
          <a:xfrm>
            <a:off x="381000" y="4868863"/>
            <a:ext cx="5791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(1)</a:t>
            </a:r>
            <a:r>
              <a:rPr lang="en-US" altLang="zh-CN" sz="2800" b="1" i="1">
                <a:solidFill>
                  <a:srgbClr val="000080"/>
                </a:solidFill>
              </a:rPr>
              <a:t>=h f(t</a:t>
            </a:r>
            <a:r>
              <a:rPr lang="en-US" altLang="zh-CN" sz="2800" b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i="1">
                <a:solidFill>
                  <a:srgbClr val="000080"/>
                </a:solidFill>
              </a:rPr>
              <a:t>, Y</a:t>
            </a:r>
            <a:r>
              <a:rPr lang="en-US" altLang="zh-CN" sz="2800" b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i="1">
                <a:solidFill>
                  <a:srgbClr val="000080"/>
                </a:solidFill>
              </a:rPr>
              <a:t>)=0.2*1.105/2=0.1105</a:t>
            </a:r>
          </a:p>
        </p:txBody>
      </p:sp>
      <p:sp>
        <p:nvSpPr>
          <p:cNvPr id="263179" name="Rectangle 11"/>
          <p:cNvSpPr>
            <a:spLocks noChangeArrowheads="1"/>
          </p:cNvSpPr>
          <p:nvPr/>
        </p:nvSpPr>
        <p:spPr bwMode="auto">
          <a:xfrm>
            <a:off x="304800" y="5516563"/>
            <a:ext cx="845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(2)</a:t>
            </a:r>
            <a:r>
              <a:rPr lang="en-US" altLang="zh-CN" sz="2800" b="1">
                <a:solidFill>
                  <a:srgbClr val="000080"/>
                </a:solidFill>
              </a:rPr>
              <a:t>= </a:t>
            </a:r>
            <a:r>
              <a:rPr lang="en-US" altLang="zh-CN" sz="2800" b="1" i="1">
                <a:solidFill>
                  <a:srgbClr val="000080"/>
                </a:solidFill>
              </a:rPr>
              <a:t>h f(t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+h, Y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</a:t>
            </a:r>
            <a:r>
              <a:rPr lang="en-US" altLang="zh-CN" sz="2800" b="1" baseline="-25000">
                <a:solidFill>
                  <a:srgbClr val="008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(1)</a:t>
            </a:r>
            <a:r>
              <a:rPr lang="en-US" altLang="zh-CN" sz="2800" b="1" i="1">
                <a:solidFill>
                  <a:srgbClr val="000080"/>
                </a:solidFill>
              </a:rPr>
              <a:t>)=0.2*(1.105+0.1105)/2=0.12155</a:t>
            </a:r>
          </a:p>
        </p:txBody>
      </p:sp>
      <p:sp>
        <p:nvSpPr>
          <p:cNvPr id="263180" name="Rectangle 12"/>
          <p:cNvSpPr>
            <a:spLocks noChangeArrowheads="1"/>
          </p:cNvSpPr>
          <p:nvPr/>
        </p:nvSpPr>
        <p:spPr bwMode="auto">
          <a:xfrm>
            <a:off x="381000" y="6165850"/>
            <a:ext cx="830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Y</a:t>
            </a:r>
            <a:r>
              <a:rPr lang="en-US" altLang="zh-CN" sz="28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baseline="-25000">
                <a:solidFill>
                  <a:srgbClr val="008080"/>
                </a:solidFill>
              </a:rPr>
              <a:t>+1</a:t>
            </a:r>
            <a:r>
              <a:rPr lang="en-US" altLang="zh-CN" sz="2800" b="1">
                <a:solidFill>
                  <a:srgbClr val="008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= Y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 </a:t>
            </a:r>
            <a:r>
              <a:rPr lang="en-US" altLang="zh-CN" sz="2800" b="1">
                <a:solidFill>
                  <a:srgbClr val="000080"/>
                </a:solidFill>
              </a:rPr>
              <a:t>(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(1)</a:t>
            </a: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+ k</a:t>
            </a:r>
            <a:r>
              <a:rPr lang="en-US" altLang="zh-CN" sz="2800" b="1" baseline="30000">
                <a:solidFill>
                  <a:srgbClr val="800080"/>
                </a:solidFill>
              </a:rPr>
              <a:t>(2)</a:t>
            </a:r>
            <a:r>
              <a:rPr lang="en-US" altLang="zh-CN" sz="2800" b="1">
                <a:solidFill>
                  <a:srgbClr val="000080"/>
                </a:solidFill>
              </a:rPr>
              <a:t>)/2</a:t>
            </a:r>
            <a:r>
              <a:rPr lang="en-US" altLang="zh-CN" sz="2800" b="1">
                <a:solidFill>
                  <a:srgbClr val="000000"/>
                </a:solidFill>
              </a:rPr>
              <a:t>.=1.105+0.23205/2=1.221025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3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3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3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3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3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3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5" grpId="0" autoUpdateAnimBg="0"/>
      <p:bldP spid="263176" grpId="0" autoUpdateAnimBg="0"/>
      <p:bldP spid="263177" grpId="0" autoUpdateAnimBg="0"/>
      <p:bldP spid="263178" grpId="0" autoUpdateAnimBg="0"/>
      <p:bldP spid="263179" grpId="0" autoUpdateAnimBg="0"/>
      <p:bldP spid="263180" grpId="0" autoUpdateAnimBg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533400" y="1066800"/>
            <a:ext cx="624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Y</a:t>
            </a:r>
            <a:r>
              <a:rPr lang="en-US" altLang="zh-CN" sz="28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baseline="-25000">
                <a:solidFill>
                  <a:srgbClr val="008080"/>
                </a:solidFill>
              </a:rPr>
              <a:t>+1</a:t>
            </a:r>
            <a:r>
              <a:rPr lang="en-US" altLang="zh-CN" sz="2800" b="1">
                <a:solidFill>
                  <a:srgbClr val="008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= Y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 </a:t>
            </a:r>
            <a:r>
              <a:rPr lang="en-US" altLang="zh-CN" sz="2800" b="1">
                <a:solidFill>
                  <a:srgbClr val="000080"/>
                </a:solidFill>
              </a:rPr>
              <a:t>(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(1)</a:t>
            </a: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+ </a:t>
            </a:r>
            <a:r>
              <a:rPr lang="en-US" altLang="zh-CN" sz="2800" b="1">
                <a:solidFill>
                  <a:srgbClr val="000080"/>
                </a:solidFill>
              </a:rPr>
              <a:t>2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(2)</a:t>
            </a: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+ </a:t>
            </a:r>
            <a:r>
              <a:rPr lang="en-US" altLang="zh-CN" sz="2800" b="1">
                <a:solidFill>
                  <a:srgbClr val="000080"/>
                </a:solidFill>
              </a:rPr>
              <a:t>2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(3)</a:t>
            </a: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+ k</a:t>
            </a:r>
            <a:r>
              <a:rPr lang="en-US" altLang="zh-CN" sz="2800" b="1" baseline="30000">
                <a:solidFill>
                  <a:srgbClr val="800080"/>
                </a:solidFill>
              </a:rPr>
              <a:t>(4)</a:t>
            </a:r>
            <a:r>
              <a:rPr lang="en-US" altLang="zh-CN" sz="2800" b="1">
                <a:solidFill>
                  <a:srgbClr val="000080"/>
                </a:solidFill>
              </a:rPr>
              <a:t>)/6</a:t>
            </a:r>
            <a:r>
              <a:rPr lang="en-US" altLang="zh-CN" sz="2800" b="1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12643" name="Rectangle 3"/>
          <p:cNvSpPr>
            <a:spLocks noChangeArrowheads="1"/>
          </p:cNvSpPr>
          <p:nvPr/>
        </p:nvSpPr>
        <p:spPr bwMode="auto">
          <a:xfrm>
            <a:off x="533400" y="1752600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(1)</a:t>
            </a:r>
            <a:r>
              <a:rPr lang="en-US" altLang="zh-CN" sz="2800" b="1" i="1">
                <a:solidFill>
                  <a:srgbClr val="000080"/>
                </a:solidFill>
              </a:rPr>
              <a:t>=h f(t</a:t>
            </a:r>
            <a:r>
              <a:rPr lang="en-US" altLang="zh-CN" sz="2800" b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i="1">
                <a:solidFill>
                  <a:srgbClr val="000080"/>
                </a:solidFill>
              </a:rPr>
              <a:t>, Y</a:t>
            </a:r>
            <a:r>
              <a:rPr lang="en-US" altLang="zh-CN" sz="2800" b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i="1">
                <a:solidFill>
                  <a:srgbClr val="000080"/>
                </a:solidFill>
              </a:rPr>
              <a:t>);</a:t>
            </a:r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auto">
          <a:xfrm>
            <a:off x="3733800" y="1752600"/>
            <a:ext cx="472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(2)</a:t>
            </a:r>
            <a:r>
              <a:rPr lang="en-US" altLang="zh-CN" sz="2800" b="1">
                <a:solidFill>
                  <a:srgbClr val="000080"/>
                </a:solidFill>
              </a:rPr>
              <a:t>= </a:t>
            </a:r>
            <a:r>
              <a:rPr lang="en-US" altLang="zh-CN" sz="2800" b="1" i="1">
                <a:solidFill>
                  <a:srgbClr val="000080"/>
                </a:solidFill>
              </a:rPr>
              <a:t>h f(t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+h/2, Y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</a:t>
            </a:r>
            <a:r>
              <a:rPr lang="en-US" altLang="zh-CN" sz="2800" b="1" baseline="-25000">
                <a:solidFill>
                  <a:srgbClr val="008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(1)</a:t>
            </a:r>
            <a:r>
              <a:rPr lang="en-US" altLang="zh-CN" sz="2800" b="1" i="1">
                <a:solidFill>
                  <a:srgbClr val="000080"/>
                </a:solidFill>
              </a:rPr>
              <a:t>/2)</a:t>
            </a:r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auto">
          <a:xfrm>
            <a:off x="228600" y="2362200"/>
            <a:ext cx="472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(3)</a:t>
            </a:r>
            <a:r>
              <a:rPr lang="en-US" altLang="zh-CN" sz="2800" b="1">
                <a:solidFill>
                  <a:srgbClr val="000080"/>
                </a:solidFill>
              </a:rPr>
              <a:t>= </a:t>
            </a:r>
            <a:r>
              <a:rPr lang="en-US" altLang="zh-CN" sz="2800" b="1" i="1">
                <a:solidFill>
                  <a:srgbClr val="000080"/>
                </a:solidFill>
              </a:rPr>
              <a:t>h f(t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+h/2, Y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</a:t>
            </a:r>
            <a:r>
              <a:rPr lang="en-US" altLang="zh-CN" sz="2800" b="1" baseline="-25000">
                <a:solidFill>
                  <a:srgbClr val="008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(2)</a:t>
            </a:r>
            <a:r>
              <a:rPr lang="en-US" altLang="zh-CN" sz="2800" b="1" i="1">
                <a:solidFill>
                  <a:srgbClr val="000080"/>
                </a:solidFill>
              </a:rPr>
              <a:t>/2)</a:t>
            </a:r>
          </a:p>
        </p:txBody>
      </p:sp>
      <p:sp>
        <p:nvSpPr>
          <p:cNvPr id="112646" name="Rectangle 6"/>
          <p:cNvSpPr>
            <a:spLocks noChangeArrowheads="1"/>
          </p:cNvSpPr>
          <p:nvPr/>
        </p:nvSpPr>
        <p:spPr bwMode="auto">
          <a:xfrm>
            <a:off x="4572000" y="2438400"/>
            <a:ext cx="426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(4)</a:t>
            </a:r>
            <a:r>
              <a:rPr lang="en-US" altLang="zh-CN" sz="2800" b="1">
                <a:solidFill>
                  <a:srgbClr val="000080"/>
                </a:solidFill>
              </a:rPr>
              <a:t>= </a:t>
            </a:r>
            <a:r>
              <a:rPr lang="en-US" altLang="zh-CN" sz="2800" b="1" i="1">
                <a:solidFill>
                  <a:srgbClr val="000080"/>
                </a:solidFill>
              </a:rPr>
              <a:t>h f(t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+h, Y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</a:t>
            </a:r>
            <a:r>
              <a:rPr lang="en-US" altLang="zh-CN" sz="2800" b="1" baseline="-25000">
                <a:solidFill>
                  <a:srgbClr val="008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(3)</a:t>
            </a:r>
            <a:r>
              <a:rPr lang="en-US" altLang="zh-CN" sz="2800" b="1" i="1">
                <a:solidFill>
                  <a:srgbClr val="000080"/>
                </a:solidFill>
              </a:rPr>
              <a:t>)</a:t>
            </a:r>
          </a:p>
        </p:txBody>
      </p:sp>
      <p:sp>
        <p:nvSpPr>
          <p:cNvPr id="112647" name="Text Box 8"/>
          <p:cNvSpPr txBox="1">
            <a:spLocks noChangeArrowheads="1"/>
          </p:cNvSpPr>
          <p:nvPr/>
        </p:nvSpPr>
        <p:spPr bwMode="auto">
          <a:xfrm>
            <a:off x="457200" y="188913"/>
            <a:ext cx="7864475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3200" b="1">
                <a:solidFill>
                  <a:srgbClr val="000000"/>
                </a:solidFill>
                <a:ea typeface="仿宋_GB2312" pitchFamily="49" charset="-122"/>
              </a:rPr>
              <a:t>u’=u/2, u(0)=1, </a:t>
            </a:r>
            <a:r>
              <a:rPr lang="zh-CN" altLang="en-US" sz="3200" b="1">
                <a:solidFill>
                  <a:srgbClr val="000000"/>
                </a:solidFill>
                <a:ea typeface="仿宋_GB2312" pitchFamily="49" charset="-122"/>
              </a:rPr>
              <a:t>步长为</a:t>
            </a:r>
            <a:r>
              <a:rPr lang="en-US" altLang="zh-CN" sz="3200" b="1">
                <a:solidFill>
                  <a:srgbClr val="000000"/>
                </a:solidFill>
                <a:ea typeface="仿宋_GB2312" pitchFamily="49" charset="-122"/>
              </a:rPr>
              <a:t>h=0.2</a:t>
            </a:r>
            <a:r>
              <a:rPr lang="zh-CN" altLang="en-US" sz="3200" b="1">
                <a:solidFill>
                  <a:srgbClr val="000000"/>
                </a:solidFill>
                <a:ea typeface="仿宋_GB2312" pitchFamily="49" charset="-122"/>
              </a:rPr>
              <a:t>，</a:t>
            </a:r>
          </a:p>
        </p:txBody>
      </p:sp>
      <p:sp>
        <p:nvSpPr>
          <p:cNvPr id="264201" name="Rectangle 9"/>
          <p:cNvSpPr>
            <a:spLocks noChangeArrowheads="1"/>
          </p:cNvSpPr>
          <p:nvPr/>
        </p:nvSpPr>
        <p:spPr bwMode="auto">
          <a:xfrm>
            <a:off x="457200" y="3048000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(1)</a:t>
            </a:r>
            <a:r>
              <a:rPr lang="en-US" altLang="zh-CN" sz="2800" b="1" i="1">
                <a:solidFill>
                  <a:srgbClr val="000080"/>
                </a:solidFill>
              </a:rPr>
              <a:t>=h f(t</a:t>
            </a:r>
            <a:r>
              <a:rPr lang="en-US" altLang="zh-CN" sz="2800" b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i="1">
                <a:solidFill>
                  <a:srgbClr val="000080"/>
                </a:solidFill>
              </a:rPr>
              <a:t>, Y</a:t>
            </a:r>
            <a:r>
              <a:rPr lang="en-US" altLang="zh-CN" sz="2800" b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i="1">
                <a:solidFill>
                  <a:srgbClr val="000080"/>
                </a:solidFill>
              </a:rPr>
              <a:t>)=0.2*1/2=0.1</a:t>
            </a:r>
          </a:p>
        </p:txBody>
      </p:sp>
      <p:sp>
        <p:nvSpPr>
          <p:cNvPr id="264202" name="Rectangle 10"/>
          <p:cNvSpPr>
            <a:spLocks noChangeArrowheads="1"/>
          </p:cNvSpPr>
          <p:nvPr/>
        </p:nvSpPr>
        <p:spPr bwMode="auto">
          <a:xfrm>
            <a:off x="381000" y="3733800"/>
            <a:ext cx="830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(2)</a:t>
            </a:r>
            <a:r>
              <a:rPr lang="en-US" altLang="zh-CN" sz="2800" b="1">
                <a:solidFill>
                  <a:srgbClr val="000080"/>
                </a:solidFill>
              </a:rPr>
              <a:t>= </a:t>
            </a:r>
            <a:r>
              <a:rPr lang="en-US" altLang="zh-CN" sz="2800" b="1" i="1">
                <a:solidFill>
                  <a:srgbClr val="000080"/>
                </a:solidFill>
              </a:rPr>
              <a:t>h f(t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+h/2, Y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</a:t>
            </a:r>
            <a:r>
              <a:rPr lang="en-US" altLang="zh-CN" sz="2800" b="1" baseline="-25000">
                <a:solidFill>
                  <a:srgbClr val="008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(1)</a:t>
            </a:r>
            <a:r>
              <a:rPr lang="en-US" altLang="zh-CN" sz="2800" b="1" i="1">
                <a:solidFill>
                  <a:srgbClr val="000080"/>
                </a:solidFill>
              </a:rPr>
              <a:t>/2)=0.2*(1+0.1/2)/2=0.105</a:t>
            </a:r>
          </a:p>
        </p:txBody>
      </p:sp>
      <p:sp>
        <p:nvSpPr>
          <p:cNvPr id="264204" name="Rectangle 12"/>
          <p:cNvSpPr>
            <a:spLocks noChangeArrowheads="1"/>
          </p:cNvSpPr>
          <p:nvPr/>
        </p:nvSpPr>
        <p:spPr bwMode="auto">
          <a:xfrm>
            <a:off x="228600" y="4343400"/>
            <a:ext cx="876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(3)</a:t>
            </a:r>
            <a:r>
              <a:rPr lang="en-US" altLang="zh-CN" sz="2800" b="1">
                <a:solidFill>
                  <a:srgbClr val="000080"/>
                </a:solidFill>
              </a:rPr>
              <a:t>= </a:t>
            </a:r>
            <a:r>
              <a:rPr lang="en-US" altLang="zh-CN" sz="2800" b="1" i="1">
                <a:solidFill>
                  <a:srgbClr val="000080"/>
                </a:solidFill>
              </a:rPr>
              <a:t>h f(t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+h/2, Y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</a:t>
            </a:r>
            <a:r>
              <a:rPr lang="en-US" altLang="zh-CN" sz="2800" b="1" baseline="-25000">
                <a:solidFill>
                  <a:srgbClr val="008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(2)</a:t>
            </a:r>
            <a:r>
              <a:rPr lang="en-US" altLang="zh-CN" sz="2800" b="1" i="1">
                <a:solidFill>
                  <a:srgbClr val="000080"/>
                </a:solidFill>
              </a:rPr>
              <a:t>/2) =0.2*(1+0.105/2)/2=0.1055</a:t>
            </a:r>
          </a:p>
        </p:txBody>
      </p:sp>
      <p:sp>
        <p:nvSpPr>
          <p:cNvPr id="264205" name="Rectangle 13"/>
          <p:cNvSpPr>
            <a:spLocks noChangeArrowheads="1"/>
          </p:cNvSpPr>
          <p:nvPr/>
        </p:nvSpPr>
        <p:spPr bwMode="auto">
          <a:xfrm>
            <a:off x="304800" y="4876800"/>
            <a:ext cx="861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(4)</a:t>
            </a:r>
            <a:r>
              <a:rPr lang="en-US" altLang="zh-CN" sz="2800" b="1">
                <a:solidFill>
                  <a:srgbClr val="000080"/>
                </a:solidFill>
              </a:rPr>
              <a:t>= </a:t>
            </a:r>
            <a:r>
              <a:rPr lang="en-US" altLang="zh-CN" sz="2800" b="1" i="1">
                <a:solidFill>
                  <a:srgbClr val="000080"/>
                </a:solidFill>
              </a:rPr>
              <a:t>h f(t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+h, Y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</a:t>
            </a:r>
            <a:r>
              <a:rPr lang="en-US" altLang="zh-CN" sz="2800" b="1" baseline="-25000">
                <a:solidFill>
                  <a:srgbClr val="008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(3)</a:t>
            </a:r>
            <a:r>
              <a:rPr lang="en-US" altLang="zh-CN" sz="2800" b="1" i="1">
                <a:solidFill>
                  <a:srgbClr val="000080"/>
                </a:solidFill>
              </a:rPr>
              <a:t>) =0.2*(1+0.1055)=0.11055</a:t>
            </a:r>
          </a:p>
        </p:txBody>
      </p:sp>
      <p:sp>
        <p:nvSpPr>
          <p:cNvPr id="264206" name="Rectangle 14"/>
          <p:cNvSpPr>
            <a:spLocks noChangeArrowheads="1"/>
          </p:cNvSpPr>
          <p:nvPr/>
        </p:nvSpPr>
        <p:spPr bwMode="auto">
          <a:xfrm>
            <a:off x="228600" y="5486400"/>
            <a:ext cx="807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Y</a:t>
            </a:r>
            <a:r>
              <a:rPr lang="en-US" altLang="zh-CN" sz="2800" b="1" i="1" baseline="-25000">
                <a:solidFill>
                  <a:srgbClr val="008080"/>
                </a:solidFill>
              </a:rPr>
              <a:t>n</a:t>
            </a:r>
            <a:r>
              <a:rPr lang="en-US" altLang="zh-CN" sz="2800" b="1" baseline="-25000">
                <a:solidFill>
                  <a:srgbClr val="008080"/>
                </a:solidFill>
              </a:rPr>
              <a:t>+1</a:t>
            </a:r>
            <a:r>
              <a:rPr lang="en-US" altLang="zh-CN" sz="2800" b="1">
                <a:solidFill>
                  <a:srgbClr val="008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= Y</a:t>
            </a:r>
            <a:r>
              <a:rPr lang="en-US" altLang="zh-CN" sz="2800" b="1" baseline="-25000">
                <a:solidFill>
                  <a:srgbClr val="008080"/>
                </a:solidFill>
              </a:rPr>
              <a:t>n </a:t>
            </a:r>
            <a:r>
              <a:rPr lang="en-US" altLang="zh-CN" sz="2800" b="1" i="1">
                <a:solidFill>
                  <a:srgbClr val="000080"/>
                </a:solidFill>
              </a:rPr>
              <a:t>+ </a:t>
            </a:r>
            <a:r>
              <a:rPr lang="en-US" altLang="zh-CN" sz="2800" b="1">
                <a:solidFill>
                  <a:srgbClr val="000080"/>
                </a:solidFill>
              </a:rPr>
              <a:t>(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(1)</a:t>
            </a: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+ </a:t>
            </a:r>
            <a:r>
              <a:rPr lang="en-US" altLang="zh-CN" sz="2800" b="1">
                <a:solidFill>
                  <a:srgbClr val="000080"/>
                </a:solidFill>
              </a:rPr>
              <a:t>2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(2)</a:t>
            </a: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+ </a:t>
            </a:r>
            <a:r>
              <a:rPr lang="en-US" altLang="zh-CN" sz="2800" b="1">
                <a:solidFill>
                  <a:srgbClr val="000080"/>
                </a:solidFill>
              </a:rPr>
              <a:t>2</a:t>
            </a:r>
            <a:r>
              <a:rPr lang="en-US" altLang="zh-CN" sz="2800" b="1" i="1">
                <a:solidFill>
                  <a:srgbClr val="000080"/>
                </a:solidFill>
              </a:rPr>
              <a:t>k</a:t>
            </a:r>
            <a:r>
              <a:rPr lang="en-US" altLang="zh-CN" sz="2800" b="1" baseline="30000">
                <a:solidFill>
                  <a:srgbClr val="800080"/>
                </a:solidFill>
              </a:rPr>
              <a:t>(3)</a:t>
            </a: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en-US" altLang="zh-CN" sz="2800" b="1" i="1">
                <a:solidFill>
                  <a:srgbClr val="000080"/>
                </a:solidFill>
              </a:rPr>
              <a:t>+ k</a:t>
            </a:r>
            <a:r>
              <a:rPr lang="en-US" altLang="zh-CN" sz="2800" b="1" baseline="30000">
                <a:solidFill>
                  <a:srgbClr val="800080"/>
                </a:solidFill>
              </a:rPr>
              <a:t>(4)</a:t>
            </a:r>
            <a:r>
              <a:rPr lang="en-US" altLang="zh-CN" sz="2800" b="1">
                <a:solidFill>
                  <a:srgbClr val="000080"/>
                </a:solidFill>
              </a:rPr>
              <a:t>)/6</a:t>
            </a:r>
            <a:r>
              <a:rPr lang="en-US" altLang="zh-CN" sz="2800" b="1">
                <a:solidFill>
                  <a:srgbClr val="000000"/>
                </a:solidFill>
              </a:rPr>
              <a:t>. </a:t>
            </a:r>
          </a:p>
        </p:txBody>
      </p:sp>
      <p:sp>
        <p:nvSpPr>
          <p:cNvPr id="264207" name="Rectangle 15"/>
          <p:cNvSpPr>
            <a:spLocks noChangeArrowheads="1"/>
          </p:cNvSpPr>
          <p:nvPr/>
        </p:nvSpPr>
        <p:spPr bwMode="auto">
          <a:xfrm>
            <a:off x="304800" y="6110288"/>
            <a:ext cx="807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00"/>
                </a:solidFill>
              </a:rPr>
              <a:t>=1+(0.1+2*.105+2*.1055+.11055)/6=1.1053</a:t>
            </a:r>
          </a:p>
        </p:txBody>
      </p:sp>
      <p:sp>
        <p:nvSpPr>
          <p:cNvPr id="112654" name="Rectangle 2"/>
          <p:cNvSpPr>
            <a:spLocks noChangeArrowheads="1"/>
          </p:cNvSpPr>
          <p:nvPr/>
        </p:nvSpPr>
        <p:spPr bwMode="auto">
          <a:xfrm>
            <a:off x="73025" y="981075"/>
            <a:ext cx="8820150" cy="20161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4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4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4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4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201" grpId="0" autoUpdateAnimBg="0"/>
      <p:bldP spid="264202" grpId="0" autoUpdateAnimBg="0"/>
      <p:bldP spid="264204" grpId="0" autoUpdateAnimBg="0"/>
      <p:bldP spid="264205" grpId="0" autoUpdateAnimBg="0"/>
      <p:bldP spid="264206" grpId="0" autoUpdateAnimBg="0"/>
      <p:bldP spid="264207" grpId="0" autoUpdateAnimBg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66" name="Object 5"/>
          <p:cNvGraphicFramePr>
            <a:graphicFrameLocks noChangeAspect="1"/>
          </p:cNvGraphicFramePr>
          <p:nvPr/>
        </p:nvGraphicFramePr>
        <p:xfrm>
          <a:off x="4716463" y="1341438"/>
          <a:ext cx="4032250" cy="193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13" name="公式" r:id="rId3" imgW="2120900" imgH="1016000" progId="Equation.3">
                  <p:embed/>
                </p:oleObj>
              </mc:Choice>
              <mc:Fallback>
                <p:oleObj name="公式" r:id="rId3" imgW="2120900" imgH="1016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341438"/>
                        <a:ext cx="4032250" cy="193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7" name="Object 4"/>
          <p:cNvGraphicFramePr>
            <a:graphicFrameLocks noChangeAspect="1"/>
          </p:cNvGraphicFramePr>
          <p:nvPr/>
        </p:nvGraphicFramePr>
        <p:xfrm>
          <a:off x="2700338" y="4581525"/>
          <a:ext cx="5903912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14" name="公式" r:id="rId5" imgW="2679700" imgH="546100" progId="Equation.3">
                  <p:embed/>
                </p:oleObj>
              </mc:Choice>
              <mc:Fallback>
                <p:oleObj name="公式" r:id="rId5" imgW="2679700" imgH="546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581525"/>
                        <a:ext cx="5903912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68" name="Rectangle 6"/>
          <p:cNvSpPr>
            <a:spLocks noChangeArrowheads="1"/>
          </p:cNvSpPr>
          <p:nvPr/>
        </p:nvSpPr>
        <p:spPr bwMode="auto">
          <a:xfrm>
            <a:off x="611188" y="122238"/>
            <a:ext cx="6342062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用龙格</a:t>
            </a:r>
            <a:r>
              <a:rPr lang="en-US" altLang="zh-CN" sz="2800" b="1"/>
              <a:t>――</a:t>
            </a:r>
            <a:r>
              <a:rPr lang="zh-CN" altLang="en-US" sz="2800" b="1"/>
              <a:t>库塔法解初值问题</a:t>
            </a:r>
          </a:p>
          <a:p>
            <a:r>
              <a:rPr lang="zh-CN" altLang="en-US" sz="2800" b="1"/>
              <a:t>			</a:t>
            </a:r>
            <a:r>
              <a:rPr lang="en-US" altLang="zh-CN" sz="2800" b="1" i="1"/>
              <a:t>y’ = x</a:t>
            </a:r>
            <a:r>
              <a:rPr lang="en-US" altLang="zh-CN" sz="2800" b="1" baseline="30000"/>
              <a:t>2</a:t>
            </a:r>
            <a:r>
              <a:rPr lang="en-US" altLang="zh-CN" sz="2800" b="1"/>
              <a:t> </a:t>
            </a:r>
            <a:r>
              <a:rPr lang="en-US" altLang="zh-CN" sz="2800" b="1" i="1"/>
              <a:t>– y</a:t>
            </a:r>
            <a:r>
              <a:rPr lang="en-US" altLang="zh-CN" sz="2800" b="1"/>
              <a:t>  (0≤</a:t>
            </a:r>
            <a:r>
              <a:rPr lang="en-US" altLang="zh-CN" sz="2800" b="1" i="1"/>
              <a:t>x</a:t>
            </a:r>
            <a:r>
              <a:rPr lang="en-US" altLang="zh-CN" sz="2800" b="1"/>
              <a:t>≤1)    </a:t>
            </a:r>
            <a:r>
              <a:rPr lang="en-US" altLang="zh-CN" sz="2800" b="1" i="1"/>
              <a:t>y</a:t>
            </a:r>
            <a:r>
              <a:rPr lang="en-US" altLang="zh-CN" sz="2800" b="1"/>
              <a:t>(0) = 1					</a:t>
            </a:r>
          </a:p>
          <a:p>
            <a:r>
              <a:rPr lang="en-US" altLang="zh-CN" sz="2800" b="1"/>
              <a:t>	</a:t>
            </a:r>
            <a:r>
              <a:rPr lang="zh-CN" altLang="en-US" sz="2800" b="1"/>
              <a:t>解 ：   取</a:t>
            </a:r>
            <a:r>
              <a:rPr lang="zh-CN" altLang="en-US" sz="2800" b="1" i="1"/>
              <a:t> </a:t>
            </a:r>
            <a:r>
              <a:rPr lang="en-US" altLang="zh-CN" sz="2800" b="1" i="1"/>
              <a:t>h</a:t>
            </a:r>
            <a:r>
              <a:rPr lang="en-US" altLang="zh-CN" sz="2800" b="1"/>
              <a:t> = 0.1</a:t>
            </a:r>
            <a:r>
              <a:rPr lang="zh-CN" altLang="en-US" sz="2800" b="1"/>
              <a:t>，			</a:t>
            </a:r>
          </a:p>
        </p:txBody>
      </p:sp>
      <p:sp>
        <p:nvSpPr>
          <p:cNvPr id="113669" name="Rectangle 7"/>
          <p:cNvSpPr>
            <a:spLocks noChangeArrowheads="1"/>
          </p:cNvSpPr>
          <p:nvPr/>
        </p:nvSpPr>
        <p:spPr bwMode="auto">
          <a:xfrm>
            <a:off x="179388" y="3500438"/>
            <a:ext cx="8650287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把初始条件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0</a:t>
            </a:r>
            <a:r>
              <a:rPr lang="en-US" altLang="zh-CN" sz="2800" b="1"/>
              <a:t> = 0</a:t>
            </a:r>
            <a:r>
              <a:rPr lang="zh-CN" altLang="en-US" sz="2800" b="1"/>
              <a:t>，</a:t>
            </a:r>
            <a:r>
              <a:rPr lang="en-US" altLang="zh-CN" sz="2800" b="1" i="1"/>
              <a:t>y</a:t>
            </a:r>
            <a:r>
              <a:rPr lang="en-US" altLang="zh-CN" sz="2800" b="1" baseline="-30000"/>
              <a:t>0</a:t>
            </a:r>
            <a:r>
              <a:rPr lang="en-US" altLang="zh-CN" sz="2800" b="1"/>
              <a:t> = 1</a:t>
            </a:r>
            <a:r>
              <a:rPr lang="zh-CN" altLang="en-US" sz="2800" b="1"/>
              <a:t>，代入</a:t>
            </a:r>
            <a:r>
              <a:rPr lang="en-US" altLang="zh-CN" sz="2800" b="1"/>
              <a:t>,</a:t>
            </a:r>
            <a:r>
              <a:rPr lang="zh-CN" altLang="en-US" sz="2800" b="1"/>
              <a:t>得</a:t>
            </a:r>
            <a:r>
              <a:rPr lang="en-US" altLang="zh-CN" sz="2800" b="1" i="1"/>
              <a:t>k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 = -1</a:t>
            </a:r>
            <a:r>
              <a:rPr lang="zh-CN" altLang="en-US" sz="2800" b="1"/>
              <a:t>，</a:t>
            </a:r>
            <a:r>
              <a:rPr lang="en-US" altLang="zh-CN" sz="2800" b="1" i="1"/>
              <a:t>k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 = -0.9475</a:t>
            </a:r>
            <a:r>
              <a:rPr lang="zh-CN" altLang="en-US" sz="2800" b="1"/>
              <a:t>，</a:t>
            </a:r>
            <a:r>
              <a:rPr lang="en-US" altLang="zh-CN" sz="2800" b="1" i="1"/>
              <a:t>k</a:t>
            </a:r>
            <a:r>
              <a:rPr lang="en-US" altLang="zh-CN" sz="2800" b="1" baseline="-30000"/>
              <a:t>3</a:t>
            </a:r>
            <a:r>
              <a:rPr lang="en-US" altLang="zh-CN" sz="2800" b="1"/>
              <a:t> = -0.9501</a:t>
            </a:r>
            <a:r>
              <a:rPr lang="zh-CN" altLang="en-US" sz="2800" b="1"/>
              <a:t>，</a:t>
            </a:r>
            <a:r>
              <a:rPr lang="en-US" altLang="zh-CN" sz="2800" b="1" i="1"/>
              <a:t>k</a:t>
            </a:r>
            <a:r>
              <a:rPr lang="en-US" altLang="zh-CN" sz="2800" b="1" baseline="-30000"/>
              <a:t>4</a:t>
            </a:r>
            <a:r>
              <a:rPr lang="en-US" altLang="zh-CN" sz="2800" b="1"/>
              <a:t> = 0.8950</a:t>
            </a:r>
            <a:r>
              <a:rPr lang="zh-CN" altLang="en-US" sz="2800" b="1"/>
              <a:t>，将这些</a:t>
            </a:r>
            <a:r>
              <a:rPr lang="en-US" altLang="zh-CN" sz="2800" b="1" i="1"/>
              <a:t>k</a:t>
            </a:r>
            <a:r>
              <a:rPr lang="zh-CN" altLang="en-US" sz="2800" b="1"/>
              <a:t>值代（</a:t>
            </a:r>
            <a:r>
              <a:rPr lang="en-US" altLang="zh-CN" sz="2800" b="1"/>
              <a:t>9.22</a:t>
            </a:r>
            <a:r>
              <a:rPr lang="zh-CN" altLang="en-US" sz="2800" b="1"/>
              <a:t>），得		</a:t>
            </a:r>
          </a:p>
        </p:txBody>
      </p:sp>
      <p:sp>
        <p:nvSpPr>
          <p:cNvPr id="113670" name="Rectangle 8"/>
          <p:cNvSpPr>
            <a:spLocks noChangeArrowheads="1"/>
          </p:cNvSpPr>
          <p:nvPr/>
        </p:nvSpPr>
        <p:spPr bwMode="auto">
          <a:xfrm>
            <a:off x="323850" y="6092825"/>
            <a:ext cx="7380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重复上述步骤可算出</a:t>
            </a:r>
            <a:r>
              <a:rPr lang="en-US" altLang="zh-CN" sz="2800" b="1" i="1"/>
              <a:t>y</a:t>
            </a:r>
            <a:r>
              <a:rPr lang="en-US" altLang="zh-CN" sz="2800" b="1" baseline="-30000"/>
              <a:t>2</a:t>
            </a:r>
            <a:r>
              <a:rPr lang="zh-CN" altLang="en-US" sz="2800" b="1"/>
              <a:t>，</a:t>
            </a:r>
            <a:r>
              <a:rPr lang="en-US" altLang="zh-CN" sz="2800" b="1" i="1"/>
              <a:t>y</a:t>
            </a:r>
            <a:r>
              <a:rPr lang="en-US" altLang="zh-CN" sz="2800" b="1" baseline="-30000"/>
              <a:t>3</a:t>
            </a:r>
            <a:r>
              <a:rPr lang="zh-CN" altLang="en-US" sz="2800" b="1"/>
              <a:t>，</a:t>
            </a:r>
            <a:r>
              <a:rPr lang="en-US" altLang="zh-CN" sz="2800" b="1"/>
              <a:t>…</a:t>
            </a:r>
            <a:r>
              <a:rPr lang="zh-CN" altLang="en-US" sz="2800" b="1"/>
              <a:t>，</a:t>
            </a:r>
            <a:r>
              <a:rPr lang="en-US" altLang="zh-CN" sz="2800" b="1" i="1"/>
              <a:t>y</a:t>
            </a:r>
            <a:r>
              <a:rPr lang="en-US" altLang="zh-CN" sz="2800" b="1" baseline="-30000"/>
              <a:t>10</a:t>
            </a:r>
            <a:r>
              <a:rPr lang="zh-CN" altLang="en-US" sz="2800" b="1"/>
              <a:t>等。</a:t>
            </a:r>
          </a:p>
        </p:txBody>
      </p:sp>
    </p:spTree>
  </p:cSld>
  <p:clrMapOvr>
    <a:masterClrMapping/>
  </p:clrMapOvr>
  <p:transition spd="med">
    <p:pull dir="r"/>
  </p:transition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9680</TotalTime>
  <Words>4349</Words>
  <Application>Microsoft Office PowerPoint</Application>
  <PresentationFormat>全屏显示(4:3)</PresentationFormat>
  <Paragraphs>376</Paragraphs>
  <Slides>110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110</vt:i4>
      </vt:variant>
    </vt:vector>
  </HeadingPairs>
  <TitlesOfParts>
    <vt:vector size="126" baseType="lpstr">
      <vt:lpstr>CMMI12</vt:lpstr>
      <vt:lpstr>CMR12</vt:lpstr>
      <vt:lpstr>CMTI12</vt:lpstr>
      <vt:lpstr>仿宋_GB2312</vt:lpstr>
      <vt:lpstr>黑体</vt:lpstr>
      <vt:lpstr>楷体_GB2312</vt:lpstr>
      <vt:lpstr>宋体</vt:lpstr>
      <vt:lpstr>Arial</vt:lpstr>
      <vt:lpstr>Calibri</vt:lpstr>
      <vt:lpstr>Symbol</vt:lpstr>
      <vt:lpstr>Times New Roman</vt:lpstr>
      <vt:lpstr>默认设计模板</vt:lpstr>
      <vt:lpstr>公式</vt:lpstr>
      <vt:lpstr>Equation.3</vt:lpstr>
      <vt:lpstr>Equation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龙贝格公式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apple</cp:lastModifiedBy>
  <cp:revision>295</cp:revision>
  <dcterms:created xsi:type="dcterms:W3CDTF">2004-11-03T12:57:04Z</dcterms:created>
  <dcterms:modified xsi:type="dcterms:W3CDTF">2022-05-03T04:16:46Z</dcterms:modified>
</cp:coreProperties>
</file>