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4"/>
  </p:notesMasterIdLst>
  <p:sldIdLst>
    <p:sldId id="261" r:id="rId2"/>
    <p:sldId id="284" r:id="rId3"/>
    <p:sldId id="285" r:id="rId4"/>
    <p:sldId id="286" r:id="rId5"/>
    <p:sldId id="345" r:id="rId6"/>
    <p:sldId id="319" r:id="rId7"/>
    <p:sldId id="346" r:id="rId8"/>
    <p:sldId id="347" r:id="rId9"/>
    <p:sldId id="287" r:id="rId10"/>
    <p:sldId id="341" r:id="rId11"/>
    <p:sldId id="342" r:id="rId12"/>
    <p:sldId id="288" r:id="rId13"/>
    <p:sldId id="289" r:id="rId14"/>
    <p:sldId id="343" r:id="rId15"/>
    <p:sldId id="344" r:id="rId16"/>
    <p:sldId id="307" r:id="rId17"/>
    <p:sldId id="340" r:id="rId18"/>
    <p:sldId id="291" r:id="rId19"/>
    <p:sldId id="290" r:id="rId20"/>
    <p:sldId id="292" r:id="rId21"/>
    <p:sldId id="303" r:id="rId22"/>
    <p:sldId id="294" r:id="rId23"/>
    <p:sldId id="295" r:id="rId24"/>
    <p:sldId id="296" r:id="rId25"/>
    <p:sldId id="297" r:id="rId26"/>
    <p:sldId id="298" r:id="rId27"/>
    <p:sldId id="299" r:id="rId28"/>
    <p:sldId id="304" r:id="rId29"/>
    <p:sldId id="318" r:id="rId30"/>
    <p:sldId id="305" r:id="rId31"/>
    <p:sldId id="348" r:id="rId32"/>
    <p:sldId id="323" r:id="rId33"/>
    <p:sldId id="324" r:id="rId34"/>
    <p:sldId id="349" r:id="rId35"/>
    <p:sldId id="322" r:id="rId36"/>
    <p:sldId id="326" r:id="rId37"/>
    <p:sldId id="327" r:id="rId38"/>
    <p:sldId id="328" r:id="rId39"/>
    <p:sldId id="351" r:id="rId40"/>
    <p:sldId id="308" r:id="rId41"/>
    <p:sldId id="329" r:id="rId42"/>
    <p:sldId id="309" r:id="rId43"/>
    <p:sldId id="301" r:id="rId44"/>
    <p:sldId id="321" r:id="rId45"/>
    <p:sldId id="320" r:id="rId46"/>
    <p:sldId id="310" r:id="rId47"/>
    <p:sldId id="330" r:id="rId48"/>
    <p:sldId id="331" r:id="rId49"/>
    <p:sldId id="332" r:id="rId50"/>
    <p:sldId id="333" r:id="rId51"/>
    <p:sldId id="311" r:id="rId52"/>
    <p:sldId id="312" r:id="rId53"/>
    <p:sldId id="334" r:id="rId54"/>
    <p:sldId id="317" r:id="rId55"/>
    <p:sldId id="268" r:id="rId56"/>
    <p:sldId id="278" r:id="rId57"/>
    <p:sldId id="335" r:id="rId58"/>
    <p:sldId id="313" r:id="rId59"/>
    <p:sldId id="338" r:id="rId60"/>
    <p:sldId id="339" r:id="rId61"/>
    <p:sldId id="337" r:id="rId62"/>
    <p:sldId id="350" r:id="rId63"/>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04"/>
    <p:restoredTop sz="94904"/>
  </p:normalViewPr>
  <p:slideViewPr>
    <p:cSldViewPr snapToGrid="0" snapToObjects="1">
      <p:cViewPr>
        <p:scale>
          <a:sx n="88" d="100"/>
          <a:sy n="88" d="100"/>
        </p:scale>
        <p:origin x="1472" y="8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336C3A-26E9-0842-8ACE-815570F97C23}" type="datetimeFigureOut">
              <a:rPr lang="en-CN" smtClean="0"/>
              <a:t>2023/3/22</a:t>
            </a:fld>
            <a:endParaRPr lang="en-C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A14C56-86C5-E44B-9B99-1C78C67AEF37}" type="slidenum">
              <a:rPr lang="en-CN" smtClean="0"/>
              <a:t>‹#›</a:t>
            </a:fld>
            <a:endParaRPr lang="en-CN"/>
          </a:p>
        </p:txBody>
      </p:sp>
    </p:spTree>
    <p:extLst>
      <p:ext uri="{BB962C8B-B14F-4D97-AF65-F5344CB8AC3E}">
        <p14:creationId xmlns:p14="http://schemas.microsoft.com/office/powerpoint/2010/main" val="1423107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9AA14C56-86C5-E44B-9B99-1C78C67AEF37}" type="slidenum">
              <a:rPr lang="en-CN" smtClean="0"/>
              <a:t>14</a:t>
            </a:fld>
            <a:endParaRPr lang="en-CN"/>
          </a:p>
        </p:txBody>
      </p:sp>
    </p:spTree>
    <p:extLst>
      <p:ext uri="{BB962C8B-B14F-4D97-AF65-F5344CB8AC3E}">
        <p14:creationId xmlns:p14="http://schemas.microsoft.com/office/powerpoint/2010/main" val="1217472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9AA14C56-86C5-E44B-9B99-1C78C67AEF37}" type="slidenum">
              <a:rPr lang="en-CN" smtClean="0"/>
              <a:t>15</a:t>
            </a:fld>
            <a:endParaRPr lang="en-CN"/>
          </a:p>
        </p:txBody>
      </p:sp>
    </p:spTree>
    <p:extLst>
      <p:ext uri="{BB962C8B-B14F-4D97-AF65-F5344CB8AC3E}">
        <p14:creationId xmlns:p14="http://schemas.microsoft.com/office/powerpoint/2010/main" val="36415962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9AA14C56-86C5-E44B-9B99-1C78C67AEF37}" type="slidenum">
              <a:rPr lang="en-CN" smtClean="0"/>
              <a:t>39</a:t>
            </a:fld>
            <a:endParaRPr lang="en-CN"/>
          </a:p>
        </p:txBody>
      </p:sp>
    </p:spTree>
    <p:extLst>
      <p:ext uri="{BB962C8B-B14F-4D97-AF65-F5344CB8AC3E}">
        <p14:creationId xmlns:p14="http://schemas.microsoft.com/office/powerpoint/2010/main" val="37454616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9AA14C56-86C5-E44B-9B99-1C78C67AEF37}" type="slidenum">
              <a:rPr lang="en-CN" smtClean="0"/>
              <a:t>40</a:t>
            </a:fld>
            <a:endParaRPr lang="en-CN"/>
          </a:p>
        </p:txBody>
      </p:sp>
    </p:spTree>
    <p:extLst>
      <p:ext uri="{BB962C8B-B14F-4D97-AF65-F5344CB8AC3E}">
        <p14:creationId xmlns:p14="http://schemas.microsoft.com/office/powerpoint/2010/main" val="336784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FD7C1-D8EB-D547-BCEE-EC505565F5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N"/>
          </a:p>
        </p:txBody>
      </p:sp>
      <p:sp>
        <p:nvSpPr>
          <p:cNvPr id="3" name="Subtitle 2">
            <a:extLst>
              <a:ext uri="{FF2B5EF4-FFF2-40B4-BE49-F238E27FC236}">
                <a16:creationId xmlns:a16="http://schemas.microsoft.com/office/drawing/2014/main" id="{2089B034-FF72-0842-A5AB-84F0A71076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4" name="Date Placeholder 3">
            <a:extLst>
              <a:ext uri="{FF2B5EF4-FFF2-40B4-BE49-F238E27FC236}">
                <a16:creationId xmlns:a16="http://schemas.microsoft.com/office/drawing/2014/main" id="{3FD5C968-918F-8641-AE02-594B5224B66F}"/>
              </a:ext>
            </a:extLst>
          </p:cNvPr>
          <p:cNvSpPr>
            <a:spLocks noGrp="1"/>
          </p:cNvSpPr>
          <p:nvPr>
            <p:ph type="dt" sz="half" idx="10"/>
          </p:nvPr>
        </p:nvSpPr>
        <p:spPr/>
        <p:txBody>
          <a:bodyPr/>
          <a:lstStyle/>
          <a:p>
            <a:fld id="{E800E28F-22DF-9E47-9EC9-E68F8BF2B40B}" type="datetimeFigureOut">
              <a:rPr lang="en-CN" smtClean="0"/>
              <a:t>2023/3/22</a:t>
            </a:fld>
            <a:endParaRPr lang="en-CN"/>
          </a:p>
        </p:txBody>
      </p:sp>
      <p:sp>
        <p:nvSpPr>
          <p:cNvPr id="5" name="Footer Placeholder 4">
            <a:extLst>
              <a:ext uri="{FF2B5EF4-FFF2-40B4-BE49-F238E27FC236}">
                <a16:creationId xmlns:a16="http://schemas.microsoft.com/office/drawing/2014/main" id="{3519C305-E85D-1548-A375-1DBDEDB5978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2873FDED-A1AE-D846-9147-0D1EE8B81396}"/>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54886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2013E-BDF0-8C4A-B4ED-0D321223FDC4}"/>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007ABE0F-0622-5C49-AEF9-031610282B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F8EF4ABA-C3F7-F04B-B87A-4A9D3D3BA1AF}"/>
              </a:ext>
            </a:extLst>
          </p:cNvPr>
          <p:cNvSpPr>
            <a:spLocks noGrp="1"/>
          </p:cNvSpPr>
          <p:nvPr>
            <p:ph type="dt" sz="half" idx="10"/>
          </p:nvPr>
        </p:nvSpPr>
        <p:spPr/>
        <p:txBody>
          <a:bodyPr/>
          <a:lstStyle/>
          <a:p>
            <a:fld id="{E800E28F-22DF-9E47-9EC9-E68F8BF2B40B}" type="datetimeFigureOut">
              <a:rPr lang="en-CN" smtClean="0"/>
              <a:t>2023/3/22</a:t>
            </a:fld>
            <a:endParaRPr lang="en-CN"/>
          </a:p>
        </p:txBody>
      </p:sp>
      <p:sp>
        <p:nvSpPr>
          <p:cNvPr id="5" name="Footer Placeholder 4">
            <a:extLst>
              <a:ext uri="{FF2B5EF4-FFF2-40B4-BE49-F238E27FC236}">
                <a16:creationId xmlns:a16="http://schemas.microsoft.com/office/drawing/2014/main" id="{FD28897E-B07B-B441-BDAF-727D0E889B1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3FA11B97-AE03-0E47-93A0-D14C3D946881}"/>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43825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83D1F-C55B-2F42-AE7E-78E4DC54AD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86FFFBC5-80CC-8C45-9404-C9556920AE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B78CD9-0063-224A-90B2-5B178A6FB8BD}"/>
              </a:ext>
            </a:extLst>
          </p:cNvPr>
          <p:cNvSpPr>
            <a:spLocks noGrp="1"/>
          </p:cNvSpPr>
          <p:nvPr>
            <p:ph type="dt" sz="half" idx="10"/>
          </p:nvPr>
        </p:nvSpPr>
        <p:spPr/>
        <p:txBody>
          <a:bodyPr/>
          <a:lstStyle/>
          <a:p>
            <a:fld id="{E800E28F-22DF-9E47-9EC9-E68F8BF2B40B}" type="datetimeFigureOut">
              <a:rPr lang="en-CN" smtClean="0"/>
              <a:t>2023/3/22</a:t>
            </a:fld>
            <a:endParaRPr lang="en-CN"/>
          </a:p>
        </p:txBody>
      </p:sp>
      <p:sp>
        <p:nvSpPr>
          <p:cNvPr id="5" name="Footer Placeholder 4">
            <a:extLst>
              <a:ext uri="{FF2B5EF4-FFF2-40B4-BE49-F238E27FC236}">
                <a16:creationId xmlns:a16="http://schemas.microsoft.com/office/drawing/2014/main" id="{64A6CE81-9F37-BF4C-BDF3-A9FBC99E240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AF3B8F5E-2051-1745-8C26-13E510972A27}"/>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2648670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95BE8-2906-8E4F-AF10-6C859962C87A}"/>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65877BC1-205D-ED44-902E-6DC52E37DB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86DCF4BC-B5D9-7A46-9CA0-C1833531EB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729A32F2-DC1B-494A-8AB9-039BCA541EDF}"/>
              </a:ext>
            </a:extLst>
          </p:cNvPr>
          <p:cNvSpPr>
            <a:spLocks noGrp="1"/>
          </p:cNvSpPr>
          <p:nvPr>
            <p:ph type="dt" sz="half" idx="10"/>
          </p:nvPr>
        </p:nvSpPr>
        <p:spPr/>
        <p:txBody>
          <a:bodyPr/>
          <a:lstStyle/>
          <a:p>
            <a:fld id="{E800E28F-22DF-9E47-9EC9-E68F8BF2B40B}" type="datetimeFigureOut">
              <a:rPr lang="en-CN" smtClean="0"/>
              <a:t>2023/3/22</a:t>
            </a:fld>
            <a:endParaRPr lang="en-CN"/>
          </a:p>
        </p:txBody>
      </p:sp>
      <p:sp>
        <p:nvSpPr>
          <p:cNvPr id="6" name="Footer Placeholder 5">
            <a:extLst>
              <a:ext uri="{FF2B5EF4-FFF2-40B4-BE49-F238E27FC236}">
                <a16:creationId xmlns:a16="http://schemas.microsoft.com/office/drawing/2014/main" id="{1FC77452-A3E3-4443-92ED-FF9D858C7417}"/>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D6CB1547-4E3B-B44B-81F0-9E977B3EF147}"/>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816650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E04FC-EB95-6042-A824-3928DD90D352}"/>
              </a:ext>
            </a:extLst>
          </p:cNvPr>
          <p:cNvSpPr>
            <a:spLocks noGrp="1"/>
          </p:cNvSpPr>
          <p:nvPr>
            <p:ph type="title"/>
          </p:nvPr>
        </p:nvSpPr>
        <p:spPr>
          <a:xfrm>
            <a:off x="839788" y="365125"/>
            <a:ext cx="10515600" cy="1325563"/>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F8826F3F-BBDF-4748-B28F-F8C02C1F26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BC1051-699C-4F4F-A964-DE4CCEF3BE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Text Placeholder 4">
            <a:extLst>
              <a:ext uri="{FF2B5EF4-FFF2-40B4-BE49-F238E27FC236}">
                <a16:creationId xmlns:a16="http://schemas.microsoft.com/office/drawing/2014/main" id="{A05D3799-BF1A-B544-92F3-A668C8479A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7BDBCE-CA7F-5143-91B1-42C71E89D4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7" name="Date Placeholder 6">
            <a:extLst>
              <a:ext uri="{FF2B5EF4-FFF2-40B4-BE49-F238E27FC236}">
                <a16:creationId xmlns:a16="http://schemas.microsoft.com/office/drawing/2014/main" id="{A9D47ACE-B299-B447-AB9F-A7E598DB00BB}"/>
              </a:ext>
            </a:extLst>
          </p:cNvPr>
          <p:cNvSpPr>
            <a:spLocks noGrp="1"/>
          </p:cNvSpPr>
          <p:nvPr>
            <p:ph type="dt" sz="half" idx="10"/>
          </p:nvPr>
        </p:nvSpPr>
        <p:spPr/>
        <p:txBody>
          <a:bodyPr/>
          <a:lstStyle/>
          <a:p>
            <a:fld id="{E800E28F-22DF-9E47-9EC9-E68F8BF2B40B}" type="datetimeFigureOut">
              <a:rPr lang="en-CN" smtClean="0"/>
              <a:t>2023/3/22</a:t>
            </a:fld>
            <a:endParaRPr lang="en-CN"/>
          </a:p>
        </p:txBody>
      </p:sp>
      <p:sp>
        <p:nvSpPr>
          <p:cNvPr id="8" name="Footer Placeholder 7">
            <a:extLst>
              <a:ext uri="{FF2B5EF4-FFF2-40B4-BE49-F238E27FC236}">
                <a16:creationId xmlns:a16="http://schemas.microsoft.com/office/drawing/2014/main" id="{E1CA539D-7612-E848-999B-9D151DFE0F4E}"/>
              </a:ext>
            </a:extLst>
          </p:cNvPr>
          <p:cNvSpPr>
            <a:spLocks noGrp="1"/>
          </p:cNvSpPr>
          <p:nvPr>
            <p:ph type="ftr" sz="quarter" idx="11"/>
          </p:nvPr>
        </p:nvSpPr>
        <p:spPr/>
        <p:txBody>
          <a:bodyPr/>
          <a:lstStyle/>
          <a:p>
            <a:endParaRPr lang="en-CN"/>
          </a:p>
        </p:txBody>
      </p:sp>
      <p:sp>
        <p:nvSpPr>
          <p:cNvPr id="9" name="Slide Number Placeholder 8">
            <a:extLst>
              <a:ext uri="{FF2B5EF4-FFF2-40B4-BE49-F238E27FC236}">
                <a16:creationId xmlns:a16="http://schemas.microsoft.com/office/drawing/2014/main" id="{91C80D14-ED83-5545-8AE2-4469C82031B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860530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6444D-3A68-EB45-9015-DA6329C909CA}"/>
              </a:ext>
            </a:extLst>
          </p:cNvPr>
          <p:cNvSpPr>
            <a:spLocks noGrp="1"/>
          </p:cNvSpPr>
          <p:nvPr>
            <p:ph type="title"/>
          </p:nvPr>
        </p:nvSpPr>
        <p:spPr/>
        <p:txBody>
          <a:bodyPr/>
          <a:lstStyle/>
          <a:p>
            <a:r>
              <a:rPr lang="en-US"/>
              <a:t>Click to edit Master title style</a:t>
            </a:r>
            <a:endParaRPr lang="en-CN"/>
          </a:p>
        </p:txBody>
      </p:sp>
      <p:sp>
        <p:nvSpPr>
          <p:cNvPr id="3" name="Date Placeholder 2">
            <a:extLst>
              <a:ext uri="{FF2B5EF4-FFF2-40B4-BE49-F238E27FC236}">
                <a16:creationId xmlns:a16="http://schemas.microsoft.com/office/drawing/2014/main" id="{7EFBB93C-F3ED-3F47-B452-7C28F2091105}"/>
              </a:ext>
            </a:extLst>
          </p:cNvPr>
          <p:cNvSpPr>
            <a:spLocks noGrp="1"/>
          </p:cNvSpPr>
          <p:nvPr>
            <p:ph type="dt" sz="half" idx="10"/>
          </p:nvPr>
        </p:nvSpPr>
        <p:spPr/>
        <p:txBody>
          <a:bodyPr/>
          <a:lstStyle/>
          <a:p>
            <a:fld id="{E800E28F-22DF-9E47-9EC9-E68F8BF2B40B}" type="datetimeFigureOut">
              <a:rPr lang="en-CN" smtClean="0"/>
              <a:t>2023/3/22</a:t>
            </a:fld>
            <a:endParaRPr lang="en-CN"/>
          </a:p>
        </p:txBody>
      </p:sp>
      <p:sp>
        <p:nvSpPr>
          <p:cNvPr id="4" name="Footer Placeholder 3">
            <a:extLst>
              <a:ext uri="{FF2B5EF4-FFF2-40B4-BE49-F238E27FC236}">
                <a16:creationId xmlns:a16="http://schemas.microsoft.com/office/drawing/2014/main" id="{C90FAABE-D364-A94B-BEC5-9C8F70BD57F2}"/>
              </a:ext>
            </a:extLst>
          </p:cNvPr>
          <p:cNvSpPr>
            <a:spLocks noGrp="1"/>
          </p:cNvSpPr>
          <p:nvPr>
            <p:ph type="ftr" sz="quarter" idx="11"/>
          </p:nvPr>
        </p:nvSpPr>
        <p:spPr/>
        <p:txBody>
          <a:bodyPr/>
          <a:lstStyle/>
          <a:p>
            <a:endParaRPr lang="en-CN"/>
          </a:p>
        </p:txBody>
      </p:sp>
      <p:sp>
        <p:nvSpPr>
          <p:cNvPr id="5" name="Slide Number Placeholder 4">
            <a:extLst>
              <a:ext uri="{FF2B5EF4-FFF2-40B4-BE49-F238E27FC236}">
                <a16:creationId xmlns:a16="http://schemas.microsoft.com/office/drawing/2014/main" id="{7DA6D1B4-DA1C-F240-90A2-84B2A717EF7E}"/>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18744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D0083D-F5D5-C543-B61F-4094F539E6A7}"/>
              </a:ext>
            </a:extLst>
          </p:cNvPr>
          <p:cNvSpPr>
            <a:spLocks noGrp="1"/>
          </p:cNvSpPr>
          <p:nvPr>
            <p:ph type="dt" sz="half" idx="10"/>
          </p:nvPr>
        </p:nvSpPr>
        <p:spPr/>
        <p:txBody>
          <a:bodyPr/>
          <a:lstStyle/>
          <a:p>
            <a:fld id="{E800E28F-22DF-9E47-9EC9-E68F8BF2B40B}" type="datetimeFigureOut">
              <a:rPr lang="en-CN" smtClean="0"/>
              <a:t>2023/3/22</a:t>
            </a:fld>
            <a:endParaRPr lang="en-CN"/>
          </a:p>
        </p:txBody>
      </p:sp>
      <p:sp>
        <p:nvSpPr>
          <p:cNvPr id="3" name="Footer Placeholder 2">
            <a:extLst>
              <a:ext uri="{FF2B5EF4-FFF2-40B4-BE49-F238E27FC236}">
                <a16:creationId xmlns:a16="http://schemas.microsoft.com/office/drawing/2014/main" id="{E0DDC8BC-428B-BB4D-8AEE-C6B272C6798C}"/>
              </a:ext>
            </a:extLst>
          </p:cNvPr>
          <p:cNvSpPr>
            <a:spLocks noGrp="1"/>
          </p:cNvSpPr>
          <p:nvPr>
            <p:ph type="ftr" sz="quarter" idx="11"/>
          </p:nvPr>
        </p:nvSpPr>
        <p:spPr/>
        <p:txBody>
          <a:bodyPr/>
          <a:lstStyle/>
          <a:p>
            <a:endParaRPr lang="en-CN"/>
          </a:p>
        </p:txBody>
      </p:sp>
      <p:sp>
        <p:nvSpPr>
          <p:cNvPr id="4" name="Slide Number Placeholder 3">
            <a:extLst>
              <a:ext uri="{FF2B5EF4-FFF2-40B4-BE49-F238E27FC236}">
                <a16:creationId xmlns:a16="http://schemas.microsoft.com/office/drawing/2014/main" id="{378B49BB-14D1-1849-B437-37A7A6070E9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147709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D422E-2ECF-6E40-B192-F3102DB3C2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Content Placeholder 2">
            <a:extLst>
              <a:ext uri="{FF2B5EF4-FFF2-40B4-BE49-F238E27FC236}">
                <a16:creationId xmlns:a16="http://schemas.microsoft.com/office/drawing/2014/main" id="{56070A34-B607-1742-A5C9-F66E9CB59C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Text Placeholder 3">
            <a:extLst>
              <a:ext uri="{FF2B5EF4-FFF2-40B4-BE49-F238E27FC236}">
                <a16:creationId xmlns:a16="http://schemas.microsoft.com/office/drawing/2014/main" id="{688185AD-9C29-CE46-8CE9-E6D8F6BB58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88B05E-F489-3841-AF6F-1A1FE3BB3F71}"/>
              </a:ext>
            </a:extLst>
          </p:cNvPr>
          <p:cNvSpPr>
            <a:spLocks noGrp="1"/>
          </p:cNvSpPr>
          <p:nvPr>
            <p:ph type="dt" sz="half" idx="10"/>
          </p:nvPr>
        </p:nvSpPr>
        <p:spPr/>
        <p:txBody>
          <a:bodyPr/>
          <a:lstStyle/>
          <a:p>
            <a:fld id="{E800E28F-22DF-9E47-9EC9-E68F8BF2B40B}" type="datetimeFigureOut">
              <a:rPr lang="en-CN" smtClean="0"/>
              <a:t>2023/3/22</a:t>
            </a:fld>
            <a:endParaRPr lang="en-CN"/>
          </a:p>
        </p:txBody>
      </p:sp>
      <p:sp>
        <p:nvSpPr>
          <p:cNvPr id="6" name="Footer Placeholder 5">
            <a:extLst>
              <a:ext uri="{FF2B5EF4-FFF2-40B4-BE49-F238E27FC236}">
                <a16:creationId xmlns:a16="http://schemas.microsoft.com/office/drawing/2014/main" id="{D5D58E87-9859-F14A-B389-187843C24D8E}"/>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F152D493-6FBF-EA46-8CFB-E11E167F3225}"/>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507294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53968-37CC-B647-9F46-44E9F86425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Picture Placeholder 2">
            <a:extLst>
              <a:ext uri="{FF2B5EF4-FFF2-40B4-BE49-F238E27FC236}">
                <a16:creationId xmlns:a16="http://schemas.microsoft.com/office/drawing/2014/main" id="{0F620B7A-6421-6346-BBFA-BD37AAC93C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N"/>
          </a:p>
        </p:txBody>
      </p:sp>
      <p:sp>
        <p:nvSpPr>
          <p:cNvPr id="4" name="Text Placeholder 3">
            <a:extLst>
              <a:ext uri="{FF2B5EF4-FFF2-40B4-BE49-F238E27FC236}">
                <a16:creationId xmlns:a16="http://schemas.microsoft.com/office/drawing/2014/main" id="{508ED188-FEB7-E74E-B65D-281002E7AA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4B8C2D-F1DB-C34A-AD60-DF4B2FE59B4C}"/>
              </a:ext>
            </a:extLst>
          </p:cNvPr>
          <p:cNvSpPr>
            <a:spLocks noGrp="1"/>
          </p:cNvSpPr>
          <p:nvPr>
            <p:ph type="dt" sz="half" idx="10"/>
          </p:nvPr>
        </p:nvSpPr>
        <p:spPr/>
        <p:txBody>
          <a:bodyPr/>
          <a:lstStyle/>
          <a:p>
            <a:fld id="{E800E28F-22DF-9E47-9EC9-E68F8BF2B40B}" type="datetimeFigureOut">
              <a:rPr lang="en-CN" smtClean="0"/>
              <a:t>2023/3/22</a:t>
            </a:fld>
            <a:endParaRPr lang="en-CN"/>
          </a:p>
        </p:txBody>
      </p:sp>
      <p:sp>
        <p:nvSpPr>
          <p:cNvPr id="6" name="Footer Placeholder 5">
            <a:extLst>
              <a:ext uri="{FF2B5EF4-FFF2-40B4-BE49-F238E27FC236}">
                <a16:creationId xmlns:a16="http://schemas.microsoft.com/office/drawing/2014/main" id="{2F1817A2-AEE3-244B-8185-A484A6B8C7D4}"/>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97410CD3-341B-C348-B1D4-069400F93D8A}"/>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238695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C41A4-A3DA-9C44-A87F-544863819FAD}"/>
              </a:ext>
            </a:extLst>
          </p:cNvPr>
          <p:cNvSpPr>
            <a:spLocks noGrp="1"/>
          </p:cNvSpPr>
          <p:nvPr>
            <p:ph type="title"/>
          </p:nvPr>
        </p:nvSpPr>
        <p:spPr/>
        <p:txBody>
          <a:bodyPr/>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00F37D03-3ABB-E94A-A564-7D516299FF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D225D3D3-9B3A-E34D-A7DB-07B8D9C07F2E}"/>
              </a:ext>
            </a:extLst>
          </p:cNvPr>
          <p:cNvSpPr>
            <a:spLocks noGrp="1"/>
          </p:cNvSpPr>
          <p:nvPr>
            <p:ph type="dt" sz="half" idx="10"/>
          </p:nvPr>
        </p:nvSpPr>
        <p:spPr/>
        <p:txBody>
          <a:bodyPr/>
          <a:lstStyle/>
          <a:p>
            <a:fld id="{E800E28F-22DF-9E47-9EC9-E68F8BF2B40B}" type="datetimeFigureOut">
              <a:rPr lang="en-CN" smtClean="0"/>
              <a:t>2023/3/22</a:t>
            </a:fld>
            <a:endParaRPr lang="en-CN"/>
          </a:p>
        </p:txBody>
      </p:sp>
      <p:sp>
        <p:nvSpPr>
          <p:cNvPr id="5" name="Footer Placeholder 4">
            <a:extLst>
              <a:ext uri="{FF2B5EF4-FFF2-40B4-BE49-F238E27FC236}">
                <a16:creationId xmlns:a16="http://schemas.microsoft.com/office/drawing/2014/main" id="{9951226C-2D9F-3E4D-8439-D1417E4DA26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915AA4E6-5819-4C43-8676-2EDC65D0B11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2077077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69D237-9FA6-7643-A46C-6BF452F3C3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B0F4148B-28D9-4E4F-98AA-281CE3B51E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F59114E8-0490-9844-A6E6-A76C29CB09BF}"/>
              </a:ext>
            </a:extLst>
          </p:cNvPr>
          <p:cNvSpPr>
            <a:spLocks noGrp="1"/>
          </p:cNvSpPr>
          <p:nvPr>
            <p:ph type="dt" sz="half" idx="10"/>
          </p:nvPr>
        </p:nvSpPr>
        <p:spPr/>
        <p:txBody>
          <a:bodyPr/>
          <a:lstStyle/>
          <a:p>
            <a:fld id="{E800E28F-22DF-9E47-9EC9-E68F8BF2B40B}" type="datetimeFigureOut">
              <a:rPr lang="en-CN" smtClean="0"/>
              <a:t>2023/3/22</a:t>
            </a:fld>
            <a:endParaRPr lang="en-CN"/>
          </a:p>
        </p:txBody>
      </p:sp>
      <p:sp>
        <p:nvSpPr>
          <p:cNvPr id="5" name="Footer Placeholder 4">
            <a:extLst>
              <a:ext uri="{FF2B5EF4-FFF2-40B4-BE49-F238E27FC236}">
                <a16:creationId xmlns:a16="http://schemas.microsoft.com/office/drawing/2014/main" id="{70A5F247-BB24-C14C-8BDC-3AEC6E2F44BC}"/>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9209EBDF-B685-F445-BD1C-7044BC30248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707622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7E8360-99FB-314F-8FFC-5DFE146448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N"/>
          </a:p>
        </p:txBody>
      </p:sp>
      <p:sp>
        <p:nvSpPr>
          <p:cNvPr id="3" name="Text Placeholder 2">
            <a:extLst>
              <a:ext uri="{FF2B5EF4-FFF2-40B4-BE49-F238E27FC236}">
                <a16:creationId xmlns:a16="http://schemas.microsoft.com/office/drawing/2014/main" id="{0FD170A0-1BBB-7549-88EE-B708486E0C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ED353904-8539-AE42-A677-9B45FCA67D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00E28F-22DF-9E47-9EC9-E68F8BF2B40B}" type="datetimeFigureOut">
              <a:rPr lang="en-CN" smtClean="0"/>
              <a:t>2023/3/22</a:t>
            </a:fld>
            <a:endParaRPr lang="en-CN"/>
          </a:p>
        </p:txBody>
      </p:sp>
      <p:sp>
        <p:nvSpPr>
          <p:cNvPr id="5" name="Footer Placeholder 4">
            <a:extLst>
              <a:ext uri="{FF2B5EF4-FFF2-40B4-BE49-F238E27FC236}">
                <a16:creationId xmlns:a16="http://schemas.microsoft.com/office/drawing/2014/main" id="{B3BDB817-6A9E-8D4B-93C6-69B4752E21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N"/>
          </a:p>
        </p:txBody>
      </p:sp>
      <p:sp>
        <p:nvSpPr>
          <p:cNvPr id="6" name="Slide Number Placeholder 5">
            <a:extLst>
              <a:ext uri="{FF2B5EF4-FFF2-40B4-BE49-F238E27FC236}">
                <a16:creationId xmlns:a16="http://schemas.microsoft.com/office/drawing/2014/main" id="{23920E11-ECD6-A240-8C4D-4AA249F37A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25E0B1-8A12-D049-82EE-CBBDFA3D597D}" type="slidenum">
              <a:rPr lang="en-CN" smtClean="0"/>
              <a:t>‹#›</a:t>
            </a:fld>
            <a:endParaRPr lang="en-CN"/>
          </a:p>
        </p:txBody>
      </p:sp>
    </p:spTree>
    <p:extLst>
      <p:ext uri="{BB962C8B-B14F-4D97-AF65-F5344CB8AC3E}">
        <p14:creationId xmlns:p14="http://schemas.microsoft.com/office/powerpoint/2010/main" val="527461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6"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31.png"/><Relationship Id="rId7" Type="http://schemas.openxmlformats.org/officeDocument/2006/relationships/image" Target="../media/image18.png"/><Relationship Id="rId2" Type="http://schemas.openxmlformats.org/officeDocument/2006/relationships/image" Target="../media/image121.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31.png"/><Relationship Id="rId7" Type="http://schemas.openxmlformats.org/officeDocument/2006/relationships/image" Target="../media/image19.jpeg"/><Relationship Id="rId2" Type="http://schemas.openxmlformats.org/officeDocument/2006/relationships/image" Target="../media/image121.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19.jpeg"/><Relationship Id="rId2" Type="http://schemas.openxmlformats.org/officeDocument/2006/relationships/image" Target="../media/image170.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01.png"/><Relationship Id="rId4" Type="http://schemas.openxmlformats.org/officeDocument/2006/relationships/image" Target="../media/image21.jpeg"/></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21.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190.png"/><Relationship Id="rId4" Type="http://schemas.openxmlformats.org/officeDocument/2006/relationships/image" Target="../media/image242.png"/></Relationships>
</file>

<file path=ppt/slides/_rels/slide17.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0.png"/><Relationship Id="rId7" Type="http://schemas.openxmlformats.org/officeDocument/2006/relationships/image" Target="../media/image34.png"/><Relationship Id="rId2" Type="http://schemas.openxmlformats.org/officeDocument/2006/relationships/image" Target="../media/image300.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hyperlink" Target="https://en.wikipedia.org/wiki/Legendre_transformation"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0.png"/><Relationship Id="rId1" Type="http://schemas.openxmlformats.org/officeDocument/2006/relationships/slideLayout" Target="../slideLayouts/slideLayout2.xml"/><Relationship Id="rId5" Type="http://schemas.openxmlformats.org/officeDocument/2006/relationships/image" Target="../media/image460.png"/><Relationship Id="rId4" Type="http://schemas.openxmlformats.org/officeDocument/2006/relationships/image" Target="../media/image450.png"/></Relationships>
</file>

<file path=ppt/slides/_rels/slide31.xml.rels><?xml version="1.0" encoding="UTF-8" standalone="yes"?>
<Relationships xmlns="http://schemas.openxmlformats.org/package/2006/relationships"><Relationship Id="rId3" Type="http://schemas.openxmlformats.org/officeDocument/2006/relationships/image" Target="../media/image130.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3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35.xml.rels><?xml version="1.0" encoding="UTF-8" standalone="yes"?>
<Relationships xmlns="http://schemas.openxmlformats.org/package/2006/relationships"><Relationship Id="rId3" Type="http://schemas.openxmlformats.org/officeDocument/2006/relationships/image" Target="../media/image290.png"/><Relationship Id="rId7" Type="http://schemas.openxmlformats.org/officeDocument/2006/relationships/image" Target="../media/image55.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01.png"/><Relationship Id="rId5" Type="http://schemas.openxmlformats.org/officeDocument/2006/relationships/image" Target="../media/image490.png"/><Relationship Id="rId4" Type="http://schemas.openxmlformats.org/officeDocument/2006/relationships/image" Target="../media/image54.png"/></Relationships>
</file>

<file path=ppt/slides/_rels/slide36.xml.rels><?xml version="1.0" encoding="UTF-8" standalone="yes"?>
<Relationships xmlns="http://schemas.openxmlformats.org/package/2006/relationships"><Relationship Id="rId3" Type="http://schemas.openxmlformats.org/officeDocument/2006/relationships/image" Target="../media/image540.png"/><Relationship Id="rId2" Type="http://schemas.openxmlformats.org/officeDocument/2006/relationships/image" Target="../media/image531.png"/><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0.png"/></Relationships>
</file>

<file path=ppt/slides/_rels/slide3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3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3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0.png"/></Relationships>
</file>

<file path=ppt/slides/_rels/slide42.xml.rels><?xml version="1.0" encoding="UTF-8" standalone="yes"?>
<Relationships xmlns="http://schemas.openxmlformats.org/package/2006/relationships"><Relationship Id="rId3" Type="http://schemas.openxmlformats.org/officeDocument/2006/relationships/image" Target="../media/image680.png"/><Relationship Id="rId2" Type="http://schemas.openxmlformats.org/officeDocument/2006/relationships/image" Target="../media/image69.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image" Target="../media/image70.jpeg"/><Relationship Id="rId1" Type="http://schemas.openxmlformats.org/officeDocument/2006/relationships/slideLayout" Target="../slideLayouts/slideLayout2.xml"/><Relationship Id="rId4" Type="http://schemas.openxmlformats.org/officeDocument/2006/relationships/image" Target="../media/image71.jpeg"/></Relationships>
</file>

<file path=ppt/slides/_rels/slide4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9.png"/><Relationship Id="rId7" Type="http://schemas.openxmlformats.org/officeDocument/2006/relationships/image" Target="../media/image82.png"/><Relationship Id="rId2"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810.png"/><Relationship Id="rId5" Type="http://schemas.openxmlformats.org/officeDocument/2006/relationships/image" Target="../media/image81.png"/><Relationship Id="rId4" Type="http://schemas.openxmlformats.org/officeDocument/2006/relationships/image" Target="../media/image80.png"/></Relationships>
</file>

<file path=ppt/slides/_rels/slide48.xml.rels><?xml version="1.0" encoding="UTF-8" standalone="yes"?>
<Relationships xmlns="http://schemas.openxmlformats.org/package/2006/relationships"><Relationship Id="rId3" Type="http://schemas.openxmlformats.org/officeDocument/2006/relationships/image" Target="../media/image84.png"/><Relationship Id="rId7" Type="http://schemas.openxmlformats.org/officeDocument/2006/relationships/image" Target="../media/image88.png"/><Relationship Id="rId2"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4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5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52.xml.rels><?xml version="1.0" encoding="UTF-8" standalone="yes"?>
<Relationships xmlns="http://schemas.openxmlformats.org/package/2006/relationships"><Relationship Id="rId2" Type="http://schemas.openxmlformats.org/officeDocument/2006/relationships/image" Target="../media/image42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54.xml.rels><?xml version="1.0" encoding="UTF-8" standalone="yes"?>
<Relationships xmlns="http://schemas.openxmlformats.org/package/2006/relationships"><Relationship Id="rId3" Type="http://schemas.openxmlformats.org/officeDocument/2006/relationships/image" Target="../media/image520.png"/><Relationship Id="rId2" Type="http://schemas.openxmlformats.org/officeDocument/2006/relationships/image" Target="../media/image510.png"/><Relationship Id="rId1" Type="http://schemas.openxmlformats.org/officeDocument/2006/relationships/slideLayout" Target="../slideLayouts/slideLayout2.xml"/><Relationship Id="rId6" Type="http://schemas.openxmlformats.org/officeDocument/2006/relationships/image" Target="../media/image580.png"/><Relationship Id="rId5" Type="http://schemas.openxmlformats.org/officeDocument/2006/relationships/image" Target="../media/image570.png"/><Relationship Id="rId4" Type="http://schemas.openxmlformats.org/officeDocument/2006/relationships/image" Target="../media/image100.png"/></Relationships>
</file>

<file path=ppt/slides/_rels/slide5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74.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4.png"/><Relationship Id="rId7" Type="http://schemas.openxmlformats.org/officeDocument/2006/relationships/image" Target="../media/image251.png"/><Relationship Id="rId2"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241.png"/><Relationship Id="rId5" Type="http://schemas.openxmlformats.org/officeDocument/2006/relationships/image" Target="../media/image230.png"/><Relationship Id="rId4" Type="http://schemas.openxmlformats.org/officeDocument/2006/relationships/image" Target="../media/image220.png"/></Relationships>
</file>

<file path=ppt/slides/_rels/slide57.xml.rels><?xml version="1.0" encoding="UTF-8" standalone="yes"?>
<Relationships xmlns="http://schemas.openxmlformats.org/package/2006/relationships"><Relationship Id="rId2" Type="http://schemas.openxmlformats.org/officeDocument/2006/relationships/image" Target="../media/image102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 Id="rId5" Type="http://schemas.openxmlformats.org/officeDocument/2006/relationships/image" Target="../media/image110.png"/><Relationship Id="rId4" Type="http://schemas.openxmlformats.org/officeDocument/2006/relationships/image" Target="../media/image76.png"/></Relationships>
</file>

<file path=ppt/slides/_rels/slide6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B4EF1E6A-93E9-E142-9419-9B435DBC58F6}"/>
              </a:ext>
            </a:extLst>
          </p:cNvPr>
          <p:cNvSpPr txBox="1">
            <a:spLocks/>
          </p:cNvSpPr>
          <p:nvPr/>
        </p:nvSpPr>
        <p:spPr>
          <a:xfrm>
            <a:off x="353025" y="1007013"/>
            <a:ext cx="5742975" cy="34818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CN" sz="4000" dirty="0">
                <a:latin typeface="FangSong" panose="02010609060101010101" pitchFamily="49" charset="-122"/>
                <a:ea typeface="FangSong" panose="02010609060101010101" pitchFamily="49" charset="-122"/>
              </a:rPr>
              <a:t>化学势一</a:t>
            </a:r>
          </a:p>
          <a:p>
            <a:pPr marL="342900" indent="-342900"/>
            <a:r>
              <a:rPr lang="en-CN" sz="4000" dirty="0">
                <a:latin typeface="FangSong" panose="02010609060101010101" pitchFamily="49" charset="-122"/>
                <a:ea typeface="FangSong" panose="02010609060101010101" pitchFamily="49" charset="-122"/>
              </a:rPr>
              <a:t>热力学关系和等式</a:t>
            </a:r>
          </a:p>
          <a:p>
            <a:pPr marL="342900" indent="-342900"/>
            <a:r>
              <a:rPr lang="en-CN" sz="4000" dirty="0">
                <a:latin typeface="FangSong" panose="02010609060101010101" pitchFamily="49" charset="-122"/>
                <a:ea typeface="FangSong" panose="02010609060101010101" pitchFamily="49" charset="-122"/>
              </a:rPr>
              <a:t>化学势二</a:t>
            </a:r>
          </a:p>
          <a:p>
            <a:pPr marL="342900" indent="-342900"/>
            <a:r>
              <a:rPr lang="en-CN" sz="4000" dirty="0">
                <a:latin typeface="FangSong" panose="02010609060101010101" pitchFamily="49" charset="-122"/>
                <a:ea typeface="FangSong" panose="02010609060101010101" pitchFamily="49" charset="-122"/>
              </a:rPr>
              <a:t>Gibbs</a:t>
            </a:r>
            <a:r>
              <a:rPr lang="zh-CN" altLang="en-US" sz="4000" dirty="0">
                <a:latin typeface="FangSong" panose="02010609060101010101" pitchFamily="49" charset="-122"/>
                <a:ea typeface="FangSong" panose="02010609060101010101" pitchFamily="49" charset="-122"/>
              </a:rPr>
              <a:t> </a:t>
            </a:r>
            <a:r>
              <a:rPr lang="en-US" altLang="zh-CN" sz="4000" dirty="0">
                <a:latin typeface="FangSong" panose="02010609060101010101" pitchFamily="49" charset="-122"/>
                <a:ea typeface="FangSong" panose="02010609060101010101" pitchFamily="49" charset="-122"/>
              </a:rPr>
              <a:t>Sum</a:t>
            </a:r>
            <a:endParaRPr lang="en-CN" sz="4000" dirty="0">
              <a:latin typeface="FangSong" panose="02010609060101010101" pitchFamily="49" charset="-122"/>
              <a:ea typeface="FangSong" panose="02010609060101010101" pitchFamily="49" charset="-122"/>
            </a:endParaRPr>
          </a:p>
        </p:txBody>
      </p:sp>
      <p:sp>
        <p:nvSpPr>
          <p:cNvPr id="8" name="Title 1">
            <a:extLst>
              <a:ext uri="{FF2B5EF4-FFF2-40B4-BE49-F238E27FC236}">
                <a16:creationId xmlns:a16="http://schemas.microsoft.com/office/drawing/2014/main" id="{6F6D7691-9579-8243-A6CF-AE72C6A9E7AF}"/>
              </a:ext>
            </a:extLst>
          </p:cNvPr>
          <p:cNvSpPr txBox="1">
            <a:spLocks/>
          </p:cNvSpPr>
          <p:nvPr/>
        </p:nvSpPr>
        <p:spPr>
          <a:xfrm>
            <a:off x="4222620" y="100400"/>
            <a:ext cx="4410741" cy="906613"/>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N" dirty="0">
                <a:latin typeface="FangSong" panose="02010609060101010101" pitchFamily="49" charset="-122"/>
                <a:ea typeface="FangSong" panose="02010609060101010101" pitchFamily="49" charset="-122"/>
              </a:rPr>
              <a:t>热物</a:t>
            </a:r>
            <a:r>
              <a:rPr lang="zh-CN" altLang="en-US" dirty="0">
                <a:latin typeface="FangSong" panose="02010609060101010101" pitchFamily="49" charset="-122"/>
                <a:ea typeface="FangSong" panose="02010609060101010101" pitchFamily="49" charset="-122"/>
              </a:rPr>
              <a:t>（第六、七周）</a:t>
            </a:r>
            <a:endParaRPr lang="en-CN" dirty="0">
              <a:latin typeface="FangSong" panose="02010609060101010101" pitchFamily="49" charset="-122"/>
              <a:ea typeface="FangSong" panose="02010609060101010101" pitchFamily="49" charset="-122"/>
            </a:endParaRPr>
          </a:p>
        </p:txBody>
      </p:sp>
      <p:pic>
        <p:nvPicPr>
          <p:cNvPr id="3" name="Picture 2">
            <a:extLst>
              <a:ext uri="{FF2B5EF4-FFF2-40B4-BE49-F238E27FC236}">
                <a16:creationId xmlns:a16="http://schemas.microsoft.com/office/drawing/2014/main" id="{B188562D-9C18-38BE-B2E1-D839F3E06DA3}"/>
              </a:ext>
            </a:extLst>
          </p:cNvPr>
          <p:cNvPicPr>
            <a:picLocks noChangeAspect="1"/>
          </p:cNvPicPr>
          <p:nvPr/>
        </p:nvPicPr>
        <p:blipFill>
          <a:blip r:embed="rId2"/>
          <a:stretch>
            <a:fillRect/>
          </a:stretch>
        </p:blipFill>
        <p:spPr>
          <a:xfrm>
            <a:off x="7097587" y="1007013"/>
            <a:ext cx="4036651" cy="5433051"/>
          </a:xfrm>
          <a:prstGeom prst="rect">
            <a:avLst/>
          </a:prstGeom>
        </p:spPr>
      </p:pic>
    </p:spTree>
    <p:extLst>
      <p:ext uri="{BB962C8B-B14F-4D97-AF65-F5344CB8AC3E}">
        <p14:creationId xmlns:p14="http://schemas.microsoft.com/office/powerpoint/2010/main" val="4208559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82786F-FDCB-B848-A6F3-FC397914ECCA}"/>
              </a:ext>
            </a:extLst>
          </p:cNvPr>
          <p:cNvSpPr txBox="1"/>
          <p:nvPr/>
        </p:nvSpPr>
        <p:spPr>
          <a:xfrm>
            <a:off x="195305" y="100799"/>
            <a:ext cx="3366654" cy="584775"/>
          </a:xfrm>
          <a:prstGeom prst="rect">
            <a:avLst/>
          </a:prstGeom>
          <a:noFill/>
        </p:spPr>
        <p:txBody>
          <a:bodyPr wrap="square" rtlCol="0">
            <a:spAutoFit/>
          </a:bodyPr>
          <a:lstStyle/>
          <a:p>
            <a:r>
              <a:rPr lang="en-CN" sz="3200" dirty="0">
                <a:latin typeface="FangSong" panose="02010609060101010101" pitchFamily="49" charset="-122"/>
                <a:ea typeface="FangSong" panose="02010609060101010101" pitchFamily="49" charset="-122"/>
              </a:rPr>
              <a:t>定义化学势</a:t>
            </a:r>
            <a:r>
              <a:rPr lang="zh-CN" altLang="en-US" sz="3200" dirty="0">
                <a:latin typeface="FangSong" panose="02010609060101010101" pitchFamily="49" charset="-122"/>
                <a:ea typeface="FangSong" panose="02010609060101010101" pitchFamily="49" charset="-122"/>
              </a:rPr>
              <a:t>！！！</a:t>
            </a:r>
            <a:endParaRPr lang="en-CN" sz="3200" dirty="0">
              <a:latin typeface="FangSong" panose="02010609060101010101" pitchFamily="49" charset="-122"/>
              <a:ea typeface="FangSong" panose="02010609060101010101" pitchFamily="49" charset="-122"/>
            </a:endParaRPr>
          </a:p>
        </p:txBody>
      </p:sp>
      <p:pic>
        <p:nvPicPr>
          <p:cNvPr id="3" name="Picture 2">
            <a:extLst>
              <a:ext uri="{FF2B5EF4-FFF2-40B4-BE49-F238E27FC236}">
                <a16:creationId xmlns:a16="http://schemas.microsoft.com/office/drawing/2014/main" id="{8F814E32-37B0-DE48-8F82-6934E38C7044}"/>
              </a:ext>
            </a:extLst>
          </p:cNvPr>
          <p:cNvPicPr>
            <a:picLocks noChangeAspect="1"/>
          </p:cNvPicPr>
          <p:nvPr/>
        </p:nvPicPr>
        <p:blipFill>
          <a:blip r:embed="rId2"/>
          <a:stretch>
            <a:fillRect/>
          </a:stretch>
        </p:blipFill>
        <p:spPr>
          <a:xfrm>
            <a:off x="2717855" y="812677"/>
            <a:ext cx="6523125" cy="3068032"/>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CC0F225-1091-1A48-A12A-7C6CB9D53D8B}"/>
                  </a:ext>
                </a:extLst>
              </p:cNvPr>
              <p:cNvSpPr txBox="1"/>
              <p:nvPr/>
            </p:nvSpPr>
            <p:spPr>
              <a:xfrm>
                <a:off x="526473" y="3901109"/>
                <a:ext cx="10169236" cy="1200329"/>
              </a:xfrm>
              <a:prstGeom prst="rect">
                <a:avLst/>
              </a:prstGeom>
              <a:noFill/>
            </p:spPr>
            <p:txBody>
              <a:bodyPr wrap="square" rtlCol="0">
                <a:spAutoFit/>
              </a:bodyPr>
              <a:lstStyle/>
              <a:p>
                <a:r>
                  <a:rPr lang="en-CN" sz="2400" dirty="0"/>
                  <a:t>S</a:t>
                </a:r>
                <a:r>
                  <a:rPr lang="en-CN" sz="2400" baseline="-25000" dirty="0"/>
                  <a:t>1</a:t>
                </a:r>
                <a:r>
                  <a:rPr lang="en-CN" sz="2400" dirty="0"/>
                  <a:t> +S</a:t>
                </a:r>
                <a:r>
                  <a:rPr lang="en-CN" sz="2400" baseline="-25000" dirty="0"/>
                  <a:t>2</a:t>
                </a:r>
              </a:p>
              <a:p>
                <a:pPr marL="285750" indent="-285750">
                  <a:buFont typeface="Arial" panose="020B0604020202020204" pitchFamily="34" charset="0"/>
                  <a:buChar char="•"/>
                </a:pPr>
                <a:r>
                  <a:rPr lang="en-CN" sz="2400" dirty="0"/>
                  <a:t>粒子数守恒 </a:t>
                </a:r>
                <a14:m>
                  <m:oMath xmlns:m="http://schemas.openxmlformats.org/officeDocument/2006/math">
                    <m:sSub>
                      <m:sSubPr>
                        <m:ctrlPr>
                          <a:rPr lang="en-CN" sz="2400" i="1" smtClean="0">
                            <a:latin typeface="Cambria Math" panose="02040503050406030204" pitchFamily="18" charset="0"/>
                          </a:rPr>
                        </m:ctrlPr>
                      </m:sSubPr>
                      <m:e>
                        <m:r>
                          <a:rPr lang="en-US" sz="2400" b="0" i="1" smtClean="0">
                            <a:latin typeface="Cambria Math" panose="02040503050406030204" pitchFamily="18" charset="0"/>
                          </a:rPr>
                          <m:t>𝑁</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𝑁</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r>
                      <a:rPr lang="en-US" sz="2400" b="0" i="1" smtClean="0">
                        <a:latin typeface="Cambria Math" panose="02040503050406030204" pitchFamily="18" charset="0"/>
                      </a:rPr>
                      <m:t>𝑐𝑜𝑛𝑠𝑡</m:t>
                    </m:r>
                    <m:r>
                      <a:rPr lang="en-US" sz="2400" b="0" i="1" smtClean="0">
                        <a:latin typeface="Cambria Math" panose="02040503050406030204" pitchFamily="18" charset="0"/>
                      </a:rPr>
                      <m:t>     →       ∆</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𝑁</m:t>
                        </m:r>
                      </m:e>
                      <m:sub>
                        <m:r>
                          <a:rPr lang="en-US" sz="2400" b="0" i="1" smtClean="0">
                            <a:latin typeface="Cambria Math" panose="02040503050406030204" pitchFamily="18" charset="0"/>
                            <a:ea typeface="Cambria Math" panose="02040503050406030204" pitchFamily="18" charset="0"/>
                          </a:rPr>
                          <m:t>1</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𝑁</m:t>
                        </m:r>
                      </m:e>
                      <m:sub>
                        <m:r>
                          <a:rPr lang="en-US" sz="2400" b="0" i="1" smtClean="0">
                            <a:latin typeface="Cambria Math" panose="02040503050406030204" pitchFamily="18" charset="0"/>
                            <a:ea typeface="Cambria Math" panose="02040503050406030204" pitchFamily="18" charset="0"/>
                          </a:rPr>
                          <m:t>2</m:t>
                        </m:r>
                      </m:sub>
                    </m:sSub>
                    <m:r>
                      <a:rPr lang="en-US" sz="2400" b="0" i="1" smtClean="0">
                        <a:latin typeface="Cambria Math" panose="02040503050406030204" pitchFamily="18" charset="0"/>
                        <a:ea typeface="Cambria Math" panose="02040503050406030204" pitchFamily="18" charset="0"/>
                      </a:rPr>
                      <m:t>=0     →</m:t>
                    </m:r>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𝑁</m:t>
                        </m:r>
                      </m:e>
                      <m:sub>
                        <m:r>
                          <a:rPr lang="en-US" sz="2400" i="1">
                            <a:latin typeface="Cambria Math" panose="02040503050406030204" pitchFamily="18" charset="0"/>
                            <a:ea typeface="Cambria Math" panose="02040503050406030204" pitchFamily="18" charset="0"/>
                          </a:rPr>
                          <m:t>1</m:t>
                        </m:r>
                      </m:sub>
                    </m:sSub>
                    <m:r>
                      <a:rPr lang="en-US" sz="2400" b="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𝑁</m:t>
                        </m:r>
                      </m:e>
                      <m:sub>
                        <m:r>
                          <a:rPr lang="en-US" sz="2400" i="1">
                            <a:latin typeface="Cambria Math" panose="02040503050406030204" pitchFamily="18" charset="0"/>
                            <a:ea typeface="Cambria Math" panose="02040503050406030204" pitchFamily="18" charset="0"/>
                          </a:rPr>
                          <m:t>2</m:t>
                        </m:r>
                      </m:sub>
                    </m:sSub>
                  </m:oMath>
                </a14:m>
                <a:endParaRPr lang="en-CN" sz="2400" dirty="0"/>
              </a:p>
              <a:p>
                <a:pPr marL="285750" indent="-285750">
                  <a:buFont typeface="Arial" panose="020B0604020202020204" pitchFamily="34" charset="0"/>
                  <a:buChar char="•"/>
                </a:pPr>
                <a14:m>
                  <m:oMath xmlns:m="http://schemas.openxmlformats.org/officeDocument/2006/math">
                    <m:r>
                      <a:rPr lang="en-US" sz="2400" b="0" i="1" smtClean="0">
                        <a:latin typeface="Cambria Math" panose="02040503050406030204" pitchFamily="18" charset="0"/>
                      </a:rPr>
                      <m:t>𝑑</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𝐹</m:t>
                        </m:r>
                      </m:e>
                      <m:sub>
                        <m:r>
                          <a:rPr lang="en-US" sz="2400" b="0" i="1" smtClean="0">
                            <a:latin typeface="Cambria Math" panose="02040503050406030204" pitchFamily="18" charset="0"/>
                          </a:rPr>
                          <m:t>𝑡𝑜𝑡</m:t>
                        </m:r>
                      </m:sub>
                    </m:sSub>
                    <m:r>
                      <a:rPr lang="en-US" sz="2400" b="0" i="1" smtClean="0">
                        <a:latin typeface="Cambria Math" panose="02040503050406030204" pitchFamily="18" charset="0"/>
                      </a:rPr>
                      <m:t>=0</m:t>
                    </m:r>
                  </m:oMath>
                </a14:m>
                <a:endParaRPr lang="en-CN" sz="2400" dirty="0"/>
              </a:p>
            </p:txBody>
          </p:sp>
        </mc:Choice>
        <mc:Fallback xmlns="">
          <p:sp>
            <p:nvSpPr>
              <p:cNvPr id="4" name="TextBox 3">
                <a:extLst>
                  <a:ext uri="{FF2B5EF4-FFF2-40B4-BE49-F238E27FC236}">
                    <a16:creationId xmlns:a16="http://schemas.microsoft.com/office/drawing/2014/main" id="{ACC0F225-1091-1A48-A12A-7C6CB9D53D8B}"/>
                  </a:ext>
                </a:extLst>
              </p:cNvPr>
              <p:cNvSpPr txBox="1">
                <a:spLocks noRot="1" noChangeAspect="1" noMove="1" noResize="1" noEditPoints="1" noAdjustHandles="1" noChangeArrowheads="1" noChangeShapeType="1" noTextEdit="1"/>
              </p:cNvSpPr>
              <p:nvPr/>
            </p:nvSpPr>
            <p:spPr>
              <a:xfrm>
                <a:off x="526473" y="3901109"/>
                <a:ext cx="10169236" cy="1200329"/>
              </a:xfrm>
              <a:prstGeom prst="rect">
                <a:avLst/>
              </a:prstGeom>
              <a:blipFill>
                <a:blip r:embed="rId3"/>
                <a:stretch>
                  <a:fillRect l="-873" t="-4211" b="-8421"/>
                </a:stretch>
              </a:blipFill>
            </p:spPr>
            <p:txBody>
              <a:bodyPr/>
              <a:lstStyle/>
              <a:p>
                <a:r>
                  <a:rPr lang="en-CN">
                    <a:noFill/>
                  </a:rPr>
                  <a:t> </a:t>
                </a:r>
              </a:p>
            </p:txBody>
          </p:sp>
        </mc:Fallback>
      </mc:AlternateContent>
      <p:sp>
        <p:nvSpPr>
          <p:cNvPr id="5" name="Down Arrow 4">
            <a:extLst>
              <a:ext uri="{FF2B5EF4-FFF2-40B4-BE49-F238E27FC236}">
                <a16:creationId xmlns:a16="http://schemas.microsoft.com/office/drawing/2014/main" id="{51F58238-13CF-3B43-8F1E-16F191815799}"/>
              </a:ext>
            </a:extLst>
          </p:cNvPr>
          <p:cNvSpPr/>
          <p:nvPr/>
        </p:nvSpPr>
        <p:spPr>
          <a:xfrm>
            <a:off x="3768436" y="4835236"/>
            <a:ext cx="374073" cy="8137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2B07F25-5B97-4241-9D55-DC2DF3537A01}"/>
                  </a:ext>
                </a:extLst>
              </p:cNvPr>
              <p:cNvSpPr txBox="1"/>
              <p:nvPr/>
            </p:nvSpPr>
            <p:spPr>
              <a:xfrm>
                <a:off x="872836" y="5800464"/>
                <a:ext cx="6968837" cy="66434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rPr>
                            <m:t>𝜕</m:t>
                          </m:r>
                          <m:r>
                            <a:rPr lang="en-US" b="0" i="1" smtClean="0">
                              <a:latin typeface="Cambria Math" panose="02040503050406030204" pitchFamily="18" charset="0"/>
                            </a:rPr>
                            <m:t>𝐹</m:t>
                          </m:r>
                        </m:num>
                        <m:den>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den>
                      </m:f>
                      <m:r>
                        <a:rPr lang="en-US" b="0" i="1" smtClean="0">
                          <a:latin typeface="Cambria Math" panose="02040503050406030204" pitchFamily="18" charset="0"/>
                        </a:rPr>
                        <m:t> </m:t>
                      </m:r>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𝐹</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2</m:t>
                              </m:r>
                            </m:sub>
                          </m:sSub>
                        </m:den>
                      </m:f>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2</m:t>
                          </m:r>
                        </m:sub>
                      </m:sSub>
                      <m:r>
                        <a:rPr lang="en-US" b="0" i="1" smtClean="0">
                          <a:latin typeface="Cambria Math" panose="02040503050406030204" pitchFamily="18" charset="0"/>
                        </a:rPr>
                        <m:t>=0</m:t>
                      </m:r>
                    </m:oMath>
                  </m:oMathPara>
                </a14:m>
                <a:endParaRPr lang="en-CN" dirty="0"/>
              </a:p>
            </p:txBody>
          </p:sp>
        </mc:Choice>
        <mc:Fallback xmlns="">
          <p:sp>
            <p:nvSpPr>
              <p:cNvPr id="6" name="TextBox 5">
                <a:extLst>
                  <a:ext uri="{FF2B5EF4-FFF2-40B4-BE49-F238E27FC236}">
                    <a16:creationId xmlns:a16="http://schemas.microsoft.com/office/drawing/2014/main" id="{62B07F25-5B97-4241-9D55-DC2DF3537A01}"/>
                  </a:ext>
                </a:extLst>
              </p:cNvPr>
              <p:cNvSpPr txBox="1">
                <a:spLocks noRot="1" noChangeAspect="1" noMove="1" noResize="1" noEditPoints="1" noAdjustHandles="1" noChangeArrowheads="1" noChangeShapeType="1" noTextEdit="1"/>
              </p:cNvSpPr>
              <p:nvPr/>
            </p:nvSpPr>
            <p:spPr>
              <a:xfrm>
                <a:off x="872836" y="5800464"/>
                <a:ext cx="6968837" cy="664349"/>
              </a:xfrm>
              <a:prstGeom prst="rect">
                <a:avLst/>
              </a:prstGeom>
              <a:blipFill>
                <a:blip r:embed="rId4"/>
                <a:stretch>
                  <a:fillRect/>
                </a:stretch>
              </a:blipFill>
            </p:spPr>
            <p:txBody>
              <a:bodyPr/>
              <a:lstStyle/>
              <a:p>
                <a:r>
                  <a:rPr lang="en-CN">
                    <a:noFill/>
                  </a:rPr>
                  <a:t> </a:t>
                </a:r>
              </a:p>
            </p:txBody>
          </p:sp>
        </mc:Fallback>
      </mc:AlternateContent>
      <p:sp>
        <p:nvSpPr>
          <p:cNvPr id="7" name="Right Arrow 6">
            <a:extLst>
              <a:ext uri="{FF2B5EF4-FFF2-40B4-BE49-F238E27FC236}">
                <a16:creationId xmlns:a16="http://schemas.microsoft.com/office/drawing/2014/main" id="{3140C22B-C72C-074B-9653-68F0DA81F89B}"/>
              </a:ext>
            </a:extLst>
          </p:cNvPr>
          <p:cNvSpPr/>
          <p:nvPr/>
        </p:nvSpPr>
        <p:spPr>
          <a:xfrm>
            <a:off x="6265477" y="6031191"/>
            <a:ext cx="1191491" cy="20289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553F219-6F11-3046-A7C3-7DB5ABF3B926}"/>
                  </a:ext>
                </a:extLst>
              </p:cNvPr>
              <p:cNvSpPr txBox="1"/>
              <p:nvPr/>
            </p:nvSpPr>
            <p:spPr>
              <a:xfrm>
                <a:off x="7689275" y="5832760"/>
                <a:ext cx="2798619" cy="72314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d>
                            <m:dPr>
                              <m:ctrlPr>
                                <a:rPr lang="en-CN" i="1" smtClean="0">
                                  <a:latin typeface="Cambria Math" panose="02040503050406030204" pitchFamily="18" charset="0"/>
                                </a:rPr>
                              </m:ctrlPr>
                            </m:dPr>
                            <m:e>
                              <m:f>
                                <m:fPr>
                                  <m:ctrlPr>
                                    <a:rPr lang="en-US" i="1" smtClean="0">
                                      <a:latin typeface="Cambria Math" panose="02040503050406030204" pitchFamily="18" charset="0"/>
                                    </a:rPr>
                                  </m:ctrlPr>
                                </m:fPr>
                                <m:num>
                                  <m:r>
                                    <a:rPr lang="en-US" i="1" smtClean="0">
                                      <a:latin typeface="Cambria Math" panose="02040503050406030204" pitchFamily="18" charset="0"/>
                                    </a:rPr>
                                    <m:t>𝜕</m:t>
                                  </m:r>
                                  <m:r>
                                    <a:rPr lang="en-US" b="0" i="1" smtClean="0">
                                      <a:latin typeface="Cambria Math" panose="02040503050406030204" pitchFamily="18" charset="0"/>
                                    </a:rPr>
                                    <m:t>𝐹</m:t>
                                  </m:r>
                                </m:num>
                                <m:den>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den>
                              </m:f>
                            </m:e>
                          </m:d>
                        </m:e>
                        <m:sub>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b>
                      </m:sSub>
                      <m:r>
                        <a:rPr lang="en-US" b="0" i="1" smtClean="0">
                          <a:latin typeface="Cambria Math" panose="02040503050406030204" pitchFamily="18" charset="0"/>
                        </a:rPr>
                        <m:t>=</m:t>
                      </m:r>
                      <m:sSub>
                        <m:sSubPr>
                          <m:ctrlPr>
                            <a:rPr lang="en-CN" i="1">
                              <a:latin typeface="Cambria Math" panose="02040503050406030204" pitchFamily="18" charset="0"/>
                            </a:rPr>
                          </m:ctrlPr>
                        </m:sSubPr>
                        <m:e>
                          <m:d>
                            <m:dPr>
                              <m:ctrlPr>
                                <a:rPr lang="en-CN"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𝐹</m:t>
                                  </m:r>
                                </m:num>
                                <m:den>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b="0" i="1" smtClean="0">
                                          <a:latin typeface="Cambria Math" panose="02040503050406030204" pitchFamily="18" charset="0"/>
                                        </a:rPr>
                                        <m:t>2</m:t>
                                      </m:r>
                                    </m:sub>
                                  </m:sSub>
                                </m:den>
                              </m:f>
                            </m:e>
                          </m:d>
                        </m:e>
                        <m:sub>
                          <m:r>
                            <a:rPr lang="en-US" i="1">
                              <a:latin typeface="Cambria Math" panose="02040503050406030204" pitchFamily="18" charset="0"/>
                            </a:rPr>
                            <m:t>𝑉</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𝜏</m:t>
                          </m:r>
                        </m:sub>
                      </m:sSub>
                    </m:oMath>
                  </m:oMathPara>
                </a14:m>
                <a:endParaRPr lang="en-CN" dirty="0"/>
              </a:p>
            </p:txBody>
          </p:sp>
        </mc:Choice>
        <mc:Fallback xmlns="">
          <p:sp>
            <p:nvSpPr>
              <p:cNvPr id="8" name="TextBox 7">
                <a:extLst>
                  <a:ext uri="{FF2B5EF4-FFF2-40B4-BE49-F238E27FC236}">
                    <a16:creationId xmlns:a16="http://schemas.microsoft.com/office/drawing/2014/main" id="{5553F219-6F11-3046-A7C3-7DB5ABF3B926}"/>
                  </a:ext>
                </a:extLst>
              </p:cNvPr>
              <p:cNvSpPr txBox="1">
                <a:spLocks noRot="1" noChangeAspect="1" noMove="1" noResize="1" noEditPoints="1" noAdjustHandles="1" noChangeArrowheads="1" noChangeShapeType="1" noTextEdit="1"/>
              </p:cNvSpPr>
              <p:nvPr/>
            </p:nvSpPr>
            <p:spPr>
              <a:xfrm>
                <a:off x="7689275" y="5832760"/>
                <a:ext cx="2798619" cy="723147"/>
              </a:xfrm>
              <a:prstGeom prst="rect">
                <a:avLst/>
              </a:prstGeom>
              <a:blipFill>
                <a:blip r:embed="rId5"/>
                <a:stretch>
                  <a:fillRect/>
                </a:stretch>
              </a:blipFill>
            </p:spPr>
            <p:txBody>
              <a:bodyPr/>
              <a:lstStyle/>
              <a:p>
                <a:r>
                  <a:rPr lang="en-CN">
                    <a:noFill/>
                  </a:rPr>
                  <a:t> </a:t>
                </a:r>
              </a:p>
            </p:txBody>
          </p:sp>
        </mc:Fallback>
      </mc:AlternateContent>
    </p:spTree>
    <p:extLst>
      <p:ext uri="{BB962C8B-B14F-4D97-AF65-F5344CB8AC3E}">
        <p14:creationId xmlns:p14="http://schemas.microsoft.com/office/powerpoint/2010/main" val="3858008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A56BAA4-AEDA-F345-9567-52A7ADB316B4}"/>
                  </a:ext>
                </a:extLst>
              </p:cNvPr>
              <p:cNvSpPr txBox="1"/>
              <p:nvPr/>
            </p:nvSpPr>
            <p:spPr>
              <a:xfrm>
                <a:off x="658091" y="325481"/>
                <a:ext cx="10875818" cy="830997"/>
              </a:xfrm>
              <a:prstGeom prst="rect">
                <a:avLst/>
              </a:prstGeom>
              <a:noFill/>
            </p:spPr>
            <p:txBody>
              <a:bodyPr wrap="square" rtlCol="0">
                <a:spAutoFit/>
              </a:bodyPr>
              <a:lstStyle/>
              <a:p>
                <a:r>
                  <a:rPr lang="en-CN" sz="2400" dirty="0">
                    <a:latin typeface="FangSong" panose="02010609060101010101" pitchFamily="49" charset="-122"/>
                    <a:ea typeface="FangSong" panose="02010609060101010101" pitchFamily="49" charset="-122"/>
                  </a:rPr>
                  <a:t>引入近似</a:t>
                </a:r>
                <a:r>
                  <a:rPr lang="zh-CN" altLang="en-US" sz="2400" dirty="0">
                    <a:latin typeface="FangSong" panose="02010609060101010101" pitchFamily="49" charset="-122"/>
                    <a:ea typeface="FangSong" panose="02010609060101010101" pitchFamily="49" charset="-122"/>
                  </a:rPr>
                  <a:t>：粒子交换很弱（但大到可以交换），不改变各自状态，可独立计算</a:t>
                </a:r>
                <a:endParaRPr lang="en-US" altLang="zh-CN" sz="2400" dirty="0">
                  <a:latin typeface="FangSong" panose="02010609060101010101" pitchFamily="49" charset="-122"/>
                  <a:ea typeface="FangSong" panose="02010609060101010101" pitchFamily="49" charset="-122"/>
                </a:endParaRPr>
              </a:p>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FangSong" panose="02010609060101010101" pitchFamily="49" charset="-122"/>
                        </a:rPr>
                        <m:t>𝐹</m:t>
                      </m:r>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FangSong" panose="02010609060101010101" pitchFamily="49" charset="-122"/>
                            </a:rPr>
                          </m:ctrlPr>
                        </m:sSubPr>
                        <m:e>
                          <m:r>
                            <a:rPr lang="en-US" sz="2400" b="0" i="1" smtClean="0">
                              <a:latin typeface="Cambria Math" panose="02040503050406030204" pitchFamily="18" charset="0"/>
                              <a:ea typeface="FangSong" panose="02010609060101010101" pitchFamily="49" charset="-122"/>
                            </a:rPr>
                            <m:t>𝐹</m:t>
                          </m:r>
                        </m:e>
                        <m:sub>
                          <m:r>
                            <a:rPr lang="en-US" sz="2400" b="0" i="1" smtClean="0">
                              <a:latin typeface="Cambria Math" panose="02040503050406030204" pitchFamily="18" charset="0"/>
                              <a:ea typeface="FangSong" panose="02010609060101010101" pitchFamily="49" charset="-122"/>
                            </a:rPr>
                            <m:t>1</m:t>
                          </m:r>
                        </m:sub>
                      </m:sSub>
                      <m:r>
                        <a:rPr lang="en-US" sz="2400" b="0" i="1" smtClean="0">
                          <a:latin typeface="Cambria Math" panose="02040503050406030204" pitchFamily="18" charset="0"/>
                          <a:ea typeface="FangSong" panose="02010609060101010101" pitchFamily="49" charset="-122"/>
                        </a:rPr>
                        <m:t>+</m:t>
                      </m:r>
                      <m:sSub>
                        <m:sSubPr>
                          <m:ctrlPr>
                            <a:rPr lang="en-US" sz="2400" b="0" i="1" smtClean="0">
                              <a:latin typeface="Cambria Math" panose="02040503050406030204" pitchFamily="18" charset="0"/>
                              <a:ea typeface="FangSong" panose="02010609060101010101" pitchFamily="49" charset="-122"/>
                            </a:rPr>
                          </m:ctrlPr>
                        </m:sSubPr>
                        <m:e>
                          <m:r>
                            <a:rPr lang="en-US" sz="2400" b="0" i="1" smtClean="0">
                              <a:latin typeface="Cambria Math" panose="02040503050406030204" pitchFamily="18" charset="0"/>
                              <a:ea typeface="FangSong" panose="02010609060101010101" pitchFamily="49" charset="-122"/>
                            </a:rPr>
                            <m:t>𝐹</m:t>
                          </m:r>
                        </m:e>
                        <m:sub>
                          <m:r>
                            <a:rPr lang="en-US" sz="2400" b="0" i="1" smtClean="0">
                              <a:latin typeface="Cambria Math" panose="02040503050406030204" pitchFamily="18" charset="0"/>
                              <a:ea typeface="FangSong" panose="02010609060101010101" pitchFamily="49" charset="-122"/>
                            </a:rPr>
                            <m:t>2</m:t>
                          </m:r>
                        </m:sub>
                      </m:sSub>
                    </m:oMath>
                  </m:oMathPara>
                </a14:m>
                <a:endParaRPr lang="en-CN" sz="2400" dirty="0">
                  <a:latin typeface="FangSong" panose="02010609060101010101" pitchFamily="49" charset="-122"/>
                  <a:ea typeface="FangSong" panose="02010609060101010101" pitchFamily="49" charset="-122"/>
                </a:endParaRPr>
              </a:p>
            </p:txBody>
          </p:sp>
        </mc:Choice>
        <mc:Fallback xmlns="">
          <p:sp>
            <p:nvSpPr>
              <p:cNvPr id="2" name="TextBox 1">
                <a:extLst>
                  <a:ext uri="{FF2B5EF4-FFF2-40B4-BE49-F238E27FC236}">
                    <a16:creationId xmlns:a16="http://schemas.microsoft.com/office/drawing/2014/main" id="{2A56BAA4-AEDA-F345-9567-52A7ADB316B4}"/>
                  </a:ext>
                </a:extLst>
              </p:cNvPr>
              <p:cNvSpPr txBox="1">
                <a:spLocks noRot="1" noChangeAspect="1" noMove="1" noResize="1" noEditPoints="1" noAdjustHandles="1" noChangeArrowheads="1" noChangeShapeType="1" noTextEdit="1"/>
              </p:cNvSpPr>
              <p:nvPr/>
            </p:nvSpPr>
            <p:spPr>
              <a:xfrm>
                <a:off x="658091" y="325481"/>
                <a:ext cx="10875818" cy="830997"/>
              </a:xfrm>
              <a:prstGeom prst="rect">
                <a:avLst/>
              </a:prstGeom>
              <a:blipFill>
                <a:blip r:embed="rId2"/>
                <a:stretch>
                  <a:fillRect l="-816" t="-597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BB874CC-8015-9C48-8A7C-9D7D58ABFFFD}"/>
                  </a:ext>
                </a:extLst>
              </p:cNvPr>
              <p:cNvSpPr txBox="1"/>
              <p:nvPr/>
            </p:nvSpPr>
            <p:spPr>
              <a:xfrm>
                <a:off x="4045529" y="2272143"/>
                <a:ext cx="4710548" cy="121379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3200" i="1" smtClean="0">
                              <a:latin typeface="Cambria Math" panose="02040503050406030204" pitchFamily="18" charset="0"/>
                            </a:rPr>
                          </m:ctrlPr>
                        </m:sSubPr>
                        <m:e>
                          <m:d>
                            <m:dPr>
                              <m:ctrlPr>
                                <a:rPr lang="en-CN" sz="3200" i="1" smtClean="0">
                                  <a:latin typeface="Cambria Math" panose="02040503050406030204" pitchFamily="18" charset="0"/>
                                </a:rPr>
                              </m:ctrlPr>
                            </m:dPr>
                            <m:e>
                              <m:f>
                                <m:fPr>
                                  <m:ctrlPr>
                                    <a:rPr lang="en-US" sz="3200" i="1" smtClean="0">
                                      <a:latin typeface="Cambria Math" panose="02040503050406030204" pitchFamily="18" charset="0"/>
                                    </a:rPr>
                                  </m:ctrlPr>
                                </m:fPr>
                                <m:num>
                                  <m:r>
                                    <a:rPr lang="en-US" sz="3200" i="1" smtClean="0">
                                      <a:latin typeface="Cambria Math" panose="02040503050406030204" pitchFamily="18" charset="0"/>
                                    </a:rPr>
                                    <m:t>𝜕</m:t>
                                  </m:r>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𝐹</m:t>
                                      </m:r>
                                    </m:e>
                                    <m:sub>
                                      <m:r>
                                        <a:rPr lang="en-US" sz="3200" b="0" i="1" smtClean="0">
                                          <a:latin typeface="Cambria Math" panose="02040503050406030204" pitchFamily="18" charset="0"/>
                                        </a:rPr>
                                        <m:t>1</m:t>
                                      </m:r>
                                    </m:sub>
                                  </m:sSub>
                                </m:num>
                                <m:den>
                                  <m:r>
                                    <a:rPr lang="en-US" sz="3200" i="1" smtClean="0">
                                      <a:latin typeface="Cambria Math" panose="02040503050406030204" pitchFamily="18" charset="0"/>
                                    </a:rPr>
                                    <m:t>𝜕</m:t>
                                  </m:r>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𝑁</m:t>
                                      </m:r>
                                    </m:e>
                                    <m:sub>
                                      <m:r>
                                        <a:rPr lang="en-US" sz="3200" b="0" i="1" smtClean="0">
                                          <a:latin typeface="Cambria Math" panose="02040503050406030204" pitchFamily="18" charset="0"/>
                                        </a:rPr>
                                        <m:t>1</m:t>
                                      </m:r>
                                    </m:sub>
                                  </m:sSub>
                                </m:den>
                              </m:f>
                            </m:e>
                          </m:d>
                        </m:e>
                        <m:sub>
                          <m:r>
                            <a:rPr lang="en-US" sz="3200" b="0" i="1" smtClean="0">
                              <a:latin typeface="Cambria Math" panose="02040503050406030204" pitchFamily="18" charset="0"/>
                            </a:rPr>
                            <m:t>𝑉</m:t>
                          </m:r>
                          <m:r>
                            <a:rPr lang="en-US" sz="3200" b="0" i="1" smtClean="0">
                              <a:latin typeface="Cambria Math" panose="02040503050406030204" pitchFamily="18" charset="0"/>
                            </a:rPr>
                            <m:t>1,</m:t>
                          </m:r>
                          <m:r>
                            <a:rPr lang="en-US" sz="3200" b="0" i="1" smtClean="0">
                              <a:latin typeface="Cambria Math" panose="02040503050406030204" pitchFamily="18" charset="0"/>
                              <a:ea typeface="Cambria Math" panose="02040503050406030204" pitchFamily="18" charset="0"/>
                            </a:rPr>
                            <m:t>𝜏</m:t>
                          </m:r>
                        </m:sub>
                      </m:sSub>
                      <m:r>
                        <a:rPr lang="en-US" sz="3200" b="0" i="1" smtClean="0">
                          <a:latin typeface="Cambria Math" panose="02040503050406030204" pitchFamily="18" charset="0"/>
                        </a:rPr>
                        <m:t>=</m:t>
                      </m:r>
                      <m:sSub>
                        <m:sSubPr>
                          <m:ctrlPr>
                            <a:rPr lang="en-CN" sz="3200" i="1">
                              <a:latin typeface="Cambria Math" panose="02040503050406030204" pitchFamily="18" charset="0"/>
                            </a:rPr>
                          </m:ctrlPr>
                        </m:sSubPr>
                        <m:e>
                          <m:d>
                            <m:dPr>
                              <m:ctrlPr>
                                <a:rPr lang="en-CN" sz="3200" i="1">
                                  <a:latin typeface="Cambria Math" panose="02040503050406030204" pitchFamily="18" charset="0"/>
                                </a:rPr>
                              </m:ctrlPr>
                            </m:dPr>
                            <m:e>
                              <m:f>
                                <m:fPr>
                                  <m:ctrlPr>
                                    <a:rPr lang="en-US" sz="3200" i="1">
                                      <a:latin typeface="Cambria Math" panose="02040503050406030204" pitchFamily="18" charset="0"/>
                                    </a:rPr>
                                  </m:ctrlPr>
                                </m:fPr>
                                <m:num>
                                  <m:r>
                                    <a:rPr lang="en-US" sz="3200" i="1">
                                      <a:latin typeface="Cambria Math" panose="02040503050406030204" pitchFamily="18" charset="0"/>
                                    </a:rPr>
                                    <m:t>𝜕</m:t>
                                  </m:r>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𝐹</m:t>
                                      </m:r>
                                    </m:e>
                                    <m:sub>
                                      <m:r>
                                        <a:rPr lang="en-US" sz="3200" b="0" i="1" smtClean="0">
                                          <a:latin typeface="Cambria Math" panose="02040503050406030204" pitchFamily="18" charset="0"/>
                                        </a:rPr>
                                        <m:t>2</m:t>
                                      </m:r>
                                    </m:sub>
                                  </m:sSub>
                                </m:num>
                                <m:den>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𝑁</m:t>
                                      </m:r>
                                    </m:e>
                                    <m:sub>
                                      <m:r>
                                        <a:rPr lang="en-US" sz="3200" b="0" i="1" smtClean="0">
                                          <a:latin typeface="Cambria Math" panose="02040503050406030204" pitchFamily="18" charset="0"/>
                                        </a:rPr>
                                        <m:t>2</m:t>
                                      </m:r>
                                    </m:sub>
                                  </m:sSub>
                                </m:den>
                              </m:f>
                            </m:e>
                          </m:d>
                        </m:e>
                        <m:sub>
                          <m:r>
                            <a:rPr lang="en-US" sz="3200" i="1">
                              <a:latin typeface="Cambria Math" panose="02040503050406030204" pitchFamily="18" charset="0"/>
                            </a:rPr>
                            <m:t>𝑉</m:t>
                          </m:r>
                          <m:r>
                            <a:rPr lang="en-US" sz="3200" b="0" i="1" smtClean="0">
                              <a:latin typeface="Cambria Math" panose="02040503050406030204" pitchFamily="18" charset="0"/>
                            </a:rPr>
                            <m:t>2</m:t>
                          </m:r>
                          <m:r>
                            <a:rPr lang="en-US" sz="3200" i="1">
                              <a:latin typeface="Cambria Math" panose="02040503050406030204" pitchFamily="18" charset="0"/>
                            </a:rPr>
                            <m:t>,</m:t>
                          </m:r>
                          <m:r>
                            <a:rPr lang="en-US" sz="3200" i="1">
                              <a:latin typeface="Cambria Math" panose="02040503050406030204" pitchFamily="18" charset="0"/>
                              <a:ea typeface="Cambria Math" panose="02040503050406030204" pitchFamily="18" charset="0"/>
                            </a:rPr>
                            <m:t>𝜏</m:t>
                          </m:r>
                        </m:sub>
                      </m:sSub>
                    </m:oMath>
                  </m:oMathPara>
                </a14:m>
                <a:endParaRPr lang="en-CN" sz="3200" dirty="0"/>
              </a:p>
            </p:txBody>
          </p:sp>
        </mc:Choice>
        <mc:Fallback xmlns="">
          <p:sp>
            <p:nvSpPr>
              <p:cNvPr id="4" name="TextBox 3">
                <a:extLst>
                  <a:ext uri="{FF2B5EF4-FFF2-40B4-BE49-F238E27FC236}">
                    <a16:creationId xmlns:a16="http://schemas.microsoft.com/office/drawing/2014/main" id="{ABB874CC-8015-9C48-8A7C-9D7D58ABFFFD}"/>
                  </a:ext>
                </a:extLst>
              </p:cNvPr>
              <p:cNvSpPr txBox="1">
                <a:spLocks noRot="1" noChangeAspect="1" noMove="1" noResize="1" noEditPoints="1" noAdjustHandles="1" noChangeArrowheads="1" noChangeShapeType="1" noTextEdit="1"/>
              </p:cNvSpPr>
              <p:nvPr/>
            </p:nvSpPr>
            <p:spPr>
              <a:xfrm>
                <a:off x="4045529" y="2272143"/>
                <a:ext cx="4710548" cy="1213794"/>
              </a:xfrm>
              <a:prstGeom prst="rect">
                <a:avLst/>
              </a:prstGeom>
              <a:blipFill>
                <a:blip r:embed="rId3"/>
                <a:stretch>
                  <a:fillRect/>
                </a:stretch>
              </a:blipFill>
            </p:spPr>
            <p:txBody>
              <a:bodyPr/>
              <a:lstStyle/>
              <a:p>
                <a:r>
                  <a:rPr lang="en-CN">
                    <a:noFill/>
                  </a:rPr>
                  <a:t> </a:t>
                </a:r>
              </a:p>
            </p:txBody>
          </p:sp>
        </mc:Fallback>
      </mc:AlternateContent>
      <p:sp>
        <p:nvSpPr>
          <p:cNvPr id="5" name="TextBox 4">
            <a:extLst>
              <a:ext uri="{FF2B5EF4-FFF2-40B4-BE49-F238E27FC236}">
                <a16:creationId xmlns:a16="http://schemas.microsoft.com/office/drawing/2014/main" id="{4C731421-00E7-8544-B083-13C3A7F7589C}"/>
              </a:ext>
            </a:extLst>
          </p:cNvPr>
          <p:cNvSpPr txBox="1"/>
          <p:nvPr/>
        </p:nvSpPr>
        <p:spPr>
          <a:xfrm>
            <a:off x="9074727" y="2764457"/>
            <a:ext cx="2964873" cy="646331"/>
          </a:xfrm>
          <a:prstGeom prst="rect">
            <a:avLst/>
          </a:prstGeom>
          <a:noFill/>
        </p:spPr>
        <p:txBody>
          <a:bodyPr wrap="square" rtlCol="0">
            <a:spAutoFit/>
          </a:bodyPr>
          <a:lstStyle/>
          <a:p>
            <a:r>
              <a:rPr lang="en-CN" dirty="0"/>
              <a:t>扩散平衡条件</a:t>
            </a:r>
          </a:p>
          <a:p>
            <a:r>
              <a:rPr lang="en-CN" dirty="0"/>
              <a:t>Diffusive Equilibrium</a:t>
            </a:r>
          </a:p>
        </p:txBody>
      </p:sp>
      <p:sp>
        <p:nvSpPr>
          <p:cNvPr id="6" name="Down Arrow 5">
            <a:extLst>
              <a:ext uri="{FF2B5EF4-FFF2-40B4-BE49-F238E27FC236}">
                <a16:creationId xmlns:a16="http://schemas.microsoft.com/office/drawing/2014/main" id="{9206D1FD-377B-6B4C-83AB-5A9467F6E9AB}"/>
              </a:ext>
            </a:extLst>
          </p:cNvPr>
          <p:cNvSpPr/>
          <p:nvPr/>
        </p:nvSpPr>
        <p:spPr>
          <a:xfrm>
            <a:off x="5735782" y="1288474"/>
            <a:ext cx="568036" cy="98367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TextBox 6">
            <a:extLst>
              <a:ext uri="{FF2B5EF4-FFF2-40B4-BE49-F238E27FC236}">
                <a16:creationId xmlns:a16="http://schemas.microsoft.com/office/drawing/2014/main" id="{83C157B5-B72F-9540-BB81-6BABDA44E54A}"/>
              </a:ext>
            </a:extLst>
          </p:cNvPr>
          <p:cNvSpPr txBox="1"/>
          <p:nvPr/>
        </p:nvSpPr>
        <p:spPr>
          <a:xfrm>
            <a:off x="817418" y="3976255"/>
            <a:ext cx="5084618" cy="461665"/>
          </a:xfrm>
          <a:prstGeom prst="rect">
            <a:avLst/>
          </a:prstGeom>
          <a:noFill/>
        </p:spPr>
        <p:txBody>
          <a:bodyPr wrap="square" rtlCol="0">
            <a:spAutoFit/>
          </a:bodyPr>
          <a:lstStyle/>
          <a:p>
            <a:r>
              <a:rPr lang="en-CN" sz="2400" dirty="0">
                <a:solidFill>
                  <a:srgbClr val="7030A0"/>
                </a:solidFill>
              </a:rPr>
              <a:t>化学</a:t>
            </a:r>
            <a:r>
              <a:rPr lang="en-CN" sz="2400" dirty="0">
                <a:solidFill>
                  <a:srgbClr val="FF0000"/>
                </a:solidFill>
              </a:rPr>
              <a:t>势</a:t>
            </a:r>
            <a:r>
              <a:rPr lang="zh-CN" altLang="en-US" sz="2400" dirty="0"/>
              <a:t>（</a:t>
            </a:r>
            <a:r>
              <a:rPr lang="en-US" altLang="zh-CN" sz="2400" dirty="0">
                <a:solidFill>
                  <a:srgbClr val="7030A0"/>
                </a:solidFill>
              </a:rPr>
              <a:t>chemical</a:t>
            </a:r>
            <a:r>
              <a:rPr lang="zh-CN" altLang="en-US" sz="2400" dirty="0"/>
              <a:t> </a:t>
            </a:r>
            <a:r>
              <a:rPr lang="en-US" altLang="zh-CN" sz="2400" dirty="0">
                <a:solidFill>
                  <a:srgbClr val="FF0000"/>
                </a:solidFill>
              </a:rPr>
              <a:t>potential</a:t>
            </a:r>
            <a:r>
              <a:rPr lang="zh-CN" altLang="en-US" sz="2400" dirty="0"/>
              <a:t>）</a:t>
            </a:r>
            <a:endParaRPr lang="en-CN" sz="2400"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250CD13-5583-DD47-BCEF-7E0BFB51E1F4}"/>
                  </a:ext>
                </a:extLst>
              </p:cNvPr>
              <p:cNvSpPr txBox="1"/>
              <p:nvPr/>
            </p:nvSpPr>
            <p:spPr>
              <a:xfrm>
                <a:off x="3020291" y="4710545"/>
                <a:ext cx="6151418" cy="1406475"/>
              </a:xfrm>
              <a:prstGeom prst="rect">
                <a:avLst/>
              </a:prstGeom>
              <a:solidFill>
                <a:schemeClr val="accent6"/>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CN" sz="4000" i="1" smtClean="0">
                          <a:latin typeface="Cambria Math" panose="02040503050406030204" pitchFamily="18" charset="0"/>
                          <a:ea typeface="Cambria Math" panose="02040503050406030204" pitchFamily="18" charset="0"/>
                        </a:rPr>
                        <m:t>𝜇</m:t>
                      </m:r>
                      <m:d>
                        <m:dPr>
                          <m:ctrlPr>
                            <a:rPr lang="en-US" sz="4000" b="0" i="1" smtClean="0">
                              <a:latin typeface="Cambria Math" panose="02040503050406030204" pitchFamily="18" charset="0"/>
                              <a:ea typeface="Cambria Math" panose="02040503050406030204" pitchFamily="18" charset="0"/>
                            </a:rPr>
                          </m:ctrlPr>
                        </m:dPr>
                        <m:e>
                          <m:r>
                            <a:rPr lang="en-US" sz="4000" b="0" i="1" smtClean="0">
                              <a:latin typeface="Cambria Math" panose="02040503050406030204" pitchFamily="18" charset="0"/>
                              <a:ea typeface="Cambria Math" panose="02040503050406030204" pitchFamily="18" charset="0"/>
                            </a:rPr>
                            <m:t>𝜏</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𝑉</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𝑁</m:t>
                          </m:r>
                        </m:e>
                      </m:d>
                      <m:r>
                        <a:rPr lang="en-US" sz="4000" b="0" i="1" smtClean="0">
                          <a:latin typeface="Cambria Math" panose="02040503050406030204" pitchFamily="18" charset="0"/>
                          <a:ea typeface="Cambria Math" panose="02040503050406030204" pitchFamily="18" charset="0"/>
                        </a:rPr>
                        <m:t>=</m:t>
                      </m:r>
                      <m:sSub>
                        <m:sSubPr>
                          <m:ctrlPr>
                            <a:rPr lang="en-US" sz="4000" b="0" i="1" smtClean="0">
                              <a:latin typeface="Cambria Math" panose="02040503050406030204" pitchFamily="18" charset="0"/>
                              <a:ea typeface="Cambria Math" panose="02040503050406030204" pitchFamily="18" charset="0"/>
                            </a:rPr>
                          </m:ctrlPr>
                        </m:sSubPr>
                        <m:e>
                          <m:d>
                            <m:dPr>
                              <m:ctrlPr>
                                <a:rPr lang="en-US" sz="4000" b="0" i="1" smtClean="0">
                                  <a:latin typeface="Cambria Math" panose="02040503050406030204" pitchFamily="18" charset="0"/>
                                  <a:ea typeface="Cambria Math" panose="02040503050406030204" pitchFamily="18" charset="0"/>
                                </a:rPr>
                              </m:ctrlPr>
                            </m:dPr>
                            <m:e>
                              <m:f>
                                <m:fPr>
                                  <m:ctrlPr>
                                    <a:rPr lang="en-US" sz="4000" b="0" i="1" smtClean="0">
                                      <a:latin typeface="Cambria Math" panose="02040503050406030204" pitchFamily="18" charset="0"/>
                                      <a:ea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𝐹</m:t>
                                  </m:r>
                                </m:num>
                                <m:den>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𝑁</m:t>
                                  </m:r>
                                </m:den>
                              </m:f>
                            </m:e>
                          </m:d>
                        </m:e>
                        <m:sub>
                          <m:r>
                            <a:rPr lang="en-US" sz="4000" b="0" i="1" smtClean="0">
                              <a:latin typeface="Cambria Math" panose="02040503050406030204" pitchFamily="18" charset="0"/>
                              <a:ea typeface="Cambria Math" panose="02040503050406030204" pitchFamily="18" charset="0"/>
                            </a:rPr>
                            <m:t>𝑉</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𝜏</m:t>
                          </m:r>
                        </m:sub>
                      </m:sSub>
                    </m:oMath>
                  </m:oMathPara>
                </a14:m>
                <a:endParaRPr lang="en-CN" sz="4000" dirty="0"/>
              </a:p>
            </p:txBody>
          </p:sp>
        </mc:Choice>
        <mc:Fallback xmlns="">
          <p:sp>
            <p:nvSpPr>
              <p:cNvPr id="8" name="TextBox 7">
                <a:extLst>
                  <a:ext uri="{FF2B5EF4-FFF2-40B4-BE49-F238E27FC236}">
                    <a16:creationId xmlns:a16="http://schemas.microsoft.com/office/drawing/2014/main" id="{1250CD13-5583-DD47-BCEF-7E0BFB51E1F4}"/>
                  </a:ext>
                </a:extLst>
              </p:cNvPr>
              <p:cNvSpPr txBox="1">
                <a:spLocks noRot="1" noChangeAspect="1" noMove="1" noResize="1" noEditPoints="1" noAdjustHandles="1" noChangeArrowheads="1" noChangeShapeType="1" noTextEdit="1"/>
              </p:cNvSpPr>
              <p:nvPr/>
            </p:nvSpPr>
            <p:spPr>
              <a:xfrm>
                <a:off x="3020291" y="4710545"/>
                <a:ext cx="6151418" cy="1406475"/>
              </a:xfrm>
              <a:prstGeom prst="rect">
                <a:avLst/>
              </a:prstGeom>
              <a:blipFill>
                <a:blip r:embed="rId4"/>
                <a:stretch>
                  <a:fillRect b="-90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0BB66E4-7429-4E45-A200-106052515D36}"/>
                  </a:ext>
                </a:extLst>
              </p:cNvPr>
              <p:cNvSpPr txBox="1"/>
              <p:nvPr/>
            </p:nvSpPr>
            <p:spPr>
              <a:xfrm>
                <a:off x="10377055" y="3865418"/>
                <a:ext cx="135774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2</m:t>
                          </m:r>
                        </m:sub>
                      </m:sSub>
                    </m:oMath>
                  </m:oMathPara>
                </a14:m>
                <a:endParaRPr lang="en-CN" dirty="0"/>
              </a:p>
            </p:txBody>
          </p:sp>
        </mc:Choice>
        <mc:Fallback xmlns="">
          <p:sp>
            <p:nvSpPr>
              <p:cNvPr id="9" name="TextBox 8">
                <a:extLst>
                  <a:ext uri="{FF2B5EF4-FFF2-40B4-BE49-F238E27FC236}">
                    <a16:creationId xmlns:a16="http://schemas.microsoft.com/office/drawing/2014/main" id="{D0BB66E4-7429-4E45-A200-106052515D36}"/>
                  </a:ext>
                </a:extLst>
              </p:cNvPr>
              <p:cNvSpPr txBox="1">
                <a:spLocks noRot="1" noChangeAspect="1" noMove="1" noResize="1" noEditPoints="1" noAdjustHandles="1" noChangeArrowheads="1" noChangeShapeType="1" noTextEdit="1"/>
              </p:cNvSpPr>
              <p:nvPr/>
            </p:nvSpPr>
            <p:spPr>
              <a:xfrm>
                <a:off x="10377055" y="3865418"/>
                <a:ext cx="1357745" cy="369332"/>
              </a:xfrm>
              <a:prstGeom prst="rect">
                <a:avLst/>
              </a:prstGeom>
              <a:blipFill>
                <a:blip r:embed="rId5"/>
                <a:stretch>
                  <a:fillRect b="-6667"/>
                </a:stretch>
              </a:blipFill>
            </p:spPr>
            <p:txBody>
              <a:bodyPr/>
              <a:lstStyle/>
              <a:p>
                <a:r>
                  <a:rPr lang="en-CN">
                    <a:noFill/>
                  </a:rPr>
                  <a:t> </a:t>
                </a:r>
              </a:p>
            </p:txBody>
          </p:sp>
        </mc:Fallback>
      </mc:AlternateContent>
      <p:sp>
        <p:nvSpPr>
          <p:cNvPr id="3" name="TextBox 2">
            <a:extLst>
              <a:ext uri="{FF2B5EF4-FFF2-40B4-BE49-F238E27FC236}">
                <a16:creationId xmlns:a16="http://schemas.microsoft.com/office/drawing/2014/main" id="{601D24DF-12F7-C3AB-DC44-07D50B620831}"/>
              </a:ext>
            </a:extLst>
          </p:cNvPr>
          <p:cNvSpPr txBox="1"/>
          <p:nvPr/>
        </p:nvSpPr>
        <p:spPr>
          <a:xfrm>
            <a:off x="6303819" y="1440873"/>
            <a:ext cx="4405746" cy="369332"/>
          </a:xfrm>
          <a:prstGeom prst="rect">
            <a:avLst/>
          </a:prstGeom>
          <a:noFill/>
        </p:spPr>
        <p:txBody>
          <a:bodyPr wrap="square" rtlCol="0">
            <a:spAutoFit/>
          </a:bodyPr>
          <a:lstStyle/>
          <a:p>
            <a:r>
              <a:rPr lang="en-CN" dirty="0">
                <a:solidFill>
                  <a:srgbClr val="FF0000"/>
                </a:solidFill>
              </a:rPr>
              <a:t>回忆一下以前的近似</a:t>
            </a:r>
            <a:r>
              <a:rPr lang="zh-CN" altLang="en-US" dirty="0">
                <a:solidFill>
                  <a:srgbClr val="FF0000"/>
                </a:solidFill>
              </a:rPr>
              <a:t>（热接触、缓慢压缩）</a:t>
            </a:r>
            <a:endParaRPr lang="en-CN" dirty="0">
              <a:solidFill>
                <a:srgbClr val="FF0000"/>
              </a:solidFill>
            </a:endParaRPr>
          </a:p>
        </p:txBody>
      </p:sp>
    </p:spTree>
    <p:extLst>
      <p:ext uri="{BB962C8B-B14F-4D97-AF65-F5344CB8AC3E}">
        <p14:creationId xmlns:p14="http://schemas.microsoft.com/office/powerpoint/2010/main" val="3903107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69A3A4-7512-BA48-AEF0-BF1455EC4AD2}"/>
              </a:ext>
            </a:extLst>
          </p:cNvPr>
          <p:cNvSpPr txBox="1"/>
          <p:nvPr/>
        </p:nvSpPr>
        <p:spPr>
          <a:xfrm>
            <a:off x="415635" y="360218"/>
            <a:ext cx="11388437" cy="1200329"/>
          </a:xfrm>
          <a:prstGeom prst="rect">
            <a:avLst/>
          </a:prstGeom>
          <a:noFill/>
        </p:spPr>
        <p:txBody>
          <a:bodyPr wrap="square" rtlCol="0">
            <a:spAutoFit/>
          </a:bodyPr>
          <a:lstStyle/>
          <a:p>
            <a:r>
              <a:rPr lang="en-CN" sz="3600" dirty="0">
                <a:solidFill>
                  <a:srgbClr val="FF0000"/>
                </a:solidFill>
              </a:rPr>
              <a:t>Potential</a:t>
            </a:r>
            <a:r>
              <a:rPr lang="en-CN" sz="3600" dirty="0"/>
              <a:t>: A potential in physics is defined as the energy stored per unit of matter(potential energy intensity)</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9763F9B-C448-7F4F-AE4B-C755F70B7686}"/>
                  </a:ext>
                </a:extLst>
              </p:cNvPr>
              <p:cNvSpPr txBox="1"/>
              <p:nvPr/>
            </p:nvSpPr>
            <p:spPr>
              <a:xfrm>
                <a:off x="152396" y="1884218"/>
                <a:ext cx="9504217" cy="111370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CN" sz="3200" i="1" smtClean="0">
                          <a:latin typeface="Cambria Math" panose="02040503050406030204" pitchFamily="18" charset="0"/>
                          <a:ea typeface="Cambria Math" panose="02040503050406030204" pitchFamily="18" charset="0"/>
                        </a:rPr>
                        <m:t>𝜙</m:t>
                      </m:r>
                      <m:r>
                        <a:rPr lang="en-US" sz="3200" b="0" i="1" smtClean="0">
                          <a:latin typeface="Cambria Math" panose="02040503050406030204" pitchFamily="18" charset="0"/>
                          <a:ea typeface="Cambria Math" panose="02040503050406030204" pitchFamily="18" charset="0"/>
                        </a:rPr>
                        <m:t>=</m:t>
                      </m:r>
                      <m:f>
                        <m:fPr>
                          <m:ctrlPr>
                            <a:rPr lang="en-US" sz="3200" b="0" i="1" smtClean="0">
                              <a:latin typeface="Cambria Math" panose="02040503050406030204" pitchFamily="18" charset="0"/>
                              <a:ea typeface="Cambria Math" panose="02040503050406030204" pitchFamily="18" charset="0"/>
                            </a:rPr>
                          </m:ctrlPr>
                        </m:fPr>
                        <m:num>
                          <m:sSub>
                            <m:sSubPr>
                              <m:ctrlPr>
                                <a:rPr lang="en-US" sz="3200" b="0" i="1" smtClean="0">
                                  <a:latin typeface="Cambria Math" panose="02040503050406030204" pitchFamily="18" charset="0"/>
                                  <a:ea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𝑈</m:t>
                              </m:r>
                            </m:e>
                            <m:sub>
                              <m:r>
                                <a:rPr lang="en-US" sz="3200" b="0" i="1" smtClean="0">
                                  <a:latin typeface="Cambria Math" panose="02040503050406030204" pitchFamily="18" charset="0"/>
                                  <a:ea typeface="Cambria Math" panose="02040503050406030204" pitchFamily="18" charset="0"/>
                                </a:rPr>
                                <m:t>𝐸</m:t>
                              </m:r>
                            </m:sub>
                          </m:sSub>
                        </m:num>
                        <m:den>
                          <m:r>
                            <a:rPr lang="en-US" sz="3200" b="0" i="1" smtClean="0">
                              <a:latin typeface="Cambria Math" panose="02040503050406030204" pitchFamily="18" charset="0"/>
                              <a:ea typeface="Cambria Math" panose="02040503050406030204" pitchFamily="18" charset="0"/>
                            </a:rPr>
                            <m:t>𝑞</m:t>
                          </m:r>
                        </m:den>
                      </m:f>
                      <m:r>
                        <a:rPr lang="en-US" sz="3200" b="0" i="1" smtClean="0">
                          <a:latin typeface="Cambria Math" panose="02040503050406030204" pitchFamily="18" charset="0"/>
                          <a:ea typeface="Cambria Math" panose="02040503050406030204" pitchFamily="18" charset="0"/>
                        </a:rPr>
                        <m:t>=</m:t>
                      </m:r>
                      <m:f>
                        <m:fPr>
                          <m:ctrlPr>
                            <a:rPr lang="en-US" sz="3200" b="0" i="1" smtClean="0">
                              <a:latin typeface="Cambria Math" panose="02040503050406030204" pitchFamily="18" charset="0"/>
                              <a:ea typeface="Cambria Math" panose="02040503050406030204" pitchFamily="18" charset="0"/>
                            </a:rPr>
                          </m:ctrlPr>
                        </m:fPr>
                        <m:num>
                          <m:r>
                            <a:rPr lang="en-US" sz="3200" b="0" i="1" smtClean="0">
                              <a:latin typeface="Cambria Math" panose="02040503050406030204" pitchFamily="18" charset="0"/>
                              <a:ea typeface="Cambria Math" panose="02040503050406030204" pitchFamily="18" charset="0"/>
                            </a:rPr>
                            <m:t>𝑒𝑙𝑒𝑐𝑡𝑟𝑜𝑠𝑡𝑎𝑡𝑖𝑐</m:t>
                          </m:r>
                          <m:r>
                            <a:rPr lang="en-US" sz="3200" b="0" i="1" smtClean="0">
                              <a:latin typeface="Cambria Math" panose="02040503050406030204" pitchFamily="18" charset="0"/>
                              <a:ea typeface="Cambria Math" panose="02040503050406030204" pitchFamily="18" charset="0"/>
                            </a:rPr>
                            <m:t> </m:t>
                          </m:r>
                          <m:r>
                            <a:rPr lang="en-US" sz="3200" b="0" i="1" smtClean="0">
                              <a:latin typeface="Cambria Math" panose="02040503050406030204" pitchFamily="18" charset="0"/>
                              <a:ea typeface="Cambria Math" panose="02040503050406030204" pitchFamily="18" charset="0"/>
                            </a:rPr>
                            <m:t>𝑝𝑜𝑡𝑒𝑛𝑡𝑖𝑎𝑙</m:t>
                          </m:r>
                          <m:r>
                            <a:rPr lang="en-US" sz="3200" b="0" i="1" smtClean="0">
                              <a:latin typeface="Cambria Math" panose="02040503050406030204" pitchFamily="18" charset="0"/>
                              <a:ea typeface="Cambria Math" panose="02040503050406030204" pitchFamily="18" charset="0"/>
                            </a:rPr>
                            <m:t> </m:t>
                          </m:r>
                          <m:r>
                            <a:rPr lang="en-US" sz="3200" b="0" i="1" smtClean="0">
                              <a:latin typeface="Cambria Math" panose="02040503050406030204" pitchFamily="18" charset="0"/>
                              <a:ea typeface="Cambria Math" panose="02040503050406030204" pitchFamily="18" charset="0"/>
                            </a:rPr>
                            <m:t>𝑒𝑛𝑒𝑟𝑔𝑦</m:t>
                          </m:r>
                        </m:num>
                        <m:den>
                          <m:r>
                            <a:rPr lang="en-US" sz="3200" b="0" i="1" smtClean="0">
                              <a:latin typeface="Cambria Math" panose="02040503050406030204" pitchFamily="18" charset="0"/>
                              <a:ea typeface="Cambria Math" panose="02040503050406030204" pitchFamily="18" charset="0"/>
                            </a:rPr>
                            <m:t>𝑜𝑛𝑒</m:t>
                          </m:r>
                          <m:r>
                            <a:rPr lang="en-US" sz="3200" b="0" i="1" smtClean="0">
                              <a:latin typeface="Cambria Math" panose="02040503050406030204" pitchFamily="18" charset="0"/>
                              <a:ea typeface="Cambria Math" panose="02040503050406030204" pitchFamily="18" charset="0"/>
                            </a:rPr>
                            <m:t> </m:t>
                          </m:r>
                          <m:r>
                            <a:rPr lang="en-US" sz="3200" b="0" i="1" smtClean="0">
                              <a:latin typeface="Cambria Math" panose="02040503050406030204" pitchFamily="18" charset="0"/>
                              <a:ea typeface="Cambria Math" panose="02040503050406030204" pitchFamily="18" charset="0"/>
                            </a:rPr>
                            <m:t>𝑢𝑛𝑖𝑡</m:t>
                          </m:r>
                          <m:r>
                            <a:rPr lang="en-US" sz="3200" b="0" i="1" smtClean="0">
                              <a:latin typeface="Cambria Math" panose="02040503050406030204" pitchFamily="18" charset="0"/>
                              <a:ea typeface="Cambria Math" panose="02040503050406030204" pitchFamily="18" charset="0"/>
                            </a:rPr>
                            <m:t> </m:t>
                          </m:r>
                          <m:r>
                            <a:rPr lang="en-US" sz="3200" b="0" i="1" smtClean="0">
                              <a:latin typeface="Cambria Math" panose="02040503050406030204" pitchFamily="18" charset="0"/>
                              <a:ea typeface="Cambria Math" panose="02040503050406030204" pitchFamily="18" charset="0"/>
                            </a:rPr>
                            <m:t>𝑜𝑓</m:t>
                          </m:r>
                          <m:r>
                            <a:rPr lang="en-US" sz="3200" b="0" i="1" smtClean="0">
                              <a:latin typeface="Cambria Math" panose="02040503050406030204" pitchFamily="18" charset="0"/>
                              <a:ea typeface="Cambria Math" panose="02040503050406030204" pitchFamily="18" charset="0"/>
                            </a:rPr>
                            <m:t> </m:t>
                          </m:r>
                          <m:r>
                            <a:rPr lang="en-US" sz="3200" b="0" i="1" smtClean="0">
                              <a:latin typeface="Cambria Math" panose="02040503050406030204" pitchFamily="18" charset="0"/>
                              <a:ea typeface="Cambria Math" panose="02040503050406030204" pitchFamily="18" charset="0"/>
                            </a:rPr>
                            <m:t>𝑐h𝑎𝑟𝑔𝑒</m:t>
                          </m:r>
                        </m:den>
                      </m:f>
                    </m:oMath>
                  </m:oMathPara>
                </a14:m>
                <a:endParaRPr lang="en-CN" sz="3200" dirty="0"/>
              </a:p>
            </p:txBody>
          </p:sp>
        </mc:Choice>
        <mc:Fallback xmlns="">
          <p:sp>
            <p:nvSpPr>
              <p:cNvPr id="3" name="TextBox 2">
                <a:extLst>
                  <a:ext uri="{FF2B5EF4-FFF2-40B4-BE49-F238E27FC236}">
                    <a16:creationId xmlns:a16="http://schemas.microsoft.com/office/drawing/2014/main" id="{D9763F9B-C448-7F4F-AE4B-C755F70B7686}"/>
                  </a:ext>
                </a:extLst>
              </p:cNvPr>
              <p:cNvSpPr txBox="1">
                <a:spLocks noRot="1" noChangeAspect="1" noMove="1" noResize="1" noEditPoints="1" noAdjustHandles="1" noChangeArrowheads="1" noChangeShapeType="1" noTextEdit="1"/>
              </p:cNvSpPr>
              <p:nvPr/>
            </p:nvSpPr>
            <p:spPr>
              <a:xfrm>
                <a:off x="152396" y="1884218"/>
                <a:ext cx="9504217" cy="1113703"/>
              </a:xfrm>
              <a:prstGeom prst="rect">
                <a:avLst/>
              </a:prstGeom>
              <a:blipFill>
                <a:blip r:embed="rId2"/>
                <a:stretch>
                  <a:fillRect l="-1068" t="-3371" b="-1236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A0161D3-DF9B-D04B-9C78-8BD80CF7B7F4}"/>
                  </a:ext>
                </a:extLst>
              </p:cNvPr>
              <p:cNvSpPr txBox="1"/>
              <p:nvPr/>
            </p:nvSpPr>
            <p:spPr>
              <a:xfrm>
                <a:off x="270158" y="3397792"/>
                <a:ext cx="7495309" cy="111363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3200" b="0" i="1" smtClean="0">
                          <a:solidFill>
                            <a:srgbClr val="7030A0"/>
                          </a:solidFill>
                          <a:latin typeface="Cambria Math" panose="02040503050406030204" pitchFamily="18" charset="0"/>
                          <a:ea typeface="Cambria Math" panose="02040503050406030204" pitchFamily="18" charset="0"/>
                        </a:rPr>
                        <m:t>𝑇</m:t>
                      </m:r>
                      <m:r>
                        <a:rPr lang="en-US" sz="3200" b="0" i="1" smtClean="0">
                          <a:solidFill>
                            <a:srgbClr val="7030A0"/>
                          </a:solidFill>
                          <a:latin typeface="Cambria Math" panose="02040503050406030204" pitchFamily="18" charset="0"/>
                          <a:ea typeface="Cambria Math" panose="02040503050406030204" pitchFamily="18" charset="0"/>
                        </a:rPr>
                        <m:t>=</m:t>
                      </m:r>
                      <m:f>
                        <m:fPr>
                          <m:ctrlPr>
                            <a:rPr lang="en-US" sz="3200" b="0" i="1" smtClean="0">
                              <a:solidFill>
                                <a:srgbClr val="7030A0"/>
                              </a:solidFill>
                              <a:latin typeface="Cambria Math" panose="02040503050406030204" pitchFamily="18" charset="0"/>
                              <a:ea typeface="Cambria Math" panose="02040503050406030204" pitchFamily="18" charset="0"/>
                            </a:rPr>
                          </m:ctrlPr>
                        </m:fPr>
                        <m:num>
                          <m:sSub>
                            <m:sSubPr>
                              <m:ctrlPr>
                                <a:rPr lang="en-US" sz="3200" b="0" i="1" smtClean="0">
                                  <a:solidFill>
                                    <a:srgbClr val="7030A0"/>
                                  </a:solidFill>
                                  <a:latin typeface="Cambria Math" panose="02040503050406030204" pitchFamily="18" charset="0"/>
                                  <a:ea typeface="Cambria Math" panose="02040503050406030204" pitchFamily="18" charset="0"/>
                                </a:rPr>
                              </m:ctrlPr>
                            </m:sSubPr>
                            <m:e>
                              <m:r>
                                <a:rPr lang="en-US" sz="3200" b="0" i="1" smtClean="0">
                                  <a:solidFill>
                                    <a:srgbClr val="7030A0"/>
                                  </a:solidFill>
                                  <a:latin typeface="Cambria Math" panose="02040503050406030204" pitchFamily="18" charset="0"/>
                                  <a:ea typeface="Cambria Math" panose="02040503050406030204" pitchFamily="18" charset="0"/>
                                </a:rPr>
                                <m:t>𝑈</m:t>
                              </m:r>
                            </m:e>
                            <m:sub>
                              <m:r>
                                <a:rPr lang="en-US" sz="3200" b="0" i="1" smtClean="0">
                                  <a:solidFill>
                                    <a:srgbClr val="7030A0"/>
                                  </a:solidFill>
                                  <a:latin typeface="Cambria Math" panose="02040503050406030204" pitchFamily="18" charset="0"/>
                                  <a:ea typeface="Cambria Math" panose="02040503050406030204" pitchFamily="18" charset="0"/>
                                </a:rPr>
                                <m:t>𝑇</m:t>
                              </m:r>
                            </m:sub>
                          </m:sSub>
                        </m:num>
                        <m:den>
                          <m:r>
                            <a:rPr lang="en-US" sz="3200" b="0" i="1" smtClean="0">
                              <a:solidFill>
                                <a:srgbClr val="7030A0"/>
                              </a:solidFill>
                              <a:latin typeface="Cambria Math" panose="02040503050406030204" pitchFamily="18" charset="0"/>
                              <a:ea typeface="Cambria Math" panose="02040503050406030204" pitchFamily="18" charset="0"/>
                            </a:rPr>
                            <m:t>𝑆</m:t>
                          </m:r>
                        </m:den>
                      </m:f>
                      <m:r>
                        <a:rPr lang="en-US" sz="3200" b="0" i="1" smtClean="0">
                          <a:solidFill>
                            <a:srgbClr val="7030A0"/>
                          </a:solidFill>
                          <a:latin typeface="Cambria Math" panose="02040503050406030204" pitchFamily="18" charset="0"/>
                          <a:ea typeface="Cambria Math" panose="02040503050406030204" pitchFamily="18" charset="0"/>
                        </a:rPr>
                        <m:t>=</m:t>
                      </m:r>
                      <m:f>
                        <m:fPr>
                          <m:ctrlPr>
                            <a:rPr lang="en-US" sz="3200" b="0" i="1" smtClean="0">
                              <a:solidFill>
                                <a:srgbClr val="7030A0"/>
                              </a:solidFill>
                              <a:latin typeface="Cambria Math" panose="02040503050406030204" pitchFamily="18" charset="0"/>
                              <a:ea typeface="Cambria Math" panose="02040503050406030204" pitchFamily="18" charset="0"/>
                            </a:rPr>
                          </m:ctrlPr>
                        </m:fPr>
                        <m:num>
                          <m:r>
                            <a:rPr lang="en-US" sz="3200" b="0" i="1" smtClean="0">
                              <a:solidFill>
                                <a:srgbClr val="7030A0"/>
                              </a:solidFill>
                              <a:latin typeface="Cambria Math" panose="02040503050406030204" pitchFamily="18" charset="0"/>
                              <a:ea typeface="Cambria Math" panose="02040503050406030204" pitchFamily="18" charset="0"/>
                            </a:rPr>
                            <m:t>𝑡h𝑒𝑟𝑚𝑎𝑙</m:t>
                          </m:r>
                          <m:r>
                            <a:rPr lang="en-US" sz="3200" b="0" i="1" smtClean="0">
                              <a:solidFill>
                                <a:srgbClr val="7030A0"/>
                              </a:solidFill>
                              <a:latin typeface="Cambria Math" panose="02040503050406030204" pitchFamily="18" charset="0"/>
                              <a:ea typeface="Cambria Math" panose="02040503050406030204" pitchFamily="18" charset="0"/>
                            </a:rPr>
                            <m:t> </m:t>
                          </m:r>
                          <m:r>
                            <a:rPr lang="en-US" sz="3200" b="0" i="1" smtClean="0">
                              <a:solidFill>
                                <a:srgbClr val="7030A0"/>
                              </a:solidFill>
                              <a:latin typeface="Cambria Math" panose="02040503050406030204" pitchFamily="18" charset="0"/>
                              <a:ea typeface="Cambria Math" panose="02040503050406030204" pitchFamily="18" charset="0"/>
                            </a:rPr>
                            <m:t>𝑝𝑜𝑒𝑛𝑡𝑖𝑎𝑙</m:t>
                          </m:r>
                          <m:r>
                            <a:rPr lang="en-US" sz="3200" b="0" i="1" smtClean="0">
                              <a:solidFill>
                                <a:srgbClr val="7030A0"/>
                              </a:solidFill>
                              <a:latin typeface="Cambria Math" panose="02040503050406030204" pitchFamily="18" charset="0"/>
                              <a:ea typeface="Cambria Math" panose="02040503050406030204" pitchFamily="18" charset="0"/>
                            </a:rPr>
                            <m:t> </m:t>
                          </m:r>
                          <m:r>
                            <a:rPr lang="en-US" sz="3200" b="0" i="1" smtClean="0">
                              <a:solidFill>
                                <a:srgbClr val="7030A0"/>
                              </a:solidFill>
                              <a:latin typeface="Cambria Math" panose="02040503050406030204" pitchFamily="18" charset="0"/>
                              <a:ea typeface="Cambria Math" panose="02040503050406030204" pitchFamily="18" charset="0"/>
                            </a:rPr>
                            <m:t>𝑒𝑛𝑒𝑟𝑔𝑦</m:t>
                          </m:r>
                        </m:num>
                        <m:den>
                          <m:r>
                            <a:rPr lang="en-US" sz="3200" b="0" i="1" smtClean="0">
                              <a:solidFill>
                                <a:srgbClr val="7030A0"/>
                              </a:solidFill>
                              <a:latin typeface="Cambria Math" panose="02040503050406030204" pitchFamily="18" charset="0"/>
                              <a:ea typeface="Cambria Math" panose="02040503050406030204" pitchFamily="18" charset="0"/>
                            </a:rPr>
                            <m:t>𝑜𝑛𝑒</m:t>
                          </m:r>
                          <m:r>
                            <a:rPr lang="en-US" sz="3200" b="0" i="1" smtClean="0">
                              <a:solidFill>
                                <a:srgbClr val="7030A0"/>
                              </a:solidFill>
                              <a:latin typeface="Cambria Math" panose="02040503050406030204" pitchFamily="18" charset="0"/>
                              <a:ea typeface="Cambria Math" panose="02040503050406030204" pitchFamily="18" charset="0"/>
                            </a:rPr>
                            <m:t> </m:t>
                          </m:r>
                          <m:r>
                            <a:rPr lang="en-US" sz="3200" b="0" i="1" smtClean="0">
                              <a:solidFill>
                                <a:srgbClr val="7030A0"/>
                              </a:solidFill>
                              <a:latin typeface="Cambria Math" panose="02040503050406030204" pitchFamily="18" charset="0"/>
                              <a:ea typeface="Cambria Math" panose="02040503050406030204" pitchFamily="18" charset="0"/>
                            </a:rPr>
                            <m:t>𝑢𝑛𝑖𝑡</m:t>
                          </m:r>
                          <m:r>
                            <a:rPr lang="en-US" sz="3200" b="0" i="1" smtClean="0">
                              <a:solidFill>
                                <a:srgbClr val="7030A0"/>
                              </a:solidFill>
                              <a:latin typeface="Cambria Math" panose="02040503050406030204" pitchFamily="18" charset="0"/>
                              <a:ea typeface="Cambria Math" panose="02040503050406030204" pitchFamily="18" charset="0"/>
                            </a:rPr>
                            <m:t> </m:t>
                          </m:r>
                          <m:r>
                            <a:rPr lang="en-US" sz="3200" b="0" i="1" smtClean="0">
                              <a:solidFill>
                                <a:srgbClr val="7030A0"/>
                              </a:solidFill>
                              <a:latin typeface="Cambria Math" panose="02040503050406030204" pitchFamily="18" charset="0"/>
                              <a:ea typeface="Cambria Math" panose="02040503050406030204" pitchFamily="18" charset="0"/>
                            </a:rPr>
                            <m:t>𝑜𝑓</m:t>
                          </m:r>
                          <m:r>
                            <a:rPr lang="en-US" sz="3200" b="0" i="1" smtClean="0">
                              <a:solidFill>
                                <a:srgbClr val="7030A0"/>
                              </a:solidFill>
                              <a:latin typeface="Cambria Math" panose="02040503050406030204" pitchFamily="18" charset="0"/>
                              <a:ea typeface="Cambria Math" panose="02040503050406030204" pitchFamily="18" charset="0"/>
                            </a:rPr>
                            <m:t> </m:t>
                          </m:r>
                          <m:r>
                            <a:rPr lang="en-US" sz="3200" b="0" i="1" smtClean="0">
                              <a:solidFill>
                                <a:srgbClr val="7030A0"/>
                              </a:solidFill>
                              <a:latin typeface="Cambria Math" panose="02040503050406030204" pitchFamily="18" charset="0"/>
                              <a:ea typeface="Cambria Math" panose="02040503050406030204" pitchFamily="18" charset="0"/>
                            </a:rPr>
                            <m:t>𝑒𝑛𝑡𝑟𝑜𝑝𝑦</m:t>
                          </m:r>
                        </m:den>
                      </m:f>
                    </m:oMath>
                  </m:oMathPara>
                </a14:m>
                <a:endParaRPr lang="en-CN" sz="3200" dirty="0">
                  <a:solidFill>
                    <a:srgbClr val="FF0000"/>
                  </a:solidFill>
                </a:endParaRPr>
              </a:p>
            </p:txBody>
          </p:sp>
        </mc:Choice>
        <mc:Fallback xmlns="">
          <p:sp>
            <p:nvSpPr>
              <p:cNvPr id="4" name="TextBox 3">
                <a:extLst>
                  <a:ext uri="{FF2B5EF4-FFF2-40B4-BE49-F238E27FC236}">
                    <a16:creationId xmlns:a16="http://schemas.microsoft.com/office/drawing/2014/main" id="{BA0161D3-DF9B-D04B-9C78-8BD80CF7B7F4}"/>
                  </a:ext>
                </a:extLst>
              </p:cNvPr>
              <p:cNvSpPr txBox="1">
                <a:spLocks noRot="1" noChangeAspect="1" noMove="1" noResize="1" noEditPoints="1" noAdjustHandles="1" noChangeArrowheads="1" noChangeShapeType="1" noTextEdit="1"/>
              </p:cNvSpPr>
              <p:nvPr/>
            </p:nvSpPr>
            <p:spPr>
              <a:xfrm>
                <a:off x="270158" y="3397792"/>
                <a:ext cx="7495309" cy="1113638"/>
              </a:xfrm>
              <a:prstGeom prst="rect">
                <a:avLst/>
              </a:prstGeom>
              <a:blipFill>
                <a:blip r:embed="rId3"/>
                <a:stretch>
                  <a:fillRect l="-677" t="-3371" b="-1236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B144306-6955-D94A-8BA9-C6C5A1D73E76}"/>
                  </a:ext>
                </a:extLst>
              </p:cNvPr>
              <p:cNvSpPr txBox="1"/>
              <p:nvPr/>
            </p:nvSpPr>
            <p:spPr>
              <a:xfrm>
                <a:off x="270158" y="4911301"/>
                <a:ext cx="8714508" cy="102752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3200" b="0" i="1" smtClean="0">
                          <a:solidFill>
                            <a:srgbClr val="7030A0"/>
                          </a:solidFill>
                          <a:latin typeface="Cambria Math" panose="02040503050406030204" pitchFamily="18" charset="0"/>
                          <a:ea typeface="Cambria Math" panose="02040503050406030204" pitchFamily="18" charset="0"/>
                        </a:rPr>
                        <m:t>𝑝</m:t>
                      </m:r>
                      <m:r>
                        <a:rPr lang="en-US" sz="3200" b="0" i="1" smtClean="0">
                          <a:solidFill>
                            <a:srgbClr val="7030A0"/>
                          </a:solidFill>
                          <a:latin typeface="Cambria Math" panose="02040503050406030204" pitchFamily="18" charset="0"/>
                          <a:ea typeface="Cambria Math" panose="02040503050406030204" pitchFamily="18" charset="0"/>
                        </a:rPr>
                        <m:t>=−</m:t>
                      </m:r>
                      <m:f>
                        <m:fPr>
                          <m:ctrlPr>
                            <a:rPr lang="en-US" sz="3200" b="0" i="1" smtClean="0">
                              <a:solidFill>
                                <a:srgbClr val="7030A0"/>
                              </a:solidFill>
                              <a:latin typeface="Cambria Math" panose="02040503050406030204" pitchFamily="18" charset="0"/>
                              <a:ea typeface="Cambria Math" panose="02040503050406030204" pitchFamily="18" charset="0"/>
                            </a:rPr>
                          </m:ctrlPr>
                        </m:fPr>
                        <m:num>
                          <m:sSub>
                            <m:sSubPr>
                              <m:ctrlPr>
                                <a:rPr lang="en-US" sz="3200" b="0" i="1" smtClean="0">
                                  <a:solidFill>
                                    <a:srgbClr val="7030A0"/>
                                  </a:solidFill>
                                  <a:latin typeface="Cambria Math" panose="02040503050406030204" pitchFamily="18" charset="0"/>
                                  <a:ea typeface="Cambria Math" panose="02040503050406030204" pitchFamily="18" charset="0"/>
                                </a:rPr>
                              </m:ctrlPr>
                            </m:sSubPr>
                            <m:e>
                              <m:r>
                                <a:rPr lang="en-US" sz="3200" b="0" i="1" smtClean="0">
                                  <a:solidFill>
                                    <a:srgbClr val="7030A0"/>
                                  </a:solidFill>
                                  <a:latin typeface="Cambria Math" panose="02040503050406030204" pitchFamily="18" charset="0"/>
                                  <a:ea typeface="Cambria Math" panose="02040503050406030204" pitchFamily="18" charset="0"/>
                                </a:rPr>
                                <m:t>𝑈</m:t>
                              </m:r>
                            </m:e>
                            <m:sub>
                              <m:r>
                                <a:rPr lang="en-US" sz="3200" b="0" i="1" smtClean="0">
                                  <a:solidFill>
                                    <a:srgbClr val="7030A0"/>
                                  </a:solidFill>
                                  <a:latin typeface="Cambria Math" panose="02040503050406030204" pitchFamily="18" charset="0"/>
                                  <a:ea typeface="Cambria Math" panose="02040503050406030204" pitchFamily="18" charset="0"/>
                                </a:rPr>
                                <m:t>𝑚</m:t>
                              </m:r>
                            </m:sub>
                          </m:sSub>
                        </m:num>
                        <m:den>
                          <m:r>
                            <a:rPr lang="en-US" sz="3200" b="0" i="1" smtClean="0">
                              <a:solidFill>
                                <a:srgbClr val="7030A0"/>
                              </a:solidFill>
                              <a:latin typeface="Cambria Math" panose="02040503050406030204" pitchFamily="18" charset="0"/>
                              <a:ea typeface="Cambria Math" panose="02040503050406030204" pitchFamily="18" charset="0"/>
                            </a:rPr>
                            <m:t>𝑉</m:t>
                          </m:r>
                        </m:den>
                      </m:f>
                      <m:r>
                        <a:rPr lang="en-US" sz="3200" b="0" i="1" smtClean="0">
                          <a:solidFill>
                            <a:srgbClr val="7030A0"/>
                          </a:solidFill>
                          <a:latin typeface="Cambria Math" panose="02040503050406030204" pitchFamily="18" charset="0"/>
                          <a:ea typeface="Cambria Math" panose="02040503050406030204" pitchFamily="18" charset="0"/>
                        </a:rPr>
                        <m:t>=</m:t>
                      </m:r>
                      <m:f>
                        <m:fPr>
                          <m:ctrlPr>
                            <a:rPr lang="en-US" sz="3200" b="0" i="1" smtClean="0">
                              <a:solidFill>
                                <a:srgbClr val="7030A0"/>
                              </a:solidFill>
                              <a:latin typeface="Cambria Math" panose="02040503050406030204" pitchFamily="18" charset="0"/>
                              <a:ea typeface="Cambria Math" panose="02040503050406030204" pitchFamily="18" charset="0"/>
                            </a:rPr>
                          </m:ctrlPr>
                        </m:fPr>
                        <m:num>
                          <m:r>
                            <a:rPr lang="en-US" sz="3200" b="0" i="1" smtClean="0">
                              <a:solidFill>
                                <a:srgbClr val="7030A0"/>
                              </a:solidFill>
                              <a:latin typeface="Cambria Math" panose="02040503050406030204" pitchFamily="18" charset="0"/>
                              <a:ea typeface="Cambria Math" panose="02040503050406030204" pitchFamily="18" charset="0"/>
                            </a:rPr>
                            <m:t>𝑚𝑒𝑐h𝑎𝑛𝑖𝑐𝑎𝑙</m:t>
                          </m:r>
                          <m:r>
                            <a:rPr lang="en-US" sz="3200" b="0" i="1" smtClean="0">
                              <a:solidFill>
                                <a:srgbClr val="7030A0"/>
                              </a:solidFill>
                              <a:latin typeface="Cambria Math" panose="02040503050406030204" pitchFamily="18" charset="0"/>
                              <a:ea typeface="Cambria Math" panose="02040503050406030204" pitchFamily="18" charset="0"/>
                            </a:rPr>
                            <m:t> </m:t>
                          </m:r>
                          <m:r>
                            <a:rPr lang="en-US" sz="3200" b="0" i="1" smtClean="0">
                              <a:solidFill>
                                <a:srgbClr val="7030A0"/>
                              </a:solidFill>
                              <a:latin typeface="Cambria Math" panose="02040503050406030204" pitchFamily="18" charset="0"/>
                              <a:ea typeface="Cambria Math" panose="02040503050406030204" pitchFamily="18" charset="0"/>
                            </a:rPr>
                            <m:t>𝑝𝑜𝑡𝑒𝑛𝑡𝑖𝑎𝑙</m:t>
                          </m:r>
                          <m:r>
                            <a:rPr lang="en-US" sz="3200" b="0" i="1" smtClean="0">
                              <a:solidFill>
                                <a:srgbClr val="7030A0"/>
                              </a:solidFill>
                              <a:latin typeface="Cambria Math" panose="02040503050406030204" pitchFamily="18" charset="0"/>
                              <a:ea typeface="Cambria Math" panose="02040503050406030204" pitchFamily="18" charset="0"/>
                            </a:rPr>
                            <m:t> </m:t>
                          </m:r>
                          <m:r>
                            <a:rPr lang="en-US" sz="3200" b="0" i="1" smtClean="0">
                              <a:solidFill>
                                <a:srgbClr val="7030A0"/>
                              </a:solidFill>
                              <a:latin typeface="Cambria Math" panose="02040503050406030204" pitchFamily="18" charset="0"/>
                              <a:ea typeface="Cambria Math" panose="02040503050406030204" pitchFamily="18" charset="0"/>
                            </a:rPr>
                            <m:t>𝑒𝑛𝑒𝑟𝑔𝑦</m:t>
                          </m:r>
                        </m:num>
                        <m:den>
                          <m:r>
                            <a:rPr lang="en-US" sz="3200" b="0" i="1" smtClean="0">
                              <a:solidFill>
                                <a:srgbClr val="7030A0"/>
                              </a:solidFill>
                              <a:latin typeface="Cambria Math" panose="02040503050406030204" pitchFamily="18" charset="0"/>
                              <a:ea typeface="Cambria Math" panose="02040503050406030204" pitchFamily="18" charset="0"/>
                            </a:rPr>
                            <m:t>𝑢𝑛𝑖𝑡</m:t>
                          </m:r>
                          <m:r>
                            <a:rPr lang="en-US" sz="3200" b="0" i="1" smtClean="0">
                              <a:solidFill>
                                <a:srgbClr val="7030A0"/>
                              </a:solidFill>
                              <a:latin typeface="Cambria Math" panose="02040503050406030204" pitchFamily="18" charset="0"/>
                              <a:ea typeface="Cambria Math" panose="02040503050406030204" pitchFamily="18" charset="0"/>
                            </a:rPr>
                            <m:t> </m:t>
                          </m:r>
                          <m:r>
                            <a:rPr lang="en-US" sz="3200" b="0" i="1" smtClean="0">
                              <a:solidFill>
                                <a:srgbClr val="7030A0"/>
                              </a:solidFill>
                              <a:latin typeface="Cambria Math" panose="02040503050406030204" pitchFamily="18" charset="0"/>
                              <a:ea typeface="Cambria Math" panose="02040503050406030204" pitchFamily="18" charset="0"/>
                            </a:rPr>
                            <m:t>𝑣𝑜𝑙𝑢𝑚𝑒</m:t>
                          </m:r>
                        </m:den>
                      </m:f>
                    </m:oMath>
                  </m:oMathPara>
                </a14:m>
                <a:endParaRPr lang="en-CN" sz="3200" dirty="0"/>
              </a:p>
            </p:txBody>
          </p:sp>
        </mc:Choice>
        <mc:Fallback xmlns="">
          <p:sp>
            <p:nvSpPr>
              <p:cNvPr id="5" name="TextBox 4">
                <a:extLst>
                  <a:ext uri="{FF2B5EF4-FFF2-40B4-BE49-F238E27FC236}">
                    <a16:creationId xmlns:a16="http://schemas.microsoft.com/office/drawing/2014/main" id="{9B144306-6955-D94A-8BA9-C6C5A1D73E76}"/>
                  </a:ext>
                </a:extLst>
              </p:cNvPr>
              <p:cNvSpPr txBox="1">
                <a:spLocks noRot="1" noChangeAspect="1" noMove="1" noResize="1" noEditPoints="1" noAdjustHandles="1" noChangeArrowheads="1" noChangeShapeType="1" noTextEdit="1"/>
              </p:cNvSpPr>
              <p:nvPr/>
            </p:nvSpPr>
            <p:spPr>
              <a:xfrm>
                <a:off x="270158" y="4911301"/>
                <a:ext cx="8714508" cy="1027525"/>
              </a:xfrm>
              <a:prstGeom prst="rect">
                <a:avLst/>
              </a:prstGeom>
              <a:blipFill>
                <a:blip r:embed="rId4"/>
                <a:stretch>
                  <a:fillRect l="-582" t="-2439" b="-23171"/>
                </a:stretch>
              </a:blipFill>
            </p:spPr>
            <p:txBody>
              <a:bodyPr/>
              <a:lstStyle/>
              <a:p>
                <a:r>
                  <a:rPr lang="en-CN">
                    <a:noFill/>
                  </a:rPr>
                  <a:t> </a:t>
                </a:r>
              </a:p>
            </p:txBody>
          </p:sp>
        </mc:Fallback>
      </mc:AlternateContent>
      <p:cxnSp>
        <p:nvCxnSpPr>
          <p:cNvPr id="7" name="Straight Arrow Connector 6">
            <a:extLst>
              <a:ext uri="{FF2B5EF4-FFF2-40B4-BE49-F238E27FC236}">
                <a16:creationId xmlns:a16="http://schemas.microsoft.com/office/drawing/2014/main" id="{58EFF554-B8AD-3F44-A1B8-4231E13D8882}"/>
              </a:ext>
            </a:extLst>
          </p:cNvPr>
          <p:cNvCxnSpPr/>
          <p:nvPr/>
        </p:nvCxnSpPr>
        <p:spPr>
          <a:xfrm flipV="1">
            <a:off x="9421091" y="2272145"/>
            <a:ext cx="0" cy="315291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30EC563-B668-D34C-BC58-510283144A09}"/>
              </a:ext>
            </a:extLst>
          </p:cNvPr>
          <p:cNvCxnSpPr/>
          <p:nvPr/>
        </p:nvCxnSpPr>
        <p:spPr>
          <a:xfrm>
            <a:off x="9656613" y="3588327"/>
            <a:ext cx="942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855DC1-7F18-E44C-B9A9-BEB1466AB493}"/>
              </a:ext>
            </a:extLst>
          </p:cNvPr>
          <p:cNvCxnSpPr/>
          <p:nvPr/>
        </p:nvCxnSpPr>
        <p:spPr>
          <a:xfrm>
            <a:off x="9712028" y="5098472"/>
            <a:ext cx="942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F890229-C0BA-394F-A448-B77C559098E6}"/>
              </a:ext>
            </a:extLst>
          </p:cNvPr>
          <p:cNvCxnSpPr/>
          <p:nvPr/>
        </p:nvCxnSpPr>
        <p:spPr>
          <a:xfrm>
            <a:off x="10127670" y="3767440"/>
            <a:ext cx="0" cy="1143861"/>
          </a:xfrm>
          <a:prstGeom prst="straightConnector1">
            <a:avLst/>
          </a:prstGeom>
          <a:ln>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471F745-F717-0143-96CD-3D784B4EE387}"/>
              </a:ext>
            </a:extLst>
          </p:cNvPr>
          <p:cNvSpPr txBox="1"/>
          <p:nvPr/>
        </p:nvSpPr>
        <p:spPr>
          <a:xfrm>
            <a:off x="10714390" y="3185208"/>
            <a:ext cx="1405430" cy="2308324"/>
          </a:xfrm>
          <a:prstGeom prst="rect">
            <a:avLst/>
          </a:prstGeom>
          <a:noFill/>
        </p:spPr>
        <p:txBody>
          <a:bodyPr wrap="square" rtlCol="0">
            <a:spAutoFit/>
          </a:bodyPr>
          <a:lstStyle/>
          <a:p>
            <a:r>
              <a:rPr lang="en-CN" dirty="0">
                <a:solidFill>
                  <a:srgbClr val="FF0000"/>
                </a:solidFill>
              </a:rPr>
              <a:t>Particles tend to flow from the system with higher mu into the system with lower mu.</a:t>
            </a:r>
          </a:p>
        </p:txBody>
      </p:sp>
    </p:spTree>
    <p:extLst>
      <p:ext uri="{BB962C8B-B14F-4D97-AF65-F5344CB8AC3E}">
        <p14:creationId xmlns:p14="http://schemas.microsoft.com/office/powerpoint/2010/main" val="3512444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7F8688-100F-919C-9BC6-60BEBDAC1E51}"/>
              </a:ext>
            </a:extLst>
          </p:cNvPr>
          <p:cNvPicPr>
            <a:picLocks noChangeAspect="1"/>
          </p:cNvPicPr>
          <p:nvPr/>
        </p:nvPicPr>
        <p:blipFill>
          <a:blip r:embed="rId2"/>
          <a:stretch>
            <a:fillRect/>
          </a:stretch>
        </p:blipFill>
        <p:spPr>
          <a:xfrm>
            <a:off x="154598" y="648588"/>
            <a:ext cx="11882803" cy="5124892"/>
          </a:xfrm>
          <a:prstGeom prst="rect">
            <a:avLst/>
          </a:prstGeom>
        </p:spPr>
      </p:pic>
    </p:spTree>
    <p:extLst>
      <p:ext uri="{BB962C8B-B14F-4D97-AF65-F5344CB8AC3E}">
        <p14:creationId xmlns:p14="http://schemas.microsoft.com/office/powerpoint/2010/main" val="3634600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3241387-B2B4-A14A-BABA-365287418E04}"/>
                  </a:ext>
                </a:extLst>
              </p:cNvPr>
              <p:cNvSpPr txBox="1"/>
              <p:nvPr/>
            </p:nvSpPr>
            <p:spPr>
              <a:xfrm>
                <a:off x="277091" y="221673"/>
                <a:ext cx="11333018" cy="1465786"/>
              </a:xfrm>
              <a:prstGeom prst="rect">
                <a:avLst/>
              </a:prstGeom>
              <a:noFill/>
            </p:spPr>
            <p:txBody>
              <a:bodyPr wrap="square" rtlCol="0">
                <a:spAutoFit/>
              </a:bodyPr>
              <a:lstStyle/>
              <a:p>
                <a:r>
                  <a:rPr lang="en-CN" dirty="0"/>
                  <a:t>Q: Consider an Einstein solid for which both N and q are much greater than 1. Think of each oscillator as a sep</a:t>
                </a:r>
                <a:r>
                  <a:rPr lang="en-US" dirty="0"/>
                  <a:t>a</a:t>
                </a:r>
                <a:r>
                  <a:rPr lang="en-CN" dirty="0"/>
                  <a:t>rate particle.</a:t>
                </a:r>
              </a:p>
              <a:p>
                <a:r>
                  <a:rPr lang="en-CN" dirty="0"/>
                  <a:t>     Show that the chemical potential is </a:t>
                </a: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𝑞</m:t>
                              </m:r>
                            </m:num>
                            <m:den>
                              <m:r>
                                <a:rPr lang="en-US" b="0" i="1" smtClean="0">
                                  <a:latin typeface="Cambria Math" panose="02040503050406030204" pitchFamily="18" charset="0"/>
                                  <a:ea typeface="Cambria Math" panose="02040503050406030204" pitchFamily="18" charset="0"/>
                                </a:rPr>
                                <m:t>𝑁</m:t>
                              </m:r>
                            </m:den>
                          </m:f>
                        </m:e>
                      </m:func>
                    </m:oMath>
                  </m:oMathPara>
                </a14:m>
                <a:endParaRPr lang="en-CN" dirty="0"/>
              </a:p>
            </p:txBody>
          </p:sp>
        </mc:Choice>
        <mc:Fallback xmlns="">
          <p:sp>
            <p:nvSpPr>
              <p:cNvPr id="2" name="TextBox 1">
                <a:extLst>
                  <a:ext uri="{FF2B5EF4-FFF2-40B4-BE49-F238E27FC236}">
                    <a16:creationId xmlns:a16="http://schemas.microsoft.com/office/drawing/2014/main" id="{E3241387-B2B4-A14A-BABA-365287418E04}"/>
                  </a:ext>
                </a:extLst>
              </p:cNvPr>
              <p:cNvSpPr txBox="1">
                <a:spLocks noRot="1" noChangeAspect="1" noMove="1" noResize="1" noEditPoints="1" noAdjustHandles="1" noChangeArrowheads="1" noChangeShapeType="1" noTextEdit="1"/>
              </p:cNvSpPr>
              <p:nvPr/>
            </p:nvSpPr>
            <p:spPr>
              <a:xfrm>
                <a:off x="277091" y="221673"/>
                <a:ext cx="11333018" cy="1465786"/>
              </a:xfrm>
              <a:prstGeom prst="rect">
                <a:avLst/>
              </a:prstGeom>
              <a:blipFill>
                <a:blip r:embed="rId2"/>
                <a:stretch>
                  <a:fillRect l="-447" t="-1724"/>
                </a:stretch>
              </a:blipFill>
            </p:spPr>
            <p:txBody>
              <a:bodyPr/>
              <a:lstStyle/>
              <a:p>
                <a:r>
                  <a:rPr lang="en-CN">
                    <a:noFill/>
                  </a:rPr>
                  <a:t> </a:t>
                </a:r>
              </a:p>
            </p:txBody>
          </p:sp>
        </mc:Fallback>
      </mc:AlternateContent>
      <p:sp>
        <p:nvSpPr>
          <p:cNvPr id="6" name="TextBox 5">
            <a:extLst>
              <a:ext uri="{FF2B5EF4-FFF2-40B4-BE49-F238E27FC236}">
                <a16:creationId xmlns:a16="http://schemas.microsoft.com/office/drawing/2014/main" id="{8EA1ABE4-A56B-754D-ABFD-EAA31D80D633}"/>
              </a:ext>
            </a:extLst>
          </p:cNvPr>
          <p:cNvSpPr txBox="1"/>
          <p:nvPr/>
        </p:nvSpPr>
        <p:spPr>
          <a:xfrm>
            <a:off x="665018" y="1852434"/>
            <a:ext cx="10404764" cy="461665"/>
          </a:xfrm>
          <a:prstGeom prst="rect">
            <a:avLst/>
          </a:prstGeom>
          <a:noFill/>
        </p:spPr>
        <p:txBody>
          <a:bodyPr wrap="square" rtlCol="0">
            <a:spAutoFit/>
          </a:bodyPr>
          <a:lstStyle/>
          <a:p>
            <a:r>
              <a:rPr lang="zh-CN" altLang="en-US" sz="2400" dirty="0"/>
              <a:t>是否可以从自由能出发得到答案呢？</a:t>
            </a:r>
            <a:endParaRPr lang="en-US" altLang="zh-CN" sz="2400" dirty="0"/>
          </a:p>
        </p:txBody>
      </p:sp>
    </p:spTree>
    <p:extLst>
      <p:ext uri="{BB962C8B-B14F-4D97-AF65-F5344CB8AC3E}">
        <p14:creationId xmlns:p14="http://schemas.microsoft.com/office/powerpoint/2010/main" val="3996791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3241387-B2B4-A14A-BABA-365287418E04}"/>
                  </a:ext>
                </a:extLst>
              </p:cNvPr>
              <p:cNvSpPr txBox="1"/>
              <p:nvPr/>
            </p:nvSpPr>
            <p:spPr>
              <a:xfrm>
                <a:off x="277091" y="221673"/>
                <a:ext cx="11333018" cy="1465786"/>
              </a:xfrm>
              <a:prstGeom prst="rect">
                <a:avLst/>
              </a:prstGeom>
              <a:noFill/>
            </p:spPr>
            <p:txBody>
              <a:bodyPr wrap="square" rtlCol="0">
                <a:spAutoFit/>
              </a:bodyPr>
              <a:lstStyle/>
              <a:p>
                <a:r>
                  <a:rPr lang="en-CN" dirty="0"/>
                  <a:t>Q: Consider an Einstein solid for which both N and q are much greater than 1. Think of each oscillator as a sep</a:t>
                </a:r>
                <a:r>
                  <a:rPr lang="en-US" dirty="0"/>
                  <a:t>a</a:t>
                </a:r>
                <a:r>
                  <a:rPr lang="en-CN" dirty="0"/>
                  <a:t>rate particle.</a:t>
                </a:r>
              </a:p>
              <a:p>
                <a:r>
                  <a:rPr lang="en-CN" dirty="0"/>
                  <a:t>     Show that the chemical potential is </a:t>
                </a: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𝑞</m:t>
                              </m:r>
                            </m:num>
                            <m:den>
                              <m:r>
                                <a:rPr lang="en-US" b="0" i="1" smtClean="0">
                                  <a:latin typeface="Cambria Math" panose="02040503050406030204" pitchFamily="18" charset="0"/>
                                  <a:ea typeface="Cambria Math" panose="02040503050406030204" pitchFamily="18" charset="0"/>
                                </a:rPr>
                                <m:t>𝑁</m:t>
                              </m:r>
                            </m:den>
                          </m:f>
                        </m:e>
                      </m:func>
                    </m:oMath>
                  </m:oMathPara>
                </a14:m>
                <a:endParaRPr lang="en-CN" dirty="0"/>
              </a:p>
            </p:txBody>
          </p:sp>
        </mc:Choice>
        <mc:Fallback xmlns="">
          <p:sp>
            <p:nvSpPr>
              <p:cNvPr id="2" name="TextBox 1">
                <a:extLst>
                  <a:ext uri="{FF2B5EF4-FFF2-40B4-BE49-F238E27FC236}">
                    <a16:creationId xmlns:a16="http://schemas.microsoft.com/office/drawing/2014/main" id="{E3241387-B2B4-A14A-BABA-365287418E04}"/>
                  </a:ext>
                </a:extLst>
              </p:cNvPr>
              <p:cNvSpPr txBox="1">
                <a:spLocks noRot="1" noChangeAspect="1" noMove="1" noResize="1" noEditPoints="1" noAdjustHandles="1" noChangeArrowheads="1" noChangeShapeType="1" noTextEdit="1"/>
              </p:cNvSpPr>
              <p:nvPr/>
            </p:nvSpPr>
            <p:spPr>
              <a:xfrm>
                <a:off x="277091" y="221673"/>
                <a:ext cx="11333018" cy="1465786"/>
              </a:xfrm>
              <a:prstGeom prst="rect">
                <a:avLst/>
              </a:prstGeom>
              <a:blipFill>
                <a:blip r:embed="rId2"/>
                <a:stretch>
                  <a:fillRect l="-447" t="-1724"/>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EA1ABE4-A56B-754D-ABFD-EAA31D80D633}"/>
                  </a:ext>
                </a:extLst>
              </p:cNvPr>
              <p:cNvSpPr txBox="1"/>
              <p:nvPr/>
            </p:nvSpPr>
            <p:spPr>
              <a:xfrm>
                <a:off x="665018" y="1852434"/>
                <a:ext cx="10404764" cy="4659096"/>
              </a:xfrm>
              <a:prstGeom prst="rect">
                <a:avLst/>
              </a:prstGeom>
              <a:noFill/>
            </p:spPr>
            <p:txBody>
              <a:bodyPr wrap="square" rtlCol="0">
                <a:spAutoFit/>
              </a:bodyPr>
              <a:lstStyle/>
              <a:p>
                <a:r>
                  <a:rPr lang="zh-CN" altLang="en-US" sz="2400" dirty="0"/>
                  <a:t>是否可以从自由能出发得到答案呢？尝试如下：</a:t>
                </a:r>
                <a:endParaRPr lang="en-US" altLang="zh-CN" sz="2400" dirty="0"/>
              </a:p>
              <a:p>
                <a:r>
                  <a:rPr lang="zh-CN" altLang="en-US" sz="2400" dirty="0"/>
                  <a:t>一、假设该系统和热库接触，获得温度</a:t>
                </a:r>
                <a:r>
                  <a:rPr lang="en-US" altLang="zh-CN" sz="2400" dirty="0"/>
                  <a:t>tau</a:t>
                </a:r>
                <a:r>
                  <a:rPr lang="zh-CN" altLang="en-US" sz="2400" dirty="0"/>
                  <a:t>，那么自由能该如何表示呢？首先给出</a:t>
                </a:r>
                <a:r>
                  <a:rPr lang="en-US" altLang="zh-CN" sz="2400" dirty="0"/>
                  <a:t>Landau</a:t>
                </a:r>
                <a:r>
                  <a:rPr lang="zh-CN" altLang="en-US" sz="2400" dirty="0"/>
                  <a:t>自由能（未取极值之前）</a:t>
                </a:r>
                <a:endParaRPr lang="en-US" altLang="zh-CN" sz="2400" dirty="0"/>
              </a:p>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𝐹</m:t>
                      </m:r>
                      <m:r>
                        <a:rPr lang="en-US" sz="2400" b="0" i="1" smtClean="0">
                          <a:latin typeface="Cambria Math" panose="02040503050406030204" pitchFamily="18" charset="0"/>
                        </a:rPr>
                        <m:t>=</m:t>
                      </m:r>
                      <m:r>
                        <a:rPr lang="en-US" sz="2400" b="0" i="1" smtClean="0">
                          <a:latin typeface="Cambria Math" panose="02040503050406030204" pitchFamily="18" charset="0"/>
                        </a:rPr>
                        <m:t>𝑈</m:t>
                      </m:r>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𝜎𝜏</m:t>
                      </m:r>
                    </m:oMath>
                  </m:oMathPara>
                </a14:m>
                <a:endParaRPr lang="en-CN" sz="2400" dirty="0"/>
              </a:p>
              <a:p>
                <a:r>
                  <a:rPr lang="en-CN" sz="2400" dirty="0"/>
                  <a:t>其中能量表示为 U=q hf</a:t>
                </a:r>
                <a:r>
                  <a:rPr lang="zh-CN" altLang="en-US" sz="2400" dirty="0"/>
                  <a:t>，为了书写简单，我定义</a:t>
                </a:r>
                <a:r>
                  <a:rPr lang="en-US" altLang="zh-CN" sz="2400" dirty="0"/>
                  <a:t>hf=1</a:t>
                </a:r>
                <a:r>
                  <a:rPr lang="zh-CN" altLang="en-US" sz="2400" dirty="0"/>
                  <a:t>，</a:t>
                </a:r>
                <a:r>
                  <a:rPr lang="en-CN" sz="2400" dirty="0"/>
                  <a:t>熵表示为</a:t>
                </a:r>
              </a:p>
              <a:p>
                <a:pPr algn="ctr"/>
                <a:r>
                  <a:rPr lang="en-CN" sz="2400" dirty="0"/>
                  <a:t> </a:t>
                </a:r>
                <a14:m>
                  <m:oMath xmlns:m="http://schemas.openxmlformats.org/officeDocument/2006/math">
                    <m:r>
                      <a:rPr lang="en-CN" sz="2400" i="1" smtClean="0">
                        <a:latin typeface="Cambria Math" panose="02040503050406030204" pitchFamily="18" charset="0"/>
                        <a:ea typeface="Cambria Math" panose="02040503050406030204" pitchFamily="18" charset="0"/>
                      </a:rPr>
                      <m:t>𝜎</m:t>
                    </m:r>
                    <m:r>
                      <a:rPr lang="en-US" sz="2400" b="0" i="1" smtClean="0">
                        <a:latin typeface="Cambria Math" panose="02040503050406030204" pitchFamily="18" charset="0"/>
                        <a:ea typeface="Cambria Math" panose="02040503050406030204" pitchFamily="18" charset="0"/>
                      </a:rPr>
                      <m:t>=</m:t>
                    </m:r>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log</m:t>
                        </m:r>
                      </m:fName>
                      <m:e>
                        <m:f>
                          <m:fPr>
                            <m:ctrlPr>
                              <a:rPr lang="en-US" sz="2400" b="0" i="1" smtClean="0">
                                <a:latin typeface="Cambria Math" panose="02040503050406030204" pitchFamily="18" charset="0"/>
                                <a:ea typeface="Cambria Math" panose="02040503050406030204" pitchFamily="18" charset="0"/>
                              </a:rPr>
                            </m:ctrlPr>
                          </m:fPr>
                          <m:num>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𝑞</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𝑁</m:t>
                                </m:r>
                                <m:r>
                                  <a:rPr lang="en-US" sz="2400" b="0" i="1" smtClean="0">
                                    <a:latin typeface="Cambria Math" panose="02040503050406030204" pitchFamily="18" charset="0"/>
                                    <a:ea typeface="Cambria Math" panose="02040503050406030204" pitchFamily="18" charset="0"/>
                                  </a:rPr>
                                  <m:t>−1</m:t>
                                </m:r>
                              </m:e>
                            </m:d>
                            <m:r>
                              <a:rPr lang="en-US" sz="2400" b="0" i="1" smtClean="0">
                                <a:latin typeface="Cambria Math" panose="02040503050406030204" pitchFamily="18" charset="0"/>
                                <a:ea typeface="Cambria Math" panose="02040503050406030204" pitchFamily="18" charset="0"/>
                              </a:rPr>
                              <m:t>!</m:t>
                            </m:r>
                          </m:num>
                          <m:den>
                            <m:r>
                              <a:rPr lang="en-US" sz="2400" b="0" i="1" smtClean="0">
                                <a:latin typeface="Cambria Math" panose="02040503050406030204" pitchFamily="18" charset="0"/>
                                <a:ea typeface="Cambria Math" panose="02040503050406030204" pitchFamily="18" charset="0"/>
                              </a:rPr>
                              <m:t>𝑞</m:t>
                            </m:r>
                            <m:r>
                              <a:rPr lang="en-US" sz="2400" b="0" i="1" smtClean="0">
                                <a:latin typeface="Cambria Math" panose="02040503050406030204" pitchFamily="18" charset="0"/>
                                <a:ea typeface="Cambria Math" panose="02040503050406030204" pitchFamily="18" charset="0"/>
                              </a:rPr>
                              <m:t>!</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𝑁</m:t>
                                </m:r>
                                <m:r>
                                  <a:rPr lang="en-US" sz="2400" b="0" i="1" smtClean="0">
                                    <a:latin typeface="Cambria Math" panose="02040503050406030204" pitchFamily="18" charset="0"/>
                                    <a:ea typeface="Cambria Math" panose="02040503050406030204" pitchFamily="18" charset="0"/>
                                  </a:rPr>
                                  <m:t>−1</m:t>
                                </m:r>
                              </m:e>
                            </m:d>
                            <m:r>
                              <a:rPr lang="en-US" sz="2400" b="0" i="1" smtClean="0">
                                <a:latin typeface="Cambria Math" panose="02040503050406030204" pitchFamily="18" charset="0"/>
                                <a:ea typeface="Cambria Math" panose="02040503050406030204" pitchFamily="18" charset="0"/>
                              </a:rPr>
                              <m:t>!</m:t>
                            </m:r>
                          </m:den>
                        </m:f>
                      </m:e>
                    </m:func>
                    <m:r>
                      <a:rPr lang="en-US" sz="2400">
                        <a:latin typeface="Cambria Math" panose="02040503050406030204" pitchFamily="18" charset="0"/>
                        <a:ea typeface="Cambria Math" panose="02040503050406030204" pitchFamily="18" charset="0"/>
                      </a:rPr>
                      <m:t>≈</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𝑞</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𝑁</m:t>
                        </m:r>
                      </m:e>
                    </m:d>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log</m:t>
                        </m:r>
                      </m:fName>
                      <m:e>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𝑞</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𝑁</m:t>
                            </m:r>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𝑞</m:t>
                        </m:r>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log</m:t>
                            </m:r>
                          </m:fName>
                          <m:e>
                            <m:r>
                              <a:rPr lang="en-US" sz="2400" b="0" i="1" smtClean="0">
                                <a:latin typeface="Cambria Math" panose="02040503050406030204" pitchFamily="18" charset="0"/>
                                <a:ea typeface="Cambria Math" panose="02040503050406030204" pitchFamily="18" charset="0"/>
                              </a:rPr>
                              <m:t>𝑞</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𝑁</m:t>
                            </m:r>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log</m:t>
                                </m:r>
                              </m:fName>
                              <m:e>
                                <m:r>
                                  <a:rPr lang="en-US" sz="2400" b="0" i="1" smtClean="0">
                                    <a:latin typeface="Cambria Math" panose="02040503050406030204" pitchFamily="18" charset="0"/>
                                    <a:ea typeface="Cambria Math" panose="02040503050406030204" pitchFamily="18" charset="0"/>
                                  </a:rPr>
                                  <m:t>𝑁</m:t>
                                </m:r>
                              </m:e>
                            </m:func>
                          </m:e>
                        </m:func>
                      </m:e>
                    </m:func>
                  </m:oMath>
                </a14:m>
                <a:endParaRPr lang="en-CN" sz="2400" dirty="0"/>
              </a:p>
              <a:p>
                <a:r>
                  <a:rPr lang="en-CN" sz="2400" dirty="0"/>
                  <a:t>二</a:t>
                </a:r>
                <a:r>
                  <a:rPr lang="zh-CN" altLang="en-US" sz="2400" dirty="0"/>
                  <a:t>、</a:t>
                </a:r>
                <a:r>
                  <a:rPr lang="en-CN" sz="2400" dirty="0"/>
                  <a:t>那么Landau自由能为</a:t>
                </a:r>
                <a:r>
                  <a:rPr lang="zh-CN" altLang="en-US" sz="2400" dirty="0"/>
                  <a:t> </a:t>
                </a:r>
                <a14:m>
                  <m:oMath xmlns:m="http://schemas.openxmlformats.org/officeDocument/2006/math">
                    <m:r>
                      <a:rPr lang="en-US" altLang="zh-CN" sz="2400" b="0" i="1" smtClean="0">
                        <a:latin typeface="Cambria Math" panose="02040503050406030204" pitchFamily="18" charset="0"/>
                      </a:rPr>
                      <m:t>𝐹</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𝑞</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𝜏</m:t>
                    </m:r>
                    <m:r>
                      <a:rPr lang="en-US" altLang="zh-CN" sz="2400" b="0" i="1" smtClean="0">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𝑞</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𝑁</m:t>
                        </m:r>
                      </m:e>
                    </m:d>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log</m:t>
                        </m:r>
                      </m:fName>
                      <m:e>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𝑞</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𝑁</m:t>
                            </m:r>
                          </m:e>
                        </m:d>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log</m:t>
                            </m:r>
                          </m:fName>
                          <m:e>
                            <m:r>
                              <a:rPr lang="en-US" sz="2400" i="1">
                                <a:latin typeface="Cambria Math" panose="02040503050406030204" pitchFamily="18" charset="0"/>
                                <a:ea typeface="Cambria Math" panose="02040503050406030204" pitchFamily="18" charset="0"/>
                              </a:rPr>
                              <m:t>𝑞</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𝑁</m:t>
                            </m:r>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log</m:t>
                                </m:r>
                              </m:fName>
                              <m:e>
                                <m:r>
                                  <a:rPr lang="en-US" sz="2400" i="1">
                                    <a:latin typeface="Cambria Math" panose="02040503050406030204" pitchFamily="18" charset="0"/>
                                    <a:ea typeface="Cambria Math" panose="02040503050406030204" pitchFamily="18" charset="0"/>
                                  </a:rPr>
                                  <m:t>𝑁</m:t>
                                </m:r>
                              </m:e>
                            </m:func>
                          </m:e>
                        </m:func>
                      </m:e>
                    </m:func>
                    <m:r>
                      <a:rPr lang="en-US" altLang="zh-CN" sz="2400" b="0" i="1" smtClean="0">
                        <a:latin typeface="Cambria Math" panose="02040503050406030204" pitchFamily="18" charset="0"/>
                        <a:ea typeface="Cambria Math" panose="02040503050406030204" pitchFamily="18" charset="0"/>
                      </a:rPr>
                      <m:t>)</m:t>
                    </m:r>
                  </m:oMath>
                </a14:m>
                <a:endParaRPr lang="en-CN" sz="2400" dirty="0"/>
              </a:p>
              <a:p>
                <a:r>
                  <a:rPr lang="en-CN" sz="2400" dirty="0"/>
                  <a:t>三</a:t>
                </a:r>
                <a:r>
                  <a:rPr lang="zh-CN" altLang="en-US" sz="2400" dirty="0"/>
                  <a:t>、</a:t>
                </a:r>
                <a:r>
                  <a:rPr lang="en-CN" sz="2400" dirty="0"/>
                  <a:t>对F取关于q的一阶微分为零</a:t>
                </a:r>
                <a:r>
                  <a:rPr lang="zh-CN" altLang="en-US" sz="2400" dirty="0"/>
                  <a:t>，可以解出</a:t>
                </a:r>
                <a:endParaRPr lang="en-CN" sz="2400" dirty="0"/>
              </a:p>
              <a:p>
                <a:pPr algn="ctr"/>
                <a14:m>
                  <m:oMath xmlns:m="http://schemas.openxmlformats.org/officeDocument/2006/math">
                    <m:r>
                      <a:rPr lang="en-US" sz="2400" b="0" i="1" smtClean="0">
                        <a:latin typeface="Cambria Math" panose="02040503050406030204" pitchFamily="18" charset="0"/>
                      </a:rPr>
                      <m:t>𝑞</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𝑁</m:t>
                        </m:r>
                      </m:num>
                      <m:den>
                        <m:r>
                          <a:rPr lang="en-US" sz="2400" b="0" i="1" smtClean="0">
                            <a:latin typeface="Cambria Math" panose="02040503050406030204" pitchFamily="18" charset="0"/>
                          </a:rPr>
                          <m:t>−1+</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𝑒</m:t>
                            </m:r>
                          </m:e>
                          <m:sup>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ea typeface="Cambria Math" panose="02040503050406030204" pitchFamily="18" charset="0"/>
                                  </a:rPr>
                                  <m:t>𝜏</m:t>
                                </m:r>
                              </m:den>
                            </m:f>
                          </m:sup>
                        </m:sSup>
                      </m:den>
                    </m:f>
                    <m:r>
                      <a:rPr lang="en-US" sz="2400" b="0" i="0" smtClean="0">
                        <a:latin typeface="Cambria Math" panose="02040503050406030204" pitchFamily="18" charset="0"/>
                      </a:rPr>
                      <m:t> </m:t>
                    </m:r>
                  </m:oMath>
                </a14:m>
                <a:r>
                  <a:rPr lang="en-CN" sz="2400" dirty="0"/>
                  <a:t>   or   </a:t>
                </a:r>
                <a14:m>
                  <m:oMath xmlns:m="http://schemas.openxmlformats.org/officeDocument/2006/math">
                    <m:f>
                      <m:fPr>
                        <m:ctrlPr>
                          <a:rPr lang="en-CN" sz="2400" i="1" smtClean="0">
                            <a:latin typeface="Cambria Math" panose="02040503050406030204" pitchFamily="18" charset="0"/>
                          </a:rPr>
                        </m:ctrlPr>
                      </m:fPr>
                      <m:num>
                        <m:r>
                          <a:rPr lang="en-US" sz="2400" b="0" i="1" smtClean="0">
                            <a:latin typeface="Cambria Math" panose="02040503050406030204" pitchFamily="18" charset="0"/>
                          </a:rPr>
                          <m:t>1</m:t>
                        </m:r>
                      </m:num>
                      <m:den>
                        <m:r>
                          <a:rPr lang="en-CN" sz="2400" i="1" smtClean="0">
                            <a:latin typeface="Cambria Math" panose="02040503050406030204" pitchFamily="18" charset="0"/>
                            <a:ea typeface="Cambria Math" panose="02040503050406030204" pitchFamily="18" charset="0"/>
                          </a:rPr>
                          <m:t>𝜏</m:t>
                        </m:r>
                      </m:den>
                    </m:f>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log</m:t>
                        </m:r>
                      </m:fName>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𝑞</m:t>
                            </m:r>
                            <m:r>
                              <a:rPr lang="en-US" sz="2400" b="0" i="1" smtClean="0">
                                <a:latin typeface="Cambria Math" panose="02040503050406030204" pitchFamily="18" charset="0"/>
                              </a:rPr>
                              <m:t>+</m:t>
                            </m:r>
                            <m:r>
                              <a:rPr lang="en-US" sz="2400" b="0" i="1" smtClean="0">
                                <a:latin typeface="Cambria Math" panose="02040503050406030204" pitchFamily="18" charset="0"/>
                              </a:rPr>
                              <m:t>𝑁</m:t>
                            </m:r>
                          </m:num>
                          <m:den>
                            <m:r>
                              <a:rPr lang="en-US" sz="2400" b="0" i="1" smtClean="0">
                                <a:latin typeface="Cambria Math" panose="02040503050406030204" pitchFamily="18" charset="0"/>
                              </a:rPr>
                              <m:t>𝑞</m:t>
                            </m:r>
                          </m:den>
                        </m:f>
                      </m:e>
                    </m:func>
                  </m:oMath>
                </a14:m>
                <a:endParaRPr lang="en-CN" sz="2400" dirty="0"/>
              </a:p>
              <a:p>
                <a:r>
                  <a:rPr lang="en-CN" sz="2400" dirty="0"/>
                  <a:t>四</a:t>
                </a:r>
                <a:r>
                  <a:rPr lang="zh-CN" altLang="en-US" sz="2400" dirty="0"/>
                  <a:t>、</a:t>
                </a:r>
                <a:r>
                  <a:rPr lang="en-CN" sz="2400" dirty="0"/>
                  <a:t>把q带入Landau自由能</a:t>
                </a:r>
                <a:r>
                  <a:rPr lang="zh-CN" altLang="en-US" sz="2400" dirty="0"/>
                  <a:t>，给出</a:t>
                </a:r>
                <a:r>
                  <a:rPr lang="en-US" altLang="zh-CN" sz="2400" dirty="0"/>
                  <a:t>Helmholtz</a:t>
                </a:r>
                <a:r>
                  <a:rPr lang="zh-CN" altLang="en-US" sz="2400" dirty="0"/>
                  <a:t>自由能（太长，我不写了）。</a:t>
                </a:r>
                <a:endParaRPr lang="en-US" altLang="zh-CN" sz="2400" dirty="0"/>
              </a:p>
              <a:p>
                <a:r>
                  <a:rPr lang="en-CN" sz="2400" dirty="0"/>
                  <a:t>五</a:t>
                </a:r>
                <a:r>
                  <a:rPr lang="zh-CN" altLang="en-US" sz="2400" dirty="0"/>
                  <a:t>、</a:t>
                </a:r>
                <a:r>
                  <a:rPr lang="en-CN" sz="2400" dirty="0"/>
                  <a:t>对Helmholtz自由能做关于N的微分</a:t>
                </a:r>
                <a:r>
                  <a:rPr lang="zh-CN" altLang="en-US" sz="2400" dirty="0"/>
                  <a:t>，可以得到上述结果。</a:t>
                </a:r>
                <a:endParaRPr lang="en-CN" sz="2400" dirty="0"/>
              </a:p>
            </p:txBody>
          </p:sp>
        </mc:Choice>
        <mc:Fallback xmlns="">
          <p:sp>
            <p:nvSpPr>
              <p:cNvPr id="6" name="TextBox 5">
                <a:extLst>
                  <a:ext uri="{FF2B5EF4-FFF2-40B4-BE49-F238E27FC236}">
                    <a16:creationId xmlns:a16="http://schemas.microsoft.com/office/drawing/2014/main" id="{8EA1ABE4-A56B-754D-ABFD-EAA31D80D633}"/>
                  </a:ext>
                </a:extLst>
              </p:cNvPr>
              <p:cNvSpPr txBox="1">
                <a:spLocks noRot="1" noChangeAspect="1" noMove="1" noResize="1" noEditPoints="1" noAdjustHandles="1" noChangeArrowheads="1" noChangeShapeType="1" noTextEdit="1"/>
              </p:cNvSpPr>
              <p:nvPr/>
            </p:nvSpPr>
            <p:spPr>
              <a:xfrm>
                <a:off x="665018" y="1852434"/>
                <a:ext cx="10404764" cy="4659096"/>
              </a:xfrm>
              <a:prstGeom prst="rect">
                <a:avLst/>
              </a:prstGeom>
              <a:blipFill>
                <a:blip r:embed="rId3"/>
                <a:stretch>
                  <a:fillRect l="-976" t="-815" r="-366" b="-2174"/>
                </a:stretch>
              </a:blipFill>
            </p:spPr>
            <p:txBody>
              <a:bodyPr/>
              <a:lstStyle/>
              <a:p>
                <a:r>
                  <a:rPr lang="en-CN">
                    <a:noFill/>
                  </a:rPr>
                  <a:t> </a:t>
                </a:r>
              </a:p>
            </p:txBody>
          </p:sp>
        </mc:Fallback>
      </mc:AlternateContent>
    </p:spTree>
    <p:extLst>
      <p:ext uri="{BB962C8B-B14F-4D97-AF65-F5344CB8AC3E}">
        <p14:creationId xmlns:p14="http://schemas.microsoft.com/office/powerpoint/2010/main" val="2030185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241387-B2B4-A14A-BABA-365287418E04}"/>
              </a:ext>
            </a:extLst>
          </p:cNvPr>
          <p:cNvSpPr txBox="1"/>
          <p:nvPr/>
        </p:nvSpPr>
        <p:spPr>
          <a:xfrm>
            <a:off x="277091" y="221673"/>
            <a:ext cx="4987636" cy="369332"/>
          </a:xfrm>
          <a:prstGeom prst="rect">
            <a:avLst/>
          </a:prstGeom>
          <a:noFill/>
        </p:spPr>
        <p:txBody>
          <a:bodyPr wrap="square" rtlCol="0">
            <a:spAutoFit/>
          </a:bodyPr>
          <a:lstStyle/>
          <a:p>
            <a:r>
              <a:rPr lang="en-CN" dirty="0"/>
              <a:t>理想气体的化学势</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202EABC-7344-3842-A1CC-30270CA11C8D}"/>
                  </a:ext>
                </a:extLst>
              </p:cNvPr>
              <p:cNvSpPr txBox="1"/>
              <p:nvPr/>
            </p:nvSpPr>
            <p:spPr>
              <a:xfrm>
                <a:off x="7898897" y="56380"/>
                <a:ext cx="4293103" cy="812658"/>
              </a:xfrm>
              <a:prstGeom prst="rect">
                <a:avLst/>
              </a:prstGeom>
              <a:noFill/>
            </p:spPr>
            <p:txBody>
              <a:bodyPr wrap="square" rtlCol="0">
                <a:spAutoFit/>
              </a:bodyPr>
              <a:lstStyle/>
              <a:p>
                <a:pPr/>
                <a14:m>
                  <m:oMathPara xmlns:m="http://schemas.openxmlformats.org/officeDocument/2006/math">
                    <m:oMathParaPr>
                      <m:jc m:val="right"/>
                    </m:oMathParaPr>
                    <m:oMath xmlns:m="http://schemas.openxmlformats.org/officeDocument/2006/math">
                      <m:sSub>
                        <m:sSubPr>
                          <m:ctrlPr>
                            <a:rPr lang="en-CN" sz="240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𝑄</m:t>
                          </m:r>
                        </m:sub>
                      </m:sSub>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𝑚</m:t>
                                  </m:r>
                                  <m:r>
                                    <a:rPr lang="en-US" sz="2400" b="0" i="1" smtClean="0">
                                      <a:latin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𝜏</m:t>
                                  </m:r>
                                </m:num>
                                <m:den>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𝜋</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ℏ</m:t>
                                      </m:r>
                                    </m:e>
                                    <m:sup>
                                      <m:r>
                                        <a:rPr lang="en-US" sz="2400" b="0" i="1" smtClean="0">
                                          <a:latin typeface="Cambria Math" panose="02040503050406030204" pitchFamily="18" charset="0"/>
                                          <a:ea typeface="Cambria Math" panose="02040503050406030204" pitchFamily="18" charset="0"/>
                                        </a:rPr>
                                        <m:t>2</m:t>
                                      </m:r>
                                    </m:sup>
                                  </m:sSup>
                                </m:den>
                              </m:f>
                            </m:e>
                          </m:d>
                        </m:e>
                        <m:sup>
                          <m:r>
                            <a:rPr lang="en-US" sz="2400" b="0" i="1" smtClean="0">
                              <a:latin typeface="Cambria Math" panose="02040503050406030204" pitchFamily="18" charset="0"/>
                            </a:rPr>
                            <m:t>3/2</m:t>
                          </m:r>
                        </m:sup>
                      </m:sSup>
                    </m:oMath>
                  </m:oMathPara>
                </a14:m>
                <a:endParaRPr lang="en-CN" sz="2400" dirty="0"/>
              </a:p>
            </p:txBody>
          </p:sp>
        </mc:Choice>
        <mc:Fallback xmlns="">
          <p:sp>
            <p:nvSpPr>
              <p:cNvPr id="9" name="TextBox 8">
                <a:extLst>
                  <a:ext uri="{FF2B5EF4-FFF2-40B4-BE49-F238E27FC236}">
                    <a16:creationId xmlns:a16="http://schemas.microsoft.com/office/drawing/2014/main" id="{D202EABC-7344-3842-A1CC-30270CA11C8D}"/>
                  </a:ext>
                </a:extLst>
              </p:cNvPr>
              <p:cNvSpPr txBox="1">
                <a:spLocks noRot="1" noChangeAspect="1" noMove="1" noResize="1" noEditPoints="1" noAdjustHandles="1" noChangeArrowheads="1" noChangeShapeType="1" noTextEdit="1"/>
              </p:cNvSpPr>
              <p:nvPr/>
            </p:nvSpPr>
            <p:spPr>
              <a:xfrm>
                <a:off x="7898897" y="56380"/>
                <a:ext cx="4293103" cy="812658"/>
              </a:xfrm>
              <a:prstGeom prst="rect">
                <a:avLst/>
              </a:prstGeom>
              <a:blipFill>
                <a:blip r:embed="rId6"/>
                <a:stretch>
                  <a:fillRect b="-6154"/>
                </a:stretch>
              </a:blipFill>
            </p:spPr>
            <p:txBody>
              <a:bodyPr/>
              <a:lstStyle/>
              <a:p>
                <a:r>
                  <a:rPr lang="en-CN">
                    <a:noFill/>
                  </a:rPr>
                  <a:t> </a:t>
                </a:r>
              </a:p>
            </p:txBody>
          </p:sp>
        </mc:Fallback>
      </mc:AlternateContent>
    </p:spTree>
    <p:extLst>
      <p:ext uri="{BB962C8B-B14F-4D97-AF65-F5344CB8AC3E}">
        <p14:creationId xmlns:p14="http://schemas.microsoft.com/office/powerpoint/2010/main" val="256179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241387-B2B4-A14A-BABA-365287418E04}"/>
              </a:ext>
            </a:extLst>
          </p:cNvPr>
          <p:cNvSpPr txBox="1"/>
          <p:nvPr/>
        </p:nvSpPr>
        <p:spPr>
          <a:xfrm>
            <a:off x="277091" y="221673"/>
            <a:ext cx="4987636" cy="369332"/>
          </a:xfrm>
          <a:prstGeom prst="rect">
            <a:avLst/>
          </a:prstGeom>
          <a:noFill/>
        </p:spPr>
        <p:txBody>
          <a:bodyPr wrap="square" rtlCol="0">
            <a:spAutoFit/>
          </a:bodyPr>
          <a:lstStyle/>
          <a:p>
            <a:r>
              <a:rPr lang="en-CN" dirty="0"/>
              <a:t>理想气体的化学势</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5DDBDA2-40F7-3F4B-B7E0-1F0329B66DF9}"/>
                  </a:ext>
                </a:extLst>
              </p:cNvPr>
              <p:cNvSpPr txBox="1"/>
              <p:nvPr/>
            </p:nvSpPr>
            <p:spPr>
              <a:xfrm>
                <a:off x="2272145" y="706582"/>
                <a:ext cx="7439891" cy="6658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𝑄</m:t>
                              </m:r>
                            </m:sub>
                          </m:sSub>
                          <m:r>
                            <a:rPr lang="en-US" b="0" i="1" smtClean="0">
                              <a:latin typeface="Cambria Math" panose="02040503050406030204" pitchFamily="18" charset="0"/>
                              <a:ea typeface="Cambria Math" panose="02040503050406030204" pitchFamily="18" charset="0"/>
                            </a:rPr>
                            <m:t>𝑉</m:t>
                          </m:r>
                        </m:e>
                      </m:func>
                      <m:r>
                        <a:rPr lang="en-US" b="0" i="1" smtClean="0">
                          <a:latin typeface="Cambria Math" panose="02040503050406030204" pitchFamily="18" charset="0"/>
                          <a:ea typeface="Cambria Math" panose="02040503050406030204" pitchFamily="18" charset="0"/>
                        </a:rPr>
                        <m:t>)</m:t>
                      </m:r>
                    </m:oMath>
                  </m:oMathPara>
                </a14:m>
                <a:endParaRPr lang="en-CN" dirty="0"/>
              </a:p>
              <a:p>
                <a:endParaRPr lang="en-CN" dirty="0"/>
              </a:p>
            </p:txBody>
          </p:sp>
        </mc:Choice>
        <mc:Fallback xmlns="">
          <p:sp>
            <p:nvSpPr>
              <p:cNvPr id="3" name="TextBox 2">
                <a:extLst>
                  <a:ext uri="{FF2B5EF4-FFF2-40B4-BE49-F238E27FC236}">
                    <a16:creationId xmlns:a16="http://schemas.microsoft.com/office/drawing/2014/main" id="{95DDBDA2-40F7-3F4B-B7E0-1F0329B66DF9}"/>
                  </a:ext>
                </a:extLst>
              </p:cNvPr>
              <p:cNvSpPr txBox="1">
                <a:spLocks noRot="1" noChangeAspect="1" noMove="1" noResize="1" noEditPoints="1" noAdjustHandles="1" noChangeArrowheads="1" noChangeShapeType="1" noTextEdit="1"/>
              </p:cNvSpPr>
              <p:nvPr/>
            </p:nvSpPr>
            <p:spPr>
              <a:xfrm>
                <a:off x="2272145" y="706582"/>
                <a:ext cx="7439891" cy="665888"/>
              </a:xfrm>
              <a:prstGeom prst="rect">
                <a:avLst/>
              </a:prstGeom>
              <a:blipFill>
                <a:blip r:embed="rId2"/>
                <a:stretch>
                  <a:fillRect/>
                </a:stretch>
              </a:blipFill>
            </p:spPr>
            <p:txBody>
              <a:bodyPr/>
              <a:lstStyle/>
              <a:p>
                <a:r>
                  <a:rPr lang="en-CN">
                    <a:noFill/>
                  </a:rPr>
                  <a:t> </a:t>
                </a:r>
              </a:p>
            </p:txBody>
          </p:sp>
        </mc:Fallback>
      </mc:AlternateContent>
      <p:sp>
        <p:nvSpPr>
          <p:cNvPr id="4" name="Down Arrow 3">
            <a:extLst>
              <a:ext uri="{FF2B5EF4-FFF2-40B4-BE49-F238E27FC236}">
                <a16:creationId xmlns:a16="http://schemas.microsoft.com/office/drawing/2014/main" id="{78426408-C4CE-E145-AB28-334DFBCAD0B9}"/>
              </a:ext>
            </a:extLst>
          </p:cNvPr>
          <p:cNvSpPr/>
          <p:nvPr/>
        </p:nvSpPr>
        <p:spPr>
          <a:xfrm>
            <a:off x="5999016" y="1116375"/>
            <a:ext cx="318655" cy="261754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967D0F6-1671-054E-AAF6-E5729C175E04}"/>
                  </a:ext>
                </a:extLst>
              </p:cNvPr>
              <p:cNvSpPr txBox="1"/>
              <p:nvPr/>
            </p:nvSpPr>
            <p:spPr>
              <a:xfrm>
                <a:off x="4731325" y="3765871"/>
                <a:ext cx="3172691" cy="13142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sz="4000" i="1" smtClean="0">
                          <a:latin typeface="Cambria Math" panose="02040503050406030204" pitchFamily="18" charset="0"/>
                          <a:ea typeface="Cambria Math" panose="02040503050406030204" pitchFamily="18" charset="0"/>
                        </a:rPr>
                        <m:t>𝜇</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𝜏</m:t>
                      </m:r>
                      <m:func>
                        <m:funcPr>
                          <m:ctrlPr>
                            <a:rPr lang="en-US" sz="4000" b="0" i="1" smtClean="0">
                              <a:latin typeface="Cambria Math" panose="02040503050406030204" pitchFamily="18" charset="0"/>
                              <a:ea typeface="Cambria Math" panose="02040503050406030204" pitchFamily="18" charset="0"/>
                            </a:rPr>
                          </m:ctrlPr>
                        </m:funcPr>
                        <m:fName>
                          <m:r>
                            <m:rPr>
                              <m:sty m:val="p"/>
                            </m:rPr>
                            <a:rPr lang="en-US" sz="4000" b="0" i="0" smtClean="0">
                              <a:latin typeface="Cambria Math" panose="02040503050406030204" pitchFamily="18" charset="0"/>
                              <a:ea typeface="Cambria Math" panose="02040503050406030204" pitchFamily="18" charset="0"/>
                            </a:rPr>
                            <m:t>log</m:t>
                          </m:r>
                        </m:fName>
                        <m:e>
                          <m:f>
                            <m:fPr>
                              <m:ctrlPr>
                                <a:rPr lang="en-US" sz="4000" b="0" i="1" smtClean="0">
                                  <a:latin typeface="Cambria Math" panose="02040503050406030204" pitchFamily="18" charset="0"/>
                                  <a:ea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𝑛</m:t>
                              </m:r>
                            </m:num>
                            <m:den>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𝑛</m:t>
                                  </m:r>
                                </m:e>
                                <m:sub>
                                  <m:r>
                                    <a:rPr lang="en-US" sz="4000" b="0" i="1" smtClean="0">
                                      <a:latin typeface="Cambria Math" panose="02040503050406030204" pitchFamily="18" charset="0"/>
                                      <a:ea typeface="Cambria Math" panose="02040503050406030204" pitchFamily="18" charset="0"/>
                                    </a:rPr>
                                    <m:t>𝑄</m:t>
                                  </m:r>
                                </m:sub>
                              </m:sSub>
                            </m:den>
                          </m:f>
                        </m:e>
                      </m:func>
                    </m:oMath>
                  </m:oMathPara>
                </a14:m>
                <a:endParaRPr lang="en-CN" sz="4000" dirty="0"/>
              </a:p>
            </p:txBody>
          </p:sp>
        </mc:Choice>
        <mc:Fallback xmlns="">
          <p:sp>
            <p:nvSpPr>
              <p:cNvPr id="5" name="TextBox 4">
                <a:extLst>
                  <a:ext uri="{FF2B5EF4-FFF2-40B4-BE49-F238E27FC236}">
                    <a16:creationId xmlns:a16="http://schemas.microsoft.com/office/drawing/2014/main" id="{9967D0F6-1671-054E-AAF6-E5729C175E04}"/>
                  </a:ext>
                </a:extLst>
              </p:cNvPr>
              <p:cNvSpPr txBox="1">
                <a:spLocks noRot="1" noChangeAspect="1" noMove="1" noResize="1" noEditPoints="1" noAdjustHandles="1" noChangeArrowheads="1" noChangeShapeType="1" noTextEdit="1"/>
              </p:cNvSpPr>
              <p:nvPr/>
            </p:nvSpPr>
            <p:spPr>
              <a:xfrm>
                <a:off x="4731325" y="3765871"/>
                <a:ext cx="3172691" cy="1314206"/>
              </a:xfrm>
              <a:prstGeom prst="rect">
                <a:avLst/>
              </a:prstGeom>
              <a:blipFill>
                <a:blip r:embed="rId3"/>
                <a:stretch>
                  <a:fillRect b="-769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A2526DE-D368-2043-9EFF-076869E870C3}"/>
                  </a:ext>
                </a:extLst>
              </p:cNvPr>
              <p:cNvSpPr txBox="1"/>
              <p:nvPr/>
            </p:nvSpPr>
            <p:spPr>
              <a:xfrm>
                <a:off x="6788727" y="2025550"/>
                <a:ext cx="4170219"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r>
                            <a:rPr lang="en-US" b="0" i="1" smtClean="0">
                              <a:latin typeface="Cambria Math" panose="02040503050406030204" pitchFamily="18" charset="0"/>
                            </a:rPr>
                            <m:t>𝑑</m:t>
                          </m:r>
                        </m:num>
                        <m:den>
                          <m:r>
                            <a:rPr lang="en-US" b="0" i="1" smtClean="0">
                              <a:latin typeface="Cambria Math" panose="02040503050406030204" pitchFamily="18" charset="0"/>
                            </a:rPr>
                            <m:t>𝑑</m:t>
                          </m:r>
                          <m:r>
                            <a:rPr lang="en-US" b="0" i="1" smtClean="0">
                              <a:latin typeface="Cambria Math" panose="02040503050406030204" pitchFamily="18" charset="0"/>
                            </a:rPr>
                            <m:t> </m:t>
                          </m:r>
                          <m:r>
                            <a:rPr lang="en-US" b="0" i="1" smtClean="0">
                              <a:latin typeface="Cambria Math" panose="02040503050406030204" pitchFamily="18" charset="0"/>
                            </a:rPr>
                            <m:t>𝑁</m:t>
                          </m:r>
                        </m:den>
                      </m:f>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𝑁</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m:t>
                              </m:r>
                            </m:num>
                            <m:den>
                              <m:r>
                                <a:rPr lang="en-US" b="0" i="1" smtClean="0">
                                  <a:latin typeface="Cambria Math" panose="02040503050406030204" pitchFamily="18" charset="0"/>
                                </a:rPr>
                                <m:t>𝑑</m:t>
                              </m:r>
                              <m:r>
                                <a:rPr lang="en-US" b="0" i="1" smtClean="0">
                                  <a:latin typeface="Cambria Math" panose="02040503050406030204" pitchFamily="18" charset="0"/>
                                </a:rPr>
                                <m:t> </m:t>
                              </m:r>
                              <m:r>
                                <a:rPr lang="en-US" b="0" i="1" smtClean="0">
                                  <a:latin typeface="Cambria Math" panose="02040503050406030204" pitchFamily="18" charset="0"/>
                                </a:rPr>
                                <m:t>𝑁</m:t>
                              </m:r>
                            </m:den>
                          </m:f>
                          <m:d>
                            <m:dPr>
                              <m:ctrlPr>
                                <a:rPr lang="en-US" b="0" i="1" smtClean="0">
                                  <a:latin typeface="Cambria Math" panose="02040503050406030204" pitchFamily="18" charset="0"/>
                                </a:rPr>
                              </m:ctrlPr>
                            </m:dPr>
                            <m:e>
                              <m:r>
                                <a:rPr lang="en-US" b="0" i="1" smtClean="0">
                                  <a:latin typeface="Cambria Math" panose="02040503050406030204" pitchFamily="18" charset="0"/>
                                </a:rPr>
                                <m:t>𝑁</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𝑁</m:t>
                                  </m:r>
                                </m:e>
                              </m:func>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𝑁</m:t>
                              </m:r>
                            </m:e>
                          </m:func>
                        </m:e>
                      </m:func>
                    </m:oMath>
                  </m:oMathPara>
                </a14:m>
                <a:endParaRPr lang="en-CN" dirty="0"/>
              </a:p>
            </p:txBody>
          </p:sp>
        </mc:Choice>
        <mc:Fallback xmlns="">
          <p:sp>
            <p:nvSpPr>
              <p:cNvPr id="7" name="TextBox 6">
                <a:extLst>
                  <a:ext uri="{FF2B5EF4-FFF2-40B4-BE49-F238E27FC236}">
                    <a16:creationId xmlns:a16="http://schemas.microsoft.com/office/drawing/2014/main" id="{6A2526DE-D368-2043-9EFF-076869E870C3}"/>
                  </a:ext>
                </a:extLst>
              </p:cNvPr>
              <p:cNvSpPr txBox="1">
                <a:spLocks noRot="1" noChangeAspect="1" noMove="1" noResize="1" noEditPoints="1" noAdjustHandles="1" noChangeArrowheads="1" noChangeShapeType="1" noTextEdit="1"/>
              </p:cNvSpPr>
              <p:nvPr/>
            </p:nvSpPr>
            <p:spPr>
              <a:xfrm>
                <a:off x="6788727" y="2025550"/>
                <a:ext cx="4170219" cy="634789"/>
              </a:xfrm>
              <a:prstGeom prst="rect">
                <a:avLst/>
              </a:prstGeom>
              <a:blipFill>
                <a:blip r:embed="rId4"/>
                <a:stretch>
                  <a:fillRect b="-1568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E081571-2CDE-144A-A671-6A19F8C64AA8}"/>
                  </a:ext>
                </a:extLst>
              </p:cNvPr>
              <p:cNvSpPr txBox="1"/>
              <p:nvPr/>
            </p:nvSpPr>
            <p:spPr>
              <a:xfrm>
                <a:off x="-214747" y="1875579"/>
                <a:ext cx="6206837" cy="9624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𝐹</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𝑁</m:t>
                          </m:r>
                        </m:e>
                      </m:d>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−1]</m:t>
                      </m:r>
                    </m:oMath>
                  </m:oMathPara>
                </a14:m>
                <a:endParaRPr lang="en-CN"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𝑄</m:t>
                                  </m:r>
                                </m:sub>
                              </m:sSub>
                              <m:r>
                                <a:rPr lang="en-US" b="0" i="1" smtClean="0">
                                  <a:latin typeface="Cambria Math" panose="02040503050406030204" pitchFamily="18" charset="0"/>
                                  <a:ea typeface="Cambria Math" panose="02040503050406030204" pitchFamily="18" charset="0"/>
                                </a:rPr>
                                <m:t>𝑉</m:t>
                              </m:r>
                            </m:e>
                          </m:func>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−1</m:t>
                                  </m:r>
                                </m:e>
                              </m:d>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𝑄</m:t>
                                      </m:r>
                                    </m:sub>
                                  </m:sSub>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𝑉</m:t>
                                  </m:r>
                                </m:e>
                              </m:func>
                            </m:e>
                          </m:func>
                        </m:e>
                      </m:func>
                      <m:r>
                        <a:rPr lang="en-US" b="0" i="1" smtClean="0">
                          <a:latin typeface="Cambria Math" panose="02040503050406030204" pitchFamily="18" charset="0"/>
                          <a:ea typeface="Cambria Math" panose="02040503050406030204" pitchFamily="18" charset="0"/>
                        </a:rPr>
                        <m:t>)</m:t>
                      </m:r>
                    </m:oMath>
                  </m:oMathPara>
                </a14:m>
                <a:endParaRPr lang="en-CN"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𝑄</m:t>
                                  </m:r>
                                </m:sub>
                              </m:sSub>
                              <m:r>
                                <a:rPr lang="en-US" b="0" i="1" smtClean="0">
                                  <a:latin typeface="Cambria Math" panose="02040503050406030204" pitchFamily="18" charset="0"/>
                                  <a:ea typeface="Cambria Math" panose="02040503050406030204" pitchFamily="18" charset="0"/>
                                </a:rPr>
                                <m:t>𝑉</m:t>
                              </m:r>
                            </m:e>
                          </m:func>
                        </m:e>
                      </m:func>
                      <m:r>
                        <a:rPr lang="en-US" b="0" i="1" smtClean="0">
                          <a:latin typeface="Cambria Math" panose="02040503050406030204" pitchFamily="18" charset="0"/>
                          <a:ea typeface="Cambria Math" panose="02040503050406030204" pitchFamily="18" charset="0"/>
                        </a:rPr>
                        <m:t>)</m:t>
                      </m:r>
                    </m:oMath>
                  </m:oMathPara>
                </a14:m>
                <a:endParaRPr lang="en-CN" dirty="0"/>
              </a:p>
            </p:txBody>
          </p:sp>
        </mc:Choice>
        <mc:Fallback xmlns="">
          <p:sp>
            <p:nvSpPr>
              <p:cNvPr id="8" name="TextBox 7">
                <a:extLst>
                  <a:ext uri="{FF2B5EF4-FFF2-40B4-BE49-F238E27FC236}">
                    <a16:creationId xmlns:a16="http://schemas.microsoft.com/office/drawing/2014/main" id="{DE081571-2CDE-144A-A671-6A19F8C64AA8}"/>
                  </a:ext>
                </a:extLst>
              </p:cNvPr>
              <p:cNvSpPr txBox="1">
                <a:spLocks noRot="1" noChangeAspect="1" noMove="1" noResize="1" noEditPoints="1" noAdjustHandles="1" noChangeArrowheads="1" noChangeShapeType="1" noTextEdit="1"/>
              </p:cNvSpPr>
              <p:nvPr/>
            </p:nvSpPr>
            <p:spPr>
              <a:xfrm>
                <a:off x="-214747" y="1875579"/>
                <a:ext cx="6206837" cy="962443"/>
              </a:xfrm>
              <a:prstGeom prst="rect">
                <a:avLst/>
              </a:prstGeom>
              <a:blipFill>
                <a:blip r:embed="rId5"/>
                <a:stretch>
                  <a:fillRect b="-389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202EABC-7344-3842-A1CC-30270CA11C8D}"/>
                  </a:ext>
                </a:extLst>
              </p:cNvPr>
              <p:cNvSpPr txBox="1"/>
              <p:nvPr/>
            </p:nvSpPr>
            <p:spPr>
              <a:xfrm>
                <a:off x="7904016" y="811367"/>
                <a:ext cx="4293103" cy="812658"/>
              </a:xfrm>
              <a:prstGeom prst="rect">
                <a:avLst/>
              </a:prstGeom>
              <a:noFill/>
            </p:spPr>
            <p:txBody>
              <a:bodyPr wrap="square" rtlCol="0">
                <a:spAutoFit/>
              </a:bodyPr>
              <a:lstStyle/>
              <a:p>
                <a:pPr/>
                <a14:m>
                  <m:oMathPara xmlns:m="http://schemas.openxmlformats.org/officeDocument/2006/math">
                    <m:oMathParaPr>
                      <m:jc m:val="right"/>
                    </m:oMathParaPr>
                    <m:oMath xmlns:m="http://schemas.openxmlformats.org/officeDocument/2006/math">
                      <m:sSub>
                        <m:sSubPr>
                          <m:ctrlPr>
                            <a:rPr lang="en-CN" sz="240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𝑄</m:t>
                          </m:r>
                        </m:sub>
                      </m:sSub>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𝑚</m:t>
                                  </m:r>
                                  <m:r>
                                    <a:rPr lang="en-US" sz="2400" b="0" i="1" smtClean="0">
                                      <a:latin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𝜏</m:t>
                                  </m:r>
                                </m:num>
                                <m:den>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𝜋</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ℏ</m:t>
                                      </m:r>
                                    </m:e>
                                    <m:sup>
                                      <m:r>
                                        <a:rPr lang="en-US" sz="2400" b="0" i="1" smtClean="0">
                                          <a:latin typeface="Cambria Math" panose="02040503050406030204" pitchFamily="18" charset="0"/>
                                          <a:ea typeface="Cambria Math" panose="02040503050406030204" pitchFamily="18" charset="0"/>
                                        </a:rPr>
                                        <m:t>2</m:t>
                                      </m:r>
                                    </m:sup>
                                  </m:sSup>
                                </m:den>
                              </m:f>
                            </m:e>
                          </m:d>
                        </m:e>
                        <m:sup>
                          <m:r>
                            <a:rPr lang="en-US" sz="2400" b="0" i="1" smtClean="0">
                              <a:latin typeface="Cambria Math" panose="02040503050406030204" pitchFamily="18" charset="0"/>
                            </a:rPr>
                            <m:t>3/2</m:t>
                          </m:r>
                        </m:sup>
                      </m:sSup>
                    </m:oMath>
                  </m:oMathPara>
                </a14:m>
                <a:endParaRPr lang="en-CN" sz="2400" dirty="0"/>
              </a:p>
            </p:txBody>
          </p:sp>
        </mc:Choice>
        <mc:Fallback xmlns="">
          <p:sp>
            <p:nvSpPr>
              <p:cNvPr id="9" name="TextBox 8">
                <a:extLst>
                  <a:ext uri="{FF2B5EF4-FFF2-40B4-BE49-F238E27FC236}">
                    <a16:creationId xmlns:a16="http://schemas.microsoft.com/office/drawing/2014/main" id="{D202EABC-7344-3842-A1CC-30270CA11C8D}"/>
                  </a:ext>
                </a:extLst>
              </p:cNvPr>
              <p:cNvSpPr txBox="1">
                <a:spLocks noRot="1" noChangeAspect="1" noMove="1" noResize="1" noEditPoints="1" noAdjustHandles="1" noChangeArrowheads="1" noChangeShapeType="1" noTextEdit="1"/>
              </p:cNvSpPr>
              <p:nvPr/>
            </p:nvSpPr>
            <p:spPr>
              <a:xfrm>
                <a:off x="7904016" y="811367"/>
                <a:ext cx="4293103" cy="812658"/>
              </a:xfrm>
              <a:prstGeom prst="rect">
                <a:avLst/>
              </a:prstGeom>
              <a:blipFill>
                <a:blip r:embed="rId6"/>
                <a:stretch>
                  <a:fillRect b="-7692"/>
                </a:stretch>
              </a:blipFill>
            </p:spPr>
            <p:txBody>
              <a:bodyPr/>
              <a:lstStyle/>
              <a:p>
                <a:r>
                  <a:rPr lang="en-CN">
                    <a:noFill/>
                  </a:rPr>
                  <a:t> </a:t>
                </a:r>
              </a:p>
            </p:txBody>
          </p:sp>
        </mc:Fallback>
      </mc:AlternateContent>
      <p:pic>
        <p:nvPicPr>
          <p:cNvPr id="10" name="Picture 9">
            <a:extLst>
              <a:ext uri="{FF2B5EF4-FFF2-40B4-BE49-F238E27FC236}">
                <a16:creationId xmlns:a16="http://schemas.microsoft.com/office/drawing/2014/main" id="{DC516694-1790-9105-CE63-54C19D67503D}"/>
              </a:ext>
            </a:extLst>
          </p:cNvPr>
          <p:cNvPicPr>
            <a:picLocks noChangeAspect="1"/>
          </p:cNvPicPr>
          <p:nvPr/>
        </p:nvPicPr>
        <p:blipFill>
          <a:blip r:embed="rId7"/>
          <a:stretch>
            <a:fillRect/>
          </a:stretch>
        </p:blipFill>
        <p:spPr>
          <a:xfrm>
            <a:off x="9893300" y="6214"/>
            <a:ext cx="2298700" cy="762000"/>
          </a:xfrm>
          <a:prstGeom prst="rect">
            <a:avLst/>
          </a:prstGeom>
        </p:spPr>
      </p:pic>
    </p:spTree>
    <p:extLst>
      <p:ext uri="{BB962C8B-B14F-4D97-AF65-F5344CB8AC3E}">
        <p14:creationId xmlns:p14="http://schemas.microsoft.com/office/powerpoint/2010/main" val="2444607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241387-B2B4-A14A-BABA-365287418E04}"/>
              </a:ext>
            </a:extLst>
          </p:cNvPr>
          <p:cNvSpPr txBox="1"/>
          <p:nvPr/>
        </p:nvSpPr>
        <p:spPr>
          <a:xfrm>
            <a:off x="277091" y="221673"/>
            <a:ext cx="4987636" cy="369332"/>
          </a:xfrm>
          <a:prstGeom prst="rect">
            <a:avLst/>
          </a:prstGeom>
          <a:noFill/>
        </p:spPr>
        <p:txBody>
          <a:bodyPr wrap="square" rtlCol="0">
            <a:spAutoFit/>
          </a:bodyPr>
          <a:lstStyle/>
          <a:p>
            <a:r>
              <a:rPr lang="en-CN" dirty="0"/>
              <a:t>理想气体的化学势</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5DDBDA2-40F7-3F4B-B7E0-1F0329B66DF9}"/>
                  </a:ext>
                </a:extLst>
              </p:cNvPr>
              <p:cNvSpPr txBox="1"/>
              <p:nvPr/>
            </p:nvSpPr>
            <p:spPr>
              <a:xfrm>
                <a:off x="2272145" y="706582"/>
                <a:ext cx="7439891" cy="6658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𝑄</m:t>
                              </m:r>
                            </m:sub>
                          </m:sSub>
                          <m:r>
                            <a:rPr lang="en-US" b="0" i="1" smtClean="0">
                              <a:latin typeface="Cambria Math" panose="02040503050406030204" pitchFamily="18" charset="0"/>
                              <a:ea typeface="Cambria Math" panose="02040503050406030204" pitchFamily="18" charset="0"/>
                            </a:rPr>
                            <m:t>𝑉</m:t>
                          </m:r>
                        </m:e>
                      </m:func>
                      <m:r>
                        <a:rPr lang="en-US" b="0" i="1" smtClean="0">
                          <a:latin typeface="Cambria Math" panose="02040503050406030204" pitchFamily="18" charset="0"/>
                          <a:ea typeface="Cambria Math" panose="02040503050406030204" pitchFamily="18" charset="0"/>
                        </a:rPr>
                        <m:t>)</m:t>
                      </m:r>
                    </m:oMath>
                  </m:oMathPara>
                </a14:m>
                <a:endParaRPr lang="en-CN" dirty="0"/>
              </a:p>
              <a:p>
                <a:endParaRPr lang="en-CN" dirty="0"/>
              </a:p>
            </p:txBody>
          </p:sp>
        </mc:Choice>
        <mc:Fallback xmlns="">
          <p:sp>
            <p:nvSpPr>
              <p:cNvPr id="3" name="TextBox 2">
                <a:extLst>
                  <a:ext uri="{FF2B5EF4-FFF2-40B4-BE49-F238E27FC236}">
                    <a16:creationId xmlns:a16="http://schemas.microsoft.com/office/drawing/2014/main" id="{95DDBDA2-40F7-3F4B-B7E0-1F0329B66DF9}"/>
                  </a:ext>
                </a:extLst>
              </p:cNvPr>
              <p:cNvSpPr txBox="1">
                <a:spLocks noRot="1" noChangeAspect="1" noMove="1" noResize="1" noEditPoints="1" noAdjustHandles="1" noChangeArrowheads="1" noChangeShapeType="1" noTextEdit="1"/>
              </p:cNvSpPr>
              <p:nvPr/>
            </p:nvSpPr>
            <p:spPr>
              <a:xfrm>
                <a:off x="2272145" y="706582"/>
                <a:ext cx="7439891" cy="665888"/>
              </a:xfrm>
              <a:prstGeom prst="rect">
                <a:avLst/>
              </a:prstGeom>
              <a:blipFill>
                <a:blip r:embed="rId2"/>
                <a:stretch>
                  <a:fillRect/>
                </a:stretch>
              </a:blipFill>
            </p:spPr>
            <p:txBody>
              <a:bodyPr/>
              <a:lstStyle/>
              <a:p>
                <a:r>
                  <a:rPr lang="en-CN">
                    <a:noFill/>
                  </a:rPr>
                  <a:t> </a:t>
                </a:r>
              </a:p>
            </p:txBody>
          </p:sp>
        </mc:Fallback>
      </mc:AlternateContent>
      <p:sp>
        <p:nvSpPr>
          <p:cNvPr id="4" name="Down Arrow 3">
            <a:extLst>
              <a:ext uri="{FF2B5EF4-FFF2-40B4-BE49-F238E27FC236}">
                <a16:creationId xmlns:a16="http://schemas.microsoft.com/office/drawing/2014/main" id="{78426408-C4CE-E145-AB28-334DFBCAD0B9}"/>
              </a:ext>
            </a:extLst>
          </p:cNvPr>
          <p:cNvSpPr/>
          <p:nvPr/>
        </p:nvSpPr>
        <p:spPr>
          <a:xfrm>
            <a:off x="5999016" y="1116375"/>
            <a:ext cx="318655" cy="261754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967D0F6-1671-054E-AAF6-E5729C175E04}"/>
                  </a:ext>
                </a:extLst>
              </p:cNvPr>
              <p:cNvSpPr txBox="1"/>
              <p:nvPr/>
            </p:nvSpPr>
            <p:spPr>
              <a:xfrm>
                <a:off x="4731325" y="3765871"/>
                <a:ext cx="3172691" cy="13142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sz="4000" i="1" smtClean="0">
                          <a:latin typeface="Cambria Math" panose="02040503050406030204" pitchFamily="18" charset="0"/>
                          <a:ea typeface="Cambria Math" panose="02040503050406030204" pitchFamily="18" charset="0"/>
                        </a:rPr>
                        <m:t>𝜇</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𝜏</m:t>
                      </m:r>
                      <m:func>
                        <m:funcPr>
                          <m:ctrlPr>
                            <a:rPr lang="en-US" sz="4000" b="0" i="1" smtClean="0">
                              <a:latin typeface="Cambria Math" panose="02040503050406030204" pitchFamily="18" charset="0"/>
                              <a:ea typeface="Cambria Math" panose="02040503050406030204" pitchFamily="18" charset="0"/>
                            </a:rPr>
                          </m:ctrlPr>
                        </m:funcPr>
                        <m:fName>
                          <m:r>
                            <m:rPr>
                              <m:sty m:val="p"/>
                            </m:rPr>
                            <a:rPr lang="en-US" sz="4000" b="0" i="0" smtClean="0">
                              <a:latin typeface="Cambria Math" panose="02040503050406030204" pitchFamily="18" charset="0"/>
                              <a:ea typeface="Cambria Math" panose="02040503050406030204" pitchFamily="18" charset="0"/>
                            </a:rPr>
                            <m:t>log</m:t>
                          </m:r>
                        </m:fName>
                        <m:e>
                          <m:f>
                            <m:fPr>
                              <m:ctrlPr>
                                <a:rPr lang="en-US" sz="4000" b="0" i="1" smtClean="0">
                                  <a:latin typeface="Cambria Math" panose="02040503050406030204" pitchFamily="18" charset="0"/>
                                  <a:ea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𝑛</m:t>
                              </m:r>
                            </m:num>
                            <m:den>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𝑛</m:t>
                                  </m:r>
                                </m:e>
                                <m:sub>
                                  <m:r>
                                    <a:rPr lang="en-US" sz="4000" b="0" i="1" smtClean="0">
                                      <a:latin typeface="Cambria Math" panose="02040503050406030204" pitchFamily="18" charset="0"/>
                                      <a:ea typeface="Cambria Math" panose="02040503050406030204" pitchFamily="18" charset="0"/>
                                    </a:rPr>
                                    <m:t>𝑄</m:t>
                                  </m:r>
                                </m:sub>
                              </m:sSub>
                            </m:den>
                          </m:f>
                        </m:e>
                      </m:func>
                    </m:oMath>
                  </m:oMathPara>
                </a14:m>
                <a:endParaRPr lang="en-CN" sz="4000" dirty="0"/>
              </a:p>
            </p:txBody>
          </p:sp>
        </mc:Choice>
        <mc:Fallback xmlns="">
          <p:sp>
            <p:nvSpPr>
              <p:cNvPr id="5" name="TextBox 4">
                <a:extLst>
                  <a:ext uri="{FF2B5EF4-FFF2-40B4-BE49-F238E27FC236}">
                    <a16:creationId xmlns:a16="http://schemas.microsoft.com/office/drawing/2014/main" id="{9967D0F6-1671-054E-AAF6-E5729C175E04}"/>
                  </a:ext>
                </a:extLst>
              </p:cNvPr>
              <p:cNvSpPr txBox="1">
                <a:spLocks noRot="1" noChangeAspect="1" noMove="1" noResize="1" noEditPoints="1" noAdjustHandles="1" noChangeArrowheads="1" noChangeShapeType="1" noTextEdit="1"/>
              </p:cNvSpPr>
              <p:nvPr/>
            </p:nvSpPr>
            <p:spPr>
              <a:xfrm>
                <a:off x="4731325" y="3765871"/>
                <a:ext cx="3172691" cy="1314206"/>
              </a:xfrm>
              <a:prstGeom prst="rect">
                <a:avLst/>
              </a:prstGeom>
              <a:blipFill>
                <a:blip r:embed="rId3"/>
                <a:stretch>
                  <a:fillRect b="-769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A2526DE-D368-2043-9EFF-076869E870C3}"/>
                  </a:ext>
                </a:extLst>
              </p:cNvPr>
              <p:cNvSpPr txBox="1"/>
              <p:nvPr/>
            </p:nvSpPr>
            <p:spPr>
              <a:xfrm>
                <a:off x="6788727" y="2025550"/>
                <a:ext cx="4170219"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r>
                            <a:rPr lang="en-US" b="0" i="1" smtClean="0">
                              <a:latin typeface="Cambria Math" panose="02040503050406030204" pitchFamily="18" charset="0"/>
                            </a:rPr>
                            <m:t>𝑑</m:t>
                          </m:r>
                        </m:num>
                        <m:den>
                          <m:r>
                            <a:rPr lang="en-US" b="0" i="1" smtClean="0">
                              <a:latin typeface="Cambria Math" panose="02040503050406030204" pitchFamily="18" charset="0"/>
                            </a:rPr>
                            <m:t>𝑑</m:t>
                          </m:r>
                          <m:r>
                            <a:rPr lang="en-US" b="0" i="1" smtClean="0">
                              <a:latin typeface="Cambria Math" panose="02040503050406030204" pitchFamily="18" charset="0"/>
                            </a:rPr>
                            <m:t> </m:t>
                          </m:r>
                          <m:r>
                            <a:rPr lang="en-US" b="0" i="1" smtClean="0">
                              <a:latin typeface="Cambria Math" panose="02040503050406030204" pitchFamily="18" charset="0"/>
                            </a:rPr>
                            <m:t>𝑁</m:t>
                          </m:r>
                        </m:den>
                      </m:f>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𝑁</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m:t>
                              </m:r>
                            </m:num>
                            <m:den>
                              <m:r>
                                <a:rPr lang="en-US" b="0" i="1" smtClean="0">
                                  <a:latin typeface="Cambria Math" panose="02040503050406030204" pitchFamily="18" charset="0"/>
                                </a:rPr>
                                <m:t>𝑑</m:t>
                              </m:r>
                              <m:r>
                                <a:rPr lang="en-US" b="0" i="1" smtClean="0">
                                  <a:latin typeface="Cambria Math" panose="02040503050406030204" pitchFamily="18" charset="0"/>
                                </a:rPr>
                                <m:t> </m:t>
                              </m:r>
                              <m:r>
                                <a:rPr lang="en-US" b="0" i="1" smtClean="0">
                                  <a:latin typeface="Cambria Math" panose="02040503050406030204" pitchFamily="18" charset="0"/>
                                </a:rPr>
                                <m:t>𝑁</m:t>
                              </m:r>
                            </m:den>
                          </m:f>
                          <m:d>
                            <m:dPr>
                              <m:ctrlPr>
                                <a:rPr lang="en-US" b="0" i="1" smtClean="0">
                                  <a:latin typeface="Cambria Math" panose="02040503050406030204" pitchFamily="18" charset="0"/>
                                </a:rPr>
                              </m:ctrlPr>
                            </m:dPr>
                            <m:e>
                              <m:r>
                                <a:rPr lang="en-US" b="0" i="1" smtClean="0">
                                  <a:latin typeface="Cambria Math" panose="02040503050406030204" pitchFamily="18" charset="0"/>
                                </a:rPr>
                                <m:t>𝑁</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𝑁</m:t>
                                  </m:r>
                                </m:e>
                              </m:func>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𝑁</m:t>
                              </m:r>
                            </m:e>
                          </m:func>
                        </m:e>
                      </m:func>
                    </m:oMath>
                  </m:oMathPara>
                </a14:m>
                <a:endParaRPr lang="en-CN" dirty="0"/>
              </a:p>
            </p:txBody>
          </p:sp>
        </mc:Choice>
        <mc:Fallback xmlns="">
          <p:sp>
            <p:nvSpPr>
              <p:cNvPr id="7" name="TextBox 6">
                <a:extLst>
                  <a:ext uri="{FF2B5EF4-FFF2-40B4-BE49-F238E27FC236}">
                    <a16:creationId xmlns:a16="http://schemas.microsoft.com/office/drawing/2014/main" id="{6A2526DE-D368-2043-9EFF-076869E870C3}"/>
                  </a:ext>
                </a:extLst>
              </p:cNvPr>
              <p:cNvSpPr txBox="1">
                <a:spLocks noRot="1" noChangeAspect="1" noMove="1" noResize="1" noEditPoints="1" noAdjustHandles="1" noChangeArrowheads="1" noChangeShapeType="1" noTextEdit="1"/>
              </p:cNvSpPr>
              <p:nvPr/>
            </p:nvSpPr>
            <p:spPr>
              <a:xfrm>
                <a:off x="6788727" y="2025550"/>
                <a:ext cx="4170219" cy="634789"/>
              </a:xfrm>
              <a:prstGeom prst="rect">
                <a:avLst/>
              </a:prstGeom>
              <a:blipFill>
                <a:blip r:embed="rId4"/>
                <a:stretch>
                  <a:fillRect b="-1568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E081571-2CDE-144A-A671-6A19F8C64AA8}"/>
                  </a:ext>
                </a:extLst>
              </p:cNvPr>
              <p:cNvSpPr txBox="1"/>
              <p:nvPr/>
            </p:nvSpPr>
            <p:spPr>
              <a:xfrm>
                <a:off x="-214747" y="1875579"/>
                <a:ext cx="6206837" cy="9624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𝐹</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𝑁</m:t>
                          </m:r>
                        </m:e>
                      </m:d>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−1]</m:t>
                      </m:r>
                    </m:oMath>
                  </m:oMathPara>
                </a14:m>
                <a:endParaRPr lang="en-CN"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𝑄</m:t>
                                  </m:r>
                                </m:sub>
                              </m:sSub>
                              <m:r>
                                <a:rPr lang="en-US" b="0" i="1" smtClean="0">
                                  <a:latin typeface="Cambria Math" panose="02040503050406030204" pitchFamily="18" charset="0"/>
                                  <a:ea typeface="Cambria Math" panose="02040503050406030204" pitchFamily="18" charset="0"/>
                                </a:rPr>
                                <m:t>𝑉</m:t>
                              </m:r>
                            </m:e>
                          </m:func>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−1</m:t>
                                  </m:r>
                                </m:e>
                              </m:d>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𝑄</m:t>
                                      </m:r>
                                    </m:sub>
                                  </m:sSub>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𝑉</m:t>
                                  </m:r>
                                </m:e>
                              </m:func>
                            </m:e>
                          </m:func>
                        </m:e>
                      </m:func>
                      <m:r>
                        <a:rPr lang="en-US" b="0" i="1" smtClean="0">
                          <a:latin typeface="Cambria Math" panose="02040503050406030204" pitchFamily="18" charset="0"/>
                          <a:ea typeface="Cambria Math" panose="02040503050406030204" pitchFamily="18" charset="0"/>
                        </a:rPr>
                        <m:t>)</m:t>
                      </m:r>
                    </m:oMath>
                  </m:oMathPara>
                </a14:m>
                <a:endParaRPr lang="en-CN"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𝑄</m:t>
                                  </m:r>
                                </m:sub>
                              </m:sSub>
                              <m:r>
                                <a:rPr lang="en-US" b="0" i="1" smtClean="0">
                                  <a:latin typeface="Cambria Math" panose="02040503050406030204" pitchFamily="18" charset="0"/>
                                  <a:ea typeface="Cambria Math" panose="02040503050406030204" pitchFamily="18" charset="0"/>
                                </a:rPr>
                                <m:t>𝑉</m:t>
                              </m:r>
                            </m:e>
                          </m:func>
                        </m:e>
                      </m:func>
                      <m:r>
                        <a:rPr lang="en-US" b="0" i="1" smtClean="0">
                          <a:latin typeface="Cambria Math" panose="02040503050406030204" pitchFamily="18" charset="0"/>
                          <a:ea typeface="Cambria Math" panose="02040503050406030204" pitchFamily="18" charset="0"/>
                        </a:rPr>
                        <m:t>)</m:t>
                      </m:r>
                    </m:oMath>
                  </m:oMathPara>
                </a14:m>
                <a:endParaRPr lang="en-CN" dirty="0"/>
              </a:p>
            </p:txBody>
          </p:sp>
        </mc:Choice>
        <mc:Fallback xmlns="">
          <p:sp>
            <p:nvSpPr>
              <p:cNvPr id="8" name="TextBox 7">
                <a:extLst>
                  <a:ext uri="{FF2B5EF4-FFF2-40B4-BE49-F238E27FC236}">
                    <a16:creationId xmlns:a16="http://schemas.microsoft.com/office/drawing/2014/main" id="{DE081571-2CDE-144A-A671-6A19F8C64AA8}"/>
                  </a:ext>
                </a:extLst>
              </p:cNvPr>
              <p:cNvSpPr txBox="1">
                <a:spLocks noRot="1" noChangeAspect="1" noMove="1" noResize="1" noEditPoints="1" noAdjustHandles="1" noChangeArrowheads="1" noChangeShapeType="1" noTextEdit="1"/>
              </p:cNvSpPr>
              <p:nvPr/>
            </p:nvSpPr>
            <p:spPr>
              <a:xfrm>
                <a:off x="-214747" y="1875579"/>
                <a:ext cx="6206837" cy="962443"/>
              </a:xfrm>
              <a:prstGeom prst="rect">
                <a:avLst/>
              </a:prstGeom>
              <a:blipFill>
                <a:blip r:embed="rId5"/>
                <a:stretch>
                  <a:fillRect b="-389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202EABC-7344-3842-A1CC-30270CA11C8D}"/>
                  </a:ext>
                </a:extLst>
              </p:cNvPr>
              <p:cNvSpPr txBox="1"/>
              <p:nvPr/>
            </p:nvSpPr>
            <p:spPr>
              <a:xfrm>
                <a:off x="7898897" y="56380"/>
                <a:ext cx="4293103" cy="812658"/>
              </a:xfrm>
              <a:prstGeom prst="rect">
                <a:avLst/>
              </a:prstGeom>
              <a:noFill/>
            </p:spPr>
            <p:txBody>
              <a:bodyPr wrap="square" rtlCol="0">
                <a:spAutoFit/>
              </a:bodyPr>
              <a:lstStyle/>
              <a:p>
                <a:pPr/>
                <a14:m>
                  <m:oMathPara xmlns:m="http://schemas.openxmlformats.org/officeDocument/2006/math">
                    <m:oMathParaPr>
                      <m:jc m:val="right"/>
                    </m:oMathParaPr>
                    <m:oMath xmlns:m="http://schemas.openxmlformats.org/officeDocument/2006/math">
                      <m:sSub>
                        <m:sSubPr>
                          <m:ctrlPr>
                            <a:rPr lang="en-CN" sz="240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𝑄</m:t>
                          </m:r>
                        </m:sub>
                      </m:sSub>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𝑚</m:t>
                                  </m:r>
                                  <m:r>
                                    <a:rPr lang="en-US" sz="2400" b="0" i="1" smtClean="0">
                                      <a:latin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𝜏</m:t>
                                  </m:r>
                                </m:num>
                                <m:den>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𝜋</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ℏ</m:t>
                                      </m:r>
                                    </m:e>
                                    <m:sup>
                                      <m:r>
                                        <a:rPr lang="en-US" sz="2400" b="0" i="1" smtClean="0">
                                          <a:latin typeface="Cambria Math" panose="02040503050406030204" pitchFamily="18" charset="0"/>
                                          <a:ea typeface="Cambria Math" panose="02040503050406030204" pitchFamily="18" charset="0"/>
                                        </a:rPr>
                                        <m:t>2</m:t>
                                      </m:r>
                                    </m:sup>
                                  </m:sSup>
                                </m:den>
                              </m:f>
                            </m:e>
                          </m:d>
                        </m:e>
                        <m:sup>
                          <m:r>
                            <a:rPr lang="en-US" sz="2400" b="0" i="1" smtClean="0">
                              <a:latin typeface="Cambria Math" panose="02040503050406030204" pitchFamily="18" charset="0"/>
                            </a:rPr>
                            <m:t>3/2</m:t>
                          </m:r>
                        </m:sup>
                      </m:sSup>
                    </m:oMath>
                  </m:oMathPara>
                </a14:m>
                <a:endParaRPr lang="en-CN" sz="2400" dirty="0"/>
              </a:p>
            </p:txBody>
          </p:sp>
        </mc:Choice>
        <mc:Fallback xmlns="">
          <p:sp>
            <p:nvSpPr>
              <p:cNvPr id="9" name="TextBox 8">
                <a:extLst>
                  <a:ext uri="{FF2B5EF4-FFF2-40B4-BE49-F238E27FC236}">
                    <a16:creationId xmlns:a16="http://schemas.microsoft.com/office/drawing/2014/main" id="{D202EABC-7344-3842-A1CC-30270CA11C8D}"/>
                  </a:ext>
                </a:extLst>
              </p:cNvPr>
              <p:cNvSpPr txBox="1">
                <a:spLocks noRot="1" noChangeAspect="1" noMove="1" noResize="1" noEditPoints="1" noAdjustHandles="1" noChangeArrowheads="1" noChangeShapeType="1" noTextEdit="1"/>
              </p:cNvSpPr>
              <p:nvPr/>
            </p:nvSpPr>
            <p:spPr>
              <a:xfrm>
                <a:off x="7898897" y="56380"/>
                <a:ext cx="4293103" cy="812658"/>
              </a:xfrm>
              <a:prstGeom prst="rect">
                <a:avLst/>
              </a:prstGeom>
              <a:blipFill>
                <a:blip r:embed="rId6"/>
                <a:stretch>
                  <a:fillRect b="-6154"/>
                </a:stretch>
              </a:blipFill>
            </p:spPr>
            <p:txBody>
              <a:bodyPr/>
              <a:lstStyle/>
              <a:p>
                <a:r>
                  <a:rPr lang="en-CN">
                    <a:noFill/>
                  </a:rPr>
                  <a:t> </a:t>
                </a:r>
              </a:p>
            </p:txBody>
          </p:sp>
        </mc:Fallback>
      </mc:AlternateContent>
      <p:sp>
        <p:nvSpPr>
          <p:cNvPr id="6" name="TextBox 5">
            <a:extLst>
              <a:ext uri="{FF2B5EF4-FFF2-40B4-BE49-F238E27FC236}">
                <a16:creationId xmlns:a16="http://schemas.microsoft.com/office/drawing/2014/main" id="{7B02E788-E11F-5597-D640-76A1943F5FDC}"/>
              </a:ext>
            </a:extLst>
          </p:cNvPr>
          <p:cNvSpPr txBox="1"/>
          <p:nvPr/>
        </p:nvSpPr>
        <p:spPr>
          <a:xfrm>
            <a:off x="2272145" y="5456903"/>
            <a:ext cx="4622726" cy="369332"/>
          </a:xfrm>
          <a:prstGeom prst="rect">
            <a:avLst/>
          </a:prstGeom>
          <a:noFill/>
        </p:spPr>
        <p:txBody>
          <a:bodyPr wrap="square" rtlCol="0">
            <a:spAutoFit/>
          </a:bodyPr>
          <a:lstStyle/>
          <a:p>
            <a:r>
              <a:rPr lang="en-CN" dirty="0"/>
              <a:t>有问题吗</a:t>
            </a:r>
            <a:r>
              <a:rPr lang="zh-CN" altLang="en-US" dirty="0"/>
              <a:t>？</a:t>
            </a:r>
            <a:endParaRPr lang="en-CN" dirty="0"/>
          </a:p>
        </p:txBody>
      </p:sp>
      <p:pic>
        <p:nvPicPr>
          <p:cNvPr id="10" name="Picture 2" descr="问号(标点符号)_搜狗百科">
            <a:extLst>
              <a:ext uri="{FF2B5EF4-FFF2-40B4-BE49-F238E27FC236}">
                <a16:creationId xmlns:a16="http://schemas.microsoft.com/office/drawing/2014/main" id="{68D977F8-718D-3648-24EE-E4BAD396164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83678" y="4568419"/>
            <a:ext cx="3810000" cy="2146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7336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2DB0B6B-BBAE-1A4F-8FA5-4C0941B7670E}"/>
                  </a:ext>
                </a:extLst>
              </p:cNvPr>
              <p:cNvSpPr txBox="1"/>
              <p:nvPr/>
            </p:nvSpPr>
            <p:spPr>
              <a:xfrm>
                <a:off x="-463512" y="110837"/>
                <a:ext cx="7273637" cy="13142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sz="4000" i="1" smtClean="0">
                          <a:latin typeface="Cambria Math" panose="02040503050406030204" pitchFamily="18" charset="0"/>
                          <a:ea typeface="Cambria Math" panose="02040503050406030204" pitchFamily="18" charset="0"/>
                        </a:rPr>
                        <m:t>𝜇</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𝜏</m:t>
                      </m:r>
                      <m:func>
                        <m:funcPr>
                          <m:ctrlPr>
                            <a:rPr lang="en-US" sz="4000" b="0" i="1" smtClean="0">
                              <a:latin typeface="Cambria Math" panose="02040503050406030204" pitchFamily="18" charset="0"/>
                              <a:ea typeface="Cambria Math" panose="02040503050406030204" pitchFamily="18" charset="0"/>
                            </a:rPr>
                          </m:ctrlPr>
                        </m:funcPr>
                        <m:fName>
                          <m:r>
                            <m:rPr>
                              <m:sty m:val="p"/>
                            </m:rPr>
                            <a:rPr lang="en-US" sz="4000" b="0" i="0" smtClean="0">
                              <a:latin typeface="Cambria Math" panose="02040503050406030204" pitchFamily="18" charset="0"/>
                              <a:ea typeface="Cambria Math" panose="02040503050406030204" pitchFamily="18" charset="0"/>
                            </a:rPr>
                            <m:t>log</m:t>
                          </m:r>
                        </m:fName>
                        <m:e>
                          <m:f>
                            <m:fPr>
                              <m:ctrlPr>
                                <a:rPr lang="en-US" sz="4000" b="0" i="1" smtClean="0">
                                  <a:latin typeface="Cambria Math" panose="02040503050406030204" pitchFamily="18" charset="0"/>
                                  <a:ea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𝑛</m:t>
                              </m:r>
                            </m:num>
                            <m:den>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𝑛</m:t>
                                  </m:r>
                                </m:e>
                                <m:sub>
                                  <m:r>
                                    <a:rPr lang="en-US" sz="4000" b="0" i="1" smtClean="0">
                                      <a:latin typeface="Cambria Math" panose="02040503050406030204" pitchFamily="18" charset="0"/>
                                      <a:ea typeface="Cambria Math" panose="02040503050406030204" pitchFamily="18" charset="0"/>
                                    </a:rPr>
                                    <m:t>𝑄</m:t>
                                  </m:r>
                                </m:sub>
                              </m:sSub>
                            </m:den>
                          </m:f>
                        </m:e>
                      </m:func>
                    </m:oMath>
                  </m:oMathPara>
                </a14:m>
                <a:endParaRPr lang="en-CN" sz="4000" dirty="0"/>
              </a:p>
            </p:txBody>
          </p:sp>
        </mc:Choice>
        <mc:Fallback xmlns="">
          <p:sp>
            <p:nvSpPr>
              <p:cNvPr id="2" name="TextBox 1">
                <a:extLst>
                  <a:ext uri="{FF2B5EF4-FFF2-40B4-BE49-F238E27FC236}">
                    <a16:creationId xmlns:a16="http://schemas.microsoft.com/office/drawing/2014/main" id="{22DB0B6B-BBAE-1A4F-8FA5-4C0941B7670E}"/>
                  </a:ext>
                </a:extLst>
              </p:cNvPr>
              <p:cNvSpPr txBox="1">
                <a:spLocks noRot="1" noChangeAspect="1" noMove="1" noResize="1" noEditPoints="1" noAdjustHandles="1" noChangeArrowheads="1" noChangeShapeType="1" noTextEdit="1"/>
              </p:cNvSpPr>
              <p:nvPr/>
            </p:nvSpPr>
            <p:spPr>
              <a:xfrm>
                <a:off x="-463512" y="110837"/>
                <a:ext cx="7273637" cy="1314206"/>
              </a:xfrm>
              <a:prstGeom prst="rect">
                <a:avLst/>
              </a:prstGeom>
              <a:blipFill>
                <a:blip r:embed="rId2"/>
                <a:stretch>
                  <a:fillRect b="-6667"/>
                </a:stretch>
              </a:blipFill>
            </p:spPr>
            <p:txBody>
              <a:bodyPr/>
              <a:lstStyle/>
              <a:p>
                <a:r>
                  <a:rPr lang="en-CN">
                    <a:noFill/>
                  </a:rPr>
                  <a:t> </a:t>
                </a:r>
              </a:p>
            </p:txBody>
          </p:sp>
        </mc:Fallback>
      </mc:AlternateContent>
      <p:pic>
        <p:nvPicPr>
          <p:cNvPr id="4" name="Picture 3">
            <a:extLst>
              <a:ext uri="{FF2B5EF4-FFF2-40B4-BE49-F238E27FC236}">
                <a16:creationId xmlns:a16="http://schemas.microsoft.com/office/drawing/2014/main" id="{486F8A52-88C0-344B-92EB-1A4C4BFF1831}"/>
              </a:ext>
            </a:extLst>
          </p:cNvPr>
          <p:cNvPicPr>
            <a:picLocks noChangeAspect="1"/>
          </p:cNvPicPr>
          <p:nvPr/>
        </p:nvPicPr>
        <p:blipFill>
          <a:blip r:embed="rId3"/>
          <a:stretch>
            <a:fillRect/>
          </a:stretch>
        </p:blipFill>
        <p:spPr>
          <a:xfrm>
            <a:off x="1334115" y="1527250"/>
            <a:ext cx="3678381" cy="2452254"/>
          </a:xfrm>
          <a:prstGeom prst="rect">
            <a:avLst/>
          </a:prstGeom>
        </p:spPr>
      </p:pic>
      <p:pic>
        <p:nvPicPr>
          <p:cNvPr id="5" name="Picture 4">
            <a:extLst>
              <a:ext uri="{FF2B5EF4-FFF2-40B4-BE49-F238E27FC236}">
                <a16:creationId xmlns:a16="http://schemas.microsoft.com/office/drawing/2014/main" id="{BC7AF311-695C-404F-B99B-CA9B448C4262}"/>
              </a:ext>
            </a:extLst>
          </p:cNvPr>
          <p:cNvPicPr>
            <a:picLocks noChangeAspect="1"/>
          </p:cNvPicPr>
          <p:nvPr/>
        </p:nvPicPr>
        <p:blipFill>
          <a:blip r:embed="rId4"/>
          <a:stretch>
            <a:fillRect/>
          </a:stretch>
        </p:blipFill>
        <p:spPr>
          <a:xfrm>
            <a:off x="6756400" y="1635991"/>
            <a:ext cx="4608946" cy="3456709"/>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3ACD852-A345-3C49-8DD2-DE4462C20098}"/>
                  </a:ext>
                </a:extLst>
              </p:cNvPr>
              <p:cNvSpPr txBox="1"/>
              <p:nvPr/>
            </p:nvSpPr>
            <p:spPr>
              <a:xfrm>
                <a:off x="6220691" y="110837"/>
                <a:ext cx="5680364" cy="5374869"/>
              </a:xfrm>
              <a:prstGeom prst="rect">
                <a:avLst/>
              </a:prstGeom>
              <a:noFill/>
            </p:spPr>
            <p:txBody>
              <a:bodyPr wrap="square" rtlCol="0">
                <a:spAutoFit/>
              </a:bodyPr>
              <a:lstStyle/>
              <a:p>
                <a:pPr marL="285750" indent="-285750">
                  <a:buFont typeface="Arial" panose="020B0604020202020204" pitchFamily="34" charset="0"/>
                  <a:buChar char="•"/>
                </a:pPr>
                <a:r>
                  <a:rPr lang="en-US" dirty="0"/>
                  <a:t>T</a:t>
                </a:r>
                <a:r>
                  <a:rPr lang="en-CN" dirty="0"/>
                  <a:t>o increase the number of particles of a classical gas </a:t>
                </a:r>
                <a:r>
                  <a:rPr lang="en-CN" dirty="0">
                    <a:solidFill>
                      <a:srgbClr val="FF0000"/>
                    </a:solidFill>
                  </a:rPr>
                  <a:t>keeping the volume and entropy constant</a:t>
                </a:r>
                <a:r>
                  <a:rPr lang="en-CN" dirty="0"/>
                  <a:t>, you have to change the energy of the system by a negative amount. This change in the energy is the chemical potential.</a:t>
                </a:r>
              </a:p>
              <a:p>
                <a:pPr marL="285750" indent="-28575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𝑄</m:t>
                        </m:r>
                      </m:sub>
                    </m:sSub>
                  </m:oMath>
                </a14:m>
                <a:endParaRPr lang="en-CN" dirty="0"/>
              </a:p>
              <a:p>
                <a:pPr marL="285750" indent="-285750">
                  <a:buFont typeface="Arial" panose="020B0604020202020204" pitchFamily="34" charset="0"/>
                  <a:buChar char="•"/>
                </a:pPr>
                <a:endParaRPr lang="en-CN" dirty="0"/>
              </a:p>
              <a:p>
                <a:pPr marL="285750" indent="-285750">
                  <a:buFont typeface="Arial" panose="020B0604020202020204" pitchFamily="34" charset="0"/>
                  <a:buChar char="•"/>
                </a:pPr>
                <a:endParaRPr lang="en-CN" dirty="0"/>
              </a:p>
              <a:p>
                <a:pPr marL="285750" indent="-285750">
                  <a:buFont typeface="Arial" panose="020B0604020202020204" pitchFamily="34" charset="0"/>
                  <a:buChar char="•"/>
                </a:pPr>
                <a:endParaRPr lang="en-CN" dirty="0"/>
              </a:p>
              <a:p>
                <a:pPr marL="285750" indent="-285750">
                  <a:buFont typeface="Arial" panose="020B0604020202020204" pitchFamily="34" charset="0"/>
                  <a:buChar char="•"/>
                </a:pPr>
                <a:endParaRPr lang="en-CN" dirty="0"/>
              </a:p>
              <a:p>
                <a:pPr marL="285750" indent="-285750">
                  <a:buFont typeface="Arial" panose="020B0604020202020204" pitchFamily="34" charset="0"/>
                  <a:buChar char="•"/>
                </a:pPr>
                <a:endParaRPr lang="en-CN" dirty="0"/>
              </a:p>
              <a:p>
                <a:pPr marL="285750" indent="-285750">
                  <a:buFont typeface="Arial" panose="020B0604020202020204" pitchFamily="34" charset="0"/>
                  <a:buChar char="•"/>
                </a:pPr>
                <a:endParaRPr lang="en-CN" dirty="0"/>
              </a:p>
              <a:p>
                <a:pPr marL="285750" indent="-285750">
                  <a:buFont typeface="Arial" panose="020B0604020202020204" pitchFamily="34" charset="0"/>
                  <a:buChar char="•"/>
                </a:pPr>
                <a:endParaRPr lang="en-CN" dirty="0"/>
              </a:p>
              <a:p>
                <a:pPr marL="285750" indent="-285750">
                  <a:buFont typeface="Arial" panose="020B0604020202020204" pitchFamily="34" charset="0"/>
                  <a:buChar char="•"/>
                </a:pPr>
                <a:endParaRPr lang="en-CN" dirty="0"/>
              </a:p>
              <a:p>
                <a:pPr marL="285750" indent="-285750">
                  <a:buFont typeface="Arial" panose="020B0604020202020204" pitchFamily="34" charset="0"/>
                  <a:buChar char="•"/>
                </a:pPr>
                <a:endParaRPr lang="en-CN" dirty="0"/>
              </a:p>
              <a:p>
                <a:pPr marL="285750" indent="-285750">
                  <a:buFont typeface="Arial" panose="020B0604020202020204" pitchFamily="34" charset="0"/>
                  <a:buChar char="•"/>
                </a:pPr>
                <a:endParaRPr lang="en-CN" dirty="0"/>
              </a:p>
              <a:p>
                <a:pPr marL="285750" indent="-285750">
                  <a:buFont typeface="Arial" panose="020B0604020202020204" pitchFamily="34" charset="0"/>
                  <a:buChar char="•"/>
                </a:pPr>
                <a:endParaRPr lang="en-CN" dirty="0"/>
              </a:p>
              <a:p>
                <a:pPr marL="285750" indent="-285750">
                  <a:buFont typeface="Arial" panose="020B0604020202020204" pitchFamily="34" charset="0"/>
                  <a:buChar char="•"/>
                </a:pPr>
                <a:endParaRPr lang="en-CN" dirty="0"/>
              </a:p>
              <a:p>
                <a:pPr marL="285750" indent="-285750">
                  <a:buFont typeface="Arial" panose="020B0604020202020204" pitchFamily="34" charset="0"/>
                  <a:buChar char="•"/>
                </a:pPr>
                <a:endParaRPr lang="en-CN" dirty="0"/>
              </a:p>
              <a:p>
                <a:endParaRPr lang="en-CN" dirty="0"/>
              </a:p>
            </p:txBody>
          </p:sp>
        </mc:Choice>
        <mc:Fallback xmlns="">
          <p:sp>
            <p:nvSpPr>
              <p:cNvPr id="6" name="TextBox 5">
                <a:extLst>
                  <a:ext uri="{FF2B5EF4-FFF2-40B4-BE49-F238E27FC236}">
                    <a16:creationId xmlns:a16="http://schemas.microsoft.com/office/drawing/2014/main" id="{83ACD852-A345-3C49-8DD2-DE4462C20098}"/>
                  </a:ext>
                </a:extLst>
              </p:cNvPr>
              <p:cNvSpPr txBox="1">
                <a:spLocks noRot="1" noChangeAspect="1" noMove="1" noResize="1" noEditPoints="1" noAdjustHandles="1" noChangeArrowheads="1" noChangeShapeType="1" noTextEdit="1"/>
              </p:cNvSpPr>
              <p:nvPr/>
            </p:nvSpPr>
            <p:spPr>
              <a:xfrm>
                <a:off x="6220691" y="110837"/>
                <a:ext cx="5680364" cy="5374869"/>
              </a:xfrm>
              <a:prstGeom prst="rect">
                <a:avLst/>
              </a:prstGeom>
              <a:blipFill>
                <a:blip r:embed="rId5"/>
                <a:stretch>
                  <a:fillRect l="-670" t="-471" r="-670"/>
                </a:stretch>
              </a:blipFill>
            </p:spPr>
            <p:txBody>
              <a:bodyPr/>
              <a:lstStyle/>
              <a:p>
                <a:r>
                  <a:rPr lang="en-CN">
                    <a:noFill/>
                  </a:rPr>
                  <a:t> </a:t>
                </a:r>
              </a:p>
            </p:txBody>
          </p:sp>
        </mc:Fallback>
      </mc:AlternateContent>
      <p:pic>
        <p:nvPicPr>
          <p:cNvPr id="7" name="Picture 6">
            <a:extLst>
              <a:ext uri="{FF2B5EF4-FFF2-40B4-BE49-F238E27FC236}">
                <a16:creationId xmlns:a16="http://schemas.microsoft.com/office/drawing/2014/main" id="{5810E959-8602-2245-9E76-EDE6E7149D41}"/>
              </a:ext>
            </a:extLst>
          </p:cNvPr>
          <p:cNvPicPr>
            <a:picLocks noChangeAspect="1"/>
          </p:cNvPicPr>
          <p:nvPr/>
        </p:nvPicPr>
        <p:blipFill>
          <a:blip r:embed="rId6"/>
          <a:stretch>
            <a:fillRect/>
          </a:stretch>
        </p:blipFill>
        <p:spPr>
          <a:xfrm>
            <a:off x="1334115" y="4255514"/>
            <a:ext cx="3717796" cy="2280805"/>
          </a:xfrm>
          <a:prstGeom prst="rect">
            <a:avLst/>
          </a:prstGeom>
        </p:spPr>
      </p:pic>
      <p:sp>
        <p:nvSpPr>
          <p:cNvPr id="3" name="TextBox 2">
            <a:extLst>
              <a:ext uri="{FF2B5EF4-FFF2-40B4-BE49-F238E27FC236}">
                <a16:creationId xmlns:a16="http://schemas.microsoft.com/office/drawing/2014/main" id="{29F244ED-3C71-764A-B771-6536E7694A66}"/>
              </a:ext>
            </a:extLst>
          </p:cNvPr>
          <p:cNvSpPr txBox="1"/>
          <p:nvPr/>
        </p:nvSpPr>
        <p:spPr>
          <a:xfrm>
            <a:off x="6873641" y="5869858"/>
            <a:ext cx="4622726" cy="369332"/>
          </a:xfrm>
          <a:prstGeom prst="rect">
            <a:avLst/>
          </a:prstGeom>
          <a:noFill/>
        </p:spPr>
        <p:txBody>
          <a:bodyPr wrap="square" rtlCol="0">
            <a:spAutoFit/>
          </a:bodyPr>
          <a:lstStyle/>
          <a:p>
            <a:r>
              <a:rPr lang="en-CN" dirty="0"/>
              <a:t>问题一</a:t>
            </a:r>
          </a:p>
        </p:txBody>
      </p:sp>
      <p:pic>
        <p:nvPicPr>
          <p:cNvPr id="8" name="Picture 2" descr="问号(标点符号)_搜狗百科">
            <a:extLst>
              <a:ext uri="{FF2B5EF4-FFF2-40B4-BE49-F238E27FC236}">
                <a16:creationId xmlns:a16="http://schemas.microsoft.com/office/drawing/2014/main" id="{35D5AA21-A011-9F90-DE66-53622876474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88013" y="4257600"/>
            <a:ext cx="3810000" cy="2146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2017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C15166B-9AEF-C841-81A9-A07DCDE76720}"/>
              </a:ext>
            </a:extLst>
          </p:cNvPr>
          <p:cNvPicPr>
            <a:picLocks noChangeAspect="1"/>
          </p:cNvPicPr>
          <p:nvPr/>
        </p:nvPicPr>
        <p:blipFill>
          <a:blip r:embed="rId2"/>
          <a:stretch>
            <a:fillRect/>
          </a:stretch>
        </p:blipFill>
        <p:spPr>
          <a:xfrm>
            <a:off x="1995054" y="785126"/>
            <a:ext cx="8783782" cy="2041202"/>
          </a:xfrm>
          <a:prstGeom prst="rect">
            <a:avLst/>
          </a:prstGeom>
        </p:spPr>
      </p:pic>
      <p:pic>
        <p:nvPicPr>
          <p:cNvPr id="1026" name="Picture 2" descr="问号(标点符号)_搜狗百科">
            <a:extLst>
              <a:ext uri="{FF2B5EF4-FFF2-40B4-BE49-F238E27FC236}">
                <a16:creationId xmlns:a16="http://schemas.microsoft.com/office/drawing/2014/main" id="{C90F92E2-3615-7845-A3F1-F3F9C0779A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3429000"/>
            <a:ext cx="3810000" cy="21463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8B8F495-D4F2-DE38-62D1-14867BC3CBD7}"/>
              </a:ext>
            </a:extLst>
          </p:cNvPr>
          <p:cNvSpPr txBox="1"/>
          <p:nvPr/>
        </p:nvSpPr>
        <p:spPr>
          <a:xfrm>
            <a:off x="6873641" y="5869858"/>
            <a:ext cx="4622726" cy="369332"/>
          </a:xfrm>
          <a:prstGeom prst="rect">
            <a:avLst/>
          </a:prstGeom>
          <a:noFill/>
        </p:spPr>
        <p:txBody>
          <a:bodyPr wrap="square" rtlCol="0">
            <a:spAutoFit/>
          </a:bodyPr>
          <a:lstStyle/>
          <a:p>
            <a:r>
              <a:rPr lang="en-CN" dirty="0"/>
              <a:t>问题二</a:t>
            </a:r>
          </a:p>
        </p:txBody>
      </p:sp>
    </p:spTree>
    <p:extLst>
      <p:ext uri="{BB962C8B-B14F-4D97-AF65-F5344CB8AC3E}">
        <p14:creationId xmlns:p14="http://schemas.microsoft.com/office/powerpoint/2010/main" val="6109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A1EF33B-1D61-BC4E-923E-41118D9DE198}"/>
              </a:ext>
            </a:extLst>
          </p:cNvPr>
          <p:cNvPicPr>
            <a:picLocks noChangeAspect="1"/>
          </p:cNvPicPr>
          <p:nvPr/>
        </p:nvPicPr>
        <p:blipFill>
          <a:blip r:embed="rId2"/>
          <a:stretch>
            <a:fillRect/>
          </a:stretch>
        </p:blipFill>
        <p:spPr>
          <a:xfrm>
            <a:off x="0" y="1039092"/>
            <a:ext cx="8242554" cy="4364182"/>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C2F89F1-21CD-E14A-8112-DB5D3ECD5DF6}"/>
                  </a:ext>
                </a:extLst>
              </p:cNvPr>
              <p:cNvSpPr txBox="1"/>
              <p:nvPr/>
            </p:nvSpPr>
            <p:spPr>
              <a:xfrm>
                <a:off x="8575964" y="1343890"/>
                <a:ext cx="3186545" cy="3139321"/>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统计系综</a:t>
                </a:r>
                <a:r>
                  <a:rPr lang="zh-CN" altLang="en-US" dirty="0">
                    <a:latin typeface="FangSong" panose="02010609060101010101" pitchFamily="49" charset="-122"/>
                    <a:ea typeface="FangSong" panose="02010609060101010101" pitchFamily="49" charset="-122"/>
                  </a:rPr>
                  <a:t>（梁书</a:t>
                </a:r>
                <a:r>
                  <a:rPr lang="en-US" altLang="zh-CN" dirty="0">
                    <a:latin typeface="FangSong" panose="02010609060101010101" pitchFamily="49" charset="-122"/>
                    <a:ea typeface="FangSong" panose="02010609060101010101" pitchFamily="49" charset="-122"/>
                  </a:rPr>
                  <a:t>31</a:t>
                </a:r>
                <a:r>
                  <a:rPr lang="zh-CN" altLang="en-US" dirty="0">
                    <a:latin typeface="FangSong" panose="02010609060101010101" pitchFamily="49" charset="-122"/>
                    <a:ea typeface="FangSong" panose="02010609060101010101" pitchFamily="49" charset="-122"/>
                  </a:rPr>
                  <a:t>页）</a:t>
                </a:r>
                <a:endParaRPr lang="en-CN" dirty="0">
                  <a:latin typeface="FangSong" panose="02010609060101010101" pitchFamily="49" charset="-122"/>
                  <a:ea typeface="FangSong" panose="02010609060101010101" pitchFamily="49" charset="-122"/>
                </a:endParaRPr>
              </a:p>
              <a:p>
                <a:endParaRPr lang="en-CN" dirty="0">
                  <a:latin typeface="FangSong" panose="02010609060101010101" pitchFamily="49" charset="-122"/>
                  <a:ea typeface="FangSong" panose="02010609060101010101" pitchFamily="49" charset="-122"/>
                </a:endParaRPr>
              </a:p>
              <a:p>
                <a:r>
                  <a:rPr lang="en-CN" dirty="0">
                    <a:latin typeface="FangSong" panose="02010609060101010101" pitchFamily="49" charset="-122"/>
                    <a:ea typeface="FangSong" panose="02010609060101010101" pitchFamily="49" charset="-122"/>
                  </a:rPr>
                  <a:t>大量结构和所处宏观态条件完全相同时</a:t>
                </a:r>
                <a:r>
                  <a:rPr lang="zh-CN" altLang="en-US" dirty="0">
                    <a:latin typeface="FangSong" panose="02010609060101010101" pitchFamily="49" charset="-122"/>
                    <a:ea typeface="FangSong" panose="02010609060101010101" pitchFamily="49" charset="-122"/>
                  </a:rPr>
                  <a:t>，分别以一定概率独立地处于各可能微观状态的力学体系的集合称为统计系综，简称系综。</a:t>
                </a:r>
                <a:endParaRPr lang="en-US" altLang="zh-CN" dirty="0">
                  <a:latin typeface="FangSong" panose="02010609060101010101" pitchFamily="49" charset="-122"/>
                  <a:ea typeface="FangSong" panose="02010609060101010101" pitchFamily="49" charset="-122"/>
                </a:endParaRPr>
              </a:p>
              <a:p>
                <a:endParaRPr lang="en-US" dirty="0">
                  <a:latin typeface="FangSong" panose="02010609060101010101" pitchFamily="49" charset="-122"/>
                  <a:ea typeface="FangSong" panose="02010609060101010101" pitchFamily="49" charset="-122"/>
                </a:endParaRPr>
              </a:p>
              <a:p>
                <a:r>
                  <a:rPr lang="en-US" b="1" dirty="0" err="1">
                    <a:latin typeface="FangSong" panose="02010609060101010101" pitchFamily="49" charset="-122"/>
                    <a:ea typeface="FangSong" panose="02010609060101010101" pitchFamily="49" charset="-122"/>
                  </a:rPr>
                  <a:t>微正则</a:t>
                </a:r>
                <a:r>
                  <a:rPr lang="zh-CN" altLang="en-US" b="1" dirty="0">
                    <a:latin typeface="FangSong" panose="02010609060101010101" pitchFamily="49" charset="-122"/>
                    <a:ea typeface="FangSong" panose="02010609060101010101" pitchFamily="49" charset="-122"/>
                  </a:rPr>
                  <a:t>：</a:t>
                </a:r>
                <a:r>
                  <a:rPr lang="en-US" altLang="zh-CN" b="1" dirty="0">
                    <a:latin typeface="FangSong" panose="02010609060101010101" pitchFamily="49" charset="-122"/>
                    <a:ea typeface="FangSong" panose="02010609060101010101" pitchFamily="49" charset="-122"/>
                  </a:rPr>
                  <a:t>fixed</a:t>
                </a:r>
                <a:r>
                  <a:rPr lang="zh-CN" altLang="en-US" b="1" dirty="0">
                    <a:latin typeface="FangSong" panose="02010609060101010101" pitchFamily="49" charset="-122"/>
                    <a:ea typeface="FangSong" panose="02010609060101010101" pitchFamily="49" charset="-122"/>
                  </a:rPr>
                  <a:t> </a:t>
                </a:r>
                <a:r>
                  <a:rPr lang="en-US" altLang="zh-CN" b="1" dirty="0">
                    <a:latin typeface="FangSong" panose="02010609060101010101" pitchFamily="49" charset="-122"/>
                    <a:ea typeface="FangSong" panose="02010609060101010101" pitchFamily="49" charset="-122"/>
                  </a:rPr>
                  <a:t>U</a:t>
                </a:r>
                <a:r>
                  <a:rPr lang="zh-CN" altLang="en-US" b="1" dirty="0">
                    <a:latin typeface="FangSong" panose="02010609060101010101" pitchFamily="49" charset="-122"/>
                    <a:ea typeface="FangSong" panose="02010609060101010101" pitchFamily="49" charset="-122"/>
                  </a:rPr>
                  <a:t>，</a:t>
                </a:r>
                <a:r>
                  <a:rPr lang="en-US" altLang="zh-CN" b="1" dirty="0">
                    <a:latin typeface="FangSong" panose="02010609060101010101" pitchFamily="49" charset="-122"/>
                    <a:ea typeface="FangSong" panose="02010609060101010101" pitchFamily="49" charset="-122"/>
                  </a:rPr>
                  <a:t>V</a:t>
                </a:r>
                <a:r>
                  <a:rPr lang="zh-CN" altLang="en-US" b="1" dirty="0">
                    <a:latin typeface="FangSong" panose="02010609060101010101" pitchFamily="49" charset="-122"/>
                    <a:ea typeface="FangSong" panose="02010609060101010101" pitchFamily="49" charset="-122"/>
                  </a:rPr>
                  <a:t>，</a:t>
                </a:r>
                <a:r>
                  <a:rPr lang="en-US" altLang="zh-CN" b="1" dirty="0">
                    <a:latin typeface="FangSong" panose="02010609060101010101" pitchFamily="49" charset="-122"/>
                    <a:ea typeface="FangSong" panose="02010609060101010101" pitchFamily="49" charset="-122"/>
                  </a:rPr>
                  <a:t>N</a:t>
                </a:r>
              </a:p>
              <a:p>
                <a:r>
                  <a:rPr lang="en-US" b="1" dirty="0" err="1">
                    <a:latin typeface="FangSong" panose="02010609060101010101" pitchFamily="49" charset="-122"/>
                    <a:ea typeface="FangSong" panose="02010609060101010101" pitchFamily="49" charset="-122"/>
                  </a:rPr>
                  <a:t>正则</a:t>
                </a:r>
                <a:r>
                  <a:rPr lang="zh-CN" altLang="en-US" b="1" dirty="0">
                    <a:latin typeface="FangSong" panose="02010609060101010101" pitchFamily="49" charset="-122"/>
                    <a:ea typeface="FangSong" panose="02010609060101010101" pitchFamily="49" charset="-122"/>
                  </a:rPr>
                  <a:t>：</a:t>
                </a:r>
                <a:r>
                  <a:rPr lang="en-US" altLang="zh-CN" b="1" dirty="0">
                    <a:latin typeface="FangSong" panose="02010609060101010101" pitchFamily="49" charset="-122"/>
                    <a:ea typeface="FangSong" panose="02010609060101010101" pitchFamily="49" charset="-122"/>
                  </a:rPr>
                  <a:t>fixed</a:t>
                </a:r>
                <a:r>
                  <a:rPr lang="zh-CN" altLang="en-US" b="1" dirty="0">
                    <a:latin typeface="FangSong" panose="02010609060101010101" pitchFamily="49" charset="-122"/>
                    <a:ea typeface="FangSong" panose="02010609060101010101" pitchFamily="49" charset="-122"/>
                  </a:rPr>
                  <a:t> </a:t>
                </a:r>
                <a14:m>
                  <m:oMath xmlns:m="http://schemas.openxmlformats.org/officeDocument/2006/math">
                    <m:r>
                      <a:rPr lang="zh-CN" altLang="en-US" b="1" i="1" smtClean="0">
                        <a:latin typeface="Cambria Math" panose="02040503050406030204" pitchFamily="18" charset="0"/>
                        <a:ea typeface="FangSong" panose="02010609060101010101" pitchFamily="49" charset="-122"/>
                      </a:rPr>
                      <m:t>𝝉</m:t>
                    </m:r>
                  </m:oMath>
                </a14:m>
                <a:r>
                  <a:rPr lang="zh-CN" altLang="en-US" b="1" dirty="0">
                    <a:latin typeface="FangSong" panose="02010609060101010101" pitchFamily="49" charset="-122"/>
                    <a:ea typeface="FangSong" panose="02010609060101010101" pitchFamily="49" charset="-122"/>
                  </a:rPr>
                  <a:t>，</a:t>
                </a:r>
                <a:r>
                  <a:rPr lang="en-US" altLang="zh-CN" b="1" dirty="0">
                    <a:latin typeface="FangSong" panose="02010609060101010101" pitchFamily="49" charset="-122"/>
                    <a:ea typeface="FangSong" panose="02010609060101010101" pitchFamily="49" charset="-122"/>
                  </a:rPr>
                  <a:t>V</a:t>
                </a:r>
                <a:r>
                  <a:rPr lang="zh-CN" altLang="en-US" b="1" dirty="0">
                    <a:latin typeface="FangSong" panose="02010609060101010101" pitchFamily="49" charset="-122"/>
                    <a:ea typeface="FangSong" panose="02010609060101010101" pitchFamily="49" charset="-122"/>
                  </a:rPr>
                  <a:t>，</a:t>
                </a:r>
                <a:r>
                  <a:rPr lang="en-US" altLang="zh-CN" b="1" dirty="0">
                    <a:latin typeface="FangSong" panose="02010609060101010101" pitchFamily="49" charset="-122"/>
                    <a:ea typeface="FangSong" panose="02010609060101010101" pitchFamily="49" charset="-122"/>
                  </a:rPr>
                  <a:t>N</a:t>
                </a:r>
              </a:p>
              <a:p>
                <a:r>
                  <a:rPr lang="en-US" b="1" dirty="0" err="1">
                    <a:latin typeface="FangSong" panose="02010609060101010101" pitchFamily="49" charset="-122"/>
                    <a:ea typeface="FangSong" panose="02010609060101010101" pitchFamily="49" charset="-122"/>
                  </a:rPr>
                  <a:t>巨正则</a:t>
                </a:r>
                <a:r>
                  <a:rPr lang="zh-CN" altLang="en-US" b="1" dirty="0">
                    <a:latin typeface="FangSong" panose="02010609060101010101" pitchFamily="49" charset="-122"/>
                    <a:ea typeface="FangSong" panose="02010609060101010101" pitchFamily="49" charset="-122"/>
                  </a:rPr>
                  <a:t>：</a:t>
                </a:r>
                <a:r>
                  <a:rPr lang="en-US" altLang="zh-CN" b="1" dirty="0">
                    <a:latin typeface="FangSong" panose="02010609060101010101" pitchFamily="49" charset="-122"/>
                    <a:ea typeface="FangSong" panose="02010609060101010101" pitchFamily="49" charset="-122"/>
                  </a:rPr>
                  <a:t>fixed</a:t>
                </a:r>
                <a:r>
                  <a:rPr lang="zh-CN" altLang="en-US" b="1" dirty="0">
                    <a:latin typeface="FangSong" panose="02010609060101010101" pitchFamily="49" charset="-122"/>
                    <a:ea typeface="FangSong" panose="02010609060101010101" pitchFamily="49" charset="-122"/>
                  </a:rPr>
                  <a:t> </a:t>
                </a:r>
                <a14:m>
                  <m:oMath xmlns:m="http://schemas.openxmlformats.org/officeDocument/2006/math">
                    <m:r>
                      <a:rPr lang="zh-CN" altLang="en-US" b="1" i="1" smtClean="0">
                        <a:latin typeface="Cambria Math" panose="02040503050406030204" pitchFamily="18" charset="0"/>
                        <a:ea typeface="FangSong" panose="02010609060101010101" pitchFamily="49" charset="-122"/>
                      </a:rPr>
                      <m:t>𝝉</m:t>
                    </m:r>
                  </m:oMath>
                </a14:m>
                <a:r>
                  <a:rPr lang="zh-CN" altLang="en-US" b="1" dirty="0">
                    <a:latin typeface="FangSong" panose="02010609060101010101" pitchFamily="49" charset="-122"/>
                    <a:ea typeface="FangSong" panose="02010609060101010101" pitchFamily="49" charset="-122"/>
                  </a:rPr>
                  <a:t>，</a:t>
                </a:r>
                <a:r>
                  <a:rPr lang="en-US" altLang="zh-CN" b="1" dirty="0">
                    <a:latin typeface="FangSong" panose="02010609060101010101" pitchFamily="49" charset="-122"/>
                    <a:ea typeface="FangSong" panose="02010609060101010101" pitchFamily="49" charset="-122"/>
                  </a:rPr>
                  <a:t>V</a:t>
                </a:r>
                <a:r>
                  <a:rPr lang="zh-CN" altLang="en-US" b="1" dirty="0">
                    <a:latin typeface="FangSong" panose="02010609060101010101" pitchFamily="49" charset="-122"/>
                    <a:ea typeface="FangSong" panose="02010609060101010101" pitchFamily="49" charset="-122"/>
                  </a:rPr>
                  <a:t>，</a:t>
                </a:r>
                <a14:m>
                  <m:oMath xmlns:m="http://schemas.openxmlformats.org/officeDocument/2006/math">
                    <m:r>
                      <a:rPr lang="zh-CN" altLang="en-US" b="1" i="1" smtClean="0">
                        <a:latin typeface="Cambria Math" panose="02040503050406030204" pitchFamily="18" charset="0"/>
                        <a:ea typeface="FangSong" panose="02010609060101010101" pitchFamily="49" charset="-122"/>
                      </a:rPr>
                      <m:t>𝝁</m:t>
                    </m:r>
                  </m:oMath>
                </a14:m>
                <a:endParaRPr lang="en-CN" b="1" dirty="0">
                  <a:latin typeface="FangSong" panose="02010609060101010101" pitchFamily="49" charset="-122"/>
                  <a:ea typeface="FangSong" panose="02010609060101010101" pitchFamily="49" charset="-122"/>
                </a:endParaRPr>
              </a:p>
            </p:txBody>
          </p:sp>
        </mc:Choice>
        <mc:Fallback xmlns="">
          <p:sp>
            <p:nvSpPr>
              <p:cNvPr id="3" name="TextBox 2">
                <a:extLst>
                  <a:ext uri="{FF2B5EF4-FFF2-40B4-BE49-F238E27FC236}">
                    <a16:creationId xmlns:a16="http://schemas.microsoft.com/office/drawing/2014/main" id="{4C2F89F1-21CD-E14A-8112-DB5D3ECD5DF6}"/>
                  </a:ext>
                </a:extLst>
              </p:cNvPr>
              <p:cNvSpPr txBox="1">
                <a:spLocks noRot="1" noChangeAspect="1" noMove="1" noResize="1" noEditPoints="1" noAdjustHandles="1" noChangeArrowheads="1" noChangeShapeType="1" noTextEdit="1"/>
              </p:cNvSpPr>
              <p:nvPr/>
            </p:nvSpPr>
            <p:spPr>
              <a:xfrm>
                <a:off x="8575964" y="1343890"/>
                <a:ext cx="3186545" cy="3139321"/>
              </a:xfrm>
              <a:prstGeom prst="rect">
                <a:avLst/>
              </a:prstGeom>
              <a:blipFill>
                <a:blip r:embed="rId3"/>
                <a:stretch>
                  <a:fillRect l="-1587" t="-806" r="-397" b="-2016"/>
                </a:stretch>
              </a:blipFill>
            </p:spPr>
            <p:txBody>
              <a:bodyPr/>
              <a:lstStyle/>
              <a:p>
                <a:r>
                  <a:rPr lang="en-CN">
                    <a:noFill/>
                  </a:rPr>
                  <a:t> </a:t>
                </a:r>
              </a:p>
            </p:txBody>
          </p:sp>
        </mc:Fallback>
      </mc:AlternateContent>
    </p:spTree>
    <p:extLst>
      <p:ext uri="{BB962C8B-B14F-4D97-AF65-F5344CB8AC3E}">
        <p14:creationId xmlns:p14="http://schemas.microsoft.com/office/powerpoint/2010/main" val="249006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7BE3A0-ADA4-4A45-97B0-7D287024355A}"/>
              </a:ext>
            </a:extLst>
          </p:cNvPr>
          <p:cNvSpPr txBox="1"/>
          <p:nvPr/>
        </p:nvSpPr>
        <p:spPr>
          <a:xfrm>
            <a:off x="401782" y="263236"/>
            <a:ext cx="5597236" cy="369332"/>
          </a:xfrm>
          <a:prstGeom prst="rect">
            <a:avLst/>
          </a:prstGeom>
          <a:noFill/>
        </p:spPr>
        <p:txBody>
          <a:bodyPr wrap="square" rtlCol="0">
            <a:spAutoFit/>
          </a:bodyPr>
          <a:lstStyle/>
          <a:p>
            <a:r>
              <a:rPr lang="en-CN" dirty="0"/>
              <a:t>微正则系综</a:t>
            </a:r>
            <a:r>
              <a:rPr lang="zh-CN" altLang="en-US" dirty="0"/>
              <a:t>（</a:t>
            </a:r>
            <a:r>
              <a:rPr lang="en-US" altLang="zh-CN" dirty="0"/>
              <a:t>U</a:t>
            </a:r>
            <a:r>
              <a:rPr lang="zh-CN" altLang="en-US" dirty="0"/>
              <a:t>，</a:t>
            </a:r>
            <a:r>
              <a:rPr lang="en-US" altLang="zh-CN" dirty="0"/>
              <a:t>V</a:t>
            </a:r>
            <a:r>
              <a:rPr lang="zh-CN" altLang="en-US" dirty="0"/>
              <a:t>，</a:t>
            </a:r>
            <a:r>
              <a:rPr lang="en-US" altLang="zh-CN" dirty="0"/>
              <a:t>N</a:t>
            </a:r>
            <a:r>
              <a:rPr lang="zh-CN" altLang="en-US" dirty="0"/>
              <a:t>）</a:t>
            </a:r>
            <a:endParaRPr lang="en-CN"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C8A3383-7C11-244F-8689-8C0B559A6727}"/>
                  </a:ext>
                </a:extLst>
              </p:cNvPr>
              <p:cNvSpPr txBox="1"/>
              <p:nvPr/>
            </p:nvSpPr>
            <p:spPr>
              <a:xfrm>
                <a:off x="1440874" y="632568"/>
                <a:ext cx="8222672" cy="180895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𝑁</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𝑁</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r>
                                <a:rPr lang="en-US" b="0" i="1" smtClean="0">
                                  <a:latin typeface="Cambria Math" panose="02040503050406030204" pitchFamily="18" charset="0"/>
                                </a:rPr>
                                <m:t>3</m:t>
                              </m:r>
                              <m:r>
                                <a:rPr lang="en-US" b="0" i="1" smtClean="0">
                                  <a:latin typeface="Cambria Math" panose="02040503050406030204" pitchFamily="18" charset="0"/>
                                </a:rPr>
                                <m:t>𝑁</m:t>
                              </m:r>
                            </m:sup>
                          </m:sSup>
                        </m:den>
                      </m:f>
                      <m:r>
                        <a:rPr lang="en-US" b="0" i="1" smtClean="0">
                          <a:latin typeface="Cambria Math" panose="02040503050406030204" pitchFamily="18" charset="0"/>
                        </a:rPr>
                        <m:t> </m:t>
                      </m:r>
                      <m:nary>
                        <m:naryPr>
                          <m:limLoc m:val="undOvr"/>
                          <m:subHide m:val="on"/>
                          <m:supHide m:val="on"/>
                          <m:ctrlPr>
                            <a:rPr lang="en-US" b="0" i="1" smtClean="0">
                              <a:latin typeface="Cambria Math" panose="02040503050406030204" pitchFamily="18" charset="0"/>
                            </a:rPr>
                          </m:ctrlPr>
                        </m:naryPr>
                        <m:sub/>
                        <m:sup/>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e>
                              <m:r>
                                <a:rPr lang="en-US" i="1">
                                  <a:latin typeface="Cambria Math" panose="02040503050406030204" pitchFamily="18" charset="0"/>
                                </a:rPr>
                                <m:t>𝑑</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𝑖</m:t>
                                  </m:r>
                                </m:sub>
                              </m:sSub>
                              <m:r>
                                <a:rPr lang="en-US" i="1">
                                  <a:latin typeface="Cambria Math" panose="02040503050406030204" pitchFamily="18" charset="0"/>
                                </a:rPr>
                                <m:t> </m:t>
                              </m:r>
                              <m:r>
                                <a:rPr lang="en-US" i="1">
                                  <a:latin typeface="Cambria Math" panose="02040503050406030204" pitchFamily="18" charset="0"/>
                                </a:rPr>
                                <m:t>𝑑</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𝑖</m:t>
                                  </m:r>
                                </m:sub>
                              </m:sSub>
                            </m:e>
                          </m:nary>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𝛿</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rPr>
                            <m:t>(</m:t>
                          </m:r>
                          <m:r>
                            <a:rPr lang="en-US" b="0" i="1" smtClean="0">
                              <a:latin typeface="Cambria Math" panose="02040503050406030204" pitchFamily="18" charset="0"/>
                            </a:rPr>
                            <m:t>𝑓𝑜𝑟</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𝑏𝑜𝑥</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𝑎𝑛𝑑</m:t>
                          </m:r>
                          <m:r>
                            <a:rPr lang="en-US" b="0" i="1" smtClean="0">
                              <a:latin typeface="Cambria Math" panose="02040503050406030204" pitchFamily="18" charset="0"/>
                              <a:ea typeface="Cambria Math" panose="02040503050406030204" pitchFamily="18" charset="0"/>
                            </a:rPr>
                            <m:t> </m:t>
                          </m:r>
                          <m:nary>
                            <m:naryPr>
                              <m:chr m:val="∑"/>
                              <m:supHide m:val="on"/>
                              <m:ctrlPr>
                                <a:rPr lang="en-US" b="0" i="1" smtClean="0">
                                  <a:latin typeface="Cambria Math" panose="02040503050406030204" pitchFamily="18" charset="0"/>
                                  <a:ea typeface="Cambria Math" panose="02040503050406030204" pitchFamily="18" charset="0"/>
                                </a:rPr>
                              </m:ctrlPr>
                            </m:naryPr>
                            <m:sub>
                              <m:r>
                                <m:rPr>
                                  <m:brk m:alnAt="7"/>
                                </m:rPr>
                                <a:rPr lang="en-US" b="0" i="1" smtClean="0">
                                  <a:latin typeface="Cambria Math" panose="02040503050406030204" pitchFamily="18" charset="0"/>
                                  <a:ea typeface="Cambria Math" panose="02040503050406030204" pitchFamily="18" charset="0"/>
                                </a:rPr>
                                <m:t>𝑖</m:t>
                              </m:r>
                            </m:sub>
                            <m:sup/>
                            <m:e>
                              <m:f>
                                <m:fPr>
                                  <m:ctrlPr>
                                    <a:rPr lang="en-US" b="0" i="1" smtClean="0">
                                      <a:latin typeface="Cambria Math" panose="02040503050406030204" pitchFamily="18" charset="0"/>
                                      <a:ea typeface="Cambria Math" panose="02040503050406030204" pitchFamily="18" charset="0"/>
                                    </a:rPr>
                                  </m:ctrlPr>
                                </m:fPr>
                                <m:num>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𝑝</m:t>
                                      </m:r>
                                    </m:e>
                                    <m:sub>
                                      <m:r>
                                        <a:rPr lang="en-US" b="0" i="1" smtClean="0">
                                          <a:latin typeface="Cambria Math" panose="02040503050406030204" pitchFamily="18" charset="0"/>
                                          <a:ea typeface="Cambria Math" panose="02040503050406030204" pitchFamily="18" charset="0"/>
                                        </a:rPr>
                                        <m:t>𝑖</m:t>
                                      </m:r>
                                    </m:sub>
                                    <m:sup>
                                      <m:r>
                                        <a:rPr lang="en-US" b="0" i="1" smtClean="0">
                                          <a:latin typeface="Cambria Math" panose="02040503050406030204" pitchFamily="18" charset="0"/>
                                          <a:ea typeface="Cambria Math" panose="02040503050406030204" pitchFamily="18" charset="0"/>
                                        </a:rPr>
                                        <m:t>2</m:t>
                                      </m:r>
                                    </m:sup>
                                  </m:sSubSup>
                                </m:num>
                                <m:den>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𝑚</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e>
                          </m:nary>
                          <m:r>
                            <a:rPr lang="en-US" b="0" i="1" smtClean="0">
                              <a:latin typeface="Cambria Math" panose="02040503050406030204" pitchFamily="18" charset="0"/>
                            </a:rPr>
                            <m:t>)</m:t>
                          </m:r>
                        </m:e>
                      </m:nary>
                    </m:oMath>
                  </m:oMathPara>
                </a14:m>
                <a:endParaRPr lang="en-CN"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𝑁</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r>
                                <a:rPr lang="en-US" b="0" i="1" smtClean="0">
                                  <a:latin typeface="Cambria Math" panose="02040503050406030204" pitchFamily="18" charset="0"/>
                                </a:rPr>
                                <m:t>3</m:t>
                              </m:r>
                              <m:r>
                                <a:rPr lang="en-US" b="0" i="1" smtClean="0">
                                  <a:latin typeface="Cambria Math" panose="02040503050406030204" pitchFamily="18" charset="0"/>
                                </a:rPr>
                                <m:t>𝑁</m:t>
                              </m:r>
                            </m:sup>
                          </m:sSup>
                        </m:den>
                      </m:f>
                      <m:r>
                        <a:rPr lang="en-US" b="0" i="1" smtClean="0">
                          <a:latin typeface="Cambria Math" panose="02040503050406030204" pitchFamily="18" charset="0"/>
                        </a:rPr>
                        <m:t> </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𝑉</m:t>
                          </m:r>
                        </m:e>
                        <m:sup>
                          <m:r>
                            <a:rPr lang="en-US" b="0" i="1" smtClean="0">
                              <a:solidFill>
                                <a:srgbClr val="FF0000"/>
                              </a:solidFill>
                              <a:latin typeface="Cambria Math" panose="02040503050406030204" pitchFamily="18" charset="0"/>
                            </a:rPr>
                            <m:t>𝑁</m:t>
                          </m:r>
                        </m:sup>
                      </m:sSup>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2 </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𝜋</m:t>
                              </m:r>
                            </m:e>
                            <m:sup>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3</m:t>
                                  </m:r>
                                  <m:r>
                                    <a:rPr lang="en-US" b="0" i="1" smtClean="0">
                                      <a:solidFill>
                                        <a:srgbClr val="FF0000"/>
                                      </a:solidFill>
                                      <a:latin typeface="Cambria Math" panose="02040503050406030204" pitchFamily="18" charset="0"/>
                                    </a:rPr>
                                    <m:t>𝑁</m:t>
                                  </m:r>
                                </m:num>
                                <m:den>
                                  <m:r>
                                    <a:rPr lang="en-US" b="0" i="1" smtClean="0">
                                      <a:solidFill>
                                        <a:srgbClr val="FF0000"/>
                                      </a:solidFill>
                                      <a:latin typeface="Cambria Math" panose="02040503050406030204" pitchFamily="18" charset="0"/>
                                    </a:rPr>
                                    <m:t>2</m:t>
                                  </m:r>
                                </m:den>
                              </m:f>
                            </m:sup>
                          </m:sSup>
                        </m:num>
                        <m:den>
                          <m:d>
                            <m:dPr>
                              <m:ctrlPr>
                                <a:rPr lang="en-US" b="0" i="1" smtClean="0">
                                  <a:solidFill>
                                    <a:srgbClr val="FF0000"/>
                                  </a:solidFill>
                                  <a:latin typeface="Cambria Math" panose="02040503050406030204" pitchFamily="18" charset="0"/>
                                </a:rPr>
                              </m:ctrlPr>
                            </m:dPr>
                            <m:e>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3</m:t>
                                  </m:r>
                                  <m:r>
                                    <a:rPr lang="en-US" b="0" i="1" smtClean="0">
                                      <a:solidFill>
                                        <a:srgbClr val="FF0000"/>
                                      </a:solidFill>
                                      <a:latin typeface="Cambria Math" panose="02040503050406030204" pitchFamily="18" charset="0"/>
                                    </a:rPr>
                                    <m:t>𝑁</m:t>
                                  </m:r>
                                </m:num>
                                <m:den>
                                  <m:r>
                                    <a:rPr lang="en-US" b="0" i="1" smtClean="0">
                                      <a:solidFill>
                                        <a:srgbClr val="FF0000"/>
                                      </a:solidFill>
                                      <a:latin typeface="Cambria Math" panose="02040503050406030204" pitchFamily="18" charset="0"/>
                                    </a:rPr>
                                    <m:t>2</m:t>
                                  </m:r>
                                </m:den>
                              </m:f>
                              <m:r>
                                <a:rPr lang="en-US" b="0" i="1" smtClean="0">
                                  <a:solidFill>
                                    <a:srgbClr val="FF0000"/>
                                  </a:solidFill>
                                  <a:latin typeface="Cambria Math" panose="02040503050406030204" pitchFamily="18" charset="0"/>
                                </a:rPr>
                                <m:t>−1</m:t>
                              </m:r>
                            </m:e>
                          </m:d>
                          <m:r>
                            <a:rPr lang="en-US" b="0" i="1" smtClean="0">
                              <a:solidFill>
                                <a:srgbClr val="FF0000"/>
                              </a:solidFill>
                              <a:latin typeface="Cambria Math" panose="02040503050406030204" pitchFamily="18" charset="0"/>
                            </a:rPr>
                            <m:t>!</m:t>
                          </m:r>
                        </m:den>
                      </m:f>
                      <m:sSup>
                        <m:sSupPr>
                          <m:ctrlPr>
                            <a:rPr lang="en-US" b="0" i="1" smtClean="0">
                              <a:solidFill>
                                <a:srgbClr val="FF0000"/>
                              </a:solidFill>
                              <a:latin typeface="Cambria Math" panose="02040503050406030204" pitchFamily="18" charset="0"/>
                            </a:rPr>
                          </m:ctrlPr>
                        </m:sSupPr>
                        <m:e>
                          <m:rad>
                            <m:radPr>
                              <m:degHide m:val="on"/>
                              <m:ctrlPr>
                                <a:rPr lang="en-US" b="0" i="1" smtClean="0">
                                  <a:solidFill>
                                    <a:srgbClr val="FF0000"/>
                                  </a:solidFill>
                                  <a:latin typeface="Cambria Math" panose="02040503050406030204" pitchFamily="18" charset="0"/>
                                </a:rPr>
                              </m:ctrlPr>
                            </m:radPr>
                            <m:deg/>
                            <m:e>
                              <m:r>
                                <a:rPr lang="en-US" b="0" i="1" smtClean="0">
                                  <a:solidFill>
                                    <a:srgbClr val="FF0000"/>
                                  </a:solidFill>
                                  <a:latin typeface="Cambria Math" panose="02040503050406030204" pitchFamily="18" charset="0"/>
                                </a:rPr>
                                <m:t>2</m:t>
                              </m:r>
                              <m:r>
                                <a:rPr lang="en-US" b="0" i="1" smtClean="0">
                                  <a:solidFill>
                                    <a:srgbClr val="FF0000"/>
                                  </a:solidFill>
                                  <a:latin typeface="Cambria Math" panose="02040503050406030204" pitchFamily="18" charset="0"/>
                                </a:rPr>
                                <m:t>𝑚𝑈</m:t>
                              </m:r>
                            </m:e>
                          </m:rad>
                        </m:e>
                        <m:sup>
                          <m:r>
                            <a:rPr lang="en-US" b="0" i="1" smtClean="0">
                              <a:solidFill>
                                <a:srgbClr val="FF0000"/>
                              </a:solidFill>
                              <a:latin typeface="Cambria Math" panose="02040503050406030204" pitchFamily="18" charset="0"/>
                            </a:rPr>
                            <m:t>3</m:t>
                          </m:r>
                          <m:r>
                            <a:rPr lang="en-US" b="0" i="1" smtClean="0">
                              <a:solidFill>
                                <a:srgbClr val="FF0000"/>
                              </a:solidFill>
                              <a:latin typeface="Cambria Math" panose="02040503050406030204" pitchFamily="18" charset="0"/>
                            </a:rPr>
                            <m:t>𝑁</m:t>
                          </m:r>
                          <m:r>
                            <a:rPr lang="en-US" b="0" i="1" smtClean="0">
                              <a:solidFill>
                                <a:srgbClr val="FF0000"/>
                              </a:solidFill>
                              <a:latin typeface="Cambria Math" panose="02040503050406030204" pitchFamily="18" charset="0"/>
                            </a:rPr>
                            <m:t>−1</m:t>
                          </m:r>
                        </m:sup>
                      </m:sSup>
                    </m:oMath>
                  </m:oMathPara>
                </a14:m>
                <a:endParaRPr lang="en-CN" dirty="0"/>
              </a:p>
            </p:txBody>
          </p:sp>
        </mc:Choice>
        <mc:Fallback xmlns="">
          <p:sp>
            <p:nvSpPr>
              <p:cNvPr id="4" name="TextBox 3">
                <a:extLst>
                  <a:ext uri="{FF2B5EF4-FFF2-40B4-BE49-F238E27FC236}">
                    <a16:creationId xmlns:a16="http://schemas.microsoft.com/office/drawing/2014/main" id="{7C8A3383-7C11-244F-8689-8C0B559A6727}"/>
                  </a:ext>
                </a:extLst>
              </p:cNvPr>
              <p:cNvSpPr txBox="1">
                <a:spLocks noRot="1" noChangeAspect="1" noMove="1" noResize="1" noEditPoints="1" noAdjustHandles="1" noChangeArrowheads="1" noChangeShapeType="1" noTextEdit="1"/>
              </p:cNvSpPr>
              <p:nvPr/>
            </p:nvSpPr>
            <p:spPr>
              <a:xfrm>
                <a:off x="1440874" y="632568"/>
                <a:ext cx="8222672" cy="1808957"/>
              </a:xfrm>
              <a:prstGeom prst="rect">
                <a:avLst/>
              </a:prstGeom>
              <a:blipFill>
                <a:blip r:embed="rId3"/>
                <a:stretch>
                  <a:fillRect t="-54861" b="-3541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7A2F2CF-5B9A-5E4A-98B5-2F2211D27FB4}"/>
                  </a:ext>
                </a:extLst>
              </p:cNvPr>
              <p:cNvSpPr txBox="1"/>
              <p:nvPr/>
            </p:nvSpPr>
            <p:spPr>
              <a:xfrm>
                <a:off x="2175162" y="2379200"/>
                <a:ext cx="3823855" cy="7146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𝑔</m:t>
                          </m:r>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den>
                      </m:f>
                      <m:r>
                        <a:rPr lang="en-US" i="1">
                          <a:latin typeface="Cambria Math" panose="02040503050406030204" pitchFamily="18" charset="0"/>
                          <a:ea typeface="Cambria Math" panose="02040503050406030204" pitchFamily="18" charset="0"/>
                        </a:rPr>
                        <m:t>×</m:t>
                      </m:r>
                      <m:d>
                        <m:dPr>
                          <m:endChr m:val=""/>
                          <m:ctrlPr>
                            <a:rPr lang="en-US" i="1" smtClean="0">
                              <a:latin typeface="Cambria Math" panose="02040503050406030204" pitchFamily="18" charset="0"/>
                              <a:ea typeface="Cambria Math" panose="02040503050406030204" pitchFamily="18" charset="0"/>
                            </a:rPr>
                          </m:ctrlPr>
                        </m:dPr>
                        <m:e>
                          <m:m>
                            <m:mPr>
                              <m:mcs>
                                <m:mc>
                                  <m:mcPr>
                                    <m:count m:val="1"/>
                                    <m:mcJc m:val="center"/>
                                  </m:mcPr>
                                </m:mc>
                              </m:mcs>
                              <m:ctrlPr>
                                <a:rPr lang="en-US" i="1" smtClean="0">
                                  <a:latin typeface="Cambria Math" panose="02040503050406030204" pitchFamily="18" charset="0"/>
                                  <a:ea typeface="Cambria Math" panose="02040503050406030204" pitchFamily="18" charset="0"/>
                                </a:rPr>
                              </m:ctrlPr>
                            </m:mPr>
                            <m:mr>
                              <m:e>
                                <m:r>
                                  <m:rPr>
                                    <m:brk m:alnAt="7"/>
                                  </m:rPr>
                                  <a:rPr lang="en-US" b="0" i="1" smtClean="0">
                                    <a:latin typeface="Cambria Math" panose="02040503050406030204" pitchFamily="18" charset="0"/>
                                    <a:ea typeface="Cambria Math" panose="02040503050406030204" pitchFamily="18" charset="0"/>
                                  </a:rPr>
                                  <m:t>1</m:t>
                                </m:r>
                              </m:e>
                            </m:mr>
                            <m:mr>
                              <m:e>
                                <m:r>
                                  <a:rPr lang="en-US" b="0" i="1" smtClean="0">
                                    <a:latin typeface="Cambria Math" panose="02040503050406030204" pitchFamily="18" charset="0"/>
                                    <a:ea typeface="Cambria Math" panose="02040503050406030204" pitchFamily="18" charset="0"/>
                                  </a:rPr>
                                  <m:t>0</m:t>
                                </m:r>
                              </m:e>
                            </m:mr>
                          </m:m>
                        </m:e>
                      </m:d>
                    </m:oMath>
                  </m:oMathPara>
                </a14:m>
                <a:endParaRPr lang="en-CN" dirty="0"/>
              </a:p>
            </p:txBody>
          </p:sp>
        </mc:Choice>
        <mc:Fallback xmlns="">
          <p:sp>
            <p:nvSpPr>
              <p:cNvPr id="5" name="TextBox 4">
                <a:extLst>
                  <a:ext uri="{FF2B5EF4-FFF2-40B4-BE49-F238E27FC236}">
                    <a16:creationId xmlns:a16="http://schemas.microsoft.com/office/drawing/2014/main" id="{E7A2F2CF-5B9A-5E4A-98B5-2F2211D27FB4}"/>
                  </a:ext>
                </a:extLst>
              </p:cNvPr>
              <p:cNvSpPr txBox="1">
                <a:spLocks noRot="1" noChangeAspect="1" noMove="1" noResize="1" noEditPoints="1" noAdjustHandles="1" noChangeArrowheads="1" noChangeShapeType="1" noTextEdit="1"/>
              </p:cNvSpPr>
              <p:nvPr/>
            </p:nvSpPr>
            <p:spPr>
              <a:xfrm>
                <a:off x="2175162" y="2379200"/>
                <a:ext cx="3823855" cy="714683"/>
              </a:xfrm>
              <a:prstGeom prst="rect">
                <a:avLst/>
              </a:prstGeom>
              <a:blipFill>
                <a:blip r:embed="rId4"/>
                <a:stretch>
                  <a:fillRect t="-191228" r="-2649" b="-277193"/>
                </a:stretch>
              </a:blipFill>
            </p:spPr>
            <p:txBody>
              <a:bodyPr/>
              <a:lstStyle/>
              <a:p>
                <a:r>
                  <a:rPr lang="en-CN">
                    <a:noFill/>
                  </a:rPr>
                  <a:t> </a:t>
                </a:r>
              </a:p>
            </p:txBody>
          </p:sp>
        </mc:Fallback>
      </mc:AlternateContent>
      <p:sp>
        <p:nvSpPr>
          <p:cNvPr id="6" name="TextBox 5">
            <a:extLst>
              <a:ext uri="{FF2B5EF4-FFF2-40B4-BE49-F238E27FC236}">
                <a16:creationId xmlns:a16="http://schemas.microsoft.com/office/drawing/2014/main" id="{9EE96153-286C-8B4E-A187-B03256AE5CF8}"/>
              </a:ext>
            </a:extLst>
          </p:cNvPr>
          <p:cNvSpPr txBox="1"/>
          <p:nvPr/>
        </p:nvSpPr>
        <p:spPr>
          <a:xfrm>
            <a:off x="498764" y="3214255"/>
            <a:ext cx="10002981" cy="461665"/>
          </a:xfrm>
          <a:prstGeom prst="rect">
            <a:avLst/>
          </a:prstGeom>
          <a:noFill/>
        </p:spPr>
        <p:txBody>
          <a:bodyPr wrap="square" rtlCol="0">
            <a:spAutoFit/>
          </a:bodyPr>
          <a:lstStyle/>
          <a:p>
            <a:r>
              <a:rPr lang="en-CN" sz="2400" dirty="0"/>
              <a:t>The unconditional probability of finding a particle of momentum p1 in the gas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115FCE2-0DC1-C34B-A257-480128F373EE}"/>
                  </a:ext>
                </a:extLst>
              </p:cNvPr>
              <p:cNvSpPr txBox="1"/>
              <p:nvPr/>
            </p:nvSpPr>
            <p:spPr>
              <a:xfrm>
                <a:off x="1407801" y="4056493"/>
                <a:ext cx="8578868" cy="13476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𝑉</m:t>
                          </m:r>
                          <m:r>
                            <a:rPr lang="en-US" b="0" i="1" smtClean="0">
                              <a:latin typeface="Cambria Math" panose="02040503050406030204" pitchFamily="18" charset="0"/>
                            </a:rPr>
                            <m:t> </m:t>
                          </m:r>
                          <m:r>
                            <a:rPr lang="en-US" b="0" i="1" smtClean="0">
                              <a:latin typeface="Cambria Math" panose="02040503050406030204" pitchFamily="18" charset="0"/>
                            </a:rPr>
                            <m:t>𝑔</m:t>
                          </m:r>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−1]</m:t>
                          </m:r>
                        </m:num>
                        <m:den>
                          <m:r>
                            <a:rPr lang="en-US" b="0" i="1" smtClean="0">
                              <a:latin typeface="Cambria Math" panose="02040503050406030204" pitchFamily="18" charset="0"/>
                            </a:rPr>
                            <m:t>𝑔</m:t>
                          </m:r>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l-GR" b="0" i="1" smtClean="0">
                              <a:latin typeface="Cambria Math" panose="02040503050406030204" pitchFamily="18" charset="0"/>
                              <a:ea typeface="Cambria Math" panose="02040503050406030204" pitchFamily="18" charset="0"/>
                            </a:rPr>
                            <m:t>Γ</m:t>
                          </m:r>
                          <m:r>
                            <a:rPr lang="en-US" b="0" i="1" smtClean="0">
                              <a:latin typeface="Cambria Math" panose="02040503050406030204" pitchFamily="18" charset="0"/>
                              <a:ea typeface="Cambria Math" panose="02040503050406030204" pitchFamily="18" charset="0"/>
                            </a:rPr>
                            <m:t>[3</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/2]</m:t>
                          </m:r>
                        </m:num>
                        <m:den>
                          <m:r>
                            <m:rPr>
                              <m:sty m:val="p"/>
                            </m:rPr>
                            <a:rPr lang="el-GR" b="0" i="1" smtClean="0">
                              <a:latin typeface="Cambria Math" panose="02040503050406030204" pitchFamily="18" charset="0"/>
                              <a:ea typeface="Cambria Math" panose="02040503050406030204" pitchFamily="18" charset="0"/>
                            </a:rPr>
                            <m:t>Γ</m:t>
                          </m:r>
                          <m:r>
                            <a:rPr lang="en-US" b="0" i="1" smtClean="0">
                              <a:latin typeface="Cambria Math" panose="02040503050406030204" pitchFamily="18" charset="0"/>
                              <a:ea typeface="Cambria Math" panose="02040503050406030204" pitchFamily="18" charset="0"/>
                            </a:rPr>
                            <m:t>[3(</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−1)/2]</m:t>
                          </m:r>
                        </m:den>
                      </m:f>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𝑚𝑈</m:t>
                                  </m:r>
                                </m:e>
                              </m:d>
                            </m:e>
                            <m:sup>
                              <m:r>
                                <a:rPr lang="en-US" b="0" i="1" smtClean="0">
                                  <a:latin typeface="Cambria Math" panose="02040503050406030204" pitchFamily="18" charset="0"/>
                                </a:rPr>
                                <m:t>3</m:t>
                              </m:r>
                              <m:r>
                                <a:rPr lang="en-US" b="0" i="1" smtClean="0">
                                  <a:latin typeface="Cambria Math" panose="02040503050406030204" pitchFamily="18" charset="0"/>
                                </a:rPr>
                                <m:t>𝑁</m:t>
                              </m:r>
                              <m:r>
                                <a:rPr lang="en-US" b="0" i="1" smtClean="0">
                                  <a:latin typeface="Cambria Math" panose="02040503050406030204" pitchFamily="18" charset="0"/>
                                </a:rPr>
                                <m:t>/2</m:t>
                              </m:r>
                            </m:sup>
                          </m:sSup>
                        </m:den>
                      </m:f>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𝜀</m:t>
                                  </m:r>
                                </m:num>
                                <m:den>
                                  <m:r>
                                    <a:rPr lang="en-US" b="0" i="1" smtClean="0">
                                      <a:latin typeface="Cambria Math" panose="02040503050406030204" pitchFamily="18" charset="0"/>
                                    </a:rPr>
                                    <m:t>𝑈</m:t>
                                  </m:r>
                                </m:den>
                              </m:f>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3</m:t>
                              </m:r>
                              <m:r>
                                <a:rPr lang="en-US" b="0" i="1" smtClean="0">
                                  <a:latin typeface="Cambria Math" panose="02040503050406030204" pitchFamily="18" charset="0"/>
                                </a:rPr>
                                <m:t>𝑁</m:t>
                              </m:r>
                            </m:num>
                            <m:den>
                              <m:r>
                                <a:rPr lang="en-US" b="0" i="1" smtClean="0">
                                  <a:latin typeface="Cambria Math" panose="02040503050406030204" pitchFamily="18" charset="0"/>
                                </a:rPr>
                                <m:t>2</m:t>
                              </m:r>
                            </m:den>
                          </m:f>
                          <m:r>
                            <a:rPr lang="en-US" b="0" i="1" smtClean="0">
                              <a:latin typeface="Cambria Math" panose="02040503050406030204" pitchFamily="18" charset="0"/>
                            </a:rPr>
                            <m:t>−2</m:t>
                          </m:r>
                        </m:sup>
                      </m:sSup>
                      <m:groupChr>
                        <m:groupChrPr>
                          <m:chr m:val="→"/>
                          <m:vertJc m:val="bot"/>
                          <m:ctrlPr>
                            <a:rPr lang="en-US" i="1">
                              <a:latin typeface="Cambria Math" panose="02040503050406030204" pitchFamily="18" charset="0"/>
                            </a:rPr>
                          </m:ctrlPr>
                        </m:groupChrPr>
                        <m:e>
                          <m:r>
                            <m:rPr>
                              <m:brk m:alnAt="2"/>
                            </m:rPr>
                            <a:rPr lang="en-US" i="1">
                              <a:latin typeface="Cambria Math" panose="02040503050406030204" pitchFamily="18" charset="0"/>
                            </a:rPr>
                            <m:t>𝑆</m:t>
                          </m:r>
                          <m:r>
                            <a:rPr lang="en-US" i="1">
                              <a:latin typeface="Cambria Math" panose="02040503050406030204" pitchFamily="18" charset="0"/>
                            </a:rPr>
                            <m:t>𝑡𝑖𝑟𝑙𝑖𝑛𝑔</m:t>
                          </m:r>
                        </m:e>
                      </m:groupChr>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3</m:t>
                                  </m:r>
                                  <m:r>
                                    <a:rPr lang="en-US" i="1">
                                      <a:latin typeface="Cambria Math" panose="02040503050406030204" pitchFamily="18" charset="0"/>
                                    </a:rPr>
                                    <m:t>𝑁</m:t>
                                  </m:r>
                                </m:num>
                                <m:den>
                                  <m:r>
                                    <a:rPr lang="en-US" i="1">
                                      <a:latin typeface="Cambria Math" panose="02040503050406030204" pitchFamily="18" charset="0"/>
                                    </a:rPr>
                                    <m:t>4</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𝑚𝑈</m:t>
                                  </m:r>
                                </m:den>
                              </m:f>
                            </m:e>
                          </m:d>
                        </m:e>
                        <m:sup>
                          <m:r>
                            <a:rPr lang="en-US" i="1">
                              <a:latin typeface="Cambria Math" panose="02040503050406030204" pitchFamily="18" charset="0"/>
                            </a:rPr>
                            <m:t>3/2</m:t>
                          </m:r>
                        </m:sup>
                      </m:s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3</m:t>
                              </m:r>
                              <m:r>
                                <a:rPr lang="en-US" i="1">
                                  <a:latin typeface="Cambria Math" panose="02040503050406030204" pitchFamily="18" charset="0"/>
                                </a:rPr>
                                <m:t>𝑁</m:t>
                              </m:r>
                            </m:num>
                            <m:den>
                              <m:r>
                                <a:rPr lang="en-US" i="1">
                                  <a:latin typeface="Cambria Math" panose="02040503050406030204" pitchFamily="18" charset="0"/>
                                </a:rPr>
                                <m:t>2</m:t>
                              </m:r>
                              <m:r>
                                <a:rPr lang="en-US" i="1">
                                  <a:latin typeface="Cambria Math" panose="02040503050406030204" pitchFamily="18" charset="0"/>
                                </a:rPr>
                                <m:t>𝑈</m:t>
                              </m:r>
                            </m:den>
                          </m:f>
                          <m:r>
                            <a:rPr lang="en-US" i="1">
                              <a:latin typeface="Cambria Math" panose="02040503050406030204" pitchFamily="18" charset="0"/>
                            </a:rPr>
                            <m:t> </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𝑝</m:t>
                                  </m:r>
                                </m:e>
                                <m:sub>
                                  <m:r>
                                    <a:rPr lang="en-US" i="1">
                                      <a:latin typeface="Cambria Math" panose="02040503050406030204" pitchFamily="18" charset="0"/>
                                    </a:rPr>
                                    <m:t>1</m:t>
                                  </m:r>
                                </m:sub>
                                <m:sup>
                                  <m:r>
                                    <a:rPr lang="en-US" i="1">
                                      <a:latin typeface="Cambria Math" panose="02040503050406030204" pitchFamily="18" charset="0"/>
                                    </a:rPr>
                                    <m:t>2</m:t>
                                  </m:r>
                                </m:sup>
                              </m:sSubSup>
                            </m:num>
                            <m:den>
                              <m:r>
                                <a:rPr lang="en-US" i="1">
                                  <a:latin typeface="Cambria Math" panose="02040503050406030204" pitchFamily="18" charset="0"/>
                                </a:rPr>
                                <m:t>2</m:t>
                              </m:r>
                              <m:r>
                                <a:rPr lang="en-US" i="1">
                                  <a:latin typeface="Cambria Math" panose="02040503050406030204" pitchFamily="18" charset="0"/>
                                </a:rPr>
                                <m:t>𝑚</m:t>
                              </m:r>
                            </m:den>
                          </m:f>
                        </m:sup>
                      </m:sSup>
                    </m:oMath>
                  </m:oMathPara>
                </a14:m>
                <a:endParaRPr lang="en-CN" dirty="0"/>
              </a:p>
            </p:txBody>
          </p:sp>
        </mc:Choice>
        <mc:Fallback xmlns="">
          <p:sp>
            <p:nvSpPr>
              <p:cNvPr id="7" name="TextBox 6">
                <a:extLst>
                  <a:ext uri="{FF2B5EF4-FFF2-40B4-BE49-F238E27FC236}">
                    <a16:creationId xmlns:a16="http://schemas.microsoft.com/office/drawing/2014/main" id="{4115FCE2-0DC1-C34B-A257-480128F373EE}"/>
                  </a:ext>
                </a:extLst>
              </p:cNvPr>
              <p:cNvSpPr txBox="1">
                <a:spLocks noRot="1" noChangeAspect="1" noMove="1" noResize="1" noEditPoints="1" noAdjustHandles="1" noChangeArrowheads="1" noChangeShapeType="1" noTextEdit="1"/>
              </p:cNvSpPr>
              <p:nvPr/>
            </p:nvSpPr>
            <p:spPr>
              <a:xfrm>
                <a:off x="1407801" y="4056493"/>
                <a:ext cx="8578868" cy="1347613"/>
              </a:xfrm>
              <a:prstGeom prst="rect">
                <a:avLst/>
              </a:prstGeom>
              <a:blipFill>
                <a:blip r:embed="rId5"/>
                <a:stretch>
                  <a:fillRect b="-3738"/>
                </a:stretch>
              </a:blipFill>
            </p:spPr>
            <p:txBody>
              <a:bodyPr/>
              <a:lstStyle/>
              <a:p>
                <a:r>
                  <a:rPr lang="en-CN">
                    <a:noFill/>
                  </a:rPr>
                  <a:t> </a:t>
                </a:r>
              </a:p>
            </p:txBody>
          </p:sp>
        </mc:Fallback>
      </mc:AlternateContent>
      <p:pic>
        <p:nvPicPr>
          <p:cNvPr id="9" name="Picture 8">
            <a:extLst>
              <a:ext uri="{FF2B5EF4-FFF2-40B4-BE49-F238E27FC236}">
                <a16:creationId xmlns:a16="http://schemas.microsoft.com/office/drawing/2014/main" id="{9EB943A8-53D8-11BE-AB60-6F40FC16A016}"/>
              </a:ext>
            </a:extLst>
          </p:cNvPr>
          <p:cNvPicPr>
            <a:picLocks noChangeAspect="1"/>
          </p:cNvPicPr>
          <p:nvPr/>
        </p:nvPicPr>
        <p:blipFill>
          <a:blip r:embed="rId6"/>
          <a:stretch>
            <a:fillRect/>
          </a:stretch>
        </p:blipFill>
        <p:spPr>
          <a:xfrm>
            <a:off x="7661787" y="5714719"/>
            <a:ext cx="4313698" cy="1021425"/>
          </a:xfrm>
          <a:prstGeom prst="rect">
            <a:avLst/>
          </a:prstGeom>
        </p:spPr>
      </p:pic>
    </p:spTree>
    <p:extLst>
      <p:ext uri="{BB962C8B-B14F-4D97-AF65-F5344CB8AC3E}">
        <p14:creationId xmlns:p14="http://schemas.microsoft.com/office/powerpoint/2010/main" val="32880972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7BE3A0-ADA4-4A45-97B0-7D287024355A}"/>
              </a:ext>
            </a:extLst>
          </p:cNvPr>
          <p:cNvSpPr txBox="1"/>
          <p:nvPr/>
        </p:nvSpPr>
        <p:spPr>
          <a:xfrm>
            <a:off x="401782" y="263236"/>
            <a:ext cx="5597236" cy="369332"/>
          </a:xfrm>
          <a:prstGeom prst="rect">
            <a:avLst/>
          </a:prstGeom>
          <a:noFill/>
        </p:spPr>
        <p:txBody>
          <a:bodyPr wrap="square" rtlCol="0">
            <a:spAutoFit/>
          </a:bodyPr>
          <a:lstStyle/>
          <a:p>
            <a:r>
              <a:rPr lang="en-CN" dirty="0"/>
              <a:t>微正则系综</a:t>
            </a:r>
            <a:r>
              <a:rPr lang="zh-CN" altLang="en-US" dirty="0"/>
              <a:t>（</a:t>
            </a:r>
            <a:r>
              <a:rPr lang="en-US" altLang="zh-CN" dirty="0"/>
              <a:t>U</a:t>
            </a:r>
            <a:r>
              <a:rPr lang="zh-CN" altLang="en-US" dirty="0"/>
              <a:t>，</a:t>
            </a:r>
            <a:r>
              <a:rPr lang="en-US" altLang="zh-CN" dirty="0"/>
              <a:t>V</a:t>
            </a:r>
            <a:r>
              <a:rPr lang="zh-CN" altLang="en-US" dirty="0"/>
              <a:t>，</a:t>
            </a:r>
            <a:r>
              <a:rPr lang="en-US" altLang="zh-CN" dirty="0"/>
              <a:t>N</a:t>
            </a:r>
            <a:r>
              <a:rPr lang="zh-CN" altLang="en-US" dirty="0"/>
              <a:t>）</a:t>
            </a:r>
            <a:endParaRPr lang="en-CN"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C8A3383-7C11-244F-8689-8C0B559A6727}"/>
                  </a:ext>
                </a:extLst>
              </p:cNvPr>
              <p:cNvSpPr txBox="1"/>
              <p:nvPr/>
            </p:nvSpPr>
            <p:spPr>
              <a:xfrm>
                <a:off x="1440874" y="632568"/>
                <a:ext cx="8222672" cy="180895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𝑁</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𝑁</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r>
                                <a:rPr lang="en-US" b="0" i="1" smtClean="0">
                                  <a:latin typeface="Cambria Math" panose="02040503050406030204" pitchFamily="18" charset="0"/>
                                </a:rPr>
                                <m:t>3</m:t>
                              </m:r>
                              <m:r>
                                <a:rPr lang="en-US" b="0" i="1" smtClean="0">
                                  <a:latin typeface="Cambria Math" panose="02040503050406030204" pitchFamily="18" charset="0"/>
                                </a:rPr>
                                <m:t>𝑁</m:t>
                              </m:r>
                            </m:sup>
                          </m:sSup>
                        </m:den>
                      </m:f>
                      <m:r>
                        <a:rPr lang="en-US" b="0" i="1" smtClean="0">
                          <a:latin typeface="Cambria Math" panose="02040503050406030204" pitchFamily="18" charset="0"/>
                        </a:rPr>
                        <m:t> </m:t>
                      </m:r>
                      <m:nary>
                        <m:naryPr>
                          <m:limLoc m:val="undOvr"/>
                          <m:subHide m:val="on"/>
                          <m:supHide m:val="on"/>
                          <m:ctrlPr>
                            <a:rPr lang="en-US" b="0" i="1" smtClean="0">
                              <a:latin typeface="Cambria Math" panose="02040503050406030204" pitchFamily="18" charset="0"/>
                            </a:rPr>
                          </m:ctrlPr>
                        </m:naryPr>
                        <m:sub/>
                        <m:sup/>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e>
                              <m:r>
                                <a:rPr lang="en-US" i="1">
                                  <a:latin typeface="Cambria Math" panose="02040503050406030204" pitchFamily="18" charset="0"/>
                                </a:rPr>
                                <m:t>𝑑</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𝑖</m:t>
                                  </m:r>
                                </m:sub>
                              </m:sSub>
                              <m:r>
                                <a:rPr lang="en-US" i="1">
                                  <a:latin typeface="Cambria Math" panose="02040503050406030204" pitchFamily="18" charset="0"/>
                                </a:rPr>
                                <m:t> </m:t>
                              </m:r>
                              <m:r>
                                <a:rPr lang="en-US" i="1">
                                  <a:latin typeface="Cambria Math" panose="02040503050406030204" pitchFamily="18" charset="0"/>
                                </a:rPr>
                                <m:t>𝑑</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𝑖</m:t>
                                  </m:r>
                                </m:sub>
                              </m:sSub>
                            </m:e>
                          </m:nary>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𝛿</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rPr>
                            <m:t>(</m:t>
                          </m:r>
                          <m:r>
                            <a:rPr lang="en-US" b="0" i="1" smtClean="0">
                              <a:latin typeface="Cambria Math" panose="02040503050406030204" pitchFamily="18" charset="0"/>
                            </a:rPr>
                            <m:t>𝑓𝑜𝑟</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𝑏𝑜𝑥</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𝑎𝑛𝑑</m:t>
                          </m:r>
                          <m:r>
                            <a:rPr lang="en-US" b="0" i="1" smtClean="0">
                              <a:latin typeface="Cambria Math" panose="02040503050406030204" pitchFamily="18" charset="0"/>
                              <a:ea typeface="Cambria Math" panose="02040503050406030204" pitchFamily="18" charset="0"/>
                            </a:rPr>
                            <m:t> </m:t>
                          </m:r>
                          <m:nary>
                            <m:naryPr>
                              <m:chr m:val="∑"/>
                              <m:supHide m:val="on"/>
                              <m:ctrlPr>
                                <a:rPr lang="en-US" b="0" i="1" smtClean="0">
                                  <a:latin typeface="Cambria Math" panose="02040503050406030204" pitchFamily="18" charset="0"/>
                                  <a:ea typeface="Cambria Math" panose="02040503050406030204" pitchFamily="18" charset="0"/>
                                </a:rPr>
                              </m:ctrlPr>
                            </m:naryPr>
                            <m:sub>
                              <m:r>
                                <m:rPr>
                                  <m:brk m:alnAt="7"/>
                                </m:rPr>
                                <a:rPr lang="en-US" b="0" i="1" smtClean="0">
                                  <a:latin typeface="Cambria Math" panose="02040503050406030204" pitchFamily="18" charset="0"/>
                                  <a:ea typeface="Cambria Math" panose="02040503050406030204" pitchFamily="18" charset="0"/>
                                </a:rPr>
                                <m:t>𝑖</m:t>
                              </m:r>
                            </m:sub>
                            <m:sup/>
                            <m:e>
                              <m:f>
                                <m:fPr>
                                  <m:ctrlPr>
                                    <a:rPr lang="en-US" b="0" i="1" smtClean="0">
                                      <a:latin typeface="Cambria Math" panose="02040503050406030204" pitchFamily="18" charset="0"/>
                                      <a:ea typeface="Cambria Math" panose="02040503050406030204" pitchFamily="18" charset="0"/>
                                    </a:rPr>
                                  </m:ctrlPr>
                                </m:fPr>
                                <m:num>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𝑝</m:t>
                                      </m:r>
                                    </m:e>
                                    <m:sub>
                                      <m:r>
                                        <a:rPr lang="en-US" b="0" i="1" smtClean="0">
                                          <a:latin typeface="Cambria Math" panose="02040503050406030204" pitchFamily="18" charset="0"/>
                                          <a:ea typeface="Cambria Math" panose="02040503050406030204" pitchFamily="18" charset="0"/>
                                        </a:rPr>
                                        <m:t>𝑖</m:t>
                                      </m:r>
                                    </m:sub>
                                    <m:sup>
                                      <m:r>
                                        <a:rPr lang="en-US" b="0" i="1" smtClean="0">
                                          <a:latin typeface="Cambria Math" panose="02040503050406030204" pitchFamily="18" charset="0"/>
                                          <a:ea typeface="Cambria Math" panose="02040503050406030204" pitchFamily="18" charset="0"/>
                                        </a:rPr>
                                        <m:t>2</m:t>
                                      </m:r>
                                    </m:sup>
                                  </m:sSubSup>
                                </m:num>
                                <m:den>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𝑚</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e>
                          </m:nary>
                          <m:r>
                            <a:rPr lang="en-US" b="0" i="1" smtClean="0">
                              <a:latin typeface="Cambria Math" panose="02040503050406030204" pitchFamily="18" charset="0"/>
                            </a:rPr>
                            <m:t>)</m:t>
                          </m:r>
                        </m:e>
                      </m:nary>
                    </m:oMath>
                  </m:oMathPara>
                </a14:m>
                <a:endParaRPr lang="en-CN"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𝑁</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r>
                                <a:rPr lang="en-US" b="0" i="1" smtClean="0">
                                  <a:latin typeface="Cambria Math" panose="02040503050406030204" pitchFamily="18" charset="0"/>
                                </a:rPr>
                                <m:t>3</m:t>
                              </m:r>
                              <m:r>
                                <a:rPr lang="en-US" b="0" i="1" smtClean="0">
                                  <a:latin typeface="Cambria Math" panose="02040503050406030204" pitchFamily="18" charset="0"/>
                                </a:rPr>
                                <m:t>𝑁</m:t>
                              </m:r>
                            </m:sup>
                          </m:sSup>
                        </m:den>
                      </m:f>
                      <m:r>
                        <a:rPr lang="en-US" b="0" i="1" smtClean="0">
                          <a:latin typeface="Cambria Math" panose="02040503050406030204" pitchFamily="18" charset="0"/>
                        </a:rPr>
                        <m:t> </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𝑉</m:t>
                          </m:r>
                        </m:e>
                        <m:sup>
                          <m:r>
                            <a:rPr lang="en-US" b="0" i="1" smtClean="0">
                              <a:solidFill>
                                <a:srgbClr val="FF0000"/>
                              </a:solidFill>
                              <a:latin typeface="Cambria Math" panose="02040503050406030204" pitchFamily="18" charset="0"/>
                            </a:rPr>
                            <m:t>𝑁</m:t>
                          </m:r>
                        </m:sup>
                      </m:sSup>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2 </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𝜋</m:t>
                              </m:r>
                            </m:e>
                            <m:sup>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3</m:t>
                                  </m:r>
                                  <m:r>
                                    <a:rPr lang="en-US" b="0" i="1" smtClean="0">
                                      <a:solidFill>
                                        <a:srgbClr val="FF0000"/>
                                      </a:solidFill>
                                      <a:latin typeface="Cambria Math" panose="02040503050406030204" pitchFamily="18" charset="0"/>
                                    </a:rPr>
                                    <m:t>𝑁</m:t>
                                  </m:r>
                                </m:num>
                                <m:den>
                                  <m:r>
                                    <a:rPr lang="en-US" b="0" i="1" smtClean="0">
                                      <a:solidFill>
                                        <a:srgbClr val="FF0000"/>
                                      </a:solidFill>
                                      <a:latin typeface="Cambria Math" panose="02040503050406030204" pitchFamily="18" charset="0"/>
                                    </a:rPr>
                                    <m:t>2</m:t>
                                  </m:r>
                                </m:den>
                              </m:f>
                            </m:sup>
                          </m:sSup>
                        </m:num>
                        <m:den>
                          <m:d>
                            <m:dPr>
                              <m:ctrlPr>
                                <a:rPr lang="en-US" b="0" i="1" smtClean="0">
                                  <a:solidFill>
                                    <a:srgbClr val="FF0000"/>
                                  </a:solidFill>
                                  <a:latin typeface="Cambria Math" panose="02040503050406030204" pitchFamily="18" charset="0"/>
                                </a:rPr>
                              </m:ctrlPr>
                            </m:dPr>
                            <m:e>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3</m:t>
                                  </m:r>
                                  <m:r>
                                    <a:rPr lang="en-US" b="0" i="1" smtClean="0">
                                      <a:solidFill>
                                        <a:srgbClr val="FF0000"/>
                                      </a:solidFill>
                                      <a:latin typeface="Cambria Math" panose="02040503050406030204" pitchFamily="18" charset="0"/>
                                    </a:rPr>
                                    <m:t>𝑁</m:t>
                                  </m:r>
                                </m:num>
                                <m:den>
                                  <m:r>
                                    <a:rPr lang="en-US" b="0" i="1" smtClean="0">
                                      <a:solidFill>
                                        <a:srgbClr val="FF0000"/>
                                      </a:solidFill>
                                      <a:latin typeface="Cambria Math" panose="02040503050406030204" pitchFamily="18" charset="0"/>
                                    </a:rPr>
                                    <m:t>2</m:t>
                                  </m:r>
                                </m:den>
                              </m:f>
                              <m:r>
                                <a:rPr lang="en-US" b="0" i="1" smtClean="0">
                                  <a:solidFill>
                                    <a:srgbClr val="FF0000"/>
                                  </a:solidFill>
                                  <a:latin typeface="Cambria Math" panose="02040503050406030204" pitchFamily="18" charset="0"/>
                                </a:rPr>
                                <m:t>−1</m:t>
                              </m:r>
                            </m:e>
                          </m:d>
                          <m:r>
                            <a:rPr lang="en-US" b="0" i="1" smtClean="0">
                              <a:solidFill>
                                <a:srgbClr val="FF0000"/>
                              </a:solidFill>
                              <a:latin typeface="Cambria Math" panose="02040503050406030204" pitchFamily="18" charset="0"/>
                            </a:rPr>
                            <m:t>!</m:t>
                          </m:r>
                        </m:den>
                      </m:f>
                      <m:sSup>
                        <m:sSupPr>
                          <m:ctrlPr>
                            <a:rPr lang="en-US" b="0" i="1" smtClean="0">
                              <a:solidFill>
                                <a:srgbClr val="FF0000"/>
                              </a:solidFill>
                              <a:latin typeface="Cambria Math" panose="02040503050406030204" pitchFamily="18" charset="0"/>
                            </a:rPr>
                          </m:ctrlPr>
                        </m:sSupPr>
                        <m:e>
                          <m:rad>
                            <m:radPr>
                              <m:degHide m:val="on"/>
                              <m:ctrlPr>
                                <a:rPr lang="en-US" b="0" i="1" smtClean="0">
                                  <a:solidFill>
                                    <a:srgbClr val="FF0000"/>
                                  </a:solidFill>
                                  <a:latin typeface="Cambria Math" panose="02040503050406030204" pitchFamily="18" charset="0"/>
                                </a:rPr>
                              </m:ctrlPr>
                            </m:radPr>
                            <m:deg/>
                            <m:e>
                              <m:r>
                                <a:rPr lang="en-US" b="0" i="1" smtClean="0">
                                  <a:solidFill>
                                    <a:srgbClr val="FF0000"/>
                                  </a:solidFill>
                                  <a:latin typeface="Cambria Math" panose="02040503050406030204" pitchFamily="18" charset="0"/>
                                </a:rPr>
                                <m:t>2</m:t>
                              </m:r>
                              <m:r>
                                <a:rPr lang="en-US" b="0" i="1" smtClean="0">
                                  <a:solidFill>
                                    <a:srgbClr val="FF0000"/>
                                  </a:solidFill>
                                  <a:latin typeface="Cambria Math" panose="02040503050406030204" pitchFamily="18" charset="0"/>
                                </a:rPr>
                                <m:t>𝑚𝑈</m:t>
                              </m:r>
                            </m:e>
                          </m:rad>
                        </m:e>
                        <m:sup>
                          <m:r>
                            <a:rPr lang="en-US" b="0" i="1" smtClean="0">
                              <a:solidFill>
                                <a:srgbClr val="FF0000"/>
                              </a:solidFill>
                              <a:latin typeface="Cambria Math" panose="02040503050406030204" pitchFamily="18" charset="0"/>
                            </a:rPr>
                            <m:t>3</m:t>
                          </m:r>
                          <m:r>
                            <a:rPr lang="en-US" b="0" i="1" smtClean="0">
                              <a:solidFill>
                                <a:srgbClr val="FF0000"/>
                              </a:solidFill>
                              <a:latin typeface="Cambria Math" panose="02040503050406030204" pitchFamily="18" charset="0"/>
                            </a:rPr>
                            <m:t>𝑁</m:t>
                          </m:r>
                          <m:r>
                            <a:rPr lang="en-US" b="0" i="1" smtClean="0">
                              <a:solidFill>
                                <a:srgbClr val="FF0000"/>
                              </a:solidFill>
                              <a:latin typeface="Cambria Math" panose="02040503050406030204" pitchFamily="18" charset="0"/>
                            </a:rPr>
                            <m:t>−1</m:t>
                          </m:r>
                        </m:sup>
                      </m:sSup>
                    </m:oMath>
                  </m:oMathPara>
                </a14:m>
                <a:endParaRPr lang="en-CN" dirty="0"/>
              </a:p>
            </p:txBody>
          </p:sp>
        </mc:Choice>
        <mc:Fallback xmlns="">
          <p:sp>
            <p:nvSpPr>
              <p:cNvPr id="4" name="TextBox 3">
                <a:extLst>
                  <a:ext uri="{FF2B5EF4-FFF2-40B4-BE49-F238E27FC236}">
                    <a16:creationId xmlns:a16="http://schemas.microsoft.com/office/drawing/2014/main" id="{7C8A3383-7C11-244F-8689-8C0B559A6727}"/>
                  </a:ext>
                </a:extLst>
              </p:cNvPr>
              <p:cNvSpPr txBox="1">
                <a:spLocks noRot="1" noChangeAspect="1" noMove="1" noResize="1" noEditPoints="1" noAdjustHandles="1" noChangeArrowheads="1" noChangeShapeType="1" noTextEdit="1"/>
              </p:cNvSpPr>
              <p:nvPr/>
            </p:nvSpPr>
            <p:spPr>
              <a:xfrm>
                <a:off x="1440874" y="632568"/>
                <a:ext cx="8222672" cy="1808957"/>
              </a:xfrm>
              <a:prstGeom prst="rect">
                <a:avLst/>
              </a:prstGeom>
              <a:blipFill>
                <a:blip r:embed="rId3"/>
                <a:stretch>
                  <a:fillRect t="-54861" b="-3541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7A2F2CF-5B9A-5E4A-98B5-2F2211D27FB4}"/>
                  </a:ext>
                </a:extLst>
              </p:cNvPr>
              <p:cNvSpPr txBox="1"/>
              <p:nvPr/>
            </p:nvSpPr>
            <p:spPr>
              <a:xfrm>
                <a:off x="2175162" y="2379200"/>
                <a:ext cx="3823855" cy="7146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𝑔</m:t>
                          </m:r>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den>
                      </m:f>
                      <m:r>
                        <a:rPr lang="en-US" i="1">
                          <a:latin typeface="Cambria Math" panose="02040503050406030204" pitchFamily="18" charset="0"/>
                          <a:ea typeface="Cambria Math" panose="02040503050406030204" pitchFamily="18" charset="0"/>
                        </a:rPr>
                        <m:t>×</m:t>
                      </m:r>
                      <m:d>
                        <m:dPr>
                          <m:endChr m:val=""/>
                          <m:ctrlPr>
                            <a:rPr lang="en-US" i="1" smtClean="0">
                              <a:latin typeface="Cambria Math" panose="02040503050406030204" pitchFamily="18" charset="0"/>
                              <a:ea typeface="Cambria Math" panose="02040503050406030204" pitchFamily="18" charset="0"/>
                            </a:rPr>
                          </m:ctrlPr>
                        </m:dPr>
                        <m:e>
                          <m:m>
                            <m:mPr>
                              <m:mcs>
                                <m:mc>
                                  <m:mcPr>
                                    <m:count m:val="1"/>
                                    <m:mcJc m:val="center"/>
                                  </m:mcPr>
                                </m:mc>
                              </m:mcs>
                              <m:ctrlPr>
                                <a:rPr lang="en-US" i="1" smtClean="0">
                                  <a:latin typeface="Cambria Math" panose="02040503050406030204" pitchFamily="18" charset="0"/>
                                  <a:ea typeface="Cambria Math" panose="02040503050406030204" pitchFamily="18" charset="0"/>
                                </a:rPr>
                              </m:ctrlPr>
                            </m:mPr>
                            <m:mr>
                              <m:e>
                                <m:r>
                                  <m:rPr>
                                    <m:brk m:alnAt="7"/>
                                  </m:rPr>
                                  <a:rPr lang="en-US" b="0" i="1" smtClean="0">
                                    <a:latin typeface="Cambria Math" panose="02040503050406030204" pitchFamily="18" charset="0"/>
                                    <a:ea typeface="Cambria Math" panose="02040503050406030204" pitchFamily="18" charset="0"/>
                                  </a:rPr>
                                  <m:t>1</m:t>
                                </m:r>
                              </m:e>
                            </m:mr>
                            <m:mr>
                              <m:e>
                                <m:r>
                                  <a:rPr lang="en-US" b="0" i="1" smtClean="0">
                                    <a:latin typeface="Cambria Math" panose="02040503050406030204" pitchFamily="18" charset="0"/>
                                    <a:ea typeface="Cambria Math" panose="02040503050406030204" pitchFamily="18" charset="0"/>
                                  </a:rPr>
                                  <m:t>0</m:t>
                                </m:r>
                              </m:e>
                            </m:mr>
                          </m:m>
                        </m:e>
                      </m:d>
                    </m:oMath>
                  </m:oMathPara>
                </a14:m>
                <a:endParaRPr lang="en-CN" dirty="0"/>
              </a:p>
            </p:txBody>
          </p:sp>
        </mc:Choice>
        <mc:Fallback xmlns="">
          <p:sp>
            <p:nvSpPr>
              <p:cNvPr id="5" name="TextBox 4">
                <a:extLst>
                  <a:ext uri="{FF2B5EF4-FFF2-40B4-BE49-F238E27FC236}">
                    <a16:creationId xmlns:a16="http://schemas.microsoft.com/office/drawing/2014/main" id="{E7A2F2CF-5B9A-5E4A-98B5-2F2211D27FB4}"/>
                  </a:ext>
                </a:extLst>
              </p:cNvPr>
              <p:cNvSpPr txBox="1">
                <a:spLocks noRot="1" noChangeAspect="1" noMove="1" noResize="1" noEditPoints="1" noAdjustHandles="1" noChangeArrowheads="1" noChangeShapeType="1" noTextEdit="1"/>
              </p:cNvSpPr>
              <p:nvPr/>
            </p:nvSpPr>
            <p:spPr>
              <a:xfrm>
                <a:off x="2175162" y="2379200"/>
                <a:ext cx="3823855" cy="714683"/>
              </a:xfrm>
              <a:prstGeom prst="rect">
                <a:avLst/>
              </a:prstGeom>
              <a:blipFill>
                <a:blip r:embed="rId4"/>
                <a:stretch>
                  <a:fillRect t="-191228" r="-2649" b="-277193"/>
                </a:stretch>
              </a:blipFill>
            </p:spPr>
            <p:txBody>
              <a:bodyPr/>
              <a:lstStyle/>
              <a:p>
                <a:r>
                  <a:rPr lang="en-CN">
                    <a:noFill/>
                  </a:rPr>
                  <a:t> </a:t>
                </a:r>
              </a:p>
            </p:txBody>
          </p:sp>
        </mc:Fallback>
      </mc:AlternateContent>
      <p:sp>
        <p:nvSpPr>
          <p:cNvPr id="6" name="TextBox 5">
            <a:extLst>
              <a:ext uri="{FF2B5EF4-FFF2-40B4-BE49-F238E27FC236}">
                <a16:creationId xmlns:a16="http://schemas.microsoft.com/office/drawing/2014/main" id="{9EE96153-286C-8B4E-A187-B03256AE5CF8}"/>
              </a:ext>
            </a:extLst>
          </p:cNvPr>
          <p:cNvSpPr txBox="1"/>
          <p:nvPr/>
        </p:nvSpPr>
        <p:spPr>
          <a:xfrm>
            <a:off x="498764" y="3214255"/>
            <a:ext cx="10002981" cy="461665"/>
          </a:xfrm>
          <a:prstGeom prst="rect">
            <a:avLst/>
          </a:prstGeom>
          <a:noFill/>
        </p:spPr>
        <p:txBody>
          <a:bodyPr wrap="square" rtlCol="0">
            <a:spAutoFit/>
          </a:bodyPr>
          <a:lstStyle/>
          <a:p>
            <a:r>
              <a:rPr lang="en-CN" sz="2400" dirty="0"/>
              <a:t>The unconditional probability of finding a particle of momentum p1 in the gas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115FCE2-0DC1-C34B-A257-480128F373EE}"/>
                  </a:ext>
                </a:extLst>
              </p:cNvPr>
              <p:cNvSpPr txBox="1"/>
              <p:nvPr/>
            </p:nvSpPr>
            <p:spPr>
              <a:xfrm>
                <a:off x="1407801" y="4056493"/>
                <a:ext cx="8578868" cy="13476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𝑉</m:t>
                          </m:r>
                          <m:r>
                            <a:rPr lang="en-US" b="0" i="1" smtClean="0">
                              <a:latin typeface="Cambria Math" panose="02040503050406030204" pitchFamily="18" charset="0"/>
                            </a:rPr>
                            <m:t> </m:t>
                          </m:r>
                          <m:r>
                            <a:rPr lang="en-US" b="0" i="1" smtClean="0">
                              <a:latin typeface="Cambria Math" panose="02040503050406030204" pitchFamily="18" charset="0"/>
                            </a:rPr>
                            <m:t>𝑔</m:t>
                          </m:r>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−1]</m:t>
                          </m:r>
                        </m:num>
                        <m:den>
                          <m:r>
                            <a:rPr lang="en-US" b="0" i="1" smtClean="0">
                              <a:latin typeface="Cambria Math" panose="02040503050406030204" pitchFamily="18" charset="0"/>
                            </a:rPr>
                            <m:t>𝑔</m:t>
                          </m:r>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l-GR" b="0" i="1" smtClean="0">
                              <a:latin typeface="Cambria Math" panose="02040503050406030204" pitchFamily="18" charset="0"/>
                              <a:ea typeface="Cambria Math" panose="02040503050406030204" pitchFamily="18" charset="0"/>
                            </a:rPr>
                            <m:t>Γ</m:t>
                          </m:r>
                          <m:r>
                            <a:rPr lang="en-US" b="0" i="1" smtClean="0">
                              <a:latin typeface="Cambria Math" panose="02040503050406030204" pitchFamily="18" charset="0"/>
                              <a:ea typeface="Cambria Math" panose="02040503050406030204" pitchFamily="18" charset="0"/>
                            </a:rPr>
                            <m:t>[3</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/2]</m:t>
                          </m:r>
                        </m:num>
                        <m:den>
                          <m:r>
                            <m:rPr>
                              <m:sty m:val="p"/>
                            </m:rPr>
                            <a:rPr lang="el-GR" b="0" i="1" smtClean="0">
                              <a:latin typeface="Cambria Math" panose="02040503050406030204" pitchFamily="18" charset="0"/>
                              <a:ea typeface="Cambria Math" panose="02040503050406030204" pitchFamily="18" charset="0"/>
                            </a:rPr>
                            <m:t>Γ</m:t>
                          </m:r>
                          <m:r>
                            <a:rPr lang="en-US" b="0" i="1" smtClean="0">
                              <a:latin typeface="Cambria Math" panose="02040503050406030204" pitchFamily="18" charset="0"/>
                              <a:ea typeface="Cambria Math" panose="02040503050406030204" pitchFamily="18" charset="0"/>
                            </a:rPr>
                            <m:t>[3(</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−1)/2]</m:t>
                          </m:r>
                        </m:den>
                      </m:f>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𝑚𝑈</m:t>
                                  </m:r>
                                </m:e>
                              </m:d>
                            </m:e>
                            <m:sup>
                              <m:r>
                                <a:rPr lang="en-US" b="0" i="1" smtClean="0">
                                  <a:latin typeface="Cambria Math" panose="02040503050406030204" pitchFamily="18" charset="0"/>
                                </a:rPr>
                                <m:t>3</m:t>
                              </m:r>
                              <m:r>
                                <a:rPr lang="en-US" b="0" i="1" smtClean="0">
                                  <a:latin typeface="Cambria Math" panose="02040503050406030204" pitchFamily="18" charset="0"/>
                                </a:rPr>
                                <m:t>𝑁</m:t>
                              </m:r>
                              <m:r>
                                <a:rPr lang="en-US" b="0" i="1" smtClean="0">
                                  <a:latin typeface="Cambria Math" panose="02040503050406030204" pitchFamily="18" charset="0"/>
                                </a:rPr>
                                <m:t>/2</m:t>
                              </m:r>
                            </m:sup>
                          </m:sSup>
                        </m:den>
                      </m:f>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𝜀</m:t>
                                  </m:r>
                                </m:num>
                                <m:den>
                                  <m:r>
                                    <a:rPr lang="en-US" b="0" i="1" smtClean="0">
                                      <a:latin typeface="Cambria Math" panose="02040503050406030204" pitchFamily="18" charset="0"/>
                                    </a:rPr>
                                    <m:t>𝑈</m:t>
                                  </m:r>
                                </m:den>
                              </m:f>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3</m:t>
                              </m:r>
                              <m:r>
                                <a:rPr lang="en-US" b="0" i="1" smtClean="0">
                                  <a:latin typeface="Cambria Math" panose="02040503050406030204" pitchFamily="18" charset="0"/>
                                </a:rPr>
                                <m:t>𝑁</m:t>
                              </m:r>
                            </m:num>
                            <m:den>
                              <m:r>
                                <a:rPr lang="en-US" b="0" i="1" smtClean="0">
                                  <a:latin typeface="Cambria Math" panose="02040503050406030204" pitchFamily="18" charset="0"/>
                                </a:rPr>
                                <m:t>2</m:t>
                              </m:r>
                            </m:den>
                          </m:f>
                          <m:r>
                            <a:rPr lang="en-US" b="0" i="1" smtClean="0">
                              <a:latin typeface="Cambria Math" panose="02040503050406030204" pitchFamily="18" charset="0"/>
                            </a:rPr>
                            <m:t>−2</m:t>
                          </m:r>
                        </m:sup>
                      </m:sSup>
                      <m:groupChr>
                        <m:groupChrPr>
                          <m:chr m:val="→"/>
                          <m:vertJc m:val="bot"/>
                          <m:ctrlPr>
                            <a:rPr lang="en-US" i="1">
                              <a:latin typeface="Cambria Math" panose="02040503050406030204" pitchFamily="18" charset="0"/>
                            </a:rPr>
                          </m:ctrlPr>
                        </m:groupChrPr>
                        <m:e>
                          <m:r>
                            <m:rPr>
                              <m:brk m:alnAt="2"/>
                            </m:rPr>
                            <a:rPr lang="en-US" i="1">
                              <a:latin typeface="Cambria Math" panose="02040503050406030204" pitchFamily="18" charset="0"/>
                            </a:rPr>
                            <m:t>𝑆</m:t>
                          </m:r>
                          <m:r>
                            <a:rPr lang="en-US" i="1">
                              <a:latin typeface="Cambria Math" panose="02040503050406030204" pitchFamily="18" charset="0"/>
                            </a:rPr>
                            <m:t>𝑡𝑖𝑟𝑙𝑖𝑛𝑔</m:t>
                          </m:r>
                        </m:e>
                      </m:groupChr>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3</m:t>
                                  </m:r>
                                  <m:r>
                                    <a:rPr lang="en-US" i="1">
                                      <a:latin typeface="Cambria Math" panose="02040503050406030204" pitchFamily="18" charset="0"/>
                                    </a:rPr>
                                    <m:t>𝑁</m:t>
                                  </m:r>
                                </m:num>
                                <m:den>
                                  <m:r>
                                    <a:rPr lang="en-US" i="1">
                                      <a:latin typeface="Cambria Math" panose="02040503050406030204" pitchFamily="18" charset="0"/>
                                    </a:rPr>
                                    <m:t>4</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𝑚𝑈</m:t>
                                  </m:r>
                                </m:den>
                              </m:f>
                            </m:e>
                          </m:d>
                        </m:e>
                        <m:sup>
                          <m:r>
                            <a:rPr lang="en-US" i="1">
                              <a:latin typeface="Cambria Math" panose="02040503050406030204" pitchFamily="18" charset="0"/>
                            </a:rPr>
                            <m:t>3/2</m:t>
                          </m:r>
                        </m:sup>
                      </m:s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3</m:t>
                              </m:r>
                              <m:r>
                                <a:rPr lang="en-US" i="1">
                                  <a:latin typeface="Cambria Math" panose="02040503050406030204" pitchFamily="18" charset="0"/>
                                </a:rPr>
                                <m:t>𝑁</m:t>
                              </m:r>
                            </m:num>
                            <m:den>
                              <m:r>
                                <a:rPr lang="en-US" i="1">
                                  <a:latin typeface="Cambria Math" panose="02040503050406030204" pitchFamily="18" charset="0"/>
                                </a:rPr>
                                <m:t>2</m:t>
                              </m:r>
                              <m:r>
                                <a:rPr lang="en-US" i="1">
                                  <a:latin typeface="Cambria Math" panose="02040503050406030204" pitchFamily="18" charset="0"/>
                                </a:rPr>
                                <m:t>𝑈</m:t>
                              </m:r>
                            </m:den>
                          </m:f>
                          <m:r>
                            <a:rPr lang="en-US" i="1">
                              <a:latin typeface="Cambria Math" panose="02040503050406030204" pitchFamily="18" charset="0"/>
                            </a:rPr>
                            <m:t> </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𝑝</m:t>
                                  </m:r>
                                </m:e>
                                <m:sub>
                                  <m:r>
                                    <a:rPr lang="en-US" i="1">
                                      <a:latin typeface="Cambria Math" panose="02040503050406030204" pitchFamily="18" charset="0"/>
                                    </a:rPr>
                                    <m:t>1</m:t>
                                  </m:r>
                                </m:sub>
                                <m:sup>
                                  <m:r>
                                    <a:rPr lang="en-US" i="1">
                                      <a:latin typeface="Cambria Math" panose="02040503050406030204" pitchFamily="18" charset="0"/>
                                    </a:rPr>
                                    <m:t>2</m:t>
                                  </m:r>
                                </m:sup>
                              </m:sSubSup>
                            </m:num>
                            <m:den>
                              <m:r>
                                <a:rPr lang="en-US" i="1">
                                  <a:latin typeface="Cambria Math" panose="02040503050406030204" pitchFamily="18" charset="0"/>
                                </a:rPr>
                                <m:t>2</m:t>
                              </m:r>
                              <m:r>
                                <a:rPr lang="en-US" i="1">
                                  <a:latin typeface="Cambria Math" panose="02040503050406030204" pitchFamily="18" charset="0"/>
                                </a:rPr>
                                <m:t>𝑚</m:t>
                              </m:r>
                            </m:den>
                          </m:f>
                        </m:sup>
                      </m:sSup>
                    </m:oMath>
                  </m:oMathPara>
                </a14:m>
                <a:endParaRPr lang="en-CN" dirty="0"/>
              </a:p>
            </p:txBody>
          </p:sp>
        </mc:Choice>
        <mc:Fallback xmlns="">
          <p:sp>
            <p:nvSpPr>
              <p:cNvPr id="7" name="TextBox 6">
                <a:extLst>
                  <a:ext uri="{FF2B5EF4-FFF2-40B4-BE49-F238E27FC236}">
                    <a16:creationId xmlns:a16="http://schemas.microsoft.com/office/drawing/2014/main" id="{4115FCE2-0DC1-C34B-A257-480128F373EE}"/>
                  </a:ext>
                </a:extLst>
              </p:cNvPr>
              <p:cNvSpPr txBox="1">
                <a:spLocks noRot="1" noChangeAspect="1" noMove="1" noResize="1" noEditPoints="1" noAdjustHandles="1" noChangeArrowheads="1" noChangeShapeType="1" noTextEdit="1"/>
              </p:cNvSpPr>
              <p:nvPr/>
            </p:nvSpPr>
            <p:spPr>
              <a:xfrm>
                <a:off x="1407801" y="4056493"/>
                <a:ext cx="8578868" cy="1347613"/>
              </a:xfrm>
              <a:prstGeom prst="rect">
                <a:avLst/>
              </a:prstGeom>
              <a:blipFill>
                <a:blip r:embed="rId5"/>
                <a:stretch>
                  <a:fillRect b="-3738"/>
                </a:stretch>
              </a:blipFill>
            </p:spPr>
            <p:txBody>
              <a:bodyPr/>
              <a:lstStyle/>
              <a:p>
                <a:r>
                  <a:rPr lang="en-CN">
                    <a:noFill/>
                  </a:rPr>
                  <a:t> </a:t>
                </a:r>
              </a:p>
            </p:txBody>
          </p:sp>
        </mc:Fallback>
      </mc:AlternateContent>
      <p:pic>
        <p:nvPicPr>
          <p:cNvPr id="9" name="Picture 8">
            <a:extLst>
              <a:ext uri="{FF2B5EF4-FFF2-40B4-BE49-F238E27FC236}">
                <a16:creationId xmlns:a16="http://schemas.microsoft.com/office/drawing/2014/main" id="{9EB943A8-53D8-11BE-AB60-6F40FC16A016}"/>
              </a:ext>
            </a:extLst>
          </p:cNvPr>
          <p:cNvPicPr>
            <a:picLocks noChangeAspect="1"/>
          </p:cNvPicPr>
          <p:nvPr/>
        </p:nvPicPr>
        <p:blipFill>
          <a:blip r:embed="rId6"/>
          <a:stretch>
            <a:fillRect/>
          </a:stretch>
        </p:blipFill>
        <p:spPr>
          <a:xfrm>
            <a:off x="7661787" y="5714719"/>
            <a:ext cx="4313698" cy="1021425"/>
          </a:xfrm>
          <a:prstGeom prst="rect">
            <a:avLst/>
          </a:prstGeom>
        </p:spPr>
      </p:pic>
      <p:pic>
        <p:nvPicPr>
          <p:cNvPr id="8" name="Picture 7">
            <a:extLst>
              <a:ext uri="{FF2B5EF4-FFF2-40B4-BE49-F238E27FC236}">
                <a16:creationId xmlns:a16="http://schemas.microsoft.com/office/drawing/2014/main" id="{9C17BE14-4A58-507D-0947-693757FD89B8}"/>
              </a:ext>
            </a:extLst>
          </p:cNvPr>
          <p:cNvPicPr>
            <a:picLocks noChangeAspect="1"/>
          </p:cNvPicPr>
          <p:nvPr/>
        </p:nvPicPr>
        <p:blipFill>
          <a:blip r:embed="rId7"/>
          <a:stretch>
            <a:fillRect/>
          </a:stretch>
        </p:blipFill>
        <p:spPr>
          <a:xfrm>
            <a:off x="401782" y="4730299"/>
            <a:ext cx="5880100" cy="1676400"/>
          </a:xfrm>
          <a:prstGeom prst="rect">
            <a:avLst/>
          </a:prstGeom>
        </p:spPr>
      </p:pic>
    </p:spTree>
    <p:extLst>
      <p:ext uri="{BB962C8B-B14F-4D97-AF65-F5344CB8AC3E}">
        <p14:creationId xmlns:p14="http://schemas.microsoft.com/office/powerpoint/2010/main" val="913406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97BE3A0-ADA4-4A45-97B0-7D287024355A}"/>
                  </a:ext>
                </a:extLst>
              </p:cNvPr>
              <p:cNvSpPr txBox="1"/>
              <p:nvPr/>
            </p:nvSpPr>
            <p:spPr>
              <a:xfrm>
                <a:off x="401782" y="263236"/>
                <a:ext cx="5597236" cy="369332"/>
              </a:xfrm>
              <a:prstGeom prst="rect">
                <a:avLst/>
              </a:prstGeom>
              <a:noFill/>
            </p:spPr>
            <p:txBody>
              <a:bodyPr wrap="square" rtlCol="0">
                <a:spAutoFit/>
              </a:bodyPr>
              <a:lstStyle/>
              <a:p>
                <a:r>
                  <a:rPr lang="en-CN" dirty="0"/>
                  <a:t>正则系综</a:t>
                </a:r>
                <a:r>
                  <a:rPr lang="zh-CN" altLang="en-US" dirty="0"/>
                  <a:t>（</a:t>
                </a:r>
                <a14:m>
                  <m:oMath xmlns:m="http://schemas.openxmlformats.org/officeDocument/2006/math">
                    <m:r>
                      <a:rPr lang="zh-CN" altLang="en-US" i="1" smtClean="0">
                        <a:latin typeface="Cambria Math" panose="02040503050406030204" pitchFamily="18" charset="0"/>
                      </a:rPr>
                      <m:t>𝜏</m:t>
                    </m:r>
                  </m:oMath>
                </a14:m>
                <a:r>
                  <a:rPr lang="zh-CN" altLang="en-US" dirty="0"/>
                  <a:t>，</a:t>
                </a:r>
                <a:r>
                  <a:rPr lang="en-US" altLang="zh-CN" dirty="0"/>
                  <a:t>V</a:t>
                </a:r>
                <a:r>
                  <a:rPr lang="zh-CN" altLang="en-US" dirty="0"/>
                  <a:t>，</a:t>
                </a:r>
                <a:r>
                  <a:rPr lang="en-US" altLang="zh-CN" dirty="0"/>
                  <a:t>N</a:t>
                </a:r>
                <a:r>
                  <a:rPr lang="zh-CN" altLang="en-US" dirty="0"/>
                  <a:t>）</a:t>
                </a:r>
                <a:endParaRPr lang="en-CN" dirty="0"/>
              </a:p>
            </p:txBody>
          </p:sp>
        </mc:Choice>
        <mc:Fallback xmlns="">
          <p:sp>
            <p:nvSpPr>
              <p:cNvPr id="3" name="TextBox 2">
                <a:extLst>
                  <a:ext uri="{FF2B5EF4-FFF2-40B4-BE49-F238E27FC236}">
                    <a16:creationId xmlns:a16="http://schemas.microsoft.com/office/drawing/2014/main" id="{097BE3A0-ADA4-4A45-97B0-7D287024355A}"/>
                  </a:ext>
                </a:extLst>
              </p:cNvPr>
              <p:cNvSpPr txBox="1">
                <a:spLocks noRot="1" noChangeAspect="1" noMove="1" noResize="1" noEditPoints="1" noAdjustHandles="1" noChangeArrowheads="1" noChangeShapeType="1" noTextEdit="1"/>
              </p:cNvSpPr>
              <p:nvPr/>
            </p:nvSpPr>
            <p:spPr>
              <a:xfrm>
                <a:off x="401782" y="263236"/>
                <a:ext cx="5597236" cy="369332"/>
              </a:xfrm>
              <a:prstGeom prst="rect">
                <a:avLst/>
              </a:prstGeom>
              <a:blipFill>
                <a:blip r:embed="rId2"/>
                <a:stretch>
                  <a:fillRect l="-905" t="-6667" b="-2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A7A8BC2-9501-B942-9CA0-90DE72317BD2}"/>
                  </a:ext>
                </a:extLst>
              </p:cNvPr>
              <p:cNvSpPr txBox="1"/>
              <p:nvPr/>
            </p:nvSpPr>
            <p:spPr>
              <a:xfrm>
                <a:off x="2355272" y="937020"/>
                <a:ext cx="7135091" cy="101431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𝑝</m:t>
                      </m:r>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𝑈</m:t>
                          </m:r>
                        </m:e>
                      </m:d>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1</m:t>
                          </m:r>
                        </m:num>
                        <m:den>
                          <m:r>
                            <a:rPr lang="en-US" sz="3200" b="0" i="1" smtClean="0">
                              <a:latin typeface="Cambria Math" panose="02040503050406030204" pitchFamily="18" charset="0"/>
                            </a:rPr>
                            <m:t>𝑍</m:t>
                          </m:r>
                        </m:den>
                      </m:f>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𝑒</m:t>
                          </m:r>
                        </m:e>
                        <m:sup>
                          <m:r>
                            <a:rPr lang="en-US" sz="3200" b="0" i="1" smtClean="0">
                              <a:latin typeface="Cambria Math" panose="02040503050406030204" pitchFamily="18" charset="0"/>
                            </a:rPr>
                            <m:t>−</m:t>
                          </m:r>
                          <m:r>
                            <a:rPr lang="en-US" sz="3200" b="0" i="1" smtClean="0">
                              <a:latin typeface="Cambria Math" panose="02040503050406030204" pitchFamily="18" charset="0"/>
                            </a:rPr>
                            <m:t>𝐹</m:t>
                          </m:r>
                          <m:r>
                            <a:rPr lang="en-US" sz="3200" b="0" i="1" smtClean="0">
                              <a:latin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𝜏</m:t>
                          </m:r>
                        </m:sup>
                      </m:sSup>
                    </m:oMath>
                  </m:oMathPara>
                </a14:m>
                <a:endParaRPr lang="en-CN" sz="3200" dirty="0"/>
              </a:p>
            </p:txBody>
          </p:sp>
        </mc:Choice>
        <mc:Fallback xmlns="">
          <p:sp>
            <p:nvSpPr>
              <p:cNvPr id="2" name="TextBox 1">
                <a:extLst>
                  <a:ext uri="{FF2B5EF4-FFF2-40B4-BE49-F238E27FC236}">
                    <a16:creationId xmlns:a16="http://schemas.microsoft.com/office/drawing/2014/main" id="{AA7A8BC2-9501-B942-9CA0-90DE72317BD2}"/>
                  </a:ext>
                </a:extLst>
              </p:cNvPr>
              <p:cNvSpPr txBox="1">
                <a:spLocks noRot="1" noChangeAspect="1" noMove="1" noResize="1" noEditPoints="1" noAdjustHandles="1" noChangeArrowheads="1" noChangeShapeType="1" noTextEdit="1"/>
              </p:cNvSpPr>
              <p:nvPr/>
            </p:nvSpPr>
            <p:spPr>
              <a:xfrm>
                <a:off x="2355272" y="937020"/>
                <a:ext cx="7135091" cy="1014317"/>
              </a:xfrm>
              <a:prstGeom prst="rect">
                <a:avLst/>
              </a:prstGeom>
              <a:blipFill>
                <a:blip r:embed="rId3"/>
                <a:stretch>
                  <a:fillRect b="-7407"/>
                </a:stretch>
              </a:blipFill>
            </p:spPr>
            <p:txBody>
              <a:bodyPr/>
              <a:lstStyle/>
              <a:p>
                <a:r>
                  <a:rPr lang="en-CN">
                    <a:noFill/>
                  </a:rPr>
                  <a:t> </a:t>
                </a:r>
              </a:p>
            </p:txBody>
          </p:sp>
        </mc:Fallback>
      </mc:AlternateContent>
      <p:sp>
        <p:nvSpPr>
          <p:cNvPr id="8" name="TextBox 7">
            <a:extLst>
              <a:ext uri="{FF2B5EF4-FFF2-40B4-BE49-F238E27FC236}">
                <a16:creationId xmlns:a16="http://schemas.microsoft.com/office/drawing/2014/main" id="{61259932-121F-0043-8BE3-3173BC6D8D8B}"/>
              </a:ext>
            </a:extLst>
          </p:cNvPr>
          <p:cNvSpPr txBox="1"/>
          <p:nvPr/>
        </p:nvSpPr>
        <p:spPr>
          <a:xfrm>
            <a:off x="401783" y="2189018"/>
            <a:ext cx="11651672" cy="461665"/>
          </a:xfrm>
          <a:prstGeom prst="rect">
            <a:avLst/>
          </a:prstGeom>
          <a:noFill/>
        </p:spPr>
        <p:txBody>
          <a:bodyPr wrap="square" rtlCol="0">
            <a:spAutoFit/>
          </a:bodyPr>
          <a:lstStyle/>
          <a:p>
            <a:r>
              <a:rPr lang="en-CN" sz="2400" dirty="0"/>
              <a:t>The probability of p[</a:t>
            </a:r>
            <a:r>
              <a:rPr lang="en-CN" sz="2400" dirty="0">
                <a:solidFill>
                  <a:srgbClr val="FF0000"/>
                </a:solidFill>
              </a:rPr>
              <a:t>U</a:t>
            </a:r>
            <a:r>
              <a:rPr lang="en-CN" sz="2400" dirty="0"/>
              <a:t>] is sharply peaked at a most probable energy U*, which minimizes F.</a:t>
            </a:r>
          </a:p>
        </p:txBody>
      </p:sp>
      <p:sp>
        <p:nvSpPr>
          <p:cNvPr id="9" name="TextBox 8">
            <a:extLst>
              <a:ext uri="{FF2B5EF4-FFF2-40B4-BE49-F238E27FC236}">
                <a16:creationId xmlns:a16="http://schemas.microsoft.com/office/drawing/2014/main" id="{415BB09F-D466-9244-8AAD-CEF041642EBE}"/>
              </a:ext>
            </a:extLst>
          </p:cNvPr>
          <p:cNvSpPr txBox="1"/>
          <p:nvPr/>
        </p:nvSpPr>
        <p:spPr>
          <a:xfrm>
            <a:off x="1371601" y="4050179"/>
            <a:ext cx="10030690" cy="1569660"/>
          </a:xfrm>
          <a:prstGeom prst="rect">
            <a:avLst/>
          </a:prstGeom>
          <a:noFill/>
        </p:spPr>
        <p:txBody>
          <a:bodyPr wrap="square" rtlCol="0">
            <a:spAutoFit/>
          </a:bodyPr>
          <a:lstStyle/>
          <a:p>
            <a:r>
              <a:rPr lang="en-US" sz="2400" dirty="0">
                <a:solidFill>
                  <a:srgbClr val="FF0000"/>
                </a:solidFill>
              </a:rPr>
              <a:t>For any finite system, the canonical and microcanonical probabilities are distinct. </a:t>
            </a:r>
            <a:r>
              <a:rPr lang="en-US" sz="2400" dirty="0"/>
              <a:t>However, in the so called thermodynamic limit of </a:t>
            </a:r>
            <a:r>
              <a:rPr lang="en-US" sz="2400" dirty="0">
                <a:solidFill>
                  <a:srgbClr val="FF0000"/>
                </a:solidFill>
              </a:rPr>
              <a:t>N → ∞ </a:t>
            </a:r>
            <a:r>
              <a:rPr lang="en-US" sz="2400" dirty="0"/>
              <a:t>limit, </a:t>
            </a:r>
            <a:r>
              <a:rPr lang="en-US" sz="2400" dirty="0">
                <a:solidFill>
                  <a:srgbClr val="FF0000"/>
                </a:solidFill>
              </a:rPr>
              <a:t>the canonical probabilities are so sharply peaked around the average energy that they are </a:t>
            </a:r>
            <a:r>
              <a:rPr lang="en-US" sz="2400" b="1" dirty="0">
                <a:solidFill>
                  <a:srgbClr val="FF0000"/>
                </a:solidFill>
              </a:rPr>
              <a:t>essentially indistinct </a:t>
            </a:r>
            <a:r>
              <a:rPr lang="en-US" sz="2400" dirty="0">
                <a:solidFill>
                  <a:srgbClr val="FF0000"/>
                </a:solidFill>
              </a:rPr>
              <a:t>from microcanonical probabilities at that energy. </a:t>
            </a:r>
          </a:p>
        </p:txBody>
      </p:sp>
      <p:sp>
        <p:nvSpPr>
          <p:cNvPr id="4" name="TextBox 3">
            <a:extLst>
              <a:ext uri="{FF2B5EF4-FFF2-40B4-BE49-F238E27FC236}">
                <a16:creationId xmlns:a16="http://schemas.microsoft.com/office/drawing/2014/main" id="{014A0C15-E62F-F042-B0F4-004319A8B0E6}"/>
              </a:ext>
            </a:extLst>
          </p:cNvPr>
          <p:cNvSpPr txBox="1"/>
          <p:nvPr/>
        </p:nvSpPr>
        <p:spPr>
          <a:xfrm>
            <a:off x="609600" y="6068294"/>
            <a:ext cx="7205330" cy="369332"/>
          </a:xfrm>
          <a:prstGeom prst="rect">
            <a:avLst/>
          </a:prstGeom>
          <a:noFill/>
        </p:spPr>
        <p:txBody>
          <a:bodyPr wrap="square" rtlCol="0">
            <a:spAutoFit/>
          </a:bodyPr>
          <a:lstStyle/>
          <a:p>
            <a:r>
              <a:rPr lang="en-CN" dirty="0"/>
              <a:t>巨正则</a:t>
            </a:r>
            <a:r>
              <a:rPr lang="zh-CN" altLang="en-US" dirty="0"/>
              <a:t>？？？（给一个信心，后面再讨论之）</a:t>
            </a:r>
            <a:endParaRPr lang="en-CN"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EFDB114-29FE-414E-AE13-FD608D4A2D85}"/>
                  </a:ext>
                </a:extLst>
              </p:cNvPr>
              <p:cNvSpPr txBox="1"/>
              <p:nvPr/>
            </p:nvSpPr>
            <p:spPr>
              <a:xfrm>
                <a:off x="8728363" y="761632"/>
                <a:ext cx="3225799" cy="7523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CN" i="1" smtClean="0">
                              <a:latin typeface="Cambria Math" panose="02040503050406030204" pitchFamily="18" charset="0"/>
                            </a:rPr>
                          </m:ctrlPr>
                        </m:dPr>
                        <m:e>
                          <m:sSup>
                            <m:sSupPr>
                              <m:ctrlPr>
                                <a:rPr lang="en-CN" i="1" smtClean="0">
                                  <a:latin typeface="Cambria Math" panose="02040503050406030204" pitchFamily="18" charset="0"/>
                                </a:rPr>
                              </m:ctrlPr>
                            </m:sSupPr>
                            <m:e>
                              <m:d>
                                <m:dPr>
                                  <m:ctrlPr>
                                    <a:rPr lang="en-CN" i="1" smtClean="0">
                                      <a:latin typeface="Cambria Math" panose="02040503050406030204" pitchFamily="18" charset="0"/>
                                    </a:rPr>
                                  </m:ctrlPr>
                                </m:dPr>
                                <m:e>
                                  <m:r>
                                    <a:rPr lang="en-CN"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𝜀</m:t>
                                      </m:r>
                                    </m:e>
                                  </m:d>
                                </m:e>
                              </m:d>
                            </m:e>
                            <m:sup>
                              <m:r>
                                <a:rPr lang="en-US" b="0" i="1" smtClean="0">
                                  <a:latin typeface="Cambria Math" panose="02040503050406030204" pitchFamily="18" charset="0"/>
                                </a:rPr>
                                <m:t>2</m:t>
                              </m:r>
                            </m:sup>
                          </m:sSup>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𝜏</m:t>
                          </m:r>
                        </m:e>
                        <m:sup>
                          <m:r>
                            <a:rPr lang="en-US" b="0" i="1" smtClean="0">
                              <a:latin typeface="Cambria Math" panose="02040503050406030204" pitchFamily="18" charset="0"/>
                            </a:rPr>
                            <m:t>2</m:t>
                          </m:r>
                        </m:sup>
                      </m:sSup>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𝜀</m:t>
                                      </m:r>
                                    </m:e>
                                  </m:d>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𝜏</m:t>
                                  </m:r>
                                </m:den>
                              </m:f>
                            </m:e>
                          </m:d>
                        </m:e>
                        <m:sub>
                          <m:r>
                            <a:rPr lang="en-US" b="0" i="1" smtClean="0">
                              <a:latin typeface="Cambria Math" panose="02040503050406030204" pitchFamily="18" charset="0"/>
                            </a:rPr>
                            <m:t>𝑉</m:t>
                          </m:r>
                        </m:sub>
                      </m:sSub>
                    </m:oMath>
                  </m:oMathPara>
                </a14:m>
                <a:endParaRPr lang="en-CN" dirty="0"/>
              </a:p>
            </p:txBody>
          </p:sp>
        </mc:Choice>
        <mc:Fallback xmlns="">
          <p:sp>
            <p:nvSpPr>
              <p:cNvPr id="10" name="TextBox 9">
                <a:extLst>
                  <a:ext uri="{FF2B5EF4-FFF2-40B4-BE49-F238E27FC236}">
                    <a16:creationId xmlns:a16="http://schemas.microsoft.com/office/drawing/2014/main" id="{3EFDB114-29FE-414E-AE13-FD608D4A2D85}"/>
                  </a:ext>
                </a:extLst>
              </p:cNvPr>
              <p:cNvSpPr txBox="1">
                <a:spLocks noRot="1" noChangeAspect="1" noMove="1" noResize="1" noEditPoints="1" noAdjustHandles="1" noChangeArrowheads="1" noChangeShapeType="1" noTextEdit="1"/>
              </p:cNvSpPr>
              <p:nvPr/>
            </p:nvSpPr>
            <p:spPr>
              <a:xfrm>
                <a:off x="8728363" y="761632"/>
                <a:ext cx="3225799" cy="752385"/>
              </a:xfrm>
              <a:prstGeom prst="rect">
                <a:avLst/>
              </a:prstGeom>
              <a:blipFill>
                <a:blip r:embed="rId4"/>
                <a:stretch>
                  <a:fillRect b="-1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5B133E3-F28F-1B48-8474-62C5A94B1875}"/>
                  </a:ext>
                </a:extLst>
              </p:cNvPr>
              <p:cNvSpPr txBox="1"/>
              <p:nvPr/>
            </p:nvSpPr>
            <p:spPr>
              <a:xfrm>
                <a:off x="2618508" y="2859384"/>
                <a:ext cx="7079673" cy="8989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𝑝</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𝑈</m:t>
                          </m:r>
                        </m:e>
                      </m:d>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𝑍</m:t>
                          </m:r>
                        </m:den>
                      </m:f>
                      <m:r>
                        <a:rPr lang="en-US" sz="2800" b="0" i="1" smtClean="0">
                          <a:latin typeface="Cambria Math" panose="02040503050406030204" pitchFamily="18" charset="0"/>
                        </a:rPr>
                        <m:t> </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𝑒</m:t>
                          </m:r>
                        </m:e>
                        <m:sup>
                          <m:r>
                            <a:rPr lang="en-US" sz="2800" b="0" i="1" smtClean="0">
                              <a:latin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𝛽</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𝐹</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𝑈</m:t>
                          </m:r>
                          <m:r>
                            <a:rPr lang="en-US" sz="2800" b="0" i="1" smtClean="0">
                              <a:latin typeface="Cambria Math" panose="02040503050406030204" pitchFamily="18" charset="0"/>
                              <a:ea typeface="Cambria Math" panose="02040503050406030204" pitchFamily="18" charset="0"/>
                            </a:rPr>
                            <m:t>]</m:t>
                          </m:r>
                        </m:sup>
                      </m:sSup>
                      <m:r>
                        <a:rPr lang="en-US" sz="2800" b="0" i="1" smtClean="0">
                          <a:latin typeface="Cambria Math" panose="02040503050406030204" pitchFamily="18" charset="0"/>
                          <a:ea typeface="Cambria Math" panose="02040503050406030204" pitchFamily="18" charset="0"/>
                        </a:rPr>
                        <m:t>≈</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𝑒</m:t>
                          </m:r>
                        </m:e>
                        <m:sup>
                          <m:r>
                            <a:rPr lang="en-US" sz="2800" b="0" i="1" smtClean="0">
                              <a:solidFill>
                                <a:srgbClr val="7030A0"/>
                              </a:solidFill>
                              <a:latin typeface="Cambria Math" panose="02040503050406030204" pitchFamily="18" charset="0"/>
                              <a:ea typeface="Cambria Math" panose="02040503050406030204" pitchFamily="18" charset="0"/>
                            </a:rPr>
                            <m:t>−(</m:t>
                          </m:r>
                          <m:r>
                            <a:rPr lang="en-US" sz="2800" b="0" i="1" smtClean="0">
                              <a:solidFill>
                                <a:srgbClr val="7030A0"/>
                              </a:solidFill>
                              <a:latin typeface="Cambria Math" panose="02040503050406030204" pitchFamily="18" charset="0"/>
                              <a:ea typeface="Cambria Math" panose="02040503050406030204" pitchFamily="18" charset="0"/>
                            </a:rPr>
                            <m:t>𝑈</m:t>
                          </m:r>
                          <m:r>
                            <a:rPr lang="en-US" sz="2800" b="0" i="1" smtClean="0">
                              <a:solidFill>
                                <a:srgbClr val="7030A0"/>
                              </a:solidFill>
                              <a:latin typeface="Cambria Math" panose="02040503050406030204" pitchFamily="18" charset="0"/>
                              <a:ea typeface="Cambria Math" panose="02040503050406030204" pitchFamily="18" charset="0"/>
                            </a:rPr>
                            <m:t>−</m:t>
                          </m:r>
                          <m:d>
                            <m:dPr>
                              <m:begChr m:val="⟨"/>
                              <m:endChr m:val="⟩"/>
                              <m:ctrlPr>
                                <a:rPr lang="en-US" sz="2800" b="0" i="1" smtClean="0">
                                  <a:solidFill>
                                    <a:srgbClr val="7030A0"/>
                                  </a:solidFill>
                                  <a:latin typeface="Cambria Math" panose="02040503050406030204" pitchFamily="18" charset="0"/>
                                  <a:ea typeface="Cambria Math" panose="02040503050406030204" pitchFamily="18" charset="0"/>
                                </a:rPr>
                              </m:ctrlPr>
                            </m:dPr>
                            <m:e>
                              <m:r>
                                <a:rPr lang="en-US" sz="2800" b="0" i="1" smtClean="0">
                                  <a:solidFill>
                                    <a:srgbClr val="7030A0"/>
                                  </a:solidFill>
                                  <a:latin typeface="Cambria Math" panose="02040503050406030204" pitchFamily="18" charset="0"/>
                                  <a:ea typeface="Cambria Math" panose="02040503050406030204" pitchFamily="18" charset="0"/>
                                </a:rPr>
                                <m:t>𝜀</m:t>
                              </m:r>
                            </m:e>
                          </m:d>
                          <m:r>
                            <a:rPr lang="en-US" sz="2800" b="0" i="1" smtClean="0">
                              <a:solidFill>
                                <a:srgbClr val="7030A0"/>
                              </a:solidFill>
                              <a:latin typeface="Cambria Math" panose="02040503050406030204" pitchFamily="18" charset="0"/>
                              <a:ea typeface="Cambria Math" panose="02040503050406030204" pitchFamily="18" charset="0"/>
                            </a:rPr>
                            <m:t>)/2</m:t>
                          </m:r>
                          <m:sSup>
                            <m:sSupPr>
                              <m:ctrlPr>
                                <a:rPr lang="en-US" sz="2800" b="0" i="1" smtClean="0">
                                  <a:solidFill>
                                    <a:srgbClr val="7030A0"/>
                                  </a:solidFill>
                                  <a:latin typeface="Cambria Math" panose="02040503050406030204" pitchFamily="18" charset="0"/>
                                  <a:ea typeface="Cambria Math" panose="02040503050406030204" pitchFamily="18" charset="0"/>
                                </a:rPr>
                              </m:ctrlPr>
                            </m:sSupPr>
                            <m:e>
                              <m:r>
                                <a:rPr lang="en-US" sz="2800" b="0" i="1" smtClean="0">
                                  <a:solidFill>
                                    <a:srgbClr val="7030A0"/>
                                  </a:solidFill>
                                  <a:latin typeface="Cambria Math" panose="02040503050406030204" pitchFamily="18" charset="0"/>
                                  <a:ea typeface="Cambria Math" panose="02040503050406030204" pitchFamily="18" charset="0"/>
                                </a:rPr>
                                <m:t>𝜏</m:t>
                              </m:r>
                            </m:e>
                            <m:sup>
                              <m:r>
                                <a:rPr lang="en-US" sz="2800" b="0" i="1" smtClean="0">
                                  <a:solidFill>
                                    <a:srgbClr val="7030A0"/>
                                  </a:solidFill>
                                  <a:latin typeface="Cambria Math" panose="02040503050406030204" pitchFamily="18" charset="0"/>
                                  <a:ea typeface="Cambria Math" panose="02040503050406030204" pitchFamily="18" charset="0"/>
                                </a:rPr>
                                <m:t>2</m:t>
                              </m:r>
                            </m:sup>
                          </m:sSup>
                          <m:sSub>
                            <m:sSubPr>
                              <m:ctrlPr>
                                <a:rPr lang="en-US" sz="2800" b="0" i="1" smtClean="0">
                                  <a:solidFill>
                                    <a:srgbClr val="7030A0"/>
                                  </a:solidFill>
                                  <a:latin typeface="Cambria Math" panose="02040503050406030204" pitchFamily="18" charset="0"/>
                                  <a:ea typeface="Cambria Math" panose="02040503050406030204" pitchFamily="18" charset="0"/>
                                </a:rPr>
                              </m:ctrlPr>
                            </m:sSubPr>
                            <m:e>
                              <m:r>
                                <a:rPr lang="en-US" sz="2800" b="0" i="1" smtClean="0">
                                  <a:solidFill>
                                    <a:srgbClr val="7030A0"/>
                                  </a:solidFill>
                                  <a:latin typeface="Cambria Math" panose="02040503050406030204" pitchFamily="18" charset="0"/>
                                  <a:ea typeface="Cambria Math" panose="02040503050406030204" pitchFamily="18" charset="0"/>
                                </a:rPr>
                                <m:t>𝐶</m:t>
                              </m:r>
                            </m:e>
                            <m:sub>
                              <m:r>
                                <a:rPr lang="en-US" sz="2800" b="0" i="1" smtClean="0">
                                  <a:solidFill>
                                    <a:srgbClr val="7030A0"/>
                                  </a:solidFill>
                                  <a:latin typeface="Cambria Math" panose="02040503050406030204" pitchFamily="18" charset="0"/>
                                  <a:ea typeface="Cambria Math" panose="02040503050406030204" pitchFamily="18" charset="0"/>
                                </a:rPr>
                                <m:t>𝑉</m:t>
                              </m:r>
                            </m:sub>
                          </m:sSub>
                        </m:sup>
                      </m:sSup>
                    </m:oMath>
                  </m:oMathPara>
                </a14:m>
                <a:endParaRPr lang="en-CN" sz="2800" dirty="0"/>
              </a:p>
            </p:txBody>
          </p:sp>
        </mc:Choice>
        <mc:Fallback xmlns="">
          <p:sp>
            <p:nvSpPr>
              <p:cNvPr id="6" name="TextBox 5">
                <a:extLst>
                  <a:ext uri="{FF2B5EF4-FFF2-40B4-BE49-F238E27FC236}">
                    <a16:creationId xmlns:a16="http://schemas.microsoft.com/office/drawing/2014/main" id="{05B133E3-F28F-1B48-8474-62C5A94B1875}"/>
                  </a:ext>
                </a:extLst>
              </p:cNvPr>
              <p:cNvSpPr txBox="1">
                <a:spLocks noRot="1" noChangeAspect="1" noMove="1" noResize="1" noEditPoints="1" noAdjustHandles="1" noChangeArrowheads="1" noChangeShapeType="1" noTextEdit="1"/>
              </p:cNvSpPr>
              <p:nvPr/>
            </p:nvSpPr>
            <p:spPr>
              <a:xfrm>
                <a:off x="2618508" y="2859384"/>
                <a:ext cx="7079673" cy="898964"/>
              </a:xfrm>
              <a:prstGeom prst="rect">
                <a:avLst/>
              </a:prstGeom>
              <a:blipFill>
                <a:blip r:embed="rId5"/>
                <a:stretch>
                  <a:fillRect b="-5556"/>
                </a:stretch>
              </a:blipFill>
            </p:spPr>
            <p:txBody>
              <a:bodyPr/>
              <a:lstStyle/>
              <a:p>
                <a:r>
                  <a:rPr lang="en-CN">
                    <a:noFill/>
                  </a:rPr>
                  <a:t> </a:t>
                </a:r>
              </a:p>
            </p:txBody>
          </p:sp>
        </mc:Fallback>
      </mc:AlternateContent>
    </p:spTree>
    <p:extLst>
      <p:ext uri="{BB962C8B-B14F-4D97-AF65-F5344CB8AC3E}">
        <p14:creationId xmlns:p14="http://schemas.microsoft.com/office/powerpoint/2010/main" val="23310628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Table 3">
                <a:extLst>
                  <a:ext uri="{FF2B5EF4-FFF2-40B4-BE49-F238E27FC236}">
                    <a16:creationId xmlns:a16="http://schemas.microsoft.com/office/drawing/2014/main" id="{75B34921-B5F0-DB49-B4AC-156190B298FC}"/>
                  </a:ext>
                </a:extLst>
              </p:cNvPr>
              <p:cNvGraphicFramePr>
                <a:graphicFrameLocks noGrp="1"/>
              </p:cNvGraphicFramePr>
              <p:nvPr>
                <p:extLst>
                  <p:ext uri="{D42A27DB-BD31-4B8C-83A1-F6EECF244321}">
                    <p14:modId xmlns:p14="http://schemas.microsoft.com/office/powerpoint/2010/main" val="1816155769"/>
                  </p:ext>
                </p:extLst>
              </p:nvPr>
            </p:nvGraphicFramePr>
            <p:xfrm>
              <a:off x="1699486" y="1564790"/>
              <a:ext cx="9093200" cy="3159608"/>
            </p:xfrm>
            <a:graphic>
              <a:graphicData uri="http://schemas.openxmlformats.org/drawingml/2006/table">
                <a:tbl>
                  <a:tblPr firstRow="1" bandRow="1">
                    <a:tableStyleId>{5C22544A-7EE6-4342-B048-85BDC9FD1C3A}</a:tableStyleId>
                  </a:tblPr>
                  <a:tblGrid>
                    <a:gridCol w="2273300">
                      <a:extLst>
                        <a:ext uri="{9D8B030D-6E8A-4147-A177-3AD203B41FA5}">
                          <a16:colId xmlns:a16="http://schemas.microsoft.com/office/drawing/2014/main" val="1881081285"/>
                        </a:ext>
                      </a:extLst>
                    </a:gridCol>
                    <a:gridCol w="2273300">
                      <a:extLst>
                        <a:ext uri="{9D8B030D-6E8A-4147-A177-3AD203B41FA5}">
                          <a16:colId xmlns:a16="http://schemas.microsoft.com/office/drawing/2014/main" val="1242995189"/>
                        </a:ext>
                      </a:extLst>
                    </a:gridCol>
                    <a:gridCol w="2273300">
                      <a:extLst>
                        <a:ext uri="{9D8B030D-6E8A-4147-A177-3AD203B41FA5}">
                          <a16:colId xmlns:a16="http://schemas.microsoft.com/office/drawing/2014/main" val="3250826949"/>
                        </a:ext>
                      </a:extLst>
                    </a:gridCol>
                    <a:gridCol w="2273300">
                      <a:extLst>
                        <a:ext uri="{9D8B030D-6E8A-4147-A177-3AD203B41FA5}">
                          <a16:colId xmlns:a16="http://schemas.microsoft.com/office/drawing/2014/main" val="3979781198"/>
                        </a:ext>
                      </a:extLst>
                    </a:gridCol>
                  </a:tblGrid>
                  <a:tr h="789902">
                    <a:tc>
                      <a:txBody>
                        <a:bodyPr/>
                        <a:lstStyle/>
                        <a:p>
                          <a:endParaRPr lang="en-C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𝝈</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𝑼</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𝑼</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𝝈</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𝑭</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𝝉</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5300713"/>
                      </a:ext>
                    </a:extLst>
                  </a:tr>
                  <a:tr h="789902">
                    <a:tc>
                      <a:txBody>
                        <a:bodyPr/>
                        <a:lstStyle/>
                        <a:p>
                          <a:pPr algn="ctr"/>
                          <a:endParaRPr lang="en-CN"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𝜏</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C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249"/>
                      </a:ext>
                    </a:extLst>
                  </a:tr>
                  <a:tr h="789902">
                    <a:tc>
                      <a:txBody>
                        <a:bodyPr/>
                        <a:lstStyle/>
                        <a:p>
                          <a:pPr algn="ctr"/>
                          <a:endParaRPr lang="en-US" b="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C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6354381"/>
                      </a:ext>
                    </a:extLst>
                  </a:tr>
                  <a:tr h="789902">
                    <a:tc>
                      <a:txBody>
                        <a:bodyPr/>
                        <a:lstStyle/>
                        <a:p>
                          <a:pPr algn="ctr"/>
                          <a:endParaRPr lang="en-CN"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𝜇</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endParaRPr lang="en-CN" b="1"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5672016"/>
                      </a:ext>
                    </a:extLst>
                  </a:tr>
                </a:tbl>
              </a:graphicData>
            </a:graphic>
          </p:graphicFrame>
        </mc:Choice>
        <mc:Fallback xmlns="">
          <p:graphicFrame>
            <p:nvGraphicFramePr>
              <p:cNvPr id="2" name="Table 3">
                <a:extLst>
                  <a:ext uri="{FF2B5EF4-FFF2-40B4-BE49-F238E27FC236}">
                    <a16:creationId xmlns:a16="http://schemas.microsoft.com/office/drawing/2014/main" id="{75B34921-B5F0-DB49-B4AC-156190B298FC}"/>
                  </a:ext>
                </a:extLst>
              </p:cNvPr>
              <p:cNvGraphicFramePr>
                <a:graphicFrameLocks noGrp="1"/>
              </p:cNvGraphicFramePr>
              <p:nvPr>
                <p:extLst>
                  <p:ext uri="{D42A27DB-BD31-4B8C-83A1-F6EECF244321}">
                    <p14:modId xmlns:p14="http://schemas.microsoft.com/office/powerpoint/2010/main" val="1816155769"/>
                  </p:ext>
                </p:extLst>
              </p:nvPr>
            </p:nvGraphicFramePr>
            <p:xfrm>
              <a:off x="1699486" y="1564790"/>
              <a:ext cx="9093200" cy="3159608"/>
            </p:xfrm>
            <a:graphic>
              <a:graphicData uri="http://schemas.openxmlformats.org/drawingml/2006/table">
                <a:tbl>
                  <a:tblPr firstRow="1" bandRow="1">
                    <a:tableStyleId>{5C22544A-7EE6-4342-B048-85BDC9FD1C3A}</a:tableStyleId>
                  </a:tblPr>
                  <a:tblGrid>
                    <a:gridCol w="2273300">
                      <a:extLst>
                        <a:ext uri="{9D8B030D-6E8A-4147-A177-3AD203B41FA5}">
                          <a16:colId xmlns:a16="http://schemas.microsoft.com/office/drawing/2014/main" val="1881081285"/>
                        </a:ext>
                      </a:extLst>
                    </a:gridCol>
                    <a:gridCol w="2273300">
                      <a:extLst>
                        <a:ext uri="{9D8B030D-6E8A-4147-A177-3AD203B41FA5}">
                          <a16:colId xmlns:a16="http://schemas.microsoft.com/office/drawing/2014/main" val="1242995189"/>
                        </a:ext>
                      </a:extLst>
                    </a:gridCol>
                    <a:gridCol w="2273300">
                      <a:extLst>
                        <a:ext uri="{9D8B030D-6E8A-4147-A177-3AD203B41FA5}">
                          <a16:colId xmlns:a16="http://schemas.microsoft.com/office/drawing/2014/main" val="3250826949"/>
                        </a:ext>
                      </a:extLst>
                    </a:gridCol>
                    <a:gridCol w="2273300">
                      <a:extLst>
                        <a:ext uri="{9D8B030D-6E8A-4147-A177-3AD203B41FA5}">
                          <a16:colId xmlns:a16="http://schemas.microsoft.com/office/drawing/2014/main" val="3979781198"/>
                        </a:ext>
                      </a:extLst>
                    </a:gridCol>
                  </a:tblGrid>
                  <a:tr h="789902">
                    <a:tc>
                      <a:txBody>
                        <a:bodyPr/>
                        <a:lstStyle/>
                        <a:p>
                          <a:endParaRPr lang="en-C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444" t="-1613" r="-199444" b="-3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559" t="-1613" r="-100559" b="-3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0559" t="-1613" r="-559" b="-303226"/>
                          </a:stretch>
                        </a:blipFill>
                      </a:tcPr>
                    </a:tc>
                    <a:extLst>
                      <a:ext uri="{0D108BD9-81ED-4DB2-BD59-A6C34878D82A}">
                        <a16:rowId xmlns:a16="http://schemas.microsoft.com/office/drawing/2014/main" val="1475300713"/>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100000" r="-301117" b="-198413"/>
                          </a:stretch>
                        </a:blipFill>
                      </a:tcPr>
                    </a:tc>
                    <a:tc>
                      <a:txBody>
                        <a:bodyPr/>
                        <a:lstStyle/>
                        <a:p>
                          <a:pPr algn="ctr"/>
                          <a:endParaRPr lang="en-C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249"/>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203226" r="-301117" b="-101613"/>
                          </a:stretch>
                        </a:blipFill>
                      </a:tcPr>
                    </a:tc>
                    <a:tc>
                      <a:txBody>
                        <a:bodyPr/>
                        <a:lstStyle/>
                        <a:p>
                          <a:endParaRPr lang="en-C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C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6354381"/>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t="-303226" r="-301117" b="-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endParaRPr lang="en-CN" b="1"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5672016"/>
                      </a:ext>
                    </a:extLst>
                  </a:tr>
                </a:tbl>
              </a:graphicData>
            </a:graphic>
          </p:graphicFrame>
        </mc:Fallback>
      </mc:AlternateContent>
      <p:sp>
        <p:nvSpPr>
          <p:cNvPr id="3" name="TextBox 2">
            <a:extLst>
              <a:ext uri="{FF2B5EF4-FFF2-40B4-BE49-F238E27FC236}">
                <a16:creationId xmlns:a16="http://schemas.microsoft.com/office/drawing/2014/main" id="{518B48F1-F2F2-7146-B820-87B1CAEB2F0F}"/>
              </a:ext>
            </a:extLst>
          </p:cNvPr>
          <p:cNvSpPr txBox="1"/>
          <p:nvPr/>
        </p:nvSpPr>
        <p:spPr>
          <a:xfrm>
            <a:off x="401782" y="221673"/>
            <a:ext cx="3713018" cy="707886"/>
          </a:xfrm>
          <a:prstGeom prst="rect">
            <a:avLst/>
          </a:prstGeom>
          <a:noFill/>
        </p:spPr>
        <p:txBody>
          <a:bodyPr wrap="square" rtlCol="0">
            <a:spAutoFit/>
          </a:bodyPr>
          <a:lstStyle/>
          <a:p>
            <a:r>
              <a:rPr lang="en-CN" sz="4000" dirty="0"/>
              <a:t>热力学关系</a:t>
            </a:r>
          </a:p>
        </p:txBody>
      </p:sp>
    </p:spTree>
    <p:extLst>
      <p:ext uri="{BB962C8B-B14F-4D97-AF65-F5344CB8AC3E}">
        <p14:creationId xmlns:p14="http://schemas.microsoft.com/office/powerpoint/2010/main" val="1516853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Table 3">
                <a:extLst>
                  <a:ext uri="{FF2B5EF4-FFF2-40B4-BE49-F238E27FC236}">
                    <a16:creationId xmlns:a16="http://schemas.microsoft.com/office/drawing/2014/main" id="{75B34921-B5F0-DB49-B4AC-156190B298FC}"/>
                  </a:ext>
                </a:extLst>
              </p:cNvPr>
              <p:cNvGraphicFramePr>
                <a:graphicFrameLocks noGrp="1"/>
              </p:cNvGraphicFramePr>
              <p:nvPr>
                <p:extLst>
                  <p:ext uri="{D42A27DB-BD31-4B8C-83A1-F6EECF244321}">
                    <p14:modId xmlns:p14="http://schemas.microsoft.com/office/powerpoint/2010/main" val="3495437525"/>
                  </p:ext>
                </p:extLst>
              </p:nvPr>
            </p:nvGraphicFramePr>
            <p:xfrm>
              <a:off x="1699486" y="1564790"/>
              <a:ext cx="9093200" cy="3159608"/>
            </p:xfrm>
            <a:graphic>
              <a:graphicData uri="http://schemas.openxmlformats.org/drawingml/2006/table">
                <a:tbl>
                  <a:tblPr firstRow="1" bandRow="1">
                    <a:tableStyleId>{5C22544A-7EE6-4342-B048-85BDC9FD1C3A}</a:tableStyleId>
                  </a:tblPr>
                  <a:tblGrid>
                    <a:gridCol w="2273300">
                      <a:extLst>
                        <a:ext uri="{9D8B030D-6E8A-4147-A177-3AD203B41FA5}">
                          <a16:colId xmlns:a16="http://schemas.microsoft.com/office/drawing/2014/main" val="1881081285"/>
                        </a:ext>
                      </a:extLst>
                    </a:gridCol>
                    <a:gridCol w="2273300">
                      <a:extLst>
                        <a:ext uri="{9D8B030D-6E8A-4147-A177-3AD203B41FA5}">
                          <a16:colId xmlns:a16="http://schemas.microsoft.com/office/drawing/2014/main" val="1242995189"/>
                        </a:ext>
                      </a:extLst>
                    </a:gridCol>
                    <a:gridCol w="2273300">
                      <a:extLst>
                        <a:ext uri="{9D8B030D-6E8A-4147-A177-3AD203B41FA5}">
                          <a16:colId xmlns:a16="http://schemas.microsoft.com/office/drawing/2014/main" val="3250826949"/>
                        </a:ext>
                      </a:extLst>
                    </a:gridCol>
                    <a:gridCol w="2273300">
                      <a:extLst>
                        <a:ext uri="{9D8B030D-6E8A-4147-A177-3AD203B41FA5}">
                          <a16:colId xmlns:a16="http://schemas.microsoft.com/office/drawing/2014/main" val="3979781198"/>
                        </a:ext>
                      </a:extLst>
                    </a:gridCol>
                  </a:tblGrid>
                  <a:tr h="789902">
                    <a:tc>
                      <a:txBody>
                        <a:bodyPr/>
                        <a:lstStyle/>
                        <a:p>
                          <a:endParaRPr lang="en-C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𝝈</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𝑼</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𝑼</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𝝈</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𝑭</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𝝉</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5300713"/>
                      </a:ext>
                    </a:extLst>
                  </a:tr>
                  <a:tr h="789902">
                    <a:tc>
                      <a:txBody>
                        <a:bodyPr/>
                        <a:lstStyle/>
                        <a:p>
                          <a:pPr algn="ctr"/>
                          <a:endParaRPr lang="en-CN"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𝜏</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CN" b="1" i="1" smtClean="0">
                                        <a:latin typeface="Cambria Math" panose="02040503050406030204" pitchFamily="18" charset="0"/>
                                      </a:rPr>
                                    </m:ctrlPr>
                                  </m:fPr>
                                  <m:num>
                                    <m:r>
                                      <a:rPr lang="en-US" b="1" i="1" smtClean="0">
                                        <a:latin typeface="Cambria Math" panose="02040503050406030204" pitchFamily="18" charset="0"/>
                                      </a:rPr>
                                      <m:t>𝟏</m:t>
                                    </m:r>
                                  </m:num>
                                  <m:den>
                                    <m:r>
                                      <a:rPr lang="en-CN" b="1" i="1" smtClean="0">
                                        <a:latin typeface="Cambria Math" panose="02040503050406030204" pitchFamily="18" charset="0"/>
                                        <a:ea typeface="Cambria Math" panose="02040503050406030204" pitchFamily="18" charset="0"/>
                                      </a:rPr>
                                      <m:t>𝝉</m:t>
                                    </m:r>
                                  </m:den>
                                </m:f>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d>
                                      <m:dPr>
                                        <m:ctrlPr>
                                          <a:rPr lang="en-US" b="1" i="1" smtClean="0">
                                            <a:latin typeface="Cambria Math" panose="02040503050406030204" pitchFamily="18" charset="0"/>
                                          </a:rPr>
                                        </m:ctrlPr>
                                      </m:dPr>
                                      <m:e>
                                        <m:f>
                                          <m:fPr>
                                            <m:ctrlPr>
                                              <a:rPr lang="en-US" b="1" i="1" smtClean="0">
                                                <a:latin typeface="Cambria Math" panose="02040503050406030204" pitchFamily="18" charset="0"/>
                                              </a:rPr>
                                            </m:ctrlPr>
                                          </m:fPr>
                                          <m:num>
                                            <m:r>
                                              <a:rPr lang="en-US" b="1" i="1" smtClean="0">
                                                <a:latin typeface="Cambria Math" panose="02040503050406030204" pitchFamily="18" charset="0"/>
                                              </a:rPr>
                                              <m:t>𝝏</m:t>
                                            </m:r>
                                            <m:r>
                                              <a:rPr lang="en-US" b="1" i="1" smtClean="0">
                                                <a:latin typeface="Cambria Math" panose="02040503050406030204" pitchFamily="18" charset="0"/>
                                              </a:rPr>
                                              <m:t> </m:t>
                                            </m:r>
                                            <m:r>
                                              <a:rPr lang="en-US" b="1" i="1" smtClean="0">
                                                <a:latin typeface="Cambria Math" panose="02040503050406030204" pitchFamily="18" charset="0"/>
                                                <a:ea typeface="Cambria Math" panose="02040503050406030204" pitchFamily="18" charset="0"/>
                                              </a:rPr>
                                              <m:t>𝝈</m:t>
                                            </m:r>
                                          </m:num>
                                          <m:den>
                                            <m:r>
                                              <a:rPr lang="en-US" b="1" i="1" smtClean="0">
                                                <a:latin typeface="Cambria Math" panose="02040503050406030204" pitchFamily="18" charset="0"/>
                                              </a:rPr>
                                              <m:t>𝝏</m:t>
                                            </m:r>
                                            <m:r>
                                              <a:rPr lang="en-US" b="1" i="1" smtClean="0">
                                                <a:latin typeface="Cambria Math" panose="02040503050406030204" pitchFamily="18" charset="0"/>
                                              </a:rPr>
                                              <m:t> </m:t>
                                            </m:r>
                                            <m:r>
                                              <a:rPr lang="en-US" b="1" i="1" smtClean="0">
                                                <a:latin typeface="Cambria Math" panose="02040503050406030204" pitchFamily="18" charset="0"/>
                                              </a:rPr>
                                              <m:t>𝑼</m:t>
                                            </m:r>
                                          </m:den>
                                        </m:f>
                                      </m:e>
                                    </m:d>
                                  </m:e>
                                  <m:sub>
                                    <m:r>
                                      <a:rPr lang="en-US" b="1" i="1" smtClean="0">
                                        <a:latin typeface="Cambria Math" panose="02040503050406030204" pitchFamily="18" charset="0"/>
                                      </a:rPr>
                                      <m:t>𝑽</m:t>
                                    </m:r>
                                    <m:r>
                                      <a:rPr lang="en-US" b="1" i="1" smtClean="0">
                                        <a:latin typeface="Cambria Math" panose="02040503050406030204" pitchFamily="18" charset="0"/>
                                      </a:rPr>
                                      <m:t>,</m:t>
                                    </m:r>
                                    <m:r>
                                      <a:rPr lang="en-US" b="1" i="1" smtClean="0">
                                        <a:latin typeface="Cambria Math" panose="02040503050406030204" pitchFamily="18" charset="0"/>
                                      </a:rPr>
                                      <m:t>𝑵</m:t>
                                    </m:r>
                                  </m:sub>
                                </m:sSub>
                              </m:oMath>
                            </m:oMathPara>
                          </a14:m>
                          <a:endParaRPr lang="en-C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249"/>
                      </a:ext>
                    </a:extLst>
                  </a:tr>
                  <a:tr h="789902">
                    <a:tc>
                      <a:txBody>
                        <a:bodyPr/>
                        <a:lstStyle/>
                        <a:p>
                          <a:pPr algn="ctr"/>
                          <a:endParaRPr lang="en-US" b="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r>
                                  <a:rPr lang="en-US" b="1" i="1" smtClean="0">
                                    <a:latin typeface="Cambria Math" panose="02040503050406030204" pitchFamily="18" charset="0"/>
                                  </a:rPr>
                                  <m:t>𝒑</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d>
                                      <m:dPr>
                                        <m:ctrlPr>
                                          <a:rPr lang="en-US" b="1" i="1" smtClean="0">
                                            <a:latin typeface="Cambria Math" panose="02040503050406030204" pitchFamily="18" charset="0"/>
                                          </a:rPr>
                                        </m:ctrlPr>
                                      </m:dPr>
                                      <m:e>
                                        <m:f>
                                          <m:fPr>
                                            <m:ctrlPr>
                                              <a:rPr lang="en-US" b="1" i="1" smtClean="0">
                                                <a:latin typeface="Cambria Math" panose="02040503050406030204" pitchFamily="18" charset="0"/>
                                              </a:rPr>
                                            </m:ctrlPr>
                                          </m:fPr>
                                          <m:num>
                                            <m:r>
                                              <a:rPr lang="en-US" b="1" i="1" smtClean="0">
                                                <a:latin typeface="Cambria Math" panose="02040503050406030204" pitchFamily="18" charset="0"/>
                                              </a:rPr>
                                              <m:t>𝝏</m:t>
                                            </m:r>
                                            <m:r>
                                              <a:rPr lang="en-US" b="1" i="1" smtClean="0">
                                                <a:latin typeface="Cambria Math" panose="02040503050406030204" pitchFamily="18" charset="0"/>
                                              </a:rPr>
                                              <m:t> </m:t>
                                            </m:r>
                                            <m:r>
                                              <a:rPr lang="en-US" b="1" i="1" smtClean="0">
                                                <a:latin typeface="Cambria Math" panose="02040503050406030204" pitchFamily="18" charset="0"/>
                                              </a:rPr>
                                              <m:t>𝑼</m:t>
                                            </m:r>
                                          </m:num>
                                          <m:den>
                                            <m:r>
                                              <a:rPr lang="en-US" b="1" i="1" smtClean="0">
                                                <a:latin typeface="Cambria Math" panose="02040503050406030204" pitchFamily="18" charset="0"/>
                                              </a:rPr>
                                              <m:t>𝝏</m:t>
                                            </m:r>
                                            <m:r>
                                              <a:rPr lang="en-US" b="1" i="1" smtClean="0">
                                                <a:latin typeface="Cambria Math" panose="02040503050406030204" pitchFamily="18" charset="0"/>
                                              </a:rPr>
                                              <m:t> </m:t>
                                            </m:r>
                                            <m:r>
                                              <a:rPr lang="en-US" b="1" i="1" smtClean="0">
                                                <a:latin typeface="Cambria Math" panose="02040503050406030204" pitchFamily="18" charset="0"/>
                                              </a:rPr>
                                              <m:t>𝑽</m:t>
                                            </m:r>
                                          </m:den>
                                        </m:f>
                                      </m:e>
                                    </m:d>
                                  </m:e>
                                  <m:sub>
                                    <m:r>
                                      <a:rPr lang="en-US" b="1" i="1" smtClean="0">
                                        <a:latin typeface="Cambria Math" panose="02040503050406030204" pitchFamily="18" charset="0"/>
                                        <a:ea typeface="Cambria Math" panose="02040503050406030204" pitchFamily="18" charset="0"/>
                                      </a:rPr>
                                      <m:t>𝝈</m:t>
                                    </m:r>
                                    <m:r>
                                      <a:rPr lang="en-US" b="1" i="1" smtClean="0">
                                        <a:latin typeface="Cambria Math" panose="02040503050406030204" pitchFamily="18" charset="0"/>
                                      </a:rPr>
                                      <m:t>,</m:t>
                                    </m:r>
                                    <m:r>
                                      <a:rPr lang="en-US" b="1" i="1" smtClean="0">
                                        <a:latin typeface="Cambria Math" panose="02040503050406030204" pitchFamily="18" charset="0"/>
                                      </a:rPr>
                                      <m:t>𝑵</m:t>
                                    </m:r>
                                  </m:sub>
                                </m:sSub>
                              </m:oMath>
                            </m:oMathPara>
                          </a14:m>
                          <a:endParaRPr lang="en-C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6354381"/>
                      </a:ext>
                    </a:extLst>
                  </a:tr>
                  <a:tr h="789902">
                    <a:tc>
                      <a:txBody>
                        <a:bodyPr/>
                        <a:lstStyle/>
                        <a:p>
                          <a:pPr algn="ctr"/>
                          <a:endParaRPr lang="en-CN"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𝜇</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b="1" i="1" smtClean="0">
                                    <a:latin typeface="Cambria Math" panose="02040503050406030204" pitchFamily="18" charset="0"/>
                                    <a:ea typeface="Cambria Math" panose="02040503050406030204" pitchFamily="18" charset="0"/>
                                  </a:rPr>
                                  <m:t>𝝁</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d>
                                      <m:dPr>
                                        <m:ctrlPr>
                                          <a:rPr lang="en-US" b="1" i="1" smtClean="0">
                                            <a:latin typeface="Cambria Math" panose="02040503050406030204" pitchFamily="18" charset="0"/>
                                          </a:rPr>
                                        </m:ctrlPr>
                                      </m:dPr>
                                      <m:e>
                                        <m:f>
                                          <m:fPr>
                                            <m:ctrlPr>
                                              <a:rPr lang="en-US" b="1" i="1" smtClean="0">
                                                <a:latin typeface="Cambria Math" panose="02040503050406030204" pitchFamily="18" charset="0"/>
                                              </a:rPr>
                                            </m:ctrlPr>
                                          </m:fPr>
                                          <m:num>
                                            <m:r>
                                              <a:rPr lang="en-US" b="1" i="1" smtClean="0">
                                                <a:latin typeface="Cambria Math" panose="02040503050406030204" pitchFamily="18" charset="0"/>
                                              </a:rPr>
                                              <m:t>𝝏</m:t>
                                            </m:r>
                                            <m:r>
                                              <a:rPr lang="en-US" b="1" i="1" smtClean="0">
                                                <a:latin typeface="Cambria Math" panose="02040503050406030204" pitchFamily="18" charset="0"/>
                                              </a:rPr>
                                              <m:t> </m:t>
                                            </m:r>
                                            <m:r>
                                              <a:rPr lang="en-US" b="1" i="1" smtClean="0">
                                                <a:latin typeface="Cambria Math" panose="02040503050406030204" pitchFamily="18" charset="0"/>
                                              </a:rPr>
                                              <m:t>𝑭</m:t>
                                            </m:r>
                                          </m:num>
                                          <m:den>
                                            <m:r>
                                              <a:rPr lang="en-US" b="1" i="1" smtClean="0">
                                                <a:latin typeface="Cambria Math" panose="02040503050406030204" pitchFamily="18" charset="0"/>
                                              </a:rPr>
                                              <m:t>𝝏</m:t>
                                            </m:r>
                                            <m:r>
                                              <a:rPr lang="en-US" b="1" i="1" smtClean="0">
                                                <a:latin typeface="Cambria Math" panose="02040503050406030204" pitchFamily="18" charset="0"/>
                                              </a:rPr>
                                              <m:t> </m:t>
                                            </m:r>
                                            <m:r>
                                              <a:rPr lang="en-US" b="1" i="1" smtClean="0">
                                                <a:latin typeface="Cambria Math" panose="02040503050406030204" pitchFamily="18" charset="0"/>
                                              </a:rPr>
                                              <m:t>𝑵</m:t>
                                            </m:r>
                                          </m:den>
                                        </m:f>
                                      </m:e>
                                    </m:d>
                                  </m:e>
                                  <m:sub>
                                    <m:r>
                                      <a:rPr lang="en-US" b="1" i="1" smtClean="0">
                                        <a:latin typeface="Cambria Math" panose="02040503050406030204" pitchFamily="18" charset="0"/>
                                        <a:ea typeface="Cambria Math" panose="02040503050406030204" pitchFamily="18" charset="0"/>
                                      </a:rPr>
                                      <m:t>𝝉</m:t>
                                    </m:r>
                                    <m:r>
                                      <a:rPr lang="en-US" b="1" i="1" smtClean="0">
                                        <a:latin typeface="Cambria Math" panose="02040503050406030204" pitchFamily="18" charset="0"/>
                                      </a:rPr>
                                      <m:t>,</m:t>
                                    </m:r>
                                    <m:r>
                                      <a:rPr lang="en-US" b="1" i="1" smtClean="0">
                                        <a:latin typeface="Cambria Math" panose="02040503050406030204" pitchFamily="18" charset="0"/>
                                      </a:rPr>
                                      <m:t>𝑽</m:t>
                                    </m:r>
                                  </m:sub>
                                </m:sSub>
                              </m:oMath>
                            </m:oMathPara>
                          </a14:m>
                          <a:endParaRPr lang="en-CN" b="1"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5672016"/>
                      </a:ext>
                    </a:extLst>
                  </a:tr>
                </a:tbl>
              </a:graphicData>
            </a:graphic>
          </p:graphicFrame>
        </mc:Choice>
        <mc:Fallback xmlns="">
          <p:graphicFrame>
            <p:nvGraphicFramePr>
              <p:cNvPr id="2" name="Table 3">
                <a:extLst>
                  <a:ext uri="{FF2B5EF4-FFF2-40B4-BE49-F238E27FC236}">
                    <a16:creationId xmlns:a16="http://schemas.microsoft.com/office/drawing/2014/main" id="{75B34921-B5F0-DB49-B4AC-156190B298FC}"/>
                  </a:ext>
                </a:extLst>
              </p:cNvPr>
              <p:cNvGraphicFramePr>
                <a:graphicFrameLocks noGrp="1"/>
              </p:cNvGraphicFramePr>
              <p:nvPr>
                <p:extLst>
                  <p:ext uri="{D42A27DB-BD31-4B8C-83A1-F6EECF244321}">
                    <p14:modId xmlns:p14="http://schemas.microsoft.com/office/powerpoint/2010/main" val="3495437525"/>
                  </p:ext>
                </p:extLst>
              </p:nvPr>
            </p:nvGraphicFramePr>
            <p:xfrm>
              <a:off x="1699486" y="1564790"/>
              <a:ext cx="9093200" cy="3159608"/>
            </p:xfrm>
            <a:graphic>
              <a:graphicData uri="http://schemas.openxmlformats.org/drawingml/2006/table">
                <a:tbl>
                  <a:tblPr firstRow="1" bandRow="1">
                    <a:tableStyleId>{5C22544A-7EE6-4342-B048-85BDC9FD1C3A}</a:tableStyleId>
                  </a:tblPr>
                  <a:tblGrid>
                    <a:gridCol w="2273300">
                      <a:extLst>
                        <a:ext uri="{9D8B030D-6E8A-4147-A177-3AD203B41FA5}">
                          <a16:colId xmlns:a16="http://schemas.microsoft.com/office/drawing/2014/main" val="1881081285"/>
                        </a:ext>
                      </a:extLst>
                    </a:gridCol>
                    <a:gridCol w="2273300">
                      <a:extLst>
                        <a:ext uri="{9D8B030D-6E8A-4147-A177-3AD203B41FA5}">
                          <a16:colId xmlns:a16="http://schemas.microsoft.com/office/drawing/2014/main" val="1242995189"/>
                        </a:ext>
                      </a:extLst>
                    </a:gridCol>
                    <a:gridCol w="2273300">
                      <a:extLst>
                        <a:ext uri="{9D8B030D-6E8A-4147-A177-3AD203B41FA5}">
                          <a16:colId xmlns:a16="http://schemas.microsoft.com/office/drawing/2014/main" val="3250826949"/>
                        </a:ext>
                      </a:extLst>
                    </a:gridCol>
                    <a:gridCol w="2273300">
                      <a:extLst>
                        <a:ext uri="{9D8B030D-6E8A-4147-A177-3AD203B41FA5}">
                          <a16:colId xmlns:a16="http://schemas.microsoft.com/office/drawing/2014/main" val="3979781198"/>
                        </a:ext>
                      </a:extLst>
                    </a:gridCol>
                  </a:tblGrid>
                  <a:tr h="789902">
                    <a:tc>
                      <a:txBody>
                        <a:bodyPr/>
                        <a:lstStyle/>
                        <a:p>
                          <a:endParaRPr lang="en-C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444" t="-1613" r="-199444" b="-3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559" t="-1613" r="-100559" b="-3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0559" t="-1613" r="-559" b="-303226"/>
                          </a:stretch>
                        </a:blipFill>
                      </a:tcPr>
                    </a:tc>
                    <a:extLst>
                      <a:ext uri="{0D108BD9-81ED-4DB2-BD59-A6C34878D82A}">
                        <a16:rowId xmlns:a16="http://schemas.microsoft.com/office/drawing/2014/main" val="1475300713"/>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100000" r="-301117" b="-1984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444" t="-100000" r="-199444" b="-1984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249"/>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203226" r="-301117" b="-101613"/>
                          </a:stretch>
                        </a:blipFill>
                      </a:tcPr>
                    </a:tc>
                    <a:tc>
                      <a:txBody>
                        <a:bodyPr/>
                        <a:lstStyle/>
                        <a:p>
                          <a:endParaRPr lang="en-C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559" t="-203226" r="-100559" b="-10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6354381"/>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t="-303226" r="-301117" b="-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300559" t="-303226" r="-559" b="-1613"/>
                          </a:stretch>
                        </a:blipFill>
                      </a:tcPr>
                    </a:tc>
                    <a:extLst>
                      <a:ext uri="{0D108BD9-81ED-4DB2-BD59-A6C34878D82A}">
                        <a16:rowId xmlns:a16="http://schemas.microsoft.com/office/drawing/2014/main" val="3945672016"/>
                      </a:ext>
                    </a:extLst>
                  </a:tr>
                </a:tbl>
              </a:graphicData>
            </a:graphic>
          </p:graphicFrame>
        </mc:Fallback>
      </mc:AlternateContent>
      <p:sp>
        <p:nvSpPr>
          <p:cNvPr id="3" name="TextBox 2">
            <a:extLst>
              <a:ext uri="{FF2B5EF4-FFF2-40B4-BE49-F238E27FC236}">
                <a16:creationId xmlns:a16="http://schemas.microsoft.com/office/drawing/2014/main" id="{518B48F1-F2F2-7146-B820-87B1CAEB2F0F}"/>
              </a:ext>
            </a:extLst>
          </p:cNvPr>
          <p:cNvSpPr txBox="1"/>
          <p:nvPr/>
        </p:nvSpPr>
        <p:spPr>
          <a:xfrm>
            <a:off x="401782" y="221673"/>
            <a:ext cx="3713018" cy="369332"/>
          </a:xfrm>
          <a:prstGeom prst="rect">
            <a:avLst/>
          </a:prstGeom>
          <a:noFill/>
        </p:spPr>
        <p:txBody>
          <a:bodyPr wrap="square" rtlCol="0">
            <a:spAutoFit/>
          </a:bodyPr>
          <a:lstStyle/>
          <a:p>
            <a:r>
              <a:rPr lang="en-CN" dirty="0"/>
              <a:t>热力学关系</a:t>
            </a:r>
          </a:p>
        </p:txBody>
      </p:sp>
    </p:spTree>
    <p:extLst>
      <p:ext uri="{BB962C8B-B14F-4D97-AF65-F5344CB8AC3E}">
        <p14:creationId xmlns:p14="http://schemas.microsoft.com/office/powerpoint/2010/main" val="24916020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 name="Table 3">
                <a:extLst>
                  <a:ext uri="{FF2B5EF4-FFF2-40B4-BE49-F238E27FC236}">
                    <a16:creationId xmlns:a16="http://schemas.microsoft.com/office/drawing/2014/main" id="{07E965FC-FF05-FF4A-959D-F1B9AF0C5DA2}"/>
                  </a:ext>
                </a:extLst>
              </p:cNvPr>
              <p:cNvGraphicFramePr>
                <a:graphicFrameLocks noGrp="1"/>
              </p:cNvGraphicFramePr>
              <p:nvPr>
                <p:extLst>
                  <p:ext uri="{D42A27DB-BD31-4B8C-83A1-F6EECF244321}">
                    <p14:modId xmlns:p14="http://schemas.microsoft.com/office/powerpoint/2010/main" val="1912623627"/>
                  </p:ext>
                </p:extLst>
              </p:nvPr>
            </p:nvGraphicFramePr>
            <p:xfrm>
              <a:off x="1699486" y="1564790"/>
              <a:ext cx="9093200" cy="3159608"/>
            </p:xfrm>
            <a:graphic>
              <a:graphicData uri="http://schemas.openxmlformats.org/drawingml/2006/table">
                <a:tbl>
                  <a:tblPr firstRow="1" bandRow="1">
                    <a:tableStyleId>{5C22544A-7EE6-4342-B048-85BDC9FD1C3A}</a:tableStyleId>
                  </a:tblPr>
                  <a:tblGrid>
                    <a:gridCol w="2273300">
                      <a:extLst>
                        <a:ext uri="{9D8B030D-6E8A-4147-A177-3AD203B41FA5}">
                          <a16:colId xmlns:a16="http://schemas.microsoft.com/office/drawing/2014/main" val="1881081285"/>
                        </a:ext>
                      </a:extLst>
                    </a:gridCol>
                    <a:gridCol w="2273300">
                      <a:extLst>
                        <a:ext uri="{9D8B030D-6E8A-4147-A177-3AD203B41FA5}">
                          <a16:colId xmlns:a16="http://schemas.microsoft.com/office/drawing/2014/main" val="1242995189"/>
                        </a:ext>
                      </a:extLst>
                    </a:gridCol>
                    <a:gridCol w="2273300">
                      <a:extLst>
                        <a:ext uri="{9D8B030D-6E8A-4147-A177-3AD203B41FA5}">
                          <a16:colId xmlns:a16="http://schemas.microsoft.com/office/drawing/2014/main" val="3250826949"/>
                        </a:ext>
                      </a:extLst>
                    </a:gridCol>
                    <a:gridCol w="2273300">
                      <a:extLst>
                        <a:ext uri="{9D8B030D-6E8A-4147-A177-3AD203B41FA5}">
                          <a16:colId xmlns:a16="http://schemas.microsoft.com/office/drawing/2014/main" val="3979781198"/>
                        </a:ext>
                      </a:extLst>
                    </a:gridCol>
                  </a:tblGrid>
                  <a:tr h="789902">
                    <a:tc>
                      <a:txBody>
                        <a:bodyPr/>
                        <a:lstStyle/>
                        <a:p>
                          <a:endParaRPr lang="en-C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𝝈</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𝑼</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𝑼</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𝝈</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𝑭</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𝝉</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5300713"/>
                      </a:ext>
                    </a:extLst>
                  </a:tr>
                  <a:tr h="789902">
                    <a:tc>
                      <a:txBody>
                        <a:bodyPr/>
                        <a:lstStyle/>
                        <a:p>
                          <a:pPr algn="ctr"/>
                          <a:endParaRPr lang="en-CN"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𝜏</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r>
                                      <a:rPr lang="en-US" b="0" i="1" smtClean="0">
                                        <a:latin typeface="Cambria Math" panose="02040503050406030204" pitchFamily="18" charset="0"/>
                                      </a:rPr>
                                      <m:t>1</m:t>
                                    </m:r>
                                  </m:num>
                                  <m:den>
                                    <m:r>
                                      <a:rPr lang="en-CN" i="1" smtClean="0">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𝜎</m:t>
                                            </m:r>
                                          </m:num>
                                          <m:den>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𝑈</m:t>
                                            </m:r>
                                          </m:den>
                                        </m:f>
                                      </m:e>
                                    </m:d>
                                  </m:e>
                                  <m:sub>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𝑁</m:t>
                                    </m:r>
                                  </m:sub>
                                </m:sSub>
                              </m:oMath>
                            </m:oMathPara>
                          </a14:m>
                          <a:endParaRPr lang="en-C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rgbClr val="FF0000"/>
                                    </a:solidFill>
                                    <a:latin typeface="Cambria Math" panose="02040503050406030204" pitchFamily="18" charset="0"/>
                                    <a:ea typeface="Cambria Math" panose="02040503050406030204" pitchFamily="18" charset="0"/>
                                  </a:rPr>
                                  <m:t>𝜏</m:t>
                                </m:r>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d>
                                      <m:dPr>
                                        <m:ctrlPr>
                                          <a:rPr lang="en-US" b="0" i="1" smtClean="0">
                                            <a:solidFill>
                                              <a:srgbClr val="FF0000"/>
                                            </a:solidFill>
                                            <a:latin typeface="Cambria Math" panose="02040503050406030204" pitchFamily="18" charset="0"/>
                                          </a:rPr>
                                        </m:ctrlPr>
                                      </m:dPr>
                                      <m:e>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𝑈</m:t>
                                            </m:r>
                                          </m:num>
                                          <m:den>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𝜎</m:t>
                                            </m:r>
                                          </m:den>
                                        </m:f>
                                      </m:e>
                                    </m:d>
                                  </m:e>
                                  <m:sub>
                                    <m:r>
                                      <a:rPr lang="en-US" b="0" i="1" smtClean="0">
                                        <a:solidFill>
                                          <a:srgbClr val="FF0000"/>
                                        </a:solidFill>
                                        <a:latin typeface="Cambria Math" panose="02040503050406030204" pitchFamily="18" charset="0"/>
                                      </a:rPr>
                                      <m:t>𝑉</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𝑁</m:t>
                                    </m:r>
                                  </m:sub>
                                </m:sSub>
                              </m:oMath>
                            </m:oMathPara>
                          </a14:m>
                          <a:endParaRPr lang="en-C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p>
                          <a:pPr algn="ctr"/>
                          <a:r>
                            <a:rPr lang="en-US" dirty="0">
                              <a:solidFill>
                                <a:srgbClr val="FF0000"/>
                              </a:solidFill>
                            </a:rPr>
                            <a:t>d</a:t>
                          </a:r>
                          <a:r>
                            <a:rPr lang="en-CN" dirty="0">
                              <a:solidFill>
                                <a:srgbClr val="FF0000"/>
                              </a:solidFill>
                            </a:rPr>
                            <a:t>ependent variable</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249"/>
                      </a:ext>
                    </a:extLst>
                  </a:tr>
                  <a:tr h="789902">
                    <a:tc>
                      <a:txBody>
                        <a:bodyPr/>
                        <a:lstStyle/>
                        <a:p>
                          <a:pPr algn="ctr"/>
                          <a:endParaRPr lang="en-US" b="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𝑈</m:t>
                                            </m:r>
                                          </m:num>
                                          <m:den>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𝑉</m:t>
                                            </m:r>
                                          </m:den>
                                        </m:f>
                                      </m:e>
                                    </m:d>
                                  </m:e>
                                  <m:sub>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rPr>
                                      <m:t>,</m:t>
                                    </m:r>
                                    <m:r>
                                      <a:rPr lang="en-US" b="0" i="1" smtClean="0">
                                        <a:latin typeface="Cambria Math" panose="02040503050406030204" pitchFamily="18" charset="0"/>
                                      </a:rPr>
                                      <m:t>𝑁</m:t>
                                    </m:r>
                                  </m:sub>
                                </m:sSub>
                              </m:oMath>
                            </m:oMathPara>
                          </a14:m>
                          <a:endParaRPr lang="en-C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6354381"/>
                      </a:ext>
                    </a:extLst>
                  </a:tr>
                  <a:tr h="789902">
                    <a:tc>
                      <a:txBody>
                        <a:bodyPr/>
                        <a:lstStyle/>
                        <a:p>
                          <a:pPr algn="ctr"/>
                          <a:endParaRPr lang="en-CN"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𝜇</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𝐹</m:t>
                                            </m:r>
                                          </m:num>
                                          <m:den>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𝑁</m:t>
                                            </m:r>
                                          </m:den>
                                        </m:f>
                                      </m:e>
                                    </m:d>
                                  </m:e>
                                  <m:sub>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rPr>
                                      <m:t>,</m:t>
                                    </m:r>
                                    <m:r>
                                      <a:rPr lang="en-US" b="0" i="1" smtClean="0">
                                        <a:latin typeface="Cambria Math" panose="02040503050406030204" pitchFamily="18" charset="0"/>
                                      </a:rPr>
                                      <m:t>𝑉</m:t>
                                    </m:r>
                                  </m:sub>
                                </m:sSub>
                              </m:oMath>
                            </m:oMathPara>
                          </a14:m>
                          <a:endParaRPr lang="en-CN"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5672016"/>
                      </a:ext>
                    </a:extLst>
                  </a:tr>
                </a:tbl>
              </a:graphicData>
            </a:graphic>
          </p:graphicFrame>
        </mc:Choice>
        <mc:Fallback xmlns="">
          <p:graphicFrame>
            <p:nvGraphicFramePr>
              <p:cNvPr id="3" name="Table 3">
                <a:extLst>
                  <a:ext uri="{FF2B5EF4-FFF2-40B4-BE49-F238E27FC236}">
                    <a16:creationId xmlns:a16="http://schemas.microsoft.com/office/drawing/2014/main" id="{07E965FC-FF05-FF4A-959D-F1B9AF0C5DA2}"/>
                  </a:ext>
                </a:extLst>
              </p:cNvPr>
              <p:cNvGraphicFramePr>
                <a:graphicFrameLocks noGrp="1"/>
              </p:cNvGraphicFramePr>
              <p:nvPr>
                <p:extLst>
                  <p:ext uri="{D42A27DB-BD31-4B8C-83A1-F6EECF244321}">
                    <p14:modId xmlns:p14="http://schemas.microsoft.com/office/powerpoint/2010/main" val="1912623627"/>
                  </p:ext>
                </p:extLst>
              </p:nvPr>
            </p:nvGraphicFramePr>
            <p:xfrm>
              <a:off x="1699486" y="1564790"/>
              <a:ext cx="9093200" cy="3159608"/>
            </p:xfrm>
            <a:graphic>
              <a:graphicData uri="http://schemas.openxmlformats.org/drawingml/2006/table">
                <a:tbl>
                  <a:tblPr firstRow="1" bandRow="1">
                    <a:tableStyleId>{5C22544A-7EE6-4342-B048-85BDC9FD1C3A}</a:tableStyleId>
                  </a:tblPr>
                  <a:tblGrid>
                    <a:gridCol w="2273300">
                      <a:extLst>
                        <a:ext uri="{9D8B030D-6E8A-4147-A177-3AD203B41FA5}">
                          <a16:colId xmlns:a16="http://schemas.microsoft.com/office/drawing/2014/main" val="1881081285"/>
                        </a:ext>
                      </a:extLst>
                    </a:gridCol>
                    <a:gridCol w="2273300">
                      <a:extLst>
                        <a:ext uri="{9D8B030D-6E8A-4147-A177-3AD203B41FA5}">
                          <a16:colId xmlns:a16="http://schemas.microsoft.com/office/drawing/2014/main" val="1242995189"/>
                        </a:ext>
                      </a:extLst>
                    </a:gridCol>
                    <a:gridCol w="2273300">
                      <a:extLst>
                        <a:ext uri="{9D8B030D-6E8A-4147-A177-3AD203B41FA5}">
                          <a16:colId xmlns:a16="http://schemas.microsoft.com/office/drawing/2014/main" val="3250826949"/>
                        </a:ext>
                      </a:extLst>
                    </a:gridCol>
                    <a:gridCol w="2273300">
                      <a:extLst>
                        <a:ext uri="{9D8B030D-6E8A-4147-A177-3AD203B41FA5}">
                          <a16:colId xmlns:a16="http://schemas.microsoft.com/office/drawing/2014/main" val="3979781198"/>
                        </a:ext>
                      </a:extLst>
                    </a:gridCol>
                  </a:tblGrid>
                  <a:tr h="789902">
                    <a:tc>
                      <a:txBody>
                        <a:bodyPr/>
                        <a:lstStyle/>
                        <a:p>
                          <a:endParaRPr lang="en-C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444" t="-1613" r="-199444" b="-3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559" t="-1613" r="-100559" b="-3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0559" t="-1613" r="-559" b="-303226"/>
                          </a:stretch>
                        </a:blipFill>
                      </a:tcPr>
                    </a:tc>
                    <a:extLst>
                      <a:ext uri="{0D108BD9-81ED-4DB2-BD59-A6C34878D82A}">
                        <a16:rowId xmlns:a16="http://schemas.microsoft.com/office/drawing/2014/main" val="1475300713"/>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100000" r="-301117" b="-1984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444" t="-100000" r="-199444" b="-1984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559" t="-100000" r="-100559" b="-198413"/>
                          </a:stretch>
                        </a:blipFill>
                      </a:tcPr>
                    </a:tc>
                    <a:tc>
                      <a:txBody>
                        <a:bodyPr/>
                        <a:lstStyle/>
                        <a:p>
                          <a:pPr algn="ctr"/>
                          <a:endParaRPr lang="en-US" dirty="0"/>
                        </a:p>
                        <a:p>
                          <a:pPr algn="ctr"/>
                          <a:r>
                            <a:rPr lang="en-US" dirty="0">
                              <a:solidFill>
                                <a:srgbClr val="FF0000"/>
                              </a:solidFill>
                            </a:rPr>
                            <a:t>d</a:t>
                          </a:r>
                          <a:r>
                            <a:rPr lang="en-CN" dirty="0">
                              <a:solidFill>
                                <a:srgbClr val="FF0000"/>
                              </a:solidFill>
                            </a:rPr>
                            <a:t>ependent variable</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249"/>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203226" r="-301117" b="-101613"/>
                          </a:stretch>
                        </a:blipFill>
                      </a:tcPr>
                    </a:tc>
                    <a:tc>
                      <a:txBody>
                        <a:bodyPr/>
                        <a:lstStyle/>
                        <a:p>
                          <a:endParaRPr lang="en-C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559" t="-203226" r="-100559" b="-10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6354381"/>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t="-303226" r="-301117" b="-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300559" t="-303226" r="-559" b="-1613"/>
                          </a:stretch>
                        </a:blipFill>
                      </a:tcPr>
                    </a:tc>
                    <a:extLst>
                      <a:ext uri="{0D108BD9-81ED-4DB2-BD59-A6C34878D82A}">
                        <a16:rowId xmlns:a16="http://schemas.microsoft.com/office/drawing/2014/main" val="3945672016"/>
                      </a:ext>
                    </a:extLst>
                  </a:tr>
                </a:tbl>
              </a:graphicData>
            </a:graphic>
          </p:graphicFrame>
        </mc:Fallback>
      </mc:AlternateContent>
    </p:spTree>
    <p:extLst>
      <p:ext uri="{BB962C8B-B14F-4D97-AF65-F5344CB8AC3E}">
        <p14:creationId xmlns:p14="http://schemas.microsoft.com/office/powerpoint/2010/main" val="1142249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 name="Table 3">
                <a:extLst>
                  <a:ext uri="{FF2B5EF4-FFF2-40B4-BE49-F238E27FC236}">
                    <a16:creationId xmlns:a16="http://schemas.microsoft.com/office/drawing/2014/main" id="{47734D06-6A72-BC46-961B-B9B1781E60BB}"/>
                  </a:ext>
                </a:extLst>
              </p:cNvPr>
              <p:cNvGraphicFramePr>
                <a:graphicFrameLocks noGrp="1"/>
              </p:cNvGraphicFramePr>
              <p:nvPr>
                <p:extLst>
                  <p:ext uri="{D42A27DB-BD31-4B8C-83A1-F6EECF244321}">
                    <p14:modId xmlns:p14="http://schemas.microsoft.com/office/powerpoint/2010/main" val="2870388866"/>
                  </p:ext>
                </p:extLst>
              </p:nvPr>
            </p:nvGraphicFramePr>
            <p:xfrm>
              <a:off x="1699486" y="1564790"/>
              <a:ext cx="9093200" cy="3159608"/>
            </p:xfrm>
            <a:graphic>
              <a:graphicData uri="http://schemas.openxmlformats.org/drawingml/2006/table">
                <a:tbl>
                  <a:tblPr firstRow="1" bandRow="1">
                    <a:tableStyleId>{5C22544A-7EE6-4342-B048-85BDC9FD1C3A}</a:tableStyleId>
                  </a:tblPr>
                  <a:tblGrid>
                    <a:gridCol w="2273300">
                      <a:extLst>
                        <a:ext uri="{9D8B030D-6E8A-4147-A177-3AD203B41FA5}">
                          <a16:colId xmlns:a16="http://schemas.microsoft.com/office/drawing/2014/main" val="1881081285"/>
                        </a:ext>
                      </a:extLst>
                    </a:gridCol>
                    <a:gridCol w="2273300">
                      <a:extLst>
                        <a:ext uri="{9D8B030D-6E8A-4147-A177-3AD203B41FA5}">
                          <a16:colId xmlns:a16="http://schemas.microsoft.com/office/drawing/2014/main" val="1242995189"/>
                        </a:ext>
                      </a:extLst>
                    </a:gridCol>
                    <a:gridCol w="2273300">
                      <a:extLst>
                        <a:ext uri="{9D8B030D-6E8A-4147-A177-3AD203B41FA5}">
                          <a16:colId xmlns:a16="http://schemas.microsoft.com/office/drawing/2014/main" val="3250826949"/>
                        </a:ext>
                      </a:extLst>
                    </a:gridCol>
                    <a:gridCol w="2273300">
                      <a:extLst>
                        <a:ext uri="{9D8B030D-6E8A-4147-A177-3AD203B41FA5}">
                          <a16:colId xmlns:a16="http://schemas.microsoft.com/office/drawing/2014/main" val="3979781198"/>
                        </a:ext>
                      </a:extLst>
                    </a:gridCol>
                  </a:tblGrid>
                  <a:tr h="789902">
                    <a:tc>
                      <a:txBody>
                        <a:bodyPr/>
                        <a:lstStyle/>
                        <a:p>
                          <a:endParaRPr lang="en-C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𝝈</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𝑼</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𝑼</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𝝈</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𝑭</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𝝉</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5300713"/>
                      </a:ext>
                    </a:extLst>
                  </a:tr>
                  <a:tr h="789902">
                    <a:tc>
                      <a:txBody>
                        <a:bodyPr/>
                        <a:lstStyle/>
                        <a:p>
                          <a:pPr algn="ctr"/>
                          <a:endParaRPr lang="en-CN"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𝜏</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r>
                                      <a:rPr lang="en-US" b="0" i="1" smtClean="0">
                                        <a:latin typeface="Cambria Math" panose="02040503050406030204" pitchFamily="18" charset="0"/>
                                      </a:rPr>
                                      <m:t>1</m:t>
                                    </m:r>
                                  </m:num>
                                  <m:den>
                                    <m:r>
                                      <a:rPr lang="en-CN" i="1" smtClean="0">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𝜎</m:t>
                                            </m:r>
                                          </m:num>
                                          <m:den>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𝑈</m:t>
                                            </m:r>
                                          </m:den>
                                        </m:f>
                                      </m:e>
                                    </m:d>
                                  </m:e>
                                  <m:sub>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𝑁</m:t>
                                    </m:r>
                                  </m:sub>
                                </m:sSub>
                              </m:oMath>
                            </m:oMathPara>
                          </a14:m>
                          <a:endParaRPr lang="en-C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rgbClr val="FF0000"/>
                                    </a:solidFill>
                                    <a:latin typeface="Cambria Math" panose="02040503050406030204" pitchFamily="18" charset="0"/>
                                    <a:ea typeface="Cambria Math" panose="02040503050406030204" pitchFamily="18" charset="0"/>
                                  </a:rPr>
                                  <m:t>𝜏</m:t>
                                </m:r>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d>
                                      <m:dPr>
                                        <m:ctrlPr>
                                          <a:rPr lang="en-US" b="0" i="1" smtClean="0">
                                            <a:solidFill>
                                              <a:srgbClr val="FF0000"/>
                                            </a:solidFill>
                                            <a:latin typeface="Cambria Math" panose="02040503050406030204" pitchFamily="18" charset="0"/>
                                          </a:rPr>
                                        </m:ctrlPr>
                                      </m:dPr>
                                      <m:e>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𝑈</m:t>
                                            </m:r>
                                          </m:num>
                                          <m:den>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𝜎</m:t>
                                            </m:r>
                                          </m:den>
                                        </m:f>
                                      </m:e>
                                    </m:d>
                                  </m:e>
                                  <m:sub>
                                    <m:r>
                                      <a:rPr lang="en-US" b="0" i="1" smtClean="0">
                                        <a:solidFill>
                                          <a:srgbClr val="FF0000"/>
                                        </a:solidFill>
                                        <a:latin typeface="Cambria Math" panose="02040503050406030204" pitchFamily="18" charset="0"/>
                                      </a:rPr>
                                      <m:t>𝑉</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𝑁</m:t>
                                    </m:r>
                                  </m:sub>
                                </m:sSub>
                              </m:oMath>
                            </m:oMathPara>
                          </a14:m>
                          <a:endParaRPr lang="en-C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p>
                          <a:pPr algn="ctr"/>
                          <a:r>
                            <a:rPr lang="en-US" dirty="0">
                              <a:solidFill>
                                <a:srgbClr val="FF0000"/>
                              </a:solidFill>
                            </a:rPr>
                            <a:t>d</a:t>
                          </a:r>
                          <a:r>
                            <a:rPr lang="en-CN" dirty="0">
                              <a:solidFill>
                                <a:srgbClr val="FF0000"/>
                              </a:solidFill>
                            </a:rPr>
                            <a:t>ependent variable</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249"/>
                      </a:ext>
                    </a:extLst>
                  </a:tr>
                  <a:tr h="789902">
                    <a:tc>
                      <a:txBody>
                        <a:bodyPr/>
                        <a:lstStyle/>
                        <a:p>
                          <a:pPr algn="ctr"/>
                          <a:endParaRPr lang="en-US" b="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N" dirty="0"/>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a:t>
                          </a:r>
                          <a:endParaRPr lang="en-C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𝑈</m:t>
                                            </m:r>
                                          </m:num>
                                          <m:den>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𝑉</m:t>
                                            </m:r>
                                          </m:den>
                                        </m:f>
                                      </m:e>
                                    </m:d>
                                  </m:e>
                                  <m:sub>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rPr>
                                      <m:t>,</m:t>
                                    </m:r>
                                    <m:r>
                                      <a:rPr lang="en-US" b="0" i="1" smtClean="0">
                                        <a:latin typeface="Cambria Math" panose="02040503050406030204" pitchFamily="18" charset="0"/>
                                      </a:rPr>
                                      <m:t>𝑁</m:t>
                                    </m:r>
                                  </m:sub>
                                </m:sSub>
                              </m:oMath>
                            </m:oMathPara>
                          </a14:m>
                          <a:endParaRPr lang="en-C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ltLang="zh-CN" b="0" i="1" dirty="0">
                            <a:solidFill>
                              <a:srgbClr val="7030A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zh-CN" altLang="en-US" b="0" i="1" smtClean="0">
                                    <a:solidFill>
                                      <a:srgbClr val="7030A0"/>
                                    </a:solidFill>
                                    <a:latin typeface="Cambria Math" panose="02040503050406030204" pitchFamily="18" charset="0"/>
                                  </a:rPr>
                                  <m:t>？</m:t>
                                </m:r>
                              </m:oMath>
                            </m:oMathPara>
                          </a14:m>
                          <a:endParaRPr lang="en-CN" dirty="0">
                            <a:solidFill>
                              <a:srgbClr val="7030A0"/>
                            </a:solidFill>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6354381"/>
                      </a:ext>
                    </a:extLst>
                  </a:tr>
                  <a:tr h="789902">
                    <a:tc>
                      <a:txBody>
                        <a:bodyPr/>
                        <a:lstStyle/>
                        <a:p>
                          <a:pPr algn="ctr"/>
                          <a:endParaRPr lang="en-CN"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𝜇</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endParaRPr lang="en-CN" dirty="0"/>
                        </a:p>
                        <a:p>
                          <a:pPr algn="ctr"/>
                          <a:r>
                            <a:rPr lang="en-C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endParaRPr lang="en-CN" dirty="0"/>
                        </a:p>
                        <a:p>
                          <a:pPr algn="ctr"/>
                          <a:r>
                            <a:rPr lang="en-C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𝐹</m:t>
                                            </m:r>
                                          </m:num>
                                          <m:den>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𝑁</m:t>
                                            </m:r>
                                          </m:den>
                                        </m:f>
                                      </m:e>
                                    </m:d>
                                  </m:e>
                                  <m:sub>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rPr>
                                      <m:t>,</m:t>
                                    </m:r>
                                    <m:r>
                                      <a:rPr lang="en-US" b="0" i="1" smtClean="0">
                                        <a:latin typeface="Cambria Math" panose="02040503050406030204" pitchFamily="18" charset="0"/>
                                      </a:rPr>
                                      <m:t>𝑉</m:t>
                                    </m:r>
                                  </m:sub>
                                </m:sSub>
                              </m:oMath>
                            </m:oMathPara>
                          </a14:m>
                          <a:endParaRPr lang="en-CN"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5672016"/>
                      </a:ext>
                    </a:extLst>
                  </a:tr>
                </a:tbl>
              </a:graphicData>
            </a:graphic>
          </p:graphicFrame>
        </mc:Choice>
        <mc:Fallback xmlns="">
          <p:graphicFrame>
            <p:nvGraphicFramePr>
              <p:cNvPr id="3" name="Table 3">
                <a:extLst>
                  <a:ext uri="{FF2B5EF4-FFF2-40B4-BE49-F238E27FC236}">
                    <a16:creationId xmlns:a16="http://schemas.microsoft.com/office/drawing/2014/main" id="{47734D06-6A72-BC46-961B-B9B1781E60BB}"/>
                  </a:ext>
                </a:extLst>
              </p:cNvPr>
              <p:cNvGraphicFramePr>
                <a:graphicFrameLocks noGrp="1"/>
              </p:cNvGraphicFramePr>
              <p:nvPr>
                <p:extLst>
                  <p:ext uri="{D42A27DB-BD31-4B8C-83A1-F6EECF244321}">
                    <p14:modId xmlns:p14="http://schemas.microsoft.com/office/powerpoint/2010/main" val="2870388866"/>
                  </p:ext>
                </p:extLst>
              </p:nvPr>
            </p:nvGraphicFramePr>
            <p:xfrm>
              <a:off x="1699486" y="1564790"/>
              <a:ext cx="9093200" cy="3159608"/>
            </p:xfrm>
            <a:graphic>
              <a:graphicData uri="http://schemas.openxmlformats.org/drawingml/2006/table">
                <a:tbl>
                  <a:tblPr firstRow="1" bandRow="1">
                    <a:tableStyleId>{5C22544A-7EE6-4342-B048-85BDC9FD1C3A}</a:tableStyleId>
                  </a:tblPr>
                  <a:tblGrid>
                    <a:gridCol w="2273300">
                      <a:extLst>
                        <a:ext uri="{9D8B030D-6E8A-4147-A177-3AD203B41FA5}">
                          <a16:colId xmlns:a16="http://schemas.microsoft.com/office/drawing/2014/main" val="1881081285"/>
                        </a:ext>
                      </a:extLst>
                    </a:gridCol>
                    <a:gridCol w="2273300">
                      <a:extLst>
                        <a:ext uri="{9D8B030D-6E8A-4147-A177-3AD203B41FA5}">
                          <a16:colId xmlns:a16="http://schemas.microsoft.com/office/drawing/2014/main" val="1242995189"/>
                        </a:ext>
                      </a:extLst>
                    </a:gridCol>
                    <a:gridCol w="2273300">
                      <a:extLst>
                        <a:ext uri="{9D8B030D-6E8A-4147-A177-3AD203B41FA5}">
                          <a16:colId xmlns:a16="http://schemas.microsoft.com/office/drawing/2014/main" val="3250826949"/>
                        </a:ext>
                      </a:extLst>
                    </a:gridCol>
                    <a:gridCol w="2273300">
                      <a:extLst>
                        <a:ext uri="{9D8B030D-6E8A-4147-A177-3AD203B41FA5}">
                          <a16:colId xmlns:a16="http://schemas.microsoft.com/office/drawing/2014/main" val="3979781198"/>
                        </a:ext>
                      </a:extLst>
                    </a:gridCol>
                  </a:tblGrid>
                  <a:tr h="789902">
                    <a:tc>
                      <a:txBody>
                        <a:bodyPr/>
                        <a:lstStyle/>
                        <a:p>
                          <a:endParaRPr lang="en-C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444" t="-1613" r="-199444" b="-3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559" t="-1613" r="-100559" b="-3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0559" t="-1613" r="-559" b="-303226"/>
                          </a:stretch>
                        </a:blipFill>
                      </a:tcPr>
                    </a:tc>
                    <a:extLst>
                      <a:ext uri="{0D108BD9-81ED-4DB2-BD59-A6C34878D82A}">
                        <a16:rowId xmlns:a16="http://schemas.microsoft.com/office/drawing/2014/main" val="1475300713"/>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100000" r="-301117" b="-1984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444" t="-100000" r="-199444" b="-1984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559" t="-100000" r="-100559" b="-198413"/>
                          </a:stretch>
                        </a:blipFill>
                      </a:tcPr>
                    </a:tc>
                    <a:tc>
                      <a:txBody>
                        <a:bodyPr/>
                        <a:lstStyle/>
                        <a:p>
                          <a:pPr algn="ctr"/>
                          <a:endParaRPr lang="en-US" dirty="0"/>
                        </a:p>
                        <a:p>
                          <a:pPr algn="ctr"/>
                          <a:r>
                            <a:rPr lang="en-US" dirty="0">
                              <a:solidFill>
                                <a:srgbClr val="FF0000"/>
                              </a:solidFill>
                            </a:rPr>
                            <a:t>d</a:t>
                          </a:r>
                          <a:r>
                            <a:rPr lang="en-CN" dirty="0">
                              <a:solidFill>
                                <a:srgbClr val="FF0000"/>
                              </a:solidFill>
                            </a:rPr>
                            <a:t>ependent variable</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249"/>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203226" r="-301117" b="-101613"/>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N" dirty="0"/>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a:t>
                          </a:r>
                          <a:endParaRPr lang="en-C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559" t="-203226" r="-100559" b="-10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0559" t="-203226" r="-559" b="-101613"/>
                          </a:stretch>
                        </a:blipFill>
                      </a:tcPr>
                    </a:tc>
                    <a:extLst>
                      <a:ext uri="{0D108BD9-81ED-4DB2-BD59-A6C34878D82A}">
                        <a16:rowId xmlns:a16="http://schemas.microsoft.com/office/drawing/2014/main" val="876354381"/>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t="-303226" r="-301117" b="-1613"/>
                          </a:stretch>
                        </a:blipFill>
                      </a:tcPr>
                    </a:tc>
                    <a:tc>
                      <a:txBody>
                        <a:bodyPr/>
                        <a:lstStyle/>
                        <a:p>
                          <a:pPr algn="ctr"/>
                          <a:endParaRPr lang="en-CN" dirty="0"/>
                        </a:p>
                        <a:p>
                          <a:pPr algn="ctr"/>
                          <a:r>
                            <a:rPr lang="en-C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endParaRPr lang="en-CN" dirty="0"/>
                        </a:p>
                        <a:p>
                          <a:pPr algn="ctr"/>
                          <a:r>
                            <a:rPr lang="en-C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300559" t="-303226" r="-559" b="-1613"/>
                          </a:stretch>
                        </a:blipFill>
                      </a:tcPr>
                    </a:tc>
                    <a:extLst>
                      <a:ext uri="{0D108BD9-81ED-4DB2-BD59-A6C34878D82A}">
                        <a16:rowId xmlns:a16="http://schemas.microsoft.com/office/drawing/2014/main" val="3945672016"/>
                      </a:ext>
                    </a:extLst>
                  </a:tr>
                </a:tbl>
              </a:graphicData>
            </a:graphic>
          </p:graphicFrame>
        </mc:Fallback>
      </mc:AlternateContent>
    </p:spTree>
    <p:extLst>
      <p:ext uri="{BB962C8B-B14F-4D97-AF65-F5344CB8AC3E}">
        <p14:creationId xmlns:p14="http://schemas.microsoft.com/office/powerpoint/2010/main" val="1758081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 name="Table 3">
                <a:extLst>
                  <a:ext uri="{FF2B5EF4-FFF2-40B4-BE49-F238E27FC236}">
                    <a16:creationId xmlns:a16="http://schemas.microsoft.com/office/drawing/2014/main" id="{47734D06-6A72-BC46-961B-B9B1781E60BB}"/>
                  </a:ext>
                </a:extLst>
              </p:cNvPr>
              <p:cNvGraphicFramePr>
                <a:graphicFrameLocks noGrp="1"/>
              </p:cNvGraphicFramePr>
              <p:nvPr>
                <p:extLst>
                  <p:ext uri="{D42A27DB-BD31-4B8C-83A1-F6EECF244321}">
                    <p14:modId xmlns:p14="http://schemas.microsoft.com/office/powerpoint/2010/main" val="688563095"/>
                  </p:ext>
                </p:extLst>
              </p:nvPr>
            </p:nvGraphicFramePr>
            <p:xfrm>
              <a:off x="1699486" y="165479"/>
              <a:ext cx="9093200" cy="3159608"/>
            </p:xfrm>
            <a:graphic>
              <a:graphicData uri="http://schemas.openxmlformats.org/drawingml/2006/table">
                <a:tbl>
                  <a:tblPr firstRow="1" bandRow="1">
                    <a:tableStyleId>{5C22544A-7EE6-4342-B048-85BDC9FD1C3A}</a:tableStyleId>
                  </a:tblPr>
                  <a:tblGrid>
                    <a:gridCol w="2273300">
                      <a:extLst>
                        <a:ext uri="{9D8B030D-6E8A-4147-A177-3AD203B41FA5}">
                          <a16:colId xmlns:a16="http://schemas.microsoft.com/office/drawing/2014/main" val="1881081285"/>
                        </a:ext>
                      </a:extLst>
                    </a:gridCol>
                    <a:gridCol w="2273300">
                      <a:extLst>
                        <a:ext uri="{9D8B030D-6E8A-4147-A177-3AD203B41FA5}">
                          <a16:colId xmlns:a16="http://schemas.microsoft.com/office/drawing/2014/main" val="1242995189"/>
                        </a:ext>
                      </a:extLst>
                    </a:gridCol>
                    <a:gridCol w="2273300">
                      <a:extLst>
                        <a:ext uri="{9D8B030D-6E8A-4147-A177-3AD203B41FA5}">
                          <a16:colId xmlns:a16="http://schemas.microsoft.com/office/drawing/2014/main" val="3250826949"/>
                        </a:ext>
                      </a:extLst>
                    </a:gridCol>
                    <a:gridCol w="2273300">
                      <a:extLst>
                        <a:ext uri="{9D8B030D-6E8A-4147-A177-3AD203B41FA5}">
                          <a16:colId xmlns:a16="http://schemas.microsoft.com/office/drawing/2014/main" val="3979781198"/>
                        </a:ext>
                      </a:extLst>
                    </a:gridCol>
                  </a:tblGrid>
                  <a:tr h="789902">
                    <a:tc>
                      <a:txBody>
                        <a:bodyPr/>
                        <a:lstStyle/>
                        <a:p>
                          <a:endParaRPr lang="en-C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𝝈</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𝑼</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𝑼</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𝝈</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𝑭</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𝝉</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5300713"/>
                      </a:ext>
                    </a:extLst>
                  </a:tr>
                  <a:tr h="789902">
                    <a:tc>
                      <a:txBody>
                        <a:bodyPr/>
                        <a:lstStyle/>
                        <a:p>
                          <a:pPr algn="ctr"/>
                          <a:endParaRPr lang="en-CN"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𝜏</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r>
                                      <a:rPr lang="en-US" b="0" i="1" smtClean="0">
                                        <a:latin typeface="Cambria Math" panose="02040503050406030204" pitchFamily="18" charset="0"/>
                                      </a:rPr>
                                      <m:t>1</m:t>
                                    </m:r>
                                  </m:num>
                                  <m:den>
                                    <m:r>
                                      <a:rPr lang="en-CN" i="1" smtClean="0">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𝜎</m:t>
                                            </m:r>
                                          </m:num>
                                          <m:den>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𝑈</m:t>
                                            </m:r>
                                          </m:den>
                                        </m:f>
                                      </m:e>
                                    </m:d>
                                  </m:e>
                                  <m:sub>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𝑁</m:t>
                                    </m:r>
                                  </m:sub>
                                </m:sSub>
                              </m:oMath>
                            </m:oMathPara>
                          </a14:m>
                          <a:endParaRPr lang="en-C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rgbClr val="FF0000"/>
                                    </a:solidFill>
                                    <a:latin typeface="Cambria Math" panose="02040503050406030204" pitchFamily="18" charset="0"/>
                                    <a:ea typeface="Cambria Math" panose="02040503050406030204" pitchFamily="18" charset="0"/>
                                  </a:rPr>
                                  <m:t>𝜏</m:t>
                                </m:r>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d>
                                      <m:dPr>
                                        <m:ctrlPr>
                                          <a:rPr lang="en-US" b="0" i="1" smtClean="0">
                                            <a:solidFill>
                                              <a:srgbClr val="FF0000"/>
                                            </a:solidFill>
                                            <a:latin typeface="Cambria Math" panose="02040503050406030204" pitchFamily="18" charset="0"/>
                                          </a:rPr>
                                        </m:ctrlPr>
                                      </m:dPr>
                                      <m:e>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𝑈</m:t>
                                            </m:r>
                                          </m:num>
                                          <m:den>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𝜎</m:t>
                                            </m:r>
                                          </m:den>
                                        </m:f>
                                      </m:e>
                                    </m:d>
                                  </m:e>
                                  <m:sub>
                                    <m:r>
                                      <a:rPr lang="en-US" b="0" i="1" smtClean="0">
                                        <a:solidFill>
                                          <a:srgbClr val="FF0000"/>
                                        </a:solidFill>
                                        <a:latin typeface="Cambria Math" panose="02040503050406030204" pitchFamily="18" charset="0"/>
                                      </a:rPr>
                                      <m:t>𝑉</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𝑁</m:t>
                                    </m:r>
                                  </m:sub>
                                </m:sSub>
                              </m:oMath>
                            </m:oMathPara>
                          </a14:m>
                          <a:endParaRPr lang="en-C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p>
                          <a:pPr algn="ctr"/>
                          <a:r>
                            <a:rPr lang="en-US" dirty="0">
                              <a:solidFill>
                                <a:srgbClr val="FF0000"/>
                              </a:solidFill>
                            </a:rPr>
                            <a:t>d</a:t>
                          </a:r>
                          <a:r>
                            <a:rPr lang="en-CN" dirty="0">
                              <a:solidFill>
                                <a:srgbClr val="FF0000"/>
                              </a:solidFill>
                            </a:rPr>
                            <a:t>ependent variable</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249"/>
                      </a:ext>
                    </a:extLst>
                  </a:tr>
                  <a:tr h="789902">
                    <a:tc>
                      <a:txBody>
                        <a:bodyPr/>
                        <a:lstStyle/>
                        <a:p>
                          <a:pPr algn="ctr"/>
                          <a:endParaRPr lang="en-US" b="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1" dirty="0">
                            <a:solidFill>
                              <a:srgbClr val="7030A0"/>
                            </a:solidFill>
                            <a:latin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CN" altLang="en-US" b="0" i="1" smtClean="0">
                                    <a:solidFill>
                                      <a:srgbClr val="7030A0"/>
                                    </a:solidFill>
                                    <a:latin typeface="Cambria Math" panose="02040503050406030204" pitchFamily="18" charset="0"/>
                                  </a:rPr>
                                  <m:t>？</m:t>
                                </m:r>
                              </m:oMath>
                            </m:oMathPara>
                          </a14:m>
                          <a:endParaRPr lang="en-C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𝑈</m:t>
                                            </m:r>
                                          </m:num>
                                          <m:den>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𝑉</m:t>
                                            </m:r>
                                          </m:den>
                                        </m:f>
                                      </m:e>
                                    </m:d>
                                  </m:e>
                                  <m:sub>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rPr>
                                      <m:t>,</m:t>
                                    </m:r>
                                    <m:r>
                                      <a:rPr lang="en-US" b="0" i="1" smtClean="0">
                                        <a:latin typeface="Cambria Math" panose="02040503050406030204" pitchFamily="18" charset="0"/>
                                      </a:rPr>
                                      <m:t>𝑁</m:t>
                                    </m:r>
                                  </m:sub>
                                </m:sSub>
                              </m:oMath>
                            </m:oMathPara>
                          </a14:m>
                          <a:endParaRPr lang="en-C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ltLang="zh-CN" b="0" i="1" dirty="0">
                            <a:solidFill>
                              <a:srgbClr val="7030A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zh-CN" altLang="en-US" b="0" i="1" smtClean="0">
                                    <a:solidFill>
                                      <a:srgbClr val="7030A0"/>
                                    </a:solidFill>
                                    <a:latin typeface="Cambria Math" panose="02040503050406030204" pitchFamily="18" charset="0"/>
                                  </a:rPr>
                                  <m:t>？</m:t>
                                </m:r>
                              </m:oMath>
                            </m:oMathPara>
                          </a14:m>
                          <a:endParaRPr lang="en-CN" dirty="0">
                            <a:solidFill>
                              <a:srgbClr val="7030A0"/>
                            </a:solidFill>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6354381"/>
                      </a:ext>
                    </a:extLst>
                  </a:tr>
                  <a:tr h="789902">
                    <a:tc>
                      <a:txBody>
                        <a:bodyPr/>
                        <a:lstStyle/>
                        <a:p>
                          <a:pPr algn="ctr"/>
                          <a:endParaRPr lang="en-CN"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𝜇</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endParaRPr lang="en-CN" dirty="0"/>
                        </a:p>
                        <a:p>
                          <a:pPr algn="ctr"/>
                          <a:r>
                            <a:rPr lang="en-C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endParaRPr lang="en-CN" dirty="0"/>
                        </a:p>
                        <a:p>
                          <a:pPr algn="ctr"/>
                          <a:r>
                            <a:rPr lang="en-C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𝐹</m:t>
                                            </m:r>
                                          </m:num>
                                          <m:den>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𝑁</m:t>
                                            </m:r>
                                          </m:den>
                                        </m:f>
                                      </m:e>
                                    </m:d>
                                  </m:e>
                                  <m:sub>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rPr>
                                      <m:t>,</m:t>
                                    </m:r>
                                    <m:r>
                                      <a:rPr lang="en-US" b="0" i="1" smtClean="0">
                                        <a:latin typeface="Cambria Math" panose="02040503050406030204" pitchFamily="18" charset="0"/>
                                      </a:rPr>
                                      <m:t>𝑉</m:t>
                                    </m:r>
                                  </m:sub>
                                </m:sSub>
                              </m:oMath>
                            </m:oMathPara>
                          </a14:m>
                          <a:endParaRPr lang="en-CN"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5672016"/>
                      </a:ext>
                    </a:extLst>
                  </a:tr>
                </a:tbl>
              </a:graphicData>
            </a:graphic>
          </p:graphicFrame>
        </mc:Choice>
        <mc:Fallback xmlns="">
          <p:graphicFrame>
            <p:nvGraphicFramePr>
              <p:cNvPr id="3" name="Table 3">
                <a:extLst>
                  <a:ext uri="{FF2B5EF4-FFF2-40B4-BE49-F238E27FC236}">
                    <a16:creationId xmlns:a16="http://schemas.microsoft.com/office/drawing/2014/main" id="{47734D06-6A72-BC46-961B-B9B1781E60BB}"/>
                  </a:ext>
                </a:extLst>
              </p:cNvPr>
              <p:cNvGraphicFramePr>
                <a:graphicFrameLocks noGrp="1"/>
              </p:cNvGraphicFramePr>
              <p:nvPr>
                <p:extLst>
                  <p:ext uri="{D42A27DB-BD31-4B8C-83A1-F6EECF244321}">
                    <p14:modId xmlns:p14="http://schemas.microsoft.com/office/powerpoint/2010/main" val="688563095"/>
                  </p:ext>
                </p:extLst>
              </p:nvPr>
            </p:nvGraphicFramePr>
            <p:xfrm>
              <a:off x="1699486" y="165479"/>
              <a:ext cx="9093200" cy="3159608"/>
            </p:xfrm>
            <a:graphic>
              <a:graphicData uri="http://schemas.openxmlformats.org/drawingml/2006/table">
                <a:tbl>
                  <a:tblPr firstRow="1" bandRow="1">
                    <a:tableStyleId>{5C22544A-7EE6-4342-B048-85BDC9FD1C3A}</a:tableStyleId>
                  </a:tblPr>
                  <a:tblGrid>
                    <a:gridCol w="2273300">
                      <a:extLst>
                        <a:ext uri="{9D8B030D-6E8A-4147-A177-3AD203B41FA5}">
                          <a16:colId xmlns:a16="http://schemas.microsoft.com/office/drawing/2014/main" val="1881081285"/>
                        </a:ext>
                      </a:extLst>
                    </a:gridCol>
                    <a:gridCol w="2273300">
                      <a:extLst>
                        <a:ext uri="{9D8B030D-6E8A-4147-A177-3AD203B41FA5}">
                          <a16:colId xmlns:a16="http://schemas.microsoft.com/office/drawing/2014/main" val="1242995189"/>
                        </a:ext>
                      </a:extLst>
                    </a:gridCol>
                    <a:gridCol w="2273300">
                      <a:extLst>
                        <a:ext uri="{9D8B030D-6E8A-4147-A177-3AD203B41FA5}">
                          <a16:colId xmlns:a16="http://schemas.microsoft.com/office/drawing/2014/main" val="3250826949"/>
                        </a:ext>
                      </a:extLst>
                    </a:gridCol>
                    <a:gridCol w="2273300">
                      <a:extLst>
                        <a:ext uri="{9D8B030D-6E8A-4147-A177-3AD203B41FA5}">
                          <a16:colId xmlns:a16="http://schemas.microsoft.com/office/drawing/2014/main" val="3979781198"/>
                        </a:ext>
                      </a:extLst>
                    </a:gridCol>
                  </a:tblGrid>
                  <a:tr h="789902">
                    <a:tc>
                      <a:txBody>
                        <a:bodyPr/>
                        <a:lstStyle/>
                        <a:p>
                          <a:endParaRPr lang="en-C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444" t="-1613" r="-199444" b="-3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559" t="-1613" r="-100559" b="-3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0559" t="-1613" r="-559" b="-303226"/>
                          </a:stretch>
                        </a:blipFill>
                      </a:tcPr>
                    </a:tc>
                    <a:extLst>
                      <a:ext uri="{0D108BD9-81ED-4DB2-BD59-A6C34878D82A}">
                        <a16:rowId xmlns:a16="http://schemas.microsoft.com/office/drawing/2014/main" val="1475300713"/>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100000" r="-301117" b="-1984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444" t="-100000" r="-199444" b="-1984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559" t="-100000" r="-100559" b="-198413"/>
                          </a:stretch>
                        </a:blipFill>
                      </a:tcPr>
                    </a:tc>
                    <a:tc>
                      <a:txBody>
                        <a:bodyPr/>
                        <a:lstStyle/>
                        <a:p>
                          <a:pPr algn="ctr"/>
                          <a:endParaRPr lang="en-US" dirty="0"/>
                        </a:p>
                        <a:p>
                          <a:pPr algn="ctr"/>
                          <a:r>
                            <a:rPr lang="en-US" dirty="0">
                              <a:solidFill>
                                <a:srgbClr val="FF0000"/>
                              </a:solidFill>
                            </a:rPr>
                            <a:t>d</a:t>
                          </a:r>
                          <a:r>
                            <a:rPr lang="en-CN" dirty="0">
                              <a:solidFill>
                                <a:srgbClr val="FF0000"/>
                              </a:solidFill>
                            </a:rPr>
                            <a:t>ependent variable</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249"/>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203226" r="-301117" b="-10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444" t="-203226" r="-199444" b="-10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559" t="-203226" r="-100559" b="-10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0559" t="-203226" r="-559" b="-101613"/>
                          </a:stretch>
                        </a:blipFill>
                      </a:tcPr>
                    </a:tc>
                    <a:extLst>
                      <a:ext uri="{0D108BD9-81ED-4DB2-BD59-A6C34878D82A}">
                        <a16:rowId xmlns:a16="http://schemas.microsoft.com/office/drawing/2014/main" val="876354381"/>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t="-303226" r="-301117" b="-1613"/>
                          </a:stretch>
                        </a:blipFill>
                      </a:tcPr>
                    </a:tc>
                    <a:tc>
                      <a:txBody>
                        <a:bodyPr/>
                        <a:lstStyle/>
                        <a:p>
                          <a:pPr algn="ctr"/>
                          <a:endParaRPr lang="en-CN" dirty="0"/>
                        </a:p>
                        <a:p>
                          <a:pPr algn="ctr"/>
                          <a:r>
                            <a:rPr lang="en-C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endParaRPr lang="en-CN" dirty="0"/>
                        </a:p>
                        <a:p>
                          <a:pPr algn="ctr"/>
                          <a:r>
                            <a:rPr lang="en-C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300559" t="-303226" r="-559" b="-1613"/>
                          </a:stretch>
                        </a:blipFill>
                      </a:tcPr>
                    </a:tc>
                    <a:extLst>
                      <a:ext uri="{0D108BD9-81ED-4DB2-BD59-A6C34878D82A}">
                        <a16:rowId xmlns:a16="http://schemas.microsoft.com/office/drawing/2014/main" val="3945672016"/>
                      </a:ext>
                    </a:extLst>
                  </a:tr>
                </a:tbl>
              </a:graphicData>
            </a:graphic>
          </p:graphicFrame>
        </mc:Fallback>
      </mc:AlternateContent>
      <p:sp>
        <p:nvSpPr>
          <p:cNvPr id="2" name="TextBox 1">
            <a:extLst>
              <a:ext uri="{FF2B5EF4-FFF2-40B4-BE49-F238E27FC236}">
                <a16:creationId xmlns:a16="http://schemas.microsoft.com/office/drawing/2014/main" id="{17866D4A-0A15-394B-8897-D2F7EEECBE71}"/>
              </a:ext>
            </a:extLst>
          </p:cNvPr>
          <p:cNvSpPr txBox="1"/>
          <p:nvPr/>
        </p:nvSpPr>
        <p:spPr>
          <a:xfrm>
            <a:off x="304800" y="235527"/>
            <a:ext cx="4627418"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思路</a:t>
            </a:r>
          </a:p>
        </p:txBody>
      </p:sp>
      <p:sp>
        <p:nvSpPr>
          <p:cNvPr id="4" name="Curved Up Arrow 3">
            <a:extLst>
              <a:ext uri="{FF2B5EF4-FFF2-40B4-BE49-F238E27FC236}">
                <a16:creationId xmlns:a16="http://schemas.microsoft.com/office/drawing/2014/main" id="{59C2AA44-3E19-D149-B867-0A326822C625}"/>
              </a:ext>
            </a:extLst>
          </p:cNvPr>
          <p:cNvSpPr/>
          <p:nvPr/>
        </p:nvSpPr>
        <p:spPr>
          <a:xfrm flipH="1">
            <a:off x="7509165" y="3532914"/>
            <a:ext cx="1995054" cy="62345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
        <p:nvSpPr>
          <p:cNvPr id="5" name="Curved Up Arrow 4">
            <a:extLst>
              <a:ext uri="{FF2B5EF4-FFF2-40B4-BE49-F238E27FC236}">
                <a16:creationId xmlns:a16="http://schemas.microsoft.com/office/drawing/2014/main" id="{E661B096-7C45-6343-9AD8-9C9FD6A85638}"/>
              </a:ext>
            </a:extLst>
          </p:cNvPr>
          <p:cNvSpPr/>
          <p:nvPr/>
        </p:nvSpPr>
        <p:spPr>
          <a:xfrm flipH="1">
            <a:off x="5001492" y="3505200"/>
            <a:ext cx="1995054" cy="62345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
        <p:nvSpPr>
          <p:cNvPr id="6" name="TextBox 5">
            <a:extLst>
              <a:ext uri="{FF2B5EF4-FFF2-40B4-BE49-F238E27FC236}">
                <a16:creationId xmlns:a16="http://schemas.microsoft.com/office/drawing/2014/main" id="{0456BBF6-6387-2D4C-8AEA-98EE3BD990BA}"/>
              </a:ext>
            </a:extLst>
          </p:cNvPr>
          <p:cNvSpPr txBox="1"/>
          <p:nvPr/>
        </p:nvSpPr>
        <p:spPr>
          <a:xfrm>
            <a:off x="8215745" y="4391891"/>
            <a:ext cx="762000" cy="369332"/>
          </a:xfrm>
          <a:prstGeom prst="rect">
            <a:avLst/>
          </a:prstGeom>
          <a:noFill/>
        </p:spPr>
        <p:txBody>
          <a:bodyPr wrap="square" rtlCol="0">
            <a:spAutoFit/>
          </a:bodyPr>
          <a:lstStyle/>
          <a:p>
            <a:r>
              <a:rPr lang="en-US" dirty="0"/>
              <a:t>S</a:t>
            </a:r>
            <a:r>
              <a:rPr lang="en-CN" dirty="0"/>
              <a:t>tep</a:t>
            </a:r>
            <a:r>
              <a:rPr lang="en-US" altLang="zh-CN" dirty="0"/>
              <a:t>-I</a:t>
            </a:r>
            <a:endParaRPr lang="en-CN" dirty="0"/>
          </a:p>
        </p:txBody>
      </p:sp>
      <p:sp>
        <p:nvSpPr>
          <p:cNvPr id="7" name="TextBox 6">
            <a:extLst>
              <a:ext uri="{FF2B5EF4-FFF2-40B4-BE49-F238E27FC236}">
                <a16:creationId xmlns:a16="http://schemas.microsoft.com/office/drawing/2014/main" id="{D35F8BFC-D468-A04F-9F29-6F95FC76D4B3}"/>
              </a:ext>
            </a:extLst>
          </p:cNvPr>
          <p:cNvSpPr txBox="1"/>
          <p:nvPr/>
        </p:nvSpPr>
        <p:spPr>
          <a:xfrm>
            <a:off x="5618018" y="4410303"/>
            <a:ext cx="893617" cy="369332"/>
          </a:xfrm>
          <a:prstGeom prst="rect">
            <a:avLst/>
          </a:prstGeom>
          <a:noFill/>
        </p:spPr>
        <p:txBody>
          <a:bodyPr wrap="square" rtlCol="0">
            <a:spAutoFit/>
          </a:bodyPr>
          <a:lstStyle/>
          <a:p>
            <a:r>
              <a:rPr lang="en-US" dirty="0"/>
              <a:t>S</a:t>
            </a:r>
            <a:r>
              <a:rPr lang="en-CN" dirty="0"/>
              <a:t>tep</a:t>
            </a:r>
            <a:r>
              <a:rPr lang="en-US" altLang="zh-CN" dirty="0"/>
              <a:t>-II</a:t>
            </a:r>
            <a:endParaRPr lang="en-CN" dirty="0"/>
          </a:p>
        </p:txBody>
      </p:sp>
    </p:spTree>
    <p:extLst>
      <p:ext uri="{BB962C8B-B14F-4D97-AF65-F5344CB8AC3E}">
        <p14:creationId xmlns:p14="http://schemas.microsoft.com/office/powerpoint/2010/main" val="38004584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A72C06A-5F4D-5F42-9ACC-74359C021B6A}"/>
              </a:ext>
            </a:extLst>
          </p:cNvPr>
          <p:cNvSpPr txBox="1"/>
          <p:nvPr/>
        </p:nvSpPr>
        <p:spPr>
          <a:xfrm>
            <a:off x="235527" y="305178"/>
            <a:ext cx="9504218" cy="646331"/>
          </a:xfrm>
          <a:prstGeom prst="rect">
            <a:avLst/>
          </a:prstGeom>
          <a:noFill/>
        </p:spPr>
        <p:txBody>
          <a:bodyPr wrap="square" rtlCol="0">
            <a:spAutoFit/>
          </a:bodyPr>
          <a:lstStyle/>
          <a:p>
            <a:r>
              <a:rPr lang="en-CN" dirty="0"/>
              <a:t>An </a:t>
            </a:r>
            <a:r>
              <a:rPr lang="en-CN" dirty="0">
                <a:solidFill>
                  <a:srgbClr val="FF0000"/>
                </a:solidFill>
              </a:rPr>
              <a:t>intensive</a:t>
            </a:r>
            <a:r>
              <a:rPr lang="en-CN" dirty="0"/>
              <a:t> property does not depend on the system size or the amount of material in the system;</a:t>
            </a:r>
          </a:p>
          <a:p>
            <a:r>
              <a:rPr lang="en-CN" dirty="0"/>
              <a:t>By contrast, </a:t>
            </a:r>
            <a:r>
              <a:rPr lang="en-CN" dirty="0">
                <a:solidFill>
                  <a:srgbClr val="FF0000"/>
                </a:solidFill>
              </a:rPr>
              <a:t>extensive</a:t>
            </a:r>
            <a:r>
              <a:rPr lang="en-CN" dirty="0"/>
              <a:t> properties are additive for subsystems.</a:t>
            </a:r>
          </a:p>
        </p:txBody>
      </p:sp>
      <p:pic>
        <p:nvPicPr>
          <p:cNvPr id="7" name="Picture 6">
            <a:extLst>
              <a:ext uri="{FF2B5EF4-FFF2-40B4-BE49-F238E27FC236}">
                <a16:creationId xmlns:a16="http://schemas.microsoft.com/office/drawing/2014/main" id="{52E0C2C8-F057-0144-805B-61347C9E2EBC}"/>
              </a:ext>
            </a:extLst>
          </p:cNvPr>
          <p:cNvPicPr>
            <a:picLocks noChangeAspect="1"/>
          </p:cNvPicPr>
          <p:nvPr/>
        </p:nvPicPr>
        <p:blipFill>
          <a:blip r:embed="rId2"/>
          <a:stretch>
            <a:fillRect/>
          </a:stretch>
        </p:blipFill>
        <p:spPr>
          <a:xfrm>
            <a:off x="0" y="1340331"/>
            <a:ext cx="12192000" cy="2623881"/>
          </a:xfrm>
          <a:prstGeom prst="rect">
            <a:avLst/>
          </a:prstGeom>
        </p:spPr>
      </p:pic>
      <p:pic>
        <p:nvPicPr>
          <p:cNvPr id="9" name="Picture 8">
            <a:extLst>
              <a:ext uri="{FF2B5EF4-FFF2-40B4-BE49-F238E27FC236}">
                <a16:creationId xmlns:a16="http://schemas.microsoft.com/office/drawing/2014/main" id="{6ACF6120-4A5A-8F4A-A66F-F14D3A2B3443}"/>
              </a:ext>
            </a:extLst>
          </p:cNvPr>
          <p:cNvPicPr>
            <a:picLocks noChangeAspect="1"/>
          </p:cNvPicPr>
          <p:nvPr/>
        </p:nvPicPr>
        <p:blipFill>
          <a:blip r:embed="rId3"/>
          <a:stretch>
            <a:fillRect/>
          </a:stretch>
        </p:blipFill>
        <p:spPr>
          <a:xfrm>
            <a:off x="0" y="4043430"/>
            <a:ext cx="12192000" cy="1866122"/>
          </a:xfrm>
          <a:prstGeom prst="rect">
            <a:avLst/>
          </a:prstGeom>
        </p:spPr>
      </p:pic>
    </p:spTree>
    <p:extLst>
      <p:ext uri="{BB962C8B-B14F-4D97-AF65-F5344CB8AC3E}">
        <p14:creationId xmlns:p14="http://schemas.microsoft.com/office/powerpoint/2010/main" val="34152320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C71A5C6-7B42-1B47-8544-CC9A1B1E2DA0}"/>
                  </a:ext>
                </a:extLst>
              </p:cNvPr>
              <p:cNvSpPr txBox="1"/>
              <p:nvPr/>
            </p:nvSpPr>
            <p:spPr>
              <a:xfrm>
                <a:off x="2286002" y="3905837"/>
                <a:ext cx="8215745" cy="369332"/>
              </a:xfrm>
              <a:prstGeom prst="rect">
                <a:avLst/>
              </a:prstGeom>
              <a:noFill/>
            </p:spPr>
            <p:txBody>
              <a:bodyPr wrap="square" rtlCol="0">
                <a:spAutoFit/>
              </a:bodyPr>
              <a:lstStyle/>
              <a:p>
                <a:pPr algn="ctr"/>
                <a14:m>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r>
                      <a:rPr lang="en-US" b="0" i="1" smtClean="0">
                        <a:latin typeface="Cambria Math" panose="02040503050406030204" pitchFamily="18" charset="0"/>
                      </a:rPr>
                      <m:t>𝑒𝑥𝑡𝑒𝑛𝑠𝑖𝑣𝑒</m:t>
                    </m:r>
                    <m:r>
                      <a:rPr lang="en-US" b="0" i="1" smtClean="0">
                        <a:latin typeface="Cambria Math" panose="02040503050406030204" pitchFamily="18" charset="0"/>
                      </a:rPr>
                      <m:t>,</m:t>
                    </m:r>
                    <m:r>
                      <a:rPr lang="en-US" b="0" i="1" smtClean="0">
                        <a:latin typeface="Cambria Math" panose="02040503050406030204" pitchFamily="18" charset="0"/>
                      </a:rPr>
                      <m:t>𝑖𝑛𝑡𝑒𝑛𝑠𝑖𝑣𝑒</m:t>
                    </m:r>
                    <m:r>
                      <a:rPr lang="en-US" b="0" i="1" smtClean="0">
                        <a:latin typeface="Cambria Math" panose="02040503050406030204" pitchFamily="18" charset="0"/>
                      </a:rPr>
                      <m:t>)</m:t>
                    </m:r>
                  </m:oMath>
                </a14:m>
                <a:r>
                  <a:rPr lang="en-CN" dirty="0"/>
                  <a:t>               共轭</a:t>
                </a:r>
              </a:p>
            </p:txBody>
          </p:sp>
        </mc:Choice>
        <mc:Fallback xmlns="">
          <p:sp>
            <p:nvSpPr>
              <p:cNvPr id="2" name="TextBox 1">
                <a:extLst>
                  <a:ext uri="{FF2B5EF4-FFF2-40B4-BE49-F238E27FC236}">
                    <a16:creationId xmlns:a16="http://schemas.microsoft.com/office/drawing/2014/main" id="{BC71A5C6-7B42-1B47-8544-CC9A1B1E2DA0}"/>
                  </a:ext>
                </a:extLst>
              </p:cNvPr>
              <p:cNvSpPr txBox="1">
                <a:spLocks noRot="1" noChangeAspect="1" noMove="1" noResize="1" noEditPoints="1" noAdjustHandles="1" noChangeArrowheads="1" noChangeShapeType="1" noTextEdit="1"/>
              </p:cNvSpPr>
              <p:nvPr/>
            </p:nvSpPr>
            <p:spPr>
              <a:xfrm>
                <a:off x="2286002" y="3905837"/>
                <a:ext cx="8215745" cy="369332"/>
              </a:xfrm>
              <a:prstGeom prst="rect">
                <a:avLst/>
              </a:prstGeom>
              <a:blipFill>
                <a:blip r:embed="rId2"/>
                <a:stretch>
                  <a:fillRect t="-6667" b="-2333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B116037-B8E2-1244-8FDE-4FC9076FB11F}"/>
                  </a:ext>
                </a:extLst>
              </p:cNvPr>
              <p:cNvSpPr txBox="1"/>
              <p:nvPr/>
            </p:nvSpPr>
            <p:spPr>
              <a:xfrm>
                <a:off x="2909455" y="2805921"/>
                <a:ext cx="5749636" cy="9413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𝑈</m:t>
                      </m:r>
                      <m:d>
                        <m:dPr>
                          <m:ctrlPr>
                            <a:rPr lang="en-US" b="0" i="1" smtClean="0">
                              <a:latin typeface="Cambria Math" panose="02040503050406030204" pitchFamily="18" charset="0"/>
                            </a:rPr>
                          </m:ctrlPr>
                        </m:dPr>
                        <m:e>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1</m:t>
                              </m:r>
                            </m:sub>
                          </m:sSub>
                          <m:r>
                            <a:rPr lang="en-US" b="0" i="1" smtClean="0">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2</m:t>
                              </m:r>
                            </m:sub>
                          </m:sSub>
                          <m:r>
                            <a:rPr lang="en-US" b="0" i="1" smtClean="0">
                              <a:solidFill>
                                <a:srgbClr val="FF0000"/>
                              </a:solidFill>
                              <a:latin typeface="Cambria Math" panose="02040503050406030204" pitchFamily="18" charset="0"/>
                            </a:rPr>
                            <m:t>,</m:t>
                          </m:r>
                          <m:r>
                            <a:rPr lang="en-US"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𝑛</m:t>
                              </m:r>
                            </m:sub>
                          </m:sSub>
                        </m:e>
                      </m:d>
                    </m:oMath>
                  </m:oMathPara>
                </a14:m>
                <a:endParaRPr lang="en-US" b="0" dirty="0"/>
              </a:p>
              <a:p>
                <a:pPr/>
                <a14:m>
                  <m:oMathPara xmlns:m="http://schemas.openxmlformats.org/officeDocument/2006/math">
                    <m:oMathParaPr>
                      <m:jc m:val="centerGroup"/>
                    </m:oMathParaPr>
                    <m:oMath xmlns:m="http://schemas.openxmlformats.org/officeDocument/2006/math">
                      <m:sSub>
                        <m:sSubPr>
                          <m:ctrlPr>
                            <a:rPr lang="en-CN"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𝑠</m:t>
                          </m:r>
                        </m:e>
                        <m:sub>
                          <m:r>
                            <a:rPr lang="en-US" b="0" i="1" smtClean="0">
                              <a:solidFill>
                                <a:srgbClr val="FF0000"/>
                              </a:solidFill>
                              <a:latin typeface="Cambria Math" panose="02040503050406030204" pitchFamily="18" charset="0"/>
                            </a:rPr>
                            <m:t>𝑖</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𝑈</m:t>
                          </m:r>
                        </m:num>
                        <m:den>
                          <m:r>
                            <a:rPr lang="en-US" b="0" i="1" smtClean="0">
                              <a:latin typeface="Cambria Math" panose="02040503050406030204" pitchFamily="18" charset="0"/>
                            </a:rPr>
                            <m:t>𝜕</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den>
                      </m:f>
                    </m:oMath>
                  </m:oMathPara>
                </a14:m>
                <a:endParaRPr lang="en-CN" dirty="0"/>
              </a:p>
            </p:txBody>
          </p:sp>
        </mc:Choice>
        <mc:Fallback xmlns="">
          <p:sp>
            <p:nvSpPr>
              <p:cNvPr id="3" name="TextBox 2">
                <a:extLst>
                  <a:ext uri="{FF2B5EF4-FFF2-40B4-BE49-F238E27FC236}">
                    <a16:creationId xmlns:a16="http://schemas.microsoft.com/office/drawing/2014/main" id="{4B116037-B8E2-1244-8FDE-4FC9076FB11F}"/>
                  </a:ext>
                </a:extLst>
              </p:cNvPr>
              <p:cNvSpPr txBox="1">
                <a:spLocks noRot="1" noChangeAspect="1" noMove="1" noResize="1" noEditPoints="1" noAdjustHandles="1" noChangeArrowheads="1" noChangeShapeType="1" noTextEdit="1"/>
              </p:cNvSpPr>
              <p:nvPr/>
            </p:nvSpPr>
            <p:spPr>
              <a:xfrm>
                <a:off x="2909455" y="2805921"/>
                <a:ext cx="5749636" cy="941348"/>
              </a:xfrm>
              <a:prstGeom prst="rect">
                <a:avLst/>
              </a:prstGeom>
              <a:blipFill>
                <a:blip r:embed="rId3"/>
                <a:stretch>
                  <a:fillRect b="-5263"/>
                </a:stretch>
              </a:blipFill>
            </p:spPr>
            <p:txBody>
              <a:bodyPr/>
              <a:lstStyle/>
              <a:p>
                <a:r>
                  <a:rPr lang="en-CN">
                    <a:noFill/>
                  </a:rPr>
                  <a:t> </a:t>
                </a:r>
              </a:p>
            </p:txBody>
          </p:sp>
        </mc:Fallback>
      </mc:AlternateContent>
      <p:sp>
        <p:nvSpPr>
          <p:cNvPr id="5" name="TextBox 4">
            <a:extLst>
              <a:ext uri="{FF2B5EF4-FFF2-40B4-BE49-F238E27FC236}">
                <a16:creationId xmlns:a16="http://schemas.microsoft.com/office/drawing/2014/main" id="{42C3B851-736B-3245-89EC-9B76850354EB}"/>
              </a:ext>
            </a:extLst>
          </p:cNvPr>
          <p:cNvSpPr txBox="1"/>
          <p:nvPr/>
        </p:nvSpPr>
        <p:spPr>
          <a:xfrm>
            <a:off x="401781" y="325179"/>
            <a:ext cx="11139055" cy="2308324"/>
          </a:xfrm>
          <a:prstGeom prst="rect">
            <a:avLst/>
          </a:prstGeom>
          <a:noFill/>
        </p:spPr>
        <p:txBody>
          <a:bodyPr wrap="square">
            <a:spAutoFit/>
          </a:bodyPr>
          <a:lstStyle/>
          <a:p>
            <a:r>
              <a:rPr lang="en-US" dirty="0">
                <a:solidFill>
                  <a:srgbClr val="202122"/>
                </a:solidFill>
                <a:latin typeface="Arial" panose="020B0604020202020204" pitchFamily="34" charset="0"/>
              </a:rPr>
              <a:t>I</a:t>
            </a:r>
            <a:r>
              <a:rPr lang="en-US" b="0" i="0" u="none" strike="noStrike" dirty="0">
                <a:solidFill>
                  <a:srgbClr val="202122"/>
                </a:solidFill>
                <a:effectLst/>
                <a:latin typeface="Arial" panose="020B0604020202020204" pitchFamily="34" charset="0"/>
              </a:rPr>
              <a:t>n a thermodynamic system, transfers of extensive quantities are associated with changes in respective specific intensive quantities. For example, a volume transfer is associated with a change in pressure. An entropy change is associated with a temperature change. A change of amount of electric polarization is associated with an electric field change. The transferred extensive quantities and their associated respective intensive quantities have dimensions that multiply to give the dimensions of energy. </a:t>
            </a:r>
            <a:r>
              <a:rPr lang="en-US" b="0" i="0" u="none" strike="noStrike" dirty="0">
                <a:solidFill>
                  <a:srgbClr val="FF0000"/>
                </a:solidFill>
                <a:effectLst/>
                <a:latin typeface="Arial" panose="020B0604020202020204" pitchFamily="34" charset="0"/>
              </a:rPr>
              <a:t>The two members of such respective specific pairs are mutually conjugate.</a:t>
            </a:r>
            <a:r>
              <a:rPr lang="en-US" b="0" i="0" u="none" strike="noStrike" dirty="0">
                <a:solidFill>
                  <a:srgbClr val="202122"/>
                </a:solidFill>
                <a:effectLst/>
                <a:latin typeface="Arial" panose="020B0604020202020204" pitchFamily="34" charset="0"/>
              </a:rPr>
              <a:t> Either one, but not both, of a conjugate pair may be set up as an independent state variable of a thermodynamic system. Conjugate setups are associated by </a:t>
            </a:r>
            <a:r>
              <a:rPr lang="en-US" b="0" i="0" u="none" strike="noStrike" dirty="0">
                <a:solidFill>
                  <a:srgbClr val="0B0080"/>
                </a:solidFill>
                <a:effectLst/>
                <a:latin typeface="Arial" panose="020B0604020202020204" pitchFamily="34" charset="0"/>
                <a:hlinkClick r:id="rId4" tooltip="Legendre transformation"/>
              </a:rPr>
              <a:t>Legendre transformations</a:t>
            </a:r>
            <a:r>
              <a:rPr lang="en-US" b="0" i="0" u="none" strike="noStrike" dirty="0">
                <a:solidFill>
                  <a:srgbClr val="202122"/>
                </a:solidFill>
                <a:effectLst/>
                <a:latin typeface="Arial" panose="020B0604020202020204" pitchFamily="34" charset="0"/>
              </a:rPr>
              <a:t>.</a:t>
            </a:r>
            <a:endParaRPr lang="en-CN" dirty="0"/>
          </a:p>
        </p:txBody>
      </p:sp>
      <mc:AlternateContent xmlns:mc="http://schemas.openxmlformats.org/markup-compatibility/2006" xmlns:a14="http://schemas.microsoft.com/office/drawing/2010/main">
        <mc:Choice Requires="a14">
          <p:graphicFrame>
            <p:nvGraphicFramePr>
              <p:cNvPr id="6" name="Table 6">
                <a:extLst>
                  <a:ext uri="{FF2B5EF4-FFF2-40B4-BE49-F238E27FC236}">
                    <a16:creationId xmlns:a16="http://schemas.microsoft.com/office/drawing/2014/main" id="{52E27B1D-CF3A-B246-BF92-7A54DEB6F101}"/>
                  </a:ext>
                </a:extLst>
              </p:cNvPr>
              <p:cNvGraphicFramePr>
                <a:graphicFrameLocks noGrp="1"/>
              </p:cNvGraphicFramePr>
              <p:nvPr>
                <p:extLst>
                  <p:ext uri="{D42A27DB-BD31-4B8C-83A1-F6EECF244321}">
                    <p14:modId xmlns:p14="http://schemas.microsoft.com/office/powerpoint/2010/main" val="3398642493"/>
                  </p:ext>
                </p:extLst>
              </p:nvPr>
            </p:nvGraphicFramePr>
            <p:xfrm>
              <a:off x="1214582" y="4805823"/>
              <a:ext cx="2359892" cy="1483360"/>
            </p:xfrm>
            <a:graphic>
              <a:graphicData uri="http://schemas.openxmlformats.org/drawingml/2006/table">
                <a:tbl>
                  <a:tblPr firstRow="1" bandRow="1">
                    <a:tableStyleId>{5C22544A-7EE6-4342-B048-85BDC9FD1C3A}</a:tableStyleId>
                  </a:tblPr>
                  <a:tblGrid>
                    <a:gridCol w="1179946">
                      <a:extLst>
                        <a:ext uri="{9D8B030D-6E8A-4147-A177-3AD203B41FA5}">
                          <a16:colId xmlns:a16="http://schemas.microsoft.com/office/drawing/2014/main" val="2810094288"/>
                        </a:ext>
                      </a:extLst>
                    </a:gridCol>
                    <a:gridCol w="1179946">
                      <a:extLst>
                        <a:ext uri="{9D8B030D-6E8A-4147-A177-3AD203B41FA5}">
                          <a16:colId xmlns:a16="http://schemas.microsoft.com/office/drawing/2014/main" val="4208576366"/>
                        </a:ext>
                      </a:extLst>
                    </a:gridCol>
                  </a:tblGrid>
                  <a:tr h="370840">
                    <a:tc>
                      <a:txBody>
                        <a:bodyPr/>
                        <a:lstStyle/>
                        <a:p>
                          <a:pPr algn="ctr"/>
                          <a14:m>
                            <m:oMathPara xmlns:m="http://schemas.openxmlformats.org/officeDocument/2006/math">
                              <m:oMathParaPr>
                                <m:jc m:val="centerGroup"/>
                              </m:oMathParaPr>
                              <m:oMath xmlns:m="http://schemas.openxmlformats.org/officeDocument/2006/math">
                                <m:sSub>
                                  <m:sSubPr>
                                    <m:ctrlPr>
                                      <a:rPr lang="en-CN"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𝒙</m:t>
                                    </m:r>
                                  </m:e>
                                  <m:sub>
                                    <m:r>
                                      <a:rPr lang="en-US" b="1" i="1" smtClean="0">
                                        <a:solidFill>
                                          <a:schemeClr val="tx1"/>
                                        </a:solidFill>
                                        <a:latin typeface="Cambria Math" panose="02040503050406030204" pitchFamily="18" charset="0"/>
                                      </a:rPr>
                                      <m:t>𝒊</m:t>
                                    </m:r>
                                  </m:sub>
                                </m:sSub>
                              </m:oMath>
                            </m:oMathPara>
                          </a14:m>
                          <a:endParaRPr lang="en-CN"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b>
                                  <m:sSubPr>
                                    <m:ctrlPr>
                                      <a:rPr lang="en-CN"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𝒔</m:t>
                                    </m:r>
                                  </m:e>
                                  <m:sub>
                                    <m:r>
                                      <a:rPr lang="en-US" b="1" i="1" smtClean="0">
                                        <a:solidFill>
                                          <a:schemeClr val="tx1"/>
                                        </a:solidFill>
                                        <a:latin typeface="Cambria Math" panose="02040503050406030204" pitchFamily="18" charset="0"/>
                                      </a:rPr>
                                      <m:t>𝒊</m:t>
                                    </m:r>
                                  </m:sub>
                                </m:sSub>
                              </m:oMath>
                            </m:oMathPara>
                          </a14:m>
                          <a:endParaRPr lang="en-CN" dirty="0"/>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052153"/>
                      </a:ext>
                    </a:extLst>
                  </a:tr>
                  <a:tr h="370840">
                    <a:tc>
                      <a:txBody>
                        <a:bodyPr/>
                        <a:lstStyle/>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𝜎</m:t>
                                </m:r>
                              </m:oMath>
                            </m:oMathPara>
                          </a14:m>
                          <a:endParaRPr lang="en-CN"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𝜏</m:t>
                                </m:r>
                              </m:oMath>
                            </m:oMathPara>
                          </a14:m>
                          <a:endParaRPr lang="en-CN"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8213795"/>
                      </a:ext>
                    </a:extLst>
                  </a:tr>
                  <a:tr h="370840">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m:t>
                                </m:r>
                              </m:oMath>
                            </m:oMathPara>
                          </a14:m>
                          <a:endParaRPr lang="en-CN"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en-CN"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0638559"/>
                      </a:ext>
                    </a:extLst>
                  </a:tr>
                  <a:tr h="370840">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𝑁</m:t>
                                </m:r>
                              </m:oMath>
                            </m:oMathPara>
                          </a14:m>
                          <a:endParaRPr lang="en-CN"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𝜇</m:t>
                                </m:r>
                              </m:oMath>
                            </m:oMathPara>
                          </a14:m>
                          <a:endParaRPr lang="en-CN"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5981726"/>
                      </a:ext>
                    </a:extLst>
                  </a:tr>
                </a:tbl>
              </a:graphicData>
            </a:graphic>
          </p:graphicFrame>
        </mc:Choice>
        <mc:Fallback xmlns="">
          <p:graphicFrame>
            <p:nvGraphicFramePr>
              <p:cNvPr id="6" name="Table 6">
                <a:extLst>
                  <a:ext uri="{FF2B5EF4-FFF2-40B4-BE49-F238E27FC236}">
                    <a16:creationId xmlns:a16="http://schemas.microsoft.com/office/drawing/2014/main" id="{52E27B1D-CF3A-B246-BF92-7A54DEB6F101}"/>
                  </a:ext>
                </a:extLst>
              </p:cNvPr>
              <p:cNvGraphicFramePr>
                <a:graphicFrameLocks noGrp="1"/>
              </p:cNvGraphicFramePr>
              <p:nvPr>
                <p:extLst>
                  <p:ext uri="{D42A27DB-BD31-4B8C-83A1-F6EECF244321}">
                    <p14:modId xmlns:p14="http://schemas.microsoft.com/office/powerpoint/2010/main" val="3398642493"/>
                  </p:ext>
                </p:extLst>
              </p:nvPr>
            </p:nvGraphicFramePr>
            <p:xfrm>
              <a:off x="1214582" y="4805823"/>
              <a:ext cx="2359892" cy="1483360"/>
            </p:xfrm>
            <a:graphic>
              <a:graphicData uri="http://schemas.openxmlformats.org/drawingml/2006/table">
                <a:tbl>
                  <a:tblPr firstRow="1" bandRow="1">
                    <a:tableStyleId>{5C22544A-7EE6-4342-B048-85BDC9FD1C3A}</a:tableStyleId>
                  </a:tblPr>
                  <a:tblGrid>
                    <a:gridCol w="1179946">
                      <a:extLst>
                        <a:ext uri="{9D8B030D-6E8A-4147-A177-3AD203B41FA5}">
                          <a16:colId xmlns:a16="http://schemas.microsoft.com/office/drawing/2014/main" val="2810094288"/>
                        </a:ext>
                      </a:extLst>
                    </a:gridCol>
                    <a:gridCol w="1179946">
                      <a:extLst>
                        <a:ext uri="{9D8B030D-6E8A-4147-A177-3AD203B41FA5}">
                          <a16:colId xmlns:a16="http://schemas.microsoft.com/office/drawing/2014/main" val="4208576366"/>
                        </a:ext>
                      </a:extLst>
                    </a:gridCol>
                  </a:tblGrid>
                  <a:tr h="370840">
                    <a:tc>
                      <a:txBody>
                        <a:bodyPr/>
                        <a:lstStyle/>
                        <a:p>
                          <a:endParaRPr lang="en-CN"/>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blipFill>
                          <a:blip r:embed="rId5"/>
                          <a:stretch>
                            <a:fillRect t="-3333" r="-100000" b="-296667"/>
                          </a:stretch>
                        </a:blipFill>
                      </a:tcPr>
                    </a:tc>
                    <a:tc>
                      <a:txBody>
                        <a:bodyPr/>
                        <a:lstStyle/>
                        <a:p>
                          <a:endParaRPr lang="en-CN"/>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blipFill>
                          <a:blip r:embed="rId5"/>
                          <a:stretch>
                            <a:fillRect l="-101075" t="-3333" r="-1075" b="-296667"/>
                          </a:stretch>
                        </a:blipFill>
                      </a:tcPr>
                    </a:tc>
                    <a:extLst>
                      <a:ext uri="{0D108BD9-81ED-4DB2-BD59-A6C34878D82A}">
                        <a16:rowId xmlns:a16="http://schemas.microsoft.com/office/drawing/2014/main" val="3304052153"/>
                      </a:ext>
                    </a:extLst>
                  </a:tr>
                  <a:tr h="370840">
                    <a:tc>
                      <a:txBody>
                        <a:bodyPr/>
                        <a:lstStyle/>
                        <a:p>
                          <a:endParaRPr lang="en-CN"/>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106897" r="-100000" b="-206897"/>
                          </a:stretch>
                        </a:blipFill>
                      </a:tcPr>
                    </a:tc>
                    <a:tc>
                      <a:txBody>
                        <a:bodyPr/>
                        <a:lstStyle/>
                        <a:p>
                          <a:endParaRPr lang="en-C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1075" t="-106897" r="-1075" b="-206897"/>
                          </a:stretch>
                        </a:blipFill>
                      </a:tcPr>
                    </a:tc>
                    <a:extLst>
                      <a:ext uri="{0D108BD9-81ED-4DB2-BD59-A6C34878D82A}">
                        <a16:rowId xmlns:a16="http://schemas.microsoft.com/office/drawing/2014/main" val="4238213795"/>
                      </a:ext>
                    </a:extLst>
                  </a:tr>
                  <a:tr h="370840">
                    <a:tc>
                      <a:txBody>
                        <a:bodyPr/>
                        <a:lstStyle/>
                        <a:p>
                          <a:endParaRPr lang="en-CN"/>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200000" r="-100000" b="-100000"/>
                          </a:stretch>
                        </a:blipFill>
                      </a:tcPr>
                    </a:tc>
                    <a:tc>
                      <a:txBody>
                        <a:bodyPr/>
                        <a:lstStyle/>
                        <a:p>
                          <a:endParaRPr lang="en-C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1075" t="-200000" r="-1075" b="-100000"/>
                          </a:stretch>
                        </a:blipFill>
                      </a:tcPr>
                    </a:tc>
                    <a:extLst>
                      <a:ext uri="{0D108BD9-81ED-4DB2-BD59-A6C34878D82A}">
                        <a16:rowId xmlns:a16="http://schemas.microsoft.com/office/drawing/2014/main" val="2060638559"/>
                      </a:ext>
                    </a:extLst>
                  </a:tr>
                  <a:tr h="370840">
                    <a:tc>
                      <a:txBody>
                        <a:bodyPr/>
                        <a:lstStyle/>
                        <a:p>
                          <a:endParaRPr lang="en-CN"/>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blipFill>
                          <a:blip r:embed="rId5"/>
                          <a:stretch>
                            <a:fillRect t="-310345" r="-100000" b="-3448"/>
                          </a:stretch>
                        </a:blipFill>
                      </a:tcPr>
                    </a:tc>
                    <a:tc>
                      <a:txBody>
                        <a:bodyPr/>
                        <a:lstStyle/>
                        <a:p>
                          <a:endParaRPr lang="en-C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blipFill>
                          <a:blip r:embed="rId5"/>
                          <a:stretch>
                            <a:fillRect l="-101075" t="-310345" r="-1075" b="-3448"/>
                          </a:stretch>
                        </a:blipFill>
                      </a:tcPr>
                    </a:tc>
                    <a:extLst>
                      <a:ext uri="{0D108BD9-81ED-4DB2-BD59-A6C34878D82A}">
                        <a16:rowId xmlns:a16="http://schemas.microsoft.com/office/drawing/2014/main" val="295981726"/>
                      </a:ext>
                    </a:extLst>
                  </a:tr>
                </a:tbl>
              </a:graphicData>
            </a:graphic>
          </p:graphicFrame>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58547D7-00B0-C74C-AFDC-55795E463A5C}"/>
                  </a:ext>
                </a:extLst>
              </p:cNvPr>
              <p:cNvSpPr txBox="1"/>
              <p:nvPr/>
            </p:nvSpPr>
            <p:spPr>
              <a:xfrm>
                <a:off x="5403274" y="4834937"/>
                <a:ext cx="50984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𝜏</m:t>
                          </m:r>
                        </m:e>
                      </m:d>
                      <m:r>
                        <a:rPr lang="en-US" b="0" i="1" smtClean="0">
                          <a:latin typeface="Cambria Math" panose="02040503050406030204" pitchFamily="18" charset="0"/>
                        </a:rPr>
                        <m:t>=</m:t>
                      </m:r>
                      <m:r>
                        <a:rPr lang="en-US" b="0" i="1" smtClean="0">
                          <a:latin typeface="Cambria Math" panose="02040503050406030204" pitchFamily="18" charset="0"/>
                        </a:rPr>
                        <m:t>𝑈</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𝜎</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𝜎𝜏</m:t>
                      </m:r>
                    </m:oMath>
                  </m:oMathPara>
                </a14:m>
                <a:endParaRPr lang="en-CN" dirty="0"/>
              </a:p>
            </p:txBody>
          </p:sp>
        </mc:Choice>
        <mc:Fallback xmlns="">
          <p:sp>
            <p:nvSpPr>
              <p:cNvPr id="7" name="TextBox 6">
                <a:extLst>
                  <a:ext uri="{FF2B5EF4-FFF2-40B4-BE49-F238E27FC236}">
                    <a16:creationId xmlns:a16="http://schemas.microsoft.com/office/drawing/2014/main" id="{158547D7-00B0-C74C-AFDC-55795E463A5C}"/>
                  </a:ext>
                </a:extLst>
              </p:cNvPr>
              <p:cNvSpPr txBox="1">
                <a:spLocks noRot="1" noChangeAspect="1" noMove="1" noResize="1" noEditPoints="1" noAdjustHandles="1" noChangeArrowheads="1" noChangeShapeType="1" noTextEdit="1"/>
              </p:cNvSpPr>
              <p:nvPr/>
            </p:nvSpPr>
            <p:spPr>
              <a:xfrm>
                <a:off x="5403274" y="4834937"/>
                <a:ext cx="5098473" cy="369332"/>
              </a:xfrm>
              <a:prstGeom prst="rect">
                <a:avLst/>
              </a:prstGeom>
              <a:blipFill>
                <a:blip r:embed="rId6"/>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A0A4A8C-5A7E-224F-9479-5B6328B46A31}"/>
                  </a:ext>
                </a:extLst>
              </p:cNvPr>
              <p:cNvSpPr txBox="1"/>
              <p:nvPr/>
            </p:nvSpPr>
            <p:spPr>
              <a:xfrm>
                <a:off x="5403274" y="5796004"/>
                <a:ext cx="50984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e>
                      </m:d>
                      <m:r>
                        <a:rPr lang="en-US" b="0" i="1" smtClean="0">
                          <a:latin typeface="Cambria Math" panose="02040503050406030204" pitchFamily="18" charset="0"/>
                        </a:rPr>
                        <m:t>=</m:t>
                      </m:r>
                      <m:r>
                        <a:rPr lang="en-US" b="0" i="1" smtClean="0">
                          <a:latin typeface="Cambria Math" panose="02040503050406030204" pitchFamily="18" charset="0"/>
                        </a:rPr>
                        <m:t>𝑈</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𝜎𝜏</m:t>
                      </m:r>
                    </m:oMath>
                  </m:oMathPara>
                </a14:m>
                <a:endParaRPr lang="en-CN" dirty="0"/>
              </a:p>
            </p:txBody>
          </p:sp>
        </mc:Choice>
        <mc:Fallback xmlns="">
          <p:sp>
            <p:nvSpPr>
              <p:cNvPr id="8" name="TextBox 7">
                <a:extLst>
                  <a:ext uri="{FF2B5EF4-FFF2-40B4-BE49-F238E27FC236}">
                    <a16:creationId xmlns:a16="http://schemas.microsoft.com/office/drawing/2014/main" id="{7A0A4A8C-5A7E-224F-9479-5B6328B46A31}"/>
                  </a:ext>
                </a:extLst>
              </p:cNvPr>
              <p:cNvSpPr txBox="1">
                <a:spLocks noRot="1" noChangeAspect="1" noMove="1" noResize="1" noEditPoints="1" noAdjustHandles="1" noChangeArrowheads="1" noChangeShapeType="1" noTextEdit="1"/>
              </p:cNvSpPr>
              <p:nvPr/>
            </p:nvSpPr>
            <p:spPr>
              <a:xfrm>
                <a:off x="5403274" y="5796004"/>
                <a:ext cx="5098473" cy="369332"/>
              </a:xfrm>
              <a:prstGeom prst="rect">
                <a:avLst/>
              </a:prstGeom>
              <a:blipFill>
                <a:blip r:embed="rId7"/>
                <a:stretch>
                  <a:fillRect/>
                </a:stretch>
              </a:blipFill>
            </p:spPr>
            <p:txBody>
              <a:bodyPr/>
              <a:lstStyle/>
              <a:p>
                <a:r>
                  <a:rPr lang="en-CN">
                    <a:noFill/>
                  </a:rPr>
                  <a:t> </a:t>
                </a:r>
              </a:p>
            </p:txBody>
          </p:sp>
        </mc:Fallback>
      </mc:AlternateContent>
    </p:spTree>
    <p:extLst>
      <p:ext uri="{BB962C8B-B14F-4D97-AF65-F5344CB8AC3E}">
        <p14:creationId xmlns:p14="http://schemas.microsoft.com/office/powerpoint/2010/main" val="33413713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45D5EAB-63C1-C841-B62E-89DEF8BC9A36}"/>
                  </a:ext>
                </a:extLst>
              </p:cNvPr>
              <p:cNvSpPr txBox="1"/>
              <p:nvPr/>
            </p:nvSpPr>
            <p:spPr>
              <a:xfrm>
                <a:off x="124691" y="127713"/>
                <a:ext cx="7107382" cy="29891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𝑑𝐹</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𝑑𝑈</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𝜎</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𝑉</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𝑁</m:t>
                          </m:r>
                        </m:e>
                      </m:d>
                      <m:r>
                        <a:rPr lang="en-US" b="0" i="1" smtClean="0">
                          <a:latin typeface="Cambria Math" panose="02040503050406030204" pitchFamily="18" charset="0"/>
                        </a:rPr>
                        <m:t>−</m:t>
                      </m:r>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𝜏</m:t>
                      </m:r>
                    </m:oMath>
                  </m:oMathPara>
                </a14:m>
                <a:endParaRPr lang="en-US"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d>
                            <m:dPr>
                              <m:ctrlPr>
                                <a:rPr lang="en-US" b="0" i="1" smtClean="0">
                                  <a:solidFill>
                                    <a:srgbClr val="FF0000"/>
                                  </a:solidFill>
                                  <a:latin typeface="Cambria Math" panose="02040503050406030204" pitchFamily="18" charset="0"/>
                                </a:rPr>
                              </m:ctrlPr>
                            </m:dPr>
                            <m:e>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𝑈</m:t>
                                  </m:r>
                                </m:num>
                                <m:den>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𝜎</m:t>
                                  </m:r>
                                </m:den>
                              </m:f>
                            </m:e>
                          </m:d>
                        </m:e>
                        <m:sub>
                          <m:r>
                            <a:rPr lang="en-US" b="0" i="1" smtClean="0">
                              <a:solidFill>
                                <a:srgbClr val="FF0000"/>
                              </a:solidFill>
                              <a:latin typeface="Cambria Math" panose="02040503050406030204" pitchFamily="18" charset="0"/>
                            </a:rPr>
                            <m:t>𝑉</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𝑁</m:t>
                          </m:r>
                        </m:sub>
                      </m:sSub>
                      <m:r>
                        <a:rPr lang="en-US" b="0" i="1" smtClean="0">
                          <a:solidFill>
                            <a:srgbClr val="FF0000"/>
                          </a:solidFill>
                          <a:latin typeface="Cambria Math" panose="02040503050406030204" pitchFamily="18" charset="0"/>
                        </a:rPr>
                        <m:t>𝑑</m:t>
                      </m:r>
                      <m:r>
                        <a:rPr lang="en-US" b="0" i="1" smtClean="0">
                          <a:solidFill>
                            <a:srgbClr val="FF0000"/>
                          </a:solidFill>
                          <a:latin typeface="Cambria Math" panose="02040503050406030204" pitchFamily="18" charset="0"/>
                          <a:ea typeface="Cambria Math" panose="02040503050406030204" pitchFamily="18" charset="0"/>
                        </a:rPr>
                        <m:t>𝜎</m:t>
                      </m:r>
                      <m:r>
                        <a:rPr lang="en-US" b="0" i="1" smtClean="0">
                          <a:solidFill>
                            <a:srgbClr val="FF0000"/>
                          </a:solidFill>
                          <a:latin typeface="Cambria Math" panose="02040503050406030204" pitchFamily="18" charset="0"/>
                          <a:ea typeface="Cambria Math" panose="02040503050406030204" pitchFamily="18" charset="0"/>
                        </a:rPr>
                        <m:t>+</m:t>
                      </m:r>
                      <m:sSub>
                        <m:sSubPr>
                          <m:ctrlPr>
                            <a:rPr lang="en-US" i="1">
                              <a:solidFill>
                                <a:srgbClr val="FF0000"/>
                              </a:solidFill>
                              <a:latin typeface="Cambria Math" panose="02040503050406030204" pitchFamily="18" charset="0"/>
                            </a:rPr>
                          </m:ctrlPr>
                        </m:sSubPr>
                        <m:e>
                          <m:d>
                            <m:dPr>
                              <m:ctrlPr>
                                <a:rPr lang="en-US" i="1">
                                  <a:solidFill>
                                    <a:srgbClr val="FF0000"/>
                                  </a:solidFill>
                                  <a:latin typeface="Cambria Math" panose="02040503050406030204" pitchFamily="18" charset="0"/>
                                </a:rPr>
                              </m:ctrlPr>
                            </m:dPr>
                            <m:e>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𝑈</m:t>
                                  </m:r>
                                </m:num>
                                <m:den>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𝑉</m:t>
                                  </m:r>
                                </m:den>
                              </m:f>
                            </m:e>
                          </m:d>
                        </m:e>
                        <m:sub>
                          <m:r>
                            <a:rPr lang="en-US" i="1" smtClean="0">
                              <a:solidFill>
                                <a:srgbClr val="FF0000"/>
                              </a:solidFill>
                              <a:latin typeface="Cambria Math" panose="02040503050406030204" pitchFamily="18" charset="0"/>
                              <a:ea typeface="Cambria Math" panose="02040503050406030204" pitchFamily="18" charset="0"/>
                            </a:rPr>
                            <m:t>𝜎</m:t>
                          </m:r>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𝑁</m:t>
                          </m:r>
                        </m:sub>
                      </m:sSub>
                      <m:r>
                        <a:rPr lang="en-US" b="0" i="1" smtClean="0">
                          <a:solidFill>
                            <a:srgbClr val="FF0000"/>
                          </a:solidFill>
                          <a:latin typeface="Cambria Math" panose="02040503050406030204" pitchFamily="18" charset="0"/>
                          <a:ea typeface="Cambria Math" panose="02040503050406030204" pitchFamily="18" charset="0"/>
                        </a:rPr>
                        <m:t>𝑑𝑉</m:t>
                      </m:r>
                      <m:r>
                        <a:rPr lang="en-US" b="0" i="1" smtClean="0">
                          <a:solidFill>
                            <a:srgbClr val="FF0000"/>
                          </a:solidFill>
                          <a:latin typeface="Cambria Math" panose="02040503050406030204" pitchFamily="18" charset="0"/>
                          <a:ea typeface="Cambria Math" panose="02040503050406030204" pitchFamily="18" charset="0"/>
                        </a:rPr>
                        <m:t>+</m:t>
                      </m:r>
                      <m:sSub>
                        <m:sSubPr>
                          <m:ctrlPr>
                            <a:rPr lang="en-US" i="1">
                              <a:solidFill>
                                <a:srgbClr val="FF0000"/>
                              </a:solidFill>
                              <a:latin typeface="Cambria Math" panose="02040503050406030204" pitchFamily="18" charset="0"/>
                            </a:rPr>
                          </m:ctrlPr>
                        </m:sSubPr>
                        <m:e>
                          <m:d>
                            <m:dPr>
                              <m:ctrlPr>
                                <a:rPr lang="en-US" i="1">
                                  <a:solidFill>
                                    <a:srgbClr val="FF0000"/>
                                  </a:solidFill>
                                  <a:latin typeface="Cambria Math" panose="02040503050406030204" pitchFamily="18" charset="0"/>
                                </a:rPr>
                              </m:ctrlPr>
                            </m:dPr>
                            <m:e>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𝑈</m:t>
                                  </m:r>
                                </m:num>
                                <m:den>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𝑁</m:t>
                                  </m:r>
                                </m:den>
                              </m:f>
                            </m:e>
                          </m:d>
                        </m:e>
                        <m:sub>
                          <m:r>
                            <a:rPr lang="en-US" i="1" smtClean="0">
                              <a:solidFill>
                                <a:srgbClr val="FF0000"/>
                              </a:solidFill>
                              <a:latin typeface="Cambria Math" panose="02040503050406030204" pitchFamily="18" charset="0"/>
                              <a:ea typeface="Cambria Math" panose="02040503050406030204" pitchFamily="18" charset="0"/>
                            </a:rPr>
                            <m:t>𝜎</m:t>
                          </m:r>
                          <m:r>
                            <a:rPr lang="en-US" b="0" i="1" smtClean="0">
                              <a:solidFill>
                                <a:srgbClr val="FF0000"/>
                              </a:solidFill>
                              <a:latin typeface="Cambria Math" panose="02040503050406030204" pitchFamily="18" charset="0"/>
                              <a:ea typeface="Cambria Math" panose="02040503050406030204" pitchFamily="18" charset="0"/>
                            </a:rPr>
                            <m:t>,</m:t>
                          </m:r>
                          <m:r>
                            <a:rPr lang="en-US" i="1">
                              <a:solidFill>
                                <a:srgbClr val="FF0000"/>
                              </a:solidFill>
                              <a:latin typeface="Cambria Math" panose="02040503050406030204" pitchFamily="18" charset="0"/>
                            </a:rPr>
                            <m:t>𝑉</m:t>
                          </m:r>
                        </m:sub>
                      </m:sSub>
                      <m:r>
                        <a:rPr lang="en-US" b="0" i="1" smtClean="0">
                          <a:solidFill>
                            <a:srgbClr val="FF0000"/>
                          </a:solidFill>
                          <a:latin typeface="Cambria Math" panose="02040503050406030204" pitchFamily="18" charset="0"/>
                          <a:ea typeface="Cambria Math" panose="02040503050406030204" pitchFamily="18" charset="0"/>
                        </a:rPr>
                        <m:t>𝑑𝑁</m:t>
                      </m:r>
                      <m:r>
                        <a:rPr lang="en-US" i="1">
                          <a:latin typeface="Cambria Math" panose="02040503050406030204" pitchFamily="18" charset="0"/>
                        </a:rPr>
                        <m:t>−</m:t>
                      </m:r>
                      <m:r>
                        <a:rPr lang="en-US" i="1">
                          <a:latin typeface="Cambria Math" panose="02040503050406030204" pitchFamily="18" charset="0"/>
                        </a:rPr>
                        <m:t>𝑑</m:t>
                      </m:r>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𝜏</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𝑑</m:t>
                      </m:r>
                      <m:r>
                        <a:rPr lang="en-US" i="1">
                          <a:latin typeface="Cambria Math" panose="02040503050406030204" pitchFamily="18" charset="0"/>
                          <a:ea typeface="Cambria Math" panose="02040503050406030204" pitchFamily="18" charset="0"/>
                        </a:rPr>
                        <m:t>𝜏</m:t>
                      </m:r>
                    </m:oMath>
                  </m:oMathPara>
                </a14:m>
                <a:endParaRPr lang="en-US"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i="1" smtClean="0">
                          <a:solidFill>
                            <a:srgbClr val="FF0000"/>
                          </a:solidFill>
                          <a:latin typeface="Cambria Math" panose="02040503050406030204" pitchFamily="18" charset="0"/>
                          <a:ea typeface="Cambria Math" panose="02040503050406030204" pitchFamily="18" charset="0"/>
                        </a:rPr>
                        <m:t>𝜏</m:t>
                      </m:r>
                      <m:r>
                        <a:rPr lang="en-US" b="0" i="1" smtClean="0">
                          <a:solidFill>
                            <a:srgbClr val="FF0000"/>
                          </a:solidFill>
                          <a:latin typeface="Cambria Math" panose="02040503050406030204" pitchFamily="18" charset="0"/>
                          <a:ea typeface="Cambria Math" panose="02040503050406030204" pitchFamily="18" charset="0"/>
                        </a:rPr>
                        <m:t> </m:t>
                      </m:r>
                      <m:r>
                        <a:rPr lang="en-US" i="1">
                          <a:solidFill>
                            <a:srgbClr val="FF0000"/>
                          </a:solidFill>
                          <a:latin typeface="Cambria Math" panose="02040503050406030204" pitchFamily="18" charset="0"/>
                        </a:rPr>
                        <m:t>𝑑</m:t>
                      </m:r>
                      <m:r>
                        <a:rPr lang="en-US" i="1">
                          <a:solidFill>
                            <a:srgbClr val="FF0000"/>
                          </a:solidFill>
                          <a:latin typeface="Cambria Math" panose="02040503050406030204" pitchFamily="18" charset="0"/>
                          <a:ea typeface="Cambria Math" panose="02040503050406030204" pitchFamily="18" charset="0"/>
                        </a:rPr>
                        <m:t>𝜎</m:t>
                      </m:r>
                      <m:r>
                        <a:rPr lang="en-US" i="1">
                          <a:solidFill>
                            <a:srgbClr val="FF0000"/>
                          </a:solidFill>
                          <a:latin typeface="Cambria Math" panose="02040503050406030204" pitchFamily="18" charset="0"/>
                          <a:ea typeface="Cambria Math" panose="02040503050406030204" pitchFamily="18" charset="0"/>
                        </a:rPr>
                        <m:t>+</m:t>
                      </m:r>
                      <m:sSub>
                        <m:sSubPr>
                          <m:ctrlPr>
                            <a:rPr lang="en-US" i="1" smtClean="0">
                              <a:solidFill>
                                <a:schemeClr val="tx1"/>
                              </a:solidFill>
                              <a:latin typeface="Cambria Math" panose="02040503050406030204" pitchFamily="18" charset="0"/>
                            </a:rPr>
                          </m:ctrlPr>
                        </m:sSubPr>
                        <m:e>
                          <m:d>
                            <m:dPr>
                              <m:ctrlPr>
                                <a:rPr lang="en-US" i="1">
                                  <a:solidFill>
                                    <a:schemeClr val="tx1"/>
                                  </a:solidFill>
                                  <a:latin typeface="Cambria Math" panose="02040503050406030204" pitchFamily="18" charset="0"/>
                                </a:rPr>
                              </m:ctrlPr>
                            </m:dPr>
                            <m:e>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𝑈</m:t>
                                  </m:r>
                                </m:num>
                                <m:den>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𝑉</m:t>
                                  </m:r>
                                </m:den>
                              </m:f>
                            </m:e>
                          </m:d>
                        </m:e>
                        <m:sub>
                          <m:r>
                            <a:rPr lang="en-US" i="1">
                              <a:solidFill>
                                <a:schemeClr val="tx1"/>
                              </a:solidFill>
                              <a:latin typeface="Cambria Math" panose="02040503050406030204" pitchFamily="18" charset="0"/>
                              <a:ea typeface="Cambria Math" panose="02040503050406030204" pitchFamily="18" charset="0"/>
                            </a:rPr>
                            <m:t>𝜎</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𝑁</m:t>
                          </m:r>
                        </m:sub>
                      </m:sSub>
                      <m:r>
                        <a:rPr lang="en-US" i="1">
                          <a:solidFill>
                            <a:schemeClr val="tx1"/>
                          </a:solidFill>
                          <a:latin typeface="Cambria Math" panose="02040503050406030204" pitchFamily="18" charset="0"/>
                          <a:ea typeface="Cambria Math" panose="02040503050406030204" pitchFamily="18" charset="0"/>
                        </a:rPr>
                        <m:t>𝑑𝑉</m:t>
                      </m:r>
                      <m:r>
                        <a:rPr lang="en-US" i="1">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rPr>
                          </m:ctrlPr>
                        </m:sSubPr>
                        <m:e>
                          <m:d>
                            <m:dPr>
                              <m:ctrlPr>
                                <a:rPr lang="en-US" i="1">
                                  <a:solidFill>
                                    <a:schemeClr val="tx1"/>
                                  </a:solidFill>
                                  <a:latin typeface="Cambria Math" panose="02040503050406030204" pitchFamily="18" charset="0"/>
                                </a:rPr>
                              </m:ctrlPr>
                            </m:dPr>
                            <m:e>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𝑈</m:t>
                                  </m:r>
                                </m:num>
                                <m:den>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𝑁</m:t>
                                  </m:r>
                                </m:den>
                              </m:f>
                            </m:e>
                          </m:d>
                        </m:e>
                        <m:sub>
                          <m:r>
                            <a:rPr lang="en-US" i="1">
                              <a:solidFill>
                                <a:schemeClr val="tx1"/>
                              </a:solidFill>
                              <a:latin typeface="Cambria Math" panose="02040503050406030204" pitchFamily="18" charset="0"/>
                              <a:ea typeface="Cambria Math" panose="02040503050406030204" pitchFamily="18" charset="0"/>
                            </a:rPr>
                            <m:t>𝜎</m:t>
                          </m:r>
                          <m:r>
                            <a:rPr lang="en-US" i="1">
                              <a:solidFill>
                                <a:schemeClr val="tx1"/>
                              </a:solidFill>
                              <a:latin typeface="Cambria Math" panose="02040503050406030204" pitchFamily="18" charset="0"/>
                              <a:ea typeface="Cambria Math" panose="02040503050406030204" pitchFamily="18" charset="0"/>
                            </a:rPr>
                            <m:t>,</m:t>
                          </m:r>
                          <m:r>
                            <a:rPr lang="en-US" i="1">
                              <a:solidFill>
                                <a:schemeClr val="tx1"/>
                              </a:solidFill>
                              <a:latin typeface="Cambria Math" panose="02040503050406030204" pitchFamily="18" charset="0"/>
                            </a:rPr>
                            <m:t>𝑉</m:t>
                          </m:r>
                        </m:sub>
                      </m:sSub>
                      <m:r>
                        <a:rPr lang="en-US" i="1">
                          <a:solidFill>
                            <a:schemeClr val="tx1"/>
                          </a:solidFill>
                          <a:latin typeface="Cambria Math" panose="02040503050406030204" pitchFamily="18" charset="0"/>
                          <a:ea typeface="Cambria Math" panose="02040503050406030204" pitchFamily="18" charset="0"/>
                        </a:rPr>
                        <m:t>𝑑𝑁</m:t>
                      </m:r>
                      <m:r>
                        <a:rPr lang="en-US" i="1" smtClean="0">
                          <a:solidFill>
                            <a:srgbClr val="FF0000"/>
                          </a:solidFill>
                          <a:latin typeface="Cambria Math" panose="02040503050406030204" pitchFamily="18" charset="0"/>
                        </a:rPr>
                        <m:t>−</m:t>
                      </m:r>
                      <m:r>
                        <a:rPr lang="en-US" i="1" smtClean="0">
                          <a:solidFill>
                            <a:srgbClr val="FF0000"/>
                          </a:solidFill>
                          <a:latin typeface="Cambria Math" panose="02040503050406030204" pitchFamily="18" charset="0"/>
                        </a:rPr>
                        <m:t>𝑑</m:t>
                      </m:r>
                      <m:r>
                        <a:rPr lang="en-US" i="1">
                          <a:solidFill>
                            <a:srgbClr val="FF0000"/>
                          </a:solidFill>
                          <a:latin typeface="Cambria Math" panose="02040503050406030204" pitchFamily="18" charset="0"/>
                          <a:ea typeface="Cambria Math" panose="02040503050406030204" pitchFamily="18" charset="0"/>
                        </a:rPr>
                        <m:t>𝜎</m:t>
                      </m:r>
                      <m:r>
                        <a:rPr lang="en-US" i="1">
                          <a:solidFill>
                            <a:srgbClr val="FF0000"/>
                          </a:solidFill>
                          <a:latin typeface="Cambria Math" panose="02040503050406030204" pitchFamily="18" charset="0"/>
                          <a:ea typeface="Cambria Math" panose="02040503050406030204" pitchFamily="18" charset="0"/>
                        </a:rPr>
                        <m:t> </m:t>
                      </m:r>
                      <m:r>
                        <a:rPr lang="en-US" i="1">
                          <a:solidFill>
                            <a:srgbClr val="FF0000"/>
                          </a:solidFill>
                          <a:latin typeface="Cambria Math" panose="02040503050406030204" pitchFamily="18" charset="0"/>
                          <a:ea typeface="Cambria Math" panose="02040503050406030204" pitchFamily="18" charset="0"/>
                        </a:rPr>
                        <m:t>𝜏</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𝑑</m:t>
                      </m:r>
                      <m:r>
                        <a:rPr lang="en-US" i="1">
                          <a:latin typeface="Cambria Math" panose="02040503050406030204" pitchFamily="18" charset="0"/>
                          <a:ea typeface="Cambria Math" panose="02040503050406030204" pitchFamily="18" charset="0"/>
                        </a:rPr>
                        <m:t>𝜏</m:t>
                      </m:r>
                    </m:oMath>
                  </m:oMathPara>
                </a14:m>
                <a:endParaRPr lang="en-US"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sSub>
                        <m:sSubPr>
                          <m:ctrlPr>
                            <a:rPr lang="en-US" i="1" smtClean="0">
                              <a:solidFill>
                                <a:schemeClr val="tx1"/>
                              </a:solidFill>
                              <a:latin typeface="Cambria Math" panose="02040503050406030204" pitchFamily="18" charset="0"/>
                            </a:rPr>
                          </m:ctrlPr>
                        </m:sSubPr>
                        <m:e>
                          <m:d>
                            <m:dPr>
                              <m:ctrlPr>
                                <a:rPr lang="en-US" i="1">
                                  <a:solidFill>
                                    <a:schemeClr val="tx1"/>
                                  </a:solidFill>
                                  <a:latin typeface="Cambria Math" panose="02040503050406030204" pitchFamily="18" charset="0"/>
                                </a:rPr>
                              </m:ctrlPr>
                            </m:dPr>
                            <m:e>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𝑈</m:t>
                                  </m:r>
                                </m:num>
                                <m:den>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𝑉</m:t>
                                  </m:r>
                                </m:den>
                              </m:f>
                            </m:e>
                          </m:d>
                        </m:e>
                        <m:sub>
                          <m:r>
                            <a:rPr lang="en-US" i="1">
                              <a:solidFill>
                                <a:schemeClr val="tx1"/>
                              </a:solidFill>
                              <a:latin typeface="Cambria Math" panose="02040503050406030204" pitchFamily="18" charset="0"/>
                              <a:ea typeface="Cambria Math" panose="02040503050406030204" pitchFamily="18" charset="0"/>
                            </a:rPr>
                            <m:t>𝜎</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𝑁</m:t>
                          </m:r>
                        </m:sub>
                      </m:sSub>
                      <m:r>
                        <a:rPr lang="en-US" i="1">
                          <a:solidFill>
                            <a:schemeClr val="tx1"/>
                          </a:solidFill>
                          <a:latin typeface="Cambria Math" panose="02040503050406030204" pitchFamily="18" charset="0"/>
                          <a:ea typeface="Cambria Math" panose="02040503050406030204" pitchFamily="18" charset="0"/>
                        </a:rPr>
                        <m:t>𝑑𝑉</m:t>
                      </m:r>
                      <m:r>
                        <a:rPr lang="en-US" i="1">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rPr>
                          </m:ctrlPr>
                        </m:sSubPr>
                        <m:e>
                          <m:d>
                            <m:dPr>
                              <m:ctrlPr>
                                <a:rPr lang="en-US" i="1">
                                  <a:solidFill>
                                    <a:schemeClr val="tx1"/>
                                  </a:solidFill>
                                  <a:latin typeface="Cambria Math" panose="02040503050406030204" pitchFamily="18" charset="0"/>
                                </a:rPr>
                              </m:ctrlPr>
                            </m:dPr>
                            <m:e>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𝑈</m:t>
                                  </m:r>
                                </m:num>
                                <m:den>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𝑁</m:t>
                                  </m:r>
                                </m:den>
                              </m:f>
                            </m:e>
                          </m:d>
                        </m:e>
                        <m:sub>
                          <m:r>
                            <a:rPr lang="en-US" i="1">
                              <a:solidFill>
                                <a:schemeClr val="tx1"/>
                              </a:solidFill>
                              <a:latin typeface="Cambria Math" panose="02040503050406030204" pitchFamily="18" charset="0"/>
                              <a:ea typeface="Cambria Math" panose="02040503050406030204" pitchFamily="18" charset="0"/>
                            </a:rPr>
                            <m:t>𝜎</m:t>
                          </m:r>
                          <m:r>
                            <a:rPr lang="en-US" i="1">
                              <a:solidFill>
                                <a:schemeClr val="tx1"/>
                              </a:solidFill>
                              <a:latin typeface="Cambria Math" panose="02040503050406030204" pitchFamily="18" charset="0"/>
                              <a:ea typeface="Cambria Math" panose="02040503050406030204" pitchFamily="18" charset="0"/>
                            </a:rPr>
                            <m:t>,</m:t>
                          </m:r>
                          <m:r>
                            <a:rPr lang="en-US" i="1">
                              <a:solidFill>
                                <a:schemeClr val="tx1"/>
                              </a:solidFill>
                              <a:latin typeface="Cambria Math" panose="02040503050406030204" pitchFamily="18" charset="0"/>
                            </a:rPr>
                            <m:t>𝑉</m:t>
                          </m:r>
                        </m:sub>
                      </m:sSub>
                      <m:r>
                        <a:rPr lang="en-US" i="1">
                          <a:solidFill>
                            <a:schemeClr val="tx1"/>
                          </a:solidFill>
                          <a:latin typeface="Cambria Math" panose="02040503050406030204" pitchFamily="18" charset="0"/>
                          <a:ea typeface="Cambria Math" panose="02040503050406030204" pitchFamily="18" charset="0"/>
                        </a:rPr>
                        <m:t>𝑑𝑁</m:t>
                      </m:r>
                      <m:r>
                        <a:rPr lang="en-US" i="1">
                          <a:solidFill>
                            <a:schemeClr val="tx1"/>
                          </a:solidFill>
                          <a:latin typeface="Cambria Math" panose="02040503050406030204" pitchFamily="18" charset="0"/>
                          <a:ea typeface="Cambria Math" panose="02040503050406030204" pitchFamily="18" charset="0"/>
                        </a:rPr>
                        <m:t>−</m:t>
                      </m:r>
                      <m:r>
                        <a:rPr lang="en-US" i="1">
                          <a:solidFill>
                            <a:schemeClr val="tx1"/>
                          </a:solidFill>
                          <a:latin typeface="Cambria Math" panose="02040503050406030204" pitchFamily="18" charset="0"/>
                          <a:ea typeface="Cambria Math" panose="02040503050406030204" pitchFamily="18" charset="0"/>
                        </a:rPr>
                        <m:t>𝜎</m:t>
                      </m:r>
                      <m:r>
                        <a:rPr lang="en-US" i="1">
                          <a:solidFill>
                            <a:schemeClr val="tx1"/>
                          </a:solidFill>
                          <a:latin typeface="Cambria Math" panose="02040503050406030204" pitchFamily="18" charset="0"/>
                          <a:ea typeface="Cambria Math" panose="02040503050406030204" pitchFamily="18" charset="0"/>
                        </a:rPr>
                        <m:t> </m:t>
                      </m:r>
                      <m:r>
                        <a:rPr lang="en-US" i="1">
                          <a:solidFill>
                            <a:schemeClr val="tx1"/>
                          </a:solidFill>
                          <a:latin typeface="Cambria Math" panose="02040503050406030204" pitchFamily="18" charset="0"/>
                          <a:ea typeface="Cambria Math" panose="02040503050406030204" pitchFamily="18" charset="0"/>
                        </a:rPr>
                        <m:t>𝑑</m:t>
                      </m:r>
                      <m:r>
                        <a:rPr lang="en-US" i="1">
                          <a:solidFill>
                            <a:schemeClr val="tx1"/>
                          </a:solidFill>
                          <a:latin typeface="Cambria Math" panose="02040503050406030204" pitchFamily="18" charset="0"/>
                          <a:ea typeface="Cambria Math" panose="02040503050406030204" pitchFamily="18" charset="0"/>
                        </a:rPr>
                        <m:t>𝜏</m:t>
                      </m:r>
                    </m:oMath>
                  </m:oMathPara>
                </a14:m>
                <a:endParaRPr lang="en-US"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𝑉</m:t>
                      </m:r>
                      <m:r>
                        <a:rPr lang="en-US" b="0" i="1" smtClean="0">
                          <a:solidFill>
                            <a:srgbClr val="7030A0"/>
                          </a:solidFill>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rPr>
                        <m:t>)</m:t>
                      </m:r>
                    </m:oMath>
                  </m:oMathPara>
                </a14:m>
                <a:endParaRPr lang="en-CN"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𝐹</m:t>
                                  </m:r>
                                </m:num>
                                <m:den>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𝜏</m:t>
                                  </m:r>
                                </m:den>
                              </m:f>
                            </m:e>
                          </m:d>
                        </m:e>
                        <m:sub>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𝑁</m:t>
                          </m:r>
                        </m:sub>
                      </m:sSub>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 </m:t>
                                  </m:r>
                                  <m:r>
                                    <a:rPr lang="en-US" i="1">
                                      <a:latin typeface="Cambria Math" panose="02040503050406030204" pitchFamily="18" charset="0"/>
                                    </a:rPr>
                                    <m:t>𝐹</m:t>
                                  </m:r>
                                </m:num>
                                <m:den>
                                  <m:r>
                                    <a:rPr lang="en-US" i="1">
                                      <a:latin typeface="Cambria Math" panose="02040503050406030204" pitchFamily="18" charset="0"/>
                                    </a:rPr>
                                    <m:t>𝜕</m:t>
                                  </m:r>
                                  <m:r>
                                    <a:rPr lang="en-US" i="1">
                                      <a:latin typeface="Cambria Math" panose="02040503050406030204" pitchFamily="18" charset="0"/>
                                    </a:rPr>
                                    <m:t> </m:t>
                                  </m:r>
                                  <m:r>
                                    <a:rPr lang="en-US" b="0" i="1" smtClean="0">
                                      <a:latin typeface="Cambria Math" panose="02040503050406030204" pitchFamily="18" charset="0"/>
                                    </a:rPr>
                                    <m:t>𝑉</m:t>
                                  </m:r>
                                </m:den>
                              </m:f>
                            </m:e>
                          </m:d>
                        </m:e>
                        <m:sub>
                          <m:r>
                            <a:rPr lang="en-US" i="1" smtClean="0">
                              <a:latin typeface="Cambria Math" panose="02040503050406030204" pitchFamily="18" charset="0"/>
                              <a:ea typeface="Cambria Math" panose="02040503050406030204" pitchFamily="18" charset="0"/>
                            </a:rPr>
                            <m:t>𝜏</m:t>
                          </m:r>
                          <m:r>
                            <a:rPr lang="en-US" i="1">
                              <a:latin typeface="Cambria Math" panose="02040503050406030204" pitchFamily="18" charset="0"/>
                            </a:rPr>
                            <m:t>,</m:t>
                          </m:r>
                          <m:r>
                            <a:rPr lang="en-US" i="1">
                              <a:latin typeface="Cambria Math" panose="02040503050406030204" pitchFamily="18" charset="0"/>
                            </a:rPr>
                            <m:t>𝑁</m:t>
                          </m:r>
                        </m:sub>
                      </m:sSub>
                      <m:r>
                        <a:rPr lang="en-US" b="0" i="1" smtClean="0">
                          <a:latin typeface="Cambria Math" panose="02040503050406030204" pitchFamily="18" charset="0"/>
                          <a:ea typeface="Cambria Math" panose="02040503050406030204" pitchFamily="18" charset="0"/>
                        </a:rPr>
                        <m:t>𝑑𝑉</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 </m:t>
                                  </m:r>
                                  <m:r>
                                    <a:rPr lang="en-US" i="1">
                                      <a:latin typeface="Cambria Math" panose="02040503050406030204" pitchFamily="18" charset="0"/>
                                    </a:rPr>
                                    <m:t>𝐹</m:t>
                                  </m:r>
                                </m:num>
                                <m:den>
                                  <m:r>
                                    <a:rPr lang="en-US" i="1">
                                      <a:latin typeface="Cambria Math" panose="02040503050406030204" pitchFamily="18" charset="0"/>
                                    </a:rPr>
                                    <m:t>𝜕</m:t>
                                  </m:r>
                                  <m:r>
                                    <a:rPr lang="en-US" i="1">
                                      <a:latin typeface="Cambria Math" panose="02040503050406030204" pitchFamily="18" charset="0"/>
                                    </a:rPr>
                                    <m:t> </m:t>
                                  </m:r>
                                  <m:r>
                                    <a:rPr lang="en-US" b="0" i="1" smtClean="0">
                                      <a:latin typeface="Cambria Math" panose="02040503050406030204" pitchFamily="18" charset="0"/>
                                    </a:rPr>
                                    <m:t>𝑁</m:t>
                                  </m:r>
                                </m:den>
                              </m:f>
                            </m:e>
                          </m:d>
                        </m:e>
                        <m:sub>
                          <m:r>
                            <a:rPr lang="en-US" i="1" smtClean="0">
                              <a:latin typeface="Cambria Math" panose="02040503050406030204" pitchFamily="18" charset="0"/>
                              <a:ea typeface="Cambria Math" panose="02040503050406030204" pitchFamily="18" charset="0"/>
                            </a:rPr>
                            <m:t>𝜏</m:t>
                          </m:r>
                          <m:r>
                            <a:rPr lang="en-US" i="1">
                              <a:latin typeface="Cambria Math" panose="02040503050406030204" pitchFamily="18" charset="0"/>
                            </a:rPr>
                            <m:t>,</m:t>
                          </m:r>
                          <m:r>
                            <a:rPr lang="en-US" b="0" i="1" smtClean="0">
                              <a:latin typeface="Cambria Math" panose="02040503050406030204" pitchFamily="18" charset="0"/>
                            </a:rPr>
                            <m:t>𝑉</m:t>
                          </m:r>
                        </m:sub>
                      </m:sSub>
                      <m:r>
                        <a:rPr lang="en-US" b="0" i="1" smtClean="0">
                          <a:latin typeface="Cambria Math" panose="02040503050406030204" pitchFamily="18" charset="0"/>
                          <a:ea typeface="Cambria Math" panose="02040503050406030204" pitchFamily="18" charset="0"/>
                        </a:rPr>
                        <m:t>𝑑𝑁</m:t>
                      </m:r>
                    </m:oMath>
                  </m:oMathPara>
                </a14:m>
                <a:endParaRPr lang="en-CN" dirty="0"/>
              </a:p>
            </p:txBody>
          </p:sp>
        </mc:Choice>
        <mc:Fallback xmlns="">
          <p:sp>
            <p:nvSpPr>
              <p:cNvPr id="2" name="TextBox 1">
                <a:extLst>
                  <a:ext uri="{FF2B5EF4-FFF2-40B4-BE49-F238E27FC236}">
                    <a16:creationId xmlns:a16="http://schemas.microsoft.com/office/drawing/2014/main" id="{445D5EAB-63C1-C841-B62E-89DEF8BC9A36}"/>
                  </a:ext>
                </a:extLst>
              </p:cNvPr>
              <p:cNvSpPr txBox="1">
                <a:spLocks noRot="1" noChangeAspect="1" noMove="1" noResize="1" noEditPoints="1" noAdjustHandles="1" noChangeArrowheads="1" noChangeShapeType="1" noTextEdit="1"/>
              </p:cNvSpPr>
              <p:nvPr/>
            </p:nvSpPr>
            <p:spPr>
              <a:xfrm>
                <a:off x="124691" y="127713"/>
                <a:ext cx="7107382" cy="2989152"/>
              </a:xfrm>
              <a:prstGeom prst="rect">
                <a:avLst/>
              </a:prstGeom>
              <a:blipFill>
                <a:blip r:embed="rId2"/>
                <a:stretch>
                  <a:fillRect b="-169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6258B05-D1D9-204D-93B7-45719EB37DAB}"/>
                  </a:ext>
                </a:extLst>
              </p:cNvPr>
              <p:cNvSpPr txBox="1"/>
              <p:nvPr/>
            </p:nvSpPr>
            <p:spPr>
              <a:xfrm>
                <a:off x="6096000" y="3741136"/>
                <a:ext cx="6096000" cy="28267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𝜎</m:t>
                          </m:r>
                          <m:r>
                            <a:rPr lang="en-US" sz="3200" b="0" i="1" smtClean="0">
                              <a:latin typeface="Cambria Math" panose="02040503050406030204" pitchFamily="18" charset="0"/>
                              <a:ea typeface="Cambria Math" panose="02040503050406030204" pitchFamily="18" charset="0"/>
                            </a:rPr>
                            <m:t>=−</m:t>
                          </m:r>
                          <m:d>
                            <m:dPr>
                              <m:ctrlPr>
                                <a:rPr lang="en-US" sz="3200" b="0" i="1" smtClean="0">
                                  <a:latin typeface="Cambria Math" panose="02040503050406030204" pitchFamily="18" charset="0"/>
                                </a:rPr>
                              </m:ctrlPr>
                            </m:dPr>
                            <m:e>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m:t>
                                  </m:r>
                                  <m:r>
                                    <a:rPr lang="en-US" sz="3200" b="0" i="1" smtClean="0">
                                      <a:latin typeface="Cambria Math" panose="02040503050406030204" pitchFamily="18" charset="0"/>
                                    </a:rPr>
                                    <m:t> </m:t>
                                  </m:r>
                                  <m:r>
                                    <a:rPr lang="en-US" sz="3200" b="0" i="1" smtClean="0">
                                      <a:latin typeface="Cambria Math" panose="02040503050406030204" pitchFamily="18" charset="0"/>
                                    </a:rPr>
                                    <m:t>𝐹</m:t>
                                  </m:r>
                                </m:num>
                                <m:den>
                                  <m:r>
                                    <a:rPr lang="en-US" sz="3200" b="0" i="1" smtClean="0">
                                      <a:latin typeface="Cambria Math" panose="02040503050406030204" pitchFamily="18" charset="0"/>
                                    </a:rPr>
                                    <m:t>𝜕</m:t>
                                  </m:r>
                                  <m:r>
                                    <a:rPr lang="en-US" sz="3200" b="0" i="1" smtClean="0">
                                      <a:latin typeface="Cambria Math" panose="02040503050406030204" pitchFamily="18" charset="0"/>
                                    </a:rPr>
                                    <m:t> </m:t>
                                  </m:r>
                                  <m:r>
                                    <a:rPr lang="en-US" sz="3200" b="0" i="1" smtClean="0">
                                      <a:latin typeface="Cambria Math" panose="02040503050406030204" pitchFamily="18" charset="0"/>
                                      <a:ea typeface="Cambria Math" panose="02040503050406030204" pitchFamily="18" charset="0"/>
                                    </a:rPr>
                                    <m:t>𝜏</m:t>
                                  </m:r>
                                </m:den>
                              </m:f>
                            </m:e>
                          </m:d>
                        </m:e>
                        <m:sub>
                          <m:r>
                            <a:rPr lang="en-US" sz="3200" b="0" i="1" smtClean="0">
                              <a:latin typeface="Cambria Math" panose="02040503050406030204" pitchFamily="18" charset="0"/>
                            </a:rPr>
                            <m:t>𝑉</m:t>
                          </m:r>
                          <m:r>
                            <a:rPr lang="en-US" sz="3200" b="0" i="1" smtClean="0">
                              <a:latin typeface="Cambria Math" panose="02040503050406030204" pitchFamily="18" charset="0"/>
                            </a:rPr>
                            <m:t>,</m:t>
                          </m:r>
                          <m:r>
                            <a:rPr lang="en-US" sz="3200" b="0" i="1" smtClean="0">
                              <a:latin typeface="Cambria Math" panose="02040503050406030204" pitchFamily="18" charset="0"/>
                            </a:rPr>
                            <m:t>𝑁</m:t>
                          </m:r>
                        </m:sub>
                      </m:sSub>
                      <m:r>
                        <a:rPr lang="en-US" sz="3200" b="0" i="1" smtClean="0">
                          <a:latin typeface="Cambria Math" panose="02040503050406030204" pitchFamily="18" charset="0"/>
                        </a:rPr>
                        <m:t> </m:t>
                      </m:r>
                    </m:oMath>
                  </m:oMathPara>
                </a14:m>
                <a:endParaRPr lang="en-US" sz="3200" b="0" dirty="0"/>
              </a:p>
              <a:p>
                <a:pPr algn="ctr"/>
                <a14:m>
                  <m:oMath xmlns:m="http://schemas.openxmlformats.org/officeDocument/2006/math">
                    <m:sSub>
                      <m:sSubPr>
                        <m:ctrlPr>
                          <a:rPr lang="en-US" sz="3200" i="1">
                            <a:latin typeface="Cambria Math" panose="02040503050406030204" pitchFamily="18" charset="0"/>
                          </a:rPr>
                        </m:ctrlPr>
                      </m:sSubPr>
                      <m:e>
                        <m:d>
                          <m:dPr>
                            <m:ctrlPr>
                              <a:rPr lang="en-US" sz="3200" i="1">
                                <a:latin typeface="Cambria Math" panose="02040503050406030204" pitchFamily="18" charset="0"/>
                              </a:rPr>
                            </m:ctrlPr>
                          </m:dPr>
                          <m:e>
                            <m:f>
                              <m:fPr>
                                <m:ctrlPr>
                                  <a:rPr lang="en-US" sz="3200" i="1">
                                    <a:latin typeface="Cambria Math" panose="02040503050406030204" pitchFamily="18" charset="0"/>
                                  </a:rPr>
                                </m:ctrlPr>
                              </m:fPr>
                              <m:num>
                                <m:r>
                                  <a:rPr lang="en-US" sz="3200" i="1">
                                    <a:latin typeface="Cambria Math" panose="02040503050406030204" pitchFamily="18" charset="0"/>
                                  </a:rPr>
                                  <m:t>𝜕</m:t>
                                </m:r>
                                <m:r>
                                  <a:rPr lang="en-US" sz="3200" i="1">
                                    <a:latin typeface="Cambria Math" panose="02040503050406030204" pitchFamily="18" charset="0"/>
                                  </a:rPr>
                                  <m:t> </m:t>
                                </m:r>
                                <m:r>
                                  <a:rPr lang="en-US" sz="3200" i="1">
                                    <a:latin typeface="Cambria Math" panose="02040503050406030204" pitchFamily="18" charset="0"/>
                                  </a:rPr>
                                  <m:t>𝐹</m:t>
                                </m:r>
                              </m:num>
                              <m:den>
                                <m:r>
                                  <a:rPr lang="en-US" sz="3200" i="1">
                                    <a:latin typeface="Cambria Math" panose="02040503050406030204" pitchFamily="18" charset="0"/>
                                  </a:rPr>
                                  <m:t>𝜕</m:t>
                                </m:r>
                                <m:r>
                                  <a:rPr lang="en-US" sz="3200" i="1">
                                    <a:latin typeface="Cambria Math" panose="02040503050406030204" pitchFamily="18" charset="0"/>
                                  </a:rPr>
                                  <m:t> </m:t>
                                </m:r>
                                <m:r>
                                  <a:rPr lang="en-US" sz="3200" b="0" i="1" smtClean="0">
                                    <a:latin typeface="Cambria Math" panose="02040503050406030204" pitchFamily="18" charset="0"/>
                                  </a:rPr>
                                  <m:t>𝑉</m:t>
                                </m:r>
                              </m:den>
                            </m:f>
                          </m:e>
                        </m:d>
                      </m:e>
                      <m:sub>
                        <m:r>
                          <a:rPr lang="en-US" sz="3200" i="1" smtClean="0">
                            <a:latin typeface="Cambria Math" panose="02040503050406030204" pitchFamily="18" charset="0"/>
                            <a:ea typeface="Cambria Math" panose="02040503050406030204" pitchFamily="18" charset="0"/>
                          </a:rPr>
                          <m:t>𝜏</m:t>
                        </m:r>
                        <m:r>
                          <a:rPr lang="en-US" sz="3200" i="1">
                            <a:latin typeface="Cambria Math" panose="02040503050406030204" pitchFamily="18" charset="0"/>
                          </a:rPr>
                          <m:t>,</m:t>
                        </m:r>
                        <m:r>
                          <a:rPr lang="en-US" sz="3200" i="1">
                            <a:latin typeface="Cambria Math" panose="02040503050406030204" pitchFamily="18" charset="0"/>
                          </a:rPr>
                          <m:t>𝑁</m:t>
                        </m:r>
                      </m:sub>
                    </m:sSub>
                    <m:r>
                      <a:rPr lang="en-US" sz="3200" b="0" i="1" smtClean="0">
                        <a:latin typeface="Cambria Math" panose="02040503050406030204" pitchFamily="18" charset="0"/>
                      </a:rPr>
                      <m:t>=</m:t>
                    </m:r>
                  </m:oMath>
                </a14:m>
                <a:r>
                  <a:rPr lang="en-US" sz="3200" dirty="0"/>
                  <a:t> </a:t>
                </a:r>
                <a14:m>
                  <m:oMath xmlns:m="http://schemas.openxmlformats.org/officeDocument/2006/math">
                    <m:sSub>
                      <m:sSubPr>
                        <m:ctrlPr>
                          <a:rPr lang="en-US" sz="3200" i="1">
                            <a:latin typeface="Cambria Math" panose="02040503050406030204" pitchFamily="18" charset="0"/>
                          </a:rPr>
                        </m:ctrlPr>
                      </m:sSubPr>
                      <m:e>
                        <m:d>
                          <m:dPr>
                            <m:ctrlPr>
                              <a:rPr lang="en-US" sz="3200" i="1">
                                <a:latin typeface="Cambria Math" panose="02040503050406030204" pitchFamily="18" charset="0"/>
                              </a:rPr>
                            </m:ctrlPr>
                          </m:dPr>
                          <m:e>
                            <m:f>
                              <m:fPr>
                                <m:ctrlPr>
                                  <a:rPr lang="en-US" sz="3200" i="1">
                                    <a:latin typeface="Cambria Math" panose="02040503050406030204" pitchFamily="18" charset="0"/>
                                  </a:rPr>
                                </m:ctrlPr>
                              </m:fPr>
                              <m:num>
                                <m:r>
                                  <a:rPr lang="en-US" sz="3200" i="1">
                                    <a:latin typeface="Cambria Math" panose="02040503050406030204" pitchFamily="18" charset="0"/>
                                  </a:rPr>
                                  <m:t>𝜕</m:t>
                                </m:r>
                                <m:r>
                                  <a:rPr lang="en-US" sz="3200" i="1">
                                    <a:latin typeface="Cambria Math" panose="02040503050406030204" pitchFamily="18" charset="0"/>
                                  </a:rPr>
                                  <m:t> </m:t>
                                </m:r>
                                <m:r>
                                  <a:rPr lang="en-US" sz="3200" i="1">
                                    <a:latin typeface="Cambria Math" panose="02040503050406030204" pitchFamily="18" charset="0"/>
                                  </a:rPr>
                                  <m:t>𝑈</m:t>
                                </m:r>
                              </m:num>
                              <m:den>
                                <m:r>
                                  <a:rPr lang="en-US" sz="3200" i="1">
                                    <a:latin typeface="Cambria Math" panose="02040503050406030204" pitchFamily="18" charset="0"/>
                                  </a:rPr>
                                  <m:t>𝜕</m:t>
                                </m:r>
                                <m:r>
                                  <a:rPr lang="en-US" sz="3200" i="1">
                                    <a:latin typeface="Cambria Math" panose="02040503050406030204" pitchFamily="18" charset="0"/>
                                  </a:rPr>
                                  <m:t> </m:t>
                                </m:r>
                                <m:r>
                                  <a:rPr lang="en-US" sz="3200" i="1">
                                    <a:latin typeface="Cambria Math" panose="02040503050406030204" pitchFamily="18" charset="0"/>
                                  </a:rPr>
                                  <m:t>𝑉</m:t>
                                </m:r>
                              </m:den>
                            </m:f>
                          </m:e>
                        </m:d>
                      </m:e>
                      <m:sub>
                        <m:r>
                          <a:rPr lang="en-US" sz="3200" i="1">
                            <a:latin typeface="Cambria Math" panose="02040503050406030204" pitchFamily="18" charset="0"/>
                            <a:ea typeface="Cambria Math" panose="02040503050406030204" pitchFamily="18" charset="0"/>
                          </a:rPr>
                          <m:t>𝜎</m:t>
                        </m:r>
                        <m:r>
                          <a:rPr lang="en-US" sz="3200" i="1">
                            <a:latin typeface="Cambria Math" panose="02040503050406030204" pitchFamily="18" charset="0"/>
                          </a:rPr>
                          <m:t>,</m:t>
                        </m:r>
                        <m:r>
                          <a:rPr lang="en-US" sz="3200" i="1">
                            <a:latin typeface="Cambria Math" panose="02040503050406030204" pitchFamily="18" charset="0"/>
                          </a:rPr>
                          <m:t>𝑁</m:t>
                        </m:r>
                      </m:sub>
                    </m:sSub>
                    <m:r>
                      <a:rPr lang="en-US" sz="3200" b="0" i="0" smtClean="0">
                        <a:latin typeface="Cambria Math" panose="02040503050406030204" pitchFamily="18" charset="0"/>
                      </a:rPr>
                      <m:t>=−</m:t>
                    </m:r>
                    <m:r>
                      <m:rPr>
                        <m:sty m:val="p"/>
                      </m:rPr>
                      <a:rPr lang="en-US" sz="3200" b="0" i="0" smtClean="0">
                        <a:latin typeface="Cambria Math" panose="02040503050406030204" pitchFamily="18" charset="0"/>
                      </a:rPr>
                      <m:t>p</m:t>
                    </m:r>
                  </m:oMath>
                </a14:m>
                <a:endParaRPr lang="en-CN" sz="3200" dirty="0"/>
              </a:p>
              <a:p>
                <a:pPr algn="ctr"/>
                <a14:m>
                  <m:oMath xmlns:m="http://schemas.openxmlformats.org/officeDocument/2006/math">
                    <m:sSub>
                      <m:sSubPr>
                        <m:ctrlPr>
                          <a:rPr lang="en-US" sz="3200" i="1">
                            <a:latin typeface="Cambria Math" panose="02040503050406030204" pitchFamily="18" charset="0"/>
                          </a:rPr>
                        </m:ctrlPr>
                      </m:sSubPr>
                      <m:e>
                        <m:r>
                          <a:rPr lang="en-US" sz="3200" i="1" smtClean="0">
                            <a:latin typeface="Cambria Math" panose="02040503050406030204" pitchFamily="18" charset="0"/>
                            <a:ea typeface="Cambria Math" panose="02040503050406030204" pitchFamily="18" charset="0"/>
                          </a:rPr>
                          <m:t>𝜇</m:t>
                        </m:r>
                        <m:r>
                          <a:rPr lang="en-US" sz="3200" b="0" i="1" smtClean="0">
                            <a:latin typeface="Cambria Math" panose="02040503050406030204" pitchFamily="18" charset="0"/>
                            <a:ea typeface="Cambria Math" panose="02040503050406030204" pitchFamily="18" charset="0"/>
                          </a:rPr>
                          <m:t>=</m:t>
                        </m:r>
                        <m:d>
                          <m:dPr>
                            <m:ctrlPr>
                              <a:rPr lang="en-US" sz="3200" i="1">
                                <a:latin typeface="Cambria Math" panose="02040503050406030204" pitchFamily="18" charset="0"/>
                              </a:rPr>
                            </m:ctrlPr>
                          </m:dPr>
                          <m:e>
                            <m:f>
                              <m:fPr>
                                <m:ctrlPr>
                                  <a:rPr lang="en-US" sz="3200" i="1">
                                    <a:latin typeface="Cambria Math" panose="02040503050406030204" pitchFamily="18" charset="0"/>
                                  </a:rPr>
                                </m:ctrlPr>
                              </m:fPr>
                              <m:num>
                                <m:r>
                                  <a:rPr lang="en-US" sz="3200" i="1">
                                    <a:latin typeface="Cambria Math" panose="02040503050406030204" pitchFamily="18" charset="0"/>
                                  </a:rPr>
                                  <m:t>𝜕</m:t>
                                </m:r>
                                <m:r>
                                  <a:rPr lang="en-US" sz="3200" i="1">
                                    <a:latin typeface="Cambria Math" panose="02040503050406030204" pitchFamily="18" charset="0"/>
                                  </a:rPr>
                                  <m:t> </m:t>
                                </m:r>
                                <m:r>
                                  <a:rPr lang="en-US" sz="3200" i="1">
                                    <a:latin typeface="Cambria Math" panose="02040503050406030204" pitchFamily="18" charset="0"/>
                                  </a:rPr>
                                  <m:t>𝐹</m:t>
                                </m:r>
                              </m:num>
                              <m:den>
                                <m:r>
                                  <a:rPr lang="en-US" sz="3200" i="1">
                                    <a:latin typeface="Cambria Math" panose="02040503050406030204" pitchFamily="18" charset="0"/>
                                  </a:rPr>
                                  <m:t>𝜕</m:t>
                                </m:r>
                                <m:r>
                                  <a:rPr lang="en-US" sz="3200" i="1">
                                    <a:latin typeface="Cambria Math" panose="02040503050406030204" pitchFamily="18" charset="0"/>
                                  </a:rPr>
                                  <m:t> </m:t>
                                </m:r>
                                <m:r>
                                  <a:rPr lang="en-US" sz="3200" b="0" i="1" smtClean="0">
                                    <a:latin typeface="Cambria Math" panose="02040503050406030204" pitchFamily="18" charset="0"/>
                                  </a:rPr>
                                  <m:t>𝑁</m:t>
                                </m:r>
                              </m:den>
                            </m:f>
                          </m:e>
                        </m:d>
                      </m:e>
                      <m:sub>
                        <m:r>
                          <a:rPr lang="en-US" sz="3200" i="1" smtClean="0">
                            <a:latin typeface="Cambria Math" panose="02040503050406030204" pitchFamily="18" charset="0"/>
                            <a:ea typeface="Cambria Math" panose="02040503050406030204" pitchFamily="18" charset="0"/>
                          </a:rPr>
                          <m:t>𝜏</m:t>
                        </m:r>
                        <m:r>
                          <a:rPr lang="en-US" sz="3200" i="1">
                            <a:latin typeface="Cambria Math" panose="02040503050406030204" pitchFamily="18" charset="0"/>
                          </a:rPr>
                          <m:t>,</m:t>
                        </m:r>
                        <m:r>
                          <m:rPr>
                            <m:sty m:val="p"/>
                          </m:rPr>
                          <a:rPr lang="en-US" sz="3200" i="1">
                            <a:latin typeface="Cambria Math" panose="02040503050406030204" pitchFamily="18" charset="0"/>
                          </a:rPr>
                          <m:t>V</m:t>
                        </m:r>
                      </m:sub>
                    </m:sSub>
                    <m:r>
                      <a:rPr lang="en-US" sz="3200" b="0" i="1" smtClean="0">
                        <a:latin typeface="Cambria Math" panose="02040503050406030204" pitchFamily="18" charset="0"/>
                      </a:rPr>
                      <m:t>=</m:t>
                    </m:r>
                  </m:oMath>
                </a14:m>
                <a:r>
                  <a:rPr lang="en-US" sz="3200" dirty="0"/>
                  <a:t> </a:t>
                </a:r>
                <a14:m>
                  <m:oMath xmlns:m="http://schemas.openxmlformats.org/officeDocument/2006/math">
                    <m:sSub>
                      <m:sSubPr>
                        <m:ctrlPr>
                          <a:rPr lang="en-US" sz="3200" i="1">
                            <a:latin typeface="Cambria Math" panose="02040503050406030204" pitchFamily="18" charset="0"/>
                          </a:rPr>
                        </m:ctrlPr>
                      </m:sSubPr>
                      <m:e>
                        <m:d>
                          <m:dPr>
                            <m:ctrlPr>
                              <a:rPr lang="en-US" sz="3200" i="1">
                                <a:latin typeface="Cambria Math" panose="02040503050406030204" pitchFamily="18" charset="0"/>
                              </a:rPr>
                            </m:ctrlPr>
                          </m:dPr>
                          <m:e>
                            <m:f>
                              <m:fPr>
                                <m:ctrlPr>
                                  <a:rPr lang="en-US" sz="3200" i="1">
                                    <a:latin typeface="Cambria Math" panose="02040503050406030204" pitchFamily="18" charset="0"/>
                                  </a:rPr>
                                </m:ctrlPr>
                              </m:fPr>
                              <m:num>
                                <m:r>
                                  <a:rPr lang="en-US" sz="3200" i="1">
                                    <a:latin typeface="Cambria Math" panose="02040503050406030204" pitchFamily="18" charset="0"/>
                                  </a:rPr>
                                  <m:t>𝜕</m:t>
                                </m:r>
                                <m:r>
                                  <a:rPr lang="en-US" sz="3200" i="1">
                                    <a:latin typeface="Cambria Math" panose="02040503050406030204" pitchFamily="18" charset="0"/>
                                  </a:rPr>
                                  <m:t> </m:t>
                                </m:r>
                                <m:r>
                                  <a:rPr lang="en-US" sz="3200" i="1">
                                    <a:latin typeface="Cambria Math" panose="02040503050406030204" pitchFamily="18" charset="0"/>
                                  </a:rPr>
                                  <m:t>𝑈</m:t>
                                </m:r>
                              </m:num>
                              <m:den>
                                <m:r>
                                  <a:rPr lang="en-US" sz="3200" i="1">
                                    <a:latin typeface="Cambria Math" panose="02040503050406030204" pitchFamily="18" charset="0"/>
                                  </a:rPr>
                                  <m:t>𝜕</m:t>
                                </m:r>
                                <m:r>
                                  <a:rPr lang="en-US" sz="3200" i="1">
                                    <a:latin typeface="Cambria Math" panose="02040503050406030204" pitchFamily="18" charset="0"/>
                                  </a:rPr>
                                  <m:t> </m:t>
                                </m:r>
                                <m:r>
                                  <a:rPr lang="en-US" sz="3200" i="1">
                                    <a:latin typeface="Cambria Math" panose="02040503050406030204" pitchFamily="18" charset="0"/>
                                  </a:rPr>
                                  <m:t>𝑁</m:t>
                                </m:r>
                              </m:den>
                            </m:f>
                          </m:e>
                        </m:d>
                      </m:e>
                      <m:sub>
                        <m:r>
                          <a:rPr lang="en-US" sz="3200" i="1">
                            <a:latin typeface="Cambria Math" panose="02040503050406030204" pitchFamily="18" charset="0"/>
                            <a:ea typeface="Cambria Math" panose="02040503050406030204" pitchFamily="18" charset="0"/>
                          </a:rPr>
                          <m:t>𝜎</m:t>
                        </m:r>
                        <m:r>
                          <a:rPr lang="en-US" sz="3200" i="1">
                            <a:latin typeface="Cambria Math" panose="02040503050406030204" pitchFamily="18" charset="0"/>
                            <a:ea typeface="Cambria Math" panose="02040503050406030204" pitchFamily="18" charset="0"/>
                          </a:rPr>
                          <m:t>,</m:t>
                        </m:r>
                        <m:r>
                          <a:rPr lang="en-US" sz="3200" i="1">
                            <a:latin typeface="Cambria Math" panose="02040503050406030204" pitchFamily="18" charset="0"/>
                          </a:rPr>
                          <m:t>𝑉</m:t>
                        </m:r>
                      </m:sub>
                    </m:sSub>
                  </m:oMath>
                </a14:m>
                <a:endParaRPr lang="en-CN" sz="3200" dirty="0"/>
              </a:p>
            </p:txBody>
          </p:sp>
        </mc:Choice>
        <mc:Fallback xmlns="">
          <p:sp>
            <p:nvSpPr>
              <p:cNvPr id="4" name="TextBox 3">
                <a:extLst>
                  <a:ext uri="{FF2B5EF4-FFF2-40B4-BE49-F238E27FC236}">
                    <a16:creationId xmlns:a16="http://schemas.microsoft.com/office/drawing/2014/main" id="{16258B05-D1D9-204D-93B7-45719EB37DAB}"/>
                  </a:ext>
                </a:extLst>
              </p:cNvPr>
              <p:cNvSpPr txBox="1">
                <a:spLocks noRot="1" noChangeAspect="1" noMove="1" noResize="1" noEditPoints="1" noAdjustHandles="1" noChangeArrowheads="1" noChangeShapeType="1" noTextEdit="1"/>
              </p:cNvSpPr>
              <p:nvPr/>
            </p:nvSpPr>
            <p:spPr>
              <a:xfrm>
                <a:off x="6096000" y="3741136"/>
                <a:ext cx="6096000" cy="2826736"/>
              </a:xfrm>
              <a:prstGeom prst="rect">
                <a:avLst/>
              </a:prstGeom>
              <a:blipFill>
                <a:blip r:embed="rId3"/>
                <a:stretch>
                  <a:fillRect t="-1345" b="-1345"/>
                </a:stretch>
              </a:blipFill>
            </p:spPr>
            <p:txBody>
              <a:bodyPr/>
              <a:lstStyle/>
              <a:p>
                <a:r>
                  <a:rPr lang="en-CN">
                    <a:noFill/>
                  </a:rPr>
                  <a:t> </a:t>
                </a:r>
              </a:p>
            </p:txBody>
          </p:sp>
        </mc:Fallback>
      </mc:AlternateContent>
      <p:sp>
        <p:nvSpPr>
          <p:cNvPr id="5" name="Down Arrow 4">
            <a:extLst>
              <a:ext uri="{FF2B5EF4-FFF2-40B4-BE49-F238E27FC236}">
                <a16:creationId xmlns:a16="http://schemas.microsoft.com/office/drawing/2014/main" id="{38DA633F-F763-4C4D-850C-C7D80FFC99B0}"/>
              </a:ext>
            </a:extLst>
          </p:cNvPr>
          <p:cNvSpPr/>
          <p:nvPr/>
        </p:nvSpPr>
        <p:spPr>
          <a:xfrm rot="18922765">
            <a:off x="5798127" y="3098478"/>
            <a:ext cx="595745" cy="157941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6" name="Left Brace 5">
            <a:extLst>
              <a:ext uri="{FF2B5EF4-FFF2-40B4-BE49-F238E27FC236}">
                <a16:creationId xmlns:a16="http://schemas.microsoft.com/office/drawing/2014/main" id="{464755B5-06E1-8A4C-9DA8-3A7F5404DD76}"/>
              </a:ext>
            </a:extLst>
          </p:cNvPr>
          <p:cNvSpPr/>
          <p:nvPr/>
        </p:nvSpPr>
        <p:spPr>
          <a:xfrm>
            <a:off x="5541818" y="4849091"/>
            <a:ext cx="665018" cy="14824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
        <p:nvSpPr>
          <p:cNvPr id="7" name="TextBox 6">
            <a:extLst>
              <a:ext uri="{FF2B5EF4-FFF2-40B4-BE49-F238E27FC236}">
                <a16:creationId xmlns:a16="http://schemas.microsoft.com/office/drawing/2014/main" id="{298E43AA-3981-0948-9ED1-73BF9CB860E2}"/>
              </a:ext>
            </a:extLst>
          </p:cNvPr>
          <p:cNvSpPr txBox="1"/>
          <p:nvPr/>
        </p:nvSpPr>
        <p:spPr>
          <a:xfrm>
            <a:off x="1048229" y="5405643"/>
            <a:ext cx="4281054" cy="369332"/>
          </a:xfrm>
          <a:prstGeom prst="rect">
            <a:avLst/>
          </a:prstGeom>
          <a:noFill/>
        </p:spPr>
        <p:txBody>
          <a:bodyPr wrap="square" rtlCol="0">
            <a:spAutoFit/>
          </a:bodyPr>
          <a:lstStyle/>
          <a:p>
            <a:r>
              <a:rPr lang="en-CN" dirty="0">
                <a:solidFill>
                  <a:srgbClr val="7030A0"/>
                </a:solidFill>
              </a:rPr>
              <a:t>V and N</a:t>
            </a:r>
            <a:r>
              <a:rPr lang="zh-CN" altLang="en-US" dirty="0">
                <a:solidFill>
                  <a:srgbClr val="7030A0"/>
                </a:solidFill>
              </a:rPr>
              <a:t> 在这次</a:t>
            </a:r>
            <a:r>
              <a:rPr lang="en-US" altLang="zh-CN" dirty="0">
                <a:solidFill>
                  <a:srgbClr val="7030A0"/>
                </a:solidFill>
              </a:rPr>
              <a:t>Legendre</a:t>
            </a:r>
            <a:r>
              <a:rPr lang="zh-CN" altLang="en-US" dirty="0">
                <a:solidFill>
                  <a:srgbClr val="7030A0"/>
                </a:solidFill>
              </a:rPr>
              <a:t>变换中是旁观者</a:t>
            </a:r>
            <a:endParaRPr lang="en-CN" dirty="0">
              <a:solidFill>
                <a:srgbClr val="7030A0"/>
              </a:solidFill>
            </a:endParaRPr>
          </a:p>
        </p:txBody>
      </p:sp>
    </p:spTree>
    <p:extLst>
      <p:ext uri="{BB962C8B-B14F-4D97-AF65-F5344CB8AC3E}">
        <p14:creationId xmlns:p14="http://schemas.microsoft.com/office/powerpoint/2010/main" val="15473133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Table 3">
                <a:extLst>
                  <a:ext uri="{FF2B5EF4-FFF2-40B4-BE49-F238E27FC236}">
                    <a16:creationId xmlns:a16="http://schemas.microsoft.com/office/drawing/2014/main" id="{709D588F-E1AE-DC41-8591-7190BB66A2C4}"/>
                  </a:ext>
                </a:extLst>
              </p:cNvPr>
              <p:cNvGraphicFramePr>
                <a:graphicFrameLocks noGrp="1"/>
              </p:cNvGraphicFramePr>
              <p:nvPr>
                <p:extLst>
                  <p:ext uri="{D42A27DB-BD31-4B8C-83A1-F6EECF244321}">
                    <p14:modId xmlns:p14="http://schemas.microsoft.com/office/powerpoint/2010/main" val="376087083"/>
                  </p:ext>
                </p:extLst>
              </p:nvPr>
            </p:nvGraphicFramePr>
            <p:xfrm>
              <a:off x="1699486" y="165479"/>
              <a:ext cx="9093200" cy="3159608"/>
            </p:xfrm>
            <a:graphic>
              <a:graphicData uri="http://schemas.openxmlformats.org/drawingml/2006/table">
                <a:tbl>
                  <a:tblPr firstRow="1" bandRow="1">
                    <a:tableStyleId>{5C22544A-7EE6-4342-B048-85BDC9FD1C3A}</a:tableStyleId>
                  </a:tblPr>
                  <a:tblGrid>
                    <a:gridCol w="2273300">
                      <a:extLst>
                        <a:ext uri="{9D8B030D-6E8A-4147-A177-3AD203B41FA5}">
                          <a16:colId xmlns:a16="http://schemas.microsoft.com/office/drawing/2014/main" val="1881081285"/>
                        </a:ext>
                      </a:extLst>
                    </a:gridCol>
                    <a:gridCol w="2273300">
                      <a:extLst>
                        <a:ext uri="{9D8B030D-6E8A-4147-A177-3AD203B41FA5}">
                          <a16:colId xmlns:a16="http://schemas.microsoft.com/office/drawing/2014/main" val="1242995189"/>
                        </a:ext>
                      </a:extLst>
                    </a:gridCol>
                    <a:gridCol w="2273300">
                      <a:extLst>
                        <a:ext uri="{9D8B030D-6E8A-4147-A177-3AD203B41FA5}">
                          <a16:colId xmlns:a16="http://schemas.microsoft.com/office/drawing/2014/main" val="3250826949"/>
                        </a:ext>
                      </a:extLst>
                    </a:gridCol>
                    <a:gridCol w="2273300">
                      <a:extLst>
                        <a:ext uri="{9D8B030D-6E8A-4147-A177-3AD203B41FA5}">
                          <a16:colId xmlns:a16="http://schemas.microsoft.com/office/drawing/2014/main" val="3979781198"/>
                        </a:ext>
                      </a:extLst>
                    </a:gridCol>
                  </a:tblGrid>
                  <a:tr h="789902">
                    <a:tc>
                      <a:txBody>
                        <a:bodyPr/>
                        <a:lstStyle/>
                        <a:p>
                          <a:endParaRPr lang="en-C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𝝈</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𝑼</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𝑼</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𝝈</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𝑭</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𝝉</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5300713"/>
                      </a:ext>
                    </a:extLst>
                  </a:tr>
                  <a:tr h="789902">
                    <a:tc>
                      <a:txBody>
                        <a:bodyPr/>
                        <a:lstStyle/>
                        <a:p>
                          <a:pPr algn="ctr"/>
                          <a:endParaRPr lang="en-CN"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𝜏</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r>
                                      <a:rPr lang="en-US" b="0" i="1" smtClean="0">
                                        <a:latin typeface="Cambria Math" panose="02040503050406030204" pitchFamily="18" charset="0"/>
                                      </a:rPr>
                                      <m:t>1</m:t>
                                    </m:r>
                                  </m:num>
                                  <m:den>
                                    <m:r>
                                      <a:rPr lang="en-CN" i="1" smtClean="0">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𝜎</m:t>
                                            </m:r>
                                          </m:num>
                                          <m:den>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𝑈</m:t>
                                            </m:r>
                                          </m:den>
                                        </m:f>
                                      </m:e>
                                    </m:d>
                                  </m:e>
                                  <m:sub>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𝑁</m:t>
                                    </m:r>
                                  </m:sub>
                                </m:sSub>
                              </m:oMath>
                            </m:oMathPara>
                          </a14:m>
                          <a:endParaRPr lang="en-C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accent6"/>
                                    </a:solidFill>
                                    <a:latin typeface="Cambria Math" panose="02040503050406030204" pitchFamily="18" charset="0"/>
                                    <a:ea typeface="Cambria Math" panose="02040503050406030204" pitchFamily="18" charset="0"/>
                                  </a:rPr>
                                  <m:t>𝜏</m:t>
                                </m:r>
                                <m:r>
                                  <a:rPr lang="en-US" b="0" i="1" smtClean="0">
                                    <a:solidFill>
                                      <a:schemeClr val="accent6"/>
                                    </a:solidFill>
                                    <a:latin typeface="Cambria Math" panose="02040503050406030204" pitchFamily="18" charset="0"/>
                                  </a:rPr>
                                  <m:t>=</m:t>
                                </m:r>
                                <m:sSub>
                                  <m:sSubPr>
                                    <m:ctrlPr>
                                      <a:rPr lang="en-US" b="0" i="1" smtClean="0">
                                        <a:solidFill>
                                          <a:schemeClr val="accent6"/>
                                        </a:solidFill>
                                        <a:latin typeface="Cambria Math" panose="02040503050406030204" pitchFamily="18" charset="0"/>
                                      </a:rPr>
                                    </m:ctrlPr>
                                  </m:sSubPr>
                                  <m:e>
                                    <m:d>
                                      <m:dPr>
                                        <m:ctrlPr>
                                          <a:rPr lang="en-US" b="0" i="1" smtClean="0">
                                            <a:solidFill>
                                              <a:schemeClr val="accent6"/>
                                            </a:solidFill>
                                            <a:latin typeface="Cambria Math" panose="02040503050406030204" pitchFamily="18" charset="0"/>
                                          </a:rPr>
                                        </m:ctrlPr>
                                      </m:dPr>
                                      <m:e>
                                        <m:f>
                                          <m:fPr>
                                            <m:ctrlPr>
                                              <a:rPr lang="en-US" b="0" i="1" smtClean="0">
                                                <a:solidFill>
                                                  <a:schemeClr val="accent6"/>
                                                </a:solidFill>
                                                <a:latin typeface="Cambria Math" panose="02040503050406030204" pitchFamily="18" charset="0"/>
                                              </a:rPr>
                                            </m:ctrlPr>
                                          </m:fPr>
                                          <m:num>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rPr>
                                              <m:t>𝑈</m:t>
                                            </m:r>
                                          </m:num>
                                          <m:den>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ea typeface="Cambria Math" panose="02040503050406030204" pitchFamily="18" charset="0"/>
                                              </a:rPr>
                                              <m:t>𝜎</m:t>
                                            </m:r>
                                          </m:den>
                                        </m:f>
                                      </m:e>
                                    </m:d>
                                  </m:e>
                                  <m:sub>
                                    <m:r>
                                      <a:rPr lang="en-US" b="0" i="1" smtClean="0">
                                        <a:solidFill>
                                          <a:schemeClr val="accent6"/>
                                        </a:solidFill>
                                        <a:latin typeface="Cambria Math" panose="02040503050406030204" pitchFamily="18" charset="0"/>
                                      </a:rPr>
                                      <m:t>𝑉</m:t>
                                    </m:r>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𝑁</m:t>
                                    </m:r>
                                  </m:sub>
                                </m:sSub>
                              </m:oMath>
                            </m:oMathPara>
                          </a14:m>
                          <a:endParaRPr lang="en-CN" dirty="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chemeClr val="accent6"/>
                            </a:solidFill>
                          </a:endParaRPr>
                        </a:p>
                        <a:p>
                          <a:pPr algn="ctr"/>
                          <a:r>
                            <a:rPr lang="en-US" dirty="0">
                              <a:solidFill>
                                <a:schemeClr val="accent6"/>
                              </a:solidFill>
                            </a:rPr>
                            <a:t>d</a:t>
                          </a:r>
                          <a:r>
                            <a:rPr lang="en-CN" dirty="0">
                              <a:solidFill>
                                <a:schemeClr val="accent6"/>
                              </a:solidFill>
                            </a:rPr>
                            <a:t>ependent variable</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249"/>
                      </a:ext>
                    </a:extLst>
                  </a:tr>
                  <a:tr h="789902">
                    <a:tc>
                      <a:txBody>
                        <a:bodyPr/>
                        <a:lstStyle/>
                        <a:p>
                          <a:pPr algn="ctr"/>
                          <a:endParaRPr lang="en-US" b="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1" dirty="0">
                            <a:solidFill>
                              <a:schemeClr val="tx1"/>
                            </a:solidFill>
                            <a:latin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CN" altLang="en-US" b="0" i="1" smtClean="0">
                                    <a:solidFill>
                                      <a:schemeClr val="tx1"/>
                                    </a:solidFill>
                                    <a:latin typeface="Cambria Math" panose="02040503050406030204" pitchFamily="18" charset="0"/>
                                  </a:rPr>
                                  <m:t>？</m:t>
                                </m:r>
                              </m:oMath>
                            </m:oMathPara>
                          </a14:m>
                          <a:endParaRPr lang="en-C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𝑝</m:t>
                                </m:r>
                                <m:r>
                                  <a:rPr lang="en-US" b="0" i="1" smtClean="0">
                                    <a:solidFill>
                                      <a:schemeClr val="accent6"/>
                                    </a:solidFill>
                                    <a:latin typeface="Cambria Math" panose="02040503050406030204" pitchFamily="18" charset="0"/>
                                  </a:rPr>
                                  <m:t>=</m:t>
                                </m:r>
                                <m:sSub>
                                  <m:sSubPr>
                                    <m:ctrlPr>
                                      <a:rPr lang="en-US" b="0" i="1" smtClean="0">
                                        <a:solidFill>
                                          <a:schemeClr val="accent6"/>
                                        </a:solidFill>
                                        <a:latin typeface="Cambria Math" panose="02040503050406030204" pitchFamily="18" charset="0"/>
                                      </a:rPr>
                                    </m:ctrlPr>
                                  </m:sSubPr>
                                  <m:e>
                                    <m:d>
                                      <m:dPr>
                                        <m:ctrlPr>
                                          <a:rPr lang="en-US" b="0" i="1" smtClean="0">
                                            <a:solidFill>
                                              <a:schemeClr val="accent6"/>
                                            </a:solidFill>
                                            <a:latin typeface="Cambria Math" panose="02040503050406030204" pitchFamily="18" charset="0"/>
                                          </a:rPr>
                                        </m:ctrlPr>
                                      </m:dPr>
                                      <m:e>
                                        <m:f>
                                          <m:fPr>
                                            <m:ctrlPr>
                                              <a:rPr lang="en-US" b="0" i="1" smtClean="0">
                                                <a:solidFill>
                                                  <a:schemeClr val="accent6"/>
                                                </a:solidFill>
                                                <a:latin typeface="Cambria Math" panose="02040503050406030204" pitchFamily="18" charset="0"/>
                                              </a:rPr>
                                            </m:ctrlPr>
                                          </m:fPr>
                                          <m:num>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rPr>
                                              <m:t>𝑈</m:t>
                                            </m:r>
                                          </m:num>
                                          <m:den>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rPr>
                                              <m:t>𝑉</m:t>
                                            </m:r>
                                          </m:den>
                                        </m:f>
                                      </m:e>
                                    </m:d>
                                  </m:e>
                                  <m:sub>
                                    <m:r>
                                      <a:rPr lang="en-US" b="0" i="1" smtClean="0">
                                        <a:solidFill>
                                          <a:schemeClr val="accent6"/>
                                        </a:solidFill>
                                        <a:latin typeface="Cambria Math" panose="02040503050406030204" pitchFamily="18" charset="0"/>
                                        <a:ea typeface="Cambria Math" panose="02040503050406030204" pitchFamily="18" charset="0"/>
                                      </a:rPr>
                                      <m:t>𝜎</m:t>
                                    </m:r>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𝑁</m:t>
                                    </m:r>
                                  </m:sub>
                                </m:sSub>
                              </m:oMath>
                            </m:oMathPara>
                          </a14:m>
                          <a:endParaRPr lang="en-CN" dirty="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𝑝</m:t>
                                </m:r>
                                <m:r>
                                  <a:rPr lang="en-US" b="0" i="1" smtClean="0">
                                    <a:solidFill>
                                      <a:schemeClr val="accent6"/>
                                    </a:solidFill>
                                    <a:latin typeface="Cambria Math" panose="02040503050406030204" pitchFamily="18" charset="0"/>
                                  </a:rPr>
                                  <m:t>=</m:t>
                                </m:r>
                                <m:sSub>
                                  <m:sSubPr>
                                    <m:ctrlPr>
                                      <a:rPr lang="en-US" b="0" i="1" smtClean="0">
                                        <a:solidFill>
                                          <a:schemeClr val="accent6"/>
                                        </a:solidFill>
                                        <a:latin typeface="Cambria Math" panose="02040503050406030204" pitchFamily="18" charset="0"/>
                                      </a:rPr>
                                    </m:ctrlPr>
                                  </m:sSubPr>
                                  <m:e>
                                    <m:d>
                                      <m:dPr>
                                        <m:ctrlPr>
                                          <a:rPr lang="en-US" b="0" i="1" smtClean="0">
                                            <a:solidFill>
                                              <a:schemeClr val="accent6"/>
                                            </a:solidFill>
                                            <a:latin typeface="Cambria Math" panose="02040503050406030204" pitchFamily="18" charset="0"/>
                                          </a:rPr>
                                        </m:ctrlPr>
                                      </m:dPr>
                                      <m:e>
                                        <m:f>
                                          <m:fPr>
                                            <m:ctrlPr>
                                              <a:rPr lang="en-US" b="0" i="1" smtClean="0">
                                                <a:solidFill>
                                                  <a:schemeClr val="accent6"/>
                                                </a:solidFill>
                                                <a:latin typeface="Cambria Math" panose="02040503050406030204" pitchFamily="18" charset="0"/>
                                              </a:rPr>
                                            </m:ctrlPr>
                                          </m:fPr>
                                          <m:num>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rPr>
                                              <m:t>𝐹</m:t>
                                            </m:r>
                                          </m:num>
                                          <m:den>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rPr>
                                              <m:t>𝑉</m:t>
                                            </m:r>
                                          </m:den>
                                        </m:f>
                                      </m:e>
                                    </m:d>
                                  </m:e>
                                  <m:sub>
                                    <m:r>
                                      <a:rPr lang="en-US" b="0" i="1" smtClean="0">
                                        <a:solidFill>
                                          <a:schemeClr val="accent6"/>
                                        </a:solidFill>
                                        <a:latin typeface="Cambria Math" panose="02040503050406030204" pitchFamily="18" charset="0"/>
                                        <a:ea typeface="Cambria Math" panose="02040503050406030204" pitchFamily="18" charset="0"/>
                                      </a:rPr>
                                      <m:t>𝜏</m:t>
                                    </m:r>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𝑁</m:t>
                                    </m:r>
                                  </m:sub>
                                </m:sSub>
                              </m:oMath>
                            </m:oMathPara>
                          </a14:m>
                          <a:endParaRPr lang="en-CN" dirty="0">
                            <a:solidFill>
                              <a:schemeClr val="accent6"/>
                            </a:solidFill>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6354381"/>
                      </a:ext>
                    </a:extLst>
                  </a:tr>
                  <a:tr h="789902">
                    <a:tc>
                      <a:txBody>
                        <a:bodyPr/>
                        <a:lstStyle/>
                        <a:p>
                          <a:pPr algn="ctr"/>
                          <a:endParaRPr lang="en-CN"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𝜇</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endParaRPr lang="en-CN" dirty="0"/>
                        </a:p>
                        <a:p>
                          <a:pPr algn="ctr"/>
                          <a:r>
                            <a:rPr lang="en-C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accent6"/>
                                    </a:solidFill>
                                    <a:latin typeface="Cambria Math" panose="02040503050406030204" pitchFamily="18" charset="0"/>
                                    <a:ea typeface="Cambria Math" panose="02040503050406030204" pitchFamily="18" charset="0"/>
                                  </a:rPr>
                                  <m:t>𝜇</m:t>
                                </m:r>
                                <m:r>
                                  <a:rPr lang="en-US" b="0" i="1" smtClean="0">
                                    <a:solidFill>
                                      <a:schemeClr val="accent6"/>
                                    </a:solidFill>
                                    <a:latin typeface="Cambria Math" panose="02040503050406030204" pitchFamily="18" charset="0"/>
                                  </a:rPr>
                                  <m:t>=</m:t>
                                </m:r>
                                <m:sSub>
                                  <m:sSubPr>
                                    <m:ctrlPr>
                                      <a:rPr lang="en-US" b="0" i="1" smtClean="0">
                                        <a:solidFill>
                                          <a:schemeClr val="accent6"/>
                                        </a:solidFill>
                                        <a:latin typeface="Cambria Math" panose="02040503050406030204" pitchFamily="18" charset="0"/>
                                      </a:rPr>
                                    </m:ctrlPr>
                                  </m:sSubPr>
                                  <m:e>
                                    <m:d>
                                      <m:dPr>
                                        <m:ctrlPr>
                                          <a:rPr lang="en-US" b="0" i="1" smtClean="0">
                                            <a:solidFill>
                                              <a:schemeClr val="accent6"/>
                                            </a:solidFill>
                                            <a:latin typeface="Cambria Math" panose="02040503050406030204" pitchFamily="18" charset="0"/>
                                          </a:rPr>
                                        </m:ctrlPr>
                                      </m:dPr>
                                      <m:e>
                                        <m:f>
                                          <m:fPr>
                                            <m:ctrlPr>
                                              <a:rPr lang="en-US" b="0" i="1" smtClean="0">
                                                <a:solidFill>
                                                  <a:schemeClr val="accent6"/>
                                                </a:solidFill>
                                                <a:latin typeface="Cambria Math" panose="02040503050406030204" pitchFamily="18" charset="0"/>
                                              </a:rPr>
                                            </m:ctrlPr>
                                          </m:fPr>
                                          <m:num>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rPr>
                                              <m:t>𝑈</m:t>
                                            </m:r>
                                          </m:num>
                                          <m:den>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rPr>
                                              <m:t>𝑁</m:t>
                                            </m:r>
                                          </m:den>
                                        </m:f>
                                      </m:e>
                                    </m:d>
                                  </m:e>
                                  <m:sub>
                                    <m:r>
                                      <a:rPr lang="en-US" b="0" i="1" smtClean="0">
                                        <a:solidFill>
                                          <a:schemeClr val="accent6"/>
                                        </a:solidFill>
                                        <a:latin typeface="Cambria Math" panose="02040503050406030204" pitchFamily="18" charset="0"/>
                                        <a:ea typeface="Cambria Math" panose="02040503050406030204" pitchFamily="18" charset="0"/>
                                      </a:rPr>
                                      <m:t>𝜎</m:t>
                                    </m:r>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𝑉</m:t>
                                    </m:r>
                                  </m:sub>
                                </m:sSub>
                              </m:oMath>
                            </m:oMathPara>
                          </a14:m>
                          <a:endParaRPr lang="en-CN" dirty="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accent6"/>
                                    </a:solidFill>
                                    <a:latin typeface="Cambria Math" panose="02040503050406030204" pitchFamily="18" charset="0"/>
                                    <a:ea typeface="Cambria Math" panose="02040503050406030204" pitchFamily="18" charset="0"/>
                                  </a:rPr>
                                  <m:t>𝜇</m:t>
                                </m:r>
                                <m:r>
                                  <a:rPr lang="en-US" b="0" i="1" smtClean="0">
                                    <a:solidFill>
                                      <a:schemeClr val="accent6"/>
                                    </a:solidFill>
                                    <a:latin typeface="Cambria Math" panose="02040503050406030204" pitchFamily="18" charset="0"/>
                                  </a:rPr>
                                  <m:t>=</m:t>
                                </m:r>
                                <m:sSub>
                                  <m:sSubPr>
                                    <m:ctrlPr>
                                      <a:rPr lang="en-US" b="0" i="1" smtClean="0">
                                        <a:solidFill>
                                          <a:schemeClr val="accent6"/>
                                        </a:solidFill>
                                        <a:latin typeface="Cambria Math" panose="02040503050406030204" pitchFamily="18" charset="0"/>
                                      </a:rPr>
                                    </m:ctrlPr>
                                  </m:sSubPr>
                                  <m:e>
                                    <m:d>
                                      <m:dPr>
                                        <m:ctrlPr>
                                          <a:rPr lang="en-US" b="0" i="1" smtClean="0">
                                            <a:solidFill>
                                              <a:schemeClr val="accent6"/>
                                            </a:solidFill>
                                            <a:latin typeface="Cambria Math" panose="02040503050406030204" pitchFamily="18" charset="0"/>
                                          </a:rPr>
                                        </m:ctrlPr>
                                      </m:dPr>
                                      <m:e>
                                        <m:f>
                                          <m:fPr>
                                            <m:ctrlPr>
                                              <a:rPr lang="en-US" b="0" i="1" smtClean="0">
                                                <a:solidFill>
                                                  <a:schemeClr val="accent6"/>
                                                </a:solidFill>
                                                <a:latin typeface="Cambria Math" panose="02040503050406030204" pitchFamily="18" charset="0"/>
                                              </a:rPr>
                                            </m:ctrlPr>
                                          </m:fPr>
                                          <m:num>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rPr>
                                              <m:t>𝐹</m:t>
                                            </m:r>
                                          </m:num>
                                          <m:den>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rPr>
                                              <m:t>𝑁</m:t>
                                            </m:r>
                                          </m:den>
                                        </m:f>
                                      </m:e>
                                    </m:d>
                                  </m:e>
                                  <m:sub>
                                    <m:r>
                                      <a:rPr lang="en-US" b="0" i="1" smtClean="0">
                                        <a:solidFill>
                                          <a:schemeClr val="accent6"/>
                                        </a:solidFill>
                                        <a:latin typeface="Cambria Math" panose="02040503050406030204" pitchFamily="18" charset="0"/>
                                        <a:ea typeface="Cambria Math" panose="02040503050406030204" pitchFamily="18" charset="0"/>
                                      </a:rPr>
                                      <m:t>𝜏</m:t>
                                    </m:r>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𝑉</m:t>
                                    </m:r>
                                  </m:sub>
                                </m:sSub>
                              </m:oMath>
                            </m:oMathPara>
                          </a14:m>
                          <a:endParaRPr lang="en-CN" dirty="0">
                            <a:solidFill>
                              <a:schemeClr val="accent6"/>
                            </a:solidFill>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5672016"/>
                      </a:ext>
                    </a:extLst>
                  </a:tr>
                </a:tbl>
              </a:graphicData>
            </a:graphic>
          </p:graphicFrame>
        </mc:Choice>
        <mc:Fallback xmlns="">
          <p:graphicFrame>
            <p:nvGraphicFramePr>
              <p:cNvPr id="2" name="Table 3">
                <a:extLst>
                  <a:ext uri="{FF2B5EF4-FFF2-40B4-BE49-F238E27FC236}">
                    <a16:creationId xmlns:a16="http://schemas.microsoft.com/office/drawing/2014/main" id="{709D588F-E1AE-DC41-8591-7190BB66A2C4}"/>
                  </a:ext>
                </a:extLst>
              </p:cNvPr>
              <p:cNvGraphicFramePr>
                <a:graphicFrameLocks noGrp="1"/>
              </p:cNvGraphicFramePr>
              <p:nvPr>
                <p:extLst>
                  <p:ext uri="{D42A27DB-BD31-4B8C-83A1-F6EECF244321}">
                    <p14:modId xmlns:p14="http://schemas.microsoft.com/office/powerpoint/2010/main" val="376087083"/>
                  </p:ext>
                </p:extLst>
              </p:nvPr>
            </p:nvGraphicFramePr>
            <p:xfrm>
              <a:off x="1699486" y="165479"/>
              <a:ext cx="9093200" cy="3159608"/>
            </p:xfrm>
            <a:graphic>
              <a:graphicData uri="http://schemas.openxmlformats.org/drawingml/2006/table">
                <a:tbl>
                  <a:tblPr firstRow="1" bandRow="1">
                    <a:tableStyleId>{5C22544A-7EE6-4342-B048-85BDC9FD1C3A}</a:tableStyleId>
                  </a:tblPr>
                  <a:tblGrid>
                    <a:gridCol w="2273300">
                      <a:extLst>
                        <a:ext uri="{9D8B030D-6E8A-4147-A177-3AD203B41FA5}">
                          <a16:colId xmlns:a16="http://schemas.microsoft.com/office/drawing/2014/main" val="1881081285"/>
                        </a:ext>
                      </a:extLst>
                    </a:gridCol>
                    <a:gridCol w="2273300">
                      <a:extLst>
                        <a:ext uri="{9D8B030D-6E8A-4147-A177-3AD203B41FA5}">
                          <a16:colId xmlns:a16="http://schemas.microsoft.com/office/drawing/2014/main" val="1242995189"/>
                        </a:ext>
                      </a:extLst>
                    </a:gridCol>
                    <a:gridCol w="2273300">
                      <a:extLst>
                        <a:ext uri="{9D8B030D-6E8A-4147-A177-3AD203B41FA5}">
                          <a16:colId xmlns:a16="http://schemas.microsoft.com/office/drawing/2014/main" val="3250826949"/>
                        </a:ext>
                      </a:extLst>
                    </a:gridCol>
                    <a:gridCol w="2273300">
                      <a:extLst>
                        <a:ext uri="{9D8B030D-6E8A-4147-A177-3AD203B41FA5}">
                          <a16:colId xmlns:a16="http://schemas.microsoft.com/office/drawing/2014/main" val="3979781198"/>
                        </a:ext>
                      </a:extLst>
                    </a:gridCol>
                  </a:tblGrid>
                  <a:tr h="789902">
                    <a:tc>
                      <a:txBody>
                        <a:bodyPr/>
                        <a:lstStyle/>
                        <a:p>
                          <a:endParaRPr lang="en-C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444" t="-1613" r="-199444" b="-3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559" t="-1613" r="-100559" b="-3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0559" t="-1613" r="-559" b="-303226"/>
                          </a:stretch>
                        </a:blipFill>
                      </a:tcPr>
                    </a:tc>
                    <a:extLst>
                      <a:ext uri="{0D108BD9-81ED-4DB2-BD59-A6C34878D82A}">
                        <a16:rowId xmlns:a16="http://schemas.microsoft.com/office/drawing/2014/main" val="1475300713"/>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100000" r="-301117" b="-1984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444" t="-100000" r="-199444" b="-1984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559" t="-100000" r="-100559" b="-198413"/>
                          </a:stretch>
                        </a:blipFill>
                      </a:tcPr>
                    </a:tc>
                    <a:tc>
                      <a:txBody>
                        <a:bodyPr/>
                        <a:lstStyle/>
                        <a:p>
                          <a:pPr algn="ctr"/>
                          <a:endParaRPr lang="en-US" dirty="0">
                            <a:solidFill>
                              <a:schemeClr val="accent6"/>
                            </a:solidFill>
                          </a:endParaRPr>
                        </a:p>
                        <a:p>
                          <a:pPr algn="ctr"/>
                          <a:r>
                            <a:rPr lang="en-US" dirty="0">
                              <a:solidFill>
                                <a:schemeClr val="accent6"/>
                              </a:solidFill>
                            </a:rPr>
                            <a:t>d</a:t>
                          </a:r>
                          <a:r>
                            <a:rPr lang="en-CN" dirty="0">
                              <a:solidFill>
                                <a:schemeClr val="accent6"/>
                              </a:solidFill>
                            </a:rPr>
                            <a:t>ependent variable</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249"/>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203226" r="-301117" b="-10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444" t="-203226" r="-199444" b="-10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559" t="-203226" r="-100559" b="-10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0559" t="-203226" r="-559" b="-101613"/>
                          </a:stretch>
                        </a:blipFill>
                      </a:tcPr>
                    </a:tc>
                    <a:extLst>
                      <a:ext uri="{0D108BD9-81ED-4DB2-BD59-A6C34878D82A}">
                        <a16:rowId xmlns:a16="http://schemas.microsoft.com/office/drawing/2014/main" val="876354381"/>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t="-303226" r="-301117" b="-1613"/>
                          </a:stretch>
                        </a:blipFill>
                      </a:tcPr>
                    </a:tc>
                    <a:tc>
                      <a:txBody>
                        <a:bodyPr/>
                        <a:lstStyle/>
                        <a:p>
                          <a:pPr algn="ctr"/>
                          <a:endParaRPr lang="en-CN" dirty="0"/>
                        </a:p>
                        <a:p>
                          <a:pPr algn="ctr"/>
                          <a:r>
                            <a:rPr lang="en-C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200559" t="-303226" r="-100559" b="-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300559" t="-303226" r="-559" b="-1613"/>
                          </a:stretch>
                        </a:blipFill>
                      </a:tcPr>
                    </a:tc>
                    <a:extLst>
                      <a:ext uri="{0D108BD9-81ED-4DB2-BD59-A6C34878D82A}">
                        <a16:rowId xmlns:a16="http://schemas.microsoft.com/office/drawing/2014/main" val="3945672016"/>
                      </a:ext>
                    </a:extLst>
                  </a:tr>
                </a:tbl>
              </a:graphicData>
            </a:graphic>
          </p:graphicFrame>
        </mc:Fallback>
      </mc:AlternateContent>
      <p:sp>
        <p:nvSpPr>
          <p:cNvPr id="3" name="Curved Up Arrow 2">
            <a:extLst>
              <a:ext uri="{FF2B5EF4-FFF2-40B4-BE49-F238E27FC236}">
                <a16:creationId xmlns:a16="http://schemas.microsoft.com/office/drawing/2014/main" id="{AEDF315B-52FB-2C4E-9E59-7FD1D611292E}"/>
              </a:ext>
            </a:extLst>
          </p:cNvPr>
          <p:cNvSpPr/>
          <p:nvPr/>
        </p:nvSpPr>
        <p:spPr>
          <a:xfrm flipH="1">
            <a:off x="7509165" y="3532914"/>
            <a:ext cx="1995054" cy="62345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
        <p:nvSpPr>
          <p:cNvPr id="5" name="TextBox 4">
            <a:extLst>
              <a:ext uri="{FF2B5EF4-FFF2-40B4-BE49-F238E27FC236}">
                <a16:creationId xmlns:a16="http://schemas.microsoft.com/office/drawing/2014/main" id="{759FD345-B3C7-FB41-AB91-C341730643C3}"/>
              </a:ext>
            </a:extLst>
          </p:cNvPr>
          <p:cNvSpPr txBox="1"/>
          <p:nvPr/>
        </p:nvSpPr>
        <p:spPr>
          <a:xfrm>
            <a:off x="8215745" y="4391891"/>
            <a:ext cx="3338946" cy="369332"/>
          </a:xfrm>
          <a:prstGeom prst="rect">
            <a:avLst/>
          </a:prstGeom>
          <a:noFill/>
        </p:spPr>
        <p:txBody>
          <a:bodyPr wrap="square" rtlCol="0">
            <a:spAutoFit/>
          </a:bodyPr>
          <a:lstStyle/>
          <a:p>
            <a:r>
              <a:rPr lang="en-US" dirty="0"/>
              <a:t>S</a:t>
            </a:r>
            <a:r>
              <a:rPr lang="en-CN" dirty="0"/>
              <a:t>tep</a:t>
            </a:r>
            <a:r>
              <a:rPr lang="en-US" altLang="zh-CN" dirty="0"/>
              <a:t>-I</a:t>
            </a:r>
            <a:r>
              <a:rPr lang="zh-CN" altLang="en-US" dirty="0"/>
              <a:t>：</a:t>
            </a:r>
            <a:r>
              <a:rPr lang="en-US" altLang="zh-CN" dirty="0"/>
              <a:t>Legendre</a:t>
            </a:r>
            <a:r>
              <a:rPr lang="zh-CN" altLang="en-US" dirty="0"/>
              <a:t>变换</a:t>
            </a:r>
            <a:endParaRPr lang="en-CN" dirty="0"/>
          </a:p>
        </p:txBody>
      </p:sp>
      <p:sp>
        <p:nvSpPr>
          <p:cNvPr id="4" name="TextBox 3">
            <a:extLst>
              <a:ext uri="{FF2B5EF4-FFF2-40B4-BE49-F238E27FC236}">
                <a16:creationId xmlns:a16="http://schemas.microsoft.com/office/drawing/2014/main" id="{D39F4E5E-4DAB-F443-9400-898EA9318332}"/>
              </a:ext>
            </a:extLst>
          </p:cNvPr>
          <p:cNvSpPr txBox="1"/>
          <p:nvPr/>
        </p:nvSpPr>
        <p:spPr>
          <a:xfrm>
            <a:off x="484909" y="4973782"/>
            <a:ext cx="9933709" cy="923330"/>
          </a:xfrm>
          <a:prstGeom prst="rect">
            <a:avLst/>
          </a:prstGeom>
          <a:noFill/>
        </p:spPr>
        <p:txBody>
          <a:bodyPr wrap="square" rtlCol="0">
            <a:spAutoFit/>
          </a:bodyPr>
          <a:lstStyle/>
          <a:p>
            <a:r>
              <a:rPr lang="en-CN" dirty="0"/>
              <a:t>Note: the chemical potential is the amount by which a system’s energy changes, when you add one particle and keep the entropy and volume fixed. Normally, to hold the entropy(multiplicity) fixed, you must remove some energy as you add a particle, so mu is negative.</a:t>
            </a:r>
          </a:p>
        </p:txBody>
      </p:sp>
    </p:spTree>
    <p:extLst>
      <p:ext uri="{BB962C8B-B14F-4D97-AF65-F5344CB8AC3E}">
        <p14:creationId xmlns:p14="http://schemas.microsoft.com/office/powerpoint/2010/main" val="28244995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Table 3">
                <a:extLst>
                  <a:ext uri="{FF2B5EF4-FFF2-40B4-BE49-F238E27FC236}">
                    <a16:creationId xmlns:a16="http://schemas.microsoft.com/office/drawing/2014/main" id="{3165E4F3-7459-384F-9B31-F53C2E492F8B}"/>
                  </a:ext>
                </a:extLst>
              </p:cNvPr>
              <p:cNvGraphicFramePr>
                <a:graphicFrameLocks noGrp="1"/>
              </p:cNvGraphicFramePr>
              <p:nvPr>
                <p:extLst>
                  <p:ext uri="{D42A27DB-BD31-4B8C-83A1-F6EECF244321}">
                    <p14:modId xmlns:p14="http://schemas.microsoft.com/office/powerpoint/2010/main" val="4146910934"/>
                  </p:ext>
                </p:extLst>
              </p:nvPr>
            </p:nvGraphicFramePr>
            <p:xfrm>
              <a:off x="1699486" y="165479"/>
              <a:ext cx="9093200" cy="3159608"/>
            </p:xfrm>
            <a:graphic>
              <a:graphicData uri="http://schemas.openxmlformats.org/drawingml/2006/table">
                <a:tbl>
                  <a:tblPr firstRow="1" bandRow="1">
                    <a:tableStyleId>{5C22544A-7EE6-4342-B048-85BDC9FD1C3A}</a:tableStyleId>
                  </a:tblPr>
                  <a:tblGrid>
                    <a:gridCol w="2273300">
                      <a:extLst>
                        <a:ext uri="{9D8B030D-6E8A-4147-A177-3AD203B41FA5}">
                          <a16:colId xmlns:a16="http://schemas.microsoft.com/office/drawing/2014/main" val="1881081285"/>
                        </a:ext>
                      </a:extLst>
                    </a:gridCol>
                    <a:gridCol w="2273300">
                      <a:extLst>
                        <a:ext uri="{9D8B030D-6E8A-4147-A177-3AD203B41FA5}">
                          <a16:colId xmlns:a16="http://schemas.microsoft.com/office/drawing/2014/main" val="1242995189"/>
                        </a:ext>
                      </a:extLst>
                    </a:gridCol>
                    <a:gridCol w="2273300">
                      <a:extLst>
                        <a:ext uri="{9D8B030D-6E8A-4147-A177-3AD203B41FA5}">
                          <a16:colId xmlns:a16="http://schemas.microsoft.com/office/drawing/2014/main" val="3250826949"/>
                        </a:ext>
                      </a:extLst>
                    </a:gridCol>
                    <a:gridCol w="2273300">
                      <a:extLst>
                        <a:ext uri="{9D8B030D-6E8A-4147-A177-3AD203B41FA5}">
                          <a16:colId xmlns:a16="http://schemas.microsoft.com/office/drawing/2014/main" val="3979781198"/>
                        </a:ext>
                      </a:extLst>
                    </a:gridCol>
                  </a:tblGrid>
                  <a:tr h="789902">
                    <a:tc>
                      <a:txBody>
                        <a:bodyPr/>
                        <a:lstStyle/>
                        <a:p>
                          <a:endParaRPr lang="en-C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𝝈</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𝑼</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𝑼</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𝝈</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𝑭</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𝝉</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5300713"/>
                      </a:ext>
                    </a:extLst>
                  </a:tr>
                  <a:tr h="789902">
                    <a:tc>
                      <a:txBody>
                        <a:bodyPr/>
                        <a:lstStyle/>
                        <a:p>
                          <a:pPr algn="ctr"/>
                          <a:endParaRPr lang="en-CN"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𝜏</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CN" i="1" smtClean="0">
                                        <a:solidFill>
                                          <a:schemeClr val="accent6"/>
                                        </a:solidFill>
                                        <a:latin typeface="Cambria Math" panose="02040503050406030204" pitchFamily="18" charset="0"/>
                                      </a:rPr>
                                    </m:ctrlPr>
                                  </m:fPr>
                                  <m:num>
                                    <m:r>
                                      <a:rPr lang="en-US" b="0" i="1" smtClean="0">
                                        <a:solidFill>
                                          <a:schemeClr val="accent6"/>
                                        </a:solidFill>
                                        <a:latin typeface="Cambria Math" panose="02040503050406030204" pitchFamily="18" charset="0"/>
                                      </a:rPr>
                                      <m:t>1</m:t>
                                    </m:r>
                                  </m:num>
                                  <m:den>
                                    <m:r>
                                      <a:rPr lang="en-CN" i="1" smtClean="0">
                                        <a:solidFill>
                                          <a:schemeClr val="accent6"/>
                                        </a:solidFill>
                                        <a:latin typeface="Cambria Math" panose="02040503050406030204" pitchFamily="18" charset="0"/>
                                        <a:ea typeface="Cambria Math" panose="02040503050406030204" pitchFamily="18" charset="0"/>
                                      </a:rPr>
                                      <m:t>𝜏</m:t>
                                    </m:r>
                                  </m:den>
                                </m:f>
                                <m:r>
                                  <a:rPr lang="en-US" b="0" i="1" smtClean="0">
                                    <a:solidFill>
                                      <a:schemeClr val="accent6"/>
                                    </a:solidFill>
                                    <a:latin typeface="Cambria Math" panose="02040503050406030204" pitchFamily="18" charset="0"/>
                                  </a:rPr>
                                  <m:t>=</m:t>
                                </m:r>
                                <m:sSub>
                                  <m:sSubPr>
                                    <m:ctrlPr>
                                      <a:rPr lang="en-US" b="0" i="1" smtClean="0">
                                        <a:solidFill>
                                          <a:schemeClr val="accent6"/>
                                        </a:solidFill>
                                        <a:latin typeface="Cambria Math" panose="02040503050406030204" pitchFamily="18" charset="0"/>
                                      </a:rPr>
                                    </m:ctrlPr>
                                  </m:sSubPr>
                                  <m:e>
                                    <m:d>
                                      <m:dPr>
                                        <m:ctrlPr>
                                          <a:rPr lang="en-US" b="0" i="1" smtClean="0">
                                            <a:solidFill>
                                              <a:schemeClr val="accent6"/>
                                            </a:solidFill>
                                            <a:latin typeface="Cambria Math" panose="02040503050406030204" pitchFamily="18" charset="0"/>
                                          </a:rPr>
                                        </m:ctrlPr>
                                      </m:dPr>
                                      <m:e>
                                        <m:f>
                                          <m:fPr>
                                            <m:ctrlPr>
                                              <a:rPr lang="en-US" b="0" i="1" smtClean="0">
                                                <a:solidFill>
                                                  <a:schemeClr val="accent6"/>
                                                </a:solidFill>
                                                <a:latin typeface="Cambria Math" panose="02040503050406030204" pitchFamily="18" charset="0"/>
                                              </a:rPr>
                                            </m:ctrlPr>
                                          </m:fPr>
                                          <m:num>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ea typeface="Cambria Math" panose="02040503050406030204" pitchFamily="18" charset="0"/>
                                              </a:rPr>
                                              <m:t>𝜎</m:t>
                                            </m:r>
                                          </m:num>
                                          <m:den>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rPr>
                                              <m:t>𝑈</m:t>
                                            </m:r>
                                          </m:den>
                                        </m:f>
                                      </m:e>
                                    </m:d>
                                  </m:e>
                                  <m:sub>
                                    <m:r>
                                      <a:rPr lang="en-US" b="0" i="1" smtClean="0">
                                        <a:solidFill>
                                          <a:schemeClr val="accent6"/>
                                        </a:solidFill>
                                        <a:latin typeface="Cambria Math" panose="02040503050406030204" pitchFamily="18" charset="0"/>
                                      </a:rPr>
                                      <m:t>𝑉</m:t>
                                    </m:r>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𝑁</m:t>
                                    </m:r>
                                  </m:sub>
                                </m:sSub>
                              </m:oMath>
                            </m:oMathPara>
                          </a14:m>
                          <a:endParaRPr lang="en-CN" dirty="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accent6"/>
                                    </a:solidFill>
                                    <a:latin typeface="Cambria Math" panose="02040503050406030204" pitchFamily="18" charset="0"/>
                                    <a:ea typeface="Cambria Math" panose="02040503050406030204" pitchFamily="18" charset="0"/>
                                  </a:rPr>
                                  <m:t>𝜏</m:t>
                                </m:r>
                                <m:r>
                                  <a:rPr lang="en-US" b="0" i="1" smtClean="0">
                                    <a:solidFill>
                                      <a:schemeClr val="accent6"/>
                                    </a:solidFill>
                                    <a:latin typeface="Cambria Math" panose="02040503050406030204" pitchFamily="18" charset="0"/>
                                  </a:rPr>
                                  <m:t>=</m:t>
                                </m:r>
                                <m:sSub>
                                  <m:sSubPr>
                                    <m:ctrlPr>
                                      <a:rPr lang="en-US" b="0" i="1" smtClean="0">
                                        <a:solidFill>
                                          <a:schemeClr val="accent6"/>
                                        </a:solidFill>
                                        <a:latin typeface="Cambria Math" panose="02040503050406030204" pitchFamily="18" charset="0"/>
                                      </a:rPr>
                                    </m:ctrlPr>
                                  </m:sSubPr>
                                  <m:e>
                                    <m:d>
                                      <m:dPr>
                                        <m:ctrlPr>
                                          <a:rPr lang="en-US" b="0" i="1" smtClean="0">
                                            <a:solidFill>
                                              <a:schemeClr val="accent6"/>
                                            </a:solidFill>
                                            <a:latin typeface="Cambria Math" panose="02040503050406030204" pitchFamily="18" charset="0"/>
                                          </a:rPr>
                                        </m:ctrlPr>
                                      </m:dPr>
                                      <m:e>
                                        <m:f>
                                          <m:fPr>
                                            <m:ctrlPr>
                                              <a:rPr lang="en-US" b="0" i="1" smtClean="0">
                                                <a:solidFill>
                                                  <a:schemeClr val="accent6"/>
                                                </a:solidFill>
                                                <a:latin typeface="Cambria Math" panose="02040503050406030204" pitchFamily="18" charset="0"/>
                                              </a:rPr>
                                            </m:ctrlPr>
                                          </m:fPr>
                                          <m:num>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rPr>
                                              <m:t>𝑈</m:t>
                                            </m:r>
                                          </m:num>
                                          <m:den>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ea typeface="Cambria Math" panose="02040503050406030204" pitchFamily="18" charset="0"/>
                                              </a:rPr>
                                              <m:t>𝜎</m:t>
                                            </m:r>
                                          </m:den>
                                        </m:f>
                                      </m:e>
                                    </m:d>
                                  </m:e>
                                  <m:sub>
                                    <m:r>
                                      <a:rPr lang="en-US" b="0" i="1" smtClean="0">
                                        <a:solidFill>
                                          <a:schemeClr val="accent6"/>
                                        </a:solidFill>
                                        <a:latin typeface="Cambria Math" panose="02040503050406030204" pitchFamily="18" charset="0"/>
                                      </a:rPr>
                                      <m:t>𝑉</m:t>
                                    </m:r>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𝑁</m:t>
                                    </m:r>
                                  </m:sub>
                                </m:sSub>
                              </m:oMath>
                            </m:oMathPara>
                          </a14:m>
                          <a:endParaRPr lang="en-CN" dirty="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chemeClr val="tx1"/>
                            </a:solidFill>
                          </a:endParaRPr>
                        </a:p>
                        <a:p>
                          <a:pPr algn="ctr"/>
                          <a:r>
                            <a:rPr lang="en-US" dirty="0">
                              <a:solidFill>
                                <a:schemeClr val="tx1"/>
                              </a:solidFill>
                            </a:rPr>
                            <a:t>d</a:t>
                          </a:r>
                          <a:r>
                            <a:rPr lang="en-CN" dirty="0">
                              <a:solidFill>
                                <a:schemeClr val="tx1"/>
                              </a:solidFill>
                            </a:rPr>
                            <a:t>ependent variable</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249"/>
                      </a:ext>
                    </a:extLst>
                  </a:tr>
                  <a:tr h="789902">
                    <a:tc>
                      <a:txBody>
                        <a:bodyPr/>
                        <a:lstStyle/>
                        <a:p>
                          <a:pPr algn="ctr"/>
                          <a:endParaRPr lang="en-US" b="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b="0" i="1" smtClean="0">
                                        <a:solidFill>
                                          <a:schemeClr val="accent6"/>
                                        </a:solidFill>
                                        <a:latin typeface="Cambria Math" panose="02040503050406030204" pitchFamily="18" charset="0"/>
                                      </a:rPr>
                                    </m:ctrlPr>
                                  </m:fPr>
                                  <m:num>
                                    <m:r>
                                      <a:rPr lang="en-US" b="0" i="1" smtClean="0">
                                        <a:solidFill>
                                          <a:schemeClr val="accent6"/>
                                        </a:solidFill>
                                        <a:latin typeface="Cambria Math" panose="02040503050406030204" pitchFamily="18" charset="0"/>
                                      </a:rPr>
                                      <m:t>𝑝</m:t>
                                    </m:r>
                                  </m:num>
                                  <m:den>
                                    <m:r>
                                      <a:rPr lang="en-US" b="0" i="1" smtClean="0">
                                        <a:solidFill>
                                          <a:schemeClr val="accent6"/>
                                        </a:solidFill>
                                        <a:latin typeface="Cambria Math" panose="02040503050406030204" pitchFamily="18" charset="0"/>
                                        <a:ea typeface="Cambria Math" panose="02040503050406030204" pitchFamily="18" charset="0"/>
                                      </a:rPr>
                                      <m:t>𝜏</m:t>
                                    </m:r>
                                  </m:den>
                                </m:f>
                                <m:r>
                                  <a:rPr lang="en-US" b="0" i="1" smtClean="0">
                                    <a:solidFill>
                                      <a:schemeClr val="accent6"/>
                                    </a:solidFill>
                                    <a:latin typeface="Cambria Math" panose="02040503050406030204" pitchFamily="18" charset="0"/>
                                  </a:rPr>
                                  <m:t>=</m:t>
                                </m:r>
                                <m:sSub>
                                  <m:sSubPr>
                                    <m:ctrlPr>
                                      <a:rPr lang="en-US" b="0" i="1" smtClean="0">
                                        <a:solidFill>
                                          <a:schemeClr val="accent6"/>
                                        </a:solidFill>
                                        <a:latin typeface="Cambria Math" panose="02040503050406030204" pitchFamily="18" charset="0"/>
                                      </a:rPr>
                                    </m:ctrlPr>
                                  </m:sSubPr>
                                  <m:e>
                                    <m:d>
                                      <m:dPr>
                                        <m:ctrlPr>
                                          <a:rPr lang="en-US" b="0" i="1" smtClean="0">
                                            <a:solidFill>
                                              <a:schemeClr val="accent6"/>
                                            </a:solidFill>
                                            <a:latin typeface="Cambria Math" panose="02040503050406030204" pitchFamily="18" charset="0"/>
                                          </a:rPr>
                                        </m:ctrlPr>
                                      </m:dPr>
                                      <m:e>
                                        <m:f>
                                          <m:fPr>
                                            <m:ctrlPr>
                                              <a:rPr lang="en-US" b="0" i="1" smtClean="0">
                                                <a:solidFill>
                                                  <a:schemeClr val="accent6"/>
                                                </a:solidFill>
                                                <a:latin typeface="Cambria Math" panose="02040503050406030204" pitchFamily="18" charset="0"/>
                                              </a:rPr>
                                            </m:ctrlPr>
                                          </m:fPr>
                                          <m:num>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ea typeface="Cambria Math" panose="02040503050406030204" pitchFamily="18" charset="0"/>
                                              </a:rPr>
                                              <m:t>𝜎</m:t>
                                            </m:r>
                                          </m:num>
                                          <m:den>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rPr>
                                              <m:t>𝑉</m:t>
                                            </m:r>
                                          </m:den>
                                        </m:f>
                                      </m:e>
                                    </m:d>
                                  </m:e>
                                  <m:sub>
                                    <m:r>
                                      <a:rPr lang="en-US" b="0" i="1" smtClean="0">
                                        <a:solidFill>
                                          <a:schemeClr val="accent6"/>
                                        </a:solidFill>
                                        <a:latin typeface="Cambria Math" panose="02040503050406030204" pitchFamily="18" charset="0"/>
                                      </a:rPr>
                                      <m:t>𝑈</m:t>
                                    </m:r>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𝑁</m:t>
                                    </m:r>
                                  </m:sub>
                                </m:sSub>
                              </m:oMath>
                            </m:oMathPara>
                          </a14:m>
                          <a:endParaRPr lang="en-CN" dirty="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𝑝</m:t>
                                </m:r>
                                <m:r>
                                  <a:rPr lang="en-US" b="0" i="1" smtClean="0">
                                    <a:solidFill>
                                      <a:schemeClr val="accent6"/>
                                    </a:solidFill>
                                    <a:latin typeface="Cambria Math" panose="02040503050406030204" pitchFamily="18" charset="0"/>
                                  </a:rPr>
                                  <m:t>=</m:t>
                                </m:r>
                                <m:sSub>
                                  <m:sSubPr>
                                    <m:ctrlPr>
                                      <a:rPr lang="en-US" b="0" i="1" smtClean="0">
                                        <a:solidFill>
                                          <a:schemeClr val="accent6"/>
                                        </a:solidFill>
                                        <a:latin typeface="Cambria Math" panose="02040503050406030204" pitchFamily="18" charset="0"/>
                                      </a:rPr>
                                    </m:ctrlPr>
                                  </m:sSubPr>
                                  <m:e>
                                    <m:d>
                                      <m:dPr>
                                        <m:ctrlPr>
                                          <a:rPr lang="en-US" b="0" i="1" smtClean="0">
                                            <a:solidFill>
                                              <a:schemeClr val="accent6"/>
                                            </a:solidFill>
                                            <a:latin typeface="Cambria Math" panose="02040503050406030204" pitchFamily="18" charset="0"/>
                                          </a:rPr>
                                        </m:ctrlPr>
                                      </m:dPr>
                                      <m:e>
                                        <m:f>
                                          <m:fPr>
                                            <m:ctrlPr>
                                              <a:rPr lang="en-US" b="0" i="1" smtClean="0">
                                                <a:solidFill>
                                                  <a:schemeClr val="accent6"/>
                                                </a:solidFill>
                                                <a:latin typeface="Cambria Math" panose="02040503050406030204" pitchFamily="18" charset="0"/>
                                              </a:rPr>
                                            </m:ctrlPr>
                                          </m:fPr>
                                          <m:num>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rPr>
                                              <m:t>𝑈</m:t>
                                            </m:r>
                                          </m:num>
                                          <m:den>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rPr>
                                              <m:t>𝑉</m:t>
                                            </m:r>
                                          </m:den>
                                        </m:f>
                                      </m:e>
                                    </m:d>
                                  </m:e>
                                  <m:sub>
                                    <m:r>
                                      <a:rPr lang="en-US" b="0" i="1" smtClean="0">
                                        <a:solidFill>
                                          <a:schemeClr val="accent6"/>
                                        </a:solidFill>
                                        <a:latin typeface="Cambria Math" panose="02040503050406030204" pitchFamily="18" charset="0"/>
                                        <a:ea typeface="Cambria Math" panose="02040503050406030204" pitchFamily="18" charset="0"/>
                                      </a:rPr>
                                      <m:t>𝜎</m:t>
                                    </m:r>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𝑁</m:t>
                                    </m:r>
                                  </m:sub>
                                </m:sSub>
                              </m:oMath>
                            </m:oMathPara>
                          </a14:m>
                          <a:endParaRPr lang="en-CN" dirty="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𝑝</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𝐹</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𝑉</m:t>
                                            </m:r>
                                          </m:den>
                                        </m:f>
                                      </m:e>
                                    </m:d>
                                  </m:e>
                                  <m:sub>
                                    <m:r>
                                      <a:rPr lang="en-US" b="0" i="1" smtClean="0">
                                        <a:solidFill>
                                          <a:schemeClr val="tx1"/>
                                        </a:solidFill>
                                        <a:latin typeface="Cambria Math" panose="02040503050406030204" pitchFamily="18" charset="0"/>
                                        <a:ea typeface="Cambria Math" panose="02040503050406030204" pitchFamily="18" charset="0"/>
                                      </a:rPr>
                                      <m:t>𝜏</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6354381"/>
                      </a:ext>
                    </a:extLst>
                  </a:tr>
                  <a:tr h="789902">
                    <a:tc>
                      <a:txBody>
                        <a:bodyPr/>
                        <a:lstStyle/>
                        <a:p>
                          <a:pPr algn="ctr"/>
                          <a:endParaRPr lang="en-CN"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𝜇</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accent6"/>
                                    </a:solidFill>
                                    <a:latin typeface="Cambria Math" panose="02040503050406030204" pitchFamily="18" charset="0"/>
                                  </a:rPr>
                                  <m:t>−</m:t>
                                </m:r>
                                <m:f>
                                  <m:fPr>
                                    <m:ctrlPr>
                                      <a:rPr lang="en-US" b="0" i="1" smtClean="0">
                                        <a:solidFill>
                                          <a:schemeClr val="accent6"/>
                                        </a:solidFill>
                                        <a:latin typeface="Cambria Math" panose="02040503050406030204" pitchFamily="18" charset="0"/>
                                      </a:rPr>
                                    </m:ctrlPr>
                                  </m:fPr>
                                  <m:num>
                                    <m:r>
                                      <a:rPr lang="en-US" b="0" i="1" smtClean="0">
                                        <a:solidFill>
                                          <a:schemeClr val="accent6"/>
                                        </a:solidFill>
                                        <a:latin typeface="Cambria Math" panose="02040503050406030204" pitchFamily="18" charset="0"/>
                                        <a:ea typeface="Cambria Math" panose="02040503050406030204" pitchFamily="18" charset="0"/>
                                      </a:rPr>
                                      <m:t>𝜇</m:t>
                                    </m:r>
                                  </m:num>
                                  <m:den>
                                    <m:r>
                                      <a:rPr lang="en-US" b="0" i="1" smtClean="0">
                                        <a:solidFill>
                                          <a:schemeClr val="accent6"/>
                                        </a:solidFill>
                                        <a:latin typeface="Cambria Math" panose="02040503050406030204" pitchFamily="18" charset="0"/>
                                        <a:ea typeface="Cambria Math" panose="02040503050406030204" pitchFamily="18" charset="0"/>
                                      </a:rPr>
                                      <m:t>𝜏</m:t>
                                    </m:r>
                                  </m:den>
                                </m:f>
                                <m:r>
                                  <a:rPr lang="en-US" b="0" i="1" smtClean="0">
                                    <a:solidFill>
                                      <a:schemeClr val="accent6"/>
                                    </a:solidFill>
                                    <a:latin typeface="Cambria Math" panose="02040503050406030204" pitchFamily="18" charset="0"/>
                                  </a:rPr>
                                  <m:t>=</m:t>
                                </m:r>
                                <m:sSub>
                                  <m:sSubPr>
                                    <m:ctrlPr>
                                      <a:rPr lang="en-US" b="0" i="1" smtClean="0">
                                        <a:solidFill>
                                          <a:schemeClr val="accent6"/>
                                        </a:solidFill>
                                        <a:latin typeface="Cambria Math" panose="02040503050406030204" pitchFamily="18" charset="0"/>
                                      </a:rPr>
                                    </m:ctrlPr>
                                  </m:sSubPr>
                                  <m:e>
                                    <m:d>
                                      <m:dPr>
                                        <m:ctrlPr>
                                          <a:rPr lang="en-US" b="0" i="1" smtClean="0">
                                            <a:solidFill>
                                              <a:schemeClr val="accent6"/>
                                            </a:solidFill>
                                            <a:latin typeface="Cambria Math" panose="02040503050406030204" pitchFamily="18" charset="0"/>
                                          </a:rPr>
                                        </m:ctrlPr>
                                      </m:dPr>
                                      <m:e>
                                        <m:f>
                                          <m:fPr>
                                            <m:ctrlPr>
                                              <a:rPr lang="en-US" b="0" i="1" smtClean="0">
                                                <a:solidFill>
                                                  <a:schemeClr val="accent6"/>
                                                </a:solidFill>
                                                <a:latin typeface="Cambria Math" panose="02040503050406030204" pitchFamily="18" charset="0"/>
                                              </a:rPr>
                                            </m:ctrlPr>
                                          </m:fPr>
                                          <m:num>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ea typeface="Cambria Math" panose="02040503050406030204" pitchFamily="18" charset="0"/>
                                              </a:rPr>
                                              <m:t>𝜎</m:t>
                                            </m:r>
                                          </m:num>
                                          <m:den>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rPr>
                                              <m:t>𝑁</m:t>
                                            </m:r>
                                          </m:den>
                                        </m:f>
                                      </m:e>
                                    </m:d>
                                  </m:e>
                                  <m:sub>
                                    <m:r>
                                      <a:rPr lang="en-US" b="0" i="1" smtClean="0">
                                        <a:solidFill>
                                          <a:schemeClr val="accent6"/>
                                        </a:solidFill>
                                        <a:latin typeface="Cambria Math" panose="02040503050406030204" pitchFamily="18" charset="0"/>
                                      </a:rPr>
                                      <m:t>𝑈</m:t>
                                    </m:r>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𝑉</m:t>
                                    </m:r>
                                  </m:sub>
                                </m:sSub>
                              </m:oMath>
                            </m:oMathPara>
                          </a14:m>
                          <a:endParaRPr lang="en-CN" dirty="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accent6"/>
                                    </a:solidFill>
                                    <a:latin typeface="Cambria Math" panose="02040503050406030204" pitchFamily="18" charset="0"/>
                                    <a:ea typeface="Cambria Math" panose="02040503050406030204" pitchFamily="18" charset="0"/>
                                  </a:rPr>
                                  <m:t>𝜇</m:t>
                                </m:r>
                                <m:r>
                                  <a:rPr lang="en-US" b="0" i="1" smtClean="0">
                                    <a:solidFill>
                                      <a:schemeClr val="accent6"/>
                                    </a:solidFill>
                                    <a:latin typeface="Cambria Math" panose="02040503050406030204" pitchFamily="18" charset="0"/>
                                  </a:rPr>
                                  <m:t>=</m:t>
                                </m:r>
                                <m:sSub>
                                  <m:sSubPr>
                                    <m:ctrlPr>
                                      <a:rPr lang="en-US" b="0" i="1" smtClean="0">
                                        <a:solidFill>
                                          <a:schemeClr val="accent6"/>
                                        </a:solidFill>
                                        <a:latin typeface="Cambria Math" panose="02040503050406030204" pitchFamily="18" charset="0"/>
                                      </a:rPr>
                                    </m:ctrlPr>
                                  </m:sSubPr>
                                  <m:e>
                                    <m:d>
                                      <m:dPr>
                                        <m:ctrlPr>
                                          <a:rPr lang="en-US" b="0" i="1" smtClean="0">
                                            <a:solidFill>
                                              <a:schemeClr val="accent6"/>
                                            </a:solidFill>
                                            <a:latin typeface="Cambria Math" panose="02040503050406030204" pitchFamily="18" charset="0"/>
                                          </a:rPr>
                                        </m:ctrlPr>
                                      </m:dPr>
                                      <m:e>
                                        <m:f>
                                          <m:fPr>
                                            <m:ctrlPr>
                                              <a:rPr lang="en-US" b="0" i="1" smtClean="0">
                                                <a:solidFill>
                                                  <a:schemeClr val="accent6"/>
                                                </a:solidFill>
                                                <a:latin typeface="Cambria Math" panose="02040503050406030204" pitchFamily="18" charset="0"/>
                                              </a:rPr>
                                            </m:ctrlPr>
                                          </m:fPr>
                                          <m:num>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rPr>
                                              <m:t>𝑈</m:t>
                                            </m:r>
                                          </m:num>
                                          <m:den>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rPr>
                                              <m:t>𝑁</m:t>
                                            </m:r>
                                          </m:den>
                                        </m:f>
                                      </m:e>
                                    </m:d>
                                  </m:e>
                                  <m:sub>
                                    <m:r>
                                      <a:rPr lang="en-US" b="0" i="1" smtClean="0">
                                        <a:solidFill>
                                          <a:schemeClr val="accent6"/>
                                        </a:solidFill>
                                        <a:latin typeface="Cambria Math" panose="02040503050406030204" pitchFamily="18" charset="0"/>
                                        <a:ea typeface="Cambria Math" panose="02040503050406030204" pitchFamily="18" charset="0"/>
                                      </a:rPr>
                                      <m:t>𝜎</m:t>
                                    </m:r>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𝑉</m:t>
                                    </m:r>
                                  </m:sub>
                                </m:sSub>
                              </m:oMath>
                            </m:oMathPara>
                          </a14:m>
                          <a:endParaRPr lang="en-CN" dirty="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𝜇</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𝐹</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𝑁</m:t>
                                            </m:r>
                                          </m:den>
                                        </m:f>
                                      </m:e>
                                    </m:d>
                                  </m:e>
                                  <m:sub>
                                    <m:r>
                                      <a:rPr lang="en-US" b="0" i="1" smtClean="0">
                                        <a:solidFill>
                                          <a:schemeClr val="tx1"/>
                                        </a:solidFill>
                                        <a:latin typeface="Cambria Math" panose="02040503050406030204" pitchFamily="18" charset="0"/>
                                        <a:ea typeface="Cambria Math" panose="02040503050406030204" pitchFamily="18" charset="0"/>
                                      </a:rPr>
                                      <m:t>𝜏</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𝑉</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5672016"/>
                      </a:ext>
                    </a:extLst>
                  </a:tr>
                </a:tbl>
              </a:graphicData>
            </a:graphic>
          </p:graphicFrame>
        </mc:Choice>
        <mc:Fallback xmlns="">
          <p:graphicFrame>
            <p:nvGraphicFramePr>
              <p:cNvPr id="2" name="Table 3">
                <a:extLst>
                  <a:ext uri="{FF2B5EF4-FFF2-40B4-BE49-F238E27FC236}">
                    <a16:creationId xmlns:a16="http://schemas.microsoft.com/office/drawing/2014/main" id="{3165E4F3-7459-384F-9B31-F53C2E492F8B}"/>
                  </a:ext>
                </a:extLst>
              </p:cNvPr>
              <p:cNvGraphicFramePr>
                <a:graphicFrameLocks noGrp="1"/>
              </p:cNvGraphicFramePr>
              <p:nvPr>
                <p:extLst>
                  <p:ext uri="{D42A27DB-BD31-4B8C-83A1-F6EECF244321}">
                    <p14:modId xmlns:p14="http://schemas.microsoft.com/office/powerpoint/2010/main" val="4146910934"/>
                  </p:ext>
                </p:extLst>
              </p:nvPr>
            </p:nvGraphicFramePr>
            <p:xfrm>
              <a:off x="1699486" y="165479"/>
              <a:ext cx="9093200" cy="3159608"/>
            </p:xfrm>
            <a:graphic>
              <a:graphicData uri="http://schemas.openxmlformats.org/drawingml/2006/table">
                <a:tbl>
                  <a:tblPr firstRow="1" bandRow="1">
                    <a:tableStyleId>{5C22544A-7EE6-4342-B048-85BDC9FD1C3A}</a:tableStyleId>
                  </a:tblPr>
                  <a:tblGrid>
                    <a:gridCol w="2273300">
                      <a:extLst>
                        <a:ext uri="{9D8B030D-6E8A-4147-A177-3AD203B41FA5}">
                          <a16:colId xmlns:a16="http://schemas.microsoft.com/office/drawing/2014/main" val="1881081285"/>
                        </a:ext>
                      </a:extLst>
                    </a:gridCol>
                    <a:gridCol w="2273300">
                      <a:extLst>
                        <a:ext uri="{9D8B030D-6E8A-4147-A177-3AD203B41FA5}">
                          <a16:colId xmlns:a16="http://schemas.microsoft.com/office/drawing/2014/main" val="1242995189"/>
                        </a:ext>
                      </a:extLst>
                    </a:gridCol>
                    <a:gridCol w="2273300">
                      <a:extLst>
                        <a:ext uri="{9D8B030D-6E8A-4147-A177-3AD203B41FA5}">
                          <a16:colId xmlns:a16="http://schemas.microsoft.com/office/drawing/2014/main" val="3250826949"/>
                        </a:ext>
                      </a:extLst>
                    </a:gridCol>
                    <a:gridCol w="2273300">
                      <a:extLst>
                        <a:ext uri="{9D8B030D-6E8A-4147-A177-3AD203B41FA5}">
                          <a16:colId xmlns:a16="http://schemas.microsoft.com/office/drawing/2014/main" val="3979781198"/>
                        </a:ext>
                      </a:extLst>
                    </a:gridCol>
                  </a:tblGrid>
                  <a:tr h="789902">
                    <a:tc>
                      <a:txBody>
                        <a:bodyPr/>
                        <a:lstStyle/>
                        <a:p>
                          <a:endParaRPr lang="en-C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444" t="-1613" r="-199444" b="-3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559" t="-1613" r="-100559" b="-3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0559" t="-1613" r="-559" b="-303226"/>
                          </a:stretch>
                        </a:blipFill>
                      </a:tcPr>
                    </a:tc>
                    <a:extLst>
                      <a:ext uri="{0D108BD9-81ED-4DB2-BD59-A6C34878D82A}">
                        <a16:rowId xmlns:a16="http://schemas.microsoft.com/office/drawing/2014/main" val="1475300713"/>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100000" r="-301117" b="-1984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444" t="-100000" r="-199444" b="-1984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559" t="-100000" r="-100559" b="-198413"/>
                          </a:stretch>
                        </a:blipFill>
                      </a:tcPr>
                    </a:tc>
                    <a:tc>
                      <a:txBody>
                        <a:bodyPr/>
                        <a:lstStyle/>
                        <a:p>
                          <a:pPr algn="ctr"/>
                          <a:endParaRPr lang="en-US" dirty="0">
                            <a:solidFill>
                              <a:schemeClr val="tx1"/>
                            </a:solidFill>
                          </a:endParaRPr>
                        </a:p>
                        <a:p>
                          <a:pPr algn="ctr"/>
                          <a:r>
                            <a:rPr lang="en-US" dirty="0">
                              <a:solidFill>
                                <a:schemeClr val="tx1"/>
                              </a:solidFill>
                            </a:rPr>
                            <a:t>d</a:t>
                          </a:r>
                          <a:r>
                            <a:rPr lang="en-CN" dirty="0">
                              <a:solidFill>
                                <a:schemeClr val="tx1"/>
                              </a:solidFill>
                            </a:rPr>
                            <a:t>ependent variable</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249"/>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203226" r="-301117" b="-10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444" t="-203226" r="-199444" b="-10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559" t="-203226" r="-100559" b="-10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0559" t="-203226" r="-559" b="-101613"/>
                          </a:stretch>
                        </a:blipFill>
                      </a:tcPr>
                    </a:tc>
                    <a:extLst>
                      <a:ext uri="{0D108BD9-81ED-4DB2-BD59-A6C34878D82A}">
                        <a16:rowId xmlns:a16="http://schemas.microsoft.com/office/drawing/2014/main" val="876354381"/>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t="-303226" r="-301117" b="-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99444" t="-303226" r="-199444" b="-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200559" t="-303226" r="-100559" b="-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300559" t="-303226" r="-559" b="-1613"/>
                          </a:stretch>
                        </a:blipFill>
                      </a:tcPr>
                    </a:tc>
                    <a:extLst>
                      <a:ext uri="{0D108BD9-81ED-4DB2-BD59-A6C34878D82A}">
                        <a16:rowId xmlns:a16="http://schemas.microsoft.com/office/drawing/2014/main" val="3945672016"/>
                      </a:ext>
                    </a:extLst>
                  </a:tr>
                </a:tbl>
              </a:graphicData>
            </a:graphic>
          </p:graphicFrame>
        </mc:Fallback>
      </mc:AlternateContent>
      <p:sp>
        <p:nvSpPr>
          <p:cNvPr id="3" name="Curved Up Arrow 2">
            <a:extLst>
              <a:ext uri="{FF2B5EF4-FFF2-40B4-BE49-F238E27FC236}">
                <a16:creationId xmlns:a16="http://schemas.microsoft.com/office/drawing/2014/main" id="{1EEAFB68-D6F0-1C4D-B563-7398EC998465}"/>
              </a:ext>
            </a:extLst>
          </p:cNvPr>
          <p:cNvSpPr/>
          <p:nvPr/>
        </p:nvSpPr>
        <p:spPr>
          <a:xfrm flipH="1">
            <a:off x="5112325" y="3532914"/>
            <a:ext cx="1995054" cy="62345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
        <p:nvSpPr>
          <p:cNvPr id="4" name="TextBox 3">
            <a:extLst>
              <a:ext uri="{FF2B5EF4-FFF2-40B4-BE49-F238E27FC236}">
                <a16:creationId xmlns:a16="http://schemas.microsoft.com/office/drawing/2014/main" id="{B1C62851-FA93-C545-B56F-2A75468A42C2}"/>
              </a:ext>
            </a:extLst>
          </p:cNvPr>
          <p:cNvSpPr txBox="1"/>
          <p:nvPr/>
        </p:nvSpPr>
        <p:spPr>
          <a:xfrm>
            <a:off x="4738254" y="4267211"/>
            <a:ext cx="3338946" cy="369332"/>
          </a:xfrm>
          <a:prstGeom prst="rect">
            <a:avLst/>
          </a:prstGeom>
          <a:noFill/>
        </p:spPr>
        <p:txBody>
          <a:bodyPr wrap="square" rtlCol="0">
            <a:spAutoFit/>
          </a:bodyPr>
          <a:lstStyle/>
          <a:p>
            <a:r>
              <a:rPr lang="en-US" dirty="0"/>
              <a:t>S</a:t>
            </a:r>
            <a:r>
              <a:rPr lang="en-CN" dirty="0"/>
              <a:t>tep</a:t>
            </a:r>
            <a:r>
              <a:rPr lang="en-US" altLang="zh-CN" dirty="0"/>
              <a:t>-II:</a:t>
            </a:r>
            <a:r>
              <a:rPr lang="zh-CN" altLang="en-US" dirty="0"/>
              <a:t>两个基本数学关系</a:t>
            </a:r>
            <a:endParaRPr lang="en-CN"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B79C476-45A5-9640-A34C-3FC734262631}"/>
                  </a:ext>
                </a:extLst>
              </p:cNvPr>
              <p:cNvSpPr txBox="1"/>
              <p:nvPr/>
            </p:nvSpPr>
            <p:spPr>
              <a:xfrm>
                <a:off x="7578436" y="3781899"/>
                <a:ext cx="2133600" cy="1432187"/>
              </a:xfrm>
              <a:prstGeom prst="rect">
                <a:avLst/>
              </a:prstGeom>
              <a:solidFill>
                <a:schemeClr val="accent6"/>
              </a:solidFill>
            </p:spPr>
            <p:txBody>
              <a:bodyPr wrap="square" rtlCol="0">
                <a:spAutoFit/>
              </a:bodyPr>
              <a:lstStyle/>
              <a:p>
                <a:pPr marL="285750" indent="-285750">
                  <a:buFont typeface="Arial" panose="020B0604020202020204" pitchFamily="34" charset="0"/>
                  <a:buChar char="•"/>
                </a:pPr>
                <a14:m>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rPr>
                          <m:t>𝑑𝑦</m:t>
                        </m:r>
                      </m:num>
                      <m:den>
                        <m:r>
                          <a:rPr lang="en-US" i="1" smtClean="0">
                            <a:latin typeface="Cambria Math" panose="02040503050406030204" pitchFamily="18" charset="0"/>
                          </a:rPr>
                          <m:t>𝑑𝑥</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f>
                          <m:fPr>
                            <m:ctrlPr>
                              <a:rPr lang="en-US" b="0" i="1" smtClean="0">
                                <a:latin typeface="Cambria Math" panose="02040503050406030204" pitchFamily="18" charset="0"/>
                              </a:rPr>
                            </m:ctrlPr>
                          </m:fPr>
                          <m:num>
                            <m:r>
                              <a:rPr lang="en-US" b="0" i="1" smtClean="0">
                                <a:latin typeface="Cambria Math" panose="02040503050406030204" pitchFamily="18" charset="0"/>
                              </a:rPr>
                              <m:t>𝑑𝑥</m:t>
                            </m:r>
                          </m:num>
                          <m:den>
                            <m:r>
                              <a:rPr lang="en-US" b="0" i="1" smtClean="0">
                                <a:latin typeface="Cambria Math" panose="02040503050406030204" pitchFamily="18" charset="0"/>
                              </a:rPr>
                              <m:t>𝑑𝑦</m:t>
                            </m:r>
                          </m:den>
                        </m:f>
                      </m:den>
                    </m:f>
                  </m:oMath>
                </a14:m>
                <a:endParaRPr lang="en-CN" dirty="0"/>
              </a:p>
              <a:p>
                <a:pPr marL="285750" indent="-285750">
                  <a:buFont typeface="Arial" panose="020B0604020202020204" pitchFamily="34" charset="0"/>
                  <a:buChar char="•"/>
                </a:pPr>
                <a14:m>
                  <m:oMath xmlns:m="http://schemas.openxmlformats.org/officeDocument/2006/math">
                    <m:sSub>
                      <m:sSubPr>
                        <m:ctrlPr>
                          <a:rPr lang="en-CN" i="1" smtClean="0">
                            <a:latin typeface="Cambria Math" panose="02040503050406030204" pitchFamily="18" charset="0"/>
                          </a:rPr>
                        </m:ctrlPr>
                      </m:sSubPr>
                      <m:e>
                        <m:d>
                          <m:dPr>
                            <m:ctrlPr>
                              <a:rPr lang="en-CN" i="1" smtClean="0">
                                <a:latin typeface="Cambria Math" panose="02040503050406030204" pitchFamily="18" charset="0"/>
                              </a:rPr>
                            </m:ctrlPr>
                          </m:dPr>
                          <m:e>
                            <m:f>
                              <m:fPr>
                                <m:ctrlPr>
                                  <a:rPr lang="en-US" i="1" smtClean="0">
                                    <a:latin typeface="Cambria Math" panose="02040503050406030204" pitchFamily="18" charset="0"/>
                                  </a:rPr>
                                </m:ctrlPr>
                              </m:fPr>
                              <m:num>
                                <m:r>
                                  <a:rPr lang="en-US" i="1" smtClean="0">
                                    <a:latin typeface="Cambria Math" panose="02040503050406030204" pitchFamily="18" charset="0"/>
                                  </a:rPr>
                                  <m:t>𝑑𝑦</m:t>
                                </m:r>
                              </m:num>
                              <m:den>
                                <m:r>
                                  <a:rPr lang="en-US" i="1" smtClean="0">
                                    <a:latin typeface="Cambria Math" panose="02040503050406030204" pitchFamily="18" charset="0"/>
                                  </a:rPr>
                                  <m:t>𝑑𝑥</m:t>
                                </m:r>
                              </m:den>
                            </m:f>
                          </m:e>
                        </m:d>
                      </m:e>
                      <m:sub>
                        <m:r>
                          <a:rPr lang="en-US" b="0" i="1" smtClean="0">
                            <a:latin typeface="Cambria Math" panose="02040503050406030204" pitchFamily="18" charset="0"/>
                          </a:rPr>
                          <m:t>𝑓</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𝑓</m:t>
                                    </m:r>
                                  </m:num>
                                  <m:den>
                                    <m:r>
                                      <a:rPr lang="en-US" b="0" i="1" smtClean="0">
                                        <a:latin typeface="Cambria Math" panose="02040503050406030204" pitchFamily="18" charset="0"/>
                                      </a:rPr>
                                      <m:t>𝜕</m:t>
                                    </m:r>
                                    <m:r>
                                      <a:rPr lang="en-US" b="0" i="1" smtClean="0">
                                        <a:latin typeface="Cambria Math" panose="02040503050406030204" pitchFamily="18" charset="0"/>
                                      </a:rPr>
                                      <m:t>𝑥</m:t>
                                    </m:r>
                                  </m:den>
                                </m:f>
                              </m:e>
                            </m:d>
                          </m:e>
                          <m:sub>
                            <m:r>
                              <a:rPr lang="en-US" b="0" i="1" smtClean="0">
                                <a:latin typeface="Cambria Math" panose="02040503050406030204" pitchFamily="18" charset="0"/>
                              </a:rPr>
                              <m:t>𝑦</m:t>
                            </m:r>
                          </m:sub>
                        </m:sSub>
                      </m:num>
                      <m:den>
                        <m:sSub>
                          <m:sSubPr>
                            <m:ctrlPr>
                              <a:rPr lang="en-US" i="1">
                                <a:latin typeface="Cambria Math" panose="02040503050406030204" pitchFamily="18" charset="0"/>
                              </a:rPr>
                            </m:ctrlPr>
                          </m:sSub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𝑓</m:t>
                                    </m:r>
                                  </m:num>
                                  <m:den>
                                    <m:r>
                                      <a:rPr lang="en-US" i="1">
                                        <a:latin typeface="Cambria Math" panose="02040503050406030204" pitchFamily="18" charset="0"/>
                                      </a:rPr>
                                      <m:t>𝜕</m:t>
                                    </m:r>
                                    <m:r>
                                      <a:rPr lang="en-US" b="0" i="1" smtClean="0">
                                        <a:latin typeface="Cambria Math" panose="02040503050406030204" pitchFamily="18" charset="0"/>
                                      </a:rPr>
                                      <m:t>𝑦</m:t>
                                    </m:r>
                                  </m:den>
                                </m:f>
                              </m:e>
                            </m:d>
                          </m:e>
                          <m:sub>
                            <m:r>
                              <a:rPr lang="en-US" b="0" i="1" smtClean="0">
                                <a:latin typeface="Cambria Math" panose="02040503050406030204" pitchFamily="18" charset="0"/>
                              </a:rPr>
                              <m:t>𝑥</m:t>
                            </m:r>
                          </m:sub>
                        </m:sSub>
                      </m:den>
                    </m:f>
                  </m:oMath>
                </a14:m>
                <a:endParaRPr lang="en-CN" dirty="0"/>
              </a:p>
            </p:txBody>
          </p:sp>
        </mc:Choice>
        <mc:Fallback xmlns="">
          <p:sp>
            <p:nvSpPr>
              <p:cNvPr id="5" name="TextBox 4">
                <a:extLst>
                  <a:ext uri="{FF2B5EF4-FFF2-40B4-BE49-F238E27FC236}">
                    <a16:creationId xmlns:a16="http://schemas.microsoft.com/office/drawing/2014/main" id="{BB79C476-45A5-9640-A34C-3FC734262631}"/>
                  </a:ext>
                </a:extLst>
              </p:cNvPr>
              <p:cNvSpPr txBox="1">
                <a:spLocks noRot="1" noChangeAspect="1" noMove="1" noResize="1" noEditPoints="1" noAdjustHandles="1" noChangeArrowheads="1" noChangeShapeType="1" noTextEdit="1"/>
              </p:cNvSpPr>
              <p:nvPr/>
            </p:nvSpPr>
            <p:spPr>
              <a:xfrm>
                <a:off x="7578436" y="3781899"/>
                <a:ext cx="2133600" cy="1432187"/>
              </a:xfrm>
              <a:prstGeom prst="rect">
                <a:avLst/>
              </a:prstGeom>
              <a:blipFill>
                <a:blip r:embed="rId3"/>
                <a:stretch>
                  <a:fillRect l="-1775"/>
                </a:stretch>
              </a:blipFill>
            </p:spPr>
            <p:txBody>
              <a:bodyPr/>
              <a:lstStyle/>
              <a:p>
                <a:r>
                  <a:rPr lang="en-CN">
                    <a:noFill/>
                  </a:rPr>
                  <a:t> </a:t>
                </a:r>
              </a:p>
            </p:txBody>
          </p:sp>
        </mc:Fallback>
      </mc:AlternateContent>
      <p:sp>
        <p:nvSpPr>
          <p:cNvPr id="6" name="Right Arrow 5">
            <a:extLst>
              <a:ext uri="{FF2B5EF4-FFF2-40B4-BE49-F238E27FC236}">
                <a16:creationId xmlns:a16="http://schemas.microsoft.com/office/drawing/2014/main" id="{3AECC2DC-1E1D-F749-9FE6-490791F75739}"/>
              </a:ext>
            </a:extLst>
          </p:cNvPr>
          <p:cNvSpPr/>
          <p:nvPr/>
        </p:nvSpPr>
        <p:spPr>
          <a:xfrm>
            <a:off x="2729345" y="5708073"/>
            <a:ext cx="1427019" cy="6650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89B750E-8839-354F-B48F-361F20279C8C}"/>
                  </a:ext>
                </a:extLst>
              </p:cNvPr>
              <p:cNvSpPr txBox="1"/>
              <p:nvPr/>
            </p:nvSpPr>
            <p:spPr>
              <a:xfrm>
                <a:off x="4405744" y="5541818"/>
                <a:ext cx="3172691" cy="111524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d>
                            <m:dPr>
                              <m:ctrlPr>
                                <a:rPr lang="en-CN" i="1">
                                  <a:latin typeface="Cambria Math" panose="02040503050406030204" pitchFamily="18" charset="0"/>
                                </a:rPr>
                              </m:ctrlPr>
                            </m:dPr>
                            <m:e>
                              <m:f>
                                <m:fPr>
                                  <m:ctrlPr>
                                    <a:rPr lang="en-US" i="1">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𝜎</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den>
                              </m:f>
                            </m:e>
                          </m:d>
                        </m:e>
                        <m:sub>
                          <m:r>
                            <a:rPr lang="en-US" b="0" i="1" smtClean="0">
                              <a:latin typeface="Cambria Math" panose="02040503050406030204" pitchFamily="18" charset="0"/>
                            </a:rPr>
                            <m:t>𝑈</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𝑈</m:t>
                                      </m:r>
                                    </m:num>
                                    <m:den>
                                      <m:r>
                                        <a:rPr lang="en-US" i="1">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𝑁</m:t>
                                      </m:r>
                                    </m:den>
                                  </m:f>
                                </m:e>
                              </m:d>
                            </m:e>
                            <m:sub>
                              <m:r>
                                <a:rPr lang="en-US" b="0" i="1" smtClean="0">
                                  <a:latin typeface="Cambria Math" panose="02040503050406030204" pitchFamily="18" charset="0"/>
                                </a:rPr>
                                <m:t>??</m:t>
                              </m:r>
                            </m:sub>
                          </m:sSub>
                        </m:num>
                        <m:den>
                          <m:sSub>
                            <m:sSubPr>
                              <m:ctrlPr>
                                <a:rPr lang="en-US" i="1">
                                  <a:latin typeface="Cambria Math" panose="02040503050406030204" pitchFamily="18" charset="0"/>
                                </a:rPr>
                              </m:ctrlPr>
                            </m:sSub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𝑈</m:t>
                                      </m:r>
                                    </m:num>
                                    <m:den>
                                      <m:r>
                                        <a:rPr lang="en-US" i="1">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𝜎</m:t>
                                      </m:r>
                                    </m:den>
                                  </m:f>
                                </m:e>
                              </m:d>
                            </m:e>
                            <m:sub>
                              <m:r>
                                <a:rPr lang="en-US" b="0" i="1" smtClean="0">
                                  <a:latin typeface="Cambria Math" panose="02040503050406030204" pitchFamily="18" charset="0"/>
                                </a:rPr>
                                <m:t>??</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𝜇</m:t>
                          </m:r>
                        </m:num>
                        <m:den>
                          <m:r>
                            <a:rPr lang="en-US" b="0" i="1" smtClean="0">
                              <a:latin typeface="Cambria Math" panose="02040503050406030204" pitchFamily="18" charset="0"/>
                              <a:ea typeface="Cambria Math" panose="02040503050406030204" pitchFamily="18" charset="0"/>
                            </a:rPr>
                            <m:t>𝜏</m:t>
                          </m:r>
                        </m:den>
                      </m:f>
                    </m:oMath>
                  </m:oMathPara>
                </a14:m>
                <a:endParaRPr lang="en-CN" dirty="0"/>
              </a:p>
            </p:txBody>
          </p:sp>
        </mc:Choice>
        <mc:Fallback xmlns="">
          <p:sp>
            <p:nvSpPr>
              <p:cNvPr id="7" name="TextBox 6">
                <a:extLst>
                  <a:ext uri="{FF2B5EF4-FFF2-40B4-BE49-F238E27FC236}">
                    <a16:creationId xmlns:a16="http://schemas.microsoft.com/office/drawing/2014/main" id="{089B750E-8839-354F-B48F-361F20279C8C}"/>
                  </a:ext>
                </a:extLst>
              </p:cNvPr>
              <p:cNvSpPr txBox="1">
                <a:spLocks noRot="1" noChangeAspect="1" noMove="1" noResize="1" noEditPoints="1" noAdjustHandles="1" noChangeArrowheads="1" noChangeShapeType="1" noTextEdit="1"/>
              </p:cNvSpPr>
              <p:nvPr/>
            </p:nvSpPr>
            <p:spPr>
              <a:xfrm>
                <a:off x="4405744" y="5541818"/>
                <a:ext cx="3172691" cy="1115242"/>
              </a:xfrm>
              <a:prstGeom prst="rect">
                <a:avLst/>
              </a:prstGeom>
              <a:blipFill>
                <a:blip r:embed="rId4"/>
                <a:stretch>
                  <a:fillRect b="-5618"/>
                </a:stretch>
              </a:blipFill>
            </p:spPr>
            <p:txBody>
              <a:bodyPr/>
              <a:lstStyle/>
              <a:p>
                <a:r>
                  <a:rPr lang="en-CN">
                    <a:noFill/>
                  </a:rPr>
                  <a:t> </a:t>
                </a:r>
              </a:p>
            </p:txBody>
          </p:sp>
        </mc:Fallback>
      </mc:AlternateContent>
    </p:spTree>
    <p:extLst>
      <p:ext uri="{BB962C8B-B14F-4D97-AF65-F5344CB8AC3E}">
        <p14:creationId xmlns:p14="http://schemas.microsoft.com/office/powerpoint/2010/main" val="39469574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Table 3">
                <a:extLst>
                  <a:ext uri="{FF2B5EF4-FFF2-40B4-BE49-F238E27FC236}">
                    <a16:creationId xmlns:a16="http://schemas.microsoft.com/office/drawing/2014/main" id="{004046FC-2B2A-8F47-8E35-4D5043AFB02E}"/>
                  </a:ext>
                </a:extLst>
              </p:cNvPr>
              <p:cNvGraphicFramePr>
                <a:graphicFrameLocks noGrp="1"/>
              </p:cNvGraphicFramePr>
              <p:nvPr>
                <p:extLst>
                  <p:ext uri="{D42A27DB-BD31-4B8C-83A1-F6EECF244321}">
                    <p14:modId xmlns:p14="http://schemas.microsoft.com/office/powerpoint/2010/main" val="1237972813"/>
                  </p:ext>
                </p:extLst>
              </p:nvPr>
            </p:nvGraphicFramePr>
            <p:xfrm>
              <a:off x="228601" y="6351"/>
              <a:ext cx="9093200" cy="3159608"/>
            </p:xfrm>
            <a:graphic>
              <a:graphicData uri="http://schemas.openxmlformats.org/drawingml/2006/table">
                <a:tbl>
                  <a:tblPr firstRow="1" bandRow="1">
                    <a:tableStyleId>{5C22544A-7EE6-4342-B048-85BDC9FD1C3A}</a:tableStyleId>
                  </a:tblPr>
                  <a:tblGrid>
                    <a:gridCol w="2273300">
                      <a:extLst>
                        <a:ext uri="{9D8B030D-6E8A-4147-A177-3AD203B41FA5}">
                          <a16:colId xmlns:a16="http://schemas.microsoft.com/office/drawing/2014/main" val="1881081285"/>
                        </a:ext>
                      </a:extLst>
                    </a:gridCol>
                    <a:gridCol w="2273300">
                      <a:extLst>
                        <a:ext uri="{9D8B030D-6E8A-4147-A177-3AD203B41FA5}">
                          <a16:colId xmlns:a16="http://schemas.microsoft.com/office/drawing/2014/main" val="1242995189"/>
                        </a:ext>
                      </a:extLst>
                    </a:gridCol>
                    <a:gridCol w="2273300">
                      <a:extLst>
                        <a:ext uri="{9D8B030D-6E8A-4147-A177-3AD203B41FA5}">
                          <a16:colId xmlns:a16="http://schemas.microsoft.com/office/drawing/2014/main" val="3250826949"/>
                        </a:ext>
                      </a:extLst>
                    </a:gridCol>
                    <a:gridCol w="2273300">
                      <a:extLst>
                        <a:ext uri="{9D8B030D-6E8A-4147-A177-3AD203B41FA5}">
                          <a16:colId xmlns:a16="http://schemas.microsoft.com/office/drawing/2014/main" val="3979781198"/>
                        </a:ext>
                      </a:extLst>
                    </a:gridCol>
                  </a:tblGrid>
                  <a:tr h="789902">
                    <a:tc>
                      <a:txBody>
                        <a:bodyPr/>
                        <a:lstStyle/>
                        <a:p>
                          <a:endParaRPr lang="en-C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𝝈</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𝑼</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𝑼</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𝝈</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𝑭</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𝝉</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5300713"/>
                      </a:ext>
                    </a:extLst>
                  </a:tr>
                  <a:tr h="789902">
                    <a:tc>
                      <a:txBody>
                        <a:bodyPr/>
                        <a:lstStyle/>
                        <a:p>
                          <a:pPr algn="ctr"/>
                          <a:endParaRPr lang="en-CN"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𝜏</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CN" i="1" smtClean="0">
                                        <a:solidFill>
                                          <a:schemeClr val="accent6"/>
                                        </a:solidFill>
                                        <a:latin typeface="Cambria Math" panose="02040503050406030204" pitchFamily="18" charset="0"/>
                                      </a:rPr>
                                    </m:ctrlPr>
                                  </m:fPr>
                                  <m:num>
                                    <m:r>
                                      <a:rPr lang="en-US" b="0" i="1" smtClean="0">
                                        <a:solidFill>
                                          <a:schemeClr val="accent6"/>
                                        </a:solidFill>
                                        <a:latin typeface="Cambria Math" panose="02040503050406030204" pitchFamily="18" charset="0"/>
                                      </a:rPr>
                                      <m:t>1</m:t>
                                    </m:r>
                                  </m:num>
                                  <m:den>
                                    <m:r>
                                      <a:rPr lang="en-CN" i="1" smtClean="0">
                                        <a:solidFill>
                                          <a:schemeClr val="accent6"/>
                                        </a:solidFill>
                                        <a:latin typeface="Cambria Math" panose="02040503050406030204" pitchFamily="18" charset="0"/>
                                        <a:ea typeface="Cambria Math" panose="02040503050406030204" pitchFamily="18" charset="0"/>
                                      </a:rPr>
                                      <m:t>𝜏</m:t>
                                    </m:r>
                                  </m:den>
                                </m:f>
                                <m:r>
                                  <a:rPr lang="en-US" b="0" i="1" smtClean="0">
                                    <a:solidFill>
                                      <a:schemeClr val="accent6"/>
                                    </a:solidFill>
                                    <a:latin typeface="Cambria Math" panose="02040503050406030204" pitchFamily="18" charset="0"/>
                                  </a:rPr>
                                  <m:t>=</m:t>
                                </m:r>
                                <m:sSub>
                                  <m:sSubPr>
                                    <m:ctrlPr>
                                      <a:rPr lang="en-US" b="0" i="1" smtClean="0">
                                        <a:solidFill>
                                          <a:schemeClr val="accent6"/>
                                        </a:solidFill>
                                        <a:latin typeface="Cambria Math" panose="02040503050406030204" pitchFamily="18" charset="0"/>
                                      </a:rPr>
                                    </m:ctrlPr>
                                  </m:sSubPr>
                                  <m:e>
                                    <m:d>
                                      <m:dPr>
                                        <m:ctrlPr>
                                          <a:rPr lang="en-US" b="0" i="1" smtClean="0">
                                            <a:solidFill>
                                              <a:schemeClr val="accent6"/>
                                            </a:solidFill>
                                            <a:latin typeface="Cambria Math" panose="02040503050406030204" pitchFamily="18" charset="0"/>
                                          </a:rPr>
                                        </m:ctrlPr>
                                      </m:dPr>
                                      <m:e>
                                        <m:f>
                                          <m:fPr>
                                            <m:ctrlPr>
                                              <a:rPr lang="en-US" b="0" i="1" smtClean="0">
                                                <a:solidFill>
                                                  <a:schemeClr val="accent6"/>
                                                </a:solidFill>
                                                <a:latin typeface="Cambria Math" panose="02040503050406030204" pitchFamily="18" charset="0"/>
                                              </a:rPr>
                                            </m:ctrlPr>
                                          </m:fPr>
                                          <m:num>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ea typeface="Cambria Math" panose="02040503050406030204" pitchFamily="18" charset="0"/>
                                              </a:rPr>
                                              <m:t>𝜎</m:t>
                                            </m:r>
                                          </m:num>
                                          <m:den>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rPr>
                                              <m:t>𝑈</m:t>
                                            </m:r>
                                          </m:den>
                                        </m:f>
                                      </m:e>
                                    </m:d>
                                  </m:e>
                                  <m:sub>
                                    <m:r>
                                      <a:rPr lang="en-US" b="0" i="1" smtClean="0">
                                        <a:solidFill>
                                          <a:schemeClr val="accent6"/>
                                        </a:solidFill>
                                        <a:latin typeface="Cambria Math" panose="02040503050406030204" pitchFamily="18" charset="0"/>
                                      </a:rPr>
                                      <m:t>𝑉</m:t>
                                    </m:r>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𝑁</m:t>
                                    </m:r>
                                  </m:sub>
                                </m:sSub>
                              </m:oMath>
                            </m:oMathPara>
                          </a14:m>
                          <a:endParaRPr lang="en-CN" dirty="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𝜏</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𝜎</m:t>
                                            </m:r>
                                          </m:den>
                                        </m:f>
                                      </m:e>
                                    </m:d>
                                  </m:e>
                                  <m:sub>
                                    <m:r>
                                      <a:rPr lang="en-US" b="0" i="1" smtClean="0">
                                        <a:solidFill>
                                          <a:schemeClr val="tx1"/>
                                        </a:solidFill>
                                        <a:latin typeface="Cambria Math" panose="02040503050406030204" pitchFamily="18" charset="0"/>
                                      </a:rPr>
                                      <m:t>𝑉</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chemeClr val="tx1"/>
                            </a:solidFill>
                          </a:endParaRPr>
                        </a:p>
                        <a:p>
                          <a:pPr algn="ctr"/>
                          <a:r>
                            <a:rPr lang="en-US" dirty="0">
                              <a:solidFill>
                                <a:schemeClr val="tx1"/>
                              </a:solidFill>
                            </a:rPr>
                            <a:t>d</a:t>
                          </a:r>
                          <a:r>
                            <a:rPr lang="en-CN" dirty="0">
                              <a:solidFill>
                                <a:schemeClr val="tx1"/>
                              </a:solidFill>
                            </a:rPr>
                            <a:t>ependent variable</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249"/>
                      </a:ext>
                    </a:extLst>
                  </a:tr>
                  <a:tr h="789902">
                    <a:tc>
                      <a:txBody>
                        <a:bodyPr/>
                        <a:lstStyle/>
                        <a:p>
                          <a:pPr algn="ctr"/>
                          <a:endParaRPr lang="en-US" b="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b="0" i="1" smtClean="0">
                                        <a:solidFill>
                                          <a:schemeClr val="accent6"/>
                                        </a:solidFill>
                                        <a:latin typeface="Cambria Math" panose="02040503050406030204" pitchFamily="18" charset="0"/>
                                      </a:rPr>
                                    </m:ctrlPr>
                                  </m:fPr>
                                  <m:num>
                                    <m:r>
                                      <a:rPr lang="en-US" b="0" i="1" smtClean="0">
                                        <a:solidFill>
                                          <a:schemeClr val="accent6"/>
                                        </a:solidFill>
                                        <a:latin typeface="Cambria Math" panose="02040503050406030204" pitchFamily="18" charset="0"/>
                                      </a:rPr>
                                      <m:t>𝑝</m:t>
                                    </m:r>
                                  </m:num>
                                  <m:den>
                                    <m:r>
                                      <a:rPr lang="en-US" b="0" i="1" smtClean="0">
                                        <a:solidFill>
                                          <a:schemeClr val="accent6"/>
                                        </a:solidFill>
                                        <a:latin typeface="Cambria Math" panose="02040503050406030204" pitchFamily="18" charset="0"/>
                                        <a:ea typeface="Cambria Math" panose="02040503050406030204" pitchFamily="18" charset="0"/>
                                      </a:rPr>
                                      <m:t>𝜏</m:t>
                                    </m:r>
                                  </m:den>
                                </m:f>
                                <m:r>
                                  <a:rPr lang="en-US" b="0" i="1" smtClean="0">
                                    <a:solidFill>
                                      <a:schemeClr val="accent6"/>
                                    </a:solidFill>
                                    <a:latin typeface="Cambria Math" panose="02040503050406030204" pitchFamily="18" charset="0"/>
                                  </a:rPr>
                                  <m:t>=</m:t>
                                </m:r>
                                <m:sSub>
                                  <m:sSubPr>
                                    <m:ctrlPr>
                                      <a:rPr lang="en-US" b="0" i="1" smtClean="0">
                                        <a:solidFill>
                                          <a:schemeClr val="accent6"/>
                                        </a:solidFill>
                                        <a:latin typeface="Cambria Math" panose="02040503050406030204" pitchFamily="18" charset="0"/>
                                      </a:rPr>
                                    </m:ctrlPr>
                                  </m:sSubPr>
                                  <m:e>
                                    <m:d>
                                      <m:dPr>
                                        <m:ctrlPr>
                                          <a:rPr lang="en-US" b="0" i="1" smtClean="0">
                                            <a:solidFill>
                                              <a:schemeClr val="accent6"/>
                                            </a:solidFill>
                                            <a:latin typeface="Cambria Math" panose="02040503050406030204" pitchFamily="18" charset="0"/>
                                          </a:rPr>
                                        </m:ctrlPr>
                                      </m:dPr>
                                      <m:e>
                                        <m:f>
                                          <m:fPr>
                                            <m:ctrlPr>
                                              <a:rPr lang="en-US" b="0" i="1" smtClean="0">
                                                <a:solidFill>
                                                  <a:schemeClr val="accent6"/>
                                                </a:solidFill>
                                                <a:latin typeface="Cambria Math" panose="02040503050406030204" pitchFamily="18" charset="0"/>
                                              </a:rPr>
                                            </m:ctrlPr>
                                          </m:fPr>
                                          <m:num>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ea typeface="Cambria Math" panose="02040503050406030204" pitchFamily="18" charset="0"/>
                                              </a:rPr>
                                              <m:t>𝜎</m:t>
                                            </m:r>
                                          </m:num>
                                          <m:den>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rPr>
                                              <m:t>𝑉</m:t>
                                            </m:r>
                                          </m:den>
                                        </m:f>
                                      </m:e>
                                    </m:d>
                                  </m:e>
                                  <m:sub>
                                    <m:r>
                                      <a:rPr lang="en-US" b="0" i="1" smtClean="0">
                                        <a:solidFill>
                                          <a:schemeClr val="accent6"/>
                                        </a:solidFill>
                                        <a:latin typeface="Cambria Math" panose="02040503050406030204" pitchFamily="18" charset="0"/>
                                      </a:rPr>
                                      <m:t>𝑈</m:t>
                                    </m:r>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𝑁</m:t>
                                    </m:r>
                                  </m:sub>
                                </m:sSub>
                              </m:oMath>
                            </m:oMathPara>
                          </a14:m>
                          <a:endParaRPr lang="en-CN" dirty="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𝑝</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𝑉</m:t>
                                            </m:r>
                                          </m:den>
                                        </m:f>
                                      </m:e>
                                    </m:d>
                                  </m:e>
                                  <m:sub>
                                    <m:r>
                                      <a:rPr lang="en-US" b="0" i="1" smtClean="0">
                                        <a:solidFill>
                                          <a:schemeClr val="tx1"/>
                                        </a:solidFill>
                                        <a:latin typeface="Cambria Math" panose="02040503050406030204" pitchFamily="18" charset="0"/>
                                        <a:ea typeface="Cambria Math" panose="02040503050406030204" pitchFamily="18" charset="0"/>
                                      </a:rPr>
                                      <m:t>𝜎</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𝑝</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𝐹</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𝑉</m:t>
                                            </m:r>
                                          </m:den>
                                        </m:f>
                                      </m:e>
                                    </m:d>
                                  </m:e>
                                  <m:sub>
                                    <m:r>
                                      <a:rPr lang="en-US" b="0" i="1" smtClean="0">
                                        <a:solidFill>
                                          <a:schemeClr val="tx1"/>
                                        </a:solidFill>
                                        <a:latin typeface="Cambria Math" panose="02040503050406030204" pitchFamily="18" charset="0"/>
                                        <a:ea typeface="Cambria Math" panose="02040503050406030204" pitchFamily="18" charset="0"/>
                                      </a:rPr>
                                      <m:t>𝜏</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6354381"/>
                      </a:ext>
                    </a:extLst>
                  </a:tr>
                  <a:tr h="789902">
                    <a:tc>
                      <a:txBody>
                        <a:bodyPr/>
                        <a:lstStyle/>
                        <a:p>
                          <a:pPr algn="ctr"/>
                          <a:endParaRPr lang="en-CN"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𝜇</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accent6"/>
                                    </a:solidFill>
                                    <a:latin typeface="Cambria Math" panose="02040503050406030204" pitchFamily="18" charset="0"/>
                                  </a:rPr>
                                  <m:t>−</m:t>
                                </m:r>
                                <m:f>
                                  <m:fPr>
                                    <m:ctrlPr>
                                      <a:rPr lang="en-US" b="0" i="1" smtClean="0">
                                        <a:solidFill>
                                          <a:schemeClr val="accent6"/>
                                        </a:solidFill>
                                        <a:latin typeface="Cambria Math" panose="02040503050406030204" pitchFamily="18" charset="0"/>
                                      </a:rPr>
                                    </m:ctrlPr>
                                  </m:fPr>
                                  <m:num>
                                    <m:r>
                                      <a:rPr lang="en-US" b="0" i="1" smtClean="0">
                                        <a:solidFill>
                                          <a:schemeClr val="accent6"/>
                                        </a:solidFill>
                                        <a:latin typeface="Cambria Math" panose="02040503050406030204" pitchFamily="18" charset="0"/>
                                        <a:ea typeface="Cambria Math" panose="02040503050406030204" pitchFamily="18" charset="0"/>
                                      </a:rPr>
                                      <m:t>𝜇</m:t>
                                    </m:r>
                                  </m:num>
                                  <m:den>
                                    <m:r>
                                      <a:rPr lang="en-US" b="0" i="1" smtClean="0">
                                        <a:solidFill>
                                          <a:schemeClr val="accent6"/>
                                        </a:solidFill>
                                        <a:latin typeface="Cambria Math" panose="02040503050406030204" pitchFamily="18" charset="0"/>
                                        <a:ea typeface="Cambria Math" panose="02040503050406030204" pitchFamily="18" charset="0"/>
                                      </a:rPr>
                                      <m:t>𝜏</m:t>
                                    </m:r>
                                  </m:den>
                                </m:f>
                                <m:r>
                                  <a:rPr lang="en-US" b="0" i="1" smtClean="0">
                                    <a:solidFill>
                                      <a:schemeClr val="accent6"/>
                                    </a:solidFill>
                                    <a:latin typeface="Cambria Math" panose="02040503050406030204" pitchFamily="18" charset="0"/>
                                  </a:rPr>
                                  <m:t>=</m:t>
                                </m:r>
                                <m:sSub>
                                  <m:sSubPr>
                                    <m:ctrlPr>
                                      <a:rPr lang="en-US" b="0" i="1" smtClean="0">
                                        <a:solidFill>
                                          <a:schemeClr val="accent6"/>
                                        </a:solidFill>
                                        <a:latin typeface="Cambria Math" panose="02040503050406030204" pitchFamily="18" charset="0"/>
                                      </a:rPr>
                                    </m:ctrlPr>
                                  </m:sSubPr>
                                  <m:e>
                                    <m:d>
                                      <m:dPr>
                                        <m:ctrlPr>
                                          <a:rPr lang="en-US" b="0" i="1" smtClean="0">
                                            <a:solidFill>
                                              <a:schemeClr val="accent6"/>
                                            </a:solidFill>
                                            <a:latin typeface="Cambria Math" panose="02040503050406030204" pitchFamily="18" charset="0"/>
                                          </a:rPr>
                                        </m:ctrlPr>
                                      </m:dPr>
                                      <m:e>
                                        <m:f>
                                          <m:fPr>
                                            <m:ctrlPr>
                                              <a:rPr lang="en-US" b="0" i="1" smtClean="0">
                                                <a:solidFill>
                                                  <a:schemeClr val="accent6"/>
                                                </a:solidFill>
                                                <a:latin typeface="Cambria Math" panose="02040503050406030204" pitchFamily="18" charset="0"/>
                                              </a:rPr>
                                            </m:ctrlPr>
                                          </m:fPr>
                                          <m:num>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ea typeface="Cambria Math" panose="02040503050406030204" pitchFamily="18" charset="0"/>
                                              </a:rPr>
                                              <m:t>𝜎</m:t>
                                            </m:r>
                                          </m:num>
                                          <m:den>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 </m:t>
                                            </m:r>
                                            <m:r>
                                              <a:rPr lang="en-US" b="0" i="1" smtClean="0">
                                                <a:solidFill>
                                                  <a:schemeClr val="accent6"/>
                                                </a:solidFill>
                                                <a:latin typeface="Cambria Math" panose="02040503050406030204" pitchFamily="18" charset="0"/>
                                              </a:rPr>
                                              <m:t>𝑁</m:t>
                                            </m:r>
                                          </m:den>
                                        </m:f>
                                      </m:e>
                                    </m:d>
                                  </m:e>
                                  <m:sub>
                                    <m:r>
                                      <a:rPr lang="en-US" b="0" i="1" smtClean="0">
                                        <a:solidFill>
                                          <a:schemeClr val="accent6"/>
                                        </a:solidFill>
                                        <a:latin typeface="Cambria Math" panose="02040503050406030204" pitchFamily="18" charset="0"/>
                                      </a:rPr>
                                      <m:t>𝑈</m:t>
                                    </m:r>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𝑉</m:t>
                                    </m:r>
                                  </m:sub>
                                </m:sSub>
                              </m:oMath>
                            </m:oMathPara>
                          </a14:m>
                          <a:endParaRPr lang="en-CN" dirty="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𝜇</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𝑁</m:t>
                                            </m:r>
                                          </m:den>
                                        </m:f>
                                      </m:e>
                                    </m:d>
                                  </m:e>
                                  <m:sub>
                                    <m:r>
                                      <a:rPr lang="en-US" b="0" i="1" smtClean="0">
                                        <a:solidFill>
                                          <a:schemeClr val="tx1"/>
                                        </a:solidFill>
                                        <a:latin typeface="Cambria Math" panose="02040503050406030204" pitchFamily="18" charset="0"/>
                                        <a:ea typeface="Cambria Math" panose="02040503050406030204" pitchFamily="18" charset="0"/>
                                      </a:rPr>
                                      <m:t>𝜎</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𝑉</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𝜇</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𝐹</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𝑁</m:t>
                                            </m:r>
                                          </m:den>
                                        </m:f>
                                      </m:e>
                                    </m:d>
                                  </m:e>
                                  <m:sub>
                                    <m:r>
                                      <a:rPr lang="en-US" b="0" i="1" smtClean="0">
                                        <a:solidFill>
                                          <a:schemeClr val="tx1"/>
                                        </a:solidFill>
                                        <a:latin typeface="Cambria Math" panose="02040503050406030204" pitchFamily="18" charset="0"/>
                                        <a:ea typeface="Cambria Math" panose="02040503050406030204" pitchFamily="18" charset="0"/>
                                      </a:rPr>
                                      <m:t>𝜏</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𝑉</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5672016"/>
                      </a:ext>
                    </a:extLst>
                  </a:tr>
                </a:tbl>
              </a:graphicData>
            </a:graphic>
          </p:graphicFrame>
        </mc:Choice>
        <mc:Fallback xmlns="">
          <p:graphicFrame>
            <p:nvGraphicFramePr>
              <p:cNvPr id="2" name="Table 3">
                <a:extLst>
                  <a:ext uri="{FF2B5EF4-FFF2-40B4-BE49-F238E27FC236}">
                    <a16:creationId xmlns:a16="http://schemas.microsoft.com/office/drawing/2014/main" id="{004046FC-2B2A-8F47-8E35-4D5043AFB02E}"/>
                  </a:ext>
                </a:extLst>
              </p:cNvPr>
              <p:cNvGraphicFramePr>
                <a:graphicFrameLocks noGrp="1"/>
              </p:cNvGraphicFramePr>
              <p:nvPr>
                <p:extLst>
                  <p:ext uri="{D42A27DB-BD31-4B8C-83A1-F6EECF244321}">
                    <p14:modId xmlns:p14="http://schemas.microsoft.com/office/powerpoint/2010/main" val="1237972813"/>
                  </p:ext>
                </p:extLst>
              </p:nvPr>
            </p:nvGraphicFramePr>
            <p:xfrm>
              <a:off x="228601" y="6351"/>
              <a:ext cx="9093200" cy="3159608"/>
            </p:xfrm>
            <a:graphic>
              <a:graphicData uri="http://schemas.openxmlformats.org/drawingml/2006/table">
                <a:tbl>
                  <a:tblPr firstRow="1" bandRow="1">
                    <a:tableStyleId>{5C22544A-7EE6-4342-B048-85BDC9FD1C3A}</a:tableStyleId>
                  </a:tblPr>
                  <a:tblGrid>
                    <a:gridCol w="2273300">
                      <a:extLst>
                        <a:ext uri="{9D8B030D-6E8A-4147-A177-3AD203B41FA5}">
                          <a16:colId xmlns:a16="http://schemas.microsoft.com/office/drawing/2014/main" val="1881081285"/>
                        </a:ext>
                      </a:extLst>
                    </a:gridCol>
                    <a:gridCol w="2273300">
                      <a:extLst>
                        <a:ext uri="{9D8B030D-6E8A-4147-A177-3AD203B41FA5}">
                          <a16:colId xmlns:a16="http://schemas.microsoft.com/office/drawing/2014/main" val="1242995189"/>
                        </a:ext>
                      </a:extLst>
                    </a:gridCol>
                    <a:gridCol w="2273300">
                      <a:extLst>
                        <a:ext uri="{9D8B030D-6E8A-4147-A177-3AD203B41FA5}">
                          <a16:colId xmlns:a16="http://schemas.microsoft.com/office/drawing/2014/main" val="3250826949"/>
                        </a:ext>
                      </a:extLst>
                    </a:gridCol>
                    <a:gridCol w="2273300">
                      <a:extLst>
                        <a:ext uri="{9D8B030D-6E8A-4147-A177-3AD203B41FA5}">
                          <a16:colId xmlns:a16="http://schemas.microsoft.com/office/drawing/2014/main" val="3979781198"/>
                        </a:ext>
                      </a:extLst>
                    </a:gridCol>
                  </a:tblGrid>
                  <a:tr h="789902">
                    <a:tc>
                      <a:txBody>
                        <a:bodyPr/>
                        <a:lstStyle/>
                        <a:p>
                          <a:endParaRPr lang="en-C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00000" r="-198889" b="-2984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1117" r="-100000" b="-2984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1117" b="-298413"/>
                          </a:stretch>
                        </a:blipFill>
                      </a:tcPr>
                    </a:tc>
                    <a:extLst>
                      <a:ext uri="{0D108BD9-81ED-4DB2-BD59-A6C34878D82A}">
                        <a16:rowId xmlns:a16="http://schemas.microsoft.com/office/drawing/2014/main" val="1475300713"/>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559" t="-101613" r="-300559" b="-2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00000" t="-101613" r="-198889" b="-2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1117" t="-101613" r="-100000" b="-203226"/>
                          </a:stretch>
                        </a:blipFill>
                      </a:tcPr>
                    </a:tc>
                    <a:tc>
                      <a:txBody>
                        <a:bodyPr/>
                        <a:lstStyle/>
                        <a:p>
                          <a:pPr algn="ctr"/>
                          <a:endParaRPr lang="en-US" dirty="0">
                            <a:solidFill>
                              <a:schemeClr val="tx1"/>
                            </a:solidFill>
                          </a:endParaRPr>
                        </a:p>
                        <a:p>
                          <a:pPr algn="ctr"/>
                          <a:r>
                            <a:rPr lang="en-US" dirty="0">
                              <a:solidFill>
                                <a:schemeClr val="tx1"/>
                              </a:solidFill>
                            </a:rPr>
                            <a:t>d</a:t>
                          </a:r>
                          <a:r>
                            <a:rPr lang="en-CN" dirty="0">
                              <a:solidFill>
                                <a:schemeClr val="tx1"/>
                              </a:solidFill>
                            </a:rPr>
                            <a:t>ependent variable</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249"/>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559" t="-198413" r="-300559" b="-100000"/>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00000" t="-198413" r="-198889" b="-100000"/>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1117" t="-198413" r="-100000" b="-100000"/>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1117" t="-198413" b="-100000"/>
                          </a:stretch>
                        </a:blipFill>
                      </a:tcPr>
                    </a:tc>
                    <a:extLst>
                      <a:ext uri="{0D108BD9-81ED-4DB2-BD59-A6C34878D82A}">
                        <a16:rowId xmlns:a16="http://schemas.microsoft.com/office/drawing/2014/main" val="876354381"/>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559" t="-303226" r="-300559" b="-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100000" t="-303226" r="-198889" b="-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201117" t="-303226" r="-100000" b="-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301117" t="-303226" b="-1613"/>
                          </a:stretch>
                        </a:blipFill>
                      </a:tcPr>
                    </a:tc>
                    <a:extLst>
                      <a:ext uri="{0D108BD9-81ED-4DB2-BD59-A6C34878D82A}">
                        <a16:rowId xmlns:a16="http://schemas.microsoft.com/office/drawing/2014/main" val="3945672016"/>
                      </a:ext>
                    </a:extLst>
                  </a:tr>
                </a:tbl>
              </a:graphicData>
            </a:graphic>
          </p:graphicFrame>
        </mc:Fallback>
      </mc:AlternateContent>
      <p:pic>
        <p:nvPicPr>
          <p:cNvPr id="3" name="Picture 2">
            <a:extLst>
              <a:ext uri="{FF2B5EF4-FFF2-40B4-BE49-F238E27FC236}">
                <a16:creationId xmlns:a16="http://schemas.microsoft.com/office/drawing/2014/main" id="{3E5316E0-AAB9-E64F-99B7-ED91BD9CA51F}"/>
              </a:ext>
            </a:extLst>
          </p:cNvPr>
          <p:cNvPicPr>
            <a:picLocks noChangeAspect="1"/>
          </p:cNvPicPr>
          <p:nvPr/>
        </p:nvPicPr>
        <p:blipFill>
          <a:blip r:embed="rId3"/>
          <a:stretch>
            <a:fillRect/>
          </a:stretch>
        </p:blipFill>
        <p:spPr>
          <a:xfrm>
            <a:off x="4634018" y="6351"/>
            <a:ext cx="7708074" cy="4496376"/>
          </a:xfrm>
          <a:prstGeom prst="rect">
            <a:avLst/>
          </a:prstGeom>
        </p:spPr>
      </p:pic>
      <p:sp>
        <p:nvSpPr>
          <p:cNvPr id="4" name="TextBox 3">
            <a:extLst>
              <a:ext uri="{FF2B5EF4-FFF2-40B4-BE49-F238E27FC236}">
                <a16:creationId xmlns:a16="http://schemas.microsoft.com/office/drawing/2014/main" id="{CEDD3AD0-0906-824B-8226-0E926CD30AF3}"/>
              </a:ext>
            </a:extLst>
          </p:cNvPr>
          <p:cNvSpPr txBox="1"/>
          <p:nvPr/>
        </p:nvSpPr>
        <p:spPr>
          <a:xfrm>
            <a:off x="1704110" y="4946073"/>
            <a:ext cx="8603672" cy="369332"/>
          </a:xfrm>
          <a:prstGeom prst="rect">
            <a:avLst/>
          </a:prstGeom>
          <a:noFill/>
        </p:spPr>
        <p:txBody>
          <a:bodyPr wrap="square" rtlCol="0">
            <a:spAutoFit/>
          </a:bodyPr>
          <a:lstStyle/>
          <a:p>
            <a:r>
              <a:rPr lang="en-CN" dirty="0"/>
              <a:t>另外一条途径(thermal/mechanical/diffusive equilibrium)</a:t>
            </a:r>
          </a:p>
        </p:txBody>
      </p:sp>
    </p:spTree>
    <p:extLst>
      <p:ext uri="{BB962C8B-B14F-4D97-AF65-F5344CB8AC3E}">
        <p14:creationId xmlns:p14="http://schemas.microsoft.com/office/powerpoint/2010/main" val="1185126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Table 3">
                <a:extLst>
                  <a:ext uri="{FF2B5EF4-FFF2-40B4-BE49-F238E27FC236}">
                    <a16:creationId xmlns:a16="http://schemas.microsoft.com/office/drawing/2014/main" id="{004046FC-2B2A-8F47-8E35-4D5043AFB02E}"/>
                  </a:ext>
                </a:extLst>
              </p:cNvPr>
              <p:cNvGraphicFramePr>
                <a:graphicFrameLocks noGrp="1"/>
              </p:cNvGraphicFramePr>
              <p:nvPr>
                <p:extLst>
                  <p:ext uri="{D42A27DB-BD31-4B8C-83A1-F6EECF244321}">
                    <p14:modId xmlns:p14="http://schemas.microsoft.com/office/powerpoint/2010/main" val="307983573"/>
                  </p:ext>
                </p:extLst>
              </p:nvPr>
            </p:nvGraphicFramePr>
            <p:xfrm>
              <a:off x="1406240" y="172611"/>
              <a:ext cx="9093200" cy="3159608"/>
            </p:xfrm>
            <a:graphic>
              <a:graphicData uri="http://schemas.openxmlformats.org/drawingml/2006/table">
                <a:tbl>
                  <a:tblPr firstRow="1" bandRow="1">
                    <a:tableStyleId>{5C22544A-7EE6-4342-B048-85BDC9FD1C3A}</a:tableStyleId>
                  </a:tblPr>
                  <a:tblGrid>
                    <a:gridCol w="2273300">
                      <a:extLst>
                        <a:ext uri="{9D8B030D-6E8A-4147-A177-3AD203B41FA5}">
                          <a16:colId xmlns:a16="http://schemas.microsoft.com/office/drawing/2014/main" val="1881081285"/>
                        </a:ext>
                      </a:extLst>
                    </a:gridCol>
                    <a:gridCol w="2273300">
                      <a:extLst>
                        <a:ext uri="{9D8B030D-6E8A-4147-A177-3AD203B41FA5}">
                          <a16:colId xmlns:a16="http://schemas.microsoft.com/office/drawing/2014/main" val="1242995189"/>
                        </a:ext>
                      </a:extLst>
                    </a:gridCol>
                    <a:gridCol w="2273300">
                      <a:extLst>
                        <a:ext uri="{9D8B030D-6E8A-4147-A177-3AD203B41FA5}">
                          <a16:colId xmlns:a16="http://schemas.microsoft.com/office/drawing/2014/main" val="3250826949"/>
                        </a:ext>
                      </a:extLst>
                    </a:gridCol>
                    <a:gridCol w="2273300">
                      <a:extLst>
                        <a:ext uri="{9D8B030D-6E8A-4147-A177-3AD203B41FA5}">
                          <a16:colId xmlns:a16="http://schemas.microsoft.com/office/drawing/2014/main" val="3979781198"/>
                        </a:ext>
                      </a:extLst>
                    </a:gridCol>
                  </a:tblGrid>
                  <a:tr h="789902">
                    <a:tc>
                      <a:txBody>
                        <a:bodyPr/>
                        <a:lstStyle/>
                        <a:p>
                          <a:endParaRPr lang="en-C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𝝈</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𝑼</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𝑼</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𝝈</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𝑭</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𝝉</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5300713"/>
                      </a:ext>
                    </a:extLst>
                  </a:tr>
                  <a:tr h="789902">
                    <a:tc>
                      <a:txBody>
                        <a:bodyPr/>
                        <a:lstStyle/>
                        <a:p>
                          <a:pPr algn="ctr"/>
                          <a:endParaRPr lang="en-CN"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𝜏</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CN"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1</m:t>
                                    </m:r>
                                  </m:num>
                                  <m:den>
                                    <m:r>
                                      <a:rPr lang="en-CN" i="1" smtClean="0">
                                        <a:solidFill>
                                          <a:schemeClr val="tx1"/>
                                        </a:solidFill>
                                        <a:latin typeface="Cambria Math" panose="02040503050406030204" pitchFamily="18" charset="0"/>
                                        <a:ea typeface="Cambria Math" panose="02040503050406030204" pitchFamily="18" charset="0"/>
                                      </a:rPr>
                                      <m:t>𝜏</m:t>
                                    </m:r>
                                  </m:den>
                                </m:f>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𝜎</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den>
                                        </m:f>
                                      </m:e>
                                    </m:d>
                                  </m:e>
                                  <m:sub>
                                    <m:r>
                                      <a:rPr lang="en-US" b="0" i="1" smtClean="0">
                                        <a:solidFill>
                                          <a:schemeClr val="tx1"/>
                                        </a:solidFill>
                                        <a:latin typeface="Cambria Math" panose="02040503050406030204" pitchFamily="18" charset="0"/>
                                      </a:rPr>
                                      <m:t>𝑉</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𝜏</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𝜎</m:t>
                                            </m:r>
                                          </m:den>
                                        </m:f>
                                      </m:e>
                                    </m:d>
                                  </m:e>
                                  <m:sub>
                                    <m:r>
                                      <a:rPr lang="en-US" b="0" i="1" smtClean="0">
                                        <a:solidFill>
                                          <a:schemeClr val="tx1"/>
                                        </a:solidFill>
                                        <a:latin typeface="Cambria Math" panose="02040503050406030204" pitchFamily="18" charset="0"/>
                                      </a:rPr>
                                      <m:t>𝑉</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chemeClr val="tx1"/>
                            </a:solidFill>
                          </a:endParaRPr>
                        </a:p>
                        <a:p>
                          <a:pPr algn="ctr"/>
                          <a:r>
                            <a:rPr lang="en-US" dirty="0">
                              <a:solidFill>
                                <a:schemeClr val="tx1"/>
                              </a:solidFill>
                            </a:rPr>
                            <a:t>d</a:t>
                          </a:r>
                          <a:r>
                            <a:rPr lang="en-CN" dirty="0">
                              <a:solidFill>
                                <a:schemeClr val="tx1"/>
                              </a:solidFill>
                            </a:rPr>
                            <a:t>ependent variable</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249"/>
                      </a:ext>
                    </a:extLst>
                  </a:tr>
                  <a:tr h="789902">
                    <a:tc>
                      <a:txBody>
                        <a:bodyPr/>
                        <a:lstStyle/>
                        <a:p>
                          <a:pPr algn="ctr"/>
                          <a:endParaRPr lang="en-US" b="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𝑝</m:t>
                                    </m:r>
                                  </m:num>
                                  <m:den>
                                    <m:r>
                                      <a:rPr lang="en-US" b="0" i="1" smtClean="0">
                                        <a:solidFill>
                                          <a:schemeClr val="tx1"/>
                                        </a:solidFill>
                                        <a:latin typeface="Cambria Math" panose="02040503050406030204" pitchFamily="18" charset="0"/>
                                        <a:ea typeface="Cambria Math" panose="02040503050406030204" pitchFamily="18" charset="0"/>
                                      </a:rPr>
                                      <m:t>𝜏</m:t>
                                    </m:r>
                                  </m:den>
                                </m:f>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𝜎</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𝑉</m:t>
                                            </m:r>
                                          </m:den>
                                        </m:f>
                                      </m:e>
                                    </m:d>
                                  </m:e>
                                  <m:sub>
                                    <m:r>
                                      <a:rPr lang="en-US" b="0" i="1" smtClean="0">
                                        <a:solidFill>
                                          <a:schemeClr val="tx1"/>
                                        </a:solidFill>
                                        <a:latin typeface="Cambria Math" panose="02040503050406030204" pitchFamily="18" charset="0"/>
                                      </a:rPr>
                                      <m:t>𝑈</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𝑝</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𝑉</m:t>
                                            </m:r>
                                          </m:den>
                                        </m:f>
                                      </m:e>
                                    </m:d>
                                  </m:e>
                                  <m:sub>
                                    <m:r>
                                      <a:rPr lang="en-US" b="0" i="1" smtClean="0">
                                        <a:solidFill>
                                          <a:schemeClr val="tx1"/>
                                        </a:solidFill>
                                        <a:latin typeface="Cambria Math" panose="02040503050406030204" pitchFamily="18" charset="0"/>
                                        <a:ea typeface="Cambria Math" panose="02040503050406030204" pitchFamily="18" charset="0"/>
                                      </a:rPr>
                                      <m:t>𝜎</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𝑝</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𝐹</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𝑉</m:t>
                                            </m:r>
                                          </m:den>
                                        </m:f>
                                      </m:e>
                                    </m:d>
                                  </m:e>
                                  <m:sub>
                                    <m:r>
                                      <a:rPr lang="en-US" b="0" i="1" smtClean="0">
                                        <a:solidFill>
                                          <a:schemeClr val="tx1"/>
                                        </a:solidFill>
                                        <a:latin typeface="Cambria Math" panose="02040503050406030204" pitchFamily="18" charset="0"/>
                                        <a:ea typeface="Cambria Math" panose="02040503050406030204" pitchFamily="18" charset="0"/>
                                      </a:rPr>
                                      <m:t>𝜏</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6354381"/>
                      </a:ext>
                    </a:extLst>
                  </a:tr>
                  <a:tr h="789902">
                    <a:tc>
                      <a:txBody>
                        <a:bodyPr/>
                        <a:lstStyle/>
                        <a:p>
                          <a:pPr algn="ctr"/>
                          <a:endParaRPr lang="en-CN"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𝜇</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m:t>
                                </m:r>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ea typeface="Cambria Math" panose="02040503050406030204" pitchFamily="18" charset="0"/>
                                      </a:rPr>
                                      <m:t>𝜇</m:t>
                                    </m:r>
                                  </m:num>
                                  <m:den>
                                    <m:r>
                                      <a:rPr lang="en-US" b="0" i="1" smtClean="0">
                                        <a:solidFill>
                                          <a:schemeClr val="tx1"/>
                                        </a:solidFill>
                                        <a:latin typeface="Cambria Math" panose="02040503050406030204" pitchFamily="18" charset="0"/>
                                        <a:ea typeface="Cambria Math" panose="02040503050406030204" pitchFamily="18" charset="0"/>
                                      </a:rPr>
                                      <m:t>𝜏</m:t>
                                    </m:r>
                                  </m:den>
                                </m:f>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𝜎</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𝑁</m:t>
                                            </m:r>
                                          </m:den>
                                        </m:f>
                                      </m:e>
                                    </m:d>
                                  </m:e>
                                  <m:sub>
                                    <m:r>
                                      <a:rPr lang="en-US" b="0" i="1" smtClean="0">
                                        <a:solidFill>
                                          <a:schemeClr val="tx1"/>
                                        </a:solidFill>
                                        <a:latin typeface="Cambria Math" panose="02040503050406030204" pitchFamily="18" charset="0"/>
                                      </a:rPr>
                                      <m:t>𝑈</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𝑉</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𝜇</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𝑁</m:t>
                                            </m:r>
                                          </m:den>
                                        </m:f>
                                      </m:e>
                                    </m:d>
                                  </m:e>
                                  <m:sub>
                                    <m:r>
                                      <a:rPr lang="en-US" b="0" i="1" smtClean="0">
                                        <a:solidFill>
                                          <a:schemeClr val="tx1"/>
                                        </a:solidFill>
                                        <a:latin typeface="Cambria Math" panose="02040503050406030204" pitchFamily="18" charset="0"/>
                                        <a:ea typeface="Cambria Math" panose="02040503050406030204" pitchFamily="18" charset="0"/>
                                      </a:rPr>
                                      <m:t>𝜎</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𝑉</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𝜇</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𝐹</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𝑁</m:t>
                                            </m:r>
                                          </m:den>
                                        </m:f>
                                      </m:e>
                                    </m:d>
                                  </m:e>
                                  <m:sub>
                                    <m:r>
                                      <a:rPr lang="en-US" b="0" i="1" smtClean="0">
                                        <a:solidFill>
                                          <a:schemeClr val="tx1"/>
                                        </a:solidFill>
                                        <a:latin typeface="Cambria Math" panose="02040503050406030204" pitchFamily="18" charset="0"/>
                                        <a:ea typeface="Cambria Math" panose="02040503050406030204" pitchFamily="18" charset="0"/>
                                      </a:rPr>
                                      <m:t>𝜏</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𝑉</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5672016"/>
                      </a:ext>
                    </a:extLst>
                  </a:tr>
                </a:tbl>
              </a:graphicData>
            </a:graphic>
          </p:graphicFrame>
        </mc:Choice>
        <mc:Fallback xmlns="">
          <p:graphicFrame>
            <p:nvGraphicFramePr>
              <p:cNvPr id="2" name="Table 3">
                <a:extLst>
                  <a:ext uri="{FF2B5EF4-FFF2-40B4-BE49-F238E27FC236}">
                    <a16:creationId xmlns:a16="http://schemas.microsoft.com/office/drawing/2014/main" id="{004046FC-2B2A-8F47-8E35-4D5043AFB02E}"/>
                  </a:ext>
                </a:extLst>
              </p:cNvPr>
              <p:cNvGraphicFramePr>
                <a:graphicFrameLocks noGrp="1"/>
              </p:cNvGraphicFramePr>
              <p:nvPr>
                <p:extLst>
                  <p:ext uri="{D42A27DB-BD31-4B8C-83A1-F6EECF244321}">
                    <p14:modId xmlns:p14="http://schemas.microsoft.com/office/powerpoint/2010/main" val="307983573"/>
                  </p:ext>
                </p:extLst>
              </p:nvPr>
            </p:nvGraphicFramePr>
            <p:xfrm>
              <a:off x="1406240" y="172611"/>
              <a:ext cx="9093200" cy="3159608"/>
            </p:xfrm>
            <a:graphic>
              <a:graphicData uri="http://schemas.openxmlformats.org/drawingml/2006/table">
                <a:tbl>
                  <a:tblPr firstRow="1" bandRow="1">
                    <a:tableStyleId>{5C22544A-7EE6-4342-B048-85BDC9FD1C3A}</a:tableStyleId>
                  </a:tblPr>
                  <a:tblGrid>
                    <a:gridCol w="2273300">
                      <a:extLst>
                        <a:ext uri="{9D8B030D-6E8A-4147-A177-3AD203B41FA5}">
                          <a16:colId xmlns:a16="http://schemas.microsoft.com/office/drawing/2014/main" val="1881081285"/>
                        </a:ext>
                      </a:extLst>
                    </a:gridCol>
                    <a:gridCol w="2273300">
                      <a:extLst>
                        <a:ext uri="{9D8B030D-6E8A-4147-A177-3AD203B41FA5}">
                          <a16:colId xmlns:a16="http://schemas.microsoft.com/office/drawing/2014/main" val="1242995189"/>
                        </a:ext>
                      </a:extLst>
                    </a:gridCol>
                    <a:gridCol w="2273300">
                      <a:extLst>
                        <a:ext uri="{9D8B030D-6E8A-4147-A177-3AD203B41FA5}">
                          <a16:colId xmlns:a16="http://schemas.microsoft.com/office/drawing/2014/main" val="3250826949"/>
                        </a:ext>
                      </a:extLst>
                    </a:gridCol>
                    <a:gridCol w="2273300">
                      <a:extLst>
                        <a:ext uri="{9D8B030D-6E8A-4147-A177-3AD203B41FA5}">
                          <a16:colId xmlns:a16="http://schemas.microsoft.com/office/drawing/2014/main" val="3979781198"/>
                        </a:ext>
                      </a:extLst>
                    </a:gridCol>
                  </a:tblGrid>
                  <a:tr h="789902">
                    <a:tc>
                      <a:txBody>
                        <a:bodyPr/>
                        <a:lstStyle/>
                        <a:p>
                          <a:endParaRPr lang="en-C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444" r="-199444" b="-2984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559" r="-100559" b="-2984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0559" r="-559" b="-298413"/>
                          </a:stretch>
                        </a:blipFill>
                      </a:tcPr>
                    </a:tc>
                    <a:extLst>
                      <a:ext uri="{0D108BD9-81ED-4DB2-BD59-A6C34878D82A}">
                        <a16:rowId xmlns:a16="http://schemas.microsoft.com/office/drawing/2014/main" val="1475300713"/>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101613" r="-301117" b="-2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444" t="-101613" r="-199444" b="-2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559" t="-101613" r="-100559" b="-203226"/>
                          </a:stretch>
                        </a:blipFill>
                      </a:tcPr>
                    </a:tc>
                    <a:tc>
                      <a:txBody>
                        <a:bodyPr/>
                        <a:lstStyle/>
                        <a:p>
                          <a:pPr algn="ctr"/>
                          <a:endParaRPr lang="en-US" dirty="0">
                            <a:solidFill>
                              <a:schemeClr val="tx1"/>
                            </a:solidFill>
                          </a:endParaRPr>
                        </a:p>
                        <a:p>
                          <a:pPr algn="ctr"/>
                          <a:r>
                            <a:rPr lang="en-US" dirty="0">
                              <a:solidFill>
                                <a:schemeClr val="tx1"/>
                              </a:solidFill>
                            </a:rPr>
                            <a:t>d</a:t>
                          </a:r>
                          <a:r>
                            <a:rPr lang="en-CN" dirty="0">
                              <a:solidFill>
                                <a:schemeClr val="tx1"/>
                              </a:solidFill>
                            </a:rPr>
                            <a:t>ependent variable</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249"/>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198413" r="-301117" b="-100000"/>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444" t="-198413" r="-199444" b="-100000"/>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559" t="-198413" r="-100559" b="-100000"/>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0559" t="-198413" r="-559" b="-100000"/>
                          </a:stretch>
                        </a:blipFill>
                      </a:tcPr>
                    </a:tc>
                    <a:extLst>
                      <a:ext uri="{0D108BD9-81ED-4DB2-BD59-A6C34878D82A}">
                        <a16:rowId xmlns:a16="http://schemas.microsoft.com/office/drawing/2014/main" val="876354381"/>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t="-303226" r="-301117" b="-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99444" t="-303226" r="-199444" b="-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200559" t="-303226" r="-100559" b="-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300559" t="-303226" r="-559" b="-1613"/>
                          </a:stretch>
                        </a:blipFill>
                      </a:tcPr>
                    </a:tc>
                    <a:extLst>
                      <a:ext uri="{0D108BD9-81ED-4DB2-BD59-A6C34878D82A}">
                        <a16:rowId xmlns:a16="http://schemas.microsoft.com/office/drawing/2014/main" val="3945672016"/>
                      </a:ext>
                    </a:extLst>
                  </a:tr>
                </a:tbl>
              </a:graphicData>
            </a:graphic>
          </p:graphicFrame>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0140ECA-4B08-9843-A97B-F87BB7CB180C}"/>
                  </a:ext>
                </a:extLst>
              </p:cNvPr>
              <p:cNvSpPr txBox="1"/>
              <p:nvPr/>
            </p:nvSpPr>
            <p:spPr>
              <a:xfrm>
                <a:off x="2272145" y="4585855"/>
                <a:ext cx="7647709" cy="707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𝑑𝑈</m:t>
                      </m:r>
                      <m:r>
                        <a:rPr lang="en-US" sz="4000" b="0" i="1" smtClean="0">
                          <a:latin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𝜏</m:t>
                      </m:r>
                      <m:r>
                        <a:rPr lang="en-US" sz="4000" b="0" i="1" smtClean="0">
                          <a:latin typeface="Cambria Math" panose="02040503050406030204" pitchFamily="18" charset="0"/>
                          <a:ea typeface="Cambria Math" panose="02040503050406030204" pitchFamily="18" charset="0"/>
                        </a:rPr>
                        <m:t>𝑑</m:t>
                      </m:r>
                      <m:r>
                        <a:rPr lang="en-US" sz="4000" b="0" i="1" smtClean="0">
                          <a:latin typeface="Cambria Math" panose="02040503050406030204" pitchFamily="18" charset="0"/>
                          <a:ea typeface="Cambria Math" panose="02040503050406030204" pitchFamily="18" charset="0"/>
                        </a:rPr>
                        <m:t>𝜎</m:t>
                      </m:r>
                      <m:r>
                        <a:rPr lang="en-US" sz="4000" b="0" i="1" smtClean="0">
                          <a:solidFill>
                            <a:schemeClr val="accent6"/>
                          </a:solidFill>
                          <a:latin typeface="Cambria Math" panose="02040503050406030204" pitchFamily="18" charset="0"/>
                          <a:ea typeface="Cambria Math" panose="02040503050406030204" pitchFamily="18" charset="0"/>
                        </a:rPr>
                        <m:t>−</m:t>
                      </m:r>
                      <m:r>
                        <a:rPr lang="en-US" sz="4000" b="0" i="1" smtClean="0">
                          <a:solidFill>
                            <a:schemeClr val="accent6"/>
                          </a:solidFill>
                          <a:latin typeface="Cambria Math" panose="02040503050406030204" pitchFamily="18" charset="0"/>
                          <a:ea typeface="Cambria Math" panose="02040503050406030204" pitchFamily="18" charset="0"/>
                        </a:rPr>
                        <m:t>𝑝𝑑𝑉</m:t>
                      </m:r>
                      <m:r>
                        <a:rPr lang="en-US" sz="4000" b="0" i="1"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𝜇</m:t>
                      </m:r>
                      <m:r>
                        <a:rPr lang="en-US" sz="4000" b="0" i="1" smtClean="0">
                          <a:solidFill>
                            <a:srgbClr val="FF0000"/>
                          </a:solidFill>
                          <a:latin typeface="Cambria Math" panose="02040503050406030204" pitchFamily="18" charset="0"/>
                          <a:ea typeface="Cambria Math" panose="02040503050406030204" pitchFamily="18" charset="0"/>
                        </a:rPr>
                        <m:t>𝑑𝑁</m:t>
                      </m:r>
                    </m:oMath>
                  </m:oMathPara>
                </a14:m>
                <a:endParaRPr lang="en-CN" sz="4000" dirty="0"/>
              </a:p>
            </p:txBody>
          </p:sp>
        </mc:Choice>
        <mc:Fallback xmlns="">
          <p:sp>
            <p:nvSpPr>
              <p:cNvPr id="5" name="TextBox 4">
                <a:extLst>
                  <a:ext uri="{FF2B5EF4-FFF2-40B4-BE49-F238E27FC236}">
                    <a16:creationId xmlns:a16="http://schemas.microsoft.com/office/drawing/2014/main" id="{90140ECA-4B08-9843-A97B-F87BB7CB180C}"/>
                  </a:ext>
                </a:extLst>
              </p:cNvPr>
              <p:cNvSpPr txBox="1">
                <a:spLocks noRot="1" noChangeAspect="1" noMove="1" noResize="1" noEditPoints="1" noAdjustHandles="1" noChangeArrowheads="1" noChangeShapeType="1" noTextEdit="1"/>
              </p:cNvSpPr>
              <p:nvPr/>
            </p:nvSpPr>
            <p:spPr>
              <a:xfrm>
                <a:off x="2272145" y="4585855"/>
                <a:ext cx="7647709" cy="707886"/>
              </a:xfrm>
              <a:prstGeom prst="rect">
                <a:avLst/>
              </a:prstGeom>
              <a:blipFill>
                <a:blip r:embed="rId3"/>
                <a:stretch>
                  <a:fillRect b="-22807"/>
                </a:stretch>
              </a:blipFill>
            </p:spPr>
            <p:txBody>
              <a:bodyPr/>
              <a:lstStyle/>
              <a:p>
                <a:r>
                  <a:rPr lang="en-CN">
                    <a:noFill/>
                  </a:rPr>
                  <a:t> </a:t>
                </a:r>
              </a:p>
            </p:txBody>
          </p:sp>
        </mc:Fallback>
      </mc:AlternateContent>
      <p:sp>
        <p:nvSpPr>
          <p:cNvPr id="6" name="TextBox 5">
            <a:extLst>
              <a:ext uri="{FF2B5EF4-FFF2-40B4-BE49-F238E27FC236}">
                <a16:creationId xmlns:a16="http://schemas.microsoft.com/office/drawing/2014/main" id="{ACE425E3-4D8F-CE4E-BF29-8B4CEDFFDA56}"/>
              </a:ext>
            </a:extLst>
          </p:cNvPr>
          <p:cNvSpPr txBox="1"/>
          <p:nvPr/>
        </p:nvSpPr>
        <p:spPr>
          <a:xfrm>
            <a:off x="526473" y="3810000"/>
            <a:ext cx="5426367" cy="369332"/>
          </a:xfrm>
          <a:prstGeom prst="rect">
            <a:avLst/>
          </a:prstGeom>
          <a:noFill/>
        </p:spPr>
        <p:txBody>
          <a:bodyPr wrap="square" rtlCol="0">
            <a:spAutoFit/>
          </a:bodyPr>
          <a:lstStyle/>
          <a:p>
            <a:r>
              <a:rPr lang="en-US" dirty="0"/>
              <a:t>T</a:t>
            </a:r>
            <a:r>
              <a:rPr lang="en-CN" dirty="0"/>
              <a:t>hermodynamic identity</a:t>
            </a:r>
          </a:p>
        </p:txBody>
      </p:sp>
      <p:sp>
        <p:nvSpPr>
          <p:cNvPr id="3" name="TextBox 2">
            <a:extLst>
              <a:ext uri="{FF2B5EF4-FFF2-40B4-BE49-F238E27FC236}">
                <a16:creationId xmlns:a16="http://schemas.microsoft.com/office/drawing/2014/main" id="{F1127043-AC61-F143-8FEB-BCCF39D015F0}"/>
              </a:ext>
            </a:extLst>
          </p:cNvPr>
          <p:cNvSpPr txBox="1"/>
          <p:nvPr/>
        </p:nvSpPr>
        <p:spPr>
          <a:xfrm>
            <a:off x="7606145" y="5515598"/>
            <a:ext cx="2064327" cy="369332"/>
          </a:xfrm>
          <a:prstGeom prst="rect">
            <a:avLst/>
          </a:prstGeom>
          <a:noFill/>
        </p:spPr>
        <p:txBody>
          <a:bodyPr wrap="square" rtlCol="0">
            <a:spAutoFit/>
          </a:bodyPr>
          <a:lstStyle/>
          <a:p>
            <a:r>
              <a:rPr lang="en-US" dirty="0"/>
              <a:t>C</a:t>
            </a:r>
            <a:r>
              <a:rPr lang="en-CN" dirty="0"/>
              <a:t>hemical Work</a:t>
            </a:r>
          </a:p>
        </p:txBody>
      </p:sp>
    </p:spTree>
    <p:extLst>
      <p:ext uri="{BB962C8B-B14F-4D97-AF65-F5344CB8AC3E}">
        <p14:creationId xmlns:p14="http://schemas.microsoft.com/office/powerpoint/2010/main" val="12166335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Table 3">
                <a:extLst>
                  <a:ext uri="{FF2B5EF4-FFF2-40B4-BE49-F238E27FC236}">
                    <a16:creationId xmlns:a16="http://schemas.microsoft.com/office/drawing/2014/main" id="{004046FC-2B2A-8F47-8E35-4D5043AFB02E}"/>
                  </a:ext>
                </a:extLst>
              </p:cNvPr>
              <p:cNvGraphicFramePr>
                <a:graphicFrameLocks noGrp="1"/>
              </p:cNvGraphicFramePr>
              <p:nvPr/>
            </p:nvGraphicFramePr>
            <p:xfrm>
              <a:off x="1406240" y="172611"/>
              <a:ext cx="9093200" cy="3159608"/>
            </p:xfrm>
            <a:graphic>
              <a:graphicData uri="http://schemas.openxmlformats.org/drawingml/2006/table">
                <a:tbl>
                  <a:tblPr firstRow="1" bandRow="1">
                    <a:tableStyleId>{5C22544A-7EE6-4342-B048-85BDC9FD1C3A}</a:tableStyleId>
                  </a:tblPr>
                  <a:tblGrid>
                    <a:gridCol w="2273300">
                      <a:extLst>
                        <a:ext uri="{9D8B030D-6E8A-4147-A177-3AD203B41FA5}">
                          <a16:colId xmlns:a16="http://schemas.microsoft.com/office/drawing/2014/main" val="1881081285"/>
                        </a:ext>
                      </a:extLst>
                    </a:gridCol>
                    <a:gridCol w="2273300">
                      <a:extLst>
                        <a:ext uri="{9D8B030D-6E8A-4147-A177-3AD203B41FA5}">
                          <a16:colId xmlns:a16="http://schemas.microsoft.com/office/drawing/2014/main" val="1242995189"/>
                        </a:ext>
                      </a:extLst>
                    </a:gridCol>
                    <a:gridCol w="2273300">
                      <a:extLst>
                        <a:ext uri="{9D8B030D-6E8A-4147-A177-3AD203B41FA5}">
                          <a16:colId xmlns:a16="http://schemas.microsoft.com/office/drawing/2014/main" val="3250826949"/>
                        </a:ext>
                      </a:extLst>
                    </a:gridCol>
                    <a:gridCol w="2273300">
                      <a:extLst>
                        <a:ext uri="{9D8B030D-6E8A-4147-A177-3AD203B41FA5}">
                          <a16:colId xmlns:a16="http://schemas.microsoft.com/office/drawing/2014/main" val="3979781198"/>
                        </a:ext>
                      </a:extLst>
                    </a:gridCol>
                  </a:tblGrid>
                  <a:tr h="789902">
                    <a:tc>
                      <a:txBody>
                        <a:bodyPr/>
                        <a:lstStyle/>
                        <a:p>
                          <a:endParaRPr lang="en-C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𝝈</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𝑼</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𝑼</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𝝈</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𝑭</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𝝉</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5300713"/>
                      </a:ext>
                    </a:extLst>
                  </a:tr>
                  <a:tr h="789902">
                    <a:tc>
                      <a:txBody>
                        <a:bodyPr/>
                        <a:lstStyle/>
                        <a:p>
                          <a:pPr algn="ctr"/>
                          <a:endParaRPr lang="en-CN"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𝜏</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CN"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1</m:t>
                                    </m:r>
                                  </m:num>
                                  <m:den>
                                    <m:r>
                                      <a:rPr lang="en-CN" i="1" smtClean="0">
                                        <a:solidFill>
                                          <a:schemeClr val="tx1"/>
                                        </a:solidFill>
                                        <a:latin typeface="Cambria Math" panose="02040503050406030204" pitchFamily="18" charset="0"/>
                                        <a:ea typeface="Cambria Math" panose="02040503050406030204" pitchFamily="18" charset="0"/>
                                      </a:rPr>
                                      <m:t>𝜏</m:t>
                                    </m:r>
                                  </m:den>
                                </m:f>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𝜎</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den>
                                        </m:f>
                                      </m:e>
                                    </m:d>
                                  </m:e>
                                  <m:sub>
                                    <m:r>
                                      <a:rPr lang="en-US" b="0" i="1" smtClean="0">
                                        <a:solidFill>
                                          <a:schemeClr val="tx1"/>
                                        </a:solidFill>
                                        <a:latin typeface="Cambria Math" panose="02040503050406030204" pitchFamily="18" charset="0"/>
                                      </a:rPr>
                                      <m:t>𝑉</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𝜏</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𝜎</m:t>
                                            </m:r>
                                          </m:den>
                                        </m:f>
                                      </m:e>
                                    </m:d>
                                  </m:e>
                                  <m:sub>
                                    <m:r>
                                      <a:rPr lang="en-US" b="0" i="1" smtClean="0">
                                        <a:solidFill>
                                          <a:schemeClr val="tx1"/>
                                        </a:solidFill>
                                        <a:latin typeface="Cambria Math" panose="02040503050406030204" pitchFamily="18" charset="0"/>
                                      </a:rPr>
                                      <m:t>𝑉</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chemeClr val="tx1"/>
                            </a:solidFill>
                          </a:endParaRPr>
                        </a:p>
                        <a:p>
                          <a:pPr algn="ctr"/>
                          <a:r>
                            <a:rPr lang="en-US" dirty="0">
                              <a:solidFill>
                                <a:schemeClr val="tx1"/>
                              </a:solidFill>
                            </a:rPr>
                            <a:t>d</a:t>
                          </a:r>
                          <a:r>
                            <a:rPr lang="en-CN" dirty="0">
                              <a:solidFill>
                                <a:schemeClr val="tx1"/>
                              </a:solidFill>
                            </a:rPr>
                            <a:t>ependent variable</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249"/>
                      </a:ext>
                    </a:extLst>
                  </a:tr>
                  <a:tr h="789902">
                    <a:tc>
                      <a:txBody>
                        <a:bodyPr/>
                        <a:lstStyle/>
                        <a:p>
                          <a:pPr algn="ctr"/>
                          <a:endParaRPr lang="en-US" b="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𝑝</m:t>
                                    </m:r>
                                  </m:num>
                                  <m:den>
                                    <m:r>
                                      <a:rPr lang="en-US" b="0" i="1" smtClean="0">
                                        <a:solidFill>
                                          <a:schemeClr val="tx1"/>
                                        </a:solidFill>
                                        <a:latin typeface="Cambria Math" panose="02040503050406030204" pitchFamily="18" charset="0"/>
                                        <a:ea typeface="Cambria Math" panose="02040503050406030204" pitchFamily="18" charset="0"/>
                                      </a:rPr>
                                      <m:t>𝜏</m:t>
                                    </m:r>
                                  </m:den>
                                </m:f>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𝜎</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𝑉</m:t>
                                            </m:r>
                                          </m:den>
                                        </m:f>
                                      </m:e>
                                    </m:d>
                                  </m:e>
                                  <m:sub>
                                    <m:r>
                                      <a:rPr lang="en-US" b="0" i="1" smtClean="0">
                                        <a:solidFill>
                                          <a:schemeClr val="tx1"/>
                                        </a:solidFill>
                                        <a:latin typeface="Cambria Math" panose="02040503050406030204" pitchFamily="18" charset="0"/>
                                      </a:rPr>
                                      <m:t>𝑈</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𝑝</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𝑉</m:t>
                                            </m:r>
                                          </m:den>
                                        </m:f>
                                      </m:e>
                                    </m:d>
                                  </m:e>
                                  <m:sub>
                                    <m:r>
                                      <a:rPr lang="en-US" b="0" i="1" smtClean="0">
                                        <a:solidFill>
                                          <a:schemeClr val="tx1"/>
                                        </a:solidFill>
                                        <a:latin typeface="Cambria Math" panose="02040503050406030204" pitchFamily="18" charset="0"/>
                                        <a:ea typeface="Cambria Math" panose="02040503050406030204" pitchFamily="18" charset="0"/>
                                      </a:rPr>
                                      <m:t>𝜎</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𝑝</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𝐹</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𝑉</m:t>
                                            </m:r>
                                          </m:den>
                                        </m:f>
                                      </m:e>
                                    </m:d>
                                  </m:e>
                                  <m:sub>
                                    <m:r>
                                      <a:rPr lang="en-US" b="0" i="1" smtClean="0">
                                        <a:solidFill>
                                          <a:schemeClr val="tx1"/>
                                        </a:solidFill>
                                        <a:latin typeface="Cambria Math" panose="02040503050406030204" pitchFamily="18" charset="0"/>
                                        <a:ea typeface="Cambria Math" panose="02040503050406030204" pitchFamily="18" charset="0"/>
                                      </a:rPr>
                                      <m:t>𝜏</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6354381"/>
                      </a:ext>
                    </a:extLst>
                  </a:tr>
                  <a:tr h="789902">
                    <a:tc>
                      <a:txBody>
                        <a:bodyPr/>
                        <a:lstStyle/>
                        <a:p>
                          <a:pPr algn="ctr"/>
                          <a:endParaRPr lang="en-CN"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𝜇</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m:t>
                                </m:r>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ea typeface="Cambria Math" panose="02040503050406030204" pitchFamily="18" charset="0"/>
                                      </a:rPr>
                                      <m:t>𝜇</m:t>
                                    </m:r>
                                  </m:num>
                                  <m:den>
                                    <m:r>
                                      <a:rPr lang="en-US" b="0" i="1" smtClean="0">
                                        <a:solidFill>
                                          <a:schemeClr val="tx1"/>
                                        </a:solidFill>
                                        <a:latin typeface="Cambria Math" panose="02040503050406030204" pitchFamily="18" charset="0"/>
                                        <a:ea typeface="Cambria Math" panose="02040503050406030204" pitchFamily="18" charset="0"/>
                                      </a:rPr>
                                      <m:t>𝜏</m:t>
                                    </m:r>
                                  </m:den>
                                </m:f>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𝜎</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𝑁</m:t>
                                            </m:r>
                                          </m:den>
                                        </m:f>
                                      </m:e>
                                    </m:d>
                                  </m:e>
                                  <m:sub>
                                    <m:r>
                                      <a:rPr lang="en-US" b="0" i="1" smtClean="0">
                                        <a:solidFill>
                                          <a:schemeClr val="tx1"/>
                                        </a:solidFill>
                                        <a:latin typeface="Cambria Math" panose="02040503050406030204" pitchFamily="18" charset="0"/>
                                      </a:rPr>
                                      <m:t>𝑈</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𝑉</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𝜇</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𝑁</m:t>
                                            </m:r>
                                          </m:den>
                                        </m:f>
                                      </m:e>
                                    </m:d>
                                  </m:e>
                                  <m:sub>
                                    <m:r>
                                      <a:rPr lang="en-US" b="0" i="1" smtClean="0">
                                        <a:solidFill>
                                          <a:schemeClr val="tx1"/>
                                        </a:solidFill>
                                        <a:latin typeface="Cambria Math" panose="02040503050406030204" pitchFamily="18" charset="0"/>
                                        <a:ea typeface="Cambria Math" panose="02040503050406030204" pitchFamily="18" charset="0"/>
                                      </a:rPr>
                                      <m:t>𝜎</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𝑉</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𝜇</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𝐹</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𝑁</m:t>
                                            </m:r>
                                          </m:den>
                                        </m:f>
                                      </m:e>
                                    </m:d>
                                  </m:e>
                                  <m:sub>
                                    <m:r>
                                      <a:rPr lang="en-US" b="0" i="1" smtClean="0">
                                        <a:solidFill>
                                          <a:schemeClr val="tx1"/>
                                        </a:solidFill>
                                        <a:latin typeface="Cambria Math" panose="02040503050406030204" pitchFamily="18" charset="0"/>
                                        <a:ea typeface="Cambria Math" panose="02040503050406030204" pitchFamily="18" charset="0"/>
                                      </a:rPr>
                                      <m:t>𝜏</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𝑉</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5672016"/>
                      </a:ext>
                    </a:extLst>
                  </a:tr>
                </a:tbl>
              </a:graphicData>
            </a:graphic>
          </p:graphicFrame>
        </mc:Choice>
        <mc:Fallback xmlns="">
          <p:graphicFrame>
            <p:nvGraphicFramePr>
              <p:cNvPr id="2" name="Table 3">
                <a:extLst>
                  <a:ext uri="{FF2B5EF4-FFF2-40B4-BE49-F238E27FC236}">
                    <a16:creationId xmlns:a16="http://schemas.microsoft.com/office/drawing/2014/main" id="{004046FC-2B2A-8F47-8E35-4D5043AFB02E}"/>
                  </a:ext>
                </a:extLst>
              </p:cNvPr>
              <p:cNvGraphicFramePr>
                <a:graphicFrameLocks noGrp="1"/>
              </p:cNvGraphicFramePr>
              <p:nvPr>
                <p:extLst>
                  <p:ext uri="{D42A27DB-BD31-4B8C-83A1-F6EECF244321}">
                    <p14:modId xmlns:p14="http://schemas.microsoft.com/office/powerpoint/2010/main" val="307983573"/>
                  </p:ext>
                </p:extLst>
              </p:nvPr>
            </p:nvGraphicFramePr>
            <p:xfrm>
              <a:off x="1406240" y="172611"/>
              <a:ext cx="9093200" cy="3159608"/>
            </p:xfrm>
            <a:graphic>
              <a:graphicData uri="http://schemas.openxmlformats.org/drawingml/2006/table">
                <a:tbl>
                  <a:tblPr firstRow="1" bandRow="1">
                    <a:tableStyleId>{5C22544A-7EE6-4342-B048-85BDC9FD1C3A}</a:tableStyleId>
                  </a:tblPr>
                  <a:tblGrid>
                    <a:gridCol w="2273300">
                      <a:extLst>
                        <a:ext uri="{9D8B030D-6E8A-4147-A177-3AD203B41FA5}">
                          <a16:colId xmlns:a16="http://schemas.microsoft.com/office/drawing/2014/main" val="1881081285"/>
                        </a:ext>
                      </a:extLst>
                    </a:gridCol>
                    <a:gridCol w="2273300">
                      <a:extLst>
                        <a:ext uri="{9D8B030D-6E8A-4147-A177-3AD203B41FA5}">
                          <a16:colId xmlns:a16="http://schemas.microsoft.com/office/drawing/2014/main" val="1242995189"/>
                        </a:ext>
                      </a:extLst>
                    </a:gridCol>
                    <a:gridCol w="2273300">
                      <a:extLst>
                        <a:ext uri="{9D8B030D-6E8A-4147-A177-3AD203B41FA5}">
                          <a16:colId xmlns:a16="http://schemas.microsoft.com/office/drawing/2014/main" val="3250826949"/>
                        </a:ext>
                      </a:extLst>
                    </a:gridCol>
                    <a:gridCol w="2273300">
                      <a:extLst>
                        <a:ext uri="{9D8B030D-6E8A-4147-A177-3AD203B41FA5}">
                          <a16:colId xmlns:a16="http://schemas.microsoft.com/office/drawing/2014/main" val="3979781198"/>
                        </a:ext>
                      </a:extLst>
                    </a:gridCol>
                  </a:tblGrid>
                  <a:tr h="789902">
                    <a:tc>
                      <a:txBody>
                        <a:bodyPr/>
                        <a:lstStyle/>
                        <a:p>
                          <a:endParaRPr lang="en-C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444" r="-199444" b="-2984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559" r="-100559" b="-2984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0559" r="-559" b="-298413"/>
                          </a:stretch>
                        </a:blipFill>
                      </a:tcPr>
                    </a:tc>
                    <a:extLst>
                      <a:ext uri="{0D108BD9-81ED-4DB2-BD59-A6C34878D82A}">
                        <a16:rowId xmlns:a16="http://schemas.microsoft.com/office/drawing/2014/main" val="1475300713"/>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101613" r="-301117" b="-2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444" t="-101613" r="-199444" b="-2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559" t="-101613" r="-100559" b="-203226"/>
                          </a:stretch>
                        </a:blipFill>
                      </a:tcPr>
                    </a:tc>
                    <a:tc>
                      <a:txBody>
                        <a:bodyPr/>
                        <a:lstStyle/>
                        <a:p>
                          <a:pPr algn="ctr"/>
                          <a:endParaRPr lang="en-US" dirty="0">
                            <a:solidFill>
                              <a:schemeClr val="tx1"/>
                            </a:solidFill>
                          </a:endParaRPr>
                        </a:p>
                        <a:p>
                          <a:pPr algn="ctr"/>
                          <a:r>
                            <a:rPr lang="en-US" dirty="0">
                              <a:solidFill>
                                <a:schemeClr val="tx1"/>
                              </a:solidFill>
                            </a:rPr>
                            <a:t>d</a:t>
                          </a:r>
                          <a:r>
                            <a:rPr lang="en-CN" dirty="0">
                              <a:solidFill>
                                <a:schemeClr val="tx1"/>
                              </a:solidFill>
                            </a:rPr>
                            <a:t>ependent variable</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249"/>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198413" r="-301117" b="-100000"/>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444" t="-198413" r="-199444" b="-100000"/>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559" t="-198413" r="-100559" b="-100000"/>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0559" t="-198413" r="-559" b="-100000"/>
                          </a:stretch>
                        </a:blipFill>
                      </a:tcPr>
                    </a:tc>
                    <a:extLst>
                      <a:ext uri="{0D108BD9-81ED-4DB2-BD59-A6C34878D82A}">
                        <a16:rowId xmlns:a16="http://schemas.microsoft.com/office/drawing/2014/main" val="876354381"/>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t="-303226" r="-301117" b="-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99444" t="-303226" r="-199444" b="-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200559" t="-303226" r="-100559" b="-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300559" t="-303226" r="-559" b="-1613"/>
                          </a:stretch>
                        </a:blipFill>
                      </a:tcPr>
                    </a:tc>
                    <a:extLst>
                      <a:ext uri="{0D108BD9-81ED-4DB2-BD59-A6C34878D82A}">
                        <a16:rowId xmlns:a16="http://schemas.microsoft.com/office/drawing/2014/main" val="3945672016"/>
                      </a:ext>
                    </a:extLst>
                  </a:tr>
                </a:tbl>
              </a:graphicData>
            </a:graphic>
          </p:graphicFrame>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0140ECA-4B08-9843-A97B-F87BB7CB180C}"/>
                  </a:ext>
                </a:extLst>
              </p:cNvPr>
              <p:cNvSpPr txBox="1"/>
              <p:nvPr/>
            </p:nvSpPr>
            <p:spPr>
              <a:xfrm>
                <a:off x="235527" y="3525782"/>
                <a:ext cx="7232072" cy="707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000" b="0" i="1" smtClean="0">
                          <a:solidFill>
                            <a:srgbClr val="FF0000"/>
                          </a:solidFill>
                          <a:latin typeface="Cambria Math" panose="02040503050406030204" pitchFamily="18" charset="0"/>
                        </a:rPr>
                        <m:t>𝑑𝑈</m:t>
                      </m:r>
                      <m:r>
                        <a:rPr lang="en-US" sz="4000" b="0" i="1" smtClean="0">
                          <a:latin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𝜏</m:t>
                      </m:r>
                      <m:r>
                        <a:rPr lang="en-US" sz="4000" b="0" i="1" smtClean="0">
                          <a:solidFill>
                            <a:srgbClr val="FF0000"/>
                          </a:solidFill>
                          <a:latin typeface="Cambria Math" panose="02040503050406030204" pitchFamily="18" charset="0"/>
                          <a:ea typeface="Cambria Math" panose="02040503050406030204" pitchFamily="18" charset="0"/>
                        </a:rPr>
                        <m:t>𝑑</m:t>
                      </m:r>
                      <m:r>
                        <a:rPr lang="en-US" sz="4000" b="0" i="1" smtClean="0">
                          <a:solidFill>
                            <a:srgbClr val="FF0000"/>
                          </a:solidFill>
                          <a:latin typeface="Cambria Math" panose="02040503050406030204" pitchFamily="18" charset="0"/>
                          <a:ea typeface="Cambria Math" panose="02040503050406030204" pitchFamily="18" charset="0"/>
                        </a:rPr>
                        <m:t>𝜎</m:t>
                      </m:r>
                      <m:r>
                        <a:rPr lang="en-US" sz="4000" b="0" i="1" smtClean="0">
                          <a:solidFill>
                            <a:schemeClr val="tx1"/>
                          </a:solidFill>
                          <a:latin typeface="Cambria Math" panose="02040503050406030204" pitchFamily="18" charset="0"/>
                          <a:ea typeface="Cambria Math" panose="02040503050406030204" pitchFamily="18" charset="0"/>
                        </a:rPr>
                        <m:t>−</m:t>
                      </m:r>
                      <m:r>
                        <a:rPr lang="en-US" sz="4000" b="0" i="1" smtClean="0">
                          <a:solidFill>
                            <a:schemeClr val="tx1"/>
                          </a:solidFill>
                          <a:latin typeface="Cambria Math" panose="02040503050406030204" pitchFamily="18" charset="0"/>
                          <a:ea typeface="Cambria Math" panose="02040503050406030204" pitchFamily="18" charset="0"/>
                        </a:rPr>
                        <m:t>𝑝𝑑𝑉</m:t>
                      </m:r>
                      <m:r>
                        <a:rPr lang="en-US" sz="4000" b="0" i="1" smtClean="0">
                          <a:solidFill>
                            <a:schemeClr val="tx1"/>
                          </a:solidFill>
                          <a:latin typeface="Cambria Math" panose="02040503050406030204" pitchFamily="18" charset="0"/>
                          <a:ea typeface="Cambria Math" panose="02040503050406030204" pitchFamily="18" charset="0"/>
                        </a:rPr>
                        <m:t>+</m:t>
                      </m:r>
                      <m:r>
                        <a:rPr lang="en-US" sz="4000" b="0" i="1" smtClean="0">
                          <a:solidFill>
                            <a:schemeClr val="tx1"/>
                          </a:solidFill>
                          <a:latin typeface="Cambria Math" panose="02040503050406030204" pitchFamily="18" charset="0"/>
                          <a:ea typeface="Cambria Math" panose="02040503050406030204" pitchFamily="18" charset="0"/>
                        </a:rPr>
                        <m:t>𝜇</m:t>
                      </m:r>
                      <m:r>
                        <a:rPr lang="en-US" sz="4000" b="0" i="1" smtClean="0">
                          <a:solidFill>
                            <a:srgbClr val="FF0000"/>
                          </a:solidFill>
                          <a:latin typeface="Cambria Math" panose="02040503050406030204" pitchFamily="18" charset="0"/>
                          <a:ea typeface="Cambria Math" panose="02040503050406030204" pitchFamily="18" charset="0"/>
                        </a:rPr>
                        <m:t>𝑑𝑁</m:t>
                      </m:r>
                    </m:oMath>
                  </m:oMathPara>
                </a14:m>
                <a:endParaRPr lang="en-CN" sz="4000" dirty="0"/>
              </a:p>
            </p:txBody>
          </p:sp>
        </mc:Choice>
        <mc:Fallback xmlns="">
          <p:sp>
            <p:nvSpPr>
              <p:cNvPr id="5" name="TextBox 4">
                <a:extLst>
                  <a:ext uri="{FF2B5EF4-FFF2-40B4-BE49-F238E27FC236}">
                    <a16:creationId xmlns:a16="http://schemas.microsoft.com/office/drawing/2014/main" id="{90140ECA-4B08-9843-A97B-F87BB7CB180C}"/>
                  </a:ext>
                </a:extLst>
              </p:cNvPr>
              <p:cNvSpPr txBox="1">
                <a:spLocks noRot="1" noChangeAspect="1" noMove="1" noResize="1" noEditPoints="1" noAdjustHandles="1" noChangeArrowheads="1" noChangeShapeType="1" noTextEdit="1"/>
              </p:cNvSpPr>
              <p:nvPr/>
            </p:nvSpPr>
            <p:spPr>
              <a:xfrm>
                <a:off x="235527" y="3525782"/>
                <a:ext cx="7232072" cy="707886"/>
              </a:xfrm>
              <a:prstGeom prst="rect">
                <a:avLst/>
              </a:prstGeom>
              <a:blipFill>
                <a:blip r:embed="rId3"/>
                <a:stretch>
                  <a:fillRect b="-1228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C12B840-43C6-5B4F-A205-D09336183F13}"/>
                  </a:ext>
                </a:extLst>
              </p:cNvPr>
              <p:cNvSpPr txBox="1"/>
              <p:nvPr/>
            </p:nvSpPr>
            <p:spPr>
              <a:xfrm>
                <a:off x="2784764" y="4516582"/>
                <a:ext cx="8257309" cy="1039002"/>
              </a:xfrm>
              <a:prstGeom prst="rect">
                <a:avLst/>
              </a:prstGeom>
              <a:noFill/>
            </p:spPr>
            <p:txBody>
              <a:bodyPr wrap="square" rtlCol="0">
                <a:spAutoFit/>
              </a:bodyPr>
              <a:lstStyle/>
              <a:p>
                <a:pPr marL="285750" indent="-285750">
                  <a:buFont typeface="Arial" panose="020B0604020202020204" pitchFamily="34" charset="0"/>
                  <a:buChar char="•"/>
                </a:pPr>
                <a:r>
                  <a:rPr lang="en-US" dirty="0"/>
                  <a:t>F</a:t>
                </a:r>
                <a:r>
                  <a:rPr lang="en-CN" dirty="0"/>
                  <a:t>ixed U and V, </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0=</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𝑑𝑁</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𝑡h𝑎𝑡</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𝑖𝑠</m:t>
                    </m:r>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𝜇</m:t>
                        </m:r>
                      </m:num>
                      <m:den>
                        <m:r>
                          <a:rPr lang="en-US" b="0" i="1" smtClean="0">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𝜕𝜎</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den>
                            </m:f>
                          </m:e>
                        </m:d>
                      </m:e>
                      <m:sub>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sub>
                    </m:sSub>
                  </m:oMath>
                </a14:m>
                <a:endParaRPr lang="en-CN" dirty="0"/>
              </a:p>
              <a:p>
                <a:pPr marL="285750" indent="-285750">
                  <a:buFont typeface="Arial" panose="020B0604020202020204" pitchFamily="34" charset="0"/>
                  <a:buChar char="•"/>
                </a:pPr>
                <a:r>
                  <a:rPr lang="en-CN" dirty="0"/>
                  <a:t>Fixed </a:t>
                </a:r>
                <a14:m>
                  <m:oMath xmlns:m="http://schemas.openxmlformats.org/officeDocument/2006/math">
                    <m:r>
                      <a:rPr lang="en-CN" i="1" smtClean="0">
                        <a:latin typeface="Cambria Math" panose="02040503050406030204" pitchFamily="18" charset="0"/>
                        <a:ea typeface="Cambria Math" panose="02040503050406030204" pitchFamily="18" charset="0"/>
                      </a:rPr>
                      <m:t>𝜎</m:t>
                    </m:r>
                  </m:oMath>
                </a14:m>
                <a:r>
                  <a:rPr lang="en-CN" dirty="0"/>
                  <a:t> and V,     </a:t>
                </a:r>
                <a14:m>
                  <m:oMath xmlns:m="http://schemas.openxmlformats.org/officeDocument/2006/math">
                    <m:r>
                      <a:rPr lang="en-US" b="0" i="1" smtClean="0">
                        <a:latin typeface="Cambria Math" panose="02040503050406030204" pitchFamily="18" charset="0"/>
                      </a:rPr>
                      <m:t>𝑑𝑈</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𝑑𝑁</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𝑡h𝑎𝑡</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𝑖𝑠</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den>
                            </m:f>
                          </m:e>
                        </m:d>
                      </m:e>
                      <m:sub>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sub>
                    </m:sSub>
                  </m:oMath>
                </a14:m>
                <a:endParaRPr lang="en-CN" dirty="0"/>
              </a:p>
            </p:txBody>
          </p:sp>
        </mc:Choice>
        <mc:Fallback xmlns="">
          <p:sp>
            <p:nvSpPr>
              <p:cNvPr id="4" name="TextBox 3">
                <a:extLst>
                  <a:ext uri="{FF2B5EF4-FFF2-40B4-BE49-F238E27FC236}">
                    <a16:creationId xmlns:a16="http://schemas.microsoft.com/office/drawing/2014/main" id="{AC12B840-43C6-5B4F-A205-D09336183F13}"/>
                  </a:ext>
                </a:extLst>
              </p:cNvPr>
              <p:cNvSpPr txBox="1">
                <a:spLocks noRot="1" noChangeAspect="1" noMove="1" noResize="1" noEditPoints="1" noAdjustHandles="1" noChangeArrowheads="1" noChangeShapeType="1" noTextEdit="1"/>
              </p:cNvSpPr>
              <p:nvPr/>
            </p:nvSpPr>
            <p:spPr>
              <a:xfrm>
                <a:off x="2784764" y="4516582"/>
                <a:ext cx="8257309" cy="1039002"/>
              </a:xfrm>
              <a:prstGeom prst="rect">
                <a:avLst/>
              </a:prstGeom>
              <a:blipFill>
                <a:blip r:embed="rId4"/>
                <a:stretch>
                  <a:fillRect l="-461"/>
                </a:stretch>
              </a:blipFill>
            </p:spPr>
            <p:txBody>
              <a:bodyPr/>
              <a:lstStyle/>
              <a:p>
                <a:r>
                  <a:rPr lang="en-CN">
                    <a:noFill/>
                  </a:rPr>
                  <a:t> </a:t>
                </a:r>
              </a:p>
            </p:txBody>
          </p:sp>
        </mc:Fallback>
      </mc:AlternateContent>
    </p:spTree>
    <p:extLst>
      <p:ext uri="{BB962C8B-B14F-4D97-AF65-F5344CB8AC3E}">
        <p14:creationId xmlns:p14="http://schemas.microsoft.com/office/powerpoint/2010/main" val="28860336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241387-B2B4-A14A-BABA-365287418E04}"/>
              </a:ext>
            </a:extLst>
          </p:cNvPr>
          <p:cNvSpPr txBox="1"/>
          <p:nvPr/>
        </p:nvSpPr>
        <p:spPr>
          <a:xfrm>
            <a:off x="277091" y="221673"/>
            <a:ext cx="4987636" cy="369332"/>
          </a:xfrm>
          <a:prstGeom prst="rect">
            <a:avLst/>
          </a:prstGeom>
          <a:noFill/>
        </p:spPr>
        <p:txBody>
          <a:bodyPr wrap="square" rtlCol="0">
            <a:spAutoFit/>
          </a:bodyPr>
          <a:lstStyle/>
          <a:p>
            <a:r>
              <a:rPr lang="en-CN" dirty="0"/>
              <a:t>理想气体的化学势</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5DDBDA2-40F7-3F4B-B7E0-1F0329B66DF9}"/>
                  </a:ext>
                </a:extLst>
              </p:cNvPr>
              <p:cNvSpPr txBox="1"/>
              <p:nvPr/>
            </p:nvSpPr>
            <p:spPr>
              <a:xfrm>
                <a:off x="2272145" y="706582"/>
                <a:ext cx="7439891" cy="3888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𝑄</m:t>
                                  </m:r>
                                </m:sub>
                              </m:sSub>
                              <m:r>
                                <a:rPr lang="en-US" b="0" i="1" smtClean="0">
                                  <a:latin typeface="Cambria Math" panose="02040503050406030204" pitchFamily="18" charset="0"/>
                                  <a:ea typeface="Cambria Math" panose="02040503050406030204" pitchFamily="18" charset="0"/>
                                </a:rPr>
                                <m:t>𝑉</m:t>
                              </m:r>
                            </m:e>
                          </m:func>
                        </m:e>
                      </m:func>
                      <m:r>
                        <a:rPr lang="en-US" b="0" i="1" smtClean="0">
                          <a:latin typeface="Cambria Math" panose="02040503050406030204" pitchFamily="18" charset="0"/>
                          <a:ea typeface="Cambria Math" panose="02040503050406030204" pitchFamily="18" charset="0"/>
                        </a:rPr>
                        <m:t>)</m:t>
                      </m:r>
                    </m:oMath>
                  </m:oMathPara>
                </a14:m>
                <a:endParaRPr lang="en-CN" dirty="0"/>
              </a:p>
            </p:txBody>
          </p:sp>
        </mc:Choice>
        <mc:Fallback xmlns="">
          <p:sp>
            <p:nvSpPr>
              <p:cNvPr id="3" name="TextBox 2">
                <a:extLst>
                  <a:ext uri="{FF2B5EF4-FFF2-40B4-BE49-F238E27FC236}">
                    <a16:creationId xmlns:a16="http://schemas.microsoft.com/office/drawing/2014/main" id="{95DDBDA2-40F7-3F4B-B7E0-1F0329B66DF9}"/>
                  </a:ext>
                </a:extLst>
              </p:cNvPr>
              <p:cNvSpPr txBox="1">
                <a:spLocks noRot="1" noChangeAspect="1" noMove="1" noResize="1" noEditPoints="1" noAdjustHandles="1" noChangeArrowheads="1" noChangeShapeType="1" noTextEdit="1"/>
              </p:cNvSpPr>
              <p:nvPr/>
            </p:nvSpPr>
            <p:spPr>
              <a:xfrm>
                <a:off x="2272145" y="706582"/>
                <a:ext cx="7439891" cy="388889"/>
              </a:xfrm>
              <a:prstGeom prst="rect">
                <a:avLst/>
              </a:prstGeom>
              <a:blipFill>
                <a:blip r:embed="rId2"/>
                <a:stretch>
                  <a:fillRect b="-6250"/>
                </a:stretch>
              </a:blipFill>
            </p:spPr>
            <p:txBody>
              <a:bodyPr/>
              <a:lstStyle/>
              <a:p>
                <a:r>
                  <a:rPr lang="en-CN">
                    <a:noFill/>
                  </a:rPr>
                  <a:t> </a:t>
                </a:r>
              </a:p>
            </p:txBody>
          </p:sp>
        </mc:Fallback>
      </mc:AlternateContent>
      <p:sp>
        <p:nvSpPr>
          <p:cNvPr id="4" name="Down Arrow 3">
            <a:extLst>
              <a:ext uri="{FF2B5EF4-FFF2-40B4-BE49-F238E27FC236}">
                <a16:creationId xmlns:a16="http://schemas.microsoft.com/office/drawing/2014/main" id="{78426408-C4CE-E145-AB28-334DFBCAD0B9}"/>
              </a:ext>
            </a:extLst>
          </p:cNvPr>
          <p:cNvSpPr/>
          <p:nvPr/>
        </p:nvSpPr>
        <p:spPr>
          <a:xfrm>
            <a:off x="5777345" y="1095471"/>
            <a:ext cx="443346" cy="65020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967D0F6-1671-054E-AAF6-E5729C175E04}"/>
                  </a:ext>
                </a:extLst>
              </p:cNvPr>
              <p:cNvSpPr txBox="1"/>
              <p:nvPr/>
            </p:nvSpPr>
            <p:spPr>
              <a:xfrm>
                <a:off x="4364182" y="1925782"/>
                <a:ext cx="3172691" cy="13142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sz="4000" i="1" smtClean="0">
                          <a:latin typeface="Cambria Math" panose="02040503050406030204" pitchFamily="18" charset="0"/>
                          <a:ea typeface="Cambria Math" panose="02040503050406030204" pitchFamily="18" charset="0"/>
                        </a:rPr>
                        <m:t>𝜇</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𝜏</m:t>
                      </m:r>
                      <m:func>
                        <m:funcPr>
                          <m:ctrlPr>
                            <a:rPr lang="en-US" sz="4000" b="0" i="1" smtClean="0">
                              <a:latin typeface="Cambria Math" panose="02040503050406030204" pitchFamily="18" charset="0"/>
                              <a:ea typeface="Cambria Math" panose="02040503050406030204" pitchFamily="18" charset="0"/>
                            </a:rPr>
                          </m:ctrlPr>
                        </m:funcPr>
                        <m:fName>
                          <m:r>
                            <m:rPr>
                              <m:sty m:val="p"/>
                            </m:rPr>
                            <a:rPr lang="en-US" sz="4000" b="0" i="0" smtClean="0">
                              <a:latin typeface="Cambria Math" panose="02040503050406030204" pitchFamily="18" charset="0"/>
                              <a:ea typeface="Cambria Math" panose="02040503050406030204" pitchFamily="18" charset="0"/>
                            </a:rPr>
                            <m:t>log</m:t>
                          </m:r>
                        </m:fName>
                        <m:e>
                          <m:f>
                            <m:fPr>
                              <m:ctrlPr>
                                <a:rPr lang="en-US" sz="4000" b="0" i="1" smtClean="0">
                                  <a:latin typeface="Cambria Math" panose="02040503050406030204" pitchFamily="18" charset="0"/>
                                  <a:ea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𝑛</m:t>
                              </m:r>
                            </m:num>
                            <m:den>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𝑛</m:t>
                                  </m:r>
                                </m:e>
                                <m:sub>
                                  <m:r>
                                    <a:rPr lang="en-US" sz="4000" b="0" i="1" smtClean="0">
                                      <a:latin typeface="Cambria Math" panose="02040503050406030204" pitchFamily="18" charset="0"/>
                                      <a:ea typeface="Cambria Math" panose="02040503050406030204" pitchFamily="18" charset="0"/>
                                    </a:rPr>
                                    <m:t>𝑄</m:t>
                                  </m:r>
                                </m:sub>
                              </m:sSub>
                            </m:den>
                          </m:f>
                        </m:e>
                      </m:func>
                    </m:oMath>
                  </m:oMathPara>
                </a14:m>
                <a:endParaRPr lang="en-CN" sz="4000" dirty="0"/>
              </a:p>
            </p:txBody>
          </p:sp>
        </mc:Choice>
        <mc:Fallback xmlns="">
          <p:sp>
            <p:nvSpPr>
              <p:cNvPr id="5" name="TextBox 4">
                <a:extLst>
                  <a:ext uri="{FF2B5EF4-FFF2-40B4-BE49-F238E27FC236}">
                    <a16:creationId xmlns:a16="http://schemas.microsoft.com/office/drawing/2014/main" id="{9967D0F6-1671-054E-AAF6-E5729C175E04}"/>
                  </a:ext>
                </a:extLst>
              </p:cNvPr>
              <p:cNvSpPr txBox="1">
                <a:spLocks noRot="1" noChangeAspect="1" noMove="1" noResize="1" noEditPoints="1" noAdjustHandles="1" noChangeArrowheads="1" noChangeShapeType="1" noTextEdit="1"/>
              </p:cNvSpPr>
              <p:nvPr/>
            </p:nvSpPr>
            <p:spPr>
              <a:xfrm>
                <a:off x="4364182" y="1925782"/>
                <a:ext cx="3172691" cy="1314206"/>
              </a:xfrm>
              <a:prstGeom prst="rect">
                <a:avLst/>
              </a:prstGeom>
              <a:blipFill>
                <a:blip r:embed="rId3"/>
                <a:stretch>
                  <a:fillRect b="-769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0EFDCD6-F7C9-654A-A306-4DC1CFFD446B}"/>
                  </a:ext>
                </a:extLst>
              </p:cNvPr>
              <p:cNvSpPr txBox="1"/>
              <p:nvPr/>
            </p:nvSpPr>
            <p:spPr>
              <a:xfrm>
                <a:off x="2376054" y="4336473"/>
                <a:ext cx="7439891" cy="636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 (</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𝑄</m:t>
                                  </m:r>
                                </m:sub>
                              </m:sSub>
                            </m:num>
                            <m:den>
                              <m:r>
                                <a:rPr lang="en-US" b="0" i="1" smtClean="0">
                                  <a:latin typeface="Cambria Math" panose="02040503050406030204" pitchFamily="18" charset="0"/>
                                </a:rPr>
                                <m:t>𝑛</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5</m:t>
                              </m:r>
                            </m:num>
                            <m:den>
                              <m:r>
                                <a:rPr lang="en-US" b="0" i="1" smtClean="0">
                                  <a:latin typeface="Cambria Math" panose="02040503050406030204" pitchFamily="18" charset="0"/>
                                </a:rPr>
                                <m:t>2</m:t>
                              </m:r>
                            </m:den>
                          </m:f>
                        </m:e>
                      </m:func>
                      <m:r>
                        <a:rPr lang="en-US" b="0" i="1" smtClean="0">
                          <a:latin typeface="Cambria Math" panose="02040503050406030204" pitchFamily="18" charset="0"/>
                        </a:rPr>
                        <m:t>)</m:t>
                      </m:r>
                    </m:oMath>
                  </m:oMathPara>
                </a14:m>
                <a:endParaRPr lang="en-CN" dirty="0"/>
              </a:p>
            </p:txBody>
          </p:sp>
        </mc:Choice>
        <mc:Fallback xmlns="">
          <p:sp>
            <p:nvSpPr>
              <p:cNvPr id="7" name="TextBox 6">
                <a:extLst>
                  <a:ext uri="{FF2B5EF4-FFF2-40B4-BE49-F238E27FC236}">
                    <a16:creationId xmlns:a16="http://schemas.microsoft.com/office/drawing/2014/main" id="{70EFDCD6-F7C9-654A-A306-4DC1CFFD446B}"/>
                  </a:ext>
                </a:extLst>
              </p:cNvPr>
              <p:cNvSpPr txBox="1">
                <a:spLocks noRot="1" noChangeAspect="1" noMove="1" noResize="1" noEditPoints="1" noAdjustHandles="1" noChangeArrowheads="1" noChangeShapeType="1" noTextEdit="1"/>
              </p:cNvSpPr>
              <p:nvPr/>
            </p:nvSpPr>
            <p:spPr>
              <a:xfrm>
                <a:off x="2376054" y="4336473"/>
                <a:ext cx="7439891" cy="636585"/>
              </a:xfrm>
              <a:prstGeom prst="rect">
                <a:avLst/>
              </a:prstGeom>
              <a:blipFill>
                <a:blip r:embed="rId4"/>
                <a:stretch>
                  <a:fillRect b="-1961"/>
                </a:stretch>
              </a:blipFill>
            </p:spPr>
            <p:txBody>
              <a:bodyPr/>
              <a:lstStyle/>
              <a:p>
                <a:r>
                  <a:rPr lang="en-CN">
                    <a:noFill/>
                  </a:rPr>
                  <a:t> </a:t>
                </a:r>
              </a:p>
            </p:txBody>
          </p:sp>
        </mc:Fallback>
      </mc:AlternateContent>
      <p:sp>
        <p:nvSpPr>
          <p:cNvPr id="8" name="Down Arrow 7">
            <a:extLst>
              <a:ext uri="{FF2B5EF4-FFF2-40B4-BE49-F238E27FC236}">
                <a16:creationId xmlns:a16="http://schemas.microsoft.com/office/drawing/2014/main" id="{B8919181-5620-CF44-A10B-CD96813255BB}"/>
              </a:ext>
            </a:extLst>
          </p:cNvPr>
          <p:cNvSpPr/>
          <p:nvPr/>
        </p:nvSpPr>
        <p:spPr>
          <a:xfrm rot="10800000">
            <a:off x="5770417" y="3408192"/>
            <a:ext cx="443346" cy="65020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31FED5C-20CF-FB48-AF82-0982E0C3B823}"/>
                  </a:ext>
                </a:extLst>
              </p:cNvPr>
              <p:cNvSpPr txBox="1"/>
              <p:nvPr/>
            </p:nvSpPr>
            <p:spPr>
              <a:xfrm>
                <a:off x="7898897" y="56380"/>
                <a:ext cx="4293103" cy="812658"/>
              </a:xfrm>
              <a:prstGeom prst="rect">
                <a:avLst/>
              </a:prstGeom>
              <a:noFill/>
            </p:spPr>
            <p:txBody>
              <a:bodyPr wrap="square" rtlCol="0">
                <a:spAutoFit/>
              </a:bodyPr>
              <a:lstStyle/>
              <a:p>
                <a:pPr/>
                <a14:m>
                  <m:oMathPara xmlns:m="http://schemas.openxmlformats.org/officeDocument/2006/math">
                    <m:oMathParaPr>
                      <m:jc m:val="right"/>
                    </m:oMathParaPr>
                    <m:oMath xmlns:m="http://schemas.openxmlformats.org/officeDocument/2006/math">
                      <m:sSub>
                        <m:sSubPr>
                          <m:ctrlPr>
                            <a:rPr lang="en-CN" sz="240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𝑄</m:t>
                          </m:r>
                        </m:sub>
                      </m:sSub>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𝑚</m:t>
                                  </m:r>
                                  <m:r>
                                    <a:rPr lang="en-US" sz="2400" b="0" i="1" smtClean="0">
                                      <a:latin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𝜏</m:t>
                                  </m:r>
                                </m:num>
                                <m:den>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𝜋</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ℏ</m:t>
                                      </m:r>
                                    </m:e>
                                    <m:sup>
                                      <m:r>
                                        <a:rPr lang="en-US" sz="2400" b="0" i="1" smtClean="0">
                                          <a:latin typeface="Cambria Math" panose="02040503050406030204" pitchFamily="18" charset="0"/>
                                          <a:ea typeface="Cambria Math" panose="02040503050406030204" pitchFamily="18" charset="0"/>
                                        </a:rPr>
                                        <m:t>2</m:t>
                                      </m:r>
                                    </m:sup>
                                  </m:sSup>
                                </m:den>
                              </m:f>
                            </m:e>
                          </m:d>
                        </m:e>
                        <m:sup>
                          <m:r>
                            <a:rPr lang="en-US" sz="2400" b="0" i="1" smtClean="0">
                              <a:latin typeface="Cambria Math" panose="02040503050406030204" pitchFamily="18" charset="0"/>
                            </a:rPr>
                            <m:t>3/2</m:t>
                          </m:r>
                        </m:sup>
                      </m:sSup>
                    </m:oMath>
                  </m:oMathPara>
                </a14:m>
                <a:endParaRPr lang="en-CN" sz="2400" dirty="0"/>
              </a:p>
            </p:txBody>
          </p:sp>
        </mc:Choice>
        <mc:Fallback xmlns="">
          <p:sp>
            <p:nvSpPr>
              <p:cNvPr id="9" name="TextBox 8">
                <a:extLst>
                  <a:ext uri="{FF2B5EF4-FFF2-40B4-BE49-F238E27FC236}">
                    <a16:creationId xmlns:a16="http://schemas.microsoft.com/office/drawing/2014/main" id="{931FED5C-20CF-FB48-AF82-0982E0C3B823}"/>
                  </a:ext>
                </a:extLst>
              </p:cNvPr>
              <p:cNvSpPr txBox="1">
                <a:spLocks noRot="1" noChangeAspect="1" noMove="1" noResize="1" noEditPoints="1" noAdjustHandles="1" noChangeArrowheads="1" noChangeShapeType="1" noTextEdit="1"/>
              </p:cNvSpPr>
              <p:nvPr/>
            </p:nvSpPr>
            <p:spPr>
              <a:xfrm>
                <a:off x="7898897" y="56380"/>
                <a:ext cx="4293103" cy="812658"/>
              </a:xfrm>
              <a:prstGeom prst="rect">
                <a:avLst/>
              </a:prstGeom>
              <a:blipFill>
                <a:blip r:embed="rId5"/>
                <a:stretch>
                  <a:fillRect b="-6154"/>
                </a:stretch>
              </a:blipFill>
            </p:spPr>
            <p:txBody>
              <a:bodyPr/>
              <a:lstStyle/>
              <a:p>
                <a:r>
                  <a:rPr lang="en-CN">
                    <a:noFill/>
                  </a:rPr>
                  <a:t> </a:t>
                </a:r>
              </a:p>
            </p:txBody>
          </p:sp>
        </mc:Fallback>
      </mc:AlternateContent>
      <p:sp>
        <p:nvSpPr>
          <p:cNvPr id="11" name="TextBox 10">
            <a:extLst>
              <a:ext uri="{FF2B5EF4-FFF2-40B4-BE49-F238E27FC236}">
                <a16:creationId xmlns:a16="http://schemas.microsoft.com/office/drawing/2014/main" id="{1A4EEED5-0305-1147-B261-7480165E2429}"/>
              </a:ext>
            </a:extLst>
          </p:cNvPr>
          <p:cNvSpPr txBox="1"/>
          <p:nvPr/>
        </p:nvSpPr>
        <p:spPr>
          <a:xfrm>
            <a:off x="8049491" y="5846618"/>
            <a:ext cx="3255818" cy="369332"/>
          </a:xfrm>
          <a:prstGeom prst="rect">
            <a:avLst/>
          </a:prstGeom>
          <a:noFill/>
        </p:spPr>
        <p:txBody>
          <a:bodyPr wrap="square" rtlCol="0">
            <a:spAutoFit/>
          </a:bodyPr>
          <a:lstStyle/>
          <a:p>
            <a:r>
              <a:rPr lang="en-CN" dirty="0"/>
              <a:t>2022.03.20</a:t>
            </a:r>
          </a:p>
        </p:txBody>
      </p:sp>
    </p:spTree>
    <p:extLst>
      <p:ext uri="{BB962C8B-B14F-4D97-AF65-F5344CB8AC3E}">
        <p14:creationId xmlns:p14="http://schemas.microsoft.com/office/powerpoint/2010/main" val="30195824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241387-B2B4-A14A-BABA-365287418E04}"/>
              </a:ext>
            </a:extLst>
          </p:cNvPr>
          <p:cNvSpPr txBox="1"/>
          <p:nvPr/>
        </p:nvSpPr>
        <p:spPr>
          <a:xfrm>
            <a:off x="277091" y="221673"/>
            <a:ext cx="4987636" cy="369332"/>
          </a:xfrm>
          <a:prstGeom prst="rect">
            <a:avLst/>
          </a:prstGeom>
          <a:noFill/>
        </p:spPr>
        <p:txBody>
          <a:bodyPr wrap="square" rtlCol="0">
            <a:spAutoFit/>
          </a:bodyPr>
          <a:lstStyle/>
          <a:p>
            <a:r>
              <a:rPr lang="en-CN" dirty="0"/>
              <a:t>理想气体的化学势</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967D0F6-1671-054E-AAF6-E5729C175E04}"/>
                  </a:ext>
                </a:extLst>
              </p:cNvPr>
              <p:cNvSpPr txBox="1"/>
              <p:nvPr/>
            </p:nvSpPr>
            <p:spPr>
              <a:xfrm>
                <a:off x="4364182" y="1925782"/>
                <a:ext cx="3172691" cy="13142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sz="4000" i="1" smtClean="0">
                          <a:latin typeface="Cambria Math" panose="02040503050406030204" pitchFamily="18" charset="0"/>
                          <a:ea typeface="Cambria Math" panose="02040503050406030204" pitchFamily="18" charset="0"/>
                        </a:rPr>
                        <m:t>𝜇</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𝜏</m:t>
                      </m:r>
                      <m:func>
                        <m:funcPr>
                          <m:ctrlPr>
                            <a:rPr lang="en-US" sz="4000" b="0" i="1" smtClean="0">
                              <a:latin typeface="Cambria Math" panose="02040503050406030204" pitchFamily="18" charset="0"/>
                              <a:ea typeface="Cambria Math" panose="02040503050406030204" pitchFamily="18" charset="0"/>
                            </a:rPr>
                          </m:ctrlPr>
                        </m:funcPr>
                        <m:fName>
                          <m:r>
                            <m:rPr>
                              <m:sty m:val="p"/>
                            </m:rPr>
                            <a:rPr lang="en-US" sz="4000" b="0" i="0" smtClean="0">
                              <a:latin typeface="Cambria Math" panose="02040503050406030204" pitchFamily="18" charset="0"/>
                              <a:ea typeface="Cambria Math" panose="02040503050406030204" pitchFamily="18" charset="0"/>
                            </a:rPr>
                            <m:t>log</m:t>
                          </m:r>
                        </m:fName>
                        <m:e>
                          <m:f>
                            <m:fPr>
                              <m:ctrlPr>
                                <a:rPr lang="en-US" sz="4000" b="0" i="1" smtClean="0">
                                  <a:latin typeface="Cambria Math" panose="02040503050406030204" pitchFamily="18" charset="0"/>
                                  <a:ea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𝑛</m:t>
                              </m:r>
                            </m:num>
                            <m:den>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𝑛</m:t>
                                  </m:r>
                                </m:e>
                                <m:sub>
                                  <m:r>
                                    <a:rPr lang="en-US" sz="4000" b="0" i="1" smtClean="0">
                                      <a:latin typeface="Cambria Math" panose="02040503050406030204" pitchFamily="18" charset="0"/>
                                      <a:ea typeface="Cambria Math" panose="02040503050406030204" pitchFamily="18" charset="0"/>
                                    </a:rPr>
                                    <m:t>𝑄</m:t>
                                  </m:r>
                                </m:sub>
                              </m:sSub>
                            </m:den>
                          </m:f>
                        </m:e>
                      </m:func>
                    </m:oMath>
                  </m:oMathPara>
                </a14:m>
                <a:endParaRPr lang="en-CN" sz="4000" dirty="0"/>
              </a:p>
            </p:txBody>
          </p:sp>
        </mc:Choice>
        <mc:Fallback xmlns="">
          <p:sp>
            <p:nvSpPr>
              <p:cNvPr id="5" name="TextBox 4">
                <a:extLst>
                  <a:ext uri="{FF2B5EF4-FFF2-40B4-BE49-F238E27FC236}">
                    <a16:creationId xmlns:a16="http://schemas.microsoft.com/office/drawing/2014/main" id="{9967D0F6-1671-054E-AAF6-E5729C175E04}"/>
                  </a:ext>
                </a:extLst>
              </p:cNvPr>
              <p:cNvSpPr txBox="1">
                <a:spLocks noRot="1" noChangeAspect="1" noMove="1" noResize="1" noEditPoints="1" noAdjustHandles="1" noChangeArrowheads="1" noChangeShapeType="1" noTextEdit="1"/>
              </p:cNvSpPr>
              <p:nvPr/>
            </p:nvSpPr>
            <p:spPr>
              <a:xfrm>
                <a:off x="4364182" y="1925782"/>
                <a:ext cx="3172691" cy="1314206"/>
              </a:xfrm>
              <a:prstGeom prst="rect">
                <a:avLst/>
              </a:prstGeom>
              <a:blipFill>
                <a:blip r:embed="rId3"/>
                <a:stretch>
                  <a:fillRect b="-769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0EFDCD6-F7C9-654A-A306-4DC1CFFD446B}"/>
                  </a:ext>
                </a:extLst>
              </p:cNvPr>
              <p:cNvSpPr txBox="1"/>
              <p:nvPr/>
            </p:nvSpPr>
            <p:spPr>
              <a:xfrm>
                <a:off x="2376054" y="4336473"/>
                <a:ext cx="7439891" cy="102752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ea typeface="Cambria Math" panose="02040503050406030204" pitchFamily="18" charset="0"/>
                        </a:rPr>
                        <m:t>𝜎</m:t>
                      </m:r>
                      <m:r>
                        <a:rPr lang="en-US" sz="3200" b="0" i="1" smtClean="0">
                          <a:latin typeface="Cambria Math" panose="02040503050406030204" pitchFamily="18" charset="0"/>
                        </a:rPr>
                        <m:t>=</m:t>
                      </m:r>
                      <m:r>
                        <a:rPr lang="en-US" sz="3200" b="0" i="1" smtClean="0">
                          <a:latin typeface="Cambria Math" panose="02040503050406030204" pitchFamily="18" charset="0"/>
                        </a:rPr>
                        <m:t>𝑁</m:t>
                      </m:r>
                      <m:r>
                        <a:rPr lang="en-US" sz="3200" b="0" i="1" smtClean="0">
                          <a:latin typeface="Cambria Math" panose="02040503050406030204" pitchFamily="18" charset="0"/>
                        </a:rPr>
                        <m:t> (</m:t>
                      </m:r>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log</m:t>
                          </m:r>
                        </m:fName>
                        <m:e>
                          <m:f>
                            <m:fPr>
                              <m:ctrlPr>
                                <a:rPr lang="en-US" sz="3200" b="0" i="1" smtClean="0">
                                  <a:latin typeface="Cambria Math" panose="02040503050406030204" pitchFamily="18" charset="0"/>
                                </a:rPr>
                              </m:ctrlPr>
                            </m:fPr>
                            <m:num>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𝑛</m:t>
                                  </m:r>
                                </m:e>
                                <m:sub>
                                  <m:r>
                                    <a:rPr lang="en-US" sz="3200" b="0" i="1" smtClean="0">
                                      <a:latin typeface="Cambria Math" panose="02040503050406030204" pitchFamily="18" charset="0"/>
                                    </a:rPr>
                                    <m:t>𝑄</m:t>
                                  </m:r>
                                </m:sub>
                              </m:sSub>
                            </m:num>
                            <m:den>
                              <m:r>
                                <a:rPr lang="en-US" sz="3200" b="0" i="1" smtClean="0">
                                  <a:latin typeface="Cambria Math" panose="02040503050406030204" pitchFamily="18" charset="0"/>
                                </a:rPr>
                                <m:t>𝑛</m:t>
                              </m:r>
                            </m:den>
                          </m:f>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5</m:t>
                              </m:r>
                            </m:num>
                            <m:den>
                              <m:r>
                                <a:rPr lang="en-US" sz="3200" b="0" i="1" smtClean="0">
                                  <a:latin typeface="Cambria Math" panose="02040503050406030204" pitchFamily="18" charset="0"/>
                                </a:rPr>
                                <m:t>2</m:t>
                              </m:r>
                            </m:den>
                          </m:f>
                        </m:e>
                      </m:func>
                      <m:r>
                        <a:rPr lang="en-US" sz="3200" b="0" i="1" smtClean="0">
                          <a:latin typeface="Cambria Math" panose="02040503050406030204" pitchFamily="18" charset="0"/>
                        </a:rPr>
                        <m:t>)</m:t>
                      </m:r>
                    </m:oMath>
                  </m:oMathPara>
                </a14:m>
                <a:endParaRPr lang="en-CN" sz="3200" dirty="0"/>
              </a:p>
            </p:txBody>
          </p:sp>
        </mc:Choice>
        <mc:Fallback xmlns="">
          <p:sp>
            <p:nvSpPr>
              <p:cNvPr id="7" name="TextBox 6">
                <a:extLst>
                  <a:ext uri="{FF2B5EF4-FFF2-40B4-BE49-F238E27FC236}">
                    <a16:creationId xmlns:a16="http://schemas.microsoft.com/office/drawing/2014/main" id="{70EFDCD6-F7C9-654A-A306-4DC1CFFD446B}"/>
                  </a:ext>
                </a:extLst>
              </p:cNvPr>
              <p:cNvSpPr txBox="1">
                <a:spLocks noRot="1" noChangeAspect="1" noMove="1" noResize="1" noEditPoints="1" noAdjustHandles="1" noChangeArrowheads="1" noChangeShapeType="1" noTextEdit="1"/>
              </p:cNvSpPr>
              <p:nvPr/>
            </p:nvSpPr>
            <p:spPr>
              <a:xfrm>
                <a:off x="2376054" y="4336473"/>
                <a:ext cx="7439891" cy="1027525"/>
              </a:xfrm>
              <a:prstGeom prst="rect">
                <a:avLst/>
              </a:prstGeom>
              <a:blipFill>
                <a:blip r:embed="rId4"/>
                <a:stretch>
                  <a:fillRect b="-7317"/>
                </a:stretch>
              </a:blipFill>
            </p:spPr>
            <p:txBody>
              <a:bodyPr/>
              <a:lstStyle/>
              <a:p>
                <a:r>
                  <a:rPr lang="en-CN">
                    <a:noFill/>
                  </a:rPr>
                  <a:t> </a:t>
                </a:r>
              </a:p>
            </p:txBody>
          </p:sp>
        </mc:Fallback>
      </mc:AlternateContent>
      <p:sp>
        <p:nvSpPr>
          <p:cNvPr id="8" name="Down Arrow 7">
            <a:extLst>
              <a:ext uri="{FF2B5EF4-FFF2-40B4-BE49-F238E27FC236}">
                <a16:creationId xmlns:a16="http://schemas.microsoft.com/office/drawing/2014/main" id="{B8919181-5620-CF44-A10B-CD96813255BB}"/>
              </a:ext>
            </a:extLst>
          </p:cNvPr>
          <p:cNvSpPr/>
          <p:nvPr/>
        </p:nvSpPr>
        <p:spPr>
          <a:xfrm rot="10800000">
            <a:off x="5770417" y="3408192"/>
            <a:ext cx="443346" cy="65020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31FED5C-20CF-FB48-AF82-0982E0C3B823}"/>
                  </a:ext>
                </a:extLst>
              </p:cNvPr>
              <p:cNvSpPr txBox="1"/>
              <p:nvPr/>
            </p:nvSpPr>
            <p:spPr>
              <a:xfrm>
                <a:off x="5264727" y="3237032"/>
                <a:ext cx="6114815" cy="879472"/>
              </a:xfrm>
              <a:prstGeom prst="rect">
                <a:avLst/>
              </a:prstGeom>
              <a:noFill/>
            </p:spPr>
            <p:txBody>
              <a:bodyPr wrap="square" rtlCol="0">
                <a:spAutoFit/>
              </a:bodyPr>
              <a:lstStyle/>
              <a:p>
                <a:pPr/>
                <a14:m>
                  <m:oMathPara xmlns:m="http://schemas.openxmlformats.org/officeDocument/2006/math">
                    <m:oMathParaPr>
                      <m:jc m:val="right"/>
                    </m:oMathParaPr>
                    <m:oMath xmlns:m="http://schemas.openxmlformats.org/officeDocument/2006/math">
                      <m:sSub>
                        <m:sSubPr>
                          <m:ctrlPr>
                            <a:rPr lang="en-CN" sz="240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𝑄</m:t>
                          </m:r>
                        </m:sub>
                      </m:sSub>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𝑚</m:t>
                                  </m:r>
                                  <m:r>
                                    <a:rPr lang="en-US" sz="2400" b="0" i="1" smtClean="0">
                                      <a:latin typeface="Cambria Math" panose="02040503050406030204" pitchFamily="18" charset="0"/>
                                    </a:rPr>
                                    <m:t> </m:t>
                                  </m:r>
                                  <m:r>
                                    <a:rPr lang="en-US" sz="2400" b="0" i="1" smtClean="0">
                                      <a:solidFill>
                                        <a:srgbClr val="FF0000"/>
                                      </a:solidFill>
                                      <a:latin typeface="Cambria Math" panose="02040503050406030204" pitchFamily="18" charset="0"/>
                                      <a:ea typeface="Cambria Math" panose="02040503050406030204" pitchFamily="18" charset="0"/>
                                    </a:rPr>
                                    <m:t>𝜏</m:t>
                                  </m:r>
                                </m:num>
                                <m:den>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𝜋</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ℏ</m:t>
                                      </m:r>
                                    </m:e>
                                    <m:sup>
                                      <m:r>
                                        <a:rPr lang="en-US" sz="2400" b="0" i="1" smtClean="0">
                                          <a:latin typeface="Cambria Math" panose="02040503050406030204" pitchFamily="18" charset="0"/>
                                          <a:ea typeface="Cambria Math" panose="02040503050406030204" pitchFamily="18" charset="0"/>
                                        </a:rPr>
                                        <m:t>2</m:t>
                                      </m:r>
                                    </m:sup>
                                  </m:sSup>
                                </m:den>
                              </m:f>
                            </m:e>
                          </m:d>
                        </m:e>
                        <m:sup>
                          <m:r>
                            <a:rPr lang="en-US" sz="2400" b="0" i="1" smtClean="0">
                              <a:latin typeface="Cambria Math" panose="02040503050406030204" pitchFamily="18" charset="0"/>
                            </a:rPr>
                            <m:t>3/2</m:t>
                          </m:r>
                        </m:sup>
                      </m:sSup>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d>
                            <m:dPr>
                              <m:ctrlPr>
                                <a:rPr lang="en-US" altLang="zh-CN" sz="2400" b="0" i="1" smtClean="0">
                                  <a:latin typeface="Cambria Math" panose="02040503050406030204" pitchFamily="18" charset="0"/>
                                </a:rPr>
                              </m:ctrlPr>
                            </m:dPr>
                            <m:e>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𝑚𝑈</m:t>
                                  </m:r>
                                </m:num>
                                <m:den>
                                  <m:r>
                                    <a:rPr lang="en-US" altLang="zh-CN" sz="2400" b="0" i="1" smtClean="0">
                                      <a:latin typeface="Cambria Math" panose="02040503050406030204" pitchFamily="18" charset="0"/>
                                    </a:rPr>
                                    <m:t>3</m:t>
                                  </m:r>
                                  <m:r>
                                    <a:rPr lang="en-US" sz="2400" i="1">
                                      <a:latin typeface="Cambria Math" panose="02040503050406030204" pitchFamily="18" charset="0"/>
                                      <a:ea typeface="Cambria Math" panose="02040503050406030204" pitchFamily="18" charset="0"/>
                                    </a:rPr>
                                    <m:t>𝜋</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ℏ</m:t>
                                      </m:r>
                                    </m:e>
                                    <m:sup>
                                      <m:r>
                                        <a:rPr lang="en-US" sz="2400" i="1">
                                          <a:latin typeface="Cambria Math" panose="02040503050406030204" pitchFamily="18" charset="0"/>
                                          <a:ea typeface="Cambria Math" panose="02040503050406030204" pitchFamily="18" charset="0"/>
                                        </a:rPr>
                                        <m:t>2</m:t>
                                      </m:r>
                                    </m:sup>
                                  </m:sSup>
                                </m:den>
                              </m:f>
                            </m:e>
                          </m:d>
                        </m:e>
                        <m:sup>
                          <m:r>
                            <a:rPr lang="en-US" altLang="zh-CN" sz="2400" b="0" i="1" smtClean="0">
                              <a:latin typeface="Cambria Math" panose="02040503050406030204" pitchFamily="18" charset="0"/>
                            </a:rPr>
                            <m:t>3/2</m:t>
                          </m:r>
                        </m:sup>
                      </m:sSup>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𝑁</m:t>
                          </m:r>
                        </m:e>
                        <m:sup>
                          <m:r>
                            <a:rPr lang="en-US" altLang="zh-CN" sz="2400" b="0" i="1" smtClean="0">
                              <a:latin typeface="Cambria Math" panose="02040503050406030204" pitchFamily="18" charset="0"/>
                            </a:rPr>
                            <m:t>−3/2</m:t>
                          </m:r>
                        </m:sup>
                      </m:sSup>
                    </m:oMath>
                  </m:oMathPara>
                </a14:m>
                <a:endParaRPr lang="en-CN" sz="2400" dirty="0"/>
              </a:p>
            </p:txBody>
          </p:sp>
        </mc:Choice>
        <mc:Fallback xmlns="">
          <p:sp>
            <p:nvSpPr>
              <p:cNvPr id="9" name="TextBox 8">
                <a:extLst>
                  <a:ext uri="{FF2B5EF4-FFF2-40B4-BE49-F238E27FC236}">
                    <a16:creationId xmlns:a16="http://schemas.microsoft.com/office/drawing/2014/main" id="{931FED5C-20CF-FB48-AF82-0982E0C3B823}"/>
                  </a:ext>
                </a:extLst>
              </p:cNvPr>
              <p:cNvSpPr txBox="1">
                <a:spLocks noRot="1" noChangeAspect="1" noMove="1" noResize="1" noEditPoints="1" noAdjustHandles="1" noChangeArrowheads="1" noChangeShapeType="1" noTextEdit="1"/>
              </p:cNvSpPr>
              <p:nvPr/>
            </p:nvSpPr>
            <p:spPr>
              <a:xfrm>
                <a:off x="5264727" y="3237032"/>
                <a:ext cx="6114815" cy="879472"/>
              </a:xfrm>
              <a:prstGeom prst="rect">
                <a:avLst/>
              </a:prstGeom>
              <a:blipFill>
                <a:blip r:embed="rId5"/>
                <a:stretch>
                  <a:fillRect b="-7143"/>
                </a:stretch>
              </a:blipFill>
            </p:spPr>
            <p:txBody>
              <a:bodyPr/>
              <a:lstStyle/>
              <a:p>
                <a:r>
                  <a:rPr lang="en-CN">
                    <a:noFill/>
                  </a:rPr>
                  <a:t> </a:t>
                </a:r>
              </a:p>
            </p:txBody>
          </p:sp>
        </mc:Fallback>
      </mc:AlternateContent>
    </p:spTree>
    <p:extLst>
      <p:ext uri="{BB962C8B-B14F-4D97-AF65-F5344CB8AC3E}">
        <p14:creationId xmlns:p14="http://schemas.microsoft.com/office/powerpoint/2010/main" val="35915520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241387-B2B4-A14A-BABA-365287418E04}"/>
              </a:ext>
            </a:extLst>
          </p:cNvPr>
          <p:cNvSpPr txBox="1"/>
          <p:nvPr/>
        </p:nvSpPr>
        <p:spPr>
          <a:xfrm>
            <a:off x="277090" y="221673"/>
            <a:ext cx="9739745" cy="369332"/>
          </a:xfrm>
          <a:prstGeom prst="rect">
            <a:avLst/>
          </a:prstGeom>
          <a:noFill/>
        </p:spPr>
        <p:txBody>
          <a:bodyPr wrap="square" rtlCol="0">
            <a:spAutoFit/>
          </a:bodyPr>
          <a:lstStyle/>
          <a:p>
            <a:r>
              <a:rPr lang="en-CN" dirty="0"/>
              <a:t>补遗一</a:t>
            </a:r>
            <a:r>
              <a:rPr lang="zh-CN" altLang="en-US" dirty="0"/>
              <a:t>：</a:t>
            </a:r>
            <a:r>
              <a:rPr lang="en-US" altLang="zh-CN" dirty="0">
                <a:solidFill>
                  <a:srgbClr val="FF0000"/>
                </a:solidFill>
              </a:rPr>
              <a:t>Statistical independence</a:t>
            </a:r>
            <a:r>
              <a:rPr lang="en-US" altLang="zh-CN" dirty="0"/>
              <a:t>(Landau)</a:t>
            </a:r>
            <a:endParaRPr lang="en-CN" dirty="0"/>
          </a:p>
        </p:txBody>
      </p:sp>
      <p:sp>
        <p:nvSpPr>
          <p:cNvPr id="6" name="TextBox 5">
            <a:extLst>
              <a:ext uri="{FF2B5EF4-FFF2-40B4-BE49-F238E27FC236}">
                <a16:creationId xmlns:a16="http://schemas.microsoft.com/office/drawing/2014/main" id="{51473C3B-8294-C247-A35D-7E04D8EAE1F2}"/>
              </a:ext>
            </a:extLst>
          </p:cNvPr>
          <p:cNvSpPr txBox="1"/>
          <p:nvPr/>
        </p:nvSpPr>
        <p:spPr>
          <a:xfrm>
            <a:off x="443345" y="789709"/>
            <a:ext cx="11166763" cy="3046988"/>
          </a:xfrm>
          <a:prstGeom prst="rect">
            <a:avLst/>
          </a:prstGeom>
          <a:noFill/>
        </p:spPr>
        <p:txBody>
          <a:bodyPr wrap="square" rtlCol="0">
            <a:spAutoFit/>
          </a:bodyPr>
          <a:lstStyle/>
          <a:p>
            <a:r>
              <a:rPr lang="en-CN" sz="3200" dirty="0"/>
              <a:t>The fact that different subsystems may be regarded as </a:t>
            </a:r>
            <a:r>
              <a:rPr lang="en-CN" sz="3200" dirty="0">
                <a:solidFill>
                  <a:srgbClr val="FF0000"/>
                </a:solidFill>
              </a:rPr>
              <a:t>weakly</a:t>
            </a:r>
            <a:r>
              <a:rPr lang="en-CN" sz="3200" dirty="0"/>
              <a:t> interacting has the result that they may also be regarded as </a:t>
            </a:r>
            <a:r>
              <a:rPr lang="en-CN" sz="3200" dirty="0">
                <a:solidFill>
                  <a:srgbClr val="FF0000"/>
                </a:solidFill>
              </a:rPr>
              <a:t>statistically independent</a:t>
            </a:r>
            <a:r>
              <a:rPr lang="en-CN" sz="3200" dirty="0"/>
              <a:t>. By statistical independence we mean that the state of one subsystem does not affect the probabilities of various states of the other subsystems.</a:t>
            </a:r>
          </a:p>
          <a:p>
            <a:r>
              <a:rPr lang="en-CN" sz="3200" dirty="0"/>
              <a:t>(Quasi-closed)</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1DDEEC4-C3D1-AE45-B472-FC2A6E5D4306}"/>
                  </a:ext>
                </a:extLst>
              </p:cNvPr>
              <p:cNvSpPr txBox="1"/>
              <p:nvPr/>
            </p:nvSpPr>
            <p:spPr>
              <a:xfrm>
                <a:off x="1867142" y="4205177"/>
                <a:ext cx="8936182" cy="132343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CN" sz="4000" i="1" smtClean="0">
                          <a:latin typeface="Cambria Math" panose="02040503050406030204" pitchFamily="18" charset="0"/>
                          <a:ea typeface="Cambria Math" panose="02040503050406030204" pitchFamily="18" charset="0"/>
                        </a:rPr>
                        <m:t>𝜎</m:t>
                      </m:r>
                      <m:r>
                        <a:rPr lang="en-CN" sz="4000" i="1" smtClean="0">
                          <a:latin typeface="Cambria Math" panose="02040503050406030204" pitchFamily="18" charset="0"/>
                          <a:ea typeface="Cambria Math" panose="02040503050406030204" pitchFamily="18" charset="0"/>
                        </a:rPr>
                        <m:t>≈</m:t>
                      </m:r>
                      <m:sSub>
                        <m:sSubPr>
                          <m:ctrlPr>
                            <a:rPr lang="en-CN" sz="4000" i="1" smtClean="0">
                              <a:latin typeface="Cambria Math" panose="02040503050406030204" pitchFamily="18" charset="0"/>
                              <a:ea typeface="Cambria Math" panose="02040503050406030204" pitchFamily="18" charset="0"/>
                            </a:rPr>
                          </m:ctrlPr>
                        </m:sSubPr>
                        <m:e>
                          <m:r>
                            <a:rPr lang="en-CN" sz="4000" i="1" smtClean="0">
                              <a:latin typeface="Cambria Math" panose="02040503050406030204" pitchFamily="18" charset="0"/>
                              <a:ea typeface="Cambria Math" panose="02040503050406030204" pitchFamily="18" charset="0"/>
                            </a:rPr>
                            <m:t>𝜎</m:t>
                          </m:r>
                        </m:e>
                        <m:sub>
                          <m:r>
                            <a:rPr lang="en-US" sz="4000" b="0" i="1" smtClean="0">
                              <a:latin typeface="Cambria Math" panose="02040503050406030204" pitchFamily="18" charset="0"/>
                              <a:ea typeface="Cambria Math" panose="02040503050406030204" pitchFamily="18" charset="0"/>
                            </a:rPr>
                            <m:t>1</m:t>
                          </m:r>
                        </m:sub>
                      </m:sSub>
                      <m:r>
                        <a:rPr lang="en-US" sz="4000" b="0" i="1" smtClean="0">
                          <a:latin typeface="Cambria Math" panose="02040503050406030204" pitchFamily="18" charset="0"/>
                          <a:ea typeface="Cambria Math" panose="02040503050406030204" pitchFamily="18" charset="0"/>
                        </a:rPr>
                        <m:t>+</m:t>
                      </m:r>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𝜎</m:t>
                          </m:r>
                        </m:e>
                        <m:sub>
                          <m:r>
                            <a:rPr lang="en-US" sz="4000" b="0" i="1" smtClean="0">
                              <a:latin typeface="Cambria Math" panose="02040503050406030204" pitchFamily="18" charset="0"/>
                              <a:ea typeface="Cambria Math" panose="02040503050406030204" pitchFamily="18" charset="0"/>
                            </a:rPr>
                            <m:t>2</m:t>
                          </m:r>
                        </m:sub>
                      </m:sSub>
                    </m:oMath>
                  </m:oMathPara>
                </a14:m>
                <a:endParaRPr lang="en-US" sz="4000" b="0" dirty="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𝐹</m:t>
                      </m:r>
                      <m:r>
                        <a:rPr lang="en-US" sz="4000" b="0" i="1" smtClean="0">
                          <a:latin typeface="Cambria Math" panose="02040503050406030204" pitchFamily="18" charset="0"/>
                          <a:ea typeface="Cambria Math" panose="02040503050406030204" pitchFamily="18" charset="0"/>
                        </a:rPr>
                        <m:t>≈</m:t>
                      </m:r>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𝐹</m:t>
                          </m:r>
                        </m:e>
                        <m:sub>
                          <m:r>
                            <a:rPr lang="en-US" sz="4000" b="0" i="1" smtClean="0">
                              <a:latin typeface="Cambria Math" panose="02040503050406030204" pitchFamily="18" charset="0"/>
                              <a:ea typeface="Cambria Math" panose="02040503050406030204" pitchFamily="18" charset="0"/>
                            </a:rPr>
                            <m:t>1</m:t>
                          </m:r>
                        </m:sub>
                      </m:sSub>
                      <m:r>
                        <a:rPr lang="en-US" sz="4000" b="0" i="1" smtClean="0">
                          <a:latin typeface="Cambria Math" panose="02040503050406030204" pitchFamily="18" charset="0"/>
                          <a:ea typeface="Cambria Math" panose="02040503050406030204" pitchFamily="18" charset="0"/>
                        </a:rPr>
                        <m:t>+</m:t>
                      </m:r>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𝐹</m:t>
                          </m:r>
                        </m:e>
                        <m:sub>
                          <m:r>
                            <a:rPr lang="en-US" sz="4000" b="0" i="1" smtClean="0">
                              <a:latin typeface="Cambria Math" panose="02040503050406030204" pitchFamily="18" charset="0"/>
                              <a:ea typeface="Cambria Math" panose="02040503050406030204" pitchFamily="18" charset="0"/>
                            </a:rPr>
                            <m:t>2</m:t>
                          </m:r>
                        </m:sub>
                      </m:sSub>
                    </m:oMath>
                  </m:oMathPara>
                </a14:m>
                <a:endParaRPr lang="en-CN" sz="4000" dirty="0"/>
              </a:p>
            </p:txBody>
          </p:sp>
        </mc:Choice>
        <mc:Fallback xmlns="">
          <p:sp>
            <p:nvSpPr>
              <p:cNvPr id="10" name="TextBox 9">
                <a:extLst>
                  <a:ext uri="{FF2B5EF4-FFF2-40B4-BE49-F238E27FC236}">
                    <a16:creationId xmlns:a16="http://schemas.microsoft.com/office/drawing/2014/main" id="{41DDEEC4-C3D1-AE45-B472-FC2A6E5D4306}"/>
                  </a:ext>
                </a:extLst>
              </p:cNvPr>
              <p:cNvSpPr txBox="1">
                <a:spLocks noRot="1" noChangeAspect="1" noMove="1" noResize="1" noEditPoints="1" noAdjustHandles="1" noChangeArrowheads="1" noChangeShapeType="1" noTextEdit="1"/>
              </p:cNvSpPr>
              <p:nvPr/>
            </p:nvSpPr>
            <p:spPr>
              <a:xfrm>
                <a:off x="1867142" y="4205177"/>
                <a:ext cx="8936182" cy="1323439"/>
              </a:xfrm>
              <a:prstGeom prst="rect">
                <a:avLst/>
              </a:prstGeom>
              <a:blipFill>
                <a:blip r:embed="rId2"/>
                <a:stretch>
                  <a:fillRect b="-2857"/>
                </a:stretch>
              </a:blipFill>
            </p:spPr>
            <p:txBody>
              <a:bodyPr/>
              <a:lstStyle/>
              <a:p>
                <a:r>
                  <a:rPr lang="en-CN">
                    <a:noFill/>
                  </a:rPr>
                  <a:t> </a:t>
                </a:r>
              </a:p>
            </p:txBody>
          </p:sp>
        </mc:Fallback>
      </mc:AlternateContent>
    </p:spTree>
    <p:extLst>
      <p:ext uri="{BB962C8B-B14F-4D97-AF65-F5344CB8AC3E}">
        <p14:creationId xmlns:p14="http://schemas.microsoft.com/office/powerpoint/2010/main" val="21338599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241387-B2B4-A14A-BABA-365287418E04}"/>
              </a:ext>
            </a:extLst>
          </p:cNvPr>
          <p:cNvSpPr txBox="1"/>
          <p:nvPr/>
        </p:nvSpPr>
        <p:spPr>
          <a:xfrm>
            <a:off x="277090" y="221673"/>
            <a:ext cx="11623965" cy="646331"/>
          </a:xfrm>
          <a:prstGeom prst="rect">
            <a:avLst/>
          </a:prstGeom>
          <a:noFill/>
        </p:spPr>
        <p:txBody>
          <a:bodyPr wrap="square" rtlCol="0">
            <a:spAutoFit/>
          </a:bodyPr>
          <a:lstStyle/>
          <a:p>
            <a:r>
              <a:rPr lang="en-CN" dirty="0"/>
              <a:t>补遗二</a:t>
            </a:r>
            <a:r>
              <a:rPr lang="zh-CN" altLang="en-US" dirty="0"/>
              <a:t>：</a:t>
            </a:r>
            <a:r>
              <a:rPr lang="en-US" altLang="zh-CN" dirty="0"/>
              <a:t>An </a:t>
            </a:r>
            <a:r>
              <a:rPr lang="en-US" altLang="zh-CN" dirty="0">
                <a:solidFill>
                  <a:srgbClr val="FF0000"/>
                </a:solidFill>
              </a:rPr>
              <a:t>additive</a:t>
            </a:r>
            <a:r>
              <a:rPr lang="en-US" altLang="zh-CN" dirty="0"/>
              <a:t> thermodynamic quantity must be a </a:t>
            </a:r>
            <a:r>
              <a:rPr lang="en-US" altLang="zh-CN" dirty="0">
                <a:solidFill>
                  <a:srgbClr val="FF0000"/>
                </a:solidFill>
              </a:rPr>
              <a:t>homogeneous function </a:t>
            </a:r>
            <a:r>
              <a:rPr lang="en-US" altLang="zh-CN" dirty="0"/>
              <a:t>of the first order with respect to the </a:t>
            </a:r>
            <a:r>
              <a:rPr lang="en-US" altLang="zh-CN" dirty="0">
                <a:solidFill>
                  <a:srgbClr val="FF0000"/>
                </a:solidFill>
              </a:rPr>
              <a:t>additive</a:t>
            </a:r>
            <a:r>
              <a:rPr lang="en-US" altLang="zh-CN" dirty="0"/>
              <a:t>  variables. </a:t>
            </a:r>
            <a:endParaRPr lang="en-CN"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7160C80-EE05-6B40-9F6A-85300ED22E36}"/>
                  </a:ext>
                </a:extLst>
              </p:cNvPr>
              <p:cNvSpPr txBox="1"/>
              <p:nvPr/>
            </p:nvSpPr>
            <p:spPr>
              <a:xfrm>
                <a:off x="2438400" y="654709"/>
                <a:ext cx="6652438" cy="27440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𝑈</m:t>
                      </m:r>
                      <m:r>
                        <a:rPr lang="en-US" sz="3600" b="0" i="1" smtClean="0">
                          <a:latin typeface="Cambria Math" panose="02040503050406030204" pitchFamily="18" charset="0"/>
                        </a:rPr>
                        <m:t>=</m:t>
                      </m:r>
                      <m:r>
                        <a:rPr lang="en-US" sz="3600" b="0" i="1" smtClean="0">
                          <a:latin typeface="Cambria Math" panose="02040503050406030204" pitchFamily="18" charset="0"/>
                        </a:rPr>
                        <m:t>𝑁</m:t>
                      </m:r>
                      <m:r>
                        <a:rPr lang="en-US" sz="3600" b="0" i="1" smtClean="0">
                          <a:latin typeface="Cambria Math" panose="02040503050406030204" pitchFamily="18" charset="0"/>
                        </a:rPr>
                        <m:t> </m:t>
                      </m:r>
                      <m:r>
                        <a:rPr lang="en-US" sz="3600" b="0" i="1" smtClean="0">
                          <a:latin typeface="Cambria Math" panose="02040503050406030204" pitchFamily="18" charset="0"/>
                        </a:rPr>
                        <m:t>𝑓</m:t>
                      </m:r>
                      <m:d>
                        <m:dPr>
                          <m:ctrlPr>
                            <a:rPr lang="en-US" sz="3600" b="0" i="1" smtClean="0">
                              <a:latin typeface="Cambria Math" panose="02040503050406030204" pitchFamily="18" charset="0"/>
                            </a:rPr>
                          </m:ctrlPr>
                        </m:dPr>
                        <m:e>
                          <m:f>
                            <m:fPr>
                              <m:ctrlPr>
                                <a:rPr lang="en-US" sz="3600" b="0" i="1" smtClean="0">
                                  <a:latin typeface="Cambria Math" panose="02040503050406030204" pitchFamily="18" charset="0"/>
                                </a:rPr>
                              </m:ctrlPr>
                            </m:fPr>
                            <m:num>
                              <m:r>
                                <a:rPr lang="en-US" sz="3600" b="0" i="1" smtClean="0">
                                  <a:latin typeface="Cambria Math" panose="02040503050406030204" pitchFamily="18" charset="0"/>
                                  <a:ea typeface="Cambria Math" panose="02040503050406030204" pitchFamily="18" charset="0"/>
                                </a:rPr>
                                <m:t>𝜎</m:t>
                              </m:r>
                            </m:num>
                            <m:den>
                              <m:r>
                                <a:rPr lang="en-US" sz="3600" b="0" i="1" smtClean="0">
                                  <a:latin typeface="Cambria Math" panose="02040503050406030204" pitchFamily="18" charset="0"/>
                                </a:rPr>
                                <m:t>𝑁</m:t>
                              </m:r>
                            </m:den>
                          </m:f>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𝑉</m:t>
                              </m:r>
                            </m:num>
                            <m:den>
                              <m:r>
                                <a:rPr lang="en-US" sz="3600" b="0" i="1" smtClean="0">
                                  <a:latin typeface="Cambria Math" panose="02040503050406030204" pitchFamily="18" charset="0"/>
                                </a:rPr>
                                <m:t>𝑁</m:t>
                              </m:r>
                            </m:den>
                          </m:f>
                        </m:e>
                      </m:d>
                    </m:oMath>
                  </m:oMathPara>
                </a14:m>
                <a:endParaRPr lang="en-CN" sz="3600" dirty="0"/>
              </a:p>
              <a:p>
                <a:pPr algn="ct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𝐹</m:t>
                      </m:r>
                      <m:r>
                        <a:rPr lang="en-US" sz="3600" b="0" i="1" smtClean="0">
                          <a:latin typeface="Cambria Math" panose="02040503050406030204" pitchFamily="18" charset="0"/>
                        </a:rPr>
                        <m:t>=</m:t>
                      </m:r>
                      <m:r>
                        <a:rPr lang="en-US" sz="3600" b="0" i="1" smtClean="0">
                          <a:latin typeface="Cambria Math" panose="02040503050406030204" pitchFamily="18" charset="0"/>
                        </a:rPr>
                        <m:t>𝑁</m:t>
                      </m:r>
                      <m:r>
                        <a:rPr lang="en-US" sz="3600" b="0" i="1" smtClean="0">
                          <a:latin typeface="Cambria Math" panose="02040503050406030204" pitchFamily="18" charset="0"/>
                        </a:rPr>
                        <m:t> </m:t>
                      </m:r>
                      <m:r>
                        <a:rPr lang="en-US" sz="3600" b="0" i="1" smtClean="0">
                          <a:latin typeface="Cambria Math" panose="02040503050406030204" pitchFamily="18" charset="0"/>
                        </a:rPr>
                        <m:t>𝑓</m:t>
                      </m:r>
                      <m:d>
                        <m:dPr>
                          <m:ctrlPr>
                            <a:rPr lang="en-US" sz="3600" b="0" i="1" smtClean="0">
                              <a:latin typeface="Cambria Math" panose="02040503050406030204" pitchFamily="18" charset="0"/>
                            </a:rPr>
                          </m:ctrlPr>
                        </m:dPr>
                        <m:e>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𝑉</m:t>
                              </m:r>
                            </m:num>
                            <m:den>
                              <m:r>
                                <a:rPr lang="en-US" sz="3600" b="0" i="1" smtClean="0">
                                  <a:latin typeface="Cambria Math" panose="02040503050406030204" pitchFamily="18" charset="0"/>
                                </a:rPr>
                                <m:t>𝑁</m:t>
                              </m:r>
                            </m:den>
                          </m:f>
                          <m:r>
                            <a:rPr lang="en-US" sz="3600" b="0" i="1" smtClean="0">
                              <a:latin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𝜏</m:t>
                          </m:r>
                        </m:e>
                      </m:d>
                    </m:oMath>
                  </m:oMathPara>
                </a14:m>
                <a:endParaRPr lang="en-US" sz="3600" b="0" dirty="0"/>
              </a:p>
              <a:p>
                <a:pPr algn="ct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𝐺</m:t>
                      </m:r>
                      <m:r>
                        <a:rPr lang="en-US" sz="3600" b="0" i="1" smtClean="0">
                          <a:latin typeface="Cambria Math" panose="02040503050406030204" pitchFamily="18" charset="0"/>
                        </a:rPr>
                        <m:t>=</m:t>
                      </m:r>
                      <m:r>
                        <a:rPr lang="en-US" sz="3600" b="0" i="1" smtClean="0">
                          <a:latin typeface="Cambria Math" panose="02040503050406030204" pitchFamily="18" charset="0"/>
                        </a:rPr>
                        <m:t>𝑁</m:t>
                      </m:r>
                      <m:r>
                        <a:rPr lang="en-US" sz="3600" b="0" i="1" smtClean="0">
                          <a:latin typeface="Cambria Math" panose="02040503050406030204" pitchFamily="18" charset="0"/>
                        </a:rPr>
                        <m:t> </m:t>
                      </m:r>
                      <m:r>
                        <a:rPr lang="en-US" sz="3600" b="0" i="1" smtClean="0">
                          <a:latin typeface="Cambria Math" panose="02040503050406030204" pitchFamily="18" charset="0"/>
                        </a:rPr>
                        <m:t>𝑓</m:t>
                      </m:r>
                      <m:d>
                        <m:dPr>
                          <m:ctrlPr>
                            <a:rPr lang="en-US" sz="3600" b="0" i="1" smtClean="0">
                              <a:latin typeface="Cambria Math" panose="02040503050406030204" pitchFamily="18" charset="0"/>
                            </a:rPr>
                          </m:ctrlPr>
                        </m:dPr>
                        <m:e>
                          <m:r>
                            <a:rPr lang="en-US" sz="3600" b="0" i="1" smtClean="0">
                              <a:latin typeface="Cambria Math" panose="02040503050406030204" pitchFamily="18" charset="0"/>
                            </a:rPr>
                            <m:t>𝑝</m:t>
                          </m:r>
                          <m:r>
                            <a:rPr lang="en-US" sz="3600" b="0" i="1" smtClean="0">
                              <a:latin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𝜏</m:t>
                          </m:r>
                        </m:e>
                      </m:d>
                    </m:oMath>
                  </m:oMathPara>
                </a14:m>
                <a:endParaRPr lang="en-CN" sz="3600" dirty="0"/>
              </a:p>
            </p:txBody>
          </p:sp>
        </mc:Choice>
        <mc:Fallback xmlns="">
          <p:sp>
            <p:nvSpPr>
              <p:cNvPr id="3" name="TextBox 2">
                <a:extLst>
                  <a:ext uri="{FF2B5EF4-FFF2-40B4-BE49-F238E27FC236}">
                    <a16:creationId xmlns:a16="http://schemas.microsoft.com/office/drawing/2014/main" id="{D7160C80-EE05-6B40-9F6A-85300ED22E36}"/>
                  </a:ext>
                </a:extLst>
              </p:cNvPr>
              <p:cNvSpPr txBox="1">
                <a:spLocks noRot="1" noChangeAspect="1" noMove="1" noResize="1" noEditPoints="1" noAdjustHandles="1" noChangeArrowheads="1" noChangeShapeType="1" noTextEdit="1"/>
              </p:cNvSpPr>
              <p:nvPr/>
            </p:nvSpPr>
            <p:spPr>
              <a:xfrm>
                <a:off x="2438400" y="654709"/>
                <a:ext cx="6652438" cy="2744085"/>
              </a:xfrm>
              <a:prstGeom prst="rect">
                <a:avLst/>
              </a:prstGeom>
              <a:blipFill>
                <a:blip r:embed="rId2"/>
                <a:stretch>
                  <a:fillRect b="-5069"/>
                </a:stretch>
              </a:blipFill>
            </p:spPr>
            <p:txBody>
              <a:bodyPr/>
              <a:lstStyle/>
              <a:p>
                <a:r>
                  <a:rPr lang="en-CN">
                    <a:noFill/>
                  </a:rPr>
                  <a:t> </a:t>
                </a:r>
              </a:p>
            </p:txBody>
          </p:sp>
        </mc:Fallback>
      </mc:AlternateContent>
      <p:pic>
        <p:nvPicPr>
          <p:cNvPr id="5" name="Picture 4">
            <a:extLst>
              <a:ext uri="{FF2B5EF4-FFF2-40B4-BE49-F238E27FC236}">
                <a16:creationId xmlns:a16="http://schemas.microsoft.com/office/drawing/2014/main" id="{5FEA2C37-817D-C278-9640-ACC44FEFF254}"/>
              </a:ext>
            </a:extLst>
          </p:cNvPr>
          <p:cNvPicPr>
            <a:picLocks noChangeAspect="1"/>
          </p:cNvPicPr>
          <p:nvPr/>
        </p:nvPicPr>
        <p:blipFill>
          <a:blip r:embed="rId3"/>
          <a:stretch>
            <a:fillRect/>
          </a:stretch>
        </p:blipFill>
        <p:spPr>
          <a:xfrm>
            <a:off x="164754" y="3503993"/>
            <a:ext cx="12018112" cy="1705960"/>
          </a:xfrm>
          <a:prstGeom prst="rect">
            <a:avLst/>
          </a:prstGeom>
        </p:spPr>
      </p:pic>
    </p:spTree>
    <p:extLst>
      <p:ext uri="{BB962C8B-B14F-4D97-AF65-F5344CB8AC3E}">
        <p14:creationId xmlns:p14="http://schemas.microsoft.com/office/powerpoint/2010/main" val="8886183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241387-B2B4-A14A-BABA-365287418E04}"/>
              </a:ext>
            </a:extLst>
          </p:cNvPr>
          <p:cNvSpPr txBox="1"/>
          <p:nvPr/>
        </p:nvSpPr>
        <p:spPr>
          <a:xfrm>
            <a:off x="277090" y="221673"/>
            <a:ext cx="11623965" cy="646331"/>
          </a:xfrm>
          <a:prstGeom prst="rect">
            <a:avLst/>
          </a:prstGeom>
          <a:noFill/>
        </p:spPr>
        <p:txBody>
          <a:bodyPr wrap="square" rtlCol="0">
            <a:spAutoFit/>
          </a:bodyPr>
          <a:lstStyle/>
          <a:p>
            <a:r>
              <a:rPr lang="en-CN" dirty="0"/>
              <a:t>补遗二</a:t>
            </a:r>
            <a:r>
              <a:rPr lang="zh-CN" altLang="en-US" dirty="0"/>
              <a:t>：</a:t>
            </a:r>
            <a:r>
              <a:rPr lang="en-US" altLang="zh-CN" dirty="0">
                <a:solidFill>
                  <a:srgbClr val="FF0000"/>
                </a:solidFill>
              </a:rPr>
              <a:t>An additive thermodynamic quantity must be a homogeneous function of the first order with respect to the additive  variables. </a:t>
            </a:r>
            <a:endParaRPr lang="en-CN"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7160C80-EE05-6B40-9F6A-85300ED22E36}"/>
                  </a:ext>
                </a:extLst>
              </p:cNvPr>
              <p:cNvSpPr txBox="1"/>
              <p:nvPr/>
            </p:nvSpPr>
            <p:spPr>
              <a:xfrm>
                <a:off x="2438400" y="654709"/>
                <a:ext cx="6652438" cy="27440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𝑈</m:t>
                      </m:r>
                      <m:r>
                        <a:rPr lang="en-US" sz="3600" b="0" i="1" smtClean="0">
                          <a:latin typeface="Cambria Math" panose="02040503050406030204" pitchFamily="18" charset="0"/>
                        </a:rPr>
                        <m:t>=</m:t>
                      </m:r>
                      <m:r>
                        <a:rPr lang="en-US" sz="3600" b="0" i="1" smtClean="0">
                          <a:latin typeface="Cambria Math" panose="02040503050406030204" pitchFamily="18" charset="0"/>
                        </a:rPr>
                        <m:t>𝑁</m:t>
                      </m:r>
                      <m:r>
                        <a:rPr lang="en-US" sz="3600" b="0" i="1" smtClean="0">
                          <a:latin typeface="Cambria Math" panose="02040503050406030204" pitchFamily="18" charset="0"/>
                        </a:rPr>
                        <m:t> </m:t>
                      </m:r>
                      <m:r>
                        <a:rPr lang="en-US" sz="3600" b="0" i="1" smtClean="0">
                          <a:latin typeface="Cambria Math" panose="02040503050406030204" pitchFamily="18" charset="0"/>
                        </a:rPr>
                        <m:t>𝑓</m:t>
                      </m:r>
                      <m:d>
                        <m:dPr>
                          <m:ctrlPr>
                            <a:rPr lang="en-US" sz="3600" b="0" i="1" smtClean="0">
                              <a:latin typeface="Cambria Math" panose="02040503050406030204" pitchFamily="18" charset="0"/>
                            </a:rPr>
                          </m:ctrlPr>
                        </m:dPr>
                        <m:e>
                          <m:f>
                            <m:fPr>
                              <m:ctrlPr>
                                <a:rPr lang="en-US" sz="3600" b="0" i="1" smtClean="0">
                                  <a:latin typeface="Cambria Math" panose="02040503050406030204" pitchFamily="18" charset="0"/>
                                </a:rPr>
                              </m:ctrlPr>
                            </m:fPr>
                            <m:num>
                              <m:r>
                                <a:rPr lang="en-US" sz="3600" b="0" i="1" smtClean="0">
                                  <a:latin typeface="Cambria Math" panose="02040503050406030204" pitchFamily="18" charset="0"/>
                                  <a:ea typeface="Cambria Math" panose="02040503050406030204" pitchFamily="18" charset="0"/>
                                </a:rPr>
                                <m:t>𝜎</m:t>
                              </m:r>
                            </m:num>
                            <m:den>
                              <m:r>
                                <a:rPr lang="en-US" sz="3600" b="0" i="1" smtClean="0">
                                  <a:latin typeface="Cambria Math" panose="02040503050406030204" pitchFamily="18" charset="0"/>
                                </a:rPr>
                                <m:t>𝑁</m:t>
                              </m:r>
                            </m:den>
                          </m:f>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𝑉</m:t>
                              </m:r>
                            </m:num>
                            <m:den>
                              <m:r>
                                <a:rPr lang="en-US" sz="3600" b="0" i="1" smtClean="0">
                                  <a:latin typeface="Cambria Math" panose="02040503050406030204" pitchFamily="18" charset="0"/>
                                </a:rPr>
                                <m:t>𝑁</m:t>
                              </m:r>
                            </m:den>
                          </m:f>
                        </m:e>
                      </m:d>
                    </m:oMath>
                  </m:oMathPara>
                </a14:m>
                <a:endParaRPr lang="en-CN" sz="3600" dirty="0"/>
              </a:p>
              <a:p>
                <a:pPr algn="ct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𝐹</m:t>
                      </m:r>
                      <m:r>
                        <a:rPr lang="en-US" sz="3600" b="0" i="1" smtClean="0">
                          <a:latin typeface="Cambria Math" panose="02040503050406030204" pitchFamily="18" charset="0"/>
                        </a:rPr>
                        <m:t>=</m:t>
                      </m:r>
                      <m:r>
                        <a:rPr lang="en-US" sz="3600" b="0" i="1" smtClean="0">
                          <a:latin typeface="Cambria Math" panose="02040503050406030204" pitchFamily="18" charset="0"/>
                        </a:rPr>
                        <m:t>𝑁</m:t>
                      </m:r>
                      <m:r>
                        <a:rPr lang="en-US" sz="3600" b="0" i="1" smtClean="0">
                          <a:latin typeface="Cambria Math" panose="02040503050406030204" pitchFamily="18" charset="0"/>
                        </a:rPr>
                        <m:t> </m:t>
                      </m:r>
                      <m:r>
                        <a:rPr lang="en-US" sz="3600" b="0" i="1" smtClean="0">
                          <a:latin typeface="Cambria Math" panose="02040503050406030204" pitchFamily="18" charset="0"/>
                        </a:rPr>
                        <m:t>𝑓</m:t>
                      </m:r>
                      <m:d>
                        <m:dPr>
                          <m:ctrlPr>
                            <a:rPr lang="en-US" sz="3600" b="0" i="1" smtClean="0">
                              <a:latin typeface="Cambria Math" panose="02040503050406030204" pitchFamily="18" charset="0"/>
                            </a:rPr>
                          </m:ctrlPr>
                        </m:dPr>
                        <m:e>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𝑉</m:t>
                              </m:r>
                            </m:num>
                            <m:den>
                              <m:r>
                                <a:rPr lang="en-US" sz="3600" b="0" i="1" smtClean="0">
                                  <a:latin typeface="Cambria Math" panose="02040503050406030204" pitchFamily="18" charset="0"/>
                                </a:rPr>
                                <m:t>𝑁</m:t>
                              </m:r>
                            </m:den>
                          </m:f>
                          <m:r>
                            <a:rPr lang="en-US" sz="3600" b="0" i="1" smtClean="0">
                              <a:latin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𝜏</m:t>
                          </m:r>
                        </m:e>
                      </m:d>
                    </m:oMath>
                  </m:oMathPara>
                </a14:m>
                <a:endParaRPr lang="en-US" sz="3600" b="0" dirty="0"/>
              </a:p>
              <a:p>
                <a:pPr algn="ct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𝐺</m:t>
                      </m:r>
                      <m:r>
                        <a:rPr lang="en-US" sz="3600" b="0" i="1" smtClean="0">
                          <a:latin typeface="Cambria Math" panose="02040503050406030204" pitchFamily="18" charset="0"/>
                        </a:rPr>
                        <m:t>=</m:t>
                      </m:r>
                      <m:r>
                        <a:rPr lang="en-US" sz="3600" b="0" i="1" smtClean="0">
                          <a:latin typeface="Cambria Math" panose="02040503050406030204" pitchFamily="18" charset="0"/>
                        </a:rPr>
                        <m:t>𝑁</m:t>
                      </m:r>
                      <m:r>
                        <a:rPr lang="en-US" sz="3600" b="0" i="1" smtClean="0">
                          <a:latin typeface="Cambria Math" panose="02040503050406030204" pitchFamily="18" charset="0"/>
                        </a:rPr>
                        <m:t> </m:t>
                      </m:r>
                      <m:r>
                        <a:rPr lang="en-US" sz="3600" b="0" i="1" smtClean="0">
                          <a:latin typeface="Cambria Math" panose="02040503050406030204" pitchFamily="18" charset="0"/>
                        </a:rPr>
                        <m:t>𝑓</m:t>
                      </m:r>
                      <m:d>
                        <m:dPr>
                          <m:ctrlPr>
                            <a:rPr lang="en-US" sz="3600" b="0" i="1" smtClean="0">
                              <a:latin typeface="Cambria Math" panose="02040503050406030204" pitchFamily="18" charset="0"/>
                            </a:rPr>
                          </m:ctrlPr>
                        </m:dPr>
                        <m:e>
                          <m:r>
                            <a:rPr lang="en-US" sz="3600" b="0" i="1" smtClean="0">
                              <a:latin typeface="Cambria Math" panose="02040503050406030204" pitchFamily="18" charset="0"/>
                            </a:rPr>
                            <m:t>𝑝</m:t>
                          </m:r>
                          <m:r>
                            <a:rPr lang="en-US" sz="3600" b="0" i="1" smtClean="0">
                              <a:latin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𝜏</m:t>
                          </m:r>
                        </m:e>
                      </m:d>
                    </m:oMath>
                  </m:oMathPara>
                </a14:m>
                <a:endParaRPr lang="en-CN" sz="3600" dirty="0"/>
              </a:p>
            </p:txBody>
          </p:sp>
        </mc:Choice>
        <mc:Fallback xmlns="">
          <p:sp>
            <p:nvSpPr>
              <p:cNvPr id="3" name="TextBox 2">
                <a:extLst>
                  <a:ext uri="{FF2B5EF4-FFF2-40B4-BE49-F238E27FC236}">
                    <a16:creationId xmlns:a16="http://schemas.microsoft.com/office/drawing/2014/main" id="{D7160C80-EE05-6B40-9F6A-85300ED22E36}"/>
                  </a:ext>
                </a:extLst>
              </p:cNvPr>
              <p:cNvSpPr txBox="1">
                <a:spLocks noRot="1" noChangeAspect="1" noMove="1" noResize="1" noEditPoints="1" noAdjustHandles="1" noChangeArrowheads="1" noChangeShapeType="1" noTextEdit="1"/>
              </p:cNvSpPr>
              <p:nvPr/>
            </p:nvSpPr>
            <p:spPr>
              <a:xfrm>
                <a:off x="2438400" y="654709"/>
                <a:ext cx="6652438" cy="2744085"/>
              </a:xfrm>
              <a:prstGeom prst="rect">
                <a:avLst/>
              </a:prstGeom>
              <a:blipFill>
                <a:blip r:embed="rId2"/>
                <a:stretch>
                  <a:fillRect b="-5069"/>
                </a:stretch>
              </a:blipFill>
            </p:spPr>
            <p:txBody>
              <a:bodyPr/>
              <a:lstStyle/>
              <a:p>
                <a:r>
                  <a:rPr lang="en-CN">
                    <a:noFill/>
                  </a:rPr>
                  <a:t> </a:t>
                </a:r>
              </a:p>
            </p:txBody>
          </p:sp>
        </mc:Fallback>
      </mc:AlternateContent>
      <p:pic>
        <p:nvPicPr>
          <p:cNvPr id="5" name="Picture 4">
            <a:extLst>
              <a:ext uri="{FF2B5EF4-FFF2-40B4-BE49-F238E27FC236}">
                <a16:creationId xmlns:a16="http://schemas.microsoft.com/office/drawing/2014/main" id="{5FEA2C37-817D-C278-9640-ACC44FEFF254}"/>
              </a:ext>
            </a:extLst>
          </p:cNvPr>
          <p:cNvPicPr>
            <a:picLocks noChangeAspect="1"/>
          </p:cNvPicPr>
          <p:nvPr/>
        </p:nvPicPr>
        <p:blipFill>
          <a:blip r:embed="rId3"/>
          <a:stretch>
            <a:fillRect/>
          </a:stretch>
        </p:blipFill>
        <p:spPr>
          <a:xfrm>
            <a:off x="1526363" y="3429000"/>
            <a:ext cx="7772400" cy="1103285"/>
          </a:xfrm>
          <a:prstGeom prst="rect">
            <a:avLst/>
          </a:prstGeom>
        </p:spPr>
      </p:pic>
      <p:pic>
        <p:nvPicPr>
          <p:cNvPr id="7" name="Picture 6">
            <a:extLst>
              <a:ext uri="{FF2B5EF4-FFF2-40B4-BE49-F238E27FC236}">
                <a16:creationId xmlns:a16="http://schemas.microsoft.com/office/drawing/2014/main" id="{D113468D-310D-A2A8-DEF3-55A5FE5F1D43}"/>
              </a:ext>
            </a:extLst>
          </p:cNvPr>
          <p:cNvPicPr>
            <a:picLocks noChangeAspect="1"/>
          </p:cNvPicPr>
          <p:nvPr/>
        </p:nvPicPr>
        <p:blipFill>
          <a:blip r:embed="rId4"/>
          <a:stretch>
            <a:fillRect/>
          </a:stretch>
        </p:blipFill>
        <p:spPr>
          <a:xfrm>
            <a:off x="1063255" y="68123"/>
            <a:ext cx="10359656" cy="6721754"/>
          </a:xfrm>
          <a:prstGeom prst="rect">
            <a:avLst/>
          </a:prstGeom>
        </p:spPr>
      </p:pic>
    </p:spTree>
    <p:extLst>
      <p:ext uri="{BB962C8B-B14F-4D97-AF65-F5344CB8AC3E}">
        <p14:creationId xmlns:p14="http://schemas.microsoft.com/office/powerpoint/2010/main" val="14008296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2" name="Table 3">
                <a:extLst>
                  <a:ext uri="{FF2B5EF4-FFF2-40B4-BE49-F238E27FC236}">
                    <a16:creationId xmlns:a16="http://schemas.microsoft.com/office/drawing/2014/main" id="{004046FC-2B2A-8F47-8E35-4D5043AFB02E}"/>
                  </a:ext>
                </a:extLst>
              </p:cNvPr>
              <p:cNvGraphicFramePr>
                <a:graphicFrameLocks noGrp="1"/>
              </p:cNvGraphicFramePr>
              <p:nvPr>
                <p:extLst>
                  <p:ext uri="{D42A27DB-BD31-4B8C-83A1-F6EECF244321}">
                    <p14:modId xmlns:p14="http://schemas.microsoft.com/office/powerpoint/2010/main" val="22745942"/>
                  </p:ext>
                </p:extLst>
              </p:nvPr>
            </p:nvGraphicFramePr>
            <p:xfrm>
              <a:off x="1510143" y="294178"/>
              <a:ext cx="9093200" cy="3159608"/>
            </p:xfrm>
            <a:graphic>
              <a:graphicData uri="http://schemas.openxmlformats.org/drawingml/2006/table">
                <a:tbl>
                  <a:tblPr firstRow="1" bandRow="1">
                    <a:tableStyleId>{5C22544A-7EE6-4342-B048-85BDC9FD1C3A}</a:tableStyleId>
                  </a:tblPr>
                  <a:tblGrid>
                    <a:gridCol w="1818640">
                      <a:extLst>
                        <a:ext uri="{9D8B030D-6E8A-4147-A177-3AD203B41FA5}">
                          <a16:colId xmlns:a16="http://schemas.microsoft.com/office/drawing/2014/main" val="1881081285"/>
                        </a:ext>
                      </a:extLst>
                    </a:gridCol>
                    <a:gridCol w="1818640">
                      <a:extLst>
                        <a:ext uri="{9D8B030D-6E8A-4147-A177-3AD203B41FA5}">
                          <a16:colId xmlns:a16="http://schemas.microsoft.com/office/drawing/2014/main" val="1242995189"/>
                        </a:ext>
                      </a:extLst>
                    </a:gridCol>
                    <a:gridCol w="1818640">
                      <a:extLst>
                        <a:ext uri="{9D8B030D-6E8A-4147-A177-3AD203B41FA5}">
                          <a16:colId xmlns:a16="http://schemas.microsoft.com/office/drawing/2014/main" val="3250826949"/>
                        </a:ext>
                      </a:extLst>
                    </a:gridCol>
                    <a:gridCol w="1818640">
                      <a:extLst>
                        <a:ext uri="{9D8B030D-6E8A-4147-A177-3AD203B41FA5}">
                          <a16:colId xmlns:a16="http://schemas.microsoft.com/office/drawing/2014/main" val="3979781198"/>
                        </a:ext>
                      </a:extLst>
                    </a:gridCol>
                    <a:gridCol w="1818640">
                      <a:extLst>
                        <a:ext uri="{9D8B030D-6E8A-4147-A177-3AD203B41FA5}">
                          <a16:colId xmlns:a16="http://schemas.microsoft.com/office/drawing/2014/main" val="2643297378"/>
                        </a:ext>
                      </a:extLst>
                    </a:gridCol>
                  </a:tblGrid>
                  <a:tr h="789902">
                    <a:tc>
                      <a:txBody>
                        <a:bodyPr/>
                        <a:lstStyle/>
                        <a:p>
                          <a:endParaRPr lang="en-C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𝝈</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𝑼</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𝑼</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𝝈</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𝑭</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𝝉</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𝑮</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𝝉</m:t>
                                </m:r>
                                <m:r>
                                  <a:rPr lang="en-US" b="1" i="1" smtClean="0">
                                    <a:solidFill>
                                      <a:srgbClr val="FF0000"/>
                                    </a:solidFill>
                                    <a:latin typeface="Cambria Math" panose="02040503050406030204" pitchFamily="18" charset="0"/>
                                    <a:ea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𝒑</m:t>
                                </m:r>
                                <m:r>
                                  <a:rPr lang="en-US" b="1" i="1" smtClean="0">
                                    <a:solidFill>
                                      <a:srgbClr val="FF0000"/>
                                    </a:solidFill>
                                    <a:latin typeface="Cambria Math" panose="02040503050406030204" pitchFamily="18" charset="0"/>
                                    <a:ea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𝑵</m:t>
                                </m:r>
                                <m:r>
                                  <a:rPr lang="en-US" b="1" i="1" smtClean="0">
                                    <a:solidFill>
                                      <a:srgbClr val="FF0000"/>
                                    </a:solidFill>
                                    <a:latin typeface="Cambria Math" panose="02040503050406030204" pitchFamily="18" charset="0"/>
                                  </a:rPr>
                                  <m:t>)</m:t>
                                </m:r>
                              </m:oMath>
                            </m:oMathPara>
                          </a14:m>
                          <a:endParaRPr lang="en-CN" dirty="0">
                            <a:solidFill>
                              <a:srgbClr val="FF0000"/>
                            </a:solidFill>
                          </a:endParaRP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5300713"/>
                      </a:ext>
                    </a:extLst>
                  </a:tr>
                  <a:tr h="789902">
                    <a:tc>
                      <a:txBody>
                        <a:bodyPr/>
                        <a:lstStyle/>
                        <a:p>
                          <a:pPr algn="ctr"/>
                          <a:endParaRPr lang="en-CN"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𝜏</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CN"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1</m:t>
                                    </m:r>
                                  </m:num>
                                  <m:den>
                                    <m:r>
                                      <a:rPr lang="en-CN" i="1" smtClean="0">
                                        <a:solidFill>
                                          <a:schemeClr val="tx1"/>
                                        </a:solidFill>
                                        <a:latin typeface="Cambria Math" panose="02040503050406030204" pitchFamily="18" charset="0"/>
                                        <a:ea typeface="Cambria Math" panose="02040503050406030204" pitchFamily="18" charset="0"/>
                                      </a:rPr>
                                      <m:t>𝜏</m:t>
                                    </m:r>
                                  </m:den>
                                </m:f>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𝜎</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den>
                                        </m:f>
                                      </m:e>
                                    </m:d>
                                  </m:e>
                                  <m:sub>
                                    <m:r>
                                      <a:rPr lang="en-US" b="0" i="1" smtClean="0">
                                        <a:solidFill>
                                          <a:schemeClr val="tx1"/>
                                        </a:solidFill>
                                        <a:latin typeface="Cambria Math" panose="02040503050406030204" pitchFamily="18" charset="0"/>
                                      </a:rPr>
                                      <m:t>𝑉</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𝜏</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𝜎</m:t>
                                            </m:r>
                                          </m:den>
                                        </m:f>
                                      </m:e>
                                    </m:d>
                                  </m:e>
                                  <m:sub>
                                    <m:r>
                                      <a:rPr lang="en-US" b="0" i="1" smtClean="0">
                                        <a:solidFill>
                                          <a:schemeClr val="tx1"/>
                                        </a:solidFill>
                                        <a:latin typeface="Cambria Math" panose="02040503050406030204" pitchFamily="18" charset="0"/>
                                      </a:rPr>
                                      <m:t>𝑉</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1800" b="0" i="1" smtClean="0">
                                        <a:solidFill>
                                          <a:srgbClr val="7030A0"/>
                                        </a:solidFill>
                                        <a:latin typeface="Cambria Math" panose="02040503050406030204" pitchFamily="18" charset="0"/>
                                      </a:rPr>
                                    </m:ctrlPr>
                                  </m:sSubPr>
                                  <m:e>
                                    <m:r>
                                      <a:rPr lang="en-US" sz="1800" b="0" i="1" smtClean="0">
                                        <a:solidFill>
                                          <a:srgbClr val="7030A0"/>
                                        </a:solidFill>
                                        <a:latin typeface="Cambria Math" panose="02040503050406030204" pitchFamily="18" charset="0"/>
                                        <a:ea typeface="Cambria Math" panose="02040503050406030204" pitchFamily="18" charset="0"/>
                                      </a:rPr>
                                      <m:t>𝜎</m:t>
                                    </m:r>
                                    <m:r>
                                      <a:rPr lang="en-US" sz="1800" b="0" i="1" smtClean="0">
                                        <a:solidFill>
                                          <a:srgbClr val="7030A0"/>
                                        </a:solidFill>
                                        <a:latin typeface="Cambria Math" panose="02040503050406030204" pitchFamily="18" charset="0"/>
                                        <a:ea typeface="Cambria Math" panose="02040503050406030204" pitchFamily="18" charset="0"/>
                                      </a:rPr>
                                      <m:t>=−</m:t>
                                    </m:r>
                                    <m:d>
                                      <m:dPr>
                                        <m:ctrlPr>
                                          <a:rPr lang="en-US" sz="1800" b="0" i="1" smtClean="0">
                                            <a:solidFill>
                                              <a:srgbClr val="7030A0"/>
                                            </a:solidFill>
                                            <a:latin typeface="Cambria Math" panose="02040503050406030204" pitchFamily="18" charset="0"/>
                                          </a:rPr>
                                        </m:ctrlPr>
                                      </m:dPr>
                                      <m:e>
                                        <m:f>
                                          <m:fPr>
                                            <m:ctrlPr>
                                              <a:rPr lang="en-US" sz="1800" b="0" i="1" smtClean="0">
                                                <a:solidFill>
                                                  <a:srgbClr val="7030A0"/>
                                                </a:solidFill>
                                                <a:latin typeface="Cambria Math" panose="02040503050406030204" pitchFamily="18" charset="0"/>
                                              </a:rPr>
                                            </m:ctrlPr>
                                          </m:fPr>
                                          <m:num>
                                            <m:r>
                                              <a:rPr lang="en-US" sz="1800" b="0" i="1" smtClean="0">
                                                <a:solidFill>
                                                  <a:srgbClr val="7030A0"/>
                                                </a:solidFill>
                                                <a:latin typeface="Cambria Math" panose="02040503050406030204" pitchFamily="18" charset="0"/>
                                              </a:rPr>
                                              <m:t>𝜕</m:t>
                                            </m:r>
                                            <m:r>
                                              <a:rPr lang="en-US" sz="1800" b="0" i="1" smtClean="0">
                                                <a:solidFill>
                                                  <a:srgbClr val="7030A0"/>
                                                </a:solidFill>
                                                <a:latin typeface="Cambria Math" panose="02040503050406030204" pitchFamily="18" charset="0"/>
                                              </a:rPr>
                                              <m:t> </m:t>
                                            </m:r>
                                            <m:r>
                                              <a:rPr lang="en-US" sz="1800" b="0" i="1" smtClean="0">
                                                <a:solidFill>
                                                  <a:srgbClr val="7030A0"/>
                                                </a:solidFill>
                                                <a:latin typeface="Cambria Math" panose="02040503050406030204" pitchFamily="18" charset="0"/>
                                              </a:rPr>
                                              <m:t>𝐹</m:t>
                                            </m:r>
                                          </m:num>
                                          <m:den>
                                            <m:r>
                                              <a:rPr lang="en-US" sz="1800" b="0" i="1" smtClean="0">
                                                <a:solidFill>
                                                  <a:srgbClr val="7030A0"/>
                                                </a:solidFill>
                                                <a:latin typeface="Cambria Math" panose="02040503050406030204" pitchFamily="18" charset="0"/>
                                              </a:rPr>
                                              <m:t>𝜕</m:t>
                                            </m:r>
                                            <m:r>
                                              <a:rPr lang="en-US" sz="1800" b="0" i="1" smtClean="0">
                                                <a:solidFill>
                                                  <a:srgbClr val="7030A0"/>
                                                </a:solidFill>
                                                <a:latin typeface="Cambria Math" panose="02040503050406030204" pitchFamily="18" charset="0"/>
                                              </a:rPr>
                                              <m:t> </m:t>
                                            </m:r>
                                            <m:r>
                                              <a:rPr lang="en-US" sz="1800" b="0" i="1" smtClean="0">
                                                <a:solidFill>
                                                  <a:srgbClr val="7030A0"/>
                                                </a:solidFill>
                                                <a:latin typeface="Cambria Math" panose="02040503050406030204" pitchFamily="18" charset="0"/>
                                                <a:ea typeface="Cambria Math" panose="02040503050406030204" pitchFamily="18" charset="0"/>
                                              </a:rPr>
                                              <m:t>𝜏</m:t>
                                            </m:r>
                                          </m:den>
                                        </m:f>
                                      </m:e>
                                    </m:d>
                                  </m:e>
                                  <m:sub>
                                    <m:r>
                                      <a:rPr lang="en-US" sz="1800" b="0" i="1" smtClean="0">
                                        <a:solidFill>
                                          <a:srgbClr val="7030A0"/>
                                        </a:solidFill>
                                        <a:latin typeface="Cambria Math" panose="02040503050406030204" pitchFamily="18" charset="0"/>
                                      </a:rPr>
                                      <m:t>𝑉</m:t>
                                    </m:r>
                                    <m:r>
                                      <a:rPr lang="en-US" sz="1800" b="0" i="1" smtClean="0">
                                        <a:solidFill>
                                          <a:srgbClr val="7030A0"/>
                                        </a:solidFill>
                                        <a:latin typeface="Cambria Math" panose="02040503050406030204" pitchFamily="18" charset="0"/>
                                      </a:rPr>
                                      <m:t>,</m:t>
                                    </m:r>
                                    <m:r>
                                      <a:rPr lang="en-US" sz="1800" b="0" i="1" smtClean="0">
                                        <a:solidFill>
                                          <a:srgbClr val="7030A0"/>
                                        </a:solidFill>
                                        <a:latin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rgbClr val="7030A0"/>
                                    </a:solidFill>
                                    <a:latin typeface="Cambria Math" panose="02040503050406030204" pitchFamily="18" charset="0"/>
                                    <a:ea typeface="Cambria Math" panose="02040503050406030204" pitchFamily="18" charset="0"/>
                                  </a:rPr>
                                  <m:t>𝜎</m:t>
                                </m:r>
                                <m:r>
                                  <a:rPr lang="en-US" b="0" i="1" smtClean="0">
                                    <a:solidFill>
                                      <a:srgbClr val="7030A0"/>
                                    </a:solidFill>
                                    <a:latin typeface="Cambria Math" panose="02040503050406030204" pitchFamily="18" charset="0"/>
                                    <a:ea typeface="Cambria Math" panose="02040503050406030204" pitchFamily="18" charset="0"/>
                                  </a:rPr>
                                  <m:t>=−</m:t>
                                </m:r>
                                <m:sSub>
                                  <m:sSubPr>
                                    <m:ctrlPr>
                                      <a:rPr lang="en-US" b="0" i="1" smtClean="0">
                                        <a:solidFill>
                                          <a:srgbClr val="7030A0"/>
                                        </a:solidFill>
                                        <a:latin typeface="Cambria Math" panose="02040503050406030204" pitchFamily="18" charset="0"/>
                                        <a:ea typeface="Cambria Math" panose="02040503050406030204" pitchFamily="18" charset="0"/>
                                      </a:rPr>
                                    </m:ctrlPr>
                                  </m:sSubPr>
                                  <m:e>
                                    <m:d>
                                      <m:dPr>
                                        <m:ctrlPr>
                                          <a:rPr lang="en-US" b="0" i="1" smtClean="0">
                                            <a:solidFill>
                                              <a:srgbClr val="7030A0"/>
                                            </a:solidFill>
                                            <a:latin typeface="Cambria Math" panose="02040503050406030204" pitchFamily="18" charset="0"/>
                                            <a:ea typeface="Cambria Math" panose="02040503050406030204" pitchFamily="18" charset="0"/>
                                          </a:rPr>
                                        </m:ctrlPr>
                                      </m:dPr>
                                      <m:e>
                                        <m:f>
                                          <m:fPr>
                                            <m:ctrlPr>
                                              <a:rPr lang="en-US" b="0" i="1" smtClean="0">
                                                <a:solidFill>
                                                  <a:srgbClr val="7030A0"/>
                                                </a:solidFill>
                                                <a:latin typeface="Cambria Math" panose="02040503050406030204" pitchFamily="18" charset="0"/>
                                                <a:ea typeface="Cambria Math" panose="02040503050406030204" pitchFamily="18" charset="0"/>
                                              </a:rPr>
                                            </m:ctrlPr>
                                          </m:fPr>
                                          <m:num>
                                            <m:r>
                                              <a:rPr lang="en-US" b="0" i="1" smtClean="0">
                                                <a:solidFill>
                                                  <a:srgbClr val="7030A0"/>
                                                </a:solidFill>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 </m:t>
                                            </m:r>
                                            <m:r>
                                              <a:rPr lang="en-US" b="0" i="1" smtClean="0">
                                                <a:solidFill>
                                                  <a:srgbClr val="7030A0"/>
                                                </a:solidFill>
                                                <a:latin typeface="Cambria Math" panose="02040503050406030204" pitchFamily="18" charset="0"/>
                                                <a:ea typeface="Cambria Math" panose="02040503050406030204" pitchFamily="18" charset="0"/>
                                              </a:rPr>
                                              <m:t>𝐺</m:t>
                                            </m:r>
                                          </m:num>
                                          <m:den>
                                            <m:r>
                                              <a:rPr lang="en-US" b="0" i="1" smtClean="0">
                                                <a:solidFill>
                                                  <a:srgbClr val="7030A0"/>
                                                </a:solidFill>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 </m:t>
                                            </m:r>
                                            <m:r>
                                              <a:rPr lang="en-US" b="0" i="1" smtClean="0">
                                                <a:solidFill>
                                                  <a:srgbClr val="7030A0"/>
                                                </a:solidFill>
                                                <a:latin typeface="Cambria Math" panose="02040503050406030204" pitchFamily="18" charset="0"/>
                                                <a:ea typeface="Cambria Math" panose="02040503050406030204" pitchFamily="18" charset="0"/>
                                              </a:rPr>
                                              <m:t>𝜏</m:t>
                                            </m:r>
                                          </m:den>
                                        </m:f>
                                      </m:e>
                                    </m:d>
                                  </m:e>
                                  <m:sub>
                                    <m:r>
                                      <a:rPr lang="en-US" b="0" i="1" smtClean="0">
                                        <a:solidFill>
                                          <a:srgbClr val="7030A0"/>
                                        </a:solidFill>
                                        <a:latin typeface="Cambria Math" panose="02040503050406030204" pitchFamily="18" charset="0"/>
                                        <a:ea typeface="Cambria Math" panose="02040503050406030204" pitchFamily="18" charset="0"/>
                                      </a:rPr>
                                      <m:t>𝑝</m:t>
                                    </m:r>
                                    <m:r>
                                      <a:rPr lang="en-US" b="0" i="1" smtClean="0">
                                        <a:solidFill>
                                          <a:srgbClr val="7030A0"/>
                                        </a:solidFill>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249"/>
                      </a:ext>
                    </a:extLst>
                  </a:tr>
                  <a:tr h="789902">
                    <a:tc>
                      <a:txBody>
                        <a:bodyPr/>
                        <a:lstStyle/>
                        <a:p>
                          <a:pPr algn="ctr"/>
                          <a:endParaRPr lang="en-US" b="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𝑝</m:t>
                                    </m:r>
                                  </m:num>
                                  <m:den>
                                    <m:r>
                                      <a:rPr lang="en-US" b="0" i="1" smtClean="0">
                                        <a:solidFill>
                                          <a:schemeClr val="tx1"/>
                                        </a:solidFill>
                                        <a:latin typeface="Cambria Math" panose="02040503050406030204" pitchFamily="18" charset="0"/>
                                        <a:ea typeface="Cambria Math" panose="02040503050406030204" pitchFamily="18" charset="0"/>
                                      </a:rPr>
                                      <m:t>𝜏</m:t>
                                    </m:r>
                                  </m:den>
                                </m:f>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𝜎</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𝑉</m:t>
                                            </m:r>
                                          </m:den>
                                        </m:f>
                                      </m:e>
                                    </m:d>
                                  </m:e>
                                  <m:sub>
                                    <m:r>
                                      <a:rPr lang="en-US" b="0" i="1" smtClean="0">
                                        <a:solidFill>
                                          <a:schemeClr val="tx1"/>
                                        </a:solidFill>
                                        <a:latin typeface="Cambria Math" panose="02040503050406030204" pitchFamily="18" charset="0"/>
                                      </a:rPr>
                                      <m:t>𝑈</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𝑝</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𝑉</m:t>
                                            </m:r>
                                          </m:den>
                                        </m:f>
                                      </m:e>
                                    </m:d>
                                  </m:e>
                                  <m:sub>
                                    <m:r>
                                      <a:rPr lang="en-US" b="0" i="1" smtClean="0">
                                        <a:solidFill>
                                          <a:schemeClr val="tx1"/>
                                        </a:solidFill>
                                        <a:latin typeface="Cambria Math" panose="02040503050406030204" pitchFamily="18" charset="0"/>
                                        <a:ea typeface="Cambria Math" panose="02040503050406030204" pitchFamily="18" charset="0"/>
                                      </a:rPr>
                                      <m:t>𝜎</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𝑝</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𝐹</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𝑉</m:t>
                                            </m:r>
                                          </m:den>
                                        </m:f>
                                      </m:e>
                                    </m:d>
                                  </m:e>
                                  <m:sub>
                                    <m:r>
                                      <a:rPr lang="en-US" b="0" i="1" smtClean="0">
                                        <a:solidFill>
                                          <a:schemeClr val="tx1"/>
                                        </a:solidFill>
                                        <a:latin typeface="Cambria Math" panose="02040503050406030204" pitchFamily="18" charset="0"/>
                                        <a:ea typeface="Cambria Math" panose="02040503050406030204" pitchFamily="18" charset="0"/>
                                      </a:rPr>
                                      <m:t>𝜏</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b="0" i="1" smtClean="0">
                                    <a:solidFill>
                                      <a:srgbClr val="7030A0"/>
                                    </a:solidFill>
                                    <a:latin typeface="Cambria Math" panose="02040503050406030204" pitchFamily="18" charset="0"/>
                                  </a:rPr>
                                  <m:t>𝑉</m:t>
                                </m:r>
                                <m:r>
                                  <a:rPr lang="en-US" b="0" i="1" smtClean="0">
                                    <a:solidFill>
                                      <a:srgbClr val="7030A0"/>
                                    </a:solidFill>
                                    <a:latin typeface="Cambria Math" panose="02040503050406030204" pitchFamily="18" charset="0"/>
                                  </a:rPr>
                                  <m:t>=</m:t>
                                </m:r>
                                <m:sSub>
                                  <m:sSubPr>
                                    <m:ctrlPr>
                                      <a:rPr lang="en-US" b="0" i="1" smtClean="0">
                                        <a:solidFill>
                                          <a:srgbClr val="7030A0"/>
                                        </a:solidFill>
                                        <a:latin typeface="Cambria Math" panose="02040503050406030204" pitchFamily="18" charset="0"/>
                                      </a:rPr>
                                    </m:ctrlPr>
                                  </m:sSubPr>
                                  <m:e>
                                    <m:d>
                                      <m:dPr>
                                        <m:ctrlPr>
                                          <a:rPr lang="en-US" b="0" i="1" smtClean="0">
                                            <a:solidFill>
                                              <a:srgbClr val="7030A0"/>
                                            </a:solidFill>
                                            <a:latin typeface="Cambria Math" panose="02040503050406030204" pitchFamily="18" charset="0"/>
                                          </a:rPr>
                                        </m:ctrlPr>
                                      </m:dPr>
                                      <m:e>
                                        <m:f>
                                          <m:fPr>
                                            <m:ctrlPr>
                                              <a:rPr lang="en-US" b="0" i="1" smtClean="0">
                                                <a:solidFill>
                                                  <a:srgbClr val="7030A0"/>
                                                </a:solidFill>
                                                <a:latin typeface="Cambria Math" panose="02040503050406030204" pitchFamily="18" charset="0"/>
                                              </a:rPr>
                                            </m:ctrlPr>
                                          </m:fPr>
                                          <m:num>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 </m:t>
                                            </m:r>
                                            <m:r>
                                              <a:rPr lang="en-US" b="0" i="1" smtClean="0">
                                                <a:solidFill>
                                                  <a:srgbClr val="7030A0"/>
                                                </a:solidFill>
                                                <a:latin typeface="Cambria Math" panose="02040503050406030204" pitchFamily="18" charset="0"/>
                                              </a:rPr>
                                              <m:t>𝐺</m:t>
                                            </m:r>
                                          </m:num>
                                          <m:den>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 </m:t>
                                            </m:r>
                                            <m:r>
                                              <a:rPr lang="en-US" b="0" i="1" smtClean="0">
                                                <a:solidFill>
                                                  <a:srgbClr val="7030A0"/>
                                                </a:solidFill>
                                                <a:latin typeface="Cambria Math" panose="02040503050406030204" pitchFamily="18" charset="0"/>
                                              </a:rPr>
                                              <m:t>𝑝</m:t>
                                            </m:r>
                                          </m:den>
                                        </m:f>
                                      </m:e>
                                    </m:d>
                                  </m:e>
                                  <m:sub>
                                    <m:r>
                                      <a:rPr lang="en-US" b="0" i="1" smtClean="0">
                                        <a:solidFill>
                                          <a:srgbClr val="7030A0"/>
                                        </a:solidFill>
                                        <a:latin typeface="Cambria Math" panose="02040503050406030204" pitchFamily="18" charset="0"/>
                                        <a:ea typeface="Cambria Math" panose="02040503050406030204" pitchFamily="18" charset="0"/>
                                      </a:rPr>
                                      <m:t>𝜏</m:t>
                                    </m:r>
                                    <m:r>
                                      <a:rPr lang="en-US" b="0" i="1" smtClean="0">
                                        <a:solidFill>
                                          <a:srgbClr val="7030A0"/>
                                        </a:solidFill>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6354381"/>
                      </a:ext>
                    </a:extLst>
                  </a:tr>
                  <a:tr h="789902">
                    <a:tc>
                      <a:txBody>
                        <a:bodyPr/>
                        <a:lstStyle/>
                        <a:p>
                          <a:pPr algn="ctr"/>
                          <a:endParaRPr lang="en-CN"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𝜇</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m:t>
                                </m:r>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ea typeface="Cambria Math" panose="02040503050406030204" pitchFamily="18" charset="0"/>
                                      </a:rPr>
                                      <m:t>𝜇</m:t>
                                    </m:r>
                                  </m:num>
                                  <m:den>
                                    <m:r>
                                      <a:rPr lang="en-US" b="0" i="1" smtClean="0">
                                        <a:solidFill>
                                          <a:schemeClr val="tx1"/>
                                        </a:solidFill>
                                        <a:latin typeface="Cambria Math" panose="02040503050406030204" pitchFamily="18" charset="0"/>
                                        <a:ea typeface="Cambria Math" panose="02040503050406030204" pitchFamily="18" charset="0"/>
                                      </a:rPr>
                                      <m:t>𝜏</m:t>
                                    </m:r>
                                  </m:den>
                                </m:f>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𝜎</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𝑁</m:t>
                                            </m:r>
                                          </m:den>
                                        </m:f>
                                      </m:e>
                                    </m:d>
                                  </m:e>
                                  <m:sub>
                                    <m:r>
                                      <a:rPr lang="en-US" b="0" i="1" smtClean="0">
                                        <a:solidFill>
                                          <a:schemeClr val="tx1"/>
                                        </a:solidFill>
                                        <a:latin typeface="Cambria Math" panose="02040503050406030204" pitchFamily="18" charset="0"/>
                                      </a:rPr>
                                      <m:t>𝑈</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𝑉</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𝜇</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𝑁</m:t>
                                            </m:r>
                                          </m:den>
                                        </m:f>
                                      </m:e>
                                    </m:d>
                                  </m:e>
                                  <m:sub>
                                    <m:r>
                                      <a:rPr lang="en-US" b="0" i="1" smtClean="0">
                                        <a:solidFill>
                                          <a:schemeClr val="tx1"/>
                                        </a:solidFill>
                                        <a:latin typeface="Cambria Math" panose="02040503050406030204" pitchFamily="18" charset="0"/>
                                        <a:ea typeface="Cambria Math" panose="02040503050406030204" pitchFamily="18" charset="0"/>
                                      </a:rPr>
                                      <m:t>𝜎</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𝑉</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𝜇</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𝐹</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𝑁</m:t>
                                            </m:r>
                                          </m:den>
                                        </m:f>
                                      </m:e>
                                    </m:d>
                                  </m:e>
                                  <m:sub>
                                    <m:r>
                                      <a:rPr lang="en-US" b="0" i="1" smtClean="0">
                                        <a:solidFill>
                                          <a:schemeClr val="tx1"/>
                                        </a:solidFill>
                                        <a:latin typeface="Cambria Math" panose="02040503050406030204" pitchFamily="18" charset="0"/>
                                        <a:ea typeface="Cambria Math" panose="02040503050406030204" pitchFamily="18" charset="0"/>
                                      </a:rPr>
                                      <m:t>𝜏</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𝑉</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rgbClr val="FF0000"/>
                                    </a:solidFill>
                                    <a:latin typeface="Cambria Math" panose="02040503050406030204" pitchFamily="18" charset="0"/>
                                    <a:ea typeface="Cambria Math" panose="02040503050406030204" pitchFamily="18" charset="0"/>
                                  </a:rPr>
                                  <m:t>𝜇</m:t>
                                </m:r>
                                <m:r>
                                  <a:rPr lang="en-US" b="0" i="1" smtClean="0">
                                    <a:solidFill>
                                      <a:srgbClr val="FF0000"/>
                                    </a:solidFill>
                                    <a:latin typeface="Cambria Math" panose="02040503050406030204" pitchFamily="18" charset="0"/>
                                    <a:ea typeface="Cambria Math" panose="02040503050406030204" pitchFamily="18" charset="0"/>
                                  </a:rPr>
                                  <m:t>=</m:t>
                                </m:r>
                                <m:sSub>
                                  <m:sSubPr>
                                    <m:ctrlPr>
                                      <a:rPr lang="en-US" b="0" i="1" smtClean="0">
                                        <a:solidFill>
                                          <a:srgbClr val="FF0000"/>
                                        </a:solidFill>
                                        <a:latin typeface="Cambria Math" panose="02040503050406030204" pitchFamily="18" charset="0"/>
                                        <a:ea typeface="Cambria Math" panose="02040503050406030204" pitchFamily="18" charset="0"/>
                                      </a:rPr>
                                    </m:ctrlPr>
                                  </m:sSubPr>
                                  <m:e>
                                    <m:d>
                                      <m:dPr>
                                        <m:ctrlPr>
                                          <a:rPr lang="en-US" b="0" i="1" smtClean="0">
                                            <a:solidFill>
                                              <a:srgbClr val="FF0000"/>
                                            </a:solidFill>
                                            <a:latin typeface="Cambria Math" panose="02040503050406030204" pitchFamily="18" charset="0"/>
                                            <a:ea typeface="Cambria Math" panose="02040503050406030204" pitchFamily="18" charset="0"/>
                                          </a:rPr>
                                        </m:ctrlPr>
                                      </m:dPr>
                                      <m:e>
                                        <m:f>
                                          <m:fPr>
                                            <m:ctrlPr>
                                              <a:rPr lang="en-US" b="0" i="1" smtClean="0">
                                                <a:solidFill>
                                                  <a:srgbClr val="FF0000"/>
                                                </a:solidFill>
                                                <a:latin typeface="Cambria Math" panose="02040503050406030204" pitchFamily="18" charset="0"/>
                                                <a:ea typeface="Cambria Math" panose="02040503050406030204" pitchFamily="18" charset="0"/>
                                              </a:rPr>
                                            </m:ctrlPr>
                                          </m:fPr>
                                          <m:num>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𝐺</m:t>
                                            </m:r>
                                          </m:num>
                                          <m:den>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𝑁</m:t>
                                            </m:r>
                                          </m:den>
                                        </m:f>
                                      </m:e>
                                    </m:d>
                                  </m:e>
                                  <m:sub>
                                    <m:r>
                                      <a:rPr lang="en-US" b="0" i="1" smtClean="0">
                                        <a:solidFill>
                                          <a:srgbClr val="FF0000"/>
                                        </a:solidFill>
                                        <a:latin typeface="Cambria Math" panose="02040503050406030204" pitchFamily="18" charset="0"/>
                                        <a:ea typeface="Cambria Math" panose="02040503050406030204" pitchFamily="18" charset="0"/>
                                      </a:rPr>
                                      <m:t>𝜏</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𝑝</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5672016"/>
                      </a:ext>
                    </a:extLst>
                  </a:tr>
                </a:tbl>
              </a:graphicData>
            </a:graphic>
          </p:graphicFrame>
        </mc:Choice>
        <mc:Fallback>
          <p:graphicFrame>
            <p:nvGraphicFramePr>
              <p:cNvPr id="2" name="Table 3">
                <a:extLst>
                  <a:ext uri="{FF2B5EF4-FFF2-40B4-BE49-F238E27FC236}">
                    <a16:creationId xmlns:a16="http://schemas.microsoft.com/office/drawing/2014/main" id="{004046FC-2B2A-8F47-8E35-4D5043AFB02E}"/>
                  </a:ext>
                </a:extLst>
              </p:cNvPr>
              <p:cNvGraphicFramePr>
                <a:graphicFrameLocks noGrp="1"/>
              </p:cNvGraphicFramePr>
              <p:nvPr>
                <p:extLst>
                  <p:ext uri="{D42A27DB-BD31-4B8C-83A1-F6EECF244321}">
                    <p14:modId xmlns:p14="http://schemas.microsoft.com/office/powerpoint/2010/main" val="22745942"/>
                  </p:ext>
                </p:extLst>
              </p:nvPr>
            </p:nvGraphicFramePr>
            <p:xfrm>
              <a:off x="1510143" y="294178"/>
              <a:ext cx="9093200" cy="3159608"/>
            </p:xfrm>
            <a:graphic>
              <a:graphicData uri="http://schemas.openxmlformats.org/drawingml/2006/table">
                <a:tbl>
                  <a:tblPr firstRow="1" bandRow="1">
                    <a:tableStyleId>{5C22544A-7EE6-4342-B048-85BDC9FD1C3A}</a:tableStyleId>
                  </a:tblPr>
                  <a:tblGrid>
                    <a:gridCol w="1818640">
                      <a:extLst>
                        <a:ext uri="{9D8B030D-6E8A-4147-A177-3AD203B41FA5}">
                          <a16:colId xmlns:a16="http://schemas.microsoft.com/office/drawing/2014/main" val="1881081285"/>
                        </a:ext>
                      </a:extLst>
                    </a:gridCol>
                    <a:gridCol w="1818640">
                      <a:extLst>
                        <a:ext uri="{9D8B030D-6E8A-4147-A177-3AD203B41FA5}">
                          <a16:colId xmlns:a16="http://schemas.microsoft.com/office/drawing/2014/main" val="1242995189"/>
                        </a:ext>
                      </a:extLst>
                    </a:gridCol>
                    <a:gridCol w="1818640">
                      <a:extLst>
                        <a:ext uri="{9D8B030D-6E8A-4147-A177-3AD203B41FA5}">
                          <a16:colId xmlns:a16="http://schemas.microsoft.com/office/drawing/2014/main" val="3250826949"/>
                        </a:ext>
                      </a:extLst>
                    </a:gridCol>
                    <a:gridCol w="1818640">
                      <a:extLst>
                        <a:ext uri="{9D8B030D-6E8A-4147-A177-3AD203B41FA5}">
                          <a16:colId xmlns:a16="http://schemas.microsoft.com/office/drawing/2014/main" val="3979781198"/>
                        </a:ext>
                      </a:extLst>
                    </a:gridCol>
                    <a:gridCol w="1818640">
                      <a:extLst>
                        <a:ext uri="{9D8B030D-6E8A-4147-A177-3AD203B41FA5}">
                          <a16:colId xmlns:a16="http://schemas.microsoft.com/office/drawing/2014/main" val="2643297378"/>
                        </a:ext>
                      </a:extLst>
                    </a:gridCol>
                  </a:tblGrid>
                  <a:tr h="789902">
                    <a:tc>
                      <a:txBody>
                        <a:bodyPr/>
                        <a:lstStyle/>
                        <a:p>
                          <a:endParaRPr lang="en-C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306" r="-299306" b="-3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699" r="-201399" b="-3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98611" r="-100000" b="-3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401399" r="-699" b="-303226"/>
                          </a:stretch>
                        </a:blipFill>
                      </a:tcPr>
                    </a:tc>
                    <a:extLst>
                      <a:ext uri="{0D108BD9-81ED-4DB2-BD59-A6C34878D82A}">
                        <a16:rowId xmlns:a16="http://schemas.microsoft.com/office/drawing/2014/main" val="1475300713"/>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98413" r="-402098" b="-1984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306" t="-98413" r="-299306" b="-1984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699" t="-98413" r="-201399" b="-1984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98611" t="-98413" r="-100000" b="-1984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401399" t="-98413" r="-699" b="-198413"/>
                          </a:stretch>
                        </a:blipFill>
                      </a:tcPr>
                    </a:tc>
                    <a:extLst>
                      <a:ext uri="{0D108BD9-81ED-4DB2-BD59-A6C34878D82A}">
                        <a16:rowId xmlns:a16="http://schemas.microsoft.com/office/drawing/2014/main" val="892249"/>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201613" r="-402098" b="-10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306" t="-201613" r="-299306" b="-10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699" t="-201613" r="-201399" b="-10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98611" t="-201613" r="-100000" b="-10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401399" t="-201613" r="-699" b="-101613"/>
                          </a:stretch>
                        </a:blipFill>
                      </a:tcPr>
                    </a:tc>
                    <a:extLst>
                      <a:ext uri="{0D108BD9-81ED-4DB2-BD59-A6C34878D82A}">
                        <a16:rowId xmlns:a16="http://schemas.microsoft.com/office/drawing/2014/main" val="876354381"/>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t="-301613" r="-402098" b="-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99306" t="-301613" r="-299306" b="-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200699" t="-301613" r="-201399" b="-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298611" t="-301613" r="-100000" b="-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401399" t="-301613" r="-699" b="-1613"/>
                          </a:stretch>
                        </a:blipFill>
                      </a:tcPr>
                    </a:tc>
                    <a:extLst>
                      <a:ext uri="{0D108BD9-81ED-4DB2-BD59-A6C34878D82A}">
                        <a16:rowId xmlns:a16="http://schemas.microsoft.com/office/drawing/2014/main" val="3945672016"/>
                      </a:ext>
                    </a:extLst>
                  </a:tr>
                </a:tbl>
              </a:graphicData>
            </a:graphic>
          </p:graphicFrame>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464E484-6B45-8248-96E5-BE41EE645A9C}"/>
                  </a:ext>
                </a:extLst>
              </p:cNvPr>
              <p:cNvSpPr txBox="1"/>
              <p:nvPr/>
            </p:nvSpPr>
            <p:spPr>
              <a:xfrm>
                <a:off x="678873" y="3920836"/>
                <a:ext cx="10806545" cy="369332"/>
              </a:xfrm>
              <a:prstGeom prst="rect">
                <a:avLst/>
              </a:prstGeom>
              <a:noFill/>
            </p:spPr>
            <p:txBody>
              <a:bodyPr wrap="square" rtlCol="0">
                <a:spAutoFit/>
              </a:bodyPr>
              <a:lstStyle/>
              <a:p>
                <a:r>
                  <a:rPr lang="en-CN" dirty="0"/>
                  <a:t>Gibbs Free Energy(Landau: thermodynamical potential)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𝑝𝑉</m:t>
                    </m:r>
                  </m:oMath>
                </a14:m>
                <a:endParaRPr lang="en-CN" dirty="0"/>
              </a:p>
            </p:txBody>
          </p:sp>
        </mc:Choice>
        <mc:Fallback xmlns="">
          <p:sp>
            <p:nvSpPr>
              <p:cNvPr id="3" name="TextBox 2">
                <a:extLst>
                  <a:ext uri="{FF2B5EF4-FFF2-40B4-BE49-F238E27FC236}">
                    <a16:creationId xmlns:a16="http://schemas.microsoft.com/office/drawing/2014/main" id="{F464E484-6B45-8248-96E5-BE41EE645A9C}"/>
                  </a:ext>
                </a:extLst>
              </p:cNvPr>
              <p:cNvSpPr txBox="1">
                <a:spLocks noRot="1" noChangeAspect="1" noMove="1" noResize="1" noEditPoints="1" noAdjustHandles="1" noChangeArrowheads="1" noChangeShapeType="1" noTextEdit="1"/>
              </p:cNvSpPr>
              <p:nvPr/>
            </p:nvSpPr>
            <p:spPr>
              <a:xfrm>
                <a:off x="678873" y="3920836"/>
                <a:ext cx="10806545" cy="369332"/>
              </a:xfrm>
              <a:prstGeom prst="rect">
                <a:avLst/>
              </a:prstGeom>
              <a:blipFill>
                <a:blip r:embed="rId3"/>
                <a:stretch>
                  <a:fillRect l="-469" t="-6667" b="-26667"/>
                </a:stretch>
              </a:blipFill>
            </p:spPr>
            <p:txBody>
              <a:bodyPr/>
              <a:lstStyle/>
              <a:p>
                <a:r>
                  <a:rPr lang="en-CN">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513D5501-4A3C-924E-B2CD-65FAADF3AE0A}"/>
                  </a:ext>
                </a:extLst>
              </p:cNvPr>
              <p:cNvSpPr txBox="1"/>
              <p:nvPr/>
            </p:nvSpPr>
            <p:spPr>
              <a:xfrm>
                <a:off x="1662545" y="4433453"/>
                <a:ext cx="3671455" cy="7693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𝑑𝐺</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𝜎</m:t>
                      </m:r>
                      <m:r>
                        <a:rPr lang="en-US" b="0" i="1" smtClean="0">
                          <a:solidFill>
                            <a:srgbClr val="FF0000"/>
                          </a:solidFill>
                          <a:latin typeface="Cambria Math" panose="02040503050406030204" pitchFamily="18" charset="0"/>
                          <a:ea typeface="Cambria Math" panose="02040503050406030204" pitchFamily="18" charset="0"/>
                        </a:rPr>
                        <m:t>𝑑</m:t>
                      </m:r>
                      <m:r>
                        <a:rPr lang="en-US" b="0" i="1" smtClean="0">
                          <a:solidFill>
                            <a:srgbClr val="FF0000"/>
                          </a:solidFill>
                          <a:latin typeface="Cambria Math" panose="02040503050406030204" pitchFamily="18" charset="0"/>
                          <a:ea typeface="Cambria Math" panose="02040503050406030204" pitchFamily="18" charset="0"/>
                        </a:rPr>
                        <m:t>𝜏</m:t>
                      </m:r>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𝑉𝑑𝑝</m:t>
                      </m:r>
                      <m:r>
                        <a:rPr lang="en-US" b="0" i="1" smtClean="0">
                          <a:latin typeface="Cambria Math" panose="02040503050406030204" pitchFamily="18" charset="0"/>
                          <a:ea typeface="Cambria Math" panose="02040503050406030204" pitchFamily="18" charset="0"/>
                        </a:rPr>
                        <m:t>+</m:t>
                      </m:r>
                      <m:nary>
                        <m:naryPr>
                          <m:chr m:val="∑"/>
                          <m:supHide m:val="on"/>
                          <m:ctrlPr>
                            <a:rPr lang="en-US" b="0" i="1" smtClean="0">
                              <a:latin typeface="Cambria Math" panose="02040503050406030204" pitchFamily="18" charset="0"/>
                              <a:ea typeface="Cambria Math" panose="02040503050406030204" pitchFamily="18" charset="0"/>
                            </a:rPr>
                          </m:ctrlPr>
                        </m:naryPr>
                        <m:sub>
                          <m:r>
                            <m:rPr>
                              <m:brk m:alnAt="7"/>
                            </m:rPr>
                            <a:rPr lang="en-US" b="0" i="1" smtClean="0">
                              <a:latin typeface="Cambria Math" panose="02040503050406030204" pitchFamily="18" charset="0"/>
                              <a:ea typeface="Cambria Math" panose="02040503050406030204" pitchFamily="18" charset="0"/>
                            </a:rPr>
                            <m:t>𝑖</m:t>
                          </m:r>
                        </m:sub>
                        <m:sup/>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𝑑</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𝑁</m:t>
                              </m:r>
                            </m:e>
                            <m:sub>
                              <m:r>
                                <a:rPr lang="en-US" b="0" i="1" smtClean="0">
                                  <a:latin typeface="Cambria Math" panose="02040503050406030204" pitchFamily="18" charset="0"/>
                                  <a:ea typeface="Cambria Math" panose="02040503050406030204" pitchFamily="18" charset="0"/>
                                </a:rPr>
                                <m:t>𝑖</m:t>
                              </m:r>
                            </m:sub>
                          </m:sSub>
                        </m:e>
                      </m:nary>
                    </m:oMath>
                  </m:oMathPara>
                </a14:m>
                <a:endParaRPr lang="en-CN" dirty="0"/>
              </a:p>
            </p:txBody>
          </p:sp>
        </mc:Choice>
        <mc:Fallback>
          <p:sp>
            <p:nvSpPr>
              <p:cNvPr id="6" name="TextBox 5">
                <a:extLst>
                  <a:ext uri="{FF2B5EF4-FFF2-40B4-BE49-F238E27FC236}">
                    <a16:creationId xmlns:a16="http://schemas.microsoft.com/office/drawing/2014/main" id="{513D5501-4A3C-924E-B2CD-65FAADF3AE0A}"/>
                  </a:ext>
                </a:extLst>
              </p:cNvPr>
              <p:cNvSpPr txBox="1">
                <a:spLocks noRot="1" noChangeAspect="1" noMove="1" noResize="1" noEditPoints="1" noAdjustHandles="1" noChangeArrowheads="1" noChangeShapeType="1" noTextEdit="1"/>
              </p:cNvSpPr>
              <p:nvPr/>
            </p:nvSpPr>
            <p:spPr>
              <a:xfrm>
                <a:off x="1662545" y="4433453"/>
                <a:ext cx="3671455" cy="769313"/>
              </a:xfrm>
              <a:prstGeom prst="rect">
                <a:avLst/>
              </a:prstGeom>
              <a:blipFill>
                <a:blip r:embed="rId4"/>
                <a:stretch>
                  <a:fillRect t="-119355" b="-167742"/>
                </a:stretch>
              </a:blipFill>
            </p:spPr>
            <p:txBody>
              <a:bodyPr/>
              <a:lstStyle/>
              <a:p>
                <a:r>
                  <a:rPr lang="en-CN">
                    <a:noFill/>
                  </a:rPr>
                  <a:t> </a:t>
                </a:r>
              </a:p>
            </p:txBody>
          </p:sp>
        </mc:Fallback>
      </mc:AlternateContent>
      <p:sp>
        <p:nvSpPr>
          <p:cNvPr id="7" name="Right Arrow 6">
            <a:extLst>
              <a:ext uri="{FF2B5EF4-FFF2-40B4-BE49-F238E27FC236}">
                <a16:creationId xmlns:a16="http://schemas.microsoft.com/office/drawing/2014/main" id="{CF4878FC-575D-6348-BA08-48B2F32F9EB6}"/>
              </a:ext>
            </a:extLst>
          </p:cNvPr>
          <p:cNvSpPr/>
          <p:nvPr/>
        </p:nvSpPr>
        <p:spPr>
          <a:xfrm>
            <a:off x="5634181" y="4736617"/>
            <a:ext cx="1454727" cy="1629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C42CD23-E24D-2140-9A1C-A5498B0269EA}"/>
                  </a:ext>
                </a:extLst>
              </p:cNvPr>
              <p:cNvSpPr txBox="1"/>
              <p:nvPr/>
            </p:nvSpPr>
            <p:spPr>
              <a:xfrm>
                <a:off x="7389089" y="4447308"/>
                <a:ext cx="3214254" cy="7693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𝑖</m:t>
                              </m:r>
                            </m:sub>
                          </m:sSub>
                        </m:e>
                      </m:nary>
                    </m:oMath>
                  </m:oMathPara>
                </a14:m>
                <a:endParaRPr lang="en-CN" dirty="0"/>
              </a:p>
            </p:txBody>
          </p:sp>
        </mc:Choice>
        <mc:Fallback xmlns="">
          <p:sp>
            <p:nvSpPr>
              <p:cNvPr id="8" name="TextBox 7">
                <a:extLst>
                  <a:ext uri="{FF2B5EF4-FFF2-40B4-BE49-F238E27FC236}">
                    <a16:creationId xmlns:a16="http://schemas.microsoft.com/office/drawing/2014/main" id="{4C42CD23-E24D-2140-9A1C-A5498B0269EA}"/>
                  </a:ext>
                </a:extLst>
              </p:cNvPr>
              <p:cNvSpPr txBox="1">
                <a:spLocks noRot="1" noChangeAspect="1" noMove="1" noResize="1" noEditPoints="1" noAdjustHandles="1" noChangeArrowheads="1" noChangeShapeType="1" noTextEdit="1"/>
              </p:cNvSpPr>
              <p:nvPr/>
            </p:nvSpPr>
            <p:spPr>
              <a:xfrm>
                <a:off x="7389089" y="4447308"/>
                <a:ext cx="3214254" cy="769313"/>
              </a:xfrm>
              <a:prstGeom prst="rect">
                <a:avLst/>
              </a:prstGeom>
              <a:blipFill>
                <a:blip r:embed="rId5"/>
                <a:stretch>
                  <a:fillRect t="-122951" b="-170492"/>
                </a:stretch>
              </a:blipFill>
            </p:spPr>
            <p:txBody>
              <a:bodyPr/>
              <a:lstStyle/>
              <a:p>
                <a:r>
                  <a:rPr lang="en-CN">
                    <a:noFill/>
                  </a:rPr>
                  <a:t> </a:t>
                </a:r>
              </a:p>
            </p:txBody>
          </p:sp>
        </mc:Fallback>
      </mc:AlternateContent>
      <p:sp>
        <p:nvSpPr>
          <p:cNvPr id="9" name="TextBox 8">
            <a:extLst>
              <a:ext uri="{FF2B5EF4-FFF2-40B4-BE49-F238E27FC236}">
                <a16:creationId xmlns:a16="http://schemas.microsoft.com/office/drawing/2014/main" id="{9171D21E-E7FD-B74A-9976-09099D05A6FE}"/>
              </a:ext>
            </a:extLst>
          </p:cNvPr>
          <p:cNvSpPr txBox="1"/>
          <p:nvPr/>
        </p:nvSpPr>
        <p:spPr>
          <a:xfrm>
            <a:off x="678873" y="5361709"/>
            <a:ext cx="9924470" cy="369332"/>
          </a:xfrm>
          <a:prstGeom prst="rect">
            <a:avLst/>
          </a:prstGeom>
          <a:noFill/>
        </p:spPr>
        <p:txBody>
          <a:bodyPr wrap="square" rtlCol="0">
            <a:spAutoFit/>
          </a:bodyPr>
          <a:lstStyle/>
          <a:p>
            <a:r>
              <a:rPr lang="en-CN" dirty="0"/>
              <a:t>Consider a fixed amount of gas at a fixed temperature, as we vary the pressure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44A57A2-6B14-2C48-872F-E4E582FAFBDE}"/>
                  </a:ext>
                </a:extLst>
              </p:cNvPr>
              <p:cNvSpPr txBox="1"/>
              <p:nvPr/>
            </p:nvSpPr>
            <p:spPr>
              <a:xfrm>
                <a:off x="1246910" y="5889984"/>
                <a:ext cx="2632364" cy="6832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𝜇</m:t>
                          </m:r>
                        </m:num>
                        <m:den>
                          <m:r>
                            <a:rPr lang="en-US"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𝑝</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𝑁</m:t>
                          </m:r>
                        </m:den>
                      </m:f>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𝐺</m:t>
                          </m:r>
                        </m:num>
                        <m:den>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𝑝</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𝑉</m:t>
                          </m:r>
                        </m:num>
                        <m:den>
                          <m:r>
                            <a:rPr lang="en-US" b="0" i="1" smtClean="0">
                              <a:latin typeface="Cambria Math" panose="02040503050406030204" pitchFamily="18" charset="0"/>
                            </a:rPr>
                            <m:t>𝑁</m:t>
                          </m:r>
                        </m:den>
                      </m:f>
                      <m:r>
                        <a:rPr lang="en-US" b="0" i="1" smtClean="0">
                          <a:latin typeface="Cambria Math" panose="02040503050406030204" pitchFamily="18" charset="0"/>
                        </a:rPr>
                        <m:t> </m:t>
                      </m:r>
                      <m:r>
                        <a:rPr lang="en-US" i="1">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 </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ea typeface="Cambria Math" panose="02040503050406030204" pitchFamily="18" charset="0"/>
                            </a:rPr>
                            <m:t>𝜏</m:t>
                          </m:r>
                        </m:num>
                        <m:den>
                          <m:r>
                            <a:rPr lang="en-US" b="0" i="1" smtClean="0">
                              <a:solidFill>
                                <a:srgbClr val="FF0000"/>
                              </a:solidFill>
                              <a:latin typeface="Cambria Math" panose="02040503050406030204" pitchFamily="18" charset="0"/>
                            </a:rPr>
                            <m:t>𝑝</m:t>
                          </m:r>
                        </m:den>
                      </m:f>
                    </m:oMath>
                  </m:oMathPara>
                </a14:m>
                <a:endParaRPr lang="en-CN" dirty="0"/>
              </a:p>
            </p:txBody>
          </p:sp>
        </mc:Choice>
        <mc:Fallback xmlns="">
          <p:sp>
            <p:nvSpPr>
              <p:cNvPr id="10" name="TextBox 9">
                <a:extLst>
                  <a:ext uri="{FF2B5EF4-FFF2-40B4-BE49-F238E27FC236}">
                    <a16:creationId xmlns:a16="http://schemas.microsoft.com/office/drawing/2014/main" id="{C44A57A2-6B14-2C48-872F-E4E582FAFBDE}"/>
                  </a:ext>
                </a:extLst>
              </p:cNvPr>
              <p:cNvSpPr txBox="1">
                <a:spLocks noRot="1" noChangeAspect="1" noMove="1" noResize="1" noEditPoints="1" noAdjustHandles="1" noChangeArrowheads="1" noChangeShapeType="1" noTextEdit="1"/>
              </p:cNvSpPr>
              <p:nvPr/>
            </p:nvSpPr>
            <p:spPr>
              <a:xfrm>
                <a:off x="1246910" y="5889984"/>
                <a:ext cx="2632364" cy="683264"/>
              </a:xfrm>
              <a:prstGeom prst="rect">
                <a:avLst/>
              </a:prstGeom>
              <a:blipFill>
                <a:blip r:embed="rId6"/>
                <a:stretch>
                  <a:fillRect b="-7273"/>
                </a:stretch>
              </a:blipFill>
            </p:spPr>
            <p:txBody>
              <a:bodyPr/>
              <a:lstStyle/>
              <a:p>
                <a:r>
                  <a:rPr lang="en-CN">
                    <a:noFill/>
                  </a:rPr>
                  <a:t> </a:t>
                </a:r>
              </a:p>
            </p:txBody>
          </p:sp>
        </mc:Fallback>
      </mc:AlternateContent>
      <p:sp>
        <p:nvSpPr>
          <p:cNvPr id="11" name="Right Arrow 10">
            <a:extLst>
              <a:ext uri="{FF2B5EF4-FFF2-40B4-BE49-F238E27FC236}">
                <a16:creationId xmlns:a16="http://schemas.microsoft.com/office/drawing/2014/main" id="{CA5A35AB-1295-EF4E-819C-1E22B03E132E}"/>
              </a:ext>
            </a:extLst>
          </p:cNvPr>
          <p:cNvSpPr/>
          <p:nvPr/>
        </p:nvSpPr>
        <p:spPr>
          <a:xfrm>
            <a:off x="3879274" y="6158739"/>
            <a:ext cx="955964" cy="1276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8F2F9FE0-FA15-EC40-84A7-9400098FE7CF}"/>
                  </a:ext>
                </a:extLst>
              </p:cNvPr>
              <p:cNvSpPr txBox="1"/>
              <p:nvPr/>
            </p:nvSpPr>
            <p:spPr>
              <a:xfrm>
                <a:off x="5334000" y="5999018"/>
                <a:ext cx="3662216" cy="6120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solidFill>
                            <a:srgbClr val="FF0000"/>
                          </a:solidFill>
                          <a:latin typeface="Cambria Math" panose="02040503050406030204" pitchFamily="18" charset="0"/>
                          <a:ea typeface="Cambria Math" panose="02040503050406030204" pitchFamily="18" charset="0"/>
                        </a:rPr>
                        <m:t>𝜇</m:t>
                      </m:r>
                      <m:d>
                        <m:dPr>
                          <m:ctrlPr>
                            <a:rPr lang="en-US" b="0" i="1" smtClean="0">
                              <a:solidFill>
                                <a:srgbClr val="FF0000"/>
                              </a:solidFill>
                              <a:latin typeface="Cambria Math" panose="02040503050406030204" pitchFamily="18" charset="0"/>
                              <a:ea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𝜏</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𝑝</m:t>
                          </m:r>
                        </m:e>
                      </m:d>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𝜇</m:t>
                      </m:r>
                      <m:d>
                        <m:dPr>
                          <m:ctrlPr>
                            <a:rPr lang="en-US" b="0" i="1" smtClean="0">
                              <a:solidFill>
                                <a:srgbClr val="FF0000"/>
                              </a:solidFill>
                              <a:latin typeface="Cambria Math" panose="02040503050406030204" pitchFamily="18" charset="0"/>
                              <a:ea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𝜏</m:t>
                          </m:r>
                          <m:r>
                            <a:rPr lang="en-US" b="0" i="1" smtClean="0">
                              <a:solidFill>
                                <a:srgbClr val="FF0000"/>
                              </a:solidFill>
                              <a:latin typeface="Cambria Math" panose="02040503050406030204" pitchFamily="18" charset="0"/>
                              <a:ea typeface="Cambria Math" panose="02040503050406030204" pitchFamily="18" charset="0"/>
                            </a:rPr>
                            <m:t>,</m:t>
                          </m:r>
                          <m:sSub>
                            <m:sSubPr>
                              <m:ctrlPr>
                                <a:rPr lang="en-US" b="0" i="1" smtClean="0">
                                  <a:solidFill>
                                    <a:srgbClr val="FF0000"/>
                                  </a:solidFill>
                                  <a:latin typeface="Cambria Math" panose="02040503050406030204" pitchFamily="18" charset="0"/>
                                  <a:ea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𝑝</m:t>
                              </m:r>
                            </m:e>
                            <m:sub>
                              <m:r>
                                <a:rPr lang="en-US" b="0" i="1" smtClean="0">
                                  <a:solidFill>
                                    <a:srgbClr val="FF0000"/>
                                  </a:solidFill>
                                  <a:latin typeface="Cambria Math" panose="02040503050406030204" pitchFamily="18" charset="0"/>
                                  <a:ea typeface="Cambria Math" panose="02040503050406030204" pitchFamily="18" charset="0"/>
                                </a:rPr>
                                <m:t>0</m:t>
                              </m:r>
                            </m:sub>
                          </m:sSub>
                        </m:e>
                      </m:d>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𝜏</m:t>
                      </m:r>
                      <m:func>
                        <m:funcPr>
                          <m:ctrlPr>
                            <a:rPr lang="en-US" b="0" i="1" smtClean="0">
                              <a:solidFill>
                                <a:srgbClr val="FF0000"/>
                              </a:solidFill>
                              <a:latin typeface="Cambria Math" panose="02040503050406030204" pitchFamily="18" charset="0"/>
                              <a:ea typeface="Cambria Math" panose="02040503050406030204" pitchFamily="18" charset="0"/>
                            </a:rPr>
                          </m:ctrlPr>
                        </m:funcPr>
                        <m:fName>
                          <m:r>
                            <m:rPr>
                              <m:sty m:val="p"/>
                            </m:rPr>
                            <a:rPr lang="en-US" b="0" i="0" smtClean="0">
                              <a:solidFill>
                                <a:srgbClr val="FF0000"/>
                              </a:solidFill>
                              <a:latin typeface="Cambria Math" panose="02040503050406030204" pitchFamily="18" charset="0"/>
                              <a:ea typeface="Cambria Math" panose="02040503050406030204" pitchFamily="18" charset="0"/>
                            </a:rPr>
                            <m:t>log</m:t>
                          </m:r>
                        </m:fName>
                        <m:e>
                          <m:f>
                            <m:fPr>
                              <m:ctrlPr>
                                <a:rPr lang="en-US" b="0" i="1" smtClean="0">
                                  <a:solidFill>
                                    <a:srgbClr val="FF0000"/>
                                  </a:solidFill>
                                  <a:latin typeface="Cambria Math" panose="02040503050406030204" pitchFamily="18" charset="0"/>
                                  <a:ea typeface="Cambria Math" panose="02040503050406030204" pitchFamily="18" charset="0"/>
                                </a:rPr>
                              </m:ctrlPr>
                            </m:fPr>
                            <m:num>
                              <m:r>
                                <a:rPr lang="en-US" b="0" i="1" smtClean="0">
                                  <a:solidFill>
                                    <a:srgbClr val="FF0000"/>
                                  </a:solidFill>
                                  <a:latin typeface="Cambria Math" panose="02040503050406030204" pitchFamily="18" charset="0"/>
                                  <a:ea typeface="Cambria Math" panose="02040503050406030204" pitchFamily="18" charset="0"/>
                                </a:rPr>
                                <m:t>𝑝</m:t>
                              </m:r>
                            </m:num>
                            <m:den>
                              <m:sSub>
                                <m:sSubPr>
                                  <m:ctrlPr>
                                    <a:rPr lang="en-US" b="0" i="1" smtClean="0">
                                      <a:solidFill>
                                        <a:srgbClr val="FF0000"/>
                                      </a:solidFill>
                                      <a:latin typeface="Cambria Math" panose="02040503050406030204" pitchFamily="18" charset="0"/>
                                      <a:ea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𝑝</m:t>
                                  </m:r>
                                </m:e>
                                <m:sub>
                                  <m:r>
                                    <a:rPr lang="en-US" b="0" i="1" smtClean="0">
                                      <a:solidFill>
                                        <a:srgbClr val="FF0000"/>
                                      </a:solidFill>
                                      <a:latin typeface="Cambria Math" panose="02040503050406030204" pitchFamily="18" charset="0"/>
                                      <a:ea typeface="Cambria Math" panose="02040503050406030204" pitchFamily="18" charset="0"/>
                                    </a:rPr>
                                    <m:t>0</m:t>
                                  </m:r>
                                </m:sub>
                              </m:sSub>
                            </m:den>
                          </m:f>
                        </m:e>
                      </m:func>
                      <m:r>
                        <a:rPr lang="en-US" b="0" i="1" smtClean="0">
                          <a:solidFill>
                            <a:srgbClr val="FF0000"/>
                          </a:solidFill>
                          <a:latin typeface="Cambria Math" panose="02040503050406030204" pitchFamily="18" charset="0"/>
                          <a:ea typeface="Cambria Math" panose="02040503050406030204" pitchFamily="18" charset="0"/>
                        </a:rPr>
                        <m:t>????</m:t>
                      </m:r>
                    </m:oMath>
                  </m:oMathPara>
                </a14:m>
                <a:endParaRPr lang="en-CN" dirty="0"/>
              </a:p>
            </p:txBody>
          </p:sp>
        </mc:Choice>
        <mc:Fallback>
          <p:sp>
            <p:nvSpPr>
              <p:cNvPr id="12" name="TextBox 11">
                <a:extLst>
                  <a:ext uri="{FF2B5EF4-FFF2-40B4-BE49-F238E27FC236}">
                    <a16:creationId xmlns:a16="http://schemas.microsoft.com/office/drawing/2014/main" id="{8F2F9FE0-FA15-EC40-84A7-9400098FE7CF}"/>
                  </a:ext>
                </a:extLst>
              </p:cNvPr>
              <p:cNvSpPr txBox="1">
                <a:spLocks noRot="1" noChangeAspect="1" noMove="1" noResize="1" noEditPoints="1" noAdjustHandles="1" noChangeArrowheads="1" noChangeShapeType="1" noTextEdit="1"/>
              </p:cNvSpPr>
              <p:nvPr/>
            </p:nvSpPr>
            <p:spPr>
              <a:xfrm>
                <a:off x="5334000" y="5999018"/>
                <a:ext cx="3662216" cy="612027"/>
              </a:xfrm>
              <a:prstGeom prst="rect">
                <a:avLst/>
              </a:prstGeom>
              <a:blipFill>
                <a:blip r:embed="rId7"/>
                <a:stretch>
                  <a:fillRect b="-6122"/>
                </a:stretch>
              </a:blipFill>
            </p:spPr>
            <p:txBody>
              <a:bodyPr/>
              <a:lstStyle/>
              <a:p>
                <a:r>
                  <a:rPr lang="en-CN">
                    <a:noFill/>
                  </a:rPr>
                  <a:t> </a:t>
                </a:r>
              </a:p>
            </p:txBody>
          </p:sp>
        </mc:Fallback>
      </mc:AlternateContent>
      <p:sp>
        <p:nvSpPr>
          <p:cNvPr id="4" name="TextBox 3">
            <a:extLst>
              <a:ext uri="{FF2B5EF4-FFF2-40B4-BE49-F238E27FC236}">
                <a16:creationId xmlns:a16="http://schemas.microsoft.com/office/drawing/2014/main" id="{35146DF9-1DBD-1B43-A59E-04639963A31B}"/>
              </a:ext>
            </a:extLst>
          </p:cNvPr>
          <p:cNvSpPr txBox="1"/>
          <p:nvPr/>
        </p:nvSpPr>
        <p:spPr>
          <a:xfrm>
            <a:off x="124691" y="138545"/>
            <a:ext cx="1939636" cy="369332"/>
          </a:xfrm>
          <a:prstGeom prst="rect">
            <a:avLst/>
          </a:prstGeom>
          <a:noFill/>
        </p:spPr>
        <p:txBody>
          <a:bodyPr wrap="square" rtlCol="0">
            <a:spAutoFit/>
          </a:bodyPr>
          <a:lstStyle/>
          <a:p>
            <a:r>
              <a:rPr lang="en-CN" dirty="0"/>
              <a:t>补遗三</a:t>
            </a:r>
          </a:p>
        </p:txBody>
      </p:sp>
      <p:sp>
        <p:nvSpPr>
          <p:cNvPr id="5" name="Curved Up Arrow 4">
            <a:extLst>
              <a:ext uri="{FF2B5EF4-FFF2-40B4-BE49-F238E27FC236}">
                <a16:creationId xmlns:a16="http://schemas.microsoft.com/office/drawing/2014/main" id="{E1D17EDC-F9CA-6A44-A054-8788A3FD8369}"/>
              </a:ext>
            </a:extLst>
          </p:cNvPr>
          <p:cNvSpPr/>
          <p:nvPr/>
        </p:nvSpPr>
        <p:spPr>
          <a:xfrm>
            <a:off x="7772400" y="3574473"/>
            <a:ext cx="1967345" cy="346363"/>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Tree>
    <p:extLst>
      <p:ext uri="{BB962C8B-B14F-4D97-AF65-F5344CB8AC3E}">
        <p14:creationId xmlns:p14="http://schemas.microsoft.com/office/powerpoint/2010/main" val="6178192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Table 3">
                <a:extLst>
                  <a:ext uri="{FF2B5EF4-FFF2-40B4-BE49-F238E27FC236}">
                    <a16:creationId xmlns:a16="http://schemas.microsoft.com/office/drawing/2014/main" id="{004046FC-2B2A-8F47-8E35-4D5043AFB02E}"/>
                  </a:ext>
                </a:extLst>
              </p:cNvPr>
              <p:cNvGraphicFramePr>
                <a:graphicFrameLocks noGrp="1"/>
              </p:cNvGraphicFramePr>
              <p:nvPr>
                <p:extLst>
                  <p:ext uri="{D42A27DB-BD31-4B8C-83A1-F6EECF244321}">
                    <p14:modId xmlns:p14="http://schemas.microsoft.com/office/powerpoint/2010/main" val="3552432503"/>
                  </p:ext>
                </p:extLst>
              </p:nvPr>
            </p:nvGraphicFramePr>
            <p:xfrm>
              <a:off x="1052945" y="294178"/>
              <a:ext cx="10293930" cy="3159608"/>
            </p:xfrm>
            <a:graphic>
              <a:graphicData uri="http://schemas.openxmlformats.org/drawingml/2006/table">
                <a:tbl>
                  <a:tblPr firstRow="1" bandRow="1">
                    <a:tableStyleId>{5C22544A-7EE6-4342-B048-85BDC9FD1C3A}</a:tableStyleId>
                  </a:tblPr>
                  <a:tblGrid>
                    <a:gridCol w="1715655">
                      <a:extLst>
                        <a:ext uri="{9D8B030D-6E8A-4147-A177-3AD203B41FA5}">
                          <a16:colId xmlns:a16="http://schemas.microsoft.com/office/drawing/2014/main" val="1881081285"/>
                        </a:ext>
                      </a:extLst>
                    </a:gridCol>
                    <a:gridCol w="1715655">
                      <a:extLst>
                        <a:ext uri="{9D8B030D-6E8A-4147-A177-3AD203B41FA5}">
                          <a16:colId xmlns:a16="http://schemas.microsoft.com/office/drawing/2014/main" val="1242995189"/>
                        </a:ext>
                      </a:extLst>
                    </a:gridCol>
                    <a:gridCol w="1715655">
                      <a:extLst>
                        <a:ext uri="{9D8B030D-6E8A-4147-A177-3AD203B41FA5}">
                          <a16:colId xmlns:a16="http://schemas.microsoft.com/office/drawing/2014/main" val="3250826949"/>
                        </a:ext>
                      </a:extLst>
                    </a:gridCol>
                    <a:gridCol w="1715655">
                      <a:extLst>
                        <a:ext uri="{9D8B030D-6E8A-4147-A177-3AD203B41FA5}">
                          <a16:colId xmlns:a16="http://schemas.microsoft.com/office/drawing/2014/main" val="3979781198"/>
                        </a:ext>
                      </a:extLst>
                    </a:gridCol>
                    <a:gridCol w="1715655">
                      <a:extLst>
                        <a:ext uri="{9D8B030D-6E8A-4147-A177-3AD203B41FA5}">
                          <a16:colId xmlns:a16="http://schemas.microsoft.com/office/drawing/2014/main" val="2643297378"/>
                        </a:ext>
                      </a:extLst>
                    </a:gridCol>
                    <a:gridCol w="1715655">
                      <a:extLst>
                        <a:ext uri="{9D8B030D-6E8A-4147-A177-3AD203B41FA5}">
                          <a16:colId xmlns:a16="http://schemas.microsoft.com/office/drawing/2014/main" val="2179112404"/>
                        </a:ext>
                      </a:extLst>
                    </a:gridCol>
                  </a:tblGrid>
                  <a:tr h="789902">
                    <a:tc>
                      <a:txBody>
                        <a:bodyPr/>
                        <a:lstStyle/>
                        <a:p>
                          <a:endParaRPr lang="en-C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𝝈</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𝑼</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𝑼</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𝝈</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𝑭</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𝝉</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𝑽</m:t>
                                </m:r>
                                <m:r>
                                  <a:rPr lang="en-US" b="1" i="1" smtClean="0">
                                    <a:solidFill>
                                      <a:schemeClr val="tx1"/>
                                    </a:solidFill>
                                    <a:latin typeface="Cambria Math" panose="02040503050406030204" pitchFamily="18" charset="0"/>
                                    <a:ea typeface="Cambria Math" panose="02040503050406030204" pitchFamily="18" charset="0"/>
                                  </a:rPr>
                                  <m:t>,</m:t>
                                </m:r>
                                <m:r>
                                  <a:rPr lang="en-US" b="1" i="1" smtClean="0">
                                    <a:solidFill>
                                      <a:schemeClr val="tx1"/>
                                    </a:solidFill>
                                    <a:latin typeface="Cambria Math" panose="02040503050406030204" pitchFamily="18" charset="0"/>
                                    <a:ea typeface="Cambria Math" panose="02040503050406030204" pitchFamily="18" charset="0"/>
                                  </a:rPr>
                                  <m:t>𝑵</m:t>
                                </m:r>
                                <m:r>
                                  <a:rPr lang="en-US" b="1" i="1" smtClean="0">
                                    <a:solidFill>
                                      <a:schemeClr val="tx1"/>
                                    </a:solidFill>
                                    <a:latin typeface="Cambria Math" panose="02040503050406030204" pitchFamily="18" charset="0"/>
                                  </a:rPr>
                                  <m:t>)</m:t>
                                </m:r>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𝑮</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𝝉</m:t>
                                </m:r>
                                <m:r>
                                  <a:rPr lang="en-US" b="1" i="1" smtClean="0">
                                    <a:solidFill>
                                      <a:srgbClr val="FF0000"/>
                                    </a:solidFill>
                                    <a:latin typeface="Cambria Math" panose="02040503050406030204" pitchFamily="18" charset="0"/>
                                    <a:ea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𝒑</m:t>
                                </m:r>
                                <m:r>
                                  <a:rPr lang="en-US" b="1" i="1" smtClean="0">
                                    <a:solidFill>
                                      <a:srgbClr val="FF0000"/>
                                    </a:solidFill>
                                    <a:latin typeface="Cambria Math" panose="02040503050406030204" pitchFamily="18" charset="0"/>
                                    <a:ea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𝑵</m:t>
                                </m:r>
                                <m:r>
                                  <a:rPr lang="en-US" b="1" i="1" smtClean="0">
                                    <a:solidFill>
                                      <a:srgbClr val="FF0000"/>
                                    </a:solidFill>
                                    <a:latin typeface="Cambria Math" panose="02040503050406030204" pitchFamily="18" charset="0"/>
                                  </a:rPr>
                                  <m:t>)</m:t>
                                </m:r>
                              </m:oMath>
                            </m:oMathPara>
                          </a14:m>
                          <a:endParaRPr lang="en-C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CN" i="1" smtClean="0">
                                    <a:solidFill>
                                      <a:schemeClr val="accent6">
                                        <a:lumMod val="50000"/>
                                      </a:schemeClr>
                                    </a:solidFill>
                                    <a:latin typeface="Cambria Math" panose="02040503050406030204" pitchFamily="18" charset="0"/>
                                    <a:ea typeface="Cambria Math" panose="02040503050406030204" pitchFamily="18" charset="0"/>
                                  </a:rPr>
                                  <m:t>𝛀</m:t>
                                </m:r>
                                <m:r>
                                  <a:rPr lang="en-US" b="1" i="1" smtClean="0">
                                    <a:solidFill>
                                      <a:schemeClr val="accent6">
                                        <a:lumMod val="50000"/>
                                      </a:schemeClr>
                                    </a:solidFill>
                                    <a:latin typeface="Cambria Math" panose="02040503050406030204" pitchFamily="18" charset="0"/>
                                    <a:ea typeface="Cambria Math" panose="02040503050406030204" pitchFamily="18" charset="0"/>
                                  </a:rPr>
                                  <m:t>(</m:t>
                                </m:r>
                                <m:r>
                                  <a:rPr lang="en-US" b="1" i="1" smtClean="0">
                                    <a:solidFill>
                                      <a:schemeClr val="accent6">
                                        <a:lumMod val="50000"/>
                                      </a:schemeClr>
                                    </a:solidFill>
                                    <a:latin typeface="Cambria Math" panose="02040503050406030204" pitchFamily="18" charset="0"/>
                                    <a:ea typeface="Cambria Math" panose="02040503050406030204" pitchFamily="18" charset="0"/>
                                  </a:rPr>
                                  <m:t>𝝉</m:t>
                                </m:r>
                                <m:r>
                                  <a:rPr lang="en-US" b="1" i="1" smtClean="0">
                                    <a:solidFill>
                                      <a:schemeClr val="accent6">
                                        <a:lumMod val="50000"/>
                                      </a:schemeClr>
                                    </a:solidFill>
                                    <a:latin typeface="Cambria Math" panose="02040503050406030204" pitchFamily="18" charset="0"/>
                                    <a:ea typeface="Cambria Math" panose="02040503050406030204" pitchFamily="18" charset="0"/>
                                  </a:rPr>
                                  <m:t>,</m:t>
                                </m:r>
                                <m:r>
                                  <a:rPr lang="en-US" b="1" i="1" smtClean="0">
                                    <a:solidFill>
                                      <a:schemeClr val="accent6">
                                        <a:lumMod val="50000"/>
                                      </a:schemeClr>
                                    </a:solidFill>
                                    <a:latin typeface="Cambria Math" panose="02040503050406030204" pitchFamily="18" charset="0"/>
                                    <a:ea typeface="Cambria Math" panose="02040503050406030204" pitchFamily="18" charset="0"/>
                                  </a:rPr>
                                  <m:t>𝑽</m:t>
                                </m:r>
                                <m:r>
                                  <a:rPr lang="en-US" b="1" i="1" smtClean="0">
                                    <a:solidFill>
                                      <a:schemeClr val="accent6">
                                        <a:lumMod val="50000"/>
                                      </a:schemeClr>
                                    </a:solidFill>
                                    <a:latin typeface="Cambria Math" panose="02040503050406030204" pitchFamily="18" charset="0"/>
                                    <a:ea typeface="Cambria Math" panose="02040503050406030204" pitchFamily="18" charset="0"/>
                                  </a:rPr>
                                  <m:t>,</m:t>
                                </m:r>
                                <m:r>
                                  <a:rPr lang="en-US" b="1" i="1" smtClean="0">
                                    <a:solidFill>
                                      <a:schemeClr val="accent6">
                                        <a:lumMod val="50000"/>
                                      </a:schemeClr>
                                    </a:solidFill>
                                    <a:latin typeface="Cambria Math" panose="02040503050406030204" pitchFamily="18" charset="0"/>
                                    <a:ea typeface="Cambria Math" panose="02040503050406030204" pitchFamily="18" charset="0"/>
                                  </a:rPr>
                                  <m:t>𝝁</m:t>
                                </m:r>
                                <m:r>
                                  <a:rPr lang="en-US" b="1" i="1" smtClean="0">
                                    <a:solidFill>
                                      <a:schemeClr val="accent6">
                                        <a:lumMod val="50000"/>
                                      </a:schemeClr>
                                    </a:solidFill>
                                    <a:latin typeface="Cambria Math" panose="02040503050406030204" pitchFamily="18" charset="0"/>
                                    <a:ea typeface="Cambria Math" panose="02040503050406030204" pitchFamily="18" charset="0"/>
                                  </a:rPr>
                                  <m:t>)</m:t>
                                </m:r>
                              </m:oMath>
                            </m:oMathPara>
                          </a14:m>
                          <a:endParaRPr lang="en-CN"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5300713"/>
                      </a:ext>
                    </a:extLst>
                  </a:tr>
                  <a:tr h="789902">
                    <a:tc>
                      <a:txBody>
                        <a:bodyPr/>
                        <a:lstStyle/>
                        <a:p>
                          <a:pPr algn="ctr"/>
                          <a:endParaRPr lang="en-CN"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𝜏</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CN"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1</m:t>
                                    </m:r>
                                  </m:num>
                                  <m:den>
                                    <m:r>
                                      <a:rPr lang="en-CN" i="1" smtClean="0">
                                        <a:solidFill>
                                          <a:schemeClr val="tx1"/>
                                        </a:solidFill>
                                        <a:latin typeface="Cambria Math" panose="02040503050406030204" pitchFamily="18" charset="0"/>
                                        <a:ea typeface="Cambria Math" panose="02040503050406030204" pitchFamily="18" charset="0"/>
                                      </a:rPr>
                                      <m:t>𝜏</m:t>
                                    </m:r>
                                  </m:den>
                                </m:f>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𝜎</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den>
                                        </m:f>
                                      </m:e>
                                    </m:d>
                                  </m:e>
                                  <m:sub>
                                    <m:r>
                                      <a:rPr lang="en-US" b="0" i="1" smtClean="0">
                                        <a:solidFill>
                                          <a:schemeClr val="tx1"/>
                                        </a:solidFill>
                                        <a:latin typeface="Cambria Math" panose="02040503050406030204" pitchFamily="18" charset="0"/>
                                      </a:rPr>
                                      <m:t>𝑉</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𝜏</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𝜎</m:t>
                                            </m:r>
                                          </m:den>
                                        </m:f>
                                      </m:e>
                                    </m:d>
                                  </m:e>
                                  <m:sub>
                                    <m:r>
                                      <a:rPr lang="en-US" b="0" i="1" smtClean="0">
                                        <a:solidFill>
                                          <a:schemeClr val="tx1"/>
                                        </a:solidFill>
                                        <a:latin typeface="Cambria Math" panose="02040503050406030204" pitchFamily="18" charset="0"/>
                                      </a:rPr>
                                      <m:t>𝑉</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r>
                            <a:rPr lang="en-CN" dirty="0">
                              <a:solidFill>
                                <a:schemeClr val="tx1"/>
                              </a:solidFill>
                            </a:rPr>
                            <a:t>ependent variable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rgbClr val="7030A0"/>
                                    </a:solidFill>
                                    <a:latin typeface="Cambria Math" panose="02040503050406030204" pitchFamily="18" charset="0"/>
                                    <a:ea typeface="Cambria Math" panose="02040503050406030204" pitchFamily="18" charset="0"/>
                                  </a:rPr>
                                  <m:t>𝜎</m:t>
                                </m:r>
                                <m:r>
                                  <a:rPr lang="en-US" b="0" i="1" smtClean="0">
                                    <a:solidFill>
                                      <a:srgbClr val="7030A0"/>
                                    </a:solidFill>
                                    <a:latin typeface="Cambria Math" panose="02040503050406030204" pitchFamily="18" charset="0"/>
                                    <a:ea typeface="Cambria Math" panose="02040503050406030204" pitchFamily="18" charset="0"/>
                                  </a:rPr>
                                  <m:t>=−</m:t>
                                </m:r>
                                <m:sSub>
                                  <m:sSubPr>
                                    <m:ctrlPr>
                                      <a:rPr lang="en-US" b="0" i="1" smtClean="0">
                                        <a:solidFill>
                                          <a:srgbClr val="7030A0"/>
                                        </a:solidFill>
                                        <a:latin typeface="Cambria Math" panose="02040503050406030204" pitchFamily="18" charset="0"/>
                                        <a:ea typeface="Cambria Math" panose="02040503050406030204" pitchFamily="18" charset="0"/>
                                      </a:rPr>
                                    </m:ctrlPr>
                                  </m:sSubPr>
                                  <m:e>
                                    <m:d>
                                      <m:dPr>
                                        <m:ctrlPr>
                                          <a:rPr lang="en-US" b="0" i="1" smtClean="0">
                                            <a:solidFill>
                                              <a:srgbClr val="7030A0"/>
                                            </a:solidFill>
                                            <a:latin typeface="Cambria Math" panose="02040503050406030204" pitchFamily="18" charset="0"/>
                                            <a:ea typeface="Cambria Math" panose="02040503050406030204" pitchFamily="18" charset="0"/>
                                          </a:rPr>
                                        </m:ctrlPr>
                                      </m:dPr>
                                      <m:e>
                                        <m:f>
                                          <m:fPr>
                                            <m:ctrlPr>
                                              <a:rPr lang="en-US" b="0" i="1" smtClean="0">
                                                <a:solidFill>
                                                  <a:srgbClr val="7030A0"/>
                                                </a:solidFill>
                                                <a:latin typeface="Cambria Math" panose="02040503050406030204" pitchFamily="18" charset="0"/>
                                                <a:ea typeface="Cambria Math" panose="02040503050406030204" pitchFamily="18" charset="0"/>
                                              </a:rPr>
                                            </m:ctrlPr>
                                          </m:fPr>
                                          <m:num>
                                            <m:r>
                                              <a:rPr lang="en-US" b="0" i="1" smtClean="0">
                                                <a:solidFill>
                                                  <a:srgbClr val="7030A0"/>
                                                </a:solidFill>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 </m:t>
                                            </m:r>
                                            <m:r>
                                              <a:rPr lang="en-US" b="0" i="1" smtClean="0">
                                                <a:solidFill>
                                                  <a:srgbClr val="7030A0"/>
                                                </a:solidFill>
                                                <a:latin typeface="Cambria Math" panose="02040503050406030204" pitchFamily="18" charset="0"/>
                                                <a:ea typeface="Cambria Math" panose="02040503050406030204" pitchFamily="18" charset="0"/>
                                              </a:rPr>
                                              <m:t>𝐺</m:t>
                                            </m:r>
                                          </m:num>
                                          <m:den>
                                            <m:r>
                                              <a:rPr lang="en-US" b="0" i="1" smtClean="0">
                                                <a:solidFill>
                                                  <a:srgbClr val="7030A0"/>
                                                </a:solidFill>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 </m:t>
                                            </m:r>
                                            <m:r>
                                              <a:rPr lang="en-US" b="0" i="1" smtClean="0">
                                                <a:solidFill>
                                                  <a:srgbClr val="7030A0"/>
                                                </a:solidFill>
                                                <a:latin typeface="Cambria Math" panose="02040503050406030204" pitchFamily="18" charset="0"/>
                                                <a:ea typeface="Cambria Math" panose="02040503050406030204" pitchFamily="18" charset="0"/>
                                              </a:rPr>
                                              <m:t>𝜏</m:t>
                                            </m:r>
                                          </m:den>
                                        </m:f>
                                      </m:e>
                                    </m:d>
                                  </m:e>
                                  <m:sub>
                                    <m:r>
                                      <a:rPr lang="en-US" b="0" i="1" smtClean="0">
                                        <a:solidFill>
                                          <a:srgbClr val="7030A0"/>
                                        </a:solidFill>
                                        <a:latin typeface="Cambria Math" panose="02040503050406030204" pitchFamily="18" charset="0"/>
                                        <a:ea typeface="Cambria Math" panose="02040503050406030204" pitchFamily="18" charset="0"/>
                                      </a:rPr>
                                      <m:t>𝑝</m:t>
                                    </m:r>
                                    <m:r>
                                      <a:rPr lang="en-US" b="0" i="1" smtClean="0">
                                        <a:solidFill>
                                          <a:srgbClr val="7030A0"/>
                                        </a:solidFill>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249"/>
                      </a:ext>
                    </a:extLst>
                  </a:tr>
                  <a:tr h="789902">
                    <a:tc>
                      <a:txBody>
                        <a:bodyPr/>
                        <a:lstStyle/>
                        <a:p>
                          <a:pPr algn="ctr"/>
                          <a:endParaRPr lang="en-US" b="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𝑝</m:t>
                                    </m:r>
                                  </m:num>
                                  <m:den>
                                    <m:r>
                                      <a:rPr lang="en-US" b="0" i="1" smtClean="0">
                                        <a:solidFill>
                                          <a:schemeClr val="tx1"/>
                                        </a:solidFill>
                                        <a:latin typeface="Cambria Math" panose="02040503050406030204" pitchFamily="18" charset="0"/>
                                        <a:ea typeface="Cambria Math" panose="02040503050406030204" pitchFamily="18" charset="0"/>
                                      </a:rPr>
                                      <m:t>𝜏</m:t>
                                    </m:r>
                                  </m:den>
                                </m:f>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𝜎</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𝑉</m:t>
                                            </m:r>
                                          </m:den>
                                        </m:f>
                                      </m:e>
                                    </m:d>
                                  </m:e>
                                  <m:sub>
                                    <m:r>
                                      <a:rPr lang="en-US" b="0" i="1" smtClean="0">
                                        <a:solidFill>
                                          <a:schemeClr val="tx1"/>
                                        </a:solidFill>
                                        <a:latin typeface="Cambria Math" panose="02040503050406030204" pitchFamily="18" charset="0"/>
                                      </a:rPr>
                                      <m:t>𝑈</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𝑝</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𝑉</m:t>
                                            </m:r>
                                          </m:den>
                                        </m:f>
                                      </m:e>
                                    </m:d>
                                  </m:e>
                                  <m:sub>
                                    <m:r>
                                      <a:rPr lang="en-US" b="0" i="1" smtClean="0">
                                        <a:solidFill>
                                          <a:schemeClr val="tx1"/>
                                        </a:solidFill>
                                        <a:latin typeface="Cambria Math" panose="02040503050406030204" pitchFamily="18" charset="0"/>
                                        <a:ea typeface="Cambria Math" panose="02040503050406030204" pitchFamily="18" charset="0"/>
                                      </a:rPr>
                                      <m:t>𝜎</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𝑝</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𝐹</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𝑉</m:t>
                                            </m:r>
                                          </m:den>
                                        </m:f>
                                      </m:e>
                                    </m:d>
                                  </m:e>
                                  <m:sub>
                                    <m:r>
                                      <a:rPr lang="en-US" b="0" i="1" smtClean="0">
                                        <a:solidFill>
                                          <a:schemeClr val="tx1"/>
                                        </a:solidFill>
                                        <a:latin typeface="Cambria Math" panose="02040503050406030204" pitchFamily="18" charset="0"/>
                                        <a:ea typeface="Cambria Math" panose="02040503050406030204" pitchFamily="18" charset="0"/>
                                      </a:rPr>
                                      <m:t>𝜏</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b="0" i="1" smtClean="0">
                                    <a:solidFill>
                                      <a:srgbClr val="7030A0"/>
                                    </a:solidFill>
                                    <a:latin typeface="Cambria Math" panose="02040503050406030204" pitchFamily="18" charset="0"/>
                                  </a:rPr>
                                  <m:t>𝑉</m:t>
                                </m:r>
                                <m:r>
                                  <a:rPr lang="en-US" b="0" i="1" smtClean="0">
                                    <a:solidFill>
                                      <a:srgbClr val="7030A0"/>
                                    </a:solidFill>
                                    <a:latin typeface="Cambria Math" panose="02040503050406030204" pitchFamily="18" charset="0"/>
                                  </a:rPr>
                                  <m:t>=</m:t>
                                </m:r>
                                <m:sSub>
                                  <m:sSubPr>
                                    <m:ctrlPr>
                                      <a:rPr lang="en-US" b="0" i="1" smtClean="0">
                                        <a:solidFill>
                                          <a:srgbClr val="7030A0"/>
                                        </a:solidFill>
                                        <a:latin typeface="Cambria Math" panose="02040503050406030204" pitchFamily="18" charset="0"/>
                                      </a:rPr>
                                    </m:ctrlPr>
                                  </m:sSubPr>
                                  <m:e>
                                    <m:d>
                                      <m:dPr>
                                        <m:ctrlPr>
                                          <a:rPr lang="en-US" b="0" i="1" smtClean="0">
                                            <a:solidFill>
                                              <a:srgbClr val="7030A0"/>
                                            </a:solidFill>
                                            <a:latin typeface="Cambria Math" panose="02040503050406030204" pitchFamily="18" charset="0"/>
                                          </a:rPr>
                                        </m:ctrlPr>
                                      </m:dPr>
                                      <m:e>
                                        <m:f>
                                          <m:fPr>
                                            <m:ctrlPr>
                                              <a:rPr lang="en-US" b="0" i="1" smtClean="0">
                                                <a:solidFill>
                                                  <a:srgbClr val="7030A0"/>
                                                </a:solidFill>
                                                <a:latin typeface="Cambria Math" panose="02040503050406030204" pitchFamily="18" charset="0"/>
                                              </a:rPr>
                                            </m:ctrlPr>
                                          </m:fPr>
                                          <m:num>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 </m:t>
                                            </m:r>
                                            <m:r>
                                              <a:rPr lang="en-US" b="0" i="1" smtClean="0">
                                                <a:solidFill>
                                                  <a:srgbClr val="7030A0"/>
                                                </a:solidFill>
                                                <a:latin typeface="Cambria Math" panose="02040503050406030204" pitchFamily="18" charset="0"/>
                                              </a:rPr>
                                              <m:t>𝐺</m:t>
                                            </m:r>
                                          </m:num>
                                          <m:den>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 </m:t>
                                            </m:r>
                                            <m:r>
                                              <a:rPr lang="en-US" b="0" i="1" smtClean="0">
                                                <a:solidFill>
                                                  <a:srgbClr val="7030A0"/>
                                                </a:solidFill>
                                                <a:latin typeface="Cambria Math" panose="02040503050406030204" pitchFamily="18" charset="0"/>
                                              </a:rPr>
                                              <m:t>𝑝</m:t>
                                            </m:r>
                                          </m:den>
                                        </m:f>
                                      </m:e>
                                    </m:d>
                                  </m:e>
                                  <m:sub>
                                    <m:r>
                                      <a:rPr lang="en-US" b="0" i="1" smtClean="0">
                                        <a:solidFill>
                                          <a:srgbClr val="7030A0"/>
                                        </a:solidFill>
                                        <a:latin typeface="Cambria Math" panose="02040503050406030204" pitchFamily="18" charset="0"/>
                                        <a:ea typeface="Cambria Math" panose="02040503050406030204" pitchFamily="18" charset="0"/>
                                      </a:rPr>
                                      <m:t>𝜏</m:t>
                                    </m:r>
                                    <m:r>
                                      <a:rPr lang="en-US" b="0" i="1" smtClean="0">
                                        <a:solidFill>
                                          <a:srgbClr val="7030A0"/>
                                        </a:solidFill>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𝑁</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𝑝</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m:rPr>
                                                <m:sty m:val="p"/>
                                              </m:rPr>
                                              <a:rPr lang="el-GR" b="0" i="1" smtClean="0">
                                                <a:solidFill>
                                                  <a:schemeClr val="tx1"/>
                                                </a:solidFill>
                                                <a:latin typeface="Cambria Math" panose="02040503050406030204" pitchFamily="18" charset="0"/>
                                                <a:ea typeface="Cambria Math" panose="02040503050406030204" pitchFamily="18" charset="0"/>
                                              </a:rPr>
                                              <m:t>Ω</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𝑉</m:t>
                                            </m:r>
                                          </m:den>
                                        </m:f>
                                      </m:e>
                                    </m:d>
                                  </m:e>
                                  <m:sub>
                                    <m:r>
                                      <a:rPr lang="en-US" b="0" i="1" smtClean="0">
                                        <a:solidFill>
                                          <a:schemeClr val="tx1"/>
                                        </a:solidFill>
                                        <a:latin typeface="Cambria Math" panose="02040503050406030204" pitchFamily="18" charset="0"/>
                                        <a:ea typeface="Cambria Math" panose="02040503050406030204" pitchFamily="18" charset="0"/>
                                      </a:rPr>
                                      <m:t>𝜏</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𝜇</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6354381"/>
                      </a:ext>
                    </a:extLst>
                  </a:tr>
                  <a:tr h="789902">
                    <a:tc>
                      <a:txBody>
                        <a:bodyPr/>
                        <a:lstStyle/>
                        <a:p>
                          <a:pPr algn="ctr"/>
                          <a:endParaRPr lang="en-CN"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𝜇</m:t>
                                </m:r>
                              </m:oMath>
                            </m:oMathPara>
                          </a14:m>
                          <a:endParaRPr lang="en-C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m:t>
                                </m:r>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ea typeface="Cambria Math" panose="02040503050406030204" pitchFamily="18" charset="0"/>
                                      </a:rPr>
                                      <m:t>𝜇</m:t>
                                    </m:r>
                                  </m:num>
                                  <m:den>
                                    <m:r>
                                      <a:rPr lang="en-US" b="0" i="1" smtClean="0">
                                        <a:solidFill>
                                          <a:schemeClr val="tx1"/>
                                        </a:solidFill>
                                        <a:latin typeface="Cambria Math" panose="02040503050406030204" pitchFamily="18" charset="0"/>
                                        <a:ea typeface="Cambria Math" panose="02040503050406030204" pitchFamily="18" charset="0"/>
                                      </a:rPr>
                                      <m:t>𝜏</m:t>
                                    </m:r>
                                  </m:den>
                                </m:f>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𝜎</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𝑁</m:t>
                                            </m:r>
                                          </m:den>
                                        </m:f>
                                      </m:e>
                                    </m:d>
                                  </m:e>
                                  <m:sub>
                                    <m:r>
                                      <a:rPr lang="en-US" b="0" i="1" smtClean="0">
                                        <a:solidFill>
                                          <a:schemeClr val="tx1"/>
                                        </a:solidFill>
                                        <a:latin typeface="Cambria Math" panose="02040503050406030204" pitchFamily="18" charset="0"/>
                                      </a:rPr>
                                      <m:t>𝑈</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𝑉</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𝜇</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𝑁</m:t>
                                            </m:r>
                                          </m:den>
                                        </m:f>
                                      </m:e>
                                    </m:d>
                                  </m:e>
                                  <m:sub>
                                    <m:r>
                                      <a:rPr lang="en-US" b="0" i="1" smtClean="0">
                                        <a:solidFill>
                                          <a:schemeClr val="tx1"/>
                                        </a:solidFill>
                                        <a:latin typeface="Cambria Math" panose="02040503050406030204" pitchFamily="18" charset="0"/>
                                        <a:ea typeface="Cambria Math" panose="02040503050406030204" pitchFamily="18" charset="0"/>
                                      </a:rPr>
                                      <m:t>𝜎</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𝑉</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chemeClr val="tx1"/>
                                    </a:solidFill>
                                    <a:latin typeface="Cambria Math" panose="02040503050406030204" pitchFamily="18" charset="0"/>
                                    <a:ea typeface="Cambria Math" panose="02040503050406030204" pitchFamily="18" charset="0"/>
                                  </a:rPr>
                                  <m:t>𝜇</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𝐹</m:t>
                                            </m:r>
                                          </m:num>
                                          <m:den>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𝑁</m:t>
                                            </m:r>
                                          </m:den>
                                        </m:f>
                                      </m:e>
                                    </m:d>
                                  </m:e>
                                  <m:sub>
                                    <m:r>
                                      <a:rPr lang="en-US" b="0" i="1" smtClean="0">
                                        <a:solidFill>
                                          <a:schemeClr val="tx1"/>
                                        </a:solidFill>
                                        <a:latin typeface="Cambria Math" panose="02040503050406030204" pitchFamily="18" charset="0"/>
                                        <a:ea typeface="Cambria Math" panose="02040503050406030204" pitchFamily="18" charset="0"/>
                                      </a:rPr>
                                      <m:t>𝜏</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𝑉</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CN" i="1" smtClean="0">
                                    <a:solidFill>
                                      <a:srgbClr val="FF0000"/>
                                    </a:solidFill>
                                    <a:latin typeface="Cambria Math" panose="02040503050406030204" pitchFamily="18" charset="0"/>
                                    <a:ea typeface="Cambria Math" panose="02040503050406030204" pitchFamily="18" charset="0"/>
                                  </a:rPr>
                                  <m:t>𝜇</m:t>
                                </m:r>
                                <m:r>
                                  <a:rPr lang="en-US" b="0" i="1" smtClean="0">
                                    <a:solidFill>
                                      <a:srgbClr val="FF0000"/>
                                    </a:solidFill>
                                    <a:latin typeface="Cambria Math" panose="02040503050406030204" pitchFamily="18" charset="0"/>
                                    <a:ea typeface="Cambria Math" panose="02040503050406030204" pitchFamily="18" charset="0"/>
                                  </a:rPr>
                                  <m:t>=</m:t>
                                </m:r>
                                <m:sSub>
                                  <m:sSubPr>
                                    <m:ctrlPr>
                                      <a:rPr lang="en-US" b="0" i="1" smtClean="0">
                                        <a:solidFill>
                                          <a:srgbClr val="FF0000"/>
                                        </a:solidFill>
                                        <a:latin typeface="Cambria Math" panose="02040503050406030204" pitchFamily="18" charset="0"/>
                                        <a:ea typeface="Cambria Math" panose="02040503050406030204" pitchFamily="18" charset="0"/>
                                      </a:rPr>
                                    </m:ctrlPr>
                                  </m:sSubPr>
                                  <m:e>
                                    <m:d>
                                      <m:dPr>
                                        <m:ctrlPr>
                                          <a:rPr lang="en-US" b="0" i="1" smtClean="0">
                                            <a:solidFill>
                                              <a:srgbClr val="FF0000"/>
                                            </a:solidFill>
                                            <a:latin typeface="Cambria Math" panose="02040503050406030204" pitchFamily="18" charset="0"/>
                                            <a:ea typeface="Cambria Math" panose="02040503050406030204" pitchFamily="18" charset="0"/>
                                          </a:rPr>
                                        </m:ctrlPr>
                                      </m:dPr>
                                      <m:e>
                                        <m:f>
                                          <m:fPr>
                                            <m:ctrlPr>
                                              <a:rPr lang="en-US" b="0" i="1" smtClean="0">
                                                <a:solidFill>
                                                  <a:srgbClr val="FF0000"/>
                                                </a:solidFill>
                                                <a:latin typeface="Cambria Math" panose="02040503050406030204" pitchFamily="18" charset="0"/>
                                                <a:ea typeface="Cambria Math" panose="02040503050406030204" pitchFamily="18" charset="0"/>
                                              </a:rPr>
                                            </m:ctrlPr>
                                          </m:fPr>
                                          <m:num>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𝐺</m:t>
                                            </m:r>
                                          </m:num>
                                          <m:den>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𝑁</m:t>
                                            </m:r>
                                          </m:den>
                                        </m:f>
                                      </m:e>
                                    </m:d>
                                  </m:e>
                                  <m:sub>
                                    <m:r>
                                      <a:rPr lang="en-US" b="0" i="1" smtClean="0">
                                        <a:solidFill>
                                          <a:srgbClr val="FF0000"/>
                                        </a:solidFill>
                                        <a:latin typeface="Cambria Math" panose="02040503050406030204" pitchFamily="18" charset="0"/>
                                        <a:ea typeface="Cambria Math" panose="02040503050406030204" pitchFamily="18" charset="0"/>
                                      </a:rPr>
                                      <m:t>𝜏</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𝑝</m:t>
                                    </m:r>
                                  </m:sub>
                                </m:sSub>
                              </m:oMath>
                            </m:oMathPara>
                          </a14:m>
                          <a:endParaRPr lang="en-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5672016"/>
                      </a:ext>
                    </a:extLst>
                  </a:tr>
                </a:tbl>
              </a:graphicData>
            </a:graphic>
          </p:graphicFrame>
        </mc:Choice>
        <mc:Fallback xmlns="">
          <p:graphicFrame>
            <p:nvGraphicFramePr>
              <p:cNvPr id="2" name="Table 3">
                <a:extLst>
                  <a:ext uri="{FF2B5EF4-FFF2-40B4-BE49-F238E27FC236}">
                    <a16:creationId xmlns:a16="http://schemas.microsoft.com/office/drawing/2014/main" id="{004046FC-2B2A-8F47-8E35-4D5043AFB02E}"/>
                  </a:ext>
                </a:extLst>
              </p:cNvPr>
              <p:cNvGraphicFramePr>
                <a:graphicFrameLocks noGrp="1"/>
              </p:cNvGraphicFramePr>
              <p:nvPr>
                <p:extLst>
                  <p:ext uri="{D42A27DB-BD31-4B8C-83A1-F6EECF244321}">
                    <p14:modId xmlns:p14="http://schemas.microsoft.com/office/powerpoint/2010/main" val="3552432503"/>
                  </p:ext>
                </p:extLst>
              </p:nvPr>
            </p:nvGraphicFramePr>
            <p:xfrm>
              <a:off x="1052945" y="294178"/>
              <a:ext cx="10293930" cy="3159608"/>
            </p:xfrm>
            <a:graphic>
              <a:graphicData uri="http://schemas.openxmlformats.org/drawingml/2006/table">
                <a:tbl>
                  <a:tblPr firstRow="1" bandRow="1">
                    <a:tableStyleId>{5C22544A-7EE6-4342-B048-85BDC9FD1C3A}</a:tableStyleId>
                  </a:tblPr>
                  <a:tblGrid>
                    <a:gridCol w="1715655">
                      <a:extLst>
                        <a:ext uri="{9D8B030D-6E8A-4147-A177-3AD203B41FA5}">
                          <a16:colId xmlns:a16="http://schemas.microsoft.com/office/drawing/2014/main" val="1881081285"/>
                        </a:ext>
                      </a:extLst>
                    </a:gridCol>
                    <a:gridCol w="1715655">
                      <a:extLst>
                        <a:ext uri="{9D8B030D-6E8A-4147-A177-3AD203B41FA5}">
                          <a16:colId xmlns:a16="http://schemas.microsoft.com/office/drawing/2014/main" val="1242995189"/>
                        </a:ext>
                      </a:extLst>
                    </a:gridCol>
                    <a:gridCol w="1715655">
                      <a:extLst>
                        <a:ext uri="{9D8B030D-6E8A-4147-A177-3AD203B41FA5}">
                          <a16:colId xmlns:a16="http://schemas.microsoft.com/office/drawing/2014/main" val="3250826949"/>
                        </a:ext>
                      </a:extLst>
                    </a:gridCol>
                    <a:gridCol w="1715655">
                      <a:extLst>
                        <a:ext uri="{9D8B030D-6E8A-4147-A177-3AD203B41FA5}">
                          <a16:colId xmlns:a16="http://schemas.microsoft.com/office/drawing/2014/main" val="3979781198"/>
                        </a:ext>
                      </a:extLst>
                    </a:gridCol>
                    <a:gridCol w="1715655">
                      <a:extLst>
                        <a:ext uri="{9D8B030D-6E8A-4147-A177-3AD203B41FA5}">
                          <a16:colId xmlns:a16="http://schemas.microsoft.com/office/drawing/2014/main" val="2643297378"/>
                        </a:ext>
                      </a:extLst>
                    </a:gridCol>
                    <a:gridCol w="1715655">
                      <a:extLst>
                        <a:ext uri="{9D8B030D-6E8A-4147-A177-3AD203B41FA5}">
                          <a16:colId xmlns:a16="http://schemas.microsoft.com/office/drawing/2014/main" val="2179112404"/>
                        </a:ext>
                      </a:extLst>
                    </a:gridCol>
                  </a:tblGrid>
                  <a:tr h="789902">
                    <a:tc>
                      <a:txBody>
                        <a:bodyPr/>
                        <a:lstStyle/>
                        <a:p>
                          <a:endParaRPr lang="en-C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265" r="-398529" b="-3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741" r="-301481" b="-3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0741" r="-201481" b="-3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97794" r="-100000" b="-303226"/>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501481" r="-741" b="-303226"/>
                          </a:stretch>
                        </a:blipFill>
                      </a:tcPr>
                    </a:tc>
                    <a:extLst>
                      <a:ext uri="{0D108BD9-81ED-4DB2-BD59-A6C34878D82A}">
                        <a16:rowId xmlns:a16="http://schemas.microsoft.com/office/drawing/2014/main" val="1475300713"/>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98413" r="-502222" b="-1984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265" t="-98413" r="-398529" b="-1984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741" t="-98413" r="-301481" b="-198413"/>
                          </a:stretch>
                        </a:blipFill>
                      </a:tcPr>
                    </a:tc>
                    <a:tc>
                      <a:txBody>
                        <a:bodyPr/>
                        <a:lstStyle/>
                        <a:p>
                          <a:pPr algn="ctr"/>
                          <a:r>
                            <a:rPr lang="en-US" dirty="0">
                              <a:solidFill>
                                <a:schemeClr val="tx1"/>
                              </a:solidFill>
                            </a:rPr>
                            <a:t>d</a:t>
                          </a:r>
                          <a:r>
                            <a:rPr lang="en-CN" dirty="0">
                              <a:solidFill>
                                <a:schemeClr val="tx1"/>
                              </a:solidFill>
                            </a:rPr>
                            <a:t>ependent variable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97794" t="-98413" r="-100000" b="-198413"/>
                          </a:stretch>
                        </a:blipFill>
                      </a:tcPr>
                    </a:tc>
                    <a:tc>
                      <a:txBody>
                        <a:bodyPr/>
                        <a:lstStyle/>
                        <a:p>
                          <a:pPr algn="ctr"/>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249"/>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t="-201613" r="-502222" b="-10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265" t="-201613" r="-398529" b="-10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741" t="-201613" r="-301481" b="-10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0741" t="-201613" r="-201481" b="-10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97794" t="-201613" r="-100000" b="-10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501481" t="-201613" r="-741" b="-101613"/>
                          </a:stretch>
                        </a:blipFill>
                      </a:tcPr>
                    </a:tc>
                    <a:extLst>
                      <a:ext uri="{0D108BD9-81ED-4DB2-BD59-A6C34878D82A}">
                        <a16:rowId xmlns:a16="http://schemas.microsoft.com/office/drawing/2014/main" val="876354381"/>
                      </a:ext>
                    </a:extLst>
                  </a:tr>
                  <a:tr h="789902">
                    <a:tc>
                      <a:txBody>
                        <a:bodyPr/>
                        <a:lstStyle/>
                        <a:p>
                          <a:endParaRPr lang="en-CN"/>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t="-301613" r="-502222" b="-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99265" t="-301613" r="-398529" b="-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200741" t="-301613" r="-301481" b="-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300741" t="-301613" r="-201481" b="-1613"/>
                          </a:stretch>
                        </a:blipFill>
                      </a:tcPr>
                    </a:tc>
                    <a:tc>
                      <a:txBody>
                        <a:bodyPr/>
                        <a:lstStyle/>
                        <a:p>
                          <a:endParaRPr lang="en-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397794" t="-301613" r="-100000" b="-1613"/>
                          </a:stretch>
                        </a:blipFill>
                      </a:tcPr>
                    </a:tc>
                    <a:tc>
                      <a:txBody>
                        <a:bodyPr/>
                        <a:lstStyle/>
                        <a:p>
                          <a:pPr algn="ctr"/>
                          <a:endParaRPr lang="en-CN" dirty="0">
                            <a:solidFill>
                              <a:schemeClr val="tx1"/>
                            </a:solidFill>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5672016"/>
                      </a:ext>
                    </a:extLst>
                  </a:tr>
                </a:tbl>
              </a:graphicData>
            </a:graphic>
          </p:graphicFrame>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464E484-6B45-8248-96E5-BE41EE645A9C}"/>
                  </a:ext>
                </a:extLst>
              </p:cNvPr>
              <p:cNvSpPr txBox="1"/>
              <p:nvPr/>
            </p:nvSpPr>
            <p:spPr>
              <a:xfrm>
                <a:off x="653469" y="4146564"/>
                <a:ext cx="10806545" cy="369332"/>
              </a:xfrm>
              <a:prstGeom prst="rect">
                <a:avLst/>
              </a:prstGeom>
              <a:noFill/>
            </p:spPr>
            <p:txBody>
              <a:bodyPr wrap="square" rtlCol="0">
                <a:spAutoFit/>
              </a:bodyPr>
              <a:lstStyle/>
              <a:p>
                <a:r>
                  <a:rPr lang="en-CN" dirty="0"/>
                  <a:t>Grand Free Energy                 </a:t>
                </a:r>
                <a14:m>
                  <m:oMath xmlns:m="http://schemas.openxmlformats.org/officeDocument/2006/math">
                    <m:r>
                      <m:rPr>
                        <m:sty m:val="p"/>
                      </m:rPr>
                      <a:rPr lang="el-GR" b="0" i="1" smtClean="0">
                        <a:latin typeface="Cambria Math" panose="02040503050406030204" pitchFamily="18" charset="0"/>
                        <a:ea typeface="Cambria Math" panose="02040503050406030204" pitchFamily="18" charset="0"/>
                      </a:rPr>
                      <m:t>Ω</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e>
                    </m:d>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𝑁</m:t>
                    </m:r>
                  </m:oMath>
                </a14:m>
                <a:endParaRPr lang="en-CN" dirty="0"/>
              </a:p>
            </p:txBody>
          </p:sp>
        </mc:Choice>
        <mc:Fallback xmlns="">
          <p:sp>
            <p:nvSpPr>
              <p:cNvPr id="3" name="TextBox 2">
                <a:extLst>
                  <a:ext uri="{FF2B5EF4-FFF2-40B4-BE49-F238E27FC236}">
                    <a16:creationId xmlns:a16="http://schemas.microsoft.com/office/drawing/2014/main" id="{F464E484-6B45-8248-96E5-BE41EE645A9C}"/>
                  </a:ext>
                </a:extLst>
              </p:cNvPr>
              <p:cNvSpPr txBox="1">
                <a:spLocks noRot="1" noChangeAspect="1" noMove="1" noResize="1" noEditPoints="1" noAdjustHandles="1" noChangeArrowheads="1" noChangeShapeType="1" noTextEdit="1"/>
              </p:cNvSpPr>
              <p:nvPr/>
            </p:nvSpPr>
            <p:spPr>
              <a:xfrm>
                <a:off x="653469" y="4146564"/>
                <a:ext cx="10806545" cy="369332"/>
              </a:xfrm>
              <a:prstGeom prst="rect">
                <a:avLst/>
              </a:prstGeom>
              <a:blipFill>
                <a:blip r:embed="rId3"/>
                <a:stretch>
                  <a:fillRect l="-469" t="-6667" b="-2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C42CD23-E24D-2140-9A1C-A5498B0269EA}"/>
                  </a:ext>
                </a:extLst>
              </p:cNvPr>
              <p:cNvSpPr txBox="1"/>
              <p:nvPr/>
            </p:nvSpPr>
            <p:spPr>
              <a:xfrm>
                <a:off x="4202544" y="4699375"/>
                <a:ext cx="321425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l-GR" b="0" i="1" smtClean="0">
                          <a:latin typeface="Cambria Math" panose="02040503050406030204" pitchFamily="18" charset="0"/>
                          <a:ea typeface="Cambria Math" panose="02040503050406030204" pitchFamily="18" charset="0"/>
                        </a:rPr>
                        <m:t>Ω</m:t>
                      </m:r>
                      <m:r>
                        <a:rPr lang="en-US" b="0" i="1" smtClean="0">
                          <a:latin typeface="Cambria Math" panose="02040503050406030204" pitchFamily="18" charset="0"/>
                        </a:rPr>
                        <m:t>=</m:t>
                      </m:r>
                      <m:r>
                        <a:rPr lang="en-US" b="0" i="1" smtClean="0">
                          <a:latin typeface="Cambria Math" panose="02040503050406030204" pitchFamily="18" charset="0"/>
                        </a:rPr>
                        <m:t>𝑝𝑉</m:t>
                      </m:r>
                    </m:oMath>
                  </m:oMathPara>
                </a14:m>
                <a:endParaRPr lang="en-CN" dirty="0"/>
              </a:p>
            </p:txBody>
          </p:sp>
        </mc:Choice>
        <mc:Fallback xmlns="">
          <p:sp>
            <p:nvSpPr>
              <p:cNvPr id="8" name="TextBox 7">
                <a:extLst>
                  <a:ext uri="{FF2B5EF4-FFF2-40B4-BE49-F238E27FC236}">
                    <a16:creationId xmlns:a16="http://schemas.microsoft.com/office/drawing/2014/main" id="{4C42CD23-E24D-2140-9A1C-A5498B0269EA}"/>
                  </a:ext>
                </a:extLst>
              </p:cNvPr>
              <p:cNvSpPr txBox="1">
                <a:spLocks noRot="1" noChangeAspect="1" noMove="1" noResize="1" noEditPoints="1" noAdjustHandles="1" noChangeArrowheads="1" noChangeShapeType="1" noTextEdit="1"/>
              </p:cNvSpPr>
              <p:nvPr/>
            </p:nvSpPr>
            <p:spPr>
              <a:xfrm>
                <a:off x="4202544" y="4699375"/>
                <a:ext cx="3214254" cy="369332"/>
              </a:xfrm>
              <a:prstGeom prst="rect">
                <a:avLst/>
              </a:prstGeom>
              <a:blipFill>
                <a:blip r:embed="rId4"/>
                <a:stretch>
                  <a:fillRect b="-13793"/>
                </a:stretch>
              </a:blipFill>
            </p:spPr>
            <p:txBody>
              <a:bodyPr/>
              <a:lstStyle/>
              <a:p>
                <a:r>
                  <a:rPr lang="en-CN">
                    <a:noFill/>
                  </a:rPr>
                  <a:t> </a:t>
                </a:r>
              </a:p>
            </p:txBody>
          </p:sp>
        </mc:Fallback>
      </mc:AlternateContent>
      <p:sp>
        <p:nvSpPr>
          <p:cNvPr id="4" name="TextBox 3">
            <a:extLst>
              <a:ext uri="{FF2B5EF4-FFF2-40B4-BE49-F238E27FC236}">
                <a16:creationId xmlns:a16="http://schemas.microsoft.com/office/drawing/2014/main" id="{35146DF9-1DBD-1B43-A59E-04639963A31B}"/>
              </a:ext>
            </a:extLst>
          </p:cNvPr>
          <p:cNvSpPr txBox="1"/>
          <p:nvPr/>
        </p:nvSpPr>
        <p:spPr>
          <a:xfrm>
            <a:off x="124691" y="138545"/>
            <a:ext cx="1939636" cy="369332"/>
          </a:xfrm>
          <a:prstGeom prst="rect">
            <a:avLst/>
          </a:prstGeom>
          <a:noFill/>
        </p:spPr>
        <p:txBody>
          <a:bodyPr wrap="square" rtlCol="0">
            <a:spAutoFit/>
          </a:bodyPr>
          <a:lstStyle/>
          <a:p>
            <a:r>
              <a:rPr lang="en-CN" dirty="0"/>
              <a:t>补遗四</a:t>
            </a:r>
          </a:p>
        </p:txBody>
      </p:sp>
      <p:sp>
        <p:nvSpPr>
          <p:cNvPr id="5" name="Curved Up Arrow 4">
            <a:extLst>
              <a:ext uri="{FF2B5EF4-FFF2-40B4-BE49-F238E27FC236}">
                <a16:creationId xmlns:a16="http://schemas.microsoft.com/office/drawing/2014/main" id="{E1D17EDC-F9CA-6A44-A054-8788A3FD8369}"/>
              </a:ext>
            </a:extLst>
          </p:cNvPr>
          <p:cNvSpPr/>
          <p:nvPr/>
        </p:nvSpPr>
        <p:spPr>
          <a:xfrm>
            <a:off x="7342907" y="3574473"/>
            <a:ext cx="3117273" cy="572091"/>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8D4608E-742B-3340-8472-65462B28E203}"/>
                  </a:ext>
                </a:extLst>
              </p:cNvPr>
              <p:cNvSpPr txBox="1"/>
              <p:nvPr/>
            </p:nvSpPr>
            <p:spPr>
              <a:xfrm>
                <a:off x="3380509" y="5458691"/>
                <a:ext cx="5514109" cy="721223"/>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Ω</m:t>
                                  </m:r>
                                </m:num>
                                <m:den>
                                  <m:r>
                                    <a:rPr lang="en-US" b="0" i="1" smtClean="0">
                                      <a:latin typeface="Cambria Math" panose="02040503050406030204" pitchFamily="18" charset="0"/>
                                      <a:ea typeface="Cambria Math" panose="02040503050406030204" pitchFamily="18" charset="0"/>
                                    </a:rPr>
                                    <m:t>𝜕𝜏</m:t>
                                  </m:r>
                                </m:den>
                              </m:f>
                            </m:e>
                          </m:d>
                        </m:e>
                        <m:sub>
                          <m: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Ω</m:t>
                                  </m:r>
                                </m:num>
                                <m:den>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den>
                              </m:f>
                            </m:e>
                          </m:d>
                        </m:e>
                        <m:sub>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sub>
                      </m:sSub>
                    </m:oMath>
                  </m:oMathPara>
                </a14:m>
                <a:endParaRPr lang="en-CN" dirty="0"/>
              </a:p>
            </p:txBody>
          </p:sp>
        </mc:Choice>
        <mc:Fallback xmlns="">
          <p:sp>
            <p:nvSpPr>
              <p:cNvPr id="13" name="TextBox 12">
                <a:extLst>
                  <a:ext uri="{FF2B5EF4-FFF2-40B4-BE49-F238E27FC236}">
                    <a16:creationId xmlns:a16="http://schemas.microsoft.com/office/drawing/2014/main" id="{28D4608E-742B-3340-8472-65462B28E203}"/>
                  </a:ext>
                </a:extLst>
              </p:cNvPr>
              <p:cNvSpPr txBox="1">
                <a:spLocks noRot="1" noChangeAspect="1" noMove="1" noResize="1" noEditPoints="1" noAdjustHandles="1" noChangeArrowheads="1" noChangeShapeType="1" noTextEdit="1"/>
              </p:cNvSpPr>
              <p:nvPr/>
            </p:nvSpPr>
            <p:spPr>
              <a:xfrm>
                <a:off x="3380509" y="5458691"/>
                <a:ext cx="5514109" cy="721223"/>
              </a:xfrm>
              <a:prstGeom prst="rect">
                <a:avLst/>
              </a:prstGeom>
              <a:blipFill>
                <a:blip r:embed="rId5"/>
                <a:stretch>
                  <a:fillRect/>
                </a:stretch>
              </a:blipFill>
            </p:spPr>
            <p:txBody>
              <a:bodyPr/>
              <a:lstStyle/>
              <a:p>
                <a:r>
                  <a:rPr lang="en-CN">
                    <a:noFill/>
                  </a:rPr>
                  <a:t> </a:t>
                </a:r>
              </a:p>
            </p:txBody>
          </p:sp>
        </mc:Fallback>
      </mc:AlternateContent>
    </p:spTree>
    <p:extLst>
      <p:ext uri="{BB962C8B-B14F-4D97-AF65-F5344CB8AC3E}">
        <p14:creationId xmlns:p14="http://schemas.microsoft.com/office/powerpoint/2010/main" val="7213213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241387-B2B4-A14A-BABA-365287418E04}"/>
              </a:ext>
            </a:extLst>
          </p:cNvPr>
          <p:cNvSpPr txBox="1"/>
          <p:nvPr/>
        </p:nvSpPr>
        <p:spPr>
          <a:xfrm>
            <a:off x="277090" y="221673"/>
            <a:ext cx="11623965" cy="369332"/>
          </a:xfrm>
          <a:prstGeom prst="rect">
            <a:avLst/>
          </a:prstGeom>
          <a:noFill/>
        </p:spPr>
        <p:txBody>
          <a:bodyPr wrap="square" rtlCol="0">
            <a:spAutoFit/>
          </a:bodyPr>
          <a:lstStyle/>
          <a:p>
            <a:r>
              <a:rPr lang="en-CN" dirty="0"/>
              <a:t>补遗五</a:t>
            </a:r>
            <a:r>
              <a:rPr lang="zh-CN" altLang="en-US" dirty="0"/>
              <a:t>：雅可比行列式（纯粹为了玩儿！！！）</a:t>
            </a:r>
            <a:endParaRPr lang="en-CN"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AB51DCE-ADC4-9640-A8F2-DE4D07EA410E}"/>
                  </a:ext>
                </a:extLst>
              </p:cNvPr>
              <p:cNvSpPr txBox="1"/>
              <p:nvPr/>
            </p:nvSpPr>
            <p:spPr>
              <a:xfrm>
                <a:off x="872836" y="886691"/>
                <a:ext cx="10210800" cy="369332"/>
              </a:xfrm>
              <a:prstGeom prst="rect">
                <a:avLst/>
              </a:prstGeom>
              <a:noFill/>
            </p:spPr>
            <p:txBody>
              <a:bodyPr wrap="square" rtlCol="0">
                <a:spAutoFit/>
              </a:bodyPr>
              <a:lstStyle/>
              <a:p>
                <a:r>
                  <a:rPr lang="en-CN" dirty="0"/>
                  <a:t>设变量u和v是独立变量x和y的函数</a:t>
                </a:r>
                <a:r>
                  <a:rPr lang="zh-CN" altLang="en-US" dirty="0"/>
                  <a:t>，即</a:t>
                </a:r>
                <a14:m>
                  <m:oMath xmlns:m="http://schemas.openxmlformats.org/officeDocument/2006/math">
                    <m:r>
                      <m:rPr>
                        <m:sty m:val="p"/>
                      </m:rPr>
                      <a:rPr lang="en-US" altLang="zh-CN" b="0" i="0" smtClean="0">
                        <a:latin typeface="Cambria Math" panose="02040503050406030204" pitchFamily="18" charset="0"/>
                      </a:rPr>
                      <m:t>u</m:t>
                    </m:r>
                    <m:r>
                      <a:rPr lang="en-US" altLang="zh-CN" b="0" i="0" smtClean="0">
                        <a:latin typeface="Cambria Math" panose="02040503050406030204" pitchFamily="18" charset="0"/>
                      </a:rPr>
                      <m:t>=</m:t>
                    </m:r>
                    <m:r>
                      <a:rPr lang="en-US" altLang="zh-CN" b="0" i="1" smtClean="0">
                        <a:latin typeface="Cambria Math" panose="02040503050406030204" pitchFamily="18" charset="0"/>
                      </a:rPr>
                      <m:t>𝑢</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𝑣</m:t>
                    </m:r>
                    <m:r>
                      <a:rPr lang="en-US" altLang="zh-CN" b="0" i="1" smtClean="0">
                        <a:latin typeface="Cambria Math" panose="02040503050406030204" pitchFamily="18" charset="0"/>
                      </a:rPr>
                      <m:t>=</m:t>
                    </m:r>
                    <m:r>
                      <a:rPr lang="en-US" altLang="zh-CN" b="0" i="1" smtClean="0">
                        <a:latin typeface="Cambria Math" panose="02040503050406030204" pitchFamily="18" charset="0"/>
                      </a:rPr>
                      <m:t>𝑣</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a:t>，则可以定义如下雅可比行列式</a:t>
                </a:r>
                <a:endParaRPr lang="en-CN" dirty="0"/>
              </a:p>
            </p:txBody>
          </p:sp>
        </mc:Choice>
        <mc:Fallback xmlns="">
          <p:sp>
            <p:nvSpPr>
              <p:cNvPr id="4" name="TextBox 3">
                <a:extLst>
                  <a:ext uri="{FF2B5EF4-FFF2-40B4-BE49-F238E27FC236}">
                    <a16:creationId xmlns:a16="http://schemas.microsoft.com/office/drawing/2014/main" id="{7AB51DCE-ADC4-9640-A8F2-DE4D07EA410E}"/>
                  </a:ext>
                </a:extLst>
              </p:cNvPr>
              <p:cNvSpPr txBox="1">
                <a:spLocks noRot="1" noChangeAspect="1" noMove="1" noResize="1" noEditPoints="1" noAdjustHandles="1" noChangeArrowheads="1" noChangeShapeType="1" noTextEdit="1"/>
              </p:cNvSpPr>
              <p:nvPr/>
            </p:nvSpPr>
            <p:spPr>
              <a:xfrm>
                <a:off x="872836" y="886691"/>
                <a:ext cx="10210800" cy="369332"/>
              </a:xfrm>
              <a:prstGeom prst="rect">
                <a:avLst/>
              </a:prstGeom>
              <a:blipFill>
                <a:blip r:embed="rId2"/>
                <a:stretch>
                  <a:fillRect l="-497" t="-6667" b="-2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0EC6728-5089-ED42-894E-7AB7A0C294BA}"/>
                  </a:ext>
                </a:extLst>
              </p:cNvPr>
              <p:cNvSpPr txBox="1"/>
              <p:nvPr/>
            </p:nvSpPr>
            <p:spPr>
              <a:xfrm>
                <a:off x="2895599" y="1427018"/>
                <a:ext cx="6386946" cy="134485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m:t>
                          </m:r>
                        </m:num>
                        <m:den>
                          <m:r>
                            <a:rPr lang="en-US"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den>
                      </m:f>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𝑢</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𝑥</m:t>
                                            </m:r>
                                          </m:den>
                                        </m:f>
                                      </m:e>
                                    </m:d>
                                  </m:e>
                                  <m:sub>
                                    <m:r>
                                      <a:rPr lang="en-US" b="0" i="1" smtClean="0">
                                        <a:latin typeface="Cambria Math" panose="02040503050406030204" pitchFamily="18" charset="0"/>
                                      </a:rPr>
                                      <m:t>𝑦</m:t>
                                    </m:r>
                                  </m:sub>
                                </m:sSub>
                              </m:e>
                              <m:e>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𝑢</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𝑦</m:t>
                                            </m:r>
                                          </m:den>
                                        </m:f>
                                      </m:e>
                                    </m:d>
                                  </m:e>
                                  <m:sub>
                                    <m:r>
                                      <a:rPr lang="en-US" b="0" i="1" smtClean="0">
                                        <a:latin typeface="Cambria Math" panose="02040503050406030204" pitchFamily="18" charset="0"/>
                                      </a:rPr>
                                      <m:t>𝑥</m:t>
                                    </m:r>
                                  </m:sub>
                                </m:sSub>
                              </m:e>
                            </m:mr>
                            <m:mr>
                              <m:e>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𝑣</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𝑥</m:t>
                                            </m:r>
                                          </m:den>
                                        </m:f>
                                      </m:e>
                                    </m:d>
                                  </m:e>
                                  <m:sub>
                                    <m:r>
                                      <a:rPr lang="en-US" b="0" i="1" smtClean="0">
                                        <a:latin typeface="Cambria Math" panose="02040503050406030204" pitchFamily="18" charset="0"/>
                                      </a:rPr>
                                      <m:t>𝑦</m:t>
                                    </m:r>
                                  </m:sub>
                                </m:sSub>
                              </m:e>
                              <m:e>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𝑣</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𝑦</m:t>
                                            </m:r>
                                          </m:den>
                                        </m:f>
                                      </m:e>
                                    </m:d>
                                  </m:e>
                                  <m:sub>
                                    <m:r>
                                      <a:rPr lang="en-US" b="0" i="1" smtClean="0">
                                        <a:latin typeface="Cambria Math" panose="02040503050406030204" pitchFamily="18" charset="0"/>
                                      </a:rPr>
                                      <m:t>𝑥</m:t>
                                    </m:r>
                                  </m:sub>
                                </m:sSub>
                              </m:e>
                            </m:mr>
                          </m:m>
                        </m:e>
                      </m:d>
                    </m:oMath>
                  </m:oMathPara>
                </a14:m>
                <a:endParaRPr lang="en-CN" dirty="0"/>
              </a:p>
            </p:txBody>
          </p:sp>
        </mc:Choice>
        <mc:Fallback xmlns="">
          <p:sp>
            <p:nvSpPr>
              <p:cNvPr id="5" name="TextBox 4">
                <a:extLst>
                  <a:ext uri="{FF2B5EF4-FFF2-40B4-BE49-F238E27FC236}">
                    <a16:creationId xmlns:a16="http://schemas.microsoft.com/office/drawing/2014/main" id="{10EC6728-5089-ED42-894E-7AB7A0C294BA}"/>
                  </a:ext>
                </a:extLst>
              </p:cNvPr>
              <p:cNvSpPr txBox="1">
                <a:spLocks noRot="1" noChangeAspect="1" noMove="1" noResize="1" noEditPoints="1" noAdjustHandles="1" noChangeArrowheads="1" noChangeShapeType="1" noTextEdit="1"/>
              </p:cNvSpPr>
              <p:nvPr/>
            </p:nvSpPr>
            <p:spPr>
              <a:xfrm>
                <a:off x="2895599" y="1427018"/>
                <a:ext cx="6386946" cy="1344855"/>
              </a:xfrm>
              <a:prstGeom prst="rect">
                <a:avLst/>
              </a:prstGeom>
              <a:blipFill>
                <a:blip r:embed="rId3"/>
                <a:stretch>
                  <a:fillRect b="-2804"/>
                </a:stretch>
              </a:blipFill>
            </p:spPr>
            <p:txBody>
              <a:bodyPr/>
              <a:lstStyle/>
              <a:p>
                <a:r>
                  <a:rPr lang="en-CN">
                    <a:noFill/>
                  </a:rPr>
                  <a:t> </a:t>
                </a:r>
              </a:p>
            </p:txBody>
          </p:sp>
        </mc:Fallback>
      </mc:AlternateContent>
      <p:sp>
        <p:nvSpPr>
          <p:cNvPr id="6" name="TextBox 5">
            <a:extLst>
              <a:ext uri="{FF2B5EF4-FFF2-40B4-BE49-F238E27FC236}">
                <a16:creationId xmlns:a16="http://schemas.microsoft.com/office/drawing/2014/main" id="{6EF56D11-A88A-1C48-B794-577B540A419D}"/>
              </a:ext>
            </a:extLst>
          </p:cNvPr>
          <p:cNvSpPr txBox="1"/>
          <p:nvPr/>
        </p:nvSpPr>
        <p:spPr>
          <a:xfrm>
            <a:off x="1052945" y="3244334"/>
            <a:ext cx="5708073" cy="369332"/>
          </a:xfrm>
          <a:prstGeom prst="rect">
            <a:avLst/>
          </a:prstGeom>
          <a:noFill/>
        </p:spPr>
        <p:txBody>
          <a:bodyPr wrap="square" rtlCol="0">
            <a:spAutoFit/>
          </a:bodyPr>
          <a:lstStyle/>
          <a:p>
            <a:r>
              <a:rPr lang="en-CN" dirty="0"/>
              <a:t>可以证明</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252D1A2-9D68-ED49-B8A5-A27A33795CD1}"/>
                  </a:ext>
                </a:extLst>
              </p:cNvPr>
              <p:cNvSpPr txBox="1"/>
              <p:nvPr/>
            </p:nvSpPr>
            <p:spPr>
              <a:xfrm>
                <a:off x="1995055" y="3810000"/>
                <a:ext cx="8298872" cy="7110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d>
                            <m:dPr>
                              <m:ctrlPr>
                                <a:rPr lang="en-CN" i="1" smtClean="0">
                                  <a:latin typeface="Cambria Math" panose="02040503050406030204" pitchFamily="18" charset="0"/>
                                </a:rPr>
                              </m:ctrlPr>
                            </m:dPr>
                            <m:e>
                              <m:f>
                                <m:fPr>
                                  <m:ctrlPr>
                                    <a:rPr lang="en-CN" i="1" smtClean="0">
                                      <a:latin typeface="Cambria Math" panose="02040503050406030204" pitchFamily="18" charset="0"/>
                                    </a:rPr>
                                  </m:ctrlPr>
                                </m:fPr>
                                <m:num>
                                  <m:r>
                                    <a:rPr lang="en-CN"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𝑢</m:t>
                                  </m:r>
                                </m:num>
                                <m:den>
                                  <m:r>
                                    <a:rPr lang="en-C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𝑥</m:t>
                                  </m:r>
                                </m:den>
                              </m:f>
                            </m:e>
                          </m:d>
                        </m:e>
                        <m:sub>
                          <m:r>
                            <a:rPr lang="en-US" b="0" i="1" smtClean="0">
                              <a:latin typeface="Cambria Math" panose="02040503050406030204" pitchFamily="18" charset="0"/>
                            </a:rPr>
                            <m:t>𝑦</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den>
                      </m:f>
                    </m:oMath>
                  </m:oMathPara>
                </a14:m>
                <a:endParaRPr lang="en-CN" dirty="0"/>
              </a:p>
            </p:txBody>
          </p:sp>
        </mc:Choice>
        <mc:Fallback xmlns="">
          <p:sp>
            <p:nvSpPr>
              <p:cNvPr id="7" name="TextBox 6">
                <a:extLst>
                  <a:ext uri="{FF2B5EF4-FFF2-40B4-BE49-F238E27FC236}">
                    <a16:creationId xmlns:a16="http://schemas.microsoft.com/office/drawing/2014/main" id="{6252D1A2-9D68-ED49-B8A5-A27A33795CD1}"/>
                  </a:ext>
                </a:extLst>
              </p:cNvPr>
              <p:cNvSpPr txBox="1">
                <a:spLocks noRot="1" noChangeAspect="1" noMove="1" noResize="1" noEditPoints="1" noAdjustHandles="1" noChangeArrowheads="1" noChangeShapeType="1" noTextEdit="1"/>
              </p:cNvSpPr>
              <p:nvPr/>
            </p:nvSpPr>
            <p:spPr>
              <a:xfrm>
                <a:off x="1995055" y="3810000"/>
                <a:ext cx="8298872" cy="711028"/>
              </a:xfrm>
              <a:prstGeom prst="rect">
                <a:avLst/>
              </a:prstGeom>
              <a:blipFill>
                <a:blip r:embed="rId4"/>
                <a:stretch>
                  <a:fillRect b="-3509"/>
                </a:stretch>
              </a:blipFill>
            </p:spPr>
            <p:txBody>
              <a:bodyPr/>
              <a:lstStyle/>
              <a:p>
                <a:r>
                  <a:rPr lang="en-CN">
                    <a:noFill/>
                  </a:rPr>
                  <a:t> </a:t>
                </a:r>
              </a:p>
            </p:txBody>
          </p:sp>
        </mc:Fallback>
      </mc:AlternateContent>
      <p:sp>
        <p:nvSpPr>
          <p:cNvPr id="8" name="TextBox 7">
            <a:extLst>
              <a:ext uri="{FF2B5EF4-FFF2-40B4-BE49-F238E27FC236}">
                <a16:creationId xmlns:a16="http://schemas.microsoft.com/office/drawing/2014/main" id="{81C0E2D1-C9B1-8E44-BC09-3E7A4720FB67}"/>
              </a:ext>
            </a:extLst>
          </p:cNvPr>
          <p:cNvSpPr txBox="1"/>
          <p:nvPr/>
        </p:nvSpPr>
        <p:spPr>
          <a:xfrm>
            <a:off x="1052945" y="4717362"/>
            <a:ext cx="5708073" cy="369332"/>
          </a:xfrm>
          <a:prstGeom prst="rect">
            <a:avLst/>
          </a:prstGeom>
          <a:noFill/>
        </p:spPr>
        <p:txBody>
          <a:bodyPr wrap="square" rtlCol="0">
            <a:spAutoFit/>
          </a:bodyPr>
          <a:lstStyle/>
          <a:p>
            <a:r>
              <a:rPr lang="en-CN" dirty="0"/>
              <a:t>若s和t也是x和y的函数</a:t>
            </a:r>
            <a:r>
              <a:rPr lang="zh-CN" altLang="en-US" dirty="0"/>
              <a:t>，则有</a:t>
            </a:r>
            <a:endParaRPr lang="en-CN"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CF596F2-DEB6-D64C-BEF1-54AA66CEB5AE}"/>
                  </a:ext>
                </a:extLst>
              </p:cNvPr>
              <p:cNvSpPr txBox="1"/>
              <p:nvPr/>
            </p:nvSpPr>
            <p:spPr>
              <a:xfrm>
                <a:off x="1995055" y="5540113"/>
                <a:ext cx="6096000" cy="6857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m:t>
                          </m:r>
                        </m:num>
                        <m:den>
                          <m:r>
                            <a:rPr lang="en-US"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𝑢</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𝑣</m:t>
                          </m:r>
                          <m:r>
                            <a:rPr lang="en-US" altLang="zh-CN" b="0" i="1" smtClean="0">
                              <a:latin typeface="Cambria Math" panose="02040503050406030204" pitchFamily="18" charset="0"/>
                              <a:ea typeface="Cambria Math" panose="02040503050406030204" pitchFamily="18" charset="0"/>
                            </a:rPr>
                            <m:t>)</m:t>
                          </m:r>
                        </m:num>
                        <m:den>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𝑠</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𝑡</m:t>
                          </m:r>
                          <m:r>
                            <a:rPr lang="en-US" altLang="zh-CN" b="0" i="1" smtClean="0">
                              <a:latin typeface="Cambria Math" panose="02040503050406030204" pitchFamily="18" charset="0"/>
                              <a:ea typeface="Cambria Math" panose="02040503050406030204" pitchFamily="18" charset="0"/>
                            </a:rPr>
                            <m:t>)</m:t>
                          </m:r>
                        </m:den>
                      </m:f>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𝑠</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𝑡</m:t>
                          </m:r>
                          <m:r>
                            <a:rPr lang="en-US" altLang="zh-CN" b="0" i="1" smtClean="0">
                              <a:latin typeface="Cambria Math" panose="02040503050406030204" pitchFamily="18" charset="0"/>
                              <a:ea typeface="Cambria Math" panose="02040503050406030204" pitchFamily="18" charset="0"/>
                            </a:rPr>
                            <m:t>)</m:t>
                          </m:r>
                        </m:num>
                        <m:den>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r>
                            <a:rPr lang="en-US" altLang="zh-CN" b="0" i="1" smtClean="0">
                              <a:latin typeface="Cambria Math" panose="02040503050406030204" pitchFamily="18" charset="0"/>
                              <a:ea typeface="Cambria Math" panose="02040503050406030204" pitchFamily="18" charset="0"/>
                            </a:rPr>
                            <m:t>)</m:t>
                          </m:r>
                        </m:den>
                      </m:f>
                    </m:oMath>
                  </m:oMathPara>
                </a14:m>
                <a:endParaRPr lang="en-CN" dirty="0"/>
              </a:p>
            </p:txBody>
          </p:sp>
        </mc:Choice>
        <mc:Fallback xmlns="">
          <p:sp>
            <p:nvSpPr>
              <p:cNvPr id="10" name="TextBox 9">
                <a:extLst>
                  <a:ext uri="{FF2B5EF4-FFF2-40B4-BE49-F238E27FC236}">
                    <a16:creationId xmlns:a16="http://schemas.microsoft.com/office/drawing/2014/main" id="{FCF596F2-DEB6-D64C-BEF1-54AA66CEB5AE}"/>
                  </a:ext>
                </a:extLst>
              </p:cNvPr>
              <p:cNvSpPr txBox="1">
                <a:spLocks noRot="1" noChangeAspect="1" noMove="1" noResize="1" noEditPoints="1" noAdjustHandles="1" noChangeArrowheads="1" noChangeShapeType="1" noTextEdit="1"/>
              </p:cNvSpPr>
              <p:nvPr/>
            </p:nvSpPr>
            <p:spPr>
              <a:xfrm>
                <a:off x="1995055" y="5540113"/>
                <a:ext cx="6096000" cy="685765"/>
              </a:xfrm>
              <a:prstGeom prst="rect">
                <a:avLst/>
              </a:prstGeom>
              <a:blipFill>
                <a:blip r:embed="rId5"/>
                <a:stretch>
                  <a:fillRect b="-5455"/>
                </a:stretch>
              </a:blipFill>
            </p:spPr>
            <p:txBody>
              <a:bodyPr/>
              <a:lstStyle/>
              <a:p>
                <a:r>
                  <a:rPr lang="en-CN">
                    <a:noFill/>
                  </a:rPr>
                  <a:t> </a:t>
                </a:r>
              </a:p>
            </p:txBody>
          </p:sp>
        </mc:Fallback>
      </mc:AlternateContent>
    </p:spTree>
    <p:extLst>
      <p:ext uri="{BB962C8B-B14F-4D97-AF65-F5344CB8AC3E}">
        <p14:creationId xmlns:p14="http://schemas.microsoft.com/office/powerpoint/2010/main" val="40106231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3241387-B2B4-A14A-BABA-365287418E04}"/>
                  </a:ext>
                </a:extLst>
              </p:cNvPr>
              <p:cNvSpPr txBox="1"/>
              <p:nvPr/>
            </p:nvSpPr>
            <p:spPr>
              <a:xfrm>
                <a:off x="277090" y="221673"/>
                <a:ext cx="11623965" cy="369332"/>
              </a:xfrm>
              <a:prstGeom prst="rect">
                <a:avLst/>
              </a:prstGeom>
              <a:noFill/>
            </p:spPr>
            <p:txBody>
              <a:bodyPr wrap="square" rtlCol="0">
                <a:spAutoFit/>
              </a:bodyPr>
              <a:lstStyle/>
              <a:p>
                <a:r>
                  <a:rPr lang="en-CN" dirty="0"/>
                  <a:t>补遗五</a:t>
                </a:r>
                <a:r>
                  <a:rPr lang="zh-CN" altLang="en-US" dirty="0">
                    <a:sym typeface="Wingdings" pitchFamily="2" charset="2"/>
                  </a:rPr>
                  <a:t></a:t>
                </a:r>
                <a:r>
                  <a:rPr lang="en-US" altLang="zh-CN" dirty="0"/>
                  <a:t>Landau: Derive an expression for the specific heat </a:t>
                </a:r>
                <a:r>
                  <a:rPr lang="en-US" altLang="zh-CN" dirty="0" err="1"/>
                  <a:t>Cv</a:t>
                </a:r>
                <a:r>
                  <a:rPr lang="en-US" altLang="zh-CN" dirty="0"/>
                  <a:t> in terms of the variables </a:t>
                </a:r>
                <a14:m>
                  <m:oMath xmlns:m="http://schemas.openxmlformats.org/officeDocument/2006/math">
                    <m:r>
                      <a:rPr lang="en-US" altLang="zh-CN" i="1" smtClean="0">
                        <a:latin typeface="Cambria Math" panose="02040503050406030204" pitchFamily="18" charset="0"/>
                        <a:ea typeface="Cambria Math" panose="02040503050406030204" pitchFamily="18" charset="0"/>
                      </a:rPr>
                      <m:t>𝜏</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𝑉</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𝜇</m:t>
                    </m:r>
                  </m:oMath>
                </a14:m>
                <a:endParaRPr lang="en-CN" dirty="0"/>
              </a:p>
            </p:txBody>
          </p:sp>
        </mc:Choice>
        <mc:Fallback xmlns="">
          <p:sp>
            <p:nvSpPr>
              <p:cNvPr id="2" name="TextBox 1">
                <a:extLst>
                  <a:ext uri="{FF2B5EF4-FFF2-40B4-BE49-F238E27FC236}">
                    <a16:creationId xmlns:a16="http://schemas.microsoft.com/office/drawing/2014/main" id="{E3241387-B2B4-A14A-BABA-365287418E04}"/>
                  </a:ext>
                </a:extLst>
              </p:cNvPr>
              <p:cNvSpPr txBox="1">
                <a:spLocks noRot="1" noChangeAspect="1" noMove="1" noResize="1" noEditPoints="1" noAdjustHandles="1" noChangeArrowheads="1" noChangeShapeType="1" noTextEdit="1"/>
              </p:cNvSpPr>
              <p:nvPr/>
            </p:nvSpPr>
            <p:spPr>
              <a:xfrm>
                <a:off x="277090" y="221673"/>
                <a:ext cx="11623965" cy="369332"/>
              </a:xfrm>
              <a:prstGeom prst="rect">
                <a:avLst/>
              </a:prstGeom>
              <a:blipFill>
                <a:blip r:embed="rId2"/>
                <a:stretch>
                  <a:fillRect l="-437" t="-6667" b="-2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252D1A2-9D68-ED49-B8A5-A27A33795CD1}"/>
                  </a:ext>
                </a:extLst>
              </p:cNvPr>
              <p:cNvSpPr txBox="1"/>
              <p:nvPr/>
            </p:nvSpPr>
            <p:spPr>
              <a:xfrm>
                <a:off x="1004454" y="680601"/>
                <a:ext cx="8298872" cy="6837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sSub>
                            <m:sSubPr>
                              <m:ctrlPr>
                                <a:rPr lang="en-CN"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𝑉</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d>
                            <m:dPr>
                              <m:ctrlPr>
                                <a:rPr lang="en-CN" i="1" smtClean="0">
                                  <a:latin typeface="Cambria Math" panose="02040503050406030204" pitchFamily="18" charset="0"/>
                                </a:rPr>
                              </m:ctrlPr>
                            </m:dPr>
                            <m:e>
                              <m:f>
                                <m:fPr>
                                  <m:ctrlPr>
                                    <a:rPr lang="en-CN" i="1" smtClean="0">
                                      <a:latin typeface="Cambria Math" panose="02040503050406030204" pitchFamily="18" charset="0"/>
                                    </a:rPr>
                                  </m:ctrlPr>
                                </m:fPr>
                                <m:num>
                                  <m:r>
                                    <a:rPr lang="en-CN"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 </m:t>
                                  </m:r>
                                  <m:r>
                                    <a:rPr lang="zh-CN" altLang="en-US" b="0" i="1" smtClean="0">
                                      <a:latin typeface="Cambria Math" panose="02040503050406030204" pitchFamily="18" charset="0"/>
                                      <a:ea typeface="Cambria Math" panose="02040503050406030204" pitchFamily="18" charset="0"/>
                                    </a:rPr>
                                    <m:t>𝜎</m:t>
                                  </m:r>
                                </m:num>
                                <m:den>
                                  <m:r>
                                    <a:rPr lang="en-C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𝜏</m:t>
                                  </m:r>
                                </m:den>
                              </m:f>
                            </m:e>
                          </m:d>
                        </m:e>
                        <m:sub>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𝑁</m:t>
                          </m:r>
                        </m:sub>
                      </m:sSub>
                    </m:oMath>
                  </m:oMathPara>
                </a14:m>
                <a:endParaRPr lang="en-US" i="1" dirty="0">
                  <a:latin typeface="Cambria Math" panose="02040503050406030204" pitchFamily="18" charset="0"/>
                </a:endParaRPr>
              </a:p>
            </p:txBody>
          </p:sp>
        </mc:Choice>
        <mc:Fallback xmlns="">
          <p:sp>
            <p:nvSpPr>
              <p:cNvPr id="7" name="TextBox 6">
                <a:extLst>
                  <a:ext uri="{FF2B5EF4-FFF2-40B4-BE49-F238E27FC236}">
                    <a16:creationId xmlns:a16="http://schemas.microsoft.com/office/drawing/2014/main" id="{6252D1A2-9D68-ED49-B8A5-A27A33795CD1}"/>
                  </a:ext>
                </a:extLst>
              </p:cNvPr>
              <p:cNvSpPr txBox="1">
                <a:spLocks noRot="1" noChangeAspect="1" noMove="1" noResize="1" noEditPoints="1" noAdjustHandles="1" noChangeArrowheads="1" noChangeShapeType="1" noTextEdit="1"/>
              </p:cNvSpPr>
              <p:nvPr/>
            </p:nvSpPr>
            <p:spPr>
              <a:xfrm>
                <a:off x="1004454" y="680601"/>
                <a:ext cx="8298872" cy="683713"/>
              </a:xfrm>
              <a:prstGeom prst="rect">
                <a:avLst/>
              </a:prstGeom>
              <a:blipFill>
                <a:blip r:embed="rId3"/>
                <a:stretch>
                  <a:fillRect b="-727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22B97E4-B157-174D-9295-FC96C485D43F}"/>
                  </a:ext>
                </a:extLst>
              </p:cNvPr>
              <p:cNvSpPr txBox="1"/>
              <p:nvPr/>
            </p:nvSpPr>
            <p:spPr>
              <a:xfrm>
                <a:off x="1246909" y="1711925"/>
                <a:ext cx="10474036" cy="2978444"/>
              </a:xfrm>
              <a:prstGeom prst="rect">
                <a:avLst/>
              </a:prstGeom>
              <a:noFill/>
            </p:spPr>
            <p:txBody>
              <a:bodyPr wrap="square" rtlCol="0">
                <a:spAutoFit/>
              </a:bodyPr>
              <a:lstStyle/>
              <a:p>
                <a14:m>
                  <m:oMath xmlns:m="http://schemas.openxmlformats.org/officeDocument/2006/math">
                    <m:sSub>
                      <m:sSubPr>
                        <m:ctrlPr>
                          <a:rPr lang="en-CN" i="1" smtClean="0">
                            <a:latin typeface="Cambria Math" panose="02040503050406030204" pitchFamily="18" charset="0"/>
                          </a:rPr>
                        </m:ctrlPr>
                      </m:sSubPr>
                      <m:e>
                        <m:d>
                          <m:dPr>
                            <m:ctrlPr>
                              <a:rPr lang="en-CN" i="1" smtClean="0">
                                <a:latin typeface="Cambria Math" panose="02040503050406030204" pitchFamily="18" charset="0"/>
                              </a:rPr>
                            </m:ctrlPr>
                          </m:dPr>
                          <m:e>
                            <m:f>
                              <m:fPr>
                                <m:ctrlPr>
                                  <a:rPr lang="en-US" i="1" smtClean="0">
                                    <a:latin typeface="Cambria Math" panose="02040503050406030204" pitchFamily="18" charset="0"/>
                                  </a:rPr>
                                </m:ctrlPr>
                              </m:fPr>
                              <m:num>
                                <m:r>
                                  <a:rPr lang="en-US"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𝜎</m:t>
                                </m:r>
                              </m:num>
                              <m:den>
                                <m:r>
                                  <a:rPr lang="en-US"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𝜏</m:t>
                                </m:r>
                              </m:den>
                            </m:f>
                          </m:e>
                        </m:d>
                      </m:e>
                      <m:sub>
                        <m:r>
                          <a:rPr lang="en-US" b="0" i="1" smtClean="0">
                            <a:latin typeface="Cambria Math" panose="02040503050406030204" pitchFamily="18" charset="0"/>
                          </a:rPr>
                          <m:t>𝑁</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den>
                    </m:f>
                    <m:r>
                      <a:rPr lang="en-US" b="0" i="1" smtClean="0">
                        <a:latin typeface="Cambria Math" panose="02040503050406030204" pitchFamily="18" charset="0"/>
                      </a:rPr>
                      <m:t>=</m:t>
                    </m:r>
                  </m:oMath>
                </a14:m>
                <a:r>
                  <a:rPr lang="en-US" dirty="0"/>
                  <a: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𝑁</m:t>
                        </m:r>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𝜏</m:t>
                        </m:r>
                        <m:r>
                          <a:rPr lang="en-US"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𝜇</m:t>
                        </m:r>
                        <m:r>
                          <a:rPr lang="en-US" i="1">
                            <a:latin typeface="Cambria Math" panose="02040503050406030204" pitchFamily="18" charset="0"/>
                            <a:ea typeface="Cambria Math" panose="02040503050406030204" pitchFamily="18" charset="0"/>
                          </a:rPr>
                          <m:t>)</m:t>
                        </m:r>
                      </m:den>
                    </m:f>
                  </m:oMath>
                </a14:m>
                <a:r>
                  <a:rPr lang="en-US" dirty="0"/>
                  <a: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smtClean="0">
                            <a:latin typeface="Cambria Math" panose="02040503050406030204" pitchFamily="18" charset="0"/>
                            <a:ea typeface="Cambria Math" panose="02040503050406030204" pitchFamily="18" charset="0"/>
                          </a:rPr>
                          <m:t>𝜏</m:t>
                        </m:r>
                        <m:r>
                          <a:rPr lang="en-US"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𝜇</m:t>
                        </m:r>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𝜏</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𝑁</m:t>
                        </m:r>
                        <m:r>
                          <a:rPr lang="en-US" i="1">
                            <a:latin typeface="Cambria Math" panose="02040503050406030204" pitchFamily="18" charset="0"/>
                            <a:ea typeface="Cambria Math" panose="02040503050406030204" pitchFamily="18" charset="0"/>
                          </a:rPr>
                          <m:t>)</m:t>
                        </m:r>
                      </m:den>
                    </m:f>
                    <m:r>
                      <a:rPr lang="en-US" b="0" i="1" smtClean="0">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smtClean="0">
                                              <a:latin typeface="Cambria Math" panose="02040503050406030204" pitchFamily="18" charset="0"/>
                                              <a:ea typeface="Cambria Math" panose="02040503050406030204" pitchFamily="18" charset="0"/>
                                            </a:rPr>
                                            <m:t>𝜎</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smtClean="0">
                                              <a:latin typeface="Cambria Math" panose="02040503050406030204" pitchFamily="18" charset="0"/>
                                              <a:ea typeface="Cambria Math" panose="02040503050406030204" pitchFamily="18" charset="0"/>
                                            </a:rPr>
                                            <m:t>𝜏</m:t>
                                          </m:r>
                                        </m:den>
                                      </m:f>
                                    </m:e>
                                  </m:d>
                                </m:e>
                                <m:sub>
                                  <m:r>
                                    <a:rPr lang="en-US" i="1" smtClean="0">
                                      <a:latin typeface="Cambria Math" panose="02040503050406030204" pitchFamily="18" charset="0"/>
                                      <a:ea typeface="Cambria Math" panose="02040503050406030204" pitchFamily="18" charset="0"/>
                                    </a:rPr>
                                    <m:t>𝜇</m:t>
                                  </m:r>
                                </m:sub>
                              </m:sSub>
                            </m:e>
                            <m:e>
                              <m:sSub>
                                <m:sSubPr>
                                  <m:ctrlPr>
                                    <a:rPr lang="en-US" i="1">
                                      <a:latin typeface="Cambria Math" panose="02040503050406030204" pitchFamily="18" charset="0"/>
                                    </a:rPr>
                                  </m:ctrlPr>
                                </m:sSub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smtClean="0">
                                              <a:latin typeface="Cambria Math" panose="02040503050406030204" pitchFamily="18" charset="0"/>
                                              <a:ea typeface="Cambria Math" panose="02040503050406030204" pitchFamily="18" charset="0"/>
                                            </a:rPr>
                                            <m:t>𝜎</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smtClean="0">
                                              <a:latin typeface="Cambria Math" panose="02040503050406030204" pitchFamily="18" charset="0"/>
                                              <a:ea typeface="Cambria Math" panose="02040503050406030204" pitchFamily="18" charset="0"/>
                                            </a:rPr>
                                            <m:t>𝜇</m:t>
                                          </m:r>
                                        </m:den>
                                      </m:f>
                                    </m:e>
                                  </m:d>
                                </m:e>
                                <m:sub>
                                  <m:r>
                                    <a:rPr lang="en-US" i="1" smtClean="0">
                                      <a:latin typeface="Cambria Math" panose="02040503050406030204" pitchFamily="18" charset="0"/>
                                      <a:ea typeface="Cambria Math" panose="02040503050406030204" pitchFamily="18" charset="0"/>
                                    </a:rPr>
                                    <m:t>𝜏</m:t>
                                  </m:r>
                                </m:sub>
                              </m:sSub>
                            </m:e>
                          </m:mr>
                          <m:mr>
                            <m:e>
                              <m:sSub>
                                <m:sSubPr>
                                  <m:ctrlPr>
                                    <a:rPr lang="en-US" i="1">
                                      <a:latin typeface="Cambria Math" panose="02040503050406030204" pitchFamily="18" charset="0"/>
                                    </a:rPr>
                                  </m:ctrlPr>
                                </m:sSub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smtClean="0">
                                              <a:latin typeface="Cambria Math" panose="02040503050406030204" pitchFamily="18" charset="0"/>
                                              <a:ea typeface="Cambria Math" panose="02040503050406030204" pitchFamily="18" charset="0"/>
                                            </a:rPr>
                                            <m:t>𝜏</m:t>
                                          </m:r>
                                        </m:den>
                                      </m:f>
                                    </m:e>
                                  </m:d>
                                </m:e>
                                <m:sub>
                                  <m:r>
                                    <a:rPr lang="en-US" i="1" smtClean="0">
                                      <a:latin typeface="Cambria Math" panose="02040503050406030204" pitchFamily="18" charset="0"/>
                                      <a:ea typeface="Cambria Math" panose="02040503050406030204" pitchFamily="18" charset="0"/>
                                    </a:rPr>
                                    <m:t>𝜇</m:t>
                                  </m:r>
                                </m:sub>
                              </m:sSub>
                            </m:e>
                            <m:e>
                              <m:sSub>
                                <m:sSubPr>
                                  <m:ctrlPr>
                                    <a:rPr lang="en-US" i="1">
                                      <a:latin typeface="Cambria Math" panose="02040503050406030204" pitchFamily="18" charset="0"/>
                                    </a:rPr>
                                  </m:ctrlPr>
                                </m:sSub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smtClean="0">
                                              <a:latin typeface="Cambria Math" panose="02040503050406030204" pitchFamily="18" charset="0"/>
                                              <a:ea typeface="Cambria Math" panose="02040503050406030204" pitchFamily="18" charset="0"/>
                                            </a:rPr>
                                            <m:t>𝜇</m:t>
                                          </m:r>
                                        </m:den>
                                      </m:f>
                                    </m:e>
                                  </m:d>
                                </m:e>
                                <m:sub>
                                  <m:r>
                                    <a:rPr lang="en-US" i="1" smtClean="0">
                                      <a:latin typeface="Cambria Math" panose="02040503050406030204" pitchFamily="18" charset="0"/>
                                      <a:ea typeface="Cambria Math" panose="02040503050406030204" pitchFamily="18" charset="0"/>
                                    </a:rPr>
                                    <m:t>𝜏</m:t>
                                  </m:r>
                                </m:sub>
                              </m:sSub>
                            </m:e>
                          </m:mr>
                        </m:m>
                      </m:e>
                    </m:d>
                  </m:oMath>
                </a14:m>
                <a:r>
                  <a:rPr lang="en-CN" dirty="0"/>
                  <a:t> </a:t>
                </a:r>
                <a14:m>
                  <m:oMath xmlns:m="http://schemas.openxmlformats.org/officeDocument/2006/math">
                    <m:d>
                      <m:dPr>
                        <m:ctrlPr>
                          <a:rPr lang="en-CN" i="1" dirty="0">
                            <a:latin typeface="Cambria Math" panose="02040503050406030204" pitchFamily="18" charset="0"/>
                          </a:rPr>
                        </m:ctrlPr>
                      </m:dPr>
                      <m:e>
                        <m:sSub>
                          <m:sSubPr>
                            <m:ctrlPr>
                              <a:rPr lang="en-US" i="1" dirty="0">
                                <a:latin typeface="Cambria Math" panose="02040503050406030204" pitchFamily="18" charset="0"/>
                              </a:rPr>
                            </m:ctrlPr>
                          </m:sSubPr>
                          <m:e>
                            <m:d>
                              <m:dPr>
                                <m:ctrlPr>
                                  <a:rPr lang="en-US" i="1" dirty="0">
                                    <a:latin typeface="Cambria Math" panose="02040503050406030204" pitchFamily="18" charset="0"/>
                                  </a:rPr>
                                </m:ctrlPr>
                              </m:dPr>
                              <m:e>
                                <m:f>
                                  <m:fPr>
                                    <m:ctrlPr>
                                      <a:rPr lang="en-US" i="1" dirty="0">
                                        <a:latin typeface="Cambria Math" panose="02040503050406030204" pitchFamily="18" charset="0"/>
                                      </a:rPr>
                                    </m:ctrlPr>
                                  </m:fPr>
                                  <m:num>
                                    <m:r>
                                      <a:rPr lang="en-US" i="1" dirty="0">
                                        <a:latin typeface="Cambria Math" panose="02040503050406030204" pitchFamily="18" charset="0"/>
                                      </a:rPr>
                                      <m:t>𝜕</m:t>
                                    </m:r>
                                    <m:r>
                                      <a:rPr lang="en-US" i="1" dirty="0">
                                        <a:latin typeface="Cambria Math" panose="02040503050406030204" pitchFamily="18" charset="0"/>
                                      </a:rPr>
                                      <m:t> </m:t>
                                    </m:r>
                                    <m:r>
                                      <a:rPr lang="en-US" i="1" dirty="0">
                                        <a:latin typeface="Cambria Math" panose="02040503050406030204" pitchFamily="18" charset="0"/>
                                        <a:ea typeface="Cambria Math" panose="02040503050406030204" pitchFamily="18" charset="0"/>
                                      </a:rPr>
                                      <m:t>𝜇</m:t>
                                    </m:r>
                                  </m:num>
                                  <m:den>
                                    <m:r>
                                      <a:rPr lang="en-US" i="1" dirty="0">
                                        <a:latin typeface="Cambria Math" panose="02040503050406030204" pitchFamily="18" charset="0"/>
                                      </a:rPr>
                                      <m:t>𝜕</m:t>
                                    </m:r>
                                    <m:r>
                                      <a:rPr lang="en-US" i="1" dirty="0">
                                        <a:latin typeface="Cambria Math" panose="02040503050406030204" pitchFamily="18" charset="0"/>
                                      </a:rPr>
                                      <m:t> </m:t>
                                    </m:r>
                                    <m:r>
                                      <a:rPr lang="en-US" i="1" dirty="0">
                                        <a:latin typeface="Cambria Math" panose="02040503050406030204" pitchFamily="18" charset="0"/>
                                      </a:rPr>
                                      <m:t>𝑁</m:t>
                                    </m:r>
                                  </m:den>
                                </m:f>
                              </m:e>
                            </m:d>
                          </m:e>
                          <m:sub>
                            <m:r>
                              <a:rPr lang="en-US" i="1" dirty="0">
                                <a:latin typeface="Cambria Math" panose="02040503050406030204" pitchFamily="18" charset="0"/>
                                <a:ea typeface="Cambria Math" panose="02040503050406030204" pitchFamily="18" charset="0"/>
                              </a:rPr>
                              <m:t>𝜏</m:t>
                            </m:r>
                          </m:sub>
                        </m:sSub>
                      </m:e>
                    </m:d>
                  </m:oMath>
                </a14:m>
                <a:endParaRPr lang="en-CN" dirty="0"/>
              </a:p>
              <a:p>
                <a:pPr algn="ctr"/>
                <a14:m>
                  <m:oMath xmlns:m="http://schemas.openxmlformats.org/officeDocument/2006/math">
                    <m:r>
                      <a:rPr lang="en-US" b="0" i="1" smtClean="0">
                        <a:latin typeface="Cambria Math" panose="02040503050406030204" pitchFamily="18" charset="0"/>
                        <a:ea typeface="Cambria Math" panose="02040503050406030204" pitchFamily="18" charset="0"/>
                      </a:rPr>
                      <m:t>=</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𝜎</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𝜏</m:t>
                                    </m:r>
                                  </m:den>
                                </m:f>
                              </m:e>
                            </m:d>
                          </m:e>
                          <m:sub>
                            <m:r>
                              <a:rPr lang="en-US" i="1">
                                <a:latin typeface="Cambria Math" panose="02040503050406030204" pitchFamily="18" charset="0"/>
                                <a:ea typeface="Cambria Math" panose="02040503050406030204" pitchFamily="18" charset="0"/>
                              </a:rPr>
                              <m:t>𝜇</m:t>
                            </m:r>
                          </m:sub>
                        </m:sSub>
                        <m:sSub>
                          <m:sSubPr>
                            <m:ctrlPr>
                              <a:rPr lang="en-US" i="1">
                                <a:latin typeface="Cambria Math" panose="02040503050406030204" pitchFamily="18" charset="0"/>
                                <a:ea typeface="Cambria Math" panose="02040503050406030204" pitchFamily="18" charset="0"/>
                              </a:rPr>
                            </m:ctrlPr>
                          </m:sSubPr>
                          <m:e>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𝜇</m:t>
                                    </m:r>
                                  </m:den>
                                </m:f>
                              </m:e>
                            </m:d>
                          </m:e>
                          <m:sub>
                            <m:r>
                              <a:rPr lang="en-US" i="1">
                                <a:latin typeface="Cambria Math" panose="02040503050406030204" pitchFamily="18" charset="0"/>
                                <a:ea typeface="Cambria Math" panose="02040503050406030204" pitchFamily="18" charset="0"/>
                              </a:rPr>
                              <m:t>𝜏</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𝜏</m:t>
                                    </m:r>
                                  </m:den>
                                </m:f>
                              </m:e>
                            </m:d>
                          </m:e>
                          <m:sub>
                            <m:r>
                              <a:rPr lang="en-US" i="1">
                                <a:latin typeface="Cambria Math" panose="02040503050406030204" pitchFamily="18" charset="0"/>
                                <a:ea typeface="Cambria Math" panose="02040503050406030204" pitchFamily="18" charset="0"/>
                              </a:rPr>
                              <m:t>𝜇</m:t>
                            </m:r>
                          </m:sub>
                        </m:sSub>
                        <m:sSub>
                          <m:sSubPr>
                            <m:ctrlPr>
                              <a:rPr lang="en-US" i="1">
                                <a:latin typeface="Cambria Math" panose="02040503050406030204" pitchFamily="18" charset="0"/>
                                <a:ea typeface="Cambria Math" panose="02040503050406030204" pitchFamily="18" charset="0"/>
                              </a:rPr>
                            </m:ctrlPr>
                          </m:sSubPr>
                          <m:e>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smtClean="0">
                                        <a:latin typeface="Cambria Math" panose="02040503050406030204" pitchFamily="18" charset="0"/>
                                        <a:ea typeface="Cambria Math" panose="02040503050406030204" pitchFamily="18" charset="0"/>
                                      </a:rPr>
                                      <m:t>𝜎</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𝜇</m:t>
                                    </m:r>
                                  </m:den>
                                </m:f>
                              </m:e>
                            </m:d>
                          </m:e>
                          <m:sub>
                            <m:r>
                              <a:rPr lang="en-US" i="1">
                                <a:latin typeface="Cambria Math" panose="02040503050406030204" pitchFamily="18" charset="0"/>
                                <a:ea typeface="Cambria Math" panose="02040503050406030204" pitchFamily="18" charset="0"/>
                              </a:rPr>
                              <m:t>𝜏</m:t>
                            </m:r>
                          </m:sub>
                        </m:sSub>
                      </m:e>
                    </m:d>
                  </m:oMath>
                </a14:m>
                <a:r>
                  <a:rPr lang="en-CN" dirty="0"/>
                  <a:t> </a:t>
                </a:r>
                <a14:m>
                  <m:oMath xmlns:m="http://schemas.openxmlformats.org/officeDocument/2006/math">
                    <m:d>
                      <m:dPr>
                        <m:ctrlPr>
                          <a:rPr lang="en-CN" i="1" dirty="0">
                            <a:latin typeface="Cambria Math" panose="02040503050406030204" pitchFamily="18" charset="0"/>
                          </a:rPr>
                        </m:ctrlPr>
                      </m:dPr>
                      <m:e>
                        <m:sSub>
                          <m:sSubPr>
                            <m:ctrlPr>
                              <a:rPr lang="en-US" i="1" dirty="0">
                                <a:latin typeface="Cambria Math" panose="02040503050406030204" pitchFamily="18" charset="0"/>
                              </a:rPr>
                            </m:ctrlPr>
                          </m:sSubPr>
                          <m:e>
                            <m:d>
                              <m:dPr>
                                <m:ctrlPr>
                                  <a:rPr lang="en-US" i="1" dirty="0">
                                    <a:latin typeface="Cambria Math" panose="02040503050406030204" pitchFamily="18" charset="0"/>
                                  </a:rPr>
                                </m:ctrlPr>
                              </m:dPr>
                              <m:e>
                                <m:f>
                                  <m:fPr>
                                    <m:ctrlPr>
                                      <a:rPr lang="en-US" i="1" dirty="0">
                                        <a:latin typeface="Cambria Math" panose="02040503050406030204" pitchFamily="18" charset="0"/>
                                      </a:rPr>
                                    </m:ctrlPr>
                                  </m:fPr>
                                  <m:num>
                                    <m:r>
                                      <a:rPr lang="en-US" i="1" dirty="0">
                                        <a:latin typeface="Cambria Math" panose="02040503050406030204" pitchFamily="18" charset="0"/>
                                      </a:rPr>
                                      <m:t>𝜕</m:t>
                                    </m:r>
                                    <m:r>
                                      <a:rPr lang="en-US" i="1" dirty="0">
                                        <a:latin typeface="Cambria Math" panose="02040503050406030204" pitchFamily="18" charset="0"/>
                                      </a:rPr>
                                      <m:t> </m:t>
                                    </m:r>
                                    <m:r>
                                      <a:rPr lang="en-US" i="1" dirty="0">
                                        <a:latin typeface="Cambria Math" panose="02040503050406030204" pitchFamily="18" charset="0"/>
                                        <a:ea typeface="Cambria Math" panose="02040503050406030204" pitchFamily="18" charset="0"/>
                                      </a:rPr>
                                      <m:t>𝜇</m:t>
                                    </m:r>
                                  </m:num>
                                  <m:den>
                                    <m:r>
                                      <a:rPr lang="en-US" i="1" dirty="0">
                                        <a:latin typeface="Cambria Math" panose="02040503050406030204" pitchFamily="18" charset="0"/>
                                      </a:rPr>
                                      <m:t>𝜕</m:t>
                                    </m:r>
                                    <m:r>
                                      <a:rPr lang="en-US" i="1" dirty="0">
                                        <a:latin typeface="Cambria Math" panose="02040503050406030204" pitchFamily="18" charset="0"/>
                                      </a:rPr>
                                      <m:t> </m:t>
                                    </m:r>
                                    <m:r>
                                      <a:rPr lang="en-US" i="1" dirty="0">
                                        <a:latin typeface="Cambria Math" panose="02040503050406030204" pitchFamily="18" charset="0"/>
                                      </a:rPr>
                                      <m:t>𝑁</m:t>
                                    </m:r>
                                  </m:den>
                                </m:f>
                              </m:e>
                            </m:d>
                          </m:e>
                          <m:sub>
                            <m:r>
                              <a:rPr lang="en-US" i="1" dirty="0">
                                <a:latin typeface="Cambria Math" panose="02040503050406030204" pitchFamily="18" charset="0"/>
                                <a:ea typeface="Cambria Math" panose="02040503050406030204" pitchFamily="18" charset="0"/>
                              </a:rPr>
                              <m:t>𝜏</m:t>
                            </m:r>
                          </m:sub>
                        </m:sSub>
                      </m:e>
                    </m:d>
                  </m:oMath>
                </a14:m>
                <a:endParaRPr lang="en-CN" dirty="0"/>
              </a:p>
              <a:p>
                <a:pPr algn="ctr"/>
                <a14:m>
                  <m:oMath xmlns:m="http://schemas.openxmlformats.org/officeDocument/2006/math">
                    <m:r>
                      <a:rPr lang="en-US" b="0" i="1" smtClean="0">
                        <a:latin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𝜎</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𝜏</m:t>
                                </m:r>
                              </m:den>
                            </m:f>
                          </m:e>
                        </m:d>
                      </m:e>
                      <m:sub>
                        <m:r>
                          <a:rPr lang="en-US" i="1">
                            <a:latin typeface="Cambria Math" panose="02040503050406030204" pitchFamily="18" charset="0"/>
                            <a:ea typeface="Cambria Math" panose="02040503050406030204" pitchFamily="18" charset="0"/>
                          </a:rPr>
                          <m:t>𝜇</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e>
                            </m:d>
                          </m:e>
                          <m:sub>
                            <m:r>
                              <a:rPr lang="en-US" b="0" i="1" smtClean="0">
                                <a:latin typeface="Cambria Math" panose="02040503050406030204" pitchFamily="18" charset="0"/>
                                <a:ea typeface="Cambria Math" panose="02040503050406030204" pitchFamily="18" charset="0"/>
                              </a:rPr>
                              <m:t>𝜏</m:t>
                            </m:r>
                          </m:sub>
                        </m:sSub>
                        <m:sSub>
                          <m:sSubPr>
                            <m:ctrlPr>
                              <a:rPr lang="en-US" b="0" i="1" smtClean="0">
                                <a:latin typeface="Cambria Math" panose="02040503050406030204" pitchFamily="18" charset="0"/>
                                <a:ea typeface="Cambria Math" panose="02040503050406030204" pitchFamily="18" charset="0"/>
                              </a:rPr>
                            </m:ctrlPr>
                          </m:sSub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e>
                            </m:d>
                          </m:e>
                          <m:sub>
                            <m:r>
                              <a:rPr lang="en-US" b="0" i="1" smtClean="0">
                                <a:latin typeface="Cambria Math" panose="02040503050406030204" pitchFamily="18" charset="0"/>
                                <a:ea typeface="Cambria Math" panose="02040503050406030204" pitchFamily="18" charset="0"/>
                              </a:rPr>
                              <m:t>𝜇</m:t>
                            </m:r>
                          </m:sub>
                        </m:sSub>
                      </m:num>
                      <m:den>
                        <m:sSub>
                          <m:sSubPr>
                            <m:ctrlPr>
                              <a:rPr lang="en-US" b="0" i="1" smtClean="0">
                                <a:latin typeface="Cambria Math" panose="02040503050406030204" pitchFamily="18" charset="0"/>
                                <a:ea typeface="Cambria Math" panose="02040503050406030204" pitchFamily="18" charset="0"/>
                              </a:rPr>
                            </m:ctrlPr>
                          </m:sSub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e>
                            </m:d>
                          </m:e>
                          <m:sub>
                            <m:r>
                              <a:rPr lang="en-US" b="0" i="1" smtClean="0">
                                <a:latin typeface="Cambria Math" panose="02040503050406030204" pitchFamily="18" charset="0"/>
                                <a:ea typeface="Cambria Math" panose="02040503050406030204" pitchFamily="18" charset="0"/>
                              </a:rPr>
                              <m:t>𝜏</m:t>
                            </m:r>
                          </m:sub>
                        </m:sSub>
                      </m:den>
                    </m:f>
                  </m:oMath>
                </a14:m>
                <a:r>
                  <a:rPr lang="en-CN" dirty="0"/>
                  <a:t> </a:t>
                </a:r>
              </a:p>
              <a:p>
                <a:r>
                  <a:rPr lang="en-CN" dirty="0"/>
                  <a:t>But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𝜕𝜇</m:t>
                            </m:r>
                          </m:e>
                        </m:d>
                      </m:e>
                      <m:sub>
                        <m:r>
                          <a:rPr lang="en-US" i="1">
                            <a:latin typeface="Cambria Math" panose="02040503050406030204" pitchFamily="18" charset="0"/>
                            <a:ea typeface="Cambria Math" panose="02040503050406030204" pitchFamily="18" charset="0"/>
                          </a:rPr>
                          <m:t>𝜏</m:t>
                        </m:r>
                      </m:sub>
                    </m:sSub>
                    <m:r>
                      <a:rPr lang="en-US" b="0" i="0"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2</m:t>
                            </m:r>
                          </m:sup>
                        </m:sSup>
                        <m:r>
                          <m:rPr>
                            <m:sty m:val="p"/>
                          </m:rPr>
                          <a:rPr lang="el-GR" b="0" i="1" smtClean="0">
                            <a:latin typeface="Cambria Math" panose="02040503050406030204" pitchFamily="18" charset="0"/>
                            <a:ea typeface="Cambria Math" panose="02040503050406030204" pitchFamily="18" charset="0"/>
                          </a:rPr>
                          <m:t>Ω</m:t>
                        </m:r>
                      </m:num>
                      <m:den>
                        <m:r>
                          <a:rPr lang="en-US" b="0" i="1" smtClean="0">
                            <a:latin typeface="Cambria Math" panose="02040503050406030204" pitchFamily="18" charset="0"/>
                            <a:ea typeface="Cambria Math" panose="02040503050406030204" pitchFamily="18" charset="0"/>
                          </a:rPr>
                          <m:t>𝜕𝜏𝜕𝜇</m:t>
                        </m:r>
                      </m:den>
                    </m:f>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e>
                        </m:d>
                      </m:e>
                      <m:sub>
                        <m:r>
                          <a:rPr lang="en-US" b="0" i="1" smtClean="0">
                            <a:latin typeface="Cambria Math" panose="02040503050406030204" pitchFamily="18" charset="0"/>
                            <a:ea typeface="Cambria Math" panose="02040503050406030204" pitchFamily="18" charset="0"/>
                          </a:rPr>
                          <m:t>𝜇</m:t>
                        </m:r>
                      </m:sub>
                    </m:sSub>
                  </m:oMath>
                </a14:m>
                <a:endParaRPr lang="en-CN" dirty="0"/>
              </a:p>
              <a:p>
                <a:pPr algn="ctr"/>
                <a:endParaRPr lang="en-CN" dirty="0"/>
              </a:p>
            </p:txBody>
          </p:sp>
        </mc:Choice>
        <mc:Fallback xmlns="">
          <p:sp>
            <p:nvSpPr>
              <p:cNvPr id="3" name="TextBox 2">
                <a:extLst>
                  <a:ext uri="{FF2B5EF4-FFF2-40B4-BE49-F238E27FC236}">
                    <a16:creationId xmlns:a16="http://schemas.microsoft.com/office/drawing/2014/main" id="{F22B97E4-B157-174D-9295-FC96C485D43F}"/>
                  </a:ext>
                </a:extLst>
              </p:cNvPr>
              <p:cNvSpPr txBox="1">
                <a:spLocks noRot="1" noChangeAspect="1" noMove="1" noResize="1" noEditPoints="1" noAdjustHandles="1" noChangeArrowheads="1" noChangeShapeType="1" noTextEdit="1"/>
              </p:cNvSpPr>
              <p:nvPr/>
            </p:nvSpPr>
            <p:spPr>
              <a:xfrm>
                <a:off x="1246909" y="1711925"/>
                <a:ext cx="10474036" cy="2978444"/>
              </a:xfrm>
              <a:prstGeom prst="rect">
                <a:avLst/>
              </a:prstGeom>
              <a:blipFill>
                <a:blip r:embed="rId4"/>
                <a:stretch>
                  <a:fillRect l="-484"/>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1232E79-6EB4-974E-B6E7-DD5790D84465}"/>
                  </a:ext>
                </a:extLst>
              </p:cNvPr>
              <p:cNvSpPr txBox="1"/>
              <p:nvPr/>
            </p:nvSpPr>
            <p:spPr>
              <a:xfrm>
                <a:off x="2105890" y="5127576"/>
                <a:ext cx="6096000" cy="7998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𝑉</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𝜎</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𝜏</m:t>
                                  </m:r>
                                </m:den>
                              </m:f>
                            </m:e>
                          </m:d>
                        </m:e>
                        <m:sub>
                          <m:r>
                            <a:rPr lang="en-US" i="1">
                              <a:latin typeface="Cambria Math" panose="02040503050406030204" pitchFamily="18" charset="0"/>
                              <a:ea typeface="Cambria Math" panose="02040503050406030204" pitchFamily="18" charset="0"/>
                            </a:rPr>
                            <m:t>𝜇</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p>
                            <m:sSupPr>
                              <m:ctrlPr>
                                <a:rPr lang="en-US" i="1" smtClean="0">
                                  <a:latin typeface="Cambria Math" panose="02040503050406030204" pitchFamily="18" charset="0"/>
                                  <a:ea typeface="Cambria Math" panose="02040503050406030204" pitchFamily="18" charset="0"/>
                                </a:rPr>
                              </m:ctrlPr>
                            </m:sSupPr>
                            <m:e>
                              <m:d>
                                <m:dPr>
                                  <m:begChr m:val="["/>
                                  <m:endChr m:val="]"/>
                                  <m:ctrlPr>
                                    <a:rPr lang="en-US" i="1" smtClean="0">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𝑁</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𝜕𝜏</m:t>
                                          </m:r>
                                        </m:e>
                                      </m:d>
                                    </m:e>
                                    <m:sub>
                                      <m:r>
                                        <a:rPr lang="en-US" i="1">
                                          <a:latin typeface="Cambria Math" panose="02040503050406030204" pitchFamily="18" charset="0"/>
                                          <a:ea typeface="Cambria Math" panose="02040503050406030204" pitchFamily="18" charset="0"/>
                                        </a:rPr>
                                        <m:t>𝜇</m:t>
                                      </m:r>
                                    </m:sub>
                                  </m:sSub>
                                </m:e>
                              </m:d>
                            </m:e>
                            <m:sup>
                              <m:r>
                                <a:rPr lang="en-US" b="0" i="1" smtClean="0">
                                  <a:latin typeface="Cambria Math" panose="02040503050406030204" pitchFamily="18" charset="0"/>
                                  <a:ea typeface="Cambria Math" panose="02040503050406030204" pitchFamily="18" charset="0"/>
                                </a:rPr>
                                <m:t>2</m:t>
                              </m:r>
                            </m:sup>
                          </m:sSup>
                        </m:num>
                        <m:den>
                          <m:sSub>
                            <m:sSubPr>
                              <m:ctrlPr>
                                <a:rPr lang="en-US" i="1">
                                  <a:latin typeface="Cambria Math" panose="02040503050406030204" pitchFamily="18" charset="0"/>
                                  <a:ea typeface="Cambria Math" panose="02040503050406030204" pitchFamily="18" charset="0"/>
                                </a:rPr>
                              </m:ctrlPr>
                            </m:sSubPr>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𝑁</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𝜕𝜇</m:t>
                                  </m:r>
                                </m:e>
                              </m:d>
                            </m:e>
                            <m:sub>
                              <m:r>
                                <a:rPr lang="en-US" i="1">
                                  <a:latin typeface="Cambria Math" panose="02040503050406030204" pitchFamily="18" charset="0"/>
                                  <a:ea typeface="Cambria Math" panose="02040503050406030204" pitchFamily="18" charset="0"/>
                                </a:rPr>
                                <m:t>𝜏</m:t>
                              </m:r>
                            </m:sub>
                          </m:sSub>
                        </m:den>
                      </m:f>
                      <m:r>
                        <a:rPr lang="en-US" b="0" i="1" smtClean="0">
                          <a:latin typeface="Cambria Math" panose="02040503050406030204" pitchFamily="18" charset="0"/>
                          <a:ea typeface="Cambria Math" panose="02040503050406030204" pitchFamily="18" charset="0"/>
                        </a:rPr>
                        <m:t>)</m:t>
                      </m:r>
                    </m:oMath>
                  </m:oMathPara>
                </a14:m>
                <a:endParaRPr lang="en-CN" dirty="0"/>
              </a:p>
            </p:txBody>
          </p:sp>
        </mc:Choice>
        <mc:Fallback xmlns="">
          <p:sp>
            <p:nvSpPr>
              <p:cNvPr id="11" name="TextBox 10">
                <a:extLst>
                  <a:ext uri="{FF2B5EF4-FFF2-40B4-BE49-F238E27FC236}">
                    <a16:creationId xmlns:a16="http://schemas.microsoft.com/office/drawing/2014/main" id="{71232E79-6EB4-974E-B6E7-DD5790D84465}"/>
                  </a:ext>
                </a:extLst>
              </p:cNvPr>
              <p:cNvSpPr txBox="1">
                <a:spLocks noRot="1" noChangeAspect="1" noMove="1" noResize="1" noEditPoints="1" noAdjustHandles="1" noChangeArrowheads="1" noChangeShapeType="1" noTextEdit="1"/>
              </p:cNvSpPr>
              <p:nvPr/>
            </p:nvSpPr>
            <p:spPr>
              <a:xfrm>
                <a:off x="2105890" y="5127576"/>
                <a:ext cx="6096000" cy="799834"/>
              </a:xfrm>
              <a:prstGeom prst="rect">
                <a:avLst/>
              </a:prstGeom>
              <a:blipFill>
                <a:blip r:embed="rId5"/>
                <a:stretch>
                  <a:fillRect b="-4688"/>
                </a:stretch>
              </a:blipFill>
            </p:spPr>
            <p:txBody>
              <a:bodyPr/>
              <a:lstStyle/>
              <a:p>
                <a:r>
                  <a:rPr lang="en-CN">
                    <a:noFill/>
                  </a:rPr>
                  <a:t> </a:t>
                </a:r>
              </a:p>
            </p:txBody>
          </p:sp>
        </mc:Fallback>
      </mc:AlternateContent>
    </p:spTree>
    <p:extLst>
      <p:ext uri="{BB962C8B-B14F-4D97-AF65-F5344CB8AC3E}">
        <p14:creationId xmlns:p14="http://schemas.microsoft.com/office/powerpoint/2010/main" val="29490634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ED3B50-B135-F94D-B518-C2B8F24ACFC9}"/>
              </a:ext>
            </a:extLst>
          </p:cNvPr>
          <p:cNvSpPr txBox="1"/>
          <p:nvPr/>
        </p:nvSpPr>
        <p:spPr>
          <a:xfrm>
            <a:off x="0" y="0"/>
            <a:ext cx="5541818" cy="369332"/>
          </a:xfrm>
          <a:prstGeom prst="rect">
            <a:avLst/>
          </a:prstGeom>
          <a:noFill/>
        </p:spPr>
        <p:txBody>
          <a:bodyPr wrap="square" rtlCol="0">
            <a:spAutoFit/>
          </a:bodyPr>
          <a:lstStyle/>
          <a:p>
            <a:r>
              <a:rPr lang="en-CN" dirty="0"/>
              <a:t>补遗六</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77ECB42-6BA7-A143-B5B9-1ECFCCD77E85}"/>
                  </a:ext>
                </a:extLst>
              </p:cNvPr>
              <p:cNvSpPr txBox="1"/>
              <p:nvPr/>
            </p:nvSpPr>
            <p:spPr>
              <a:xfrm>
                <a:off x="886690" y="369332"/>
                <a:ext cx="10086109" cy="5944512"/>
              </a:xfrm>
              <a:prstGeom prst="rect">
                <a:avLst/>
              </a:prstGeom>
              <a:noFill/>
            </p:spPr>
            <p:txBody>
              <a:bodyPr wrap="square" rtlCol="0">
                <a:spAutoFit/>
              </a:bodyPr>
              <a:lstStyle/>
              <a:p>
                <a:r>
                  <a:rPr lang="en-CN" dirty="0"/>
                  <a:t>假设我们有一个系统</a:t>
                </a:r>
                <a:r>
                  <a:rPr lang="zh-CN" altLang="en-US" dirty="0"/>
                  <a:t>，其单粒子能级为</a:t>
                </a:r>
                <a14:m>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rPr>
                          <m:t>𝑖</m:t>
                        </m:r>
                      </m:sub>
                    </m:sSub>
                  </m:oMath>
                </a14:m>
                <a:r>
                  <a:rPr lang="zh-CN" altLang="en-US" dirty="0"/>
                  <a:t>。对此系统外加一个势能</a:t>
                </a:r>
                <a:r>
                  <a:rPr lang="en-US" altLang="zh-CN" dirty="0"/>
                  <a:t>E</a:t>
                </a:r>
                <a:r>
                  <a:rPr lang="en-US" altLang="zh-CN" baseline="-25000" dirty="0"/>
                  <a:t>0</a:t>
                </a:r>
                <a:r>
                  <a:rPr lang="zh-CN" altLang="en-US" dirty="0"/>
                  <a:t>，那么新的能级为</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𝐸</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rPr>
                          <m:t>𝑖</m:t>
                        </m:r>
                      </m:sub>
                    </m:sSub>
                  </m:oMath>
                </a14:m>
                <a:endParaRPr lang="en-CN" dirty="0"/>
              </a:p>
              <a:p>
                <a:endParaRPr lang="en-CN" dirty="0"/>
              </a:p>
              <a:p>
                <a:r>
                  <a:rPr lang="en-CN" dirty="0"/>
                  <a:t>配分函数</a:t>
                </a:r>
              </a:p>
              <a:p>
                <a:endParaRPr lang="en-CN" dirty="0"/>
              </a:p>
              <a:p>
                <a:pPr algn="ct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𝑍</m:t>
                          </m:r>
                        </m:e>
                        <m:sup>
                          <m:r>
                            <a:rPr lang="en-US" b="0" i="1" smtClean="0">
                              <a:latin typeface="Cambria Math" panose="02040503050406030204" pitchFamily="18" charset="0"/>
                            </a:rPr>
                            <m:t>′</m:t>
                          </m:r>
                        </m:sup>
                      </m:sSup>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𝑖</m:t>
                          </m:r>
                        </m:sub>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𝑖</m:t>
                                      </m:r>
                                    </m:sub>
                                  </m:sSub>
                                </m:num>
                                <m:den>
                                  <m:r>
                                    <a:rPr lang="en-US" b="0" i="1" smtClean="0">
                                      <a:latin typeface="Cambria Math" panose="02040503050406030204" pitchFamily="18" charset="0"/>
                                      <a:ea typeface="Cambria Math" panose="02040503050406030204" pitchFamily="18" charset="0"/>
                                    </a:rPr>
                                    <m:t>𝜏</m:t>
                                  </m:r>
                                </m:den>
                              </m:f>
                            </m:sup>
                          </m:sSup>
                        </m:e>
                      </m:nary>
                      <m:r>
                        <a:rPr lang="en-US" b="0" i="0"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0</m:t>
                                  </m:r>
                                </m:sub>
                              </m:sSub>
                            </m:num>
                            <m:den>
                              <m:r>
                                <a:rPr lang="en-US" b="0" i="1" smtClean="0">
                                  <a:latin typeface="Cambria Math" panose="02040503050406030204" pitchFamily="18" charset="0"/>
                                  <a:ea typeface="Cambria Math" panose="02040503050406030204" pitchFamily="18" charset="0"/>
                                </a:rPr>
                                <m:t>𝜏</m:t>
                              </m:r>
                            </m:den>
                          </m:f>
                        </m:sup>
                      </m:sSup>
                      <m:r>
                        <a:rPr lang="en-US" b="0" i="1" smtClean="0">
                          <a:latin typeface="Cambria Math" panose="02040503050406030204" pitchFamily="18" charset="0"/>
                        </a:rPr>
                        <m:t> </m:t>
                      </m:r>
                      <m:r>
                        <a:rPr lang="en-US" b="0" i="1" smtClean="0">
                          <a:latin typeface="Cambria Math" panose="02040503050406030204" pitchFamily="18" charset="0"/>
                        </a:rPr>
                        <m:t>𝑍</m:t>
                      </m:r>
                    </m:oMath>
                  </m:oMathPara>
                </a14:m>
                <a:endParaRPr lang="en-CN" dirty="0"/>
              </a:p>
              <a:p>
                <a:pPr algn="ctr"/>
                <a:endParaRPr lang="en-CN" dirty="0"/>
              </a:p>
              <a:p>
                <a:r>
                  <a:rPr lang="en-CN" dirty="0"/>
                  <a:t>H自由能</a:t>
                </a:r>
              </a:p>
              <a:p>
                <a:endParaRPr lang="en-CN" dirty="0"/>
              </a:p>
              <a:p>
                <a:pPr algn="ct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𝐹</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𝑍</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𝐸</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𝐸</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𝐹</m:t>
                              </m:r>
                            </m:e>
                          </m:func>
                        </m:e>
                      </m:func>
                    </m:oMath>
                  </m:oMathPara>
                </a14:m>
                <a:endParaRPr lang="en-CN" dirty="0"/>
              </a:p>
              <a:p>
                <a:pPr algn="ctr"/>
                <a:endParaRPr lang="en-CN" dirty="0"/>
              </a:p>
              <a:p>
                <a:endParaRPr lang="en-CN" dirty="0"/>
              </a:p>
              <a:p>
                <a:r>
                  <a:rPr lang="en-CN" dirty="0"/>
                  <a:t>对N个粒子</a:t>
                </a:r>
              </a:p>
              <a:p>
                <a:endParaRPr lang="en-CN" dirty="0"/>
              </a:p>
              <a:p>
                <a:pPr algn="ct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𝐹</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𝜏</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𝐸</m:t>
                              </m:r>
                            </m:e>
                            <m:sub>
                              <m:r>
                                <a:rPr lang="en-US" b="0" i="1" smtClean="0">
                                  <a:latin typeface="Cambria Math" panose="02040503050406030204" pitchFamily="18" charset="0"/>
                                  <a:ea typeface="Cambria Math" panose="02040503050406030204" pitchFamily="18" charset="0"/>
                                </a:rPr>
                                <m:t>0</m:t>
                              </m:r>
                            </m:sub>
                          </m:sSub>
                        </m:e>
                      </m:func>
                    </m:oMath>
                  </m:oMathPara>
                </a14:m>
                <a:endParaRPr lang="en-CN" dirty="0"/>
              </a:p>
              <a:p>
                <a:pPr algn="ctr"/>
                <a:endParaRPr lang="en-CN" dirty="0"/>
              </a:p>
              <a:p>
                <a:r>
                  <a:rPr lang="en-CN" dirty="0"/>
                  <a:t>化学势</a:t>
                </a:r>
              </a:p>
              <a:p>
                <a:endParaRPr lang="en-CN" dirty="0"/>
              </a:p>
              <a:p>
                <a:pPr algn="ct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ea typeface="Cambria Math" panose="02040503050406030204" pitchFamily="18" charset="0"/>
                            </a:rPr>
                          </m:ctrlPr>
                        </m:sSupPr>
                        <m:e>
                          <m:r>
                            <a:rPr lang="en-CN" i="1" smtClean="0">
                              <a:latin typeface="Cambria Math" panose="02040503050406030204" pitchFamily="18" charset="0"/>
                              <a:ea typeface="Cambria Math" panose="02040503050406030204" pitchFamily="18" charset="0"/>
                            </a:rPr>
                            <m:t>𝜇</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𝐹</m:t>
                                  </m:r>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den>
                              </m:f>
                            </m:e>
                          </m:d>
                        </m:e>
                        <m:sub>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𝐸</m:t>
                          </m:r>
                        </m:e>
                        <m:sub>
                          <m:r>
                            <a:rPr lang="en-US" b="0" i="1" smtClean="0">
                              <a:latin typeface="Cambria Math" panose="02040503050406030204" pitchFamily="18" charset="0"/>
                              <a:ea typeface="Cambria Math" panose="02040503050406030204" pitchFamily="18" charset="0"/>
                            </a:rPr>
                            <m:t>0</m:t>
                          </m:r>
                        </m:sub>
                      </m:sSub>
                    </m:oMath>
                  </m:oMathPara>
                </a14:m>
                <a:endParaRPr lang="en-CN" dirty="0"/>
              </a:p>
            </p:txBody>
          </p:sp>
        </mc:Choice>
        <mc:Fallback xmlns="">
          <p:sp>
            <p:nvSpPr>
              <p:cNvPr id="3" name="TextBox 2">
                <a:extLst>
                  <a:ext uri="{FF2B5EF4-FFF2-40B4-BE49-F238E27FC236}">
                    <a16:creationId xmlns:a16="http://schemas.microsoft.com/office/drawing/2014/main" id="{477ECB42-6BA7-A143-B5B9-1ECFCCD77E85}"/>
                  </a:ext>
                </a:extLst>
              </p:cNvPr>
              <p:cNvSpPr txBox="1">
                <a:spLocks noRot="1" noChangeAspect="1" noMove="1" noResize="1" noEditPoints="1" noAdjustHandles="1" noChangeArrowheads="1" noChangeShapeType="1" noTextEdit="1"/>
              </p:cNvSpPr>
              <p:nvPr/>
            </p:nvSpPr>
            <p:spPr>
              <a:xfrm>
                <a:off x="886690" y="369332"/>
                <a:ext cx="10086109" cy="5944512"/>
              </a:xfrm>
              <a:prstGeom prst="rect">
                <a:avLst/>
              </a:prstGeom>
              <a:blipFill>
                <a:blip r:embed="rId3"/>
                <a:stretch>
                  <a:fillRect l="-503" t="-640"/>
                </a:stretch>
              </a:blipFill>
            </p:spPr>
            <p:txBody>
              <a:bodyPr/>
              <a:lstStyle/>
              <a:p>
                <a:r>
                  <a:rPr lang="en-CN">
                    <a:noFill/>
                  </a:rPr>
                  <a:t> </a:t>
                </a:r>
              </a:p>
            </p:txBody>
          </p:sp>
        </mc:Fallback>
      </mc:AlternateContent>
    </p:spTree>
    <p:extLst>
      <p:ext uri="{BB962C8B-B14F-4D97-AF65-F5344CB8AC3E}">
        <p14:creationId xmlns:p14="http://schemas.microsoft.com/office/powerpoint/2010/main" val="6080325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ED3B50-B135-F94D-B518-C2B8F24ACFC9}"/>
              </a:ext>
            </a:extLst>
          </p:cNvPr>
          <p:cNvSpPr txBox="1"/>
          <p:nvPr/>
        </p:nvSpPr>
        <p:spPr>
          <a:xfrm>
            <a:off x="0" y="0"/>
            <a:ext cx="5541818" cy="369332"/>
          </a:xfrm>
          <a:prstGeom prst="rect">
            <a:avLst/>
          </a:prstGeom>
          <a:noFill/>
        </p:spPr>
        <p:txBody>
          <a:bodyPr wrap="square" rtlCol="0">
            <a:spAutoFit/>
          </a:bodyPr>
          <a:lstStyle/>
          <a:p>
            <a:r>
              <a:rPr lang="en-CN" dirty="0"/>
              <a:t>补遗六</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77ECB42-6BA7-A143-B5B9-1ECFCCD77E85}"/>
                  </a:ext>
                </a:extLst>
              </p:cNvPr>
              <p:cNvSpPr txBox="1"/>
              <p:nvPr/>
            </p:nvSpPr>
            <p:spPr>
              <a:xfrm>
                <a:off x="886690" y="369332"/>
                <a:ext cx="10086109" cy="5944512"/>
              </a:xfrm>
              <a:prstGeom prst="rect">
                <a:avLst/>
              </a:prstGeom>
              <a:noFill/>
            </p:spPr>
            <p:txBody>
              <a:bodyPr wrap="square" rtlCol="0">
                <a:spAutoFit/>
              </a:bodyPr>
              <a:lstStyle/>
              <a:p>
                <a:r>
                  <a:rPr lang="en-CN" dirty="0"/>
                  <a:t>假设我们有一个系统</a:t>
                </a:r>
                <a:r>
                  <a:rPr lang="zh-CN" altLang="en-US" dirty="0"/>
                  <a:t>，其单粒子能级为</a:t>
                </a:r>
                <a14:m>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rPr>
                          <m:t>𝑖</m:t>
                        </m:r>
                      </m:sub>
                    </m:sSub>
                  </m:oMath>
                </a14:m>
                <a:r>
                  <a:rPr lang="zh-CN" altLang="en-US" dirty="0"/>
                  <a:t>。对此系统外加一个势能</a:t>
                </a:r>
                <a:r>
                  <a:rPr lang="en-US" altLang="zh-CN" dirty="0"/>
                  <a:t>E</a:t>
                </a:r>
                <a:r>
                  <a:rPr lang="en-US" altLang="zh-CN" baseline="-25000" dirty="0"/>
                  <a:t>0</a:t>
                </a:r>
                <a:r>
                  <a:rPr lang="zh-CN" altLang="en-US" dirty="0"/>
                  <a:t>，那么新的能级为</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𝐸</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rPr>
                          <m:t>𝑖</m:t>
                        </m:r>
                      </m:sub>
                    </m:sSub>
                  </m:oMath>
                </a14:m>
                <a:endParaRPr lang="en-CN" dirty="0"/>
              </a:p>
              <a:p>
                <a:endParaRPr lang="en-CN" dirty="0"/>
              </a:p>
              <a:p>
                <a:r>
                  <a:rPr lang="en-CN" dirty="0"/>
                  <a:t>配分函数</a:t>
                </a:r>
              </a:p>
              <a:p>
                <a:endParaRPr lang="en-CN" dirty="0"/>
              </a:p>
              <a:p>
                <a:pPr algn="ct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𝑍</m:t>
                          </m:r>
                        </m:e>
                        <m:sup>
                          <m:r>
                            <a:rPr lang="en-US" b="0" i="1" smtClean="0">
                              <a:latin typeface="Cambria Math" panose="02040503050406030204" pitchFamily="18" charset="0"/>
                            </a:rPr>
                            <m:t>′</m:t>
                          </m:r>
                        </m:sup>
                      </m:sSup>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𝑖</m:t>
                          </m:r>
                        </m:sub>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𝑖</m:t>
                                      </m:r>
                                    </m:sub>
                                  </m:sSub>
                                </m:num>
                                <m:den>
                                  <m:r>
                                    <a:rPr lang="en-US" b="0" i="1" smtClean="0">
                                      <a:latin typeface="Cambria Math" panose="02040503050406030204" pitchFamily="18" charset="0"/>
                                      <a:ea typeface="Cambria Math" panose="02040503050406030204" pitchFamily="18" charset="0"/>
                                    </a:rPr>
                                    <m:t>𝜏</m:t>
                                  </m:r>
                                </m:den>
                              </m:f>
                            </m:sup>
                          </m:sSup>
                        </m:e>
                      </m:nary>
                      <m:r>
                        <a:rPr lang="en-US" b="0" i="0"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0</m:t>
                                  </m:r>
                                </m:sub>
                              </m:sSub>
                            </m:num>
                            <m:den>
                              <m:r>
                                <a:rPr lang="en-US" b="0" i="1" smtClean="0">
                                  <a:latin typeface="Cambria Math" panose="02040503050406030204" pitchFamily="18" charset="0"/>
                                  <a:ea typeface="Cambria Math" panose="02040503050406030204" pitchFamily="18" charset="0"/>
                                </a:rPr>
                                <m:t>𝜏</m:t>
                              </m:r>
                            </m:den>
                          </m:f>
                        </m:sup>
                      </m:sSup>
                      <m:r>
                        <a:rPr lang="en-US" b="0" i="1" smtClean="0">
                          <a:latin typeface="Cambria Math" panose="02040503050406030204" pitchFamily="18" charset="0"/>
                        </a:rPr>
                        <m:t> </m:t>
                      </m:r>
                      <m:r>
                        <a:rPr lang="en-US" b="0" i="1" smtClean="0">
                          <a:latin typeface="Cambria Math" panose="02040503050406030204" pitchFamily="18" charset="0"/>
                        </a:rPr>
                        <m:t>𝑍</m:t>
                      </m:r>
                    </m:oMath>
                  </m:oMathPara>
                </a14:m>
                <a:endParaRPr lang="en-CN" dirty="0"/>
              </a:p>
              <a:p>
                <a:pPr algn="ctr"/>
                <a:endParaRPr lang="en-CN" dirty="0"/>
              </a:p>
              <a:p>
                <a:r>
                  <a:rPr lang="en-CN" dirty="0"/>
                  <a:t>H自由能</a:t>
                </a:r>
              </a:p>
              <a:p>
                <a:endParaRPr lang="en-CN" dirty="0"/>
              </a:p>
              <a:p>
                <a:pPr algn="ct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𝐹</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𝑍</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𝐸</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𝐸</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𝐹</m:t>
                              </m:r>
                            </m:e>
                          </m:func>
                        </m:e>
                      </m:func>
                    </m:oMath>
                  </m:oMathPara>
                </a14:m>
                <a:endParaRPr lang="en-CN" dirty="0"/>
              </a:p>
              <a:p>
                <a:pPr algn="ctr"/>
                <a:endParaRPr lang="en-CN" dirty="0"/>
              </a:p>
              <a:p>
                <a:endParaRPr lang="en-CN" dirty="0"/>
              </a:p>
              <a:p>
                <a:r>
                  <a:rPr lang="en-CN" dirty="0"/>
                  <a:t>对N个粒子</a:t>
                </a:r>
              </a:p>
              <a:p>
                <a:endParaRPr lang="en-CN" dirty="0"/>
              </a:p>
              <a:p>
                <a:pPr algn="ct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𝐹</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𝜏</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𝐸</m:t>
                              </m:r>
                            </m:e>
                            <m:sub>
                              <m:r>
                                <a:rPr lang="en-US" b="0" i="1" smtClean="0">
                                  <a:latin typeface="Cambria Math" panose="02040503050406030204" pitchFamily="18" charset="0"/>
                                  <a:ea typeface="Cambria Math" panose="02040503050406030204" pitchFamily="18" charset="0"/>
                                </a:rPr>
                                <m:t>0</m:t>
                              </m:r>
                            </m:sub>
                          </m:sSub>
                        </m:e>
                      </m:func>
                    </m:oMath>
                  </m:oMathPara>
                </a14:m>
                <a:endParaRPr lang="en-CN" dirty="0"/>
              </a:p>
              <a:p>
                <a:pPr algn="ctr"/>
                <a:endParaRPr lang="en-CN" dirty="0"/>
              </a:p>
              <a:p>
                <a:r>
                  <a:rPr lang="en-CN" dirty="0"/>
                  <a:t>化学势</a:t>
                </a:r>
              </a:p>
              <a:p>
                <a:endParaRPr lang="en-CN" dirty="0"/>
              </a:p>
              <a:p>
                <a:pPr algn="ct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ea typeface="Cambria Math" panose="02040503050406030204" pitchFamily="18" charset="0"/>
                            </a:rPr>
                          </m:ctrlPr>
                        </m:sSupPr>
                        <m:e>
                          <m:r>
                            <a:rPr lang="en-CN" i="1" smtClean="0">
                              <a:latin typeface="Cambria Math" panose="02040503050406030204" pitchFamily="18" charset="0"/>
                              <a:ea typeface="Cambria Math" panose="02040503050406030204" pitchFamily="18" charset="0"/>
                            </a:rPr>
                            <m:t>𝜇</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𝐹</m:t>
                                  </m:r>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den>
                              </m:f>
                            </m:e>
                          </m:d>
                        </m:e>
                        <m:sub>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𝐸</m:t>
                          </m:r>
                        </m:e>
                        <m:sub>
                          <m:r>
                            <a:rPr lang="en-US" b="0" i="1" smtClean="0">
                              <a:latin typeface="Cambria Math" panose="02040503050406030204" pitchFamily="18" charset="0"/>
                              <a:ea typeface="Cambria Math" panose="02040503050406030204" pitchFamily="18" charset="0"/>
                            </a:rPr>
                            <m:t>0</m:t>
                          </m:r>
                        </m:sub>
                      </m:sSub>
                    </m:oMath>
                  </m:oMathPara>
                </a14:m>
                <a:endParaRPr lang="en-CN" dirty="0"/>
              </a:p>
            </p:txBody>
          </p:sp>
        </mc:Choice>
        <mc:Fallback xmlns="">
          <p:sp>
            <p:nvSpPr>
              <p:cNvPr id="3" name="TextBox 2">
                <a:extLst>
                  <a:ext uri="{FF2B5EF4-FFF2-40B4-BE49-F238E27FC236}">
                    <a16:creationId xmlns:a16="http://schemas.microsoft.com/office/drawing/2014/main" id="{477ECB42-6BA7-A143-B5B9-1ECFCCD77E85}"/>
                  </a:ext>
                </a:extLst>
              </p:cNvPr>
              <p:cNvSpPr txBox="1">
                <a:spLocks noRot="1" noChangeAspect="1" noMove="1" noResize="1" noEditPoints="1" noAdjustHandles="1" noChangeArrowheads="1" noChangeShapeType="1" noTextEdit="1"/>
              </p:cNvSpPr>
              <p:nvPr/>
            </p:nvSpPr>
            <p:spPr>
              <a:xfrm>
                <a:off x="886690" y="369332"/>
                <a:ext cx="10086109" cy="5944512"/>
              </a:xfrm>
              <a:prstGeom prst="rect">
                <a:avLst/>
              </a:prstGeom>
              <a:blipFill>
                <a:blip r:embed="rId3"/>
                <a:stretch>
                  <a:fillRect l="-503" t="-640"/>
                </a:stretch>
              </a:blipFill>
            </p:spPr>
            <p:txBody>
              <a:bodyPr/>
              <a:lstStyle/>
              <a:p>
                <a:r>
                  <a:rPr lang="en-CN">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915E7D41-5EA5-968C-7642-C7230F5BDBD0}"/>
                  </a:ext>
                </a:extLst>
              </p:cNvPr>
              <p:cNvSpPr txBox="1"/>
              <p:nvPr/>
            </p:nvSpPr>
            <p:spPr>
              <a:xfrm>
                <a:off x="8648892" y="5790624"/>
                <a:ext cx="331123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2800" i="1" smtClean="0">
                              <a:latin typeface="Cambria Math" panose="02040503050406030204" pitchFamily="18" charset="0"/>
                            </a:rPr>
                          </m:ctrlPr>
                        </m:sSubPr>
                        <m:e>
                          <m:r>
                            <a:rPr lang="en-CN" sz="2800" i="1" smtClean="0">
                              <a:latin typeface="Cambria Math" panose="02040503050406030204" pitchFamily="18" charset="0"/>
                              <a:ea typeface="Cambria Math" panose="02040503050406030204" pitchFamily="18" charset="0"/>
                            </a:rPr>
                            <m:t>𝜇</m:t>
                          </m:r>
                        </m:e>
                        <m:sub>
                          <m:r>
                            <a:rPr lang="en-US" sz="2800" b="0" i="1" smtClean="0">
                              <a:latin typeface="Cambria Math" panose="02040503050406030204" pitchFamily="18" charset="0"/>
                            </a:rPr>
                            <m:t>𝑡𝑜𝑡𝑎𝑙</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𝜇</m:t>
                          </m:r>
                        </m:e>
                        <m:sub>
                          <m:r>
                            <a:rPr lang="en-US" sz="2800" b="0" i="1" smtClean="0">
                              <a:latin typeface="Cambria Math" panose="02040503050406030204" pitchFamily="18" charset="0"/>
                            </a:rPr>
                            <m:t>𝑒𝑥𝑡</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𝜇</m:t>
                          </m:r>
                        </m:e>
                        <m:sub>
                          <m:r>
                            <a:rPr lang="en-US" sz="2800" b="0" i="1" smtClean="0">
                              <a:latin typeface="Cambria Math" panose="02040503050406030204" pitchFamily="18" charset="0"/>
                            </a:rPr>
                            <m:t>𝑖𝑛𝑡</m:t>
                          </m:r>
                        </m:sub>
                      </m:sSub>
                    </m:oMath>
                  </m:oMathPara>
                </a14:m>
                <a:endParaRPr lang="en-CN" sz="2800" dirty="0"/>
              </a:p>
            </p:txBody>
          </p:sp>
        </mc:Choice>
        <mc:Fallback>
          <p:sp>
            <p:nvSpPr>
              <p:cNvPr id="4" name="TextBox 3">
                <a:extLst>
                  <a:ext uri="{FF2B5EF4-FFF2-40B4-BE49-F238E27FC236}">
                    <a16:creationId xmlns:a16="http://schemas.microsoft.com/office/drawing/2014/main" id="{915E7D41-5EA5-968C-7642-C7230F5BDBD0}"/>
                  </a:ext>
                </a:extLst>
              </p:cNvPr>
              <p:cNvSpPr txBox="1">
                <a:spLocks noRot="1" noChangeAspect="1" noMove="1" noResize="1" noEditPoints="1" noAdjustHandles="1" noChangeArrowheads="1" noChangeShapeType="1" noTextEdit="1"/>
              </p:cNvSpPr>
              <p:nvPr/>
            </p:nvSpPr>
            <p:spPr>
              <a:xfrm>
                <a:off x="8648892" y="5790624"/>
                <a:ext cx="3311237" cy="523220"/>
              </a:xfrm>
              <a:prstGeom prst="rect">
                <a:avLst/>
              </a:prstGeom>
              <a:blipFill>
                <a:blip r:embed="rId4"/>
                <a:stretch>
                  <a:fillRect b="-4762"/>
                </a:stretch>
              </a:blipFill>
            </p:spPr>
            <p:txBody>
              <a:bodyPr/>
              <a:lstStyle/>
              <a:p>
                <a:r>
                  <a:rPr lang="en-CN">
                    <a:noFill/>
                  </a:rPr>
                  <a:t> </a:t>
                </a:r>
              </a:p>
            </p:txBody>
          </p:sp>
        </mc:Fallback>
      </mc:AlternateContent>
      <p:sp>
        <p:nvSpPr>
          <p:cNvPr id="5" name="TextBox 4">
            <a:extLst>
              <a:ext uri="{FF2B5EF4-FFF2-40B4-BE49-F238E27FC236}">
                <a16:creationId xmlns:a16="http://schemas.microsoft.com/office/drawing/2014/main" id="{C98D7C28-1CE7-1110-2F89-E9BB30F436E9}"/>
              </a:ext>
            </a:extLst>
          </p:cNvPr>
          <p:cNvSpPr txBox="1"/>
          <p:nvPr/>
        </p:nvSpPr>
        <p:spPr>
          <a:xfrm>
            <a:off x="8788159" y="4231359"/>
            <a:ext cx="3214253" cy="1200329"/>
          </a:xfrm>
          <a:prstGeom prst="rect">
            <a:avLst/>
          </a:prstGeom>
          <a:noFill/>
        </p:spPr>
        <p:txBody>
          <a:bodyPr wrap="square">
            <a:spAutoFit/>
          </a:bodyPr>
          <a:lstStyle/>
          <a:p>
            <a:r>
              <a:rPr lang="en-US" sz="1800" dirty="0">
                <a:effectLst/>
                <a:latin typeface="CMR10"/>
              </a:rPr>
              <a:t>Adding a potential energy per particle therefore corresponds to adding a potential energy to the chemical potential. </a:t>
            </a:r>
            <a:endParaRPr lang="en-US" dirty="0"/>
          </a:p>
        </p:txBody>
      </p:sp>
    </p:spTree>
    <p:extLst>
      <p:ext uri="{BB962C8B-B14F-4D97-AF65-F5344CB8AC3E}">
        <p14:creationId xmlns:p14="http://schemas.microsoft.com/office/powerpoint/2010/main" val="41237497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73413F-8B62-E74A-AD01-6B68CA498460}"/>
              </a:ext>
            </a:extLst>
          </p:cNvPr>
          <p:cNvSpPr txBox="1"/>
          <p:nvPr/>
        </p:nvSpPr>
        <p:spPr>
          <a:xfrm>
            <a:off x="366426" y="1730856"/>
            <a:ext cx="2881746" cy="3139321"/>
          </a:xfrm>
          <a:prstGeom prst="rect">
            <a:avLst/>
          </a:prstGeom>
          <a:noFill/>
        </p:spPr>
        <p:txBody>
          <a:bodyPr wrap="square" rtlCol="0">
            <a:spAutoFit/>
          </a:bodyPr>
          <a:lstStyle/>
          <a:p>
            <a:r>
              <a:rPr lang="en-CN" dirty="0"/>
              <a:t>化学势的意义</a:t>
            </a:r>
          </a:p>
          <a:p>
            <a:endParaRPr lang="en-CN" dirty="0"/>
          </a:p>
          <a:p>
            <a:r>
              <a:rPr lang="en-CN" dirty="0"/>
              <a:t>The chemical poential is equivalent to a true potential energy: the difference in chemical potential between two system is equal to the potential barrier that will bring the two system into difffusive equilibrium.</a:t>
            </a:r>
          </a:p>
        </p:txBody>
      </p:sp>
      <p:cxnSp>
        <p:nvCxnSpPr>
          <p:cNvPr id="6" name="Straight Arrow Connector 5">
            <a:extLst>
              <a:ext uri="{FF2B5EF4-FFF2-40B4-BE49-F238E27FC236}">
                <a16:creationId xmlns:a16="http://schemas.microsoft.com/office/drawing/2014/main" id="{58E21F17-E470-6142-95E3-EBAAA2A274C6}"/>
              </a:ext>
            </a:extLst>
          </p:cNvPr>
          <p:cNvCxnSpPr/>
          <p:nvPr/>
        </p:nvCxnSpPr>
        <p:spPr>
          <a:xfrm flipV="1">
            <a:off x="3573028" y="1701884"/>
            <a:ext cx="0" cy="315291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AA48BC2-C0DB-9949-AF63-589A47C84A33}"/>
              </a:ext>
            </a:extLst>
          </p:cNvPr>
          <p:cNvCxnSpPr/>
          <p:nvPr/>
        </p:nvCxnSpPr>
        <p:spPr>
          <a:xfrm>
            <a:off x="4391886" y="2871610"/>
            <a:ext cx="942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60E6B26-1C9D-3042-9C5F-377E481A1835}"/>
              </a:ext>
            </a:extLst>
          </p:cNvPr>
          <p:cNvCxnSpPr/>
          <p:nvPr/>
        </p:nvCxnSpPr>
        <p:spPr>
          <a:xfrm>
            <a:off x="4447301" y="4381755"/>
            <a:ext cx="942114"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95F6324-26E2-F944-A231-BB055D23FC68}"/>
                  </a:ext>
                </a:extLst>
              </p:cNvPr>
              <p:cNvSpPr txBox="1"/>
              <p:nvPr/>
            </p:nvSpPr>
            <p:spPr>
              <a:xfrm>
                <a:off x="5805060" y="270889"/>
                <a:ext cx="6206832" cy="5661614"/>
              </a:xfrm>
              <a:prstGeom prst="rect">
                <a:avLst/>
              </a:prstGeom>
              <a:noFill/>
            </p:spPr>
            <p:txBody>
              <a:bodyPr wrap="square" rtlCol="0">
                <a:spAutoFit/>
              </a:bodyPr>
              <a:lstStyle/>
              <a:p>
                <a:pPr marL="285750" indent="-285750">
                  <a:buFont typeface="Arial" panose="020B0604020202020204" pitchFamily="34" charset="0"/>
                  <a:buChar char="•"/>
                </a:pPr>
                <a:r>
                  <a:rPr lang="en-CN" dirty="0"/>
                  <a:t>Let us look at two system A and B at the same temperature that may exchange particles. Assume </a:t>
                </a:r>
                <a14:m>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𝐵</m:t>
                        </m:r>
                      </m:sub>
                    </m:sSub>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𝐴</m:t>
                        </m:r>
                      </m:sub>
                    </m:sSub>
                  </m:oMath>
                </a14:m>
                <a:r>
                  <a:rPr lang="en-CN" dirty="0"/>
                  <a:t>, </a:t>
                </a:r>
                <a14:m>
                  <m:oMath xmlns:m="http://schemas.openxmlformats.org/officeDocument/2006/math">
                    <m:r>
                      <a:rPr lang="en-CN" i="1" smtClean="0">
                        <a:latin typeface="Cambria Math" panose="02040503050406030204" pitchFamily="18" charset="0"/>
                        <a:ea typeface="Cambria Math" panose="02040503050406030204" pitchFamily="18" charset="0"/>
                      </a:rPr>
                      <m:t>∆</m:t>
                    </m:r>
                    <m:r>
                      <a:rPr lang="en-CN"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𝐵</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𝐴</m:t>
                        </m:r>
                      </m:sub>
                    </m:sSub>
                  </m:oMath>
                </a14:m>
                <a:r>
                  <a:rPr lang="en-CN" dirty="0"/>
                  <a:t>.</a:t>
                </a:r>
              </a:p>
              <a:p>
                <a:pPr marL="285750" indent="-285750">
                  <a:buFont typeface="Arial" panose="020B0604020202020204" pitchFamily="34" charset="0"/>
                  <a:buChar char="•"/>
                </a:pPr>
                <a:r>
                  <a:rPr lang="en-CN" dirty="0"/>
                  <a:t>Let us now introduce a difference in potential energy between the two systems. For example, for charged particles we may introduce an electric field with a voltage diffeerence </a:t>
                </a:r>
                <a14:m>
                  <m:oMath xmlns:m="http://schemas.openxmlformats.org/officeDocument/2006/math">
                    <m:r>
                      <a:rPr lang="en-C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oMath>
                </a14:m>
                <a:r>
                  <a:rPr lang="en-CN" dirty="0"/>
                  <a:t>. We apply this to all particles in system A so that we raise their potential energy by </a:t>
                </a:r>
                <a14:m>
                  <m:oMath xmlns:m="http://schemas.openxmlformats.org/officeDocument/2006/math">
                    <m:r>
                      <a:rPr lang="en-CN" i="1">
                        <a:latin typeface="Cambria Math" panose="02040503050406030204" pitchFamily="18" charset="0"/>
                        <a:ea typeface="Cambria Math" panose="02040503050406030204" pitchFamily="18" charset="0"/>
                      </a:rPr>
                      <m:t>∆</m:t>
                    </m:r>
                    <m:r>
                      <a:rPr lang="en-CN" i="1">
                        <a:latin typeface="Cambria Math" panose="02040503050406030204" pitchFamily="18" charset="0"/>
                        <a:ea typeface="Cambria Math" panose="02040503050406030204" pitchFamily="18" charset="0"/>
                      </a:rPr>
                      <m:t>𝜇</m:t>
                    </m:r>
                  </m:oMath>
                </a14:m>
                <a:r>
                  <a:rPr lang="en-CN" dirty="0"/>
                  <a:t>. </a:t>
                </a: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𝑞</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oMath>
                  </m:oMathPara>
                </a14:m>
                <a:endParaRPr lang="en-CN" dirty="0"/>
              </a:p>
              <a:p>
                <a:pPr algn="ctr"/>
                <a:endParaRPr lang="en-CN" dirty="0"/>
              </a:p>
              <a:p>
                <a:pPr marL="285750" indent="-285750">
                  <a:buFont typeface="Arial" panose="020B0604020202020204" pitchFamily="34" charset="0"/>
                  <a:buChar char="•"/>
                </a:pPr>
                <a:r>
                  <a:rPr lang="en-CN" dirty="0"/>
                  <a:t>We have not changed </a:t>
                </a:r>
                <a14:m>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𝐵</m:t>
                        </m:r>
                      </m:sub>
                    </m:sSub>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𝐵</m:t>
                        </m:r>
                      </m:sub>
                    </m:sSub>
                  </m:oMath>
                </a14:m>
                <a:endParaRPr lang="en-CN" dirty="0"/>
              </a:p>
              <a:p>
                <a:pPr marL="285750" indent="-285750">
                  <a:buFont typeface="Arial" panose="020B0604020202020204" pitchFamily="34" charset="0"/>
                  <a:buChar char="•"/>
                </a:pPr>
                <a:r>
                  <a:rPr lang="en-CN" dirty="0"/>
                  <a:t>The change in free energy in system A is by the change in internal energy, </a:t>
                </a:r>
                <a14:m>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𝐴</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𝐴</m:t>
                        </m:r>
                      </m:sub>
                    </m:sSub>
                    <m:r>
                      <a:rPr lang="en-US" b="0" i="1" smtClean="0">
                        <a:latin typeface="Cambria Math" panose="02040503050406030204" pitchFamily="18" charset="0"/>
                      </a:rPr>
                      <m:t> </m:t>
                    </m:r>
                    <m:r>
                      <a:rPr lang="en-US" b="0" i="1" smtClean="0">
                        <a:latin typeface="Cambria Math" panose="02040503050406030204" pitchFamily="18" charset="0"/>
                      </a:rPr>
                      <m:t>𝑞</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r>
                      <a:rPr lang="en-US" b="0" i="0" smtClean="0">
                        <a:latin typeface="Cambria Math" panose="02040503050406030204" pitchFamily="18" charset="0"/>
                        <a:ea typeface="Cambria Math" panose="02040503050406030204" pitchFamily="18" charset="0"/>
                      </a:rPr>
                      <m:t>…</m:t>
                    </m:r>
                  </m:oMath>
                </a14:m>
                <a:r>
                  <a:rPr lang="en-CN" dirty="0"/>
                  <a:t>this means that the energy of every state in system A has changed by </a:t>
                </a:r>
                <a14:m>
                  <m:oMath xmlns:m="http://schemas.openxmlformats.org/officeDocument/2006/math">
                    <m:r>
                      <a:rPr lang="en-US" i="1">
                        <a:latin typeface="Cambria Math" panose="02040503050406030204" pitchFamily="18" charset="0"/>
                      </a:rPr>
                      <m:t>𝑞</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𝑉</m:t>
                    </m:r>
                  </m:oMath>
                </a14:m>
                <a:endParaRPr lang="en-CN" dirty="0"/>
              </a:p>
              <a:p>
                <a:pPr marL="285750" indent="-285750">
                  <a:buFont typeface="Arial" panose="020B0604020202020204" pitchFamily="34" charset="0"/>
                  <a:buChar char="•"/>
                </a:pPr>
                <a:r>
                  <a:rPr lang="en-CN" dirty="0">
                    <a:solidFill>
                      <a:srgbClr val="FF0000"/>
                    </a:solidFill>
                  </a:rPr>
                  <a:t>补遗六</a:t>
                </a:r>
              </a:p>
              <a:p>
                <a:pPr marL="285750" indent="-285750">
                  <a:buFont typeface="Arial" panose="020B0604020202020204" pitchFamily="34" charset="0"/>
                  <a:buChar char="•"/>
                </a:pPr>
                <a14:m>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𝐴</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𝑓𝑖𝑛𝑎𝑙</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𝐴</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𝑖𝑛𝑖𝑡𝑖𝑎𝑙</m:t>
                        </m:r>
                      </m:e>
                    </m:d>
                    <m:r>
                      <a:rPr lang="en-US" b="0" i="1" smtClean="0">
                        <a:latin typeface="Cambria Math" panose="02040503050406030204" pitchFamily="18" charset="0"/>
                      </a:rPr>
                      <m:t>+</m:t>
                    </m:r>
                    <m:r>
                      <a:rPr lang="en-US" b="0" i="1" smtClean="0">
                        <a:latin typeface="Cambria Math" panose="02040503050406030204" pitchFamily="18" charset="0"/>
                      </a:rPr>
                      <m:t>𝑞</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rPr>
                          <m:t>𝐴</m:t>
                        </m:r>
                      </m:sub>
                    </m:sSub>
                    <m:d>
                      <m:dPr>
                        <m:ctrlPr>
                          <a:rPr lang="en-US" i="1">
                            <a:latin typeface="Cambria Math" panose="02040503050406030204" pitchFamily="18" charset="0"/>
                          </a:rPr>
                        </m:ctrlPr>
                      </m:dPr>
                      <m:e>
                        <m:r>
                          <a:rPr lang="en-US" i="1">
                            <a:latin typeface="Cambria Math" panose="02040503050406030204" pitchFamily="18" charset="0"/>
                          </a:rPr>
                          <m:t>𝑖𝑛𝑖𝑡𝑖𝑎𝑙</m:t>
                        </m:r>
                      </m:e>
                    </m:d>
                    <m:r>
                      <a:rPr lang="en-US" i="1">
                        <a:latin typeface="Cambria Math" panose="02040503050406030204" pitchFamily="18" charset="0"/>
                      </a:rPr>
                      <m:t>+</m:t>
                    </m:r>
                    <m:r>
                      <a:rPr lang="en-US"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rPr>
                          <m:t>𝐴</m:t>
                        </m:r>
                      </m:sub>
                    </m:sSub>
                    <m:d>
                      <m:dPr>
                        <m:ctrlPr>
                          <a:rPr lang="en-US" i="1">
                            <a:latin typeface="Cambria Math" panose="02040503050406030204" pitchFamily="18" charset="0"/>
                          </a:rPr>
                        </m:ctrlPr>
                      </m:dPr>
                      <m:e>
                        <m:r>
                          <a:rPr lang="en-US" i="1">
                            <a:latin typeface="Cambria Math" panose="02040503050406030204" pitchFamily="18" charset="0"/>
                          </a:rPr>
                          <m:t>𝑖𝑛𝑖𝑡𝑖𝑎𝑙</m:t>
                        </m:r>
                      </m:e>
                    </m:d>
                    <m:r>
                      <a:rPr lang="en-US" i="1">
                        <a:latin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ea typeface="Cambria Math" panose="02040503050406030204" pitchFamily="18" charset="0"/>
                              </a:rPr>
                              <m:t>𝐵</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𝑖𝑛𝑖𝑡𝑖𝑎𝑙</m:t>
                            </m:r>
                          </m:e>
                        </m:d>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ea typeface="Cambria Math" panose="02040503050406030204" pitchFamily="18" charset="0"/>
                              </a:rPr>
                              <m:t>𝐴</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𝑖𝑛𝑖𝑡𝑖𝑎𝑙</m:t>
                            </m:r>
                          </m:e>
                        </m:d>
                      </m:e>
                    </m:d>
                    <m:r>
                      <a:rPr lang="en-US" b="0" i="1" smtClean="0">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ea typeface="Cambria Math" panose="02040503050406030204" pitchFamily="18" charset="0"/>
                          </a:rPr>
                          <m:t>𝐵</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𝑖𝑛𝑖𝑡𝑖𝑎𝑙</m:t>
                        </m:r>
                      </m:e>
                    </m:d>
                  </m:oMath>
                </a14:m>
                <a:r>
                  <a:rPr lang="en-CN" dirty="0"/>
                  <a:t>=</a:t>
                </a:r>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ea typeface="Cambria Math" panose="02040503050406030204" pitchFamily="18" charset="0"/>
                          </a:rPr>
                          <m:t>𝐵</m:t>
                        </m:r>
                      </m:sub>
                    </m:sSub>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𝑓𝑖𝑛𝑎𝑙</m:t>
                        </m:r>
                      </m:e>
                    </m:d>
                  </m:oMath>
                </a14:m>
                <a:endParaRPr lang="en-CN" dirty="0"/>
              </a:p>
              <a:p>
                <a:pPr marL="285750" indent="-285750">
                  <a:buFont typeface="Arial" panose="020B0604020202020204" pitchFamily="34" charset="0"/>
                  <a:buChar char="•"/>
                </a:pPr>
                <a:r>
                  <a:rPr lang="en-CN" dirty="0"/>
                  <a:t>There is therefore no longer any difference in chemical potential.</a:t>
                </a:r>
              </a:p>
            </p:txBody>
          </p:sp>
        </mc:Choice>
        <mc:Fallback xmlns="">
          <p:sp>
            <p:nvSpPr>
              <p:cNvPr id="9" name="TextBox 8">
                <a:extLst>
                  <a:ext uri="{FF2B5EF4-FFF2-40B4-BE49-F238E27FC236}">
                    <a16:creationId xmlns:a16="http://schemas.microsoft.com/office/drawing/2014/main" id="{595F6324-26E2-F944-A231-BB055D23FC68}"/>
                  </a:ext>
                </a:extLst>
              </p:cNvPr>
              <p:cNvSpPr txBox="1">
                <a:spLocks noRot="1" noChangeAspect="1" noMove="1" noResize="1" noEditPoints="1" noAdjustHandles="1" noChangeArrowheads="1" noChangeShapeType="1" noTextEdit="1"/>
              </p:cNvSpPr>
              <p:nvPr/>
            </p:nvSpPr>
            <p:spPr>
              <a:xfrm>
                <a:off x="5805060" y="270889"/>
                <a:ext cx="6206832" cy="5661614"/>
              </a:xfrm>
              <a:prstGeom prst="rect">
                <a:avLst/>
              </a:prstGeom>
              <a:blipFill>
                <a:blip r:embed="rId4"/>
                <a:stretch>
                  <a:fillRect l="-408" t="-447" r="-1633" b="-895"/>
                </a:stretch>
              </a:blipFill>
            </p:spPr>
            <p:txBody>
              <a:bodyPr/>
              <a:lstStyle/>
              <a:p>
                <a:r>
                  <a:rPr lang="en-CN">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CC448B1A-DADD-CF48-BC31-607D98B189AD}"/>
                  </a:ext>
                </a:extLst>
              </p:cNvPr>
              <p:cNvSpPr txBox="1"/>
              <p:nvPr/>
            </p:nvSpPr>
            <p:spPr>
              <a:xfrm>
                <a:off x="3768436" y="4229356"/>
                <a:ext cx="6234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𝐴</m:t>
                          </m:r>
                        </m:sub>
                      </m:sSub>
                    </m:oMath>
                  </m:oMathPara>
                </a14:m>
                <a:endParaRPr lang="en-CN" dirty="0"/>
              </a:p>
            </p:txBody>
          </p:sp>
        </mc:Choice>
        <mc:Fallback>
          <p:sp>
            <p:nvSpPr>
              <p:cNvPr id="10" name="TextBox 9">
                <a:extLst>
                  <a:ext uri="{FF2B5EF4-FFF2-40B4-BE49-F238E27FC236}">
                    <a16:creationId xmlns:a16="http://schemas.microsoft.com/office/drawing/2014/main" id="{CC448B1A-DADD-CF48-BC31-607D98B189AD}"/>
                  </a:ext>
                </a:extLst>
              </p:cNvPr>
              <p:cNvSpPr txBox="1">
                <a:spLocks noRot="1" noChangeAspect="1" noMove="1" noResize="1" noEditPoints="1" noAdjustHandles="1" noChangeArrowheads="1" noChangeShapeType="1" noTextEdit="1"/>
              </p:cNvSpPr>
              <p:nvPr/>
            </p:nvSpPr>
            <p:spPr>
              <a:xfrm>
                <a:off x="3768436" y="4229356"/>
                <a:ext cx="623450" cy="369332"/>
              </a:xfrm>
              <a:prstGeom prst="rect">
                <a:avLst/>
              </a:prstGeom>
              <a:blipFill>
                <a:blip r:embed="rId5"/>
                <a:stretch>
                  <a:fillRect b="-6897"/>
                </a:stretch>
              </a:blipFill>
            </p:spPr>
            <p:txBody>
              <a:bodyPr/>
              <a:lstStyle/>
              <a:p>
                <a:r>
                  <a:rPr lang="en-CN">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794E4C4B-31B5-244F-9583-D3B1DC58D1CE}"/>
                  </a:ext>
                </a:extLst>
              </p:cNvPr>
              <p:cNvSpPr txBox="1"/>
              <p:nvPr/>
            </p:nvSpPr>
            <p:spPr>
              <a:xfrm>
                <a:off x="3704651" y="2645379"/>
                <a:ext cx="6234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𝐵</m:t>
                          </m:r>
                        </m:sub>
                      </m:sSub>
                    </m:oMath>
                  </m:oMathPara>
                </a14:m>
                <a:endParaRPr lang="en-CN" dirty="0"/>
              </a:p>
            </p:txBody>
          </p:sp>
        </mc:Choice>
        <mc:Fallback>
          <p:sp>
            <p:nvSpPr>
              <p:cNvPr id="11" name="TextBox 10">
                <a:extLst>
                  <a:ext uri="{FF2B5EF4-FFF2-40B4-BE49-F238E27FC236}">
                    <a16:creationId xmlns:a16="http://schemas.microsoft.com/office/drawing/2014/main" id="{794E4C4B-31B5-244F-9583-D3B1DC58D1CE}"/>
                  </a:ext>
                </a:extLst>
              </p:cNvPr>
              <p:cNvSpPr txBox="1">
                <a:spLocks noRot="1" noChangeAspect="1" noMove="1" noResize="1" noEditPoints="1" noAdjustHandles="1" noChangeArrowheads="1" noChangeShapeType="1" noTextEdit="1"/>
              </p:cNvSpPr>
              <p:nvPr/>
            </p:nvSpPr>
            <p:spPr>
              <a:xfrm>
                <a:off x="3704651" y="2645379"/>
                <a:ext cx="623450" cy="369332"/>
              </a:xfrm>
              <a:prstGeom prst="rect">
                <a:avLst/>
              </a:prstGeom>
              <a:blipFill>
                <a:blip r:embed="rId6"/>
                <a:stretch>
                  <a:fillRect b="-6667"/>
                </a:stretch>
              </a:blipFill>
            </p:spPr>
            <p:txBody>
              <a:bodyPr/>
              <a:lstStyle/>
              <a:p>
                <a:r>
                  <a:rPr lang="en-CN">
                    <a:noFill/>
                  </a:rPr>
                  <a:t> </a:t>
                </a:r>
              </a:p>
            </p:txBody>
          </p:sp>
        </mc:Fallback>
      </mc:AlternateContent>
    </p:spTree>
    <p:extLst>
      <p:ext uri="{BB962C8B-B14F-4D97-AF65-F5344CB8AC3E}">
        <p14:creationId xmlns:p14="http://schemas.microsoft.com/office/powerpoint/2010/main" val="12356259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e Barometric Formula">
            <a:extLst>
              <a:ext uri="{FF2B5EF4-FFF2-40B4-BE49-F238E27FC236}">
                <a16:creationId xmlns:a16="http://schemas.microsoft.com/office/drawing/2014/main" id="{CE7A3C09-B255-BB46-8BAC-8D829C11C3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946" y="903121"/>
            <a:ext cx="4878045" cy="567541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3718EB5-DB2D-934F-999D-6ECE9838B5EE}"/>
              </a:ext>
            </a:extLst>
          </p:cNvPr>
          <p:cNvSpPr txBox="1"/>
          <p:nvPr/>
        </p:nvSpPr>
        <p:spPr>
          <a:xfrm>
            <a:off x="290946" y="279461"/>
            <a:ext cx="6096000" cy="369332"/>
          </a:xfrm>
          <a:prstGeom prst="rect">
            <a:avLst/>
          </a:prstGeom>
          <a:noFill/>
        </p:spPr>
        <p:txBody>
          <a:bodyPr wrap="square">
            <a:spAutoFit/>
          </a:bodyPr>
          <a:lstStyle/>
          <a:p>
            <a:r>
              <a:rPr lang="en-US" dirty="0" err="1">
                <a:latin typeface="CMBX12"/>
              </a:rPr>
              <a:t>一个例子</a:t>
            </a:r>
            <a:r>
              <a:rPr lang="zh-CN" altLang="en-US" dirty="0">
                <a:latin typeface="CMBX12"/>
              </a:rPr>
              <a:t>：</a:t>
            </a:r>
            <a:r>
              <a:rPr lang="en-US" sz="1800" dirty="0">
                <a:effectLst/>
                <a:latin typeface="CMBX12"/>
              </a:rPr>
              <a:t>Barometric pressure formula </a:t>
            </a:r>
            <a:endParaRPr lang="en-US"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44A9853-6AD5-244A-ADDB-B0E9B2B175A5}"/>
                  </a:ext>
                </a:extLst>
              </p:cNvPr>
              <p:cNvSpPr txBox="1"/>
              <p:nvPr/>
            </p:nvSpPr>
            <p:spPr>
              <a:xfrm>
                <a:off x="5943600" y="1244395"/>
                <a:ext cx="5541818" cy="4369209"/>
              </a:xfrm>
              <a:prstGeom prst="rect">
                <a:avLst/>
              </a:prstGeom>
              <a:noFill/>
            </p:spPr>
            <p:txBody>
              <a:bodyPr wrap="square" rtlCol="0">
                <a:spAutoFit/>
              </a:bodyPr>
              <a:lstStyle/>
              <a:p>
                <a:pPr marL="285750" indent="-285750">
                  <a:buFont typeface="Arial" panose="020B0604020202020204" pitchFamily="34" charset="0"/>
                  <a:buChar char="•"/>
                </a:pPr>
                <a:r>
                  <a:rPr lang="en-CN" dirty="0"/>
                  <a:t>假设地球大气层处于恒温tau</a:t>
                </a:r>
              </a:p>
              <a:p>
                <a:pPr marL="285750" indent="-285750">
                  <a:buFont typeface="Arial" panose="020B0604020202020204" pitchFamily="34" charset="0"/>
                  <a:buChar char="•"/>
                </a:pPr>
                <a:r>
                  <a:rPr lang="en-CN" dirty="0"/>
                  <a:t>The potential energy of a gas particle would be </a:t>
                </a:r>
                <a:r>
                  <a:rPr lang="en-CN" dirty="0">
                    <a:solidFill>
                      <a:srgbClr val="FF0000"/>
                    </a:solidFill>
                  </a:rPr>
                  <a:t>mgz</a:t>
                </a:r>
                <a:r>
                  <a:rPr lang="en-CN" dirty="0"/>
                  <a:t>, where we may place the zero in potential energy at the Earths surface.</a:t>
                </a:r>
              </a:p>
              <a:p>
                <a:pPr marL="285750" indent="-285750">
                  <a:buFont typeface="Arial" panose="020B0604020202020204" pitchFamily="34" charset="0"/>
                  <a:buChar char="•"/>
                </a:pPr>
                <a:r>
                  <a:rPr lang="en-CN" dirty="0"/>
                  <a:t>The total chemical potential</a:t>
                </a: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𝑛</m:t>
                              </m:r>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𝑄</m:t>
                                  </m:r>
                                </m:sub>
                              </m:sSub>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𝑚𝑔𝑧</m:t>
                          </m:r>
                        </m:e>
                      </m:func>
                    </m:oMath>
                  </m:oMathPara>
                </a14:m>
                <a:endParaRPr lang="en-CN" dirty="0"/>
              </a:p>
              <a:p>
                <a:pPr marL="285750" indent="-285750">
                  <a:buFont typeface="Arial" panose="020B0604020202020204" pitchFamily="34" charset="0"/>
                  <a:buChar char="•"/>
                </a:pPr>
                <a:r>
                  <a:rPr lang="en-CN" dirty="0"/>
                  <a:t>In equilibrium there should be no differences in chemical potential</a:t>
                </a:r>
              </a:p>
              <a:p>
                <a:pPr algn="ct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𝜏</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e>
                                <m:sub>
                                  <m:r>
                                    <a:rPr lang="en-US" i="1">
                                      <a:latin typeface="Cambria Math" panose="02040503050406030204" pitchFamily="18" charset="0"/>
                                      <a:ea typeface="Cambria Math" panose="02040503050406030204" pitchFamily="18" charset="0"/>
                                    </a:rPr>
                                    <m:t>𝑄</m:t>
                                  </m:r>
                                </m:sub>
                              </m:sSub>
                            </m:den>
                          </m:f>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𝑚𝑔𝑧</m:t>
                          </m:r>
                          <m:r>
                            <a:rPr lang="en-US" b="0" i="1" smtClean="0">
                              <a:latin typeface="Cambria Math" panose="02040503050406030204" pitchFamily="18" charset="0"/>
                              <a:ea typeface="Cambria Math" panose="02040503050406030204" pitchFamily="18" charset="0"/>
                            </a:rPr>
                            <m:t>=</m:t>
                          </m:r>
                        </m:e>
                      </m:func>
                      <m:r>
                        <a:rPr lang="en-US" i="1" smtClean="0">
                          <a:latin typeface="Cambria Math" panose="02040503050406030204" pitchFamily="18" charset="0"/>
                          <a:ea typeface="Cambria Math" panose="02040503050406030204" pitchFamily="18" charset="0"/>
                        </a:rPr>
                        <m:t>𝜏</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(0)</m:t>
                              </m:r>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𝑄</m:t>
                                  </m:r>
                                </m:sub>
                              </m:sSub>
                            </m:den>
                          </m:f>
                        </m:e>
                      </m:func>
                    </m:oMath>
                  </m:oMathPara>
                </a14:m>
                <a:endParaRPr lang="en-CN" dirty="0"/>
              </a:p>
              <a:p>
                <a:r>
                  <a:rPr lang="en-CN" dirty="0"/>
                  <a:t>     which gives</a:t>
                </a: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d>
                        <m:dPr>
                          <m:ctrlPr>
                            <a:rPr lang="en-US" b="0" i="1" smtClean="0">
                              <a:latin typeface="Cambria Math" panose="02040503050406030204" pitchFamily="18" charset="0"/>
                            </a:rPr>
                          </m:ctrlPr>
                        </m:dPr>
                        <m:e>
                          <m:r>
                            <a:rPr lang="en-US" b="0" i="1" smtClean="0">
                              <a:latin typeface="Cambria Math" panose="02040503050406030204" pitchFamily="18" charset="0"/>
                            </a:rPr>
                            <m:t>𝑧</m:t>
                          </m:r>
                        </m:e>
                      </m:d>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𝑚𝑔𝑧</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oMath>
                  </m:oMathPara>
                </a14:m>
                <a:endParaRPr lang="en-CN" dirty="0"/>
              </a:p>
              <a:p>
                <a:pPr marL="285750" indent="-28575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𝑝𝑉</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𝜏</m:t>
                    </m:r>
                  </m:oMath>
                </a14:m>
                <a:endParaRPr lang="en-CN" dirty="0"/>
              </a:p>
              <a:p>
                <a:pPr marL="285750" indent="-28575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𝑧</m:t>
                        </m:r>
                      </m:e>
                    </m:d>
                    <m:r>
                      <a:rPr lang="en-US" b="0" i="1" smtClean="0">
                        <a:latin typeface="Cambria Math" panose="02040503050406030204" pitchFamily="18" charset="0"/>
                      </a:rPr>
                      <m:t>=</m:t>
                    </m:r>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𝑚𝑔h</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oMath>
                </a14:m>
                <a:endParaRPr lang="en-CN" dirty="0"/>
              </a:p>
            </p:txBody>
          </p:sp>
        </mc:Choice>
        <mc:Fallback xmlns="">
          <p:sp>
            <p:nvSpPr>
              <p:cNvPr id="3" name="TextBox 2">
                <a:extLst>
                  <a:ext uri="{FF2B5EF4-FFF2-40B4-BE49-F238E27FC236}">
                    <a16:creationId xmlns:a16="http://schemas.microsoft.com/office/drawing/2014/main" id="{044A9853-6AD5-244A-ADDB-B0E9B2B175A5}"/>
                  </a:ext>
                </a:extLst>
              </p:cNvPr>
              <p:cNvSpPr txBox="1">
                <a:spLocks noRot="1" noChangeAspect="1" noMove="1" noResize="1" noEditPoints="1" noAdjustHandles="1" noChangeArrowheads="1" noChangeShapeType="1" noTextEdit="1"/>
              </p:cNvSpPr>
              <p:nvPr/>
            </p:nvSpPr>
            <p:spPr>
              <a:xfrm>
                <a:off x="5943600" y="1244395"/>
                <a:ext cx="5541818" cy="4369209"/>
              </a:xfrm>
              <a:prstGeom prst="rect">
                <a:avLst/>
              </a:prstGeom>
              <a:blipFill>
                <a:blip r:embed="rId3"/>
                <a:stretch>
                  <a:fillRect l="-686" t="-289"/>
                </a:stretch>
              </a:blipFill>
            </p:spPr>
            <p:txBody>
              <a:bodyPr/>
              <a:lstStyle/>
              <a:p>
                <a:r>
                  <a:rPr lang="en-CN">
                    <a:noFill/>
                  </a:rPr>
                  <a:t> </a:t>
                </a:r>
              </a:p>
            </p:txBody>
          </p:sp>
        </mc:Fallback>
      </mc:AlternateContent>
    </p:spTree>
    <p:extLst>
      <p:ext uri="{BB962C8B-B14F-4D97-AF65-F5344CB8AC3E}">
        <p14:creationId xmlns:p14="http://schemas.microsoft.com/office/powerpoint/2010/main" val="12738811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CA861B5-7F64-6C4F-8BB6-E5C9CA35E873}"/>
              </a:ext>
            </a:extLst>
          </p:cNvPr>
          <p:cNvPicPr>
            <a:picLocks noChangeAspect="1"/>
          </p:cNvPicPr>
          <p:nvPr/>
        </p:nvPicPr>
        <p:blipFill>
          <a:blip r:embed="rId2"/>
          <a:stretch>
            <a:fillRect/>
          </a:stretch>
        </p:blipFill>
        <p:spPr>
          <a:xfrm>
            <a:off x="193962" y="602671"/>
            <a:ext cx="5902038" cy="4765757"/>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0067303-F859-6C4B-BBBD-A25623D82DF3}"/>
                  </a:ext>
                </a:extLst>
              </p:cNvPr>
              <p:cNvSpPr txBox="1"/>
              <p:nvPr/>
            </p:nvSpPr>
            <p:spPr>
              <a:xfrm>
                <a:off x="7010400" y="443345"/>
                <a:ext cx="4599709" cy="3169714"/>
              </a:xfrm>
              <a:prstGeom prst="rect">
                <a:avLst/>
              </a:prstGeom>
              <a:noFill/>
            </p:spPr>
            <p:txBody>
              <a:bodyPr wrap="square" rtlCol="0">
                <a:spAutoFit/>
              </a:bodyPr>
              <a:lstStyle/>
              <a:p>
                <a:pPr marL="285750" indent="-285750">
                  <a:buFont typeface="Arial" panose="020B0604020202020204" pitchFamily="34" charset="0"/>
                  <a:buChar char="•"/>
                </a:pPr>
                <a:r>
                  <a:rPr lang="en-CN" dirty="0"/>
                  <a:t>正反夸克成对产生</a:t>
                </a:r>
                <a:r>
                  <a:rPr lang="en-US" altLang="zh-CN" dirty="0"/>
                  <a:t>/</a:t>
                </a:r>
                <a:r>
                  <a:rPr lang="zh-CN" altLang="en-US" dirty="0"/>
                  <a:t>湮灭，正反夸克的数目差固定</a:t>
                </a:r>
                <a:endParaRPr lang="en-US" altLang="zh-CN" dirty="0"/>
              </a:p>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m:t>
                          </m:r>
                        </m:sub>
                      </m:sSub>
                      <m:r>
                        <a:rPr lang="en-US" b="0" i="1" smtClean="0">
                          <a:latin typeface="Cambria Math" panose="02040503050406030204" pitchFamily="18" charset="0"/>
                        </a:rPr>
                        <m:t>=0</m:t>
                      </m:r>
                    </m:oMath>
                  </m:oMathPara>
                </a14:m>
                <a:endParaRPr lang="en-CN" dirty="0"/>
              </a:p>
              <a:p>
                <a:pPr marL="285750" indent="-285750">
                  <a:buFont typeface="Arial" panose="020B0604020202020204" pitchFamily="34" charset="0"/>
                  <a:buChar char="•"/>
                </a:pPr>
                <a14:m>
                  <m:oMath xmlns:m="http://schemas.openxmlformats.org/officeDocument/2006/math">
                    <m:r>
                      <a:rPr lang="en-CN" i="1" smtClean="0">
                        <a:latin typeface="Cambria Math" panose="02040503050406030204" pitchFamily="18" charset="0"/>
                        <a:ea typeface="Cambria Math" panose="02040503050406030204" pitchFamily="18" charset="0"/>
                      </a:rPr>
                      <m:t>∆</m:t>
                    </m:r>
                    <m:sSub>
                      <m:sSubPr>
                        <m:ctrlPr>
                          <a:rPr lang="en-CN"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𝑁</m:t>
                        </m:r>
                      </m:e>
                      <m:sub>
                        <m:r>
                          <a:rPr lang="en-US" b="0" i="1" smtClean="0">
                            <a:latin typeface="Cambria Math" panose="02040503050406030204" pitchFamily="18" charset="0"/>
                            <a:ea typeface="Cambria Math" panose="02040503050406030204" pitchFamily="18" charset="0"/>
                          </a:rPr>
                          <m:t>+</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𝑁</m:t>
                        </m:r>
                      </m:e>
                      <m:sub>
                        <m:r>
                          <a:rPr lang="en-US" b="0" i="1" smtClean="0">
                            <a:latin typeface="Cambria Math" panose="02040503050406030204" pitchFamily="18" charset="0"/>
                            <a:ea typeface="Cambria Math" panose="02040503050406030204" pitchFamily="18" charset="0"/>
                          </a:rPr>
                          <m:t>−</m:t>
                        </m:r>
                      </m:sub>
                    </m:sSub>
                  </m:oMath>
                </a14:m>
                <a:endParaRPr lang="en-CN" dirty="0"/>
              </a:p>
              <a:p>
                <a:pPr marL="285750" indent="-28575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𝑑𝐹</m:t>
                    </m:r>
                    <m:r>
                      <a:rPr lang="en-US" b="0" i="1" smtClean="0">
                        <a:latin typeface="Cambria Math" panose="02040503050406030204" pitchFamily="18" charset="0"/>
                      </a:rPr>
                      <m:t>=0,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m:t>
                        </m:r>
                      </m:sub>
                    </m:sSub>
                    <m:r>
                      <a:rPr lang="en-US" b="0" i="1" smtClean="0">
                        <a:latin typeface="Cambria Math" panose="02040503050406030204" pitchFamily="18" charset="0"/>
                      </a:rPr>
                      <m:t>=0</m:t>
                    </m:r>
                  </m:oMath>
                </a14:m>
                <a:endParaRPr lang="en-CN" dirty="0"/>
              </a:p>
              <a:p>
                <a:pPr marL="285750" indent="-285750">
                  <a:buFont typeface="Arial" panose="020B0604020202020204" pitchFamily="34" charset="0"/>
                  <a:buChar char="•"/>
                </a:pPr>
                <a:endParaRPr lang="en-CN" dirty="0"/>
              </a:p>
              <a:p>
                <a:endParaRPr lang="en-CN" dirty="0"/>
              </a:p>
              <a:p>
                <a:pPr marL="285750" indent="-285750">
                  <a:buFont typeface="Arial" panose="020B0604020202020204" pitchFamily="34" charset="0"/>
                  <a:buChar char="•"/>
                </a:pPr>
                <a:r>
                  <a:rPr lang="en-CN" dirty="0"/>
                  <a:t>考虑相对论情形</a:t>
                </a:r>
              </a:p>
              <a:p>
                <a:r>
                  <a:rPr lang="zh-CN" altLang="en-US" dirty="0"/>
                  <a:t>      </a:t>
                </a:r>
                <a14:m>
                  <m:oMath xmlns:m="http://schemas.openxmlformats.org/officeDocument/2006/math">
                    <m:r>
                      <a:rPr lang="en-US" altLang="zh-CN" b="0" i="1" smtClean="0">
                        <a:latin typeface="Cambria Math" panose="02040503050406030204" pitchFamily="18" charset="0"/>
                      </a:rPr>
                      <m:t>𝐸</m:t>
                    </m:r>
                    <m:r>
                      <a:rPr lang="en-US" altLang="zh-CN" b="0" i="1" smtClean="0">
                        <a:latin typeface="Cambria Math" panose="02040503050406030204" pitchFamily="18" charset="0"/>
                        <a:ea typeface="Cambria Math" panose="02040503050406030204" pitchFamily="18" charset="0"/>
                      </a:rPr>
                      <m:t>≈</m:t>
                    </m:r>
                    <m:sSub>
                      <m:sSubPr>
                        <m:ctrlPr>
                          <a:rPr lang="en-US" altLang="zh-CN" b="0" i="1" smtClean="0">
                            <a:solidFill>
                              <a:srgbClr val="FF0000"/>
                            </a:solidFill>
                            <a:latin typeface="Cambria Math" panose="02040503050406030204" pitchFamily="18" charset="0"/>
                            <a:ea typeface="Cambria Math" panose="02040503050406030204" pitchFamily="18" charset="0"/>
                          </a:rPr>
                        </m:ctrlPr>
                      </m:sSubPr>
                      <m:e>
                        <m:r>
                          <a:rPr lang="en-US" altLang="zh-CN" b="0" i="1" smtClean="0">
                            <a:solidFill>
                              <a:srgbClr val="FF0000"/>
                            </a:solidFill>
                            <a:latin typeface="Cambria Math" panose="02040503050406030204" pitchFamily="18" charset="0"/>
                            <a:ea typeface="Cambria Math" panose="02040503050406030204" pitchFamily="18" charset="0"/>
                          </a:rPr>
                          <m:t>𝑚</m:t>
                        </m:r>
                      </m:e>
                      <m:sub>
                        <m:r>
                          <a:rPr lang="en-US" altLang="zh-CN" b="0" i="1" smtClean="0">
                            <a:solidFill>
                              <a:srgbClr val="FF0000"/>
                            </a:solidFill>
                            <a:latin typeface="Cambria Math" panose="02040503050406030204" pitchFamily="18" charset="0"/>
                            <a:ea typeface="Cambria Math" panose="02040503050406030204" pitchFamily="18" charset="0"/>
                          </a:rPr>
                          <m:t>0</m:t>
                        </m:r>
                      </m:sub>
                    </m:sSub>
                    <m:sSup>
                      <m:sSupPr>
                        <m:ctrlPr>
                          <a:rPr lang="en-US" altLang="zh-CN" b="0" i="1" smtClean="0">
                            <a:solidFill>
                              <a:srgbClr val="FF0000"/>
                            </a:solidFill>
                            <a:latin typeface="Cambria Math" panose="02040503050406030204" pitchFamily="18" charset="0"/>
                            <a:ea typeface="Cambria Math" panose="02040503050406030204" pitchFamily="18" charset="0"/>
                          </a:rPr>
                        </m:ctrlPr>
                      </m:sSupPr>
                      <m:e>
                        <m:r>
                          <a:rPr lang="en-US" altLang="zh-CN" b="0" i="1" smtClean="0">
                            <a:solidFill>
                              <a:srgbClr val="FF0000"/>
                            </a:solidFill>
                            <a:latin typeface="Cambria Math" panose="02040503050406030204" pitchFamily="18" charset="0"/>
                            <a:ea typeface="Cambria Math" panose="02040503050406030204" pitchFamily="18" charset="0"/>
                          </a:rPr>
                          <m:t>𝑐</m:t>
                        </m:r>
                      </m:e>
                      <m:sup>
                        <m:r>
                          <a:rPr lang="en-US" altLang="zh-CN" b="0" i="1" smtClean="0">
                            <a:solidFill>
                              <a:srgbClr val="FF0000"/>
                            </a:solidFill>
                            <a:latin typeface="Cambria Math" panose="02040503050406030204" pitchFamily="18" charset="0"/>
                            <a:ea typeface="Cambria Math" panose="02040503050406030204" pitchFamily="18" charset="0"/>
                          </a:rPr>
                          <m:t>2</m:t>
                        </m:r>
                      </m:sup>
                    </m:sSup>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𝑝</m:t>
                            </m:r>
                          </m:e>
                          <m:sup>
                            <m:r>
                              <a:rPr lang="en-US" altLang="zh-CN" b="0" i="1" smtClean="0">
                                <a:latin typeface="Cambria Math" panose="02040503050406030204" pitchFamily="18" charset="0"/>
                                <a:ea typeface="Cambria Math" panose="02040503050406030204" pitchFamily="18" charset="0"/>
                              </a:rPr>
                              <m:t>2</m:t>
                            </m:r>
                          </m:sup>
                        </m:sSup>
                      </m:num>
                      <m:den>
                        <m:r>
                          <a:rPr lang="en-US" altLang="zh-CN" b="0" i="1" smtClean="0">
                            <a:latin typeface="Cambria Math" panose="02040503050406030204" pitchFamily="18" charset="0"/>
                            <a:ea typeface="Cambria Math" panose="02040503050406030204" pitchFamily="18" charset="0"/>
                          </a:rPr>
                          <m:t>2</m:t>
                        </m:r>
                        <m:r>
                          <a:rPr lang="en-US" altLang="zh-CN" b="0" i="1" smtClean="0">
                            <a:latin typeface="Cambria Math" panose="02040503050406030204" pitchFamily="18" charset="0"/>
                            <a:ea typeface="Cambria Math" panose="02040503050406030204" pitchFamily="18" charset="0"/>
                          </a:rPr>
                          <m:t>𝑚</m:t>
                        </m:r>
                      </m:den>
                    </m:f>
                  </m:oMath>
                </a14:m>
                <a:endParaRPr lang="en-CN" dirty="0"/>
              </a:p>
              <a:p>
                <a:pPr marL="285750" indent="-285750">
                  <a:buFont typeface="Arial" panose="020B0604020202020204" pitchFamily="34" charset="0"/>
                  <a:buChar char="•"/>
                </a:pPr>
                <a14:m>
                  <m:oMath xmlns:m="http://schemas.openxmlformats.org/officeDocument/2006/math">
                    <m:r>
                      <a:rPr lang="en-CN"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oMath>
                </a14:m>
                <a:r>
                  <a:rPr lang="en-US" altLang="zh-CN" dirty="0">
                    <a:ea typeface="Cambria Math" panose="02040503050406030204" pitchFamily="18" charset="0"/>
                  </a:rPr>
                  <a:t> </a:t>
                </a:r>
                <a14:m>
                  <m:oMath xmlns:m="http://schemas.openxmlformats.org/officeDocument/2006/math">
                    <m:sSub>
                      <m:sSubPr>
                        <m:ctrlPr>
                          <a:rPr lang="en-US" altLang="zh-CN" i="1" smtClean="0">
                            <a:solidFill>
                              <a:srgbClr val="FF0000"/>
                            </a:solidFill>
                            <a:latin typeface="Cambria Math" panose="02040503050406030204" pitchFamily="18" charset="0"/>
                            <a:ea typeface="Cambria Math" panose="02040503050406030204" pitchFamily="18" charset="0"/>
                          </a:rPr>
                        </m:ctrlPr>
                      </m:sSubPr>
                      <m:e>
                        <m:r>
                          <a:rPr lang="en-US" altLang="zh-CN" i="1">
                            <a:solidFill>
                              <a:srgbClr val="FF0000"/>
                            </a:solidFill>
                            <a:latin typeface="Cambria Math" panose="02040503050406030204" pitchFamily="18" charset="0"/>
                            <a:ea typeface="Cambria Math" panose="02040503050406030204" pitchFamily="18" charset="0"/>
                          </a:rPr>
                          <m:t>𝑚</m:t>
                        </m:r>
                      </m:e>
                      <m:sub>
                        <m:r>
                          <a:rPr lang="en-US" altLang="zh-CN" i="1">
                            <a:solidFill>
                              <a:srgbClr val="FF0000"/>
                            </a:solidFill>
                            <a:latin typeface="Cambria Math" panose="02040503050406030204" pitchFamily="18" charset="0"/>
                            <a:ea typeface="Cambria Math" panose="02040503050406030204" pitchFamily="18" charset="0"/>
                          </a:rPr>
                          <m:t>0</m:t>
                        </m:r>
                      </m:sub>
                    </m:sSub>
                    <m:sSup>
                      <m:sSupPr>
                        <m:ctrlPr>
                          <a:rPr lang="en-US" altLang="zh-CN" i="1">
                            <a:solidFill>
                              <a:srgbClr val="FF0000"/>
                            </a:solidFill>
                            <a:latin typeface="Cambria Math" panose="02040503050406030204" pitchFamily="18" charset="0"/>
                            <a:ea typeface="Cambria Math" panose="02040503050406030204" pitchFamily="18" charset="0"/>
                          </a:rPr>
                        </m:ctrlPr>
                      </m:sSupPr>
                      <m:e>
                        <m:r>
                          <a:rPr lang="en-US" altLang="zh-CN" i="1">
                            <a:solidFill>
                              <a:srgbClr val="FF0000"/>
                            </a:solidFill>
                            <a:latin typeface="Cambria Math" panose="02040503050406030204" pitchFamily="18" charset="0"/>
                            <a:ea typeface="Cambria Math" panose="02040503050406030204" pitchFamily="18" charset="0"/>
                          </a:rPr>
                          <m:t>𝑐</m:t>
                        </m:r>
                      </m:e>
                      <m:sup>
                        <m:r>
                          <a:rPr lang="en-US" altLang="zh-CN" i="1">
                            <a:solidFill>
                              <a:srgbClr val="FF0000"/>
                            </a:solidFill>
                            <a:latin typeface="Cambria Math" panose="02040503050406030204" pitchFamily="18" charset="0"/>
                            <a:ea typeface="Cambria Math" panose="02040503050406030204" pitchFamily="18" charset="0"/>
                          </a:rPr>
                          <m:t>2</m:t>
                        </m:r>
                      </m:sup>
                    </m:sSup>
                  </m:oMath>
                </a14:m>
                <a:r>
                  <a:rPr lang="en-CN" dirty="0"/>
                  <a:t>+</a:t>
                </a:r>
                <a14:m>
                  <m:oMath xmlns:m="http://schemas.openxmlformats.org/officeDocument/2006/math">
                    <m:r>
                      <a:rPr lang="en-CN" i="1" dirty="0" smtClean="0">
                        <a:latin typeface="Cambria Math" panose="02040503050406030204" pitchFamily="18" charset="0"/>
                        <a:ea typeface="Cambria Math" panose="02040503050406030204" pitchFamily="18" charset="0"/>
                      </a:rPr>
                      <m:t>𝜏</m:t>
                    </m:r>
                    <m:func>
                      <m:funcPr>
                        <m:ctrlPr>
                          <a:rPr lang="en-US" b="0" i="1" dirty="0" smtClean="0">
                            <a:latin typeface="Cambria Math" panose="02040503050406030204" pitchFamily="18" charset="0"/>
                            <a:ea typeface="Cambria Math" panose="02040503050406030204" pitchFamily="18" charset="0"/>
                          </a:rPr>
                        </m:ctrlPr>
                      </m:funcPr>
                      <m:fName>
                        <m:r>
                          <m:rPr>
                            <m:sty m:val="p"/>
                          </m:rPr>
                          <a:rPr lang="en-US" b="0" i="0" dirty="0" smtClean="0">
                            <a:latin typeface="Cambria Math" panose="02040503050406030204" pitchFamily="18" charset="0"/>
                            <a:ea typeface="Cambria Math" panose="02040503050406030204" pitchFamily="18" charset="0"/>
                          </a:rPr>
                          <m:t>log</m:t>
                        </m:r>
                      </m:fName>
                      <m:e>
                        <m:f>
                          <m:fPr>
                            <m:ctrlPr>
                              <a:rPr lang="en-US" b="0" i="1" dirty="0" smtClean="0">
                                <a:latin typeface="Cambria Math" panose="02040503050406030204" pitchFamily="18" charset="0"/>
                                <a:ea typeface="Cambria Math" panose="02040503050406030204" pitchFamily="18" charset="0"/>
                              </a:rPr>
                            </m:ctrlPr>
                          </m:fPr>
                          <m:num>
                            <m:r>
                              <a:rPr lang="en-US" b="0" i="1" dirty="0" smtClean="0">
                                <a:latin typeface="Cambria Math" panose="02040503050406030204" pitchFamily="18" charset="0"/>
                                <a:ea typeface="Cambria Math" panose="02040503050406030204" pitchFamily="18" charset="0"/>
                              </a:rPr>
                              <m:t>𝑛</m:t>
                            </m:r>
                          </m:num>
                          <m:den>
                            <m:sSub>
                              <m:sSubPr>
                                <m:ctrlPr>
                                  <a:rPr lang="en-US" b="0"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𝑛</m:t>
                                </m:r>
                              </m:e>
                              <m:sub>
                                <m:r>
                                  <a:rPr lang="en-US" b="0" i="1" dirty="0" smtClean="0">
                                    <a:latin typeface="Cambria Math" panose="02040503050406030204" pitchFamily="18" charset="0"/>
                                    <a:ea typeface="Cambria Math" panose="02040503050406030204" pitchFamily="18" charset="0"/>
                                  </a:rPr>
                                  <m:t>𝑄</m:t>
                                </m:r>
                              </m:sub>
                            </m:sSub>
                          </m:den>
                        </m:f>
                      </m:e>
                    </m:func>
                  </m:oMath>
                </a14:m>
                <a:endParaRPr lang="en-CN" dirty="0"/>
              </a:p>
            </p:txBody>
          </p:sp>
        </mc:Choice>
        <mc:Fallback xmlns="">
          <p:sp>
            <p:nvSpPr>
              <p:cNvPr id="3" name="TextBox 2">
                <a:extLst>
                  <a:ext uri="{FF2B5EF4-FFF2-40B4-BE49-F238E27FC236}">
                    <a16:creationId xmlns:a16="http://schemas.microsoft.com/office/drawing/2014/main" id="{00067303-F859-6C4B-BBBD-A25623D82DF3}"/>
                  </a:ext>
                </a:extLst>
              </p:cNvPr>
              <p:cNvSpPr txBox="1">
                <a:spLocks noRot="1" noChangeAspect="1" noMove="1" noResize="1" noEditPoints="1" noAdjustHandles="1" noChangeArrowheads="1" noChangeShapeType="1" noTextEdit="1"/>
              </p:cNvSpPr>
              <p:nvPr/>
            </p:nvSpPr>
            <p:spPr>
              <a:xfrm>
                <a:off x="7010400" y="443345"/>
                <a:ext cx="4599709" cy="3169714"/>
              </a:xfrm>
              <a:prstGeom prst="rect">
                <a:avLst/>
              </a:prstGeom>
              <a:blipFill>
                <a:blip r:embed="rId3"/>
                <a:stretch>
                  <a:fillRect l="-826" t="-1200"/>
                </a:stretch>
              </a:blipFill>
            </p:spPr>
            <p:txBody>
              <a:bodyPr/>
              <a:lstStyle/>
              <a:p>
                <a:r>
                  <a:rPr lang="en-CN">
                    <a:noFill/>
                  </a:rPr>
                  <a:t> </a:t>
                </a:r>
              </a:p>
            </p:txBody>
          </p:sp>
        </mc:Fallback>
      </mc:AlternateContent>
      <p:pic>
        <p:nvPicPr>
          <p:cNvPr id="4" name="Picture 3">
            <a:extLst>
              <a:ext uri="{FF2B5EF4-FFF2-40B4-BE49-F238E27FC236}">
                <a16:creationId xmlns:a16="http://schemas.microsoft.com/office/drawing/2014/main" id="{812F5B0F-6A49-1644-A1BE-F38CC0D9C213}"/>
              </a:ext>
            </a:extLst>
          </p:cNvPr>
          <p:cNvPicPr>
            <a:picLocks noChangeAspect="1"/>
          </p:cNvPicPr>
          <p:nvPr/>
        </p:nvPicPr>
        <p:blipFill>
          <a:blip r:embed="rId4"/>
          <a:stretch>
            <a:fillRect/>
          </a:stretch>
        </p:blipFill>
        <p:spPr>
          <a:xfrm>
            <a:off x="752224" y="888965"/>
            <a:ext cx="10687551" cy="4479463"/>
          </a:xfrm>
          <a:prstGeom prst="rect">
            <a:avLst/>
          </a:prstGeom>
        </p:spPr>
      </p:pic>
    </p:spTree>
    <p:extLst>
      <p:ext uri="{BB962C8B-B14F-4D97-AF65-F5344CB8AC3E}">
        <p14:creationId xmlns:p14="http://schemas.microsoft.com/office/powerpoint/2010/main" val="36377413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F09E63F-A538-3D4E-B2F7-44943D785D78}"/>
              </a:ext>
            </a:extLst>
          </p:cNvPr>
          <p:cNvPicPr>
            <a:picLocks noChangeAspect="1"/>
          </p:cNvPicPr>
          <p:nvPr/>
        </p:nvPicPr>
        <p:blipFill>
          <a:blip r:embed="rId2"/>
          <a:stretch>
            <a:fillRect/>
          </a:stretch>
        </p:blipFill>
        <p:spPr>
          <a:xfrm>
            <a:off x="624793" y="706582"/>
            <a:ext cx="10668056" cy="4682836"/>
          </a:xfrm>
          <a:prstGeom prst="rect">
            <a:avLst/>
          </a:prstGeom>
        </p:spPr>
      </p:pic>
      <p:sp>
        <p:nvSpPr>
          <p:cNvPr id="2" name="TextBox 1">
            <a:extLst>
              <a:ext uri="{FF2B5EF4-FFF2-40B4-BE49-F238E27FC236}">
                <a16:creationId xmlns:a16="http://schemas.microsoft.com/office/drawing/2014/main" id="{913AD6C1-43AB-0840-887D-23C2720D27B7}"/>
              </a:ext>
            </a:extLst>
          </p:cNvPr>
          <p:cNvSpPr txBox="1"/>
          <p:nvPr/>
        </p:nvSpPr>
        <p:spPr>
          <a:xfrm>
            <a:off x="8742218" y="5735782"/>
            <a:ext cx="2978727" cy="369332"/>
          </a:xfrm>
          <a:prstGeom prst="rect">
            <a:avLst/>
          </a:prstGeom>
          <a:noFill/>
        </p:spPr>
        <p:txBody>
          <a:bodyPr wrap="square" rtlCol="0">
            <a:spAutoFit/>
          </a:bodyPr>
          <a:lstStyle/>
          <a:p>
            <a:r>
              <a:rPr lang="en-CN" dirty="0"/>
              <a:t>Landau</a:t>
            </a:r>
          </a:p>
        </p:txBody>
      </p:sp>
    </p:spTree>
    <p:extLst>
      <p:ext uri="{BB962C8B-B14F-4D97-AF65-F5344CB8AC3E}">
        <p14:creationId xmlns:p14="http://schemas.microsoft.com/office/powerpoint/2010/main" val="14152702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3718EB5-DB2D-934F-999D-6ECE9838B5EE}"/>
              </a:ext>
            </a:extLst>
          </p:cNvPr>
          <p:cNvSpPr txBox="1"/>
          <p:nvPr/>
        </p:nvSpPr>
        <p:spPr>
          <a:xfrm>
            <a:off x="290946" y="279461"/>
            <a:ext cx="6096000" cy="369332"/>
          </a:xfrm>
          <a:prstGeom prst="rect">
            <a:avLst/>
          </a:prstGeom>
          <a:noFill/>
        </p:spPr>
        <p:txBody>
          <a:bodyPr wrap="square">
            <a:spAutoFit/>
          </a:bodyPr>
          <a:lstStyle/>
          <a:p>
            <a:r>
              <a:rPr lang="en-US" dirty="0" err="1">
                <a:latin typeface="CMBX12"/>
              </a:rPr>
              <a:t>一个例子</a:t>
            </a:r>
            <a:r>
              <a:rPr lang="zh-CN" altLang="en-US" dirty="0">
                <a:latin typeface="CMBX12"/>
              </a:rPr>
              <a:t>：</a:t>
            </a:r>
            <a:r>
              <a:rPr lang="en-US" altLang="zh-CN" dirty="0">
                <a:latin typeface="CMBX12"/>
              </a:rPr>
              <a:t>Magnetic field(</a:t>
            </a:r>
            <a:r>
              <a:rPr lang="zh-CN" altLang="en-US" dirty="0">
                <a:latin typeface="CMBX12"/>
              </a:rPr>
              <a:t>刘博达</a:t>
            </a:r>
            <a:r>
              <a:rPr lang="en-US" altLang="zh-CN" dirty="0">
                <a:latin typeface="CMBX12"/>
              </a:rPr>
              <a:t>)</a:t>
            </a:r>
            <a:r>
              <a:rPr lang="en-US" sz="1800" dirty="0">
                <a:effectLst/>
                <a:latin typeface="CMBX12"/>
              </a:rPr>
              <a:t> </a:t>
            </a:r>
            <a:endParaRPr lang="en-US" dirty="0"/>
          </a:p>
        </p:txBody>
      </p:sp>
      <p:sp>
        <p:nvSpPr>
          <p:cNvPr id="2" name="TextBox 1">
            <a:extLst>
              <a:ext uri="{FF2B5EF4-FFF2-40B4-BE49-F238E27FC236}">
                <a16:creationId xmlns:a16="http://schemas.microsoft.com/office/drawing/2014/main" id="{023F07D2-B14F-4E4A-9587-E617B3B1BAF0}"/>
              </a:ext>
            </a:extLst>
          </p:cNvPr>
          <p:cNvSpPr txBox="1"/>
          <p:nvPr/>
        </p:nvSpPr>
        <p:spPr>
          <a:xfrm>
            <a:off x="8534400" y="6068291"/>
            <a:ext cx="3172691" cy="369332"/>
          </a:xfrm>
          <a:prstGeom prst="rect">
            <a:avLst/>
          </a:prstGeom>
          <a:noFill/>
        </p:spPr>
        <p:txBody>
          <a:bodyPr wrap="square" rtlCol="0">
            <a:spAutoFit/>
          </a:bodyPr>
          <a:lstStyle/>
          <a:p>
            <a:r>
              <a:rPr lang="en-US" altLang="zh-CN" dirty="0"/>
              <a:t>2022.03.29</a:t>
            </a:r>
            <a:endParaRPr lang="en-CN" dirty="0"/>
          </a:p>
        </p:txBody>
      </p:sp>
      <p:pic>
        <p:nvPicPr>
          <p:cNvPr id="3" name="Picture 2">
            <a:extLst>
              <a:ext uri="{FF2B5EF4-FFF2-40B4-BE49-F238E27FC236}">
                <a16:creationId xmlns:a16="http://schemas.microsoft.com/office/drawing/2014/main" id="{F4E96DE8-C86C-7D4C-8AB6-70BE8CA94DD5}"/>
              </a:ext>
            </a:extLst>
          </p:cNvPr>
          <p:cNvPicPr>
            <a:picLocks noChangeAspect="1"/>
          </p:cNvPicPr>
          <p:nvPr/>
        </p:nvPicPr>
        <p:blipFill>
          <a:blip r:embed="rId2"/>
          <a:stretch>
            <a:fillRect/>
          </a:stretch>
        </p:blipFill>
        <p:spPr>
          <a:xfrm>
            <a:off x="2848769" y="1094509"/>
            <a:ext cx="6227749" cy="4668982"/>
          </a:xfrm>
          <a:prstGeom prst="rect">
            <a:avLst/>
          </a:prstGeom>
        </p:spPr>
      </p:pic>
    </p:spTree>
    <p:extLst>
      <p:ext uri="{BB962C8B-B14F-4D97-AF65-F5344CB8AC3E}">
        <p14:creationId xmlns:p14="http://schemas.microsoft.com/office/powerpoint/2010/main" val="26690483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48C576-23D6-904C-AF23-19F0A7725F40}"/>
              </a:ext>
            </a:extLst>
          </p:cNvPr>
          <p:cNvSpPr txBox="1"/>
          <p:nvPr/>
        </p:nvSpPr>
        <p:spPr>
          <a:xfrm>
            <a:off x="1343891" y="1565564"/>
            <a:ext cx="9822873" cy="707886"/>
          </a:xfrm>
          <a:prstGeom prst="rect">
            <a:avLst/>
          </a:prstGeom>
          <a:noFill/>
        </p:spPr>
        <p:txBody>
          <a:bodyPr wrap="square" rtlCol="0">
            <a:spAutoFit/>
          </a:bodyPr>
          <a:lstStyle/>
          <a:p>
            <a:pPr algn="ctr"/>
            <a:r>
              <a:rPr lang="en-CN" sz="4000" dirty="0"/>
              <a:t>Gibbs Sum = grand partition function</a:t>
            </a:r>
          </a:p>
        </p:txBody>
      </p:sp>
      <p:sp>
        <p:nvSpPr>
          <p:cNvPr id="3" name="TextBox 2">
            <a:extLst>
              <a:ext uri="{FF2B5EF4-FFF2-40B4-BE49-F238E27FC236}">
                <a16:creationId xmlns:a16="http://schemas.microsoft.com/office/drawing/2014/main" id="{58A0CA3D-ADFB-2A4E-95AB-9E72775E8CB7}"/>
              </a:ext>
            </a:extLst>
          </p:cNvPr>
          <p:cNvSpPr txBox="1"/>
          <p:nvPr/>
        </p:nvSpPr>
        <p:spPr>
          <a:xfrm>
            <a:off x="1343891" y="3699163"/>
            <a:ext cx="9961418" cy="369332"/>
          </a:xfrm>
          <a:prstGeom prst="rect">
            <a:avLst/>
          </a:prstGeom>
          <a:noFill/>
        </p:spPr>
        <p:txBody>
          <a:bodyPr wrap="square" rtlCol="0">
            <a:spAutoFit/>
          </a:bodyPr>
          <a:lstStyle/>
          <a:p>
            <a:r>
              <a:rPr lang="en-US" dirty="0">
                <a:solidFill>
                  <a:srgbClr val="FF0000"/>
                </a:solidFill>
              </a:rPr>
              <a:t>H</a:t>
            </a:r>
            <a:r>
              <a:rPr lang="en-CN" dirty="0">
                <a:solidFill>
                  <a:srgbClr val="FF0000"/>
                </a:solidFill>
              </a:rPr>
              <a:t>ow can we treat systems where the number of particles may change from a microscopic point of view.</a:t>
            </a:r>
          </a:p>
        </p:txBody>
      </p:sp>
    </p:spTree>
    <p:extLst>
      <p:ext uri="{BB962C8B-B14F-4D97-AF65-F5344CB8AC3E}">
        <p14:creationId xmlns:p14="http://schemas.microsoft.com/office/powerpoint/2010/main" val="29917564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1CD2EAD-E028-474B-A331-60C7878DD844}"/>
              </a:ext>
            </a:extLst>
          </p:cNvPr>
          <p:cNvSpPr/>
          <p:nvPr/>
        </p:nvSpPr>
        <p:spPr>
          <a:xfrm>
            <a:off x="1385455" y="401782"/>
            <a:ext cx="3228109" cy="27709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6" name="Rectangle 5">
            <a:extLst>
              <a:ext uri="{FF2B5EF4-FFF2-40B4-BE49-F238E27FC236}">
                <a16:creationId xmlns:a16="http://schemas.microsoft.com/office/drawing/2014/main" id="{948B2DF2-8F1D-0846-8F5E-2C8D8EF6A7C1}"/>
              </a:ext>
            </a:extLst>
          </p:cNvPr>
          <p:cNvSpPr/>
          <p:nvPr/>
        </p:nvSpPr>
        <p:spPr>
          <a:xfrm>
            <a:off x="4627418" y="1939636"/>
            <a:ext cx="1468582" cy="12330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5D53BCE-A6CF-4348-9119-E1B6BB9E23BD}"/>
                  </a:ext>
                </a:extLst>
              </p:cNvPr>
              <p:cNvSpPr txBox="1"/>
              <p:nvPr/>
            </p:nvSpPr>
            <p:spPr>
              <a:xfrm>
                <a:off x="1850065" y="1233377"/>
                <a:ext cx="2466754" cy="830997"/>
              </a:xfrm>
              <a:prstGeom prst="rect">
                <a:avLst/>
              </a:prstGeom>
              <a:noFill/>
            </p:spPr>
            <p:txBody>
              <a:bodyPr wrap="square" rtlCol="0">
                <a:spAutoFit/>
              </a:bodyPr>
              <a:lstStyle/>
              <a:p>
                <a:pPr algn="ctr"/>
                <a:r>
                  <a:rPr lang="en-CN" sz="2400" dirty="0"/>
                  <a:t>Reservoir</a:t>
                </a:r>
              </a:p>
              <a:p>
                <a:pPr algn="ctr"/>
                <a14:m>
                  <m:oMathPara xmlns:m="http://schemas.openxmlformats.org/officeDocument/2006/math">
                    <m:oMathParaPr>
                      <m:jc m:val="centerGroup"/>
                    </m:oMathParaPr>
                    <m:oMath xmlns:m="http://schemas.openxmlformats.org/officeDocument/2006/math">
                      <m:r>
                        <a:rPr lang="en-CN" sz="2400" i="1" smtClean="0">
                          <a:latin typeface="Cambria Math" panose="02040503050406030204" pitchFamily="18" charset="0"/>
                          <a:ea typeface="Cambria Math" panose="02040503050406030204" pitchFamily="18" charset="0"/>
                        </a:rPr>
                        <m:t>ℛ</m:t>
                      </m:r>
                    </m:oMath>
                  </m:oMathPara>
                </a14:m>
                <a:endParaRPr lang="en-CN" sz="2400" dirty="0"/>
              </a:p>
            </p:txBody>
          </p:sp>
        </mc:Choice>
        <mc:Fallback xmlns="">
          <p:sp>
            <p:nvSpPr>
              <p:cNvPr id="7" name="TextBox 6">
                <a:extLst>
                  <a:ext uri="{FF2B5EF4-FFF2-40B4-BE49-F238E27FC236}">
                    <a16:creationId xmlns:a16="http://schemas.microsoft.com/office/drawing/2014/main" id="{35D53BCE-A6CF-4348-9119-E1B6BB9E23BD}"/>
                  </a:ext>
                </a:extLst>
              </p:cNvPr>
              <p:cNvSpPr txBox="1">
                <a:spLocks noRot="1" noChangeAspect="1" noMove="1" noResize="1" noEditPoints="1" noAdjustHandles="1" noChangeArrowheads="1" noChangeShapeType="1" noTextEdit="1"/>
              </p:cNvSpPr>
              <p:nvPr/>
            </p:nvSpPr>
            <p:spPr>
              <a:xfrm>
                <a:off x="1850065" y="1233377"/>
                <a:ext cx="2466754" cy="830997"/>
              </a:xfrm>
              <a:prstGeom prst="rect">
                <a:avLst/>
              </a:prstGeom>
              <a:blipFill>
                <a:blip r:embed="rId2"/>
                <a:stretch>
                  <a:fillRect t="-4478"/>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590D188-737C-CF4C-A216-0C339BDA1AF6}"/>
                  </a:ext>
                </a:extLst>
              </p:cNvPr>
              <p:cNvSpPr txBox="1"/>
              <p:nvPr/>
            </p:nvSpPr>
            <p:spPr>
              <a:xfrm>
                <a:off x="4627418" y="2190307"/>
                <a:ext cx="1468582" cy="830997"/>
              </a:xfrm>
              <a:prstGeom prst="rect">
                <a:avLst/>
              </a:prstGeom>
              <a:noFill/>
            </p:spPr>
            <p:txBody>
              <a:bodyPr wrap="square" rtlCol="0">
                <a:spAutoFit/>
              </a:bodyPr>
              <a:lstStyle/>
              <a:p>
                <a:pPr algn="ctr"/>
                <a:r>
                  <a:rPr lang="en-CN" sz="2400" dirty="0"/>
                  <a:t>System</a:t>
                </a:r>
              </a:p>
              <a:p>
                <a:pPr algn="ctr"/>
                <a14:m>
                  <m:oMathPara xmlns:m="http://schemas.openxmlformats.org/officeDocument/2006/math">
                    <m:oMathParaPr>
                      <m:jc m:val="centerGroup"/>
                    </m:oMathParaPr>
                    <m:oMath xmlns:m="http://schemas.openxmlformats.org/officeDocument/2006/math">
                      <m:r>
                        <a:rPr lang="en-CN" sz="2400" i="1" smtClean="0">
                          <a:latin typeface="Cambria Math" panose="02040503050406030204" pitchFamily="18" charset="0"/>
                          <a:ea typeface="Cambria Math" panose="02040503050406030204" pitchFamily="18" charset="0"/>
                        </a:rPr>
                        <m:t>𝒮</m:t>
                      </m:r>
                    </m:oMath>
                  </m:oMathPara>
                </a14:m>
                <a:endParaRPr lang="en-CN" sz="2400" dirty="0"/>
              </a:p>
            </p:txBody>
          </p:sp>
        </mc:Choice>
        <mc:Fallback xmlns="">
          <p:sp>
            <p:nvSpPr>
              <p:cNvPr id="8" name="TextBox 7">
                <a:extLst>
                  <a:ext uri="{FF2B5EF4-FFF2-40B4-BE49-F238E27FC236}">
                    <a16:creationId xmlns:a16="http://schemas.microsoft.com/office/drawing/2014/main" id="{4590D188-737C-CF4C-A216-0C339BDA1AF6}"/>
                  </a:ext>
                </a:extLst>
              </p:cNvPr>
              <p:cNvSpPr txBox="1">
                <a:spLocks noRot="1" noChangeAspect="1" noMove="1" noResize="1" noEditPoints="1" noAdjustHandles="1" noChangeArrowheads="1" noChangeShapeType="1" noTextEdit="1"/>
              </p:cNvSpPr>
              <p:nvPr/>
            </p:nvSpPr>
            <p:spPr>
              <a:xfrm>
                <a:off x="4627418" y="2190307"/>
                <a:ext cx="1468582" cy="830997"/>
              </a:xfrm>
              <a:prstGeom prst="rect">
                <a:avLst/>
              </a:prstGeom>
              <a:blipFill>
                <a:blip r:embed="rId3"/>
                <a:stretch>
                  <a:fillRect t="-597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EB2D3A5-9664-3040-8A27-86E814AD15D2}"/>
                  </a:ext>
                </a:extLst>
              </p:cNvPr>
              <p:cNvSpPr txBox="1"/>
              <p:nvPr/>
            </p:nvSpPr>
            <p:spPr>
              <a:xfrm>
                <a:off x="5784112" y="710157"/>
                <a:ext cx="6060558" cy="954107"/>
              </a:xfrm>
              <a:prstGeom prst="rect">
                <a:avLst/>
              </a:prstGeom>
              <a:noFill/>
            </p:spPr>
            <p:txBody>
              <a:bodyPr wrap="square" rtlCol="0">
                <a:spAutoFit/>
              </a:bodyPr>
              <a:lstStyle/>
              <a:p>
                <a:r>
                  <a:rPr lang="en-CN" sz="2800" dirty="0"/>
                  <a:t>系统和热库之间可以交换能量和粒子</a:t>
                </a:r>
              </a:p>
              <a:p>
                <a:pPr/>
                <a14:m>
                  <m:oMathPara xmlns:m="http://schemas.openxmlformats.org/officeDocument/2006/math">
                    <m:oMathParaPr>
                      <m:jc m:val="centerGroup"/>
                    </m:oMathParaPr>
                    <m:oMath xmlns:m="http://schemas.openxmlformats.org/officeDocument/2006/math">
                      <m:r>
                        <a:rPr lang="en-CN" sz="2800" i="1" smtClean="0">
                          <a:solidFill>
                            <a:srgbClr val="FF0000"/>
                          </a:solidFill>
                          <a:latin typeface="Cambria Math" panose="02040503050406030204" pitchFamily="18" charset="0"/>
                          <a:ea typeface="Cambria Math" panose="02040503050406030204" pitchFamily="18" charset="0"/>
                        </a:rPr>
                        <m:t>𝜏</m:t>
                      </m:r>
                      <m:r>
                        <a:rPr lang="en-US" sz="2800" b="0" i="1" smtClean="0">
                          <a:solidFill>
                            <a:srgbClr val="FF000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𝜇</m:t>
                      </m:r>
                    </m:oMath>
                  </m:oMathPara>
                </a14:m>
                <a:endParaRPr lang="en-CN" sz="2800" dirty="0">
                  <a:solidFill>
                    <a:srgbClr val="FF0000"/>
                  </a:solidFill>
                </a:endParaRPr>
              </a:p>
            </p:txBody>
          </p:sp>
        </mc:Choice>
        <mc:Fallback xmlns="">
          <p:sp>
            <p:nvSpPr>
              <p:cNvPr id="9" name="TextBox 8">
                <a:extLst>
                  <a:ext uri="{FF2B5EF4-FFF2-40B4-BE49-F238E27FC236}">
                    <a16:creationId xmlns:a16="http://schemas.microsoft.com/office/drawing/2014/main" id="{3EB2D3A5-9664-3040-8A27-86E814AD15D2}"/>
                  </a:ext>
                </a:extLst>
              </p:cNvPr>
              <p:cNvSpPr txBox="1">
                <a:spLocks noRot="1" noChangeAspect="1" noMove="1" noResize="1" noEditPoints="1" noAdjustHandles="1" noChangeArrowheads="1" noChangeShapeType="1" noTextEdit="1"/>
              </p:cNvSpPr>
              <p:nvPr/>
            </p:nvSpPr>
            <p:spPr>
              <a:xfrm>
                <a:off x="5784112" y="710157"/>
                <a:ext cx="6060558" cy="954107"/>
              </a:xfrm>
              <a:prstGeom prst="rect">
                <a:avLst/>
              </a:prstGeom>
              <a:blipFill>
                <a:blip r:embed="rId4"/>
                <a:stretch>
                  <a:fillRect l="-2092" t="-7792" b="-259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6D6C774-69F2-EA4A-B2B0-682B4A0E24AB}"/>
                  </a:ext>
                </a:extLst>
              </p:cNvPr>
              <p:cNvSpPr txBox="1"/>
              <p:nvPr/>
            </p:nvSpPr>
            <p:spPr>
              <a:xfrm>
                <a:off x="7355475" y="2388366"/>
                <a:ext cx="4385124" cy="673005"/>
              </a:xfrm>
              <a:prstGeom prst="rect">
                <a:avLst/>
              </a:prstGeom>
              <a:noFill/>
            </p:spPr>
            <p:txBody>
              <a:bodyPr wrap="square" rtlCol="0">
                <a:spAutoFit/>
              </a:bodyPr>
              <a:lstStyle/>
              <a:p>
                <a:r>
                  <a:rPr lang="en-CN" dirty="0">
                    <a:solidFill>
                      <a:srgbClr val="FF0000"/>
                    </a:solidFill>
                  </a:rPr>
                  <a:t>N(any number)个粒子</a:t>
                </a:r>
                <a:r>
                  <a:rPr lang="zh-CN" altLang="en-US" dirty="0">
                    <a:solidFill>
                      <a:srgbClr val="FF0000"/>
                    </a:solidFill>
                  </a:rPr>
                  <a:t>，</a:t>
                </a:r>
                <a:r>
                  <a:rPr lang="en-US" altLang="zh-CN" dirty="0">
                    <a:solidFill>
                      <a:srgbClr val="FF0000"/>
                    </a:solidFill>
                  </a:rPr>
                  <a:t>N</a:t>
                </a:r>
                <a:r>
                  <a:rPr lang="zh-CN" altLang="en-US" dirty="0">
                    <a:solidFill>
                      <a:srgbClr val="FF0000"/>
                    </a:solidFill>
                  </a:rPr>
                  <a:t>个例子能量为</a:t>
                </a:r>
                <a14:m>
                  <m:oMath xmlns:m="http://schemas.openxmlformats.org/officeDocument/2006/math">
                    <m:sSub>
                      <m:sSubPr>
                        <m:ctrlPr>
                          <a:rPr lang="en-US" altLang="zh-CN" i="1" smtClean="0">
                            <a:solidFill>
                              <a:srgbClr val="FF0000"/>
                            </a:solidFill>
                            <a:latin typeface="Cambria Math" panose="02040503050406030204" pitchFamily="18" charset="0"/>
                          </a:rPr>
                        </m:ctrlPr>
                      </m:sSubPr>
                      <m:e>
                        <m:r>
                          <a:rPr lang="en-US" altLang="zh-CN" i="1" smtClean="0">
                            <a:solidFill>
                              <a:srgbClr val="FF0000"/>
                            </a:solidFill>
                            <a:latin typeface="Cambria Math" panose="02040503050406030204" pitchFamily="18" charset="0"/>
                            <a:ea typeface="Cambria Math" panose="02040503050406030204" pitchFamily="18" charset="0"/>
                          </a:rPr>
                          <m:t>𝜀</m:t>
                        </m:r>
                      </m:e>
                      <m:sub>
                        <m:r>
                          <a:rPr lang="en-US" altLang="zh-CN" b="0" i="1" smtClean="0">
                            <a:solidFill>
                              <a:srgbClr val="FF0000"/>
                            </a:solidFill>
                            <a:latin typeface="Cambria Math" panose="02040503050406030204" pitchFamily="18" charset="0"/>
                          </a:rPr>
                          <m:t>𝑆</m:t>
                        </m:r>
                      </m:sub>
                    </m:sSub>
                    <m:sSub>
                      <m:sSubPr>
                        <m:ctrlPr>
                          <a:rPr lang="en-US" altLang="zh-CN" i="1" smtClean="0">
                            <a:solidFill>
                              <a:srgbClr val="FF0000"/>
                            </a:solidFill>
                            <a:latin typeface="Cambria Math" panose="02040503050406030204" pitchFamily="18" charset="0"/>
                          </a:rPr>
                        </m:ctrlPr>
                      </m:sSubPr>
                      <m:e>
                        <m:r>
                          <a:rPr lang="en-US" altLang="zh-CN" b="0" i="1" smtClean="0">
                            <a:solidFill>
                              <a:srgbClr val="FF0000"/>
                            </a:solidFill>
                            <a:latin typeface="Cambria Math" panose="02040503050406030204" pitchFamily="18" charset="0"/>
                          </a:rPr>
                          <m:t>=</m:t>
                        </m:r>
                        <m:r>
                          <a:rPr lang="en-US" altLang="zh-CN" i="1" smtClean="0">
                            <a:solidFill>
                              <a:srgbClr val="FF0000"/>
                            </a:solidFill>
                            <a:latin typeface="Cambria Math" panose="02040503050406030204" pitchFamily="18" charset="0"/>
                            <a:ea typeface="Cambria Math" panose="02040503050406030204" pitchFamily="18" charset="0"/>
                          </a:rPr>
                          <m:t>𝜀</m:t>
                        </m:r>
                      </m:e>
                      <m:sub>
                        <m:r>
                          <a:rPr lang="en-US" altLang="zh-CN" b="0" i="1" smtClean="0">
                            <a:solidFill>
                              <a:srgbClr val="FF0000"/>
                            </a:solidFill>
                            <a:latin typeface="Cambria Math" panose="02040503050406030204" pitchFamily="18" charset="0"/>
                          </a:rPr>
                          <m:t>𝑆</m:t>
                        </m:r>
                        <m:r>
                          <a:rPr lang="en-US" altLang="zh-CN" b="0" i="1" smtClean="0">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𝑁</m:t>
                        </m:r>
                        <m:r>
                          <a:rPr lang="en-US" altLang="zh-CN" b="0" i="1" smtClean="0">
                            <a:solidFill>
                              <a:srgbClr val="FF0000"/>
                            </a:solidFill>
                            <a:latin typeface="Cambria Math" panose="02040503050406030204" pitchFamily="18" charset="0"/>
                          </a:rPr>
                          <m:t>)</m:t>
                        </m:r>
                      </m:sub>
                    </m:sSub>
                  </m:oMath>
                </a14:m>
                <a:endParaRPr lang="en-CN" dirty="0">
                  <a:solidFill>
                    <a:srgbClr val="FF0000"/>
                  </a:solidFill>
                </a:endParaRPr>
              </a:p>
            </p:txBody>
          </p:sp>
        </mc:Choice>
        <mc:Fallback xmlns="">
          <p:sp>
            <p:nvSpPr>
              <p:cNvPr id="10" name="TextBox 9">
                <a:extLst>
                  <a:ext uri="{FF2B5EF4-FFF2-40B4-BE49-F238E27FC236}">
                    <a16:creationId xmlns:a16="http://schemas.microsoft.com/office/drawing/2014/main" id="{A6D6C774-69F2-EA4A-B2B0-682B4A0E24AB}"/>
                  </a:ext>
                </a:extLst>
              </p:cNvPr>
              <p:cNvSpPr txBox="1">
                <a:spLocks noRot="1" noChangeAspect="1" noMove="1" noResize="1" noEditPoints="1" noAdjustHandles="1" noChangeArrowheads="1" noChangeShapeType="1" noTextEdit="1"/>
              </p:cNvSpPr>
              <p:nvPr/>
            </p:nvSpPr>
            <p:spPr>
              <a:xfrm>
                <a:off x="7355475" y="2388366"/>
                <a:ext cx="4385124" cy="673005"/>
              </a:xfrm>
              <a:prstGeom prst="rect">
                <a:avLst/>
              </a:prstGeom>
              <a:blipFill>
                <a:blip r:embed="rId5"/>
                <a:stretch>
                  <a:fillRect l="-1156" t="-5660" b="-5660"/>
                </a:stretch>
              </a:blipFill>
            </p:spPr>
            <p:txBody>
              <a:bodyPr/>
              <a:lstStyle/>
              <a:p>
                <a:r>
                  <a:rPr lang="en-CN">
                    <a:noFill/>
                  </a:rPr>
                  <a:t> </a:t>
                </a:r>
              </a:p>
            </p:txBody>
          </p:sp>
        </mc:Fallback>
      </mc:AlternateContent>
      <p:cxnSp>
        <p:nvCxnSpPr>
          <p:cNvPr id="12" name="Straight Arrow Connector 11">
            <a:extLst>
              <a:ext uri="{FF2B5EF4-FFF2-40B4-BE49-F238E27FC236}">
                <a16:creationId xmlns:a16="http://schemas.microsoft.com/office/drawing/2014/main" id="{2529BB57-3039-F741-86DB-8D2AD772AACB}"/>
              </a:ext>
            </a:extLst>
          </p:cNvPr>
          <p:cNvCxnSpPr/>
          <p:nvPr/>
        </p:nvCxnSpPr>
        <p:spPr>
          <a:xfrm flipH="1">
            <a:off x="5784112" y="2740829"/>
            <a:ext cx="157361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199832D-BEDA-734E-A8A2-B166F9E65425}"/>
                  </a:ext>
                </a:extLst>
              </p:cNvPr>
              <p:cNvSpPr txBox="1"/>
              <p:nvPr/>
            </p:nvSpPr>
            <p:spPr>
              <a:xfrm>
                <a:off x="1385455" y="3870251"/>
                <a:ext cx="9502285" cy="861774"/>
              </a:xfrm>
              <a:prstGeom prst="rect">
                <a:avLst/>
              </a:prstGeom>
              <a:noFill/>
            </p:spPr>
            <p:txBody>
              <a:bodyPr wrap="square" rtlCol="0">
                <a:spAutoFit/>
              </a:bodyPr>
              <a:lstStyle/>
              <a:p>
                <a:r>
                  <a:rPr lang="en-CN" dirty="0"/>
                  <a:t>假设我们已经完全</a:t>
                </a:r>
                <a:r>
                  <a:rPr lang="en-CN" dirty="0">
                    <a:solidFill>
                      <a:srgbClr val="FF0000"/>
                    </a:solidFill>
                  </a:rPr>
                  <a:t>指定了</a:t>
                </a:r>
                <a:r>
                  <a:rPr lang="en-CN" dirty="0"/>
                  <a:t>系统的状态</a:t>
                </a:r>
                <a:r>
                  <a:rPr lang="zh-CN" altLang="en-US" dirty="0"/>
                  <a:t>，那么此时系统</a:t>
                </a:r>
                <a:r>
                  <a:rPr lang="en-US" altLang="zh-CN" dirty="0"/>
                  <a:t>+</a:t>
                </a:r>
                <a:r>
                  <a:rPr lang="zh-CN" altLang="en-US" dirty="0"/>
                  <a:t>热库的</a:t>
                </a:r>
                <a:r>
                  <a:rPr lang="en-US" altLang="zh-CN" dirty="0"/>
                  <a:t>Multiplicity</a:t>
                </a:r>
              </a:p>
              <a:p>
                <a:pPr algn="ct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𝑔</m:t>
                      </m:r>
                      <m:d>
                        <m:dPr>
                          <m:ctrlPr>
                            <a:rPr lang="en-US" sz="3200" b="0" i="1" smtClean="0">
                              <a:latin typeface="Cambria Math" panose="02040503050406030204" pitchFamily="18" charset="0"/>
                            </a:rPr>
                          </m:ctrlPr>
                        </m:dPr>
                        <m:e>
                          <m:r>
                            <a:rPr lang="en-US" sz="3200" b="0" i="1" smtClean="0">
                              <a:latin typeface="Cambria Math" panose="02040503050406030204" pitchFamily="18" charset="0"/>
                              <a:ea typeface="Cambria Math" panose="02040503050406030204" pitchFamily="18" charset="0"/>
                            </a:rPr>
                            <m:t>ℛ</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𝒮</m:t>
                          </m:r>
                        </m:e>
                      </m:d>
                      <m:r>
                        <a:rPr lang="en-US" sz="3200" b="0" i="1" smtClean="0">
                          <a:latin typeface="Cambria Math" panose="02040503050406030204" pitchFamily="18" charset="0"/>
                        </a:rPr>
                        <m:t>=</m:t>
                      </m:r>
                      <m:r>
                        <a:rPr lang="en-US" sz="3200" b="0" i="1" smtClean="0">
                          <a:latin typeface="Cambria Math" panose="02040503050406030204" pitchFamily="18" charset="0"/>
                        </a:rPr>
                        <m:t>𝑔</m:t>
                      </m:r>
                      <m:r>
                        <a:rPr lang="en-US" sz="3200" b="0" i="1" smtClean="0">
                          <a:latin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ℛ</m:t>
                      </m:r>
                      <m:r>
                        <a:rPr lang="en-US" sz="3200" b="0" i="1" smtClean="0">
                          <a:latin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×1</m:t>
                      </m:r>
                    </m:oMath>
                  </m:oMathPara>
                </a14:m>
                <a:endParaRPr lang="en-CN" sz="3200" dirty="0"/>
              </a:p>
            </p:txBody>
          </p:sp>
        </mc:Choice>
        <mc:Fallback xmlns="">
          <p:sp>
            <p:nvSpPr>
              <p:cNvPr id="13" name="TextBox 12">
                <a:extLst>
                  <a:ext uri="{FF2B5EF4-FFF2-40B4-BE49-F238E27FC236}">
                    <a16:creationId xmlns:a16="http://schemas.microsoft.com/office/drawing/2014/main" id="{9199832D-BEDA-734E-A8A2-B166F9E65425}"/>
                  </a:ext>
                </a:extLst>
              </p:cNvPr>
              <p:cNvSpPr txBox="1">
                <a:spLocks noRot="1" noChangeAspect="1" noMove="1" noResize="1" noEditPoints="1" noAdjustHandles="1" noChangeArrowheads="1" noChangeShapeType="1" noTextEdit="1"/>
              </p:cNvSpPr>
              <p:nvPr/>
            </p:nvSpPr>
            <p:spPr>
              <a:xfrm>
                <a:off x="1385455" y="3870251"/>
                <a:ext cx="9502285" cy="861774"/>
              </a:xfrm>
              <a:prstGeom prst="rect">
                <a:avLst/>
              </a:prstGeom>
              <a:blipFill>
                <a:blip r:embed="rId6"/>
                <a:stretch>
                  <a:fillRect l="-400" t="-2899" b="-14493"/>
                </a:stretch>
              </a:blipFill>
            </p:spPr>
            <p:txBody>
              <a:bodyPr/>
              <a:lstStyle/>
              <a:p>
                <a:r>
                  <a:rPr lang="en-CN">
                    <a:noFill/>
                  </a:rPr>
                  <a:t> </a:t>
                </a:r>
              </a:p>
            </p:txBody>
          </p:sp>
        </mc:Fallback>
      </mc:AlternateContent>
      <p:cxnSp>
        <p:nvCxnSpPr>
          <p:cNvPr id="15" name="Straight Arrow Connector 14">
            <a:extLst>
              <a:ext uri="{FF2B5EF4-FFF2-40B4-BE49-F238E27FC236}">
                <a16:creationId xmlns:a16="http://schemas.microsoft.com/office/drawing/2014/main" id="{08703A00-9D41-D942-B8BF-721B78BA39A1}"/>
              </a:ext>
            </a:extLst>
          </p:cNvPr>
          <p:cNvCxnSpPr/>
          <p:nvPr/>
        </p:nvCxnSpPr>
        <p:spPr>
          <a:xfrm>
            <a:off x="6868633" y="4732025"/>
            <a:ext cx="0" cy="6905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0B9C042-F3D3-6B40-AA7C-657B097D3557}"/>
                  </a:ext>
                </a:extLst>
              </p:cNvPr>
              <p:cNvSpPr txBox="1"/>
              <p:nvPr/>
            </p:nvSpPr>
            <p:spPr>
              <a:xfrm>
                <a:off x="4316819" y="5676781"/>
                <a:ext cx="5231218"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𝑔</m:t>
                      </m:r>
                      <m:d>
                        <m:dPr>
                          <m:ctrlPr>
                            <a:rPr lang="en-US" sz="3200" b="0" i="1" smtClean="0">
                              <a:latin typeface="Cambria Math" panose="02040503050406030204" pitchFamily="18" charset="0"/>
                            </a:rPr>
                          </m:ctrlPr>
                        </m:dPr>
                        <m:e>
                          <m:r>
                            <a:rPr lang="en-US" sz="3200" b="0" i="1" smtClean="0">
                              <a:latin typeface="Cambria Math" panose="02040503050406030204" pitchFamily="18" charset="0"/>
                              <a:ea typeface="Cambria Math" panose="02040503050406030204" pitchFamily="18" charset="0"/>
                            </a:rPr>
                            <m:t>ℛ</m:t>
                          </m:r>
                        </m:e>
                      </m:d>
                      <m:r>
                        <a:rPr lang="en-US" sz="3200" b="0" i="1" smtClean="0">
                          <a:latin typeface="Cambria Math" panose="02040503050406030204" pitchFamily="18" charset="0"/>
                        </a:rPr>
                        <m:t>=</m:t>
                      </m:r>
                      <m:r>
                        <a:rPr lang="en-US" sz="3200" b="0" i="1" smtClean="0">
                          <a:latin typeface="Cambria Math" panose="02040503050406030204" pitchFamily="18" charset="0"/>
                        </a:rPr>
                        <m:t>𝑔</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𝑁</m:t>
                          </m:r>
                        </m:e>
                        <m:sub>
                          <m:r>
                            <a:rPr lang="en-US" sz="3200" b="0" i="1" smtClean="0">
                              <a:latin typeface="Cambria Math" panose="02040503050406030204" pitchFamily="18" charset="0"/>
                            </a:rPr>
                            <m:t>0</m:t>
                          </m:r>
                        </m:sub>
                      </m:sSub>
                      <m:r>
                        <a:rPr lang="en-US" sz="3200" b="0" i="1" smtClean="0">
                          <a:latin typeface="Cambria Math" panose="02040503050406030204" pitchFamily="18" charset="0"/>
                        </a:rPr>
                        <m:t>−</m:t>
                      </m:r>
                      <m:r>
                        <a:rPr lang="en-US" sz="3200" b="0" i="1" smtClean="0">
                          <a:latin typeface="Cambria Math" panose="02040503050406030204" pitchFamily="18" charset="0"/>
                        </a:rPr>
                        <m:t>𝑁</m:t>
                      </m:r>
                      <m:r>
                        <a:rPr lang="en-US" sz="3200" b="0" i="1"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𝑈</m:t>
                          </m:r>
                        </m:e>
                        <m:sub>
                          <m:r>
                            <a:rPr lang="en-US" sz="3200" i="1">
                              <a:latin typeface="Cambria Math" panose="02040503050406030204" pitchFamily="18" charset="0"/>
                            </a:rPr>
                            <m:t>0</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𝜀</m:t>
                          </m:r>
                        </m:e>
                        <m:sub>
                          <m:r>
                            <a:rPr lang="en-US" sz="3200" i="1">
                              <a:latin typeface="Cambria Math" panose="02040503050406030204" pitchFamily="18" charset="0"/>
                            </a:rPr>
                            <m:t>𝑠</m:t>
                          </m:r>
                        </m:sub>
                      </m:sSub>
                      <m:r>
                        <a:rPr lang="en-US" sz="3200" b="0" i="1" smtClean="0">
                          <a:latin typeface="Cambria Math" panose="02040503050406030204" pitchFamily="18" charset="0"/>
                        </a:rPr>
                        <m:t>)</m:t>
                      </m:r>
                    </m:oMath>
                  </m:oMathPara>
                </a14:m>
                <a:endParaRPr lang="en-CN" sz="3200" dirty="0"/>
              </a:p>
            </p:txBody>
          </p:sp>
        </mc:Choice>
        <mc:Fallback xmlns="">
          <p:sp>
            <p:nvSpPr>
              <p:cNvPr id="16" name="TextBox 15">
                <a:extLst>
                  <a:ext uri="{FF2B5EF4-FFF2-40B4-BE49-F238E27FC236}">
                    <a16:creationId xmlns:a16="http://schemas.microsoft.com/office/drawing/2014/main" id="{C0B9C042-F3D3-6B40-AA7C-657B097D3557}"/>
                  </a:ext>
                </a:extLst>
              </p:cNvPr>
              <p:cNvSpPr txBox="1">
                <a:spLocks noRot="1" noChangeAspect="1" noMove="1" noResize="1" noEditPoints="1" noAdjustHandles="1" noChangeArrowheads="1" noChangeShapeType="1" noTextEdit="1"/>
              </p:cNvSpPr>
              <p:nvPr/>
            </p:nvSpPr>
            <p:spPr>
              <a:xfrm>
                <a:off x="4316819" y="5676781"/>
                <a:ext cx="5231218" cy="584775"/>
              </a:xfrm>
              <a:prstGeom prst="rect">
                <a:avLst/>
              </a:prstGeom>
              <a:blipFill>
                <a:blip r:embed="rId7"/>
                <a:stretch>
                  <a:fillRect b="-23404"/>
                </a:stretch>
              </a:blipFill>
            </p:spPr>
            <p:txBody>
              <a:bodyPr/>
              <a:lstStyle/>
              <a:p>
                <a:r>
                  <a:rPr lang="en-CN">
                    <a:noFill/>
                  </a:rPr>
                  <a:t> </a:t>
                </a:r>
              </a:p>
            </p:txBody>
          </p:sp>
        </mc:Fallback>
      </mc:AlternateContent>
    </p:spTree>
    <p:extLst>
      <p:ext uri="{BB962C8B-B14F-4D97-AF65-F5344CB8AC3E}">
        <p14:creationId xmlns:p14="http://schemas.microsoft.com/office/powerpoint/2010/main" val="40200038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0A06D70-0201-9649-8A13-BA832BDE053D}"/>
              </a:ext>
            </a:extLst>
          </p:cNvPr>
          <p:cNvSpPr txBox="1"/>
          <p:nvPr/>
        </p:nvSpPr>
        <p:spPr>
          <a:xfrm>
            <a:off x="568037" y="415636"/>
            <a:ext cx="10612582" cy="369332"/>
          </a:xfrm>
          <a:prstGeom prst="rect">
            <a:avLst/>
          </a:prstGeom>
          <a:noFill/>
        </p:spPr>
        <p:txBody>
          <a:bodyPr wrap="square" rtlCol="0">
            <a:spAutoFit/>
          </a:bodyPr>
          <a:lstStyle/>
          <a:p>
            <a:r>
              <a:rPr lang="en-CN" dirty="0"/>
              <a:t>Probability of the system to be in this specified state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B3EE53D-92B1-054C-9924-D86D453514E9}"/>
                  </a:ext>
                </a:extLst>
              </p:cNvPr>
              <p:cNvSpPr txBox="1"/>
              <p:nvPr/>
            </p:nvSpPr>
            <p:spPr>
              <a:xfrm>
                <a:off x="3061855" y="1108364"/>
                <a:ext cx="6525491"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b="0" i="1" smtClean="0">
                          <a:solidFill>
                            <a:srgbClr val="FF0000"/>
                          </a:solidFill>
                          <a:latin typeface="Cambria Math" panose="02040503050406030204" pitchFamily="18" charset="0"/>
                        </a:rPr>
                        <m:t>𝑃</m:t>
                      </m:r>
                      <m:d>
                        <m:dPr>
                          <m:ctrlPr>
                            <a:rPr lang="en-US" sz="3200" b="0" i="1" smtClean="0">
                              <a:solidFill>
                                <a:srgbClr val="FF0000"/>
                              </a:solidFill>
                              <a:latin typeface="Cambria Math" panose="02040503050406030204" pitchFamily="18" charset="0"/>
                            </a:rPr>
                          </m:ctrlPr>
                        </m:dPr>
                        <m:e>
                          <m:r>
                            <a:rPr lang="en-US" sz="3200" b="0" i="1" smtClean="0">
                              <a:solidFill>
                                <a:srgbClr val="FF0000"/>
                              </a:solidFill>
                              <a:latin typeface="Cambria Math" panose="02040503050406030204" pitchFamily="18" charset="0"/>
                            </a:rPr>
                            <m:t>𝑠</m:t>
                          </m:r>
                        </m:e>
                      </m:d>
                      <m:r>
                        <a:rPr lang="en-US" sz="3200" b="0" i="1" smtClean="0">
                          <a:solidFill>
                            <a:srgbClr val="FF0000"/>
                          </a:solidFill>
                          <a:latin typeface="Cambria Math" panose="02040503050406030204" pitchFamily="18" charset="0"/>
                          <a:ea typeface="Cambria Math" panose="02040503050406030204" pitchFamily="18" charset="0"/>
                        </a:rPr>
                        <m:t>∝</m:t>
                      </m:r>
                      <m:r>
                        <a:rPr lang="en-US" sz="3200" b="0" i="1" smtClean="0">
                          <a:solidFill>
                            <a:srgbClr val="FF0000"/>
                          </a:solidFill>
                          <a:latin typeface="Cambria Math" panose="02040503050406030204" pitchFamily="18" charset="0"/>
                          <a:ea typeface="Cambria Math" panose="02040503050406030204" pitchFamily="18" charset="0"/>
                        </a:rPr>
                        <m:t>𝑔</m:t>
                      </m:r>
                      <m:d>
                        <m:dPr>
                          <m:ctrlPr>
                            <a:rPr lang="en-US" sz="3200" b="0" i="1" smtClean="0">
                              <a:solidFill>
                                <a:srgbClr val="FF0000"/>
                              </a:solidFill>
                              <a:latin typeface="Cambria Math" panose="02040503050406030204" pitchFamily="18" charset="0"/>
                              <a:ea typeface="Cambria Math" panose="02040503050406030204" pitchFamily="18" charset="0"/>
                            </a:rPr>
                          </m:ctrlPr>
                        </m:dPr>
                        <m:e>
                          <m:r>
                            <a:rPr lang="en-US" sz="3200" b="0" i="1" smtClean="0">
                              <a:solidFill>
                                <a:srgbClr val="FF0000"/>
                              </a:solidFill>
                              <a:latin typeface="Cambria Math" panose="02040503050406030204" pitchFamily="18" charset="0"/>
                              <a:ea typeface="Cambria Math" panose="02040503050406030204" pitchFamily="18" charset="0"/>
                            </a:rPr>
                            <m:t>ℛ</m:t>
                          </m:r>
                        </m:e>
                      </m:d>
                      <m:r>
                        <a:rPr lang="en-US" sz="3200" b="0" i="1" smtClean="0">
                          <a:solidFill>
                            <a:srgbClr val="FF0000"/>
                          </a:solidFill>
                          <a:latin typeface="Cambria Math" panose="02040503050406030204" pitchFamily="18" charset="0"/>
                          <a:ea typeface="Cambria Math" panose="02040503050406030204" pitchFamily="18" charset="0"/>
                        </a:rPr>
                        <m:t>=</m:t>
                      </m:r>
                      <m:r>
                        <a:rPr lang="en-US" sz="3200" b="0" i="1" smtClean="0">
                          <a:solidFill>
                            <a:srgbClr val="FF0000"/>
                          </a:solidFill>
                          <a:latin typeface="Cambria Math" panose="02040503050406030204" pitchFamily="18" charset="0"/>
                          <a:ea typeface="Cambria Math" panose="02040503050406030204" pitchFamily="18" charset="0"/>
                        </a:rPr>
                        <m:t>𝑔</m:t>
                      </m:r>
                      <m:r>
                        <a:rPr lang="en-US" sz="3200" b="0" i="1" smtClean="0">
                          <a:solidFill>
                            <a:srgbClr val="FF0000"/>
                          </a:solidFill>
                          <a:latin typeface="Cambria Math" panose="02040503050406030204" pitchFamily="18" charset="0"/>
                          <a:ea typeface="Cambria Math" panose="02040503050406030204" pitchFamily="18" charset="0"/>
                        </a:rPr>
                        <m:t>(</m:t>
                      </m:r>
                      <m:sSub>
                        <m:sSubPr>
                          <m:ctrlPr>
                            <a:rPr lang="en-US" sz="3200" i="1">
                              <a:solidFill>
                                <a:srgbClr val="FF0000"/>
                              </a:solidFill>
                              <a:latin typeface="Cambria Math" panose="02040503050406030204" pitchFamily="18" charset="0"/>
                            </a:rPr>
                          </m:ctrlPr>
                        </m:sSubPr>
                        <m:e>
                          <m:r>
                            <a:rPr lang="en-US" sz="3200" i="1">
                              <a:solidFill>
                                <a:srgbClr val="FF0000"/>
                              </a:solidFill>
                              <a:latin typeface="Cambria Math" panose="02040503050406030204" pitchFamily="18" charset="0"/>
                            </a:rPr>
                            <m:t>𝑁</m:t>
                          </m:r>
                        </m:e>
                        <m:sub>
                          <m:r>
                            <a:rPr lang="en-US" sz="3200" b="0" i="1" smtClean="0">
                              <a:solidFill>
                                <a:srgbClr val="FF0000"/>
                              </a:solidFill>
                              <a:latin typeface="Cambria Math" panose="02040503050406030204" pitchFamily="18" charset="0"/>
                            </a:rPr>
                            <m:t>0</m:t>
                          </m:r>
                        </m:sub>
                      </m:sSub>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𝑁</m:t>
                      </m:r>
                      <m:r>
                        <a:rPr lang="en-US" sz="3200" b="0" i="1" smtClean="0">
                          <a:solidFill>
                            <a:srgbClr val="FF0000"/>
                          </a:solidFill>
                          <a:latin typeface="Cambria Math" panose="02040503050406030204" pitchFamily="18" charset="0"/>
                        </a:rPr>
                        <m:t>,</m:t>
                      </m:r>
                      <m:sSub>
                        <m:sSubPr>
                          <m:ctrlPr>
                            <a:rPr lang="en-US" sz="3200" i="1">
                              <a:solidFill>
                                <a:srgbClr val="FF0000"/>
                              </a:solidFill>
                              <a:latin typeface="Cambria Math" panose="02040503050406030204" pitchFamily="18" charset="0"/>
                            </a:rPr>
                          </m:ctrlPr>
                        </m:sSubPr>
                        <m:e>
                          <m:r>
                            <a:rPr lang="en-US" sz="3200" i="1">
                              <a:solidFill>
                                <a:srgbClr val="FF0000"/>
                              </a:solidFill>
                              <a:latin typeface="Cambria Math" panose="02040503050406030204" pitchFamily="18" charset="0"/>
                            </a:rPr>
                            <m:t>𝑈</m:t>
                          </m:r>
                        </m:e>
                        <m:sub>
                          <m:r>
                            <a:rPr lang="en-US" sz="3200" i="1">
                              <a:solidFill>
                                <a:srgbClr val="FF0000"/>
                              </a:solidFill>
                              <a:latin typeface="Cambria Math" panose="02040503050406030204" pitchFamily="18" charset="0"/>
                            </a:rPr>
                            <m:t>0</m:t>
                          </m:r>
                        </m:sub>
                      </m:sSub>
                      <m:r>
                        <a:rPr lang="en-US" sz="3200" i="1">
                          <a:solidFill>
                            <a:srgbClr val="FF0000"/>
                          </a:solidFill>
                          <a:latin typeface="Cambria Math" panose="02040503050406030204" pitchFamily="18" charset="0"/>
                        </a:rPr>
                        <m:t>−</m:t>
                      </m:r>
                      <m:sSub>
                        <m:sSubPr>
                          <m:ctrlPr>
                            <a:rPr lang="en-US" sz="3200" i="1">
                              <a:solidFill>
                                <a:srgbClr val="FF0000"/>
                              </a:solidFill>
                              <a:latin typeface="Cambria Math" panose="02040503050406030204" pitchFamily="18" charset="0"/>
                            </a:rPr>
                          </m:ctrlPr>
                        </m:sSubPr>
                        <m:e>
                          <m:r>
                            <a:rPr lang="en-US" sz="3200" i="1">
                              <a:solidFill>
                                <a:srgbClr val="FF0000"/>
                              </a:solidFill>
                              <a:latin typeface="Cambria Math" panose="02040503050406030204" pitchFamily="18" charset="0"/>
                              <a:ea typeface="Cambria Math" panose="02040503050406030204" pitchFamily="18" charset="0"/>
                            </a:rPr>
                            <m:t>𝜀</m:t>
                          </m:r>
                        </m:e>
                        <m:sub>
                          <m:r>
                            <a:rPr lang="en-US" sz="3200" i="1">
                              <a:solidFill>
                                <a:srgbClr val="FF0000"/>
                              </a:solidFill>
                              <a:latin typeface="Cambria Math" panose="02040503050406030204" pitchFamily="18" charset="0"/>
                            </a:rPr>
                            <m:t>𝑠</m:t>
                          </m:r>
                        </m:sub>
                      </m:sSub>
                      <m:r>
                        <a:rPr lang="en-US" sz="3200" b="0" i="1" smtClean="0">
                          <a:solidFill>
                            <a:srgbClr val="FF0000"/>
                          </a:solidFill>
                          <a:latin typeface="Cambria Math" panose="02040503050406030204" pitchFamily="18" charset="0"/>
                          <a:ea typeface="Cambria Math" panose="02040503050406030204" pitchFamily="18" charset="0"/>
                        </a:rPr>
                        <m:t>)</m:t>
                      </m:r>
                    </m:oMath>
                  </m:oMathPara>
                </a14:m>
                <a:endParaRPr lang="en-CN" sz="3200" dirty="0">
                  <a:solidFill>
                    <a:srgbClr val="FF0000"/>
                  </a:solidFill>
                </a:endParaRPr>
              </a:p>
            </p:txBody>
          </p:sp>
        </mc:Choice>
        <mc:Fallback xmlns="">
          <p:sp>
            <p:nvSpPr>
              <p:cNvPr id="6" name="TextBox 5">
                <a:extLst>
                  <a:ext uri="{FF2B5EF4-FFF2-40B4-BE49-F238E27FC236}">
                    <a16:creationId xmlns:a16="http://schemas.microsoft.com/office/drawing/2014/main" id="{FB3EE53D-92B1-054C-9924-D86D453514E9}"/>
                  </a:ext>
                </a:extLst>
              </p:cNvPr>
              <p:cNvSpPr txBox="1">
                <a:spLocks noRot="1" noChangeAspect="1" noMove="1" noResize="1" noEditPoints="1" noAdjustHandles="1" noChangeArrowheads="1" noChangeShapeType="1" noTextEdit="1"/>
              </p:cNvSpPr>
              <p:nvPr/>
            </p:nvSpPr>
            <p:spPr>
              <a:xfrm>
                <a:off x="3061855" y="1108364"/>
                <a:ext cx="6525491" cy="584775"/>
              </a:xfrm>
              <a:prstGeom prst="rect">
                <a:avLst/>
              </a:prstGeom>
              <a:blipFill>
                <a:blip r:embed="rId2"/>
                <a:stretch>
                  <a:fillRect b="-21277"/>
                </a:stretch>
              </a:blipFill>
            </p:spPr>
            <p:txBody>
              <a:bodyPr/>
              <a:lstStyle/>
              <a:p>
                <a:r>
                  <a:rPr lang="en-CN">
                    <a:noFill/>
                  </a:rPr>
                  <a:t> </a:t>
                </a:r>
              </a:p>
            </p:txBody>
          </p:sp>
        </mc:Fallback>
      </mc:AlternateContent>
      <p:sp>
        <p:nvSpPr>
          <p:cNvPr id="7" name="Rectangle 6">
            <a:extLst>
              <a:ext uri="{FF2B5EF4-FFF2-40B4-BE49-F238E27FC236}">
                <a16:creationId xmlns:a16="http://schemas.microsoft.com/office/drawing/2014/main" id="{BB1E5F5F-D264-1B49-8A60-835DD553E25E}"/>
              </a:ext>
            </a:extLst>
          </p:cNvPr>
          <p:cNvSpPr/>
          <p:nvPr/>
        </p:nvSpPr>
        <p:spPr>
          <a:xfrm>
            <a:off x="886689" y="2022757"/>
            <a:ext cx="3228109" cy="27709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8" name="Rectangle 7">
            <a:extLst>
              <a:ext uri="{FF2B5EF4-FFF2-40B4-BE49-F238E27FC236}">
                <a16:creationId xmlns:a16="http://schemas.microsoft.com/office/drawing/2014/main" id="{BC809FF5-EB40-E244-8731-9B3D0FACD208}"/>
              </a:ext>
            </a:extLst>
          </p:cNvPr>
          <p:cNvSpPr/>
          <p:nvPr/>
        </p:nvSpPr>
        <p:spPr>
          <a:xfrm>
            <a:off x="4128652" y="3560611"/>
            <a:ext cx="1468582" cy="12330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5E2748C-FA81-3140-997F-3F8E5B84FA2D}"/>
                  </a:ext>
                </a:extLst>
              </p:cNvPr>
              <p:cNvSpPr txBox="1"/>
              <p:nvPr/>
            </p:nvSpPr>
            <p:spPr>
              <a:xfrm>
                <a:off x="1008155" y="2438715"/>
                <a:ext cx="2888192" cy="1938992"/>
              </a:xfrm>
              <a:prstGeom prst="rect">
                <a:avLst/>
              </a:prstGeom>
              <a:noFill/>
            </p:spPr>
            <p:txBody>
              <a:bodyPr wrap="square" rtlCol="0">
                <a:spAutoFit/>
              </a:bodyPr>
              <a:lstStyle/>
              <a:p>
                <a:pPr algn="ctr"/>
                <a:r>
                  <a:rPr lang="en-CN" sz="2400" dirty="0"/>
                  <a:t>Reservoir</a:t>
                </a:r>
              </a:p>
              <a:p>
                <a:pPr algn="ctr"/>
                <a14:m>
                  <m:oMathPara xmlns:m="http://schemas.openxmlformats.org/officeDocument/2006/math">
                    <m:oMathParaPr>
                      <m:jc m:val="centerGroup"/>
                    </m:oMathParaPr>
                    <m:oMath xmlns:m="http://schemas.openxmlformats.org/officeDocument/2006/math">
                      <m:r>
                        <a:rPr lang="en-CN" sz="2400" i="1" smtClean="0">
                          <a:latin typeface="Cambria Math" panose="02040503050406030204" pitchFamily="18" charset="0"/>
                          <a:ea typeface="Cambria Math" panose="02040503050406030204" pitchFamily="18" charset="0"/>
                        </a:rPr>
                        <m:t>ℛ</m:t>
                      </m:r>
                    </m:oMath>
                  </m:oMathPara>
                </a14:m>
                <a:endParaRPr lang="en-US" sz="2400" dirty="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CN" sz="2400" i="1" smtClean="0">
                              <a:latin typeface="Cambria Math" panose="02040503050406030204" pitchFamily="18" charset="0"/>
                            </a:rPr>
                          </m:ctrlPr>
                        </m:sSubPr>
                        <m:e>
                          <m:r>
                            <a:rPr lang="en-US" sz="2400" b="0" i="1" smtClean="0">
                              <a:latin typeface="Cambria Math" panose="02040503050406030204" pitchFamily="18" charset="0"/>
                            </a:rPr>
                            <m:t>𝑁</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𝑁</m:t>
                          </m:r>
                        </m:e>
                        <m:sub>
                          <m:r>
                            <a:rPr lang="en-US" sz="2400" b="0" i="1" smtClean="0">
                              <a:latin typeface="Cambria Math" panose="02040503050406030204" pitchFamily="18" charset="0"/>
                            </a:rPr>
                            <m:t>1</m:t>
                          </m:r>
                        </m:sub>
                      </m:sSub>
                    </m:oMath>
                  </m:oMathPara>
                </a14:m>
                <a:endParaRPr lang="en-US" sz="2400" b="0" dirty="0"/>
              </a:p>
              <a:p>
                <a:pPr algn="ctr"/>
                <a14:m>
                  <m:oMathPara xmlns:m="http://schemas.openxmlformats.org/officeDocument/2006/math">
                    <m:oMathParaPr>
                      <m:jc m:val="centerGroup"/>
                    </m:oMathParaPr>
                    <m:oMath xmlns:m="http://schemas.openxmlformats.org/officeDocument/2006/math">
                      <m:sSub>
                        <m:sSubPr>
                          <m:ctrlPr>
                            <a:rPr lang="en-CN" sz="2400" i="1" smtClean="0">
                              <a:latin typeface="Cambria Math" panose="02040503050406030204" pitchFamily="18" charset="0"/>
                            </a:rPr>
                          </m:ctrlPr>
                        </m:sSubPr>
                        <m:e>
                          <m:r>
                            <a:rPr lang="en-US" sz="2400" b="0" i="1" smtClean="0">
                              <a:latin typeface="Cambria Math" panose="02040503050406030204" pitchFamily="18" charset="0"/>
                            </a:rPr>
                            <m:t>𝑈</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𝜀</m:t>
                          </m:r>
                        </m:e>
                        <m:sub>
                          <m:r>
                            <a:rPr lang="en-US" sz="2400" b="0" i="1" smtClean="0">
                              <a:latin typeface="Cambria Math" panose="02040503050406030204" pitchFamily="18" charset="0"/>
                            </a:rPr>
                            <m:t>1</m:t>
                          </m:r>
                        </m:sub>
                      </m:sSub>
                    </m:oMath>
                  </m:oMathPara>
                </a14:m>
                <a:endParaRPr lang="en-US" sz="2400" b="0" dirty="0"/>
              </a:p>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𝑔</m:t>
                      </m:r>
                      <m:r>
                        <a:rPr lang="en-US" sz="2400" b="0" i="1" smtClean="0">
                          <a:latin typeface="Cambria Math" panose="02040503050406030204" pitchFamily="18" charset="0"/>
                        </a:rPr>
                        <m:t>(</m:t>
                      </m:r>
                      <m:sSub>
                        <m:sSubPr>
                          <m:ctrlPr>
                            <a:rPr lang="en-CN" sz="2400" i="1">
                              <a:latin typeface="Cambria Math" panose="02040503050406030204" pitchFamily="18" charset="0"/>
                            </a:rPr>
                          </m:ctrlPr>
                        </m:sSubPr>
                        <m:e>
                          <m:r>
                            <a:rPr lang="en-US" sz="2400" i="1">
                              <a:latin typeface="Cambria Math" panose="02040503050406030204" pitchFamily="18" charset="0"/>
                            </a:rPr>
                            <m:t>𝑁</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i="1">
                              <a:latin typeface="Cambria Math" panose="02040503050406030204" pitchFamily="18" charset="0"/>
                            </a:rPr>
                            <m:t>1</m:t>
                          </m:r>
                        </m:sub>
                      </m:sSub>
                      <m:r>
                        <a:rPr lang="en-US" sz="2400" b="0" i="1" smtClean="0">
                          <a:latin typeface="Cambria Math" panose="02040503050406030204" pitchFamily="18" charset="0"/>
                        </a:rPr>
                        <m:t>,</m:t>
                      </m:r>
                      <m:sSub>
                        <m:sSubPr>
                          <m:ctrlPr>
                            <a:rPr lang="en-CN" sz="2400" i="1">
                              <a:latin typeface="Cambria Math" panose="02040503050406030204" pitchFamily="18" charset="0"/>
                            </a:rPr>
                          </m:ctrlPr>
                        </m:sSubPr>
                        <m:e>
                          <m:r>
                            <a:rPr lang="en-US" sz="2400" i="1">
                              <a:latin typeface="Cambria Math" panose="02040503050406030204" pitchFamily="18" charset="0"/>
                            </a:rPr>
                            <m:t>𝑈</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𝜀</m:t>
                          </m:r>
                        </m:e>
                        <m:sub>
                          <m:r>
                            <a:rPr lang="en-US" sz="2400" i="1">
                              <a:latin typeface="Cambria Math" panose="02040503050406030204" pitchFamily="18" charset="0"/>
                            </a:rPr>
                            <m:t>1</m:t>
                          </m:r>
                        </m:sub>
                      </m:sSub>
                      <m:r>
                        <a:rPr lang="en-US" sz="2400" b="0" i="1" smtClean="0">
                          <a:latin typeface="Cambria Math" panose="02040503050406030204" pitchFamily="18" charset="0"/>
                        </a:rPr>
                        <m:t>)</m:t>
                      </m:r>
                    </m:oMath>
                  </m:oMathPara>
                </a14:m>
                <a:endParaRPr lang="en-CN" sz="2400" dirty="0"/>
              </a:p>
            </p:txBody>
          </p:sp>
        </mc:Choice>
        <mc:Fallback xmlns="">
          <p:sp>
            <p:nvSpPr>
              <p:cNvPr id="9" name="TextBox 8">
                <a:extLst>
                  <a:ext uri="{FF2B5EF4-FFF2-40B4-BE49-F238E27FC236}">
                    <a16:creationId xmlns:a16="http://schemas.microsoft.com/office/drawing/2014/main" id="{C5E2748C-FA81-3140-997F-3F8E5B84FA2D}"/>
                  </a:ext>
                </a:extLst>
              </p:cNvPr>
              <p:cNvSpPr txBox="1">
                <a:spLocks noRot="1" noChangeAspect="1" noMove="1" noResize="1" noEditPoints="1" noAdjustHandles="1" noChangeArrowheads="1" noChangeShapeType="1" noTextEdit="1"/>
              </p:cNvSpPr>
              <p:nvPr/>
            </p:nvSpPr>
            <p:spPr>
              <a:xfrm>
                <a:off x="1008155" y="2438715"/>
                <a:ext cx="2888192" cy="1938992"/>
              </a:xfrm>
              <a:prstGeom prst="rect">
                <a:avLst/>
              </a:prstGeom>
              <a:blipFill>
                <a:blip r:embed="rId3"/>
                <a:stretch>
                  <a:fillRect t="-2614" b="-3268"/>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6E4BCDC-046B-0243-B4B7-CBE69BE257D6}"/>
                  </a:ext>
                </a:extLst>
              </p:cNvPr>
              <p:cNvSpPr txBox="1"/>
              <p:nvPr/>
            </p:nvSpPr>
            <p:spPr>
              <a:xfrm>
                <a:off x="4128652" y="3811282"/>
                <a:ext cx="1468582" cy="830997"/>
              </a:xfrm>
              <a:prstGeom prst="rect">
                <a:avLst/>
              </a:prstGeom>
              <a:noFill/>
            </p:spPr>
            <p:txBody>
              <a:bodyPr wrap="square" rtlCol="0">
                <a:spAutoFit/>
              </a:bodyPr>
              <a:lstStyle/>
              <a:p>
                <a:pPr algn="ctr"/>
                <a:r>
                  <a:rPr lang="en-CN" sz="2400" dirty="0"/>
                  <a:t>System</a:t>
                </a:r>
              </a:p>
              <a:p>
                <a:pPr algn="ctr"/>
                <a14:m>
                  <m:oMathPara xmlns:m="http://schemas.openxmlformats.org/officeDocument/2006/math">
                    <m:oMathParaPr>
                      <m:jc m:val="centerGroup"/>
                    </m:oMathParaPr>
                    <m:oMath xmlns:m="http://schemas.openxmlformats.org/officeDocument/2006/math">
                      <m:r>
                        <a:rPr lang="en-CN" sz="2400" i="1" smtClean="0">
                          <a:latin typeface="Cambria Math" panose="02040503050406030204" pitchFamily="18" charset="0"/>
                          <a:ea typeface="Cambria Math" panose="02040503050406030204" pitchFamily="18" charset="0"/>
                        </a:rPr>
                        <m:t>𝒮</m:t>
                      </m:r>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𝑁</m:t>
                          </m:r>
                        </m:e>
                        <m:sub>
                          <m:r>
                            <a:rPr lang="en-US" sz="2400" b="0" i="1" smtClean="0">
                              <a:latin typeface="Cambria Math" panose="02040503050406030204" pitchFamily="18" charset="0"/>
                              <a:ea typeface="Cambria Math" panose="02040503050406030204" pitchFamily="18" charset="0"/>
                            </a:rPr>
                            <m:t>1</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𝜀</m:t>
                          </m:r>
                        </m:e>
                        <m:sub>
                          <m:r>
                            <a:rPr lang="en-US" sz="2400" b="0" i="1" smtClean="0">
                              <a:latin typeface="Cambria Math" panose="02040503050406030204" pitchFamily="18" charset="0"/>
                              <a:ea typeface="Cambria Math" panose="02040503050406030204" pitchFamily="18" charset="0"/>
                            </a:rPr>
                            <m:t>1</m:t>
                          </m:r>
                        </m:sub>
                      </m:sSub>
                      <m:r>
                        <a:rPr lang="en-US" sz="2400" b="0" i="1" smtClean="0">
                          <a:latin typeface="Cambria Math" panose="02040503050406030204" pitchFamily="18" charset="0"/>
                          <a:ea typeface="Cambria Math" panose="02040503050406030204" pitchFamily="18" charset="0"/>
                        </a:rPr>
                        <m:t>)</m:t>
                      </m:r>
                    </m:oMath>
                  </m:oMathPara>
                </a14:m>
                <a:endParaRPr lang="en-CN" sz="2400" dirty="0"/>
              </a:p>
            </p:txBody>
          </p:sp>
        </mc:Choice>
        <mc:Fallback xmlns="">
          <p:sp>
            <p:nvSpPr>
              <p:cNvPr id="10" name="TextBox 9">
                <a:extLst>
                  <a:ext uri="{FF2B5EF4-FFF2-40B4-BE49-F238E27FC236}">
                    <a16:creationId xmlns:a16="http://schemas.microsoft.com/office/drawing/2014/main" id="{C6E4BCDC-046B-0243-B4B7-CBE69BE257D6}"/>
                  </a:ext>
                </a:extLst>
              </p:cNvPr>
              <p:cNvSpPr txBox="1">
                <a:spLocks noRot="1" noChangeAspect="1" noMove="1" noResize="1" noEditPoints="1" noAdjustHandles="1" noChangeArrowheads="1" noChangeShapeType="1" noTextEdit="1"/>
              </p:cNvSpPr>
              <p:nvPr/>
            </p:nvSpPr>
            <p:spPr>
              <a:xfrm>
                <a:off x="4128652" y="3811282"/>
                <a:ext cx="1468582" cy="830997"/>
              </a:xfrm>
              <a:prstGeom prst="rect">
                <a:avLst/>
              </a:prstGeom>
              <a:blipFill>
                <a:blip r:embed="rId4"/>
                <a:stretch>
                  <a:fillRect t="-6061" b="-9091"/>
                </a:stretch>
              </a:blipFill>
            </p:spPr>
            <p:txBody>
              <a:bodyPr/>
              <a:lstStyle/>
              <a:p>
                <a:r>
                  <a:rPr lang="en-CN">
                    <a:noFill/>
                  </a:rPr>
                  <a:t> </a:t>
                </a:r>
              </a:p>
            </p:txBody>
          </p:sp>
        </mc:Fallback>
      </mc:AlternateContent>
      <p:sp>
        <p:nvSpPr>
          <p:cNvPr id="15" name="Rectangle 14">
            <a:extLst>
              <a:ext uri="{FF2B5EF4-FFF2-40B4-BE49-F238E27FC236}">
                <a16:creationId xmlns:a16="http://schemas.microsoft.com/office/drawing/2014/main" id="{E26E91C4-6017-114C-B235-40B44CBE6E99}"/>
              </a:ext>
            </a:extLst>
          </p:cNvPr>
          <p:cNvSpPr/>
          <p:nvPr/>
        </p:nvSpPr>
        <p:spPr>
          <a:xfrm>
            <a:off x="6954980" y="2022757"/>
            <a:ext cx="3228109" cy="27709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16" name="Rectangle 15">
            <a:extLst>
              <a:ext uri="{FF2B5EF4-FFF2-40B4-BE49-F238E27FC236}">
                <a16:creationId xmlns:a16="http://schemas.microsoft.com/office/drawing/2014/main" id="{6AEF2707-3DCD-264C-859D-CA6282DE5CA2}"/>
              </a:ext>
            </a:extLst>
          </p:cNvPr>
          <p:cNvSpPr/>
          <p:nvPr/>
        </p:nvSpPr>
        <p:spPr>
          <a:xfrm>
            <a:off x="10196943" y="3560611"/>
            <a:ext cx="1468582" cy="12330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0FF34B3-A721-D449-826E-87BC5D9D2130}"/>
                  </a:ext>
                </a:extLst>
              </p:cNvPr>
              <p:cNvSpPr txBox="1"/>
              <p:nvPr/>
            </p:nvSpPr>
            <p:spPr>
              <a:xfrm>
                <a:off x="7076446" y="2438715"/>
                <a:ext cx="2888192" cy="1938992"/>
              </a:xfrm>
              <a:prstGeom prst="rect">
                <a:avLst/>
              </a:prstGeom>
              <a:noFill/>
            </p:spPr>
            <p:txBody>
              <a:bodyPr wrap="square" rtlCol="0">
                <a:spAutoFit/>
              </a:bodyPr>
              <a:lstStyle/>
              <a:p>
                <a:pPr algn="ctr"/>
                <a:r>
                  <a:rPr lang="en-CN" sz="2400" dirty="0"/>
                  <a:t>Reservoir</a:t>
                </a:r>
              </a:p>
              <a:p>
                <a:pPr algn="ctr"/>
                <a14:m>
                  <m:oMathPara xmlns:m="http://schemas.openxmlformats.org/officeDocument/2006/math">
                    <m:oMathParaPr>
                      <m:jc m:val="centerGroup"/>
                    </m:oMathParaPr>
                    <m:oMath xmlns:m="http://schemas.openxmlformats.org/officeDocument/2006/math">
                      <m:r>
                        <a:rPr lang="en-CN" sz="2400" i="1" smtClean="0">
                          <a:latin typeface="Cambria Math" panose="02040503050406030204" pitchFamily="18" charset="0"/>
                          <a:ea typeface="Cambria Math" panose="02040503050406030204" pitchFamily="18" charset="0"/>
                        </a:rPr>
                        <m:t>ℛ</m:t>
                      </m:r>
                    </m:oMath>
                  </m:oMathPara>
                </a14:m>
                <a:endParaRPr lang="en-US" sz="2400" dirty="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CN" sz="2400" i="1" smtClean="0">
                              <a:latin typeface="Cambria Math" panose="02040503050406030204" pitchFamily="18" charset="0"/>
                            </a:rPr>
                          </m:ctrlPr>
                        </m:sSubPr>
                        <m:e>
                          <m:r>
                            <a:rPr lang="en-US" sz="2400" b="0" i="1" smtClean="0">
                              <a:latin typeface="Cambria Math" panose="02040503050406030204" pitchFamily="18" charset="0"/>
                            </a:rPr>
                            <m:t>𝑁</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𝑁</m:t>
                          </m:r>
                        </m:e>
                        <m:sub>
                          <m:r>
                            <a:rPr lang="en-US" sz="2400" b="0" i="1" smtClean="0">
                              <a:latin typeface="Cambria Math" panose="02040503050406030204" pitchFamily="18" charset="0"/>
                            </a:rPr>
                            <m:t>2</m:t>
                          </m:r>
                        </m:sub>
                      </m:sSub>
                    </m:oMath>
                  </m:oMathPara>
                </a14:m>
                <a:endParaRPr lang="en-US" sz="2400" b="0" dirty="0"/>
              </a:p>
              <a:p>
                <a:pPr algn="ctr"/>
                <a14:m>
                  <m:oMathPara xmlns:m="http://schemas.openxmlformats.org/officeDocument/2006/math">
                    <m:oMathParaPr>
                      <m:jc m:val="centerGroup"/>
                    </m:oMathParaPr>
                    <m:oMath xmlns:m="http://schemas.openxmlformats.org/officeDocument/2006/math">
                      <m:sSub>
                        <m:sSubPr>
                          <m:ctrlPr>
                            <a:rPr lang="en-CN" sz="2400" i="1" smtClean="0">
                              <a:latin typeface="Cambria Math" panose="02040503050406030204" pitchFamily="18" charset="0"/>
                            </a:rPr>
                          </m:ctrlPr>
                        </m:sSubPr>
                        <m:e>
                          <m:r>
                            <a:rPr lang="en-US" sz="2400" b="0" i="1" smtClean="0">
                              <a:latin typeface="Cambria Math" panose="02040503050406030204" pitchFamily="18" charset="0"/>
                            </a:rPr>
                            <m:t>𝑈</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𝜀</m:t>
                          </m:r>
                        </m:e>
                        <m:sub>
                          <m:r>
                            <a:rPr lang="en-US" sz="2400" b="0" i="1" smtClean="0">
                              <a:latin typeface="Cambria Math" panose="02040503050406030204" pitchFamily="18" charset="0"/>
                            </a:rPr>
                            <m:t>2</m:t>
                          </m:r>
                        </m:sub>
                      </m:sSub>
                    </m:oMath>
                  </m:oMathPara>
                </a14:m>
                <a:endParaRPr lang="en-US" sz="2400" b="0" dirty="0"/>
              </a:p>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𝑔</m:t>
                      </m:r>
                      <m:r>
                        <a:rPr lang="en-US" sz="2400" b="0" i="1" smtClean="0">
                          <a:latin typeface="Cambria Math" panose="02040503050406030204" pitchFamily="18" charset="0"/>
                        </a:rPr>
                        <m:t>(</m:t>
                      </m:r>
                      <m:sSub>
                        <m:sSubPr>
                          <m:ctrlPr>
                            <a:rPr lang="en-CN" sz="2400" i="1">
                              <a:latin typeface="Cambria Math" panose="02040503050406030204" pitchFamily="18" charset="0"/>
                            </a:rPr>
                          </m:ctrlPr>
                        </m:sSubPr>
                        <m:e>
                          <m:r>
                            <a:rPr lang="en-US" sz="2400" i="1">
                              <a:latin typeface="Cambria Math" panose="02040503050406030204" pitchFamily="18" charset="0"/>
                            </a:rPr>
                            <m:t>𝑁</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sSub>
                        <m:sSubPr>
                          <m:ctrlPr>
                            <a:rPr lang="en-CN" sz="2400" i="1">
                              <a:latin typeface="Cambria Math" panose="02040503050406030204" pitchFamily="18" charset="0"/>
                            </a:rPr>
                          </m:ctrlPr>
                        </m:sSubPr>
                        <m:e>
                          <m:r>
                            <a:rPr lang="en-US" sz="2400" i="1">
                              <a:latin typeface="Cambria Math" panose="02040503050406030204" pitchFamily="18" charset="0"/>
                            </a:rPr>
                            <m:t>𝑈</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𝜀</m:t>
                          </m:r>
                        </m:e>
                        <m:sub>
                          <m:r>
                            <a:rPr lang="en-US" sz="2400" i="1">
                              <a:latin typeface="Cambria Math" panose="02040503050406030204" pitchFamily="18" charset="0"/>
                              <a:ea typeface="Cambria Math" panose="02040503050406030204" pitchFamily="18" charset="0"/>
                            </a:rPr>
                            <m:t>2</m:t>
                          </m:r>
                        </m:sub>
                      </m:sSub>
                      <m:r>
                        <a:rPr lang="en-US" sz="2400" b="0" i="1" smtClean="0">
                          <a:latin typeface="Cambria Math" panose="02040503050406030204" pitchFamily="18" charset="0"/>
                        </a:rPr>
                        <m:t>)</m:t>
                      </m:r>
                    </m:oMath>
                  </m:oMathPara>
                </a14:m>
                <a:endParaRPr lang="en-CN" sz="2400" dirty="0"/>
              </a:p>
            </p:txBody>
          </p:sp>
        </mc:Choice>
        <mc:Fallback xmlns="">
          <p:sp>
            <p:nvSpPr>
              <p:cNvPr id="17" name="TextBox 16">
                <a:extLst>
                  <a:ext uri="{FF2B5EF4-FFF2-40B4-BE49-F238E27FC236}">
                    <a16:creationId xmlns:a16="http://schemas.microsoft.com/office/drawing/2014/main" id="{B0FF34B3-A721-D449-826E-87BC5D9D2130}"/>
                  </a:ext>
                </a:extLst>
              </p:cNvPr>
              <p:cNvSpPr txBox="1">
                <a:spLocks noRot="1" noChangeAspect="1" noMove="1" noResize="1" noEditPoints="1" noAdjustHandles="1" noChangeArrowheads="1" noChangeShapeType="1" noTextEdit="1"/>
              </p:cNvSpPr>
              <p:nvPr/>
            </p:nvSpPr>
            <p:spPr>
              <a:xfrm>
                <a:off x="7076446" y="2438715"/>
                <a:ext cx="2888192" cy="1938992"/>
              </a:xfrm>
              <a:prstGeom prst="rect">
                <a:avLst/>
              </a:prstGeom>
              <a:blipFill>
                <a:blip r:embed="rId5"/>
                <a:stretch>
                  <a:fillRect t="-2614" b="-3268"/>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B49A632-1BAC-A441-99CA-866B48D5BD5E}"/>
                  </a:ext>
                </a:extLst>
              </p:cNvPr>
              <p:cNvSpPr txBox="1"/>
              <p:nvPr/>
            </p:nvSpPr>
            <p:spPr>
              <a:xfrm>
                <a:off x="10196943" y="3811282"/>
                <a:ext cx="1468582" cy="830997"/>
              </a:xfrm>
              <a:prstGeom prst="rect">
                <a:avLst/>
              </a:prstGeom>
              <a:noFill/>
            </p:spPr>
            <p:txBody>
              <a:bodyPr wrap="square" rtlCol="0">
                <a:spAutoFit/>
              </a:bodyPr>
              <a:lstStyle/>
              <a:p>
                <a:pPr algn="ctr"/>
                <a:r>
                  <a:rPr lang="en-CN" sz="2400" dirty="0"/>
                  <a:t>System</a:t>
                </a:r>
              </a:p>
              <a:p>
                <a:pPr algn="ctr"/>
                <a14:m>
                  <m:oMathPara xmlns:m="http://schemas.openxmlformats.org/officeDocument/2006/math">
                    <m:oMathParaPr>
                      <m:jc m:val="centerGroup"/>
                    </m:oMathParaPr>
                    <m:oMath xmlns:m="http://schemas.openxmlformats.org/officeDocument/2006/math">
                      <m:r>
                        <a:rPr lang="en-CN" sz="2400" i="1" smtClean="0">
                          <a:latin typeface="Cambria Math" panose="02040503050406030204" pitchFamily="18" charset="0"/>
                          <a:ea typeface="Cambria Math" panose="02040503050406030204" pitchFamily="18" charset="0"/>
                        </a:rPr>
                        <m:t>𝒮</m:t>
                      </m:r>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𝑁</m:t>
                          </m:r>
                        </m:e>
                        <m:sub>
                          <m:r>
                            <a:rPr lang="en-US" sz="2400" b="0" i="1" smtClean="0">
                              <a:latin typeface="Cambria Math" panose="02040503050406030204" pitchFamily="18" charset="0"/>
                              <a:ea typeface="Cambria Math" panose="02040503050406030204" pitchFamily="18" charset="0"/>
                            </a:rPr>
                            <m:t>2</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𝜀</m:t>
                          </m:r>
                        </m:e>
                        <m:sub>
                          <m:r>
                            <a:rPr lang="en-US" sz="2400" b="0" i="1" smtClean="0">
                              <a:latin typeface="Cambria Math" panose="02040503050406030204" pitchFamily="18" charset="0"/>
                              <a:ea typeface="Cambria Math" panose="02040503050406030204" pitchFamily="18" charset="0"/>
                            </a:rPr>
                            <m:t>2</m:t>
                          </m:r>
                        </m:sub>
                      </m:sSub>
                      <m:r>
                        <a:rPr lang="en-US" sz="2400" b="0" i="1" smtClean="0">
                          <a:latin typeface="Cambria Math" panose="02040503050406030204" pitchFamily="18" charset="0"/>
                          <a:ea typeface="Cambria Math" panose="02040503050406030204" pitchFamily="18" charset="0"/>
                        </a:rPr>
                        <m:t>)</m:t>
                      </m:r>
                    </m:oMath>
                  </m:oMathPara>
                </a14:m>
                <a:endParaRPr lang="en-CN" sz="2400" dirty="0"/>
              </a:p>
            </p:txBody>
          </p:sp>
        </mc:Choice>
        <mc:Fallback xmlns="">
          <p:sp>
            <p:nvSpPr>
              <p:cNvPr id="18" name="TextBox 17">
                <a:extLst>
                  <a:ext uri="{FF2B5EF4-FFF2-40B4-BE49-F238E27FC236}">
                    <a16:creationId xmlns:a16="http://schemas.microsoft.com/office/drawing/2014/main" id="{3B49A632-1BAC-A441-99CA-866B48D5BD5E}"/>
                  </a:ext>
                </a:extLst>
              </p:cNvPr>
              <p:cNvSpPr txBox="1">
                <a:spLocks noRot="1" noChangeAspect="1" noMove="1" noResize="1" noEditPoints="1" noAdjustHandles="1" noChangeArrowheads="1" noChangeShapeType="1" noTextEdit="1"/>
              </p:cNvSpPr>
              <p:nvPr/>
            </p:nvSpPr>
            <p:spPr>
              <a:xfrm>
                <a:off x="10196943" y="3811282"/>
                <a:ext cx="1468582" cy="830997"/>
              </a:xfrm>
              <a:prstGeom prst="rect">
                <a:avLst/>
              </a:prstGeom>
              <a:blipFill>
                <a:blip r:embed="rId6"/>
                <a:stretch>
                  <a:fillRect t="-6061" b="-9091"/>
                </a:stretch>
              </a:blipFill>
            </p:spPr>
            <p:txBody>
              <a:bodyPr/>
              <a:lstStyle/>
              <a:p>
                <a:r>
                  <a:rPr lang="en-CN">
                    <a:noFill/>
                  </a:rPr>
                  <a:t> </a:t>
                </a:r>
              </a:p>
            </p:txBody>
          </p:sp>
        </mc:Fallback>
      </mc:AlternateContent>
      <p:sp>
        <p:nvSpPr>
          <p:cNvPr id="19" name="TextBox 18">
            <a:extLst>
              <a:ext uri="{FF2B5EF4-FFF2-40B4-BE49-F238E27FC236}">
                <a16:creationId xmlns:a16="http://schemas.microsoft.com/office/drawing/2014/main" id="{CBEA66CA-101D-CA47-8971-A7E19E91CD94}"/>
              </a:ext>
            </a:extLst>
          </p:cNvPr>
          <p:cNvSpPr txBox="1"/>
          <p:nvPr/>
        </p:nvSpPr>
        <p:spPr>
          <a:xfrm>
            <a:off x="886689" y="5195455"/>
            <a:ext cx="10778836" cy="369332"/>
          </a:xfrm>
          <a:prstGeom prst="rect">
            <a:avLst/>
          </a:prstGeom>
          <a:noFill/>
        </p:spPr>
        <p:txBody>
          <a:bodyPr wrap="square" rtlCol="0">
            <a:spAutoFit/>
          </a:bodyPr>
          <a:lstStyle/>
          <a:p>
            <a:r>
              <a:rPr lang="en-CN" dirty="0"/>
              <a:t>指定两个不同的态</a:t>
            </a:r>
            <a:r>
              <a:rPr lang="zh-CN" altLang="en-US" dirty="0"/>
              <a:t>，其概率比值为</a:t>
            </a:r>
            <a:endParaRPr lang="en-CN"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3AD3C54-D049-7045-9788-5EBD2480DA77}"/>
                  </a:ext>
                </a:extLst>
              </p:cNvPr>
              <p:cNvSpPr txBox="1"/>
              <p:nvPr/>
            </p:nvSpPr>
            <p:spPr>
              <a:xfrm>
                <a:off x="3061855" y="5680364"/>
                <a:ext cx="5860472" cy="6857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m:t>
                          </m:r>
                        </m:num>
                        <m:den>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r>
                            <a:rPr lang="en-US" b="0" i="1" smtClean="0">
                              <a:latin typeface="Cambria Math" panose="02040503050406030204" pitchFamily="18" charset="0"/>
                            </a:rPr>
                            <m:t>)</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𝑔</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1</m:t>
                              </m:r>
                            </m:sub>
                          </m:sSub>
                          <m:r>
                            <a:rPr lang="en-US" b="0" i="1" smtClean="0">
                              <a:latin typeface="Cambria Math" panose="02040503050406030204" pitchFamily="18" charset="0"/>
                            </a:rPr>
                            <m:t>)</m:t>
                          </m:r>
                        </m:num>
                        <m:den>
                          <m:r>
                            <a:rPr lang="en-US" i="1">
                              <a:latin typeface="Cambria Math" panose="02040503050406030204" pitchFamily="18" charset="0"/>
                            </a:rPr>
                            <m:t>𝑔</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rPr>
                            <m:t>)</m:t>
                          </m:r>
                        </m:den>
                      </m:f>
                    </m:oMath>
                  </m:oMathPara>
                </a14:m>
                <a:endParaRPr lang="en-CN" dirty="0"/>
              </a:p>
            </p:txBody>
          </p:sp>
        </mc:Choice>
        <mc:Fallback xmlns="">
          <p:sp>
            <p:nvSpPr>
              <p:cNvPr id="20" name="TextBox 19">
                <a:extLst>
                  <a:ext uri="{FF2B5EF4-FFF2-40B4-BE49-F238E27FC236}">
                    <a16:creationId xmlns:a16="http://schemas.microsoft.com/office/drawing/2014/main" id="{B3AD3C54-D049-7045-9788-5EBD2480DA77}"/>
                  </a:ext>
                </a:extLst>
              </p:cNvPr>
              <p:cNvSpPr txBox="1">
                <a:spLocks noRot="1" noChangeAspect="1" noMove="1" noResize="1" noEditPoints="1" noAdjustHandles="1" noChangeArrowheads="1" noChangeShapeType="1" noTextEdit="1"/>
              </p:cNvSpPr>
              <p:nvPr/>
            </p:nvSpPr>
            <p:spPr>
              <a:xfrm>
                <a:off x="3061855" y="5680364"/>
                <a:ext cx="5860472" cy="685765"/>
              </a:xfrm>
              <a:prstGeom prst="rect">
                <a:avLst/>
              </a:prstGeom>
              <a:blipFill>
                <a:blip r:embed="rId7"/>
                <a:stretch>
                  <a:fillRect b="-5455"/>
                </a:stretch>
              </a:blipFill>
            </p:spPr>
            <p:txBody>
              <a:bodyPr/>
              <a:lstStyle/>
              <a:p>
                <a:r>
                  <a:rPr lang="en-CN">
                    <a:noFill/>
                  </a:rPr>
                  <a:t> </a:t>
                </a:r>
              </a:p>
            </p:txBody>
          </p:sp>
        </mc:Fallback>
      </mc:AlternateContent>
    </p:spTree>
    <p:extLst>
      <p:ext uri="{BB962C8B-B14F-4D97-AF65-F5344CB8AC3E}">
        <p14:creationId xmlns:p14="http://schemas.microsoft.com/office/powerpoint/2010/main" val="37588938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16F33AA-7BCF-DE43-A841-17A65849931D}"/>
                  </a:ext>
                </a:extLst>
              </p:cNvPr>
              <p:cNvSpPr txBox="1"/>
              <p:nvPr/>
            </p:nvSpPr>
            <p:spPr>
              <a:xfrm>
                <a:off x="1115291" y="731465"/>
                <a:ext cx="9961418" cy="130971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N" sz="2400" i="1" smtClean="0">
                              <a:latin typeface="Cambria Math" panose="02040503050406030204" pitchFamily="18" charset="0"/>
                            </a:rPr>
                          </m:ctrlPr>
                        </m:fPr>
                        <m:num>
                          <m:r>
                            <a:rPr lang="en-US" sz="2400" b="0" i="1" smtClean="0">
                              <a:latin typeface="Cambria Math" panose="02040503050406030204" pitchFamily="18" charset="0"/>
                            </a:rPr>
                            <m:t>𝑃</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num>
                        <m:den>
                          <m:r>
                            <a:rPr lang="en-US" sz="2400" b="0" i="1" smtClean="0">
                              <a:latin typeface="Cambria Math" panose="02040503050406030204" pitchFamily="18" charset="0"/>
                            </a:rPr>
                            <m:t>𝑃</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𝑔</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𝑁</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𝑁</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𝑈</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𝜀</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num>
                        <m:den>
                          <m:r>
                            <a:rPr lang="en-US" sz="2400" i="1">
                              <a:latin typeface="Cambria Math" panose="02040503050406030204" pitchFamily="18" charset="0"/>
                            </a:rPr>
                            <m:t>𝑔</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b="0" i="1" smtClean="0">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𝑈</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𝜀</m:t>
                              </m:r>
                            </m:e>
                            <m:sub>
                              <m:r>
                                <a:rPr lang="en-US" sz="2400" b="0" i="1" smtClean="0">
                                  <a:latin typeface="Cambria Math" panose="02040503050406030204" pitchFamily="18" charset="0"/>
                                  <a:ea typeface="Cambria Math" panose="02040503050406030204" pitchFamily="18" charset="0"/>
                                </a:rPr>
                                <m:t>2</m:t>
                              </m:r>
                            </m:sub>
                          </m:sSub>
                          <m:r>
                            <a:rPr lang="en-US" sz="2400" i="1">
                              <a:latin typeface="Cambria Math" panose="02040503050406030204" pitchFamily="18" charset="0"/>
                            </a:rPr>
                            <m:t>)</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𝑒</m:t>
                              </m:r>
                            </m:e>
                            <m:sup>
                              <m:r>
                                <a:rPr lang="en-US" sz="2400" b="0" i="1" smtClean="0">
                                  <a:latin typeface="Cambria Math" panose="02040503050406030204" pitchFamily="18" charset="0"/>
                                  <a:ea typeface="Cambria Math" panose="02040503050406030204" pitchFamily="18" charset="0"/>
                                </a:rPr>
                                <m:t>𝜎</m:t>
                              </m:r>
                              <m:r>
                                <a:rPr lang="en-US" sz="2400" b="0" i="1" smtClean="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𝑈</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𝜀</m:t>
                                  </m:r>
                                </m:e>
                                <m:sub>
                                  <m:r>
                                    <a:rPr lang="en-US" sz="2400" i="1">
                                      <a:latin typeface="Cambria Math" panose="02040503050406030204" pitchFamily="18" charset="0"/>
                                    </a:rPr>
                                    <m:t>1</m:t>
                                  </m:r>
                                </m:sub>
                              </m:sSub>
                              <m:r>
                                <a:rPr lang="en-US" sz="2400" b="0" i="1" smtClean="0">
                                  <a:latin typeface="Cambria Math" panose="02040503050406030204" pitchFamily="18" charset="0"/>
                                  <a:ea typeface="Cambria Math" panose="02040503050406030204" pitchFamily="18" charset="0"/>
                                </a:rPr>
                                <m:t>)</m:t>
                              </m:r>
                            </m:sup>
                          </m:sSup>
                        </m:num>
                        <m:den>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𝜎</m:t>
                              </m:r>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b="0" i="1" smtClean="0">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𝑈</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𝜀</m:t>
                                  </m:r>
                                </m:e>
                                <m:sub>
                                  <m:r>
                                    <a:rPr lang="en-US" sz="2400" b="0" i="1" smtClean="0">
                                      <a:latin typeface="Cambria Math" panose="02040503050406030204" pitchFamily="18" charset="0"/>
                                      <a:ea typeface="Cambria Math" panose="02040503050406030204" pitchFamily="18" charset="0"/>
                                    </a:rPr>
                                    <m:t>2</m:t>
                                  </m:r>
                                </m:sub>
                              </m:sSub>
                              <m:r>
                                <a:rPr lang="en-US" sz="2400" i="1">
                                  <a:latin typeface="Cambria Math" panose="02040503050406030204" pitchFamily="18" charset="0"/>
                                  <a:ea typeface="Cambria Math" panose="02040503050406030204" pitchFamily="18" charset="0"/>
                                </a:rPr>
                                <m:t>)</m:t>
                              </m:r>
                            </m:sup>
                          </m:sSup>
                        </m:den>
                      </m:f>
                    </m:oMath>
                  </m:oMathPara>
                </a14:m>
                <a:endParaRPr lang="en-CN" sz="2400" dirty="0"/>
              </a:p>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𝜎</m:t>
                          </m:r>
                          <m:d>
                            <m:dPr>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𝑈</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𝜀</m:t>
                                  </m:r>
                                </m:e>
                                <m:sub>
                                  <m:r>
                                    <a:rPr lang="en-US" sz="2400" i="1">
                                      <a:latin typeface="Cambria Math" panose="02040503050406030204" pitchFamily="18" charset="0"/>
                                    </a:rPr>
                                    <m:t>1</m:t>
                                  </m:r>
                                </m:sub>
                              </m:sSub>
                            </m:e>
                          </m:d>
                          <m:r>
                            <a:rPr lang="en-US" sz="2400" b="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𝜎</m:t>
                          </m:r>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b="0" i="1" smtClean="0">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𝑈</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𝜀</m:t>
                              </m:r>
                            </m:e>
                            <m:sub>
                              <m:r>
                                <a:rPr lang="en-US" sz="2400" b="0" i="1" smtClean="0">
                                  <a:latin typeface="Cambria Math" panose="02040503050406030204" pitchFamily="18" charset="0"/>
                                  <a:ea typeface="Cambria Math" panose="02040503050406030204" pitchFamily="18" charset="0"/>
                                </a:rPr>
                                <m:t>2</m:t>
                              </m:r>
                            </m:sub>
                          </m:sSub>
                          <m:r>
                            <a:rPr lang="en-US" sz="2400" i="1">
                              <a:latin typeface="Cambria Math" panose="02040503050406030204" pitchFamily="18" charset="0"/>
                              <a:ea typeface="Cambria Math" panose="02040503050406030204" pitchFamily="18" charset="0"/>
                            </a:rPr>
                            <m:t>)</m:t>
                          </m:r>
                        </m:sup>
                      </m:sSup>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𝑒</m:t>
                          </m:r>
                        </m:e>
                        <m:sup>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𝜎</m:t>
                          </m:r>
                        </m:sup>
                      </m:sSup>
                    </m:oMath>
                  </m:oMathPara>
                </a14:m>
                <a:endParaRPr lang="en-CN" sz="2400" dirty="0"/>
              </a:p>
            </p:txBody>
          </p:sp>
        </mc:Choice>
        <mc:Fallback xmlns="">
          <p:sp>
            <p:nvSpPr>
              <p:cNvPr id="5" name="TextBox 4">
                <a:extLst>
                  <a:ext uri="{FF2B5EF4-FFF2-40B4-BE49-F238E27FC236}">
                    <a16:creationId xmlns:a16="http://schemas.microsoft.com/office/drawing/2014/main" id="{916F33AA-7BCF-DE43-A841-17A65849931D}"/>
                  </a:ext>
                </a:extLst>
              </p:cNvPr>
              <p:cNvSpPr txBox="1">
                <a:spLocks noRot="1" noChangeAspect="1" noMove="1" noResize="1" noEditPoints="1" noAdjustHandles="1" noChangeArrowheads="1" noChangeShapeType="1" noTextEdit="1"/>
              </p:cNvSpPr>
              <p:nvPr/>
            </p:nvSpPr>
            <p:spPr>
              <a:xfrm>
                <a:off x="1115291" y="731465"/>
                <a:ext cx="9961418" cy="1309718"/>
              </a:xfrm>
              <a:prstGeom prst="rect">
                <a:avLst/>
              </a:prstGeom>
              <a:blipFill>
                <a:blip r:embed="rId2"/>
                <a:stretch>
                  <a:fillRect/>
                </a:stretch>
              </a:blipFill>
            </p:spPr>
            <p:txBody>
              <a:bodyPr/>
              <a:lstStyle/>
              <a:p>
                <a:r>
                  <a:rPr lang="en-CN">
                    <a:noFill/>
                  </a:rPr>
                  <a:t> </a:t>
                </a:r>
              </a:p>
            </p:txBody>
          </p:sp>
        </mc:Fallback>
      </mc:AlternateContent>
      <p:sp>
        <p:nvSpPr>
          <p:cNvPr id="6" name="Right Arrow 5">
            <a:extLst>
              <a:ext uri="{FF2B5EF4-FFF2-40B4-BE49-F238E27FC236}">
                <a16:creationId xmlns:a16="http://schemas.microsoft.com/office/drawing/2014/main" id="{4FA62844-2616-5547-BFDD-1B7A72725F9C}"/>
              </a:ext>
            </a:extLst>
          </p:cNvPr>
          <p:cNvSpPr/>
          <p:nvPr/>
        </p:nvSpPr>
        <p:spPr>
          <a:xfrm>
            <a:off x="678873" y="969818"/>
            <a:ext cx="1676400" cy="54032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TextBox 6">
            <a:extLst>
              <a:ext uri="{FF2B5EF4-FFF2-40B4-BE49-F238E27FC236}">
                <a16:creationId xmlns:a16="http://schemas.microsoft.com/office/drawing/2014/main" id="{58B076A0-2AC9-7D41-A296-80172DD791E0}"/>
              </a:ext>
            </a:extLst>
          </p:cNvPr>
          <p:cNvSpPr txBox="1"/>
          <p:nvPr/>
        </p:nvSpPr>
        <p:spPr>
          <a:xfrm>
            <a:off x="678873" y="2410691"/>
            <a:ext cx="3574472" cy="369332"/>
          </a:xfrm>
          <a:prstGeom prst="rect">
            <a:avLst/>
          </a:prstGeom>
          <a:noFill/>
        </p:spPr>
        <p:txBody>
          <a:bodyPr wrap="square" rtlCol="0">
            <a:spAutoFit/>
          </a:bodyPr>
          <a:lstStyle/>
          <a:p>
            <a:r>
              <a:rPr lang="en-CN" dirty="0"/>
              <a:t>Taylor</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2B2A122-B781-1148-8432-27D94AF765C6}"/>
                  </a:ext>
                </a:extLst>
              </p:cNvPr>
              <p:cNvSpPr txBox="1"/>
              <p:nvPr/>
            </p:nvSpPr>
            <p:spPr>
              <a:xfrm>
                <a:off x="955963" y="3059668"/>
                <a:ext cx="8672946" cy="9532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𝜎</m:t>
                      </m:r>
                      <m:d>
                        <m:dPr>
                          <m:ctrlPr>
                            <a:rPr lang="en-US" sz="2400" b="0" i="1" smtClean="0">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i="1">
                                  <a:latin typeface="Cambria Math" panose="02040503050406030204" pitchFamily="18" charset="0"/>
                                </a:rPr>
                                <m:t>0</m:t>
                              </m:r>
                            </m:sub>
                          </m:sSub>
                          <m:r>
                            <a:rPr lang="en-US" sz="2400" i="1">
                              <a:latin typeface="Cambria Math" panose="02040503050406030204" pitchFamily="18" charset="0"/>
                            </a:rPr>
                            <m:t>−</m:t>
                          </m:r>
                          <m:r>
                            <a:rPr lang="en-US" sz="2400" b="0" i="1" smtClean="0">
                              <a:latin typeface="Cambria Math" panose="02040503050406030204" pitchFamily="18" charset="0"/>
                            </a:rPr>
                            <m:t>𝑁</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𝑈</m:t>
                              </m:r>
                            </m:e>
                            <m:sub>
                              <m:r>
                                <a:rPr lang="en-US" sz="2400" i="1">
                                  <a:latin typeface="Cambria Math" panose="02040503050406030204" pitchFamily="18" charset="0"/>
                                </a:rPr>
                                <m:t>0</m:t>
                              </m:r>
                            </m:sub>
                          </m:sSub>
                          <m:r>
                            <a:rPr lang="en-US" sz="2400" i="1">
                              <a:latin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𝜀</m:t>
                          </m:r>
                        </m:e>
                      </m:d>
                      <m:r>
                        <a:rPr lang="en-US" sz="2400" i="1">
                          <a:latin typeface="Cambria Math" panose="02040503050406030204" pitchFamily="18" charset="0"/>
                          <a:ea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𝜎</m:t>
                      </m:r>
                      <m:d>
                        <m:dPr>
                          <m:ctrlPr>
                            <a:rPr lang="en-US" sz="2400" b="0" i="1" smtClean="0">
                              <a:latin typeface="Cambria Math" panose="02040503050406030204" pitchFamily="18" charset="0"/>
                              <a:ea typeface="Cambria Math" panose="02040503050406030204" pitchFamily="18" charset="0"/>
                            </a:rPr>
                          </m:ctrlPr>
                        </m:dPr>
                        <m:e>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𝑁</m:t>
                              </m:r>
                            </m:e>
                            <m:sub>
                              <m:r>
                                <a:rPr lang="en-US" sz="2400" b="0" i="1" smtClean="0">
                                  <a:latin typeface="Cambria Math" panose="02040503050406030204" pitchFamily="18" charset="0"/>
                                  <a:ea typeface="Cambria Math" panose="02040503050406030204" pitchFamily="18" charset="0"/>
                                </a:rPr>
                                <m:t>0</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𝑈</m:t>
                              </m:r>
                            </m:e>
                            <m:sub>
                              <m:r>
                                <a:rPr lang="en-US" sz="2400" b="0" i="1" smtClean="0">
                                  <a:latin typeface="Cambria Math" panose="02040503050406030204" pitchFamily="18" charset="0"/>
                                  <a:ea typeface="Cambria Math" panose="02040503050406030204" pitchFamily="18" charset="0"/>
                                </a:rPr>
                                <m:t>0</m:t>
                              </m:r>
                            </m:sub>
                          </m:sSub>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𝑁</m:t>
                      </m:r>
                      <m:sSub>
                        <m:sSubPr>
                          <m:ctrlPr>
                            <a:rPr lang="en-US" sz="2400" b="0" i="1" smtClean="0">
                              <a:latin typeface="Cambria Math" panose="02040503050406030204" pitchFamily="18" charset="0"/>
                              <a:ea typeface="Cambria Math" panose="02040503050406030204" pitchFamily="18" charset="0"/>
                            </a:rPr>
                          </m:ctrlPr>
                        </m:sSubPr>
                        <m:e>
                          <m:d>
                            <m:dPr>
                              <m:ctrlPr>
                                <a:rPr lang="en-US" sz="2400" b="0" i="1" smtClean="0">
                                  <a:latin typeface="Cambria Math" panose="02040503050406030204" pitchFamily="18" charset="0"/>
                                  <a:ea typeface="Cambria Math" panose="02040503050406030204" pitchFamily="18" charset="0"/>
                                </a:rPr>
                              </m:ctrlPr>
                            </m:dPr>
                            <m:e>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𝜕𝜎</m:t>
                                  </m:r>
                                </m:num>
                                <m:den>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𝑁</m:t>
                                      </m:r>
                                    </m:e>
                                    <m:sub>
                                      <m:r>
                                        <a:rPr lang="en-US" sz="2400" b="0" i="1" smtClean="0">
                                          <a:latin typeface="Cambria Math" panose="02040503050406030204" pitchFamily="18" charset="0"/>
                                          <a:ea typeface="Cambria Math" panose="02040503050406030204" pitchFamily="18" charset="0"/>
                                        </a:rPr>
                                        <m:t>0</m:t>
                                      </m:r>
                                    </m:sub>
                                  </m:sSub>
                                </m:den>
                              </m:f>
                            </m:e>
                          </m:d>
                        </m:e>
                        <m:sub>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𝑈</m:t>
                              </m:r>
                            </m:e>
                            <m:sub>
                              <m:r>
                                <a:rPr lang="en-US" sz="2400" b="0" i="1" smtClean="0">
                                  <a:latin typeface="Cambria Math" panose="02040503050406030204" pitchFamily="18" charset="0"/>
                                  <a:ea typeface="Cambria Math" panose="02040503050406030204" pitchFamily="18" charset="0"/>
                                </a:rPr>
                                <m:t>0</m:t>
                              </m:r>
                            </m:sub>
                          </m:sSub>
                        </m:sub>
                      </m:sSub>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𝜀</m:t>
                      </m:r>
                      <m:sSub>
                        <m:sSubPr>
                          <m:ctrlPr>
                            <a:rPr lang="en-US" sz="2400" b="0" i="1" smtClean="0">
                              <a:latin typeface="Cambria Math" panose="02040503050406030204" pitchFamily="18" charset="0"/>
                              <a:ea typeface="Cambria Math" panose="02040503050406030204" pitchFamily="18" charset="0"/>
                            </a:rPr>
                          </m:ctrlPr>
                        </m:sSubPr>
                        <m:e>
                          <m:d>
                            <m:dPr>
                              <m:ctrlPr>
                                <a:rPr lang="en-US" sz="2400" b="0" i="1" smtClean="0">
                                  <a:latin typeface="Cambria Math" panose="02040503050406030204" pitchFamily="18" charset="0"/>
                                  <a:ea typeface="Cambria Math" panose="02040503050406030204" pitchFamily="18" charset="0"/>
                                </a:rPr>
                              </m:ctrlPr>
                            </m:dPr>
                            <m:e>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𝜕𝜎</m:t>
                                  </m:r>
                                </m:num>
                                <m:den>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𝑈</m:t>
                                      </m:r>
                                    </m:e>
                                    <m:sub>
                                      <m:r>
                                        <a:rPr lang="en-US" sz="2400" b="0" i="1" smtClean="0">
                                          <a:latin typeface="Cambria Math" panose="02040503050406030204" pitchFamily="18" charset="0"/>
                                          <a:ea typeface="Cambria Math" panose="02040503050406030204" pitchFamily="18" charset="0"/>
                                        </a:rPr>
                                        <m:t>0</m:t>
                                      </m:r>
                                    </m:sub>
                                  </m:sSub>
                                </m:den>
                              </m:f>
                            </m:e>
                          </m:d>
                        </m:e>
                        <m:sub>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𝑁</m:t>
                              </m:r>
                            </m:e>
                            <m:sub>
                              <m:r>
                                <a:rPr lang="en-US" sz="2400" b="0" i="1" smtClean="0">
                                  <a:latin typeface="Cambria Math" panose="02040503050406030204" pitchFamily="18" charset="0"/>
                                  <a:ea typeface="Cambria Math" panose="02040503050406030204" pitchFamily="18" charset="0"/>
                                </a:rPr>
                                <m:t>0</m:t>
                              </m:r>
                            </m:sub>
                          </m:sSub>
                        </m:sub>
                      </m:sSub>
                      <m:r>
                        <a:rPr lang="en-US" sz="2400" b="0" i="1" smtClean="0">
                          <a:latin typeface="Cambria Math" panose="02040503050406030204" pitchFamily="18" charset="0"/>
                          <a:ea typeface="Cambria Math" panose="02040503050406030204" pitchFamily="18" charset="0"/>
                        </a:rPr>
                        <m:t>…</m:t>
                      </m:r>
                    </m:oMath>
                  </m:oMathPara>
                </a14:m>
                <a:endParaRPr lang="en-CN" sz="2400" dirty="0"/>
              </a:p>
            </p:txBody>
          </p:sp>
        </mc:Choice>
        <mc:Fallback xmlns="">
          <p:sp>
            <p:nvSpPr>
              <p:cNvPr id="9" name="TextBox 8">
                <a:extLst>
                  <a:ext uri="{FF2B5EF4-FFF2-40B4-BE49-F238E27FC236}">
                    <a16:creationId xmlns:a16="http://schemas.microsoft.com/office/drawing/2014/main" id="{42B2A122-B781-1148-8432-27D94AF765C6}"/>
                  </a:ext>
                </a:extLst>
              </p:cNvPr>
              <p:cNvSpPr txBox="1">
                <a:spLocks noRot="1" noChangeAspect="1" noMove="1" noResize="1" noEditPoints="1" noAdjustHandles="1" noChangeArrowheads="1" noChangeShapeType="1" noTextEdit="1"/>
              </p:cNvSpPr>
              <p:nvPr/>
            </p:nvSpPr>
            <p:spPr>
              <a:xfrm>
                <a:off x="955963" y="3059668"/>
                <a:ext cx="8672946" cy="953274"/>
              </a:xfrm>
              <a:prstGeom prst="rect">
                <a:avLst/>
              </a:prstGeom>
              <a:blipFill>
                <a:blip r:embed="rId3"/>
                <a:stretch>
                  <a:fillRect b="-1316"/>
                </a:stretch>
              </a:blipFill>
            </p:spPr>
            <p:txBody>
              <a:bodyPr/>
              <a:lstStyle/>
              <a:p>
                <a:r>
                  <a:rPr lang="en-CN">
                    <a:noFill/>
                  </a:rPr>
                  <a:t> </a:t>
                </a:r>
              </a:p>
            </p:txBody>
          </p:sp>
        </mc:Fallback>
      </mc:AlternateContent>
      <p:sp>
        <p:nvSpPr>
          <p:cNvPr id="10" name="Right Arrow 9">
            <a:extLst>
              <a:ext uri="{FF2B5EF4-FFF2-40B4-BE49-F238E27FC236}">
                <a16:creationId xmlns:a16="http://schemas.microsoft.com/office/drawing/2014/main" id="{A7FD72A3-7AED-FC41-A05C-96A7F5CCEE23}"/>
              </a:ext>
            </a:extLst>
          </p:cNvPr>
          <p:cNvSpPr/>
          <p:nvPr/>
        </p:nvSpPr>
        <p:spPr>
          <a:xfrm rot="5400000">
            <a:off x="4698035" y="4034568"/>
            <a:ext cx="953275" cy="54032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26B1737-048B-2D40-A53B-6CB2A3CF3C80}"/>
                  </a:ext>
                </a:extLst>
              </p:cNvPr>
              <p:cNvSpPr txBox="1"/>
              <p:nvPr/>
            </p:nvSpPr>
            <p:spPr>
              <a:xfrm>
                <a:off x="1399309" y="5031427"/>
                <a:ext cx="8672946" cy="9532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𝜎</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m:t>
                      </m:r>
                      <m:d>
                        <m:dPr>
                          <m:ctrlPr>
                            <a:rPr lang="en-US" sz="2400" b="0" i="1" smtClean="0">
                              <a:latin typeface="Cambria Math" panose="02040503050406030204" pitchFamily="18" charset="0"/>
                              <a:ea typeface="Cambria Math" panose="02040503050406030204" pitchFamily="18" charset="0"/>
                            </a:rPr>
                          </m:ctrlPr>
                        </m:dPr>
                        <m:e>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𝑁</m:t>
                              </m:r>
                            </m:e>
                            <m:sub>
                              <m:r>
                                <a:rPr lang="en-US" sz="2400" b="0" i="1" smtClean="0">
                                  <a:latin typeface="Cambria Math" panose="02040503050406030204" pitchFamily="18" charset="0"/>
                                  <a:ea typeface="Cambria Math" panose="02040503050406030204" pitchFamily="18" charset="0"/>
                                </a:rPr>
                                <m:t>1</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𝑁</m:t>
                              </m:r>
                            </m:e>
                            <m:sub>
                              <m:r>
                                <a:rPr lang="en-US" sz="2400" b="0" i="1" smtClean="0">
                                  <a:latin typeface="Cambria Math" panose="02040503050406030204" pitchFamily="18" charset="0"/>
                                  <a:ea typeface="Cambria Math" panose="02040503050406030204" pitchFamily="18" charset="0"/>
                                </a:rPr>
                                <m:t>2</m:t>
                              </m:r>
                            </m:sub>
                          </m:sSub>
                        </m:e>
                      </m:d>
                      <m:sSub>
                        <m:sSubPr>
                          <m:ctrlPr>
                            <a:rPr lang="en-US" sz="2400" b="0" i="1" smtClean="0">
                              <a:latin typeface="Cambria Math" panose="02040503050406030204" pitchFamily="18" charset="0"/>
                              <a:ea typeface="Cambria Math" panose="02040503050406030204" pitchFamily="18" charset="0"/>
                            </a:rPr>
                          </m:ctrlPr>
                        </m:sSubPr>
                        <m:e>
                          <m:d>
                            <m:dPr>
                              <m:ctrlPr>
                                <a:rPr lang="en-US" sz="2400" b="0" i="1" smtClean="0">
                                  <a:latin typeface="Cambria Math" panose="02040503050406030204" pitchFamily="18" charset="0"/>
                                  <a:ea typeface="Cambria Math" panose="02040503050406030204" pitchFamily="18" charset="0"/>
                                </a:rPr>
                              </m:ctrlPr>
                            </m:dPr>
                            <m:e>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𝜕𝜎</m:t>
                                  </m:r>
                                </m:num>
                                <m:den>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𝑁</m:t>
                                      </m:r>
                                    </m:e>
                                    <m:sub>
                                      <m:r>
                                        <a:rPr lang="en-US" sz="2400" b="0" i="1" smtClean="0">
                                          <a:latin typeface="Cambria Math" panose="02040503050406030204" pitchFamily="18" charset="0"/>
                                          <a:ea typeface="Cambria Math" panose="02040503050406030204" pitchFamily="18" charset="0"/>
                                        </a:rPr>
                                        <m:t>0</m:t>
                                      </m:r>
                                    </m:sub>
                                  </m:sSub>
                                </m:den>
                              </m:f>
                            </m:e>
                          </m:d>
                        </m:e>
                        <m:sub>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𝑈</m:t>
                              </m:r>
                            </m:e>
                            <m:sub>
                              <m:r>
                                <a:rPr lang="en-US" sz="2400" b="0" i="1" smtClean="0">
                                  <a:latin typeface="Cambria Math" panose="02040503050406030204" pitchFamily="18" charset="0"/>
                                  <a:ea typeface="Cambria Math" panose="02040503050406030204" pitchFamily="18" charset="0"/>
                                </a:rPr>
                                <m:t>0</m:t>
                              </m:r>
                            </m:sub>
                          </m:sSub>
                        </m:sub>
                      </m:sSub>
                      <m:r>
                        <a:rPr lang="en-US" sz="2400" b="0" i="1" smtClean="0">
                          <a:latin typeface="Cambria Math" panose="02040503050406030204" pitchFamily="18" charset="0"/>
                          <a:ea typeface="Cambria Math" panose="02040503050406030204" pitchFamily="18" charset="0"/>
                        </a:rPr>
                        <m:t>−</m:t>
                      </m:r>
                      <m:d>
                        <m:dPr>
                          <m:ctrlPr>
                            <a:rPr lang="en-US" sz="2400" b="0" i="1" smtClean="0">
                              <a:latin typeface="Cambria Math" panose="02040503050406030204" pitchFamily="18" charset="0"/>
                              <a:ea typeface="Cambria Math" panose="02040503050406030204" pitchFamily="18" charset="0"/>
                            </a:rPr>
                          </m:ctrlPr>
                        </m:dPr>
                        <m:e>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𝜀</m:t>
                              </m:r>
                            </m:e>
                            <m:sub>
                              <m:r>
                                <a:rPr lang="en-US" sz="2400" b="0" i="1" smtClean="0">
                                  <a:latin typeface="Cambria Math" panose="02040503050406030204" pitchFamily="18" charset="0"/>
                                  <a:ea typeface="Cambria Math" panose="02040503050406030204" pitchFamily="18" charset="0"/>
                                </a:rPr>
                                <m:t>1</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𝜀</m:t>
                              </m:r>
                            </m:e>
                            <m:sub>
                              <m:r>
                                <a:rPr lang="en-US" sz="2400" b="0" i="1" smtClean="0">
                                  <a:latin typeface="Cambria Math" panose="02040503050406030204" pitchFamily="18" charset="0"/>
                                  <a:ea typeface="Cambria Math" panose="02040503050406030204" pitchFamily="18" charset="0"/>
                                </a:rPr>
                                <m:t>2</m:t>
                              </m:r>
                            </m:sub>
                          </m:sSub>
                        </m:e>
                      </m:d>
                      <m:sSub>
                        <m:sSubPr>
                          <m:ctrlPr>
                            <a:rPr lang="en-US" sz="2400" b="0" i="1" smtClean="0">
                              <a:latin typeface="Cambria Math" panose="02040503050406030204" pitchFamily="18" charset="0"/>
                              <a:ea typeface="Cambria Math" panose="02040503050406030204" pitchFamily="18" charset="0"/>
                            </a:rPr>
                          </m:ctrlPr>
                        </m:sSubPr>
                        <m:e>
                          <m:d>
                            <m:dPr>
                              <m:ctrlPr>
                                <a:rPr lang="en-US" sz="2400" b="0" i="1" smtClean="0">
                                  <a:latin typeface="Cambria Math" panose="02040503050406030204" pitchFamily="18" charset="0"/>
                                  <a:ea typeface="Cambria Math" panose="02040503050406030204" pitchFamily="18" charset="0"/>
                                </a:rPr>
                              </m:ctrlPr>
                            </m:dPr>
                            <m:e>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𝜕𝜎</m:t>
                                  </m:r>
                                </m:num>
                                <m:den>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𝑈</m:t>
                                      </m:r>
                                    </m:e>
                                    <m:sub>
                                      <m:r>
                                        <a:rPr lang="en-US" sz="2400" b="0" i="1" smtClean="0">
                                          <a:latin typeface="Cambria Math" panose="02040503050406030204" pitchFamily="18" charset="0"/>
                                          <a:ea typeface="Cambria Math" panose="02040503050406030204" pitchFamily="18" charset="0"/>
                                        </a:rPr>
                                        <m:t>0</m:t>
                                      </m:r>
                                    </m:sub>
                                  </m:sSub>
                                </m:den>
                              </m:f>
                            </m:e>
                          </m:d>
                        </m:e>
                        <m:sub>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𝑁</m:t>
                              </m:r>
                            </m:e>
                            <m:sub>
                              <m:r>
                                <a:rPr lang="en-US" sz="2400" b="0" i="1" smtClean="0">
                                  <a:latin typeface="Cambria Math" panose="02040503050406030204" pitchFamily="18" charset="0"/>
                                  <a:ea typeface="Cambria Math" panose="02040503050406030204" pitchFamily="18" charset="0"/>
                                </a:rPr>
                                <m:t>0</m:t>
                              </m:r>
                            </m:sub>
                          </m:sSub>
                        </m:sub>
                      </m:sSub>
                      <m:r>
                        <a:rPr lang="en-US" sz="2400" b="0" i="1" smtClean="0">
                          <a:latin typeface="Cambria Math" panose="02040503050406030204" pitchFamily="18" charset="0"/>
                          <a:ea typeface="Cambria Math" panose="02040503050406030204" pitchFamily="18" charset="0"/>
                        </a:rPr>
                        <m:t>…</m:t>
                      </m:r>
                    </m:oMath>
                  </m:oMathPara>
                </a14:m>
                <a:endParaRPr lang="en-CN" sz="2400" dirty="0"/>
              </a:p>
            </p:txBody>
          </p:sp>
        </mc:Choice>
        <mc:Fallback xmlns="">
          <p:sp>
            <p:nvSpPr>
              <p:cNvPr id="11" name="TextBox 10">
                <a:extLst>
                  <a:ext uri="{FF2B5EF4-FFF2-40B4-BE49-F238E27FC236}">
                    <a16:creationId xmlns:a16="http://schemas.microsoft.com/office/drawing/2014/main" id="{B26B1737-048B-2D40-A53B-6CB2A3CF3C80}"/>
                  </a:ext>
                </a:extLst>
              </p:cNvPr>
              <p:cNvSpPr txBox="1">
                <a:spLocks noRot="1" noChangeAspect="1" noMove="1" noResize="1" noEditPoints="1" noAdjustHandles="1" noChangeArrowheads="1" noChangeShapeType="1" noTextEdit="1"/>
              </p:cNvSpPr>
              <p:nvPr/>
            </p:nvSpPr>
            <p:spPr>
              <a:xfrm>
                <a:off x="1399309" y="5031427"/>
                <a:ext cx="8672946" cy="953274"/>
              </a:xfrm>
              <a:prstGeom prst="rect">
                <a:avLst/>
              </a:prstGeom>
              <a:blipFill>
                <a:blip r:embed="rId4"/>
                <a:stretch>
                  <a:fillRect/>
                </a:stretch>
              </a:blipFill>
            </p:spPr>
            <p:txBody>
              <a:bodyPr/>
              <a:lstStyle/>
              <a:p>
                <a:r>
                  <a:rPr lang="en-CN">
                    <a:noFill/>
                  </a:rPr>
                  <a:t> </a:t>
                </a:r>
              </a:p>
            </p:txBody>
          </p:sp>
        </mc:Fallback>
      </mc:AlternateContent>
    </p:spTree>
    <p:extLst>
      <p:ext uri="{BB962C8B-B14F-4D97-AF65-F5344CB8AC3E}">
        <p14:creationId xmlns:p14="http://schemas.microsoft.com/office/powerpoint/2010/main" val="24332316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16F33AA-7BCF-DE43-A841-17A65849931D}"/>
                  </a:ext>
                </a:extLst>
              </p:cNvPr>
              <p:cNvSpPr txBox="1"/>
              <p:nvPr/>
            </p:nvSpPr>
            <p:spPr>
              <a:xfrm>
                <a:off x="1115291" y="731465"/>
                <a:ext cx="9961418" cy="23520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N" sz="2400" i="1" smtClean="0">
                              <a:latin typeface="Cambria Math" panose="02040503050406030204" pitchFamily="18" charset="0"/>
                            </a:rPr>
                          </m:ctrlPr>
                        </m:fPr>
                        <m:num>
                          <m:r>
                            <a:rPr lang="en-US" sz="2400" b="0" i="1" smtClean="0">
                              <a:latin typeface="Cambria Math" panose="02040503050406030204" pitchFamily="18" charset="0"/>
                            </a:rPr>
                            <m:t>𝑃</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num>
                        <m:den>
                          <m:r>
                            <a:rPr lang="en-US" sz="2400" b="0" i="1" smtClean="0">
                              <a:latin typeface="Cambria Math" panose="02040503050406030204" pitchFamily="18" charset="0"/>
                            </a:rPr>
                            <m:t>𝑃</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den>
                      </m:f>
                      <m:r>
                        <a:rPr lang="en-US" sz="2400" b="0" i="1" smtClean="0">
                          <a:latin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𝑒</m:t>
                          </m:r>
                        </m:e>
                        <m:sup>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𝜎</m:t>
                          </m:r>
                        </m:sup>
                      </m:sSup>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𝑁</m:t>
                                  </m:r>
                                </m:e>
                                <m:sub>
                                  <m:r>
                                    <a:rPr lang="en-US" sz="2400" i="1">
                                      <a:latin typeface="Cambria Math" panose="02040503050406030204" pitchFamily="18" charset="0"/>
                                      <a:ea typeface="Cambria Math" panose="02040503050406030204" pitchFamily="18" charset="0"/>
                                    </a:rPr>
                                    <m:t>1</m:t>
                                  </m:r>
                                </m:sub>
                              </m:sSub>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𝑁</m:t>
                                  </m:r>
                                </m:e>
                                <m:sub>
                                  <m:r>
                                    <a:rPr lang="en-US" sz="2400" i="1">
                                      <a:latin typeface="Cambria Math" panose="02040503050406030204" pitchFamily="18" charset="0"/>
                                      <a:ea typeface="Cambria Math" panose="02040503050406030204" pitchFamily="18" charset="0"/>
                                    </a:rPr>
                                    <m:t>2</m:t>
                                  </m:r>
                                </m:sub>
                              </m:sSub>
                            </m:e>
                          </m:d>
                          <m:sSub>
                            <m:sSubPr>
                              <m:ctrlPr>
                                <a:rPr lang="en-US" sz="2400" i="1">
                                  <a:latin typeface="Cambria Math" panose="02040503050406030204" pitchFamily="18" charset="0"/>
                                  <a:ea typeface="Cambria Math" panose="02040503050406030204" pitchFamily="18" charset="0"/>
                                </a:rPr>
                              </m:ctrlPr>
                            </m:sSubPr>
                            <m:e>
                              <m:d>
                                <m:dPr>
                                  <m:ctrlPr>
                                    <a:rPr lang="en-US" sz="2400" i="1">
                                      <a:latin typeface="Cambria Math" panose="02040503050406030204" pitchFamily="18" charset="0"/>
                                      <a:ea typeface="Cambria Math" panose="02040503050406030204" pitchFamily="18" charset="0"/>
                                    </a:rPr>
                                  </m:ctrlPr>
                                </m:dPr>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𝜕𝜎</m:t>
                                      </m:r>
                                    </m:num>
                                    <m:den>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𝑁</m:t>
                                          </m:r>
                                        </m:e>
                                        <m:sub>
                                          <m:r>
                                            <a:rPr lang="en-US" sz="2400" i="1">
                                              <a:latin typeface="Cambria Math" panose="02040503050406030204" pitchFamily="18" charset="0"/>
                                              <a:ea typeface="Cambria Math" panose="02040503050406030204" pitchFamily="18" charset="0"/>
                                            </a:rPr>
                                            <m:t>0</m:t>
                                          </m:r>
                                        </m:sub>
                                      </m:sSub>
                                    </m:den>
                                  </m:f>
                                </m:e>
                              </m:d>
                            </m:e>
                            <m: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𝑈</m:t>
                                  </m:r>
                                </m:e>
                                <m:sub>
                                  <m:r>
                                    <a:rPr lang="en-US" sz="2400" i="1">
                                      <a:latin typeface="Cambria Math" panose="02040503050406030204" pitchFamily="18" charset="0"/>
                                      <a:ea typeface="Cambria Math" panose="02040503050406030204" pitchFamily="18" charset="0"/>
                                    </a:rPr>
                                    <m:t>0</m:t>
                                  </m:r>
                                </m:sub>
                              </m:sSub>
                            </m:sub>
                          </m:sSub>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𝜀</m:t>
                                  </m:r>
                                </m:e>
                                <m:sub>
                                  <m:r>
                                    <a:rPr lang="en-US" sz="2400" i="1">
                                      <a:latin typeface="Cambria Math" panose="02040503050406030204" pitchFamily="18" charset="0"/>
                                      <a:ea typeface="Cambria Math" panose="02040503050406030204" pitchFamily="18" charset="0"/>
                                    </a:rPr>
                                    <m:t>1</m:t>
                                  </m:r>
                                </m:sub>
                              </m:sSub>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𝜀</m:t>
                                  </m:r>
                                </m:e>
                                <m:sub>
                                  <m:r>
                                    <a:rPr lang="en-US" sz="2400" i="1">
                                      <a:latin typeface="Cambria Math" panose="02040503050406030204" pitchFamily="18" charset="0"/>
                                      <a:ea typeface="Cambria Math" panose="02040503050406030204" pitchFamily="18" charset="0"/>
                                    </a:rPr>
                                    <m:t>2</m:t>
                                  </m:r>
                                </m:sub>
                              </m:sSub>
                            </m:e>
                          </m:d>
                          <m:sSub>
                            <m:sSubPr>
                              <m:ctrlPr>
                                <a:rPr lang="en-US" sz="2400" i="1">
                                  <a:latin typeface="Cambria Math" panose="02040503050406030204" pitchFamily="18" charset="0"/>
                                  <a:ea typeface="Cambria Math" panose="02040503050406030204" pitchFamily="18" charset="0"/>
                                </a:rPr>
                              </m:ctrlPr>
                            </m:sSubPr>
                            <m:e>
                              <m:d>
                                <m:dPr>
                                  <m:ctrlPr>
                                    <a:rPr lang="en-US" sz="2400" i="1">
                                      <a:latin typeface="Cambria Math" panose="02040503050406030204" pitchFamily="18" charset="0"/>
                                      <a:ea typeface="Cambria Math" panose="02040503050406030204" pitchFamily="18" charset="0"/>
                                    </a:rPr>
                                  </m:ctrlPr>
                                </m:dPr>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𝜕𝜎</m:t>
                                      </m:r>
                                    </m:num>
                                    <m:den>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𝑈</m:t>
                                          </m:r>
                                        </m:e>
                                        <m:sub>
                                          <m:r>
                                            <a:rPr lang="en-US" sz="2400" i="1">
                                              <a:latin typeface="Cambria Math" panose="02040503050406030204" pitchFamily="18" charset="0"/>
                                              <a:ea typeface="Cambria Math" panose="02040503050406030204" pitchFamily="18" charset="0"/>
                                            </a:rPr>
                                            <m:t>0</m:t>
                                          </m:r>
                                        </m:sub>
                                      </m:sSub>
                                    </m:den>
                                  </m:f>
                                </m:e>
                              </m:d>
                            </m:e>
                            <m: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𝑁</m:t>
                                  </m:r>
                                </m:e>
                                <m:sub>
                                  <m:r>
                                    <a:rPr lang="en-US" sz="2400" i="1">
                                      <a:latin typeface="Cambria Math" panose="02040503050406030204" pitchFamily="18" charset="0"/>
                                      <a:ea typeface="Cambria Math" panose="02040503050406030204" pitchFamily="18" charset="0"/>
                                    </a:rPr>
                                    <m:t>0</m:t>
                                  </m:r>
                                </m:sub>
                              </m:sSub>
                            </m:sub>
                          </m:sSub>
                          <m:r>
                            <a:rPr lang="en-US" sz="2400" i="1">
                              <a:latin typeface="Cambria Math" panose="02040503050406030204" pitchFamily="18" charset="0"/>
                              <a:ea typeface="Cambria Math" panose="02040503050406030204" pitchFamily="18" charset="0"/>
                            </a:rPr>
                            <m:t>…</m:t>
                          </m:r>
                        </m:sup>
                      </m:sSup>
                    </m:oMath>
                  </m:oMathPara>
                </a14:m>
                <a:endParaRPr lang="en-CN" sz="2400" dirty="0"/>
              </a:p>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𝑒</m:t>
                          </m:r>
                        </m:e>
                        <m:sup>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𝑁</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𝑁</m:t>
                                  </m:r>
                                </m:e>
                                <m:sub>
                                  <m:r>
                                    <a:rPr lang="en-US" sz="2400" b="0" i="1" smtClean="0">
                                      <a:latin typeface="Cambria Math" panose="02040503050406030204" pitchFamily="18" charset="0"/>
                                    </a:rPr>
                                    <m:t>2</m:t>
                                  </m:r>
                                </m:sub>
                              </m:sSub>
                            </m:e>
                          </m:d>
                          <m:f>
                            <m:fPr>
                              <m:ctrlPr>
                                <a:rPr lang="en-US" sz="2400" b="0" i="1" smtClean="0">
                                  <a:latin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𝜇</m:t>
                              </m:r>
                            </m:num>
                            <m:den>
                              <m:r>
                                <a:rPr lang="en-US" sz="2400" b="0" i="1" smtClean="0">
                                  <a:latin typeface="Cambria Math" panose="02040503050406030204" pitchFamily="18" charset="0"/>
                                  <a:ea typeface="Cambria Math" panose="02040503050406030204" pitchFamily="18" charset="0"/>
                                </a:rPr>
                                <m:t>𝜏</m:t>
                              </m:r>
                            </m:den>
                          </m:f>
                          <m:r>
                            <a:rPr lang="en-US" sz="2400" b="0" i="1" smtClean="0">
                              <a:latin typeface="Cambria Math" panose="02040503050406030204" pitchFamily="18" charset="0"/>
                            </a:rPr>
                            <m:t> −</m:t>
                          </m:r>
                          <m:d>
                            <m:dPr>
                              <m:ctrlPr>
                                <a:rPr lang="en-US" sz="2400" b="0" i="1" smtClean="0">
                                  <a:latin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𝜀</m:t>
                                  </m:r>
                                </m:e>
                                <m:sub>
                                  <m:r>
                                    <a:rPr lang="en-US" sz="2400" i="1">
                                      <a:latin typeface="Cambria Math" panose="02040503050406030204" pitchFamily="18" charset="0"/>
                                      <a:ea typeface="Cambria Math" panose="02040503050406030204" pitchFamily="18" charset="0"/>
                                    </a:rPr>
                                    <m:t>1</m:t>
                                  </m:r>
                                </m:sub>
                              </m:sSub>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𝜀</m:t>
                                  </m:r>
                                </m:e>
                                <m:sub>
                                  <m:r>
                                    <a:rPr lang="en-US" sz="2400" i="1">
                                      <a:latin typeface="Cambria Math" panose="02040503050406030204" pitchFamily="18" charset="0"/>
                                      <a:ea typeface="Cambria Math" panose="02040503050406030204" pitchFamily="18" charset="0"/>
                                    </a:rPr>
                                    <m:t>2</m:t>
                                  </m:r>
                                </m:sub>
                              </m:sSub>
                            </m:e>
                          </m:d>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ea typeface="Cambria Math" panose="02040503050406030204" pitchFamily="18" charset="0"/>
                                </a:rPr>
                                <m:t>𝜏</m:t>
                              </m:r>
                            </m:den>
                          </m:f>
                          <m:r>
                            <a:rPr lang="en-US" sz="2400" b="0" i="1" smtClean="0">
                              <a:latin typeface="Cambria Math" panose="02040503050406030204" pitchFamily="18" charset="0"/>
                            </a:rPr>
                            <m:t>…</m:t>
                          </m:r>
                        </m:sup>
                      </m:sSup>
                    </m:oMath>
                  </m:oMathPara>
                </a14:m>
                <a:endParaRPr lang="en-CN" sz="2400" dirty="0"/>
              </a:p>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𝑒</m:t>
                              </m:r>
                            </m:e>
                            <m:sup>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𝑁</m:t>
                                  </m:r>
                                </m:e>
                                <m:sub>
                                  <m:r>
                                    <a:rPr lang="en-US" sz="2400" b="0" i="1" smtClean="0">
                                      <a:latin typeface="Cambria Math" panose="02040503050406030204" pitchFamily="18" charset="0"/>
                                    </a:rPr>
                                    <m:t>1</m:t>
                                  </m:r>
                                </m:sub>
                              </m:sSub>
                              <m:r>
                                <a:rPr lang="en-US" sz="2400" b="0" i="1" smtClean="0">
                                  <a:latin typeface="Cambria Math" panose="02040503050406030204" pitchFamily="18" charset="0"/>
                                  <a:ea typeface="Cambria Math" panose="02040503050406030204" pitchFamily="18" charset="0"/>
                                </a:rPr>
                                <m:t>𝜇</m:t>
                              </m:r>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𝜀</m:t>
                                  </m:r>
                                </m:e>
                                <m:sub>
                                  <m:r>
                                    <a:rPr lang="en-US" sz="2400" b="0" i="1" smtClean="0">
                                      <a:latin typeface="Cambria Math" panose="02040503050406030204" pitchFamily="18" charset="0"/>
                                      <a:ea typeface="Cambria Math" panose="02040503050406030204" pitchFamily="18" charset="0"/>
                                    </a:rPr>
                                    <m:t>1</m:t>
                                  </m:r>
                                </m:sub>
                              </m:sSub>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𝜏</m:t>
                              </m:r>
                            </m:sup>
                          </m:sSup>
                        </m:num>
                        <m:den>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b="0" i="1" smtClean="0">
                                      <a:latin typeface="Cambria Math" panose="02040503050406030204" pitchFamily="18" charset="0"/>
                                    </a:rPr>
                                    <m:t>2</m:t>
                                  </m:r>
                                </m:sub>
                              </m:sSub>
                              <m:r>
                                <a:rPr lang="en-US" sz="2400" i="1">
                                  <a:latin typeface="Cambria Math" panose="02040503050406030204" pitchFamily="18" charset="0"/>
                                  <a:ea typeface="Cambria Math" panose="02040503050406030204" pitchFamily="18" charset="0"/>
                                </a:rPr>
                                <m:t>𝜇</m:t>
                              </m:r>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𝜀</m:t>
                                  </m:r>
                                </m:e>
                                <m:sub>
                                  <m:r>
                                    <a:rPr lang="en-US" sz="2400" b="0" i="1" smtClean="0">
                                      <a:latin typeface="Cambria Math" panose="02040503050406030204" pitchFamily="18" charset="0"/>
                                      <a:ea typeface="Cambria Math" panose="02040503050406030204" pitchFamily="18" charset="0"/>
                                    </a:rPr>
                                    <m:t>2</m:t>
                                  </m:r>
                                </m:sub>
                              </m:sSub>
                              <m: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𝜏</m:t>
                              </m:r>
                            </m:sup>
                          </m:sSup>
                        </m:den>
                      </m:f>
                    </m:oMath>
                  </m:oMathPara>
                </a14:m>
                <a:endParaRPr lang="en-CN" sz="2400" dirty="0"/>
              </a:p>
            </p:txBody>
          </p:sp>
        </mc:Choice>
        <mc:Fallback xmlns="">
          <p:sp>
            <p:nvSpPr>
              <p:cNvPr id="5" name="TextBox 4">
                <a:extLst>
                  <a:ext uri="{FF2B5EF4-FFF2-40B4-BE49-F238E27FC236}">
                    <a16:creationId xmlns:a16="http://schemas.microsoft.com/office/drawing/2014/main" id="{916F33AA-7BCF-DE43-A841-17A65849931D}"/>
                  </a:ext>
                </a:extLst>
              </p:cNvPr>
              <p:cNvSpPr txBox="1">
                <a:spLocks noRot="1" noChangeAspect="1" noMove="1" noResize="1" noEditPoints="1" noAdjustHandles="1" noChangeArrowheads="1" noChangeShapeType="1" noTextEdit="1"/>
              </p:cNvSpPr>
              <p:nvPr/>
            </p:nvSpPr>
            <p:spPr>
              <a:xfrm>
                <a:off x="1115291" y="731465"/>
                <a:ext cx="9961418" cy="2352054"/>
              </a:xfrm>
              <a:prstGeom prst="rect">
                <a:avLst/>
              </a:prstGeom>
              <a:blipFill>
                <a:blip r:embed="rId2"/>
                <a:stretch>
                  <a:fillRect/>
                </a:stretch>
              </a:blipFill>
            </p:spPr>
            <p:txBody>
              <a:bodyPr/>
              <a:lstStyle/>
              <a:p>
                <a:r>
                  <a:rPr lang="en-CN">
                    <a:noFill/>
                  </a:rPr>
                  <a:t> </a:t>
                </a:r>
              </a:p>
            </p:txBody>
          </p:sp>
        </mc:Fallback>
      </mc:AlternateContent>
      <p:sp>
        <p:nvSpPr>
          <p:cNvPr id="6" name="Right Arrow 5">
            <a:extLst>
              <a:ext uri="{FF2B5EF4-FFF2-40B4-BE49-F238E27FC236}">
                <a16:creationId xmlns:a16="http://schemas.microsoft.com/office/drawing/2014/main" id="{4FA62844-2616-5547-BFDD-1B7A72725F9C}"/>
              </a:ext>
            </a:extLst>
          </p:cNvPr>
          <p:cNvSpPr/>
          <p:nvPr/>
        </p:nvSpPr>
        <p:spPr>
          <a:xfrm>
            <a:off x="678873" y="969818"/>
            <a:ext cx="1676400" cy="54032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 name="TextBox 1">
            <a:extLst>
              <a:ext uri="{FF2B5EF4-FFF2-40B4-BE49-F238E27FC236}">
                <a16:creationId xmlns:a16="http://schemas.microsoft.com/office/drawing/2014/main" id="{35D5BDAB-C68A-2A40-9BFF-08FB3958E8AC}"/>
              </a:ext>
            </a:extLst>
          </p:cNvPr>
          <p:cNvSpPr txBox="1"/>
          <p:nvPr/>
        </p:nvSpPr>
        <p:spPr>
          <a:xfrm>
            <a:off x="1115291" y="3657600"/>
            <a:ext cx="4745182" cy="707886"/>
          </a:xfrm>
          <a:prstGeom prst="rect">
            <a:avLst/>
          </a:prstGeom>
          <a:noFill/>
        </p:spPr>
        <p:txBody>
          <a:bodyPr wrap="square" rtlCol="0">
            <a:spAutoFit/>
          </a:bodyPr>
          <a:lstStyle/>
          <a:p>
            <a:r>
              <a:rPr lang="en-CN" sz="4000" dirty="0"/>
              <a:t>Gibbs Factor!</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C3B75A4-902F-CB46-B1E2-55F04B5F6D4A}"/>
                  </a:ext>
                </a:extLst>
              </p:cNvPr>
              <p:cNvSpPr txBox="1"/>
              <p:nvPr/>
            </p:nvSpPr>
            <p:spPr>
              <a:xfrm>
                <a:off x="3048000" y="4601013"/>
                <a:ext cx="6096000" cy="7516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4000" b="0" i="1" smtClean="0">
                              <a:solidFill>
                                <a:srgbClr val="FF0000"/>
                              </a:solidFill>
                              <a:latin typeface="Cambria Math" panose="02040503050406030204" pitchFamily="18" charset="0"/>
                            </a:rPr>
                          </m:ctrlPr>
                        </m:sSupPr>
                        <m:e>
                          <m:r>
                            <a:rPr lang="en-US" sz="4000" b="0" i="1" smtClean="0">
                              <a:solidFill>
                                <a:srgbClr val="FF0000"/>
                              </a:solidFill>
                              <a:latin typeface="Cambria Math" panose="02040503050406030204" pitchFamily="18" charset="0"/>
                            </a:rPr>
                            <m:t>𝑒</m:t>
                          </m:r>
                        </m:e>
                        <m:sup>
                          <m:r>
                            <a:rPr lang="en-US" sz="4000" b="0" i="1" smtClean="0">
                              <a:solidFill>
                                <a:srgbClr val="FF0000"/>
                              </a:solidFill>
                              <a:latin typeface="Cambria Math" panose="02040503050406030204" pitchFamily="18" charset="0"/>
                            </a:rPr>
                            <m:t>(</m:t>
                          </m:r>
                          <m:r>
                            <a:rPr lang="en-US" sz="4000" b="0" i="1" smtClean="0">
                              <a:solidFill>
                                <a:srgbClr val="FF0000"/>
                              </a:solidFill>
                              <a:latin typeface="Cambria Math" panose="02040503050406030204" pitchFamily="18" charset="0"/>
                            </a:rPr>
                            <m:t>𝑁</m:t>
                          </m:r>
                          <m:r>
                            <a:rPr lang="en-US" sz="4000" b="0" i="1" smtClean="0">
                              <a:solidFill>
                                <a:srgbClr val="FF0000"/>
                              </a:solidFill>
                              <a:latin typeface="Cambria Math" panose="02040503050406030204" pitchFamily="18" charset="0"/>
                              <a:ea typeface="Cambria Math" panose="02040503050406030204" pitchFamily="18" charset="0"/>
                            </a:rPr>
                            <m:t>𝜇</m:t>
                          </m:r>
                          <m:r>
                            <a:rPr lang="en-US" sz="4000" b="0" i="1" smtClean="0">
                              <a:solidFill>
                                <a:srgbClr val="FF0000"/>
                              </a:solidFill>
                              <a:latin typeface="Cambria Math" panose="02040503050406030204" pitchFamily="18" charset="0"/>
                              <a:ea typeface="Cambria Math" panose="02040503050406030204" pitchFamily="18" charset="0"/>
                            </a:rPr>
                            <m:t>−</m:t>
                          </m:r>
                          <m:sSub>
                            <m:sSubPr>
                              <m:ctrlPr>
                                <a:rPr lang="en-US" sz="4000" b="0" i="1" smtClean="0">
                                  <a:solidFill>
                                    <a:srgbClr val="FF0000"/>
                                  </a:solidFill>
                                  <a:latin typeface="Cambria Math" panose="02040503050406030204" pitchFamily="18" charset="0"/>
                                  <a:ea typeface="Cambria Math" panose="02040503050406030204" pitchFamily="18" charset="0"/>
                                </a:rPr>
                              </m:ctrlPr>
                            </m:sSubPr>
                            <m:e>
                              <m:r>
                                <a:rPr lang="en-US" sz="4000" b="0" i="1" smtClean="0">
                                  <a:solidFill>
                                    <a:srgbClr val="FF0000"/>
                                  </a:solidFill>
                                  <a:latin typeface="Cambria Math" panose="02040503050406030204" pitchFamily="18" charset="0"/>
                                  <a:ea typeface="Cambria Math" panose="02040503050406030204" pitchFamily="18" charset="0"/>
                                </a:rPr>
                                <m:t>𝜀</m:t>
                              </m:r>
                            </m:e>
                            <m:sub>
                              <m:r>
                                <a:rPr lang="en-US" sz="4000" b="0" i="1" smtClean="0">
                                  <a:solidFill>
                                    <a:srgbClr val="FF0000"/>
                                  </a:solidFill>
                                  <a:latin typeface="Cambria Math" panose="02040503050406030204" pitchFamily="18" charset="0"/>
                                  <a:ea typeface="Cambria Math" panose="02040503050406030204" pitchFamily="18" charset="0"/>
                                </a:rPr>
                                <m:t>𝑠</m:t>
                              </m:r>
                              <m:r>
                                <a:rPr lang="en-US" sz="4000" b="0" i="1"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𝑁</m:t>
                              </m:r>
                              <m:r>
                                <a:rPr lang="en-US" sz="4000" b="0" i="1" smtClean="0">
                                  <a:solidFill>
                                    <a:srgbClr val="FF0000"/>
                                  </a:solidFill>
                                  <a:latin typeface="Cambria Math" panose="02040503050406030204" pitchFamily="18" charset="0"/>
                                  <a:ea typeface="Cambria Math" panose="02040503050406030204" pitchFamily="18" charset="0"/>
                                </a:rPr>
                                <m:t>)</m:t>
                              </m:r>
                            </m:sub>
                          </m:sSub>
                          <m:r>
                            <a:rPr lang="en-US" sz="4000" b="0" i="1" smtClean="0">
                              <a:solidFill>
                                <a:srgbClr val="FF0000"/>
                              </a:solidFill>
                              <a:latin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𝜏</m:t>
                          </m:r>
                        </m:sup>
                      </m:sSup>
                    </m:oMath>
                  </m:oMathPara>
                </a14:m>
                <a:endParaRPr lang="en-CN" sz="4000" dirty="0"/>
              </a:p>
            </p:txBody>
          </p:sp>
        </mc:Choice>
        <mc:Fallback xmlns="">
          <p:sp>
            <p:nvSpPr>
              <p:cNvPr id="12" name="TextBox 11">
                <a:extLst>
                  <a:ext uri="{FF2B5EF4-FFF2-40B4-BE49-F238E27FC236}">
                    <a16:creationId xmlns:a16="http://schemas.microsoft.com/office/drawing/2014/main" id="{8C3B75A4-902F-CB46-B1E2-55F04B5F6D4A}"/>
                  </a:ext>
                </a:extLst>
              </p:cNvPr>
              <p:cNvSpPr txBox="1">
                <a:spLocks noRot="1" noChangeAspect="1" noMove="1" noResize="1" noEditPoints="1" noAdjustHandles="1" noChangeArrowheads="1" noChangeShapeType="1" noTextEdit="1"/>
              </p:cNvSpPr>
              <p:nvPr/>
            </p:nvSpPr>
            <p:spPr>
              <a:xfrm>
                <a:off x="3048000" y="4601013"/>
                <a:ext cx="6096000" cy="751681"/>
              </a:xfrm>
              <a:prstGeom prst="rect">
                <a:avLst/>
              </a:prstGeom>
              <a:blipFill>
                <a:blip r:embed="rId3"/>
                <a:stretch>
                  <a:fillRect/>
                </a:stretch>
              </a:blipFill>
            </p:spPr>
            <p:txBody>
              <a:bodyPr/>
              <a:lstStyle/>
              <a:p>
                <a:r>
                  <a:rPr lang="en-CN">
                    <a:noFill/>
                  </a:rPr>
                  <a:t> </a:t>
                </a:r>
              </a:p>
            </p:txBody>
          </p:sp>
        </mc:Fallback>
      </mc:AlternateContent>
    </p:spTree>
    <p:extLst>
      <p:ext uri="{BB962C8B-B14F-4D97-AF65-F5344CB8AC3E}">
        <p14:creationId xmlns:p14="http://schemas.microsoft.com/office/powerpoint/2010/main" val="6022686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78EC49C-2689-2844-9D92-6B344E2C1619}"/>
              </a:ext>
            </a:extLst>
          </p:cNvPr>
          <p:cNvSpPr txBox="1"/>
          <p:nvPr/>
        </p:nvSpPr>
        <p:spPr>
          <a:xfrm>
            <a:off x="491836" y="332509"/>
            <a:ext cx="10065327" cy="1323439"/>
          </a:xfrm>
          <a:prstGeom prst="rect">
            <a:avLst/>
          </a:prstGeom>
          <a:noFill/>
        </p:spPr>
        <p:txBody>
          <a:bodyPr wrap="square" rtlCol="0">
            <a:spAutoFit/>
          </a:bodyPr>
          <a:lstStyle/>
          <a:p>
            <a:r>
              <a:rPr lang="en-CN" sz="4000" dirty="0"/>
              <a:t>Gibbs Sum=Grand Partition Function</a:t>
            </a:r>
          </a:p>
          <a:p>
            <a:r>
              <a:rPr lang="en-CN" sz="4000" dirty="0">
                <a:solidFill>
                  <a:srgbClr val="FF0000"/>
                </a:solidFill>
              </a:rPr>
              <a:t>Sum over Gibbs Factors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87E2FA2-0757-2B41-A5D8-82F4568E09B1}"/>
                  </a:ext>
                </a:extLst>
              </p:cNvPr>
              <p:cNvSpPr txBox="1"/>
              <p:nvPr/>
            </p:nvSpPr>
            <p:spPr>
              <a:xfrm>
                <a:off x="277092" y="1655948"/>
                <a:ext cx="11333018" cy="184993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CN" sz="4000" i="1" smtClean="0">
                          <a:latin typeface="Cambria Math" panose="02040503050406030204" pitchFamily="18" charset="0"/>
                          <a:ea typeface="Cambria Math" panose="02040503050406030204" pitchFamily="18" charset="0"/>
                        </a:rPr>
                        <m:t>𝒵</m:t>
                      </m:r>
                      <m:d>
                        <m:dPr>
                          <m:ctrlPr>
                            <a:rPr lang="en-US" sz="4000" b="0" i="1" smtClean="0">
                              <a:latin typeface="Cambria Math" panose="02040503050406030204" pitchFamily="18" charset="0"/>
                              <a:ea typeface="Cambria Math" panose="02040503050406030204" pitchFamily="18" charset="0"/>
                            </a:rPr>
                          </m:ctrlPr>
                        </m:dPr>
                        <m:e>
                          <m:r>
                            <a:rPr lang="en-US" sz="4000" b="0" i="1" smtClean="0">
                              <a:latin typeface="Cambria Math" panose="02040503050406030204" pitchFamily="18" charset="0"/>
                              <a:ea typeface="Cambria Math" panose="02040503050406030204" pitchFamily="18" charset="0"/>
                            </a:rPr>
                            <m:t>𝜇</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𝜏</m:t>
                          </m:r>
                        </m:e>
                      </m:d>
                      <m:r>
                        <a:rPr lang="en-US" sz="4000" b="0" i="1" smtClean="0">
                          <a:latin typeface="Cambria Math" panose="02040503050406030204" pitchFamily="18" charset="0"/>
                          <a:ea typeface="Cambria Math" panose="02040503050406030204" pitchFamily="18" charset="0"/>
                        </a:rPr>
                        <m:t>=</m:t>
                      </m:r>
                      <m:nary>
                        <m:naryPr>
                          <m:chr m:val="∑"/>
                          <m:ctrlPr>
                            <a:rPr lang="en-US" sz="4000" b="0" i="1" smtClean="0">
                              <a:latin typeface="Cambria Math" panose="02040503050406030204" pitchFamily="18" charset="0"/>
                              <a:ea typeface="Cambria Math" panose="02040503050406030204" pitchFamily="18" charset="0"/>
                            </a:rPr>
                          </m:ctrlPr>
                        </m:naryPr>
                        <m:sub>
                          <m:r>
                            <m:rPr>
                              <m:brk m:alnAt="23"/>
                            </m:rPr>
                            <a:rPr lang="en-US" sz="4000" b="0" i="1" smtClean="0">
                              <a:latin typeface="Cambria Math" panose="02040503050406030204" pitchFamily="18" charset="0"/>
                              <a:ea typeface="Cambria Math" panose="02040503050406030204" pitchFamily="18" charset="0"/>
                            </a:rPr>
                            <m:t>𝑁</m:t>
                          </m:r>
                          <m:r>
                            <a:rPr lang="en-US" sz="4000" b="0" i="1" smtClean="0">
                              <a:latin typeface="Cambria Math" panose="02040503050406030204" pitchFamily="18" charset="0"/>
                              <a:ea typeface="Cambria Math" panose="02040503050406030204" pitchFamily="18" charset="0"/>
                            </a:rPr>
                            <m:t>=0</m:t>
                          </m:r>
                        </m:sub>
                        <m:sup>
                          <m:r>
                            <a:rPr lang="en-US" sz="4000" b="0" i="1" smtClean="0">
                              <a:latin typeface="Cambria Math" panose="02040503050406030204" pitchFamily="18" charset="0"/>
                              <a:ea typeface="Cambria Math" panose="02040503050406030204" pitchFamily="18" charset="0"/>
                            </a:rPr>
                            <m:t>∞</m:t>
                          </m:r>
                        </m:sup>
                        <m:e>
                          <m:nary>
                            <m:naryPr>
                              <m:chr m:val="∑"/>
                              <m:supHide m:val="on"/>
                              <m:ctrlPr>
                                <a:rPr lang="en-US" sz="4000" b="0" i="1" smtClean="0">
                                  <a:latin typeface="Cambria Math" panose="02040503050406030204" pitchFamily="18" charset="0"/>
                                  <a:ea typeface="Cambria Math" panose="02040503050406030204" pitchFamily="18" charset="0"/>
                                </a:rPr>
                              </m:ctrlPr>
                            </m:naryPr>
                            <m:sub>
                              <m:r>
                                <m:rPr>
                                  <m:brk m:alnAt="7"/>
                                </m:rPr>
                                <a:rPr lang="en-US" sz="4000" b="0" i="1" smtClean="0">
                                  <a:latin typeface="Cambria Math" panose="02040503050406030204" pitchFamily="18" charset="0"/>
                                  <a:ea typeface="Cambria Math" panose="02040503050406030204" pitchFamily="18" charset="0"/>
                                </a:rPr>
                                <m:t>𝑠</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𝑁</m:t>
                              </m:r>
                              <m:r>
                                <a:rPr lang="en-US" sz="4000" b="0" i="1" smtClean="0">
                                  <a:latin typeface="Cambria Math" panose="02040503050406030204" pitchFamily="18" charset="0"/>
                                  <a:ea typeface="Cambria Math" panose="02040503050406030204" pitchFamily="18" charset="0"/>
                                </a:rPr>
                                <m:t>)</m:t>
                              </m:r>
                            </m:sub>
                            <m:sup/>
                            <m:e>
                              <m:sSup>
                                <m:sSupPr>
                                  <m:ctrlPr>
                                    <a:rPr lang="en-US" sz="4000" b="0" i="1" smtClean="0">
                                      <a:latin typeface="Cambria Math" panose="02040503050406030204" pitchFamily="18" charset="0"/>
                                      <a:ea typeface="Cambria Math" panose="02040503050406030204" pitchFamily="18" charset="0"/>
                                    </a:rPr>
                                  </m:ctrlPr>
                                </m:sSupPr>
                                <m:e>
                                  <m:r>
                                    <a:rPr lang="en-US" sz="4000" b="0" i="1" smtClean="0">
                                      <a:latin typeface="Cambria Math" panose="02040503050406030204" pitchFamily="18" charset="0"/>
                                      <a:ea typeface="Cambria Math" panose="02040503050406030204" pitchFamily="18" charset="0"/>
                                    </a:rPr>
                                    <m:t>𝑒</m:t>
                                  </m:r>
                                </m:e>
                                <m:sup>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𝑁</m:t>
                                  </m:r>
                                  <m:r>
                                    <a:rPr lang="en-US" sz="4000" b="0" i="1" smtClean="0">
                                      <a:latin typeface="Cambria Math" panose="02040503050406030204" pitchFamily="18" charset="0"/>
                                      <a:ea typeface="Cambria Math" panose="02040503050406030204" pitchFamily="18" charset="0"/>
                                    </a:rPr>
                                    <m:t>𝜇</m:t>
                                  </m:r>
                                  <m:r>
                                    <a:rPr lang="en-US" sz="4000" b="0" i="1" smtClean="0">
                                      <a:latin typeface="Cambria Math" panose="02040503050406030204" pitchFamily="18" charset="0"/>
                                      <a:ea typeface="Cambria Math" panose="02040503050406030204" pitchFamily="18" charset="0"/>
                                    </a:rPr>
                                    <m:t>−</m:t>
                                  </m:r>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𝜀</m:t>
                                      </m:r>
                                    </m:e>
                                    <m:sub>
                                      <m:r>
                                        <a:rPr lang="en-US" sz="4000" b="0" i="1" smtClean="0">
                                          <a:latin typeface="Cambria Math" panose="02040503050406030204" pitchFamily="18" charset="0"/>
                                          <a:ea typeface="Cambria Math" panose="02040503050406030204" pitchFamily="18" charset="0"/>
                                        </a:rPr>
                                        <m:t>𝑠</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𝑁</m:t>
                                      </m:r>
                                      <m:r>
                                        <a:rPr lang="en-US" sz="4000" b="0" i="1" smtClean="0">
                                          <a:latin typeface="Cambria Math" panose="02040503050406030204" pitchFamily="18" charset="0"/>
                                          <a:ea typeface="Cambria Math" panose="02040503050406030204" pitchFamily="18" charset="0"/>
                                        </a:rPr>
                                        <m:t>)</m:t>
                                      </m:r>
                                    </m:sub>
                                  </m:sSub>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𝜏</m:t>
                                  </m:r>
                                </m:sup>
                              </m:sSup>
                            </m:e>
                          </m:nary>
                          <m:r>
                            <a:rPr lang="en-US" sz="4000" b="0" i="1" smtClean="0">
                              <a:latin typeface="Cambria Math" panose="02040503050406030204" pitchFamily="18" charset="0"/>
                              <a:ea typeface="Cambria Math" panose="02040503050406030204" pitchFamily="18" charset="0"/>
                            </a:rPr>
                            <m:t>=</m:t>
                          </m:r>
                          <m:nary>
                            <m:naryPr>
                              <m:chr m:val="∑"/>
                              <m:supHide m:val="on"/>
                              <m:ctrlPr>
                                <a:rPr lang="en-US" sz="4000" b="0" i="1" smtClean="0">
                                  <a:latin typeface="Cambria Math" panose="02040503050406030204" pitchFamily="18" charset="0"/>
                                  <a:ea typeface="Cambria Math" panose="02040503050406030204" pitchFamily="18" charset="0"/>
                                </a:rPr>
                              </m:ctrlPr>
                            </m:naryPr>
                            <m:sub>
                              <m:r>
                                <m:rPr>
                                  <m:brk m:alnAt="7"/>
                                </m:rPr>
                                <a:rPr lang="en-US" sz="4000" b="0" i="1" smtClean="0">
                                  <a:latin typeface="Cambria Math" panose="02040503050406030204" pitchFamily="18" charset="0"/>
                                  <a:ea typeface="Cambria Math" panose="02040503050406030204" pitchFamily="18" charset="0"/>
                                </a:rPr>
                                <m:t>𝐴</m:t>
                              </m:r>
                              <m:r>
                                <a:rPr lang="en-US" sz="4000" b="0" i="1" smtClean="0">
                                  <a:latin typeface="Cambria Math" panose="02040503050406030204" pitchFamily="18" charset="0"/>
                                  <a:ea typeface="Cambria Math" panose="02040503050406030204" pitchFamily="18" charset="0"/>
                                </a:rPr>
                                <m:t>𝑆𝑁</m:t>
                              </m:r>
                            </m:sub>
                            <m:sup/>
                            <m:e>
                              <m:sSup>
                                <m:sSupPr>
                                  <m:ctrlPr>
                                    <a:rPr lang="en-US" sz="4000" i="1">
                                      <a:latin typeface="Cambria Math" panose="02040503050406030204" pitchFamily="18" charset="0"/>
                                      <a:ea typeface="Cambria Math" panose="02040503050406030204" pitchFamily="18" charset="0"/>
                                    </a:rPr>
                                  </m:ctrlPr>
                                </m:sSupPr>
                                <m:e>
                                  <m:r>
                                    <a:rPr lang="en-US" sz="4000" i="1">
                                      <a:latin typeface="Cambria Math" panose="02040503050406030204" pitchFamily="18" charset="0"/>
                                      <a:ea typeface="Cambria Math" panose="02040503050406030204" pitchFamily="18" charset="0"/>
                                    </a:rPr>
                                    <m:t>𝑒</m:t>
                                  </m:r>
                                </m:e>
                                <m:sup>
                                  <m:r>
                                    <a:rPr lang="en-US" sz="4000" i="1">
                                      <a:latin typeface="Cambria Math" panose="02040503050406030204" pitchFamily="18" charset="0"/>
                                      <a:ea typeface="Cambria Math" panose="02040503050406030204" pitchFamily="18" charset="0"/>
                                    </a:rPr>
                                    <m:t>(</m:t>
                                  </m:r>
                                  <m:r>
                                    <a:rPr lang="en-US" sz="4000" i="1">
                                      <a:latin typeface="Cambria Math" panose="02040503050406030204" pitchFamily="18" charset="0"/>
                                      <a:ea typeface="Cambria Math" panose="02040503050406030204" pitchFamily="18" charset="0"/>
                                    </a:rPr>
                                    <m:t>𝑁</m:t>
                                  </m:r>
                                  <m:r>
                                    <a:rPr lang="en-US" sz="4000" i="1">
                                      <a:latin typeface="Cambria Math" panose="02040503050406030204" pitchFamily="18" charset="0"/>
                                      <a:ea typeface="Cambria Math" panose="02040503050406030204" pitchFamily="18" charset="0"/>
                                    </a:rPr>
                                    <m:t>𝜇</m:t>
                                  </m:r>
                                  <m:r>
                                    <a:rPr lang="en-US" sz="4000" i="1">
                                      <a:latin typeface="Cambria Math" panose="02040503050406030204" pitchFamily="18" charset="0"/>
                                      <a:ea typeface="Cambria Math" panose="02040503050406030204" pitchFamily="18" charset="0"/>
                                    </a:rPr>
                                    <m:t>−</m:t>
                                  </m:r>
                                  <m:sSub>
                                    <m:sSubPr>
                                      <m:ctrlPr>
                                        <a:rPr lang="en-US" sz="4000" i="1">
                                          <a:latin typeface="Cambria Math" panose="02040503050406030204" pitchFamily="18" charset="0"/>
                                          <a:ea typeface="Cambria Math" panose="02040503050406030204" pitchFamily="18" charset="0"/>
                                        </a:rPr>
                                      </m:ctrlPr>
                                    </m:sSubPr>
                                    <m:e>
                                      <m:r>
                                        <a:rPr lang="en-US" sz="4000" i="1">
                                          <a:latin typeface="Cambria Math" panose="02040503050406030204" pitchFamily="18" charset="0"/>
                                          <a:ea typeface="Cambria Math" panose="02040503050406030204" pitchFamily="18" charset="0"/>
                                        </a:rPr>
                                        <m:t>𝜀</m:t>
                                      </m:r>
                                    </m:e>
                                    <m:sub>
                                      <m:r>
                                        <a:rPr lang="en-US" sz="4000" i="1">
                                          <a:latin typeface="Cambria Math" panose="02040503050406030204" pitchFamily="18" charset="0"/>
                                          <a:ea typeface="Cambria Math" panose="02040503050406030204" pitchFamily="18" charset="0"/>
                                        </a:rPr>
                                        <m:t>𝑠</m:t>
                                      </m:r>
                                      <m:r>
                                        <a:rPr lang="en-US" sz="4000" i="1">
                                          <a:latin typeface="Cambria Math" panose="02040503050406030204" pitchFamily="18" charset="0"/>
                                          <a:ea typeface="Cambria Math" panose="02040503050406030204" pitchFamily="18" charset="0"/>
                                        </a:rPr>
                                        <m:t>(</m:t>
                                      </m:r>
                                      <m:r>
                                        <a:rPr lang="en-US" sz="4000" i="1">
                                          <a:latin typeface="Cambria Math" panose="02040503050406030204" pitchFamily="18" charset="0"/>
                                          <a:ea typeface="Cambria Math" panose="02040503050406030204" pitchFamily="18" charset="0"/>
                                        </a:rPr>
                                        <m:t>𝑁</m:t>
                                      </m:r>
                                      <m:r>
                                        <a:rPr lang="en-US" sz="4000" i="1">
                                          <a:latin typeface="Cambria Math" panose="02040503050406030204" pitchFamily="18" charset="0"/>
                                          <a:ea typeface="Cambria Math" panose="02040503050406030204" pitchFamily="18" charset="0"/>
                                        </a:rPr>
                                        <m:t>)</m:t>
                                      </m:r>
                                    </m:sub>
                                  </m:sSub>
                                  <m:r>
                                    <a:rPr lang="en-US" sz="4000" i="1">
                                      <a:latin typeface="Cambria Math" panose="02040503050406030204" pitchFamily="18" charset="0"/>
                                      <a:ea typeface="Cambria Math" panose="02040503050406030204" pitchFamily="18" charset="0"/>
                                    </a:rPr>
                                    <m:t>)/</m:t>
                                  </m:r>
                                  <m:r>
                                    <a:rPr lang="en-US" sz="4000" i="1">
                                      <a:latin typeface="Cambria Math" panose="02040503050406030204" pitchFamily="18" charset="0"/>
                                      <a:ea typeface="Cambria Math" panose="02040503050406030204" pitchFamily="18" charset="0"/>
                                    </a:rPr>
                                    <m:t>𝜏</m:t>
                                  </m:r>
                                </m:sup>
                              </m:sSup>
                            </m:e>
                          </m:nary>
                        </m:e>
                      </m:nary>
                    </m:oMath>
                  </m:oMathPara>
                </a14:m>
                <a:endParaRPr lang="en-CN" sz="4000" dirty="0"/>
              </a:p>
            </p:txBody>
          </p:sp>
        </mc:Choice>
        <mc:Fallback xmlns="">
          <p:sp>
            <p:nvSpPr>
              <p:cNvPr id="6" name="TextBox 5">
                <a:extLst>
                  <a:ext uri="{FF2B5EF4-FFF2-40B4-BE49-F238E27FC236}">
                    <a16:creationId xmlns:a16="http://schemas.microsoft.com/office/drawing/2014/main" id="{287E2FA2-0757-2B41-A5D8-82F4568E09B1}"/>
                  </a:ext>
                </a:extLst>
              </p:cNvPr>
              <p:cNvSpPr txBox="1">
                <a:spLocks noRot="1" noChangeAspect="1" noMove="1" noResize="1" noEditPoints="1" noAdjustHandles="1" noChangeArrowheads="1" noChangeShapeType="1" noTextEdit="1"/>
              </p:cNvSpPr>
              <p:nvPr/>
            </p:nvSpPr>
            <p:spPr>
              <a:xfrm>
                <a:off x="277092" y="1655948"/>
                <a:ext cx="11333018" cy="1849930"/>
              </a:xfrm>
              <a:prstGeom prst="rect">
                <a:avLst/>
              </a:prstGeom>
              <a:blipFill>
                <a:blip r:embed="rId2"/>
                <a:stretch>
                  <a:fillRect t="-107534" b="-158219"/>
                </a:stretch>
              </a:blipFill>
            </p:spPr>
            <p:txBody>
              <a:bodyPr/>
              <a:lstStyle/>
              <a:p>
                <a:r>
                  <a:rPr lang="en-CN">
                    <a:noFill/>
                  </a:rPr>
                  <a:t> </a:t>
                </a:r>
              </a:p>
            </p:txBody>
          </p:sp>
        </mc:Fallback>
      </mc:AlternateContent>
      <p:cxnSp>
        <p:nvCxnSpPr>
          <p:cNvPr id="8" name="Straight Arrow Connector 7">
            <a:extLst>
              <a:ext uri="{FF2B5EF4-FFF2-40B4-BE49-F238E27FC236}">
                <a16:creationId xmlns:a16="http://schemas.microsoft.com/office/drawing/2014/main" id="{2A14A4AC-5694-1D4B-A94E-8C5410821476}"/>
              </a:ext>
            </a:extLst>
          </p:cNvPr>
          <p:cNvCxnSpPr/>
          <p:nvPr/>
        </p:nvCxnSpPr>
        <p:spPr>
          <a:xfrm flipH="1" flipV="1">
            <a:off x="8257309" y="3505878"/>
            <a:ext cx="1066800" cy="595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C09D15C-EB95-E641-98C6-AEE7E7648646}"/>
              </a:ext>
            </a:extLst>
          </p:cNvPr>
          <p:cNvSpPr txBox="1"/>
          <p:nvPr/>
        </p:nvSpPr>
        <p:spPr>
          <a:xfrm>
            <a:off x="9324109" y="3643745"/>
            <a:ext cx="2590800" cy="369332"/>
          </a:xfrm>
          <a:prstGeom prst="rect">
            <a:avLst/>
          </a:prstGeom>
          <a:noFill/>
        </p:spPr>
        <p:txBody>
          <a:bodyPr wrap="square" rtlCol="0">
            <a:spAutoFit/>
          </a:bodyPr>
          <a:lstStyle/>
          <a:p>
            <a:r>
              <a:rPr lang="en-CN" dirty="0"/>
              <a:t>All States and Numbers</a:t>
            </a:r>
          </a:p>
        </p:txBody>
      </p:sp>
      <p:sp>
        <p:nvSpPr>
          <p:cNvPr id="10" name="TextBox 9">
            <a:extLst>
              <a:ext uri="{FF2B5EF4-FFF2-40B4-BE49-F238E27FC236}">
                <a16:creationId xmlns:a16="http://schemas.microsoft.com/office/drawing/2014/main" id="{FF74A812-4BFF-B440-A3FA-F59FA2AF5805}"/>
              </a:ext>
            </a:extLst>
          </p:cNvPr>
          <p:cNvSpPr txBox="1"/>
          <p:nvPr/>
        </p:nvSpPr>
        <p:spPr>
          <a:xfrm>
            <a:off x="623455" y="4100945"/>
            <a:ext cx="8395854" cy="369332"/>
          </a:xfrm>
          <a:prstGeom prst="rect">
            <a:avLst/>
          </a:prstGeom>
          <a:noFill/>
        </p:spPr>
        <p:txBody>
          <a:bodyPr wrap="square" rtlCol="0">
            <a:spAutoFit/>
          </a:bodyPr>
          <a:lstStyle/>
          <a:p>
            <a:r>
              <a:rPr lang="en-CN" dirty="0"/>
              <a:t>Probability of having N particles, and being in the state “s”</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7D13E06-F7D9-F347-9768-1CAE440310F6}"/>
                  </a:ext>
                </a:extLst>
              </p:cNvPr>
              <p:cNvSpPr txBox="1"/>
              <p:nvPr/>
            </p:nvSpPr>
            <p:spPr>
              <a:xfrm>
                <a:off x="2493818" y="4696691"/>
                <a:ext cx="4655127" cy="66704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𝑠</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𝑁</m:t>
                              </m:r>
                              <m:r>
                                <a:rPr lang="en-US" i="1">
                                  <a:latin typeface="Cambria Math" panose="02040503050406030204" pitchFamily="18" charset="0"/>
                                  <a:ea typeface="Cambria Math" panose="02040503050406030204" pitchFamily="18" charset="0"/>
                                </a:rPr>
                                <m:t>𝜇</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𝜀</m:t>
                                  </m:r>
                                </m:e>
                                <m:sub>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𝑁</m:t>
                                  </m:r>
                                  <m:r>
                                    <a:rPr lang="en-US" i="1">
                                      <a:latin typeface="Cambria Math" panose="02040503050406030204" pitchFamily="18" charset="0"/>
                                      <a:ea typeface="Cambria Math" panose="02040503050406030204" pitchFamily="18" charset="0"/>
                                    </a:rPr>
                                    <m:t>)</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𝜏</m:t>
                              </m:r>
                            </m:sup>
                          </m:sSup>
                        </m:num>
                        <m:den>
                          <m:r>
                            <a:rPr lang="en-US" b="0" i="1" smtClean="0">
                              <a:latin typeface="Cambria Math" panose="02040503050406030204" pitchFamily="18" charset="0"/>
                              <a:ea typeface="Cambria Math" panose="02040503050406030204" pitchFamily="18" charset="0"/>
                            </a:rPr>
                            <m:t>𝒵</m:t>
                          </m:r>
                        </m:den>
                      </m:f>
                    </m:oMath>
                  </m:oMathPara>
                </a14:m>
                <a:endParaRPr lang="en-CN" dirty="0"/>
              </a:p>
            </p:txBody>
          </p:sp>
        </mc:Choice>
        <mc:Fallback xmlns="">
          <p:sp>
            <p:nvSpPr>
              <p:cNvPr id="11" name="TextBox 10">
                <a:extLst>
                  <a:ext uri="{FF2B5EF4-FFF2-40B4-BE49-F238E27FC236}">
                    <a16:creationId xmlns:a16="http://schemas.microsoft.com/office/drawing/2014/main" id="{C7D13E06-F7D9-F347-9768-1CAE440310F6}"/>
                  </a:ext>
                </a:extLst>
              </p:cNvPr>
              <p:cNvSpPr txBox="1">
                <a:spLocks noRot="1" noChangeAspect="1" noMove="1" noResize="1" noEditPoints="1" noAdjustHandles="1" noChangeArrowheads="1" noChangeShapeType="1" noTextEdit="1"/>
              </p:cNvSpPr>
              <p:nvPr/>
            </p:nvSpPr>
            <p:spPr>
              <a:xfrm>
                <a:off x="2493818" y="4696691"/>
                <a:ext cx="4655127" cy="667042"/>
              </a:xfrm>
              <a:prstGeom prst="rect">
                <a:avLst/>
              </a:prstGeom>
              <a:blipFill>
                <a:blip r:embed="rId3"/>
                <a:stretch>
                  <a:fillRect b="-3704"/>
                </a:stretch>
              </a:blipFill>
            </p:spPr>
            <p:txBody>
              <a:bodyPr/>
              <a:lstStyle/>
              <a:p>
                <a:r>
                  <a:rPr lang="en-CN">
                    <a:noFill/>
                  </a:rPr>
                  <a:t> </a:t>
                </a:r>
              </a:p>
            </p:txBody>
          </p:sp>
        </mc:Fallback>
      </mc:AlternateContent>
      <p:sp>
        <p:nvSpPr>
          <p:cNvPr id="12" name="TextBox 11">
            <a:extLst>
              <a:ext uri="{FF2B5EF4-FFF2-40B4-BE49-F238E27FC236}">
                <a16:creationId xmlns:a16="http://schemas.microsoft.com/office/drawing/2014/main" id="{E4B2283B-6D92-4A46-AAE9-41D6B81BBF96}"/>
              </a:ext>
            </a:extLst>
          </p:cNvPr>
          <p:cNvSpPr txBox="1"/>
          <p:nvPr/>
        </p:nvSpPr>
        <p:spPr>
          <a:xfrm>
            <a:off x="623455" y="5766209"/>
            <a:ext cx="8395854" cy="369332"/>
          </a:xfrm>
          <a:prstGeom prst="rect">
            <a:avLst/>
          </a:prstGeom>
          <a:noFill/>
        </p:spPr>
        <p:txBody>
          <a:bodyPr wrap="square" rtlCol="0">
            <a:spAutoFit/>
          </a:bodyPr>
          <a:lstStyle/>
          <a:p>
            <a:r>
              <a:rPr lang="en-CN" dirty="0"/>
              <a:t>normalized</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F6CBD07-C45E-2D45-A556-614BBC224D32}"/>
                  </a:ext>
                </a:extLst>
              </p:cNvPr>
              <p:cNvSpPr txBox="1"/>
              <p:nvPr/>
            </p:nvSpPr>
            <p:spPr>
              <a:xfrm>
                <a:off x="3366654" y="5766209"/>
                <a:ext cx="4502727" cy="8086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CN" i="1" smtClean="0">
                              <a:latin typeface="Cambria Math" panose="02040503050406030204" pitchFamily="18" charset="0"/>
                            </a:rPr>
                          </m:ctrlPr>
                        </m:naryPr>
                        <m:sub>
                          <m:r>
                            <m:rPr>
                              <m:brk m:alnAt="7"/>
                            </m:rPr>
                            <a:rPr lang="en-US" b="0" i="1" smtClean="0">
                              <a:latin typeface="Cambria Math" panose="02040503050406030204" pitchFamily="18" charset="0"/>
                            </a:rPr>
                            <m:t>𝐴</m:t>
                          </m:r>
                          <m:r>
                            <a:rPr lang="en-US" b="0" i="1" smtClean="0">
                              <a:latin typeface="Cambria Math" panose="02040503050406030204" pitchFamily="18" charset="0"/>
                            </a:rPr>
                            <m:t>𝑆𝑁</m:t>
                          </m:r>
                        </m:sub>
                        <m:sup/>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𝑠</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𝐴</m:t>
                              </m:r>
                              <m:r>
                                <a:rPr lang="en-US" b="0" i="1" smtClean="0">
                                  <a:latin typeface="Cambria Math" panose="02040503050406030204" pitchFamily="18" charset="0"/>
                                </a:rPr>
                                <m:t>𝑆𝑁</m:t>
                              </m:r>
                            </m:sub>
                            <m:sup/>
                            <m:e>
                              <m:f>
                                <m:fPr>
                                  <m:ctrlPr>
                                    <a:rPr lang="en-US" i="1">
                                      <a:latin typeface="Cambria Math" panose="02040503050406030204" pitchFamily="18" charset="0"/>
                                    </a:rPr>
                                  </m:ctrlPr>
                                </m:fPr>
                                <m:num>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𝑁</m:t>
                                      </m:r>
                                      <m:r>
                                        <a:rPr lang="en-US" i="1">
                                          <a:latin typeface="Cambria Math" panose="02040503050406030204" pitchFamily="18" charset="0"/>
                                          <a:ea typeface="Cambria Math" panose="02040503050406030204" pitchFamily="18" charset="0"/>
                                        </a:rPr>
                                        <m:t>𝜇</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𝜀</m:t>
                                          </m:r>
                                        </m:e>
                                        <m:sub>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𝑁</m:t>
                                          </m:r>
                                          <m:r>
                                            <a:rPr lang="en-US" i="1">
                                              <a:latin typeface="Cambria Math" panose="02040503050406030204" pitchFamily="18" charset="0"/>
                                              <a:ea typeface="Cambria Math" panose="02040503050406030204" pitchFamily="18" charset="0"/>
                                            </a:rPr>
                                            <m:t>)</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𝜏</m:t>
                                      </m:r>
                                    </m:sup>
                                  </m:sSup>
                                </m:num>
                                <m:den>
                                  <m:r>
                                    <a:rPr lang="en-US" i="1">
                                      <a:latin typeface="Cambria Math" panose="02040503050406030204" pitchFamily="18" charset="0"/>
                                      <a:ea typeface="Cambria Math" panose="02040503050406030204" pitchFamily="18" charset="0"/>
                                    </a:rPr>
                                    <m:t>𝒵</m:t>
                                  </m:r>
                                </m:den>
                              </m:f>
                            </m:e>
                          </m:nary>
                        </m:e>
                      </m:nary>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𝒵</m:t>
                          </m:r>
                        </m:num>
                        <m:den>
                          <m:r>
                            <a:rPr lang="en-US" i="1">
                              <a:latin typeface="Cambria Math" panose="02040503050406030204" pitchFamily="18" charset="0"/>
                              <a:ea typeface="Cambria Math" panose="02040503050406030204" pitchFamily="18" charset="0"/>
                            </a:rPr>
                            <m:t>𝒵</m:t>
                          </m:r>
                        </m:den>
                      </m:f>
                      <m:r>
                        <a:rPr lang="en-US" b="0" i="1" smtClean="0">
                          <a:latin typeface="Cambria Math" panose="02040503050406030204" pitchFamily="18" charset="0"/>
                        </a:rPr>
                        <m:t>=1</m:t>
                      </m:r>
                    </m:oMath>
                  </m:oMathPara>
                </a14:m>
                <a:endParaRPr lang="en-CN" dirty="0"/>
              </a:p>
            </p:txBody>
          </p:sp>
        </mc:Choice>
        <mc:Fallback xmlns="">
          <p:sp>
            <p:nvSpPr>
              <p:cNvPr id="13" name="TextBox 12">
                <a:extLst>
                  <a:ext uri="{FF2B5EF4-FFF2-40B4-BE49-F238E27FC236}">
                    <a16:creationId xmlns:a16="http://schemas.microsoft.com/office/drawing/2014/main" id="{7F6CBD07-C45E-2D45-A556-614BBC224D32}"/>
                  </a:ext>
                </a:extLst>
              </p:cNvPr>
              <p:cNvSpPr txBox="1">
                <a:spLocks noRot="1" noChangeAspect="1" noMove="1" noResize="1" noEditPoints="1" noAdjustHandles="1" noChangeArrowheads="1" noChangeShapeType="1" noTextEdit="1"/>
              </p:cNvSpPr>
              <p:nvPr/>
            </p:nvSpPr>
            <p:spPr>
              <a:xfrm>
                <a:off x="3366654" y="5766209"/>
                <a:ext cx="4502727" cy="808683"/>
              </a:xfrm>
              <a:prstGeom prst="rect">
                <a:avLst/>
              </a:prstGeom>
              <a:blipFill>
                <a:blip r:embed="rId4"/>
                <a:stretch>
                  <a:fillRect l="-11236" t="-110938" b="-164063"/>
                </a:stretch>
              </a:blipFill>
            </p:spPr>
            <p:txBody>
              <a:bodyPr/>
              <a:lstStyle/>
              <a:p>
                <a:r>
                  <a:rPr lang="en-CN">
                    <a:noFill/>
                  </a:rPr>
                  <a:t> </a:t>
                </a:r>
              </a:p>
            </p:txBody>
          </p:sp>
        </mc:Fallback>
      </mc:AlternateContent>
    </p:spTree>
    <p:extLst>
      <p:ext uri="{BB962C8B-B14F-4D97-AF65-F5344CB8AC3E}">
        <p14:creationId xmlns:p14="http://schemas.microsoft.com/office/powerpoint/2010/main" val="2087137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C4B47A9-1BE2-7F4F-AC89-B30974256B6D}"/>
                  </a:ext>
                </a:extLst>
              </p:cNvPr>
              <p:cNvSpPr txBox="1"/>
              <p:nvPr/>
            </p:nvSpPr>
            <p:spPr>
              <a:xfrm>
                <a:off x="443345" y="387927"/>
                <a:ext cx="11111346" cy="5912965"/>
              </a:xfrm>
              <a:prstGeom prst="rect">
                <a:avLst/>
              </a:prstGeom>
              <a:noFill/>
            </p:spPr>
            <p:txBody>
              <a:bodyPr wrap="square" rtlCol="0">
                <a:spAutoFit/>
              </a:bodyPr>
              <a:lstStyle/>
              <a:p>
                <a:r>
                  <a:rPr lang="en-CN" dirty="0"/>
                  <a:t>平均值</a:t>
                </a:r>
                <a:r>
                  <a:rPr lang="zh-CN" altLang="en-US" dirty="0"/>
                  <a:t>：</a:t>
                </a:r>
                <a:r>
                  <a:rPr lang="en-US" altLang="zh-CN" dirty="0"/>
                  <a:t>A average values over the system in diffusive and thermal contact with a </a:t>
                </a:r>
                <a:r>
                  <a:rPr lang="en-US" altLang="zh-CN" dirty="0" err="1"/>
                  <a:t>reserioir</a:t>
                </a:r>
                <a:endParaRPr lang="en-US" altLang="zh-CN" dirty="0"/>
              </a:p>
              <a:p>
                <a:endParaRPr lang="en-US" dirty="0"/>
              </a:p>
              <a:p>
                <a:pPr algn="ctr"/>
                <a14:m>
                  <m:oMathPara xmlns:m="http://schemas.openxmlformats.org/officeDocument/2006/math">
                    <m:oMathParaPr>
                      <m:jc m:val="centerGroup"/>
                    </m:oMathParaPr>
                    <m:oMath xmlns:m="http://schemas.openxmlformats.org/officeDocument/2006/math">
                      <m:d>
                        <m:dPr>
                          <m:begChr m:val="⟨"/>
                          <m:endChr m:val="⟩"/>
                          <m:ctrlPr>
                            <a:rPr lang="en-CN" i="1" smtClean="0">
                              <a:latin typeface="Cambria Math" panose="02040503050406030204" pitchFamily="18" charset="0"/>
                            </a:rPr>
                          </m:ctrlPr>
                        </m:dPr>
                        <m:e>
                          <m:r>
                            <a:rPr lang="en-US" b="0" i="1" smtClean="0">
                              <a:latin typeface="Cambria Math" panose="02040503050406030204" pitchFamily="18" charset="0"/>
                            </a:rPr>
                            <m:t>𝑋</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𝐴</m:t>
                          </m:r>
                          <m:r>
                            <a:rPr lang="en-US" b="0" i="1" smtClean="0">
                              <a:latin typeface="Cambria Math" panose="02040503050406030204" pitchFamily="18" charset="0"/>
                            </a:rPr>
                            <m:t>𝑆𝑁</m:t>
                          </m:r>
                        </m:sub>
                        <m:sup/>
                        <m:e>
                          <m:r>
                            <a:rPr lang="en-US" b="0" i="1" smtClean="0">
                              <a:latin typeface="Cambria Math" panose="02040503050406030204" pitchFamily="18" charset="0"/>
                            </a:rPr>
                            <m:t>𝑋</m:t>
                          </m:r>
                          <m:d>
                            <m:dPr>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e>
                          </m:d>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rPr>
                            <m:t>)</m:t>
                          </m:r>
                        </m:e>
                      </m:nary>
                    </m:oMath>
                  </m:oMathPara>
                </a14:m>
                <a:endParaRPr lang="en-CN" dirty="0"/>
              </a:p>
              <a:p>
                <a:r>
                  <a:rPr lang="en-CN" dirty="0"/>
                  <a:t>Notice that both the energy and the number of particles now are fluctuating quantities!!</a:t>
                </a:r>
              </a:p>
              <a:p>
                <a:endParaRPr lang="en-CN" dirty="0"/>
              </a:p>
              <a:p>
                <a:r>
                  <a:rPr lang="en-CN" dirty="0">
                    <a:solidFill>
                      <a:srgbClr val="FF0000"/>
                    </a:solidFill>
                  </a:rPr>
                  <a:t>Average number of particles</a:t>
                </a:r>
              </a:p>
              <a:p>
                <a:pPr algn="ctr"/>
                <a14:m>
                  <m:oMathPara xmlns:m="http://schemas.openxmlformats.org/officeDocument/2006/math">
                    <m:oMathParaPr>
                      <m:jc m:val="centerGroup"/>
                    </m:oMathParaPr>
                    <m:oMath xmlns:m="http://schemas.openxmlformats.org/officeDocument/2006/math">
                      <m:d>
                        <m:dPr>
                          <m:begChr m:val="⟨"/>
                          <m:endChr m:val="⟩"/>
                          <m:ctrlPr>
                            <a:rPr lang="en-CN"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𝑁</m:t>
                          </m:r>
                        </m:e>
                      </m:d>
                      <m:r>
                        <a:rPr lang="en-US" b="0" i="1" smtClean="0">
                          <a:solidFill>
                            <a:schemeClr val="tx1"/>
                          </a:solidFill>
                          <a:latin typeface="Cambria Math" panose="02040503050406030204" pitchFamily="18" charset="0"/>
                        </a:rPr>
                        <m:t>=</m:t>
                      </m:r>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1</m:t>
                          </m:r>
                        </m:num>
                        <m:den>
                          <m:r>
                            <a:rPr lang="en-US" b="0" i="1" smtClean="0">
                              <a:solidFill>
                                <a:schemeClr val="tx1"/>
                              </a:solidFill>
                              <a:latin typeface="Cambria Math" panose="02040503050406030204" pitchFamily="18" charset="0"/>
                              <a:ea typeface="Cambria Math" panose="02040503050406030204" pitchFamily="18" charset="0"/>
                            </a:rPr>
                            <m:t>𝒵</m:t>
                          </m:r>
                        </m:den>
                      </m:f>
                      <m:nary>
                        <m:naryPr>
                          <m:chr m:val="∑"/>
                          <m:supHide m:val="on"/>
                          <m:ctrlPr>
                            <a:rPr lang="en-US" b="0" i="1" smtClean="0">
                              <a:solidFill>
                                <a:schemeClr val="tx1"/>
                              </a:solidFill>
                              <a:latin typeface="Cambria Math" panose="02040503050406030204" pitchFamily="18" charset="0"/>
                            </a:rPr>
                          </m:ctrlPr>
                        </m:naryPr>
                        <m:sub>
                          <m:r>
                            <m:rPr>
                              <m:brk m:alnAt="7"/>
                            </m:rPr>
                            <a:rPr lang="en-US" b="0" i="1" smtClean="0">
                              <a:solidFill>
                                <a:schemeClr val="tx1"/>
                              </a:solidFill>
                              <a:latin typeface="Cambria Math" panose="02040503050406030204" pitchFamily="18" charset="0"/>
                            </a:rPr>
                            <m:t>𝐴</m:t>
                          </m:r>
                          <m:r>
                            <a:rPr lang="en-US" b="0" i="1" smtClean="0">
                              <a:solidFill>
                                <a:schemeClr val="tx1"/>
                              </a:solidFill>
                              <a:latin typeface="Cambria Math" panose="02040503050406030204" pitchFamily="18" charset="0"/>
                            </a:rPr>
                            <m:t>𝑁𝑆</m:t>
                          </m:r>
                        </m:sub>
                        <m:sup/>
                        <m:e>
                          <m:r>
                            <a:rPr lang="en-US" b="0" i="1" smtClean="0">
                              <a:solidFill>
                                <a:schemeClr val="tx1"/>
                              </a:solidFill>
                              <a:latin typeface="Cambria Math" panose="02040503050406030204" pitchFamily="18" charset="0"/>
                            </a:rPr>
                            <m:t>𝑁</m:t>
                          </m:r>
                          <m:r>
                            <a:rPr lang="en-US" b="0" i="1" smtClean="0">
                              <a:solidFill>
                                <a:schemeClr val="tx1"/>
                              </a:solidFill>
                              <a:latin typeface="Cambria Math" panose="02040503050406030204" pitchFamily="18" charset="0"/>
                            </a:rPr>
                            <m:t> </m:t>
                          </m:r>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𝑒</m:t>
                              </m:r>
                            </m:e>
                            <m:sup>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𝑁</m:t>
                                  </m:r>
                                  <m:r>
                                    <a:rPr lang="en-US" b="0" i="1" smtClean="0">
                                      <a:solidFill>
                                        <a:schemeClr val="tx1"/>
                                      </a:solidFill>
                                      <a:latin typeface="Cambria Math" panose="02040503050406030204" pitchFamily="18" charset="0"/>
                                      <a:ea typeface="Cambria Math" panose="02040503050406030204" pitchFamily="18" charset="0"/>
                                    </a:rPr>
                                    <m:t>𝜇</m:t>
                                  </m:r>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𝜀</m:t>
                                  </m:r>
                                </m:num>
                                <m:den>
                                  <m:r>
                                    <a:rPr lang="en-US" b="0" i="1" smtClean="0">
                                      <a:solidFill>
                                        <a:schemeClr val="tx1"/>
                                      </a:solidFill>
                                      <a:latin typeface="Cambria Math" panose="02040503050406030204" pitchFamily="18" charset="0"/>
                                      <a:ea typeface="Cambria Math" panose="02040503050406030204" pitchFamily="18" charset="0"/>
                                    </a:rPr>
                                    <m:t>𝜏</m:t>
                                  </m:r>
                                </m:den>
                              </m:f>
                            </m:sup>
                          </m:sSup>
                        </m:e>
                      </m:nary>
                    </m:oMath>
                  </m:oMathPara>
                </a14:m>
                <a:endParaRPr lang="en-CN" dirty="0">
                  <a:solidFill>
                    <a:srgbClr val="FF0000"/>
                  </a:solidFill>
                </a:endParaRPr>
              </a:p>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m:t>
                      </m:r>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1</m:t>
                          </m:r>
                        </m:num>
                        <m:den>
                          <m:r>
                            <a:rPr lang="en-US" b="0" i="1" smtClean="0">
                              <a:solidFill>
                                <a:schemeClr val="tx1"/>
                              </a:solidFill>
                              <a:latin typeface="Cambria Math" panose="02040503050406030204" pitchFamily="18" charset="0"/>
                              <a:ea typeface="Cambria Math" panose="02040503050406030204" pitchFamily="18" charset="0"/>
                            </a:rPr>
                            <m:t>𝒵</m:t>
                          </m:r>
                        </m:den>
                      </m:f>
                      <m:nary>
                        <m:naryPr>
                          <m:chr m:val="∑"/>
                          <m:supHide m:val="on"/>
                          <m:ctrlPr>
                            <a:rPr lang="en-US" b="0" i="1" smtClean="0">
                              <a:solidFill>
                                <a:schemeClr val="tx1"/>
                              </a:solidFill>
                              <a:latin typeface="Cambria Math" panose="02040503050406030204" pitchFamily="18" charset="0"/>
                            </a:rPr>
                          </m:ctrlPr>
                        </m:naryPr>
                        <m:sub>
                          <m:r>
                            <m:rPr>
                              <m:brk m:alnAt="7"/>
                            </m:rPr>
                            <a:rPr lang="en-US" b="0" i="1" smtClean="0">
                              <a:solidFill>
                                <a:schemeClr val="tx1"/>
                              </a:solidFill>
                              <a:latin typeface="Cambria Math" panose="02040503050406030204" pitchFamily="18" charset="0"/>
                            </a:rPr>
                            <m:t>𝐴</m:t>
                          </m:r>
                          <m:r>
                            <a:rPr lang="en-US" b="0" i="1" smtClean="0">
                              <a:solidFill>
                                <a:schemeClr val="tx1"/>
                              </a:solidFill>
                              <a:latin typeface="Cambria Math" panose="02040503050406030204" pitchFamily="18" charset="0"/>
                            </a:rPr>
                            <m:t>𝑁𝑆</m:t>
                          </m:r>
                        </m:sub>
                        <m:sup/>
                        <m:e>
                          <m:r>
                            <a:rPr lang="en-US" b="0" i="1" smtClean="0">
                              <a:solidFill>
                                <a:schemeClr val="tx1"/>
                              </a:solidFill>
                              <a:latin typeface="Cambria Math" panose="02040503050406030204" pitchFamily="18" charset="0"/>
                              <a:ea typeface="Cambria Math" panose="02040503050406030204" pitchFamily="18" charset="0"/>
                            </a:rPr>
                            <m:t>𝜏</m:t>
                          </m:r>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𝑑</m:t>
                              </m:r>
                            </m:num>
                            <m:den>
                              <m:r>
                                <a:rPr lang="en-US" b="0" i="1" smtClean="0">
                                  <a:solidFill>
                                    <a:schemeClr val="tx1"/>
                                  </a:solidFill>
                                  <a:latin typeface="Cambria Math" panose="02040503050406030204" pitchFamily="18" charset="0"/>
                                </a:rPr>
                                <m:t>𝑑</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𝜇</m:t>
                              </m:r>
                            </m:den>
                          </m:f>
                          <m:r>
                            <a:rPr lang="en-US" b="0" i="1" smtClean="0">
                              <a:solidFill>
                                <a:schemeClr val="tx1"/>
                              </a:solidFill>
                              <a:latin typeface="Cambria Math" panose="02040503050406030204" pitchFamily="18" charset="0"/>
                            </a:rPr>
                            <m:t> </m:t>
                          </m:r>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𝑒</m:t>
                              </m:r>
                            </m:e>
                            <m:sup>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𝑁</m:t>
                                  </m:r>
                                  <m:r>
                                    <a:rPr lang="en-US" b="0" i="1" smtClean="0">
                                      <a:solidFill>
                                        <a:schemeClr val="tx1"/>
                                      </a:solidFill>
                                      <a:latin typeface="Cambria Math" panose="02040503050406030204" pitchFamily="18" charset="0"/>
                                      <a:ea typeface="Cambria Math" panose="02040503050406030204" pitchFamily="18" charset="0"/>
                                    </a:rPr>
                                    <m:t>𝜇</m:t>
                                  </m:r>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𝜀</m:t>
                                  </m:r>
                                </m:num>
                                <m:den>
                                  <m:r>
                                    <a:rPr lang="en-US" b="0" i="1" smtClean="0">
                                      <a:solidFill>
                                        <a:schemeClr val="tx1"/>
                                      </a:solidFill>
                                      <a:latin typeface="Cambria Math" panose="02040503050406030204" pitchFamily="18" charset="0"/>
                                      <a:ea typeface="Cambria Math" panose="02040503050406030204" pitchFamily="18" charset="0"/>
                                    </a:rPr>
                                    <m:t>𝜏</m:t>
                                  </m:r>
                                </m:den>
                              </m:f>
                            </m:sup>
                          </m:sSup>
                        </m:e>
                      </m:nary>
                    </m:oMath>
                  </m:oMathPara>
                </a14:m>
                <a:endParaRPr lang="en-CN" dirty="0">
                  <a:solidFill>
                    <a:srgbClr val="FF0000"/>
                  </a:solidFill>
                </a:endParaRPr>
              </a:p>
              <a:p>
                <a:pPr algn="ct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ea typeface="Cambria Math" panose="02040503050406030204" pitchFamily="18" charset="0"/>
                            </a:rPr>
                            <m:t>𝒵</m:t>
                          </m:r>
                        </m:den>
                      </m:f>
                      <m:r>
                        <a:rPr lang="en-US" i="1">
                          <a:latin typeface="Cambria Math" panose="02040503050406030204" pitchFamily="18" charset="0"/>
                          <a:ea typeface="Cambria Math" panose="02040503050406030204" pitchFamily="18" charset="0"/>
                        </a:rPr>
                        <m:t>𝜏</m:t>
                      </m:r>
                      <m:f>
                        <m:fPr>
                          <m:ctrlPr>
                            <a:rPr lang="en-US" i="1">
                              <a:latin typeface="Cambria Math" panose="02040503050406030204" pitchFamily="18" charset="0"/>
                            </a:rPr>
                          </m:ctrlPr>
                        </m:fPr>
                        <m:num>
                          <m:r>
                            <a:rPr lang="en-US" i="1">
                              <a:latin typeface="Cambria Math" panose="02040503050406030204" pitchFamily="18" charset="0"/>
                            </a:rPr>
                            <m:t>𝑑</m:t>
                          </m:r>
                        </m:num>
                        <m:den>
                          <m:r>
                            <a:rPr lang="en-US" i="1">
                              <a:latin typeface="Cambria Math" panose="02040503050406030204" pitchFamily="18" charset="0"/>
                            </a:rPr>
                            <m:t>𝑑</m:t>
                          </m:r>
                          <m:r>
                            <a:rPr lang="en-US" i="1">
                              <a:latin typeface="Cambria Math" panose="02040503050406030204" pitchFamily="18" charset="0"/>
                            </a:rPr>
                            <m:t> </m:t>
                          </m:r>
                          <m:r>
                            <a:rPr lang="en-US" i="1">
                              <a:latin typeface="Cambria Math" panose="02040503050406030204" pitchFamily="18" charset="0"/>
                              <a:ea typeface="Cambria Math" panose="02040503050406030204" pitchFamily="18" charset="0"/>
                            </a:rPr>
                            <m:t>𝜇</m:t>
                          </m:r>
                        </m:den>
                      </m:f>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𝐴</m:t>
                          </m:r>
                          <m:r>
                            <a:rPr lang="en-US" i="1">
                              <a:latin typeface="Cambria Math" panose="02040503050406030204" pitchFamily="18" charset="0"/>
                            </a:rPr>
                            <m:t>𝑁𝑆</m:t>
                          </m:r>
                        </m:sub>
                        <m:sup/>
                        <m:e>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𝑒</m:t>
                              </m:r>
                            </m:e>
                            <m:sup>
                              <m:f>
                                <m:fPr>
                                  <m:ctrlPr>
                                    <a:rPr lang="en-US" i="1">
                                      <a:latin typeface="Cambria Math" panose="02040503050406030204" pitchFamily="18" charset="0"/>
                                    </a:rPr>
                                  </m:ctrlPr>
                                </m:fPr>
                                <m:num>
                                  <m:r>
                                    <a:rPr lang="en-US" i="1">
                                      <a:latin typeface="Cambria Math" panose="02040503050406030204" pitchFamily="18" charset="0"/>
                                    </a:rPr>
                                    <m:t>𝑁</m:t>
                                  </m:r>
                                  <m:r>
                                    <a:rPr lang="en-US" i="1">
                                      <a:latin typeface="Cambria Math" panose="02040503050406030204" pitchFamily="18" charset="0"/>
                                      <a:ea typeface="Cambria Math" panose="02040503050406030204" pitchFamily="18" charset="0"/>
                                    </a:rPr>
                                    <m:t>𝜇</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𝜀</m:t>
                                  </m:r>
                                </m:num>
                                <m:den>
                                  <m:r>
                                    <a:rPr lang="en-US" i="1">
                                      <a:latin typeface="Cambria Math" panose="02040503050406030204" pitchFamily="18" charset="0"/>
                                      <a:ea typeface="Cambria Math" panose="02040503050406030204" pitchFamily="18" charset="0"/>
                                    </a:rPr>
                                    <m:t>𝜏</m:t>
                                  </m:r>
                                </m:den>
                              </m:f>
                            </m:sup>
                          </m:sSup>
                        </m:e>
                      </m:nary>
                    </m:oMath>
                  </m:oMathPara>
                </a14:m>
                <a:endParaRPr lang="en-CN" dirty="0">
                  <a:solidFill>
                    <a:srgbClr val="FF0000"/>
                  </a:solidFill>
                </a:endParaRP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𝜏</m:t>
                      </m:r>
                      <m:f>
                        <m:fPr>
                          <m:ctrlPr>
                            <a:rPr lang="en-US" i="1">
                              <a:latin typeface="Cambria Math" panose="02040503050406030204" pitchFamily="18" charset="0"/>
                            </a:rPr>
                          </m:ctrlPr>
                        </m:fPr>
                        <m:num>
                          <m:r>
                            <a:rPr lang="en-US" i="1">
                              <a:latin typeface="Cambria Math" panose="02040503050406030204" pitchFamily="18" charset="0"/>
                            </a:rPr>
                            <m:t>𝑑</m:t>
                          </m:r>
                        </m:num>
                        <m:den>
                          <m:r>
                            <a:rPr lang="en-US" i="1">
                              <a:latin typeface="Cambria Math" panose="02040503050406030204" pitchFamily="18" charset="0"/>
                            </a:rPr>
                            <m:t>𝑑</m:t>
                          </m:r>
                          <m:r>
                            <a:rPr lang="en-US" i="1">
                              <a:latin typeface="Cambria Math" panose="02040503050406030204" pitchFamily="18" charset="0"/>
                            </a:rPr>
                            <m:t> </m:t>
                          </m:r>
                          <m:r>
                            <a:rPr lang="en-US" i="1">
                              <a:latin typeface="Cambria Math" panose="02040503050406030204" pitchFamily="18" charset="0"/>
                              <a:ea typeface="Cambria Math" panose="02040503050406030204" pitchFamily="18" charset="0"/>
                            </a:rPr>
                            <m:t>𝜇</m:t>
                          </m:r>
                        </m:den>
                      </m:f>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𝒵</m:t>
                          </m:r>
                        </m:e>
                      </m:func>
                    </m:oMath>
                  </m:oMathPara>
                </a14:m>
                <a:endParaRPr lang="en-CN" dirty="0">
                  <a:solidFill>
                    <a:srgbClr val="FF0000"/>
                  </a:solidFill>
                </a:endParaRPr>
              </a:p>
              <a:p>
                <a:endParaRPr lang="en-CN" dirty="0">
                  <a:solidFill>
                    <a:srgbClr val="FF0000"/>
                  </a:solidFill>
                </a:endParaRPr>
              </a:p>
              <a:p>
                <a:r>
                  <a:rPr lang="en-CN" dirty="0">
                    <a:solidFill>
                      <a:srgbClr val="FF0000"/>
                    </a:solidFill>
                  </a:rPr>
                  <a:t>Average energy of particles</a:t>
                </a:r>
              </a:p>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𝑈</m:t>
                      </m:r>
                      <m:r>
                        <a:rPr lang="en-US" b="0" i="1" smtClean="0">
                          <a:solidFill>
                            <a:schemeClr val="tx1"/>
                          </a:solidFill>
                          <a:latin typeface="Cambria Math" panose="02040503050406030204" pitchFamily="18" charset="0"/>
                        </a:rPr>
                        <m:t>=</m:t>
                      </m:r>
                      <m:d>
                        <m:dPr>
                          <m:begChr m:val="⟨"/>
                          <m:endChr m:val="⟩"/>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ea typeface="Cambria Math" panose="02040503050406030204" pitchFamily="18" charset="0"/>
                            </a:rPr>
                            <m:t>𝜀</m:t>
                          </m:r>
                        </m:e>
                      </m:d>
                      <m:r>
                        <a:rPr lang="en-US" b="0" i="1" smtClean="0">
                          <a:solidFill>
                            <a:schemeClr val="tx1"/>
                          </a:solidFill>
                          <a:latin typeface="Cambria Math" panose="02040503050406030204" pitchFamily="18" charset="0"/>
                        </a:rPr>
                        <m:t>=</m:t>
                      </m:r>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ea typeface="Cambria Math" panose="02040503050406030204" pitchFamily="18" charset="0"/>
                                </a:rPr>
                                <m:t>𝜇</m:t>
                              </m:r>
                            </m:num>
                            <m:den>
                              <m:r>
                                <a:rPr lang="en-US" b="0" i="1" smtClean="0">
                                  <a:solidFill>
                                    <a:schemeClr val="tx1"/>
                                  </a:solidFill>
                                  <a:latin typeface="Cambria Math" panose="02040503050406030204" pitchFamily="18" charset="0"/>
                                  <a:ea typeface="Cambria Math" panose="02040503050406030204" pitchFamily="18" charset="0"/>
                                </a:rPr>
                                <m:t>𝛽</m:t>
                              </m:r>
                            </m:den>
                          </m:f>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ea typeface="Cambria Math" panose="02040503050406030204" pitchFamily="18" charset="0"/>
                                </a:rPr>
                                <m:t>𝜕</m:t>
                              </m:r>
                            </m:num>
                            <m:den>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𝜇</m:t>
                              </m:r>
                            </m:den>
                          </m:f>
                          <m:r>
                            <a:rPr lang="en-US" b="0" i="1" smtClean="0">
                              <a:solidFill>
                                <a:schemeClr val="tx1"/>
                              </a:solidFill>
                              <a:latin typeface="Cambria Math" panose="02040503050406030204" pitchFamily="18" charset="0"/>
                            </a:rPr>
                            <m:t>−</m:t>
                          </m:r>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ea typeface="Cambria Math" panose="02040503050406030204" pitchFamily="18" charset="0"/>
                                </a:rPr>
                                <m:t>𝜕</m:t>
                              </m:r>
                            </m:num>
                            <m:den>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𝛽</m:t>
                              </m:r>
                            </m:den>
                          </m:f>
                        </m:e>
                      </m:d>
                      <m:func>
                        <m:funcPr>
                          <m:ctrlPr>
                            <a:rPr lang="en-US" b="0" i="1" smtClean="0">
                              <a:solidFill>
                                <a:schemeClr val="tx1"/>
                              </a:solidFill>
                              <a:latin typeface="Cambria Math" panose="02040503050406030204" pitchFamily="18" charset="0"/>
                            </a:rPr>
                          </m:ctrlPr>
                        </m:funcPr>
                        <m:fName>
                          <m:r>
                            <m:rPr>
                              <m:sty m:val="p"/>
                            </m:rPr>
                            <a:rPr lang="en-US" b="0" i="0" smtClean="0">
                              <a:solidFill>
                                <a:schemeClr val="tx1"/>
                              </a:solidFill>
                              <a:latin typeface="Cambria Math" panose="02040503050406030204" pitchFamily="18" charset="0"/>
                            </a:rPr>
                            <m:t>log</m:t>
                          </m:r>
                        </m:fName>
                        <m:e>
                          <m:r>
                            <a:rPr lang="en-US" b="0" i="1" smtClean="0">
                              <a:solidFill>
                                <a:schemeClr val="tx1"/>
                              </a:solidFill>
                              <a:latin typeface="Cambria Math" panose="02040503050406030204" pitchFamily="18" charset="0"/>
                              <a:ea typeface="Cambria Math" panose="02040503050406030204" pitchFamily="18" charset="0"/>
                            </a:rPr>
                            <m:t>𝒵</m:t>
                          </m:r>
                        </m:e>
                      </m:func>
                    </m:oMath>
                  </m:oMathPara>
                </a14:m>
                <a:endParaRPr lang="en-CN" dirty="0">
                  <a:solidFill>
                    <a:schemeClr val="tx1"/>
                  </a:solidFill>
                </a:endParaRPr>
              </a:p>
            </p:txBody>
          </p:sp>
        </mc:Choice>
        <mc:Fallback xmlns="">
          <p:sp>
            <p:nvSpPr>
              <p:cNvPr id="2" name="TextBox 1">
                <a:extLst>
                  <a:ext uri="{FF2B5EF4-FFF2-40B4-BE49-F238E27FC236}">
                    <a16:creationId xmlns:a16="http://schemas.microsoft.com/office/drawing/2014/main" id="{6C4B47A9-1BE2-7F4F-AC89-B30974256B6D}"/>
                  </a:ext>
                </a:extLst>
              </p:cNvPr>
              <p:cNvSpPr txBox="1">
                <a:spLocks noRot="1" noChangeAspect="1" noMove="1" noResize="1" noEditPoints="1" noAdjustHandles="1" noChangeArrowheads="1" noChangeShapeType="1" noTextEdit="1"/>
              </p:cNvSpPr>
              <p:nvPr/>
            </p:nvSpPr>
            <p:spPr>
              <a:xfrm>
                <a:off x="443345" y="387927"/>
                <a:ext cx="11111346" cy="5912965"/>
              </a:xfrm>
              <a:prstGeom prst="rect">
                <a:avLst/>
              </a:prstGeom>
              <a:blipFill>
                <a:blip r:embed="rId2"/>
                <a:stretch>
                  <a:fillRect l="-571" t="-6424"/>
                </a:stretch>
              </a:blipFill>
            </p:spPr>
            <p:txBody>
              <a:bodyPr/>
              <a:lstStyle/>
              <a:p>
                <a:r>
                  <a:rPr lang="en-CN">
                    <a:noFill/>
                  </a:rPr>
                  <a:t> </a:t>
                </a:r>
              </a:p>
            </p:txBody>
          </p:sp>
        </mc:Fallback>
      </mc:AlternateContent>
    </p:spTree>
    <p:extLst>
      <p:ext uri="{BB962C8B-B14F-4D97-AF65-F5344CB8AC3E}">
        <p14:creationId xmlns:p14="http://schemas.microsoft.com/office/powerpoint/2010/main" val="5782914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4B47A9-1BE2-7F4F-AC89-B30974256B6D}"/>
              </a:ext>
            </a:extLst>
          </p:cNvPr>
          <p:cNvSpPr txBox="1"/>
          <p:nvPr/>
        </p:nvSpPr>
        <p:spPr>
          <a:xfrm>
            <a:off x="443345" y="387927"/>
            <a:ext cx="11111346" cy="369332"/>
          </a:xfrm>
          <a:prstGeom prst="rect">
            <a:avLst/>
          </a:prstGeom>
          <a:noFill/>
        </p:spPr>
        <p:txBody>
          <a:bodyPr wrap="square" rtlCol="0">
            <a:spAutoFit/>
          </a:bodyPr>
          <a:lstStyle/>
          <a:p>
            <a:r>
              <a:rPr lang="en-US" dirty="0"/>
              <a:t>Absolute activity</a:t>
            </a:r>
            <a:endParaRPr lang="en-CN" dirty="0">
              <a:solidFill>
                <a:schemeClr val="tx1"/>
              </a:solidFill>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5E79FA9-720F-4340-9477-62164D671C75}"/>
                  </a:ext>
                </a:extLst>
              </p:cNvPr>
              <p:cNvSpPr txBox="1"/>
              <p:nvPr/>
            </p:nvSpPr>
            <p:spPr>
              <a:xfrm>
                <a:off x="3906981" y="757259"/>
                <a:ext cx="3629891" cy="60324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sz="3200" i="1" smtClean="0">
                          <a:solidFill>
                            <a:srgbClr val="FF0000"/>
                          </a:solidFill>
                          <a:latin typeface="Cambria Math" panose="02040503050406030204" pitchFamily="18" charset="0"/>
                          <a:ea typeface="Cambria Math" panose="02040503050406030204" pitchFamily="18" charset="0"/>
                        </a:rPr>
                        <m:t>𝜆</m:t>
                      </m:r>
                      <m:r>
                        <a:rPr lang="en-CN" sz="3200" i="1" smtClean="0">
                          <a:solidFill>
                            <a:srgbClr val="FF0000"/>
                          </a:solidFill>
                          <a:latin typeface="Cambria Math" panose="02040503050406030204" pitchFamily="18" charset="0"/>
                          <a:ea typeface="Cambria Math" panose="02040503050406030204" pitchFamily="18" charset="0"/>
                        </a:rPr>
                        <m:t>≡</m:t>
                      </m:r>
                      <m:sSup>
                        <m:sSupPr>
                          <m:ctrlPr>
                            <a:rPr lang="en-CN" sz="3200" i="1" smtClean="0">
                              <a:solidFill>
                                <a:srgbClr val="FF0000"/>
                              </a:solidFill>
                              <a:latin typeface="Cambria Math" panose="02040503050406030204" pitchFamily="18" charset="0"/>
                              <a:ea typeface="Cambria Math" panose="02040503050406030204" pitchFamily="18" charset="0"/>
                            </a:rPr>
                          </m:ctrlPr>
                        </m:sSupPr>
                        <m:e>
                          <m:r>
                            <a:rPr lang="en-US" sz="3200" b="0" i="1" smtClean="0">
                              <a:solidFill>
                                <a:srgbClr val="FF0000"/>
                              </a:solidFill>
                              <a:latin typeface="Cambria Math" panose="02040503050406030204" pitchFamily="18" charset="0"/>
                              <a:ea typeface="Cambria Math" panose="02040503050406030204" pitchFamily="18" charset="0"/>
                            </a:rPr>
                            <m:t>𝑒</m:t>
                          </m:r>
                        </m:e>
                        <m:sup>
                          <m:r>
                            <a:rPr lang="en-CN" sz="3200" i="1" smtClean="0">
                              <a:solidFill>
                                <a:srgbClr val="FF0000"/>
                              </a:solidFill>
                              <a:latin typeface="Cambria Math" panose="02040503050406030204" pitchFamily="18" charset="0"/>
                              <a:ea typeface="Cambria Math" panose="02040503050406030204" pitchFamily="18" charset="0"/>
                            </a:rPr>
                            <m:t>𝜇</m:t>
                          </m:r>
                          <m:r>
                            <a:rPr lang="en-US" sz="3200" b="0" i="1" smtClean="0">
                              <a:solidFill>
                                <a:srgbClr val="FF0000"/>
                              </a:solidFill>
                              <a:latin typeface="Cambria Math" panose="02040503050406030204" pitchFamily="18" charset="0"/>
                              <a:ea typeface="Cambria Math" panose="02040503050406030204" pitchFamily="18" charset="0"/>
                            </a:rPr>
                            <m:t>/</m:t>
                          </m:r>
                          <m:r>
                            <a:rPr lang="en-US" sz="3200" b="0" i="1" smtClean="0">
                              <a:solidFill>
                                <a:srgbClr val="FF0000"/>
                              </a:solidFill>
                              <a:latin typeface="Cambria Math" panose="02040503050406030204" pitchFamily="18" charset="0"/>
                              <a:ea typeface="Cambria Math" panose="02040503050406030204" pitchFamily="18" charset="0"/>
                            </a:rPr>
                            <m:t>𝜏</m:t>
                          </m:r>
                        </m:sup>
                      </m:sSup>
                    </m:oMath>
                  </m:oMathPara>
                </a14:m>
                <a:endParaRPr lang="en-CN" sz="3200" dirty="0"/>
              </a:p>
            </p:txBody>
          </p:sp>
        </mc:Choice>
        <mc:Fallback xmlns="">
          <p:sp>
            <p:nvSpPr>
              <p:cNvPr id="3" name="TextBox 2">
                <a:extLst>
                  <a:ext uri="{FF2B5EF4-FFF2-40B4-BE49-F238E27FC236}">
                    <a16:creationId xmlns:a16="http://schemas.microsoft.com/office/drawing/2014/main" id="{95E79FA9-720F-4340-9477-62164D671C75}"/>
                  </a:ext>
                </a:extLst>
              </p:cNvPr>
              <p:cNvSpPr txBox="1">
                <a:spLocks noRot="1" noChangeAspect="1" noMove="1" noResize="1" noEditPoints="1" noAdjustHandles="1" noChangeArrowheads="1" noChangeShapeType="1" noTextEdit="1"/>
              </p:cNvSpPr>
              <p:nvPr/>
            </p:nvSpPr>
            <p:spPr>
              <a:xfrm>
                <a:off x="3906981" y="757259"/>
                <a:ext cx="3629891" cy="603242"/>
              </a:xfrm>
              <a:prstGeom prst="rect">
                <a:avLst/>
              </a:prstGeom>
              <a:blipFill>
                <a:blip r:embed="rId2"/>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986930C-D654-2C4F-B99D-5D6190EE6F31}"/>
                  </a:ext>
                </a:extLst>
              </p:cNvPr>
              <p:cNvSpPr txBox="1"/>
              <p:nvPr/>
            </p:nvSpPr>
            <p:spPr>
              <a:xfrm>
                <a:off x="221672" y="1510145"/>
                <a:ext cx="11970328" cy="3578031"/>
              </a:xfrm>
              <a:prstGeom prst="rect">
                <a:avLst/>
              </a:prstGeom>
              <a:noFill/>
            </p:spPr>
            <p:txBody>
              <a:bodyPr wrap="square" rtlCol="0">
                <a:spAutoFit/>
              </a:bodyPr>
              <a:lstStyle/>
              <a:p>
                <a:pPr marL="285750" indent="-285750">
                  <a:buFont typeface="Arial" panose="020B0604020202020204" pitchFamily="34" charset="0"/>
                  <a:buChar char="•"/>
                </a:pPr>
                <a:r>
                  <a:rPr lang="en-CN" sz="4000" dirty="0"/>
                  <a:t>For ideal gas                      </a:t>
                </a:r>
                <a14:m>
                  <m:oMath xmlns:m="http://schemas.openxmlformats.org/officeDocument/2006/math">
                    <m:r>
                      <a:rPr lang="en-CN" sz="4000" i="1" smtClean="0">
                        <a:latin typeface="Cambria Math" panose="02040503050406030204" pitchFamily="18" charset="0"/>
                        <a:ea typeface="Cambria Math" panose="02040503050406030204" pitchFamily="18" charset="0"/>
                      </a:rPr>
                      <m:t>𝜆</m:t>
                    </m:r>
                    <m:r>
                      <a:rPr lang="en-US" sz="4000" b="0" i="1" smtClean="0">
                        <a:latin typeface="Cambria Math" panose="02040503050406030204" pitchFamily="18" charset="0"/>
                        <a:ea typeface="Cambria Math" panose="02040503050406030204" pitchFamily="18" charset="0"/>
                      </a:rPr>
                      <m:t>=</m:t>
                    </m:r>
                    <m:f>
                      <m:fPr>
                        <m:ctrlPr>
                          <a:rPr lang="en-US" sz="4000" b="0" i="1" smtClean="0">
                            <a:latin typeface="Cambria Math" panose="02040503050406030204" pitchFamily="18" charset="0"/>
                            <a:ea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𝑛</m:t>
                        </m:r>
                      </m:num>
                      <m:den>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𝑛</m:t>
                            </m:r>
                          </m:e>
                          <m:sub>
                            <m:r>
                              <a:rPr lang="en-US" sz="4000" b="0" i="1" smtClean="0">
                                <a:latin typeface="Cambria Math" panose="02040503050406030204" pitchFamily="18" charset="0"/>
                                <a:ea typeface="Cambria Math" panose="02040503050406030204" pitchFamily="18" charset="0"/>
                              </a:rPr>
                              <m:t>𝑄</m:t>
                            </m:r>
                          </m:sub>
                        </m:sSub>
                      </m:den>
                    </m:f>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𝜇</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𝜏</m:t>
                    </m:r>
                    <m:func>
                      <m:funcPr>
                        <m:ctrlPr>
                          <a:rPr lang="en-US" sz="4000" b="0" i="1" smtClean="0">
                            <a:latin typeface="Cambria Math" panose="02040503050406030204" pitchFamily="18" charset="0"/>
                            <a:ea typeface="Cambria Math" panose="02040503050406030204" pitchFamily="18" charset="0"/>
                          </a:rPr>
                        </m:ctrlPr>
                      </m:funcPr>
                      <m:fName>
                        <m:r>
                          <m:rPr>
                            <m:sty m:val="p"/>
                          </m:rPr>
                          <a:rPr lang="en-US" sz="4000" b="0" i="0" smtClean="0">
                            <a:latin typeface="Cambria Math" panose="02040503050406030204" pitchFamily="18" charset="0"/>
                            <a:ea typeface="Cambria Math" panose="02040503050406030204" pitchFamily="18" charset="0"/>
                          </a:rPr>
                          <m:t>log</m:t>
                        </m:r>
                      </m:fName>
                      <m:e>
                        <m:f>
                          <m:fPr>
                            <m:ctrlPr>
                              <a:rPr lang="en-US" sz="4000" b="0" i="1" smtClean="0">
                                <a:latin typeface="Cambria Math" panose="02040503050406030204" pitchFamily="18" charset="0"/>
                                <a:ea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𝑛</m:t>
                            </m:r>
                          </m:num>
                          <m:den>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𝑛</m:t>
                                </m:r>
                              </m:e>
                              <m:sub>
                                <m:r>
                                  <a:rPr lang="en-US" sz="4000" b="0" i="1" smtClean="0">
                                    <a:latin typeface="Cambria Math" panose="02040503050406030204" pitchFamily="18" charset="0"/>
                                    <a:ea typeface="Cambria Math" panose="02040503050406030204" pitchFamily="18" charset="0"/>
                                  </a:rPr>
                                  <m:t>𝑄</m:t>
                                </m:r>
                              </m:sub>
                            </m:sSub>
                          </m:den>
                        </m:f>
                      </m:e>
                    </m:func>
                  </m:oMath>
                </a14:m>
                <a:endParaRPr lang="en-CN" sz="4000" dirty="0"/>
              </a:p>
              <a:p>
                <a:pPr marL="285750" indent="-285750">
                  <a:buFont typeface="Arial" panose="020B0604020202020204" pitchFamily="34" charset="0"/>
                  <a:buChar char="•"/>
                </a:pPr>
                <a:r>
                  <a:rPr lang="en-CN" sz="4000" dirty="0"/>
                  <a:t>Gibbs Sum                         </a:t>
                </a:r>
                <a14:m>
                  <m:oMath xmlns:m="http://schemas.openxmlformats.org/officeDocument/2006/math">
                    <m:r>
                      <a:rPr lang="en-CN" sz="4000" i="1" smtClean="0">
                        <a:latin typeface="Cambria Math" panose="02040503050406030204" pitchFamily="18" charset="0"/>
                        <a:ea typeface="Cambria Math" panose="02040503050406030204" pitchFamily="18" charset="0"/>
                      </a:rPr>
                      <m:t>𝒵</m:t>
                    </m:r>
                    <m:d>
                      <m:dPr>
                        <m:ctrlPr>
                          <a:rPr lang="en-US" sz="4000" b="0" i="1" smtClean="0">
                            <a:latin typeface="Cambria Math" panose="02040503050406030204" pitchFamily="18" charset="0"/>
                            <a:ea typeface="Cambria Math" panose="02040503050406030204" pitchFamily="18" charset="0"/>
                          </a:rPr>
                        </m:ctrlPr>
                      </m:dPr>
                      <m:e>
                        <m:r>
                          <a:rPr lang="en-US" sz="4000" b="0" i="1" smtClean="0">
                            <a:latin typeface="Cambria Math" panose="02040503050406030204" pitchFamily="18" charset="0"/>
                            <a:ea typeface="Cambria Math" panose="02040503050406030204" pitchFamily="18" charset="0"/>
                          </a:rPr>
                          <m:t>𝜇</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𝜏</m:t>
                        </m:r>
                      </m:e>
                    </m:d>
                    <m:r>
                      <a:rPr lang="en-US" sz="4000" b="0" i="1" smtClean="0">
                        <a:latin typeface="Cambria Math" panose="02040503050406030204" pitchFamily="18" charset="0"/>
                        <a:ea typeface="Cambria Math" panose="02040503050406030204" pitchFamily="18" charset="0"/>
                      </a:rPr>
                      <m:t>=</m:t>
                    </m:r>
                    <m:nary>
                      <m:naryPr>
                        <m:chr m:val="∑"/>
                        <m:supHide m:val="on"/>
                        <m:ctrlPr>
                          <a:rPr lang="en-US" sz="4000" b="0" i="1" smtClean="0">
                            <a:latin typeface="Cambria Math" panose="02040503050406030204" pitchFamily="18" charset="0"/>
                            <a:ea typeface="Cambria Math" panose="02040503050406030204" pitchFamily="18" charset="0"/>
                          </a:rPr>
                        </m:ctrlPr>
                      </m:naryPr>
                      <m:sub>
                        <m:r>
                          <m:rPr>
                            <m:brk m:alnAt="7"/>
                          </m:rPr>
                          <a:rPr lang="en-US" sz="4000" b="0" i="1" smtClean="0">
                            <a:latin typeface="Cambria Math" panose="02040503050406030204" pitchFamily="18" charset="0"/>
                            <a:ea typeface="Cambria Math" panose="02040503050406030204" pitchFamily="18" charset="0"/>
                          </a:rPr>
                          <m:t>𝐴</m:t>
                        </m:r>
                        <m:r>
                          <a:rPr lang="en-US" sz="4000" b="0" i="1" smtClean="0">
                            <a:latin typeface="Cambria Math" panose="02040503050406030204" pitchFamily="18" charset="0"/>
                            <a:ea typeface="Cambria Math" panose="02040503050406030204" pitchFamily="18" charset="0"/>
                          </a:rPr>
                          <m:t>𝑆𝑁</m:t>
                        </m:r>
                      </m:sub>
                      <m:sup/>
                      <m:e>
                        <m:sSup>
                          <m:sSupPr>
                            <m:ctrlPr>
                              <a:rPr lang="en-US" sz="4000" b="0" i="1" smtClean="0">
                                <a:latin typeface="Cambria Math" panose="02040503050406030204" pitchFamily="18" charset="0"/>
                                <a:ea typeface="Cambria Math" panose="02040503050406030204" pitchFamily="18" charset="0"/>
                              </a:rPr>
                            </m:ctrlPr>
                          </m:sSupPr>
                          <m:e>
                            <m:r>
                              <a:rPr lang="en-US" sz="4000" b="0" i="1" smtClean="0">
                                <a:latin typeface="Cambria Math" panose="02040503050406030204" pitchFamily="18" charset="0"/>
                                <a:ea typeface="Cambria Math" panose="02040503050406030204" pitchFamily="18" charset="0"/>
                              </a:rPr>
                              <m:t>𝜆</m:t>
                            </m:r>
                          </m:e>
                          <m:sup>
                            <m:r>
                              <a:rPr lang="en-US" sz="4000" b="0" i="1" smtClean="0">
                                <a:latin typeface="Cambria Math" panose="02040503050406030204" pitchFamily="18" charset="0"/>
                                <a:ea typeface="Cambria Math" panose="02040503050406030204" pitchFamily="18" charset="0"/>
                              </a:rPr>
                              <m:t>𝑁</m:t>
                            </m:r>
                          </m:sup>
                        </m:sSup>
                        <m:sSup>
                          <m:sSupPr>
                            <m:ctrlPr>
                              <a:rPr lang="en-US" sz="4000" b="0" i="1" smtClean="0">
                                <a:latin typeface="Cambria Math" panose="02040503050406030204" pitchFamily="18" charset="0"/>
                                <a:ea typeface="Cambria Math" panose="02040503050406030204" pitchFamily="18" charset="0"/>
                              </a:rPr>
                            </m:ctrlPr>
                          </m:sSupPr>
                          <m:e>
                            <m:r>
                              <a:rPr lang="en-US" sz="4000" b="0" i="1" smtClean="0">
                                <a:latin typeface="Cambria Math" panose="02040503050406030204" pitchFamily="18" charset="0"/>
                                <a:ea typeface="Cambria Math" panose="02040503050406030204" pitchFamily="18" charset="0"/>
                              </a:rPr>
                              <m:t>𝑒</m:t>
                            </m:r>
                          </m:e>
                          <m:sup>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𝜀</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𝜏</m:t>
                            </m:r>
                          </m:sup>
                        </m:sSup>
                      </m:e>
                    </m:nary>
                  </m:oMath>
                </a14:m>
                <a:endParaRPr lang="en-CN" sz="4000" dirty="0"/>
              </a:p>
              <a:p>
                <a:pPr marL="285750" indent="-285750">
                  <a:buFont typeface="Arial" panose="020B0604020202020204" pitchFamily="34" charset="0"/>
                  <a:buChar char="•"/>
                </a:pPr>
                <a:r>
                  <a:rPr lang="en-CN" sz="4000" dirty="0"/>
                  <a:t>Average number              </a:t>
                </a:r>
                <a14:m>
                  <m:oMath xmlns:m="http://schemas.openxmlformats.org/officeDocument/2006/math">
                    <m:d>
                      <m:dPr>
                        <m:begChr m:val="⟨"/>
                        <m:endChr m:val="⟩"/>
                        <m:ctrlPr>
                          <a:rPr lang="en-CN" sz="4000" i="1" smtClean="0">
                            <a:latin typeface="Cambria Math" panose="02040503050406030204" pitchFamily="18" charset="0"/>
                          </a:rPr>
                        </m:ctrlPr>
                      </m:dPr>
                      <m:e>
                        <m:r>
                          <a:rPr lang="en-US" sz="4000" b="0" i="1" smtClean="0">
                            <a:latin typeface="Cambria Math" panose="02040503050406030204" pitchFamily="18" charset="0"/>
                          </a:rPr>
                          <m:t>𝑁</m:t>
                        </m:r>
                      </m:e>
                    </m:d>
                    <m:r>
                      <a:rPr lang="en-US" sz="4000" b="0" i="1" smtClean="0">
                        <a:latin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𝜆</m:t>
                    </m:r>
                    <m:f>
                      <m:fPr>
                        <m:ctrlPr>
                          <a:rPr lang="en-US" sz="4000" b="0" i="1" smtClean="0">
                            <a:latin typeface="Cambria Math" panose="02040503050406030204" pitchFamily="18" charset="0"/>
                            <a:ea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m:t>
                        </m:r>
                      </m:num>
                      <m:den>
                        <m:r>
                          <a:rPr lang="en-US" sz="4000" b="0" i="1" smtClean="0">
                            <a:latin typeface="Cambria Math" panose="02040503050406030204" pitchFamily="18" charset="0"/>
                            <a:ea typeface="Cambria Math" panose="02040503050406030204" pitchFamily="18" charset="0"/>
                          </a:rPr>
                          <m:t>𝜕𝜆</m:t>
                        </m:r>
                      </m:den>
                    </m:f>
                    <m:func>
                      <m:funcPr>
                        <m:ctrlPr>
                          <a:rPr lang="en-US" sz="4000" b="0" i="1" smtClean="0">
                            <a:latin typeface="Cambria Math" panose="02040503050406030204" pitchFamily="18" charset="0"/>
                            <a:ea typeface="Cambria Math" panose="02040503050406030204" pitchFamily="18" charset="0"/>
                          </a:rPr>
                        </m:ctrlPr>
                      </m:funcPr>
                      <m:fName>
                        <m:r>
                          <m:rPr>
                            <m:sty m:val="p"/>
                          </m:rPr>
                          <a:rPr lang="en-US" sz="4000" b="0" i="0" smtClean="0">
                            <a:latin typeface="Cambria Math" panose="02040503050406030204" pitchFamily="18" charset="0"/>
                            <a:ea typeface="Cambria Math" panose="02040503050406030204" pitchFamily="18" charset="0"/>
                          </a:rPr>
                          <m:t>log</m:t>
                        </m:r>
                      </m:fName>
                      <m:e>
                        <m:r>
                          <a:rPr lang="en-US" sz="4000" b="0" i="1" smtClean="0">
                            <a:latin typeface="Cambria Math" panose="02040503050406030204" pitchFamily="18" charset="0"/>
                            <a:ea typeface="Cambria Math" panose="02040503050406030204" pitchFamily="18" charset="0"/>
                          </a:rPr>
                          <m:t>𝒵</m:t>
                        </m:r>
                      </m:e>
                    </m:func>
                  </m:oMath>
                </a14:m>
                <a:endParaRPr lang="en-CN" sz="4000" dirty="0"/>
              </a:p>
              <a:p>
                <a:pPr marL="285750" indent="-285750">
                  <a:buFont typeface="Arial" panose="020B0604020202020204" pitchFamily="34" charset="0"/>
                  <a:buChar char="•"/>
                </a:pPr>
                <a:r>
                  <a:rPr lang="en-CN" sz="4000" dirty="0"/>
                  <a:t>Energy                                 </a:t>
                </a:r>
                <a14:m>
                  <m:oMath xmlns:m="http://schemas.openxmlformats.org/officeDocument/2006/math">
                    <m:r>
                      <a:rPr lang="en-US" sz="4000" i="1">
                        <a:latin typeface="Cambria Math" panose="02040503050406030204" pitchFamily="18" charset="0"/>
                      </a:rPr>
                      <m:t>𝑈</m:t>
                    </m:r>
                    <m:r>
                      <a:rPr lang="en-US" sz="4000" i="1">
                        <a:latin typeface="Cambria Math" panose="02040503050406030204" pitchFamily="18" charset="0"/>
                      </a:rPr>
                      <m:t>=</m:t>
                    </m:r>
                    <m:d>
                      <m:dPr>
                        <m:begChr m:val="⟨"/>
                        <m:endChr m:val="⟩"/>
                        <m:ctrlPr>
                          <a:rPr lang="en-US" sz="4000" i="1">
                            <a:latin typeface="Cambria Math" panose="02040503050406030204" pitchFamily="18" charset="0"/>
                          </a:rPr>
                        </m:ctrlPr>
                      </m:dPr>
                      <m:e>
                        <m:r>
                          <a:rPr lang="en-US" sz="4000" i="1">
                            <a:latin typeface="Cambria Math" panose="02040503050406030204" pitchFamily="18" charset="0"/>
                            <a:ea typeface="Cambria Math" panose="02040503050406030204" pitchFamily="18" charset="0"/>
                          </a:rPr>
                          <m:t>𝜀</m:t>
                        </m:r>
                      </m:e>
                    </m:d>
                    <m:r>
                      <a:rPr lang="en-US" sz="4000" i="1">
                        <a:latin typeface="Cambria Math" panose="02040503050406030204" pitchFamily="18" charset="0"/>
                      </a:rPr>
                      <m:t>=</m:t>
                    </m:r>
                    <m:d>
                      <m:dPr>
                        <m:ctrlPr>
                          <a:rPr lang="en-US" sz="4000" i="1">
                            <a:latin typeface="Cambria Math" panose="02040503050406030204" pitchFamily="18" charset="0"/>
                          </a:rPr>
                        </m:ctrlPr>
                      </m:dPr>
                      <m:e>
                        <m:r>
                          <a:rPr lang="en-US" sz="4000" i="1" smtClean="0">
                            <a:latin typeface="Cambria Math" panose="02040503050406030204" pitchFamily="18" charset="0"/>
                            <a:ea typeface="Cambria Math" panose="02040503050406030204" pitchFamily="18" charset="0"/>
                          </a:rPr>
                          <m:t>𝜇𝜆</m:t>
                        </m:r>
                        <m:f>
                          <m:fPr>
                            <m:ctrlPr>
                              <a:rPr lang="en-US" sz="4000" i="1">
                                <a:latin typeface="Cambria Math" panose="02040503050406030204" pitchFamily="18" charset="0"/>
                              </a:rPr>
                            </m:ctrlPr>
                          </m:fPr>
                          <m:num>
                            <m:r>
                              <a:rPr lang="en-US" sz="4000" i="1">
                                <a:latin typeface="Cambria Math" panose="02040503050406030204" pitchFamily="18" charset="0"/>
                                <a:ea typeface="Cambria Math" panose="02040503050406030204" pitchFamily="18" charset="0"/>
                              </a:rPr>
                              <m:t>𝜕</m:t>
                            </m:r>
                          </m:num>
                          <m:den>
                            <m:r>
                              <a:rPr lang="en-US" sz="4000" i="1">
                                <a:latin typeface="Cambria Math" panose="02040503050406030204" pitchFamily="18" charset="0"/>
                                <a:ea typeface="Cambria Math" panose="02040503050406030204" pitchFamily="18" charset="0"/>
                              </a:rPr>
                              <m:t>𝜕</m:t>
                            </m:r>
                            <m:r>
                              <a:rPr lang="en-US" sz="4000" i="1" smtClean="0">
                                <a:latin typeface="Cambria Math" panose="02040503050406030204" pitchFamily="18" charset="0"/>
                                <a:ea typeface="Cambria Math" panose="02040503050406030204" pitchFamily="18" charset="0"/>
                              </a:rPr>
                              <m:t>𝜆</m:t>
                            </m:r>
                          </m:den>
                        </m:f>
                        <m:r>
                          <a:rPr lang="en-US" sz="4000" i="1">
                            <a:latin typeface="Cambria Math" panose="02040503050406030204" pitchFamily="18" charset="0"/>
                          </a:rPr>
                          <m:t>−</m:t>
                        </m:r>
                        <m:f>
                          <m:fPr>
                            <m:ctrlPr>
                              <a:rPr lang="en-US" sz="4000" i="1">
                                <a:latin typeface="Cambria Math" panose="02040503050406030204" pitchFamily="18" charset="0"/>
                              </a:rPr>
                            </m:ctrlPr>
                          </m:fPr>
                          <m:num>
                            <m:r>
                              <a:rPr lang="en-US" sz="4000" i="1">
                                <a:latin typeface="Cambria Math" panose="02040503050406030204" pitchFamily="18" charset="0"/>
                                <a:ea typeface="Cambria Math" panose="02040503050406030204" pitchFamily="18" charset="0"/>
                              </a:rPr>
                              <m:t>𝜕</m:t>
                            </m:r>
                          </m:num>
                          <m:den>
                            <m:r>
                              <a:rPr lang="en-US" sz="4000" i="1">
                                <a:latin typeface="Cambria Math" panose="02040503050406030204" pitchFamily="18" charset="0"/>
                                <a:ea typeface="Cambria Math" panose="02040503050406030204" pitchFamily="18" charset="0"/>
                              </a:rPr>
                              <m:t>𝜕</m:t>
                            </m:r>
                            <m:r>
                              <a:rPr lang="en-US" sz="4000" i="1">
                                <a:latin typeface="Cambria Math" panose="02040503050406030204" pitchFamily="18" charset="0"/>
                                <a:ea typeface="Cambria Math" panose="02040503050406030204" pitchFamily="18" charset="0"/>
                              </a:rPr>
                              <m:t> </m:t>
                            </m:r>
                            <m:r>
                              <a:rPr lang="en-US" sz="4000" i="1">
                                <a:latin typeface="Cambria Math" panose="02040503050406030204" pitchFamily="18" charset="0"/>
                                <a:ea typeface="Cambria Math" panose="02040503050406030204" pitchFamily="18" charset="0"/>
                              </a:rPr>
                              <m:t>𝛽</m:t>
                            </m:r>
                          </m:den>
                        </m:f>
                      </m:e>
                    </m:d>
                    <m:func>
                      <m:funcPr>
                        <m:ctrlPr>
                          <a:rPr lang="en-US" sz="4000" i="1">
                            <a:latin typeface="Cambria Math" panose="02040503050406030204" pitchFamily="18" charset="0"/>
                          </a:rPr>
                        </m:ctrlPr>
                      </m:funcPr>
                      <m:fName>
                        <m:r>
                          <m:rPr>
                            <m:sty m:val="p"/>
                          </m:rPr>
                          <a:rPr lang="en-US" sz="4000">
                            <a:latin typeface="Cambria Math" panose="02040503050406030204" pitchFamily="18" charset="0"/>
                          </a:rPr>
                          <m:t>log</m:t>
                        </m:r>
                      </m:fName>
                      <m:e>
                        <m:r>
                          <a:rPr lang="en-US" sz="4000" i="1">
                            <a:latin typeface="Cambria Math" panose="02040503050406030204" pitchFamily="18" charset="0"/>
                            <a:ea typeface="Cambria Math" panose="02040503050406030204" pitchFamily="18" charset="0"/>
                          </a:rPr>
                          <m:t>𝒵</m:t>
                        </m:r>
                      </m:e>
                    </m:func>
                  </m:oMath>
                </a14:m>
                <a:endParaRPr lang="en-CN" sz="4000" dirty="0"/>
              </a:p>
            </p:txBody>
          </p:sp>
        </mc:Choice>
        <mc:Fallback xmlns="">
          <p:sp>
            <p:nvSpPr>
              <p:cNvPr id="4" name="TextBox 3">
                <a:extLst>
                  <a:ext uri="{FF2B5EF4-FFF2-40B4-BE49-F238E27FC236}">
                    <a16:creationId xmlns:a16="http://schemas.microsoft.com/office/drawing/2014/main" id="{4986930C-D654-2C4F-B99D-5D6190EE6F31}"/>
                  </a:ext>
                </a:extLst>
              </p:cNvPr>
              <p:cNvSpPr txBox="1">
                <a:spLocks noRot="1" noChangeAspect="1" noMove="1" noResize="1" noEditPoints="1" noAdjustHandles="1" noChangeArrowheads="1" noChangeShapeType="1" noTextEdit="1"/>
              </p:cNvSpPr>
              <p:nvPr/>
            </p:nvSpPr>
            <p:spPr>
              <a:xfrm>
                <a:off x="221672" y="1510145"/>
                <a:ext cx="11970328" cy="3578031"/>
              </a:xfrm>
              <a:prstGeom prst="rect">
                <a:avLst/>
              </a:prstGeom>
              <a:blipFill>
                <a:blip r:embed="rId3"/>
                <a:stretch>
                  <a:fillRect l="-1695" t="-1064" b="-319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81C7DD3-F5E0-0648-9BBF-1EDA93A7E6C9}"/>
                  </a:ext>
                </a:extLst>
              </p:cNvPr>
              <p:cNvSpPr txBox="1"/>
              <p:nvPr/>
            </p:nvSpPr>
            <p:spPr>
              <a:xfrm>
                <a:off x="443345" y="5444836"/>
                <a:ext cx="11111346" cy="66569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𝜕𝛽</m:t>
                          </m:r>
                        </m:den>
                      </m:f>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𝒵</m:t>
                          </m:r>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𝜇</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𝜇</m:t>
                          </m:r>
                        </m:e>
                      </m:func>
                    </m:oMath>
                  </m:oMathPara>
                </a14:m>
                <a:endParaRPr lang="en-CN" dirty="0"/>
              </a:p>
            </p:txBody>
          </p:sp>
        </mc:Choice>
        <mc:Fallback xmlns="">
          <p:sp>
            <p:nvSpPr>
              <p:cNvPr id="5" name="TextBox 4">
                <a:extLst>
                  <a:ext uri="{FF2B5EF4-FFF2-40B4-BE49-F238E27FC236}">
                    <a16:creationId xmlns:a16="http://schemas.microsoft.com/office/drawing/2014/main" id="{A81C7DD3-F5E0-0648-9BBF-1EDA93A7E6C9}"/>
                  </a:ext>
                </a:extLst>
              </p:cNvPr>
              <p:cNvSpPr txBox="1">
                <a:spLocks noRot="1" noChangeAspect="1" noMove="1" noResize="1" noEditPoints="1" noAdjustHandles="1" noChangeArrowheads="1" noChangeShapeType="1" noTextEdit="1"/>
              </p:cNvSpPr>
              <p:nvPr/>
            </p:nvSpPr>
            <p:spPr>
              <a:xfrm>
                <a:off x="443345" y="5444836"/>
                <a:ext cx="11111346" cy="665695"/>
              </a:xfrm>
              <a:prstGeom prst="rect">
                <a:avLst/>
              </a:prstGeom>
              <a:blipFill>
                <a:blip r:embed="rId4"/>
                <a:stretch>
                  <a:fillRect b="-11321"/>
                </a:stretch>
              </a:blipFill>
            </p:spPr>
            <p:txBody>
              <a:bodyPr/>
              <a:lstStyle/>
              <a:p>
                <a:r>
                  <a:rPr lang="en-CN">
                    <a:noFill/>
                  </a:rPr>
                  <a:t> </a:t>
                </a:r>
              </a:p>
            </p:txBody>
          </p:sp>
        </mc:Fallback>
      </mc:AlternateContent>
    </p:spTree>
    <p:extLst>
      <p:ext uri="{BB962C8B-B14F-4D97-AF65-F5344CB8AC3E}">
        <p14:creationId xmlns:p14="http://schemas.microsoft.com/office/powerpoint/2010/main" val="35578840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FDADDC4-D8E5-E142-9621-B7058BF3D98A}"/>
              </a:ext>
            </a:extLst>
          </p:cNvPr>
          <p:cNvSpPr/>
          <p:nvPr/>
        </p:nvSpPr>
        <p:spPr>
          <a:xfrm>
            <a:off x="1482436" y="526473"/>
            <a:ext cx="2189019" cy="1801091"/>
          </a:xfrm>
          <a:prstGeom prst="rect">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6" name="Rectangle 5">
            <a:extLst>
              <a:ext uri="{FF2B5EF4-FFF2-40B4-BE49-F238E27FC236}">
                <a16:creationId xmlns:a16="http://schemas.microsoft.com/office/drawing/2014/main" id="{C91EF53F-98DB-6A4D-9256-0FB314F1D86C}"/>
              </a:ext>
            </a:extLst>
          </p:cNvPr>
          <p:cNvSpPr/>
          <p:nvPr/>
        </p:nvSpPr>
        <p:spPr>
          <a:xfrm>
            <a:off x="5098472" y="526472"/>
            <a:ext cx="2189019" cy="18010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Rectangle 6">
            <a:extLst>
              <a:ext uri="{FF2B5EF4-FFF2-40B4-BE49-F238E27FC236}">
                <a16:creationId xmlns:a16="http://schemas.microsoft.com/office/drawing/2014/main" id="{A8387A4C-D014-8246-AAFB-503083F48DE0}"/>
              </a:ext>
            </a:extLst>
          </p:cNvPr>
          <p:cNvSpPr/>
          <p:nvPr/>
        </p:nvSpPr>
        <p:spPr>
          <a:xfrm>
            <a:off x="8714508" y="526472"/>
            <a:ext cx="2189019" cy="18010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9" name="Straight Connector 8">
            <a:extLst>
              <a:ext uri="{FF2B5EF4-FFF2-40B4-BE49-F238E27FC236}">
                <a16:creationId xmlns:a16="http://schemas.microsoft.com/office/drawing/2014/main" id="{4FFD77AC-0A46-CA47-BBBB-9653A8A14AAA}"/>
              </a:ext>
            </a:extLst>
          </p:cNvPr>
          <p:cNvCxnSpPr/>
          <p:nvPr/>
        </p:nvCxnSpPr>
        <p:spPr>
          <a:xfrm>
            <a:off x="4502727" y="2327563"/>
            <a:ext cx="329738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E47B72F-E44C-264D-BBED-15A41550675A}"/>
              </a:ext>
            </a:extLst>
          </p:cNvPr>
          <p:cNvCxnSpPr/>
          <p:nvPr/>
        </p:nvCxnSpPr>
        <p:spPr>
          <a:xfrm>
            <a:off x="8160326" y="2327563"/>
            <a:ext cx="3297382"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4CA33DA-2D90-F942-8D69-2DC7A19CAC55}"/>
                  </a:ext>
                </a:extLst>
              </p:cNvPr>
              <p:cNvSpPr txBox="1"/>
              <p:nvPr/>
            </p:nvSpPr>
            <p:spPr>
              <a:xfrm>
                <a:off x="6677247" y="2509284"/>
                <a:ext cx="112286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𝜏</m:t>
                      </m:r>
                    </m:oMath>
                  </m:oMathPara>
                </a14:m>
                <a:endParaRPr lang="en-CN" dirty="0"/>
              </a:p>
            </p:txBody>
          </p:sp>
        </mc:Choice>
        <mc:Fallback xmlns="">
          <p:sp>
            <p:nvSpPr>
              <p:cNvPr id="11" name="TextBox 10">
                <a:extLst>
                  <a:ext uri="{FF2B5EF4-FFF2-40B4-BE49-F238E27FC236}">
                    <a16:creationId xmlns:a16="http://schemas.microsoft.com/office/drawing/2014/main" id="{54CA33DA-2D90-F942-8D69-2DC7A19CAC55}"/>
                  </a:ext>
                </a:extLst>
              </p:cNvPr>
              <p:cNvSpPr txBox="1">
                <a:spLocks noRot="1" noChangeAspect="1" noMove="1" noResize="1" noEditPoints="1" noAdjustHandles="1" noChangeArrowheads="1" noChangeShapeType="1" noTextEdit="1"/>
              </p:cNvSpPr>
              <p:nvPr/>
            </p:nvSpPr>
            <p:spPr>
              <a:xfrm>
                <a:off x="6677247" y="2509284"/>
                <a:ext cx="1122862" cy="369332"/>
              </a:xfrm>
              <a:prstGeom prst="rect">
                <a:avLst/>
              </a:prstGeom>
              <a:blipFill>
                <a:blip r:embed="rId2"/>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EBA4DFE-EE61-3749-B222-14BD3679D075}"/>
                  </a:ext>
                </a:extLst>
              </p:cNvPr>
              <p:cNvSpPr txBox="1"/>
              <p:nvPr/>
            </p:nvSpPr>
            <p:spPr>
              <a:xfrm>
                <a:off x="10168271" y="2509284"/>
                <a:ext cx="112286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𝜏</m:t>
                      </m:r>
                      <m:r>
                        <a:rPr lang="en-US" b="0" i="0" smtClean="0">
                          <a:latin typeface="Cambria Math" panose="02040503050406030204" pitchFamily="18" charset="0"/>
                          <a:ea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μ</m:t>
                      </m:r>
                    </m:oMath>
                  </m:oMathPara>
                </a14:m>
                <a:endParaRPr lang="en-CN" dirty="0"/>
              </a:p>
            </p:txBody>
          </p:sp>
        </mc:Choice>
        <mc:Fallback xmlns="">
          <p:sp>
            <p:nvSpPr>
              <p:cNvPr id="12" name="TextBox 11">
                <a:extLst>
                  <a:ext uri="{FF2B5EF4-FFF2-40B4-BE49-F238E27FC236}">
                    <a16:creationId xmlns:a16="http://schemas.microsoft.com/office/drawing/2014/main" id="{BEBA4DFE-EE61-3749-B222-14BD3679D075}"/>
                  </a:ext>
                </a:extLst>
              </p:cNvPr>
              <p:cNvSpPr txBox="1">
                <a:spLocks noRot="1" noChangeAspect="1" noMove="1" noResize="1" noEditPoints="1" noAdjustHandles="1" noChangeArrowheads="1" noChangeShapeType="1" noTextEdit="1"/>
              </p:cNvSpPr>
              <p:nvPr/>
            </p:nvSpPr>
            <p:spPr>
              <a:xfrm>
                <a:off x="10168271" y="2509284"/>
                <a:ext cx="1122862" cy="369332"/>
              </a:xfrm>
              <a:prstGeom prst="rect">
                <a:avLst/>
              </a:prstGeom>
              <a:blipFill>
                <a:blip r:embed="rId3"/>
                <a:stretch>
                  <a:fillRect b="-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400D193-1928-8249-A4B2-7BF566FCB586}"/>
                  </a:ext>
                </a:extLst>
              </p:cNvPr>
              <p:cNvSpPr txBox="1"/>
              <p:nvPr/>
            </p:nvSpPr>
            <p:spPr>
              <a:xfrm>
                <a:off x="361508" y="2822646"/>
                <a:ext cx="11504428" cy="3145413"/>
              </a:xfrm>
              <a:prstGeom prst="rect">
                <a:avLst/>
              </a:prstGeom>
              <a:noFill/>
            </p:spPr>
            <p:txBody>
              <a:bodyPr wrap="square" rtlCol="0">
                <a:spAutoFit/>
              </a:bodyPr>
              <a:lstStyle/>
              <a:p>
                <a:r>
                  <a:rPr lang="en-CN" sz="2800" dirty="0"/>
                  <a:t>Factor           1</a:t>
                </a:r>
                <a14:m>
                  <m:oMath xmlns:m="http://schemas.openxmlformats.org/officeDocument/2006/math">
                    <m:sSup>
                      <m:sSupPr>
                        <m:ctrlPr>
                          <a:rPr lang="en-CN" sz="2800" i="1" dirty="0" smtClean="0">
                            <a:latin typeface="Cambria Math" panose="02040503050406030204" pitchFamily="18" charset="0"/>
                          </a:rPr>
                        </m:ctrlPr>
                      </m:sSupPr>
                      <m:e>
                        <m:r>
                          <a:rPr lang="en-US" sz="2800" b="0" i="1" dirty="0" smtClean="0">
                            <a:latin typeface="Cambria Math" panose="02040503050406030204" pitchFamily="18" charset="0"/>
                          </a:rPr>
                          <m:t>                                   </m:t>
                        </m:r>
                        <m:r>
                          <a:rPr lang="en-US" sz="2800" b="0" i="1" dirty="0" smtClean="0">
                            <a:latin typeface="Cambria Math" panose="02040503050406030204" pitchFamily="18" charset="0"/>
                          </a:rPr>
                          <m:t>𝑒</m:t>
                        </m:r>
                      </m:e>
                      <m:sup>
                        <m:r>
                          <a:rPr lang="en-US" sz="2800" b="0" i="1" dirty="0" smtClean="0">
                            <a:latin typeface="Cambria Math" panose="02040503050406030204" pitchFamily="18" charset="0"/>
                          </a:rPr>
                          <m:t>−</m:t>
                        </m:r>
                        <m:r>
                          <a:rPr lang="en-US" sz="2800" b="0" i="1" dirty="0" smtClean="0">
                            <a:latin typeface="Cambria Math" panose="02040503050406030204" pitchFamily="18" charset="0"/>
                            <a:ea typeface="Cambria Math" panose="02040503050406030204" pitchFamily="18" charset="0"/>
                          </a:rPr>
                          <m:t>𝜀</m:t>
                        </m:r>
                        <m:r>
                          <a:rPr lang="en-US" sz="2800" b="0" i="1" dirty="0" smtClean="0">
                            <a:latin typeface="Cambria Math" panose="02040503050406030204" pitchFamily="18" charset="0"/>
                            <a:ea typeface="Cambria Math" panose="02040503050406030204" pitchFamily="18" charset="0"/>
                          </a:rPr>
                          <m:t>/</m:t>
                        </m:r>
                        <m:r>
                          <a:rPr lang="en-US" sz="2800" b="0" i="1" dirty="0" smtClean="0">
                            <a:latin typeface="Cambria Math" panose="02040503050406030204" pitchFamily="18" charset="0"/>
                            <a:ea typeface="Cambria Math" panose="02040503050406030204" pitchFamily="18" charset="0"/>
                          </a:rPr>
                          <m:t>𝜏</m:t>
                        </m:r>
                      </m:sup>
                    </m:sSup>
                  </m:oMath>
                </a14:m>
                <a:r>
                  <a:rPr lang="en-CN" sz="2800" dirty="0"/>
                  <a:t>              </a:t>
                </a:r>
                <a14:m>
                  <m:oMath xmlns:m="http://schemas.openxmlformats.org/officeDocument/2006/math">
                    <m:sSup>
                      <m:sSupPr>
                        <m:ctrlPr>
                          <a:rPr lang="en-CN" sz="2800" i="1" dirty="0" smtClean="0">
                            <a:latin typeface="Cambria Math" panose="02040503050406030204" pitchFamily="18" charset="0"/>
                          </a:rPr>
                        </m:ctrlPr>
                      </m:sSupPr>
                      <m:e>
                        <m:r>
                          <a:rPr lang="en-US" sz="2800" b="0" i="1" dirty="0" smtClean="0">
                            <a:latin typeface="Cambria Math" panose="02040503050406030204" pitchFamily="18" charset="0"/>
                          </a:rPr>
                          <m:t>                    </m:t>
                        </m:r>
                        <m:r>
                          <a:rPr lang="en-US" sz="2800" b="0" i="1" dirty="0" smtClean="0">
                            <a:latin typeface="Cambria Math" panose="02040503050406030204" pitchFamily="18" charset="0"/>
                          </a:rPr>
                          <m:t>𝑒</m:t>
                        </m:r>
                      </m:e>
                      <m:sup>
                        <m:r>
                          <a:rPr lang="en-US" sz="2800" b="0" i="1" dirty="0" smtClean="0">
                            <a:latin typeface="Cambria Math" panose="02040503050406030204" pitchFamily="18" charset="0"/>
                          </a:rPr>
                          <m:t>(</m:t>
                        </m:r>
                        <m:r>
                          <a:rPr lang="en-US" sz="2800" b="0" i="1" dirty="0" smtClean="0">
                            <a:latin typeface="Cambria Math" panose="02040503050406030204" pitchFamily="18" charset="0"/>
                          </a:rPr>
                          <m:t>𝑁</m:t>
                        </m:r>
                        <m:r>
                          <a:rPr lang="en-US" sz="2800" b="0" i="1" dirty="0" smtClean="0">
                            <a:latin typeface="Cambria Math" panose="02040503050406030204" pitchFamily="18" charset="0"/>
                            <a:ea typeface="Cambria Math" panose="02040503050406030204" pitchFamily="18" charset="0"/>
                          </a:rPr>
                          <m:t>𝜇</m:t>
                        </m:r>
                        <m:r>
                          <a:rPr lang="en-US" sz="2800" b="0" i="1" dirty="0" smtClean="0">
                            <a:latin typeface="Cambria Math" panose="02040503050406030204" pitchFamily="18" charset="0"/>
                            <a:ea typeface="Cambria Math" panose="02040503050406030204" pitchFamily="18" charset="0"/>
                          </a:rPr>
                          <m:t>−</m:t>
                        </m:r>
                        <m:r>
                          <a:rPr lang="en-US" sz="2800" b="0" i="1" dirty="0" smtClean="0">
                            <a:latin typeface="Cambria Math" panose="02040503050406030204" pitchFamily="18" charset="0"/>
                            <a:ea typeface="Cambria Math" panose="02040503050406030204" pitchFamily="18" charset="0"/>
                          </a:rPr>
                          <m:t>𝜀</m:t>
                        </m:r>
                        <m:r>
                          <a:rPr lang="en-US" sz="2800" b="0" i="1" dirty="0" smtClean="0">
                            <a:latin typeface="Cambria Math" panose="02040503050406030204" pitchFamily="18" charset="0"/>
                          </a:rPr>
                          <m:t>)/</m:t>
                        </m:r>
                        <m:r>
                          <a:rPr lang="en-US" sz="2800" b="0" i="1" dirty="0" smtClean="0">
                            <a:latin typeface="Cambria Math" panose="02040503050406030204" pitchFamily="18" charset="0"/>
                            <a:ea typeface="Cambria Math" panose="02040503050406030204" pitchFamily="18" charset="0"/>
                          </a:rPr>
                          <m:t>𝜏</m:t>
                        </m:r>
                      </m:sup>
                    </m:sSup>
                    <m:r>
                      <a:rPr lang="en-US" sz="2800" b="0" i="1" dirty="0" smtClean="0">
                        <a:latin typeface="Cambria Math" panose="02040503050406030204" pitchFamily="18" charset="0"/>
                        <a:ea typeface="Cambria Math" panose="02040503050406030204" pitchFamily="18" charset="0"/>
                      </a:rPr>
                      <m:t>=</m:t>
                    </m:r>
                    <m:sSup>
                      <m:sSupPr>
                        <m:ctrlPr>
                          <a:rPr lang="en-US" sz="2800" b="0" i="1" dirty="0" smtClean="0">
                            <a:latin typeface="Cambria Math" panose="02040503050406030204" pitchFamily="18" charset="0"/>
                            <a:ea typeface="Cambria Math" panose="02040503050406030204" pitchFamily="18" charset="0"/>
                          </a:rPr>
                        </m:ctrlPr>
                      </m:sSupPr>
                      <m:e>
                        <m:r>
                          <a:rPr lang="en-US" sz="2800" b="0" i="1" dirty="0" smtClean="0">
                            <a:latin typeface="Cambria Math" panose="02040503050406030204" pitchFamily="18" charset="0"/>
                            <a:ea typeface="Cambria Math" panose="02040503050406030204" pitchFamily="18" charset="0"/>
                          </a:rPr>
                          <m:t>𝜆</m:t>
                        </m:r>
                      </m:e>
                      <m:sup>
                        <m:r>
                          <a:rPr lang="en-US" sz="2800" b="0" i="1" dirty="0" smtClean="0">
                            <a:latin typeface="Cambria Math" panose="02040503050406030204" pitchFamily="18" charset="0"/>
                            <a:ea typeface="Cambria Math" panose="02040503050406030204" pitchFamily="18" charset="0"/>
                          </a:rPr>
                          <m:t>𝑁</m:t>
                        </m:r>
                      </m:sup>
                    </m:sSup>
                    <m:sSup>
                      <m:sSupPr>
                        <m:ctrlPr>
                          <a:rPr lang="en-US" sz="2800" b="0" i="1" dirty="0" smtClean="0">
                            <a:latin typeface="Cambria Math" panose="02040503050406030204" pitchFamily="18" charset="0"/>
                            <a:ea typeface="Cambria Math" panose="02040503050406030204" pitchFamily="18" charset="0"/>
                          </a:rPr>
                        </m:ctrlPr>
                      </m:sSupPr>
                      <m:e>
                        <m:r>
                          <a:rPr lang="en-US" sz="2800" b="0" i="1" dirty="0" smtClean="0">
                            <a:latin typeface="Cambria Math" panose="02040503050406030204" pitchFamily="18" charset="0"/>
                            <a:ea typeface="Cambria Math" panose="02040503050406030204" pitchFamily="18" charset="0"/>
                          </a:rPr>
                          <m:t>𝑒</m:t>
                        </m:r>
                      </m:e>
                      <m:sup>
                        <m:r>
                          <a:rPr lang="en-US" sz="2800" b="0" i="1" dirty="0" smtClean="0">
                            <a:latin typeface="Cambria Math" panose="02040503050406030204" pitchFamily="18" charset="0"/>
                            <a:ea typeface="Cambria Math" panose="02040503050406030204" pitchFamily="18" charset="0"/>
                          </a:rPr>
                          <m:t>−</m:t>
                        </m:r>
                        <m:r>
                          <a:rPr lang="en-US" sz="2800" b="0" i="1" dirty="0" smtClean="0">
                            <a:latin typeface="Cambria Math" panose="02040503050406030204" pitchFamily="18" charset="0"/>
                            <a:ea typeface="Cambria Math" panose="02040503050406030204" pitchFamily="18" charset="0"/>
                          </a:rPr>
                          <m:t>𝜀</m:t>
                        </m:r>
                        <m:r>
                          <a:rPr lang="en-US" sz="2800" b="0" i="1" dirty="0" smtClean="0">
                            <a:latin typeface="Cambria Math" panose="02040503050406030204" pitchFamily="18" charset="0"/>
                            <a:ea typeface="Cambria Math" panose="02040503050406030204" pitchFamily="18" charset="0"/>
                          </a:rPr>
                          <m:t>/</m:t>
                        </m:r>
                        <m:r>
                          <a:rPr lang="en-US" sz="2800" b="0" i="1" dirty="0" smtClean="0">
                            <a:latin typeface="Cambria Math" panose="02040503050406030204" pitchFamily="18" charset="0"/>
                            <a:ea typeface="Cambria Math" panose="02040503050406030204" pitchFamily="18" charset="0"/>
                          </a:rPr>
                          <m:t>𝜏</m:t>
                        </m:r>
                      </m:sup>
                    </m:sSup>
                  </m:oMath>
                </a14:m>
                <a:endParaRPr lang="en-CN" sz="2800" dirty="0"/>
              </a:p>
              <a:p>
                <a:r>
                  <a:rPr lang="en-US" sz="2800" dirty="0" err="1"/>
                  <a:t>配分函数</a:t>
                </a:r>
                <a:endParaRPr lang="en-US" sz="2800" dirty="0"/>
              </a:p>
              <a:p>
                <a:r>
                  <a:rPr lang="zh-CN" altLang="en-US" sz="2800" b="0" dirty="0"/>
                  <a:t>                   </a:t>
                </a:r>
                <a:r>
                  <a:rPr lang="en-US" altLang="zh-CN" sz="2800" b="0" dirty="0"/>
                  <a:t>  </a:t>
                </a:r>
                <a14:m>
                  <m:oMath xmlns:m="http://schemas.openxmlformats.org/officeDocument/2006/math">
                    <m:r>
                      <a:rPr lang="en-US" altLang="zh-CN" sz="2800" b="0" i="1" smtClean="0">
                        <a:latin typeface="Cambria Math" panose="02040503050406030204" pitchFamily="18" charset="0"/>
                      </a:rPr>
                      <m:t>𝑔</m:t>
                    </m:r>
                    <m:r>
                      <a:rPr lang="en-US" altLang="zh-CN" sz="2800" b="0" i="1" smtClean="0">
                        <a:latin typeface="Cambria Math" panose="02040503050406030204" pitchFamily="18" charset="0"/>
                      </a:rPr>
                      <m:t>=</m:t>
                    </m:r>
                    <m:nary>
                      <m:naryPr>
                        <m:chr m:val="∑"/>
                        <m:subHide m:val="on"/>
                        <m:supHide m:val="on"/>
                        <m:ctrlPr>
                          <a:rPr lang="en-US" altLang="zh-CN" sz="2800" b="0" i="1" smtClean="0">
                            <a:latin typeface="Cambria Math" panose="02040503050406030204" pitchFamily="18" charset="0"/>
                          </a:rPr>
                        </m:ctrlPr>
                      </m:naryPr>
                      <m:sub/>
                      <m:sup/>
                      <m:e/>
                    </m:nary>
                  </m:oMath>
                </a14:m>
                <a:r>
                  <a:rPr lang="en-US" sz="2800" b="0" dirty="0"/>
                  <a:t>                 </a:t>
                </a:r>
                <a14:m>
                  <m:oMath xmlns:m="http://schemas.openxmlformats.org/officeDocument/2006/math">
                    <m:r>
                      <a:rPr lang="en-US" sz="2800" b="0" i="1" dirty="0" smtClean="0">
                        <a:latin typeface="Cambria Math" panose="02040503050406030204" pitchFamily="18" charset="0"/>
                      </a:rPr>
                      <m:t>𝑍</m:t>
                    </m:r>
                    <m:r>
                      <a:rPr lang="en-US" sz="2800" b="0" i="1" dirty="0" smtClean="0">
                        <a:latin typeface="Cambria Math" panose="02040503050406030204" pitchFamily="18" charset="0"/>
                      </a:rPr>
                      <m:t>=</m:t>
                    </m:r>
                    <m:nary>
                      <m:naryPr>
                        <m:chr m:val="∑"/>
                        <m:supHide m:val="on"/>
                        <m:ctrlPr>
                          <a:rPr lang="en-US" sz="2800" b="0" i="1" dirty="0" smtClean="0">
                            <a:latin typeface="Cambria Math" panose="02040503050406030204" pitchFamily="18" charset="0"/>
                          </a:rPr>
                        </m:ctrlPr>
                      </m:naryPr>
                      <m:sub>
                        <m:r>
                          <m:rPr>
                            <m:brk m:alnAt="7"/>
                          </m:rPr>
                          <a:rPr lang="en-US" sz="2800" b="0" i="1" dirty="0" smtClean="0">
                            <a:latin typeface="Cambria Math" panose="02040503050406030204" pitchFamily="18" charset="0"/>
                          </a:rPr>
                          <m:t>𝑠</m:t>
                        </m:r>
                      </m:sub>
                      <m:sup/>
                      <m:e/>
                    </m:nary>
                  </m:oMath>
                </a14:m>
                <a:r>
                  <a:rPr lang="en-US" sz="2800" b="0" dirty="0"/>
                  <a:t>                           </a:t>
                </a:r>
                <a14:m>
                  <m:oMath xmlns:m="http://schemas.openxmlformats.org/officeDocument/2006/math">
                    <m:r>
                      <a:rPr lang="en-US" sz="2800" b="0" i="1" dirty="0" smtClean="0">
                        <a:latin typeface="Cambria Math" panose="02040503050406030204" pitchFamily="18" charset="0"/>
                        <a:ea typeface="Cambria Math" panose="02040503050406030204" pitchFamily="18" charset="0"/>
                      </a:rPr>
                      <m:t>𝒵</m:t>
                    </m:r>
                    <m:r>
                      <a:rPr lang="en-US" sz="2800" b="0" i="1" dirty="0" smtClean="0">
                        <a:latin typeface="Cambria Math" panose="02040503050406030204" pitchFamily="18" charset="0"/>
                        <a:ea typeface="Cambria Math" panose="02040503050406030204" pitchFamily="18" charset="0"/>
                      </a:rPr>
                      <m:t>=</m:t>
                    </m:r>
                    <m:nary>
                      <m:naryPr>
                        <m:chr m:val="∑"/>
                        <m:supHide m:val="on"/>
                        <m:ctrlPr>
                          <a:rPr lang="en-US" sz="2800" b="0" i="1" dirty="0" smtClean="0">
                            <a:latin typeface="Cambria Math" panose="02040503050406030204" pitchFamily="18" charset="0"/>
                            <a:ea typeface="Cambria Math" panose="02040503050406030204" pitchFamily="18" charset="0"/>
                          </a:rPr>
                        </m:ctrlPr>
                      </m:naryPr>
                      <m:sub>
                        <m:r>
                          <m:rPr>
                            <m:brk m:alnAt="7"/>
                          </m:rPr>
                          <a:rPr lang="en-US" sz="2800" b="0" i="1" dirty="0" smtClean="0">
                            <a:latin typeface="Cambria Math" panose="02040503050406030204" pitchFamily="18" charset="0"/>
                            <a:ea typeface="Cambria Math" panose="02040503050406030204" pitchFamily="18" charset="0"/>
                          </a:rPr>
                          <m:t>𝐴</m:t>
                        </m:r>
                        <m:r>
                          <a:rPr lang="en-US" sz="2800" b="0" i="1" dirty="0" smtClean="0">
                            <a:latin typeface="Cambria Math" panose="02040503050406030204" pitchFamily="18" charset="0"/>
                            <a:ea typeface="Cambria Math" panose="02040503050406030204" pitchFamily="18" charset="0"/>
                          </a:rPr>
                          <m:t>𝑆𝑁</m:t>
                        </m:r>
                      </m:sub>
                      <m:sup/>
                      <m:e/>
                    </m:nary>
                  </m:oMath>
                </a14:m>
                <a:endParaRPr lang="en-US" sz="2800" b="0" dirty="0"/>
              </a:p>
              <a:p>
                <a:r>
                  <a:rPr lang="en-US" sz="2800" b="0" dirty="0" err="1"/>
                  <a:t>极值</a:t>
                </a:r>
                <a:endParaRPr lang="en-US" sz="2800" b="0" dirty="0"/>
              </a:p>
              <a:p>
                <a:r>
                  <a:rPr lang="zh-CN" altLang="en-US" sz="2800" dirty="0"/>
                  <a:t>              </a:t>
                </a:r>
                <a14:m>
                  <m:oMath xmlns:m="http://schemas.openxmlformats.org/officeDocument/2006/math">
                    <m:r>
                      <a:rPr lang="en-US" altLang="zh-CN" sz="2800" b="0" i="0" smtClean="0">
                        <a:latin typeface="Cambria Math" panose="02040503050406030204" pitchFamily="18" charset="0"/>
                      </a:rPr>
                      <m:t>    </m:t>
                    </m:r>
                    <m:r>
                      <a:rPr lang="zh-CN" altLang="en-US" sz="2800" i="1" smtClean="0">
                        <a:latin typeface="Cambria Math" panose="02040503050406030204" pitchFamily="18" charset="0"/>
                      </a:rPr>
                      <m:t>𝜎</m:t>
                    </m:r>
                    <m:r>
                      <a:rPr lang="en-US" altLang="zh-CN" sz="2800" b="0" i="1" smtClean="0">
                        <a:latin typeface="Cambria Math" panose="02040503050406030204" pitchFamily="18" charset="0"/>
                      </a:rPr>
                      <m:t>=</m:t>
                    </m:r>
                    <m:func>
                      <m:funcPr>
                        <m:ctrlPr>
                          <a:rPr lang="en-US" altLang="zh-CN" sz="2800" b="0" i="1" smtClean="0">
                            <a:latin typeface="Cambria Math" panose="02040503050406030204" pitchFamily="18" charset="0"/>
                          </a:rPr>
                        </m:ctrlPr>
                      </m:funcPr>
                      <m:fName>
                        <m:r>
                          <m:rPr>
                            <m:sty m:val="p"/>
                          </m:rPr>
                          <a:rPr lang="en-US" altLang="zh-CN" sz="2800" b="0" i="0" smtClean="0">
                            <a:latin typeface="Cambria Math" panose="02040503050406030204" pitchFamily="18" charset="0"/>
                          </a:rPr>
                          <m:t>log</m:t>
                        </m:r>
                      </m:fName>
                      <m:e>
                        <m:r>
                          <a:rPr lang="en-US" altLang="zh-CN" sz="2800" b="0" i="1" smtClean="0">
                            <a:latin typeface="Cambria Math" panose="02040503050406030204" pitchFamily="18" charset="0"/>
                          </a:rPr>
                          <m:t>𝑔</m:t>
                        </m:r>
                      </m:e>
                    </m:func>
                  </m:oMath>
                </a14:m>
                <a:r>
                  <a:rPr lang="en-US" sz="2800" b="0" dirty="0"/>
                  <a:t>                    </a:t>
                </a:r>
                <a14:m>
                  <m:oMath xmlns:m="http://schemas.openxmlformats.org/officeDocument/2006/math">
                    <m:r>
                      <a:rPr lang="en-US" sz="2800" b="0" i="1" dirty="0" smtClean="0">
                        <a:latin typeface="Cambria Math" panose="02040503050406030204" pitchFamily="18" charset="0"/>
                      </a:rPr>
                      <m:t>𝐹</m:t>
                    </m:r>
                    <m:r>
                      <a:rPr lang="en-US" sz="2800" b="0" i="1" dirty="0" smtClean="0">
                        <a:latin typeface="Cambria Math" panose="02040503050406030204" pitchFamily="18" charset="0"/>
                      </a:rPr>
                      <m:t>=−</m:t>
                    </m:r>
                    <m:r>
                      <a:rPr lang="en-US" sz="2800" b="0" i="1" dirty="0" smtClean="0">
                        <a:latin typeface="Cambria Math" panose="02040503050406030204" pitchFamily="18" charset="0"/>
                        <a:ea typeface="Cambria Math" panose="02040503050406030204" pitchFamily="18" charset="0"/>
                      </a:rPr>
                      <m:t>𝜏</m:t>
                    </m:r>
                    <m:func>
                      <m:funcPr>
                        <m:ctrlPr>
                          <a:rPr lang="en-US" sz="2800" b="0" i="1" dirty="0" smtClean="0">
                            <a:latin typeface="Cambria Math" panose="02040503050406030204" pitchFamily="18" charset="0"/>
                            <a:ea typeface="Cambria Math" panose="02040503050406030204" pitchFamily="18" charset="0"/>
                          </a:rPr>
                        </m:ctrlPr>
                      </m:funcPr>
                      <m:fName>
                        <m:r>
                          <m:rPr>
                            <m:sty m:val="p"/>
                          </m:rPr>
                          <a:rPr lang="en-US" sz="2800" b="0" i="0" dirty="0" smtClean="0">
                            <a:latin typeface="Cambria Math" panose="02040503050406030204" pitchFamily="18" charset="0"/>
                            <a:ea typeface="Cambria Math" panose="02040503050406030204" pitchFamily="18" charset="0"/>
                          </a:rPr>
                          <m:t>log</m:t>
                        </m:r>
                      </m:fName>
                      <m:e>
                        <m:r>
                          <a:rPr lang="en-US" sz="2800" b="0" i="1" dirty="0" smtClean="0">
                            <a:latin typeface="Cambria Math" panose="02040503050406030204" pitchFamily="18" charset="0"/>
                            <a:ea typeface="Cambria Math" panose="02040503050406030204" pitchFamily="18" charset="0"/>
                          </a:rPr>
                          <m:t>𝑍</m:t>
                        </m:r>
                      </m:e>
                    </m:func>
                  </m:oMath>
                </a14:m>
                <a:r>
                  <a:rPr lang="en-US" sz="2800" b="0" dirty="0"/>
                  <a:t>                     </a:t>
                </a:r>
                <a14:m>
                  <m:oMath xmlns:m="http://schemas.openxmlformats.org/officeDocument/2006/math">
                    <m:r>
                      <m:rPr>
                        <m:sty m:val="p"/>
                      </m:rPr>
                      <a:rPr lang="el-GR" sz="2800" b="0" i="1" dirty="0" smtClean="0">
                        <a:solidFill>
                          <a:srgbClr val="7030A0"/>
                        </a:solidFill>
                        <a:latin typeface="Cambria Math" panose="02040503050406030204" pitchFamily="18" charset="0"/>
                        <a:ea typeface="Cambria Math" panose="02040503050406030204" pitchFamily="18" charset="0"/>
                      </a:rPr>
                      <m:t>Ω</m:t>
                    </m:r>
                    <m:r>
                      <a:rPr lang="en-US" sz="2800" b="0" i="1" dirty="0" smtClean="0">
                        <a:solidFill>
                          <a:srgbClr val="7030A0"/>
                        </a:solidFill>
                        <a:latin typeface="Cambria Math" panose="02040503050406030204" pitchFamily="18" charset="0"/>
                        <a:ea typeface="Cambria Math" panose="02040503050406030204" pitchFamily="18" charset="0"/>
                      </a:rPr>
                      <m:t>=−</m:t>
                    </m:r>
                    <m:r>
                      <a:rPr lang="en-US" sz="2800" b="0" i="1" dirty="0" smtClean="0">
                        <a:solidFill>
                          <a:srgbClr val="7030A0"/>
                        </a:solidFill>
                        <a:latin typeface="Cambria Math" panose="02040503050406030204" pitchFamily="18" charset="0"/>
                        <a:ea typeface="Cambria Math" panose="02040503050406030204" pitchFamily="18" charset="0"/>
                      </a:rPr>
                      <m:t>𝜏</m:t>
                    </m:r>
                    <m:func>
                      <m:funcPr>
                        <m:ctrlPr>
                          <a:rPr lang="en-US" sz="2800" b="0" i="1" dirty="0" smtClean="0">
                            <a:solidFill>
                              <a:srgbClr val="7030A0"/>
                            </a:solidFill>
                            <a:latin typeface="Cambria Math" panose="02040503050406030204" pitchFamily="18" charset="0"/>
                            <a:ea typeface="Cambria Math" panose="02040503050406030204" pitchFamily="18" charset="0"/>
                          </a:rPr>
                        </m:ctrlPr>
                      </m:funcPr>
                      <m:fName>
                        <m:r>
                          <m:rPr>
                            <m:sty m:val="p"/>
                          </m:rPr>
                          <a:rPr lang="en-US" sz="2800" b="0" i="0" dirty="0" smtClean="0">
                            <a:solidFill>
                              <a:srgbClr val="7030A0"/>
                            </a:solidFill>
                            <a:latin typeface="Cambria Math" panose="02040503050406030204" pitchFamily="18" charset="0"/>
                            <a:ea typeface="Cambria Math" panose="02040503050406030204" pitchFamily="18" charset="0"/>
                          </a:rPr>
                          <m:t>log</m:t>
                        </m:r>
                      </m:fName>
                      <m:e>
                        <m:r>
                          <a:rPr lang="en-US" sz="2800" b="0" i="1" dirty="0" smtClean="0">
                            <a:solidFill>
                              <a:srgbClr val="7030A0"/>
                            </a:solidFill>
                            <a:latin typeface="Cambria Math" panose="02040503050406030204" pitchFamily="18" charset="0"/>
                            <a:ea typeface="Cambria Math" panose="02040503050406030204" pitchFamily="18" charset="0"/>
                          </a:rPr>
                          <m:t>𝒵</m:t>
                        </m:r>
                      </m:e>
                    </m:func>
                  </m:oMath>
                </a14:m>
                <a:endParaRPr lang="en-US" sz="2800" b="0" dirty="0"/>
              </a:p>
              <a:p>
                <a:r>
                  <a:rPr lang="en-US" sz="2800" dirty="0" err="1"/>
                  <a:t>Legendre变换</a:t>
                </a:r>
                <a:endParaRPr lang="en-US" sz="2800" dirty="0"/>
              </a:p>
              <a:p>
                <a:r>
                  <a:rPr lang="zh-CN" altLang="en-US" sz="2800" b="0" dirty="0"/>
                  <a:t>                                                     </a:t>
                </a:r>
                <a:r>
                  <a:rPr lang="en-US" altLang="zh-CN" sz="2800" b="0" dirty="0"/>
                  <a:t>  </a:t>
                </a:r>
                <a14:m>
                  <m:oMath xmlns:m="http://schemas.openxmlformats.org/officeDocument/2006/math">
                    <m:r>
                      <a:rPr lang="en-US" altLang="zh-CN" sz="2800" b="0" i="1" smtClean="0">
                        <a:latin typeface="Cambria Math" panose="02040503050406030204" pitchFamily="18" charset="0"/>
                      </a:rPr>
                      <m:t>𝐹</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𝑈</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𝜎𝜏</m:t>
                    </m:r>
                  </m:oMath>
                </a14:m>
                <a:r>
                  <a:rPr lang="en-US" sz="2800" b="0" dirty="0"/>
                  <a:t>                       </a:t>
                </a:r>
                <a14:m>
                  <m:oMath xmlns:m="http://schemas.openxmlformats.org/officeDocument/2006/math">
                    <m:r>
                      <m:rPr>
                        <m:sty m:val="p"/>
                      </m:rPr>
                      <a:rPr lang="el-GR" sz="2800" b="0" i="1" dirty="0" smtClean="0">
                        <a:solidFill>
                          <a:srgbClr val="7030A0"/>
                        </a:solidFill>
                        <a:latin typeface="Cambria Math" panose="02040503050406030204" pitchFamily="18" charset="0"/>
                        <a:ea typeface="Cambria Math" panose="02040503050406030204" pitchFamily="18" charset="0"/>
                      </a:rPr>
                      <m:t>Ω</m:t>
                    </m:r>
                    <m:r>
                      <a:rPr lang="en-US" sz="2800" b="0" i="1" dirty="0" smtClean="0">
                        <a:solidFill>
                          <a:srgbClr val="7030A0"/>
                        </a:solidFill>
                        <a:latin typeface="Cambria Math" panose="02040503050406030204" pitchFamily="18" charset="0"/>
                        <a:ea typeface="Cambria Math" panose="02040503050406030204" pitchFamily="18" charset="0"/>
                      </a:rPr>
                      <m:t>=</m:t>
                    </m:r>
                    <m:r>
                      <a:rPr lang="en-US" sz="2800" b="0" i="1" dirty="0" smtClean="0">
                        <a:solidFill>
                          <a:srgbClr val="7030A0"/>
                        </a:solidFill>
                        <a:latin typeface="Cambria Math" panose="02040503050406030204" pitchFamily="18" charset="0"/>
                        <a:ea typeface="Cambria Math" panose="02040503050406030204" pitchFamily="18" charset="0"/>
                      </a:rPr>
                      <m:t>𝑈</m:t>
                    </m:r>
                    <m:r>
                      <a:rPr lang="en-US" sz="2800" b="0" i="1" dirty="0" smtClean="0">
                        <a:solidFill>
                          <a:srgbClr val="7030A0"/>
                        </a:solidFill>
                        <a:latin typeface="Cambria Math" panose="02040503050406030204" pitchFamily="18" charset="0"/>
                        <a:ea typeface="Cambria Math" panose="02040503050406030204" pitchFamily="18" charset="0"/>
                      </a:rPr>
                      <m:t>−</m:t>
                    </m:r>
                    <m:r>
                      <a:rPr lang="en-US" sz="2800" b="0" i="1" dirty="0" smtClean="0">
                        <a:solidFill>
                          <a:srgbClr val="7030A0"/>
                        </a:solidFill>
                        <a:latin typeface="Cambria Math" panose="02040503050406030204" pitchFamily="18" charset="0"/>
                        <a:ea typeface="Cambria Math" panose="02040503050406030204" pitchFamily="18" charset="0"/>
                      </a:rPr>
                      <m:t>𝜎𝜏</m:t>
                    </m:r>
                    <m:r>
                      <a:rPr lang="en-US" sz="2800" b="0" i="1" dirty="0" smtClean="0">
                        <a:solidFill>
                          <a:srgbClr val="7030A0"/>
                        </a:solidFill>
                        <a:latin typeface="Cambria Math" panose="02040503050406030204" pitchFamily="18" charset="0"/>
                        <a:ea typeface="Cambria Math" panose="02040503050406030204" pitchFamily="18" charset="0"/>
                      </a:rPr>
                      <m:t>−</m:t>
                    </m:r>
                    <m:r>
                      <a:rPr lang="en-US" sz="2800" b="0" i="1" dirty="0" smtClean="0">
                        <a:solidFill>
                          <a:srgbClr val="7030A0"/>
                        </a:solidFill>
                        <a:latin typeface="Cambria Math" panose="02040503050406030204" pitchFamily="18" charset="0"/>
                        <a:ea typeface="Cambria Math" panose="02040503050406030204" pitchFamily="18" charset="0"/>
                      </a:rPr>
                      <m:t>𝑁</m:t>
                    </m:r>
                    <m:r>
                      <a:rPr lang="en-US" sz="2800" b="0" i="1" dirty="0" smtClean="0">
                        <a:solidFill>
                          <a:srgbClr val="7030A0"/>
                        </a:solidFill>
                        <a:latin typeface="Cambria Math" panose="02040503050406030204" pitchFamily="18" charset="0"/>
                        <a:ea typeface="Cambria Math" panose="02040503050406030204" pitchFamily="18" charset="0"/>
                      </a:rPr>
                      <m:t>𝜇</m:t>
                    </m:r>
                  </m:oMath>
                </a14:m>
                <a:endParaRPr lang="en-US" sz="2800" b="0" dirty="0"/>
              </a:p>
            </p:txBody>
          </p:sp>
        </mc:Choice>
        <mc:Fallback xmlns="">
          <p:sp>
            <p:nvSpPr>
              <p:cNvPr id="13" name="TextBox 12">
                <a:extLst>
                  <a:ext uri="{FF2B5EF4-FFF2-40B4-BE49-F238E27FC236}">
                    <a16:creationId xmlns:a16="http://schemas.microsoft.com/office/drawing/2014/main" id="{F400D193-1928-8249-A4B2-7BF566FCB586}"/>
                  </a:ext>
                </a:extLst>
              </p:cNvPr>
              <p:cNvSpPr txBox="1">
                <a:spLocks noRot="1" noChangeAspect="1" noMove="1" noResize="1" noEditPoints="1" noAdjustHandles="1" noChangeArrowheads="1" noChangeShapeType="1" noTextEdit="1"/>
              </p:cNvSpPr>
              <p:nvPr/>
            </p:nvSpPr>
            <p:spPr>
              <a:xfrm>
                <a:off x="361508" y="2822646"/>
                <a:ext cx="11504428" cy="3145413"/>
              </a:xfrm>
              <a:prstGeom prst="rect">
                <a:avLst/>
              </a:prstGeom>
              <a:blipFill>
                <a:blip r:embed="rId4"/>
                <a:stretch>
                  <a:fillRect l="-1103" t="-1613" b="-1210"/>
                </a:stretch>
              </a:blipFill>
            </p:spPr>
            <p:txBody>
              <a:bodyPr/>
              <a:lstStyle/>
              <a:p>
                <a:r>
                  <a:rPr lang="en-CN">
                    <a:noFill/>
                  </a:rPr>
                  <a:t> </a:t>
                </a:r>
              </a:p>
            </p:txBody>
          </p:sp>
        </mc:Fallback>
      </mc:AlternateContent>
      <p:sp>
        <p:nvSpPr>
          <p:cNvPr id="14" name="TextBox 13">
            <a:extLst>
              <a:ext uri="{FF2B5EF4-FFF2-40B4-BE49-F238E27FC236}">
                <a16:creationId xmlns:a16="http://schemas.microsoft.com/office/drawing/2014/main" id="{62DC121E-A93B-6E41-A0A2-88AF9F16A394}"/>
              </a:ext>
            </a:extLst>
          </p:cNvPr>
          <p:cNvSpPr txBox="1"/>
          <p:nvPr/>
        </p:nvSpPr>
        <p:spPr>
          <a:xfrm>
            <a:off x="1765005" y="1020726"/>
            <a:ext cx="1679944" cy="400110"/>
          </a:xfrm>
          <a:prstGeom prst="rect">
            <a:avLst/>
          </a:prstGeom>
          <a:noFill/>
        </p:spPr>
        <p:txBody>
          <a:bodyPr wrap="square" rtlCol="0">
            <a:spAutoFit/>
          </a:bodyPr>
          <a:lstStyle/>
          <a:p>
            <a:pPr algn="ctr"/>
            <a:r>
              <a:rPr lang="en-CN" sz="2000" dirty="0">
                <a:solidFill>
                  <a:srgbClr val="FF0000"/>
                </a:solidFill>
              </a:rPr>
              <a:t>U,V,N fixed</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C5F70BA-DF7C-F04D-983C-FBD1764AB72B}"/>
                  </a:ext>
                </a:extLst>
              </p:cNvPr>
              <p:cNvSpPr txBox="1"/>
              <p:nvPr/>
            </p:nvSpPr>
            <p:spPr>
              <a:xfrm>
                <a:off x="5481084" y="1020726"/>
                <a:ext cx="1679944" cy="400110"/>
              </a:xfrm>
              <a:prstGeom prst="rect">
                <a:avLst/>
              </a:prstGeom>
              <a:noFill/>
            </p:spPr>
            <p:txBody>
              <a:bodyPr wrap="square" rtlCol="0">
                <a:spAutoFit/>
              </a:bodyPr>
              <a:lstStyle/>
              <a:p>
                <a:pPr algn="ctr"/>
                <a14:m>
                  <m:oMath xmlns:m="http://schemas.openxmlformats.org/officeDocument/2006/math">
                    <m:r>
                      <a:rPr lang="en-CN" sz="2000" i="1" smtClean="0">
                        <a:solidFill>
                          <a:srgbClr val="FF0000"/>
                        </a:solidFill>
                        <a:latin typeface="Cambria Math" panose="02040503050406030204" pitchFamily="18" charset="0"/>
                        <a:ea typeface="Cambria Math" panose="02040503050406030204" pitchFamily="18" charset="0"/>
                      </a:rPr>
                      <m:t>𝜏</m:t>
                    </m:r>
                  </m:oMath>
                </a14:m>
                <a:r>
                  <a:rPr lang="en-CN" sz="2000" dirty="0">
                    <a:solidFill>
                      <a:srgbClr val="FF0000"/>
                    </a:solidFill>
                  </a:rPr>
                  <a:t>,V,N fixed</a:t>
                </a:r>
              </a:p>
            </p:txBody>
          </p:sp>
        </mc:Choice>
        <mc:Fallback xmlns="">
          <p:sp>
            <p:nvSpPr>
              <p:cNvPr id="15" name="TextBox 14">
                <a:extLst>
                  <a:ext uri="{FF2B5EF4-FFF2-40B4-BE49-F238E27FC236}">
                    <a16:creationId xmlns:a16="http://schemas.microsoft.com/office/drawing/2014/main" id="{7C5F70BA-DF7C-F04D-983C-FBD1764AB72B}"/>
                  </a:ext>
                </a:extLst>
              </p:cNvPr>
              <p:cNvSpPr txBox="1">
                <a:spLocks noRot="1" noChangeAspect="1" noMove="1" noResize="1" noEditPoints="1" noAdjustHandles="1" noChangeArrowheads="1" noChangeShapeType="1" noTextEdit="1"/>
              </p:cNvSpPr>
              <p:nvPr/>
            </p:nvSpPr>
            <p:spPr>
              <a:xfrm>
                <a:off x="5481084" y="1020726"/>
                <a:ext cx="1679944" cy="400110"/>
              </a:xfrm>
              <a:prstGeom prst="rect">
                <a:avLst/>
              </a:prstGeom>
              <a:blipFill>
                <a:blip r:embed="rId5"/>
                <a:stretch>
                  <a:fillRect t="-9375" b="-2812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8433430-E5A5-D141-8645-30B65B19C3C8}"/>
                  </a:ext>
                </a:extLst>
              </p:cNvPr>
              <p:cNvSpPr txBox="1"/>
              <p:nvPr/>
            </p:nvSpPr>
            <p:spPr>
              <a:xfrm>
                <a:off x="9074889" y="1020726"/>
                <a:ext cx="1679944" cy="400110"/>
              </a:xfrm>
              <a:prstGeom prst="rect">
                <a:avLst/>
              </a:prstGeom>
              <a:noFill/>
            </p:spPr>
            <p:txBody>
              <a:bodyPr wrap="square" rtlCol="0">
                <a:spAutoFit/>
              </a:bodyPr>
              <a:lstStyle/>
              <a:p>
                <a:pPr algn="ctr"/>
                <a14:m>
                  <m:oMath xmlns:m="http://schemas.openxmlformats.org/officeDocument/2006/math">
                    <m:r>
                      <a:rPr lang="en-CN" sz="2000" i="1" smtClean="0">
                        <a:solidFill>
                          <a:srgbClr val="FF0000"/>
                        </a:solidFill>
                        <a:latin typeface="Cambria Math" panose="02040503050406030204" pitchFamily="18" charset="0"/>
                        <a:ea typeface="Cambria Math" panose="02040503050406030204" pitchFamily="18" charset="0"/>
                      </a:rPr>
                      <m:t>𝜏</m:t>
                    </m:r>
                  </m:oMath>
                </a14:m>
                <a:r>
                  <a:rPr lang="en-CN" sz="2000" dirty="0">
                    <a:solidFill>
                      <a:srgbClr val="FF0000"/>
                    </a:solidFill>
                  </a:rPr>
                  <a:t>,V,</a:t>
                </a:r>
                <a14:m>
                  <m:oMath xmlns:m="http://schemas.openxmlformats.org/officeDocument/2006/math">
                    <m:r>
                      <a:rPr lang="en-CN" sz="2000" i="1" smtClean="0">
                        <a:solidFill>
                          <a:srgbClr val="FF0000"/>
                        </a:solidFill>
                        <a:latin typeface="Cambria Math" panose="02040503050406030204" pitchFamily="18" charset="0"/>
                        <a:ea typeface="Cambria Math" panose="02040503050406030204" pitchFamily="18" charset="0"/>
                      </a:rPr>
                      <m:t>𝜇</m:t>
                    </m:r>
                  </m:oMath>
                </a14:m>
                <a:r>
                  <a:rPr lang="en-CN" sz="2000" dirty="0">
                    <a:solidFill>
                      <a:srgbClr val="FF0000"/>
                    </a:solidFill>
                  </a:rPr>
                  <a:t> fixed</a:t>
                </a:r>
              </a:p>
            </p:txBody>
          </p:sp>
        </mc:Choice>
        <mc:Fallback xmlns="">
          <p:sp>
            <p:nvSpPr>
              <p:cNvPr id="16" name="TextBox 15">
                <a:extLst>
                  <a:ext uri="{FF2B5EF4-FFF2-40B4-BE49-F238E27FC236}">
                    <a16:creationId xmlns:a16="http://schemas.microsoft.com/office/drawing/2014/main" id="{A8433430-E5A5-D141-8645-30B65B19C3C8}"/>
                  </a:ext>
                </a:extLst>
              </p:cNvPr>
              <p:cNvSpPr txBox="1">
                <a:spLocks noRot="1" noChangeAspect="1" noMove="1" noResize="1" noEditPoints="1" noAdjustHandles="1" noChangeArrowheads="1" noChangeShapeType="1" noTextEdit="1"/>
              </p:cNvSpPr>
              <p:nvPr/>
            </p:nvSpPr>
            <p:spPr>
              <a:xfrm>
                <a:off x="9074889" y="1020726"/>
                <a:ext cx="1679944" cy="400110"/>
              </a:xfrm>
              <a:prstGeom prst="rect">
                <a:avLst/>
              </a:prstGeom>
              <a:blipFill>
                <a:blip r:embed="rId6"/>
                <a:stretch>
                  <a:fillRect t="-9375" b="-28125"/>
                </a:stretch>
              </a:blipFill>
            </p:spPr>
            <p:txBody>
              <a:bodyPr/>
              <a:lstStyle/>
              <a:p>
                <a:r>
                  <a:rPr lang="en-CN">
                    <a:noFill/>
                  </a:rPr>
                  <a:t> </a:t>
                </a:r>
              </a:p>
            </p:txBody>
          </p:sp>
        </mc:Fallback>
      </mc:AlternateContent>
    </p:spTree>
    <p:extLst>
      <p:ext uri="{BB962C8B-B14F-4D97-AF65-F5344CB8AC3E}">
        <p14:creationId xmlns:p14="http://schemas.microsoft.com/office/powerpoint/2010/main" val="25277307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1BDFF37-1CD1-EA44-92D0-02D9CE0A17FC}"/>
              </a:ext>
            </a:extLst>
          </p:cNvPr>
          <p:cNvPicPr>
            <a:picLocks noChangeAspect="1"/>
          </p:cNvPicPr>
          <p:nvPr/>
        </p:nvPicPr>
        <p:blipFill>
          <a:blip r:embed="rId2"/>
          <a:stretch>
            <a:fillRect/>
          </a:stretch>
        </p:blipFill>
        <p:spPr>
          <a:xfrm>
            <a:off x="1834696" y="0"/>
            <a:ext cx="8167448" cy="4020324"/>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C0A0145-301D-2640-A8E1-B90088B4413F}"/>
                  </a:ext>
                </a:extLst>
              </p:cNvPr>
              <p:cNvSpPr txBox="1"/>
              <p:nvPr/>
            </p:nvSpPr>
            <p:spPr>
              <a:xfrm>
                <a:off x="581891" y="4447309"/>
                <a:ext cx="10155382"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𝑅</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𝑈</m:t>
                              </m:r>
                            </m:e>
                            <m:sub>
                              <m:r>
                                <a:rPr lang="en-US" b="0" i="1" smtClean="0">
                                  <a:latin typeface="Cambria Math" panose="02040503050406030204" pitchFamily="18" charset="0"/>
                                  <a:ea typeface="Cambria Math" panose="02040503050406030204" pitchFamily="18" charset="0"/>
                                </a:rPr>
                                <m:t>𝑠</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𝑁</m:t>
                              </m:r>
                            </m:e>
                            <m:sub>
                              <m:r>
                                <a:rPr lang="en-US" b="0" i="1" smtClean="0">
                                  <a:latin typeface="Cambria Math" panose="02040503050406030204" pitchFamily="18" charset="0"/>
                                  <a:ea typeface="Cambria Math" panose="02040503050406030204" pitchFamily="18" charset="0"/>
                                </a:rPr>
                                <m:t>𝑠</m:t>
                              </m:r>
                            </m:sub>
                          </m:sSub>
                        </m:e>
                      </m:d>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𝑆</m:t>
                          </m:r>
                        </m:sub>
                      </m:sSub>
                    </m:oMath>
                  </m:oMathPara>
                </a14:m>
                <a:endParaRPr lang="en-CN" dirty="0"/>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m:t>
                      </m:r>
                      <m:sSub>
                        <m:sSubPr>
                          <m:ctrlPr>
                            <a:rPr lang="en-CN" i="1" smtClean="0">
                              <a:latin typeface="Cambria Math" panose="02040503050406030204" pitchFamily="18" charset="0"/>
                              <a:ea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𝑅</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d>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𝑈</m:t>
                          </m:r>
                        </m:e>
                        <m:sub>
                          <m:r>
                            <a:rPr lang="en-US" b="0" i="1" smtClean="0">
                              <a:latin typeface="Cambria Math" panose="02040503050406030204" pitchFamily="18" charset="0"/>
                              <a:ea typeface="Cambria Math" panose="02040503050406030204" pitchFamily="18" charset="0"/>
                            </a:rPr>
                            <m:t>𝑠</m:t>
                          </m:r>
                        </m:sub>
                      </m:sSub>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d>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𝑁</m:t>
                          </m:r>
                        </m:e>
                        <m:sub>
                          <m:r>
                            <a:rPr lang="en-US" b="0" i="1" smtClean="0">
                              <a:latin typeface="Cambria Math" panose="02040503050406030204" pitchFamily="18" charset="0"/>
                              <a:ea typeface="Cambria Math" panose="02040503050406030204" pitchFamily="18" charset="0"/>
                            </a:rPr>
                            <m:t>𝑠</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𝑆</m:t>
                          </m:r>
                        </m:sub>
                      </m:sSub>
                    </m:oMath>
                  </m:oMathPara>
                </a14:m>
                <a:endParaRPr lang="en-CN" dirty="0"/>
              </a:p>
            </p:txBody>
          </p:sp>
        </mc:Choice>
        <mc:Fallback xmlns="">
          <p:sp>
            <p:nvSpPr>
              <p:cNvPr id="5" name="TextBox 4">
                <a:extLst>
                  <a:ext uri="{FF2B5EF4-FFF2-40B4-BE49-F238E27FC236}">
                    <a16:creationId xmlns:a16="http://schemas.microsoft.com/office/drawing/2014/main" id="{6C0A0145-301D-2640-A8E1-B90088B4413F}"/>
                  </a:ext>
                </a:extLst>
              </p:cNvPr>
              <p:cNvSpPr txBox="1">
                <a:spLocks noRot="1" noChangeAspect="1" noMove="1" noResize="1" noEditPoints="1" noAdjustHandles="1" noChangeArrowheads="1" noChangeShapeType="1" noTextEdit="1"/>
              </p:cNvSpPr>
              <p:nvPr/>
            </p:nvSpPr>
            <p:spPr>
              <a:xfrm>
                <a:off x="581891" y="4447309"/>
                <a:ext cx="10155382" cy="646331"/>
              </a:xfrm>
              <a:prstGeom prst="rect">
                <a:avLst/>
              </a:prstGeom>
              <a:blipFill>
                <a:blip r:embed="rId3"/>
                <a:stretch>
                  <a:fillRect/>
                </a:stretch>
              </a:blipFill>
            </p:spPr>
            <p:txBody>
              <a:bodyPr/>
              <a:lstStyle/>
              <a:p>
                <a:r>
                  <a:rPr lang="en-CN">
                    <a:noFill/>
                  </a:rPr>
                  <a:t> </a:t>
                </a:r>
              </a:p>
            </p:txBody>
          </p:sp>
        </mc:Fallback>
      </mc:AlternateContent>
    </p:spTree>
    <p:extLst>
      <p:ext uri="{BB962C8B-B14F-4D97-AF65-F5344CB8AC3E}">
        <p14:creationId xmlns:p14="http://schemas.microsoft.com/office/powerpoint/2010/main" val="19734580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A79EB56-BA75-5C4F-9ED8-0DA45369ED97}"/>
                  </a:ext>
                </a:extLst>
              </p:cNvPr>
              <p:cNvSpPr txBox="1"/>
              <p:nvPr/>
            </p:nvSpPr>
            <p:spPr>
              <a:xfrm>
                <a:off x="360215" y="273465"/>
                <a:ext cx="4779819" cy="506870"/>
              </a:xfrm>
              <a:prstGeom prst="rect">
                <a:avLst/>
              </a:prstGeom>
              <a:noFill/>
            </p:spPr>
            <p:txBody>
              <a:bodyPr wrap="square" rtlCol="0">
                <a:spAutoFit/>
              </a:bodyPr>
              <a:lstStyle/>
              <a:p>
                <a:pPr algn="ctr"/>
                <a14:m>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d>
                      <m:dPr>
                        <m:ctrlPr>
                          <a:rPr lang="en-US" b="0" i="1" smtClean="0">
                            <a:solidFill>
                              <a:srgbClr val="FF0000"/>
                            </a:solidFill>
                            <a:latin typeface="Cambria Math" panose="02040503050406030204" pitchFamily="18" charset="0"/>
                            <a:ea typeface="Cambria Math" panose="02040503050406030204" pitchFamily="18" charset="0"/>
                          </a:rPr>
                        </m:ctrlPr>
                      </m:dPr>
                      <m:e>
                        <m:f>
                          <m:fPr>
                            <m:ctrlPr>
                              <a:rPr lang="en-US" b="0" i="1" smtClean="0">
                                <a:solidFill>
                                  <a:srgbClr val="FF0000"/>
                                </a:solidFill>
                                <a:latin typeface="Cambria Math" panose="02040503050406030204" pitchFamily="18" charset="0"/>
                                <a:ea typeface="Cambria Math" panose="02040503050406030204" pitchFamily="18" charset="0"/>
                              </a:rPr>
                            </m:ctrlPr>
                          </m:fPr>
                          <m:num>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𝐹</m:t>
                            </m:r>
                          </m:num>
                          <m:den>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𝜏</m:t>
                            </m:r>
                          </m:den>
                        </m:f>
                      </m:e>
                    </m:d>
                  </m:oMath>
                </a14:m>
                <a:r>
                  <a:rPr lang="zh-CN" altLang="en-US" dirty="0"/>
                  <a:t>。 </a:t>
                </a:r>
                <a:r>
                  <a:rPr lang="en-US" altLang="zh-CN" dirty="0"/>
                  <a:t>V</a:t>
                </a:r>
                <a:r>
                  <a:rPr lang="zh-CN" altLang="en-US" dirty="0"/>
                  <a:t> </a:t>
                </a:r>
                <a:r>
                  <a:rPr lang="en-US" altLang="zh-CN" dirty="0"/>
                  <a:t>fixed</a:t>
                </a:r>
                <a:endParaRPr lang="en-CN" dirty="0"/>
              </a:p>
            </p:txBody>
          </p:sp>
        </mc:Choice>
        <mc:Fallback xmlns="">
          <p:sp>
            <p:nvSpPr>
              <p:cNvPr id="3" name="TextBox 2">
                <a:extLst>
                  <a:ext uri="{FF2B5EF4-FFF2-40B4-BE49-F238E27FC236}">
                    <a16:creationId xmlns:a16="http://schemas.microsoft.com/office/drawing/2014/main" id="{3A79EB56-BA75-5C4F-9ED8-0DA45369ED97}"/>
                  </a:ext>
                </a:extLst>
              </p:cNvPr>
              <p:cNvSpPr txBox="1">
                <a:spLocks noRot="1" noChangeAspect="1" noMove="1" noResize="1" noEditPoints="1" noAdjustHandles="1" noChangeArrowheads="1" noChangeShapeType="1" noTextEdit="1"/>
              </p:cNvSpPr>
              <p:nvPr/>
            </p:nvSpPr>
            <p:spPr>
              <a:xfrm>
                <a:off x="360215" y="273465"/>
                <a:ext cx="4779819" cy="506870"/>
              </a:xfrm>
              <a:prstGeom prst="rect">
                <a:avLst/>
              </a:prstGeom>
              <a:blipFill>
                <a:blip r:embed="rId2"/>
                <a:stretch>
                  <a:fillRect b="-12195"/>
                </a:stretch>
              </a:blipFill>
            </p:spPr>
            <p:txBody>
              <a:bodyPr/>
              <a:lstStyle/>
              <a:p>
                <a:r>
                  <a:rPr lang="en-CN">
                    <a:noFill/>
                  </a:rPr>
                  <a:t> </a:t>
                </a:r>
              </a:p>
            </p:txBody>
          </p:sp>
        </mc:Fallback>
      </mc:AlternateContent>
      <p:sp>
        <p:nvSpPr>
          <p:cNvPr id="4" name="Down Arrow 3">
            <a:extLst>
              <a:ext uri="{FF2B5EF4-FFF2-40B4-BE49-F238E27FC236}">
                <a16:creationId xmlns:a16="http://schemas.microsoft.com/office/drawing/2014/main" id="{068D66D8-D779-2B44-AF3D-57C9FD47A879}"/>
              </a:ext>
            </a:extLst>
          </p:cNvPr>
          <p:cNvSpPr/>
          <p:nvPr/>
        </p:nvSpPr>
        <p:spPr>
          <a:xfrm>
            <a:off x="2369121" y="941832"/>
            <a:ext cx="152399" cy="42803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9660705-7950-F944-8B03-4CAB471A28B8}"/>
                  </a:ext>
                </a:extLst>
              </p:cNvPr>
              <p:cNvSpPr txBox="1"/>
              <p:nvPr/>
            </p:nvSpPr>
            <p:spPr>
              <a:xfrm>
                <a:off x="526473" y="1531360"/>
                <a:ext cx="4932218" cy="629660"/>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oMath>
                </a14:m>
                <a:r>
                  <a:rPr lang="en-CN" dirty="0"/>
                  <a:t> </a:t>
                </a:r>
                <a14:m>
                  <m:oMath xmlns:m="http://schemas.openxmlformats.org/officeDocument/2006/math">
                    <m:d>
                      <m:dPr>
                        <m:ctrlPr>
                          <a:rPr lang="en-US" i="1" smtClean="0">
                            <a:solidFill>
                              <a:schemeClr val="tx1"/>
                            </a:solidFill>
                            <a:latin typeface="Cambria Math" panose="02040503050406030204" pitchFamily="18" charset="0"/>
                            <a:ea typeface="Cambria Math" panose="02040503050406030204" pitchFamily="18" charset="0"/>
                          </a:rPr>
                        </m:ctrlPr>
                      </m:dPr>
                      <m:e>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m:t>
                            </m:r>
                            <m:r>
                              <a:rPr lang="en-US" i="1">
                                <a:solidFill>
                                  <a:schemeClr val="tx1"/>
                                </a:solidFill>
                                <a:latin typeface="Cambria Math" panose="02040503050406030204" pitchFamily="18" charset="0"/>
                                <a:ea typeface="Cambria Math" panose="02040503050406030204" pitchFamily="18" charset="0"/>
                              </a:rPr>
                              <m:t> </m:t>
                            </m:r>
                            <m:r>
                              <a:rPr lang="en-US" i="1">
                                <a:solidFill>
                                  <a:schemeClr val="tx1"/>
                                </a:solidFill>
                                <a:latin typeface="Cambria Math" panose="02040503050406030204" pitchFamily="18" charset="0"/>
                                <a:ea typeface="Cambria Math" panose="02040503050406030204" pitchFamily="18" charset="0"/>
                              </a:rPr>
                              <m:t>𝐹</m:t>
                            </m:r>
                          </m:num>
                          <m:den>
                            <m:r>
                              <a:rPr lang="en-US" i="1">
                                <a:solidFill>
                                  <a:schemeClr val="tx1"/>
                                </a:solidFill>
                                <a:latin typeface="Cambria Math" panose="02040503050406030204" pitchFamily="18" charset="0"/>
                                <a:ea typeface="Cambria Math" panose="02040503050406030204" pitchFamily="18" charset="0"/>
                              </a:rPr>
                              <m:t>𝜕</m:t>
                            </m:r>
                            <m:r>
                              <a:rPr lang="en-US" i="1">
                                <a:solidFill>
                                  <a:schemeClr val="tx1"/>
                                </a:solidFill>
                                <a:latin typeface="Cambria Math" panose="02040503050406030204" pitchFamily="18" charset="0"/>
                                <a:ea typeface="Cambria Math" panose="02040503050406030204" pitchFamily="18" charset="0"/>
                              </a:rPr>
                              <m:t> </m:t>
                            </m:r>
                            <m:r>
                              <a:rPr lang="en-US" i="1">
                                <a:solidFill>
                                  <a:schemeClr val="tx1"/>
                                </a:solidFill>
                                <a:latin typeface="Cambria Math" panose="02040503050406030204" pitchFamily="18" charset="0"/>
                                <a:ea typeface="Cambria Math" panose="02040503050406030204" pitchFamily="18" charset="0"/>
                              </a:rPr>
                              <m:t>𝜏</m:t>
                            </m:r>
                          </m:den>
                        </m:f>
                      </m:e>
                    </m:d>
                    <m:r>
                      <a:rPr lang="en-US" b="0" i="0" smtClean="0">
                        <a:solidFill>
                          <a:schemeClr val="tx1"/>
                        </a:solidFill>
                        <a:latin typeface="Cambria Math" panose="02040503050406030204" pitchFamily="18" charset="0"/>
                        <a:ea typeface="Cambria Math" panose="02040503050406030204" pitchFamily="18" charset="0"/>
                      </a:rPr>
                      <m:t>=−</m:t>
                    </m:r>
                    <m:sSup>
                      <m:sSupPr>
                        <m:ctrlPr>
                          <a:rPr lang="en-US" b="0" i="1" smtClean="0">
                            <a:solidFill>
                              <a:schemeClr val="tx1"/>
                            </a:solidFill>
                            <a:latin typeface="Cambria Math" panose="02040503050406030204" pitchFamily="18" charset="0"/>
                            <a:ea typeface="Cambria Math" panose="02040503050406030204" pitchFamily="18" charset="0"/>
                          </a:rPr>
                        </m:ctrlPr>
                      </m:sSupPr>
                      <m:e>
                        <m:r>
                          <a:rPr lang="en-US" b="0" i="1" smtClean="0">
                            <a:solidFill>
                              <a:schemeClr val="tx1"/>
                            </a:solidFill>
                            <a:latin typeface="Cambria Math" panose="02040503050406030204" pitchFamily="18" charset="0"/>
                            <a:ea typeface="Cambria Math" panose="02040503050406030204" pitchFamily="18" charset="0"/>
                          </a:rPr>
                          <m:t>𝜏</m:t>
                        </m:r>
                      </m:e>
                      <m:sup>
                        <m:r>
                          <a:rPr lang="en-US" b="0" i="1" smtClean="0">
                            <a:solidFill>
                              <a:schemeClr val="tx1"/>
                            </a:solidFill>
                            <a:latin typeface="Cambria Math" panose="02040503050406030204" pitchFamily="18" charset="0"/>
                            <a:ea typeface="Cambria Math" panose="02040503050406030204" pitchFamily="18" charset="0"/>
                          </a:rPr>
                          <m:t>2</m:t>
                        </m:r>
                      </m:sup>
                    </m:sSup>
                    <m:d>
                      <m:dPr>
                        <m:ctrlPr>
                          <a:rPr lang="en-US" b="0" i="1" smtClean="0">
                            <a:solidFill>
                              <a:schemeClr val="tx1"/>
                            </a:solidFill>
                            <a:latin typeface="Cambria Math" panose="02040503050406030204" pitchFamily="18" charset="0"/>
                            <a:ea typeface="Cambria Math" panose="02040503050406030204" pitchFamily="18" charset="0"/>
                          </a:rPr>
                        </m:ctrlPr>
                      </m:dPr>
                      <m:e>
                        <m:r>
                          <a:rPr lang="en-US" b="0" i="1" smtClean="0">
                            <a:solidFill>
                              <a:schemeClr val="tx1"/>
                            </a:solidFill>
                            <a:latin typeface="Cambria Math" panose="02040503050406030204" pitchFamily="18" charset="0"/>
                            <a:ea typeface="Cambria Math" panose="02040503050406030204" pitchFamily="18" charset="0"/>
                          </a:rPr>
                          <m:t>−</m:t>
                        </m:r>
                        <m:f>
                          <m:fPr>
                            <m:ctrlPr>
                              <a:rPr lang="en-US" b="0" i="1" smtClean="0">
                                <a:solidFill>
                                  <a:schemeClr val="tx1"/>
                                </a:solidFill>
                                <a:latin typeface="Cambria Math" panose="02040503050406030204" pitchFamily="18" charset="0"/>
                                <a:ea typeface="Cambria Math" panose="02040503050406030204" pitchFamily="18" charset="0"/>
                              </a:rPr>
                            </m:ctrlPr>
                          </m:fPr>
                          <m:num>
                            <m:r>
                              <a:rPr lang="en-US" b="0" i="1" smtClean="0">
                                <a:solidFill>
                                  <a:schemeClr val="tx1"/>
                                </a:solidFill>
                                <a:latin typeface="Cambria Math" panose="02040503050406030204" pitchFamily="18" charset="0"/>
                                <a:ea typeface="Cambria Math" panose="02040503050406030204" pitchFamily="18" charset="0"/>
                              </a:rPr>
                              <m:t>𝐹</m:t>
                            </m:r>
                          </m:num>
                          <m:den>
                            <m:sSup>
                              <m:sSupPr>
                                <m:ctrlPr>
                                  <a:rPr lang="en-US" b="0" i="1" smtClean="0">
                                    <a:solidFill>
                                      <a:schemeClr val="tx1"/>
                                    </a:solidFill>
                                    <a:latin typeface="Cambria Math" panose="02040503050406030204" pitchFamily="18" charset="0"/>
                                    <a:ea typeface="Cambria Math" panose="02040503050406030204" pitchFamily="18" charset="0"/>
                                  </a:rPr>
                                </m:ctrlPr>
                              </m:sSupPr>
                              <m:e>
                                <m:r>
                                  <a:rPr lang="en-US" b="0" i="1" smtClean="0">
                                    <a:solidFill>
                                      <a:schemeClr val="tx1"/>
                                    </a:solidFill>
                                    <a:latin typeface="Cambria Math" panose="02040503050406030204" pitchFamily="18" charset="0"/>
                                    <a:ea typeface="Cambria Math" panose="02040503050406030204" pitchFamily="18" charset="0"/>
                                  </a:rPr>
                                  <m:t>𝜏</m:t>
                                </m:r>
                              </m:e>
                              <m:sup>
                                <m:r>
                                  <a:rPr lang="en-US" b="0" i="1" smtClean="0">
                                    <a:solidFill>
                                      <a:schemeClr val="tx1"/>
                                    </a:solidFill>
                                    <a:latin typeface="Cambria Math" panose="02040503050406030204" pitchFamily="18" charset="0"/>
                                    <a:ea typeface="Cambria Math" panose="02040503050406030204" pitchFamily="18" charset="0"/>
                                  </a:rPr>
                                  <m:t>2</m:t>
                                </m:r>
                              </m:sup>
                            </m:sSup>
                          </m:den>
                        </m:f>
                        <m:r>
                          <a:rPr lang="en-US" b="0" i="1" smtClean="0">
                            <a:solidFill>
                              <a:schemeClr val="tx1"/>
                            </a:solidFill>
                            <a:latin typeface="Cambria Math" panose="02040503050406030204" pitchFamily="18" charset="0"/>
                            <a:ea typeface="Cambria Math" panose="02040503050406030204" pitchFamily="18" charset="0"/>
                          </a:rPr>
                          <m:t>+</m:t>
                        </m:r>
                        <m:f>
                          <m:fPr>
                            <m:ctrlPr>
                              <a:rPr lang="en-US" b="0" i="1" smtClean="0">
                                <a:solidFill>
                                  <a:schemeClr val="tx1"/>
                                </a:solidFill>
                                <a:latin typeface="Cambria Math" panose="02040503050406030204" pitchFamily="18" charset="0"/>
                                <a:ea typeface="Cambria Math" panose="02040503050406030204" pitchFamily="18" charset="0"/>
                              </a:rPr>
                            </m:ctrlPr>
                          </m:fPr>
                          <m:num>
                            <m:r>
                              <a:rPr lang="en-US" b="0" i="1" smtClean="0">
                                <a:solidFill>
                                  <a:schemeClr val="tx1"/>
                                </a:solidFill>
                                <a:latin typeface="Cambria Math" panose="02040503050406030204" pitchFamily="18" charset="0"/>
                                <a:ea typeface="Cambria Math" panose="02040503050406030204" pitchFamily="18" charset="0"/>
                              </a:rPr>
                              <m:t>1</m:t>
                            </m:r>
                          </m:num>
                          <m:den>
                            <m:r>
                              <a:rPr lang="en-US" b="0" i="1" smtClean="0">
                                <a:solidFill>
                                  <a:schemeClr val="tx1"/>
                                </a:solidFill>
                                <a:latin typeface="Cambria Math" panose="02040503050406030204" pitchFamily="18" charset="0"/>
                                <a:ea typeface="Cambria Math" panose="02040503050406030204" pitchFamily="18" charset="0"/>
                              </a:rPr>
                              <m:t>𝜏</m:t>
                            </m:r>
                          </m:den>
                        </m:f>
                        <m:f>
                          <m:fPr>
                            <m:ctrlPr>
                              <a:rPr lang="en-US" b="0" i="1" smtClean="0">
                                <a:solidFill>
                                  <a:schemeClr val="tx1"/>
                                </a:solidFill>
                                <a:latin typeface="Cambria Math" panose="02040503050406030204" pitchFamily="18" charset="0"/>
                                <a:ea typeface="Cambria Math" panose="02040503050406030204" pitchFamily="18" charset="0"/>
                              </a:rPr>
                            </m:ctrlPr>
                          </m:fPr>
                          <m:num>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𝐹</m:t>
                            </m:r>
                          </m:num>
                          <m:den>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𝜏</m:t>
                            </m:r>
                          </m:den>
                        </m:f>
                      </m:e>
                    </m:d>
                    <m:r>
                      <a:rPr lang="en-US" b="0" i="1" smtClean="0">
                        <a:solidFill>
                          <a:schemeClr val="tx1"/>
                        </a:solidFill>
                        <a:latin typeface="Cambria Math" panose="02040503050406030204" pitchFamily="18" charset="0"/>
                        <a:ea typeface="Cambria Math" panose="02040503050406030204" pitchFamily="18" charset="0"/>
                      </a:rPr>
                      <m:t>=−</m:t>
                    </m:r>
                    <m:sSup>
                      <m:sSupPr>
                        <m:ctrlPr>
                          <a:rPr lang="en-US" b="0" i="1" smtClean="0">
                            <a:solidFill>
                              <a:schemeClr val="tx1"/>
                            </a:solidFill>
                            <a:latin typeface="Cambria Math" panose="02040503050406030204" pitchFamily="18" charset="0"/>
                            <a:ea typeface="Cambria Math" panose="02040503050406030204" pitchFamily="18" charset="0"/>
                          </a:rPr>
                        </m:ctrlPr>
                      </m:sSupPr>
                      <m:e>
                        <m:r>
                          <a:rPr lang="en-US" b="0" i="1" smtClean="0">
                            <a:solidFill>
                              <a:schemeClr val="tx1"/>
                            </a:solidFill>
                            <a:latin typeface="Cambria Math" panose="02040503050406030204" pitchFamily="18" charset="0"/>
                            <a:ea typeface="Cambria Math" panose="02040503050406030204" pitchFamily="18" charset="0"/>
                          </a:rPr>
                          <m:t>𝜏</m:t>
                        </m:r>
                      </m:e>
                      <m:sup>
                        <m:r>
                          <a:rPr lang="en-US" b="0" i="1" smtClean="0">
                            <a:solidFill>
                              <a:schemeClr val="tx1"/>
                            </a:solidFill>
                            <a:latin typeface="Cambria Math" panose="02040503050406030204" pitchFamily="18" charset="0"/>
                            <a:ea typeface="Cambria Math" panose="02040503050406030204" pitchFamily="18" charset="0"/>
                          </a:rPr>
                          <m:t>2</m:t>
                        </m:r>
                      </m:sup>
                    </m:sSup>
                    <m:f>
                      <m:fPr>
                        <m:ctrlPr>
                          <a:rPr lang="en-US" b="0" i="1" smtClean="0">
                            <a:solidFill>
                              <a:schemeClr val="tx1"/>
                            </a:solidFill>
                            <a:latin typeface="Cambria Math" panose="02040503050406030204" pitchFamily="18" charset="0"/>
                            <a:ea typeface="Cambria Math" panose="02040503050406030204" pitchFamily="18" charset="0"/>
                          </a:rPr>
                        </m:ctrlPr>
                      </m:fPr>
                      <m:num>
                        <m:r>
                          <a:rPr lang="en-US" b="0" i="1" smtClean="0">
                            <a:solidFill>
                              <a:schemeClr val="tx1"/>
                            </a:solidFill>
                            <a:latin typeface="Cambria Math" panose="02040503050406030204" pitchFamily="18" charset="0"/>
                            <a:ea typeface="Cambria Math" panose="02040503050406030204" pitchFamily="18" charset="0"/>
                          </a:rPr>
                          <m:t>𝜕</m:t>
                        </m:r>
                        <m:f>
                          <m:fPr>
                            <m:ctrlPr>
                              <a:rPr lang="en-US" b="0" i="1" smtClean="0">
                                <a:solidFill>
                                  <a:schemeClr val="tx1"/>
                                </a:solidFill>
                                <a:latin typeface="Cambria Math" panose="02040503050406030204" pitchFamily="18" charset="0"/>
                                <a:ea typeface="Cambria Math" panose="02040503050406030204" pitchFamily="18" charset="0"/>
                              </a:rPr>
                            </m:ctrlPr>
                          </m:fPr>
                          <m:num>
                            <m:r>
                              <a:rPr lang="en-US" b="0" i="1" smtClean="0">
                                <a:solidFill>
                                  <a:schemeClr val="tx1"/>
                                </a:solidFill>
                                <a:latin typeface="Cambria Math" panose="02040503050406030204" pitchFamily="18" charset="0"/>
                                <a:ea typeface="Cambria Math" panose="02040503050406030204" pitchFamily="18" charset="0"/>
                              </a:rPr>
                              <m:t>𝐹</m:t>
                            </m:r>
                          </m:num>
                          <m:den>
                            <m:r>
                              <a:rPr lang="en-US" b="0" i="1" smtClean="0">
                                <a:solidFill>
                                  <a:schemeClr val="tx1"/>
                                </a:solidFill>
                                <a:latin typeface="Cambria Math" panose="02040503050406030204" pitchFamily="18" charset="0"/>
                                <a:ea typeface="Cambria Math" panose="02040503050406030204" pitchFamily="18" charset="0"/>
                              </a:rPr>
                              <m:t>𝜏</m:t>
                            </m:r>
                          </m:den>
                        </m:f>
                      </m:num>
                      <m:den>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𝜏</m:t>
                        </m:r>
                      </m:den>
                    </m:f>
                  </m:oMath>
                </a14:m>
                <a:endParaRPr lang="en-CN" dirty="0"/>
              </a:p>
            </p:txBody>
          </p:sp>
        </mc:Choice>
        <mc:Fallback xmlns="">
          <p:sp>
            <p:nvSpPr>
              <p:cNvPr id="5" name="TextBox 4">
                <a:extLst>
                  <a:ext uri="{FF2B5EF4-FFF2-40B4-BE49-F238E27FC236}">
                    <a16:creationId xmlns:a16="http://schemas.microsoft.com/office/drawing/2014/main" id="{39660705-7950-F944-8B03-4CAB471A28B8}"/>
                  </a:ext>
                </a:extLst>
              </p:cNvPr>
              <p:cNvSpPr txBox="1">
                <a:spLocks noRot="1" noChangeAspect="1" noMove="1" noResize="1" noEditPoints="1" noAdjustHandles="1" noChangeArrowheads="1" noChangeShapeType="1" noTextEdit="1"/>
              </p:cNvSpPr>
              <p:nvPr/>
            </p:nvSpPr>
            <p:spPr>
              <a:xfrm>
                <a:off x="526473" y="1531360"/>
                <a:ext cx="4932218" cy="629660"/>
              </a:xfrm>
              <a:prstGeom prst="rect">
                <a:avLst/>
              </a:prstGeom>
              <a:blipFill>
                <a:blip r:embed="rId3"/>
                <a:stretch>
                  <a:fillRect b="-80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B902B3E-4359-DC4F-8276-FE996B11B3BA}"/>
                  </a:ext>
                </a:extLst>
              </p:cNvPr>
              <p:cNvSpPr txBox="1"/>
              <p:nvPr/>
            </p:nvSpPr>
            <p:spPr>
              <a:xfrm>
                <a:off x="8077200" y="1638015"/>
                <a:ext cx="4447309" cy="508537"/>
              </a:xfrm>
              <a:prstGeom prst="rect">
                <a:avLst/>
              </a:prstGeom>
              <a:noFill/>
            </p:spPr>
            <p:txBody>
              <a:bodyPr wrap="square" rtlCol="0">
                <a:spAutoFit/>
              </a:bodyPr>
              <a:lstStyle/>
              <a:p>
                <a:r>
                  <a:rPr lang="en-CN" dirty="0"/>
                  <a:t>另外我们知道</a:t>
                </a:r>
                <a:r>
                  <a:rPr lang="zh-CN" altLang="en-US" dirty="0"/>
                  <a:t> </a:t>
                </a:r>
                <a14:m>
                  <m:oMath xmlns:m="http://schemas.openxmlformats.org/officeDocument/2006/math">
                    <m:r>
                      <a:rPr lang="en-US" altLang="zh-CN" b="0" i="1" smtClean="0">
                        <a:latin typeface="Cambria Math" panose="02040503050406030204" pitchFamily="18" charset="0"/>
                      </a:rPr>
                      <m:t>𝑈</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𝜏</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 </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m:t>
                        </m:r>
                        <m:func>
                          <m:funcPr>
                            <m:ctrlPr>
                              <a:rPr lang="en-US" altLang="zh-CN" b="0" i="1" smtClean="0">
                                <a:latin typeface="Cambria Math" panose="02040503050406030204" pitchFamily="18" charset="0"/>
                                <a:ea typeface="Cambria Math" panose="02040503050406030204" pitchFamily="18" charset="0"/>
                              </a:rPr>
                            </m:ctrlPr>
                          </m:funcPr>
                          <m:fName>
                            <m:r>
                              <m:rPr>
                                <m:sty m:val="p"/>
                              </m:rPr>
                              <a:rPr lang="en-US" altLang="zh-CN" b="0" i="0" smtClean="0">
                                <a:latin typeface="Cambria Math" panose="02040503050406030204" pitchFamily="18" charset="0"/>
                                <a:ea typeface="Cambria Math" panose="02040503050406030204" pitchFamily="18" charset="0"/>
                              </a:rPr>
                              <m:t>log</m:t>
                            </m:r>
                          </m:fName>
                          <m:e>
                            <m:r>
                              <a:rPr lang="en-US" altLang="zh-CN" b="0" i="1" smtClean="0">
                                <a:latin typeface="Cambria Math" panose="02040503050406030204" pitchFamily="18" charset="0"/>
                                <a:ea typeface="Cambria Math" panose="02040503050406030204" pitchFamily="18" charset="0"/>
                              </a:rPr>
                              <m:t>𝑍</m:t>
                            </m:r>
                          </m:e>
                        </m:func>
                      </m:num>
                      <m:den>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𝜏</m:t>
                        </m:r>
                      </m:den>
                    </m:f>
                  </m:oMath>
                </a14:m>
                <a:endParaRPr lang="en-CN" dirty="0"/>
              </a:p>
            </p:txBody>
          </p:sp>
        </mc:Choice>
        <mc:Fallback xmlns="">
          <p:sp>
            <p:nvSpPr>
              <p:cNvPr id="6" name="TextBox 5">
                <a:extLst>
                  <a:ext uri="{FF2B5EF4-FFF2-40B4-BE49-F238E27FC236}">
                    <a16:creationId xmlns:a16="http://schemas.microsoft.com/office/drawing/2014/main" id="{EB902B3E-4359-DC4F-8276-FE996B11B3BA}"/>
                  </a:ext>
                </a:extLst>
              </p:cNvPr>
              <p:cNvSpPr txBox="1">
                <a:spLocks noRot="1" noChangeAspect="1" noMove="1" noResize="1" noEditPoints="1" noAdjustHandles="1" noChangeArrowheads="1" noChangeShapeType="1" noTextEdit="1"/>
              </p:cNvSpPr>
              <p:nvPr/>
            </p:nvSpPr>
            <p:spPr>
              <a:xfrm>
                <a:off x="8077200" y="1638015"/>
                <a:ext cx="4447309" cy="508537"/>
              </a:xfrm>
              <a:prstGeom prst="rect">
                <a:avLst/>
              </a:prstGeom>
              <a:blipFill>
                <a:blip r:embed="rId4"/>
                <a:stretch>
                  <a:fillRect l="-1140" b="-15000"/>
                </a:stretch>
              </a:blipFill>
            </p:spPr>
            <p:txBody>
              <a:bodyPr/>
              <a:lstStyle/>
              <a:p>
                <a:r>
                  <a:rPr lang="en-CN">
                    <a:noFill/>
                  </a:rPr>
                  <a:t> </a:t>
                </a:r>
              </a:p>
            </p:txBody>
          </p:sp>
        </mc:Fallback>
      </mc:AlternateContent>
      <p:sp>
        <p:nvSpPr>
          <p:cNvPr id="7" name="Right Brace 6">
            <a:extLst>
              <a:ext uri="{FF2B5EF4-FFF2-40B4-BE49-F238E27FC236}">
                <a16:creationId xmlns:a16="http://schemas.microsoft.com/office/drawing/2014/main" id="{F200471A-F1E0-7340-BD3B-C1613485BED7}"/>
              </a:ext>
            </a:extLst>
          </p:cNvPr>
          <p:cNvSpPr/>
          <p:nvPr/>
        </p:nvSpPr>
        <p:spPr>
          <a:xfrm rot="5400000">
            <a:off x="6276107" y="213663"/>
            <a:ext cx="734291" cy="493221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E3E2E6C-E9BB-BB4B-B0A1-DF0FCA301716}"/>
                  </a:ext>
                </a:extLst>
              </p:cNvPr>
              <p:cNvSpPr txBox="1"/>
              <p:nvPr/>
            </p:nvSpPr>
            <p:spPr>
              <a:xfrm>
                <a:off x="3352800" y="3212991"/>
                <a:ext cx="6691746" cy="6090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N"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𝐹</m:t>
                          </m:r>
                        </m:num>
                        <m:den>
                          <m:r>
                            <a:rPr lang="en-CN" i="1" smtClean="0">
                              <a:solidFill>
                                <a:srgbClr val="FF0000"/>
                              </a:solidFill>
                              <a:latin typeface="Cambria Math" panose="02040503050406030204" pitchFamily="18" charset="0"/>
                              <a:ea typeface="Cambria Math" panose="02040503050406030204" pitchFamily="18" charset="0"/>
                            </a:rPr>
                            <m:t>𝜏</m:t>
                          </m:r>
                        </m:den>
                      </m:f>
                      <m:r>
                        <a:rPr lang="en-US" b="0" i="1" smtClean="0">
                          <a:solidFill>
                            <a:srgbClr val="FF0000"/>
                          </a:solidFill>
                          <a:latin typeface="Cambria Math" panose="02040503050406030204" pitchFamily="18" charset="0"/>
                        </a:rPr>
                        <m:t>+</m:t>
                      </m:r>
                      <m:func>
                        <m:funcPr>
                          <m:ctrlPr>
                            <a:rPr lang="en-US" b="0" i="1" smtClean="0">
                              <a:solidFill>
                                <a:srgbClr val="FF0000"/>
                              </a:solidFill>
                              <a:latin typeface="Cambria Math" panose="02040503050406030204" pitchFamily="18" charset="0"/>
                            </a:rPr>
                          </m:ctrlPr>
                        </m:funcPr>
                        <m:fName>
                          <m:r>
                            <m:rPr>
                              <m:sty m:val="p"/>
                            </m:rPr>
                            <a:rPr lang="en-US" b="0" i="0" smtClean="0">
                              <a:solidFill>
                                <a:srgbClr val="FF0000"/>
                              </a:solidFill>
                              <a:latin typeface="Cambria Math" panose="02040503050406030204" pitchFamily="18" charset="0"/>
                            </a:rPr>
                            <m:t>log</m:t>
                          </m:r>
                        </m:fName>
                        <m:e>
                          <m:r>
                            <a:rPr lang="en-US" b="0" i="1" smtClean="0">
                              <a:solidFill>
                                <a:srgbClr val="FF0000"/>
                              </a:solidFill>
                              <a:latin typeface="Cambria Math" panose="02040503050406030204" pitchFamily="18" charset="0"/>
                            </a:rPr>
                            <m:t>𝑍</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𝑐𝑜𝑛𝑠𝑡</m:t>
                          </m:r>
                        </m:e>
                      </m:func>
                    </m:oMath>
                  </m:oMathPara>
                </a14:m>
                <a:endParaRPr lang="en-CN" dirty="0"/>
              </a:p>
            </p:txBody>
          </p:sp>
        </mc:Choice>
        <mc:Fallback xmlns="">
          <p:sp>
            <p:nvSpPr>
              <p:cNvPr id="8" name="TextBox 7">
                <a:extLst>
                  <a:ext uri="{FF2B5EF4-FFF2-40B4-BE49-F238E27FC236}">
                    <a16:creationId xmlns:a16="http://schemas.microsoft.com/office/drawing/2014/main" id="{4E3E2E6C-E9BB-BB4B-B0A1-DF0FCA301716}"/>
                  </a:ext>
                </a:extLst>
              </p:cNvPr>
              <p:cNvSpPr txBox="1">
                <a:spLocks noRot="1" noChangeAspect="1" noMove="1" noResize="1" noEditPoints="1" noAdjustHandles="1" noChangeArrowheads="1" noChangeShapeType="1" noTextEdit="1"/>
              </p:cNvSpPr>
              <p:nvPr/>
            </p:nvSpPr>
            <p:spPr>
              <a:xfrm>
                <a:off x="3352800" y="3212991"/>
                <a:ext cx="6691746" cy="609077"/>
              </a:xfrm>
              <a:prstGeom prst="rect">
                <a:avLst/>
              </a:prstGeom>
              <a:blipFill>
                <a:blip r:embed="rId5"/>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5915C12-F82C-C545-889B-2D2C9B26CC51}"/>
                  </a:ext>
                </a:extLst>
              </p:cNvPr>
              <p:cNvSpPr txBox="1"/>
              <p:nvPr/>
            </p:nvSpPr>
            <p:spPr>
              <a:xfrm>
                <a:off x="581890" y="3988142"/>
                <a:ext cx="8769927" cy="1018356"/>
              </a:xfrm>
              <a:prstGeom prst="rect">
                <a:avLst/>
              </a:prstGeom>
              <a:noFill/>
            </p:spPr>
            <p:txBody>
              <a:bodyPr wrap="square" rtlCol="0">
                <a:spAutoFit/>
              </a:bodyPr>
              <a:lstStyle/>
              <a:p>
                <a:r>
                  <a:rPr lang="en-CN" dirty="0"/>
                  <a:t>由于const和温度无关</a:t>
                </a:r>
                <a:r>
                  <a:rPr lang="zh-CN" altLang="en-US" dirty="0"/>
                  <a:t>，我们可以利用零温这个特殊情况把</a:t>
                </a:r>
                <a:r>
                  <a:rPr lang="en-US" altLang="zh-CN" dirty="0"/>
                  <a:t>const</a:t>
                </a:r>
                <a:r>
                  <a:rPr lang="zh-CN" altLang="en-US" dirty="0"/>
                  <a:t>定下来</a:t>
                </a:r>
                <a:endParaRPr lang="en-US" altLang="zh-CN" dirty="0"/>
              </a:p>
              <a:p>
                <a:pPr marL="285750" indent="-285750">
                  <a:buFont typeface="Arial" panose="020B0604020202020204" pitchFamily="34" charset="0"/>
                  <a:buChar char="•"/>
                </a:pPr>
                <a14:m>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𝐹</m:t>
                        </m:r>
                      </m:e>
                      <m:sub>
                        <m:r>
                          <a:rPr lang="en-CN" i="1" smtClean="0">
                            <a:latin typeface="Cambria Math" panose="02040503050406030204" pitchFamily="18" charset="0"/>
                            <a:ea typeface="Cambria Math" panose="02040503050406030204" pitchFamily="18" charset="0"/>
                          </a:rPr>
                          <m:t>𝜏</m:t>
                        </m:r>
                        <m:r>
                          <a:rPr lang="en-C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sub>
                    </m:sSub>
                    <m:r>
                      <a:rPr lang="en-US" i="1">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𝑈</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𝑔</m:t>
                            </m:r>
                          </m:e>
                          <m:sub>
                            <m:r>
                              <a:rPr lang="en-US" b="0" i="1" smtClean="0">
                                <a:latin typeface="Cambria Math" panose="02040503050406030204" pitchFamily="18" charset="0"/>
                                <a:ea typeface="Cambria Math" panose="02040503050406030204" pitchFamily="18" charset="0"/>
                              </a:rPr>
                              <m:t>0</m:t>
                            </m:r>
                          </m:sub>
                        </m:sSub>
                      </m:e>
                    </m:func>
                  </m:oMath>
                </a14:m>
                <a:endParaRPr lang="en-CN" dirty="0"/>
              </a:p>
              <a:p>
                <a:pPr marL="285750" indent="-28575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0</m:t>
                            </m:r>
                          </m:sub>
                        </m:sSub>
                        <m:r>
                          <a:rPr lang="en-US" b="0" i="1" smtClean="0">
                            <a:latin typeface="Cambria Math" panose="02040503050406030204" pitchFamily="18" charset="0"/>
                          </a:rPr>
                          <m:t> </m:t>
                        </m:r>
                        <m:r>
                          <a:rPr lang="en-US" b="0" i="1" smtClean="0">
                            <a:latin typeface="Cambria Math" panose="02040503050406030204" pitchFamily="18" charset="0"/>
                          </a:rPr>
                          <m:t>𝑒</m:t>
                        </m:r>
                      </m:e>
                      <m: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1</m:t>
                        </m:r>
                      </m:sub>
                    </m:sSub>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r>
                      <a:rPr lang="en-US" b="0" i="1" smtClean="0">
                        <a:latin typeface="Cambria Math" panose="02040503050406030204" pitchFamily="18" charset="0"/>
                      </a:rPr>
                      <m:t>+…</m:t>
                    </m:r>
                    <m:groupChr>
                      <m:groupChrPr>
                        <m:chr m:val="→"/>
                        <m:vertJc m:val="bot"/>
                        <m:ctrlPr>
                          <a:rPr lang="en-US" b="0" i="1" smtClean="0">
                            <a:latin typeface="Cambria Math" panose="02040503050406030204" pitchFamily="18" charset="0"/>
                          </a:rPr>
                        </m:ctrlPr>
                      </m:groupChrPr>
                      <m:e>
                        <m:r>
                          <m:rPr>
                            <m:brk m:alnAt="2"/>
                          </m:rP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→0</m:t>
                        </m:r>
                      </m:e>
                    </m:groupCh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0</m:t>
                        </m:r>
                      </m:sub>
                    </m:sSub>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oMath>
                </a14:m>
                <a:r>
                  <a:rPr lang="en-CN" dirty="0"/>
                  <a:t>              </a:t>
                </a:r>
                <a14:m>
                  <m:oMath xmlns:m="http://schemas.openxmlformats.org/officeDocument/2006/math">
                    <m:r>
                      <a:rPr lang="en-CN" i="1" dirty="0" smtClean="0">
                        <a:latin typeface="Cambria Math" panose="02040503050406030204" pitchFamily="18" charset="0"/>
                        <a:ea typeface="Cambria Math" panose="02040503050406030204" pitchFamily="18" charset="0"/>
                      </a:rPr>
                      <m:t>𝜏</m:t>
                    </m:r>
                    <m:func>
                      <m:funcPr>
                        <m:ctrlPr>
                          <a:rPr lang="en-US" b="0" i="1" dirty="0" smtClean="0">
                            <a:latin typeface="Cambria Math" panose="02040503050406030204" pitchFamily="18" charset="0"/>
                            <a:ea typeface="Cambria Math" panose="02040503050406030204" pitchFamily="18" charset="0"/>
                          </a:rPr>
                        </m:ctrlPr>
                      </m:funcPr>
                      <m:fName>
                        <m:r>
                          <m:rPr>
                            <m:sty m:val="p"/>
                          </m:rPr>
                          <a:rPr lang="en-US" b="0" i="0" dirty="0" smtClean="0">
                            <a:latin typeface="Cambria Math" panose="02040503050406030204" pitchFamily="18" charset="0"/>
                            <a:ea typeface="Cambria Math" panose="02040503050406030204" pitchFamily="18" charset="0"/>
                          </a:rPr>
                          <m:t>log</m:t>
                        </m:r>
                      </m:fName>
                      <m:e>
                        <m:r>
                          <a:rPr lang="en-US" b="0" i="1" dirty="0" smtClean="0">
                            <a:latin typeface="Cambria Math" panose="02040503050406030204" pitchFamily="18" charset="0"/>
                            <a:ea typeface="Cambria Math" panose="02040503050406030204" pitchFamily="18" charset="0"/>
                          </a:rPr>
                          <m:t>𝑍</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𝜏</m:t>
                        </m:r>
                        <m:func>
                          <m:funcPr>
                            <m:ctrlPr>
                              <a:rPr lang="en-US" b="0" i="1" dirty="0" smtClean="0">
                                <a:latin typeface="Cambria Math" panose="02040503050406030204" pitchFamily="18" charset="0"/>
                                <a:ea typeface="Cambria Math" panose="02040503050406030204" pitchFamily="18" charset="0"/>
                              </a:rPr>
                            </m:ctrlPr>
                          </m:funcPr>
                          <m:fName>
                            <m:r>
                              <m:rPr>
                                <m:sty m:val="p"/>
                              </m:rPr>
                              <a:rPr lang="en-US" b="0" i="0" dirty="0" smtClean="0">
                                <a:latin typeface="Cambria Math" panose="02040503050406030204" pitchFamily="18" charset="0"/>
                                <a:ea typeface="Cambria Math" panose="02040503050406030204" pitchFamily="18" charset="0"/>
                              </a:rPr>
                              <m:t>log</m:t>
                            </m:r>
                          </m:fName>
                          <m:e>
                            <m:sSub>
                              <m:sSubPr>
                                <m:ctrlPr>
                                  <a:rPr lang="en-US" b="0"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𝑔</m:t>
                                </m:r>
                              </m:e>
                              <m:sub>
                                <m:r>
                                  <a:rPr lang="en-US" b="0" i="1" dirty="0" smtClean="0">
                                    <a:latin typeface="Cambria Math" panose="02040503050406030204" pitchFamily="18" charset="0"/>
                                    <a:ea typeface="Cambria Math" panose="02040503050406030204" pitchFamily="18" charset="0"/>
                                  </a:rPr>
                                  <m:t>0</m:t>
                                </m:r>
                              </m:sub>
                            </m:sSub>
                            <m:r>
                              <a:rPr lang="en-US" b="0" i="1" dirty="0" smtClean="0">
                                <a:latin typeface="Cambria Math" panose="02040503050406030204" pitchFamily="18" charset="0"/>
                                <a:ea typeface="Cambria Math" panose="02040503050406030204" pitchFamily="18" charset="0"/>
                              </a:rPr>
                              <m:t>−</m:t>
                            </m:r>
                            <m:sSub>
                              <m:sSubPr>
                                <m:ctrlPr>
                                  <a:rPr lang="en-US" b="0"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𝑈</m:t>
                                </m:r>
                              </m:e>
                              <m:sub>
                                <m:r>
                                  <a:rPr lang="en-US" b="0" i="1" dirty="0" smtClean="0">
                                    <a:latin typeface="Cambria Math" panose="02040503050406030204" pitchFamily="18" charset="0"/>
                                    <a:ea typeface="Cambria Math" panose="02040503050406030204" pitchFamily="18" charset="0"/>
                                  </a:rPr>
                                  <m:t>0</m:t>
                                </m:r>
                              </m:sub>
                            </m:sSub>
                          </m:e>
                        </m:func>
                      </m:e>
                    </m:func>
                  </m:oMath>
                </a14:m>
                <a:endParaRPr lang="en-CN" dirty="0"/>
              </a:p>
            </p:txBody>
          </p:sp>
        </mc:Choice>
        <mc:Fallback xmlns="">
          <p:sp>
            <p:nvSpPr>
              <p:cNvPr id="9" name="TextBox 8">
                <a:extLst>
                  <a:ext uri="{FF2B5EF4-FFF2-40B4-BE49-F238E27FC236}">
                    <a16:creationId xmlns:a16="http://schemas.microsoft.com/office/drawing/2014/main" id="{85915C12-F82C-C545-889B-2D2C9B26CC51}"/>
                  </a:ext>
                </a:extLst>
              </p:cNvPr>
              <p:cNvSpPr txBox="1">
                <a:spLocks noRot="1" noChangeAspect="1" noMove="1" noResize="1" noEditPoints="1" noAdjustHandles="1" noChangeArrowheads="1" noChangeShapeType="1" noTextEdit="1"/>
              </p:cNvSpPr>
              <p:nvPr/>
            </p:nvSpPr>
            <p:spPr>
              <a:xfrm>
                <a:off x="581890" y="3988142"/>
                <a:ext cx="8769927" cy="1018356"/>
              </a:xfrm>
              <a:prstGeom prst="rect">
                <a:avLst/>
              </a:prstGeom>
              <a:blipFill>
                <a:blip r:embed="rId6"/>
                <a:stretch>
                  <a:fillRect l="-578" t="-1220" b="-6098"/>
                </a:stretch>
              </a:blipFill>
            </p:spPr>
            <p:txBody>
              <a:bodyPr/>
              <a:lstStyle/>
              <a:p>
                <a:r>
                  <a:rPr lang="en-CN">
                    <a:noFill/>
                  </a:rPr>
                  <a:t> </a:t>
                </a:r>
              </a:p>
            </p:txBody>
          </p:sp>
        </mc:Fallback>
      </mc:AlternateContent>
      <p:sp>
        <p:nvSpPr>
          <p:cNvPr id="10" name="Right Arrow 9">
            <a:extLst>
              <a:ext uri="{FF2B5EF4-FFF2-40B4-BE49-F238E27FC236}">
                <a16:creationId xmlns:a16="http://schemas.microsoft.com/office/drawing/2014/main" id="{8DF72076-2354-9F4C-AD54-C14AB31E02B7}"/>
              </a:ext>
            </a:extLst>
          </p:cNvPr>
          <p:cNvSpPr/>
          <p:nvPr/>
        </p:nvSpPr>
        <p:spPr>
          <a:xfrm>
            <a:off x="5458691" y="4711449"/>
            <a:ext cx="429491" cy="1770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22B9AA9-C414-9C47-B494-6D8FF7C674A7}"/>
                  </a:ext>
                </a:extLst>
              </p:cNvPr>
              <p:cNvSpPr txBox="1"/>
              <p:nvPr/>
            </p:nvSpPr>
            <p:spPr>
              <a:xfrm>
                <a:off x="2750125" y="5913281"/>
                <a:ext cx="4433455" cy="707886"/>
              </a:xfrm>
              <a:prstGeom prst="rect">
                <a:avLst/>
              </a:prstGeom>
              <a:solidFill>
                <a:schemeClr val="accent6"/>
              </a:solidFill>
            </p:spPr>
            <p:txBody>
              <a:bodyPr wrap="square" rtlCol="0">
                <a:spAutoFit/>
              </a:bodyPr>
              <a:lstStyle/>
              <a:p>
                <a:pPr algn="ctr"/>
                <a:r>
                  <a:rPr lang="en-US" sz="4000" b="0" dirty="0">
                    <a:solidFill>
                      <a:srgbClr val="FF0000"/>
                    </a:solidFill>
                    <a:ea typeface="Cambria Math" panose="02040503050406030204" pitchFamily="18" charset="0"/>
                  </a:rPr>
                  <a:t>F=</a:t>
                </a:r>
                <a14:m>
                  <m:oMath xmlns:m="http://schemas.openxmlformats.org/officeDocument/2006/math">
                    <m:r>
                      <a:rPr lang="en-US" sz="4000" b="0" i="0"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𝜏</m:t>
                    </m:r>
                    <m:func>
                      <m:funcPr>
                        <m:ctrlPr>
                          <a:rPr lang="en-US" sz="4000" b="0" i="1" smtClean="0">
                            <a:solidFill>
                              <a:srgbClr val="FF0000"/>
                            </a:solidFill>
                            <a:latin typeface="Cambria Math" panose="02040503050406030204" pitchFamily="18" charset="0"/>
                            <a:ea typeface="Cambria Math" panose="02040503050406030204" pitchFamily="18" charset="0"/>
                          </a:rPr>
                        </m:ctrlPr>
                      </m:funcPr>
                      <m:fName>
                        <m:r>
                          <m:rPr>
                            <m:sty m:val="p"/>
                          </m:rPr>
                          <a:rPr lang="en-US" sz="4000" b="0" i="0" smtClean="0">
                            <a:solidFill>
                              <a:srgbClr val="FF0000"/>
                            </a:solidFill>
                            <a:latin typeface="Cambria Math" panose="02040503050406030204" pitchFamily="18" charset="0"/>
                            <a:ea typeface="Cambria Math" panose="02040503050406030204" pitchFamily="18" charset="0"/>
                          </a:rPr>
                          <m:t>log</m:t>
                        </m:r>
                      </m:fName>
                      <m:e>
                        <m:r>
                          <a:rPr lang="en-US" sz="4000" b="0" i="1" smtClean="0">
                            <a:solidFill>
                              <a:srgbClr val="FF0000"/>
                            </a:solidFill>
                            <a:latin typeface="Cambria Math" panose="02040503050406030204" pitchFamily="18" charset="0"/>
                            <a:ea typeface="Cambria Math" panose="02040503050406030204" pitchFamily="18" charset="0"/>
                          </a:rPr>
                          <m:t>𝑍</m:t>
                        </m:r>
                      </m:e>
                    </m:func>
                  </m:oMath>
                </a14:m>
                <a:endParaRPr lang="en-CN" sz="4000" dirty="0"/>
              </a:p>
            </p:txBody>
          </p:sp>
        </mc:Choice>
        <mc:Fallback xmlns="">
          <p:sp>
            <p:nvSpPr>
              <p:cNvPr id="11" name="TextBox 10">
                <a:extLst>
                  <a:ext uri="{FF2B5EF4-FFF2-40B4-BE49-F238E27FC236}">
                    <a16:creationId xmlns:a16="http://schemas.microsoft.com/office/drawing/2014/main" id="{F22B9AA9-C414-9C47-B494-6D8FF7C674A7}"/>
                  </a:ext>
                </a:extLst>
              </p:cNvPr>
              <p:cNvSpPr txBox="1">
                <a:spLocks noRot="1" noChangeAspect="1" noMove="1" noResize="1" noEditPoints="1" noAdjustHandles="1" noChangeArrowheads="1" noChangeShapeType="1" noTextEdit="1"/>
              </p:cNvSpPr>
              <p:nvPr/>
            </p:nvSpPr>
            <p:spPr>
              <a:xfrm>
                <a:off x="2750125" y="5913281"/>
                <a:ext cx="4433455" cy="707886"/>
              </a:xfrm>
              <a:prstGeom prst="rect">
                <a:avLst/>
              </a:prstGeom>
              <a:blipFill>
                <a:blip r:embed="rId7"/>
                <a:stretch>
                  <a:fillRect t="-14035" b="-36842"/>
                </a:stretch>
              </a:blipFill>
            </p:spPr>
            <p:txBody>
              <a:bodyPr/>
              <a:lstStyle/>
              <a:p>
                <a:r>
                  <a:rPr lang="en-CN">
                    <a:noFill/>
                  </a:rPr>
                  <a:t> </a:t>
                </a:r>
              </a:p>
            </p:txBody>
          </p:sp>
        </mc:Fallback>
      </mc:AlternateContent>
      <p:sp>
        <p:nvSpPr>
          <p:cNvPr id="12" name="Down Arrow 11">
            <a:extLst>
              <a:ext uri="{FF2B5EF4-FFF2-40B4-BE49-F238E27FC236}">
                <a16:creationId xmlns:a16="http://schemas.microsoft.com/office/drawing/2014/main" id="{78F0FEF0-C93A-E749-8384-263FA435130A}"/>
              </a:ext>
            </a:extLst>
          </p:cNvPr>
          <p:cNvSpPr/>
          <p:nvPr/>
        </p:nvSpPr>
        <p:spPr>
          <a:xfrm>
            <a:off x="6096000" y="5167745"/>
            <a:ext cx="817418" cy="4294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3" name="Right Brace 12">
            <a:extLst>
              <a:ext uri="{FF2B5EF4-FFF2-40B4-BE49-F238E27FC236}">
                <a16:creationId xmlns:a16="http://schemas.microsoft.com/office/drawing/2014/main" id="{91134B92-7E79-244B-8412-63F6842852A9}"/>
              </a:ext>
            </a:extLst>
          </p:cNvPr>
          <p:cNvSpPr/>
          <p:nvPr/>
        </p:nvSpPr>
        <p:spPr>
          <a:xfrm>
            <a:off x="8728364" y="4336473"/>
            <a:ext cx="623453" cy="67002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
        <p:nvSpPr>
          <p:cNvPr id="14" name="TextBox 13">
            <a:extLst>
              <a:ext uri="{FF2B5EF4-FFF2-40B4-BE49-F238E27FC236}">
                <a16:creationId xmlns:a16="http://schemas.microsoft.com/office/drawing/2014/main" id="{E45D3DCC-45D0-1B47-ADBF-66CF11A7D7A3}"/>
              </a:ext>
            </a:extLst>
          </p:cNvPr>
          <p:cNvSpPr txBox="1"/>
          <p:nvPr/>
        </p:nvSpPr>
        <p:spPr>
          <a:xfrm>
            <a:off x="9725889" y="4497320"/>
            <a:ext cx="1149929" cy="369332"/>
          </a:xfrm>
          <a:prstGeom prst="rect">
            <a:avLst/>
          </a:prstGeom>
          <a:noFill/>
        </p:spPr>
        <p:txBody>
          <a:bodyPr wrap="square" rtlCol="0">
            <a:spAutoFit/>
          </a:bodyPr>
          <a:lstStyle/>
          <a:p>
            <a:r>
              <a:rPr lang="en-US" dirty="0"/>
              <a:t>C</a:t>
            </a:r>
            <a:r>
              <a:rPr lang="en-CN" dirty="0"/>
              <a:t>onst=0</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0C73A2D-7195-194C-91D3-2C06C6FFC541}"/>
                  </a:ext>
                </a:extLst>
              </p:cNvPr>
              <p:cNvSpPr txBox="1"/>
              <p:nvPr/>
            </p:nvSpPr>
            <p:spPr>
              <a:xfrm>
                <a:off x="7183580" y="273465"/>
                <a:ext cx="439882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𝜇</m:t>
                      </m:r>
                    </m:oMath>
                  </m:oMathPara>
                </a14:m>
                <a:endParaRPr lang="en-CN" dirty="0"/>
              </a:p>
            </p:txBody>
          </p:sp>
        </mc:Choice>
        <mc:Fallback xmlns="">
          <p:sp>
            <p:nvSpPr>
              <p:cNvPr id="2" name="TextBox 1">
                <a:extLst>
                  <a:ext uri="{FF2B5EF4-FFF2-40B4-BE49-F238E27FC236}">
                    <a16:creationId xmlns:a16="http://schemas.microsoft.com/office/drawing/2014/main" id="{20C73A2D-7195-194C-91D3-2C06C6FFC541}"/>
                  </a:ext>
                </a:extLst>
              </p:cNvPr>
              <p:cNvSpPr txBox="1">
                <a:spLocks noRot="1" noChangeAspect="1" noMove="1" noResize="1" noEditPoints="1" noAdjustHandles="1" noChangeArrowheads="1" noChangeShapeType="1" noTextEdit="1"/>
              </p:cNvSpPr>
              <p:nvPr/>
            </p:nvSpPr>
            <p:spPr>
              <a:xfrm>
                <a:off x="7183580" y="273465"/>
                <a:ext cx="4398820" cy="369332"/>
              </a:xfrm>
              <a:prstGeom prst="rect">
                <a:avLst/>
              </a:prstGeom>
              <a:blipFill>
                <a:blip r:embed="rId8"/>
                <a:stretch>
                  <a:fillRect b="-13333"/>
                </a:stretch>
              </a:blipFill>
            </p:spPr>
            <p:txBody>
              <a:bodyPr/>
              <a:lstStyle/>
              <a:p>
                <a:r>
                  <a:rPr lang="en-CN">
                    <a:noFill/>
                  </a:rPr>
                  <a:t> </a:t>
                </a:r>
              </a:p>
            </p:txBody>
          </p:sp>
        </mc:Fallback>
      </mc:AlternateContent>
    </p:spTree>
    <p:extLst>
      <p:ext uri="{BB962C8B-B14F-4D97-AF65-F5344CB8AC3E}">
        <p14:creationId xmlns:p14="http://schemas.microsoft.com/office/powerpoint/2010/main" val="40126703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0F1EE78-E67E-0A4E-9E24-0D6AF6B9C413}"/>
                  </a:ext>
                </a:extLst>
              </p:cNvPr>
              <p:cNvSpPr txBox="1"/>
              <p:nvPr/>
            </p:nvSpPr>
            <p:spPr>
              <a:xfrm>
                <a:off x="3463640" y="3283533"/>
                <a:ext cx="5514109" cy="721223"/>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Ω</m:t>
                                  </m:r>
                                </m:num>
                                <m:den>
                                  <m:r>
                                    <a:rPr lang="en-US" b="0" i="1" smtClean="0">
                                      <a:latin typeface="Cambria Math" panose="02040503050406030204" pitchFamily="18" charset="0"/>
                                      <a:ea typeface="Cambria Math" panose="02040503050406030204" pitchFamily="18" charset="0"/>
                                    </a:rPr>
                                    <m:t>𝜕𝜏</m:t>
                                  </m:r>
                                </m:den>
                              </m:f>
                            </m:e>
                          </m:d>
                        </m:e>
                        <m:sub>
                          <m: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Ω</m:t>
                                  </m:r>
                                </m:num>
                                <m:den>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den>
                              </m:f>
                            </m:e>
                          </m:d>
                        </m:e>
                        <m:sub>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sub>
                      </m:sSub>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sSub>
                        <m:sSubPr>
                          <m:ctrlPr>
                            <a:rPr lang="en-US" i="1">
                              <a:latin typeface="Cambria Math" panose="02040503050406030204" pitchFamily="18" charset="0"/>
                            </a:rPr>
                          </m:ctrlPr>
                        </m:sSub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 </m:t>
                                  </m:r>
                                  <m:r>
                                    <m:rPr>
                                      <m:sty m:val="p"/>
                                    </m:rPr>
                                    <a:rPr lang="el-GR" i="1">
                                      <a:latin typeface="Cambria Math" panose="02040503050406030204" pitchFamily="18" charset="0"/>
                                      <a:ea typeface="Cambria Math" panose="02040503050406030204" pitchFamily="18" charset="0"/>
                                    </a:rPr>
                                    <m:t>Ω</m:t>
                                  </m:r>
                                </m:num>
                                <m:den>
                                  <m:r>
                                    <a:rPr lang="en-US" i="1">
                                      <a:latin typeface="Cambria Math" panose="02040503050406030204" pitchFamily="18" charset="0"/>
                                    </a:rPr>
                                    <m:t>𝜕</m:t>
                                  </m:r>
                                  <m:r>
                                    <a:rPr lang="en-US" i="1">
                                      <a:latin typeface="Cambria Math" panose="02040503050406030204" pitchFamily="18" charset="0"/>
                                    </a:rPr>
                                    <m:t> </m:t>
                                  </m:r>
                                  <m:r>
                                    <a:rPr lang="en-US" i="1">
                                      <a:latin typeface="Cambria Math" panose="02040503050406030204" pitchFamily="18" charset="0"/>
                                    </a:rPr>
                                    <m:t>𝑉</m:t>
                                  </m:r>
                                </m:den>
                              </m:f>
                            </m:e>
                          </m:d>
                        </m:e>
                        <m:sub>
                          <m:r>
                            <a:rPr lang="en-US" i="1">
                              <a:latin typeface="Cambria Math" panose="02040503050406030204" pitchFamily="18" charset="0"/>
                              <a:ea typeface="Cambria Math" panose="02040503050406030204" pitchFamily="18" charset="0"/>
                            </a:rPr>
                            <m:t>𝜏</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𝜇</m:t>
                          </m:r>
                        </m:sub>
                      </m:sSub>
                    </m:oMath>
                  </m:oMathPara>
                </a14:m>
                <a:endParaRPr lang="en-CN" dirty="0"/>
              </a:p>
            </p:txBody>
          </p:sp>
        </mc:Choice>
        <mc:Fallback xmlns="">
          <p:sp>
            <p:nvSpPr>
              <p:cNvPr id="4" name="TextBox 3">
                <a:extLst>
                  <a:ext uri="{FF2B5EF4-FFF2-40B4-BE49-F238E27FC236}">
                    <a16:creationId xmlns:a16="http://schemas.microsoft.com/office/drawing/2014/main" id="{20F1EE78-E67E-0A4E-9E24-0D6AF6B9C413}"/>
                  </a:ext>
                </a:extLst>
              </p:cNvPr>
              <p:cNvSpPr txBox="1">
                <a:spLocks noRot="1" noChangeAspect="1" noMove="1" noResize="1" noEditPoints="1" noAdjustHandles="1" noChangeArrowheads="1" noChangeShapeType="1" noTextEdit="1"/>
              </p:cNvSpPr>
              <p:nvPr/>
            </p:nvSpPr>
            <p:spPr>
              <a:xfrm>
                <a:off x="3463640" y="3283533"/>
                <a:ext cx="5514109" cy="721223"/>
              </a:xfrm>
              <a:prstGeom prst="rect">
                <a:avLst/>
              </a:prstGeom>
              <a:blipFill>
                <a:blip r:embed="rId2"/>
                <a:stretch>
                  <a:fillRect b="-1724"/>
                </a:stretch>
              </a:blipFill>
            </p:spPr>
            <p:txBody>
              <a:bodyPr/>
              <a:lstStyle/>
              <a:p>
                <a:r>
                  <a:rPr lang="en-CN">
                    <a:noFill/>
                  </a:rPr>
                  <a:t> </a:t>
                </a:r>
              </a:p>
            </p:txBody>
          </p:sp>
        </mc:Fallback>
      </mc:AlternateContent>
      <p:sp>
        <p:nvSpPr>
          <p:cNvPr id="5" name="TextBox 4">
            <a:extLst>
              <a:ext uri="{FF2B5EF4-FFF2-40B4-BE49-F238E27FC236}">
                <a16:creationId xmlns:a16="http://schemas.microsoft.com/office/drawing/2014/main" id="{1C9FF382-C761-EE4E-9366-4F707EBAFD41}"/>
              </a:ext>
            </a:extLst>
          </p:cNvPr>
          <p:cNvSpPr txBox="1"/>
          <p:nvPr/>
        </p:nvSpPr>
        <p:spPr>
          <a:xfrm>
            <a:off x="651168" y="1731823"/>
            <a:ext cx="10695709" cy="1477328"/>
          </a:xfrm>
          <a:prstGeom prst="rect">
            <a:avLst/>
          </a:prstGeom>
          <a:noFill/>
        </p:spPr>
        <p:txBody>
          <a:bodyPr wrap="square" rtlCol="0">
            <a:spAutoFit/>
          </a:bodyPr>
          <a:lstStyle/>
          <a:p>
            <a:r>
              <a:rPr lang="en-CN" dirty="0"/>
              <a:t>In order to obtain the thermodynamic properties of our system in contact with a heat and particle reservioir, we do the following:</a:t>
            </a:r>
          </a:p>
          <a:p>
            <a:r>
              <a:rPr lang="en-CN" dirty="0"/>
              <a:t>1, calculate the grand partition function</a:t>
            </a:r>
          </a:p>
          <a:p>
            <a:r>
              <a:rPr lang="en-CN" dirty="0"/>
              <a:t>2, calculate the grand free energy</a:t>
            </a:r>
          </a:p>
          <a:p>
            <a:r>
              <a:rPr lang="en-CN" dirty="0"/>
              <a:t>3, calculat the remaining thermodynamic properties through the equations:</a:t>
            </a:r>
          </a:p>
        </p:txBody>
      </p:sp>
    </p:spTree>
    <p:extLst>
      <p:ext uri="{BB962C8B-B14F-4D97-AF65-F5344CB8AC3E}">
        <p14:creationId xmlns:p14="http://schemas.microsoft.com/office/powerpoint/2010/main" val="16497389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B7FF2B-12AB-2642-8400-1F380DA907B0}"/>
              </a:ext>
            </a:extLst>
          </p:cNvPr>
          <p:cNvSpPr txBox="1"/>
          <p:nvPr/>
        </p:nvSpPr>
        <p:spPr>
          <a:xfrm>
            <a:off x="415636" y="221673"/>
            <a:ext cx="4461164" cy="369332"/>
          </a:xfrm>
          <a:prstGeom prst="rect">
            <a:avLst/>
          </a:prstGeom>
          <a:noFill/>
        </p:spPr>
        <p:txBody>
          <a:bodyPr wrap="square" rtlCol="0">
            <a:spAutoFit/>
          </a:bodyPr>
          <a:lstStyle/>
          <a:p>
            <a:r>
              <a:rPr lang="zh-CN" altLang="en-CN" dirty="0"/>
              <a:t>回到</a:t>
            </a:r>
            <a:r>
              <a:rPr lang="zh-CN" altLang="en-US" dirty="0"/>
              <a:t>吸收</a:t>
            </a:r>
            <a:endParaRPr lang="en-CN" dirty="0"/>
          </a:p>
        </p:txBody>
      </p:sp>
      <p:pic>
        <p:nvPicPr>
          <p:cNvPr id="3" name="Picture 2">
            <a:extLst>
              <a:ext uri="{FF2B5EF4-FFF2-40B4-BE49-F238E27FC236}">
                <a16:creationId xmlns:a16="http://schemas.microsoft.com/office/drawing/2014/main" id="{60962030-97CE-764D-9AC8-475DC448B7F7}"/>
              </a:ext>
            </a:extLst>
          </p:cNvPr>
          <p:cNvPicPr>
            <a:picLocks noChangeAspect="1"/>
          </p:cNvPicPr>
          <p:nvPr/>
        </p:nvPicPr>
        <p:blipFill>
          <a:blip r:embed="rId2"/>
          <a:stretch>
            <a:fillRect/>
          </a:stretch>
        </p:blipFill>
        <p:spPr>
          <a:xfrm>
            <a:off x="831273" y="817113"/>
            <a:ext cx="6206439" cy="5763795"/>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1E9463C-ED01-8F47-B9C8-8A8D96D735DA}"/>
                  </a:ext>
                </a:extLst>
              </p:cNvPr>
              <p:cNvSpPr txBox="1"/>
              <p:nvPr/>
            </p:nvSpPr>
            <p:spPr>
              <a:xfrm>
                <a:off x="7356764" y="604860"/>
                <a:ext cx="4572000" cy="4256422"/>
              </a:xfrm>
              <a:prstGeom prst="rect">
                <a:avLst/>
              </a:prstGeom>
              <a:noFill/>
            </p:spPr>
            <p:txBody>
              <a:bodyPr wrap="square" rtlCol="0">
                <a:spAutoFit/>
              </a:bodyPr>
              <a:lstStyle/>
              <a:p>
                <a:pPr marL="285750" indent="-285750">
                  <a:buFont typeface="Arial" panose="020B0604020202020204" pitchFamily="34" charset="0"/>
                  <a:buChar char="•"/>
                </a:pPr>
                <a:r>
                  <a:rPr lang="en-CN" dirty="0"/>
                  <a:t>把目光放在某个site上</a:t>
                </a:r>
              </a:p>
              <a:p>
                <a:pPr marL="285750" indent="-285750">
                  <a:buFont typeface="Arial" panose="020B0604020202020204" pitchFamily="34" charset="0"/>
                  <a:buChar char="•"/>
                </a:pPr>
                <a:r>
                  <a:rPr lang="en-CN" dirty="0"/>
                  <a:t>For the site 1, there are two states;</a:t>
                </a:r>
              </a:p>
              <a:p>
                <a:endParaRPr lang="en-CN" dirty="0"/>
              </a:p>
              <a:p>
                <a:endParaRPr lang="en-CN" dirty="0"/>
              </a:p>
              <a:p>
                <a:r>
                  <a:rPr lang="en-CN" dirty="0"/>
                  <a:t>             Unoccupied                 Occupied</a:t>
                </a:r>
              </a:p>
              <a:p>
                <a:r>
                  <a:rPr lang="en-CN" dirty="0"/>
                  <a:t>Number:        0                                 1</a:t>
                </a:r>
              </a:p>
              <a:p>
                <a:r>
                  <a:rPr lang="en-CN" dirty="0"/>
                  <a:t>Energy:           0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0</m:t>
                        </m:r>
                      </m:sub>
                    </m:sSub>
                  </m:oMath>
                </a14:m>
                <a:endParaRPr lang="en-CN" dirty="0"/>
              </a:p>
              <a:p>
                <a:r>
                  <a:rPr lang="en-CN" dirty="0"/>
                  <a:t>Gibbs factor:  1                            </a:t>
                </a:r>
                <a14:m>
                  <m:oMath xmlns:m="http://schemas.openxmlformats.org/officeDocument/2006/math">
                    <m:r>
                      <a:rPr lang="en-CN" i="1" smtClean="0">
                        <a:latin typeface="Cambria Math" panose="02040503050406030204" pitchFamily="18" charset="0"/>
                        <a:ea typeface="Cambria Math" panose="02040503050406030204" pitchFamily="18" charset="0"/>
                      </a:rPr>
                      <m:t>𝜆</m:t>
                    </m:r>
                    <m:sSup>
                      <m:sSupPr>
                        <m:ctrlPr>
                          <a:rPr lang="en-CN"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sSub>
                          <m:sSubPr>
                            <m:ctrlPr>
                              <a:rPr lang="en-CN" i="1" smtClean="0">
                                <a:latin typeface="Cambria Math" panose="02040503050406030204" pitchFamily="18" charset="0"/>
                                <a:ea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oMath>
                </a14:m>
                <a:endParaRPr lang="en-CN" dirty="0"/>
              </a:p>
              <a:p>
                <a:endParaRPr lang="en-CN" dirty="0"/>
              </a:p>
              <a:p>
                <a:pPr marL="285750" indent="-285750">
                  <a:buFont typeface="Arial" panose="020B0604020202020204" pitchFamily="34" charset="0"/>
                  <a:buChar char="•"/>
                </a:pPr>
                <a:r>
                  <a:rPr lang="en-CN" dirty="0"/>
                  <a:t>Gibbs sum is</a:t>
                </a:r>
              </a:p>
              <a:p>
                <a:pPr algn="ct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𝐺</m:t>
                          </m:r>
                        </m:sub>
                      </m:sSub>
                      <m:r>
                        <a:rPr lang="en-US" b="0" i="1" smtClean="0">
                          <a:latin typeface="Cambria Math" panose="02040503050406030204" pitchFamily="18" charset="0"/>
                        </a:rPr>
                        <m:t>=1+</m:t>
                      </m:r>
                      <m:r>
                        <a:rPr lang="en-CN" i="1">
                          <a:latin typeface="Cambria Math" panose="02040503050406030204" pitchFamily="18" charset="0"/>
                          <a:ea typeface="Cambria Math" panose="02040503050406030204" pitchFamily="18" charset="0"/>
                        </a:rPr>
                        <m:t>𝜆</m:t>
                      </m:r>
                      <m:sSup>
                        <m:sSupPr>
                          <m:ctrlPr>
                            <a:rPr lang="en-CN"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sSub>
                            <m:sSubPr>
                              <m:ctrlPr>
                                <a:rPr lang="en-CN" i="1">
                                  <a:latin typeface="Cambria Math" panose="02040503050406030204" pitchFamily="18" charset="0"/>
                                  <a:ea typeface="Cambria Math" panose="02040503050406030204" pitchFamily="18" charset="0"/>
                                </a:rPr>
                              </m:ctrlPr>
                            </m:sSubPr>
                            <m:e>
                              <m:r>
                                <a:rPr lang="en-CN" i="1">
                                  <a:latin typeface="Cambria Math" panose="02040503050406030204" pitchFamily="18" charset="0"/>
                                  <a:ea typeface="Cambria Math" panose="02040503050406030204" pitchFamily="18" charset="0"/>
                                </a:rPr>
                                <m:t>𝜀</m:t>
                              </m:r>
                            </m:e>
                            <m:sub>
                              <m:r>
                                <a:rPr lang="en-US" i="1">
                                  <a:latin typeface="Cambria Math" panose="02040503050406030204" pitchFamily="18" charset="0"/>
                                  <a:ea typeface="Cambria Math" panose="02040503050406030204" pitchFamily="18" charset="0"/>
                                </a:rPr>
                                <m:t>0</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𝜏</m:t>
                          </m:r>
                        </m:sup>
                      </m:sSup>
                    </m:oMath>
                  </m:oMathPara>
                </a14:m>
                <a:endParaRPr lang="en-CN" dirty="0"/>
              </a:p>
              <a:p>
                <a:pPr marL="285750" indent="-285750">
                  <a:buFont typeface="Arial" panose="020B0604020202020204" pitchFamily="34" charset="0"/>
                  <a:buChar char="•"/>
                </a:pPr>
                <a:r>
                  <a:rPr lang="en-CN" dirty="0"/>
                  <a:t>The probability for an atom in the occupied state is</a:t>
                </a:r>
              </a:p>
              <a:p>
                <a:pPr algn="ct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r>
                            <a:rPr lang="en-US" b="0" i="1" smtClean="0">
                              <a:latin typeface="Cambria Math" panose="02040503050406030204" pitchFamily="18" charset="0"/>
                            </a:rPr>
                            <m:t>0+</m:t>
                          </m:r>
                          <m:r>
                            <a:rPr lang="en-CN" i="1">
                              <a:latin typeface="Cambria Math" panose="02040503050406030204" pitchFamily="18" charset="0"/>
                              <a:ea typeface="Cambria Math" panose="02040503050406030204" pitchFamily="18" charset="0"/>
                            </a:rPr>
                            <m:t>𝜆</m:t>
                          </m:r>
                          <m:sSup>
                            <m:sSupPr>
                              <m:ctrlPr>
                                <a:rPr lang="en-CN"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sSub>
                                <m:sSubPr>
                                  <m:ctrlPr>
                                    <a:rPr lang="en-CN" i="1">
                                      <a:latin typeface="Cambria Math" panose="02040503050406030204" pitchFamily="18" charset="0"/>
                                      <a:ea typeface="Cambria Math" panose="02040503050406030204" pitchFamily="18" charset="0"/>
                                    </a:rPr>
                                  </m:ctrlPr>
                                </m:sSubPr>
                                <m:e>
                                  <m:r>
                                    <a:rPr lang="en-CN" i="1">
                                      <a:latin typeface="Cambria Math" panose="02040503050406030204" pitchFamily="18" charset="0"/>
                                      <a:ea typeface="Cambria Math" panose="02040503050406030204" pitchFamily="18" charset="0"/>
                                    </a:rPr>
                                    <m:t>𝜀</m:t>
                                  </m:r>
                                </m:e>
                                <m:sub>
                                  <m:r>
                                    <a:rPr lang="en-US" i="1">
                                      <a:latin typeface="Cambria Math" panose="02040503050406030204" pitchFamily="18" charset="0"/>
                                      <a:ea typeface="Cambria Math" panose="02040503050406030204" pitchFamily="18" charset="0"/>
                                    </a:rPr>
                                    <m:t>0</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𝜏</m:t>
                              </m:r>
                            </m:sup>
                          </m:sSup>
                        </m:num>
                        <m:den>
                          <m:r>
                            <a:rPr lang="en-US" b="0" i="1" smtClean="0">
                              <a:latin typeface="Cambria Math" panose="02040503050406030204" pitchFamily="18" charset="0"/>
                            </a:rPr>
                            <m:t>1+</m:t>
                          </m:r>
                          <m:r>
                            <a:rPr lang="en-CN" i="1">
                              <a:latin typeface="Cambria Math" panose="02040503050406030204" pitchFamily="18" charset="0"/>
                              <a:ea typeface="Cambria Math" panose="02040503050406030204" pitchFamily="18" charset="0"/>
                            </a:rPr>
                            <m:t>𝜆</m:t>
                          </m:r>
                          <m:sSup>
                            <m:sSupPr>
                              <m:ctrlPr>
                                <a:rPr lang="en-CN"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sSub>
                                <m:sSubPr>
                                  <m:ctrlPr>
                                    <a:rPr lang="en-CN" i="1">
                                      <a:latin typeface="Cambria Math" panose="02040503050406030204" pitchFamily="18" charset="0"/>
                                      <a:ea typeface="Cambria Math" panose="02040503050406030204" pitchFamily="18" charset="0"/>
                                    </a:rPr>
                                  </m:ctrlPr>
                                </m:sSubPr>
                                <m:e>
                                  <m:r>
                                    <a:rPr lang="en-CN" i="1">
                                      <a:latin typeface="Cambria Math" panose="02040503050406030204" pitchFamily="18" charset="0"/>
                                      <a:ea typeface="Cambria Math" panose="02040503050406030204" pitchFamily="18" charset="0"/>
                                    </a:rPr>
                                    <m:t>𝜀</m:t>
                                  </m:r>
                                </m:e>
                                <m:sub>
                                  <m:r>
                                    <a:rPr lang="en-US" i="1">
                                      <a:latin typeface="Cambria Math" panose="02040503050406030204" pitchFamily="18" charset="0"/>
                                      <a:ea typeface="Cambria Math" panose="02040503050406030204" pitchFamily="18" charset="0"/>
                                    </a:rPr>
                                    <m:t>0</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𝜏</m:t>
                              </m:r>
                            </m:sup>
                          </m:sSup>
                        </m:den>
                      </m:f>
                    </m:oMath>
                  </m:oMathPara>
                </a14:m>
                <a:endParaRPr lang="en-CN" dirty="0"/>
              </a:p>
            </p:txBody>
          </p:sp>
        </mc:Choice>
        <mc:Fallback xmlns="">
          <p:sp>
            <p:nvSpPr>
              <p:cNvPr id="4" name="TextBox 3">
                <a:extLst>
                  <a:ext uri="{FF2B5EF4-FFF2-40B4-BE49-F238E27FC236}">
                    <a16:creationId xmlns:a16="http://schemas.microsoft.com/office/drawing/2014/main" id="{E1E9463C-ED01-8F47-B9C8-8A8D96D735DA}"/>
                  </a:ext>
                </a:extLst>
              </p:cNvPr>
              <p:cNvSpPr txBox="1">
                <a:spLocks noRot="1" noChangeAspect="1" noMove="1" noResize="1" noEditPoints="1" noAdjustHandles="1" noChangeArrowheads="1" noChangeShapeType="1" noTextEdit="1"/>
              </p:cNvSpPr>
              <p:nvPr/>
            </p:nvSpPr>
            <p:spPr>
              <a:xfrm>
                <a:off x="7356764" y="604860"/>
                <a:ext cx="4572000" cy="4256422"/>
              </a:xfrm>
              <a:prstGeom prst="rect">
                <a:avLst/>
              </a:prstGeom>
              <a:blipFill>
                <a:blip r:embed="rId3"/>
                <a:stretch>
                  <a:fillRect l="-1108" t="-595" r="-554" b="-595"/>
                </a:stretch>
              </a:blipFill>
            </p:spPr>
            <p:txBody>
              <a:bodyPr/>
              <a:lstStyle/>
              <a:p>
                <a:r>
                  <a:rPr lang="en-CN">
                    <a:noFill/>
                  </a:rPr>
                  <a:t> </a:t>
                </a:r>
              </a:p>
            </p:txBody>
          </p:sp>
        </mc:Fallback>
      </mc:AlternateContent>
      <p:sp>
        <p:nvSpPr>
          <p:cNvPr id="5" name="Oval 4">
            <a:extLst>
              <a:ext uri="{FF2B5EF4-FFF2-40B4-BE49-F238E27FC236}">
                <a16:creationId xmlns:a16="http://schemas.microsoft.com/office/drawing/2014/main" id="{43F4A45F-D95D-6445-8CAB-B403E0DF24B4}"/>
              </a:ext>
            </a:extLst>
          </p:cNvPr>
          <p:cNvSpPr/>
          <p:nvPr/>
        </p:nvSpPr>
        <p:spPr>
          <a:xfrm>
            <a:off x="8506693" y="1288473"/>
            <a:ext cx="429491" cy="42949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6" name="Oval 5">
            <a:extLst>
              <a:ext uri="{FF2B5EF4-FFF2-40B4-BE49-F238E27FC236}">
                <a16:creationId xmlns:a16="http://schemas.microsoft.com/office/drawing/2014/main" id="{C042353E-6130-E342-A59B-D2505D384190}"/>
              </a:ext>
            </a:extLst>
          </p:cNvPr>
          <p:cNvSpPr/>
          <p:nvPr/>
        </p:nvSpPr>
        <p:spPr>
          <a:xfrm>
            <a:off x="10335495" y="1288473"/>
            <a:ext cx="429491" cy="42949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44068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924EAF-C723-8347-97AF-99B196D9C551}"/>
              </a:ext>
            </a:extLst>
          </p:cNvPr>
          <p:cNvSpPr txBox="1"/>
          <p:nvPr/>
        </p:nvSpPr>
        <p:spPr>
          <a:xfrm>
            <a:off x="457200" y="346364"/>
            <a:ext cx="9919855" cy="369332"/>
          </a:xfrm>
          <a:prstGeom prst="rect">
            <a:avLst/>
          </a:prstGeom>
          <a:noFill/>
        </p:spPr>
        <p:txBody>
          <a:bodyPr wrap="square" rtlCol="0">
            <a:spAutoFit/>
          </a:bodyPr>
          <a:lstStyle/>
          <a:p>
            <a:r>
              <a:rPr lang="en-CN" dirty="0"/>
              <a:t>理想气体</a:t>
            </a:r>
            <a:r>
              <a:rPr lang="zh-CN" altLang="en-US" dirty="0"/>
              <a:t> </a:t>
            </a:r>
            <a:r>
              <a:rPr lang="en-US" altLang="zh-CN" dirty="0"/>
              <a:t>ideal</a:t>
            </a:r>
            <a:r>
              <a:rPr lang="zh-CN" altLang="en-US" dirty="0"/>
              <a:t> </a:t>
            </a:r>
            <a:r>
              <a:rPr lang="en-US" altLang="zh-CN" dirty="0"/>
              <a:t>gas(fixed temperature and chemical potential)</a:t>
            </a:r>
            <a:endParaRPr lang="en-CN"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4B85EAC-9CE2-C64B-91F8-0189E48482B6}"/>
                  </a:ext>
                </a:extLst>
              </p:cNvPr>
              <p:cNvSpPr txBox="1"/>
              <p:nvPr/>
            </p:nvSpPr>
            <p:spPr>
              <a:xfrm>
                <a:off x="1787236" y="1066800"/>
                <a:ext cx="9074728" cy="5784340"/>
              </a:xfrm>
              <a:prstGeom prst="rect">
                <a:avLst/>
              </a:prstGeom>
              <a:noFill/>
            </p:spPr>
            <p:txBody>
              <a:bodyPr wrap="square" rtlCol="0">
                <a:spAutoFit/>
              </a:bodyPr>
              <a:lstStyle/>
              <a:p>
                <a:pPr marL="285750" indent="-285750">
                  <a:buFont typeface="Arial" panose="020B0604020202020204" pitchFamily="34" charset="0"/>
                  <a:buChar char="•"/>
                </a:pPr>
                <a:r>
                  <a:rPr lang="en-CN" dirty="0"/>
                  <a:t>正则配分函数</a:t>
                </a:r>
              </a:p>
              <a:p>
                <a:pPr algn="ctr"/>
                <a:r>
                  <a:rPr lang="zh-CN" altLang="en-US" dirty="0"/>
                  <a: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𝑍</m:t>
                        </m:r>
                      </m:e>
                      <m:sub>
                        <m:r>
                          <a:rPr lang="en-US" altLang="zh-CN" b="0" i="1" smtClean="0">
                            <a:latin typeface="Cambria Math" panose="02040503050406030204" pitchFamily="18" charset="0"/>
                          </a:rPr>
                          <m:t>𝑁</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𝜏</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𝑉</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𝑁</m:t>
                        </m:r>
                        <m:r>
                          <a:rPr lang="en-US" altLang="zh-CN" b="0" i="1" smtClean="0">
                            <a:latin typeface="Cambria Math" panose="02040503050406030204" pitchFamily="18" charset="0"/>
                          </a:rPr>
                          <m:t>!</m:t>
                        </m:r>
                      </m:den>
                    </m:f>
                    <m:r>
                      <a:rPr lang="en-US" altLang="zh-CN" b="0" i="1" smtClean="0">
                        <a:latin typeface="Cambria Math" panose="02040503050406030204" pitchFamily="18" charset="0"/>
                      </a:rPr>
                      <m:t> </m:t>
                    </m:r>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𝑛</m:t>
                                </m:r>
                              </m:e>
                              <m:sub>
                                <m:r>
                                  <a:rPr lang="en-US" altLang="zh-CN" b="0" i="1" smtClean="0">
                                    <a:latin typeface="Cambria Math" panose="02040503050406030204" pitchFamily="18" charset="0"/>
                                  </a:rPr>
                                  <m:t>𝑄</m:t>
                                </m:r>
                              </m:sub>
                            </m:sSub>
                            <m:r>
                              <a:rPr lang="en-US" altLang="zh-CN" b="0" i="1" smtClean="0">
                                <a:latin typeface="Cambria Math" panose="02040503050406030204" pitchFamily="18" charset="0"/>
                              </a:rPr>
                              <m:t>𝑉</m:t>
                            </m:r>
                          </m:e>
                        </m:d>
                      </m:e>
                      <m:sup>
                        <m:r>
                          <a:rPr lang="en-US" altLang="zh-CN" b="0" i="1" smtClean="0">
                            <a:latin typeface="Cambria Math" panose="02040503050406030204" pitchFamily="18" charset="0"/>
                          </a:rPr>
                          <m:t>𝑁</m:t>
                        </m:r>
                      </m:sup>
                    </m:sSup>
                  </m:oMath>
                </a14:m>
                <a:endParaRPr lang="en-CN" dirty="0"/>
              </a:p>
              <a:p>
                <a:pPr marL="285750" indent="-285750">
                  <a:buFont typeface="Arial" panose="020B0604020202020204" pitchFamily="34" charset="0"/>
                  <a:buChar char="•"/>
                </a:pPr>
                <a:r>
                  <a:rPr lang="en-CN" dirty="0"/>
                  <a:t>巨配分函数</a:t>
                </a: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𝑁</m:t>
                          </m:r>
                          <m:r>
                            <a:rPr lang="en-US" b="0" i="1" smtClean="0">
                              <a:latin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𝜆</m:t>
                              </m:r>
                            </m:e>
                            <m:sup>
                              <m:r>
                                <a:rPr lang="en-US" b="0" i="1" smtClean="0">
                                  <a:latin typeface="Cambria Math" panose="02040503050406030204" pitchFamily="18" charset="0"/>
                                </a:rPr>
                                <m:t>𝑁</m:t>
                              </m:r>
                            </m:sup>
                          </m:sSup>
                        </m:e>
                      </m:nary>
                      <m:sSub>
                        <m:sSubPr>
                          <m:ctrlPr>
                            <a:rPr lang="en-US" altLang="zh-CN" i="1">
                              <a:latin typeface="Cambria Math" panose="02040503050406030204" pitchFamily="18" charset="0"/>
                            </a:rPr>
                          </m:ctrlPr>
                        </m:sSubPr>
                        <m:e>
                          <m:r>
                            <a:rPr lang="en-US" altLang="zh-CN" i="1">
                              <a:latin typeface="Cambria Math" panose="02040503050406030204" pitchFamily="18" charset="0"/>
                            </a:rPr>
                            <m:t>𝑍</m:t>
                          </m:r>
                        </m:e>
                        <m:sub>
                          <m:r>
                            <a:rPr lang="en-US" altLang="zh-CN" i="1">
                              <a:latin typeface="Cambria Math" panose="02040503050406030204" pitchFamily="18" charset="0"/>
                            </a:rPr>
                            <m:t>𝑁</m:t>
                          </m:r>
                        </m:sub>
                      </m:sSub>
                      <m:d>
                        <m:dPr>
                          <m:ctrlPr>
                            <a:rPr lang="en-US" altLang="zh-CN" i="1">
                              <a:latin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𝜏</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𝑉</m:t>
                          </m:r>
                        </m:e>
                      </m:d>
                      <m:r>
                        <a:rPr lang="en-US" altLang="zh-CN" b="0" i="0" smtClean="0">
                          <a:latin typeface="Cambria Math" panose="02040503050406030204" pitchFamily="18" charset="0"/>
                          <a:ea typeface="Cambria Math" panose="02040503050406030204" pitchFamily="18" charset="0"/>
                        </a:rPr>
                        <m:t>=</m:t>
                      </m:r>
                      <m:nary>
                        <m:naryPr>
                          <m:chr m:val="∑"/>
                          <m:ctrlPr>
                            <a:rPr lang="en-US" altLang="zh-CN" b="0" i="1" smtClean="0">
                              <a:latin typeface="Cambria Math" panose="02040503050406030204" pitchFamily="18" charset="0"/>
                              <a:ea typeface="Cambria Math" panose="02040503050406030204" pitchFamily="18" charset="0"/>
                            </a:rPr>
                          </m:ctrlPr>
                        </m:naryPr>
                        <m:sub>
                          <m:r>
                            <m:rPr>
                              <m:brk m:alnAt="23"/>
                            </m:rPr>
                            <a:rPr lang="en-US" altLang="zh-CN" b="0" i="1" smtClean="0">
                              <a:latin typeface="Cambria Math" panose="02040503050406030204" pitchFamily="18" charset="0"/>
                              <a:ea typeface="Cambria Math" panose="02040503050406030204" pitchFamily="18" charset="0"/>
                            </a:rPr>
                            <m:t>𝑁</m:t>
                          </m:r>
                          <m:r>
                            <a:rPr lang="en-US" altLang="zh-CN" b="0" i="1" smtClean="0">
                              <a:latin typeface="Cambria Math" panose="02040503050406030204" pitchFamily="18" charset="0"/>
                              <a:ea typeface="Cambria Math" panose="02040503050406030204" pitchFamily="18" charset="0"/>
                            </a:rPr>
                            <m:t>=0</m:t>
                          </m:r>
                        </m:sub>
                        <m:sup>
                          <m:r>
                            <a:rPr lang="en-US" altLang="zh-CN" b="0" i="1" smtClean="0">
                              <a:latin typeface="Cambria Math" panose="02040503050406030204" pitchFamily="18" charset="0"/>
                              <a:ea typeface="Cambria Math" panose="02040503050406030204" pitchFamily="18" charset="0"/>
                            </a:rPr>
                            <m:t>∞</m:t>
                          </m:r>
                        </m:sup>
                        <m:e>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r>
                                <a:rPr lang="en-US" altLang="zh-CN" b="0" i="1" smtClean="0">
                                  <a:latin typeface="Cambria Math" panose="02040503050406030204" pitchFamily="18" charset="0"/>
                                  <a:ea typeface="Cambria Math" panose="02040503050406030204" pitchFamily="18" charset="0"/>
                                </a:rPr>
                                <m:t>𝑁</m:t>
                              </m:r>
                              <m:r>
                                <a:rPr lang="en-US" altLang="zh-CN" b="0" i="1" smtClean="0">
                                  <a:latin typeface="Cambria Math" panose="02040503050406030204" pitchFamily="18" charset="0"/>
                                  <a:ea typeface="Cambria Math" panose="02040503050406030204" pitchFamily="18" charset="0"/>
                                </a:rPr>
                                <m:t>!</m:t>
                              </m:r>
                            </m:den>
                          </m:f>
                          <m:sSup>
                            <m:sSupPr>
                              <m:ctrlPr>
                                <a:rPr lang="en-US" altLang="zh-CN" b="0" i="1" smtClean="0">
                                  <a:latin typeface="Cambria Math" panose="02040503050406030204" pitchFamily="18" charset="0"/>
                                  <a:ea typeface="Cambria Math" panose="02040503050406030204" pitchFamily="18" charset="0"/>
                                </a:rPr>
                              </m:ctrlPr>
                            </m:sSupPr>
                            <m:e>
                              <m:d>
                                <m:dPr>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𝑛</m:t>
                                      </m:r>
                                    </m:e>
                                    <m:sub>
                                      <m:r>
                                        <a:rPr lang="en-US" altLang="zh-CN" b="0" i="1" smtClean="0">
                                          <a:latin typeface="Cambria Math" panose="02040503050406030204" pitchFamily="18" charset="0"/>
                                          <a:ea typeface="Cambria Math" panose="02040503050406030204" pitchFamily="18" charset="0"/>
                                        </a:rPr>
                                        <m:t>𝑄</m:t>
                                      </m:r>
                                    </m:sub>
                                  </m:sSub>
                                  <m:r>
                                    <a:rPr lang="en-US" altLang="zh-CN" b="0" i="1" smtClean="0">
                                      <a:latin typeface="Cambria Math" panose="02040503050406030204" pitchFamily="18" charset="0"/>
                                      <a:ea typeface="Cambria Math" panose="02040503050406030204" pitchFamily="18" charset="0"/>
                                    </a:rPr>
                                    <m:t>𝑉</m:t>
                                  </m:r>
                                  <m:r>
                                    <a:rPr lang="en-US" altLang="zh-CN" b="0" i="1" smtClean="0">
                                      <a:latin typeface="Cambria Math" panose="02040503050406030204" pitchFamily="18" charset="0"/>
                                      <a:ea typeface="Cambria Math" panose="02040503050406030204" pitchFamily="18" charset="0"/>
                                    </a:rPr>
                                    <m:t> </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𝑒</m:t>
                                      </m:r>
                                    </m:e>
                                    <m:sup>
                                      <m:r>
                                        <a:rPr lang="en-US" altLang="zh-CN" b="0" i="1" smtClean="0">
                                          <a:latin typeface="Cambria Math" panose="02040503050406030204" pitchFamily="18" charset="0"/>
                                          <a:ea typeface="Cambria Math" panose="02040503050406030204" pitchFamily="18" charset="0"/>
                                        </a:rPr>
                                        <m:t>𝜇</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𝜏</m:t>
                                      </m:r>
                                    </m:sup>
                                  </m:sSup>
                                </m:e>
                              </m:d>
                            </m:e>
                            <m:sup>
                              <m:r>
                                <a:rPr lang="en-US" altLang="zh-CN" b="0" i="1" smtClean="0">
                                  <a:latin typeface="Cambria Math" panose="02040503050406030204" pitchFamily="18" charset="0"/>
                                  <a:ea typeface="Cambria Math" panose="02040503050406030204" pitchFamily="18" charset="0"/>
                                </a:rPr>
                                <m:t>𝑁</m:t>
                              </m:r>
                            </m:sup>
                          </m:sSup>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𝑒</m:t>
                              </m:r>
                            </m:e>
                            <m:sup>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𝑛</m:t>
                                  </m:r>
                                </m:e>
                                <m:sub>
                                  <m:r>
                                    <a:rPr lang="en-US" altLang="zh-CN" i="1">
                                      <a:latin typeface="Cambria Math" panose="02040503050406030204" pitchFamily="18" charset="0"/>
                                      <a:ea typeface="Cambria Math" panose="02040503050406030204" pitchFamily="18" charset="0"/>
                                    </a:rPr>
                                    <m:t>𝑄</m:t>
                                  </m:r>
                                </m:sub>
                              </m:sSub>
                              <m:r>
                                <a:rPr lang="en-US" altLang="zh-CN" i="1">
                                  <a:latin typeface="Cambria Math" panose="02040503050406030204" pitchFamily="18" charset="0"/>
                                  <a:ea typeface="Cambria Math" panose="02040503050406030204" pitchFamily="18" charset="0"/>
                                </a:rPr>
                                <m:t>𝑉</m:t>
                              </m:r>
                              <m:r>
                                <a:rPr lang="en-US" altLang="zh-CN" i="1">
                                  <a:latin typeface="Cambria Math" panose="02040503050406030204" pitchFamily="18" charset="0"/>
                                  <a:ea typeface="Cambria Math" panose="02040503050406030204" pitchFamily="18" charset="0"/>
                                </a:rPr>
                                <m:t> </m:t>
                              </m:r>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𝑒</m:t>
                                  </m:r>
                                </m:e>
                                <m:sup>
                                  <m:r>
                                    <a:rPr lang="en-US" altLang="zh-CN" i="1">
                                      <a:latin typeface="Cambria Math" panose="02040503050406030204" pitchFamily="18" charset="0"/>
                                      <a:ea typeface="Cambria Math" panose="02040503050406030204" pitchFamily="18" charset="0"/>
                                    </a:rPr>
                                    <m:t>𝜇</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sup>
                          </m:sSup>
                        </m:e>
                      </m:nary>
                    </m:oMath>
                  </m:oMathPara>
                </a14:m>
                <a:endParaRPr lang="en-CN" dirty="0"/>
              </a:p>
              <a:p>
                <a:pPr marL="285750" indent="-285750">
                  <a:buFont typeface="Arial" panose="020B0604020202020204" pitchFamily="34" charset="0"/>
                  <a:buChar char="•"/>
                </a:pPr>
                <a:r>
                  <a:rPr lang="en-CN" dirty="0"/>
                  <a:t>巨势</a:t>
                </a:r>
              </a:p>
              <a:p>
                <a:pPr algn="ctr"/>
                <a14:m>
                  <m:oMathPara xmlns:m="http://schemas.openxmlformats.org/officeDocument/2006/math">
                    <m:oMathParaPr>
                      <m:jc m:val="centerGroup"/>
                    </m:oMathParaPr>
                    <m:oMath xmlns:m="http://schemas.openxmlformats.org/officeDocument/2006/math">
                      <m:r>
                        <m:rPr>
                          <m:sty m:val="p"/>
                        </m:rPr>
                        <a:rPr lang="el-GR" i="1" smtClean="0">
                          <a:latin typeface="Cambria Math" panose="02040503050406030204" pitchFamily="18" charset="0"/>
                          <a:ea typeface="Cambria Math" panose="02040503050406030204" pitchFamily="18" charset="0"/>
                        </a:rPr>
                        <m:t>Ω</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𝜏</m:t>
                          </m:r>
                          <m:sSub>
                            <m:sSubPr>
                              <m:ctrlPr>
                                <a:rPr lang="en-US" altLang="zh-CN" i="1">
                                  <a:solidFill>
                                    <a:srgbClr val="FF0000"/>
                                  </a:solidFill>
                                  <a:latin typeface="Cambria Math" panose="02040503050406030204" pitchFamily="18" charset="0"/>
                                  <a:ea typeface="Cambria Math" panose="02040503050406030204" pitchFamily="18" charset="0"/>
                                </a:rPr>
                              </m:ctrlPr>
                            </m:sSubPr>
                            <m:e>
                              <m:r>
                                <a:rPr lang="en-US" altLang="zh-CN" i="1">
                                  <a:solidFill>
                                    <a:srgbClr val="FF0000"/>
                                  </a:solidFill>
                                  <a:latin typeface="Cambria Math" panose="02040503050406030204" pitchFamily="18" charset="0"/>
                                  <a:ea typeface="Cambria Math" panose="02040503050406030204" pitchFamily="18" charset="0"/>
                                </a:rPr>
                                <m:t>𝑛</m:t>
                              </m:r>
                            </m:e>
                            <m:sub>
                              <m:r>
                                <a:rPr lang="en-US" altLang="zh-CN" i="1">
                                  <a:solidFill>
                                    <a:srgbClr val="FF0000"/>
                                  </a:solidFill>
                                  <a:latin typeface="Cambria Math" panose="02040503050406030204" pitchFamily="18" charset="0"/>
                                  <a:ea typeface="Cambria Math" panose="02040503050406030204" pitchFamily="18" charset="0"/>
                                </a:rPr>
                                <m:t>𝑄</m:t>
                              </m:r>
                            </m:sub>
                          </m:sSub>
                          <m:r>
                            <a:rPr lang="en-US" altLang="zh-CN" i="1">
                              <a:solidFill>
                                <a:srgbClr val="FF0000"/>
                              </a:solidFill>
                              <a:latin typeface="Cambria Math" panose="02040503050406030204" pitchFamily="18" charset="0"/>
                              <a:ea typeface="Cambria Math" panose="02040503050406030204" pitchFamily="18" charset="0"/>
                            </a:rPr>
                            <m:t>𝑉</m:t>
                          </m:r>
                          <m:r>
                            <a:rPr lang="en-US" altLang="zh-CN" i="1">
                              <a:solidFill>
                                <a:srgbClr val="FF0000"/>
                              </a:solidFill>
                              <a:latin typeface="Cambria Math" panose="02040503050406030204" pitchFamily="18" charset="0"/>
                              <a:ea typeface="Cambria Math" panose="02040503050406030204" pitchFamily="18" charset="0"/>
                            </a:rPr>
                            <m:t> </m:t>
                          </m:r>
                          <m:sSup>
                            <m:sSupPr>
                              <m:ctrlPr>
                                <a:rPr lang="en-US" altLang="zh-CN" i="1">
                                  <a:solidFill>
                                    <a:srgbClr val="FF0000"/>
                                  </a:solidFill>
                                  <a:latin typeface="Cambria Math" panose="02040503050406030204" pitchFamily="18" charset="0"/>
                                  <a:ea typeface="Cambria Math" panose="02040503050406030204" pitchFamily="18" charset="0"/>
                                </a:rPr>
                              </m:ctrlPr>
                            </m:sSupPr>
                            <m:e>
                              <m:r>
                                <a:rPr lang="en-US" altLang="zh-CN" i="1">
                                  <a:solidFill>
                                    <a:srgbClr val="FF0000"/>
                                  </a:solidFill>
                                  <a:latin typeface="Cambria Math" panose="02040503050406030204" pitchFamily="18" charset="0"/>
                                  <a:ea typeface="Cambria Math" panose="02040503050406030204" pitchFamily="18" charset="0"/>
                                </a:rPr>
                                <m:t>𝑒</m:t>
                              </m:r>
                            </m:e>
                            <m:sup>
                              <m:r>
                                <a:rPr lang="en-US" altLang="zh-CN" i="1">
                                  <a:solidFill>
                                    <a:srgbClr val="FF0000"/>
                                  </a:solidFill>
                                  <a:latin typeface="Cambria Math" panose="02040503050406030204" pitchFamily="18" charset="0"/>
                                  <a:ea typeface="Cambria Math" panose="02040503050406030204" pitchFamily="18" charset="0"/>
                                </a:rPr>
                                <m:t>𝜇</m:t>
                              </m:r>
                              <m:r>
                                <a:rPr lang="en-US" altLang="zh-CN" i="1">
                                  <a:solidFill>
                                    <a:srgbClr val="FF0000"/>
                                  </a:solidFill>
                                  <a:latin typeface="Cambria Math" panose="02040503050406030204" pitchFamily="18" charset="0"/>
                                  <a:ea typeface="Cambria Math" panose="02040503050406030204" pitchFamily="18" charset="0"/>
                                </a:rPr>
                                <m:t>/</m:t>
                              </m:r>
                              <m:r>
                                <a:rPr lang="en-US" altLang="zh-CN" i="1">
                                  <a:solidFill>
                                    <a:srgbClr val="FF0000"/>
                                  </a:solidFill>
                                  <a:latin typeface="Cambria Math" panose="02040503050406030204" pitchFamily="18" charset="0"/>
                                  <a:ea typeface="Cambria Math" panose="02040503050406030204" pitchFamily="18" charset="0"/>
                                </a:rPr>
                                <m:t>𝜏</m:t>
                              </m:r>
                            </m:sup>
                          </m:sSup>
                        </m:e>
                      </m:func>
                    </m:oMath>
                  </m:oMathPara>
                </a14:m>
                <a:endParaRPr lang="en-CN" dirty="0"/>
              </a:p>
              <a:p>
                <a:pPr marL="285750" indent="-285750">
                  <a:buFont typeface="Arial" panose="020B0604020202020204" pitchFamily="34" charset="0"/>
                  <a:buChar char="•"/>
                </a:pPr>
                <a:r>
                  <a:rPr lang="en-CN" dirty="0"/>
                  <a:t>粒子数</a:t>
                </a:r>
              </a:p>
              <a:p>
                <a:pPr algn="ctr"/>
                <a14:m>
                  <m:oMath xmlns:m="http://schemas.openxmlformats.org/officeDocument/2006/math">
                    <m:r>
                      <a:rPr lang="en-US" i="1">
                        <a:latin typeface="Cambria Math" panose="02040503050406030204" pitchFamily="18" charset="0"/>
                      </a:rPr>
                      <m:t>𝑁</m:t>
                    </m:r>
                    <m:r>
                      <a:rPr lang="en-US" i="1">
                        <a:latin typeface="Cambria Math" panose="02040503050406030204" pitchFamily="18" charset="0"/>
                      </a:rPr>
                      <m:t>=−</m:t>
                    </m:r>
                    <m:sSub>
                      <m:sSubPr>
                        <m:ctrlPr>
                          <a:rPr lang="en-US" i="1">
                            <a:latin typeface="Cambria Math" panose="02040503050406030204" pitchFamily="18" charset="0"/>
                          </a:rPr>
                        </m:ctrlPr>
                      </m:sSub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Ω</m:t>
                                </m:r>
                              </m:num>
                              <m:den>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𝜇</m:t>
                                </m:r>
                              </m:den>
                            </m:f>
                          </m:e>
                        </m:d>
                      </m:e>
                      <m:sub>
                        <m:r>
                          <a:rPr lang="en-US" i="1">
                            <a:latin typeface="Cambria Math" panose="02040503050406030204" pitchFamily="18" charset="0"/>
                            <a:ea typeface="Cambria Math" panose="02040503050406030204" pitchFamily="18" charset="0"/>
                          </a:rPr>
                          <m:t>𝜏</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𝑉</m:t>
                        </m:r>
                      </m:sub>
                    </m:sSub>
                    <m:r>
                      <a:rPr lang="en-US" b="0" i="0"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𝑛</m:t>
                        </m:r>
                      </m:e>
                      <m:sub>
                        <m:r>
                          <a:rPr lang="en-US" altLang="zh-CN" i="1">
                            <a:latin typeface="Cambria Math" panose="02040503050406030204" pitchFamily="18" charset="0"/>
                            <a:ea typeface="Cambria Math" panose="02040503050406030204" pitchFamily="18" charset="0"/>
                          </a:rPr>
                          <m:t>𝑄</m:t>
                        </m:r>
                      </m:sub>
                    </m:sSub>
                    <m:r>
                      <a:rPr lang="en-US" altLang="zh-CN" i="1">
                        <a:latin typeface="Cambria Math" panose="02040503050406030204" pitchFamily="18" charset="0"/>
                        <a:ea typeface="Cambria Math" panose="02040503050406030204" pitchFamily="18" charset="0"/>
                      </a:rPr>
                      <m:t>𝑉</m:t>
                    </m:r>
                    <m:r>
                      <a:rPr lang="en-US" altLang="zh-CN" i="1">
                        <a:latin typeface="Cambria Math" panose="02040503050406030204" pitchFamily="18" charset="0"/>
                        <a:ea typeface="Cambria Math" panose="02040503050406030204" pitchFamily="18" charset="0"/>
                      </a:rPr>
                      <m:t> </m:t>
                    </m:r>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𝑒</m:t>
                        </m:r>
                      </m:e>
                      <m:sup>
                        <m:r>
                          <a:rPr lang="en-US" altLang="zh-CN" i="1">
                            <a:latin typeface="Cambria Math" panose="02040503050406030204" pitchFamily="18" charset="0"/>
                            <a:ea typeface="Cambria Math" panose="02040503050406030204" pitchFamily="18" charset="0"/>
                          </a:rPr>
                          <m:t>𝜇</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oMath>
                </a14:m>
                <a:r>
                  <a:rPr lang="en-CN" dirty="0"/>
                  <a:t>.     Omega=-tau N</a:t>
                </a:r>
              </a:p>
              <a:p>
                <a:pPr marL="285750" indent="-285750">
                  <a:buFont typeface="Arial" panose="020B0604020202020204" pitchFamily="34" charset="0"/>
                  <a:buChar char="•"/>
                </a:pPr>
                <a:r>
                  <a:rPr lang="en-CN" dirty="0"/>
                  <a:t>能量</a:t>
                </a:r>
              </a:p>
              <a:p>
                <a:pPr algn="ctr"/>
                <a14:m>
                  <m:oMath xmlns:m="http://schemas.openxmlformats.org/officeDocument/2006/math">
                    <m:r>
                      <a:rPr lang="en-US" i="1">
                        <a:latin typeface="Cambria Math" panose="02040503050406030204" pitchFamily="18" charset="0"/>
                      </a:rPr>
                      <m:t>𝑈</m:t>
                    </m:r>
                    <m:r>
                      <a:rPr lang="en-US" i="1">
                        <a:latin typeface="Cambria Math" panose="02040503050406030204" pitchFamily="18" charset="0"/>
                      </a:rPr>
                      <m:t>=</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𝜇</m:t>
                            </m:r>
                          </m:num>
                          <m:den>
                            <m:r>
                              <a:rPr lang="en-US" i="1">
                                <a:latin typeface="Cambria Math" panose="02040503050406030204" pitchFamily="18" charset="0"/>
                                <a:ea typeface="Cambria Math" panose="02040503050406030204" pitchFamily="18" charset="0"/>
                              </a:rPr>
                              <m:t>𝛽</m:t>
                            </m:r>
                          </m:den>
                        </m:f>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𝜇</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𝛽</m:t>
                            </m:r>
                          </m:den>
                        </m:f>
                      </m:e>
                    </m:d>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r>
                          <a:rPr lang="en-US" i="1">
                            <a:latin typeface="Cambria Math" panose="02040503050406030204" pitchFamily="18" charset="0"/>
                            <a:ea typeface="Cambria Math" panose="02040503050406030204" pitchFamily="18" charset="0"/>
                          </a:rPr>
                          <m:t>𝒵</m:t>
                        </m:r>
                      </m:e>
                    </m:func>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3</m:t>
                        </m:r>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𝜏</m:t>
                    </m:r>
                  </m:oMath>
                </a14:m>
                <a:r>
                  <a:rPr lang="en-US" altLang="zh-CN" dirty="0">
                    <a:ea typeface="Cambria Math" panose="02040503050406030204" pitchFamily="18" charset="0"/>
                  </a:rPr>
                  <a:t> </a:t>
                </a:r>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𝑛</m:t>
                        </m:r>
                      </m:e>
                      <m:sub>
                        <m:r>
                          <a:rPr lang="en-US" altLang="zh-CN" i="1">
                            <a:latin typeface="Cambria Math" panose="02040503050406030204" pitchFamily="18" charset="0"/>
                            <a:ea typeface="Cambria Math" panose="02040503050406030204" pitchFamily="18" charset="0"/>
                          </a:rPr>
                          <m:t>𝑄</m:t>
                        </m:r>
                      </m:sub>
                    </m:sSub>
                    <m:r>
                      <a:rPr lang="en-US" altLang="zh-CN" i="1">
                        <a:latin typeface="Cambria Math" panose="02040503050406030204" pitchFamily="18" charset="0"/>
                        <a:ea typeface="Cambria Math" panose="02040503050406030204" pitchFamily="18" charset="0"/>
                      </a:rPr>
                      <m:t>𝑉</m:t>
                    </m:r>
                    <m:r>
                      <a:rPr lang="en-US" altLang="zh-CN" i="1">
                        <a:latin typeface="Cambria Math" panose="02040503050406030204" pitchFamily="18" charset="0"/>
                        <a:ea typeface="Cambria Math" panose="02040503050406030204" pitchFamily="18" charset="0"/>
                      </a:rPr>
                      <m:t> </m:t>
                    </m:r>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𝑒</m:t>
                        </m:r>
                      </m:e>
                      <m:sup>
                        <m:r>
                          <a:rPr lang="en-US" altLang="zh-CN" i="1">
                            <a:latin typeface="Cambria Math" panose="02040503050406030204" pitchFamily="18" charset="0"/>
                            <a:ea typeface="Cambria Math" panose="02040503050406030204" pitchFamily="18" charset="0"/>
                          </a:rPr>
                          <m:t>𝜇</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3</m:t>
                        </m:r>
                      </m:num>
                      <m:den>
                        <m:r>
                          <a:rPr lang="en-US" altLang="zh-CN" b="0" i="1" smtClean="0">
                            <a:latin typeface="Cambria Math" panose="02040503050406030204" pitchFamily="18" charset="0"/>
                            <a:ea typeface="Cambria Math" panose="02040503050406030204" pitchFamily="18" charset="0"/>
                          </a:rPr>
                          <m:t>2</m:t>
                        </m:r>
                      </m:den>
                    </m:f>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𝑁</m:t>
                    </m:r>
                    <m:r>
                      <a:rPr lang="en-US" altLang="zh-CN" b="0" i="1" smtClean="0">
                        <a:latin typeface="Cambria Math" panose="02040503050406030204" pitchFamily="18" charset="0"/>
                        <a:ea typeface="Cambria Math" panose="02040503050406030204" pitchFamily="18" charset="0"/>
                      </a:rPr>
                      <m:t>𝜏</m:t>
                    </m:r>
                  </m:oMath>
                </a14:m>
                <a:endParaRPr lang="en-CN" dirty="0"/>
              </a:p>
              <a:p>
                <a:pPr marL="285750" indent="-285750">
                  <a:buFont typeface="Arial" panose="020B0604020202020204" pitchFamily="34" charset="0"/>
                  <a:buChar char="•"/>
                </a:pPr>
                <a:r>
                  <a:rPr lang="en-CN" dirty="0"/>
                  <a:t>压强</a:t>
                </a:r>
              </a:p>
              <a:p>
                <a:pPr algn="ct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𝑝</m:t>
                      </m:r>
                      <m:r>
                        <a:rPr lang="en-US" i="1">
                          <a:latin typeface="Cambria Math" panose="02040503050406030204" pitchFamily="18" charset="0"/>
                        </a:rPr>
                        <m:t>=−</m:t>
                      </m:r>
                      <m:sSub>
                        <m:sSubPr>
                          <m:ctrlPr>
                            <a:rPr lang="en-US" i="1">
                              <a:latin typeface="Cambria Math" panose="02040503050406030204" pitchFamily="18" charset="0"/>
                            </a:rPr>
                          </m:ctrlPr>
                        </m:sSub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 </m:t>
                                  </m:r>
                                  <m:r>
                                    <m:rPr>
                                      <m:sty m:val="p"/>
                                    </m:rPr>
                                    <a:rPr lang="el-GR" i="1">
                                      <a:latin typeface="Cambria Math" panose="02040503050406030204" pitchFamily="18" charset="0"/>
                                      <a:ea typeface="Cambria Math" panose="02040503050406030204" pitchFamily="18" charset="0"/>
                                    </a:rPr>
                                    <m:t>Ω</m:t>
                                  </m:r>
                                </m:num>
                                <m:den>
                                  <m:r>
                                    <a:rPr lang="en-US" i="1">
                                      <a:latin typeface="Cambria Math" panose="02040503050406030204" pitchFamily="18" charset="0"/>
                                    </a:rPr>
                                    <m:t>𝜕</m:t>
                                  </m:r>
                                  <m:r>
                                    <a:rPr lang="en-US" i="1">
                                      <a:latin typeface="Cambria Math" panose="02040503050406030204" pitchFamily="18" charset="0"/>
                                    </a:rPr>
                                    <m:t> </m:t>
                                  </m:r>
                                  <m:r>
                                    <a:rPr lang="en-US" i="1">
                                      <a:latin typeface="Cambria Math" panose="02040503050406030204" pitchFamily="18" charset="0"/>
                                    </a:rPr>
                                    <m:t>𝑉</m:t>
                                  </m:r>
                                </m:den>
                              </m:f>
                            </m:e>
                          </m:d>
                        </m:e>
                        <m:sub>
                          <m:r>
                            <a:rPr lang="en-US" i="1">
                              <a:latin typeface="Cambria Math" panose="02040503050406030204" pitchFamily="18" charset="0"/>
                              <a:ea typeface="Cambria Math" panose="02040503050406030204" pitchFamily="18" charset="0"/>
                            </a:rPr>
                            <m:t>𝜏</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𝜇</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𝑁</m:t>
                          </m:r>
                        </m:num>
                        <m:den>
                          <m:r>
                            <a:rPr lang="en-US" b="0" i="1" smtClean="0">
                              <a:latin typeface="Cambria Math" panose="02040503050406030204" pitchFamily="18" charset="0"/>
                              <a:ea typeface="Cambria Math" panose="02040503050406030204" pitchFamily="18" charset="0"/>
                            </a:rPr>
                            <m:t>𝑉</m:t>
                          </m:r>
                        </m:den>
                      </m:f>
                      <m:r>
                        <a:rPr lang="en-US" b="0" i="1" smtClean="0">
                          <a:latin typeface="Cambria Math" panose="02040503050406030204" pitchFamily="18" charset="0"/>
                          <a:ea typeface="Cambria Math" panose="02040503050406030204" pitchFamily="18" charset="0"/>
                        </a:rPr>
                        <m:t>𝜏</m:t>
                      </m:r>
                    </m:oMath>
                  </m:oMathPara>
                </a14:m>
                <a:endParaRPr lang="en-CN" dirty="0"/>
              </a:p>
              <a:p>
                <a:pPr marL="285750" indent="-285750">
                  <a:buFont typeface="Arial" panose="020B0604020202020204" pitchFamily="34" charset="0"/>
                  <a:buChar char="•"/>
                </a:pPr>
                <a:r>
                  <a:rPr lang="en-CN" dirty="0"/>
                  <a:t>熵</a:t>
                </a:r>
              </a:p>
              <a:p>
                <a:pPr algn="ct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Ω</m:t>
                                  </m:r>
                                </m:num>
                                <m:den>
                                  <m:r>
                                    <a:rPr lang="en-US" i="1">
                                      <a:latin typeface="Cambria Math" panose="02040503050406030204" pitchFamily="18" charset="0"/>
                                      <a:ea typeface="Cambria Math" panose="02040503050406030204" pitchFamily="18" charset="0"/>
                                    </a:rPr>
                                    <m:t>𝜕𝜏</m:t>
                                  </m:r>
                                </m:den>
                              </m:f>
                            </m:e>
                          </m:d>
                        </m:e>
                        <m:sub>
                          <m:r>
                            <a:rPr lang="en-US" i="1">
                              <a:latin typeface="Cambria Math" panose="02040503050406030204" pitchFamily="18" charset="0"/>
                              <a:ea typeface="Cambria Math" panose="02040503050406030204" pitchFamily="18" charset="0"/>
                            </a:rPr>
                            <m:t>𝑉</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𝜇</m:t>
                          </m:r>
                        </m:sub>
                      </m:sSub>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m:rPr>
                              <m:sty m:val="p"/>
                            </m:rPr>
                            <a:rPr lang="el-GR" i="1">
                              <a:latin typeface="Cambria Math" panose="02040503050406030204" pitchFamily="18" charset="0"/>
                              <a:ea typeface="Cambria Math" panose="02040503050406030204" pitchFamily="18" charset="0"/>
                            </a:rPr>
                            <m:t>Ω</m:t>
                          </m:r>
                        </m:num>
                        <m:den>
                          <m:r>
                            <a:rPr lang="en-US" altLang="zh-CN" b="0" i="1" smtClean="0">
                              <a:latin typeface="Cambria Math" panose="02040503050406030204" pitchFamily="18" charset="0"/>
                              <a:ea typeface="Cambria Math" panose="02040503050406030204" pitchFamily="18" charset="0"/>
                            </a:rPr>
                            <m:t>𝜏</m:t>
                          </m:r>
                        </m:den>
                      </m:f>
                      <m:d>
                        <m:dPr>
                          <m:ctrlPr>
                            <a:rPr lang="en-US" altLang="zh-CN" b="0" i="1" smtClean="0">
                              <a:latin typeface="Cambria Math" panose="02040503050406030204" pitchFamily="18" charset="0"/>
                              <a:ea typeface="Cambria Math" panose="02040503050406030204" pitchFamily="18" charset="0"/>
                            </a:rPr>
                          </m:ctrlPr>
                        </m:dPr>
                        <m:e>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5</m:t>
                              </m:r>
                            </m:num>
                            <m:den>
                              <m:r>
                                <a:rPr lang="en-US" altLang="zh-CN" b="0" i="1" smtClean="0">
                                  <a:latin typeface="Cambria Math" panose="02040503050406030204" pitchFamily="18" charset="0"/>
                                  <a:ea typeface="Cambria Math" panose="02040503050406030204" pitchFamily="18" charset="0"/>
                                </a:rPr>
                                <m:t>2</m:t>
                              </m:r>
                            </m:den>
                          </m:f>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𝜇</m:t>
                              </m:r>
                            </m:num>
                            <m:den>
                              <m:r>
                                <a:rPr lang="en-US" altLang="zh-CN" b="0" i="1" smtClean="0">
                                  <a:latin typeface="Cambria Math" panose="02040503050406030204" pitchFamily="18" charset="0"/>
                                  <a:ea typeface="Cambria Math" panose="02040503050406030204" pitchFamily="18" charset="0"/>
                                </a:rPr>
                                <m:t>𝜏</m:t>
                              </m:r>
                            </m:den>
                          </m:f>
                        </m:e>
                      </m:d>
                      <m:r>
                        <a:rPr lang="en-US" altLang="zh-CN" b="0" i="0" smtClean="0">
                          <a:latin typeface="Cambria Math" panose="02040503050406030204" pitchFamily="18" charset="0"/>
                          <a:ea typeface="Cambria Math" panose="02040503050406030204" pitchFamily="18" charset="0"/>
                        </a:rPr>
                        <m:t>=…</m:t>
                      </m:r>
                    </m:oMath>
                  </m:oMathPara>
                </a14:m>
                <a:endParaRPr lang="en-CN" dirty="0"/>
              </a:p>
            </p:txBody>
          </p:sp>
        </mc:Choice>
        <mc:Fallback xmlns="">
          <p:sp>
            <p:nvSpPr>
              <p:cNvPr id="3" name="TextBox 2">
                <a:extLst>
                  <a:ext uri="{FF2B5EF4-FFF2-40B4-BE49-F238E27FC236}">
                    <a16:creationId xmlns:a16="http://schemas.microsoft.com/office/drawing/2014/main" id="{D4B85EAC-9CE2-C64B-91F8-0189E48482B6}"/>
                  </a:ext>
                </a:extLst>
              </p:cNvPr>
              <p:cNvSpPr txBox="1">
                <a:spLocks noRot="1" noChangeAspect="1" noMove="1" noResize="1" noEditPoints="1" noAdjustHandles="1" noChangeArrowheads="1" noChangeShapeType="1" noTextEdit="1"/>
              </p:cNvSpPr>
              <p:nvPr/>
            </p:nvSpPr>
            <p:spPr>
              <a:xfrm>
                <a:off x="1787236" y="1066800"/>
                <a:ext cx="9074728" cy="5784340"/>
              </a:xfrm>
              <a:prstGeom prst="rect">
                <a:avLst/>
              </a:prstGeom>
              <a:blipFill>
                <a:blip r:embed="rId2"/>
                <a:stretch>
                  <a:fillRect l="-419" t="-439"/>
                </a:stretch>
              </a:blipFill>
            </p:spPr>
            <p:txBody>
              <a:bodyPr/>
              <a:lstStyle/>
              <a:p>
                <a:r>
                  <a:rPr lang="en-CN">
                    <a:noFill/>
                  </a:rPr>
                  <a:t> </a:t>
                </a:r>
              </a:p>
            </p:txBody>
          </p:sp>
        </mc:Fallback>
      </mc:AlternateContent>
    </p:spTree>
    <p:extLst>
      <p:ext uri="{BB962C8B-B14F-4D97-AF65-F5344CB8AC3E}">
        <p14:creationId xmlns:p14="http://schemas.microsoft.com/office/powerpoint/2010/main" val="25765725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187BAB7-8E6A-374B-91F8-AE68F5411800}"/>
                  </a:ext>
                </a:extLst>
              </p:cNvPr>
              <p:cNvSpPr txBox="1"/>
              <p:nvPr/>
            </p:nvSpPr>
            <p:spPr>
              <a:xfrm>
                <a:off x="3048000" y="35440"/>
                <a:ext cx="6096000" cy="7998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CN"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𝐶</m:t>
                          </m:r>
                        </m:e>
                        <m:sub>
                          <m:r>
                            <a:rPr lang="en-US" b="0" i="1" smtClean="0">
                              <a:solidFill>
                                <a:srgbClr val="FF0000"/>
                              </a:solidFill>
                              <a:latin typeface="Cambria Math" panose="02040503050406030204" pitchFamily="18" charset="0"/>
                            </a:rPr>
                            <m:t>𝑉</m:t>
                          </m:r>
                        </m:sub>
                      </m:sSub>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𝜏</m:t>
                      </m:r>
                      <m:r>
                        <a:rPr lang="en-US" b="0" i="1" smtClean="0">
                          <a:solidFill>
                            <a:srgbClr val="FF0000"/>
                          </a:solidFill>
                          <a:latin typeface="Cambria Math" panose="02040503050406030204" pitchFamily="18" charset="0"/>
                          <a:ea typeface="Cambria Math" panose="02040503050406030204" pitchFamily="18" charset="0"/>
                        </a:rPr>
                        <m:t>(</m:t>
                      </m:r>
                      <m:sSub>
                        <m:sSubPr>
                          <m:ctrlPr>
                            <a:rPr lang="en-US" i="1">
                              <a:solidFill>
                                <a:srgbClr val="FF0000"/>
                              </a:solidFill>
                              <a:latin typeface="Cambria Math" panose="02040503050406030204" pitchFamily="18" charset="0"/>
                              <a:ea typeface="Cambria Math" panose="02040503050406030204" pitchFamily="18" charset="0"/>
                            </a:rPr>
                          </m:ctrlPr>
                        </m:sSubPr>
                        <m:e>
                          <m:d>
                            <m:dPr>
                              <m:ctrlPr>
                                <a:rPr lang="en-US" i="1">
                                  <a:solidFill>
                                    <a:srgbClr val="FF0000"/>
                                  </a:solidFill>
                                  <a:latin typeface="Cambria Math" panose="02040503050406030204" pitchFamily="18" charset="0"/>
                                  <a:ea typeface="Cambria Math" panose="02040503050406030204" pitchFamily="18" charset="0"/>
                                </a:rPr>
                              </m:ctrlPr>
                            </m:dPr>
                            <m:e>
                              <m:f>
                                <m:fPr>
                                  <m:ctrlPr>
                                    <a:rPr lang="en-US" i="1">
                                      <a:solidFill>
                                        <a:srgbClr val="FF0000"/>
                                      </a:solidFill>
                                      <a:latin typeface="Cambria Math" panose="02040503050406030204" pitchFamily="18" charset="0"/>
                                      <a:ea typeface="Cambria Math" panose="02040503050406030204" pitchFamily="18" charset="0"/>
                                    </a:rPr>
                                  </m:ctrlPr>
                                </m:fPr>
                                <m:num>
                                  <m:r>
                                    <a:rPr lang="en-US" i="1">
                                      <a:solidFill>
                                        <a:srgbClr val="FF0000"/>
                                      </a:solidFill>
                                      <a:latin typeface="Cambria Math" panose="02040503050406030204" pitchFamily="18" charset="0"/>
                                      <a:ea typeface="Cambria Math" panose="02040503050406030204" pitchFamily="18" charset="0"/>
                                    </a:rPr>
                                    <m:t>𝜕</m:t>
                                  </m:r>
                                  <m:r>
                                    <a:rPr lang="en-US" i="1">
                                      <a:solidFill>
                                        <a:srgbClr val="FF0000"/>
                                      </a:solidFill>
                                      <a:latin typeface="Cambria Math" panose="02040503050406030204" pitchFamily="18" charset="0"/>
                                      <a:ea typeface="Cambria Math" panose="02040503050406030204" pitchFamily="18" charset="0"/>
                                    </a:rPr>
                                    <m:t> </m:t>
                                  </m:r>
                                  <m:r>
                                    <a:rPr lang="en-US" i="1">
                                      <a:solidFill>
                                        <a:srgbClr val="FF0000"/>
                                      </a:solidFill>
                                      <a:latin typeface="Cambria Math" panose="02040503050406030204" pitchFamily="18" charset="0"/>
                                      <a:ea typeface="Cambria Math" panose="02040503050406030204" pitchFamily="18" charset="0"/>
                                    </a:rPr>
                                    <m:t>𝜎</m:t>
                                  </m:r>
                                </m:num>
                                <m:den>
                                  <m:r>
                                    <a:rPr lang="en-US" i="1">
                                      <a:solidFill>
                                        <a:srgbClr val="FF0000"/>
                                      </a:solidFill>
                                      <a:latin typeface="Cambria Math" panose="02040503050406030204" pitchFamily="18" charset="0"/>
                                      <a:ea typeface="Cambria Math" panose="02040503050406030204" pitchFamily="18" charset="0"/>
                                    </a:rPr>
                                    <m:t>𝜕</m:t>
                                  </m:r>
                                  <m:r>
                                    <a:rPr lang="en-US" i="1">
                                      <a:solidFill>
                                        <a:srgbClr val="FF0000"/>
                                      </a:solidFill>
                                      <a:latin typeface="Cambria Math" panose="02040503050406030204" pitchFamily="18" charset="0"/>
                                      <a:ea typeface="Cambria Math" panose="02040503050406030204" pitchFamily="18" charset="0"/>
                                    </a:rPr>
                                    <m:t> </m:t>
                                  </m:r>
                                  <m:r>
                                    <a:rPr lang="en-US" i="1">
                                      <a:solidFill>
                                        <a:srgbClr val="FF0000"/>
                                      </a:solidFill>
                                      <a:latin typeface="Cambria Math" panose="02040503050406030204" pitchFamily="18" charset="0"/>
                                      <a:ea typeface="Cambria Math" panose="02040503050406030204" pitchFamily="18" charset="0"/>
                                    </a:rPr>
                                    <m:t>𝜏</m:t>
                                  </m:r>
                                </m:den>
                              </m:f>
                            </m:e>
                          </m:d>
                        </m:e>
                        <m:sub>
                          <m:r>
                            <a:rPr lang="en-US" i="1">
                              <a:solidFill>
                                <a:srgbClr val="FF0000"/>
                              </a:solidFill>
                              <a:latin typeface="Cambria Math" panose="02040503050406030204" pitchFamily="18" charset="0"/>
                              <a:ea typeface="Cambria Math" panose="02040503050406030204" pitchFamily="18" charset="0"/>
                            </a:rPr>
                            <m:t>𝜇</m:t>
                          </m:r>
                        </m:sub>
                      </m:sSub>
                      <m:r>
                        <a:rPr lang="en-US" i="1">
                          <a:solidFill>
                            <a:srgbClr val="FF0000"/>
                          </a:solidFill>
                          <a:latin typeface="Cambria Math" panose="02040503050406030204" pitchFamily="18" charset="0"/>
                          <a:ea typeface="Cambria Math" panose="02040503050406030204" pitchFamily="18" charset="0"/>
                        </a:rPr>
                        <m:t>−</m:t>
                      </m:r>
                      <m:f>
                        <m:fPr>
                          <m:ctrlPr>
                            <a:rPr lang="en-US" i="1">
                              <a:solidFill>
                                <a:srgbClr val="FF0000"/>
                              </a:solidFill>
                              <a:latin typeface="Cambria Math" panose="02040503050406030204" pitchFamily="18" charset="0"/>
                              <a:ea typeface="Cambria Math" panose="02040503050406030204" pitchFamily="18" charset="0"/>
                            </a:rPr>
                          </m:ctrlPr>
                        </m:fPr>
                        <m:num>
                          <m:sSup>
                            <m:sSupPr>
                              <m:ctrlPr>
                                <a:rPr lang="en-US" i="1" smtClean="0">
                                  <a:solidFill>
                                    <a:srgbClr val="FF0000"/>
                                  </a:solidFill>
                                  <a:latin typeface="Cambria Math" panose="02040503050406030204" pitchFamily="18" charset="0"/>
                                  <a:ea typeface="Cambria Math" panose="02040503050406030204" pitchFamily="18" charset="0"/>
                                </a:rPr>
                              </m:ctrlPr>
                            </m:sSupPr>
                            <m:e>
                              <m:d>
                                <m:dPr>
                                  <m:begChr m:val="["/>
                                  <m:endChr m:val="]"/>
                                  <m:ctrlPr>
                                    <a:rPr lang="en-US" i="1" smtClean="0">
                                      <a:solidFill>
                                        <a:srgbClr val="FF0000"/>
                                      </a:solidFill>
                                      <a:latin typeface="Cambria Math" panose="02040503050406030204" pitchFamily="18" charset="0"/>
                                      <a:ea typeface="Cambria Math" panose="02040503050406030204" pitchFamily="18" charset="0"/>
                                    </a:rPr>
                                  </m:ctrlPr>
                                </m:dPr>
                                <m:e>
                                  <m:sSub>
                                    <m:sSubPr>
                                      <m:ctrlPr>
                                        <a:rPr lang="en-US" i="1">
                                          <a:solidFill>
                                            <a:srgbClr val="FF0000"/>
                                          </a:solidFill>
                                          <a:latin typeface="Cambria Math" panose="02040503050406030204" pitchFamily="18" charset="0"/>
                                          <a:ea typeface="Cambria Math" panose="02040503050406030204" pitchFamily="18" charset="0"/>
                                        </a:rPr>
                                      </m:ctrlPr>
                                    </m:sSubPr>
                                    <m:e>
                                      <m:d>
                                        <m:dPr>
                                          <m:ctrlPr>
                                            <a:rPr lang="en-US" i="1">
                                              <a:solidFill>
                                                <a:srgbClr val="FF0000"/>
                                              </a:solidFill>
                                              <a:latin typeface="Cambria Math" panose="02040503050406030204" pitchFamily="18" charset="0"/>
                                              <a:ea typeface="Cambria Math" panose="02040503050406030204" pitchFamily="18" charset="0"/>
                                            </a:rPr>
                                          </m:ctrlPr>
                                        </m:dPr>
                                        <m:e>
                                          <m:r>
                                            <a:rPr lang="en-US" i="1">
                                              <a:solidFill>
                                                <a:srgbClr val="FF0000"/>
                                              </a:solidFill>
                                              <a:latin typeface="Cambria Math" panose="02040503050406030204" pitchFamily="18" charset="0"/>
                                              <a:ea typeface="Cambria Math" panose="02040503050406030204" pitchFamily="18" charset="0"/>
                                            </a:rPr>
                                            <m:t>𝜕</m:t>
                                          </m:r>
                                          <m:r>
                                            <a:rPr lang="en-US" i="1">
                                              <a:solidFill>
                                                <a:srgbClr val="FF0000"/>
                                              </a:solidFill>
                                              <a:latin typeface="Cambria Math" panose="02040503050406030204" pitchFamily="18" charset="0"/>
                                              <a:ea typeface="Cambria Math" panose="02040503050406030204" pitchFamily="18" charset="0"/>
                                            </a:rPr>
                                            <m:t>𝑁</m:t>
                                          </m:r>
                                          <m:r>
                                            <a:rPr lang="en-US" i="1">
                                              <a:solidFill>
                                                <a:srgbClr val="FF0000"/>
                                              </a:solidFill>
                                              <a:latin typeface="Cambria Math" panose="02040503050406030204" pitchFamily="18" charset="0"/>
                                              <a:ea typeface="Cambria Math" panose="02040503050406030204" pitchFamily="18" charset="0"/>
                                            </a:rPr>
                                            <m:t>/</m:t>
                                          </m:r>
                                          <m:r>
                                            <a:rPr lang="en-US" i="1">
                                              <a:solidFill>
                                                <a:srgbClr val="FF0000"/>
                                              </a:solidFill>
                                              <a:latin typeface="Cambria Math" panose="02040503050406030204" pitchFamily="18" charset="0"/>
                                              <a:ea typeface="Cambria Math" panose="02040503050406030204" pitchFamily="18" charset="0"/>
                                            </a:rPr>
                                            <m:t>𝜕𝜏</m:t>
                                          </m:r>
                                        </m:e>
                                      </m:d>
                                    </m:e>
                                    <m:sub>
                                      <m:r>
                                        <a:rPr lang="en-US" i="1">
                                          <a:solidFill>
                                            <a:srgbClr val="FF0000"/>
                                          </a:solidFill>
                                          <a:latin typeface="Cambria Math" panose="02040503050406030204" pitchFamily="18" charset="0"/>
                                          <a:ea typeface="Cambria Math" panose="02040503050406030204" pitchFamily="18" charset="0"/>
                                        </a:rPr>
                                        <m:t>𝜇</m:t>
                                      </m:r>
                                    </m:sub>
                                  </m:sSub>
                                </m:e>
                              </m:d>
                            </m:e>
                            <m:sup>
                              <m:r>
                                <a:rPr lang="en-US" b="0" i="1" smtClean="0">
                                  <a:solidFill>
                                    <a:srgbClr val="FF0000"/>
                                  </a:solidFill>
                                  <a:latin typeface="Cambria Math" panose="02040503050406030204" pitchFamily="18" charset="0"/>
                                  <a:ea typeface="Cambria Math" panose="02040503050406030204" pitchFamily="18" charset="0"/>
                                </a:rPr>
                                <m:t>2</m:t>
                              </m:r>
                            </m:sup>
                          </m:sSup>
                        </m:num>
                        <m:den>
                          <m:sSub>
                            <m:sSubPr>
                              <m:ctrlPr>
                                <a:rPr lang="en-US" i="1">
                                  <a:solidFill>
                                    <a:srgbClr val="FF0000"/>
                                  </a:solidFill>
                                  <a:latin typeface="Cambria Math" panose="02040503050406030204" pitchFamily="18" charset="0"/>
                                  <a:ea typeface="Cambria Math" panose="02040503050406030204" pitchFamily="18" charset="0"/>
                                </a:rPr>
                              </m:ctrlPr>
                            </m:sSubPr>
                            <m:e>
                              <m:d>
                                <m:dPr>
                                  <m:ctrlPr>
                                    <a:rPr lang="en-US" i="1">
                                      <a:solidFill>
                                        <a:srgbClr val="FF0000"/>
                                      </a:solidFill>
                                      <a:latin typeface="Cambria Math" panose="02040503050406030204" pitchFamily="18" charset="0"/>
                                      <a:ea typeface="Cambria Math" panose="02040503050406030204" pitchFamily="18" charset="0"/>
                                    </a:rPr>
                                  </m:ctrlPr>
                                </m:dPr>
                                <m:e>
                                  <m:r>
                                    <a:rPr lang="en-US" i="1">
                                      <a:solidFill>
                                        <a:srgbClr val="FF0000"/>
                                      </a:solidFill>
                                      <a:latin typeface="Cambria Math" panose="02040503050406030204" pitchFamily="18" charset="0"/>
                                      <a:ea typeface="Cambria Math" panose="02040503050406030204" pitchFamily="18" charset="0"/>
                                    </a:rPr>
                                    <m:t>𝜕</m:t>
                                  </m:r>
                                  <m:r>
                                    <a:rPr lang="en-US" i="1">
                                      <a:solidFill>
                                        <a:srgbClr val="FF0000"/>
                                      </a:solidFill>
                                      <a:latin typeface="Cambria Math" panose="02040503050406030204" pitchFamily="18" charset="0"/>
                                      <a:ea typeface="Cambria Math" panose="02040503050406030204" pitchFamily="18" charset="0"/>
                                    </a:rPr>
                                    <m:t>𝑁</m:t>
                                  </m:r>
                                  <m:r>
                                    <a:rPr lang="en-US" i="1">
                                      <a:solidFill>
                                        <a:srgbClr val="FF0000"/>
                                      </a:solidFill>
                                      <a:latin typeface="Cambria Math" panose="02040503050406030204" pitchFamily="18" charset="0"/>
                                      <a:ea typeface="Cambria Math" panose="02040503050406030204" pitchFamily="18" charset="0"/>
                                    </a:rPr>
                                    <m:t>/</m:t>
                                  </m:r>
                                  <m:r>
                                    <a:rPr lang="en-US" i="1">
                                      <a:solidFill>
                                        <a:srgbClr val="FF0000"/>
                                      </a:solidFill>
                                      <a:latin typeface="Cambria Math" panose="02040503050406030204" pitchFamily="18" charset="0"/>
                                      <a:ea typeface="Cambria Math" panose="02040503050406030204" pitchFamily="18" charset="0"/>
                                    </a:rPr>
                                    <m:t>𝜕𝜇</m:t>
                                  </m:r>
                                </m:e>
                              </m:d>
                            </m:e>
                            <m:sub>
                              <m:r>
                                <a:rPr lang="en-US" i="1">
                                  <a:solidFill>
                                    <a:srgbClr val="FF0000"/>
                                  </a:solidFill>
                                  <a:latin typeface="Cambria Math" panose="02040503050406030204" pitchFamily="18" charset="0"/>
                                  <a:ea typeface="Cambria Math" panose="02040503050406030204" pitchFamily="18" charset="0"/>
                                </a:rPr>
                                <m:t>𝜏</m:t>
                              </m:r>
                            </m:sub>
                          </m:sSub>
                        </m:den>
                      </m:f>
                      <m:r>
                        <a:rPr lang="en-US" b="0" i="1" smtClean="0">
                          <a:solidFill>
                            <a:srgbClr val="FF0000"/>
                          </a:solidFill>
                          <a:latin typeface="Cambria Math" panose="02040503050406030204" pitchFamily="18" charset="0"/>
                          <a:ea typeface="Cambria Math" panose="02040503050406030204" pitchFamily="18" charset="0"/>
                        </a:rPr>
                        <m:t>)</m:t>
                      </m:r>
                    </m:oMath>
                  </m:oMathPara>
                </a14:m>
                <a:endParaRPr lang="en-CN" dirty="0">
                  <a:solidFill>
                    <a:srgbClr val="FF0000"/>
                  </a:solidFill>
                </a:endParaRPr>
              </a:p>
            </p:txBody>
          </p:sp>
        </mc:Choice>
        <mc:Fallback xmlns="">
          <p:sp>
            <p:nvSpPr>
              <p:cNvPr id="5" name="TextBox 4">
                <a:extLst>
                  <a:ext uri="{FF2B5EF4-FFF2-40B4-BE49-F238E27FC236}">
                    <a16:creationId xmlns:a16="http://schemas.microsoft.com/office/drawing/2014/main" id="{F187BAB7-8E6A-374B-91F8-AE68F5411800}"/>
                  </a:ext>
                </a:extLst>
              </p:cNvPr>
              <p:cNvSpPr txBox="1">
                <a:spLocks noRot="1" noChangeAspect="1" noMove="1" noResize="1" noEditPoints="1" noAdjustHandles="1" noChangeArrowheads="1" noChangeShapeType="1" noTextEdit="1"/>
              </p:cNvSpPr>
              <p:nvPr/>
            </p:nvSpPr>
            <p:spPr>
              <a:xfrm>
                <a:off x="3048000" y="35440"/>
                <a:ext cx="6096000" cy="799834"/>
              </a:xfrm>
              <a:prstGeom prst="rect">
                <a:avLst/>
              </a:prstGeom>
              <a:blipFill>
                <a:blip r:embed="rId2"/>
                <a:stretch>
                  <a:fillRect b="-4688"/>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C2375E9-4FB6-BF41-879D-E71A21405A3E}"/>
                  </a:ext>
                </a:extLst>
              </p:cNvPr>
              <p:cNvSpPr txBox="1"/>
              <p:nvPr/>
            </p:nvSpPr>
            <p:spPr>
              <a:xfrm>
                <a:off x="471054" y="1040521"/>
                <a:ext cx="5971310" cy="1097095"/>
              </a:xfrm>
              <a:prstGeom prst="rect">
                <a:avLst/>
              </a:prstGeom>
              <a:noFill/>
            </p:spPr>
            <p:txBody>
              <a:bodyPr wrap="square" rtlCol="0">
                <a:spAutoFit/>
              </a:bodyPr>
              <a:lstStyle/>
              <a:p>
                <a:r>
                  <a:rPr lang="en-CN" i="1" dirty="0">
                    <a:latin typeface="Cambria Math" panose="02040503050406030204" pitchFamily="18" charset="0"/>
                    <a:ea typeface="Cambria Math" panose="02040503050406030204" pitchFamily="18" charset="0"/>
                  </a:rPr>
                  <a:t>已知道</a:t>
                </a:r>
              </a:p>
              <a:p>
                <a14:m>
                  <m:oMath xmlns:m="http://schemas.openxmlformats.org/officeDocument/2006/math">
                    <m:r>
                      <a:rPr lang="en-CN" i="1" smtClean="0">
                        <a:latin typeface="Cambria Math" panose="02040503050406030204" pitchFamily="18" charset="0"/>
                        <a:ea typeface="Cambria Math" panose="02040503050406030204" pitchFamily="18" charset="0"/>
                      </a:rPr>
                      <m:t>𝜎</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e>
                    </m:d>
                    <m:r>
                      <a:rPr lang="en-US" b="0"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ea typeface="Cambria Math" panose="02040503050406030204" pitchFamily="18" charset="0"/>
                          </a:rPr>
                        </m:ctrlPr>
                      </m:fPr>
                      <m:num>
                        <m:r>
                          <m:rPr>
                            <m:sty m:val="p"/>
                          </m:rPr>
                          <a:rPr lang="el-GR" i="1">
                            <a:latin typeface="Cambria Math" panose="02040503050406030204" pitchFamily="18" charset="0"/>
                            <a:ea typeface="Cambria Math" panose="02040503050406030204" pitchFamily="18" charset="0"/>
                          </a:rPr>
                          <m:t>Ω</m:t>
                        </m:r>
                      </m:num>
                      <m:den>
                        <m:r>
                          <a:rPr lang="en-US" altLang="zh-CN" i="1">
                            <a:latin typeface="Cambria Math" panose="02040503050406030204" pitchFamily="18" charset="0"/>
                            <a:ea typeface="Cambria Math" panose="02040503050406030204" pitchFamily="18" charset="0"/>
                          </a:rPr>
                          <m:t>𝜏</m:t>
                        </m:r>
                      </m:den>
                    </m:f>
                    <m:d>
                      <m:dPr>
                        <m:ctrlPr>
                          <a:rPr lang="en-US" altLang="zh-CN" i="1">
                            <a:latin typeface="Cambria Math" panose="02040503050406030204" pitchFamily="18" charset="0"/>
                            <a:ea typeface="Cambria Math" panose="02040503050406030204" pitchFamily="18" charset="0"/>
                          </a:rPr>
                        </m:ctrlPr>
                      </m:dPr>
                      <m:e>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5</m:t>
                            </m:r>
                          </m:num>
                          <m:den>
                            <m:r>
                              <a:rPr lang="en-US" altLang="zh-CN" i="1">
                                <a:latin typeface="Cambria Math" panose="02040503050406030204" pitchFamily="18" charset="0"/>
                                <a:ea typeface="Cambria Math" panose="02040503050406030204" pitchFamily="18" charset="0"/>
                              </a:rPr>
                              <m:t>2</m:t>
                            </m:r>
                          </m:den>
                        </m:f>
                        <m:r>
                          <a:rPr lang="en-US" altLang="zh-CN" i="1">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𝜇</m:t>
                            </m:r>
                          </m:num>
                          <m:den>
                            <m:r>
                              <a:rPr lang="en-US" altLang="zh-CN" i="1">
                                <a:latin typeface="Cambria Math" panose="02040503050406030204" pitchFamily="18" charset="0"/>
                                <a:ea typeface="Cambria Math" panose="02040503050406030204" pitchFamily="18" charset="0"/>
                              </a:rPr>
                              <m:t>𝜏</m:t>
                            </m:r>
                          </m:den>
                        </m:f>
                      </m:e>
                    </m:d>
                  </m:oMath>
                </a14:m>
                <a:r>
                  <a:rPr lang="en-US" b="0" dirty="0">
                    <a:ea typeface="Cambria Math" panose="02040503050406030204" pitchFamily="18" charset="0"/>
                  </a:rPr>
                  <a:t>=</a:t>
                </a:r>
                <a14:m>
                  <m:oMath xmlns:m="http://schemas.openxmlformats.org/officeDocument/2006/math">
                    <m:sSub>
                      <m:sSubPr>
                        <m:ctrlPr>
                          <a:rPr lang="en-US" altLang="zh-CN" i="1" smtClean="0">
                            <a:solidFill>
                              <a:schemeClr val="tx1"/>
                            </a:solidFill>
                            <a:latin typeface="Cambria Math" panose="02040503050406030204" pitchFamily="18" charset="0"/>
                            <a:ea typeface="Cambria Math" panose="02040503050406030204" pitchFamily="18" charset="0"/>
                          </a:rPr>
                        </m:ctrlPr>
                      </m:sSubPr>
                      <m:e>
                        <m:r>
                          <a:rPr lang="en-US" altLang="zh-CN" i="1">
                            <a:solidFill>
                              <a:schemeClr val="tx1"/>
                            </a:solidFill>
                            <a:latin typeface="Cambria Math" panose="02040503050406030204" pitchFamily="18" charset="0"/>
                            <a:ea typeface="Cambria Math" panose="02040503050406030204" pitchFamily="18" charset="0"/>
                          </a:rPr>
                          <m:t>𝑛</m:t>
                        </m:r>
                      </m:e>
                      <m:sub>
                        <m:r>
                          <a:rPr lang="en-US" altLang="zh-CN" i="1">
                            <a:solidFill>
                              <a:schemeClr val="tx1"/>
                            </a:solidFill>
                            <a:latin typeface="Cambria Math" panose="02040503050406030204" pitchFamily="18" charset="0"/>
                            <a:ea typeface="Cambria Math" panose="02040503050406030204" pitchFamily="18" charset="0"/>
                          </a:rPr>
                          <m:t>𝑄</m:t>
                        </m:r>
                      </m:sub>
                    </m:sSub>
                    <m:r>
                      <a:rPr lang="en-US" altLang="zh-CN" i="1">
                        <a:solidFill>
                          <a:schemeClr val="tx1"/>
                        </a:solidFill>
                        <a:latin typeface="Cambria Math" panose="02040503050406030204" pitchFamily="18" charset="0"/>
                        <a:ea typeface="Cambria Math" panose="02040503050406030204" pitchFamily="18" charset="0"/>
                      </a:rPr>
                      <m:t>𝑉</m:t>
                    </m:r>
                    <m:r>
                      <a:rPr lang="en-US" altLang="zh-CN" i="1">
                        <a:solidFill>
                          <a:schemeClr val="tx1"/>
                        </a:solidFill>
                        <a:latin typeface="Cambria Math" panose="02040503050406030204" pitchFamily="18" charset="0"/>
                        <a:ea typeface="Cambria Math" panose="02040503050406030204" pitchFamily="18" charset="0"/>
                      </a:rPr>
                      <m:t> </m:t>
                    </m:r>
                    <m:sSup>
                      <m:sSupPr>
                        <m:ctrlPr>
                          <a:rPr lang="en-US" altLang="zh-CN" i="1">
                            <a:solidFill>
                              <a:schemeClr val="tx1"/>
                            </a:solidFill>
                            <a:latin typeface="Cambria Math" panose="02040503050406030204" pitchFamily="18" charset="0"/>
                            <a:ea typeface="Cambria Math" panose="02040503050406030204" pitchFamily="18" charset="0"/>
                          </a:rPr>
                        </m:ctrlPr>
                      </m:sSupPr>
                      <m:e>
                        <m:r>
                          <a:rPr lang="en-US" altLang="zh-CN" i="1">
                            <a:solidFill>
                              <a:schemeClr val="tx1"/>
                            </a:solidFill>
                            <a:latin typeface="Cambria Math" panose="02040503050406030204" pitchFamily="18" charset="0"/>
                            <a:ea typeface="Cambria Math" panose="02040503050406030204" pitchFamily="18" charset="0"/>
                          </a:rPr>
                          <m:t>𝑒</m:t>
                        </m:r>
                      </m:e>
                      <m:sup>
                        <m:r>
                          <a:rPr lang="en-US" altLang="zh-CN" i="1">
                            <a:solidFill>
                              <a:schemeClr val="tx1"/>
                            </a:solidFill>
                            <a:latin typeface="Cambria Math" panose="02040503050406030204" pitchFamily="18" charset="0"/>
                            <a:ea typeface="Cambria Math" panose="02040503050406030204" pitchFamily="18" charset="0"/>
                          </a:rPr>
                          <m:t>𝜇</m:t>
                        </m:r>
                        <m:r>
                          <a:rPr lang="en-US" altLang="zh-CN" i="1">
                            <a:solidFill>
                              <a:schemeClr val="tx1"/>
                            </a:solidFill>
                            <a:latin typeface="Cambria Math" panose="02040503050406030204" pitchFamily="18" charset="0"/>
                            <a:ea typeface="Cambria Math" panose="02040503050406030204" pitchFamily="18" charset="0"/>
                          </a:rPr>
                          <m:t>/</m:t>
                        </m:r>
                        <m:r>
                          <a:rPr lang="en-US" altLang="zh-CN" i="1">
                            <a:solidFill>
                              <a:schemeClr val="tx1"/>
                            </a:solidFill>
                            <a:latin typeface="Cambria Math" panose="02040503050406030204" pitchFamily="18" charset="0"/>
                            <a:ea typeface="Cambria Math" panose="02040503050406030204" pitchFamily="18" charset="0"/>
                          </a:rPr>
                          <m:t>𝜏</m:t>
                        </m:r>
                      </m:sup>
                    </m:sSup>
                    <m:d>
                      <m:dPr>
                        <m:ctrlPr>
                          <a:rPr lang="en-US" altLang="zh-CN" i="1">
                            <a:latin typeface="Cambria Math" panose="02040503050406030204" pitchFamily="18" charset="0"/>
                            <a:ea typeface="Cambria Math" panose="02040503050406030204" pitchFamily="18" charset="0"/>
                          </a:rPr>
                        </m:ctrlPr>
                      </m:dPr>
                      <m:e>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5</m:t>
                            </m:r>
                          </m:num>
                          <m:den>
                            <m:r>
                              <a:rPr lang="en-US" altLang="zh-CN" i="1">
                                <a:latin typeface="Cambria Math" panose="02040503050406030204" pitchFamily="18" charset="0"/>
                                <a:ea typeface="Cambria Math" panose="02040503050406030204" pitchFamily="18" charset="0"/>
                              </a:rPr>
                              <m:t>2</m:t>
                            </m:r>
                          </m:den>
                        </m:f>
                        <m:r>
                          <a:rPr lang="en-US" altLang="zh-CN" i="1">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𝜇</m:t>
                            </m:r>
                          </m:num>
                          <m:den>
                            <m:r>
                              <a:rPr lang="en-US" altLang="zh-CN" i="1">
                                <a:latin typeface="Cambria Math" panose="02040503050406030204" pitchFamily="18" charset="0"/>
                                <a:ea typeface="Cambria Math" panose="02040503050406030204" pitchFamily="18" charset="0"/>
                              </a:rPr>
                              <m:t>𝜏</m:t>
                            </m:r>
                          </m:den>
                        </m:f>
                      </m:e>
                    </m:d>
                    <m:r>
                      <a:rPr lang="en-US" altLang="zh-CN" i="1">
                        <a:latin typeface="Cambria Math" panose="02040503050406030204" pitchFamily="18" charset="0"/>
                        <a:ea typeface="Cambria Math" panose="02040503050406030204" pitchFamily="18" charset="0"/>
                      </a:rPr>
                      <m:t> </m:t>
                    </m:r>
                  </m:oMath>
                </a14:m>
                <a:endParaRPr lang="en-US" b="0" dirty="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𝑁</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e>
                      </m:d>
                      <m:r>
                        <a:rPr lang="en-US" b="0" i="1" smtClean="0">
                          <a:latin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𝑛</m:t>
                          </m:r>
                        </m:e>
                        <m:sub>
                          <m:r>
                            <a:rPr lang="en-US" altLang="zh-CN" i="1">
                              <a:latin typeface="Cambria Math" panose="02040503050406030204" pitchFamily="18" charset="0"/>
                              <a:ea typeface="Cambria Math" panose="02040503050406030204" pitchFamily="18" charset="0"/>
                            </a:rPr>
                            <m:t>𝑄</m:t>
                          </m:r>
                        </m:sub>
                      </m:sSub>
                      <m:r>
                        <a:rPr lang="en-US" altLang="zh-CN" i="1">
                          <a:latin typeface="Cambria Math" panose="02040503050406030204" pitchFamily="18" charset="0"/>
                          <a:ea typeface="Cambria Math" panose="02040503050406030204" pitchFamily="18" charset="0"/>
                        </a:rPr>
                        <m:t>𝑉</m:t>
                      </m:r>
                      <m:r>
                        <a:rPr lang="en-US" altLang="zh-CN" i="1">
                          <a:latin typeface="Cambria Math" panose="02040503050406030204" pitchFamily="18" charset="0"/>
                          <a:ea typeface="Cambria Math" panose="02040503050406030204" pitchFamily="18" charset="0"/>
                        </a:rPr>
                        <m:t> </m:t>
                      </m:r>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𝑒</m:t>
                          </m:r>
                        </m:e>
                        <m:sup>
                          <m:r>
                            <a:rPr lang="en-US" altLang="zh-CN" i="1">
                              <a:latin typeface="Cambria Math" panose="02040503050406030204" pitchFamily="18" charset="0"/>
                              <a:ea typeface="Cambria Math" panose="02040503050406030204" pitchFamily="18" charset="0"/>
                            </a:rPr>
                            <m:t>𝜇</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oMath>
                  </m:oMathPara>
                </a14:m>
                <a:endParaRPr lang="en-CN" dirty="0"/>
              </a:p>
            </p:txBody>
          </p:sp>
        </mc:Choice>
        <mc:Fallback xmlns="">
          <p:sp>
            <p:nvSpPr>
              <p:cNvPr id="6" name="TextBox 5">
                <a:extLst>
                  <a:ext uri="{FF2B5EF4-FFF2-40B4-BE49-F238E27FC236}">
                    <a16:creationId xmlns:a16="http://schemas.microsoft.com/office/drawing/2014/main" id="{DC2375E9-4FB6-BF41-879D-E71A21405A3E}"/>
                  </a:ext>
                </a:extLst>
              </p:cNvPr>
              <p:cNvSpPr txBox="1">
                <a:spLocks noRot="1" noChangeAspect="1" noMove="1" noResize="1" noEditPoints="1" noAdjustHandles="1" noChangeArrowheads="1" noChangeShapeType="1" noTextEdit="1"/>
              </p:cNvSpPr>
              <p:nvPr/>
            </p:nvSpPr>
            <p:spPr>
              <a:xfrm>
                <a:off x="471054" y="1040521"/>
                <a:ext cx="5971310" cy="1097095"/>
              </a:xfrm>
              <a:prstGeom prst="rect">
                <a:avLst/>
              </a:prstGeom>
              <a:blipFill>
                <a:blip r:embed="rId3"/>
                <a:stretch>
                  <a:fillRect l="-636" t="-5747" b="-2299"/>
                </a:stretch>
              </a:blipFill>
            </p:spPr>
            <p:txBody>
              <a:bodyPr/>
              <a:lstStyle/>
              <a:p>
                <a:r>
                  <a:rPr lang="en-CN">
                    <a:noFill/>
                  </a:rPr>
                  <a:t> </a:t>
                </a:r>
              </a:p>
            </p:txBody>
          </p:sp>
        </mc:Fallback>
      </mc:AlternateContent>
      <p:pic>
        <p:nvPicPr>
          <p:cNvPr id="8" name="Picture 7">
            <a:extLst>
              <a:ext uri="{FF2B5EF4-FFF2-40B4-BE49-F238E27FC236}">
                <a16:creationId xmlns:a16="http://schemas.microsoft.com/office/drawing/2014/main" id="{C22BE88D-33C7-CA46-A29C-AC0787570D02}"/>
              </a:ext>
            </a:extLst>
          </p:cNvPr>
          <p:cNvPicPr>
            <a:picLocks noChangeAspect="1"/>
          </p:cNvPicPr>
          <p:nvPr/>
        </p:nvPicPr>
        <p:blipFill>
          <a:blip r:embed="rId4"/>
          <a:stretch>
            <a:fillRect/>
          </a:stretch>
        </p:blipFill>
        <p:spPr>
          <a:xfrm>
            <a:off x="3159991" y="2028614"/>
            <a:ext cx="5041900" cy="3365500"/>
          </a:xfrm>
          <a:prstGeom prst="rect">
            <a:avLst/>
          </a:prstGeom>
        </p:spPr>
      </p:pic>
      <p:sp>
        <p:nvSpPr>
          <p:cNvPr id="9" name="Down Arrow 8">
            <a:extLst>
              <a:ext uri="{FF2B5EF4-FFF2-40B4-BE49-F238E27FC236}">
                <a16:creationId xmlns:a16="http://schemas.microsoft.com/office/drawing/2014/main" id="{776530C7-B5F7-3C45-987B-E90C729AC15A}"/>
              </a:ext>
            </a:extLst>
          </p:cNvPr>
          <p:cNvSpPr/>
          <p:nvPr/>
        </p:nvSpPr>
        <p:spPr>
          <a:xfrm>
            <a:off x="8118764" y="1233054"/>
            <a:ext cx="166254" cy="432261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D172BA2-3419-F743-A42E-E8E6D06BAFAA}"/>
                  </a:ext>
                </a:extLst>
              </p:cNvPr>
              <p:cNvSpPr txBox="1"/>
              <p:nvPr/>
            </p:nvSpPr>
            <p:spPr>
              <a:xfrm>
                <a:off x="6941127" y="5888182"/>
                <a:ext cx="2521528"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𝑉</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2</m:t>
                          </m:r>
                        </m:den>
                      </m:f>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𝑄</m:t>
                          </m:r>
                        </m:sub>
                      </m:sSub>
                      <m:r>
                        <a:rPr lang="en-US" b="0" i="1" smtClean="0">
                          <a:latin typeface="Cambria Math" panose="02040503050406030204" pitchFamily="18" charset="0"/>
                        </a:rPr>
                        <m:t> </m:t>
                      </m:r>
                      <m:r>
                        <a:rPr lang="en-US" b="0" i="1" smtClean="0">
                          <a:latin typeface="Cambria Math" panose="02040503050406030204" pitchFamily="18" charset="0"/>
                        </a:rPr>
                        <m:t>𝑉</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2</m:t>
                          </m:r>
                        </m:den>
                      </m:f>
                      <m:r>
                        <a:rPr lang="en-US" b="0" i="1" smtClean="0">
                          <a:latin typeface="Cambria Math" panose="02040503050406030204" pitchFamily="18" charset="0"/>
                        </a:rPr>
                        <m:t>𝑁</m:t>
                      </m:r>
                    </m:oMath>
                  </m:oMathPara>
                </a14:m>
                <a:endParaRPr lang="en-CN" dirty="0"/>
              </a:p>
            </p:txBody>
          </p:sp>
        </mc:Choice>
        <mc:Fallback xmlns="">
          <p:sp>
            <p:nvSpPr>
              <p:cNvPr id="10" name="TextBox 9">
                <a:extLst>
                  <a:ext uri="{FF2B5EF4-FFF2-40B4-BE49-F238E27FC236}">
                    <a16:creationId xmlns:a16="http://schemas.microsoft.com/office/drawing/2014/main" id="{5D172BA2-3419-F743-A42E-E8E6D06BAFAA}"/>
                  </a:ext>
                </a:extLst>
              </p:cNvPr>
              <p:cNvSpPr txBox="1">
                <a:spLocks noRot="1" noChangeAspect="1" noMove="1" noResize="1" noEditPoints="1" noAdjustHandles="1" noChangeArrowheads="1" noChangeShapeType="1" noTextEdit="1"/>
              </p:cNvSpPr>
              <p:nvPr/>
            </p:nvSpPr>
            <p:spPr>
              <a:xfrm>
                <a:off x="6941127" y="5888182"/>
                <a:ext cx="2521528" cy="634789"/>
              </a:xfrm>
              <a:prstGeom prst="rect">
                <a:avLst/>
              </a:prstGeom>
              <a:blipFill>
                <a:blip r:embed="rId5"/>
                <a:stretch>
                  <a:fillRect/>
                </a:stretch>
              </a:blipFill>
            </p:spPr>
            <p:txBody>
              <a:bodyPr/>
              <a:lstStyle/>
              <a:p>
                <a:r>
                  <a:rPr lang="en-CN">
                    <a:noFill/>
                  </a:rPr>
                  <a:t> </a:t>
                </a:r>
              </a:p>
            </p:txBody>
          </p:sp>
        </mc:Fallback>
      </mc:AlternateContent>
    </p:spTree>
    <p:extLst>
      <p:ext uri="{BB962C8B-B14F-4D97-AF65-F5344CB8AC3E}">
        <p14:creationId xmlns:p14="http://schemas.microsoft.com/office/powerpoint/2010/main" val="29565099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2ECD0B4-24F3-4947-8634-93BA48D664C5}"/>
              </a:ext>
            </a:extLst>
          </p:cNvPr>
          <p:cNvPicPr>
            <a:picLocks noChangeAspect="1"/>
          </p:cNvPicPr>
          <p:nvPr/>
        </p:nvPicPr>
        <p:blipFill>
          <a:blip r:embed="rId2"/>
          <a:stretch>
            <a:fillRect/>
          </a:stretch>
        </p:blipFill>
        <p:spPr>
          <a:xfrm>
            <a:off x="831273" y="817113"/>
            <a:ext cx="6206439" cy="5763795"/>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E73CAB0-1CD4-6E41-A179-F9999F20B6B5}"/>
                  </a:ext>
                </a:extLst>
              </p:cNvPr>
              <p:cNvSpPr txBox="1"/>
              <p:nvPr/>
            </p:nvSpPr>
            <p:spPr>
              <a:xfrm>
                <a:off x="7398327" y="554182"/>
                <a:ext cx="4225637" cy="6034985"/>
              </a:xfrm>
              <a:prstGeom prst="rect">
                <a:avLst/>
              </a:prstGeom>
              <a:noFill/>
            </p:spPr>
            <p:txBody>
              <a:bodyPr wrap="square" rtlCol="0">
                <a:spAutoFit/>
              </a:bodyPr>
              <a:lstStyle/>
              <a:p>
                <a:r>
                  <a:rPr lang="en-CN" dirty="0"/>
                  <a:t>When N1 molecules are absorbed, the energy is equal to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0</m:t>
                        </m:r>
                      </m:sub>
                    </m:sSub>
                  </m:oMath>
                </a14:m>
                <a:r>
                  <a:rPr lang="en-CN" dirty="0"/>
                  <a:t>. The partition function</a:t>
                </a:r>
              </a:p>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𝑐</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r>
                            <a:rPr lang="en-US" b="0" i="1" smtClean="0">
                              <a:latin typeface="Cambria Math" panose="02040503050406030204" pitchFamily="18" charset="0"/>
                            </a:rPr>
                            <m:t>!</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𝛽</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e>
                            <m:sub>
                              <m:r>
                                <a:rPr lang="en-US" b="0" i="1" smtClean="0">
                                  <a:latin typeface="Cambria Math" panose="02040503050406030204" pitchFamily="18" charset="0"/>
                                  <a:ea typeface="Cambria Math" panose="02040503050406030204" pitchFamily="18" charset="0"/>
                                </a:rPr>
                                <m:t>1</m:t>
                              </m:r>
                            </m:sub>
                          </m:s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𝑁</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sup>
                      </m:sSup>
                    </m:oMath>
                  </m:oMathPara>
                </a14:m>
                <a:endParaRPr lang="en-CN" dirty="0"/>
              </a:p>
              <a:p>
                <a:r>
                  <a:rPr lang="en-CN" dirty="0"/>
                  <a:t>Suppose x=</a:t>
                </a:r>
                <a:r>
                  <a:rPr lang="en-US" dirty="0"/>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ea typeface="Cambria Math" panose="02040503050406030204" pitchFamily="18" charset="0"/>
                          </a:rPr>
                          <m:t>𝛽</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𝜀</m:t>
                            </m:r>
                          </m:e>
                          <m:sub>
                            <m:r>
                              <a:rPr lang="en-US" i="1">
                                <a:latin typeface="Cambria Math" panose="02040503050406030204" pitchFamily="18" charset="0"/>
                                <a:ea typeface="Cambria Math" panose="02040503050406030204" pitchFamily="18" charset="0"/>
                              </a:rPr>
                              <m:t>0</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𝜇</m:t>
                        </m:r>
                        <m:r>
                          <a:rPr lang="en-US" i="1">
                            <a:latin typeface="Cambria Math" panose="02040503050406030204" pitchFamily="18" charset="0"/>
                            <a:ea typeface="Cambria Math" panose="02040503050406030204" pitchFamily="18" charset="0"/>
                          </a:rPr>
                          <m:t>)</m:t>
                        </m:r>
                      </m:sup>
                    </m:sSup>
                  </m:oMath>
                </a14:m>
                <a:r>
                  <a:rPr lang="en-CN" dirty="0"/>
                  <a:t>.</a:t>
                </a:r>
              </a:p>
              <a:p>
                <a:r>
                  <a:rPr lang="en-CN" dirty="0"/>
                  <a:t>Total partion function</a:t>
                </a:r>
              </a:p>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𝐺</m:t>
                          </m:r>
                        </m:sub>
                      </m:sSub>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r>
                            <m:rPr>
                              <m:brk m:alnAt="23"/>
                            </m:rPr>
                            <a:rPr lang="en-US" b="0" i="1" smtClean="0">
                              <a:latin typeface="Cambria Math" panose="02040503050406030204" pitchFamily="18" charset="0"/>
                            </a:rPr>
                            <m:t>=</m:t>
                          </m:r>
                          <m:r>
                            <a:rPr lang="en-US" b="0" i="1" smtClean="0">
                              <a:latin typeface="Cambria Math" panose="02040503050406030204" pitchFamily="18" charset="0"/>
                            </a:rPr>
                            <m:t>0</m:t>
                          </m:r>
                        </m:sub>
                        <m:sup>
                          <m:r>
                            <a:rPr lang="en-US" b="0" i="1" smtClean="0">
                              <a:latin typeface="Cambria Math" panose="02040503050406030204" pitchFamily="18" charset="0"/>
                            </a:rPr>
                            <m:t>𝑁</m:t>
                          </m:r>
                        </m:sup>
                        <m:e>
                          <m:f>
                            <m:fPr>
                              <m:ctrlPr>
                                <a:rPr lang="en-US" i="1">
                                  <a:latin typeface="Cambria Math" panose="02040503050406030204" pitchFamily="18" charset="0"/>
                                </a:rPr>
                              </m:ctrlPr>
                            </m:fPr>
                            <m:num>
                              <m:r>
                                <a:rPr lang="en-US" i="1">
                                  <a:latin typeface="Cambria Math" panose="02040503050406030204" pitchFamily="18" charset="0"/>
                                </a:rPr>
                                <m:t>𝑁</m:t>
                              </m:r>
                              <m:r>
                                <a:rPr lang="en-US" i="1">
                                  <a:latin typeface="Cambria Math" panose="02040503050406030204" pitchFamily="18" charset="0"/>
                                </a:rPr>
                                <m:t>!</m:t>
                              </m:r>
                            </m:num>
                            <m:den>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1</m:t>
                                  </m:r>
                                </m:sub>
                              </m:sSub>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𝑁</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1</m:t>
                                      </m:r>
                                    </m:sub>
                                  </m:sSub>
                                </m:e>
                              </m:d>
                              <m:r>
                                <a:rPr lang="en-US" i="1">
                                  <a:latin typeface="Cambria Math" panose="02040503050406030204" pitchFamily="18" charset="0"/>
                                </a:rPr>
                                <m:t>!</m:t>
                              </m:r>
                            </m:den>
                          </m:f>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ea typeface="Cambria Math" panose="02040503050406030204" pitchFamily="18" charset="0"/>
                                </a:rPr>
                                <m:t>𝛽</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𝑁</m:t>
                                  </m:r>
                                </m:e>
                                <m:sub>
                                  <m:r>
                                    <a:rPr lang="en-US" i="1">
                                      <a:latin typeface="Cambria Math" panose="02040503050406030204" pitchFamily="18" charset="0"/>
                                      <a:ea typeface="Cambria Math" panose="02040503050406030204" pitchFamily="18" charset="0"/>
                                    </a:rPr>
                                    <m:t>1</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𝜀</m:t>
                                  </m:r>
                                </m:e>
                                <m:sub>
                                  <m:r>
                                    <a:rPr lang="en-US" i="1">
                                      <a:latin typeface="Cambria Math" panose="02040503050406030204" pitchFamily="18" charset="0"/>
                                      <a:ea typeface="Cambria Math" panose="02040503050406030204" pitchFamily="18" charset="0"/>
                                    </a:rPr>
                                    <m:t>0</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𝑁</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𝜇</m:t>
                              </m:r>
                              <m:r>
                                <a:rPr lang="en-US" i="1">
                                  <a:latin typeface="Cambria Math" panose="02040503050406030204" pitchFamily="18" charset="0"/>
                                  <a:ea typeface="Cambria Math" panose="02040503050406030204" pitchFamily="18" charset="0"/>
                                </a:rPr>
                                <m:t>)</m:t>
                              </m:r>
                            </m:sup>
                          </m:sSup>
                        </m:e>
                      </m:nary>
                    </m:oMath>
                  </m:oMathPara>
                </a14:m>
                <a:endParaRPr lang="en-CN"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sub>
                        <m:sup>
                          <m:r>
                            <a:rPr lang="en-US" b="0" i="1" smtClean="0">
                              <a:latin typeface="Cambria Math" panose="02040503050406030204" pitchFamily="18" charset="0"/>
                            </a:rPr>
                            <m:t>𝑁</m:t>
                          </m:r>
                        </m:sup>
                        <m:e>
                          <m:f>
                            <m:fPr>
                              <m:ctrlPr>
                                <a:rPr lang="en-US" i="1">
                                  <a:latin typeface="Cambria Math" panose="02040503050406030204" pitchFamily="18" charset="0"/>
                                </a:rPr>
                              </m:ctrlPr>
                            </m:fPr>
                            <m:num>
                              <m:r>
                                <a:rPr lang="en-US" i="1">
                                  <a:latin typeface="Cambria Math" panose="02040503050406030204" pitchFamily="18" charset="0"/>
                                </a:rPr>
                                <m:t>𝑁</m:t>
                              </m:r>
                              <m:r>
                                <a:rPr lang="en-US" i="1">
                                  <a:latin typeface="Cambria Math" panose="02040503050406030204" pitchFamily="18" charset="0"/>
                                </a:rPr>
                                <m:t>!</m:t>
                              </m:r>
                            </m:num>
                            <m:den>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1</m:t>
                                  </m:r>
                                </m:sub>
                              </m:sSub>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𝑁</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1</m:t>
                                      </m:r>
                                    </m:sub>
                                  </m:sSub>
                                </m:e>
                              </m:d>
                              <m:r>
                                <a:rPr lang="en-US" i="1">
                                  <a:latin typeface="Cambria Math" panose="02040503050406030204" pitchFamily="18" charset="0"/>
                                </a:rPr>
                                <m:t>!</m:t>
                              </m:r>
                            </m:den>
                          </m:f>
                          <m:sSup>
                            <m:sSupPr>
                              <m:ctrlPr>
                                <a:rPr lang="en-US" i="1" smtClean="0">
                                  <a:latin typeface="Cambria Math" panose="02040503050406030204" pitchFamily="18" charset="0"/>
                                </a:rPr>
                              </m:ctrlPr>
                            </m:sSupPr>
                            <m:e>
                              <m:d>
                                <m:dPr>
                                  <m:ctrlPr>
                                    <a:rPr lang="en-US" i="1" smtClean="0">
                                      <a:latin typeface="Cambria Math" panose="02040503050406030204" pitchFamily="18" charset="0"/>
                                    </a:rPr>
                                  </m:ctrlPr>
                                </m:dPr>
                                <m:e>
                                  <m:r>
                                    <a:rPr lang="en-US" i="1" smtClean="0">
                                      <a:latin typeface="Cambria Math" panose="02040503050406030204" pitchFamily="18" charset="0"/>
                                    </a:rPr>
                                    <m:t>𝑥</m:t>
                                  </m:r>
                                </m:e>
                              </m:d>
                            </m:e>
                            <m:sup>
                              <m:sSub>
                                <m:sSubPr>
                                  <m:ctrlPr>
                                    <a:rPr lang="en-US"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sup>
                          </m:sSup>
                        </m:e>
                      </m:nary>
                    </m:oMath>
                  </m:oMathPara>
                </a14:m>
                <a:endParaRPr lang="en-CN"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𝑥</m:t>
                              </m:r>
                            </m:e>
                          </m:d>
                        </m:e>
                        <m:sup>
                          <m:r>
                            <a:rPr lang="en-US" b="0" i="1" smtClean="0">
                              <a:latin typeface="Cambria Math" panose="02040503050406030204" pitchFamily="18" charset="0"/>
                            </a:rPr>
                            <m:t>𝑁</m:t>
                          </m:r>
                        </m:sup>
                      </m:sSup>
                    </m:oMath>
                  </m:oMathPara>
                </a14:m>
                <a:endParaRPr lang="en-CN" dirty="0"/>
              </a:p>
              <a:p>
                <a:endParaRPr lang="en-CN" dirty="0"/>
              </a:p>
              <a:p>
                <a:r>
                  <a:rPr lang="en-CN" dirty="0"/>
                  <a:t>The average number</a:t>
                </a:r>
              </a:p>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chr m:val="∑"/>
                              <m:ctrlPr>
                                <a:rPr lang="en-US" i="1">
                                  <a:latin typeface="Cambria Math" panose="02040503050406030204" pitchFamily="18" charset="0"/>
                                </a:rPr>
                              </m:ctrlPr>
                            </m:naryPr>
                            <m:sub>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1</m:t>
                                  </m:r>
                                </m:sub>
                              </m:sSub>
                            </m:sub>
                            <m:sup>
                              <m:r>
                                <a:rPr lang="en-US" i="1">
                                  <a:latin typeface="Cambria Math" panose="02040503050406030204" pitchFamily="18" charset="0"/>
                                </a:rPr>
                                <m:t>𝑁</m:t>
                              </m:r>
                            </m:sup>
                            <m:e>
                              <m:d>
                                <m:dPr>
                                  <m:ctrlPr>
                                    <a:rPr lang="en-US" i="1" smtClean="0">
                                      <a:solidFill>
                                        <a:srgbClr val="FF0000"/>
                                      </a:solidFill>
                                      <a:latin typeface="Cambria Math" panose="02040503050406030204" pitchFamily="18" charset="0"/>
                                    </a:rPr>
                                  </m:ctrlPr>
                                </m:dPr>
                                <m:e>
                                  <m:sSub>
                                    <m:sSubPr>
                                      <m:ctrlPr>
                                        <a:rPr lang="en-US"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𝑁</m:t>
                                      </m:r>
                                    </m:e>
                                    <m:sub>
                                      <m:r>
                                        <a:rPr lang="en-US" b="0" i="1" smtClean="0">
                                          <a:solidFill>
                                            <a:srgbClr val="FF0000"/>
                                          </a:solidFill>
                                          <a:latin typeface="Cambria Math" panose="02040503050406030204" pitchFamily="18" charset="0"/>
                                        </a:rPr>
                                        <m:t>1</m:t>
                                      </m:r>
                                    </m:sub>
                                  </m:sSub>
                                </m:e>
                              </m:d>
                              <m:f>
                                <m:fPr>
                                  <m:ctrlPr>
                                    <a:rPr lang="en-US" i="1">
                                      <a:latin typeface="Cambria Math" panose="02040503050406030204" pitchFamily="18" charset="0"/>
                                    </a:rPr>
                                  </m:ctrlPr>
                                </m:fPr>
                                <m:num>
                                  <m:r>
                                    <a:rPr lang="en-US" i="1">
                                      <a:latin typeface="Cambria Math" panose="02040503050406030204" pitchFamily="18" charset="0"/>
                                    </a:rPr>
                                    <m:t>𝑁</m:t>
                                  </m:r>
                                  <m:r>
                                    <a:rPr lang="en-US" i="1">
                                      <a:latin typeface="Cambria Math" panose="02040503050406030204" pitchFamily="18" charset="0"/>
                                    </a:rPr>
                                    <m:t>!</m:t>
                                  </m:r>
                                </m:num>
                                <m:den>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1</m:t>
                                      </m:r>
                                    </m:sub>
                                  </m:sSub>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𝑁</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1</m:t>
                                          </m:r>
                                        </m:sub>
                                      </m:sSub>
                                    </m:e>
                                  </m:d>
                                  <m:r>
                                    <a:rPr lang="en-US" i="1">
                                      <a:latin typeface="Cambria Math" panose="02040503050406030204" pitchFamily="18" charset="0"/>
                                    </a:rPr>
                                    <m:t>!</m:t>
                                  </m:r>
                                </m:den>
                              </m:f>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𝑥</m:t>
                                      </m:r>
                                    </m:e>
                                  </m:d>
                                </m:e>
                                <m:sup>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1</m:t>
                                      </m:r>
                                    </m:sub>
                                  </m:sSub>
                                </m:sup>
                              </m:sSup>
                            </m:e>
                          </m:nary>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𝐺</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rPr>
                            <m:t>𝑥</m:t>
                          </m:r>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den>
                          </m:f>
                          <m:sSub>
                            <m:sSubPr>
                              <m:ctrlPr>
                                <a:rPr lang="en-US" i="1">
                                  <a:latin typeface="Cambria Math" panose="02040503050406030204" pitchFamily="18" charset="0"/>
                                </a:rPr>
                              </m:ctrlPr>
                            </m:sSubPr>
                            <m:e>
                              <m:r>
                                <a:rPr lang="en-US" i="1">
                                  <a:latin typeface="Cambria Math" panose="02040503050406030204" pitchFamily="18" charset="0"/>
                                </a:rPr>
                                <m:t>𝑍</m:t>
                              </m:r>
                            </m:e>
                            <m:sub>
                              <m:r>
                                <a:rPr lang="en-US" i="1">
                                  <a:latin typeface="Cambria Math" panose="02040503050406030204" pitchFamily="18" charset="0"/>
                                </a:rPr>
                                <m:t>𝐺</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𝐺</m:t>
                              </m:r>
                            </m:sub>
                          </m:sSub>
                        </m:den>
                      </m:f>
                      <m:r>
                        <a:rPr lang="en-US" b="0" i="1" smtClean="0">
                          <a:latin typeface="Cambria Math" panose="02040503050406030204" pitchFamily="18" charset="0"/>
                        </a:rPr>
                        <m:t>=</m:t>
                      </m:r>
                      <m:r>
                        <a:rPr lang="en-US" b="0" i="1" smtClean="0">
                          <a:latin typeface="Cambria Math" panose="02040503050406030204" pitchFamily="18" charset="0"/>
                        </a:rPr>
                        <m:t>𝑁</m:t>
                      </m:r>
                      <m:f>
                        <m:fPr>
                          <m:ctrlPr>
                            <a:rPr lang="en-US" b="0" i="1" smtClean="0">
                              <a:solidFill>
                                <a:srgbClr val="FF0000"/>
                              </a:solidFill>
                              <a:latin typeface="Cambria Math" panose="02040503050406030204" pitchFamily="18" charset="0"/>
                            </a:rPr>
                          </m:ctrlPr>
                        </m:fPr>
                        <m:num>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𝑒</m:t>
                              </m:r>
                            </m:e>
                            <m:sup>
                              <m:r>
                                <a:rPr lang="en-US" i="1">
                                  <a:solidFill>
                                    <a:srgbClr val="FF0000"/>
                                  </a:solidFill>
                                  <a:latin typeface="Cambria Math" panose="02040503050406030204" pitchFamily="18" charset="0"/>
                                  <a:ea typeface="Cambria Math" panose="02040503050406030204" pitchFamily="18" charset="0"/>
                                </a:rPr>
                                <m:t>𝛽</m:t>
                              </m:r>
                              <m:r>
                                <a:rPr lang="en-US" i="1">
                                  <a:solidFill>
                                    <a:srgbClr val="FF0000"/>
                                  </a:solidFill>
                                  <a:latin typeface="Cambria Math" panose="02040503050406030204" pitchFamily="18" charset="0"/>
                                  <a:ea typeface="Cambria Math" panose="02040503050406030204" pitchFamily="18" charset="0"/>
                                </a:rPr>
                                <m:t>(</m:t>
                              </m:r>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𝜀</m:t>
                                  </m:r>
                                </m:e>
                                <m:sub>
                                  <m:r>
                                    <a:rPr lang="en-US" i="1">
                                      <a:solidFill>
                                        <a:srgbClr val="FF0000"/>
                                      </a:solidFill>
                                      <a:latin typeface="Cambria Math" panose="02040503050406030204" pitchFamily="18" charset="0"/>
                                      <a:ea typeface="Cambria Math" panose="02040503050406030204" pitchFamily="18" charset="0"/>
                                    </a:rPr>
                                    <m:t>0</m:t>
                                  </m:r>
                                </m:sub>
                              </m:sSub>
                              <m:r>
                                <a:rPr lang="en-US" i="1">
                                  <a:solidFill>
                                    <a:srgbClr val="FF0000"/>
                                  </a:solidFill>
                                  <a:latin typeface="Cambria Math" panose="02040503050406030204" pitchFamily="18" charset="0"/>
                                  <a:ea typeface="Cambria Math" panose="02040503050406030204" pitchFamily="18" charset="0"/>
                                </a:rPr>
                                <m:t>+</m:t>
                              </m:r>
                              <m:r>
                                <a:rPr lang="en-US" i="1">
                                  <a:solidFill>
                                    <a:srgbClr val="FF0000"/>
                                  </a:solidFill>
                                  <a:latin typeface="Cambria Math" panose="02040503050406030204" pitchFamily="18" charset="0"/>
                                  <a:ea typeface="Cambria Math" panose="02040503050406030204" pitchFamily="18" charset="0"/>
                                </a:rPr>
                                <m:t>𝜇</m:t>
                              </m:r>
                              <m:r>
                                <a:rPr lang="en-US" i="1">
                                  <a:solidFill>
                                    <a:srgbClr val="FF0000"/>
                                  </a:solidFill>
                                  <a:latin typeface="Cambria Math" panose="02040503050406030204" pitchFamily="18" charset="0"/>
                                  <a:ea typeface="Cambria Math" panose="02040503050406030204" pitchFamily="18" charset="0"/>
                                </a:rPr>
                                <m:t>)</m:t>
                              </m:r>
                            </m:sup>
                          </m:sSup>
                        </m:num>
                        <m:den>
                          <m:r>
                            <a:rPr lang="en-US" i="1">
                              <a:solidFill>
                                <a:srgbClr val="FF0000"/>
                              </a:solidFill>
                              <a:latin typeface="Cambria Math" panose="02040503050406030204" pitchFamily="18" charset="0"/>
                            </a:rPr>
                            <m:t>1+</m:t>
                          </m:r>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𝑒</m:t>
                              </m:r>
                            </m:e>
                            <m:sup>
                              <m:r>
                                <a:rPr lang="en-US" i="1">
                                  <a:solidFill>
                                    <a:srgbClr val="FF0000"/>
                                  </a:solidFill>
                                  <a:latin typeface="Cambria Math" panose="02040503050406030204" pitchFamily="18" charset="0"/>
                                  <a:ea typeface="Cambria Math" panose="02040503050406030204" pitchFamily="18" charset="0"/>
                                </a:rPr>
                                <m:t>𝛽</m:t>
                              </m:r>
                              <m:r>
                                <a:rPr lang="en-US" i="1">
                                  <a:solidFill>
                                    <a:srgbClr val="FF0000"/>
                                  </a:solidFill>
                                  <a:latin typeface="Cambria Math" panose="02040503050406030204" pitchFamily="18" charset="0"/>
                                  <a:ea typeface="Cambria Math" panose="02040503050406030204" pitchFamily="18" charset="0"/>
                                </a:rPr>
                                <m:t>(</m:t>
                              </m:r>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𝜀</m:t>
                                  </m:r>
                                </m:e>
                                <m:sub>
                                  <m:r>
                                    <a:rPr lang="en-US" i="1">
                                      <a:solidFill>
                                        <a:srgbClr val="FF0000"/>
                                      </a:solidFill>
                                      <a:latin typeface="Cambria Math" panose="02040503050406030204" pitchFamily="18" charset="0"/>
                                      <a:ea typeface="Cambria Math" panose="02040503050406030204" pitchFamily="18" charset="0"/>
                                    </a:rPr>
                                    <m:t>0</m:t>
                                  </m:r>
                                </m:sub>
                              </m:sSub>
                              <m:r>
                                <a:rPr lang="en-US" i="1">
                                  <a:solidFill>
                                    <a:srgbClr val="FF0000"/>
                                  </a:solidFill>
                                  <a:latin typeface="Cambria Math" panose="02040503050406030204" pitchFamily="18" charset="0"/>
                                  <a:ea typeface="Cambria Math" panose="02040503050406030204" pitchFamily="18" charset="0"/>
                                </a:rPr>
                                <m:t>+</m:t>
                              </m:r>
                              <m:r>
                                <a:rPr lang="en-US" i="1">
                                  <a:solidFill>
                                    <a:srgbClr val="FF0000"/>
                                  </a:solidFill>
                                  <a:latin typeface="Cambria Math" panose="02040503050406030204" pitchFamily="18" charset="0"/>
                                  <a:ea typeface="Cambria Math" panose="02040503050406030204" pitchFamily="18" charset="0"/>
                                </a:rPr>
                                <m:t>𝜇</m:t>
                              </m:r>
                              <m:r>
                                <a:rPr lang="en-US" i="1">
                                  <a:solidFill>
                                    <a:srgbClr val="FF0000"/>
                                  </a:solidFill>
                                  <a:latin typeface="Cambria Math" panose="02040503050406030204" pitchFamily="18" charset="0"/>
                                  <a:ea typeface="Cambria Math" panose="02040503050406030204" pitchFamily="18" charset="0"/>
                                </a:rPr>
                                <m:t>)</m:t>
                              </m:r>
                            </m:sup>
                          </m:sSup>
                        </m:den>
                      </m:f>
                    </m:oMath>
                  </m:oMathPara>
                </a14:m>
                <a:endParaRPr lang="en-CN" dirty="0"/>
              </a:p>
            </p:txBody>
          </p:sp>
        </mc:Choice>
        <mc:Fallback xmlns="">
          <p:sp>
            <p:nvSpPr>
              <p:cNvPr id="2" name="TextBox 1">
                <a:extLst>
                  <a:ext uri="{FF2B5EF4-FFF2-40B4-BE49-F238E27FC236}">
                    <a16:creationId xmlns:a16="http://schemas.microsoft.com/office/drawing/2014/main" id="{6E73CAB0-1CD4-6E41-A179-F9999F20B6B5}"/>
                  </a:ext>
                </a:extLst>
              </p:cNvPr>
              <p:cNvSpPr txBox="1">
                <a:spLocks noRot="1" noChangeAspect="1" noMove="1" noResize="1" noEditPoints="1" noAdjustHandles="1" noChangeArrowheads="1" noChangeShapeType="1" noTextEdit="1"/>
              </p:cNvSpPr>
              <p:nvPr/>
            </p:nvSpPr>
            <p:spPr>
              <a:xfrm>
                <a:off x="7398327" y="554182"/>
                <a:ext cx="4225637" cy="6034985"/>
              </a:xfrm>
              <a:prstGeom prst="rect">
                <a:avLst/>
              </a:prstGeom>
              <a:blipFill>
                <a:blip r:embed="rId3"/>
                <a:stretch>
                  <a:fillRect l="-1198" t="-420"/>
                </a:stretch>
              </a:blipFill>
            </p:spPr>
            <p:txBody>
              <a:bodyPr/>
              <a:lstStyle/>
              <a:p>
                <a:r>
                  <a:rPr lang="en-CN">
                    <a:noFill/>
                  </a:rPr>
                  <a:t> </a:t>
                </a:r>
              </a:p>
            </p:txBody>
          </p:sp>
        </mc:Fallback>
      </mc:AlternateContent>
      <p:sp>
        <p:nvSpPr>
          <p:cNvPr id="3" name="TextBox 2">
            <a:extLst>
              <a:ext uri="{FF2B5EF4-FFF2-40B4-BE49-F238E27FC236}">
                <a16:creationId xmlns:a16="http://schemas.microsoft.com/office/drawing/2014/main" id="{74D8E3A9-AB72-554B-AB45-EF143CCF3957}"/>
              </a:ext>
            </a:extLst>
          </p:cNvPr>
          <p:cNvSpPr txBox="1"/>
          <p:nvPr/>
        </p:nvSpPr>
        <p:spPr>
          <a:xfrm>
            <a:off x="471055" y="277091"/>
            <a:ext cx="5472545" cy="369332"/>
          </a:xfrm>
          <a:prstGeom prst="rect">
            <a:avLst/>
          </a:prstGeom>
          <a:noFill/>
        </p:spPr>
        <p:txBody>
          <a:bodyPr wrap="square" rtlCol="0">
            <a:spAutoFit/>
          </a:bodyPr>
          <a:lstStyle/>
          <a:p>
            <a:r>
              <a:rPr lang="zh-CN" altLang="en-US" dirty="0"/>
              <a:t>（</a:t>
            </a:r>
            <a:r>
              <a:rPr lang="en-US" altLang="zh-CN" dirty="0"/>
              <a:t>N</a:t>
            </a:r>
            <a:r>
              <a:rPr lang="zh-CN" altLang="en-US" dirty="0"/>
              <a:t>个</a:t>
            </a:r>
            <a:r>
              <a:rPr lang="en-US" altLang="zh-CN" dirty="0"/>
              <a:t>sites</a:t>
            </a:r>
            <a:r>
              <a:rPr lang="zh-CN" altLang="en-US" dirty="0"/>
              <a:t>，吸收</a:t>
            </a:r>
            <a:r>
              <a:rPr lang="en-US" altLang="zh-CN" dirty="0"/>
              <a:t>N1</a:t>
            </a:r>
            <a:r>
              <a:rPr lang="zh-CN" altLang="en-US" dirty="0"/>
              <a:t>个分子）</a:t>
            </a:r>
            <a:endParaRPr lang="en-CN" dirty="0"/>
          </a:p>
        </p:txBody>
      </p:sp>
    </p:spTree>
    <p:extLst>
      <p:ext uri="{BB962C8B-B14F-4D97-AF65-F5344CB8AC3E}">
        <p14:creationId xmlns:p14="http://schemas.microsoft.com/office/powerpoint/2010/main" val="36198318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2ECD0B4-24F3-4947-8634-93BA48D664C5}"/>
              </a:ext>
            </a:extLst>
          </p:cNvPr>
          <p:cNvPicPr>
            <a:picLocks noChangeAspect="1"/>
          </p:cNvPicPr>
          <p:nvPr/>
        </p:nvPicPr>
        <p:blipFill>
          <a:blip r:embed="rId2"/>
          <a:stretch>
            <a:fillRect/>
          </a:stretch>
        </p:blipFill>
        <p:spPr>
          <a:xfrm>
            <a:off x="831273" y="817113"/>
            <a:ext cx="6206439" cy="5763795"/>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E73CAB0-1CD4-6E41-A179-F9999F20B6B5}"/>
                  </a:ext>
                </a:extLst>
              </p:cNvPr>
              <p:cNvSpPr txBox="1"/>
              <p:nvPr/>
            </p:nvSpPr>
            <p:spPr>
              <a:xfrm>
                <a:off x="7398327" y="554182"/>
                <a:ext cx="4225637" cy="6034985"/>
              </a:xfrm>
              <a:prstGeom prst="rect">
                <a:avLst/>
              </a:prstGeom>
              <a:noFill/>
            </p:spPr>
            <p:txBody>
              <a:bodyPr wrap="square" rtlCol="0">
                <a:spAutoFit/>
              </a:bodyPr>
              <a:lstStyle/>
              <a:p>
                <a:r>
                  <a:rPr lang="en-CN" dirty="0"/>
                  <a:t>When N1 molecules are absorbed, the energy is equal to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0</m:t>
                        </m:r>
                      </m:sub>
                    </m:sSub>
                  </m:oMath>
                </a14:m>
                <a:r>
                  <a:rPr lang="en-CN" dirty="0"/>
                  <a:t>. The partition function</a:t>
                </a:r>
              </a:p>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𝑐</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r>
                            <a:rPr lang="en-US" b="0" i="1" smtClean="0">
                              <a:latin typeface="Cambria Math" panose="02040503050406030204" pitchFamily="18" charset="0"/>
                            </a:rPr>
                            <m:t>!</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𝛽</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e>
                            <m:sub>
                              <m:r>
                                <a:rPr lang="en-US" b="0" i="1" smtClean="0">
                                  <a:latin typeface="Cambria Math" panose="02040503050406030204" pitchFamily="18" charset="0"/>
                                  <a:ea typeface="Cambria Math" panose="02040503050406030204" pitchFamily="18" charset="0"/>
                                </a:rPr>
                                <m:t>1</m:t>
                              </m:r>
                            </m:sub>
                          </m:s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𝑁</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sup>
                      </m:sSup>
                    </m:oMath>
                  </m:oMathPara>
                </a14:m>
                <a:endParaRPr lang="en-CN" dirty="0"/>
              </a:p>
              <a:p>
                <a:r>
                  <a:rPr lang="en-CN" dirty="0"/>
                  <a:t>Suppose x=</a:t>
                </a:r>
                <a:r>
                  <a:rPr lang="en-US" dirty="0"/>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ea typeface="Cambria Math" panose="02040503050406030204" pitchFamily="18" charset="0"/>
                          </a:rPr>
                          <m:t>𝛽</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𝜀</m:t>
                            </m:r>
                          </m:e>
                          <m:sub>
                            <m:r>
                              <a:rPr lang="en-US" i="1">
                                <a:latin typeface="Cambria Math" panose="02040503050406030204" pitchFamily="18" charset="0"/>
                                <a:ea typeface="Cambria Math" panose="02040503050406030204" pitchFamily="18" charset="0"/>
                              </a:rPr>
                              <m:t>0</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𝜇</m:t>
                        </m:r>
                        <m:r>
                          <a:rPr lang="en-US" i="1">
                            <a:latin typeface="Cambria Math" panose="02040503050406030204" pitchFamily="18" charset="0"/>
                            <a:ea typeface="Cambria Math" panose="02040503050406030204" pitchFamily="18" charset="0"/>
                          </a:rPr>
                          <m:t>)</m:t>
                        </m:r>
                      </m:sup>
                    </m:sSup>
                  </m:oMath>
                </a14:m>
                <a:r>
                  <a:rPr lang="en-CN" dirty="0"/>
                  <a:t>.</a:t>
                </a:r>
              </a:p>
              <a:p>
                <a:r>
                  <a:rPr lang="en-CN" dirty="0"/>
                  <a:t>Total partion function</a:t>
                </a:r>
              </a:p>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𝐺</m:t>
                          </m:r>
                        </m:sub>
                      </m:sSub>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r>
                            <m:rPr>
                              <m:brk m:alnAt="23"/>
                            </m:rPr>
                            <a:rPr lang="en-US" b="0" i="1" smtClean="0">
                              <a:latin typeface="Cambria Math" panose="02040503050406030204" pitchFamily="18" charset="0"/>
                            </a:rPr>
                            <m:t>=</m:t>
                          </m:r>
                          <m:r>
                            <a:rPr lang="en-US" b="0" i="1" smtClean="0">
                              <a:latin typeface="Cambria Math" panose="02040503050406030204" pitchFamily="18" charset="0"/>
                            </a:rPr>
                            <m:t>0</m:t>
                          </m:r>
                        </m:sub>
                        <m:sup>
                          <m:r>
                            <a:rPr lang="en-US" b="0" i="1" smtClean="0">
                              <a:latin typeface="Cambria Math" panose="02040503050406030204" pitchFamily="18" charset="0"/>
                            </a:rPr>
                            <m:t>𝑁</m:t>
                          </m:r>
                        </m:sup>
                        <m:e>
                          <m:f>
                            <m:fPr>
                              <m:ctrlPr>
                                <a:rPr lang="en-US" i="1">
                                  <a:latin typeface="Cambria Math" panose="02040503050406030204" pitchFamily="18" charset="0"/>
                                </a:rPr>
                              </m:ctrlPr>
                            </m:fPr>
                            <m:num>
                              <m:r>
                                <a:rPr lang="en-US" i="1">
                                  <a:latin typeface="Cambria Math" panose="02040503050406030204" pitchFamily="18" charset="0"/>
                                </a:rPr>
                                <m:t>𝑁</m:t>
                              </m:r>
                              <m:r>
                                <a:rPr lang="en-US" i="1">
                                  <a:latin typeface="Cambria Math" panose="02040503050406030204" pitchFamily="18" charset="0"/>
                                </a:rPr>
                                <m:t>!</m:t>
                              </m:r>
                            </m:num>
                            <m:den>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1</m:t>
                                  </m:r>
                                </m:sub>
                              </m:sSub>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𝑁</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1</m:t>
                                      </m:r>
                                    </m:sub>
                                  </m:sSub>
                                </m:e>
                              </m:d>
                              <m:r>
                                <a:rPr lang="en-US" i="1">
                                  <a:latin typeface="Cambria Math" panose="02040503050406030204" pitchFamily="18" charset="0"/>
                                </a:rPr>
                                <m:t>!</m:t>
                              </m:r>
                            </m:den>
                          </m:f>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ea typeface="Cambria Math" panose="02040503050406030204" pitchFamily="18" charset="0"/>
                                </a:rPr>
                                <m:t>𝛽</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𝑁</m:t>
                                  </m:r>
                                </m:e>
                                <m:sub>
                                  <m:r>
                                    <a:rPr lang="en-US" i="1">
                                      <a:latin typeface="Cambria Math" panose="02040503050406030204" pitchFamily="18" charset="0"/>
                                      <a:ea typeface="Cambria Math" panose="02040503050406030204" pitchFamily="18" charset="0"/>
                                    </a:rPr>
                                    <m:t>1</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𝜀</m:t>
                                  </m:r>
                                </m:e>
                                <m:sub>
                                  <m:r>
                                    <a:rPr lang="en-US" i="1">
                                      <a:latin typeface="Cambria Math" panose="02040503050406030204" pitchFamily="18" charset="0"/>
                                      <a:ea typeface="Cambria Math" panose="02040503050406030204" pitchFamily="18" charset="0"/>
                                    </a:rPr>
                                    <m:t>0</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𝑁</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𝜇</m:t>
                              </m:r>
                              <m:r>
                                <a:rPr lang="en-US" i="1">
                                  <a:latin typeface="Cambria Math" panose="02040503050406030204" pitchFamily="18" charset="0"/>
                                  <a:ea typeface="Cambria Math" panose="02040503050406030204" pitchFamily="18" charset="0"/>
                                </a:rPr>
                                <m:t>)</m:t>
                              </m:r>
                            </m:sup>
                          </m:sSup>
                        </m:e>
                      </m:nary>
                    </m:oMath>
                  </m:oMathPara>
                </a14:m>
                <a:endParaRPr lang="en-CN"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sub>
                        <m:sup>
                          <m:r>
                            <a:rPr lang="en-US" b="0" i="1" smtClean="0">
                              <a:latin typeface="Cambria Math" panose="02040503050406030204" pitchFamily="18" charset="0"/>
                            </a:rPr>
                            <m:t>𝑁</m:t>
                          </m:r>
                        </m:sup>
                        <m:e>
                          <m:f>
                            <m:fPr>
                              <m:ctrlPr>
                                <a:rPr lang="en-US" i="1">
                                  <a:latin typeface="Cambria Math" panose="02040503050406030204" pitchFamily="18" charset="0"/>
                                </a:rPr>
                              </m:ctrlPr>
                            </m:fPr>
                            <m:num>
                              <m:r>
                                <a:rPr lang="en-US" i="1">
                                  <a:latin typeface="Cambria Math" panose="02040503050406030204" pitchFamily="18" charset="0"/>
                                </a:rPr>
                                <m:t>𝑁</m:t>
                              </m:r>
                              <m:r>
                                <a:rPr lang="en-US" i="1">
                                  <a:latin typeface="Cambria Math" panose="02040503050406030204" pitchFamily="18" charset="0"/>
                                </a:rPr>
                                <m:t>!</m:t>
                              </m:r>
                            </m:num>
                            <m:den>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1</m:t>
                                  </m:r>
                                </m:sub>
                              </m:sSub>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𝑁</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1</m:t>
                                      </m:r>
                                    </m:sub>
                                  </m:sSub>
                                </m:e>
                              </m:d>
                              <m:r>
                                <a:rPr lang="en-US" i="1">
                                  <a:latin typeface="Cambria Math" panose="02040503050406030204" pitchFamily="18" charset="0"/>
                                </a:rPr>
                                <m:t>!</m:t>
                              </m:r>
                            </m:den>
                          </m:f>
                          <m:sSup>
                            <m:sSupPr>
                              <m:ctrlPr>
                                <a:rPr lang="en-US" i="1" smtClean="0">
                                  <a:latin typeface="Cambria Math" panose="02040503050406030204" pitchFamily="18" charset="0"/>
                                </a:rPr>
                              </m:ctrlPr>
                            </m:sSupPr>
                            <m:e>
                              <m:d>
                                <m:dPr>
                                  <m:ctrlPr>
                                    <a:rPr lang="en-US" i="1" smtClean="0">
                                      <a:latin typeface="Cambria Math" panose="02040503050406030204" pitchFamily="18" charset="0"/>
                                    </a:rPr>
                                  </m:ctrlPr>
                                </m:dPr>
                                <m:e>
                                  <m:r>
                                    <a:rPr lang="en-US" i="1" smtClean="0">
                                      <a:latin typeface="Cambria Math" panose="02040503050406030204" pitchFamily="18" charset="0"/>
                                    </a:rPr>
                                    <m:t>𝑥</m:t>
                                  </m:r>
                                </m:e>
                              </m:d>
                            </m:e>
                            <m:sup>
                              <m:sSub>
                                <m:sSubPr>
                                  <m:ctrlPr>
                                    <a:rPr lang="en-US"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sup>
                          </m:sSup>
                        </m:e>
                      </m:nary>
                    </m:oMath>
                  </m:oMathPara>
                </a14:m>
                <a:endParaRPr lang="en-CN"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𝑥</m:t>
                              </m:r>
                            </m:e>
                          </m:d>
                        </m:e>
                        <m:sup>
                          <m:r>
                            <a:rPr lang="en-US" b="0" i="1" smtClean="0">
                              <a:latin typeface="Cambria Math" panose="02040503050406030204" pitchFamily="18" charset="0"/>
                            </a:rPr>
                            <m:t>𝑁</m:t>
                          </m:r>
                        </m:sup>
                      </m:sSup>
                    </m:oMath>
                  </m:oMathPara>
                </a14:m>
                <a:endParaRPr lang="en-CN" dirty="0"/>
              </a:p>
              <a:p>
                <a:endParaRPr lang="en-CN" dirty="0"/>
              </a:p>
              <a:p>
                <a:r>
                  <a:rPr lang="en-CN" dirty="0"/>
                  <a:t>The average number</a:t>
                </a:r>
              </a:p>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chr m:val="∑"/>
                              <m:ctrlPr>
                                <a:rPr lang="en-US" i="1">
                                  <a:latin typeface="Cambria Math" panose="02040503050406030204" pitchFamily="18" charset="0"/>
                                </a:rPr>
                              </m:ctrlPr>
                            </m:naryPr>
                            <m:sub>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1</m:t>
                                  </m:r>
                                </m:sub>
                              </m:sSub>
                            </m:sub>
                            <m:sup>
                              <m:r>
                                <a:rPr lang="en-US" i="1">
                                  <a:latin typeface="Cambria Math" panose="02040503050406030204" pitchFamily="18" charset="0"/>
                                </a:rPr>
                                <m:t>𝑁</m:t>
                              </m:r>
                            </m:sup>
                            <m:e>
                              <m:d>
                                <m:dPr>
                                  <m:ctrlPr>
                                    <a:rPr lang="en-US" i="1" smtClean="0">
                                      <a:solidFill>
                                        <a:srgbClr val="FF0000"/>
                                      </a:solidFill>
                                      <a:latin typeface="Cambria Math" panose="02040503050406030204" pitchFamily="18" charset="0"/>
                                    </a:rPr>
                                  </m:ctrlPr>
                                </m:dPr>
                                <m:e>
                                  <m:sSub>
                                    <m:sSubPr>
                                      <m:ctrlPr>
                                        <a:rPr lang="en-US"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𝑁</m:t>
                                      </m:r>
                                    </m:e>
                                    <m:sub>
                                      <m:r>
                                        <a:rPr lang="en-US" b="0" i="1" smtClean="0">
                                          <a:solidFill>
                                            <a:srgbClr val="FF0000"/>
                                          </a:solidFill>
                                          <a:latin typeface="Cambria Math" panose="02040503050406030204" pitchFamily="18" charset="0"/>
                                        </a:rPr>
                                        <m:t>1</m:t>
                                      </m:r>
                                    </m:sub>
                                  </m:sSub>
                                </m:e>
                              </m:d>
                              <m:f>
                                <m:fPr>
                                  <m:ctrlPr>
                                    <a:rPr lang="en-US" i="1">
                                      <a:latin typeface="Cambria Math" panose="02040503050406030204" pitchFamily="18" charset="0"/>
                                    </a:rPr>
                                  </m:ctrlPr>
                                </m:fPr>
                                <m:num>
                                  <m:r>
                                    <a:rPr lang="en-US" i="1">
                                      <a:latin typeface="Cambria Math" panose="02040503050406030204" pitchFamily="18" charset="0"/>
                                    </a:rPr>
                                    <m:t>𝑁</m:t>
                                  </m:r>
                                  <m:r>
                                    <a:rPr lang="en-US" i="1">
                                      <a:latin typeface="Cambria Math" panose="02040503050406030204" pitchFamily="18" charset="0"/>
                                    </a:rPr>
                                    <m:t>!</m:t>
                                  </m:r>
                                </m:num>
                                <m:den>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1</m:t>
                                      </m:r>
                                    </m:sub>
                                  </m:sSub>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𝑁</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1</m:t>
                                          </m:r>
                                        </m:sub>
                                      </m:sSub>
                                    </m:e>
                                  </m:d>
                                  <m:r>
                                    <a:rPr lang="en-US" i="1">
                                      <a:latin typeface="Cambria Math" panose="02040503050406030204" pitchFamily="18" charset="0"/>
                                    </a:rPr>
                                    <m:t>!</m:t>
                                  </m:r>
                                </m:den>
                              </m:f>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𝑥</m:t>
                                      </m:r>
                                    </m:e>
                                  </m:d>
                                </m:e>
                                <m:sup>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1</m:t>
                                      </m:r>
                                    </m:sub>
                                  </m:sSub>
                                </m:sup>
                              </m:sSup>
                            </m:e>
                          </m:nary>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𝐺</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rPr>
                            <m:t>𝑥</m:t>
                          </m:r>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den>
                          </m:f>
                          <m:sSub>
                            <m:sSubPr>
                              <m:ctrlPr>
                                <a:rPr lang="en-US" i="1">
                                  <a:latin typeface="Cambria Math" panose="02040503050406030204" pitchFamily="18" charset="0"/>
                                </a:rPr>
                              </m:ctrlPr>
                            </m:sSubPr>
                            <m:e>
                              <m:r>
                                <a:rPr lang="en-US" i="1">
                                  <a:latin typeface="Cambria Math" panose="02040503050406030204" pitchFamily="18" charset="0"/>
                                </a:rPr>
                                <m:t>𝑍</m:t>
                              </m:r>
                            </m:e>
                            <m:sub>
                              <m:r>
                                <a:rPr lang="en-US" i="1">
                                  <a:latin typeface="Cambria Math" panose="02040503050406030204" pitchFamily="18" charset="0"/>
                                </a:rPr>
                                <m:t>𝐺</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𝐺</m:t>
                              </m:r>
                            </m:sub>
                          </m:sSub>
                        </m:den>
                      </m:f>
                      <m:r>
                        <a:rPr lang="en-US" b="0" i="1" smtClean="0">
                          <a:latin typeface="Cambria Math" panose="02040503050406030204" pitchFamily="18" charset="0"/>
                        </a:rPr>
                        <m:t>=</m:t>
                      </m:r>
                      <m:r>
                        <a:rPr lang="en-US" b="0" i="1" smtClean="0">
                          <a:latin typeface="Cambria Math" panose="02040503050406030204" pitchFamily="18" charset="0"/>
                        </a:rPr>
                        <m:t>𝑁</m:t>
                      </m:r>
                      <m:f>
                        <m:fPr>
                          <m:ctrlPr>
                            <a:rPr lang="en-US" b="0" i="1" smtClean="0">
                              <a:solidFill>
                                <a:srgbClr val="FF0000"/>
                              </a:solidFill>
                              <a:latin typeface="Cambria Math" panose="02040503050406030204" pitchFamily="18" charset="0"/>
                            </a:rPr>
                          </m:ctrlPr>
                        </m:fPr>
                        <m:num>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𝑒</m:t>
                              </m:r>
                            </m:e>
                            <m:sup>
                              <m:r>
                                <a:rPr lang="en-US" i="1">
                                  <a:solidFill>
                                    <a:srgbClr val="FF0000"/>
                                  </a:solidFill>
                                  <a:latin typeface="Cambria Math" panose="02040503050406030204" pitchFamily="18" charset="0"/>
                                  <a:ea typeface="Cambria Math" panose="02040503050406030204" pitchFamily="18" charset="0"/>
                                </a:rPr>
                                <m:t>𝛽</m:t>
                              </m:r>
                              <m:r>
                                <a:rPr lang="en-US" i="1">
                                  <a:solidFill>
                                    <a:srgbClr val="FF0000"/>
                                  </a:solidFill>
                                  <a:latin typeface="Cambria Math" panose="02040503050406030204" pitchFamily="18" charset="0"/>
                                  <a:ea typeface="Cambria Math" panose="02040503050406030204" pitchFamily="18" charset="0"/>
                                </a:rPr>
                                <m:t>(</m:t>
                              </m:r>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𝜀</m:t>
                                  </m:r>
                                </m:e>
                                <m:sub>
                                  <m:r>
                                    <a:rPr lang="en-US" i="1">
                                      <a:solidFill>
                                        <a:srgbClr val="FF0000"/>
                                      </a:solidFill>
                                      <a:latin typeface="Cambria Math" panose="02040503050406030204" pitchFamily="18" charset="0"/>
                                      <a:ea typeface="Cambria Math" panose="02040503050406030204" pitchFamily="18" charset="0"/>
                                    </a:rPr>
                                    <m:t>0</m:t>
                                  </m:r>
                                </m:sub>
                              </m:sSub>
                              <m:r>
                                <a:rPr lang="en-US" i="1">
                                  <a:solidFill>
                                    <a:srgbClr val="FF0000"/>
                                  </a:solidFill>
                                  <a:latin typeface="Cambria Math" panose="02040503050406030204" pitchFamily="18" charset="0"/>
                                  <a:ea typeface="Cambria Math" panose="02040503050406030204" pitchFamily="18" charset="0"/>
                                </a:rPr>
                                <m:t>+</m:t>
                              </m:r>
                              <m:r>
                                <a:rPr lang="en-US" i="1">
                                  <a:solidFill>
                                    <a:srgbClr val="FF0000"/>
                                  </a:solidFill>
                                  <a:latin typeface="Cambria Math" panose="02040503050406030204" pitchFamily="18" charset="0"/>
                                  <a:ea typeface="Cambria Math" panose="02040503050406030204" pitchFamily="18" charset="0"/>
                                </a:rPr>
                                <m:t>𝜇</m:t>
                              </m:r>
                              <m:r>
                                <a:rPr lang="en-US" i="1">
                                  <a:solidFill>
                                    <a:srgbClr val="FF0000"/>
                                  </a:solidFill>
                                  <a:latin typeface="Cambria Math" panose="02040503050406030204" pitchFamily="18" charset="0"/>
                                  <a:ea typeface="Cambria Math" panose="02040503050406030204" pitchFamily="18" charset="0"/>
                                </a:rPr>
                                <m:t>)</m:t>
                              </m:r>
                            </m:sup>
                          </m:sSup>
                        </m:num>
                        <m:den>
                          <m:r>
                            <a:rPr lang="en-US" i="1">
                              <a:solidFill>
                                <a:srgbClr val="FF0000"/>
                              </a:solidFill>
                              <a:latin typeface="Cambria Math" panose="02040503050406030204" pitchFamily="18" charset="0"/>
                            </a:rPr>
                            <m:t>1+</m:t>
                          </m:r>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𝑒</m:t>
                              </m:r>
                            </m:e>
                            <m:sup>
                              <m:r>
                                <a:rPr lang="en-US" i="1">
                                  <a:solidFill>
                                    <a:srgbClr val="FF0000"/>
                                  </a:solidFill>
                                  <a:latin typeface="Cambria Math" panose="02040503050406030204" pitchFamily="18" charset="0"/>
                                  <a:ea typeface="Cambria Math" panose="02040503050406030204" pitchFamily="18" charset="0"/>
                                </a:rPr>
                                <m:t>𝛽</m:t>
                              </m:r>
                              <m:r>
                                <a:rPr lang="en-US" i="1">
                                  <a:solidFill>
                                    <a:srgbClr val="FF0000"/>
                                  </a:solidFill>
                                  <a:latin typeface="Cambria Math" panose="02040503050406030204" pitchFamily="18" charset="0"/>
                                  <a:ea typeface="Cambria Math" panose="02040503050406030204" pitchFamily="18" charset="0"/>
                                </a:rPr>
                                <m:t>(</m:t>
                              </m:r>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𝜀</m:t>
                                  </m:r>
                                </m:e>
                                <m:sub>
                                  <m:r>
                                    <a:rPr lang="en-US" i="1">
                                      <a:solidFill>
                                        <a:srgbClr val="FF0000"/>
                                      </a:solidFill>
                                      <a:latin typeface="Cambria Math" panose="02040503050406030204" pitchFamily="18" charset="0"/>
                                      <a:ea typeface="Cambria Math" panose="02040503050406030204" pitchFamily="18" charset="0"/>
                                    </a:rPr>
                                    <m:t>0</m:t>
                                  </m:r>
                                </m:sub>
                              </m:sSub>
                              <m:r>
                                <a:rPr lang="en-US" i="1">
                                  <a:solidFill>
                                    <a:srgbClr val="FF0000"/>
                                  </a:solidFill>
                                  <a:latin typeface="Cambria Math" panose="02040503050406030204" pitchFamily="18" charset="0"/>
                                  <a:ea typeface="Cambria Math" panose="02040503050406030204" pitchFamily="18" charset="0"/>
                                </a:rPr>
                                <m:t>+</m:t>
                              </m:r>
                              <m:r>
                                <a:rPr lang="en-US" i="1">
                                  <a:solidFill>
                                    <a:srgbClr val="FF0000"/>
                                  </a:solidFill>
                                  <a:latin typeface="Cambria Math" panose="02040503050406030204" pitchFamily="18" charset="0"/>
                                  <a:ea typeface="Cambria Math" panose="02040503050406030204" pitchFamily="18" charset="0"/>
                                </a:rPr>
                                <m:t>𝜇</m:t>
                              </m:r>
                              <m:r>
                                <a:rPr lang="en-US" i="1">
                                  <a:solidFill>
                                    <a:srgbClr val="FF0000"/>
                                  </a:solidFill>
                                  <a:latin typeface="Cambria Math" panose="02040503050406030204" pitchFamily="18" charset="0"/>
                                  <a:ea typeface="Cambria Math" panose="02040503050406030204" pitchFamily="18" charset="0"/>
                                </a:rPr>
                                <m:t>)</m:t>
                              </m:r>
                            </m:sup>
                          </m:sSup>
                        </m:den>
                      </m:f>
                    </m:oMath>
                  </m:oMathPara>
                </a14:m>
                <a:endParaRPr lang="en-CN" dirty="0"/>
              </a:p>
            </p:txBody>
          </p:sp>
        </mc:Choice>
        <mc:Fallback xmlns="">
          <p:sp>
            <p:nvSpPr>
              <p:cNvPr id="2" name="TextBox 1">
                <a:extLst>
                  <a:ext uri="{FF2B5EF4-FFF2-40B4-BE49-F238E27FC236}">
                    <a16:creationId xmlns:a16="http://schemas.microsoft.com/office/drawing/2014/main" id="{6E73CAB0-1CD4-6E41-A179-F9999F20B6B5}"/>
                  </a:ext>
                </a:extLst>
              </p:cNvPr>
              <p:cNvSpPr txBox="1">
                <a:spLocks noRot="1" noChangeAspect="1" noMove="1" noResize="1" noEditPoints="1" noAdjustHandles="1" noChangeArrowheads="1" noChangeShapeType="1" noTextEdit="1"/>
              </p:cNvSpPr>
              <p:nvPr/>
            </p:nvSpPr>
            <p:spPr>
              <a:xfrm>
                <a:off x="7398327" y="554182"/>
                <a:ext cx="4225637" cy="6034985"/>
              </a:xfrm>
              <a:prstGeom prst="rect">
                <a:avLst/>
              </a:prstGeom>
              <a:blipFill>
                <a:blip r:embed="rId3"/>
                <a:stretch>
                  <a:fillRect l="-1198" t="-420"/>
                </a:stretch>
              </a:blipFill>
            </p:spPr>
            <p:txBody>
              <a:bodyPr/>
              <a:lstStyle/>
              <a:p>
                <a:r>
                  <a:rPr lang="en-CN">
                    <a:noFill/>
                  </a:rPr>
                  <a:t> </a:t>
                </a:r>
              </a:p>
            </p:txBody>
          </p:sp>
        </mc:Fallback>
      </mc:AlternateContent>
      <p:sp>
        <p:nvSpPr>
          <p:cNvPr id="3" name="TextBox 2">
            <a:extLst>
              <a:ext uri="{FF2B5EF4-FFF2-40B4-BE49-F238E27FC236}">
                <a16:creationId xmlns:a16="http://schemas.microsoft.com/office/drawing/2014/main" id="{74D8E3A9-AB72-554B-AB45-EF143CCF3957}"/>
              </a:ext>
            </a:extLst>
          </p:cNvPr>
          <p:cNvSpPr txBox="1"/>
          <p:nvPr/>
        </p:nvSpPr>
        <p:spPr>
          <a:xfrm>
            <a:off x="471055" y="277091"/>
            <a:ext cx="5472545" cy="369332"/>
          </a:xfrm>
          <a:prstGeom prst="rect">
            <a:avLst/>
          </a:prstGeom>
          <a:noFill/>
        </p:spPr>
        <p:txBody>
          <a:bodyPr wrap="square" rtlCol="0">
            <a:spAutoFit/>
          </a:bodyPr>
          <a:lstStyle/>
          <a:p>
            <a:r>
              <a:rPr lang="en-CN" dirty="0"/>
              <a:t>从此处说起</a:t>
            </a:r>
            <a:r>
              <a:rPr lang="zh-CN" altLang="en-US" dirty="0"/>
              <a:t>（</a:t>
            </a:r>
            <a:r>
              <a:rPr lang="en-US" altLang="zh-CN" dirty="0"/>
              <a:t>N</a:t>
            </a:r>
            <a:r>
              <a:rPr lang="zh-CN" altLang="en-US" dirty="0"/>
              <a:t>个</a:t>
            </a:r>
            <a:r>
              <a:rPr lang="en-US" altLang="zh-CN" dirty="0"/>
              <a:t>sites</a:t>
            </a:r>
            <a:r>
              <a:rPr lang="zh-CN" altLang="en-US" dirty="0"/>
              <a:t>，吸收</a:t>
            </a:r>
            <a:r>
              <a:rPr lang="en-US" altLang="zh-CN" dirty="0"/>
              <a:t>N1</a:t>
            </a:r>
            <a:r>
              <a:rPr lang="zh-CN" altLang="en-US" dirty="0"/>
              <a:t>个分子）</a:t>
            </a:r>
            <a:endParaRPr lang="en-CN" dirty="0"/>
          </a:p>
        </p:txBody>
      </p:sp>
    </p:spTree>
    <p:extLst>
      <p:ext uri="{BB962C8B-B14F-4D97-AF65-F5344CB8AC3E}">
        <p14:creationId xmlns:p14="http://schemas.microsoft.com/office/powerpoint/2010/main" val="7763670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32607</TotalTime>
  <Words>3629</Words>
  <Application>Microsoft Macintosh PowerPoint</Application>
  <PresentationFormat>Widescreen</PresentationFormat>
  <Paragraphs>655</Paragraphs>
  <Slides>62</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62</vt:i4>
      </vt:variant>
    </vt:vector>
  </HeadingPairs>
  <TitlesOfParts>
    <vt:vector size="70" baseType="lpstr">
      <vt:lpstr>CMBX12</vt:lpstr>
      <vt:lpstr>CMR10</vt:lpstr>
      <vt:lpstr>FangSong</vt: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442</cp:revision>
  <dcterms:created xsi:type="dcterms:W3CDTF">2022-02-02T22:31:46Z</dcterms:created>
  <dcterms:modified xsi:type="dcterms:W3CDTF">2023-03-22T03:48:10Z</dcterms:modified>
</cp:coreProperties>
</file>