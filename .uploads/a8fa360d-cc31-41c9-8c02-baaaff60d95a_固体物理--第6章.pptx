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2" r:id="rId4"/>
    <p:sldId id="268" r:id="rId5"/>
    <p:sldId id="263" r:id="rId6"/>
    <p:sldId id="269" r:id="rId7"/>
    <p:sldId id="264" r:id="rId8"/>
    <p:sldId id="265" r:id="rId9"/>
    <p:sldId id="270" r:id="rId10"/>
    <p:sldId id="266" r:id="rId11"/>
    <p:sldId id="271" r:id="rId12"/>
    <p:sldId id="272" r:id="rId13"/>
    <p:sldId id="273" r:id="rId14"/>
    <p:sldId id="274" r:id="rId15"/>
    <p:sldId id="275" r:id="rId16"/>
    <p:sldId id="26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92" autoAdjust="0"/>
    <p:restoredTop sz="94660"/>
  </p:normalViewPr>
  <p:slideViewPr>
    <p:cSldViewPr snapToGrid="0">
      <p:cViewPr varScale="1">
        <p:scale>
          <a:sx n="70" d="100"/>
          <a:sy n="70" d="100"/>
        </p:scale>
        <p:origin x="85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97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907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8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961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656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72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91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9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06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4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69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DBDA0-EBD8-4E1A-90D6-6101AEB839CC}" type="datetimeFigureOut">
              <a:rPr lang="zh-CN" altLang="en-US" smtClean="0"/>
              <a:t>2024/5/24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4CBC7-F7D9-4068-B988-CC094E96F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7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1.emf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.emf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5.emf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521.png"/><Relationship Id="rId5" Type="http://schemas.openxmlformats.org/officeDocument/2006/relationships/image" Target="../media/image6.tif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6.tiff"/><Relationship Id="rId5" Type="http://schemas.openxmlformats.org/officeDocument/2006/relationships/image" Target="../media/image7.tif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896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第六章 金属电子论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1184744" y="1158240"/>
            <a:ext cx="108749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金属：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应用历史悠久，在电力电子、机械、建筑、化工等领域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        </a:t>
            </a:r>
            <a:r>
              <a:rPr lang="zh-CN" altLang="en-US" sz="2400" dirty="0" smtClean="0"/>
              <a:t>广泛应用</a:t>
            </a:r>
            <a:endParaRPr lang="en-US" altLang="zh-CN" sz="2400" dirty="0" smtClean="0"/>
          </a:p>
          <a:p>
            <a:r>
              <a:rPr lang="zh-CN" altLang="en-US" sz="2400" dirty="0" smtClean="0"/>
              <a:t>性质：</a:t>
            </a:r>
            <a:r>
              <a:rPr lang="en-US" altLang="zh-CN" sz="2400" dirty="0" smtClean="0"/>
              <a:t>	</a:t>
            </a:r>
            <a:r>
              <a:rPr lang="zh-CN" altLang="en-US" sz="2400" dirty="0" smtClean="0"/>
              <a:t>强度高、导电、导热</a:t>
            </a:r>
            <a:endParaRPr lang="en-US" altLang="zh-CN" sz="2400" dirty="0" smtClean="0"/>
          </a:p>
          <a:p>
            <a:r>
              <a:rPr lang="zh-CN" altLang="en-US" sz="2400" dirty="0" smtClean="0"/>
              <a:t>电子：</a:t>
            </a:r>
            <a:r>
              <a:rPr lang="en-US" altLang="zh-CN" sz="2400" dirty="0" smtClean="0"/>
              <a:t>	1897</a:t>
            </a:r>
            <a:r>
              <a:rPr lang="zh-CN" altLang="en-US" sz="2400" dirty="0" smtClean="0"/>
              <a:t>年汤姆森（</a:t>
            </a:r>
            <a:r>
              <a:rPr lang="en-US" altLang="zh-CN" sz="2400" dirty="0" smtClean="0"/>
              <a:t>J. J. Thomson</a:t>
            </a:r>
            <a:r>
              <a:rPr lang="zh-CN" altLang="en-US" sz="2400" dirty="0" smtClean="0"/>
              <a:t>）发现电子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20</a:t>
            </a:r>
            <a:r>
              <a:rPr lang="zh-CN" altLang="en-US" sz="2400" dirty="0" smtClean="0"/>
              <a:t>世纪初，德鲁德（</a:t>
            </a:r>
            <a:r>
              <a:rPr lang="en-US" altLang="zh-CN" sz="2400" dirty="0" smtClean="0"/>
              <a:t>P. </a:t>
            </a:r>
            <a:r>
              <a:rPr lang="en-US" altLang="zh-CN" sz="2400" dirty="0" err="1" smtClean="0"/>
              <a:t>Drude</a:t>
            </a:r>
            <a:r>
              <a:rPr lang="zh-CN" altLang="en-US" sz="2400" dirty="0" smtClean="0"/>
              <a:t>）和洛伦茨提出自由电子理想气体模型，解释了电导、热导</a:t>
            </a:r>
            <a:endParaRPr lang="en-US" altLang="zh-CN" sz="2400" dirty="0" smtClean="0"/>
          </a:p>
          <a:p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zh-CN" altLang="en-US" sz="2400" dirty="0" smtClean="0"/>
              <a:t>索末菲（</a:t>
            </a:r>
            <a:r>
              <a:rPr lang="en-US" altLang="zh-CN" sz="2400" dirty="0" smtClean="0"/>
              <a:t>A. </a:t>
            </a:r>
            <a:r>
              <a:rPr lang="en-US" altLang="zh-CN" sz="2400" dirty="0" err="1" smtClean="0"/>
              <a:t>Summerfeld</a:t>
            </a:r>
            <a:r>
              <a:rPr lang="zh-CN" altLang="en-US" sz="2400" dirty="0" smtClean="0"/>
              <a:t>）引入量子概念，成功解释了比热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883770" y="4701572"/>
                <a:ext cx="55101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金属自由电子气的量子理论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770" y="4701572"/>
                <a:ext cx="5510154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774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1017324" y="5441708"/>
            <a:ext cx="11932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自由：即电子间无相互作用，各自独立运动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6985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第六章 金属电子论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401170" y="1211009"/>
                <a:ext cx="479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金属自由电子气的量子理论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170" y="1211009"/>
                <a:ext cx="4790219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91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76745" y="1780210"/>
                <a:ext cx="10168834" cy="49455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6.1.1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自由电子能级和能态密度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假定电子在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的立方体中运动，电子的薛定谔方程：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ħ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𝒓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𝒓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𝑽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𝒆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𝒊𝒌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∙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为波矢，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               	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且 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ħ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,   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𝒗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ħ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/m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ħ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ħ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𝑚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𝑧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引入周期性边界条件（波恩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卡门边界条件）：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𝐿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    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为整数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𝐿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𝑧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得到：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为整数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𝑧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𝐿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=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𝑦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  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,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为整数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5" y="1780210"/>
                <a:ext cx="10168834" cy="4945521"/>
              </a:xfrm>
              <a:prstGeom prst="rect">
                <a:avLst/>
              </a:prstGeom>
              <a:blipFill rotWithShape="0">
                <a:blip r:embed="rId3"/>
                <a:stretch>
                  <a:fillRect l="-1199" t="-1356" b="-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67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第六章 金属电子论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金属自由电子气的量子理论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91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907333" y="1533719"/>
                <a:ext cx="7244492" cy="5687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6.1.1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自由电子能级和能态密度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800" dirty="0" smtClean="0">
                    <a:solidFill>
                      <a:schemeClr val="tx1"/>
                    </a:solidFill>
                  </a:rPr>
                  <a:t>*注意* </a:t>
                </a:r>
                <a:r>
                  <a:rPr lang="en-US" altLang="zh-CN" sz="2800" b="1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</m:oMath>
                </a14:m>
                <a:r>
                  <a:rPr lang="zh-CN" altLang="en-US" sz="2800" i="1" dirty="0" smtClean="0">
                    <a:solidFill>
                      <a:schemeClr val="tx1"/>
                    </a:solidFill>
                  </a:rPr>
                  <a:t>是分立的</a:t>
                </a:r>
                <a:r>
                  <a:rPr lang="zh-CN" altLang="en-US" sz="2800" i="1" dirty="0">
                    <a:solidFill>
                      <a:schemeClr val="tx1"/>
                    </a:solidFill>
                  </a:rPr>
                  <a:t>；</a:t>
                </a:r>
                <a:r>
                  <a:rPr lang="zh-CN" altLang="en-US" sz="2800" i="1" dirty="0" smtClean="0">
                    <a:solidFill>
                      <a:schemeClr val="tx1"/>
                    </a:solidFill>
                  </a:rPr>
                  <a:t>与第三章中的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800" i="1" dirty="0" smtClean="0">
                    <a:solidFill>
                      <a:schemeClr val="tx1"/>
                    </a:solidFill>
                  </a:rPr>
                  <a:t>是一致的，是倒空间中的矢量</a:t>
                </a:r>
                <a:endParaRPr lang="en-US" altLang="zh-CN" sz="2800" i="1" dirty="0" smtClean="0">
                  <a:solidFill>
                    <a:schemeClr val="tx1"/>
                  </a:solidFill>
                </a:endParaRPr>
              </a:p>
              <a:p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</m:oMath>
                </a14:m>
                <a:r>
                  <a:rPr lang="zh-CN" altLang="en-US" sz="2800" dirty="0" smtClean="0">
                    <a:solidFill>
                      <a:schemeClr val="tx1"/>
                    </a:solidFill>
                  </a:rPr>
                  <a:t>中电子态的数目：</a:t>
                </a:r>
                <a:r>
                  <a:rPr lang="en-US" altLang="zh-CN" sz="2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endParaRPr lang="en-US" altLang="zh-CN" sz="2800" dirty="0" smtClean="0">
                  <a:solidFill>
                    <a:schemeClr val="tx1"/>
                  </a:solidFill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dZ</m:t>
                    </m:r>
                    <m:r>
                      <a:rPr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</m:t>
                    </m:r>
                    <m:r>
                      <a:rPr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∙</m:t>
                    </m:r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/(</m:t>
                    </m:r>
                    <m:sSup>
                      <m:sSup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zh-CN" alt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𝝅</m:t>
                            </m:r>
                          </m:num>
                          <m:den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𝑳</m:t>
                            </m:r>
                          </m:den>
                        </m:f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sup>
                    </m:sSup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𝑉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zh-CN" alt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</m:oMath>
                </a14:m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sz="2800" dirty="0" smtClean="0">
                    <a:solidFill>
                      <a:schemeClr val="tx1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</m:oMath>
                </a14:m>
                <a:r>
                  <a:rPr lang="zh-CN" altLang="en-US" sz="2800" dirty="0" smtClean="0">
                    <a:solidFill>
                      <a:schemeClr val="tx1"/>
                    </a:solidFill>
                  </a:rPr>
                  <a:t>空间的函数，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𝒌</m:t>
                        </m:r>
                      </m:e>
                    </m:d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ħ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altLang="en-US" sz="2800" dirty="0" smtClean="0">
                    <a:solidFill>
                      <a:schemeClr val="tx1"/>
                    </a:solidFill>
                  </a:rPr>
                  <a:t>，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800" dirty="0" smtClean="0">
                    <a:solidFill>
                      <a:schemeClr val="tx1"/>
                    </a:solidFill>
                  </a:rPr>
                  <a:t>所以等能面是球面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𝑑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𝑘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𝑚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ħ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∙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𝑑𝐸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𝐸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33" y="1533719"/>
                <a:ext cx="7244492" cy="5687006"/>
              </a:xfrm>
              <a:prstGeom prst="rect">
                <a:avLst/>
              </a:prstGeom>
              <a:blipFill rotWithShape="0">
                <a:blip r:embed="rId3"/>
                <a:stretch>
                  <a:fillRect l="-1768" t="-1286" r="-6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7504" y="2392051"/>
            <a:ext cx="3301340" cy="3047462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9461782" y="3192169"/>
            <a:ext cx="1440000" cy="1440000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9265388" y="3005205"/>
            <a:ext cx="1800000" cy="1800000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8992322" y="4164360"/>
            <a:ext cx="517166" cy="2450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8899527" y="4376222"/>
            <a:ext cx="517166" cy="2450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 flipH="1">
                <a:off x="8752675" y="4140507"/>
                <a:ext cx="29308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752675" y="4140507"/>
                <a:ext cx="293089" cy="369332"/>
              </a:xfrm>
              <a:prstGeom prst="rect">
                <a:avLst/>
              </a:prstGeom>
              <a:blipFill rotWithShape="0">
                <a:blip r:embed="rId5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 flipH="1">
                <a:off x="8516523" y="4500630"/>
                <a:ext cx="90017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𝑑𝐸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516523" y="4500630"/>
                <a:ext cx="90017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42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第六章 金属电子论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金属自由电子气的量子理论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91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907333" y="1533720"/>
                <a:ext cx="10677717" cy="5371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6.1.1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自由电子能级和能态密度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计算：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E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𝑑𝐸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间状态数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空间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的体积：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4</m:t>
                    </m:r>
                    <m:r>
                      <a:rPr lang="zh-CN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𝑑𝑘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=4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e>
                        </m:rad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𝑑𝐸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𝐸</m:t>
                            </m:r>
                          </m:e>
                        </m:rad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则：</a:t>
                </a:r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dZ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𝑉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𝑑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𝑉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4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4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𝜋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e>
                        </m:rad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∙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𝑑𝐸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𝐸</m:t>
                            </m:r>
                          </m:e>
                        </m:rad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</m:oMath>
                </a14:m>
                <a:endParaRPr lang="en-US" altLang="zh-CN" sz="240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Symbol" panose="05050102010706020507" pitchFamily="18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𝑉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sym typeface="Symbol" panose="05050102010706020507" pitchFamily="18" charset="2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sym typeface="Symbol" panose="05050102010706020507" pitchFamily="18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𝑚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sym typeface="Symbol" panose="05050102010706020507" pitchFamily="18" charset="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ħ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3</m:t>
                          </m:r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/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2</m:t>
                          </m:r>
                        </m:sup>
                      </m:sSup>
                      <m:rad>
                        <m:radPr>
                          <m:degHide m:val="on"/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𝐸</m:t>
                          </m:r>
                        </m:e>
                      </m:ra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𝑑𝐸</m:t>
                      </m:r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则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g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E</m:t>
                        </m:r>
                      </m:e>
                    </m:d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𝑉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ħ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3/2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</m:rad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6.1.2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电子气的基态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电子是费米子，服从费米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狄拉克统计分布：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)/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为待定化学势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。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可由：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∙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∙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𝑑𝐸</m:t>
                        </m:r>
                      </m:e>
                    </m:nary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确定。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33" y="1533720"/>
                <a:ext cx="10677717" cy="5371022"/>
              </a:xfrm>
              <a:prstGeom prst="rect">
                <a:avLst/>
              </a:prstGeom>
              <a:blipFill rotWithShape="0">
                <a:blip r:embed="rId3"/>
                <a:stretch>
                  <a:fillRect l="-1199" t="-1362" b="-9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237" y="2026313"/>
            <a:ext cx="3301340" cy="3047462"/>
          </a:xfrm>
          <a:prstGeom prst="rect">
            <a:avLst/>
          </a:prstGeom>
        </p:spPr>
      </p:pic>
      <p:sp>
        <p:nvSpPr>
          <p:cNvPr id="3" name="椭圆 2"/>
          <p:cNvSpPr/>
          <p:nvPr/>
        </p:nvSpPr>
        <p:spPr>
          <a:xfrm>
            <a:off x="8825702" y="2842325"/>
            <a:ext cx="1440000" cy="1440000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629308" y="2655361"/>
            <a:ext cx="1800000" cy="1800000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8308536" y="3798614"/>
            <a:ext cx="517166" cy="2450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8281826" y="4092419"/>
            <a:ext cx="517166" cy="2450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 flipH="1">
                <a:off x="8037085" y="3798614"/>
                <a:ext cx="29308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037085" y="3798614"/>
                <a:ext cx="293089" cy="369332"/>
              </a:xfrm>
              <a:prstGeom prst="rect">
                <a:avLst/>
              </a:prstGeom>
              <a:blipFill rotWithShape="0">
                <a:blip r:embed="rId5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 flipH="1">
                <a:off x="7840688" y="4262100"/>
                <a:ext cx="90017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𝑑𝐸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0688" y="4262100"/>
                <a:ext cx="90017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5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第六章 金属电子论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金属自由电子气的量子理论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91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763325" y="1545532"/>
                <a:ext cx="7712323" cy="5340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6.1.2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电子气的基态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特例：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      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当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(0)</m:t>
                            </m:r>
                          </m:e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当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(0)</m:t>
                            </m:r>
                          </m:e>
                        </m:eqAr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即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费米能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此时，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𝑑𝐸</m:t>
                        </m:r>
                      </m:e>
                    </m:nary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𝑑𝐸</m:t>
                        </m:r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得到：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ħ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𝐹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ħ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(3</m:t>
                        </m:r>
                        <m:sSup>
                          <m:sSup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𝐹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称为费米波矢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说明：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一般，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约几个电子伏特，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𝐹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约为原子间距倒数量级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在波矢空间，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的等能面称为费米面。金属自由电子气的费米面为球面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电子平均能量：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acc>
                      <m:accPr>
                        <m:chr m:val="̅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𝑑𝐸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5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𝑁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, 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即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25" y="1545532"/>
                <a:ext cx="7712323" cy="5340116"/>
              </a:xfrm>
              <a:prstGeom prst="rect">
                <a:avLst/>
              </a:prstGeom>
              <a:blipFill rotWithShape="0">
                <a:blip r:embed="rId3"/>
                <a:stretch>
                  <a:fillRect l="-1581" t="-13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457" y="2035942"/>
            <a:ext cx="3321225" cy="37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1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第六章 金属电子论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金属自由电子气的量子理论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91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21419" y="1545532"/>
                <a:ext cx="11577099" cy="2455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6.1.3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化学势</a:t>
                </a:r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-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温度关系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可设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~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关系如图：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确定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𝑑𝐸</m:t>
                        </m:r>
                      </m:e>
                    </m:nary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  利用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是分布在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附近的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函数，当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den>
                    </m:f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时，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可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得：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[1−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19" y="1545532"/>
                <a:ext cx="11577099" cy="2455480"/>
              </a:xfrm>
              <a:prstGeom prst="rect">
                <a:avLst/>
              </a:prstGeom>
              <a:blipFill rotWithShape="0">
                <a:blip r:embed="rId3"/>
                <a:stretch>
                  <a:fillRect l="-1053" t="-2985" r="-316" b="-2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86" y="4231161"/>
            <a:ext cx="4848225" cy="247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8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/>
              <a:t>第六章 金属电子论</a:t>
            </a:r>
            <a:endParaRPr lang="zh-CN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6.1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金属自由电子气的量子理论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61" y="996324"/>
                <a:ext cx="4790219" cy="461665"/>
              </a:xfrm>
              <a:prstGeom prst="rect">
                <a:avLst/>
              </a:prstGeom>
              <a:blipFill rotWithShape="0">
                <a:blip r:embed="rId2"/>
                <a:stretch>
                  <a:fillRect l="-891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61176" y="1543147"/>
                <a:ext cx="10847798" cy="5335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6.1.4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电子气的比热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r>
                      <a:rPr lang="zh-CN" altLang="en-US" sz="2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时，电子气总能量：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g</m:t>
                        </m:r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E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𝐸𝑑𝐸</m:t>
                        </m:r>
                      </m:e>
                    </m:nary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近似求解，得到：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5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𝑁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（</m:t>
                                </m:r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）</m:t>
                            </m:r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容易得到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f>
                      <m:f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den>
                    </m:f>
                    <m: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b="1" dirty="0" smtClean="0">
                    <a:solidFill>
                      <a:schemeClr val="tx1"/>
                    </a:solidFill>
                  </a:rPr>
                  <a:t>说明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：*经典理论下的自由电子气，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*量子理论，相当于只有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的电子对比热有贡献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*金属总比热：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*实验上，考察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分别得到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*实验与理论的误差说明，该模型还是过于简单了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76" y="1543147"/>
                <a:ext cx="10847798" cy="5335307"/>
              </a:xfrm>
              <a:prstGeom prst="rect">
                <a:avLst/>
              </a:prstGeom>
              <a:blipFill rotWithShape="0">
                <a:blip r:embed="rId3"/>
                <a:stretch>
                  <a:fillRect l="-1180" t="-12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l="9734" r="26967" b="7893"/>
          <a:stretch/>
        </p:blipFill>
        <p:spPr>
          <a:xfrm>
            <a:off x="8095129" y="3461281"/>
            <a:ext cx="5799267" cy="350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8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506396" y="461852"/>
                <a:ext cx="47902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6.2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金属的电导过程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96" y="461852"/>
                <a:ext cx="4790219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38540" y="1450037"/>
                <a:ext cx="11953459" cy="4658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电子电导图像：无电场时，电子自由运动，平均速度为零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有电场，电子定向运动，速度逐渐增大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阻尼力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: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由各种散射引起，也逐渐增大，直至与电场力的作用平衡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 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此时，电流稳定，并由欧姆定律决定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</a:t>
                </a:r>
                <a:r>
                  <a:rPr lang="zh-CN" altLang="en-US" sz="2400" i="1" dirty="0" smtClean="0">
                    <a:solidFill>
                      <a:schemeClr val="tx1"/>
                    </a:solidFill>
                  </a:rPr>
                  <a:t>动态平衡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电子受到的散射：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晶格振动，杂质，缺陷等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16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6.2.1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玻尔兹曼方程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分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布函数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电子的运动：漂移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+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碰撞（瞬时过程）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漂移时，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考虑散射项：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40" y="1450037"/>
                <a:ext cx="11953459" cy="4658070"/>
              </a:xfrm>
              <a:prstGeom prst="rect">
                <a:avLst/>
              </a:prstGeom>
              <a:blipFill rotWithShape="0">
                <a:blip r:embed="rId3"/>
                <a:stretch>
                  <a:fillRect l="-1020" t="-916" b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06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928437" y="450490"/>
                <a:ext cx="47902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6.2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金属的电导过程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437" y="450490"/>
                <a:ext cx="4790219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38541" y="1251021"/>
                <a:ext cx="11712270" cy="4367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6.2.1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玻尔兹曼方程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考虑散射项：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{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-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-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𝒌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}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得到：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+</m:t>
                    </m:r>
                    <m:r>
                      <a:rPr lang="en-US" altLang="zh-CN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acc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    稳态时，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=0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，则有：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acc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如果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恒定</m:t>
                              </m:r>
                              <m:r>
                                <a:rPr lang="zh-CN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den>
                              </m:f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</m:t>
                              </m:r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有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和</m:t>
                              </m:r>
                              <m:r>
                                <a:rPr lang="en-US" altLang="zh-CN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  <m:r>
                                <a:rPr lang="zh-CN" alt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acc>
                                <m:accPr>
                                  <m:chr m:val="̇"/>
                                  <m:ctrlP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</m:acc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solidFill>
                                    <a:schemeClr val="tx1"/>
                                  </a:solidFill>
                                </a:rPr>
                                <m:t> =</m:t>
                              </m:r>
                              <m:r>
                                <a:rPr lang="en-US" altLang="zh-CN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i="1" dirty="0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ħ</m:t>
                                  </m:r>
                                </m:den>
                              </m:f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altLang="zh-CN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</m:t>
                                  </m:r>
                                  <m:r>
                                    <a:rPr lang="en-US" altLang="zh-CN" sz="24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𝑩</m:t>
                                  </m:r>
                                </m:e>
                              </m:d>
                              <m:r>
                                <a:rPr lang="en-US" altLang="zh-CN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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den>
                              </m:f>
                              <m:r>
                                <a:rPr lang="en-US" altLang="zh-CN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</m:e>
                            <m:e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弛豫时间</m:t>
                              </m:r>
                              <m:r>
                                <a:rPr lang="zh-CN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近似</m:t>
                              </m:r>
                              <m:r>
                                <a:rPr lang="zh-CN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lang="zh-CN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（</m:t>
                              </m:r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）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</m:t>
                                  </m:r>
                                </m:den>
                              </m:f>
                            </m:e>
                          </m:eqAr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41" y="1251021"/>
                <a:ext cx="11712270" cy="4367478"/>
              </a:xfrm>
              <a:prstGeom prst="rect">
                <a:avLst/>
              </a:prstGeom>
              <a:blipFill rotWithShape="0">
                <a:blip r:embed="rId3"/>
                <a:stretch>
                  <a:fillRect l="-1041" t="-1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 flipH="1">
                <a:off x="1439137" y="5834256"/>
                <a:ext cx="8309112" cy="1004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则得到玻尔兹曼方程：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</m:t>
                        </m:r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𝑩</m:t>
                        </m:r>
                      </m:e>
                    </m:d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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              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          （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漂移项</a:t>
                </a:r>
                <a:r>
                  <a:rPr lang="zh-CN" altLang="en-US" sz="1600" dirty="0"/>
                  <a:t> </a:t>
                </a:r>
                <a:r>
                  <a:rPr lang="zh-CN" altLang="en-US" sz="1600" dirty="0" smtClean="0"/>
                  <a:t>  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   </a:t>
                </a:r>
                <a:r>
                  <a:rPr lang="en-US" altLang="zh-CN" sz="160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1600" dirty="0" smtClean="0">
                    <a:solidFill>
                      <a:schemeClr val="tx1"/>
                    </a:solidFill>
                  </a:rPr>
                  <a:t>             散射项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439137" y="5834256"/>
                <a:ext cx="8309112" cy="1004699"/>
              </a:xfrm>
              <a:prstGeom prst="rect">
                <a:avLst/>
              </a:prstGeom>
              <a:blipFill rotWithShape="0">
                <a:blip r:embed="rId4"/>
                <a:stretch>
                  <a:fillRect l="-1101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4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955331" y="401776"/>
                <a:ext cx="47902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6.2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金属的电导过程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31" y="401776"/>
                <a:ext cx="4790219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55793" y="1214242"/>
                <a:ext cx="10809674" cy="5414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6.2.2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金属电导率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只存在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时，玻尔兹曼方程变为：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近似计算：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schemeClr val="tx1"/>
                        </a:solidFill>
                      </a:rPr>
                      <m:t>）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chemeClr val="tx1"/>
                        </a:solidFill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schemeClr val="tx1"/>
                        </a:solidFill>
                      </a:rPr>
                      <m:t>）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schemeClr val="tx1"/>
                        </a:solidFill>
                      </a:rPr>
                      <m:t>）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电流密度：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𝑓𝑑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f>
                          <m:f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𝐸</m:t>
                            </m:r>
                          </m:den>
                        </m:f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𝒗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ħ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所以，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f>
                          <m:f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𝐸</m:t>
                            </m:r>
                          </m:den>
                        </m:f>
                        <m:r>
                          <a:rPr lang="zh-CN" alt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（</m:t>
                        </m:r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𝒗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nary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考虑：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≈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zh-CN" alt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𝛿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≈−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𝛿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所以，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f>
                          <m:f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𝐸</m:t>
                            </m:r>
                          </m:den>
                        </m:f>
                      </m:e>
                    </m:nary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（</m:t>
                    </m:r>
                    <m:r>
                      <a:rPr lang="en-US" altLang="zh-CN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𝒗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）</m:t>
                    </m:r>
                    <m:f>
                      <m:f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=</a:t>
                </a: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zh-CN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（</m:t>
                        </m:r>
                        <m:r>
                          <a:rPr lang="en-US" altLang="zh-CN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𝒗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zh-CN" alt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</m:nary>
                    <m:f>
                      <m:f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93" y="1214242"/>
                <a:ext cx="10809674" cy="5414111"/>
              </a:xfrm>
              <a:prstGeom prst="rect">
                <a:avLst/>
              </a:prstGeom>
              <a:blipFill rotWithShape="0">
                <a:blip r:embed="rId3"/>
                <a:stretch>
                  <a:fillRect l="-1184" t="-1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293" y="3933046"/>
            <a:ext cx="4798865" cy="2775258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9712872" y="1450037"/>
            <a:ext cx="1152000" cy="115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9997726" y="2016610"/>
            <a:ext cx="300574" cy="53735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9555210" y="2452480"/>
                <a:ext cx="5093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210" y="2452480"/>
                <a:ext cx="50937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0130241" y="1000754"/>
                <a:ext cx="4451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0241" y="1000754"/>
                <a:ext cx="445122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1631158" y="4384688"/>
                <a:ext cx="31022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𝐸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158" y="4384688"/>
                <a:ext cx="310226" cy="369332"/>
              </a:xfrm>
              <a:prstGeom prst="rect">
                <a:avLst/>
              </a:prstGeom>
              <a:blipFill rotWithShape="0">
                <a:blip r:embed="rId7"/>
                <a:stretch>
                  <a:fillRect r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任意多边形 1"/>
          <p:cNvSpPr/>
          <p:nvPr/>
        </p:nvSpPr>
        <p:spPr>
          <a:xfrm>
            <a:off x="9136049" y="4990560"/>
            <a:ext cx="2162754" cy="281155"/>
          </a:xfrm>
          <a:custGeom>
            <a:avLst/>
            <a:gdLst>
              <a:gd name="connsiteX0" fmla="*/ 0 w 2162754"/>
              <a:gd name="connsiteY0" fmla="*/ 281155 h 281155"/>
              <a:gd name="connsiteX1" fmla="*/ 95415 w 2162754"/>
              <a:gd name="connsiteY1" fmla="*/ 58518 h 281155"/>
              <a:gd name="connsiteX2" fmla="*/ 461175 w 2162754"/>
              <a:gd name="connsiteY2" fmla="*/ 2859 h 281155"/>
              <a:gd name="connsiteX3" fmla="*/ 1781092 w 2162754"/>
              <a:gd name="connsiteY3" fmla="*/ 10810 h 281155"/>
              <a:gd name="connsiteX4" fmla="*/ 2019631 w 2162754"/>
              <a:gd name="connsiteY4" fmla="*/ 34664 h 281155"/>
              <a:gd name="connsiteX5" fmla="*/ 2091193 w 2162754"/>
              <a:gd name="connsiteY5" fmla="*/ 98275 h 281155"/>
              <a:gd name="connsiteX6" fmla="*/ 2107095 w 2162754"/>
              <a:gd name="connsiteY6" fmla="*/ 201642 h 281155"/>
              <a:gd name="connsiteX7" fmla="*/ 2162754 w 2162754"/>
              <a:gd name="connsiteY7" fmla="*/ 281155 h 28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2754" h="281155">
                <a:moveTo>
                  <a:pt x="0" y="281155"/>
                </a:moveTo>
                <a:cubicBezTo>
                  <a:pt x="9276" y="193028"/>
                  <a:pt x="18553" y="104901"/>
                  <a:pt x="95415" y="58518"/>
                </a:cubicBezTo>
                <a:cubicBezTo>
                  <a:pt x="172277" y="12135"/>
                  <a:pt x="180229" y="10810"/>
                  <a:pt x="461175" y="2859"/>
                </a:cubicBezTo>
                <a:cubicBezTo>
                  <a:pt x="742121" y="-5092"/>
                  <a:pt x="1521349" y="5509"/>
                  <a:pt x="1781092" y="10810"/>
                </a:cubicBezTo>
                <a:cubicBezTo>
                  <a:pt x="2040835" y="16111"/>
                  <a:pt x="1967948" y="20087"/>
                  <a:pt x="2019631" y="34664"/>
                </a:cubicBezTo>
                <a:cubicBezTo>
                  <a:pt x="2071314" y="49241"/>
                  <a:pt x="2076616" y="70445"/>
                  <a:pt x="2091193" y="98275"/>
                </a:cubicBezTo>
                <a:cubicBezTo>
                  <a:pt x="2105770" y="126105"/>
                  <a:pt x="2095168" y="171162"/>
                  <a:pt x="2107095" y="201642"/>
                </a:cubicBezTo>
                <a:cubicBezTo>
                  <a:pt x="2119022" y="232122"/>
                  <a:pt x="2140888" y="256638"/>
                  <a:pt x="2162754" y="281155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6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3989836" y="350018"/>
                <a:ext cx="47902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6.2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金属的电导过程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836" y="350018"/>
                <a:ext cx="4790219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38540" y="1335013"/>
                <a:ext cx="10809674" cy="4940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6.2.2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金属电导率</a:t>
                </a:r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举例：立方晶体，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f>
                      <m:f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nary>
                    <m:f>
                      <m:f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ħ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nary>
                      <m:nary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sub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altLang="zh-CN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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)		</a:t>
                </a: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金属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Cu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平均自由</m:t>
                    </m:r>
                    <m:r>
                      <a:rPr lang="zh-CN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程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：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𝑙</m:t>
                    </m:r>
                    <m:r>
                      <a:rPr lang="en-US" altLang="zh-CN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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−8</m:t>
                                </m:r>
                              </m:sup>
                            </m:sSup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=300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=4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e>
                        </m:eqAr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       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/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作业：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5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40" y="1335013"/>
                <a:ext cx="10809674" cy="4940135"/>
              </a:xfrm>
              <a:prstGeom prst="rect">
                <a:avLst/>
              </a:prstGeom>
              <a:blipFill rotWithShape="0">
                <a:blip r:embed="rId3"/>
                <a:stretch>
                  <a:fillRect l="-1128" t="-1481" b="-1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/>
          <p:cNvSpPr/>
          <p:nvPr/>
        </p:nvSpPr>
        <p:spPr>
          <a:xfrm>
            <a:off x="9191889" y="1577258"/>
            <a:ext cx="1152000" cy="1152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9476743" y="2143831"/>
            <a:ext cx="300574" cy="53735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9034227" y="2579701"/>
                <a:ext cx="5093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4227" y="2579701"/>
                <a:ext cx="50937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9609258" y="1127975"/>
                <a:ext cx="44512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258" y="1127975"/>
                <a:ext cx="445122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34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6.3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在磁场中金属的</a:t>
                </a:r>
                <a:r>
                  <a:rPr lang="zh-CN" altLang="en-US" sz="3200" dirty="0" smtClean="0"/>
                  <a:t>输运性质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3542" r="-209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38540" y="1335013"/>
                <a:ext cx="11370868" cy="6299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/>
                  <a:t>在电场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400" dirty="0" smtClean="0"/>
                  <a:t>和磁场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charset="0"/>
                      </a:rPr>
                      <m:t>𝑩</m:t>
                    </m:r>
                  </m:oMath>
                </a14:m>
                <a:r>
                  <a:rPr lang="zh-CN" altLang="en-US" sz="2400" dirty="0" smtClean="0"/>
                  <a:t>同时存在的情况下，电流如何变化？</a:t>
                </a:r>
                <a:endParaRPr lang="en-US" altLang="zh-CN" sz="2400" dirty="0"/>
              </a:p>
              <a:p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6.3.1</a:t>
                </a:r>
                <a:r>
                  <a:rPr lang="zh-CN" altLang="en-US" sz="2800" b="1" dirty="0"/>
                  <a:t>同时存在</a:t>
                </a:r>
                <a:r>
                  <a:rPr lang="zh-CN" altLang="en-US" sz="2800" b="1" dirty="0" smtClean="0"/>
                  <a:t>电场</a:t>
                </a:r>
                <a:r>
                  <a:rPr lang="zh-CN" altLang="en-US" sz="2800" b="1" dirty="0"/>
                  <a:t>和</a:t>
                </a:r>
                <a:r>
                  <a:rPr lang="zh-CN" altLang="en-US" sz="2800" b="1" dirty="0" smtClean="0"/>
                  <a:t>磁场情况下的</a:t>
                </a:r>
                <a:r>
                  <a:rPr lang="zh-CN" altLang="en-US" sz="2800" b="1" dirty="0"/>
                  <a:t>玻尔兹曼方程</a:t>
                </a:r>
                <a:endParaRPr lang="en-US" altLang="zh-CN" sz="2800" b="1" dirty="0"/>
              </a:p>
              <a:p>
                <a:endParaRPr lang="en-US" altLang="zh-CN" sz="2800" b="1" dirty="0"/>
              </a:p>
              <a:p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</m:t>
                        </m:r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𝑩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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400" dirty="0"/>
                  <a:t>=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 smtClean="0"/>
                  <a:t>	</a:t>
                </a:r>
                <a:r>
                  <a:rPr lang="zh-CN" altLang="en-US" sz="2400" dirty="0" smtClean="0"/>
                  <a:t>上式改为：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charset="0"/>
                      </a:rPr>
                      <m:t>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𝒗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𝑬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charset="0"/>
                        <a:sym typeface="Symbol" panose="05050102010706020507" pitchFamily="18" charset="2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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den>
                    </m:f>
                  </m:oMath>
                </a14:m>
                <a:r>
                  <a:rPr lang="en-US" altLang="zh-CN" sz="2400" dirty="0" smtClean="0"/>
                  <a:t>	</a:t>
                </a:r>
              </a:p>
              <a:p>
                <a:r>
                  <a:rPr lang="zh-CN" altLang="en-US" sz="2400" dirty="0" smtClean="0"/>
                  <a:t>（忽略了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𝒗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𝑬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i="1" dirty="0">
                        <a:latin typeface="Cambria Math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sz="2400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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两项。 注意，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𝐸</m:t>
                    </m:r>
                  </m:oMath>
                </a14:m>
                <a:r>
                  <a:rPr lang="zh-CN" altLang="en-US" sz="2400" dirty="0" smtClean="0"/>
                  <a:t>不同）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为解上式，设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b="1" i="1" dirty="0" smtClean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400" b="1" i="1" dirty="0" smtClean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2400" dirty="0" smtClean="0"/>
                  <a:t>	(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</m:oMath>
                </a14:m>
                <a:r>
                  <a:rPr lang="zh-CN" altLang="en-US" sz="2400" dirty="0" smtClean="0"/>
                  <a:t>为有效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zh-CN" altLang="en-US" sz="2400" dirty="0" smtClean="0"/>
                  <a:t>，效仿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nor/>
                      </m:rPr>
                      <a:rPr lang="en-US" altLang="zh-CN" sz="2400" dirty="0"/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dirty="0" smtClean="0"/>
                  <a:t>)</a:t>
                </a:r>
              </a:p>
              <a:p>
                <a:r>
                  <a:rPr lang="zh-CN" altLang="en-US" sz="2400" dirty="0" smtClean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charset="0"/>
                          </a:rPr>
                          <m:t>=−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begChr m:val="{"/>
                        <m:endChr m:val="}"/>
                        <m:ctrlPr>
                          <a:rPr lang="en-US" altLang="zh-CN" sz="2400" b="1" i="1" dirty="0" smtClean="0">
                            <a:latin typeface="Cambria Math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𝐸</m:t>
                            </m:r>
                          </m:den>
                        </m:f>
                        <m: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altLang="zh-CN" sz="2400" b="1" i="1" smtClean="0">
                        <a:latin typeface="Cambria Math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b="1" i="1" dirty="0" smtClean="0">
                        <a:latin typeface="Cambria Math" charset="0"/>
                      </a:rPr>
                      <m:t>−{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ħ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(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d>
                      <m:dPr>
                        <m:ctrlP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b="1" i="1" dirty="0" smtClean="0">
                        <a:latin typeface="Cambria Math" charset="0"/>
                      </a:rPr>
                      <m:t>)}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代入，则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</m:oMath>
                </a14:m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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0" i="0" dirty="0" smtClean="0">
                        <a:latin typeface="Cambria Math" charset="0"/>
                        <a:sym typeface="Symbol" panose="05050102010706020507" pitchFamily="18" charset="2"/>
                      </a:rPr>
                      <m:t>(</m:t>
                    </m:r>
                  </m:oMath>
                </a14:m>
                <a:r>
                  <a:rPr lang="en-US" altLang="zh-CN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或写为：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 dirty="0" smtClean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ħ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 dirty="0" smtClean="0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𝜕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den>
                    </m:f>
                    <m:f>
                      <m:fPr>
                        <m:ctrlPr>
                          <a:rPr lang="en-US" altLang="zh-CN" sz="24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ħ</m:t>
                        </m:r>
                      </m:den>
                    </m:f>
                    <m:r>
                      <a:rPr lang="en-US" altLang="zh-CN" sz="2400" b="0" i="1" smtClean="0">
                        <a:latin typeface="Cambria Math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sz="2400" b="1" i="1" dirty="0" smtClean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latin typeface="Cambria Math" charset="0"/>
                            <a:sym typeface="Symbol" panose="05050102010706020507" pitchFamily="18" charset="2"/>
                          </a:rPr>
                          <m:t>𝑬</m:t>
                        </m:r>
                      </m:e>
                    </m:d>
                    <m:r>
                      <a:rPr lang="en-US" altLang="zh-CN" sz="2400" b="0" i="1" smtClean="0">
                        <a:latin typeface="Cambria Math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40" y="1335013"/>
                <a:ext cx="11370868" cy="6299673"/>
              </a:xfrm>
              <a:prstGeom prst="rect">
                <a:avLst/>
              </a:prstGeom>
              <a:blipFill rotWithShape="0">
                <a:blip r:embed="rId3"/>
                <a:stretch>
                  <a:fillRect l="-1072" t="-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00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6.3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在磁场中金属的</a:t>
                </a:r>
                <a:r>
                  <a:rPr lang="zh-CN" altLang="en-US" sz="3200" dirty="0" smtClean="0"/>
                  <a:t>输运性质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blipFill rotWithShape="0">
                <a:blip r:embed="rId2"/>
                <a:stretch>
                  <a:fillRect t="-13542" r="-209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0" y="1335013"/>
                <a:ext cx="12060820" cy="6263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800" b="1" dirty="0" smtClean="0">
                    <a:solidFill>
                      <a:schemeClr val="tx1"/>
                    </a:solidFill>
                  </a:rPr>
                  <a:t>是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任意的，则 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8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800" b="1" i="1" dirty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8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charset="0"/>
                            <a:sym typeface="Symbol" panose="05050102010706020507" pitchFamily="18" charset="2"/>
                          </a:rPr>
                          <m:t>𝑚</m:t>
                        </m:r>
                      </m:den>
                    </m:f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 smtClean="0"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altLang="zh-CN" sz="28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charset="0"/>
                            <a:sym typeface="Symbol" panose="05050102010706020507" pitchFamily="18" charset="2"/>
                          </a:rPr>
                          <m:t>𝑚</m:t>
                        </m:r>
                      </m:den>
                    </m:f>
                    <m:r>
                      <a:rPr lang="en-US" altLang="zh-CN" sz="28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sz="2800" b="1" i="1" dirty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altLang="zh-CN" sz="28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8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8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𝑬</m:t>
                        </m:r>
                      </m:e>
                    </m:d>
                  </m:oMath>
                </a14:m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800" dirty="0" smtClean="0"/>
                  <a:t>迭代求解，得：</a:t>
                </a:r>
                <a:endParaRPr lang="en-US" altLang="zh-CN" sz="2800" dirty="0" smtClean="0"/>
              </a:p>
              <a:p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charset="0"/>
                        <a:sym typeface="Symbol" panose="05050102010706020507" pitchFamily="18" charset="2"/>
                      </a:rPr>
                      <m:t>𝑿</m:t>
                    </m:r>
                    <m:d>
                      <m:dPr>
                        <m:ctrlPr>
                          <a:rPr lang="en-US" altLang="zh-CN" sz="28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r>
                          <a:rPr lang="en-US" altLang="zh-CN" sz="2800" b="1" i="1" dirty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800" b="1" i="1" dirty="0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8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ħ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800" i="1">
                            <a:latin typeface="Cambria Math" charset="0"/>
                            <a:sym typeface="Symbol" panose="05050102010706020507" pitchFamily="18" charset="2"/>
                          </a:rPr>
                          <m:t>𝑚</m:t>
                        </m:r>
                      </m:den>
                    </m:f>
                    <m:r>
                      <a:rPr lang="en-US" altLang="zh-CN" sz="2800" b="1" i="1" smtClean="0">
                        <a:latin typeface="Cambria Math" charset="0"/>
                        <a:sym typeface="Symbol" panose="05050102010706020507" pitchFamily="18" charset="2"/>
                      </a:rPr>
                      <m:t>{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>
                        <a:latin typeface="Cambria Math" charset="0"/>
                      </a:rPr>
                      <m:t>+</m:t>
                    </m:r>
                    <m:f>
                      <m:fPr>
                        <m:ctrlPr>
                          <a:rPr lang="en-US" altLang="zh-CN" sz="28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</m:num>
                      <m:den>
                        <m:r>
                          <a:rPr lang="en-US" altLang="zh-CN" sz="2800" i="1">
                            <a:latin typeface="Cambria Math" charset="0"/>
                            <a:sym typeface="Symbol" panose="05050102010706020507" pitchFamily="18" charset="2"/>
                          </a:rPr>
                          <m:t>𝑚</m:t>
                        </m:r>
                      </m:den>
                    </m:f>
                    <m:r>
                      <a:rPr lang="en-US" altLang="zh-CN" sz="28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sz="2800" b="1" i="1" dirty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 smtClean="0">
                        <a:latin typeface="Cambria Math" charset="0"/>
                      </a:rPr>
                      <m:t>+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b="1" i="1" dirty="0" smtClean="0">
                                <a:latin typeface="Cambria Math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 dirty="0">
                                    <a:latin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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800" b="1" i="1" smtClean="0">
                            <a:latin typeface="Cambria Math" charset="0"/>
                          </a:rPr>
                          <m:t>𝟐</m:t>
                        </m:r>
                      </m:sup>
                    </m:sSup>
                    <m:r>
                      <a:rPr lang="en-US" altLang="zh-CN" sz="28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sz="2800" b="1" i="1" dirty="0" smtClean="0">
                        <a:latin typeface="Cambria Math" charset="0"/>
                        <a:sym typeface="Symbol" panose="05050102010706020507" pitchFamily="18" charset="2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 dirty="0" smtClean="0">
                        <a:latin typeface="Cambria Math" charset="0"/>
                        <a:sym typeface="Symbol" panose="05050102010706020507" pitchFamily="18" charset="2"/>
                      </a:rPr>
                      <m:t>)}/[</m:t>
                    </m:r>
                    <m:r>
                      <a:rPr lang="en-US" altLang="zh-CN" sz="2800" b="0" i="1" dirty="0" smtClean="0">
                        <a:latin typeface="Cambria Math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US" altLang="zh-CN" sz="2800" b="1" i="1" dirty="0" smtClean="0">
                        <a:latin typeface="Cambria Math" charset="0"/>
                        <a:sym typeface="Symbol" panose="05050102010706020507" pitchFamily="18" charset="2"/>
                      </a:rPr>
                      <m:t>+</m:t>
                    </m:r>
                    <m:sSup>
                      <m:sSupPr>
                        <m:ctrlPr>
                          <a:rPr lang="en-US" altLang="zh-CN" sz="2800" b="1" i="1" dirty="0" smtClean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800" b="1" i="1" dirty="0" smtClean="0">
                            <a:latin typeface="Cambria Math" charset="0"/>
                            <a:sym typeface="Symbol" panose="05050102010706020507" pitchFamily="18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8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r>
                          <a:rPr lang="en-US" altLang="zh-CN" sz="2800" b="1" i="1" dirty="0" smtClean="0">
                            <a:latin typeface="Cambria Math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800" b="1" i="1" dirty="0" smtClean="0">
                            <a:latin typeface="Cambria Math" charset="0"/>
                            <a:sym typeface="Symbol" panose="05050102010706020507" pitchFamily="18" charset="2"/>
                          </a:rPr>
                          <m:t>𝟐</m:t>
                        </m:r>
                      </m:sup>
                    </m:sSup>
                    <m:r>
                      <a:rPr lang="en-US" altLang="zh-CN" sz="2800" b="1" i="1" dirty="0" smtClean="0">
                        <a:latin typeface="Cambria Math" charset="0"/>
                        <a:sym typeface="Symbol" panose="05050102010706020507" pitchFamily="18" charset="2"/>
                      </a:rPr>
                      <m:t>]</m:t>
                    </m:r>
                  </m:oMath>
                </a14:m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800" b="1" dirty="0"/>
              </a:p>
              <a:p>
                <a:r>
                  <a:rPr lang="zh-CN" altLang="en-US" sz="2800" dirty="0" smtClean="0">
                    <a:solidFill>
                      <a:schemeClr val="tx1"/>
                    </a:solidFill>
                  </a:rPr>
                  <a:t>其中，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800" i="1">
                            <a:latin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zh-CN" sz="2800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800" i="1" dirty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800" b="0" i="1" dirty="0" smtClean="0">
                            <a:latin typeface="Cambria Math" charset="0"/>
                          </a:rPr>
                          <m:t>𝐵</m:t>
                        </m:r>
                      </m:num>
                      <m:den>
                        <m:r>
                          <a:rPr lang="en-US" altLang="zh-CN" sz="2800" i="1">
                            <a:latin typeface="Cambria Math" charset="0"/>
                            <a:sym typeface="Symbol" panose="05050102010706020507" pitchFamily="18" charset="2"/>
                          </a:rPr>
                          <m:t>𝑚</m:t>
                        </m:r>
                      </m:den>
                    </m:f>
                  </m:oMath>
                </a14:m>
                <a:r>
                  <a:rPr lang="zh-CN" altLang="en-US" sz="2800" dirty="0" smtClean="0">
                    <a:solidFill>
                      <a:schemeClr val="tx1"/>
                    </a:solidFill>
                  </a:rPr>
                  <a:t>，为电子在磁场中的回旋频率。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800" dirty="0" smtClean="0"/>
                  <a:t>则</a:t>
                </a:r>
                <a:r>
                  <a:rPr lang="en-US" altLang="zh-CN" sz="280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𝒗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800" i="1">
                                <a:latin typeface="Cambria Math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 smtClean="0">
                            <a:latin typeface="Cambria Math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8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smtClean="0">
                                <a:latin typeface="Cambria Math" charset="0"/>
                              </a:rPr>
                              <m:t>4</m:t>
                            </m:r>
                            <m:r>
                              <a:rPr lang="zh-CN" altLang="en-US" sz="2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800" i="1">
                            <a:latin typeface="Cambria Math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𝒗</m:t>
                        </m:r>
                        <m:f>
                          <m:fPr>
                            <m:ctrlPr>
                              <a:rPr lang="en-US" altLang="zh-CN" sz="2800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fPr>
                          <m:num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sz="28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𝜕</m:t>
                            </m:r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𝐸</m:t>
                            </m:r>
                          </m:den>
                        </m:f>
                        <m:r>
                          <a:rPr lang="en-US" altLang="zh-CN" sz="28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𝑿</m:t>
                        </m:r>
                        <m:d>
                          <m:dPr>
                            <m:ctrlPr>
                              <a:rPr lang="en-US" altLang="zh-CN" sz="28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nary>
                  </m:oMath>
                </a14:m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𝛿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800" b="1" i="1" dirty="0" smtClean="0">
                          <a:latin typeface="Cambria Math" charset="0"/>
                        </a:rPr>
                        <m:t>−</m:t>
                      </m:r>
                      <m:r>
                        <a:rPr lang="en-US" altLang="zh-CN" sz="28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𝛼</m:t>
                      </m:r>
                      <m:r>
                        <a:rPr lang="en-US" altLang="zh-CN" sz="2800" b="1" i="1" dirty="0" smtClean="0">
                          <a:latin typeface="Cambria Math" charset="0"/>
                        </a:rPr>
                        <m:t>𝑬</m:t>
                      </m:r>
                      <m:r>
                        <a:rPr lang="en-US" altLang="zh-CN" sz="2800" b="1" i="1" dirty="0">
                          <a:latin typeface="Cambria Math" charset="0"/>
                          <a:ea typeface="Cambria Math" charset="0"/>
                          <a:cs typeface="Cambria Math" charset="0"/>
                          <a:sym typeface="Symbol" panose="05050102010706020507" pitchFamily="18" charset="2"/>
                        </a:rPr>
                        <m:t>×</m:t>
                      </m:r>
                      <m:r>
                        <a:rPr lang="en-US" altLang="zh-CN" sz="2800" b="1" i="1" dirty="0" smtClean="0">
                          <a:latin typeface="Cambria Math" charset="0"/>
                          <a:ea typeface="Cambria Math" charset="0"/>
                          <a:cs typeface="Cambria Math" charset="0"/>
                          <a:sym typeface="Symbol" panose="05050102010706020507" pitchFamily="18" charset="2"/>
                        </a:rPr>
                        <m:t>𝑩</m:t>
                      </m:r>
                      <m:r>
                        <a:rPr lang="en-US" altLang="zh-CN" sz="2800" b="1" i="1" dirty="0" smtClean="0">
                          <a:latin typeface="Cambria Math" charset="0"/>
                          <a:ea typeface="Cambria Math" charset="0"/>
                          <a:cs typeface="Cambria Math" charset="0"/>
                          <a:sym typeface="Symbol" panose="05050102010706020507" pitchFamily="18" charset="2"/>
                        </a:rPr>
                        <m:t>+</m:t>
                      </m:r>
                      <m:r>
                        <a:rPr lang="en-US" altLang="zh-CN" sz="2800" b="0" i="1" dirty="0" smtClean="0">
                          <a:latin typeface="Cambria Math" charset="0"/>
                          <a:ea typeface="Cambria Math" charset="0"/>
                          <a:cs typeface="Cambria Math" charset="0"/>
                          <a:sym typeface="Symbol" panose="05050102010706020507" pitchFamily="18" charset="2"/>
                        </a:rPr>
                        <m:t>𝛾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𝑩</m:t>
                      </m:r>
                      <m:r>
                        <a:rPr lang="en-US" altLang="zh-CN" sz="2800" b="1" i="1" dirty="0">
                          <a:latin typeface="Cambria Math" charset="0"/>
                          <a:sym typeface="Symbol" panose="05050102010706020507" pitchFamily="18" charset="2"/>
                        </a:rPr>
                        <m:t>(</m:t>
                      </m:r>
                      <m:r>
                        <a:rPr lang="en-US" altLang="zh-CN" sz="2800" b="1" i="1" dirty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𝑩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800" b="1" i="1" dirty="0">
                          <a:latin typeface="Cambria Math" charset="0"/>
                          <a:sym typeface="Symbol" panose="05050102010706020507" pitchFamily="18" charset="2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800" dirty="0" smtClean="0">
                    <a:solidFill>
                      <a:schemeClr val="tx1"/>
                    </a:solidFill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</m:t>
                    </m:r>
                    <m:r>
                      <a:rPr lang="en-US" altLang="zh-CN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latin typeface="Cambria Math" charset="0"/>
                          </a:rPr>
                          <m:t>3</m:t>
                        </m:r>
                      </m:den>
                    </m:f>
                    <m:nary>
                      <m:naryPr>
                        <m:subHide m:val="on"/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naryPr>
                      <m:sub/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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zh-CN" altLang="en-US" sz="2400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en-US" altLang="zh-CN" sz="2400" i="1" dirty="0"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𝜕</m:t>
                                </m:r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𝐸</m:t>
                                </m:r>
                              </m:den>
                            </m:f>
                          </m:num>
                          <m:den>
                            <m:r>
                              <a:rPr lang="en-US" altLang="zh-CN" sz="2400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1</m:t>
                            </m:r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dirty="0"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</m:t>
                                </m:r>
                                <m:r>
                                  <a:rPr lang="en-US" altLang="zh-CN" sz="2400" b="1" i="1" dirty="0"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1" i="1" dirty="0">
                                    <a:latin typeface="Cambria Math" charset="0"/>
                                    <a:sym typeface="Symbol" panose="05050102010706020507" pitchFamily="18" charset="2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b="1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</m:t>
                            </m:r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altLang="zh-CN" sz="2800" b="0" i="1" dirty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</m:oMath>
                </a14:m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charset="0"/>
                          </a:rPr>
                          <m:t>(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r>
                          <a:rPr lang="en-US" altLang="zh-CN" sz="2400" b="0" i="1" smtClean="0">
                            <a:latin typeface="Cambria Math" charset="0"/>
                            <a:sym typeface="Symbol" panose="05050102010706020507" pitchFamily="18" charset="2"/>
                          </a:rPr>
                          <m:t>/</m:t>
                        </m:r>
                        <m:r>
                          <a:rPr lang="en-US" altLang="zh-CN" sz="2400" b="0" i="1" smtClean="0">
                            <a:latin typeface="Cambria Math" charset="0"/>
                            <a:sym typeface="Symbol" panose="05050102010706020507" pitchFamily="18" charset="2"/>
                          </a:rPr>
                          <m:t>𝑚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</m:t>
                            </m:r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8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𝛾</m:t>
                    </m:r>
                    <m:r>
                      <a:rPr lang="en-US" altLang="zh-CN" sz="2400" b="0" i="0" dirty="0" smtClean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smtClean="0">
                                <a:latin typeface="Cambria Math" charset="0"/>
                              </a:rPr>
                              <m:t> </m:t>
                            </m:r>
                            <m:r>
                              <a:rPr lang="en-US" altLang="zh-CN" sz="2400" i="1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</m:t>
                            </m:r>
                            <m:r>
                              <a:rPr lang="en-US" altLang="zh-CN" sz="2400" i="1">
                                <a:latin typeface="Cambria Math" charset="0"/>
                                <a:sym typeface="Symbol" panose="05050102010706020507" pitchFamily="18" charset="2"/>
                              </a:rPr>
                              <m:t>/</m:t>
                            </m:r>
                            <m:r>
                              <a:rPr lang="en-US" altLang="zh-CN" sz="2400" i="1">
                                <a:latin typeface="Cambria Math" charset="0"/>
                                <a:sym typeface="Symbol" panose="05050102010706020507" pitchFamily="18" charset="2"/>
                              </a:rPr>
                              <m:t>𝑚</m:t>
                            </m:r>
                            <m:r>
                              <a:rPr lang="en-US" altLang="zh-CN" sz="2400" i="1">
                                <a:latin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 dirty="0">
                            <a:latin typeface="Cambria Math" charset="0"/>
                            <a:sym typeface="Symbol" panose="05050102010706020507" pitchFamily="18" charset="2"/>
                          </a:rPr>
                          <m:t>1</m:t>
                        </m:r>
                        <m: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</m:ctrlPr>
                          </m:sSupPr>
                          <m:e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</m:t>
                            </m:r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 dirty="0">
                                <a:latin typeface="Cambria Math" charset="0"/>
                                <a:sym typeface="Symbol" panose="05050102010706020507" pitchFamily="18" charset="2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800" b="1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6.3.2</a:t>
                </a:r>
                <a:r>
                  <a:rPr lang="zh-CN" altLang="en-US" sz="2800" b="1" dirty="0" smtClean="0"/>
                  <a:t>霍尔效应</a:t>
                </a:r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35013"/>
                <a:ext cx="12060820" cy="6263061"/>
              </a:xfrm>
              <a:prstGeom prst="rect">
                <a:avLst/>
              </a:prstGeom>
              <a:blipFill rotWithShape="0">
                <a:blip r:embed="rId3"/>
                <a:stretch>
                  <a:fillRect l="-10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8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6.3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在磁场中金属的</a:t>
                </a:r>
                <a:r>
                  <a:rPr lang="zh-CN" altLang="en-US" sz="3200" dirty="0" smtClean="0"/>
                  <a:t>输运性质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blipFill rotWithShape="0">
                <a:blip r:embed="rId3"/>
                <a:stretch>
                  <a:fillRect t="-13542" r="-209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0" y="1152133"/>
                <a:ext cx="7430036" cy="6163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schemeClr val="tx1"/>
                    </a:solidFill>
                  </a:rPr>
                  <a:t>6.3.2</a:t>
                </a:r>
                <a:r>
                  <a:rPr lang="zh-CN" altLang="en-US" sz="2800" b="1" dirty="0" smtClean="0"/>
                  <a:t>霍尔效应</a:t>
                </a:r>
                <a:endParaRPr lang="en-US" altLang="zh-CN" sz="2400" dirty="0"/>
              </a:p>
              <a:p>
                <a:r>
                  <a:rPr lang="en-US" altLang="zh-CN" sz="2400" dirty="0" smtClean="0"/>
                  <a:t>1879</a:t>
                </a:r>
                <a:r>
                  <a:rPr lang="zh-CN" altLang="en-US" sz="2400" dirty="0" smtClean="0"/>
                  <a:t>年霍尔发现的，即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zh-CN" altLang="en-US" sz="2400" b="0" i="0" smtClean="0">
                        <a:latin typeface="Cambria Math" charset="0"/>
                      </a:rPr>
                      <m:t>与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latin typeface="Cambria Math" charset="0"/>
                          </a:rPr>
                          <m:t>产生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sz="2400" dirty="0" smtClean="0"/>
                  <a:t>。</a:t>
                </a:r>
                <a:endParaRPr lang="en-US" altLang="zh-CN" sz="2400" dirty="0" smtClean="0"/>
              </a:p>
              <a:p>
                <a:r>
                  <a:rPr lang="zh-CN" altLang="en-US" sz="2400" dirty="0" smtClean="0"/>
                  <a:t>定义霍尔系数：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𝐻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/(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𝐵</m:t>
                    </m:r>
                    <m:r>
                      <a:rPr lang="en-US" altLang="zh-CN" sz="2400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由实验条件，得 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b="1" i="1" dirty="0">
                        <a:latin typeface="Cambria Math" charset="0"/>
                      </a:rPr>
                      <m:t>−</m:t>
                    </m:r>
                    <m:r>
                      <a:rPr lang="en-US" altLang="zh-CN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altLang="zh-CN" sz="2400" b="1" i="1" dirty="0">
                        <a:latin typeface="Cambria Math" charset="0"/>
                      </a:rPr>
                      <m:t>𝑬</m:t>
                    </m:r>
                    <m:r>
                      <a:rPr lang="en-US" altLang="zh-CN" sz="2400" b="1" i="1" dirty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×</m:t>
                    </m:r>
                    <m:r>
                      <a:rPr lang="en-US" altLang="zh-CN" sz="2400" b="1" i="1" dirty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𝑩</m:t>
                    </m:r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写成分量形式：</a:t>
                </a: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=</m:t>
                    </m:r>
                    <m:r>
                      <a:rPr lang="en-US" altLang="zh-CN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−</m:t>
                    </m:r>
                    <m:r>
                      <a:rPr lang="en-US" altLang="zh-CN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𝐵</m:t>
                        </m:r>
                        <m:r>
                          <a:rPr lang="en-US" altLang="zh-CN" sz="2400" i="1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/>
                  <a:t>	</a:t>
                </a:r>
                <a:r>
                  <a:rPr lang="en-US" altLang="zh-CN" sz="2400" dirty="0" smtClean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2400" i="1">
                        <a:latin typeface="Cambria Math" charset="0"/>
                      </a:rPr>
                      <m:t>=</m:t>
                    </m:r>
                    <m:r>
                      <a:rPr lang="en-US" altLang="zh-CN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𝑦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+</m:t>
                    </m:r>
                    <m:r>
                      <a:rPr lang="en-US" altLang="zh-CN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𝐵𝐸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=0</m:t>
                    </m:r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则：</a:t>
                </a: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</a:rPr>
                          <m:t>𝑗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000" i="1">
                        <a:latin typeface="Cambria Math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altLang="zh-CN" sz="2400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𝛼</m:t>
                            </m:r>
                            <m:r>
                              <a:rPr lang="en-US" altLang="zh-CN" sz="2400" b="0" i="1" dirty="0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𝐵</m:t>
                            </m:r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  <m:r>
                          <a:rPr lang="en-US" altLang="zh-CN" sz="2400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𝐵</m:t>
                        </m:r>
                      </m:den>
                    </m:f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𝐻</m:t>
                        </m:r>
                      </m:sub>
                    </m:sSub>
                    <m:r>
                      <a:rPr lang="en-US" altLang="zh-CN" sz="24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charset="0"/>
                          </a:rPr>
                          <m:t>𝐵</m:t>
                        </m:r>
                      </m:den>
                    </m:f>
                    <m:r>
                      <a:rPr lang="en-US" altLang="zh-CN" sz="2400" b="0" i="1" smtClean="0">
                        <a:latin typeface="Cambria Math" charset="0"/>
                      </a:rPr>
                      <m:t>=</m:t>
                    </m:r>
                    <m:r>
                      <a:rPr lang="en-US" altLang="zh-CN" sz="2000" i="1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𝛿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charset="0"/>
                              </a:rPr>
                              <m:t>(</m:t>
                            </m:r>
                            <m:r>
                              <a:rPr lang="en-US" altLang="zh-CN" sz="2400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𝛼</m:t>
                            </m:r>
                            <m:r>
                              <a:rPr lang="en-US" altLang="zh-CN" sz="2400" i="1" dirty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𝐵</m:t>
                            </m:r>
                            <m:r>
                              <a:rPr lang="en-US" altLang="zh-CN" sz="2400" i="1">
                                <a:latin typeface="Cambria Math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 smtClean="0"/>
              </a:p>
              <a:p>
                <a:r>
                  <a:rPr lang="zh-CN" altLang="en-US" sz="2400" dirty="0" smtClean="0"/>
                  <a:t>考虑弱磁场，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𝑐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</m:t>
                    </m:r>
                    <m:r>
                      <a:rPr lang="en-US" altLang="zh-CN" sz="2400" i="1" smtClean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≪</m:t>
                    </m:r>
                    <m:r>
                      <a:rPr lang="en-US" altLang="zh-CN" sz="2400" b="0" i="1" smtClean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1</m:t>
                    </m:r>
                  </m:oMath>
                </a14:m>
                <a:r>
                  <a:rPr lang="zh-CN" altLang="en-US" sz="2400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charset="0"/>
                        <a:sym typeface="Symbol" panose="05050102010706020507" pitchFamily="18" charset="2"/>
                      </a:rPr>
                      <m:t>1</m:t>
                    </m:r>
                    <m:r>
                      <a:rPr lang="en-US" altLang="zh-CN" sz="2400" b="1" i="1" dirty="0">
                        <a:latin typeface="Cambria Math" charset="0"/>
                        <a:sym typeface="Symbol" panose="05050102010706020507" pitchFamily="18" charset="2"/>
                      </a:rPr>
                      <m:t>+</m:t>
                    </m:r>
                    <m:sSup>
                      <m:sSupPr>
                        <m:ctrlP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</m:ctrlPr>
                      </m:sSupPr>
                      <m:e>
                        <m: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</m:t>
                        </m:r>
                        <m: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 dirty="0">
                            <a:latin typeface="Cambria Math" charset="0"/>
                            <a:sym typeface="Symbol" panose="05050102010706020507" pitchFamily="18" charset="2"/>
                          </a:rPr>
                          <m:t>𝟐</m:t>
                        </m:r>
                      </m:sup>
                    </m:sSup>
                    <m:r>
                      <a:rPr lang="en-US" altLang="zh-CN" sz="2400" b="1" i="1" dirty="0" smtClean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≈</m:t>
                    </m:r>
                    <m:r>
                      <a:rPr lang="en-US" altLang="zh-CN" sz="2400" b="0" i="1" dirty="0" smtClean="0">
                        <a:latin typeface="Cambria Math" charset="0"/>
                        <a:ea typeface="Cambria Math" charset="0"/>
                        <a:cs typeface="Cambria Math" charset="0"/>
                        <a:sym typeface="Symbol" panose="05050102010706020507" pitchFamily="18" charset="2"/>
                      </a:rPr>
                      <m:t>1</m:t>
                    </m:r>
                  </m:oMath>
                </a14:m>
                <a:endParaRPr lang="en-US" altLang="zh-CN" sz="2400" dirty="0"/>
              </a:p>
              <a:p>
                <a:r>
                  <a:rPr lang="zh-CN" altLang="en-US" sz="2400" dirty="0" smtClean="0"/>
                  <a:t>则：</a:t>
                </a:r>
                <a:r>
                  <a:rPr lang="en-US" altLang="zh-CN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𝛿</m:t>
                    </m:r>
                    <m:r>
                      <a:rPr lang="en-US" altLang="zh-CN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charset="0"/>
                      </a:rPr>
                      <m:t>𝑛</m:t>
                    </m:r>
                    <m:sSup>
                      <m:sSup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</m:t>
                    </m:r>
                    <m:r>
                      <a:rPr lang="en-US" altLang="zh-CN" sz="2400" i="1">
                        <a:latin typeface="Cambria Math" charset="0"/>
                        <a:sym typeface="Symbol" panose="05050102010706020507" pitchFamily="18" charset="2"/>
                      </a:rPr>
                      <m:t>/</m:t>
                    </m:r>
                    <m:r>
                      <a:rPr lang="en-US" altLang="zh-CN" sz="2400" i="1">
                        <a:latin typeface="Cambria Math" charset="0"/>
                        <a:sym typeface="Symbol" panose="05050102010706020507" pitchFamily="18" charset="2"/>
                      </a:rPr>
                      <m:t>𝑚</m:t>
                    </m:r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/>
                  <a:t>	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altLang="zh-CN" sz="240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  <m:r>
                      <a:rPr lang="en-US" altLang="zh-CN" sz="2400" i="1">
                        <a:latin typeface="Cambria Math" charset="0"/>
                      </a:rPr>
                      <m:t>𝑛</m:t>
                    </m:r>
                    <m:sSup>
                      <m:sSup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𝜏</m:t>
                        </m:r>
                      </m:e>
                      <m:sup>
                        <m:r>
                          <a:rPr lang="en-US" altLang="zh-CN" sz="2400" i="1"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charset="0"/>
                        <a:sym typeface="Symbol" panose="05050102010706020507" pitchFamily="18" charset="2"/>
                      </a:rPr>
                      <m:t>/</m:t>
                    </m:r>
                    <m:sSup>
                      <m:sSup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r>
                  <a:rPr lang="zh-CN" altLang="en-US" sz="2400" dirty="0" smtClean="0"/>
                  <a:t>则：</a:t>
                </a:r>
                <a:r>
                  <a:rPr lang="en-US" altLang="zh-CN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𝐻</m:t>
                        </m:r>
                      </m:sub>
                    </m:sSub>
                    <m:r>
                      <a:rPr lang="en-US" altLang="zh-CN" sz="2400" i="1">
                        <a:latin typeface="Cambria Math" charset="0"/>
                      </a:rPr>
                      <m:t>=</m:t>
                    </m:r>
                  </m:oMath>
                </a14:m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𝛼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𝑛𝑒</m:t>
                        </m:r>
                      </m:den>
                    </m:f>
                  </m:oMath>
                </a14:m>
                <a:endParaRPr lang="en-US" altLang="zh-CN" sz="2400" dirty="0" smtClean="0"/>
              </a:p>
              <a:p>
                <a:r>
                  <a:rPr lang="en-US" altLang="zh-CN" sz="2400" dirty="0" smtClean="0"/>
                  <a:t>(</a:t>
                </a:r>
                <a:r>
                  <a:rPr lang="zh-CN" altLang="en-US" sz="2400" dirty="0" smtClean="0"/>
                  <a:t>如果是空穴导电，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charset="0"/>
                          </a:rPr>
                          <m:t>𝐻</m:t>
                        </m:r>
                      </m:sub>
                    </m:sSub>
                    <m:r>
                      <a:rPr lang="en-US" altLang="zh-CN" sz="24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altLang="zh-CN" sz="2400" dirty="0" smtClean="0"/>
                  <a:t>)</a:t>
                </a: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52133"/>
                <a:ext cx="7430036" cy="6163162"/>
              </a:xfrm>
              <a:prstGeom prst="rect">
                <a:avLst/>
              </a:prstGeom>
              <a:blipFill rotWithShape="0">
                <a:blip r:embed="rId4"/>
                <a:stretch>
                  <a:fillRect l="-1641" t="-1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/>
          <a:srcRect t="11263" r="2809" b="5933"/>
          <a:stretch/>
        </p:blipFill>
        <p:spPr>
          <a:xfrm>
            <a:off x="7430036" y="2123502"/>
            <a:ext cx="4740512" cy="359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40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§</m:t>
                    </m:r>
                  </m:oMath>
                </a14:m>
                <a:r>
                  <a:rPr lang="en-US" altLang="zh-CN" sz="3200" dirty="0" smtClean="0">
                    <a:solidFill>
                      <a:schemeClr val="tx1"/>
                    </a:solidFill>
                  </a:rPr>
                  <a:t>6.3 </a:t>
                </a:r>
                <a:r>
                  <a:rPr lang="zh-CN" altLang="en-US" sz="3200" dirty="0" smtClean="0">
                    <a:solidFill>
                      <a:schemeClr val="tx1"/>
                    </a:solidFill>
                  </a:rPr>
                  <a:t>在磁场中金属的</a:t>
                </a:r>
                <a:r>
                  <a:rPr lang="zh-CN" altLang="en-US" sz="3200" dirty="0" smtClean="0"/>
                  <a:t>输运性质</a:t>
                </a:r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912" y="350018"/>
                <a:ext cx="5539144" cy="584775"/>
              </a:xfrm>
              <a:prstGeom prst="rect">
                <a:avLst/>
              </a:prstGeom>
              <a:blipFill rotWithShape="0">
                <a:blip r:embed="rId3"/>
                <a:stretch>
                  <a:fillRect t="-13542" r="-209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0" y="1152133"/>
            <a:ext cx="743003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1"/>
                </a:solidFill>
              </a:rPr>
              <a:t>6.3.2</a:t>
            </a:r>
            <a:r>
              <a:rPr lang="zh-CN" altLang="en-US" sz="2800" b="1" dirty="0" smtClean="0"/>
              <a:t>霍尔效应</a:t>
            </a:r>
            <a:endParaRPr lang="en-US" altLang="zh-CN" sz="2400" dirty="0"/>
          </a:p>
          <a:p>
            <a:r>
              <a:rPr lang="zh-CN" altLang="en-US" sz="2400" dirty="0" smtClean="0"/>
              <a:t>一些金属的霍尔系数：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t="11263" r="2809" b="5933"/>
          <a:stretch/>
        </p:blipFill>
        <p:spPr>
          <a:xfrm>
            <a:off x="7430036" y="2123502"/>
            <a:ext cx="4740512" cy="359171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452" y="2123502"/>
            <a:ext cx="12192000" cy="439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99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7120" y="2428240"/>
            <a:ext cx="5201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/>
              <a:t>The End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780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7016</TotalTime>
  <Words>1674</Words>
  <Application>Microsoft Macintosh PowerPoint</Application>
  <PresentationFormat>宽屏</PresentationFormat>
  <Paragraphs>168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Cambria Math</vt:lpstr>
      <vt:lpstr>Symbol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zhanglixin</dc:creator>
  <cp:lastModifiedBy>Microsoft Office 用户</cp:lastModifiedBy>
  <cp:revision>157</cp:revision>
  <dcterms:created xsi:type="dcterms:W3CDTF">2020-04-20T08:06:26Z</dcterms:created>
  <dcterms:modified xsi:type="dcterms:W3CDTF">2024-05-27T01:46:14Z</dcterms:modified>
</cp:coreProperties>
</file>