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1"/>
  </p:notesMasterIdLst>
  <p:sldIdLst>
    <p:sldId id="261" r:id="rId2"/>
    <p:sldId id="324" r:id="rId3"/>
    <p:sldId id="325" r:id="rId4"/>
    <p:sldId id="323" r:id="rId5"/>
    <p:sldId id="322" r:id="rId6"/>
    <p:sldId id="262" r:id="rId7"/>
    <p:sldId id="444" r:id="rId8"/>
    <p:sldId id="472" r:id="rId9"/>
    <p:sldId id="265" r:id="rId10"/>
    <p:sldId id="267" r:id="rId11"/>
    <p:sldId id="266" r:id="rId12"/>
    <p:sldId id="270" r:id="rId13"/>
    <p:sldId id="268" r:id="rId14"/>
    <p:sldId id="451" r:id="rId15"/>
    <p:sldId id="458" r:id="rId16"/>
    <p:sldId id="459" r:id="rId17"/>
    <p:sldId id="281" r:id="rId18"/>
    <p:sldId id="288" r:id="rId19"/>
    <p:sldId id="282" r:id="rId20"/>
    <p:sldId id="283" r:id="rId21"/>
    <p:sldId id="289" r:id="rId22"/>
    <p:sldId id="271" r:id="rId23"/>
    <p:sldId id="272" r:id="rId24"/>
    <p:sldId id="273" r:id="rId25"/>
    <p:sldId id="342" r:id="rId26"/>
    <p:sldId id="343" r:id="rId27"/>
    <p:sldId id="344" r:id="rId28"/>
    <p:sldId id="345" r:id="rId29"/>
    <p:sldId id="346" r:id="rId30"/>
    <p:sldId id="347" r:id="rId31"/>
    <p:sldId id="348" r:id="rId32"/>
    <p:sldId id="326" r:id="rId33"/>
    <p:sldId id="327" r:id="rId34"/>
    <p:sldId id="329" r:id="rId35"/>
    <p:sldId id="468" r:id="rId36"/>
    <p:sldId id="333" r:id="rId37"/>
    <p:sldId id="334" r:id="rId38"/>
    <p:sldId id="335" r:id="rId39"/>
    <p:sldId id="336" r:id="rId40"/>
    <p:sldId id="337" r:id="rId41"/>
    <p:sldId id="338" r:id="rId42"/>
    <p:sldId id="339" r:id="rId43"/>
    <p:sldId id="357" r:id="rId44"/>
    <p:sldId id="358" r:id="rId45"/>
    <p:sldId id="350" r:id="rId46"/>
    <p:sldId id="351" r:id="rId47"/>
    <p:sldId id="349" r:id="rId48"/>
    <p:sldId id="340" r:id="rId49"/>
    <p:sldId id="287" r:id="rId50"/>
    <p:sldId id="454" r:id="rId51"/>
    <p:sldId id="359" r:id="rId52"/>
    <p:sldId id="360" r:id="rId53"/>
    <p:sldId id="361" r:id="rId54"/>
    <p:sldId id="276" r:id="rId55"/>
    <p:sldId id="448" r:id="rId56"/>
    <p:sldId id="469" r:id="rId57"/>
    <p:sldId id="277" r:id="rId58"/>
    <p:sldId id="384" r:id="rId59"/>
    <p:sldId id="470" r:id="rId60"/>
    <p:sldId id="385" r:id="rId61"/>
    <p:sldId id="388" r:id="rId62"/>
    <p:sldId id="355" r:id="rId63"/>
    <p:sldId id="363" r:id="rId64"/>
    <p:sldId id="404" r:id="rId65"/>
    <p:sldId id="352" r:id="rId66"/>
    <p:sldId id="353" r:id="rId67"/>
    <p:sldId id="356" r:id="rId68"/>
    <p:sldId id="354" r:id="rId69"/>
    <p:sldId id="391" r:id="rId70"/>
    <p:sldId id="392" r:id="rId71"/>
    <p:sldId id="473" r:id="rId72"/>
    <p:sldId id="462" r:id="rId73"/>
    <p:sldId id="395" r:id="rId74"/>
    <p:sldId id="456" r:id="rId75"/>
    <p:sldId id="457" r:id="rId76"/>
    <p:sldId id="461" r:id="rId77"/>
    <p:sldId id="463" r:id="rId78"/>
    <p:sldId id="397" r:id="rId79"/>
    <p:sldId id="398" r:id="rId80"/>
    <p:sldId id="399" r:id="rId81"/>
    <p:sldId id="476" r:id="rId82"/>
    <p:sldId id="432" r:id="rId83"/>
    <p:sldId id="433" r:id="rId84"/>
    <p:sldId id="434" r:id="rId85"/>
    <p:sldId id="435" r:id="rId86"/>
    <p:sldId id="436" r:id="rId87"/>
    <p:sldId id="437" r:id="rId88"/>
    <p:sldId id="438" r:id="rId89"/>
    <p:sldId id="439" r:id="rId90"/>
    <p:sldId id="299" r:id="rId91"/>
    <p:sldId id="300" r:id="rId92"/>
    <p:sldId id="279" r:id="rId93"/>
    <p:sldId id="400" r:id="rId94"/>
    <p:sldId id="318" r:id="rId95"/>
    <p:sldId id="464" r:id="rId96"/>
    <p:sldId id="475" r:id="rId97"/>
    <p:sldId id="474" r:id="rId98"/>
    <p:sldId id="440" r:id="rId99"/>
    <p:sldId id="280" r:id="rId100"/>
    <p:sldId id="301" r:id="rId101"/>
    <p:sldId id="465" r:id="rId102"/>
    <p:sldId id="302" r:id="rId103"/>
    <p:sldId id="449" r:id="rId104"/>
    <p:sldId id="450" r:id="rId105"/>
    <p:sldId id="466" r:id="rId106"/>
    <p:sldId id="303" r:id="rId107"/>
    <p:sldId id="304" r:id="rId108"/>
    <p:sldId id="305" r:id="rId109"/>
    <p:sldId id="306" r:id="rId110"/>
    <p:sldId id="307" r:id="rId111"/>
    <p:sldId id="308" r:id="rId112"/>
    <p:sldId id="309" r:id="rId113"/>
    <p:sldId id="310" r:id="rId114"/>
    <p:sldId id="311" r:id="rId115"/>
    <p:sldId id="312" r:id="rId116"/>
    <p:sldId id="313" r:id="rId117"/>
    <p:sldId id="314" r:id="rId118"/>
    <p:sldId id="315" r:id="rId119"/>
    <p:sldId id="471" r:id="rId120"/>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39" autoAdjust="0"/>
    <p:restoredTop sz="94660"/>
  </p:normalViewPr>
  <p:slideViewPr>
    <p:cSldViewPr>
      <p:cViewPr varScale="1">
        <p:scale>
          <a:sx n="85" d="100"/>
          <a:sy n="85" d="100"/>
        </p:scale>
        <p:origin x="111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4"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4" Type="http://schemas.openxmlformats.org/officeDocument/2006/relationships/image" Target="../media/image4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8.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 Id="rId6" Type="http://schemas.openxmlformats.org/officeDocument/2006/relationships/image" Target="../media/image67.wmf"/><Relationship Id="rId5" Type="http://schemas.openxmlformats.org/officeDocument/2006/relationships/image" Target="../media/image66.wmf"/><Relationship Id="rId4" Type="http://schemas.openxmlformats.org/officeDocument/2006/relationships/image" Target="../media/image6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72.wmf"/><Relationship Id="rId1" Type="http://schemas.openxmlformats.org/officeDocument/2006/relationships/image" Target="../media/image19.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4" Type="http://schemas.openxmlformats.org/officeDocument/2006/relationships/image" Target="../media/image76.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4.wmf"/><Relationship Id="rId1" Type="http://schemas.openxmlformats.org/officeDocument/2006/relationships/image" Target="../media/image28.wmf"/><Relationship Id="rId4" Type="http://schemas.openxmlformats.org/officeDocument/2006/relationships/image" Target="../media/image75.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58.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3.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98.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 Id="rId4" Type="http://schemas.openxmlformats.org/officeDocument/2006/relationships/image" Target="../media/image106.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4.wmf"/><Relationship Id="rId1" Type="http://schemas.openxmlformats.org/officeDocument/2006/relationships/image" Target="../media/image109.wmf"/><Relationship Id="rId5" Type="http://schemas.openxmlformats.org/officeDocument/2006/relationships/image" Target="../media/image112.wmf"/><Relationship Id="rId4" Type="http://schemas.openxmlformats.org/officeDocument/2006/relationships/image" Target="../media/image111.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2.wmf"/><Relationship Id="rId1" Type="http://schemas.openxmlformats.org/officeDocument/2006/relationships/image" Target="../media/image109.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 Id="rId4" Type="http://schemas.openxmlformats.org/officeDocument/2006/relationships/image" Target="../media/image122.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25.wmf"/><Relationship Id="rId7" Type="http://schemas.openxmlformats.org/officeDocument/2006/relationships/image" Target="../media/image129.wmf"/><Relationship Id="rId2" Type="http://schemas.openxmlformats.org/officeDocument/2006/relationships/image" Target="../media/image124.wmf"/><Relationship Id="rId1" Type="http://schemas.openxmlformats.org/officeDocument/2006/relationships/image" Target="../media/image123.wmf"/><Relationship Id="rId6" Type="http://schemas.openxmlformats.org/officeDocument/2006/relationships/image" Target="../media/image128.wmf"/><Relationship Id="rId5" Type="http://schemas.openxmlformats.org/officeDocument/2006/relationships/image" Target="../media/image127.wmf"/><Relationship Id="rId4" Type="http://schemas.openxmlformats.org/officeDocument/2006/relationships/image" Target="../media/image126.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41.wmf"/><Relationship Id="rId1" Type="http://schemas.openxmlformats.org/officeDocument/2006/relationships/image" Target="../media/image140.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67.e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70.emf"/><Relationship Id="rId1" Type="http://schemas.openxmlformats.org/officeDocument/2006/relationships/image" Target="../media/image169.e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73.emf"/><Relationship Id="rId7" Type="http://schemas.openxmlformats.org/officeDocument/2006/relationships/image" Target="../media/image177.emf"/><Relationship Id="rId2" Type="http://schemas.openxmlformats.org/officeDocument/2006/relationships/image" Target="../media/image172.emf"/><Relationship Id="rId1" Type="http://schemas.openxmlformats.org/officeDocument/2006/relationships/image" Target="../media/image171.emf"/><Relationship Id="rId6" Type="http://schemas.openxmlformats.org/officeDocument/2006/relationships/image" Target="../media/image176.emf"/><Relationship Id="rId5" Type="http://schemas.openxmlformats.org/officeDocument/2006/relationships/image" Target="../media/image175.emf"/><Relationship Id="rId4" Type="http://schemas.openxmlformats.org/officeDocument/2006/relationships/image" Target="../media/image174.e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185.emf"/><Relationship Id="rId3" Type="http://schemas.openxmlformats.org/officeDocument/2006/relationships/image" Target="../media/image180.emf"/><Relationship Id="rId7" Type="http://schemas.openxmlformats.org/officeDocument/2006/relationships/image" Target="../media/image184.emf"/><Relationship Id="rId2" Type="http://schemas.openxmlformats.org/officeDocument/2006/relationships/image" Target="../media/image179.emf"/><Relationship Id="rId1" Type="http://schemas.openxmlformats.org/officeDocument/2006/relationships/image" Target="../media/image178.emf"/><Relationship Id="rId6" Type="http://schemas.openxmlformats.org/officeDocument/2006/relationships/image" Target="../media/image183.emf"/><Relationship Id="rId11" Type="http://schemas.openxmlformats.org/officeDocument/2006/relationships/image" Target="../media/image188.emf"/><Relationship Id="rId5" Type="http://schemas.openxmlformats.org/officeDocument/2006/relationships/image" Target="../media/image182.emf"/><Relationship Id="rId10" Type="http://schemas.openxmlformats.org/officeDocument/2006/relationships/image" Target="../media/image187.emf"/><Relationship Id="rId4" Type="http://schemas.openxmlformats.org/officeDocument/2006/relationships/image" Target="../media/image181.emf"/><Relationship Id="rId9" Type="http://schemas.openxmlformats.org/officeDocument/2006/relationships/image" Target="../media/image186.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89.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90.e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192.emf"/><Relationship Id="rId1" Type="http://schemas.openxmlformats.org/officeDocument/2006/relationships/image" Target="../media/image191.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194.wmf"/><Relationship Id="rId2" Type="http://schemas.openxmlformats.org/officeDocument/2006/relationships/image" Target="../media/image193.wmf"/><Relationship Id="rId1" Type="http://schemas.openxmlformats.org/officeDocument/2006/relationships/image" Target="../media/image191.wmf"/><Relationship Id="rId5" Type="http://schemas.openxmlformats.org/officeDocument/2006/relationships/image" Target="../media/image196.wmf"/><Relationship Id="rId4" Type="http://schemas.openxmlformats.org/officeDocument/2006/relationships/image" Target="../media/image195.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198.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94.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01.wmf"/><Relationship Id="rId2" Type="http://schemas.openxmlformats.org/officeDocument/2006/relationships/image" Target="../media/image200.wmf"/><Relationship Id="rId1" Type="http://schemas.openxmlformats.org/officeDocument/2006/relationships/image" Target="../media/image199.wmf"/><Relationship Id="rId5" Type="http://schemas.openxmlformats.org/officeDocument/2006/relationships/image" Target="../media/image194.wmf"/><Relationship Id="rId4" Type="http://schemas.openxmlformats.org/officeDocument/2006/relationships/image" Target="../media/image202.e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201.wmf"/><Relationship Id="rId2" Type="http://schemas.openxmlformats.org/officeDocument/2006/relationships/image" Target="../media/image200.wmf"/><Relationship Id="rId1" Type="http://schemas.openxmlformats.org/officeDocument/2006/relationships/image" Target="../media/image194.wmf"/></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194.wmf"/><Relationship Id="rId1" Type="http://schemas.openxmlformats.org/officeDocument/2006/relationships/image" Target="../media/image203.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03.wmf"/><Relationship Id="rId4" Type="http://schemas.openxmlformats.org/officeDocument/2006/relationships/image" Target="../media/image206.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194.wmf"/><Relationship Id="rId1" Type="http://schemas.openxmlformats.org/officeDocument/2006/relationships/image" Target="../media/image199.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211.wmf"/><Relationship Id="rId2" Type="http://schemas.openxmlformats.org/officeDocument/2006/relationships/image" Target="../media/image210.wmf"/><Relationship Id="rId1" Type="http://schemas.openxmlformats.org/officeDocument/2006/relationships/image" Target="../media/image194.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5.e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219.emf"/><Relationship Id="rId2" Type="http://schemas.openxmlformats.org/officeDocument/2006/relationships/image" Target="../media/image218.emf"/><Relationship Id="rId1" Type="http://schemas.openxmlformats.org/officeDocument/2006/relationships/image" Target="../media/image217.e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233.emf"/><Relationship Id="rId2" Type="http://schemas.openxmlformats.org/officeDocument/2006/relationships/image" Target="../media/image232.emf"/><Relationship Id="rId1" Type="http://schemas.openxmlformats.org/officeDocument/2006/relationships/image" Target="../media/image231.emf"/><Relationship Id="rId4" Type="http://schemas.openxmlformats.org/officeDocument/2006/relationships/image" Target="../media/image194.w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35.w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36.w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237.w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4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25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5257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218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258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258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5258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EF4F967D-86B8-405C-9282-5D1F91FD8633}" type="slidenum">
              <a:rPr lang="en-US" altLang="zh-CN"/>
              <a:pPr>
                <a:defRPr/>
              </a:pPr>
              <a:t>‹#›</a:t>
            </a:fld>
            <a:endParaRPr lang="en-US" altLang="zh-CN"/>
          </a:p>
        </p:txBody>
      </p:sp>
    </p:spTree>
    <p:extLst>
      <p:ext uri="{BB962C8B-B14F-4D97-AF65-F5344CB8AC3E}">
        <p14:creationId xmlns:p14="http://schemas.microsoft.com/office/powerpoint/2010/main" val="7473759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865AD61-BE70-49FD-B113-A37127B67CA1}" type="slidenum">
              <a:rPr lang="en-US" altLang="zh-CN"/>
              <a:pPr>
                <a:defRPr/>
              </a:pPr>
              <a:t>‹#›</a:t>
            </a:fld>
            <a:endParaRPr lang="en-US" altLang="zh-CN"/>
          </a:p>
        </p:txBody>
      </p:sp>
    </p:spTree>
    <p:extLst>
      <p:ext uri="{BB962C8B-B14F-4D97-AF65-F5344CB8AC3E}">
        <p14:creationId xmlns:p14="http://schemas.microsoft.com/office/powerpoint/2010/main" val="2919372494"/>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083FEAD-0CF0-4DFA-847F-E6BC97778F10}" type="slidenum">
              <a:rPr lang="en-US" altLang="zh-CN"/>
              <a:pPr>
                <a:defRPr/>
              </a:pPr>
              <a:t>‹#›</a:t>
            </a:fld>
            <a:endParaRPr lang="en-US" altLang="zh-CN"/>
          </a:p>
        </p:txBody>
      </p:sp>
    </p:spTree>
    <p:extLst>
      <p:ext uri="{BB962C8B-B14F-4D97-AF65-F5344CB8AC3E}">
        <p14:creationId xmlns:p14="http://schemas.microsoft.com/office/powerpoint/2010/main" val="3464370230"/>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02D6111-954B-4F5A-8208-1444F92982A3}" type="slidenum">
              <a:rPr lang="en-US" altLang="zh-CN"/>
              <a:pPr>
                <a:defRPr/>
              </a:pPr>
              <a:t>‹#›</a:t>
            </a:fld>
            <a:endParaRPr lang="en-US" altLang="zh-CN"/>
          </a:p>
        </p:txBody>
      </p:sp>
    </p:spTree>
    <p:extLst>
      <p:ext uri="{BB962C8B-B14F-4D97-AF65-F5344CB8AC3E}">
        <p14:creationId xmlns:p14="http://schemas.microsoft.com/office/powerpoint/2010/main" val="2452464359"/>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672A7EF-E3AC-40E6-ADE4-BD9F6BFDFE28}" type="slidenum">
              <a:rPr lang="en-US" altLang="zh-CN"/>
              <a:pPr>
                <a:defRPr/>
              </a:pPr>
              <a:t>‹#›</a:t>
            </a:fld>
            <a:endParaRPr lang="en-US" altLang="zh-CN"/>
          </a:p>
        </p:txBody>
      </p:sp>
    </p:spTree>
    <p:extLst>
      <p:ext uri="{BB962C8B-B14F-4D97-AF65-F5344CB8AC3E}">
        <p14:creationId xmlns:p14="http://schemas.microsoft.com/office/powerpoint/2010/main" val="1480157405"/>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07C44D5A-6BCE-4368-80FF-052B66CA22F1}" type="slidenum">
              <a:rPr lang="en-US" altLang="zh-CN"/>
              <a:pPr>
                <a:defRPr/>
              </a:pPr>
              <a:t>‹#›</a:t>
            </a:fld>
            <a:endParaRPr lang="en-US" altLang="zh-CN"/>
          </a:p>
        </p:txBody>
      </p:sp>
    </p:spTree>
    <p:extLst>
      <p:ext uri="{BB962C8B-B14F-4D97-AF65-F5344CB8AC3E}">
        <p14:creationId xmlns:p14="http://schemas.microsoft.com/office/powerpoint/2010/main" val="3464111385"/>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25891D1E-808F-4725-B854-A43F04BD8EFD}" type="slidenum">
              <a:rPr lang="en-US" altLang="zh-CN"/>
              <a:pPr>
                <a:defRPr/>
              </a:pPr>
              <a:t>‹#›</a:t>
            </a:fld>
            <a:endParaRPr lang="en-US" altLang="zh-CN"/>
          </a:p>
        </p:txBody>
      </p:sp>
    </p:spTree>
    <p:extLst>
      <p:ext uri="{BB962C8B-B14F-4D97-AF65-F5344CB8AC3E}">
        <p14:creationId xmlns:p14="http://schemas.microsoft.com/office/powerpoint/2010/main" val="1829392705"/>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82D5356C-A586-44B0-A72E-CFC9892B3BD1}" type="slidenum">
              <a:rPr lang="en-US" altLang="zh-CN"/>
              <a:pPr>
                <a:defRPr/>
              </a:pPr>
              <a:t>‹#›</a:t>
            </a:fld>
            <a:endParaRPr lang="en-US" altLang="zh-CN"/>
          </a:p>
        </p:txBody>
      </p:sp>
    </p:spTree>
    <p:extLst>
      <p:ext uri="{BB962C8B-B14F-4D97-AF65-F5344CB8AC3E}">
        <p14:creationId xmlns:p14="http://schemas.microsoft.com/office/powerpoint/2010/main" val="1695325542"/>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FD13023-E5D4-40EF-94C0-7E7A75B29758}" type="slidenum">
              <a:rPr lang="en-US" altLang="zh-CN"/>
              <a:pPr>
                <a:defRPr/>
              </a:pPr>
              <a:t>‹#›</a:t>
            </a:fld>
            <a:endParaRPr lang="en-US" altLang="zh-CN"/>
          </a:p>
        </p:txBody>
      </p:sp>
    </p:spTree>
    <p:extLst>
      <p:ext uri="{BB962C8B-B14F-4D97-AF65-F5344CB8AC3E}">
        <p14:creationId xmlns:p14="http://schemas.microsoft.com/office/powerpoint/2010/main" val="370878649"/>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62B6A2F-2C93-47A5-B687-16801CFAEB83}" type="slidenum">
              <a:rPr lang="en-US" altLang="zh-CN"/>
              <a:pPr>
                <a:defRPr/>
              </a:pPr>
              <a:t>‹#›</a:t>
            </a:fld>
            <a:endParaRPr lang="en-US" altLang="zh-CN"/>
          </a:p>
        </p:txBody>
      </p:sp>
    </p:spTree>
    <p:extLst>
      <p:ext uri="{BB962C8B-B14F-4D97-AF65-F5344CB8AC3E}">
        <p14:creationId xmlns:p14="http://schemas.microsoft.com/office/powerpoint/2010/main" val="4266979845"/>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B23990E-858B-4844-B590-952B4427B691}" type="slidenum">
              <a:rPr lang="en-US" altLang="zh-CN"/>
              <a:pPr>
                <a:defRPr/>
              </a:pPr>
              <a:t>‹#›</a:t>
            </a:fld>
            <a:endParaRPr lang="en-US" altLang="zh-CN"/>
          </a:p>
        </p:txBody>
      </p:sp>
    </p:spTree>
    <p:extLst>
      <p:ext uri="{BB962C8B-B14F-4D97-AF65-F5344CB8AC3E}">
        <p14:creationId xmlns:p14="http://schemas.microsoft.com/office/powerpoint/2010/main" val="4082391314"/>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5DC88B4-121F-4D38-ACD9-91FE8135C08C}" type="slidenum">
              <a:rPr lang="en-US" altLang="zh-CN"/>
              <a:pPr>
                <a:defRPr/>
              </a:pPr>
              <a:t>‹#›</a:t>
            </a:fld>
            <a:endParaRPr lang="en-US" altLang="zh-CN"/>
          </a:p>
        </p:txBody>
      </p:sp>
    </p:spTree>
    <p:extLst>
      <p:ext uri="{BB962C8B-B14F-4D97-AF65-F5344CB8AC3E}">
        <p14:creationId xmlns:p14="http://schemas.microsoft.com/office/powerpoint/2010/main" val="2068109131"/>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fld id="{129007A8-F4F6-441D-8D74-297CDF5532A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7.w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0.wmf"/><Relationship Id="rId5" Type="http://schemas.openxmlformats.org/officeDocument/2006/relationships/oleObject" Target="../embeddings/oleObject7.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3.wmf"/><Relationship Id="rId4"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6.wmf"/><Relationship Id="rId5" Type="http://schemas.openxmlformats.org/officeDocument/2006/relationships/oleObject" Target="../embeddings/oleObject12.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4.bin"/></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19.wmf"/><Relationship Id="rId4" Type="http://schemas.openxmlformats.org/officeDocument/2006/relationships/oleObject" Target="../embeddings/oleObject15.bin"/></Relationships>
</file>

<file path=ppt/slides/_rels/slide13.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2.wmf"/><Relationship Id="rId5" Type="http://schemas.openxmlformats.org/officeDocument/2006/relationships/oleObject" Target="../embeddings/oleObject17.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19.bin"/></Relationships>
</file>

<file path=ppt/slides/_rels/slide1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slideLayout" Target="../slideLayouts/slideLayout7.xml"/><Relationship Id="rId4" Type="http://schemas.openxmlformats.org/officeDocument/2006/relationships/image" Target="../media/image27.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28.wmf"/></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9.wmf"/><Relationship Id="rId5" Type="http://schemas.openxmlformats.org/officeDocument/2006/relationships/oleObject" Target="../embeddings/oleObject21.bin"/><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wmf"/></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19.wmf"/><Relationship Id="rId4" Type="http://schemas.openxmlformats.org/officeDocument/2006/relationships/oleObject" Target="../embeddings/oleObject23.bin"/></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8.w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41.wmf"/><Relationship Id="rId5" Type="http://schemas.openxmlformats.org/officeDocument/2006/relationships/oleObject" Target="../embeddings/oleObject25.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27.bin"/></Relationships>
</file>

<file path=ppt/slides/_rels/slide26.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45.wmf"/><Relationship Id="rId5" Type="http://schemas.openxmlformats.org/officeDocument/2006/relationships/oleObject" Target="../embeddings/oleObject29.bin"/><Relationship Id="rId4" Type="http://schemas.openxmlformats.org/officeDocument/2006/relationships/image" Target="../media/image44.wmf"/></Relationships>
</file>

<file path=ppt/slides/_rels/slide27.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48.wmf"/><Relationship Id="rId5" Type="http://schemas.openxmlformats.org/officeDocument/2006/relationships/oleObject" Target="../embeddings/oleObject32.bin"/><Relationship Id="rId4" Type="http://schemas.openxmlformats.org/officeDocument/2006/relationships/image" Target="../media/image47.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51.wmf"/><Relationship Id="rId5" Type="http://schemas.openxmlformats.org/officeDocument/2006/relationships/oleObject" Target="../embeddings/oleObject35.bin"/><Relationship Id="rId4" Type="http://schemas.openxmlformats.org/officeDocument/2006/relationships/image" Target="../media/image50.wmf"/></Relationships>
</file>

<file path=ppt/slides/_rels/slide29.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53.wmf"/><Relationship Id="rId5" Type="http://schemas.openxmlformats.org/officeDocument/2006/relationships/oleObject" Target="../embeddings/oleObject37.bin"/><Relationship Id="rId4" Type="http://schemas.openxmlformats.org/officeDocument/2006/relationships/image" Target="../media/image52.wmf"/></Relationships>
</file>

<file path=ppt/slides/_rels/slide30.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56.wmf"/><Relationship Id="rId5" Type="http://schemas.openxmlformats.org/officeDocument/2006/relationships/oleObject" Target="../embeddings/oleObject40.bin"/><Relationship Id="rId4" Type="http://schemas.openxmlformats.org/officeDocument/2006/relationships/image" Target="../media/image55.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2.bin"/><Relationship Id="rId7" Type="http://schemas.openxmlformats.org/officeDocument/2006/relationships/image" Target="../media/image52.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43.bin"/><Relationship Id="rId5" Type="http://schemas.openxmlformats.org/officeDocument/2006/relationships/image" Target="../media/image59.wmf"/><Relationship Id="rId4" Type="http://schemas.openxmlformats.org/officeDocument/2006/relationships/image" Target="../media/image58.wmf"/></Relationships>
</file>

<file path=ppt/slides/_rels/slide32.xml.rels><?xml version="1.0" encoding="UTF-8" standalone="yes"?>
<Relationships xmlns="http://schemas.openxmlformats.org/package/2006/relationships"><Relationship Id="rId3" Type="http://schemas.openxmlformats.org/officeDocument/2006/relationships/image" Target="../media/image59.wmf"/><Relationship Id="rId7" Type="http://schemas.openxmlformats.org/officeDocument/2006/relationships/image" Target="../media/image61.png"/><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60.png"/><Relationship Id="rId5" Type="http://schemas.openxmlformats.org/officeDocument/2006/relationships/image" Target="../media/image58.wmf"/><Relationship Id="rId4" Type="http://schemas.openxmlformats.org/officeDocument/2006/relationships/oleObject" Target="../embeddings/oleObject44.bin"/></Relationships>
</file>

<file path=ppt/slides/_rels/slide33.xml.rels><?xml version="1.0" encoding="UTF-8" standalone="yes"?>
<Relationships xmlns="http://schemas.openxmlformats.org/package/2006/relationships"><Relationship Id="rId8" Type="http://schemas.openxmlformats.org/officeDocument/2006/relationships/image" Target="../media/image64.wmf"/><Relationship Id="rId13" Type="http://schemas.openxmlformats.org/officeDocument/2006/relationships/oleObject" Target="../embeddings/oleObject50.bin"/><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66.wmf"/><Relationship Id="rId2" Type="http://schemas.openxmlformats.org/officeDocument/2006/relationships/slideLayout" Target="../slideLayouts/slideLayout7.xml"/><Relationship Id="rId16" Type="http://schemas.openxmlformats.org/officeDocument/2006/relationships/image" Target="../media/image61.png"/><Relationship Id="rId1" Type="http://schemas.openxmlformats.org/officeDocument/2006/relationships/vmlDrawing" Target="../drawings/vmlDrawing21.vml"/><Relationship Id="rId6" Type="http://schemas.openxmlformats.org/officeDocument/2006/relationships/image" Target="../media/image63.wmf"/><Relationship Id="rId11" Type="http://schemas.openxmlformats.org/officeDocument/2006/relationships/oleObject" Target="../embeddings/oleObject49.bin"/><Relationship Id="rId5" Type="http://schemas.openxmlformats.org/officeDocument/2006/relationships/oleObject" Target="../embeddings/oleObject46.bin"/><Relationship Id="rId15" Type="http://schemas.openxmlformats.org/officeDocument/2006/relationships/image" Target="../media/image60.png"/><Relationship Id="rId10" Type="http://schemas.openxmlformats.org/officeDocument/2006/relationships/image" Target="../media/image65.wmf"/><Relationship Id="rId4" Type="http://schemas.openxmlformats.org/officeDocument/2006/relationships/image" Target="../media/image62.wmf"/><Relationship Id="rId9" Type="http://schemas.openxmlformats.org/officeDocument/2006/relationships/oleObject" Target="../embeddings/oleObject48.bin"/><Relationship Id="rId14" Type="http://schemas.openxmlformats.org/officeDocument/2006/relationships/image" Target="../media/image67.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1.bin"/><Relationship Id="rId7" Type="http://schemas.openxmlformats.org/officeDocument/2006/relationships/image" Target="../media/image59.wmf"/><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8.wmf"/></Relationships>
</file>

<file path=ppt/slides/_rels/slide35.x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23.vml"/><Relationship Id="rId4" Type="http://schemas.openxmlformats.org/officeDocument/2006/relationships/image" Target="../media/image69.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70.wmf"/></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71.wmf"/><Relationship Id="rId5" Type="http://schemas.openxmlformats.org/officeDocument/2006/relationships/oleObject" Target="../embeddings/oleObject54.bin"/><Relationship Id="rId4" Type="http://schemas.openxmlformats.org/officeDocument/2006/relationships/image" Target="../media/image61.png"/></Relationships>
</file>

<file path=ppt/slides/_rels/slide3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oleObject" Target="../embeddings/oleObject55.bin"/><Relationship Id="rId7" Type="http://schemas.openxmlformats.org/officeDocument/2006/relationships/image" Target="../media/image60.png"/><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72.wmf"/><Relationship Id="rId5" Type="http://schemas.openxmlformats.org/officeDocument/2006/relationships/oleObject" Target="../embeddings/oleObject56.bin"/><Relationship Id="rId10" Type="http://schemas.openxmlformats.org/officeDocument/2006/relationships/image" Target="../media/image58.wmf"/><Relationship Id="rId4" Type="http://schemas.openxmlformats.org/officeDocument/2006/relationships/image" Target="../media/image19.wmf"/><Relationship Id="rId9" Type="http://schemas.openxmlformats.org/officeDocument/2006/relationships/oleObject" Target="../embeddings/oleObject57.bin"/></Relationships>
</file>

<file path=ppt/slides/_rels/slide40.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74.wmf"/><Relationship Id="rId5" Type="http://schemas.openxmlformats.org/officeDocument/2006/relationships/oleObject" Target="../embeddings/oleObject59.bin"/><Relationship Id="rId10" Type="http://schemas.openxmlformats.org/officeDocument/2006/relationships/image" Target="../media/image76.wmf"/><Relationship Id="rId4" Type="http://schemas.openxmlformats.org/officeDocument/2006/relationships/image" Target="../media/image73.wmf"/><Relationship Id="rId9" Type="http://schemas.openxmlformats.org/officeDocument/2006/relationships/oleObject" Target="../embeddings/oleObject61.bin"/></Relationships>
</file>

<file path=ppt/slides/_rels/slide41.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74.wmf"/><Relationship Id="rId5" Type="http://schemas.openxmlformats.org/officeDocument/2006/relationships/oleObject" Target="../embeddings/oleObject63.bin"/><Relationship Id="rId10" Type="http://schemas.openxmlformats.org/officeDocument/2006/relationships/image" Target="../media/image75.wmf"/><Relationship Id="rId4" Type="http://schemas.openxmlformats.org/officeDocument/2006/relationships/image" Target="../media/image28.wmf"/><Relationship Id="rId9" Type="http://schemas.openxmlformats.org/officeDocument/2006/relationships/oleObject" Target="../embeddings/oleObject65.bin"/></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29.wmf"/><Relationship Id="rId5" Type="http://schemas.openxmlformats.org/officeDocument/2006/relationships/oleObject" Target="../embeddings/oleObject66.bin"/><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oleObject" Target="../embeddings/oleObject67.bin"/><Relationship Id="rId7" Type="http://schemas.openxmlformats.org/officeDocument/2006/relationships/image" Target="../media/image77.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68.bin"/><Relationship Id="rId5" Type="http://schemas.openxmlformats.org/officeDocument/2006/relationships/image" Target="../media/image79.png"/><Relationship Id="rId4" Type="http://schemas.openxmlformats.org/officeDocument/2006/relationships/image" Target="../media/image58.wmf"/><Relationship Id="rId9" Type="http://schemas.openxmlformats.org/officeDocument/2006/relationships/image" Target="../media/image78.wmf"/></Relationships>
</file>

<file path=ppt/slides/_rels/slide4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image" Target="../media/image81.wmf"/><Relationship Id="rId7" Type="http://schemas.openxmlformats.org/officeDocument/2006/relationships/image" Target="../media/image82.wmf"/><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70.bin"/><Relationship Id="rId5" Type="http://schemas.openxmlformats.org/officeDocument/2006/relationships/image" Target="../media/image85.wmf"/><Relationship Id="rId4" Type="http://schemas.openxmlformats.org/officeDocument/2006/relationships/image" Target="../media/image84.wmf"/><Relationship Id="rId9" Type="http://schemas.openxmlformats.org/officeDocument/2006/relationships/image" Target="../media/image83.wmf"/></Relationships>
</file>

<file path=ppt/slides/_rels/slide4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 Id="rId5" Type="http://schemas.openxmlformats.org/officeDocument/2006/relationships/image" Target="../media/image90.png"/><Relationship Id="rId4" Type="http://schemas.openxmlformats.org/officeDocument/2006/relationships/image" Target="../media/image89.png"/></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 Id="rId5" Type="http://schemas.openxmlformats.org/officeDocument/2006/relationships/image" Target="../media/image92.png"/><Relationship Id="rId4" Type="http://schemas.openxmlformats.org/officeDocument/2006/relationships/image" Target="../media/image91.png"/></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94.png"/><Relationship Id="rId5" Type="http://schemas.openxmlformats.org/officeDocument/2006/relationships/image" Target="../media/image92.png"/><Relationship Id="rId4" Type="http://schemas.openxmlformats.org/officeDocument/2006/relationships/image" Target="../media/image93.wmf"/></Relationships>
</file>

<file path=ppt/slides/_rels/slide52.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95.wmf"/><Relationship Id="rId5" Type="http://schemas.openxmlformats.org/officeDocument/2006/relationships/oleObject" Target="../embeddings/oleObject74.bin"/><Relationship Id="rId4" Type="http://schemas.openxmlformats.org/officeDocument/2006/relationships/image" Target="../media/image93.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7.xml"/><Relationship Id="rId1" Type="http://schemas.openxmlformats.org/officeDocument/2006/relationships/vmlDrawing" Target="../drawings/vmlDrawing34.vml"/><Relationship Id="rId4" Type="http://schemas.openxmlformats.org/officeDocument/2006/relationships/image" Target="../media/image97.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9.wmf"/><Relationship Id="rId5" Type="http://schemas.openxmlformats.org/officeDocument/2006/relationships/oleObject" Target="../embeddings/oleObject78.bin"/><Relationship Id="rId4" Type="http://schemas.openxmlformats.org/officeDocument/2006/relationships/image" Target="../media/image98.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5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108.png"/><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104.wmf"/><Relationship Id="rId11" Type="http://schemas.openxmlformats.org/officeDocument/2006/relationships/image" Target="../media/image107.png"/><Relationship Id="rId5" Type="http://schemas.openxmlformats.org/officeDocument/2006/relationships/oleObject" Target="../embeddings/oleObject80.bin"/><Relationship Id="rId10" Type="http://schemas.openxmlformats.org/officeDocument/2006/relationships/image" Target="../media/image106.wmf"/><Relationship Id="rId4" Type="http://schemas.openxmlformats.org/officeDocument/2006/relationships/image" Target="../media/image103.wmf"/><Relationship Id="rId9" Type="http://schemas.openxmlformats.org/officeDocument/2006/relationships/oleObject" Target="../embeddings/oleObject82.bin"/></Relationships>
</file>

<file path=ppt/slides/_rels/slide59.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oleObject" Target="../embeddings/oleObject87.bin"/><Relationship Id="rId3" Type="http://schemas.openxmlformats.org/officeDocument/2006/relationships/oleObject" Target="../embeddings/oleObject83.bin"/><Relationship Id="rId7" Type="http://schemas.openxmlformats.org/officeDocument/2006/relationships/image" Target="../media/image104.wmf"/><Relationship Id="rId12" Type="http://schemas.openxmlformats.org/officeDocument/2006/relationships/image" Target="../media/image111.wmf"/><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oleObject84.bin"/><Relationship Id="rId11" Type="http://schemas.openxmlformats.org/officeDocument/2006/relationships/oleObject" Target="../embeddings/oleObject86.bin"/><Relationship Id="rId5" Type="http://schemas.openxmlformats.org/officeDocument/2006/relationships/image" Target="../media/image113.png"/><Relationship Id="rId10" Type="http://schemas.openxmlformats.org/officeDocument/2006/relationships/image" Target="../media/image110.wmf"/><Relationship Id="rId4" Type="http://schemas.openxmlformats.org/officeDocument/2006/relationships/image" Target="../media/image109.wmf"/><Relationship Id="rId9" Type="http://schemas.openxmlformats.org/officeDocument/2006/relationships/oleObject" Target="../embeddings/oleObject85.bin"/><Relationship Id="rId14" Type="http://schemas.openxmlformats.org/officeDocument/2006/relationships/image" Target="../media/image112.wmf"/></Relationships>
</file>

<file path=ppt/slides/_rels/slide60.x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oleObject" Target="../embeddings/oleObject88.bin"/><Relationship Id="rId7" Type="http://schemas.openxmlformats.org/officeDocument/2006/relationships/oleObject" Target="../embeddings/oleObject90.bin"/><Relationship Id="rId12" Type="http://schemas.openxmlformats.org/officeDocument/2006/relationships/image" Target="../media/image118.jpeg"/><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112.wmf"/><Relationship Id="rId11" Type="http://schemas.openxmlformats.org/officeDocument/2006/relationships/image" Target="../media/image117.png"/><Relationship Id="rId5" Type="http://schemas.openxmlformats.org/officeDocument/2006/relationships/oleObject" Target="../embeddings/oleObject89.bin"/><Relationship Id="rId10" Type="http://schemas.openxmlformats.org/officeDocument/2006/relationships/image" Target="../media/image116.png"/><Relationship Id="rId4" Type="http://schemas.openxmlformats.org/officeDocument/2006/relationships/image" Target="../media/image109.wmf"/><Relationship Id="rId9" Type="http://schemas.openxmlformats.org/officeDocument/2006/relationships/image" Target="../media/image115.png"/></Relationships>
</file>

<file path=ppt/slides/_rels/slide61.xml.rels><?xml version="1.0" encoding="UTF-8" standalone="yes"?>
<Relationships xmlns="http://schemas.openxmlformats.org/package/2006/relationships"><Relationship Id="rId8" Type="http://schemas.openxmlformats.org/officeDocument/2006/relationships/image" Target="../media/image121.w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120.wmf"/><Relationship Id="rId5" Type="http://schemas.openxmlformats.org/officeDocument/2006/relationships/oleObject" Target="../embeddings/oleObject92.bin"/><Relationship Id="rId10" Type="http://schemas.openxmlformats.org/officeDocument/2006/relationships/image" Target="../media/image122.wmf"/><Relationship Id="rId4" Type="http://schemas.openxmlformats.org/officeDocument/2006/relationships/image" Target="../media/image119.wmf"/><Relationship Id="rId9" Type="http://schemas.openxmlformats.org/officeDocument/2006/relationships/oleObject" Target="../embeddings/oleObject94.bin"/></Relationships>
</file>

<file path=ppt/slides/_rels/slide62.xml.rels><?xml version="1.0" encoding="UTF-8" standalone="yes"?>
<Relationships xmlns="http://schemas.openxmlformats.org/package/2006/relationships"><Relationship Id="rId8" Type="http://schemas.openxmlformats.org/officeDocument/2006/relationships/image" Target="../media/image125.wmf"/><Relationship Id="rId13" Type="http://schemas.openxmlformats.org/officeDocument/2006/relationships/oleObject" Target="../embeddings/oleObject100.bin"/><Relationship Id="rId3" Type="http://schemas.openxmlformats.org/officeDocument/2006/relationships/oleObject" Target="../embeddings/oleObject95.bin"/><Relationship Id="rId7" Type="http://schemas.openxmlformats.org/officeDocument/2006/relationships/oleObject" Target="../embeddings/oleObject97.bin"/><Relationship Id="rId12" Type="http://schemas.openxmlformats.org/officeDocument/2006/relationships/image" Target="../media/image127.wmf"/><Relationship Id="rId2" Type="http://schemas.openxmlformats.org/officeDocument/2006/relationships/slideLayout" Target="../slideLayouts/slideLayout7.xml"/><Relationship Id="rId16" Type="http://schemas.openxmlformats.org/officeDocument/2006/relationships/image" Target="../media/image129.wmf"/><Relationship Id="rId1" Type="http://schemas.openxmlformats.org/officeDocument/2006/relationships/vmlDrawing" Target="../drawings/vmlDrawing40.vml"/><Relationship Id="rId6" Type="http://schemas.openxmlformats.org/officeDocument/2006/relationships/image" Target="../media/image124.wmf"/><Relationship Id="rId11" Type="http://schemas.openxmlformats.org/officeDocument/2006/relationships/oleObject" Target="../embeddings/oleObject99.bin"/><Relationship Id="rId5" Type="http://schemas.openxmlformats.org/officeDocument/2006/relationships/oleObject" Target="../embeddings/oleObject96.bin"/><Relationship Id="rId15" Type="http://schemas.openxmlformats.org/officeDocument/2006/relationships/oleObject" Target="../embeddings/oleObject101.bin"/><Relationship Id="rId10" Type="http://schemas.openxmlformats.org/officeDocument/2006/relationships/image" Target="../media/image126.wmf"/><Relationship Id="rId4" Type="http://schemas.openxmlformats.org/officeDocument/2006/relationships/image" Target="../media/image123.wmf"/><Relationship Id="rId9" Type="http://schemas.openxmlformats.org/officeDocument/2006/relationships/oleObject" Target="../embeddings/oleObject98.bin"/><Relationship Id="rId14" Type="http://schemas.openxmlformats.org/officeDocument/2006/relationships/image" Target="../media/image128.wmf"/></Relationships>
</file>

<file path=ppt/slides/_rels/slide63.xml.rels><?xml version="1.0" encoding="UTF-8" standalone="yes"?>
<Relationships xmlns="http://schemas.openxmlformats.org/package/2006/relationships"><Relationship Id="rId8" Type="http://schemas.openxmlformats.org/officeDocument/2006/relationships/image" Target="../media/image136.wmf"/><Relationship Id="rId3" Type="http://schemas.openxmlformats.org/officeDocument/2006/relationships/image" Target="../media/image131.wmf"/><Relationship Id="rId7" Type="http://schemas.openxmlformats.org/officeDocument/2006/relationships/image" Target="../media/image135.wmf"/><Relationship Id="rId2" Type="http://schemas.openxmlformats.org/officeDocument/2006/relationships/image" Target="../media/image130.wmf"/><Relationship Id="rId1" Type="http://schemas.openxmlformats.org/officeDocument/2006/relationships/slideLayout" Target="../slideLayouts/slideLayout7.xml"/><Relationship Id="rId6" Type="http://schemas.openxmlformats.org/officeDocument/2006/relationships/image" Target="../media/image134.wmf"/><Relationship Id="rId11" Type="http://schemas.openxmlformats.org/officeDocument/2006/relationships/image" Target="../media/image139.wmf"/><Relationship Id="rId5" Type="http://schemas.openxmlformats.org/officeDocument/2006/relationships/image" Target="../media/image133.wmf"/><Relationship Id="rId10" Type="http://schemas.openxmlformats.org/officeDocument/2006/relationships/image" Target="../media/image138.wmf"/><Relationship Id="rId4" Type="http://schemas.openxmlformats.org/officeDocument/2006/relationships/image" Target="../media/image132.wmf"/><Relationship Id="rId9" Type="http://schemas.openxmlformats.org/officeDocument/2006/relationships/image" Target="../media/image137.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141.wmf"/><Relationship Id="rId5" Type="http://schemas.openxmlformats.org/officeDocument/2006/relationships/oleObject" Target="../embeddings/oleObject103.bin"/><Relationship Id="rId4" Type="http://schemas.openxmlformats.org/officeDocument/2006/relationships/image" Target="../media/image140.wmf"/></Relationships>
</file>

<file path=ppt/slides/_rels/slide65.xml.rels><?xml version="1.0" encoding="UTF-8" standalone="yes"?>
<Relationships xmlns="http://schemas.openxmlformats.org/package/2006/relationships"><Relationship Id="rId2" Type="http://schemas.openxmlformats.org/officeDocument/2006/relationships/image" Target="../media/image142.wmf"/><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image" Target="../media/image144.wmf"/><Relationship Id="rId7" Type="http://schemas.openxmlformats.org/officeDocument/2006/relationships/image" Target="../media/image148.wmf"/><Relationship Id="rId2" Type="http://schemas.openxmlformats.org/officeDocument/2006/relationships/image" Target="../media/image143.wmf"/><Relationship Id="rId1" Type="http://schemas.openxmlformats.org/officeDocument/2006/relationships/slideLayout" Target="../slideLayouts/slideLayout7.xml"/><Relationship Id="rId6" Type="http://schemas.openxmlformats.org/officeDocument/2006/relationships/image" Target="../media/image147.wmf"/><Relationship Id="rId5" Type="http://schemas.openxmlformats.org/officeDocument/2006/relationships/image" Target="../media/image146.wmf"/><Relationship Id="rId4" Type="http://schemas.openxmlformats.org/officeDocument/2006/relationships/image" Target="../media/image145.wmf"/></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104.bin"/><Relationship Id="rId3" Type="http://schemas.openxmlformats.org/officeDocument/2006/relationships/image" Target="../media/image143.wmf"/><Relationship Id="rId7" Type="http://schemas.openxmlformats.org/officeDocument/2006/relationships/image" Target="../media/image61.png"/><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60.png"/><Relationship Id="rId11" Type="http://schemas.openxmlformats.org/officeDocument/2006/relationships/image" Target="../media/image150.wmf"/><Relationship Id="rId5" Type="http://schemas.openxmlformats.org/officeDocument/2006/relationships/image" Target="../media/image146.wmf"/><Relationship Id="rId10" Type="http://schemas.openxmlformats.org/officeDocument/2006/relationships/oleObject" Target="../embeddings/oleObject105.bin"/><Relationship Id="rId4" Type="http://schemas.openxmlformats.org/officeDocument/2006/relationships/image" Target="../media/image144.wmf"/><Relationship Id="rId9" Type="http://schemas.openxmlformats.org/officeDocument/2006/relationships/image" Target="../media/image149.wmf"/></Relationships>
</file>

<file path=ppt/slides/_rels/slide68.x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slideLayout" Target="../slideLayouts/slideLayout7.xml"/><Relationship Id="rId6" Type="http://schemas.openxmlformats.org/officeDocument/2006/relationships/image" Target="../media/image143.wmf"/><Relationship Id="rId5" Type="http://schemas.openxmlformats.org/officeDocument/2006/relationships/image" Target="../media/image154.wmf"/><Relationship Id="rId4" Type="http://schemas.openxmlformats.org/officeDocument/2006/relationships/image" Target="../media/image153.wmf"/></Relationships>
</file>

<file path=ppt/slides/_rels/slide69.xml.rels><?xml version="1.0" encoding="UTF-8" standalone="yes"?>
<Relationships xmlns="http://schemas.openxmlformats.org/package/2006/relationships"><Relationship Id="rId3" Type="http://schemas.openxmlformats.org/officeDocument/2006/relationships/image" Target="../media/image156.wmf"/><Relationship Id="rId7" Type="http://schemas.openxmlformats.org/officeDocument/2006/relationships/image" Target="../media/image160.wmf"/><Relationship Id="rId2" Type="http://schemas.openxmlformats.org/officeDocument/2006/relationships/image" Target="../media/image155.wmf"/><Relationship Id="rId1" Type="http://schemas.openxmlformats.org/officeDocument/2006/relationships/slideLayout" Target="../slideLayouts/slideLayout7.xml"/><Relationship Id="rId6" Type="http://schemas.openxmlformats.org/officeDocument/2006/relationships/image" Target="../media/image159.wmf"/><Relationship Id="rId5" Type="http://schemas.openxmlformats.org/officeDocument/2006/relationships/image" Target="../media/image158.wmf"/><Relationship Id="rId4" Type="http://schemas.openxmlformats.org/officeDocument/2006/relationships/image" Target="../media/image157.wmf"/></Relationships>
</file>

<file path=ppt/slides/_rels/slide70.xml.rels><?xml version="1.0" encoding="UTF-8" standalone="yes"?>
<Relationships xmlns="http://schemas.openxmlformats.org/package/2006/relationships"><Relationship Id="rId3" Type="http://schemas.openxmlformats.org/officeDocument/2006/relationships/image" Target="../media/image162.wmf"/><Relationship Id="rId7" Type="http://schemas.openxmlformats.org/officeDocument/2006/relationships/image" Target="../media/image166.wmf"/><Relationship Id="rId2" Type="http://schemas.openxmlformats.org/officeDocument/2006/relationships/image" Target="../media/image161.wmf"/><Relationship Id="rId1" Type="http://schemas.openxmlformats.org/officeDocument/2006/relationships/slideLayout" Target="../slideLayouts/slideLayout7.xml"/><Relationship Id="rId6" Type="http://schemas.openxmlformats.org/officeDocument/2006/relationships/image" Target="../media/image165.wmf"/><Relationship Id="rId5" Type="http://schemas.openxmlformats.org/officeDocument/2006/relationships/image" Target="../media/image164.wmf"/><Relationship Id="rId4" Type="http://schemas.openxmlformats.org/officeDocument/2006/relationships/image" Target="../media/image163.w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Layout" Target="../slideLayouts/slideLayout7.xml"/><Relationship Id="rId1" Type="http://schemas.openxmlformats.org/officeDocument/2006/relationships/vmlDrawing" Target="../drawings/vmlDrawing43.vml"/><Relationship Id="rId5" Type="http://schemas.openxmlformats.org/officeDocument/2006/relationships/image" Target="../media/image168.wmf"/><Relationship Id="rId4" Type="http://schemas.openxmlformats.org/officeDocument/2006/relationships/image" Target="../media/image167.e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07.bin"/><Relationship Id="rId7" Type="http://schemas.openxmlformats.org/officeDocument/2006/relationships/image" Target="../media/image168.wmf"/><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170.emf"/><Relationship Id="rId5" Type="http://schemas.openxmlformats.org/officeDocument/2006/relationships/oleObject" Target="../embeddings/oleObject108.bin"/><Relationship Id="rId4" Type="http://schemas.openxmlformats.org/officeDocument/2006/relationships/image" Target="../media/image169.emf"/></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111.bin"/><Relationship Id="rId13" Type="http://schemas.openxmlformats.org/officeDocument/2006/relationships/image" Target="../media/image175.emf"/><Relationship Id="rId3" Type="http://schemas.openxmlformats.org/officeDocument/2006/relationships/oleObject" Target="../embeddings/oleObject109.bin"/><Relationship Id="rId7" Type="http://schemas.openxmlformats.org/officeDocument/2006/relationships/image" Target="../media/image172.emf"/><Relationship Id="rId12" Type="http://schemas.openxmlformats.org/officeDocument/2006/relationships/oleObject" Target="../embeddings/oleObject113.bin"/><Relationship Id="rId17" Type="http://schemas.openxmlformats.org/officeDocument/2006/relationships/image" Target="../media/image177.emf"/><Relationship Id="rId2" Type="http://schemas.openxmlformats.org/officeDocument/2006/relationships/slideLayout" Target="../slideLayouts/slideLayout7.xml"/><Relationship Id="rId16" Type="http://schemas.openxmlformats.org/officeDocument/2006/relationships/oleObject" Target="../embeddings/oleObject115.bin"/><Relationship Id="rId1" Type="http://schemas.openxmlformats.org/officeDocument/2006/relationships/vmlDrawing" Target="../drawings/vmlDrawing45.vml"/><Relationship Id="rId6" Type="http://schemas.openxmlformats.org/officeDocument/2006/relationships/oleObject" Target="../embeddings/oleObject110.bin"/><Relationship Id="rId11" Type="http://schemas.openxmlformats.org/officeDocument/2006/relationships/image" Target="../media/image174.emf"/><Relationship Id="rId5" Type="http://schemas.openxmlformats.org/officeDocument/2006/relationships/image" Target="../media/image168.wmf"/><Relationship Id="rId15" Type="http://schemas.openxmlformats.org/officeDocument/2006/relationships/image" Target="../media/image176.emf"/><Relationship Id="rId10" Type="http://schemas.openxmlformats.org/officeDocument/2006/relationships/oleObject" Target="../embeddings/oleObject112.bin"/><Relationship Id="rId4" Type="http://schemas.openxmlformats.org/officeDocument/2006/relationships/image" Target="../media/image171.emf"/><Relationship Id="rId9" Type="http://schemas.openxmlformats.org/officeDocument/2006/relationships/image" Target="../media/image173.emf"/><Relationship Id="rId14" Type="http://schemas.openxmlformats.org/officeDocument/2006/relationships/oleObject" Target="../embeddings/oleObject114.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118.bin"/><Relationship Id="rId13" Type="http://schemas.openxmlformats.org/officeDocument/2006/relationships/image" Target="../media/image182.emf"/><Relationship Id="rId18" Type="http://schemas.openxmlformats.org/officeDocument/2006/relationships/oleObject" Target="../embeddings/oleObject123.bin"/><Relationship Id="rId3" Type="http://schemas.openxmlformats.org/officeDocument/2006/relationships/oleObject" Target="../embeddings/oleObject116.bin"/><Relationship Id="rId21" Type="http://schemas.openxmlformats.org/officeDocument/2006/relationships/image" Target="../media/image186.emf"/><Relationship Id="rId7" Type="http://schemas.openxmlformats.org/officeDocument/2006/relationships/image" Target="../media/image179.emf"/><Relationship Id="rId12" Type="http://schemas.openxmlformats.org/officeDocument/2006/relationships/oleObject" Target="../embeddings/oleObject120.bin"/><Relationship Id="rId17" Type="http://schemas.openxmlformats.org/officeDocument/2006/relationships/image" Target="../media/image184.emf"/><Relationship Id="rId25" Type="http://schemas.openxmlformats.org/officeDocument/2006/relationships/image" Target="../media/image188.emf"/><Relationship Id="rId2" Type="http://schemas.openxmlformats.org/officeDocument/2006/relationships/slideLayout" Target="../slideLayouts/slideLayout7.xml"/><Relationship Id="rId16" Type="http://schemas.openxmlformats.org/officeDocument/2006/relationships/oleObject" Target="../embeddings/oleObject122.bin"/><Relationship Id="rId20" Type="http://schemas.openxmlformats.org/officeDocument/2006/relationships/oleObject" Target="../embeddings/oleObject124.bin"/><Relationship Id="rId1" Type="http://schemas.openxmlformats.org/officeDocument/2006/relationships/vmlDrawing" Target="../drawings/vmlDrawing46.vml"/><Relationship Id="rId6" Type="http://schemas.openxmlformats.org/officeDocument/2006/relationships/oleObject" Target="../embeddings/oleObject117.bin"/><Relationship Id="rId11" Type="http://schemas.openxmlformats.org/officeDocument/2006/relationships/image" Target="../media/image181.emf"/><Relationship Id="rId24" Type="http://schemas.openxmlformats.org/officeDocument/2006/relationships/oleObject" Target="../embeddings/oleObject126.bin"/><Relationship Id="rId5" Type="http://schemas.openxmlformats.org/officeDocument/2006/relationships/image" Target="../media/image168.wmf"/><Relationship Id="rId15" Type="http://schemas.openxmlformats.org/officeDocument/2006/relationships/image" Target="../media/image183.emf"/><Relationship Id="rId23" Type="http://schemas.openxmlformats.org/officeDocument/2006/relationships/image" Target="../media/image187.emf"/><Relationship Id="rId10" Type="http://schemas.openxmlformats.org/officeDocument/2006/relationships/oleObject" Target="../embeddings/oleObject119.bin"/><Relationship Id="rId19" Type="http://schemas.openxmlformats.org/officeDocument/2006/relationships/image" Target="../media/image185.emf"/><Relationship Id="rId4" Type="http://schemas.openxmlformats.org/officeDocument/2006/relationships/image" Target="../media/image178.emf"/><Relationship Id="rId9" Type="http://schemas.openxmlformats.org/officeDocument/2006/relationships/image" Target="../media/image180.emf"/><Relationship Id="rId14" Type="http://schemas.openxmlformats.org/officeDocument/2006/relationships/oleObject" Target="../embeddings/oleObject121.bin"/><Relationship Id="rId22" Type="http://schemas.openxmlformats.org/officeDocument/2006/relationships/oleObject" Target="../embeddings/oleObject125.bin"/></Relationships>
</file>

<file path=ppt/slides/_rels/slide76.x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slideLayout" Target="../slideLayouts/slideLayout7.xml"/><Relationship Id="rId1" Type="http://schemas.openxmlformats.org/officeDocument/2006/relationships/vmlDrawing" Target="../drawings/vmlDrawing47.vml"/><Relationship Id="rId5" Type="http://schemas.openxmlformats.org/officeDocument/2006/relationships/image" Target="../media/image189.emf"/><Relationship Id="rId4" Type="http://schemas.openxmlformats.org/officeDocument/2006/relationships/oleObject" Target="../embeddings/oleObject127.bin"/></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28.bin"/><Relationship Id="rId2" Type="http://schemas.openxmlformats.org/officeDocument/2006/relationships/slideLayout" Target="../slideLayouts/slideLayout7.xml"/><Relationship Id="rId1" Type="http://schemas.openxmlformats.org/officeDocument/2006/relationships/vmlDrawing" Target="../drawings/vmlDrawing48.vml"/><Relationship Id="rId4" Type="http://schemas.openxmlformats.org/officeDocument/2006/relationships/image" Target="../media/image190.e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29.bin"/><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image" Target="../media/image192.emf"/><Relationship Id="rId5" Type="http://schemas.openxmlformats.org/officeDocument/2006/relationships/oleObject" Target="../embeddings/oleObject130.bin"/><Relationship Id="rId4" Type="http://schemas.openxmlformats.org/officeDocument/2006/relationships/image" Target="../media/image191.wmf"/></Relationships>
</file>

<file path=ppt/slides/_rels/slide79.xml.rels><?xml version="1.0" encoding="UTF-8" standalone="yes"?>
<Relationships xmlns="http://schemas.openxmlformats.org/package/2006/relationships"><Relationship Id="rId8" Type="http://schemas.openxmlformats.org/officeDocument/2006/relationships/image" Target="../media/image194.wmf"/><Relationship Id="rId13" Type="http://schemas.openxmlformats.org/officeDocument/2006/relationships/image" Target="../media/image197.png"/><Relationship Id="rId3" Type="http://schemas.openxmlformats.org/officeDocument/2006/relationships/oleObject" Target="../embeddings/oleObject131.bin"/><Relationship Id="rId7" Type="http://schemas.openxmlformats.org/officeDocument/2006/relationships/oleObject" Target="../embeddings/oleObject133.bin"/><Relationship Id="rId12" Type="http://schemas.openxmlformats.org/officeDocument/2006/relationships/image" Target="../media/image196.wmf"/><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image" Target="../media/image193.wmf"/><Relationship Id="rId11" Type="http://schemas.openxmlformats.org/officeDocument/2006/relationships/oleObject" Target="../embeddings/oleObject135.bin"/><Relationship Id="rId5" Type="http://schemas.openxmlformats.org/officeDocument/2006/relationships/oleObject" Target="../embeddings/oleObject132.bin"/><Relationship Id="rId10" Type="http://schemas.openxmlformats.org/officeDocument/2006/relationships/image" Target="../media/image195.emf"/><Relationship Id="rId4" Type="http://schemas.openxmlformats.org/officeDocument/2006/relationships/image" Target="../media/image191.wmf"/><Relationship Id="rId9" Type="http://schemas.openxmlformats.org/officeDocument/2006/relationships/oleObject" Target="../embeddings/oleObject134.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36.bin"/><Relationship Id="rId2" Type="http://schemas.openxmlformats.org/officeDocument/2006/relationships/slideLayout" Target="../slideLayouts/slideLayout7.xml"/><Relationship Id="rId1" Type="http://schemas.openxmlformats.org/officeDocument/2006/relationships/vmlDrawing" Target="../drawings/vmlDrawing51.vml"/><Relationship Id="rId4" Type="http://schemas.openxmlformats.org/officeDocument/2006/relationships/image" Target="../media/image198.e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137.bin"/><Relationship Id="rId2" Type="http://schemas.openxmlformats.org/officeDocument/2006/relationships/slideLayout" Target="../slideLayouts/slideLayout7.xml"/><Relationship Id="rId1" Type="http://schemas.openxmlformats.org/officeDocument/2006/relationships/vmlDrawing" Target="../drawings/vmlDrawing52.vml"/><Relationship Id="rId5" Type="http://schemas.openxmlformats.org/officeDocument/2006/relationships/image" Target="../media/image197.png"/><Relationship Id="rId4" Type="http://schemas.openxmlformats.org/officeDocument/2006/relationships/image" Target="../media/image194.wmf"/></Relationships>
</file>

<file path=ppt/slides/_rels/slide83.xml.rels><?xml version="1.0" encoding="UTF-8" standalone="yes"?>
<Relationships xmlns="http://schemas.openxmlformats.org/package/2006/relationships"><Relationship Id="rId8" Type="http://schemas.openxmlformats.org/officeDocument/2006/relationships/image" Target="../media/image201.wmf"/><Relationship Id="rId3" Type="http://schemas.openxmlformats.org/officeDocument/2006/relationships/oleObject" Target="../embeddings/oleObject138.bin"/><Relationship Id="rId7" Type="http://schemas.openxmlformats.org/officeDocument/2006/relationships/oleObject" Target="../embeddings/oleObject140.bin"/><Relationship Id="rId12" Type="http://schemas.openxmlformats.org/officeDocument/2006/relationships/image" Target="../media/image194.wmf"/><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image" Target="../media/image200.wmf"/><Relationship Id="rId11" Type="http://schemas.openxmlformats.org/officeDocument/2006/relationships/oleObject" Target="../embeddings/oleObject142.bin"/><Relationship Id="rId5" Type="http://schemas.openxmlformats.org/officeDocument/2006/relationships/oleObject" Target="../embeddings/oleObject139.bin"/><Relationship Id="rId10" Type="http://schemas.openxmlformats.org/officeDocument/2006/relationships/image" Target="../media/image202.emf"/><Relationship Id="rId4" Type="http://schemas.openxmlformats.org/officeDocument/2006/relationships/image" Target="../media/image199.wmf"/><Relationship Id="rId9" Type="http://schemas.openxmlformats.org/officeDocument/2006/relationships/oleObject" Target="../embeddings/oleObject141.bin"/></Relationships>
</file>

<file path=ppt/slides/_rels/slide84.xml.rels><?xml version="1.0" encoding="UTF-8" standalone="yes"?>
<Relationships xmlns="http://schemas.openxmlformats.org/package/2006/relationships"><Relationship Id="rId8" Type="http://schemas.openxmlformats.org/officeDocument/2006/relationships/image" Target="../media/image201.wmf"/><Relationship Id="rId3" Type="http://schemas.openxmlformats.org/officeDocument/2006/relationships/oleObject" Target="../embeddings/oleObject143.bin"/><Relationship Id="rId7" Type="http://schemas.openxmlformats.org/officeDocument/2006/relationships/oleObject" Target="../embeddings/oleObject145.bin"/><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200.wmf"/><Relationship Id="rId5" Type="http://schemas.openxmlformats.org/officeDocument/2006/relationships/oleObject" Target="../embeddings/oleObject144.bin"/><Relationship Id="rId4" Type="http://schemas.openxmlformats.org/officeDocument/2006/relationships/image" Target="../media/image194.wmf"/><Relationship Id="rId9" Type="http://schemas.openxmlformats.org/officeDocument/2006/relationships/image" Target="../media/image197.png"/></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46.bin"/><Relationship Id="rId2" Type="http://schemas.openxmlformats.org/officeDocument/2006/relationships/slideLayout" Target="../slideLayouts/slideLayout7.xml"/><Relationship Id="rId1" Type="http://schemas.openxmlformats.org/officeDocument/2006/relationships/vmlDrawing" Target="../drawings/vmlDrawing55.vml"/><Relationship Id="rId6" Type="http://schemas.openxmlformats.org/officeDocument/2006/relationships/image" Target="../media/image194.wmf"/><Relationship Id="rId5" Type="http://schemas.openxmlformats.org/officeDocument/2006/relationships/oleObject" Target="../embeddings/oleObject147.bin"/><Relationship Id="rId4" Type="http://schemas.openxmlformats.org/officeDocument/2006/relationships/image" Target="../media/image203.wmf"/></Relationships>
</file>

<file path=ppt/slides/_rels/slide86.x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oleObject" Target="../embeddings/oleObject148.bin"/><Relationship Id="rId7" Type="http://schemas.openxmlformats.org/officeDocument/2006/relationships/oleObject" Target="../embeddings/oleObject150.bin"/><Relationship Id="rId2" Type="http://schemas.openxmlformats.org/officeDocument/2006/relationships/slideLayout" Target="../slideLayouts/slideLayout7.xml"/><Relationship Id="rId1" Type="http://schemas.openxmlformats.org/officeDocument/2006/relationships/vmlDrawing" Target="../drawings/vmlDrawing56.vml"/><Relationship Id="rId6" Type="http://schemas.openxmlformats.org/officeDocument/2006/relationships/image" Target="../media/image204.wmf"/><Relationship Id="rId5" Type="http://schemas.openxmlformats.org/officeDocument/2006/relationships/oleObject" Target="../embeddings/oleObject149.bin"/><Relationship Id="rId10" Type="http://schemas.openxmlformats.org/officeDocument/2006/relationships/image" Target="../media/image206.wmf"/><Relationship Id="rId4" Type="http://schemas.openxmlformats.org/officeDocument/2006/relationships/image" Target="../media/image203.wmf"/><Relationship Id="rId9" Type="http://schemas.openxmlformats.org/officeDocument/2006/relationships/oleObject" Target="../embeddings/oleObject151.bin"/></Relationships>
</file>

<file path=ppt/slides/_rels/slide87.xml.rels><?xml version="1.0" encoding="UTF-8" standalone="yes"?>
<Relationships xmlns="http://schemas.openxmlformats.org/package/2006/relationships"><Relationship Id="rId8" Type="http://schemas.openxmlformats.org/officeDocument/2006/relationships/image" Target="../media/image194.wmf"/><Relationship Id="rId3" Type="http://schemas.openxmlformats.org/officeDocument/2006/relationships/image" Target="../media/image207.wmf"/><Relationship Id="rId7" Type="http://schemas.openxmlformats.org/officeDocument/2006/relationships/oleObject" Target="../embeddings/oleObject153.bin"/><Relationship Id="rId2" Type="http://schemas.openxmlformats.org/officeDocument/2006/relationships/slideLayout" Target="../slideLayouts/slideLayout7.xml"/><Relationship Id="rId1" Type="http://schemas.openxmlformats.org/officeDocument/2006/relationships/vmlDrawing" Target="../drawings/vmlDrawing57.vml"/><Relationship Id="rId6" Type="http://schemas.openxmlformats.org/officeDocument/2006/relationships/image" Target="../media/image199.wmf"/><Relationship Id="rId5" Type="http://schemas.openxmlformats.org/officeDocument/2006/relationships/oleObject" Target="../embeddings/oleObject152.bin"/><Relationship Id="rId4" Type="http://schemas.openxmlformats.org/officeDocument/2006/relationships/image" Target="../media/image208.wmf"/><Relationship Id="rId9" Type="http://schemas.openxmlformats.org/officeDocument/2006/relationships/image" Target="../media/image209.wmf"/></Relationships>
</file>

<file path=ppt/slides/_rels/slide88.xml.rels><?xml version="1.0" encoding="UTF-8" standalone="yes"?>
<Relationships xmlns="http://schemas.openxmlformats.org/package/2006/relationships"><Relationship Id="rId8" Type="http://schemas.openxmlformats.org/officeDocument/2006/relationships/oleObject" Target="../embeddings/oleObject154.bin"/><Relationship Id="rId13" Type="http://schemas.openxmlformats.org/officeDocument/2006/relationships/image" Target="../media/image211.wmf"/><Relationship Id="rId3" Type="http://schemas.openxmlformats.org/officeDocument/2006/relationships/image" Target="../media/image207.wmf"/><Relationship Id="rId7" Type="http://schemas.openxmlformats.org/officeDocument/2006/relationships/image" Target="../media/image209.wmf"/><Relationship Id="rId12" Type="http://schemas.openxmlformats.org/officeDocument/2006/relationships/oleObject" Target="../embeddings/oleObject156.bin"/><Relationship Id="rId2" Type="http://schemas.openxmlformats.org/officeDocument/2006/relationships/slideLayout" Target="../slideLayouts/slideLayout7.xml"/><Relationship Id="rId1" Type="http://schemas.openxmlformats.org/officeDocument/2006/relationships/vmlDrawing" Target="../drawings/vmlDrawing58.vml"/><Relationship Id="rId6" Type="http://schemas.openxmlformats.org/officeDocument/2006/relationships/image" Target="../media/image213.wmf"/><Relationship Id="rId11" Type="http://schemas.openxmlformats.org/officeDocument/2006/relationships/image" Target="../media/image210.wmf"/><Relationship Id="rId5" Type="http://schemas.openxmlformats.org/officeDocument/2006/relationships/image" Target="../media/image212.wmf"/><Relationship Id="rId10" Type="http://schemas.openxmlformats.org/officeDocument/2006/relationships/oleObject" Target="../embeddings/oleObject155.bin"/><Relationship Id="rId4" Type="http://schemas.openxmlformats.org/officeDocument/2006/relationships/image" Target="../media/image208.wmf"/><Relationship Id="rId9" Type="http://schemas.openxmlformats.org/officeDocument/2006/relationships/image" Target="../media/image194.wmf"/></Relationships>
</file>

<file path=ppt/slides/_rels/slide89.xml.rels><?xml version="1.0" encoding="UTF-8" standalone="yes"?>
<Relationships xmlns="http://schemas.openxmlformats.org/package/2006/relationships"><Relationship Id="rId3" Type="http://schemas.openxmlformats.org/officeDocument/2006/relationships/image" Target="../media/image207.wmf"/><Relationship Id="rId2" Type="http://schemas.openxmlformats.org/officeDocument/2006/relationships/image" Target="../media/image214.wmf"/><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216.wmf"/><Relationship Id="rId2" Type="http://schemas.openxmlformats.org/officeDocument/2006/relationships/slideLayout" Target="../slideLayouts/slideLayout7.xml"/><Relationship Id="rId1" Type="http://schemas.openxmlformats.org/officeDocument/2006/relationships/vmlDrawing" Target="../drawings/vmlDrawing59.vml"/><Relationship Id="rId5" Type="http://schemas.openxmlformats.org/officeDocument/2006/relationships/image" Target="../media/image215.emf"/><Relationship Id="rId4" Type="http://schemas.openxmlformats.org/officeDocument/2006/relationships/oleObject" Target="../embeddings/oleObject157.bin"/></Relationships>
</file>

<file path=ppt/slides/_rels/slide92.xml.rels><?xml version="1.0" encoding="UTF-8" standalone="yes"?>
<Relationships xmlns="http://schemas.openxmlformats.org/package/2006/relationships"><Relationship Id="rId8" Type="http://schemas.openxmlformats.org/officeDocument/2006/relationships/image" Target="../media/image220.wmf"/><Relationship Id="rId13" Type="http://schemas.openxmlformats.org/officeDocument/2006/relationships/image" Target="../media/image219.emf"/><Relationship Id="rId3" Type="http://schemas.openxmlformats.org/officeDocument/2006/relationships/image" Target="../media/image216.wmf"/><Relationship Id="rId7" Type="http://schemas.openxmlformats.org/officeDocument/2006/relationships/image" Target="../media/image218.emf"/><Relationship Id="rId12" Type="http://schemas.openxmlformats.org/officeDocument/2006/relationships/oleObject" Target="../embeddings/oleObject160.bin"/><Relationship Id="rId2" Type="http://schemas.openxmlformats.org/officeDocument/2006/relationships/slideLayout" Target="../slideLayouts/slideLayout7.xml"/><Relationship Id="rId1" Type="http://schemas.openxmlformats.org/officeDocument/2006/relationships/vmlDrawing" Target="../drawings/vmlDrawing60.vml"/><Relationship Id="rId6" Type="http://schemas.openxmlformats.org/officeDocument/2006/relationships/oleObject" Target="../embeddings/oleObject159.bin"/><Relationship Id="rId11" Type="http://schemas.openxmlformats.org/officeDocument/2006/relationships/image" Target="../media/image223.wmf"/><Relationship Id="rId5" Type="http://schemas.openxmlformats.org/officeDocument/2006/relationships/image" Target="../media/image217.emf"/><Relationship Id="rId10" Type="http://schemas.openxmlformats.org/officeDocument/2006/relationships/image" Target="../media/image222.wmf"/><Relationship Id="rId4" Type="http://schemas.openxmlformats.org/officeDocument/2006/relationships/oleObject" Target="../embeddings/oleObject158.bin"/><Relationship Id="rId9" Type="http://schemas.openxmlformats.org/officeDocument/2006/relationships/image" Target="../media/image221.png"/></Relationships>
</file>

<file path=ppt/slides/_rels/slide93.xml.rels><?xml version="1.0" encoding="UTF-8" standalone="yes"?>
<Relationships xmlns="http://schemas.openxmlformats.org/package/2006/relationships"><Relationship Id="rId8" Type="http://schemas.openxmlformats.org/officeDocument/2006/relationships/image" Target="../media/image229.png"/><Relationship Id="rId3" Type="http://schemas.openxmlformats.org/officeDocument/2006/relationships/image" Target="../media/image216.wmf"/><Relationship Id="rId7" Type="http://schemas.openxmlformats.org/officeDocument/2006/relationships/image" Target="../media/image228.png"/><Relationship Id="rId2" Type="http://schemas.openxmlformats.org/officeDocument/2006/relationships/image" Target="../media/image224.png"/><Relationship Id="rId1" Type="http://schemas.openxmlformats.org/officeDocument/2006/relationships/slideLayout" Target="../slideLayouts/slideLayout7.xml"/><Relationship Id="rId6" Type="http://schemas.openxmlformats.org/officeDocument/2006/relationships/image" Target="../media/image227.png"/><Relationship Id="rId5" Type="http://schemas.openxmlformats.org/officeDocument/2006/relationships/image" Target="../media/image226.png"/><Relationship Id="rId4" Type="http://schemas.openxmlformats.org/officeDocument/2006/relationships/image" Target="../media/image225.wmf"/><Relationship Id="rId9" Type="http://schemas.openxmlformats.org/officeDocument/2006/relationships/image" Target="../media/image230.png"/></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161.bin"/><Relationship Id="rId13" Type="http://schemas.openxmlformats.org/officeDocument/2006/relationships/image" Target="../media/image233.emf"/><Relationship Id="rId3" Type="http://schemas.openxmlformats.org/officeDocument/2006/relationships/image" Target="../media/image234.png"/><Relationship Id="rId7" Type="http://schemas.openxmlformats.org/officeDocument/2006/relationships/image" Target="../media/image230.png"/><Relationship Id="rId12" Type="http://schemas.openxmlformats.org/officeDocument/2006/relationships/oleObject" Target="../embeddings/oleObject163.bin"/><Relationship Id="rId2" Type="http://schemas.openxmlformats.org/officeDocument/2006/relationships/slideLayout" Target="../slideLayouts/slideLayout7.xml"/><Relationship Id="rId1" Type="http://schemas.openxmlformats.org/officeDocument/2006/relationships/vmlDrawing" Target="../drawings/vmlDrawing61.vml"/><Relationship Id="rId6" Type="http://schemas.openxmlformats.org/officeDocument/2006/relationships/image" Target="../media/image229.png"/><Relationship Id="rId11" Type="http://schemas.openxmlformats.org/officeDocument/2006/relationships/image" Target="../media/image232.emf"/><Relationship Id="rId5" Type="http://schemas.openxmlformats.org/officeDocument/2006/relationships/image" Target="../media/image228.png"/><Relationship Id="rId15" Type="http://schemas.openxmlformats.org/officeDocument/2006/relationships/image" Target="../media/image194.wmf"/><Relationship Id="rId10" Type="http://schemas.openxmlformats.org/officeDocument/2006/relationships/oleObject" Target="../embeddings/oleObject162.bin"/><Relationship Id="rId4" Type="http://schemas.openxmlformats.org/officeDocument/2006/relationships/image" Target="../media/image227.png"/><Relationship Id="rId9" Type="http://schemas.openxmlformats.org/officeDocument/2006/relationships/image" Target="../media/image231.emf"/><Relationship Id="rId14" Type="http://schemas.openxmlformats.org/officeDocument/2006/relationships/oleObject" Target="../embeddings/oleObject164.bin"/></Relationships>
</file>

<file path=ppt/slides/_rels/slide95.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slideLayout" Target="../slideLayouts/slideLayout7.xml"/><Relationship Id="rId1" Type="http://schemas.openxmlformats.org/officeDocument/2006/relationships/vmlDrawing" Target="../drawings/vmlDrawing62.vml"/><Relationship Id="rId5" Type="http://schemas.openxmlformats.org/officeDocument/2006/relationships/image" Target="../media/image235.wmf"/><Relationship Id="rId4" Type="http://schemas.openxmlformats.org/officeDocument/2006/relationships/oleObject" Target="../embeddings/oleObject165.bin"/></Relationships>
</file>

<file path=ppt/slides/_rels/slide96.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slideLayout" Target="../slideLayouts/slideLayout7.xml"/><Relationship Id="rId1" Type="http://schemas.openxmlformats.org/officeDocument/2006/relationships/vmlDrawing" Target="../drawings/vmlDrawing63.vml"/><Relationship Id="rId5" Type="http://schemas.openxmlformats.org/officeDocument/2006/relationships/image" Target="../media/image236.wmf"/><Relationship Id="rId4" Type="http://schemas.openxmlformats.org/officeDocument/2006/relationships/oleObject" Target="../embeddings/oleObject166.bin"/></Relationships>
</file>

<file path=ppt/slides/_rels/slide97.xml.rels><?xml version="1.0" encoding="UTF-8" standalone="yes"?>
<Relationships xmlns="http://schemas.openxmlformats.org/package/2006/relationships"><Relationship Id="rId3" Type="http://schemas.openxmlformats.org/officeDocument/2006/relationships/image" Target="../media/image207.wmf"/><Relationship Id="rId2" Type="http://schemas.openxmlformats.org/officeDocument/2006/relationships/image" Target="../media/image234.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207.wmf"/><Relationship Id="rId7" Type="http://schemas.openxmlformats.org/officeDocument/2006/relationships/image" Target="../media/image237.wmf"/><Relationship Id="rId2" Type="http://schemas.openxmlformats.org/officeDocument/2006/relationships/slideLayout" Target="../slideLayouts/slideLayout7.xml"/><Relationship Id="rId1" Type="http://schemas.openxmlformats.org/officeDocument/2006/relationships/vmlDrawing" Target="../drawings/vmlDrawing64.vml"/><Relationship Id="rId6" Type="http://schemas.openxmlformats.org/officeDocument/2006/relationships/oleObject" Target="../embeddings/oleObject167.bin"/><Relationship Id="rId5" Type="http://schemas.openxmlformats.org/officeDocument/2006/relationships/image" Target="../media/image214.wmf"/><Relationship Id="rId4" Type="http://schemas.openxmlformats.org/officeDocument/2006/relationships/image" Target="../media/image238.png"/></Relationships>
</file>

<file path=ppt/slides/_rels/slide99.xml.rels><?xml version="1.0" encoding="UTF-8" standalone="yes"?>
<Relationships xmlns="http://schemas.openxmlformats.org/package/2006/relationships"><Relationship Id="rId3" Type="http://schemas.openxmlformats.org/officeDocument/2006/relationships/image" Target="../media/image240.wmf"/><Relationship Id="rId2" Type="http://schemas.openxmlformats.org/officeDocument/2006/relationships/image" Target="../media/image239.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240.wmf"/><Relationship Id="rId2" Type="http://schemas.openxmlformats.org/officeDocument/2006/relationships/image" Target="../media/image241.wmf"/><Relationship Id="rId1" Type="http://schemas.openxmlformats.org/officeDocument/2006/relationships/slideLayout" Target="../slideLayouts/slideLayout7.xml"/><Relationship Id="rId6" Type="http://schemas.openxmlformats.org/officeDocument/2006/relationships/image" Target="../media/image244.wmf"/><Relationship Id="rId5" Type="http://schemas.openxmlformats.org/officeDocument/2006/relationships/image" Target="../media/image243.wmf"/><Relationship Id="rId4" Type="http://schemas.openxmlformats.org/officeDocument/2006/relationships/image" Target="../media/image242.wmf"/></Relationships>
</file>

<file path=ppt/slides/_rels/slide101.x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image" Target="../media/image241.wmf"/><Relationship Id="rId1" Type="http://schemas.openxmlformats.org/officeDocument/2006/relationships/slideLayout" Target="../slideLayouts/slideLayout7.xml"/><Relationship Id="rId5" Type="http://schemas.openxmlformats.org/officeDocument/2006/relationships/image" Target="../media/image246.png"/><Relationship Id="rId4" Type="http://schemas.openxmlformats.org/officeDocument/2006/relationships/image" Target="../media/image245.wmf"/></Relationships>
</file>

<file path=ppt/slides/_rels/slide102.xml.rels><?xml version="1.0" encoding="UTF-8" standalone="yes"?>
<Relationships xmlns="http://schemas.openxmlformats.org/package/2006/relationships"><Relationship Id="rId8" Type="http://schemas.openxmlformats.org/officeDocument/2006/relationships/oleObject" Target="../embeddings/oleObject168.bin"/><Relationship Id="rId3" Type="http://schemas.openxmlformats.org/officeDocument/2006/relationships/image" Target="../media/image248.png"/><Relationship Id="rId7" Type="http://schemas.openxmlformats.org/officeDocument/2006/relationships/image" Target="../media/image249.wmf"/><Relationship Id="rId2" Type="http://schemas.openxmlformats.org/officeDocument/2006/relationships/slideLayout" Target="../slideLayouts/slideLayout7.xml"/><Relationship Id="rId1" Type="http://schemas.openxmlformats.org/officeDocument/2006/relationships/vmlDrawing" Target="../drawings/vmlDrawing65.vml"/><Relationship Id="rId6" Type="http://schemas.openxmlformats.org/officeDocument/2006/relationships/image" Target="../media/image240.wmf"/><Relationship Id="rId5" Type="http://schemas.openxmlformats.org/officeDocument/2006/relationships/image" Target="../media/image246.png"/><Relationship Id="rId4" Type="http://schemas.openxmlformats.org/officeDocument/2006/relationships/image" Target="../media/image245.wmf"/><Relationship Id="rId9" Type="http://schemas.openxmlformats.org/officeDocument/2006/relationships/image" Target="../media/image247.emf"/></Relationships>
</file>

<file path=ppt/slides/_rels/slide103.xml.rels><?xml version="1.0" encoding="UTF-8" standalone="yes"?>
<Relationships xmlns="http://schemas.openxmlformats.org/package/2006/relationships"><Relationship Id="rId3" Type="http://schemas.openxmlformats.org/officeDocument/2006/relationships/image" Target="../media/image249.wmf"/><Relationship Id="rId2" Type="http://schemas.openxmlformats.org/officeDocument/2006/relationships/image" Target="../media/image250.wmf"/><Relationship Id="rId1" Type="http://schemas.openxmlformats.org/officeDocument/2006/relationships/slideLayout" Target="../slideLayouts/slideLayout7.xml"/><Relationship Id="rId5" Type="http://schemas.openxmlformats.org/officeDocument/2006/relationships/image" Target="../media/image252.wmf"/><Relationship Id="rId4" Type="http://schemas.openxmlformats.org/officeDocument/2006/relationships/image" Target="../media/image251.png"/></Relationships>
</file>

<file path=ppt/slides/_rels/slide104.xml.rels><?xml version="1.0" encoding="UTF-8" standalone="yes"?>
<Relationships xmlns="http://schemas.openxmlformats.org/package/2006/relationships"><Relationship Id="rId2" Type="http://schemas.openxmlformats.org/officeDocument/2006/relationships/image" Target="../media/image253.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255.wmf"/><Relationship Id="rId2" Type="http://schemas.openxmlformats.org/officeDocument/2006/relationships/image" Target="../media/image254.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image" Target="../media/image256.wmf"/><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259.png"/><Relationship Id="rId2" Type="http://schemas.openxmlformats.org/officeDocument/2006/relationships/image" Target="../media/image258.png"/><Relationship Id="rId1" Type="http://schemas.openxmlformats.org/officeDocument/2006/relationships/slideLayout" Target="../slideLayouts/slideLayout7.xml"/><Relationship Id="rId4" Type="http://schemas.openxmlformats.org/officeDocument/2006/relationships/image" Target="../media/image260.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8" Type="http://schemas.openxmlformats.org/officeDocument/2006/relationships/image" Target="../media/image267.wmf"/><Relationship Id="rId13" Type="http://schemas.openxmlformats.org/officeDocument/2006/relationships/image" Target="../media/image272.wmf"/><Relationship Id="rId18" Type="http://schemas.openxmlformats.org/officeDocument/2006/relationships/image" Target="../media/image277.wmf"/><Relationship Id="rId26" Type="http://schemas.openxmlformats.org/officeDocument/2006/relationships/image" Target="../media/image285.wmf"/><Relationship Id="rId3" Type="http://schemas.openxmlformats.org/officeDocument/2006/relationships/image" Target="../media/image262.wmf"/><Relationship Id="rId21" Type="http://schemas.openxmlformats.org/officeDocument/2006/relationships/image" Target="../media/image280.wmf"/><Relationship Id="rId7" Type="http://schemas.openxmlformats.org/officeDocument/2006/relationships/image" Target="../media/image266.wmf"/><Relationship Id="rId12" Type="http://schemas.openxmlformats.org/officeDocument/2006/relationships/image" Target="../media/image271.wmf"/><Relationship Id="rId17" Type="http://schemas.openxmlformats.org/officeDocument/2006/relationships/image" Target="../media/image276.wmf"/><Relationship Id="rId25" Type="http://schemas.openxmlformats.org/officeDocument/2006/relationships/image" Target="../media/image284.wmf"/><Relationship Id="rId2" Type="http://schemas.openxmlformats.org/officeDocument/2006/relationships/image" Target="../media/image261.wmf"/><Relationship Id="rId16" Type="http://schemas.openxmlformats.org/officeDocument/2006/relationships/image" Target="../media/image275.wmf"/><Relationship Id="rId20" Type="http://schemas.openxmlformats.org/officeDocument/2006/relationships/image" Target="../media/image279.wmf"/><Relationship Id="rId1" Type="http://schemas.openxmlformats.org/officeDocument/2006/relationships/slideLayout" Target="../slideLayouts/slideLayout7.xml"/><Relationship Id="rId6" Type="http://schemas.openxmlformats.org/officeDocument/2006/relationships/image" Target="../media/image265.wmf"/><Relationship Id="rId11" Type="http://schemas.openxmlformats.org/officeDocument/2006/relationships/image" Target="../media/image270.wmf"/><Relationship Id="rId24" Type="http://schemas.openxmlformats.org/officeDocument/2006/relationships/image" Target="../media/image283.wmf"/><Relationship Id="rId5" Type="http://schemas.openxmlformats.org/officeDocument/2006/relationships/image" Target="../media/image264.wmf"/><Relationship Id="rId15" Type="http://schemas.openxmlformats.org/officeDocument/2006/relationships/image" Target="../media/image274.wmf"/><Relationship Id="rId23" Type="http://schemas.openxmlformats.org/officeDocument/2006/relationships/image" Target="../media/image282.wmf"/><Relationship Id="rId10" Type="http://schemas.openxmlformats.org/officeDocument/2006/relationships/image" Target="../media/image269.wmf"/><Relationship Id="rId19" Type="http://schemas.openxmlformats.org/officeDocument/2006/relationships/image" Target="../media/image278.wmf"/><Relationship Id="rId4" Type="http://schemas.openxmlformats.org/officeDocument/2006/relationships/image" Target="../media/image263.wmf"/><Relationship Id="rId9" Type="http://schemas.openxmlformats.org/officeDocument/2006/relationships/image" Target="../media/image268.wmf"/><Relationship Id="rId14" Type="http://schemas.openxmlformats.org/officeDocument/2006/relationships/image" Target="../media/image273.wmf"/><Relationship Id="rId22" Type="http://schemas.openxmlformats.org/officeDocument/2006/relationships/image" Target="../media/image28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4"/>
          <p:cNvSpPr>
            <a:spLocks noChangeArrowheads="1"/>
          </p:cNvSpPr>
          <p:nvPr/>
        </p:nvSpPr>
        <p:spPr bwMode="auto">
          <a:xfrm>
            <a:off x="133350" y="836613"/>
            <a:ext cx="8615363" cy="215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130000"/>
              </a:lnSpc>
            </a:pPr>
            <a:r>
              <a:rPr lang="en-US" altLang="zh-CN" sz="3600" b="1">
                <a:latin typeface="Times New Roman" pitchFamily="18" charset="0"/>
              </a:rPr>
              <a:t>6 Numerical integration</a:t>
            </a:r>
          </a:p>
          <a:p>
            <a:pPr algn="ctr" eaLnBrk="1" hangingPunct="1">
              <a:lnSpc>
                <a:spcPct val="130000"/>
              </a:lnSpc>
            </a:pPr>
            <a:endParaRPr lang="en-US" altLang="zh-CN" sz="3600" b="1">
              <a:latin typeface="Times New Roman" pitchFamily="18" charset="0"/>
            </a:endParaRPr>
          </a:p>
          <a:p>
            <a:pPr algn="ctr" eaLnBrk="1" hangingPunct="1">
              <a:lnSpc>
                <a:spcPct val="130000"/>
              </a:lnSpc>
            </a:pPr>
            <a:r>
              <a:rPr lang="zh-CN" altLang="en-US" sz="3200" b="1"/>
              <a:t>数值积分</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133350" y="115888"/>
            <a:ext cx="8615363"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130000"/>
              </a:lnSpc>
            </a:pPr>
            <a:r>
              <a:rPr lang="en-US" altLang="zh-CN" sz="3600" b="1">
                <a:latin typeface="Times New Roman" pitchFamily="18" charset="0"/>
              </a:rPr>
              <a:t>Integration</a:t>
            </a:r>
          </a:p>
        </p:txBody>
      </p:sp>
      <p:graphicFrame>
        <p:nvGraphicFramePr>
          <p:cNvPr id="3075" name="Object 3"/>
          <p:cNvGraphicFramePr>
            <a:graphicFrameLocks noChangeAspect="1"/>
          </p:cNvGraphicFramePr>
          <p:nvPr/>
        </p:nvGraphicFramePr>
        <p:xfrm>
          <a:off x="3132138" y="2349500"/>
          <a:ext cx="4176712" cy="896938"/>
        </p:xfrm>
        <a:graphic>
          <a:graphicData uri="http://schemas.openxmlformats.org/presentationml/2006/ole">
            <mc:AlternateContent xmlns:mc="http://schemas.openxmlformats.org/markup-compatibility/2006">
              <mc:Choice xmlns:v="urn:schemas-microsoft-com:vml" Requires="v">
                <p:oleObj spid="_x0000_s3146" name="公式" r:id="rId3" imgW="1549400" imgH="330200" progId="Equation.3">
                  <p:embed/>
                </p:oleObj>
              </mc:Choice>
              <mc:Fallback>
                <p:oleObj name="公式" r:id="rId3" imgW="1549400" imgH="330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2349500"/>
                        <a:ext cx="4176712" cy="89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6" name="Rectangle 5"/>
          <p:cNvSpPr>
            <a:spLocks noChangeArrowheads="1"/>
          </p:cNvSpPr>
          <p:nvPr/>
        </p:nvSpPr>
        <p:spPr bwMode="auto">
          <a:xfrm>
            <a:off x="395288" y="906463"/>
            <a:ext cx="8388350" cy="1992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zh-CN" altLang="en-US" sz="3200" b="1">
                <a:latin typeface="Times New Roman" pitchFamily="18" charset="0"/>
                <a:cs typeface="Times New Roman" pitchFamily="18" charset="0"/>
              </a:rPr>
              <a:t>我们知道，如果函数</a:t>
            </a:r>
            <a:r>
              <a:rPr lang="en-US" altLang="zh-CN" sz="3200" b="1" i="1">
                <a:latin typeface="Times New Roman" pitchFamily="18" charset="0"/>
                <a:cs typeface="Times New Roman" pitchFamily="18" charset="0"/>
              </a:rPr>
              <a:t>f</a:t>
            </a:r>
            <a:r>
              <a:rPr lang="en-US" altLang="zh-CN" sz="3200" b="1">
                <a:latin typeface="Times New Roman" pitchFamily="18" charset="0"/>
                <a:cs typeface="Times New Roman" pitchFamily="18" charset="0"/>
              </a:rPr>
              <a:t> (</a:t>
            </a:r>
            <a:r>
              <a:rPr lang="en-US" altLang="zh-CN" sz="3200" b="1" i="1">
                <a:latin typeface="Times New Roman" pitchFamily="18" charset="0"/>
                <a:cs typeface="Times New Roman" pitchFamily="18" charset="0"/>
              </a:rPr>
              <a:t>x</a:t>
            </a:r>
            <a:r>
              <a:rPr lang="en-US" altLang="zh-CN" sz="3200" b="1">
                <a:latin typeface="Times New Roman" pitchFamily="18" charset="0"/>
                <a:cs typeface="Times New Roman" pitchFamily="18" charset="0"/>
              </a:rPr>
              <a:t>)</a:t>
            </a:r>
            <a:r>
              <a:rPr lang="zh-CN" altLang="en-US" sz="3200" b="1">
                <a:latin typeface="Times New Roman" pitchFamily="18" charset="0"/>
                <a:cs typeface="Times New Roman" pitchFamily="18" charset="0"/>
              </a:rPr>
              <a:t>在区间</a:t>
            </a:r>
            <a:r>
              <a:rPr lang="en-US" altLang="zh-CN" sz="3200" b="1">
                <a:latin typeface="Times New Roman" pitchFamily="18" charset="0"/>
                <a:cs typeface="Times New Roman" pitchFamily="18" charset="0"/>
              </a:rPr>
              <a:t>[a, b]</a:t>
            </a:r>
            <a:r>
              <a:rPr lang="zh-CN" altLang="en-US" sz="3200" b="1">
                <a:latin typeface="Times New Roman" pitchFamily="18" charset="0"/>
                <a:cs typeface="Times New Roman" pitchFamily="18" charset="0"/>
              </a:rPr>
              <a:t>上连续，且原函数为</a:t>
            </a:r>
            <a:r>
              <a:rPr lang="en-US" altLang="zh-CN" sz="3200" b="1" i="1">
                <a:latin typeface="Times New Roman" pitchFamily="18" charset="0"/>
                <a:cs typeface="Times New Roman" pitchFamily="18" charset="0"/>
              </a:rPr>
              <a:t>F</a:t>
            </a:r>
            <a:r>
              <a:rPr lang="en-US" altLang="zh-CN" sz="3200" b="1">
                <a:latin typeface="Times New Roman" pitchFamily="18" charset="0"/>
                <a:cs typeface="Times New Roman" pitchFamily="18" charset="0"/>
              </a:rPr>
              <a:t>(</a:t>
            </a:r>
            <a:r>
              <a:rPr lang="en-US" altLang="zh-CN" sz="3200" b="1" i="1">
                <a:latin typeface="Times New Roman" pitchFamily="18" charset="0"/>
                <a:cs typeface="Times New Roman" pitchFamily="18" charset="0"/>
              </a:rPr>
              <a:t>x</a:t>
            </a:r>
            <a:r>
              <a:rPr lang="en-US" altLang="zh-CN" sz="3200" b="1">
                <a:latin typeface="Times New Roman" pitchFamily="18" charset="0"/>
                <a:cs typeface="Times New Roman" pitchFamily="18" charset="0"/>
              </a:rPr>
              <a:t>)</a:t>
            </a:r>
            <a:r>
              <a:rPr lang="zh-CN" altLang="en-US" sz="3200" b="1">
                <a:latin typeface="Times New Roman" pitchFamily="18" charset="0"/>
                <a:cs typeface="Times New Roman" pitchFamily="18" charset="0"/>
              </a:rPr>
              <a:t>，则可用牛顿</a:t>
            </a:r>
            <a:r>
              <a:rPr lang="en-US" altLang="zh-CN" sz="3200" b="1">
                <a:latin typeface="Times New Roman" pitchFamily="18" charset="0"/>
                <a:cs typeface="Times New Roman" pitchFamily="18" charset="0"/>
              </a:rPr>
              <a:t>――</a:t>
            </a:r>
            <a:r>
              <a:rPr lang="zh-CN" altLang="en-US" sz="3200" b="1">
                <a:latin typeface="Times New Roman" pitchFamily="18" charset="0"/>
                <a:cs typeface="Times New Roman" pitchFamily="18" charset="0"/>
              </a:rPr>
              <a:t>莱布尼兹公式		</a:t>
            </a:r>
            <a:endParaRPr lang="zh-CN" altLang="en-US" sz="3200" b="1"/>
          </a:p>
        </p:txBody>
      </p:sp>
      <p:sp>
        <p:nvSpPr>
          <p:cNvPr id="3077" name="Rectangle 6"/>
          <p:cNvSpPr>
            <a:spLocks noChangeArrowheads="1"/>
          </p:cNvSpPr>
          <p:nvPr/>
        </p:nvSpPr>
        <p:spPr bwMode="auto">
          <a:xfrm>
            <a:off x="323850" y="3429000"/>
            <a:ext cx="5487988"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zh-CN" altLang="en-US" sz="3200" b="1">
                <a:latin typeface="Times New Roman" pitchFamily="18" charset="0"/>
                <a:cs typeface="Times New Roman" pitchFamily="18" charset="0"/>
              </a:rPr>
              <a:t>来求得定积分。例如：	</a:t>
            </a:r>
            <a:endParaRPr lang="zh-CN" altLang="en-US" sz="3200" b="1"/>
          </a:p>
        </p:txBody>
      </p:sp>
      <p:graphicFrame>
        <p:nvGraphicFramePr>
          <p:cNvPr id="85001" name="Object 9"/>
          <p:cNvGraphicFramePr>
            <a:graphicFrameLocks noChangeAspect="1"/>
          </p:cNvGraphicFramePr>
          <p:nvPr/>
        </p:nvGraphicFramePr>
        <p:xfrm>
          <a:off x="2700338" y="4292600"/>
          <a:ext cx="3446462" cy="1114425"/>
        </p:xfrm>
        <a:graphic>
          <a:graphicData uri="http://schemas.openxmlformats.org/presentationml/2006/ole">
            <mc:AlternateContent xmlns:mc="http://schemas.openxmlformats.org/markup-compatibility/2006">
              <mc:Choice xmlns:v="urn:schemas-microsoft-com:vml" Requires="v">
                <p:oleObj spid="_x0000_s3147" name="Equation" r:id="rId5" imgW="939392" imgH="304668" progId="Equation.3">
                  <p:embed/>
                </p:oleObj>
              </mc:Choice>
              <mc:Fallback>
                <p:oleObj name="Equation" r:id="rId5" imgW="939392" imgH="304668"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338" y="4292600"/>
                        <a:ext cx="3446462"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02" name="Object 10"/>
          <p:cNvGraphicFramePr>
            <a:graphicFrameLocks noChangeAspect="1"/>
          </p:cNvGraphicFramePr>
          <p:nvPr/>
        </p:nvGraphicFramePr>
        <p:xfrm>
          <a:off x="755650" y="5516563"/>
          <a:ext cx="7497763" cy="1068387"/>
        </p:xfrm>
        <a:graphic>
          <a:graphicData uri="http://schemas.openxmlformats.org/presentationml/2006/ole">
            <mc:AlternateContent xmlns:mc="http://schemas.openxmlformats.org/markup-compatibility/2006">
              <mc:Choice xmlns:v="urn:schemas-microsoft-com:vml" Requires="v">
                <p:oleObj spid="_x0000_s3148" name="公式" r:id="rId7" imgW="2044700" imgH="292100" progId="Equation.3">
                  <p:embed/>
                </p:oleObj>
              </mc:Choice>
              <mc:Fallback>
                <p:oleObj name="公式" r:id="rId7" imgW="2044700" imgH="2921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5516563"/>
                        <a:ext cx="7497763" cy="1068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5001"/>
                                        </p:tgtEl>
                                        <p:attrNameLst>
                                          <p:attrName>style.visibility</p:attrName>
                                        </p:attrNameLst>
                                      </p:cBhvr>
                                      <p:to>
                                        <p:strVal val="visible"/>
                                      </p:to>
                                    </p:set>
                                    <p:anim calcmode="lin" valueType="num">
                                      <p:cBhvr additive="base">
                                        <p:cTn id="7" dur="500" fill="hold"/>
                                        <p:tgtEl>
                                          <p:spTgt spid="85001"/>
                                        </p:tgtEl>
                                        <p:attrNameLst>
                                          <p:attrName>ppt_x</p:attrName>
                                        </p:attrNameLst>
                                      </p:cBhvr>
                                      <p:tavLst>
                                        <p:tav tm="0">
                                          <p:val>
                                            <p:strVal val="0-#ppt_w/2"/>
                                          </p:val>
                                        </p:tav>
                                        <p:tav tm="100000">
                                          <p:val>
                                            <p:strVal val="#ppt_x"/>
                                          </p:val>
                                        </p:tav>
                                      </p:tavLst>
                                    </p:anim>
                                    <p:anim calcmode="lin" valueType="num">
                                      <p:cBhvr additive="base">
                                        <p:cTn id="8" dur="500" fill="hold"/>
                                        <p:tgtEl>
                                          <p:spTgt spid="8500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5002"/>
                                        </p:tgtEl>
                                        <p:attrNameLst>
                                          <p:attrName>style.visibility</p:attrName>
                                        </p:attrNameLst>
                                      </p:cBhvr>
                                      <p:to>
                                        <p:strVal val="visible"/>
                                      </p:to>
                                    </p:set>
                                    <p:anim calcmode="lin" valueType="num">
                                      <p:cBhvr additive="base">
                                        <p:cTn id="13" dur="500" fill="hold"/>
                                        <p:tgtEl>
                                          <p:spTgt spid="85002"/>
                                        </p:tgtEl>
                                        <p:attrNameLst>
                                          <p:attrName>ppt_x</p:attrName>
                                        </p:attrNameLst>
                                      </p:cBhvr>
                                      <p:tavLst>
                                        <p:tav tm="0">
                                          <p:val>
                                            <p:strVal val="0-#ppt_w/2"/>
                                          </p:val>
                                        </p:tav>
                                        <p:tav tm="100000">
                                          <p:val>
                                            <p:strVal val="#ppt_x"/>
                                          </p:val>
                                        </p:tav>
                                      </p:tavLst>
                                    </p:anim>
                                    <p:anim calcmode="lin" valueType="num">
                                      <p:cBhvr additive="base">
                                        <p:cTn id="14" dur="500" fill="hold"/>
                                        <p:tgtEl>
                                          <p:spTgt spid="850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4"/>
          <p:cNvGraphicFramePr>
            <a:graphicFrameLocks noChangeAspect="1"/>
          </p:cNvGraphicFramePr>
          <p:nvPr/>
        </p:nvGraphicFramePr>
        <p:xfrm>
          <a:off x="2771775" y="2133600"/>
          <a:ext cx="1800225" cy="1050925"/>
        </p:xfrm>
        <a:graphic>
          <a:graphicData uri="http://schemas.openxmlformats.org/presentationml/2006/ole">
            <mc:AlternateContent xmlns:mc="http://schemas.openxmlformats.org/markup-compatibility/2006">
              <mc:Choice xmlns:v="urn:schemas-microsoft-com:vml" Requires="v">
                <p:oleObj spid="_x0000_s4124" name="公式" r:id="rId3" imgW="571252" imgH="330057" progId="Equation.3">
                  <p:embed/>
                </p:oleObj>
              </mc:Choice>
              <mc:Fallback>
                <p:oleObj name="公式" r:id="rId3" imgW="571252" imgH="33005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2133600"/>
                        <a:ext cx="1800225"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9" name="Rectangle 6"/>
          <p:cNvSpPr>
            <a:spLocks noChangeArrowheads="1"/>
          </p:cNvSpPr>
          <p:nvPr/>
        </p:nvSpPr>
        <p:spPr bwMode="auto">
          <a:xfrm>
            <a:off x="250825" y="333375"/>
            <a:ext cx="8713788" cy="199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zh-CN" altLang="en-US" sz="3200" b="1">
                <a:latin typeface="Times New Roman" pitchFamily="18" charset="0"/>
                <a:cs typeface="Times New Roman" pitchFamily="18" charset="0"/>
              </a:rPr>
              <a:t>然而，对有些函数来说，找到原函数往往很困难，有些原函数不能用初等函数表示出来，例如：		</a:t>
            </a:r>
            <a:endParaRPr lang="zh-CN" altLang="en-US" sz="3200" b="1"/>
          </a:p>
        </p:txBody>
      </p:sp>
      <p:sp>
        <p:nvSpPr>
          <p:cNvPr id="4100" name="Text Box 7"/>
          <p:cNvSpPr txBox="1">
            <a:spLocks noChangeArrowheads="1"/>
          </p:cNvSpPr>
          <p:nvPr/>
        </p:nvSpPr>
        <p:spPr bwMode="auto">
          <a:xfrm>
            <a:off x="5076825" y="2205038"/>
            <a:ext cx="29733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a:t>
            </a:r>
            <a:r>
              <a:rPr lang="en-US" altLang="zh-CN" sz="3200" b="1" i="1"/>
              <a:t>a</a:t>
            </a:r>
            <a:r>
              <a:rPr lang="zh-CN" altLang="en-US" sz="3200" b="1"/>
              <a:t>为有限数）</a:t>
            </a:r>
          </a:p>
        </p:txBody>
      </p:sp>
      <p:sp>
        <p:nvSpPr>
          <p:cNvPr id="86024" name="Rectangle 8"/>
          <p:cNvSpPr>
            <a:spLocks noChangeArrowheads="1"/>
          </p:cNvSpPr>
          <p:nvPr/>
        </p:nvSpPr>
        <p:spPr bwMode="auto">
          <a:xfrm>
            <a:off x="250825" y="3960813"/>
            <a:ext cx="8351838"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200" b="1">
                <a:latin typeface="Times New Roman" pitchFamily="18" charset="0"/>
                <a:cs typeface="Times New Roman" pitchFamily="18" charset="0"/>
              </a:rPr>
              <a:t> </a:t>
            </a:r>
            <a:r>
              <a:rPr lang="zh-CN" altLang="en-US" sz="3200" b="1">
                <a:latin typeface="Times New Roman" pitchFamily="18" charset="0"/>
                <a:cs typeface="Times New Roman" pitchFamily="18" charset="0"/>
              </a:rPr>
              <a:t>还有些原函数尽管能用初等函数的有限形式表示出来，但表达式过于复杂，也不便使用。</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6024"/>
                                        </p:tgtEl>
                                        <p:attrNameLst>
                                          <p:attrName>style.visibility</p:attrName>
                                        </p:attrNameLst>
                                      </p:cBhvr>
                                      <p:to>
                                        <p:strVal val="visible"/>
                                      </p:to>
                                    </p:set>
                                    <p:anim calcmode="lin" valueType="num">
                                      <p:cBhvr additive="base">
                                        <p:cTn id="7" dur="500" fill="hold"/>
                                        <p:tgtEl>
                                          <p:spTgt spid="86024"/>
                                        </p:tgtEl>
                                        <p:attrNameLst>
                                          <p:attrName>ppt_x</p:attrName>
                                        </p:attrNameLst>
                                      </p:cBhvr>
                                      <p:tavLst>
                                        <p:tav tm="0">
                                          <p:val>
                                            <p:strVal val="#ppt_x"/>
                                          </p:val>
                                        </p:tav>
                                        <p:tav tm="100000">
                                          <p:val>
                                            <p:strVal val="#ppt_x"/>
                                          </p:val>
                                        </p:tav>
                                      </p:tavLst>
                                    </p:anim>
                                    <p:anim calcmode="lin" valueType="num">
                                      <p:cBhvr additive="base">
                                        <p:cTn id="8" dur="500" fill="hold"/>
                                        <p:tgtEl>
                                          <p:spTgt spid="860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ChangeArrowheads="1"/>
          </p:cNvSpPr>
          <p:nvPr/>
        </p:nvSpPr>
        <p:spPr bwMode="auto">
          <a:xfrm>
            <a:off x="250825" y="1412875"/>
            <a:ext cx="8351838" cy="325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zh-CN" altLang="en-US" sz="3200" b="1">
                <a:latin typeface="Times New Roman" pitchFamily="18" charset="0"/>
                <a:cs typeface="Times New Roman" pitchFamily="18" charset="0"/>
              </a:rPr>
              <a:t>特别是在实际问题中，更多的函数是用表格或图形表示的，对这种函数，更无法用牛顿</a:t>
            </a:r>
            <a:r>
              <a:rPr lang="en-US" altLang="zh-CN" sz="3200" b="1">
                <a:latin typeface="Times New Roman" pitchFamily="18" charset="0"/>
                <a:cs typeface="Times New Roman" pitchFamily="18" charset="0"/>
              </a:rPr>
              <a:t>――</a:t>
            </a:r>
            <a:r>
              <a:rPr lang="zh-CN" altLang="en-US" sz="3200" b="1">
                <a:latin typeface="Times New Roman" pitchFamily="18" charset="0"/>
                <a:cs typeface="Times New Roman" pitchFamily="18" charset="0"/>
              </a:rPr>
              <a:t>莱布尼兹公式求积分。因此，有必要研究用数值方法求定积分的问题。这种数值积分方法也是微分方程数值解法的基础。</a:t>
            </a:r>
            <a:endParaRPr lang="zh-CN" altLang="en-US" sz="3200" b="1"/>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204788" y="419100"/>
            <a:ext cx="8615362" cy="437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b="1">
                <a:latin typeface="Times New Roman" pitchFamily="18" charset="0"/>
              </a:rPr>
              <a:t>6.1 Manual method;  6.2 Constant rule</a:t>
            </a:r>
          </a:p>
          <a:p>
            <a:pPr eaLnBrk="1" hangingPunct="1">
              <a:lnSpc>
                <a:spcPct val="130000"/>
              </a:lnSpc>
            </a:pPr>
            <a:r>
              <a:rPr lang="en-US" altLang="zh-CN" sz="3600" b="1">
                <a:latin typeface="Times New Roman" pitchFamily="18" charset="0"/>
              </a:rPr>
              <a:t>6.3 Trapezium rule;   6.4 Mid-point rule</a:t>
            </a:r>
            <a:endParaRPr lang="en-US" altLang="zh-CN" sz="3600">
              <a:latin typeface="Times New Roman" pitchFamily="18" charset="0"/>
            </a:endParaRPr>
          </a:p>
          <a:p>
            <a:pPr eaLnBrk="1" hangingPunct="1">
              <a:lnSpc>
                <a:spcPct val="130000"/>
              </a:lnSpc>
            </a:pPr>
            <a:r>
              <a:rPr lang="en-US" altLang="zh-CN" sz="3600" b="1">
                <a:latin typeface="Times New Roman" pitchFamily="18" charset="0"/>
              </a:rPr>
              <a:t>6.5 Simpson’s rule; </a:t>
            </a:r>
          </a:p>
          <a:p>
            <a:pPr eaLnBrk="1" hangingPunct="1">
              <a:lnSpc>
                <a:spcPct val="130000"/>
              </a:lnSpc>
            </a:pPr>
            <a:r>
              <a:rPr lang="en-US" altLang="zh-CN" sz="3600" b="1">
                <a:latin typeface="Times New Roman" pitchFamily="18" charset="0"/>
              </a:rPr>
              <a:t>6.6 Romberg integration</a:t>
            </a:r>
            <a:endParaRPr lang="en-US" altLang="zh-CN" sz="3600">
              <a:latin typeface="Times New Roman" pitchFamily="18" charset="0"/>
            </a:endParaRPr>
          </a:p>
          <a:p>
            <a:pPr eaLnBrk="1" hangingPunct="1">
              <a:lnSpc>
                <a:spcPct val="130000"/>
              </a:lnSpc>
            </a:pPr>
            <a:r>
              <a:rPr lang="en-US" altLang="zh-CN" sz="3600" b="1">
                <a:latin typeface="Times New Roman" pitchFamily="18" charset="0"/>
              </a:rPr>
              <a:t>6.7 Gauss quadrature</a:t>
            </a:r>
          </a:p>
          <a:p>
            <a:pPr eaLnBrk="1" hangingPunct="1">
              <a:lnSpc>
                <a:spcPct val="130000"/>
              </a:lnSpc>
            </a:pPr>
            <a:r>
              <a:rPr lang="en-US" altLang="zh-CN" sz="3600" b="1">
                <a:latin typeface="Times New Roman" pitchFamily="18" charset="0"/>
              </a:rPr>
              <a:t>6.8 Example of numerical integration</a:t>
            </a:r>
          </a:p>
        </p:txBody>
      </p:sp>
      <p:sp>
        <p:nvSpPr>
          <p:cNvPr id="6147" name="Text Box 3"/>
          <p:cNvSpPr txBox="1">
            <a:spLocks noChangeArrowheads="1"/>
          </p:cNvSpPr>
          <p:nvPr/>
        </p:nvSpPr>
        <p:spPr bwMode="auto">
          <a:xfrm>
            <a:off x="215900" y="4830763"/>
            <a:ext cx="81724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6.9 Numerical Integration of Multi-   dimensions</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ChangeArrowheads="1"/>
          </p:cNvSpPr>
          <p:nvPr/>
        </p:nvSpPr>
        <p:spPr bwMode="auto">
          <a:xfrm>
            <a:off x="827088" y="328613"/>
            <a:ext cx="3981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6.1 Manual method</a:t>
            </a:r>
          </a:p>
        </p:txBody>
      </p:sp>
      <p:pic>
        <p:nvPicPr>
          <p:cNvPr id="717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341438"/>
            <a:ext cx="7272337" cy="536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228600" y="381000"/>
            <a:ext cx="86106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pPr>
            <a:r>
              <a:rPr lang="en-US" altLang="zh-CN" sz="3200" b="1">
                <a:solidFill>
                  <a:srgbClr val="000000"/>
                </a:solidFill>
                <a:latin typeface="Times New Roman" pitchFamily="18" charset="0"/>
              </a:rPr>
              <a:t>Suppose we need to integrate from </a:t>
            </a:r>
            <a:r>
              <a:rPr lang="en-US" altLang="zh-CN" sz="3200" b="1" i="1">
                <a:solidFill>
                  <a:srgbClr val="000080"/>
                </a:solidFill>
                <a:latin typeface="Times New Roman" pitchFamily="18" charset="0"/>
              </a:rPr>
              <a:t>x</a:t>
            </a:r>
            <a:r>
              <a:rPr lang="en-US" altLang="zh-CN" sz="3200" b="1" baseline="-25000">
                <a:solidFill>
                  <a:srgbClr val="008080"/>
                </a:solidFill>
                <a:latin typeface="Times New Roman" pitchFamily="18" charset="0"/>
              </a:rPr>
              <a:t>0</a:t>
            </a:r>
            <a:r>
              <a:rPr lang="en-US" altLang="zh-CN" sz="3200" b="1">
                <a:solidFill>
                  <a:srgbClr val="008080"/>
                </a:solidFill>
                <a:latin typeface="Times New Roman" pitchFamily="18" charset="0"/>
              </a:rPr>
              <a:t> </a:t>
            </a:r>
            <a:r>
              <a:rPr lang="en-US" altLang="zh-CN" sz="3200" b="1">
                <a:solidFill>
                  <a:srgbClr val="000000"/>
                </a:solidFill>
                <a:latin typeface="Times New Roman" pitchFamily="18" charset="0"/>
              </a:rPr>
              <a:t>to </a:t>
            </a:r>
            <a:r>
              <a:rPr lang="en-US" altLang="zh-CN" sz="3200" b="1" i="1">
                <a:solidFill>
                  <a:srgbClr val="000080"/>
                </a:solidFill>
                <a:latin typeface="Times New Roman" pitchFamily="18" charset="0"/>
              </a:rPr>
              <a:t>x</a:t>
            </a:r>
            <a:r>
              <a:rPr lang="en-US" altLang="zh-CN" sz="3200" b="1" baseline="-25000">
                <a:solidFill>
                  <a:srgbClr val="008080"/>
                </a:solidFill>
                <a:latin typeface="Times New Roman" pitchFamily="18" charset="0"/>
              </a:rPr>
              <a:t>1</a:t>
            </a:r>
            <a:r>
              <a:rPr lang="en-US" altLang="zh-CN" sz="3200" b="1">
                <a:solidFill>
                  <a:srgbClr val="000000"/>
                </a:solidFill>
                <a:latin typeface="Times New Roman" pitchFamily="18" charset="0"/>
              </a:rPr>
              <a:t>. We shall subdivide this interval into </a:t>
            </a:r>
            <a:r>
              <a:rPr lang="en-US" altLang="zh-CN" sz="3200" b="1">
                <a:solidFill>
                  <a:srgbClr val="000080"/>
                </a:solidFill>
                <a:latin typeface="Times New Roman" pitchFamily="18" charset="0"/>
              </a:rPr>
              <a:t>n </a:t>
            </a:r>
            <a:r>
              <a:rPr lang="en-US" altLang="zh-CN" sz="3200" b="1">
                <a:solidFill>
                  <a:srgbClr val="000000"/>
                </a:solidFill>
                <a:latin typeface="Times New Roman" pitchFamily="18" charset="0"/>
              </a:rPr>
              <a:t>steps of size</a:t>
            </a:r>
          </a:p>
          <a:p>
            <a:pPr eaLnBrk="1" hangingPunct="1">
              <a:lnSpc>
                <a:spcPct val="120000"/>
              </a:lnSpc>
            </a:pPr>
            <a:r>
              <a:rPr lang="en-US" altLang="zh-CN" sz="3200" b="1" i="1">
                <a:latin typeface="Times New Roman" pitchFamily="18" charset="0"/>
                <a:sym typeface="Symbol" pitchFamily="18" charset="2"/>
              </a:rPr>
              <a:t></a:t>
            </a:r>
            <a:r>
              <a:rPr lang="en-US" altLang="zh-CN" sz="3200" b="1" i="1">
                <a:solidFill>
                  <a:srgbClr val="000080"/>
                </a:solidFill>
                <a:latin typeface="Times New Roman" pitchFamily="18" charset="0"/>
              </a:rPr>
              <a:t>x=(x</a:t>
            </a:r>
            <a:r>
              <a:rPr lang="en-US" altLang="zh-CN" sz="3200" b="1" baseline="-25000">
                <a:solidFill>
                  <a:srgbClr val="008080"/>
                </a:solidFill>
                <a:latin typeface="Times New Roman" pitchFamily="18" charset="0"/>
              </a:rPr>
              <a:t>1</a:t>
            </a:r>
            <a:r>
              <a:rPr lang="en-US" altLang="zh-CN" sz="3200" b="1" i="1">
                <a:solidFill>
                  <a:srgbClr val="000080"/>
                </a:solidFill>
                <a:latin typeface="Times New Roman" pitchFamily="18" charset="0"/>
              </a:rPr>
              <a:t>–x</a:t>
            </a:r>
            <a:r>
              <a:rPr lang="en-US" altLang="zh-CN" sz="3200" b="1" baseline="-25000">
                <a:solidFill>
                  <a:srgbClr val="008080"/>
                </a:solidFill>
                <a:latin typeface="Times New Roman" pitchFamily="18" charset="0"/>
              </a:rPr>
              <a:t>0</a:t>
            </a:r>
            <a:r>
              <a:rPr lang="en-US" altLang="zh-CN" sz="3200" b="1" i="1">
                <a:solidFill>
                  <a:srgbClr val="000080"/>
                </a:solidFill>
                <a:latin typeface="Times New Roman" pitchFamily="18" charset="0"/>
              </a:rPr>
              <a:t>)/n</a:t>
            </a:r>
            <a:r>
              <a:rPr lang="en-US" altLang="zh-CN" sz="3200" b="1">
                <a:solidFill>
                  <a:srgbClr val="000080"/>
                </a:solidFill>
                <a:latin typeface="Times New Roman" pitchFamily="18" charset="0"/>
              </a:rPr>
              <a:t> </a:t>
            </a:r>
            <a:r>
              <a:rPr lang="en-US" altLang="zh-CN" sz="3200" b="1">
                <a:solidFill>
                  <a:srgbClr val="000000"/>
                </a:solidFill>
                <a:latin typeface="Times New Roman" pitchFamily="18" charset="0"/>
              </a:rPr>
              <a:t>as shown in figure.</a:t>
            </a:r>
          </a:p>
        </p:txBody>
      </p:sp>
      <p:pic>
        <p:nvPicPr>
          <p:cNvPr id="2140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514600"/>
            <a:ext cx="53721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4019"/>
                                        </p:tgtEl>
                                        <p:attrNameLst>
                                          <p:attrName>style.visibility</p:attrName>
                                        </p:attrNameLst>
                                      </p:cBhvr>
                                      <p:to>
                                        <p:strVal val="visible"/>
                                      </p:to>
                                    </p:set>
                                    <p:anim calcmode="lin" valueType="num">
                                      <p:cBhvr additive="base">
                                        <p:cTn id="7" dur="500" fill="hold"/>
                                        <p:tgtEl>
                                          <p:spTgt spid="214019"/>
                                        </p:tgtEl>
                                        <p:attrNameLst>
                                          <p:attrName>ppt_x</p:attrName>
                                        </p:attrNameLst>
                                      </p:cBhvr>
                                      <p:tavLst>
                                        <p:tav tm="0">
                                          <p:val>
                                            <p:strVal val="0-#ppt_w/2"/>
                                          </p:val>
                                        </p:tav>
                                        <p:tav tm="100000">
                                          <p:val>
                                            <p:strVal val="#ppt_x"/>
                                          </p:val>
                                        </p:tav>
                                      </p:tavLst>
                                    </p:anim>
                                    <p:anim calcmode="lin" valueType="num">
                                      <p:cBhvr additive="base">
                                        <p:cTn id="8" dur="500" fill="hold"/>
                                        <p:tgtEl>
                                          <p:spTgt spid="2140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ChangeArrowheads="1"/>
          </p:cNvSpPr>
          <p:nvPr/>
        </p:nvSpPr>
        <p:spPr bwMode="auto">
          <a:xfrm>
            <a:off x="827088" y="328613"/>
            <a:ext cx="3549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6.2 Constant rule</a:t>
            </a:r>
          </a:p>
        </p:txBody>
      </p:sp>
      <p:pic>
        <p:nvPicPr>
          <p:cNvPr id="112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447800"/>
            <a:ext cx="6038850" cy="522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270" name="Object 6"/>
          <p:cNvGraphicFramePr>
            <a:graphicFrameLocks noChangeAspect="1"/>
          </p:cNvGraphicFramePr>
          <p:nvPr/>
        </p:nvGraphicFramePr>
        <p:xfrm>
          <a:off x="1600200" y="1143000"/>
          <a:ext cx="4419600" cy="1371600"/>
        </p:xfrm>
        <a:graphic>
          <a:graphicData uri="http://schemas.openxmlformats.org/presentationml/2006/ole">
            <mc:AlternateContent xmlns:mc="http://schemas.openxmlformats.org/markup-compatibility/2006">
              <mc:Choice xmlns:v="urn:schemas-microsoft-com:vml" Requires="v">
                <p:oleObj spid="_x0000_s9243" name="Equation" r:id="rId4" imgW="1586811" imgH="495085" progId="Equation.3">
                  <p:embed/>
                </p:oleObj>
              </mc:Choice>
              <mc:Fallback>
                <p:oleObj name="Equation" r:id="rId4" imgW="1586811" imgH="495085"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1143000"/>
                        <a:ext cx="4419600"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269"/>
                                        </p:tgtEl>
                                        <p:attrNameLst>
                                          <p:attrName>style.visibility</p:attrName>
                                        </p:attrNameLst>
                                      </p:cBhvr>
                                      <p:to>
                                        <p:strVal val="visible"/>
                                      </p:to>
                                    </p:set>
                                    <p:anim calcmode="lin" valueType="num">
                                      <p:cBhvr additive="base">
                                        <p:cTn id="7" dur="500" fill="hold"/>
                                        <p:tgtEl>
                                          <p:spTgt spid="11269"/>
                                        </p:tgtEl>
                                        <p:attrNameLst>
                                          <p:attrName>ppt_x</p:attrName>
                                        </p:attrNameLst>
                                      </p:cBhvr>
                                      <p:tavLst>
                                        <p:tav tm="0">
                                          <p:val>
                                            <p:strVal val="0-#ppt_w/2"/>
                                          </p:val>
                                        </p:tav>
                                        <p:tav tm="100000">
                                          <p:val>
                                            <p:strVal val="#ppt_x"/>
                                          </p:val>
                                        </p:tav>
                                      </p:tavLst>
                                    </p:anim>
                                    <p:anim calcmode="lin" valueType="num">
                                      <p:cBhvr additive="base">
                                        <p:cTn id="8" dur="500" fill="hold"/>
                                        <p:tgtEl>
                                          <p:spTgt spid="112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1270"/>
                                        </p:tgtEl>
                                        <p:attrNameLst>
                                          <p:attrName>style.visibility</p:attrName>
                                        </p:attrNameLst>
                                      </p:cBhvr>
                                      <p:to>
                                        <p:strVal val="visible"/>
                                      </p:to>
                                    </p:set>
                                    <p:anim calcmode="lin" valueType="num">
                                      <p:cBhvr additive="base">
                                        <p:cTn id="13" dur="500" fill="hold"/>
                                        <p:tgtEl>
                                          <p:spTgt spid="11270"/>
                                        </p:tgtEl>
                                        <p:attrNameLst>
                                          <p:attrName>ppt_x</p:attrName>
                                        </p:attrNameLst>
                                      </p:cBhvr>
                                      <p:tavLst>
                                        <p:tav tm="0">
                                          <p:val>
                                            <p:strVal val="0-#ppt_w/2"/>
                                          </p:val>
                                        </p:tav>
                                        <p:tav tm="100000">
                                          <p:val>
                                            <p:strVal val="#ppt_x"/>
                                          </p:val>
                                        </p:tav>
                                      </p:tavLst>
                                    </p:anim>
                                    <p:anim calcmode="lin" valueType="num">
                                      <p:cBhvr additive="base">
                                        <p:cTn id="14" dur="500" fill="hold"/>
                                        <p:tgtEl>
                                          <p:spTgt spid="112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5"/>
          <p:cNvSpPr txBox="1">
            <a:spLocks noChangeArrowheads="1"/>
          </p:cNvSpPr>
          <p:nvPr/>
        </p:nvSpPr>
        <p:spPr bwMode="auto">
          <a:xfrm>
            <a:off x="152400" y="152400"/>
            <a:ext cx="8702675"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5000"/>
              </a:lnSpc>
            </a:pPr>
            <a:r>
              <a:rPr lang="en-US" altLang="zh-CN" sz="3600" b="1">
                <a:solidFill>
                  <a:srgbClr val="000000"/>
                </a:solidFill>
                <a:latin typeface="Times New Roman" pitchFamily="18" charset="0"/>
              </a:rPr>
              <a:t>Integration of a Taylor Series expansion of </a:t>
            </a:r>
            <a:r>
              <a:rPr lang="en-US" altLang="zh-CN" sz="3600" b="1" i="1">
                <a:solidFill>
                  <a:srgbClr val="000080"/>
                </a:solidFill>
                <a:latin typeface="Times New Roman" pitchFamily="18" charset="0"/>
              </a:rPr>
              <a:t>f</a:t>
            </a:r>
            <a:r>
              <a:rPr lang="en-US" altLang="zh-CN" sz="3600" b="1">
                <a:solidFill>
                  <a:srgbClr val="000080"/>
                </a:solidFill>
                <a:latin typeface="Times New Roman" pitchFamily="18" charset="0"/>
              </a:rPr>
              <a:t>(</a:t>
            </a:r>
            <a:r>
              <a:rPr lang="en-US" altLang="zh-CN" sz="3600" b="1" i="1">
                <a:solidFill>
                  <a:srgbClr val="000080"/>
                </a:solidFill>
                <a:latin typeface="Times New Roman" pitchFamily="18" charset="0"/>
              </a:rPr>
              <a:t>x</a:t>
            </a:r>
            <a:r>
              <a:rPr lang="en-US" altLang="zh-CN" sz="3600" b="1">
                <a:solidFill>
                  <a:srgbClr val="000080"/>
                </a:solidFill>
                <a:latin typeface="Times New Roman" pitchFamily="18" charset="0"/>
              </a:rPr>
              <a:t>) </a:t>
            </a:r>
            <a:r>
              <a:rPr lang="en-US" altLang="zh-CN" sz="3600" b="1">
                <a:solidFill>
                  <a:srgbClr val="000000"/>
                </a:solidFill>
                <a:latin typeface="Times New Roman" pitchFamily="18" charset="0"/>
              </a:rPr>
              <a:t>shows the error in this approximation to be</a:t>
            </a:r>
            <a:endParaRPr lang="en-US" altLang="zh-CN" sz="3600" b="1">
              <a:latin typeface="Times New Roman" pitchFamily="18" charset="0"/>
            </a:endParaRPr>
          </a:p>
        </p:txBody>
      </p:sp>
      <p:graphicFrame>
        <p:nvGraphicFramePr>
          <p:cNvPr id="12294" name="Object 6"/>
          <p:cNvGraphicFramePr>
            <a:graphicFrameLocks noChangeAspect="1"/>
          </p:cNvGraphicFramePr>
          <p:nvPr/>
        </p:nvGraphicFramePr>
        <p:xfrm>
          <a:off x="2286000" y="1828800"/>
          <a:ext cx="3276600" cy="1552575"/>
        </p:xfrm>
        <a:graphic>
          <a:graphicData uri="http://schemas.openxmlformats.org/presentationml/2006/ole">
            <mc:AlternateContent xmlns:mc="http://schemas.openxmlformats.org/markup-compatibility/2006">
              <mc:Choice xmlns:v="urn:schemas-microsoft-com:vml" Requires="v">
                <p:oleObj spid="_x0000_s10337" name="Equation" r:id="rId3" imgW="952087" imgH="495085" progId="Equation.3">
                  <p:embed/>
                </p:oleObj>
              </mc:Choice>
              <mc:Fallback>
                <p:oleObj name="Equation" r:id="rId3" imgW="952087" imgH="495085"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828800"/>
                        <a:ext cx="3276600" cy="155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5" name="Object 7"/>
          <p:cNvGraphicFramePr>
            <a:graphicFrameLocks noChangeAspect="1"/>
          </p:cNvGraphicFramePr>
          <p:nvPr/>
        </p:nvGraphicFramePr>
        <p:xfrm>
          <a:off x="0" y="3141663"/>
          <a:ext cx="8991600" cy="1552575"/>
        </p:xfrm>
        <a:graphic>
          <a:graphicData uri="http://schemas.openxmlformats.org/presentationml/2006/ole">
            <mc:AlternateContent xmlns:mc="http://schemas.openxmlformats.org/markup-compatibility/2006">
              <mc:Choice xmlns:v="urn:schemas-microsoft-com:vml" Requires="v">
                <p:oleObj spid="_x0000_s10338" name="Equation" r:id="rId5" imgW="3403600" imgH="495300" progId="Equation.3">
                  <p:embed/>
                </p:oleObj>
              </mc:Choice>
              <mc:Fallback>
                <p:oleObj name="Equation" r:id="rId5" imgW="3403600" imgH="4953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141663"/>
                        <a:ext cx="8991600" cy="155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6" name="Object 8"/>
          <p:cNvGraphicFramePr>
            <a:graphicFrameLocks noChangeAspect="1"/>
          </p:cNvGraphicFramePr>
          <p:nvPr/>
        </p:nvGraphicFramePr>
        <p:xfrm>
          <a:off x="271463" y="4437063"/>
          <a:ext cx="7419975" cy="1293812"/>
        </p:xfrm>
        <a:graphic>
          <a:graphicData uri="http://schemas.openxmlformats.org/presentationml/2006/ole">
            <mc:AlternateContent xmlns:mc="http://schemas.openxmlformats.org/markup-compatibility/2006">
              <mc:Choice xmlns:v="urn:schemas-microsoft-com:vml" Requires="v">
                <p:oleObj spid="_x0000_s10339" name="公式" r:id="rId7" imgW="2679700" imgH="393700" progId="Equation.3">
                  <p:embed/>
                </p:oleObj>
              </mc:Choice>
              <mc:Fallback>
                <p:oleObj name="公式" r:id="rId7" imgW="2679700" imgH="3937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463" y="4437063"/>
                        <a:ext cx="7419975" cy="1293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7" name="Object 9"/>
          <p:cNvGraphicFramePr>
            <a:graphicFrameLocks noChangeAspect="1"/>
          </p:cNvGraphicFramePr>
          <p:nvPr/>
        </p:nvGraphicFramePr>
        <p:xfrm>
          <a:off x="2292350" y="5842000"/>
          <a:ext cx="3376613" cy="792163"/>
        </p:xfrm>
        <a:graphic>
          <a:graphicData uri="http://schemas.openxmlformats.org/presentationml/2006/ole">
            <mc:AlternateContent xmlns:mc="http://schemas.openxmlformats.org/markup-compatibility/2006">
              <mc:Choice xmlns:v="urn:schemas-microsoft-com:vml" Requires="v">
                <p:oleObj spid="_x0000_s10340" name="公式" r:id="rId9" imgW="1218671" imgH="241195" progId="Equation.3">
                  <p:embed/>
                </p:oleObj>
              </mc:Choice>
              <mc:Fallback>
                <p:oleObj name="公式" r:id="rId9" imgW="1218671" imgH="241195"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92350" y="5842000"/>
                        <a:ext cx="3376613" cy="792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8" name="Rectangle 10"/>
          <p:cNvSpPr>
            <a:spLocks noChangeArrowheads="1"/>
          </p:cNvSpPr>
          <p:nvPr/>
        </p:nvSpPr>
        <p:spPr bwMode="auto">
          <a:xfrm>
            <a:off x="684213" y="4724400"/>
            <a:ext cx="1439862" cy="72072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12299" name="Line 11"/>
          <p:cNvSpPr>
            <a:spLocks noChangeShapeType="1"/>
          </p:cNvSpPr>
          <p:nvPr/>
        </p:nvSpPr>
        <p:spPr bwMode="auto">
          <a:xfrm>
            <a:off x="3779838" y="5445125"/>
            <a:ext cx="504825"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294"/>
                                        </p:tgtEl>
                                        <p:attrNameLst>
                                          <p:attrName>style.visibility</p:attrName>
                                        </p:attrNameLst>
                                      </p:cBhvr>
                                      <p:to>
                                        <p:strVal val="visible"/>
                                      </p:to>
                                    </p:set>
                                    <p:anim calcmode="lin" valueType="num">
                                      <p:cBhvr additive="base">
                                        <p:cTn id="7" dur="500" fill="hold"/>
                                        <p:tgtEl>
                                          <p:spTgt spid="12294"/>
                                        </p:tgtEl>
                                        <p:attrNameLst>
                                          <p:attrName>ppt_x</p:attrName>
                                        </p:attrNameLst>
                                      </p:cBhvr>
                                      <p:tavLst>
                                        <p:tav tm="0">
                                          <p:val>
                                            <p:strVal val="0-#ppt_w/2"/>
                                          </p:val>
                                        </p:tav>
                                        <p:tav tm="100000">
                                          <p:val>
                                            <p:strVal val="#ppt_x"/>
                                          </p:val>
                                        </p:tav>
                                      </p:tavLst>
                                    </p:anim>
                                    <p:anim calcmode="lin" valueType="num">
                                      <p:cBhvr additive="base">
                                        <p:cTn id="8" dur="500" fill="hold"/>
                                        <p:tgtEl>
                                          <p:spTgt spid="1229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295"/>
                                        </p:tgtEl>
                                        <p:attrNameLst>
                                          <p:attrName>style.visibility</p:attrName>
                                        </p:attrNameLst>
                                      </p:cBhvr>
                                      <p:to>
                                        <p:strVal val="visible"/>
                                      </p:to>
                                    </p:set>
                                    <p:anim calcmode="lin" valueType="num">
                                      <p:cBhvr additive="base">
                                        <p:cTn id="13" dur="500" fill="hold"/>
                                        <p:tgtEl>
                                          <p:spTgt spid="12295"/>
                                        </p:tgtEl>
                                        <p:attrNameLst>
                                          <p:attrName>ppt_x</p:attrName>
                                        </p:attrNameLst>
                                      </p:cBhvr>
                                      <p:tavLst>
                                        <p:tav tm="0">
                                          <p:val>
                                            <p:strVal val="0-#ppt_w/2"/>
                                          </p:val>
                                        </p:tav>
                                        <p:tav tm="100000">
                                          <p:val>
                                            <p:strVal val="#ppt_x"/>
                                          </p:val>
                                        </p:tav>
                                      </p:tavLst>
                                    </p:anim>
                                    <p:anim calcmode="lin" valueType="num">
                                      <p:cBhvr additive="base">
                                        <p:cTn id="14" dur="500" fill="hold"/>
                                        <p:tgtEl>
                                          <p:spTgt spid="1229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296"/>
                                        </p:tgtEl>
                                        <p:attrNameLst>
                                          <p:attrName>style.visibility</p:attrName>
                                        </p:attrNameLst>
                                      </p:cBhvr>
                                      <p:to>
                                        <p:strVal val="visible"/>
                                      </p:to>
                                    </p:set>
                                    <p:anim calcmode="lin" valueType="num">
                                      <p:cBhvr additive="base">
                                        <p:cTn id="19" dur="500" fill="hold"/>
                                        <p:tgtEl>
                                          <p:spTgt spid="12296"/>
                                        </p:tgtEl>
                                        <p:attrNameLst>
                                          <p:attrName>ppt_x</p:attrName>
                                        </p:attrNameLst>
                                      </p:cBhvr>
                                      <p:tavLst>
                                        <p:tav tm="0">
                                          <p:val>
                                            <p:strVal val="0-#ppt_w/2"/>
                                          </p:val>
                                        </p:tav>
                                        <p:tav tm="100000">
                                          <p:val>
                                            <p:strVal val="#ppt_x"/>
                                          </p:val>
                                        </p:tav>
                                      </p:tavLst>
                                    </p:anim>
                                    <p:anim calcmode="lin" valueType="num">
                                      <p:cBhvr additive="base">
                                        <p:cTn id="20" dur="500" fill="hold"/>
                                        <p:tgtEl>
                                          <p:spTgt spid="1229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298"/>
                                        </p:tgtEl>
                                        <p:attrNameLst>
                                          <p:attrName>style.visibility</p:attrName>
                                        </p:attrNameLst>
                                      </p:cBhvr>
                                      <p:to>
                                        <p:strVal val="visible"/>
                                      </p:to>
                                    </p:set>
                                    <p:anim calcmode="lin" valueType="num">
                                      <p:cBhvr additive="base">
                                        <p:cTn id="25" dur="500" fill="hold"/>
                                        <p:tgtEl>
                                          <p:spTgt spid="12298"/>
                                        </p:tgtEl>
                                        <p:attrNameLst>
                                          <p:attrName>ppt_x</p:attrName>
                                        </p:attrNameLst>
                                      </p:cBhvr>
                                      <p:tavLst>
                                        <p:tav tm="0">
                                          <p:val>
                                            <p:strVal val="#ppt_x"/>
                                          </p:val>
                                        </p:tav>
                                        <p:tav tm="100000">
                                          <p:val>
                                            <p:strVal val="#ppt_x"/>
                                          </p:val>
                                        </p:tav>
                                      </p:tavLst>
                                    </p:anim>
                                    <p:anim calcmode="lin" valueType="num">
                                      <p:cBhvr additive="base">
                                        <p:cTn id="26" dur="500" fill="hold"/>
                                        <p:tgtEl>
                                          <p:spTgt spid="1229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299"/>
                                        </p:tgtEl>
                                        <p:attrNameLst>
                                          <p:attrName>style.visibility</p:attrName>
                                        </p:attrNameLst>
                                      </p:cBhvr>
                                      <p:to>
                                        <p:strVal val="visible"/>
                                      </p:to>
                                    </p:set>
                                    <p:anim calcmode="lin" valueType="num">
                                      <p:cBhvr additive="base">
                                        <p:cTn id="31" dur="500" fill="hold"/>
                                        <p:tgtEl>
                                          <p:spTgt spid="12299"/>
                                        </p:tgtEl>
                                        <p:attrNameLst>
                                          <p:attrName>ppt_x</p:attrName>
                                        </p:attrNameLst>
                                      </p:cBhvr>
                                      <p:tavLst>
                                        <p:tav tm="0">
                                          <p:val>
                                            <p:strVal val="#ppt_x"/>
                                          </p:val>
                                        </p:tav>
                                        <p:tav tm="100000">
                                          <p:val>
                                            <p:strVal val="#ppt_x"/>
                                          </p:val>
                                        </p:tav>
                                      </p:tavLst>
                                    </p:anim>
                                    <p:anim calcmode="lin" valueType="num">
                                      <p:cBhvr additive="base">
                                        <p:cTn id="32" dur="500" fill="hold"/>
                                        <p:tgtEl>
                                          <p:spTgt spid="12299"/>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2297"/>
                                        </p:tgtEl>
                                        <p:attrNameLst>
                                          <p:attrName>style.visibility</p:attrName>
                                        </p:attrNameLst>
                                      </p:cBhvr>
                                      <p:to>
                                        <p:strVal val="visible"/>
                                      </p:to>
                                    </p:set>
                                    <p:anim calcmode="lin" valueType="num">
                                      <p:cBhvr additive="base">
                                        <p:cTn id="37" dur="500" fill="hold"/>
                                        <p:tgtEl>
                                          <p:spTgt spid="12297"/>
                                        </p:tgtEl>
                                        <p:attrNameLst>
                                          <p:attrName>ppt_x</p:attrName>
                                        </p:attrNameLst>
                                      </p:cBhvr>
                                      <p:tavLst>
                                        <p:tav tm="0">
                                          <p:val>
                                            <p:strVal val="0-#ppt_w/2"/>
                                          </p:val>
                                        </p:tav>
                                        <p:tav tm="100000">
                                          <p:val>
                                            <p:strVal val="#ppt_x"/>
                                          </p:val>
                                        </p:tav>
                                      </p:tavLst>
                                    </p:anim>
                                    <p:anim calcmode="lin" valueType="num">
                                      <p:cBhvr additive="base">
                                        <p:cTn id="38" dur="500" fill="hold"/>
                                        <p:tgtEl>
                                          <p:spTgt spid="122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8" grpId="0" animBg="1"/>
      <p:bldP spid="1229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a:spLocks noChangeArrowheads="1"/>
          </p:cNvSpPr>
          <p:nvPr/>
        </p:nvSpPr>
        <p:spPr bwMode="auto">
          <a:xfrm>
            <a:off x="838200" y="304800"/>
            <a:ext cx="6884988"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6.3 Trapezium rule </a:t>
            </a:r>
            <a:r>
              <a:rPr lang="zh-CN" altLang="en-US" sz="3600" b="1">
                <a:latin typeface="Times New Roman" pitchFamily="18" charset="0"/>
              </a:rPr>
              <a:t>（</a:t>
            </a:r>
            <a:r>
              <a:rPr lang="zh-CN" altLang="en-US" sz="3600" b="1"/>
              <a:t>梯形公式 </a:t>
            </a:r>
            <a:r>
              <a:rPr lang="zh-CN" altLang="en-US" sz="3600" b="1">
                <a:latin typeface="Times New Roman" pitchFamily="18" charset="0"/>
              </a:rPr>
              <a:t>）</a:t>
            </a:r>
            <a:endParaRPr lang="en-US" altLang="zh-CN" sz="3600" b="1">
              <a:latin typeface="Times New Roman" pitchFamily="18" charset="0"/>
            </a:endParaRPr>
          </a:p>
        </p:txBody>
      </p:sp>
      <p:grpSp>
        <p:nvGrpSpPr>
          <p:cNvPr id="14347" name="Group 11"/>
          <p:cNvGrpSpPr>
            <a:grpSpLocks/>
          </p:cNvGrpSpPr>
          <p:nvPr/>
        </p:nvGrpSpPr>
        <p:grpSpPr bwMode="auto">
          <a:xfrm>
            <a:off x="304800" y="1322388"/>
            <a:ext cx="7489825" cy="5346700"/>
            <a:chOff x="192" y="736"/>
            <a:chExt cx="4718" cy="3368"/>
          </a:xfrm>
        </p:grpSpPr>
        <p:pic>
          <p:nvPicPr>
            <p:cNvPr id="1126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 y="736"/>
              <a:ext cx="4718" cy="3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0" name="Line 9"/>
            <p:cNvSpPr>
              <a:spLocks noChangeShapeType="1"/>
            </p:cNvSpPr>
            <p:nvPr/>
          </p:nvSpPr>
          <p:spPr bwMode="auto">
            <a:xfrm flipV="1">
              <a:off x="1248" y="1872"/>
              <a:ext cx="2496" cy="52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4346" name="Object 10"/>
          <p:cNvGraphicFramePr>
            <a:graphicFrameLocks noChangeAspect="1"/>
          </p:cNvGraphicFramePr>
          <p:nvPr/>
        </p:nvGraphicFramePr>
        <p:xfrm>
          <a:off x="1116013" y="908050"/>
          <a:ext cx="7240587" cy="1501775"/>
        </p:xfrm>
        <a:graphic>
          <a:graphicData uri="http://schemas.openxmlformats.org/presentationml/2006/ole">
            <mc:AlternateContent xmlns:mc="http://schemas.openxmlformats.org/markup-compatibility/2006">
              <mc:Choice xmlns:v="urn:schemas-microsoft-com:vml" Requires="v">
                <p:oleObj spid="_x0000_s11293" name="公式" r:id="rId4" imgW="2527300" imgH="495300" progId="Equation.3">
                  <p:embed/>
                </p:oleObj>
              </mc:Choice>
              <mc:Fallback>
                <p:oleObj name="公式" r:id="rId4" imgW="2527300" imgH="4953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908050"/>
                        <a:ext cx="7240587" cy="1501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347"/>
                                        </p:tgtEl>
                                        <p:attrNameLst>
                                          <p:attrName>style.visibility</p:attrName>
                                        </p:attrNameLst>
                                      </p:cBhvr>
                                      <p:to>
                                        <p:strVal val="visible"/>
                                      </p:to>
                                    </p:set>
                                    <p:anim calcmode="lin" valueType="num">
                                      <p:cBhvr additive="base">
                                        <p:cTn id="7" dur="500" fill="hold"/>
                                        <p:tgtEl>
                                          <p:spTgt spid="14347"/>
                                        </p:tgtEl>
                                        <p:attrNameLst>
                                          <p:attrName>ppt_x</p:attrName>
                                        </p:attrNameLst>
                                      </p:cBhvr>
                                      <p:tavLst>
                                        <p:tav tm="0">
                                          <p:val>
                                            <p:strVal val="#ppt_x"/>
                                          </p:val>
                                        </p:tav>
                                        <p:tav tm="100000">
                                          <p:val>
                                            <p:strVal val="#ppt_x"/>
                                          </p:val>
                                        </p:tav>
                                      </p:tavLst>
                                    </p:anim>
                                    <p:anim calcmode="lin" valueType="num">
                                      <p:cBhvr additive="base">
                                        <p:cTn id="8" dur="500" fill="hold"/>
                                        <p:tgtEl>
                                          <p:spTgt spid="1434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346"/>
                                        </p:tgtEl>
                                        <p:attrNameLst>
                                          <p:attrName>style.visibility</p:attrName>
                                        </p:attrNameLst>
                                      </p:cBhvr>
                                      <p:to>
                                        <p:strVal val="visible"/>
                                      </p:to>
                                    </p:set>
                                    <p:anim calcmode="lin" valueType="num">
                                      <p:cBhvr additive="base">
                                        <p:cTn id="13" dur="500" fill="hold"/>
                                        <p:tgtEl>
                                          <p:spTgt spid="14346"/>
                                        </p:tgtEl>
                                        <p:attrNameLst>
                                          <p:attrName>ppt_x</p:attrName>
                                        </p:attrNameLst>
                                      </p:cBhvr>
                                      <p:tavLst>
                                        <p:tav tm="0">
                                          <p:val>
                                            <p:strVal val="0-#ppt_w/2"/>
                                          </p:val>
                                        </p:tav>
                                        <p:tav tm="100000">
                                          <p:val>
                                            <p:strVal val="#ppt_x"/>
                                          </p:val>
                                        </p:tav>
                                      </p:tavLst>
                                    </p:anim>
                                    <p:anim calcmode="lin" valueType="num">
                                      <p:cBhvr additive="base">
                                        <p:cTn id="14" dur="500" fill="hold"/>
                                        <p:tgtEl>
                                          <p:spTgt spid="143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6"/>
          <p:cNvGraphicFramePr>
            <a:graphicFrameLocks noChangeAspect="1"/>
          </p:cNvGraphicFramePr>
          <p:nvPr/>
        </p:nvGraphicFramePr>
        <p:xfrm>
          <a:off x="609600" y="228600"/>
          <a:ext cx="2516188" cy="1382713"/>
        </p:xfrm>
        <a:graphic>
          <a:graphicData uri="http://schemas.openxmlformats.org/presentationml/2006/ole">
            <mc:AlternateContent xmlns:mc="http://schemas.openxmlformats.org/markup-compatibility/2006">
              <mc:Choice xmlns:v="urn:schemas-microsoft-com:vml" Requires="v">
                <p:oleObj spid="_x0000_s12386" name="Equation" r:id="rId3" imgW="952087" imgH="495085" progId="Equation.3">
                  <p:embed/>
                </p:oleObj>
              </mc:Choice>
              <mc:Fallback>
                <p:oleObj name="Equation" r:id="rId3" imgW="952087" imgH="495085"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28600"/>
                        <a:ext cx="2516188" cy="1382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7"/>
          <p:cNvGraphicFramePr>
            <a:graphicFrameLocks noChangeAspect="1"/>
          </p:cNvGraphicFramePr>
          <p:nvPr/>
        </p:nvGraphicFramePr>
        <p:xfrm>
          <a:off x="269875" y="4365625"/>
          <a:ext cx="8924925" cy="2270125"/>
        </p:xfrm>
        <a:graphic>
          <a:graphicData uri="http://schemas.openxmlformats.org/presentationml/2006/ole">
            <mc:AlternateContent xmlns:mc="http://schemas.openxmlformats.org/markup-compatibility/2006">
              <mc:Choice xmlns:v="urn:schemas-microsoft-com:vml" Requires="v">
                <p:oleObj spid="_x0000_s12387" name="公式" r:id="rId5" imgW="3378200" imgH="812800" progId="Equation.3">
                  <p:embed/>
                </p:oleObj>
              </mc:Choice>
              <mc:Fallback>
                <p:oleObj name="公式" r:id="rId5" imgW="3378200" imgH="8128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875" y="4365625"/>
                        <a:ext cx="8924925" cy="227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0" name="Object 8"/>
          <p:cNvGraphicFramePr>
            <a:graphicFrameLocks noChangeAspect="1"/>
          </p:cNvGraphicFramePr>
          <p:nvPr/>
        </p:nvGraphicFramePr>
        <p:xfrm>
          <a:off x="0" y="1641475"/>
          <a:ext cx="8991600" cy="2554288"/>
        </p:xfrm>
        <a:graphic>
          <a:graphicData uri="http://schemas.openxmlformats.org/presentationml/2006/ole">
            <mc:AlternateContent xmlns:mc="http://schemas.openxmlformats.org/markup-compatibility/2006">
              <mc:Choice xmlns:v="urn:schemas-microsoft-com:vml" Requires="v">
                <p:oleObj spid="_x0000_s12388" name="公式" r:id="rId7" imgW="3403600" imgH="914400" progId="Equation.3">
                  <p:embed/>
                </p:oleObj>
              </mc:Choice>
              <mc:Fallback>
                <p:oleObj name="公式" r:id="rId7" imgW="3403600" imgH="9144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641475"/>
                        <a:ext cx="8991600" cy="2554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7" name="Object 1029"/>
          <p:cNvGraphicFramePr>
            <a:graphicFrameLocks noChangeAspect="1"/>
          </p:cNvGraphicFramePr>
          <p:nvPr/>
        </p:nvGraphicFramePr>
        <p:xfrm>
          <a:off x="3924300" y="558800"/>
          <a:ext cx="4679950" cy="1193800"/>
        </p:xfrm>
        <a:graphic>
          <a:graphicData uri="http://schemas.openxmlformats.org/presentationml/2006/ole">
            <mc:AlternateContent xmlns:mc="http://schemas.openxmlformats.org/markup-compatibility/2006">
              <mc:Choice xmlns:v="urn:schemas-microsoft-com:vml" Requires="v">
                <p:oleObj spid="_x0000_s12389" name="公式" r:id="rId9" imgW="1815312" imgH="393529" progId="Equation.3">
                  <p:embed/>
                </p:oleObj>
              </mc:Choice>
              <mc:Fallback>
                <p:oleObj name="公式" r:id="rId9" imgW="1815312" imgH="393529" progId="Equation.3">
                  <p:embed/>
                  <p:pic>
                    <p:nvPicPr>
                      <p:cNvPr id="0" name="Object 10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24300" y="558800"/>
                        <a:ext cx="4679950"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8" name="Rectangle 1030"/>
          <p:cNvSpPr>
            <a:spLocks noChangeArrowheads="1"/>
          </p:cNvSpPr>
          <p:nvPr/>
        </p:nvSpPr>
        <p:spPr bwMode="auto">
          <a:xfrm>
            <a:off x="684213" y="5589588"/>
            <a:ext cx="3816350" cy="107950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23559" name="Line 1031"/>
          <p:cNvSpPr>
            <a:spLocks noChangeShapeType="1"/>
          </p:cNvSpPr>
          <p:nvPr/>
        </p:nvSpPr>
        <p:spPr bwMode="auto">
          <a:xfrm>
            <a:off x="5219700" y="6310313"/>
            <a:ext cx="504825"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0" name="AutoShape 1032"/>
          <p:cNvSpPr>
            <a:spLocks noChangeArrowheads="1"/>
          </p:cNvSpPr>
          <p:nvPr/>
        </p:nvSpPr>
        <p:spPr bwMode="auto">
          <a:xfrm rot="-1200000">
            <a:off x="1030288" y="4006850"/>
            <a:ext cx="71437" cy="647700"/>
          </a:xfrm>
          <a:prstGeom prst="downArrow">
            <a:avLst>
              <a:gd name="adj1" fmla="val 50000"/>
              <a:gd name="adj2" fmla="val 226668"/>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23561" name="AutoShape 1033"/>
          <p:cNvSpPr>
            <a:spLocks noChangeArrowheads="1"/>
          </p:cNvSpPr>
          <p:nvPr/>
        </p:nvSpPr>
        <p:spPr bwMode="auto">
          <a:xfrm rot="-3900000">
            <a:off x="1851819" y="3436144"/>
            <a:ext cx="79375" cy="1506537"/>
          </a:xfrm>
          <a:prstGeom prst="downArrow">
            <a:avLst>
              <a:gd name="adj1" fmla="val 50000"/>
              <a:gd name="adj2" fmla="val 4745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320"/>
                                        </p:tgtEl>
                                        <p:attrNameLst>
                                          <p:attrName>style.visibility</p:attrName>
                                        </p:attrNameLst>
                                      </p:cBhvr>
                                      <p:to>
                                        <p:strVal val="visible"/>
                                      </p:to>
                                    </p:set>
                                    <p:anim calcmode="lin" valueType="num">
                                      <p:cBhvr additive="base">
                                        <p:cTn id="7" dur="500" fill="hold"/>
                                        <p:tgtEl>
                                          <p:spTgt spid="13320"/>
                                        </p:tgtEl>
                                        <p:attrNameLst>
                                          <p:attrName>ppt_x</p:attrName>
                                        </p:attrNameLst>
                                      </p:cBhvr>
                                      <p:tavLst>
                                        <p:tav tm="0">
                                          <p:val>
                                            <p:strVal val="0-#ppt_w/2"/>
                                          </p:val>
                                        </p:tav>
                                        <p:tav tm="100000">
                                          <p:val>
                                            <p:strVal val="#ppt_x"/>
                                          </p:val>
                                        </p:tav>
                                      </p:tavLst>
                                    </p:anim>
                                    <p:anim calcmode="lin" valueType="num">
                                      <p:cBhvr additive="base">
                                        <p:cTn id="8" dur="500" fill="hold"/>
                                        <p:tgtEl>
                                          <p:spTgt spid="1332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3557"/>
                                        </p:tgtEl>
                                        <p:attrNameLst>
                                          <p:attrName>style.visibility</p:attrName>
                                        </p:attrNameLst>
                                      </p:cBhvr>
                                      <p:to>
                                        <p:strVal val="visible"/>
                                      </p:to>
                                    </p:set>
                                    <p:anim calcmode="lin" valueType="num">
                                      <p:cBhvr additive="base">
                                        <p:cTn id="13" dur="500" fill="hold"/>
                                        <p:tgtEl>
                                          <p:spTgt spid="23557"/>
                                        </p:tgtEl>
                                        <p:attrNameLst>
                                          <p:attrName>ppt_x</p:attrName>
                                        </p:attrNameLst>
                                      </p:cBhvr>
                                      <p:tavLst>
                                        <p:tav tm="0">
                                          <p:val>
                                            <p:strVal val="0-#ppt_w/2"/>
                                          </p:val>
                                        </p:tav>
                                        <p:tav tm="100000">
                                          <p:val>
                                            <p:strVal val="#ppt_x"/>
                                          </p:val>
                                        </p:tav>
                                      </p:tavLst>
                                    </p:anim>
                                    <p:anim calcmode="lin" valueType="num">
                                      <p:cBhvr additive="base">
                                        <p:cTn id="14" dur="500" fill="hold"/>
                                        <p:tgtEl>
                                          <p:spTgt spid="2355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319"/>
                                        </p:tgtEl>
                                        <p:attrNameLst>
                                          <p:attrName>style.visibility</p:attrName>
                                        </p:attrNameLst>
                                      </p:cBhvr>
                                      <p:to>
                                        <p:strVal val="visible"/>
                                      </p:to>
                                    </p:set>
                                    <p:anim calcmode="lin" valueType="num">
                                      <p:cBhvr additive="base">
                                        <p:cTn id="19" dur="500" fill="hold"/>
                                        <p:tgtEl>
                                          <p:spTgt spid="13319"/>
                                        </p:tgtEl>
                                        <p:attrNameLst>
                                          <p:attrName>ppt_x</p:attrName>
                                        </p:attrNameLst>
                                      </p:cBhvr>
                                      <p:tavLst>
                                        <p:tav tm="0">
                                          <p:val>
                                            <p:strVal val="0-#ppt_w/2"/>
                                          </p:val>
                                        </p:tav>
                                        <p:tav tm="100000">
                                          <p:val>
                                            <p:strVal val="#ppt_x"/>
                                          </p:val>
                                        </p:tav>
                                      </p:tavLst>
                                    </p:anim>
                                    <p:anim calcmode="lin" valueType="num">
                                      <p:cBhvr additive="base">
                                        <p:cTn id="20" dur="500" fill="hold"/>
                                        <p:tgtEl>
                                          <p:spTgt spid="1331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560"/>
                                        </p:tgtEl>
                                        <p:attrNameLst>
                                          <p:attrName>style.visibility</p:attrName>
                                        </p:attrNameLst>
                                      </p:cBhvr>
                                      <p:to>
                                        <p:strVal val="visible"/>
                                      </p:to>
                                    </p:set>
                                  </p:childTnLst>
                                </p:cTn>
                              </p:par>
                            </p:childTnLst>
                          </p:cTn>
                        </p:par>
                        <p:par>
                          <p:cTn id="25" fill="hold" nodeType="afterGroup">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23561"/>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3558"/>
                                        </p:tgtEl>
                                        <p:attrNameLst>
                                          <p:attrName>style.visibility</p:attrName>
                                        </p:attrNameLst>
                                      </p:cBhvr>
                                      <p:to>
                                        <p:strVal val="visible"/>
                                      </p:to>
                                    </p:set>
                                    <p:anim calcmode="lin" valueType="num">
                                      <p:cBhvr additive="base">
                                        <p:cTn id="32" dur="500" fill="hold"/>
                                        <p:tgtEl>
                                          <p:spTgt spid="23558"/>
                                        </p:tgtEl>
                                        <p:attrNameLst>
                                          <p:attrName>ppt_x</p:attrName>
                                        </p:attrNameLst>
                                      </p:cBhvr>
                                      <p:tavLst>
                                        <p:tav tm="0">
                                          <p:val>
                                            <p:strVal val="#ppt_x"/>
                                          </p:val>
                                        </p:tav>
                                        <p:tav tm="100000">
                                          <p:val>
                                            <p:strVal val="#ppt_x"/>
                                          </p:val>
                                        </p:tav>
                                      </p:tavLst>
                                    </p:anim>
                                    <p:anim calcmode="lin" valueType="num">
                                      <p:cBhvr additive="base">
                                        <p:cTn id="33" dur="500" fill="hold"/>
                                        <p:tgtEl>
                                          <p:spTgt spid="23558"/>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3559"/>
                                        </p:tgtEl>
                                        <p:attrNameLst>
                                          <p:attrName>style.visibility</p:attrName>
                                        </p:attrNameLst>
                                      </p:cBhvr>
                                      <p:to>
                                        <p:strVal val="visible"/>
                                      </p:to>
                                    </p:set>
                                    <p:anim calcmode="lin" valueType="num">
                                      <p:cBhvr additive="base">
                                        <p:cTn id="38" dur="500" fill="hold"/>
                                        <p:tgtEl>
                                          <p:spTgt spid="23559"/>
                                        </p:tgtEl>
                                        <p:attrNameLst>
                                          <p:attrName>ppt_x</p:attrName>
                                        </p:attrNameLst>
                                      </p:cBhvr>
                                      <p:tavLst>
                                        <p:tav tm="0">
                                          <p:val>
                                            <p:strVal val="#ppt_x"/>
                                          </p:val>
                                        </p:tav>
                                        <p:tav tm="100000">
                                          <p:val>
                                            <p:strVal val="#ppt_x"/>
                                          </p:val>
                                        </p:tav>
                                      </p:tavLst>
                                    </p:anim>
                                    <p:anim calcmode="lin" valueType="num">
                                      <p:cBhvr additive="base">
                                        <p:cTn id="39" dur="500" fill="hold"/>
                                        <p:tgtEl>
                                          <p:spTgt spid="235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animBg="1"/>
      <p:bldP spid="23559" grpId="0" animBg="1"/>
      <p:bldP spid="23560" grpId="0" animBg="1"/>
      <p:bldP spid="2356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720725"/>
            <a:ext cx="7272338" cy="583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5" name="Rectangle 5"/>
          <p:cNvSpPr>
            <a:spLocks noChangeArrowheads="1"/>
          </p:cNvSpPr>
          <p:nvPr/>
        </p:nvSpPr>
        <p:spPr bwMode="auto">
          <a:xfrm>
            <a:off x="1219200" y="228600"/>
            <a:ext cx="3752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6.4 Mid-point rule</a:t>
            </a:r>
          </a:p>
        </p:txBody>
      </p:sp>
      <p:graphicFrame>
        <p:nvGraphicFramePr>
          <p:cNvPr id="17414" name="Object 6"/>
          <p:cNvGraphicFramePr>
            <a:graphicFrameLocks noChangeAspect="1"/>
          </p:cNvGraphicFramePr>
          <p:nvPr/>
        </p:nvGraphicFramePr>
        <p:xfrm>
          <a:off x="2051050" y="1125538"/>
          <a:ext cx="3287713" cy="1631950"/>
        </p:xfrm>
        <a:graphic>
          <a:graphicData uri="http://schemas.openxmlformats.org/presentationml/2006/ole">
            <mc:AlternateContent xmlns:mc="http://schemas.openxmlformats.org/markup-compatibility/2006">
              <mc:Choice xmlns:v="urn:schemas-microsoft-com:vml" Requires="v">
                <p:oleObj spid="_x0000_s13342" name="Equation" r:id="rId4" imgW="1295400" imgH="584200" progId="Equation.3">
                  <p:embed/>
                </p:oleObj>
              </mc:Choice>
              <mc:Fallback>
                <p:oleObj name="Equation" r:id="rId4" imgW="1295400" imgH="5842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1125538"/>
                        <a:ext cx="3287713" cy="163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5" name="Text Box 7"/>
          <p:cNvSpPr txBox="1">
            <a:spLocks noChangeArrowheads="1"/>
          </p:cNvSpPr>
          <p:nvPr/>
        </p:nvSpPr>
        <p:spPr bwMode="auto">
          <a:xfrm>
            <a:off x="3886200" y="5943600"/>
            <a:ext cx="762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i="1">
                <a:latin typeface="Times New Roman" pitchFamily="18" charset="0"/>
              </a:rPr>
              <a:t>x</a:t>
            </a:r>
            <a:r>
              <a:rPr lang="en-US" altLang="zh-CN" sz="3200" b="1" i="1" baseline="-25000">
                <a:latin typeface="Times New Roman" pitchFamily="18" charset="0"/>
              </a:rPr>
              <a:t>0</a:t>
            </a:r>
          </a:p>
        </p:txBody>
      </p:sp>
      <p:sp>
        <p:nvSpPr>
          <p:cNvPr id="17416" name="Line 8"/>
          <p:cNvSpPr>
            <a:spLocks noChangeShapeType="1"/>
          </p:cNvSpPr>
          <p:nvPr/>
        </p:nvSpPr>
        <p:spPr bwMode="auto">
          <a:xfrm>
            <a:off x="4237038" y="3141663"/>
            <a:ext cx="0" cy="2592387"/>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17" name="Rectangle 9"/>
          <p:cNvSpPr>
            <a:spLocks noChangeArrowheads="1"/>
          </p:cNvSpPr>
          <p:nvPr/>
        </p:nvSpPr>
        <p:spPr bwMode="auto">
          <a:xfrm>
            <a:off x="2316163" y="3187700"/>
            <a:ext cx="3814762" cy="2636838"/>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412"/>
                                        </p:tgtEl>
                                        <p:attrNameLst>
                                          <p:attrName>style.visibility</p:attrName>
                                        </p:attrNameLst>
                                      </p:cBhvr>
                                      <p:to>
                                        <p:strVal val="visible"/>
                                      </p:to>
                                    </p:set>
                                    <p:anim calcmode="lin" valueType="num">
                                      <p:cBhvr additive="base">
                                        <p:cTn id="7" dur="500" fill="hold"/>
                                        <p:tgtEl>
                                          <p:spTgt spid="17412"/>
                                        </p:tgtEl>
                                        <p:attrNameLst>
                                          <p:attrName>ppt_x</p:attrName>
                                        </p:attrNameLst>
                                      </p:cBhvr>
                                      <p:tavLst>
                                        <p:tav tm="0">
                                          <p:val>
                                            <p:strVal val="0-#ppt_w/2"/>
                                          </p:val>
                                        </p:tav>
                                        <p:tav tm="100000">
                                          <p:val>
                                            <p:strVal val="#ppt_x"/>
                                          </p:val>
                                        </p:tav>
                                      </p:tavLst>
                                    </p:anim>
                                    <p:anim calcmode="lin" valueType="num">
                                      <p:cBhvr additive="base">
                                        <p:cTn id="8" dur="500" fill="hold"/>
                                        <p:tgtEl>
                                          <p:spTgt spid="1741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7415"/>
                                        </p:tgtEl>
                                        <p:attrNameLst>
                                          <p:attrName>style.visibility</p:attrName>
                                        </p:attrNameLst>
                                      </p:cBhvr>
                                      <p:to>
                                        <p:strVal val="visible"/>
                                      </p:to>
                                    </p:set>
                                    <p:anim calcmode="lin" valueType="num">
                                      <p:cBhvr additive="base">
                                        <p:cTn id="12" dur="500" fill="hold"/>
                                        <p:tgtEl>
                                          <p:spTgt spid="17415"/>
                                        </p:tgtEl>
                                        <p:attrNameLst>
                                          <p:attrName>ppt_x</p:attrName>
                                        </p:attrNameLst>
                                      </p:cBhvr>
                                      <p:tavLst>
                                        <p:tav tm="0">
                                          <p:val>
                                            <p:strVal val="0-#ppt_w/2"/>
                                          </p:val>
                                        </p:tav>
                                        <p:tav tm="100000">
                                          <p:val>
                                            <p:strVal val="#ppt_x"/>
                                          </p:val>
                                        </p:tav>
                                      </p:tavLst>
                                    </p:anim>
                                    <p:anim calcmode="lin" valueType="num">
                                      <p:cBhvr additive="base">
                                        <p:cTn id="13" dur="500" fill="hold"/>
                                        <p:tgtEl>
                                          <p:spTgt spid="1741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7416"/>
                                        </p:tgtEl>
                                        <p:attrNameLst>
                                          <p:attrName>style.visibility</p:attrName>
                                        </p:attrNameLst>
                                      </p:cBhvr>
                                      <p:to>
                                        <p:strVal val="visible"/>
                                      </p:to>
                                    </p:set>
                                    <p:anim calcmode="lin" valueType="num">
                                      <p:cBhvr additive="base">
                                        <p:cTn id="18" dur="500" fill="hold"/>
                                        <p:tgtEl>
                                          <p:spTgt spid="17416"/>
                                        </p:tgtEl>
                                        <p:attrNameLst>
                                          <p:attrName>ppt_x</p:attrName>
                                        </p:attrNameLst>
                                      </p:cBhvr>
                                      <p:tavLst>
                                        <p:tav tm="0">
                                          <p:val>
                                            <p:strVal val="#ppt_x"/>
                                          </p:val>
                                        </p:tav>
                                        <p:tav tm="100000">
                                          <p:val>
                                            <p:strVal val="#ppt_x"/>
                                          </p:val>
                                        </p:tav>
                                      </p:tavLst>
                                    </p:anim>
                                    <p:anim calcmode="lin" valueType="num">
                                      <p:cBhvr additive="base">
                                        <p:cTn id="19" dur="500" fill="hold"/>
                                        <p:tgtEl>
                                          <p:spTgt spid="17416"/>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7417"/>
                                        </p:tgtEl>
                                        <p:attrNameLst>
                                          <p:attrName>style.visibility</p:attrName>
                                        </p:attrNameLst>
                                      </p:cBhvr>
                                      <p:to>
                                        <p:strVal val="visible"/>
                                      </p:to>
                                    </p:set>
                                    <p:anim calcmode="lin" valueType="num">
                                      <p:cBhvr additive="base">
                                        <p:cTn id="24" dur="500" fill="hold"/>
                                        <p:tgtEl>
                                          <p:spTgt spid="17417"/>
                                        </p:tgtEl>
                                        <p:attrNameLst>
                                          <p:attrName>ppt_x</p:attrName>
                                        </p:attrNameLst>
                                      </p:cBhvr>
                                      <p:tavLst>
                                        <p:tav tm="0">
                                          <p:val>
                                            <p:strVal val="#ppt_x"/>
                                          </p:val>
                                        </p:tav>
                                        <p:tav tm="100000">
                                          <p:val>
                                            <p:strVal val="#ppt_x"/>
                                          </p:val>
                                        </p:tav>
                                      </p:tavLst>
                                    </p:anim>
                                    <p:anim calcmode="lin" valueType="num">
                                      <p:cBhvr additive="base">
                                        <p:cTn id="25" dur="500" fill="hold"/>
                                        <p:tgtEl>
                                          <p:spTgt spid="17417"/>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17414"/>
                                        </p:tgtEl>
                                        <p:attrNameLst>
                                          <p:attrName>style.visibility</p:attrName>
                                        </p:attrNameLst>
                                      </p:cBhvr>
                                      <p:to>
                                        <p:strVal val="visible"/>
                                      </p:to>
                                    </p:set>
                                    <p:anim calcmode="lin" valueType="num">
                                      <p:cBhvr additive="base">
                                        <p:cTn id="30" dur="500" fill="hold"/>
                                        <p:tgtEl>
                                          <p:spTgt spid="17414"/>
                                        </p:tgtEl>
                                        <p:attrNameLst>
                                          <p:attrName>ppt_x</p:attrName>
                                        </p:attrNameLst>
                                      </p:cBhvr>
                                      <p:tavLst>
                                        <p:tav tm="0">
                                          <p:val>
                                            <p:strVal val="0-#ppt_w/2"/>
                                          </p:val>
                                        </p:tav>
                                        <p:tav tm="100000">
                                          <p:val>
                                            <p:strVal val="#ppt_x"/>
                                          </p:val>
                                        </p:tav>
                                      </p:tavLst>
                                    </p:anim>
                                    <p:anim calcmode="lin" valueType="num">
                                      <p:cBhvr additive="base">
                                        <p:cTn id="31" dur="500" fill="hold"/>
                                        <p:tgtEl>
                                          <p:spTgt spid="174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5" grpId="0" autoUpdateAnimBg="0"/>
      <p:bldP spid="17416" grpId="0" animBg="1"/>
      <p:bldP spid="174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7"/>
          <p:cNvGraphicFramePr>
            <a:graphicFrameLocks noChangeAspect="1"/>
          </p:cNvGraphicFramePr>
          <p:nvPr/>
        </p:nvGraphicFramePr>
        <p:xfrm>
          <a:off x="179388" y="115888"/>
          <a:ext cx="8604250" cy="3265487"/>
        </p:xfrm>
        <a:graphic>
          <a:graphicData uri="http://schemas.openxmlformats.org/presentationml/2006/ole">
            <mc:AlternateContent xmlns:mc="http://schemas.openxmlformats.org/markup-compatibility/2006">
              <mc:Choice xmlns:v="urn:schemas-microsoft-com:vml" Requires="v">
                <p:oleObj spid="_x0000_s14431" name="公式" r:id="rId3" imgW="3390900" imgH="1168400" progId="Equation.3">
                  <p:embed/>
                </p:oleObj>
              </mc:Choice>
              <mc:Fallback>
                <p:oleObj name="公式" r:id="rId3" imgW="3390900" imgH="11684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115888"/>
                        <a:ext cx="8604250" cy="3265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8" name="Object 8"/>
          <p:cNvGraphicFramePr>
            <a:graphicFrameLocks noChangeAspect="1"/>
          </p:cNvGraphicFramePr>
          <p:nvPr/>
        </p:nvGraphicFramePr>
        <p:xfrm>
          <a:off x="468313" y="3355975"/>
          <a:ext cx="5334000" cy="1222375"/>
        </p:xfrm>
        <a:graphic>
          <a:graphicData uri="http://schemas.openxmlformats.org/presentationml/2006/ole">
            <mc:AlternateContent xmlns:mc="http://schemas.openxmlformats.org/markup-compatibility/2006">
              <mc:Choice xmlns:v="urn:schemas-microsoft-com:vml" Requires="v">
                <p:oleObj spid="_x0000_s14432" name="Equation" r:id="rId5" imgW="1892300" imgH="393700" progId="Equation.3">
                  <p:embed/>
                </p:oleObj>
              </mc:Choice>
              <mc:Fallback>
                <p:oleObj name="Equation" r:id="rId5" imgW="1892300" imgH="3937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3355975"/>
                        <a:ext cx="5334000" cy="1222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0" name="Object 10"/>
          <p:cNvGraphicFramePr>
            <a:graphicFrameLocks noChangeAspect="1"/>
          </p:cNvGraphicFramePr>
          <p:nvPr/>
        </p:nvGraphicFramePr>
        <p:xfrm>
          <a:off x="492125" y="5214938"/>
          <a:ext cx="1609725" cy="1382712"/>
        </p:xfrm>
        <a:graphic>
          <a:graphicData uri="http://schemas.openxmlformats.org/presentationml/2006/ole">
            <mc:AlternateContent xmlns:mc="http://schemas.openxmlformats.org/markup-compatibility/2006">
              <mc:Choice xmlns:v="urn:schemas-microsoft-com:vml" Requires="v">
                <p:oleObj spid="_x0000_s14433" name="公式" r:id="rId7" imgW="609336" imgH="495085" progId="Equation.3">
                  <p:embed/>
                </p:oleObj>
              </mc:Choice>
              <mc:Fallback>
                <p:oleObj name="公式" r:id="rId7" imgW="609336" imgH="495085"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2125" y="5214938"/>
                        <a:ext cx="1609725" cy="1382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1" name="Rectangle 11"/>
          <p:cNvSpPr>
            <a:spLocks noChangeArrowheads="1"/>
          </p:cNvSpPr>
          <p:nvPr/>
        </p:nvSpPr>
        <p:spPr bwMode="auto">
          <a:xfrm>
            <a:off x="395288" y="4632325"/>
            <a:ext cx="3006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latin typeface="Times New Roman" pitchFamily="18" charset="0"/>
              </a:rPr>
              <a:t> Trapezium rule</a:t>
            </a:r>
          </a:p>
        </p:txBody>
      </p:sp>
      <p:graphicFrame>
        <p:nvGraphicFramePr>
          <p:cNvPr id="15372" name="Object 12"/>
          <p:cNvGraphicFramePr>
            <a:graphicFrameLocks noChangeAspect="1"/>
          </p:cNvGraphicFramePr>
          <p:nvPr/>
        </p:nvGraphicFramePr>
        <p:xfrm>
          <a:off x="2039938" y="5373688"/>
          <a:ext cx="6710362" cy="1100137"/>
        </p:xfrm>
        <a:graphic>
          <a:graphicData uri="http://schemas.openxmlformats.org/presentationml/2006/ole">
            <mc:AlternateContent xmlns:mc="http://schemas.openxmlformats.org/markup-compatibility/2006">
              <mc:Choice xmlns:v="urn:schemas-microsoft-com:vml" Requires="v">
                <p:oleObj spid="_x0000_s14434" name="公式" r:id="rId9" imgW="2540000" imgH="393700" progId="Equation.3">
                  <p:embed/>
                </p:oleObj>
              </mc:Choice>
              <mc:Fallback>
                <p:oleObj name="公式" r:id="rId9" imgW="2540000" imgH="3937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39938" y="5373688"/>
                        <a:ext cx="6710362" cy="1100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368"/>
                                        </p:tgtEl>
                                        <p:attrNameLst>
                                          <p:attrName>style.visibility</p:attrName>
                                        </p:attrNameLst>
                                      </p:cBhvr>
                                      <p:to>
                                        <p:strVal val="visible"/>
                                      </p:to>
                                    </p:set>
                                    <p:anim calcmode="lin" valueType="num">
                                      <p:cBhvr additive="base">
                                        <p:cTn id="7" dur="500" fill="hold"/>
                                        <p:tgtEl>
                                          <p:spTgt spid="15368"/>
                                        </p:tgtEl>
                                        <p:attrNameLst>
                                          <p:attrName>ppt_x</p:attrName>
                                        </p:attrNameLst>
                                      </p:cBhvr>
                                      <p:tavLst>
                                        <p:tav tm="0">
                                          <p:val>
                                            <p:strVal val="0-#ppt_w/2"/>
                                          </p:val>
                                        </p:tav>
                                        <p:tav tm="100000">
                                          <p:val>
                                            <p:strVal val="#ppt_x"/>
                                          </p:val>
                                        </p:tav>
                                      </p:tavLst>
                                    </p:anim>
                                    <p:anim calcmode="lin" valueType="num">
                                      <p:cBhvr additive="base">
                                        <p:cTn id="8" dur="500" fill="hold"/>
                                        <p:tgtEl>
                                          <p:spTgt spid="153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5372"/>
                                        </p:tgtEl>
                                        <p:attrNameLst>
                                          <p:attrName>style.visibility</p:attrName>
                                        </p:attrNameLst>
                                      </p:cBhvr>
                                      <p:to>
                                        <p:strVal val="visible"/>
                                      </p:to>
                                    </p:set>
                                    <p:anim calcmode="lin" valueType="num">
                                      <p:cBhvr additive="base">
                                        <p:cTn id="13" dur="500" fill="hold"/>
                                        <p:tgtEl>
                                          <p:spTgt spid="15372"/>
                                        </p:tgtEl>
                                        <p:attrNameLst>
                                          <p:attrName>ppt_x</p:attrName>
                                        </p:attrNameLst>
                                      </p:cBhvr>
                                      <p:tavLst>
                                        <p:tav tm="0">
                                          <p:val>
                                            <p:strVal val="0-#ppt_w/2"/>
                                          </p:val>
                                        </p:tav>
                                        <p:tav tm="100000">
                                          <p:val>
                                            <p:strVal val="#ppt_x"/>
                                          </p:val>
                                        </p:tav>
                                      </p:tavLst>
                                    </p:anim>
                                    <p:anim calcmode="lin" valueType="num">
                                      <p:cBhvr additive="base">
                                        <p:cTn id="14" dur="500" fill="hold"/>
                                        <p:tgtEl>
                                          <p:spTgt spid="153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075" y="2276475"/>
            <a:ext cx="54006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286"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350" y="3716338"/>
            <a:ext cx="471488"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284"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59113" y="4437063"/>
            <a:ext cx="92710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Rectangle 12"/>
          <p:cNvSpPr>
            <a:spLocks noChangeArrowheads="1"/>
          </p:cNvSpPr>
          <p:nvPr/>
        </p:nvSpPr>
        <p:spPr bwMode="auto">
          <a:xfrm>
            <a:off x="179388" y="549275"/>
            <a:ext cx="864235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5000"/>
              </a:lnSpc>
            </a:pPr>
            <a:r>
              <a:rPr lang="zh-CN" altLang="en-US" sz="3200" b="1">
                <a:latin typeface="宋体" pitchFamily="2" charset="-122"/>
              </a:rPr>
              <a:t>积分中值定理</a:t>
            </a:r>
            <a:r>
              <a:rPr lang="en-US" altLang="zh-CN" sz="3200" b="1">
                <a:latin typeface="宋体" pitchFamily="2" charset="-122"/>
              </a:rPr>
              <a:t>:</a:t>
            </a:r>
            <a:r>
              <a:rPr lang="zh-CN" altLang="en-US" sz="3200" b="1">
                <a:latin typeface="宋体" pitchFamily="2" charset="-122"/>
              </a:rPr>
              <a:t>如果函数 </a:t>
            </a:r>
            <a:r>
              <a:rPr lang="en-US" altLang="zh-CN" sz="3200" b="1" i="1">
                <a:latin typeface="Times New Roman" pitchFamily="18" charset="0"/>
              </a:rPr>
              <a:t>f(x) </a:t>
            </a:r>
            <a:r>
              <a:rPr lang="zh-CN" altLang="en-US" sz="3200" b="1">
                <a:latin typeface="宋体" pitchFamily="2" charset="-122"/>
              </a:rPr>
              <a:t>在区间</a:t>
            </a:r>
            <a:r>
              <a:rPr lang="en-US" altLang="zh-CN" sz="3200" b="1">
                <a:latin typeface="Times New Roman" pitchFamily="18" charset="0"/>
              </a:rPr>
              <a:t>[a,b]</a:t>
            </a:r>
            <a:r>
              <a:rPr lang="zh-CN" altLang="en-US" sz="3200" b="1">
                <a:latin typeface="宋体" pitchFamily="2" charset="-122"/>
              </a:rPr>
              <a:t>上连续</a:t>
            </a:r>
            <a:r>
              <a:rPr lang="en-US" altLang="zh-CN" sz="3200" b="1">
                <a:latin typeface="宋体" pitchFamily="2" charset="-122"/>
              </a:rPr>
              <a:t>,</a:t>
            </a:r>
            <a:r>
              <a:rPr lang="zh-CN" altLang="en-US" sz="3200" b="1">
                <a:latin typeface="宋体" pitchFamily="2" charset="-122"/>
              </a:rPr>
              <a:t>则在积分区间</a:t>
            </a:r>
            <a:r>
              <a:rPr lang="en-US" altLang="zh-CN" sz="3200" b="1">
                <a:latin typeface="Times New Roman" pitchFamily="18" charset="0"/>
              </a:rPr>
              <a:t>[a,b]</a:t>
            </a:r>
            <a:r>
              <a:rPr lang="zh-CN" altLang="en-US" sz="3200" b="1">
                <a:latin typeface="宋体" pitchFamily="2" charset="-122"/>
              </a:rPr>
              <a:t>内存在一点使</a:t>
            </a:r>
            <a:r>
              <a:rPr lang="zh-CN" altLang="zh-CN" sz="3200" b="1">
                <a:latin typeface="宋体" pitchFamily="2" charset="-122"/>
              </a:rPr>
              <a:t>下式</a:t>
            </a:r>
            <a:r>
              <a:rPr lang="zh-CN" altLang="en-US" sz="3200" b="1">
                <a:latin typeface="宋体" pitchFamily="2" charset="-122"/>
              </a:rPr>
              <a:t>成立。</a:t>
            </a:r>
          </a:p>
        </p:txBody>
      </p:sp>
      <p:sp>
        <p:nvSpPr>
          <p:cNvPr id="225298" name="Rectangle 18"/>
          <p:cNvSpPr>
            <a:spLocks noChangeArrowheads="1"/>
          </p:cNvSpPr>
          <p:nvPr/>
        </p:nvSpPr>
        <p:spPr bwMode="auto">
          <a:xfrm>
            <a:off x="250825" y="3640138"/>
            <a:ext cx="856932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zh-CN" altLang="en-US" sz="3200">
                <a:latin typeface="宋体" pitchFamily="2" charset="-122"/>
              </a:rPr>
              <a:t>由于    的具体位置一般是未知的</a:t>
            </a:r>
            <a:r>
              <a:rPr lang="en-US" altLang="zh-CN" sz="3200">
                <a:latin typeface="宋体" pitchFamily="2" charset="-122"/>
              </a:rPr>
              <a:t>,</a:t>
            </a:r>
            <a:r>
              <a:rPr lang="zh-CN" altLang="en-US" sz="3200">
                <a:latin typeface="宋体" pitchFamily="2" charset="-122"/>
              </a:rPr>
              <a:t>因而难以准确地计算出      </a:t>
            </a:r>
            <a:r>
              <a:rPr lang="en-US" altLang="zh-CN" sz="3200">
                <a:latin typeface="宋体" pitchFamily="2" charset="-122"/>
              </a:rPr>
              <a:t>.</a:t>
            </a:r>
          </a:p>
        </p:txBody>
      </p:sp>
      <p:sp>
        <p:nvSpPr>
          <p:cNvPr id="225303" name="Rectangle 23"/>
          <p:cNvSpPr>
            <a:spLocks noChangeArrowheads="1"/>
          </p:cNvSpPr>
          <p:nvPr/>
        </p:nvSpPr>
        <p:spPr bwMode="auto">
          <a:xfrm>
            <a:off x="323850" y="5229225"/>
            <a:ext cx="2863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Constant rule</a:t>
            </a:r>
          </a:p>
        </p:txBody>
      </p:sp>
      <p:sp>
        <p:nvSpPr>
          <p:cNvPr id="225304" name="Rectangle 24"/>
          <p:cNvSpPr>
            <a:spLocks noChangeArrowheads="1"/>
          </p:cNvSpPr>
          <p:nvPr/>
        </p:nvSpPr>
        <p:spPr bwMode="auto">
          <a:xfrm>
            <a:off x="3708400" y="5229225"/>
            <a:ext cx="3930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Trapezium rule</a:t>
            </a:r>
          </a:p>
        </p:txBody>
      </p:sp>
      <p:sp>
        <p:nvSpPr>
          <p:cNvPr id="225305" name="Rectangle 25"/>
          <p:cNvSpPr>
            <a:spLocks noChangeArrowheads="1"/>
          </p:cNvSpPr>
          <p:nvPr/>
        </p:nvSpPr>
        <p:spPr bwMode="auto">
          <a:xfrm>
            <a:off x="2555875" y="5949950"/>
            <a:ext cx="3067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Mid-point rule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5286"/>
                                        </p:tgtEl>
                                        <p:attrNameLst>
                                          <p:attrName>style.visibility</p:attrName>
                                        </p:attrNameLst>
                                      </p:cBhvr>
                                      <p:to>
                                        <p:strVal val="visible"/>
                                      </p:to>
                                    </p:set>
                                    <p:anim calcmode="lin" valueType="num">
                                      <p:cBhvr additive="base">
                                        <p:cTn id="7" dur="500" fill="hold"/>
                                        <p:tgtEl>
                                          <p:spTgt spid="225286"/>
                                        </p:tgtEl>
                                        <p:attrNameLst>
                                          <p:attrName>ppt_x</p:attrName>
                                        </p:attrNameLst>
                                      </p:cBhvr>
                                      <p:tavLst>
                                        <p:tav tm="0">
                                          <p:val>
                                            <p:strVal val="#ppt_x"/>
                                          </p:val>
                                        </p:tav>
                                        <p:tav tm="100000">
                                          <p:val>
                                            <p:strVal val="#ppt_x"/>
                                          </p:val>
                                        </p:tav>
                                      </p:tavLst>
                                    </p:anim>
                                    <p:anim calcmode="lin" valueType="num">
                                      <p:cBhvr additive="base">
                                        <p:cTn id="8" dur="500" fill="hold"/>
                                        <p:tgtEl>
                                          <p:spTgt spid="22528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5284"/>
                                        </p:tgtEl>
                                        <p:attrNameLst>
                                          <p:attrName>style.visibility</p:attrName>
                                        </p:attrNameLst>
                                      </p:cBhvr>
                                      <p:to>
                                        <p:strVal val="visible"/>
                                      </p:to>
                                    </p:set>
                                    <p:anim calcmode="lin" valueType="num">
                                      <p:cBhvr additive="base">
                                        <p:cTn id="11" dur="500" fill="hold"/>
                                        <p:tgtEl>
                                          <p:spTgt spid="225284"/>
                                        </p:tgtEl>
                                        <p:attrNameLst>
                                          <p:attrName>ppt_x</p:attrName>
                                        </p:attrNameLst>
                                      </p:cBhvr>
                                      <p:tavLst>
                                        <p:tav tm="0">
                                          <p:val>
                                            <p:strVal val="#ppt_x"/>
                                          </p:val>
                                        </p:tav>
                                        <p:tav tm="100000">
                                          <p:val>
                                            <p:strVal val="#ppt_x"/>
                                          </p:val>
                                        </p:tav>
                                      </p:tavLst>
                                    </p:anim>
                                    <p:anim calcmode="lin" valueType="num">
                                      <p:cBhvr additive="base">
                                        <p:cTn id="12" dur="500" fill="hold"/>
                                        <p:tgtEl>
                                          <p:spTgt spid="22528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25303"/>
                                        </p:tgtEl>
                                        <p:attrNameLst>
                                          <p:attrName>style.visibility</p:attrName>
                                        </p:attrNameLst>
                                      </p:cBhvr>
                                      <p:to>
                                        <p:strVal val="visible"/>
                                      </p:to>
                                    </p:set>
                                    <p:anim calcmode="lin" valueType="num">
                                      <p:cBhvr additive="base">
                                        <p:cTn id="15" dur="500" fill="hold"/>
                                        <p:tgtEl>
                                          <p:spTgt spid="225303"/>
                                        </p:tgtEl>
                                        <p:attrNameLst>
                                          <p:attrName>ppt_x</p:attrName>
                                        </p:attrNameLst>
                                      </p:cBhvr>
                                      <p:tavLst>
                                        <p:tav tm="0">
                                          <p:val>
                                            <p:strVal val="#ppt_x"/>
                                          </p:val>
                                        </p:tav>
                                        <p:tav tm="100000">
                                          <p:val>
                                            <p:strVal val="#ppt_x"/>
                                          </p:val>
                                        </p:tav>
                                      </p:tavLst>
                                    </p:anim>
                                    <p:anim calcmode="lin" valueType="num">
                                      <p:cBhvr additive="base">
                                        <p:cTn id="16" dur="500" fill="hold"/>
                                        <p:tgtEl>
                                          <p:spTgt spid="22530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25304"/>
                                        </p:tgtEl>
                                        <p:attrNameLst>
                                          <p:attrName>style.visibility</p:attrName>
                                        </p:attrNameLst>
                                      </p:cBhvr>
                                      <p:to>
                                        <p:strVal val="visible"/>
                                      </p:to>
                                    </p:set>
                                    <p:anim calcmode="lin" valueType="num">
                                      <p:cBhvr additive="base">
                                        <p:cTn id="19" dur="500" fill="hold"/>
                                        <p:tgtEl>
                                          <p:spTgt spid="225304"/>
                                        </p:tgtEl>
                                        <p:attrNameLst>
                                          <p:attrName>ppt_x</p:attrName>
                                        </p:attrNameLst>
                                      </p:cBhvr>
                                      <p:tavLst>
                                        <p:tav tm="0">
                                          <p:val>
                                            <p:strVal val="#ppt_x"/>
                                          </p:val>
                                        </p:tav>
                                        <p:tav tm="100000">
                                          <p:val>
                                            <p:strVal val="#ppt_x"/>
                                          </p:val>
                                        </p:tav>
                                      </p:tavLst>
                                    </p:anim>
                                    <p:anim calcmode="lin" valueType="num">
                                      <p:cBhvr additive="base">
                                        <p:cTn id="20" dur="500" fill="hold"/>
                                        <p:tgtEl>
                                          <p:spTgt spid="22530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25305"/>
                                        </p:tgtEl>
                                        <p:attrNameLst>
                                          <p:attrName>style.visibility</p:attrName>
                                        </p:attrNameLst>
                                      </p:cBhvr>
                                      <p:to>
                                        <p:strVal val="visible"/>
                                      </p:to>
                                    </p:set>
                                    <p:anim calcmode="lin" valueType="num">
                                      <p:cBhvr additive="base">
                                        <p:cTn id="23" dur="500" fill="hold"/>
                                        <p:tgtEl>
                                          <p:spTgt spid="225305"/>
                                        </p:tgtEl>
                                        <p:attrNameLst>
                                          <p:attrName>ppt_x</p:attrName>
                                        </p:attrNameLst>
                                      </p:cBhvr>
                                      <p:tavLst>
                                        <p:tav tm="0">
                                          <p:val>
                                            <p:strVal val="#ppt_x"/>
                                          </p:val>
                                        </p:tav>
                                        <p:tav tm="100000">
                                          <p:val>
                                            <p:strVal val="#ppt_x"/>
                                          </p:val>
                                        </p:tav>
                                      </p:tavLst>
                                    </p:anim>
                                    <p:anim calcmode="lin" valueType="num">
                                      <p:cBhvr additive="base">
                                        <p:cTn id="24" dur="500" fill="hold"/>
                                        <p:tgtEl>
                                          <p:spTgt spid="22530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5298"/>
                                        </p:tgtEl>
                                        <p:attrNameLst>
                                          <p:attrName>style.visibility</p:attrName>
                                        </p:attrNameLst>
                                      </p:cBhvr>
                                      <p:to>
                                        <p:strVal val="visible"/>
                                      </p:to>
                                    </p:set>
                                    <p:anim calcmode="lin" valueType="num">
                                      <p:cBhvr additive="base">
                                        <p:cTn id="27" dur="500" fill="hold"/>
                                        <p:tgtEl>
                                          <p:spTgt spid="225298"/>
                                        </p:tgtEl>
                                        <p:attrNameLst>
                                          <p:attrName>ppt_x</p:attrName>
                                        </p:attrNameLst>
                                      </p:cBhvr>
                                      <p:tavLst>
                                        <p:tav tm="0">
                                          <p:val>
                                            <p:strVal val="#ppt_x"/>
                                          </p:val>
                                        </p:tav>
                                        <p:tav tm="100000">
                                          <p:val>
                                            <p:strVal val="#ppt_x"/>
                                          </p:val>
                                        </p:tav>
                                      </p:tavLst>
                                    </p:anim>
                                    <p:anim calcmode="lin" valueType="num">
                                      <p:cBhvr additive="base">
                                        <p:cTn id="28" dur="500" fill="hold"/>
                                        <p:tgtEl>
                                          <p:spTgt spid="2252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98" grpId="0"/>
      <p:bldP spid="225303" grpId="0"/>
      <p:bldP spid="225304" grpId="0"/>
      <p:bldP spid="22530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228600" y="228600"/>
            <a:ext cx="48768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spcBef>
                <a:spcPct val="50000"/>
              </a:spcBef>
            </a:pPr>
            <a:r>
              <a:rPr lang="en-US" altLang="zh-CN" sz="3200">
                <a:latin typeface="CMTI10" charset="0"/>
              </a:rPr>
              <a:t>Example</a:t>
            </a:r>
            <a:endParaRPr lang="en-US" altLang="zh-CN" sz="3200" b="1">
              <a:latin typeface="CMR10" charset="0"/>
            </a:endParaRPr>
          </a:p>
        </p:txBody>
      </p:sp>
      <p:sp>
        <p:nvSpPr>
          <p:cNvPr id="16387" name="Rectangle 3"/>
          <p:cNvSpPr>
            <a:spLocks noChangeArrowheads="1"/>
          </p:cNvSpPr>
          <p:nvPr/>
        </p:nvSpPr>
        <p:spPr bwMode="auto">
          <a:xfrm>
            <a:off x="228600" y="1295400"/>
            <a:ext cx="89154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spcBef>
                <a:spcPct val="50000"/>
              </a:spcBef>
            </a:pPr>
            <a:r>
              <a:rPr lang="en-US" altLang="zh-CN" sz="3200">
                <a:latin typeface="CMR10" charset="0"/>
              </a:rPr>
              <a:t>Computing the approximate value for the integral</a:t>
            </a:r>
            <a:endParaRPr lang="en-US" altLang="zh-CN" sz="3200" b="1">
              <a:latin typeface="CMR10" charset="0"/>
            </a:endParaRPr>
          </a:p>
        </p:txBody>
      </p:sp>
      <p:sp>
        <p:nvSpPr>
          <p:cNvPr id="232452" name="Rectangle 4"/>
          <p:cNvSpPr>
            <a:spLocks noChangeArrowheads="1"/>
          </p:cNvSpPr>
          <p:nvPr/>
        </p:nvSpPr>
        <p:spPr bwMode="auto">
          <a:xfrm>
            <a:off x="395288" y="4652963"/>
            <a:ext cx="3244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Trapezium rule</a:t>
            </a:r>
          </a:p>
        </p:txBody>
      </p:sp>
      <p:sp>
        <p:nvSpPr>
          <p:cNvPr id="232453" name="Rectangle 5"/>
          <p:cNvSpPr>
            <a:spLocks noChangeArrowheads="1"/>
          </p:cNvSpPr>
          <p:nvPr/>
        </p:nvSpPr>
        <p:spPr bwMode="auto">
          <a:xfrm>
            <a:off x="4787900" y="4652963"/>
            <a:ext cx="318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Mid-point rule</a:t>
            </a:r>
          </a:p>
        </p:txBody>
      </p:sp>
      <p:graphicFrame>
        <p:nvGraphicFramePr>
          <p:cNvPr id="232454" name="Object 6"/>
          <p:cNvGraphicFramePr>
            <a:graphicFrameLocks noChangeAspect="1"/>
          </p:cNvGraphicFramePr>
          <p:nvPr/>
        </p:nvGraphicFramePr>
        <p:xfrm>
          <a:off x="3563938" y="2492375"/>
          <a:ext cx="3135312" cy="1376363"/>
        </p:xfrm>
        <a:graphic>
          <a:graphicData uri="http://schemas.openxmlformats.org/presentationml/2006/ole">
            <mc:AlternateContent xmlns:mc="http://schemas.openxmlformats.org/markup-compatibility/2006">
              <mc:Choice xmlns:v="urn:schemas-microsoft-com:vml" Requires="v">
                <p:oleObj spid="_x0000_s16413" name="公式" r:id="rId3" imgW="457200" imgH="330200" progId="Equation.3">
                  <p:embed/>
                </p:oleObj>
              </mc:Choice>
              <mc:Fallback>
                <p:oleObj name="公式" r:id="rId3" imgW="457200" imgH="330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2492375"/>
                        <a:ext cx="3135312" cy="1376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32454"/>
                                        </p:tgtEl>
                                        <p:attrNameLst>
                                          <p:attrName>style.visibility</p:attrName>
                                        </p:attrNameLst>
                                      </p:cBhvr>
                                      <p:to>
                                        <p:strVal val="visible"/>
                                      </p:to>
                                    </p:set>
                                    <p:anim calcmode="lin" valueType="num">
                                      <p:cBhvr additive="base">
                                        <p:cTn id="7" dur="500" fill="hold"/>
                                        <p:tgtEl>
                                          <p:spTgt spid="232454"/>
                                        </p:tgtEl>
                                        <p:attrNameLst>
                                          <p:attrName>ppt_x</p:attrName>
                                        </p:attrNameLst>
                                      </p:cBhvr>
                                      <p:tavLst>
                                        <p:tav tm="0">
                                          <p:val>
                                            <p:strVal val="0-#ppt_w/2"/>
                                          </p:val>
                                        </p:tav>
                                        <p:tav tm="100000">
                                          <p:val>
                                            <p:strVal val="#ppt_x"/>
                                          </p:val>
                                        </p:tav>
                                      </p:tavLst>
                                    </p:anim>
                                    <p:anim calcmode="lin" valueType="num">
                                      <p:cBhvr additive="base">
                                        <p:cTn id="8" dur="500" fill="hold"/>
                                        <p:tgtEl>
                                          <p:spTgt spid="23245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2452"/>
                                        </p:tgtEl>
                                        <p:attrNameLst>
                                          <p:attrName>style.visibility</p:attrName>
                                        </p:attrNameLst>
                                      </p:cBhvr>
                                      <p:to>
                                        <p:strVal val="visible"/>
                                      </p:to>
                                    </p:set>
                                    <p:anim calcmode="lin" valueType="num">
                                      <p:cBhvr additive="base">
                                        <p:cTn id="13" dur="500" fill="hold"/>
                                        <p:tgtEl>
                                          <p:spTgt spid="232452"/>
                                        </p:tgtEl>
                                        <p:attrNameLst>
                                          <p:attrName>ppt_x</p:attrName>
                                        </p:attrNameLst>
                                      </p:cBhvr>
                                      <p:tavLst>
                                        <p:tav tm="0">
                                          <p:val>
                                            <p:strVal val="0-#ppt_w/2"/>
                                          </p:val>
                                        </p:tav>
                                        <p:tav tm="100000">
                                          <p:val>
                                            <p:strVal val="#ppt_x"/>
                                          </p:val>
                                        </p:tav>
                                      </p:tavLst>
                                    </p:anim>
                                    <p:anim calcmode="lin" valueType="num">
                                      <p:cBhvr additive="base">
                                        <p:cTn id="14" dur="500" fill="hold"/>
                                        <p:tgtEl>
                                          <p:spTgt spid="23245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2453"/>
                                        </p:tgtEl>
                                        <p:attrNameLst>
                                          <p:attrName>style.visibility</p:attrName>
                                        </p:attrNameLst>
                                      </p:cBhvr>
                                      <p:to>
                                        <p:strVal val="visible"/>
                                      </p:to>
                                    </p:set>
                                    <p:anim calcmode="lin" valueType="num">
                                      <p:cBhvr additive="base">
                                        <p:cTn id="19" dur="500" fill="hold"/>
                                        <p:tgtEl>
                                          <p:spTgt spid="232453"/>
                                        </p:tgtEl>
                                        <p:attrNameLst>
                                          <p:attrName>ppt_x</p:attrName>
                                        </p:attrNameLst>
                                      </p:cBhvr>
                                      <p:tavLst>
                                        <p:tav tm="0">
                                          <p:val>
                                            <p:strVal val="0-#ppt_w/2"/>
                                          </p:val>
                                        </p:tav>
                                        <p:tav tm="100000">
                                          <p:val>
                                            <p:strVal val="#ppt_x"/>
                                          </p:val>
                                        </p:tav>
                                      </p:tavLst>
                                    </p:anim>
                                    <p:anim calcmode="lin" valueType="num">
                                      <p:cBhvr additive="base">
                                        <p:cTn id="20" dur="500" fill="hold"/>
                                        <p:tgtEl>
                                          <p:spTgt spid="2324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2" grpId="0" autoUpdateAnimBg="0"/>
      <p:bldP spid="23245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ChangeArrowheads="1"/>
          </p:cNvSpPr>
          <p:nvPr/>
        </p:nvSpPr>
        <p:spPr bwMode="auto">
          <a:xfrm>
            <a:off x="381000" y="2028825"/>
            <a:ext cx="3244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Trapezium rule</a:t>
            </a:r>
          </a:p>
        </p:txBody>
      </p:sp>
      <p:sp>
        <p:nvSpPr>
          <p:cNvPr id="233475" name="Rectangle 3"/>
          <p:cNvSpPr>
            <a:spLocks noChangeArrowheads="1"/>
          </p:cNvSpPr>
          <p:nvPr/>
        </p:nvSpPr>
        <p:spPr bwMode="auto">
          <a:xfrm>
            <a:off x="381000" y="3206750"/>
            <a:ext cx="318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Mid-point rule</a:t>
            </a:r>
          </a:p>
        </p:txBody>
      </p:sp>
      <p:pic>
        <p:nvPicPr>
          <p:cNvPr id="2334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1976438"/>
            <a:ext cx="4341812" cy="1055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34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3286125"/>
            <a:ext cx="4392613"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3478" name="Text Box 6"/>
          <p:cNvSpPr txBox="1">
            <a:spLocks noChangeArrowheads="1"/>
          </p:cNvSpPr>
          <p:nvPr/>
        </p:nvSpPr>
        <p:spPr bwMode="auto">
          <a:xfrm>
            <a:off x="206375" y="4954588"/>
            <a:ext cx="8686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latin typeface="Times New Roman" pitchFamily="18" charset="0"/>
              </a:rPr>
              <a:t>from which we conclude that the error in M is about 1/12, and the error in T is about 1/6.</a:t>
            </a:r>
          </a:p>
        </p:txBody>
      </p:sp>
      <p:graphicFrame>
        <p:nvGraphicFramePr>
          <p:cNvPr id="17415" name="Object 7"/>
          <p:cNvGraphicFramePr>
            <a:graphicFrameLocks noChangeAspect="1"/>
          </p:cNvGraphicFramePr>
          <p:nvPr/>
        </p:nvGraphicFramePr>
        <p:xfrm>
          <a:off x="755650" y="260350"/>
          <a:ext cx="4535488" cy="1508125"/>
        </p:xfrm>
        <a:graphic>
          <a:graphicData uri="http://schemas.openxmlformats.org/presentationml/2006/ole">
            <mc:AlternateContent xmlns:mc="http://schemas.openxmlformats.org/markup-compatibility/2006">
              <mc:Choice xmlns:v="urn:schemas-microsoft-com:vml" Requires="v">
                <p:oleObj spid="_x0000_s17438" name="公式" r:id="rId5" imgW="1180588" imgH="393529" progId="Equation.3">
                  <p:embed/>
                </p:oleObj>
              </mc:Choice>
              <mc:Fallback>
                <p:oleObj name="公式" r:id="rId5" imgW="1180588" imgH="393529"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260350"/>
                        <a:ext cx="4535488" cy="150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3474"/>
                                        </p:tgtEl>
                                        <p:attrNameLst>
                                          <p:attrName>style.visibility</p:attrName>
                                        </p:attrNameLst>
                                      </p:cBhvr>
                                      <p:to>
                                        <p:strVal val="visible"/>
                                      </p:to>
                                    </p:set>
                                    <p:anim calcmode="lin" valueType="num">
                                      <p:cBhvr additive="base">
                                        <p:cTn id="7" dur="500" fill="hold"/>
                                        <p:tgtEl>
                                          <p:spTgt spid="233474"/>
                                        </p:tgtEl>
                                        <p:attrNameLst>
                                          <p:attrName>ppt_x</p:attrName>
                                        </p:attrNameLst>
                                      </p:cBhvr>
                                      <p:tavLst>
                                        <p:tav tm="0">
                                          <p:val>
                                            <p:strVal val="0-#ppt_w/2"/>
                                          </p:val>
                                        </p:tav>
                                        <p:tav tm="100000">
                                          <p:val>
                                            <p:strVal val="#ppt_x"/>
                                          </p:val>
                                        </p:tav>
                                      </p:tavLst>
                                    </p:anim>
                                    <p:anim calcmode="lin" valueType="num">
                                      <p:cBhvr additive="base">
                                        <p:cTn id="8" dur="500" fill="hold"/>
                                        <p:tgtEl>
                                          <p:spTgt spid="2334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33476"/>
                                        </p:tgtEl>
                                        <p:attrNameLst>
                                          <p:attrName>style.visibility</p:attrName>
                                        </p:attrNameLst>
                                      </p:cBhvr>
                                      <p:to>
                                        <p:strVal val="visible"/>
                                      </p:to>
                                    </p:set>
                                    <p:anim calcmode="lin" valueType="num">
                                      <p:cBhvr additive="base">
                                        <p:cTn id="13" dur="500" fill="hold"/>
                                        <p:tgtEl>
                                          <p:spTgt spid="233476"/>
                                        </p:tgtEl>
                                        <p:attrNameLst>
                                          <p:attrName>ppt_x</p:attrName>
                                        </p:attrNameLst>
                                      </p:cBhvr>
                                      <p:tavLst>
                                        <p:tav tm="0">
                                          <p:val>
                                            <p:strVal val="0-#ppt_w/2"/>
                                          </p:val>
                                        </p:tav>
                                        <p:tav tm="100000">
                                          <p:val>
                                            <p:strVal val="#ppt_x"/>
                                          </p:val>
                                        </p:tav>
                                      </p:tavLst>
                                    </p:anim>
                                    <p:anim calcmode="lin" valueType="num">
                                      <p:cBhvr additive="base">
                                        <p:cTn id="14" dur="500" fill="hold"/>
                                        <p:tgtEl>
                                          <p:spTgt spid="23347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3475"/>
                                        </p:tgtEl>
                                        <p:attrNameLst>
                                          <p:attrName>style.visibility</p:attrName>
                                        </p:attrNameLst>
                                      </p:cBhvr>
                                      <p:to>
                                        <p:strVal val="visible"/>
                                      </p:to>
                                    </p:set>
                                    <p:anim calcmode="lin" valueType="num">
                                      <p:cBhvr additive="base">
                                        <p:cTn id="19" dur="500" fill="hold"/>
                                        <p:tgtEl>
                                          <p:spTgt spid="233475"/>
                                        </p:tgtEl>
                                        <p:attrNameLst>
                                          <p:attrName>ppt_x</p:attrName>
                                        </p:attrNameLst>
                                      </p:cBhvr>
                                      <p:tavLst>
                                        <p:tav tm="0">
                                          <p:val>
                                            <p:strVal val="0-#ppt_w/2"/>
                                          </p:val>
                                        </p:tav>
                                        <p:tav tm="100000">
                                          <p:val>
                                            <p:strVal val="#ppt_x"/>
                                          </p:val>
                                        </p:tav>
                                      </p:tavLst>
                                    </p:anim>
                                    <p:anim calcmode="lin" valueType="num">
                                      <p:cBhvr additive="base">
                                        <p:cTn id="20" dur="500" fill="hold"/>
                                        <p:tgtEl>
                                          <p:spTgt spid="23347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33477"/>
                                        </p:tgtEl>
                                        <p:attrNameLst>
                                          <p:attrName>style.visibility</p:attrName>
                                        </p:attrNameLst>
                                      </p:cBhvr>
                                      <p:to>
                                        <p:strVal val="visible"/>
                                      </p:to>
                                    </p:set>
                                    <p:anim calcmode="lin" valueType="num">
                                      <p:cBhvr additive="base">
                                        <p:cTn id="25" dur="500" fill="hold"/>
                                        <p:tgtEl>
                                          <p:spTgt spid="233477"/>
                                        </p:tgtEl>
                                        <p:attrNameLst>
                                          <p:attrName>ppt_x</p:attrName>
                                        </p:attrNameLst>
                                      </p:cBhvr>
                                      <p:tavLst>
                                        <p:tav tm="0">
                                          <p:val>
                                            <p:strVal val="0-#ppt_w/2"/>
                                          </p:val>
                                        </p:tav>
                                        <p:tav tm="100000">
                                          <p:val>
                                            <p:strVal val="#ppt_x"/>
                                          </p:val>
                                        </p:tav>
                                      </p:tavLst>
                                    </p:anim>
                                    <p:anim calcmode="lin" valueType="num">
                                      <p:cBhvr additive="base">
                                        <p:cTn id="26" dur="500" fill="hold"/>
                                        <p:tgtEl>
                                          <p:spTgt spid="23347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3478"/>
                                        </p:tgtEl>
                                        <p:attrNameLst>
                                          <p:attrName>style.visibility</p:attrName>
                                        </p:attrNameLst>
                                      </p:cBhvr>
                                      <p:to>
                                        <p:strVal val="visible"/>
                                      </p:to>
                                    </p:set>
                                    <p:anim calcmode="lin" valueType="num">
                                      <p:cBhvr additive="base">
                                        <p:cTn id="31" dur="500" fill="hold"/>
                                        <p:tgtEl>
                                          <p:spTgt spid="233478"/>
                                        </p:tgtEl>
                                        <p:attrNameLst>
                                          <p:attrName>ppt_x</p:attrName>
                                        </p:attrNameLst>
                                      </p:cBhvr>
                                      <p:tavLst>
                                        <p:tav tm="0">
                                          <p:val>
                                            <p:strVal val="0-#ppt_w/2"/>
                                          </p:val>
                                        </p:tav>
                                        <p:tav tm="100000">
                                          <p:val>
                                            <p:strVal val="#ppt_x"/>
                                          </p:val>
                                        </p:tav>
                                      </p:tavLst>
                                    </p:anim>
                                    <p:anim calcmode="lin" valueType="num">
                                      <p:cBhvr additive="base">
                                        <p:cTn id="32" dur="500" fill="hold"/>
                                        <p:tgtEl>
                                          <p:spTgt spid="2334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autoUpdateAnimBg="0"/>
      <p:bldP spid="233475" grpId="0" autoUpdateAnimBg="0"/>
      <p:bldP spid="233478"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3"/>
          <p:cNvSpPr txBox="1">
            <a:spLocks noChangeArrowheads="1"/>
          </p:cNvSpPr>
          <p:nvPr/>
        </p:nvSpPr>
        <p:spPr bwMode="auto">
          <a:xfrm>
            <a:off x="228600" y="381000"/>
            <a:ext cx="86106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pPr>
            <a:r>
              <a:rPr lang="en-US" altLang="zh-CN" sz="3200" b="1">
                <a:solidFill>
                  <a:srgbClr val="000000"/>
                </a:solidFill>
                <a:latin typeface="Times New Roman" pitchFamily="18" charset="0"/>
              </a:rPr>
              <a:t>Suppose we need to integrate from </a:t>
            </a:r>
            <a:r>
              <a:rPr lang="en-US" altLang="zh-CN" sz="3200" b="1" i="1">
                <a:solidFill>
                  <a:srgbClr val="000080"/>
                </a:solidFill>
                <a:latin typeface="Times New Roman" pitchFamily="18" charset="0"/>
              </a:rPr>
              <a:t>x</a:t>
            </a:r>
            <a:r>
              <a:rPr lang="en-US" altLang="zh-CN" sz="3200" b="1" i="1" baseline="-25000">
                <a:solidFill>
                  <a:srgbClr val="008080"/>
                </a:solidFill>
                <a:latin typeface="Times New Roman" pitchFamily="18" charset="0"/>
              </a:rPr>
              <a:t>0</a:t>
            </a:r>
            <a:r>
              <a:rPr lang="en-US" altLang="zh-CN" sz="3200" b="1">
                <a:solidFill>
                  <a:srgbClr val="008080"/>
                </a:solidFill>
                <a:latin typeface="Times New Roman" pitchFamily="18" charset="0"/>
              </a:rPr>
              <a:t> </a:t>
            </a:r>
            <a:r>
              <a:rPr lang="en-US" altLang="zh-CN" sz="3200" b="1">
                <a:solidFill>
                  <a:srgbClr val="000000"/>
                </a:solidFill>
                <a:latin typeface="Times New Roman" pitchFamily="18" charset="0"/>
              </a:rPr>
              <a:t>to </a:t>
            </a:r>
            <a:r>
              <a:rPr lang="en-US" altLang="zh-CN" sz="3200" b="1" i="1">
                <a:solidFill>
                  <a:srgbClr val="000080"/>
                </a:solidFill>
                <a:latin typeface="Times New Roman" pitchFamily="18" charset="0"/>
              </a:rPr>
              <a:t>x</a:t>
            </a:r>
            <a:r>
              <a:rPr lang="en-US" altLang="zh-CN" sz="3200" b="1" i="1" baseline="-25000">
                <a:solidFill>
                  <a:srgbClr val="008080"/>
                </a:solidFill>
                <a:latin typeface="Times New Roman" pitchFamily="18" charset="0"/>
              </a:rPr>
              <a:t>1</a:t>
            </a:r>
            <a:r>
              <a:rPr lang="en-US" altLang="zh-CN" sz="3200" b="1">
                <a:solidFill>
                  <a:srgbClr val="000000"/>
                </a:solidFill>
                <a:latin typeface="Times New Roman" pitchFamily="18" charset="0"/>
              </a:rPr>
              <a:t>. We shall subdivide this interval into </a:t>
            </a:r>
            <a:r>
              <a:rPr lang="en-US" altLang="zh-CN" sz="3200" b="1">
                <a:solidFill>
                  <a:srgbClr val="000080"/>
                </a:solidFill>
                <a:latin typeface="Times New Roman" pitchFamily="18" charset="0"/>
              </a:rPr>
              <a:t>n </a:t>
            </a:r>
            <a:r>
              <a:rPr lang="en-US" altLang="zh-CN" sz="3200" b="1">
                <a:solidFill>
                  <a:srgbClr val="000000"/>
                </a:solidFill>
                <a:latin typeface="Times New Roman" pitchFamily="18" charset="0"/>
              </a:rPr>
              <a:t>steps of size</a:t>
            </a:r>
          </a:p>
          <a:p>
            <a:pPr eaLnBrk="1" hangingPunct="1">
              <a:lnSpc>
                <a:spcPct val="120000"/>
              </a:lnSpc>
            </a:pPr>
            <a:r>
              <a:rPr lang="en-US" altLang="zh-CN" sz="3200" b="1" i="1">
                <a:latin typeface="Times New Roman" pitchFamily="18" charset="0"/>
                <a:sym typeface="Symbol" pitchFamily="18" charset="2"/>
              </a:rPr>
              <a:t></a:t>
            </a:r>
            <a:r>
              <a:rPr lang="en-US" altLang="zh-CN" sz="3200" b="1" i="1">
                <a:solidFill>
                  <a:srgbClr val="000080"/>
                </a:solidFill>
                <a:latin typeface="Times New Roman" pitchFamily="18" charset="0"/>
              </a:rPr>
              <a:t>x=(x</a:t>
            </a:r>
            <a:r>
              <a:rPr lang="en-US" altLang="zh-CN" sz="3200" b="1" i="1" baseline="-25000">
                <a:solidFill>
                  <a:srgbClr val="008080"/>
                </a:solidFill>
                <a:latin typeface="Times New Roman" pitchFamily="18" charset="0"/>
              </a:rPr>
              <a:t>1</a:t>
            </a:r>
            <a:r>
              <a:rPr lang="en-US" altLang="zh-CN" sz="3200" b="1" i="1">
                <a:solidFill>
                  <a:srgbClr val="000080"/>
                </a:solidFill>
                <a:latin typeface="Times New Roman" pitchFamily="18" charset="0"/>
              </a:rPr>
              <a:t>–x</a:t>
            </a:r>
            <a:r>
              <a:rPr lang="en-US" altLang="zh-CN" sz="3200" b="1" i="1" baseline="-25000">
                <a:solidFill>
                  <a:srgbClr val="008080"/>
                </a:solidFill>
                <a:latin typeface="Times New Roman" pitchFamily="18" charset="0"/>
              </a:rPr>
              <a:t>0</a:t>
            </a:r>
            <a:r>
              <a:rPr lang="en-US" altLang="zh-CN" sz="3200" b="1" i="1">
                <a:solidFill>
                  <a:srgbClr val="000080"/>
                </a:solidFill>
                <a:latin typeface="Times New Roman" pitchFamily="18" charset="0"/>
              </a:rPr>
              <a:t>)/n</a:t>
            </a:r>
            <a:r>
              <a:rPr lang="en-US" altLang="zh-CN" sz="3200" b="1">
                <a:solidFill>
                  <a:srgbClr val="000080"/>
                </a:solidFill>
                <a:latin typeface="Times New Roman" pitchFamily="18" charset="0"/>
              </a:rPr>
              <a:t> </a:t>
            </a:r>
            <a:r>
              <a:rPr lang="en-US" altLang="zh-CN" sz="3200" b="1">
                <a:solidFill>
                  <a:srgbClr val="000000"/>
                </a:solidFill>
                <a:latin typeface="Times New Roman" pitchFamily="18" charset="0"/>
              </a:rPr>
              <a:t>as shown in figure</a:t>
            </a:r>
          </a:p>
        </p:txBody>
      </p:sp>
      <p:pic>
        <p:nvPicPr>
          <p:cNvPr id="286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514600"/>
            <a:ext cx="53721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6" name="Rectangle 2"/>
          <p:cNvSpPr>
            <a:spLocks noChangeArrowheads="1"/>
          </p:cNvSpPr>
          <p:nvPr/>
        </p:nvSpPr>
        <p:spPr bwMode="auto">
          <a:xfrm>
            <a:off x="3141663" y="2282825"/>
            <a:ext cx="3362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复化</a:t>
            </a:r>
            <a:r>
              <a:rPr lang="zh-CN" altLang="en-US" b="1"/>
              <a:t> </a:t>
            </a:r>
            <a:r>
              <a:rPr lang="en-US" altLang="zh-CN" sz="3600" b="1">
                <a:latin typeface="Times New Roman" pitchFamily="18" charset="0"/>
              </a:rPr>
              <a:t>Compound </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676"/>
                                        </p:tgtEl>
                                        <p:attrNameLst>
                                          <p:attrName>style.visibility</p:attrName>
                                        </p:attrNameLst>
                                      </p:cBhvr>
                                      <p:to>
                                        <p:strVal val="visible"/>
                                      </p:to>
                                    </p:set>
                                    <p:anim calcmode="lin" valueType="num">
                                      <p:cBhvr additive="base">
                                        <p:cTn id="7" dur="500" fill="hold"/>
                                        <p:tgtEl>
                                          <p:spTgt spid="28676"/>
                                        </p:tgtEl>
                                        <p:attrNameLst>
                                          <p:attrName>ppt_x</p:attrName>
                                        </p:attrNameLst>
                                      </p:cBhvr>
                                      <p:tavLst>
                                        <p:tav tm="0">
                                          <p:val>
                                            <p:strVal val="0-#ppt_w/2"/>
                                          </p:val>
                                        </p:tav>
                                        <p:tav tm="100000">
                                          <p:val>
                                            <p:strVal val="#ppt_x"/>
                                          </p:val>
                                        </p:tav>
                                      </p:tavLst>
                                    </p:anim>
                                    <p:anim calcmode="lin" valueType="num">
                                      <p:cBhvr additive="base">
                                        <p:cTn id="8" dur="500" fill="hold"/>
                                        <p:tgtEl>
                                          <p:spTgt spid="286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539750" y="304800"/>
            <a:ext cx="80899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dirty="0"/>
              <a:t>复化梯形公式</a:t>
            </a:r>
            <a:r>
              <a:rPr lang="zh-CN" altLang="en-US" b="1" dirty="0"/>
              <a:t> </a:t>
            </a:r>
            <a:r>
              <a:rPr lang="en-US" altLang="zh-CN" sz="3600" b="1" dirty="0">
                <a:latin typeface="Times New Roman" pitchFamily="18" charset="0"/>
              </a:rPr>
              <a:t>Compound Trapezium rule</a:t>
            </a:r>
          </a:p>
        </p:txBody>
      </p:sp>
      <p:graphicFrame>
        <p:nvGraphicFramePr>
          <p:cNvPr id="35843" name="Object 3"/>
          <p:cNvGraphicFramePr>
            <a:graphicFrameLocks noChangeAspect="1"/>
          </p:cNvGraphicFramePr>
          <p:nvPr/>
        </p:nvGraphicFramePr>
        <p:xfrm>
          <a:off x="1066800" y="1219200"/>
          <a:ext cx="6677025" cy="1384300"/>
        </p:xfrm>
        <a:graphic>
          <a:graphicData uri="http://schemas.openxmlformats.org/presentationml/2006/ole">
            <mc:AlternateContent xmlns:mc="http://schemas.openxmlformats.org/markup-compatibility/2006">
              <mc:Choice xmlns:v="urn:schemas-microsoft-com:vml" Requires="v">
                <p:oleObj spid="_x0000_s19485" name="Equation" r:id="rId3" imgW="2527300" imgH="495300" progId="Equation.3">
                  <p:embed/>
                </p:oleObj>
              </mc:Choice>
              <mc:Fallback>
                <p:oleObj name="Equation" r:id="rId3" imgW="2527300" imgH="495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219200"/>
                        <a:ext cx="6677025" cy="138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4" name="Text Box 4"/>
          <p:cNvSpPr txBox="1">
            <a:spLocks noChangeArrowheads="1"/>
          </p:cNvSpPr>
          <p:nvPr/>
        </p:nvSpPr>
        <p:spPr bwMode="auto">
          <a:xfrm>
            <a:off x="323850" y="2492375"/>
            <a:ext cx="8610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latin typeface="Times New Roman" pitchFamily="18" charset="0"/>
              </a:rPr>
              <a:t>The Compound Trapezium Rule approximation to the integral is therefore</a:t>
            </a:r>
            <a:endParaRPr lang="en-US" altLang="zh-CN" sz="3200" b="1">
              <a:latin typeface="Times New Roman" pitchFamily="18" charset="0"/>
            </a:endParaRPr>
          </a:p>
        </p:txBody>
      </p:sp>
      <p:pic>
        <p:nvPicPr>
          <p:cNvPr id="3584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4343400"/>
            <a:ext cx="4897437"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4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2725" y="3357563"/>
            <a:ext cx="3598863" cy="3167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additive="base">
                                        <p:cTn id="7" dur="500" fill="hold"/>
                                        <p:tgtEl>
                                          <p:spTgt spid="35843"/>
                                        </p:tgtEl>
                                        <p:attrNameLst>
                                          <p:attrName>ppt_x</p:attrName>
                                        </p:attrNameLst>
                                      </p:cBhvr>
                                      <p:tavLst>
                                        <p:tav tm="0">
                                          <p:val>
                                            <p:strVal val="0-#ppt_w/2"/>
                                          </p:val>
                                        </p:tav>
                                        <p:tav tm="100000">
                                          <p:val>
                                            <p:strVal val="#ppt_x"/>
                                          </p:val>
                                        </p:tav>
                                      </p:tavLst>
                                    </p:anim>
                                    <p:anim calcmode="lin" valueType="num">
                                      <p:cBhvr additive="base">
                                        <p:cTn id="8" dur="500" fill="hold"/>
                                        <p:tgtEl>
                                          <p:spTgt spid="3584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844"/>
                                        </p:tgtEl>
                                        <p:attrNameLst>
                                          <p:attrName>style.visibility</p:attrName>
                                        </p:attrNameLst>
                                      </p:cBhvr>
                                      <p:to>
                                        <p:strVal val="visible"/>
                                      </p:to>
                                    </p:set>
                                    <p:anim calcmode="lin" valueType="num">
                                      <p:cBhvr additive="base">
                                        <p:cTn id="13" dur="500" fill="hold"/>
                                        <p:tgtEl>
                                          <p:spTgt spid="35844"/>
                                        </p:tgtEl>
                                        <p:attrNameLst>
                                          <p:attrName>ppt_x</p:attrName>
                                        </p:attrNameLst>
                                      </p:cBhvr>
                                      <p:tavLst>
                                        <p:tav tm="0">
                                          <p:val>
                                            <p:strVal val="0-#ppt_w/2"/>
                                          </p:val>
                                        </p:tav>
                                        <p:tav tm="100000">
                                          <p:val>
                                            <p:strVal val="#ppt_x"/>
                                          </p:val>
                                        </p:tav>
                                      </p:tavLst>
                                    </p:anim>
                                    <p:anim calcmode="lin" valueType="num">
                                      <p:cBhvr additive="base">
                                        <p:cTn id="14" dur="500" fill="hold"/>
                                        <p:tgtEl>
                                          <p:spTgt spid="3584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5845"/>
                                        </p:tgtEl>
                                        <p:attrNameLst>
                                          <p:attrName>style.visibility</p:attrName>
                                        </p:attrNameLst>
                                      </p:cBhvr>
                                      <p:to>
                                        <p:strVal val="visible"/>
                                      </p:to>
                                    </p:set>
                                    <p:anim calcmode="lin" valueType="num">
                                      <p:cBhvr additive="base">
                                        <p:cTn id="19" dur="500" fill="hold"/>
                                        <p:tgtEl>
                                          <p:spTgt spid="35845"/>
                                        </p:tgtEl>
                                        <p:attrNameLst>
                                          <p:attrName>ppt_x</p:attrName>
                                        </p:attrNameLst>
                                      </p:cBhvr>
                                      <p:tavLst>
                                        <p:tav tm="0">
                                          <p:val>
                                            <p:strVal val="0-#ppt_w/2"/>
                                          </p:val>
                                        </p:tav>
                                        <p:tav tm="100000">
                                          <p:val>
                                            <p:strVal val="#ppt_x"/>
                                          </p:val>
                                        </p:tav>
                                      </p:tavLst>
                                    </p:anim>
                                    <p:anim calcmode="lin" valueType="num">
                                      <p:cBhvr additive="base">
                                        <p:cTn id="20" dur="500" fill="hold"/>
                                        <p:tgtEl>
                                          <p:spTgt spid="3584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5846"/>
                                        </p:tgtEl>
                                        <p:attrNameLst>
                                          <p:attrName>style.visibility</p:attrName>
                                        </p:attrNameLst>
                                      </p:cBhvr>
                                      <p:to>
                                        <p:strVal val="visible"/>
                                      </p:to>
                                    </p:set>
                                    <p:anim calcmode="lin" valueType="num">
                                      <p:cBhvr additive="base">
                                        <p:cTn id="25" dur="500" fill="hold"/>
                                        <p:tgtEl>
                                          <p:spTgt spid="35846"/>
                                        </p:tgtEl>
                                        <p:attrNameLst>
                                          <p:attrName>ppt_x</p:attrName>
                                        </p:attrNameLst>
                                      </p:cBhvr>
                                      <p:tavLst>
                                        <p:tav tm="0">
                                          <p:val>
                                            <p:strVal val="0-#ppt_w/2"/>
                                          </p:val>
                                        </p:tav>
                                        <p:tav tm="100000">
                                          <p:val>
                                            <p:strVal val="#ppt_x"/>
                                          </p:val>
                                        </p:tav>
                                      </p:tavLst>
                                    </p:anim>
                                    <p:anim calcmode="lin" valueType="num">
                                      <p:cBhvr additive="base">
                                        <p:cTn id="26" dur="500" fill="hold"/>
                                        <p:tgtEl>
                                          <p:spTgt spid="358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ext Box 4"/>
          <p:cNvSpPr txBox="1">
            <a:spLocks noChangeArrowheads="1"/>
          </p:cNvSpPr>
          <p:nvPr/>
        </p:nvSpPr>
        <p:spPr bwMode="auto">
          <a:xfrm>
            <a:off x="179388" y="4724400"/>
            <a:ext cx="8785225"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200" b="1">
                <a:solidFill>
                  <a:srgbClr val="000000"/>
                </a:solidFill>
                <a:latin typeface="Times New Roman" pitchFamily="18" charset="0"/>
              </a:rPr>
              <a:t>While the error for each step is </a:t>
            </a:r>
            <a:r>
              <a:rPr lang="en-US" altLang="zh-CN" sz="3200" b="1" i="1">
                <a:solidFill>
                  <a:srgbClr val="000080"/>
                </a:solidFill>
                <a:latin typeface="Times New Roman" pitchFamily="18" charset="0"/>
              </a:rPr>
              <a:t>O</a:t>
            </a:r>
            <a:r>
              <a:rPr lang="en-US" altLang="zh-CN" sz="3200" b="1">
                <a:solidFill>
                  <a:srgbClr val="000080"/>
                </a:solidFill>
                <a:latin typeface="Times New Roman" pitchFamily="18" charset="0"/>
              </a:rPr>
              <a:t>(</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baseline="30000">
                <a:solidFill>
                  <a:srgbClr val="800080"/>
                </a:solidFill>
                <a:latin typeface="Times New Roman" pitchFamily="18" charset="0"/>
              </a:rPr>
              <a:t>3</a:t>
            </a:r>
            <a:r>
              <a:rPr lang="en-US" altLang="zh-CN" sz="3200" b="1">
                <a:solidFill>
                  <a:srgbClr val="000080"/>
                </a:solidFill>
                <a:latin typeface="Times New Roman" pitchFamily="18" charset="0"/>
              </a:rPr>
              <a:t>)</a:t>
            </a:r>
            <a:r>
              <a:rPr lang="en-US" altLang="zh-CN" sz="3200" b="1">
                <a:solidFill>
                  <a:srgbClr val="000000"/>
                </a:solidFill>
                <a:latin typeface="Times New Roman" pitchFamily="18" charset="0"/>
              </a:rPr>
              <a:t>, the cumulative error is </a:t>
            </a:r>
            <a:r>
              <a:rPr lang="en-US" altLang="zh-CN" sz="3200" b="1" i="1">
                <a:solidFill>
                  <a:srgbClr val="000080"/>
                </a:solidFill>
                <a:latin typeface="Times New Roman" pitchFamily="18" charset="0"/>
              </a:rPr>
              <a:t>n </a:t>
            </a:r>
            <a:r>
              <a:rPr lang="en-US" altLang="zh-CN" sz="3200" b="1">
                <a:solidFill>
                  <a:srgbClr val="000000"/>
                </a:solidFill>
                <a:latin typeface="Times New Roman" pitchFamily="18" charset="0"/>
              </a:rPr>
              <a:t>times this or </a:t>
            </a:r>
            <a:r>
              <a:rPr lang="en-US" altLang="zh-CN" sz="3200" b="1" i="1">
                <a:solidFill>
                  <a:srgbClr val="000080"/>
                </a:solidFill>
                <a:latin typeface="Times New Roman" pitchFamily="18" charset="0"/>
              </a:rPr>
              <a:t>O</a:t>
            </a:r>
            <a:r>
              <a:rPr lang="en-US" altLang="zh-CN" sz="3200" b="1">
                <a:solidFill>
                  <a:srgbClr val="000080"/>
                </a:solidFill>
                <a:latin typeface="Times New Roman" pitchFamily="18" charset="0"/>
              </a:rPr>
              <a:t>(</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baseline="30000">
                <a:solidFill>
                  <a:srgbClr val="800080"/>
                </a:solidFill>
                <a:latin typeface="Times New Roman" pitchFamily="18" charset="0"/>
              </a:rPr>
              <a:t>2</a:t>
            </a:r>
            <a:r>
              <a:rPr lang="en-US" altLang="zh-CN" sz="3200" b="1">
                <a:solidFill>
                  <a:srgbClr val="000080"/>
                </a:solidFill>
                <a:latin typeface="Times New Roman" pitchFamily="18" charset="0"/>
              </a:rPr>
              <a:t>) ~ </a:t>
            </a:r>
            <a:r>
              <a:rPr lang="en-US" altLang="zh-CN" sz="3200" b="1" i="1">
                <a:solidFill>
                  <a:srgbClr val="000080"/>
                </a:solidFill>
                <a:latin typeface="Times New Roman" pitchFamily="18" charset="0"/>
              </a:rPr>
              <a:t>O</a:t>
            </a:r>
            <a:r>
              <a:rPr lang="en-US" altLang="zh-CN" sz="3200" b="1">
                <a:solidFill>
                  <a:srgbClr val="000080"/>
                </a:solidFill>
                <a:latin typeface="Times New Roman" pitchFamily="18" charset="0"/>
              </a:rPr>
              <a:t>(</a:t>
            </a:r>
            <a:r>
              <a:rPr lang="en-US" altLang="zh-CN" sz="3200" b="1" i="1">
                <a:solidFill>
                  <a:srgbClr val="000080"/>
                </a:solidFill>
                <a:latin typeface="Times New Roman" pitchFamily="18" charset="0"/>
              </a:rPr>
              <a:t>n</a:t>
            </a:r>
            <a:r>
              <a:rPr lang="en-US" altLang="zh-CN" sz="3200" b="1" baseline="30000">
                <a:solidFill>
                  <a:srgbClr val="800080"/>
                </a:solidFill>
                <a:latin typeface="Times New Roman" pitchFamily="18" charset="0"/>
              </a:rPr>
              <a:t>-2</a:t>
            </a:r>
            <a:r>
              <a:rPr lang="en-US" altLang="zh-CN" sz="3200" b="1">
                <a:solidFill>
                  <a:srgbClr val="000080"/>
                </a:solidFill>
                <a:latin typeface="Times New Roman" pitchFamily="18" charset="0"/>
              </a:rPr>
              <a:t>) </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x=h  (</a:t>
            </a:r>
            <a:r>
              <a:rPr lang="en-US" altLang="zh-CN" sz="3200" b="1" i="1">
                <a:latin typeface="Times New Roman" pitchFamily="18" charset="0"/>
                <a:sym typeface="Symbol" pitchFamily="18" charset="2"/>
              </a:rPr>
              <a:t></a:t>
            </a:r>
            <a:r>
              <a:rPr lang="en-US" altLang="zh-CN" sz="3200" b="1" i="1">
                <a:solidFill>
                  <a:srgbClr val="000080"/>
                </a:solidFill>
                <a:latin typeface="Times New Roman" pitchFamily="18" charset="0"/>
              </a:rPr>
              <a:t>x=(x</a:t>
            </a:r>
            <a:r>
              <a:rPr lang="en-US" altLang="zh-CN" sz="3200" b="1" i="1" baseline="-25000">
                <a:solidFill>
                  <a:srgbClr val="008080"/>
                </a:solidFill>
                <a:latin typeface="Times New Roman" pitchFamily="18" charset="0"/>
              </a:rPr>
              <a:t>1</a:t>
            </a:r>
            <a:r>
              <a:rPr lang="en-US" altLang="zh-CN" sz="3200" b="1" i="1">
                <a:solidFill>
                  <a:srgbClr val="000080"/>
                </a:solidFill>
                <a:latin typeface="Times New Roman" pitchFamily="18" charset="0"/>
              </a:rPr>
              <a:t>–x</a:t>
            </a:r>
            <a:r>
              <a:rPr lang="en-US" altLang="zh-CN" sz="3200" b="1" i="1" baseline="-25000">
                <a:solidFill>
                  <a:srgbClr val="008080"/>
                </a:solidFill>
                <a:latin typeface="Times New Roman" pitchFamily="18" charset="0"/>
              </a:rPr>
              <a:t>0</a:t>
            </a:r>
            <a:r>
              <a:rPr lang="en-US" altLang="zh-CN" sz="3200" b="1" i="1">
                <a:solidFill>
                  <a:srgbClr val="000080"/>
                </a:solidFill>
                <a:latin typeface="Times New Roman" pitchFamily="18" charset="0"/>
              </a:rPr>
              <a:t>)/n</a:t>
            </a:r>
            <a:r>
              <a:rPr lang="en-US" altLang="zh-CN" sz="3200" b="1">
                <a:solidFill>
                  <a:srgbClr val="000080"/>
                </a:solidFill>
                <a:latin typeface="Times New Roman" pitchFamily="18" charset="0"/>
              </a:rPr>
              <a:t> </a:t>
            </a:r>
            <a:r>
              <a:rPr lang="en-US" altLang="zh-CN" sz="3200" b="1" i="1">
                <a:solidFill>
                  <a:srgbClr val="000080"/>
                </a:solidFill>
                <a:latin typeface="Times New Roman" pitchFamily="18" charset="0"/>
              </a:rPr>
              <a:t>)</a:t>
            </a:r>
            <a:endParaRPr lang="en-US" altLang="zh-CN" sz="3200" b="1" baseline="30000">
              <a:solidFill>
                <a:srgbClr val="800080"/>
              </a:solidFill>
              <a:latin typeface="Times New Roman" pitchFamily="18" charset="0"/>
            </a:endParaRPr>
          </a:p>
        </p:txBody>
      </p:sp>
      <p:pic>
        <p:nvPicPr>
          <p:cNvPr id="2048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2400"/>
            <a:ext cx="5486400" cy="15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57400"/>
            <a:ext cx="6553200" cy="115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657600"/>
            <a:ext cx="9144000"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9702"/>
                                        </p:tgtEl>
                                        <p:attrNameLst>
                                          <p:attrName>style.visibility</p:attrName>
                                        </p:attrNameLst>
                                      </p:cBhvr>
                                      <p:to>
                                        <p:strVal val="visible"/>
                                      </p:to>
                                    </p:set>
                                    <p:anim calcmode="lin" valueType="num">
                                      <p:cBhvr additive="base">
                                        <p:cTn id="7" dur="500" fill="hold"/>
                                        <p:tgtEl>
                                          <p:spTgt spid="29702"/>
                                        </p:tgtEl>
                                        <p:attrNameLst>
                                          <p:attrName>ppt_x</p:attrName>
                                        </p:attrNameLst>
                                      </p:cBhvr>
                                      <p:tavLst>
                                        <p:tav tm="0">
                                          <p:val>
                                            <p:strVal val="0-#ppt_w/2"/>
                                          </p:val>
                                        </p:tav>
                                        <p:tav tm="100000">
                                          <p:val>
                                            <p:strVal val="#ppt_x"/>
                                          </p:val>
                                        </p:tav>
                                      </p:tavLst>
                                    </p:anim>
                                    <p:anim calcmode="lin" valueType="num">
                                      <p:cBhvr additive="base">
                                        <p:cTn id="8" dur="500" fill="hold"/>
                                        <p:tgtEl>
                                          <p:spTgt spid="2970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9703"/>
                                        </p:tgtEl>
                                        <p:attrNameLst>
                                          <p:attrName>style.visibility</p:attrName>
                                        </p:attrNameLst>
                                      </p:cBhvr>
                                      <p:to>
                                        <p:strVal val="visible"/>
                                      </p:to>
                                    </p:set>
                                    <p:anim calcmode="lin" valueType="num">
                                      <p:cBhvr additive="base">
                                        <p:cTn id="13" dur="500" fill="hold"/>
                                        <p:tgtEl>
                                          <p:spTgt spid="29703"/>
                                        </p:tgtEl>
                                        <p:attrNameLst>
                                          <p:attrName>ppt_x</p:attrName>
                                        </p:attrNameLst>
                                      </p:cBhvr>
                                      <p:tavLst>
                                        <p:tav tm="0">
                                          <p:val>
                                            <p:strVal val="0-#ppt_w/2"/>
                                          </p:val>
                                        </p:tav>
                                        <p:tav tm="100000">
                                          <p:val>
                                            <p:strVal val="#ppt_x"/>
                                          </p:val>
                                        </p:tav>
                                      </p:tavLst>
                                    </p:anim>
                                    <p:anim calcmode="lin" valueType="num">
                                      <p:cBhvr additive="base">
                                        <p:cTn id="14" dur="500" fill="hold"/>
                                        <p:tgtEl>
                                          <p:spTgt spid="2970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700"/>
                                        </p:tgtEl>
                                        <p:attrNameLst>
                                          <p:attrName>style.visibility</p:attrName>
                                        </p:attrNameLst>
                                      </p:cBhvr>
                                      <p:to>
                                        <p:strVal val="visible"/>
                                      </p:to>
                                    </p:set>
                                    <p:anim calcmode="lin" valueType="num">
                                      <p:cBhvr additive="base">
                                        <p:cTn id="19" dur="500" fill="hold"/>
                                        <p:tgtEl>
                                          <p:spTgt spid="29700"/>
                                        </p:tgtEl>
                                        <p:attrNameLst>
                                          <p:attrName>ppt_x</p:attrName>
                                        </p:attrNameLst>
                                      </p:cBhvr>
                                      <p:tavLst>
                                        <p:tav tm="0">
                                          <p:val>
                                            <p:strVal val="0-#ppt_w/2"/>
                                          </p:val>
                                        </p:tav>
                                        <p:tav tm="100000">
                                          <p:val>
                                            <p:strVal val="#ppt_x"/>
                                          </p:val>
                                        </p:tav>
                                      </p:tavLst>
                                    </p:anim>
                                    <p:anim calcmode="lin" valueType="num">
                                      <p:cBhvr additive="base">
                                        <p:cTn id="20" dur="500" fill="hold"/>
                                        <p:tgtEl>
                                          <p:spTgt spid="297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26"/>
          <p:cNvSpPr>
            <a:spLocks noChangeArrowheads="1"/>
          </p:cNvSpPr>
          <p:nvPr/>
        </p:nvSpPr>
        <p:spPr bwMode="auto">
          <a:xfrm>
            <a:off x="228600" y="304800"/>
            <a:ext cx="8534400"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200" b="1">
                <a:solidFill>
                  <a:srgbClr val="231F20"/>
                </a:solidFill>
                <a:latin typeface="Times New Roman" pitchFamily="18" charset="0"/>
              </a:rPr>
              <a:t>1.  Choose the number of mesh points and fix the step. </a:t>
            </a:r>
          </a:p>
        </p:txBody>
      </p:sp>
      <p:sp>
        <p:nvSpPr>
          <p:cNvPr id="30724" name="Rectangle 1028"/>
          <p:cNvSpPr>
            <a:spLocks noChangeArrowheads="1"/>
          </p:cNvSpPr>
          <p:nvPr/>
        </p:nvSpPr>
        <p:spPr bwMode="auto">
          <a:xfrm>
            <a:off x="228600" y="1828800"/>
            <a:ext cx="85344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200" b="1">
                <a:solidFill>
                  <a:srgbClr val="231F20"/>
                </a:solidFill>
                <a:latin typeface="Times New Roman" pitchFamily="18" charset="0"/>
              </a:rPr>
              <a:t>2.  Calculate </a:t>
            </a:r>
            <a:r>
              <a:rPr lang="en-US" altLang="zh-CN" sz="3200" b="1" i="1">
                <a:solidFill>
                  <a:srgbClr val="231F20"/>
                </a:solidFill>
                <a:latin typeface="Times New Roman" pitchFamily="18" charset="0"/>
              </a:rPr>
              <a:t>f(a)</a:t>
            </a:r>
            <a:r>
              <a:rPr lang="en-US" altLang="zh-CN" sz="3200" b="1">
                <a:solidFill>
                  <a:srgbClr val="231F20"/>
                </a:solidFill>
              </a:rPr>
              <a:t> </a:t>
            </a:r>
            <a:r>
              <a:rPr lang="en-US" altLang="zh-CN" sz="3200" b="1">
                <a:solidFill>
                  <a:srgbClr val="231F20"/>
                </a:solidFill>
                <a:latin typeface="Times New Roman" pitchFamily="18" charset="0"/>
              </a:rPr>
              <a:t>and </a:t>
            </a:r>
            <a:r>
              <a:rPr lang="en-US" altLang="zh-CN" sz="3200" b="1" i="1">
                <a:solidFill>
                  <a:srgbClr val="231F20"/>
                </a:solidFill>
                <a:latin typeface="Times New Roman" pitchFamily="18" charset="0"/>
              </a:rPr>
              <a:t>f(b)</a:t>
            </a:r>
            <a:r>
              <a:rPr lang="en-US" altLang="zh-CN" sz="3200" b="1">
                <a:solidFill>
                  <a:srgbClr val="231F20"/>
                </a:solidFill>
              </a:rPr>
              <a:t> </a:t>
            </a:r>
            <a:r>
              <a:rPr lang="en-US" altLang="zh-CN" sz="3200" b="1">
                <a:solidFill>
                  <a:srgbClr val="231F20"/>
                </a:solidFill>
                <a:latin typeface="Times New Roman" pitchFamily="18" charset="0"/>
              </a:rPr>
              <a:t>and multiply with </a:t>
            </a:r>
            <a:r>
              <a:rPr lang="en-US" altLang="zh-CN" sz="3200" b="1" i="1">
                <a:solidFill>
                  <a:srgbClr val="231F20"/>
                </a:solidFill>
                <a:latin typeface="Times New Roman" pitchFamily="18" charset="0"/>
              </a:rPr>
              <a:t>h/2</a:t>
            </a:r>
            <a:r>
              <a:rPr lang="en-US" altLang="zh-CN" sz="3200" b="1">
                <a:solidFill>
                  <a:srgbClr val="231F20"/>
                </a:solidFill>
                <a:latin typeface="Times New Roman" pitchFamily="18" charset="0"/>
              </a:rPr>
              <a:t>. </a:t>
            </a:r>
          </a:p>
        </p:txBody>
      </p:sp>
      <p:sp>
        <p:nvSpPr>
          <p:cNvPr id="30725" name="Rectangle 1029"/>
          <p:cNvSpPr>
            <a:spLocks noChangeArrowheads="1"/>
          </p:cNvSpPr>
          <p:nvPr/>
        </p:nvSpPr>
        <p:spPr bwMode="auto">
          <a:xfrm>
            <a:off x="228600" y="2590800"/>
            <a:ext cx="8534400" cy="199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200" b="1">
                <a:solidFill>
                  <a:srgbClr val="231F20"/>
                </a:solidFill>
                <a:latin typeface="Times New Roman" pitchFamily="18" charset="0"/>
              </a:rPr>
              <a:t>3. Perform a loop over </a:t>
            </a:r>
            <a:r>
              <a:rPr lang="en-US" altLang="zh-CN" sz="3200" b="1" i="1">
                <a:solidFill>
                  <a:srgbClr val="231F20"/>
                </a:solidFill>
                <a:latin typeface="Times New Roman" pitchFamily="18" charset="0"/>
              </a:rPr>
              <a:t>i=1</a:t>
            </a:r>
            <a:r>
              <a:rPr lang="en-US" altLang="zh-CN" sz="3200" b="1">
                <a:solidFill>
                  <a:srgbClr val="231F20"/>
                </a:solidFill>
                <a:latin typeface="Times New Roman" pitchFamily="18" charset="0"/>
              </a:rPr>
              <a:t> to </a:t>
            </a:r>
            <a:r>
              <a:rPr lang="en-US" altLang="zh-CN" sz="3200" b="1" i="1">
                <a:solidFill>
                  <a:srgbClr val="231F20"/>
                </a:solidFill>
                <a:latin typeface="Times New Roman" pitchFamily="18" charset="0"/>
              </a:rPr>
              <a:t>n-1</a:t>
            </a:r>
            <a:r>
              <a:rPr lang="en-US" altLang="zh-CN" sz="3200" b="1">
                <a:solidFill>
                  <a:srgbClr val="231F20"/>
                </a:solidFill>
                <a:latin typeface="Times New Roman" pitchFamily="18" charset="0"/>
              </a:rPr>
              <a:t> (</a:t>
            </a:r>
            <a:r>
              <a:rPr lang="en-US" altLang="zh-CN" sz="3200" b="1" i="1">
                <a:solidFill>
                  <a:srgbClr val="231F20"/>
                </a:solidFill>
                <a:latin typeface="Times New Roman" pitchFamily="18" charset="0"/>
              </a:rPr>
              <a:t>f(a)</a:t>
            </a:r>
            <a:r>
              <a:rPr lang="en-US" altLang="zh-CN" sz="3200" b="1">
                <a:solidFill>
                  <a:srgbClr val="231F20"/>
                </a:solidFill>
              </a:rPr>
              <a:t> </a:t>
            </a:r>
            <a:r>
              <a:rPr lang="en-US" altLang="zh-CN" sz="3200" b="1">
                <a:solidFill>
                  <a:srgbClr val="231F20"/>
                </a:solidFill>
                <a:latin typeface="Times New Roman" pitchFamily="18" charset="0"/>
              </a:rPr>
              <a:t>and </a:t>
            </a:r>
            <a:r>
              <a:rPr lang="en-US" altLang="zh-CN" sz="3200" b="1" i="1">
                <a:solidFill>
                  <a:srgbClr val="231F20"/>
                </a:solidFill>
                <a:latin typeface="Times New Roman" pitchFamily="18" charset="0"/>
              </a:rPr>
              <a:t>f(b)</a:t>
            </a:r>
            <a:r>
              <a:rPr lang="en-US" altLang="zh-CN" sz="3200" b="1">
                <a:solidFill>
                  <a:srgbClr val="231F20"/>
                </a:solidFill>
              </a:rPr>
              <a:t> </a:t>
            </a:r>
            <a:r>
              <a:rPr lang="en-US" altLang="zh-CN" sz="3200" b="1">
                <a:solidFill>
                  <a:srgbClr val="231F20"/>
                </a:solidFill>
                <a:latin typeface="Times New Roman" pitchFamily="18" charset="0"/>
              </a:rPr>
              <a:t>are known) and sum up the terms </a:t>
            </a:r>
            <a:r>
              <a:rPr lang="en-US" altLang="zh-CN" sz="3200" b="1" i="1">
                <a:solidFill>
                  <a:srgbClr val="231F20"/>
                </a:solidFill>
                <a:latin typeface="Times New Roman" pitchFamily="18" charset="0"/>
              </a:rPr>
              <a:t>f(a+</a:t>
            </a:r>
            <a:r>
              <a:rPr lang="en-US" altLang="zh-CN" sz="3200">
                <a:solidFill>
                  <a:srgbClr val="008000"/>
                </a:solidFill>
                <a:latin typeface="Symbol" pitchFamily="18" charset="2"/>
              </a:rPr>
              <a:t>D</a:t>
            </a:r>
            <a:r>
              <a:rPr lang="en-US" altLang="zh-CN" sz="3200" i="1">
                <a:solidFill>
                  <a:srgbClr val="000080"/>
                </a:solidFill>
                <a:latin typeface="Times New Roman" pitchFamily="18" charset="0"/>
              </a:rPr>
              <a:t>x</a:t>
            </a:r>
            <a:r>
              <a:rPr lang="en-US" altLang="zh-CN" sz="3200" b="1" i="1">
                <a:solidFill>
                  <a:srgbClr val="231F20"/>
                </a:solidFill>
                <a:latin typeface="Times New Roman" pitchFamily="18" charset="0"/>
              </a:rPr>
              <a:t>)+</a:t>
            </a:r>
            <a:r>
              <a:rPr lang="en-US" altLang="zh-CN" sz="3200" b="1">
                <a:solidFill>
                  <a:srgbClr val="231F20"/>
                </a:solidFill>
                <a:latin typeface="Times New Roman" pitchFamily="18" charset="0"/>
              </a:rPr>
              <a:t> </a:t>
            </a:r>
            <a:r>
              <a:rPr lang="en-US" altLang="zh-CN" sz="3200" b="1" i="1">
                <a:solidFill>
                  <a:srgbClr val="231F20"/>
                </a:solidFill>
                <a:latin typeface="Times New Roman" pitchFamily="18" charset="0"/>
              </a:rPr>
              <a:t>f(a+2</a:t>
            </a:r>
            <a:r>
              <a:rPr lang="en-US" altLang="zh-CN" sz="3200">
                <a:solidFill>
                  <a:srgbClr val="008000"/>
                </a:solidFill>
                <a:latin typeface="Symbol" pitchFamily="18" charset="2"/>
              </a:rPr>
              <a:t>D</a:t>
            </a:r>
            <a:r>
              <a:rPr lang="en-US" altLang="zh-CN" sz="3200" i="1">
                <a:solidFill>
                  <a:srgbClr val="000080"/>
                </a:solidFill>
                <a:latin typeface="Times New Roman" pitchFamily="18" charset="0"/>
              </a:rPr>
              <a:t>x</a:t>
            </a:r>
            <a:r>
              <a:rPr lang="en-US" altLang="zh-CN" sz="3200" b="1" i="1">
                <a:solidFill>
                  <a:srgbClr val="231F20"/>
                </a:solidFill>
                <a:latin typeface="Times New Roman" pitchFamily="18" charset="0"/>
              </a:rPr>
              <a:t>)+</a:t>
            </a:r>
            <a:r>
              <a:rPr lang="en-US" altLang="zh-CN" sz="3200" b="1">
                <a:solidFill>
                  <a:srgbClr val="231F20"/>
                </a:solidFill>
                <a:latin typeface="Times New Roman" pitchFamily="18" charset="0"/>
              </a:rPr>
              <a:t> </a:t>
            </a:r>
            <a:r>
              <a:rPr lang="en-US" altLang="zh-CN" sz="3200" b="1" i="1">
                <a:solidFill>
                  <a:srgbClr val="231F20"/>
                </a:solidFill>
                <a:latin typeface="Times New Roman" pitchFamily="18" charset="0"/>
              </a:rPr>
              <a:t>f(a+3</a:t>
            </a:r>
            <a:r>
              <a:rPr lang="en-US" altLang="zh-CN" sz="3200">
                <a:solidFill>
                  <a:srgbClr val="008000"/>
                </a:solidFill>
                <a:latin typeface="Symbol" pitchFamily="18" charset="2"/>
              </a:rPr>
              <a:t>D</a:t>
            </a:r>
            <a:r>
              <a:rPr lang="en-US" altLang="zh-CN" sz="3200" i="1">
                <a:solidFill>
                  <a:srgbClr val="000080"/>
                </a:solidFill>
                <a:latin typeface="Times New Roman" pitchFamily="18" charset="0"/>
              </a:rPr>
              <a:t>x</a:t>
            </a:r>
            <a:r>
              <a:rPr lang="en-US" altLang="zh-CN" sz="3200" b="1" i="1">
                <a:solidFill>
                  <a:srgbClr val="231F20"/>
                </a:solidFill>
                <a:latin typeface="Times New Roman" pitchFamily="18" charset="0"/>
              </a:rPr>
              <a:t>)+</a:t>
            </a:r>
            <a:r>
              <a:rPr lang="en-US" altLang="zh-CN" sz="3200" b="1" i="1">
                <a:solidFill>
                  <a:srgbClr val="231F20"/>
                </a:solidFill>
                <a:latin typeface="Times New Roman" pitchFamily="18" charset="0"/>
                <a:sym typeface="Symbol" pitchFamily="18" charset="2"/>
              </a:rPr>
              <a:t></a:t>
            </a:r>
            <a:r>
              <a:rPr lang="en-US" altLang="zh-CN" sz="3200" b="1">
                <a:solidFill>
                  <a:srgbClr val="231F20"/>
                </a:solidFill>
                <a:latin typeface="Times New Roman" pitchFamily="18" charset="0"/>
              </a:rPr>
              <a:t> + </a:t>
            </a:r>
            <a:r>
              <a:rPr lang="en-US" altLang="zh-CN" sz="3200" b="1" i="1">
                <a:solidFill>
                  <a:srgbClr val="231F20"/>
                </a:solidFill>
                <a:latin typeface="Times New Roman" pitchFamily="18" charset="0"/>
              </a:rPr>
              <a:t>f(b-</a:t>
            </a:r>
            <a:r>
              <a:rPr lang="en-US" altLang="zh-CN" sz="3200">
                <a:solidFill>
                  <a:srgbClr val="008000"/>
                </a:solidFill>
                <a:latin typeface="Symbol" pitchFamily="18" charset="2"/>
              </a:rPr>
              <a:t>D</a:t>
            </a:r>
            <a:r>
              <a:rPr lang="en-US" altLang="zh-CN" sz="3200" i="1">
                <a:solidFill>
                  <a:srgbClr val="000080"/>
                </a:solidFill>
                <a:latin typeface="Times New Roman" pitchFamily="18" charset="0"/>
              </a:rPr>
              <a:t>x</a:t>
            </a:r>
            <a:r>
              <a:rPr lang="en-US" altLang="zh-CN" sz="3200" b="1" i="1">
                <a:solidFill>
                  <a:srgbClr val="231F20"/>
                </a:solidFill>
                <a:latin typeface="Times New Roman" pitchFamily="18" charset="0"/>
              </a:rPr>
              <a:t>)</a:t>
            </a:r>
            <a:endParaRPr lang="en-US" altLang="zh-CN" sz="3200" b="1">
              <a:solidFill>
                <a:srgbClr val="231F20"/>
              </a:solidFill>
              <a:latin typeface="Times New Roman" pitchFamily="18" charset="0"/>
            </a:endParaRPr>
          </a:p>
        </p:txBody>
      </p:sp>
      <p:sp>
        <p:nvSpPr>
          <p:cNvPr id="30726" name="Rectangle 1030"/>
          <p:cNvSpPr>
            <a:spLocks noChangeArrowheads="1"/>
          </p:cNvSpPr>
          <p:nvPr/>
        </p:nvSpPr>
        <p:spPr bwMode="auto">
          <a:xfrm>
            <a:off x="152400" y="4953000"/>
            <a:ext cx="8534400"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200" b="1">
                <a:solidFill>
                  <a:srgbClr val="231F20"/>
                </a:solidFill>
                <a:latin typeface="Times New Roman" pitchFamily="18" charset="0"/>
              </a:rPr>
              <a:t>4. Multiply the final result by </a:t>
            </a:r>
            <a:r>
              <a:rPr lang="en-US" altLang="zh-CN" sz="3200" b="1" i="1">
                <a:solidFill>
                  <a:srgbClr val="231F20"/>
                </a:solidFill>
                <a:latin typeface="Times New Roman" pitchFamily="18" charset="0"/>
              </a:rPr>
              <a:t>h</a:t>
            </a:r>
            <a:r>
              <a:rPr lang="en-US" altLang="zh-CN" sz="3200" b="1">
                <a:solidFill>
                  <a:srgbClr val="231F20"/>
                </a:solidFill>
              </a:rPr>
              <a:t> </a:t>
            </a:r>
            <a:r>
              <a:rPr lang="en-US" altLang="zh-CN" sz="3200" b="1">
                <a:solidFill>
                  <a:srgbClr val="231F20"/>
                </a:solidFill>
                <a:latin typeface="Times New Roman" pitchFamily="18" charset="0"/>
              </a:rPr>
              <a:t>and add (</a:t>
            </a:r>
            <a:r>
              <a:rPr lang="en-US" altLang="zh-CN" sz="3200" b="1" i="1">
                <a:solidFill>
                  <a:srgbClr val="231F20"/>
                </a:solidFill>
                <a:latin typeface="Times New Roman" pitchFamily="18" charset="0"/>
              </a:rPr>
              <a:t>f(a)+</a:t>
            </a:r>
            <a:r>
              <a:rPr lang="en-US" altLang="zh-CN" sz="3200" b="1">
                <a:solidFill>
                  <a:srgbClr val="231F20"/>
                </a:solidFill>
                <a:latin typeface="Times New Roman" pitchFamily="18" charset="0"/>
              </a:rPr>
              <a:t> </a:t>
            </a:r>
            <a:r>
              <a:rPr lang="en-US" altLang="zh-CN" sz="3200" b="1" i="1">
                <a:solidFill>
                  <a:srgbClr val="231F20"/>
                </a:solidFill>
                <a:latin typeface="Times New Roman" pitchFamily="18" charset="0"/>
              </a:rPr>
              <a:t>f(b))*</a:t>
            </a:r>
            <a:r>
              <a:rPr lang="en-US" altLang="zh-CN" sz="3200" b="1">
                <a:solidFill>
                  <a:srgbClr val="231F20"/>
                </a:solidFill>
                <a:latin typeface="Times New Roman" pitchFamily="18" charset="0"/>
              </a:rPr>
              <a:t> </a:t>
            </a:r>
            <a:r>
              <a:rPr lang="en-US" altLang="zh-CN" sz="3200" b="1" i="1">
                <a:solidFill>
                  <a:srgbClr val="231F20"/>
                </a:solidFill>
                <a:latin typeface="Times New Roman" pitchFamily="18" charset="0"/>
              </a:rPr>
              <a:t>h/2</a:t>
            </a:r>
            <a:r>
              <a:rPr lang="en-US" altLang="zh-CN" sz="3200" b="1">
                <a:solidFill>
                  <a:srgbClr val="231F20"/>
                </a:solidFill>
                <a:latin typeface="Times New Roman" pitchFamily="18" charset="0"/>
              </a:rPr>
              <a:t>.</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 calcmode="lin" valueType="num">
                                      <p:cBhvr additive="base">
                                        <p:cTn id="7" dur="500" fill="hold"/>
                                        <p:tgtEl>
                                          <p:spTgt spid="30724"/>
                                        </p:tgtEl>
                                        <p:attrNameLst>
                                          <p:attrName>ppt_x</p:attrName>
                                        </p:attrNameLst>
                                      </p:cBhvr>
                                      <p:tavLst>
                                        <p:tav tm="0">
                                          <p:val>
                                            <p:strVal val="0-#ppt_w/2"/>
                                          </p:val>
                                        </p:tav>
                                        <p:tav tm="100000">
                                          <p:val>
                                            <p:strVal val="#ppt_x"/>
                                          </p:val>
                                        </p:tav>
                                      </p:tavLst>
                                    </p:anim>
                                    <p:anim calcmode="lin" valueType="num">
                                      <p:cBhvr additive="base">
                                        <p:cTn id="8" dur="500" fill="hold"/>
                                        <p:tgtEl>
                                          <p:spTgt spid="307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25"/>
                                        </p:tgtEl>
                                        <p:attrNameLst>
                                          <p:attrName>style.visibility</p:attrName>
                                        </p:attrNameLst>
                                      </p:cBhvr>
                                      <p:to>
                                        <p:strVal val="visible"/>
                                      </p:to>
                                    </p:set>
                                    <p:anim calcmode="lin" valueType="num">
                                      <p:cBhvr additive="base">
                                        <p:cTn id="13" dur="500" fill="hold"/>
                                        <p:tgtEl>
                                          <p:spTgt spid="30725"/>
                                        </p:tgtEl>
                                        <p:attrNameLst>
                                          <p:attrName>ppt_x</p:attrName>
                                        </p:attrNameLst>
                                      </p:cBhvr>
                                      <p:tavLst>
                                        <p:tav tm="0">
                                          <p:val>
                                            <p:strVal val="0-#ppt_w/2"/>
                                          </p:val>
                                        </p:tav>
                                        <p:tav tm="100000">
                                          <p:val>
                                            <p:strVal val="#ppt_x"/>
                                          </p:val>
                                        </p:tav>
                                      </p:tavLst>
                                    </p:anim>
                                    <p:anim calcmode="lin" valueType="num">
                                      <p:cBhvr additive="base">
                                        <p:cTn id="14" dur="500" fill="hold"/>
                                        <p:tgtEl>
                                          <p:spTgt spid="3072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726"/>
                                        </p:tgtEl>
                                        <p:attrNameLst>
                                          <p:attrName>style.visibility</p:attrName>
                                        </p:attrNameLst>
                                      </p:cBhvr>
                                      <p:to>
                                        <p:strVal val="visible"/>
                                      </p:to>
                                    </p:set>
                                    <p:anim calcmode="lin" valueType="num">
                                      <p:cBhvr additive="base">
                                        <p:cTn id="19" dur="500" fill="hold"/>
                                        <p:tgtEl>
                                          <p:spTgt spid="30726"/>
                                        </p:tgtEl>
                                        <p:attrNameLst>
                                          <p:attrName>ppt_x</p:attrName>
                                        </p:attrNameLst>
                                      </p:cBhvr>
                                      <p:tavLst>
                                        <p:tav tm="0">
                                          <p:val>
                                            <p:strVal val="0-#ppt_w/2"/>
                                          </p:val>
                                        </p:tav>
                                        <p:tav tm="100000">
                                          <p:val>
                                            <p:strVal val="#ppt_x"/>
                                          </p:val>
                                        </p:tav>
                                      </p:tavLst>
                                    </p:anim>
                                    <p:anim calcmode="lin" valueType="num">
                                      <p:cBhvr additive="base">
                                        <p:cTn id="20" dur="500" fill="hold"/>
                                        <p:tgtEl>
                                          <p:spTgt spid="307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utoUpdateAnimBg="0"/>
      <p:bldP spid="30725" grpId="0" autoUpdateAnimBg="0"/>
      <p:bldP spid="3072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611188" y="333375"/>
            <a:ext cx="402225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600" b="1" dirty="0"/>
              <a:t>复化</a:t>
            </a:r>
            <a:r>
              <a:rPr lang="en-US" altLang="zh-CN" sz="3600" b="1" dirty="0">
                <a:latin typeface="Times New Roman" pitchFamily="18" charset="0"/>
              </a:rPr>
              <a:t>Mid-point rule</a:t>
            </a:r>
          </a:p>
        </p:txBody>
      </p:sp>
      <p:pic>
        <p:nvPicPr>
          <p:cNvPr id="368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2205038"/>
            <a:ext cx="6264275" cy="450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2532" name="Object 3"/>
          <p:cNvGraphicFramePr>
            <a:graphicFrameLocks noChangeAspect="1"/>
          </p:cNvGraphicFramePr>
          <p:nvPr/>
        </p:nvGraphicFramePr>
        <p:xfrm>
          <a:off x="2627313" y="1196975"/>
          <a:ext cx="4419600" cy="1852613"/>
        </p:xfrm>
        <a:graphic>
          <a:graphicData uri="http://schemas.openxmlformats.org/presentationml/2006/ole">
            <mc:AlternateContent xmlns:mc="http://schemas.openxmlformats.org/markup-compatibility/2006">
              <mc:Choice xmlns:v="urn:schemas-microsoft-com:vml" Requires="v">
                <p:oleObj spid="_x0000_s22555" name="Equation" r:id="rId4" imgW="1295400" imgH="584200" progId="Equation.3">
                  <p:embed/>
                </p:oleObj>
              </mc:Choice>
              <mc:Fallback>
                <p:oleObj name="Equation" r:id="rId4" imgW="1295400" imgH="584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313" y="1196975"/>
                        <a:ext cx="4419600" cy="185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868"/>
                                        </p:tgtEl>
                                        <p:attrNameLst>
                                          <p:attrName>style.visibility</p:attrName>
                                        </p:attrNameLst>
                                      </p:cBhvr>
                                      <p:to>
                                        <p:strVal val="visible"/>
                                      </p:to>
                                    </p:set>
                                    <p:anim calcmode="lin" valueType="num">
                                      <p:cBhvr additive="base">
                                        <p:cTn id="7" dur="500" fill="hold"/>
                                        <p:tgtEl>
                                          <p:spTgt spid="36868"/>
                                        </p:tgtEl>
                                        <p:attrNameLst>
                                          <p:attrName>ppt_x</p:attrName>
                                        </p:attrNameLst>
                                      </p:cBhvr>
                                      <p:tavLst>
                                        <p:tav tm="0">
                                          <p:val>
                                            <p:strVal val="#ppt_x"/>
                                          </p:val>
                                        </p:tav>
                                        <p:tav tm="100000">
                                          <p:val>
                                            <p:strVal val="#ppt_x"/>
                                          </p:val>
                                        </p:tav>
                                      </p:tavLst>
                                    </p:anim>
                                    <p:anim calcmode="lin" valueType="num">
                                      <p:cBhvr additive="base">
                                        <p:cTn id="8" dur="500" fill="hold"/>
                                        <p:tgtEl>
                                          <p:spTgt spid="368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476250"/>
            <a:ext cx="6048375" cy="1506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2205038"/>
            <a:ext cx="6264275" cy="450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a:spLocks noChangeArrowheads="1"/>
          </p:cNvSpPr>
          <p:nvPr/>
        </p:nvSpPr>
        <p:spPr bwMode="auto">
          <a:xfrm>
            <a:off x="228600" y="228600"/>
            <a:ext cx="8286750" cy="146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b="1">
                <a:latin typeface="Times New Roman" pitchFamily="18" charset="0"/>
              </a:rPr>
              <a:t>There are two further </a:t>
            </a:r>
            <a:r>
              <a:rPr lang="en-US" altLang="zh-CN" sz="3600" b="1">
                <a:solidFill>
                  <a:srgbClr val="FF0000"/>
                </a:solidFill>
                <a:latin typeface="Times New Roman" pitchFamily="18" charset="0"/>
              </a:rPr>
              <a:t>advantages</a:t>
            </a:r>
            <a:r>
              <a:rPr lang="en-US" altLang="zh-CN" sz="3600" b="1">
                <a:latin typeface="Times New Roman" pitchFamily="18" charset="0"/>
              </a:rPr>
              <a:t> of the Mid-point Rule over the Trapezium Rule. </a:t>
            </a:r>
          </a:p>
        </p:txBody>
      </p:sp>
      <p:sp>
        <p:nvSpPr>
          <p:cNvPr id="19461" name="Text Box 5"/>
          <p:cNvSpPr txBox="1">
            <a:spLocks noChangeArrowheads="1"/>
          </p:cNvSpPr>
          <p:nvPr/>
        </p:nvSpPr>
        <p:spPr bwMode="auto">
          <a:xfrm>
            <a:off x="381000" y="1752600"/>
            <a:ext cx="8286750"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b="1">
                <a:latin typeface="Times New Roman" pitchFamily="18" charset="0"/>
              </a:rPr>
              <a:t>The </a:t>
            </a:r>
            <a:r>
              <a:rPr lang="en-US" altLang="zh-CN" sz="3600" b="1">
                <a:solidFill>
                  <a:srgbClr val="0000FF"/>
                </a:solidFill>
                <a:latin typeface="Times New Roman" pitchFamily="18" charset="0"/>
              </a:rPr>
              <a:t>first</a:t>
            </a:r>
            <a:r>
              <a:rPr lang="en-US" altLang="zh-CN" sz="3600" b="1">
                <a:latin typeface="Times New Roman" pitchFamily="18" charset="0"/>
              </a:rPr>
              <a:t> is that it is requires one fewer function evaluations for a given number of  subintervals.</a:t>
            </a:r>
          </a:p>
        </p:txBody>
      </p:sp>
      <p:sp>
        <p:nvSpPr>
          <p:cNvPr id="19462" name="Text Box 6"/>
          <p:cNvSpPr txBox="1">
            <a:spLocks noChangeArrowheads="1"/>
          </p:cNvSpPr>
          <p:nvPr/>
        </p:nvSpPr>
        <p:spPr bwMode="auto">
          <a:xfrm>
            <a:off x="381000" y="4191000"/>
            <a:ext cx="8286750"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b="1">
                <a:latin typeface="Times New Roman" pitchFamily="18" charset="0"/>
              </a:rPr>
              <a:t>The </a:t>
            </a:r>
            <a:r>
              <a:rPr lang="en-US" altLang="zh-CN" sz="3600" b="1">
                <a:solidFill>
                  <a:srgbClr val="0000FF"/>
                </a:solidFill>
                <a:latin typeface="Times New Roman" pitchFamily="18" charset="0"/>
              </a:rPr>
              <a:t>second</a:t>
            </a:r>
            <a:r>
              <a:rPr lang="en-US" altLang="zh-CN" sz="3600" b="1">
                <a:latin typeface="Times New Roman" pitchFamily="18" charset="0"/>
              </a:rPr>
              <a:t> is that it can be used more effectively for determining the integral near an integrable singularity.</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 calcmode="lin" valueType="num">
                                      <p:cBhvr additive="base">
                                        <p:cTn id="7" dur="500" fill="hold"/>
                                        <p:tgtEl>
                                          <p:spTgt spid="19461"/>
                                        </p:tgtEl>
                                        <p:attrNameLst>
                                          <p:attrName>ppt_x</p:attrName>
                                        </p:attrNameLst>
                                      </p:cBhvr>
                                      <p:tavLst>
                                        <p:tav tm="0">
                                          <p:val>
                                            <p:strVal val="0-#ppt_w/2"/>
                                          </p:val>
                                        </p:tav>
                                        <p:tav tm="100000">
                                          <p:val>
                                            <p:strVal val="#ppt_x"/>
                                          </p:val>
                                        </p:tav>
                                      </p:tavLst>
                                    </p:anim>
                                    <p:anim calcmode="lin" valueType="num">
                                      <p:cBhvr additive="base">
                                        <p:cTn id="8" dur="500" fill="hold"/>
                                        <p:tgtEl>
                                          <p:spTgt spid="1946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62"/>
                                        </p:tgtEl>
                                        <p:attrNameLst>
                                          <p:attrName>style.visibility</p:attrName>
                                        </p:attrNameLst>
                                      </p:cBhvr>
                                      <p:to>
                                        <p:strVal val="visible"/>
                                      </p:to>
                                    </p:set>
                                    <p:anim calcmode="lin" valueType="num">
                                      <p:cBhvr additive="base">
                                        <p:cTn id="13" dur="500" fill="hold"/>
                                        <p:tgtEl>
                                          <p:spTgt spid="19462"/>
                                        </p:tgtEl>
                                        <p:attrNameLst>
                                          <p:attrName>ppt_x</p:attrName>
                                        </p:attrNameLst>
                                      </p:cBhvr>
                                      <p:tavLst>
                                        <p:tav tm="0">
                                          <p:val>
                                            <p:strVal val="0-#ppt_w/2"/>
                                          </p:val>
                                        </p:tav>
                                        <p:tav tm="100000">
                                          <p:val>
                                            <p:strVal val="#ppt_x"/>
                                          </p:val>
                                        </p:tav>
                                      </p:tavLst>
                                    </p:anim>
                                    <p:anim calcmode="lin" valueType="num">
                                      <p:cBhvr additive="base">
                                        <p:cTn id="14" dur="500" fill="hold"/>
                                        <p:tgtEl>
                                          <p:spTgt spid="194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autoUpdateAnimBg="0"/>
      <p:bldP spid="19462"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836613"/>
            <a:ext cx="76327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5"/>
          <p:cNvGraphicFramePr>
            <a:graphicFrameLocks noChangeAspect="1"/>
          </p:cNvGraphicFramePr>
          <p:nvPr/>
        </p:nvGraphicFramePr>
        <p:xfrm>
          <a:off x="2843213" y="2255838"/>
          <a:ext cx="1943100" cy="957262"/>
        </p:xfrm>
        <a:graphic>
          <a:graphicData uri="http://schemas.openxmlformats.org/presentationml/2006/ole">
            <mc:AlternateContent xmlns:mc="http://schemas.openxmlformats.org/markup-compatibility/2006">
              <mc:Choice xmlns:v="urn:schemas-microsoft-com:vml" Requires="v">
                <p:oleObj spid="_x0000_s26724" name="公式" r:id="rId3" imgW="672808" imgH="330057" progId="Equation.3">
                  <p:embed/>
                </p:oleObj>
              </mc:Choice>
              <mc:Fallback>
                <p:oleObj name="公式" r:id="rId3" imgW="672808" imgH="330057"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255838"/>
                        <a:ext cx="1943100"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27" name="Object 4"/>
          <p:cNvGraphicFramePr>
            <a:graphicFrameLocks noChangeAspect="1"/>
          </p:cNvGraphicFramePr>
          <p:nvPr/>
        </p:nvGraphicFramePr>
        <p:xfrm>
          <a:off x="6659563" y="2328863"/>
          <a:ext cx="1655762" cy="865187"/>
        </p:xfrm>
        <a:graphic>
          <a:graphicData uri="http://schemas.openxmlformats.org/presentationml/2006/ole">
            <mc:AlternateContent xmlns:mc="http://schemas.openxmlformats.org/markup-compatibility/2006">
              <mc:Choice xmlns:v="urn:schemas-microsoft-com:vml" Requires="v">
                <p:oleObj spid="_x0000_s26725" name="公式" r:id="rId5" imgW="634725" imgH="330057" progId="Equation.3">
                  <p:embed/>
                </p:oleObj>
              </mc:Choice>
              <mc:Fallback>
                <p:oleObj name="公式" r:id="rId5" imgW="634725" imgH="330057"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9563" y="2328863"/>
                        <a:ext cx="1655762"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8" name="Rectangle 6"/>
          <p:cNvSpPr>
            <a:spLocks noChangeArrowheads="1"/>
          </p:cNvSpPr>
          <p:nvPr/>
        </p:nvSpPr>
        <p:spPr bwMode="auto">
          <a:xfrm>
            <a:off x="207963" y="1150938"/>
            <a:ext cx="8756650"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楷体_GB2312" pitchFamily="49" charset="-122"/>
                <a:ea typeface="楷体_GB2312" pitchFamily="49" charset="-122"/>
                <a:cs typeface="Times New Roman" pitchFamily="18" charset="0"/>
              </a:rPr>
              <a:t>数值积分的基本思想是构造一个简单函数（例如多项式）</a:t>
            </a:r>
            <a:r>
              <a:rPr lang="en-US" altLang="zh-CN" sz="3200" b="1" i="1">
                <a:latin typeface="Times New Roman" pitchFamily="18" charset="0"/>
                <a:ea typeface="楷体_GB2312" pitchFamily="49" charset="-122"/>
                <a:cs typeface="Times New Roman" pitchFamily="18" charset="0"/>
              </a:rPr>
              <a:t>P</a:t>
            </a:r>
            <a:r>
              <a:rPr lang="en-US" altLang="zh-CN" sz="3200" b="1" i="1" baseline="-30000">
                <a:latin typeface="Times New Roman" pitchFamily="18" charset="0"/>
                <a:ea typeface="楷体_GB2312" pitchFamily="49" charset="-122"/>
                <a:cs typeface="Times New Roman" pitchFamily="18" charset="0"/>
              </a:rPr>
              <a:t>n</a:t>
            </a:r>
            <a:r>
              <a:rPr lang="en-US" altLang="zh-CN" sz="3200" b="1" i="1">
                <a:latin typeface="Times New Roman" pitchFamily="18" charset="0"/>
                <a:ea typeface="楷体_GB2312" pitchFamily="49" charset="-122"/>
                <a:cs typeface="Times New Roman" pitchFamily="18" charset="0"/>
              </a:rPr>
              <a:t>(x) </a:t>
            </a:r>
            <a:r>
              <a:rPr lang="zh-CN" altLang="en-US" sz="3200" b="1">
                <a:latin typeface="楷体_GB2312" pitchFamily="49" charset="-122"/>
                <a:ea typeface="楷体_GB2312" pitchFamily="49" charset="-122"/>
                <a:cs typeface="Times New Roman" pitchFamily="18" charset="0"/>
              </a:rPr>
              <a:t>来近似代替被积分函数 </a:t>
            </a:r>
            <a:r>
              <a:rPr lang="en-US" altLang="zh-CN" sz="3200" b="1" i="1">
                <a:latin typeface="Times New Roman" pitchFamily="18" charset="0"/>
                <a:ea typeface="楷体_GB2312" pitchFamily="49" charset="-122"/>
                <a:cs typeface="Times New Roman" pitchFamily="18" charset="0"/>
              </a:rPr>
              <a:t>f(x)</a:t>
            </a:r>
            <a:r>
              <a:rPr lang="zh-CN" altLang="en-US" sz="3200" b="1">
                <a:latin typeface="楷体_GB2312" pitchFamily="49" charset="-122"/>
                <a:ea typeface="楷体_GB2312" pitchFamily="49" charset="-122"/>
                <a:cs typeface="Times New Roman" pitchFamily="18" charset="0"/>
              </a:rPr>
              <a:t>，然后通过求</a:t>
            </a:r>
          </a:p>
        </p:txBody>
      </p:sp>
      <p:sp>
        <p:nvSpPr>
          <p:cNvPr id="26629" name="Rectangle 7"/>
          <p:cNvSpPr>
            <a:spLocks noChangeArrowheads="1"/>
          </p:cNvSpPr>
          <p:nvPr/>
        </p:nvSpPr>
        <p:spPr bwMode="auto">
          <a:xfrm>
            <a:off x="5003800" y="2473325"/>
            <a:ext cx="12049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latin typeface="楷体_GB2312" pitchFamily="49" charset="-122"/>
                <a:ea typeface="楷体_GB2312" pitchFamily="49" charset="-122"/>
                <a:cs typeface="Times New Roman" pitchFamily="18" charset="0"/>
              </a:rPr>
              <a:t> </a:t>
            </a:r>
            <a:r>
              <a:rPr lang="zh-CN" altLang="en-US" sz="3200" b="1">
                <a:latin typeface="楷体_GB2312" pitchFamily="49" charset="-122"/>
                <a:ea typeface="楷体_GB2312" pitchFamily="49" charset="-122"/>
                <a:cs typeface="Times New Roman" pitchFamily="18" charset="0"/>
              </a:rPr>
              <a:t>求得</a:t>
            </a:r>
          </a:p>
        </p:txBody>
      </p:sp>
      <p:sp>
        <p:nvSpPr>
          <p:cNvPr id="26630" name="Rectangle 8"/>
          <p:cNvSpPr>
            <a:spLocks noChangeArrowheads="1"/>
          </p:cNvSpPr>
          <p:nvPr/>
        </p:nvSpPr>
        <p:spPr bwMode="auto">
          <a:xfrm>
            <a:off x="107950" y="3281363"/>
            <a:ext cx="53482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楷体_GB2312" pitchFamily="49" charset="-122"/>
                <a:ea typeface="楷体_GB2312" pitchFamily="49" charset="-122"/>
                <a:cs typeface="Times New Roman" pitchFamily="18" charset="0"/>
              </a:rPr>
              <a:t>的近似值。</a:t>
            </a:r>
            <a:r>
              <a:rPr lang="zh-CN" altLang="en-US" sz="3200" b="1">
                <a:solidFill>
                  <a:srgbClr val="FF0000"/>
                </a:solidFill>
                <a:ea typeface="楷体_GB2312" pitchFamily="49" charset="-122"/>
                <a:cs typeface="Times New Roman" pitchFamily="18" charset="0"/>
              </a:rPr>
              <a:t>插值型求积公式</a:t>
            </a:r>
            <a:r>
              <a:rPr lang="zh-CN" altLang="en-US">
                <a:ea typeface="楷体_GB2312" pitchFamily="49" charset="-122"/>
                <a:cs typeface="Times New Roman" pitchFamily="18" charset="0"/>
              </a:rPr>
              <a:t> </a:t>
            </a:r>
            <a:r>
              <a:rPr lang="zh-CN" altLang="en-US" sz="3200" b="1">
                <a:latin typeface="楷体_GB2312" pitchFamily="49" charset="-122"/>
                <a:ea typeface="楷体_GB2312" pitchFamily="49" charset="-122"/>
                <a:cs typeface="Times New Roman" pitchFamily="18" charset="0"/>
              </a:rPr>
              <a:t> </a:t>
            </a:r>
          </a:p>
        </p:txBody>
      </p:sp>
      <p:sp>
        <p:nvSpPr>
          <p:cNvPr id="103434" name="Rectangle 10"/>
          <p:cNvSpPr>
            <a:spLocks noChangeArrowheads="1"/>
          </p:cNvSpPr>
          <p:nvPr/>
        </p:nvSpPr>
        <p:spPr bwMode="auto">
          <a:xfrm>
            <a:off x="107950" y="4151313"/>
            <a:ext cx="46799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cs typeface="Times New Roman" pitchFamily="18" charset="0"/>
              </a:rPr>
              <a:t>由拉格朗日插值公式		</a:t>
            </a:r>
            <a:endParaRPr lang="zh-CN" altLang="en-US" sz="3200" b="1"/>
          </a:p>
        </p:txBody>
      </p:sp>
      <p:graphicFrame>
        <p:nvGraphicFramePr>
          <p:cNvPr id="103433" name="Object 9"/>
          <p:cNvGraphicFramePr>
            <a:graphicFrameLocks noChangeAspect="1"/>
          </p:cNvGraphicFramePr>
          <p:nvPr/>
        </p:nvGraphicFramePr>
        <p:xfrm>
          <a:off x="4427538" y="4078288"/>
          <a:ext cx="4176712" cy="1296987"/>
        </p:xfrm>
        <a:graphic>
          <a:graphicData uri="http://schemas.openxmlformats.org/presentationml/2006/ole">
            <mc:AlternateContent xmlns:mc="http://schemas.openxmlformats.org/markup-compatibility/2006">
              <mc:Choice xmlns:v="urn:schemas-microsoft-com:vml" Requires="v">
                <p:oleObj spid="_x0000_s26726" name="公式" r:id="rId7" imgW="1384300" imgH="431800" progId="Equation.3">
                  <p:embed/>
                </p:oleObj>
              </mc:Choice>
              <mc:Fallback>
                <p:oleObj name="公式" r:id="rId7" imgW="1384300" imgH="4318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7538" y="4078288"/>
                        <a:ext cx="4176712"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3" name="Rectangle 12"/>
          <p:cNvSpPr>
            <a:spLocks noChangeArrowheads="1"/>
          </p:cNvSpPr>
          <p:nvPr/>
        </p:nvSpPr>
        <p:spPr bwMode="auto">
          <a:xfrm>
            <a:off x="0" y="3432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103435" name="Object 11"/>
          <p:cNvGraphicFramePr>
            <a:graphicFrameLocks noChangeAspect="1"/>
          </p:cNvGraphicFramePr>
          <p:nvPr/>
        </p:nvGraphicFramePr>
        <p:xfrm>
          <a:off x="755650" y="5591175"/>
          <a:ext cx="7488238" cy="1150938"/>
        </p:xfrm>
        <a:graphic>
          <a:graphicData uri="http://schemas.openxmlformats.org/presentationml/2006/ole">
            <mc:AlternateContent xmlns:mc="http://schemas.openxmlformats.org/markup-compatibility/2006">
              <mc:Choice xmlns:v="urn:schemas-microsoft-com:vml" Requires="v">
                <p:oleObj spid="_x0000_s26727" name="公式" r:id="rId9" imgW="2794000" imgH="431800" progId="Equation.3">
                  <p:embed/>
                </p:oleObj>
              </mc:Choice>
              <mc:Fallback>
                <p:oleObj name="公式" r:id="rId9" imgW="2794000" imgH="4318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650" y="5591175"/>
                        <a:ext cx="7488238"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5" name="Rectangle 13"/>
          <p:cNvSpPr>
            <a:spLocks noChangeArrowheads="1"/>
          </p:cNvSpPr>
          <p:nvPr/>
        </p:nvSpPr>
        <p:spPr bwMode="auto">
          <a:xfrm>
            <a:off x="323850" y="333375"/>
            <a:ext cx="443865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b="1">
                <a:latin typeface="Times New Roman" pitchFamily="18" charset="0"/>
              </a:rPr>
              <a:t>6.5 Simpson’s rule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434"/>
                                        </p:tgtEl>
                                        <p:attrNameLst>
                                          <p:attrName>style.visibility</p:attrName>
                                        </p:attrNameLst>
                                      </p:cBhvr>
                                      <p:to>
                                        <p:strVal val="visible"/>
                                      </p:to>
                                    </p:set>
                                    <p:anim calcmode="lin" valueType="num">
                                      <p:cBhvr additive="base">
                                        <p:cTn id="7" dur="500" fill="hold"/>
                                        <p:tgtEl>
                                          <p:spTgt spid="103434"/>
                                        </p:tgtEl>
                                        <p:attrNameLst>
                                          <p:attrName>ppt_x</p:attrName>
                                        </p:attrNameLst>
                                      </p:cBhvr>
                                      <p:tavLst>
                                        <p:tav tm="0">
                                          <p:val>
                                            <p:strVal val="#ppt_x"/>
                                          </p:val>
                                        </p:tav>
                                        <p:tav tm="100000">
                                          <p:val>
                                            <p:strVal val="#ppt_x"/>
                                          </p:val>
                                        </p:tav>
                                      </p:tavLst>
                                    </p:anim>
                                    <p:anim calcmode="lin" valueType="num">
                                      <p:cBhvr additive="base">
                                        <p:cTn id="8" dur="500" fill="hold"/>
                                        <p:tgtEl>
                                          <p:spTgt spid="10343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3433"/>
                                        </p:tgtEl>
                                        <p:attrNameLst>
                                          <p:attrName>style.visibility</p:attrName>
                                        </p:attrNameLst>
                                      </p:cBhvr>
                                      <p:to>
                                        <p:strVal val="visible"/>
                                      </p:to>
                                    </p:set>
                                    <p:anim calcmode="lin" valueType="num">
                                      <p:cBhvr additive="base">
                                        <p:cTn id="13" dur="500" fill="hold"/>
                                        <p:tgtEl>
                                          <p:spTgt spid="103433"/>
                                        </p:tgtEl>
                                        <p:attrNameLst>
                                          <p:attrName>ppt_x</p:attrName>
                                        </p:attrNameLst>
                                      </p:cBhvr>
                                      <p:tavLst>
                                        <p:tav tm="0">
                                          <p:val>
                                            <p:strVal val="#ppt_x"/>
                                          </p:val>
                                        </p:tav>
                                        <p:tav tm="100000">
                                          <p:val>
                                            <p:strVal val="#ppt_x"/>
                                          </p:val>
                                        </p:tav>
                                      </p:tavLst>
                                    </p:anim>
                                    <p:anim calcmode="lin" valueType="num">
                                      <p:cBhvr additive="base">
                                        <p:cTn id="14" dur="500" fill="hold"/>
                                        <p:tgtEl>
                                          <p:spTgt spid="10343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3435"/>
                                        </p:tgtEl>
                                        <p:attrNameLst>
                                          <p:attrName>style.visibility</p:attrName>
                                        </p:attrNameLst>
                                      </p:cBhvr>
                                      <p:to>
                                        <p:strVal val="visible"/>
                                      </p:to>
                                    </p:set>
                                    <p:anim calcmode="lin" valueType="num">
                                      <p:cBhvr additive="base">
                                        <p:cTn id="19" dur="500" fill="hold"/>
                                        <p:tgtEl>
                                          <p:spTgt spid="103435"/>
                                        </p:tgtEl>
                                        <p:attrNameLst>
                                          <p:attrName>ppt_x</p:attrName>
                                        </p:attrNameLst>
                                      </p:cBhvr>
                                      <p:tavLst>
                                        <p:tav tm="0">
                                          <p:val>
                                            <p:strVal val="#ppt_x"/>
                                          </p:val>
                                        </p:tav>
                                        <p:tav tm="100000">
                                          <p:val>
                                            <p:strVal val="#ppt_x"/>
                                          </p:val>
                                        </p:tav>
                                      </p:tavLst>
                                    </p:anim>
                                    <p:anim calcmode="lin" valueType="num">
                                      <p:cBhvr additive="base">
                                        <p:cTn id="20" dur="500" fill="hold"/>
                                        <p:tgtEl>
                                          <p:spTgt spid="1034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ChangeArrowheads="1"/>
          </p:cNvSpPr>
          <p:nvPr/>
        </p:nvSpPr>
        <p:spPr bwMode="auto">
          <a:xfrm>
            <a:off x="395288" y="333375"/>
            <a:ext cx="31988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3200" b="1"/>
              <a:t>1</a:t>
            </a:r>
            <a:r>
              <a:rPr lang="zh-CN" altLang="en-US" sz="3200" b="1"/>
              <a:t>．两点公式	</a:t>
            </a:r>
          </a:p>
        </p:txBody>
      </p:sp>
      <p:sp>
        <p:nvSpPr>
          <p:cNvPr id="104453" name="Rectangle 5"/>
          <p:cNvSpPr>
            <a:spLocks noChangeArrowheads="1"/>
          </p:cNvSpPr>
          <p:nvPr/>
        </p:nvSpPr>
        <p:spPr bwMode="auto">
          <a:xfrm>
            <a:off x="611188" y="1412875"/>
            <a:ext cx="67770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sz="3200" b="1"/>
              <a:t>构造以</a:t>
            </a:r>
            <a:r>
              <a:rPr lang="en-US" altLang="zh-CN" sz="3200" b="1"/>
              <a:t>a</a:t>
            </a:r>
            <a:r>
              <a:rPr lang="zh-CN" altLang="en-US" sz="3200" b="1"/>
              <a:t>，</a:t>
            </a:r>
            <a:r>
              <a:rPr lang="en-US" altLang="zh-CN" sz="3200" b="1"/>
              <a:t>b</a:t>
            </a:r>
            <a:r>
              <a:rPr lang="zh-CN" altLang="en-US" sz="3200" b="1"/>
              <a:t>为结点的线性插值多项式</a:t>
            </a:r>
          </a:p>
        </p:txBody>
      </p:sp>
      <p:graphicFrame>
        <p:nvGraphicFramePr>
          <p:cNvPr id="104455" name="Object 7"/>
          <p:cNvGraphicFramePr>
            <a:graphicFrameLocks noChangeAspect="1"/>
          </p:cNvGraphicFramePr>
          <p:nvPr/>
        </p:nvGraphicFramePr>
        <p:xfrm>
          <a:off x="900113" y="3500438"/>
          <a:ext cx="6119812" cy="1263650"/>
        </p:xfrm>
        <a:graphic>
          <a:graphicData uri="http://schemas.openxmlformats.org/presentationml/2006/ole">
            <mc:AlternateContent xmlns:mc="http://schemas.openxmlformats.org/markup-compatibility/2006">
              <mc:Choice xmlns:v="urn:schemas-microsoft-com:vml" Requires="v">
                <p:oleObj spid="_x0000_s27724" name="公式" r:id="rId3" imgW="1892300" imgH="393700" progId="Equation.3">
                  <p:embed/>
                </p:oleObj>
              </mc:Choice>
              <mc:Fallback>
                <p:oleObj name="公式" r:id="rId3" imgW="1892300" imgH="3937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3500438"/>
                        <a:ext cx="6119812"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4454" name="Object 6"/>
          <p:cNvGraphicFramePr>
            <a:graphicFrameLocks noChangeAspect="1"/>
          </p:cNvGraphicFramePr>
          <p:nvPr/>
        </p:nvGraphicFramePr>
        <p:xfrm>
          <a:off x="611188" y="5013325"/>
          <a:ext cx="7705725" cy="1185863"/>
        </p:xfrm>
        <a:graphic>
          <a:graphicData uri="http://schemas.openxmlformats.org/presentationml/2006/ole">
            <mc:AlternateContent xmlns:mc="http://schemas.openxmlformats.org/markup-compatibility/2006">
              <mc:Choice xmlns:v="urn:schemas-microsoft-com:vml" Requires="v">
                <p:oleObj spid="_x0000_s27725" name="公式" r:id="rId5" imgW="2819400" imgH="431800" progId="Equation.3">
                  <p:embed/>
                </p:oleObj>
              </mc:Choice>
              <mc:Fallback>
                <p:oleObj name="公式" r:id="rId5" imgW="2819400" imgH="431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5013325"/>
                        <a:ext cx="770572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4" name="Rectangle 8"/>
          <p:cNvSpPr>
            <a:spLocks noChangeArrowheads="1"/>
          </p:cNvSpPr>
          <p:nvPr/>
        </p:nvSpPr>
        <p:spPr bwMode="auto">
          <a:xfrm>
            <a:off x="0" y="2357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27655" name="Rectangle 9"/>
          <p:cNvSpPr>
            <a:spLocks noChangeArrowheads="1"/>
          </p:cNvSpPr>
          <p:nvPr/>
        </p:nvSpPr>
        <p:spPr bwMode="auto">
          <a:xfrm>
            <a:off x="0" y="2747963"/>
            <a:ext cx="10985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000">
                <a:latin typeface="Times New Roman" pitchFamily="18" charset="0"/>
                <a:cs typeface="Times New Roman" pitchFamily="18" charset="0"/>
              </a:rPr>
              <a:t>	</a:t>
            </a:r>
            <a:endParaRPr lang="en-US" altLang="zh-CN"/>
          </a:p>
        </p:txBody>
      </p:sp>
      <p:sp>
        <p:nvSpPr>
          <p:cNvPr id="27656" name="Rectangle 10"/>
          <p:cNvSpPr>
            <a:spLocks noChangeArrowheads="1"/>
          </p:cNvSpPr>
          <p:nvPr/>
        </p:nvSpPr>
        <p:spPr bwMode="auto">
          <a:xfrm>
            <a:off x="0" y="4240213"/>
            <a:ext cx="22225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100"/>
              <a:t> </a:t>
            </a:r>
            <a:endParaRPr lang="en-US" altLang="zh-CN"/>
          </a:p>
        </p:txBody>
      </p:sp>
      <p:graphicFrame>
        <p:nvGraphicFramePr>
          <p:cNvPr id="104459" name="Object 11"/>
          <p:cNvGraphicFramePr>
            <a:graphicFrameLocks noChangeAspect="1"/>
          </p:cNvGraphicFramePr>
          <p:nvPr/>
        </p:nvGraphicFramePr>
        <p:xfrm>
          <a:off x="1458913" y="2205038"/>
          <a:ext cx="5561012" cy="1270000"/>
        </p:xfrm>
        <a:graphic>
          <a:graphicData uri="http://schemas.openxmlformats.org/presentationml/2006/ole">
            <mc:AlternateContent xmlns:mc="http://schemas.openxmlformats.org/markup-compatibility/2006">
              <mc:Choice xmlns:v="urn:schemas-microsoft-com:vml" Requires="v">
                <p:oleObj spid="_x0000_s27726" name="公式" r:id="rId7" imgW="2324100" imgH="533400" progId="Equation.3">
                  <p:embed/>
                </p:oleObj>
              </mc:Choice>
              <mc:Fallback>
                <p:oleObj name="公式" r:id="rId7" imgW="2324100" imgH="5334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58913" y="2205038"/>
                        <a:ext cx="5561012"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3"/>
                                        </p:tgtEl>
                                        <p:attrNameLst>
                                          <p:attrName>style.visibility</p:attrName>
                                        </p:attrNameLst>
                                      </p:cBhvr>
                                      <p:to>
                                        <p:strVal val="visible"/>
                                      </p:to>
                                    </p:set>
                                    <p:anim calcmode="lin" valueType="num">
                                      <p:cBhvr additive="base">
                                        <p:cTn id="7" dur="500" fill="hold"/>
                                        <p:tgtEl>
                                          <p:spTgt spid="104453"/>
                                        </p:tgtEl>
                                        <p:attrNameLst>
                                          <p:attrName>ppt_x</p:attrName>
                                        </p:attrNameLst>
                                      </p:cBhvr>
                                      <p:tavLst>
                                        <p:tav tm="0">
                                          <p:val>
                                            <p:strVal val="#ppt_x"/>
                                          </p:val>
                                        </p:tav>
                                        <p:tav tm="100000">
                                          <p:val>
                                            <p:strVal val="#ppt_x"/>
                                          </p:val>
                                        </p:tav>
                                      </p:tavLst>
                                    </p:anim>
                                    <p:anim calcmode="lin" valueType="num">
                                      <p:cBhvr additive="base">
                                        <p:cTn id="8" dur="500" fill="hold"/>
                                        <p:tgtEl>
                                          <p:spTgt spid="10445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4459"/>
                                        </p:tgtEl>
                                        <p:attrNameLst>
                                          <p:attrName>style.visibility</p:attrName>
                                        </p:attrNameLst>
                                      </p:cBhvr>
                                      <p:to>
                                        <p:strVal val="visible"/>
                                      </p:to>
                                    </p:set>
                                    <p:anim calcmode="lin" valueType="num">
                                      <p:cBhvr additive="base">
                                        <p:cTn id="13" dur="500" fill="hold"/>
                                        <p:tgtEl>
                                          <p:spTgt spid="104459"/>
                                        </p:tgtEl>
                                        <p:attrNameLst>
                                          <p:attrName>ppt_x</p:attrName>
                                        </p:attrNameLst>
                                      </p:cBhvr>
                                      <p:tavLst>
                                        <p:tav tm="0">
                                          <p:val>
                                            <p:strVal val="#ppt_x"/>
                                          </p:val>
                                        </p:tav>
                                        <p:tav tm="100000">
                                          <p:val>
                                            <p:strVal val="#ppt_x"/>
                                          </p:val>
                                        </p:tav>
                                      </p:tavLst>
                                    </p:anim>
                                    <p:anim calcmode="lin" valueType="num">
                                      <p:cBhvr additive="base">
                                        <p:cTn id="14" dur="500" fill="hold"/>
                                        <p:tgtEl>
                                          <p:spTgt spid="10445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4455"/>
                                        </p:tgtEl>
                                        <p:attrNameLst>
                                          <p:attrName>style.visibility</p:attrName>
                                        </p:attrNameLst>
                                      </p:cBhvr>
                                      <p:to>
                                        <p:strVal val="visible"/>
                                      </p:to>
                                    </p:set>
                                    <p:anim calcmode="lin" valueType="num">
                                      <p:cBhvr additive="base">
                                        <p:cTn id="19" dur="500" fill="hold"/>
                                        <p:tgtEl>
                                          <p:spTgt spid="104455"/>
                                        </p:tgtEl>
                                        <p:attrNameLst>
                                          <p:attrName>ppt_x</p:attrName>
                                        </p:attrNameLst>
                                      </p:cBhvr>
                                      <p:tavLst>
                                        <p:tav tm="0">
                                          <p:val>
                                            <p:strVal val="#ppt_x"/>
                                          </p:val>
                                        </p:tav>
                                        <p:tav tm="100000">
                                          <p:val>
                                            <p:strVal val="#ppt_x"/>
                                          </p:val>
                                        </p:tav>
                                      </p:tavLst>
                                    </p:anim>
                                    <p:anim calcmode="lin" valueType="num">
                                      <p:cBhvr additive="base">
                                        <p:cTn id="20" dur="500" fill="hold"/>
                                        <p:tgtEl>
                                          <p:spTgt spid="10445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4454"/>
                                        </p:tgtEl>
                                        <p:attrNameLst>
                                          <p:attrName>style.visibility</p:attrName>
                                        </p:attrNameLst>
                                      </p:cBhvr>
                                      <p:to>
                                        <p:strVal val="visible"/>
                                      </p:to>
                                    </p:set>
                                    <p:anim calcmode="lin" valueType="num">
                                      <p:cBhvr additive="base">
                                        <p:cTn id="25" dur="500" fill="hold"/>
                                        <p:tgtEl>
                                          <p:spTgt spid="104454"/>
                                        </p:tgtEl>
                                        <p:attrNameLst>
                                          <p:attrName>ppt_x</p:attrName>
                                        </p:attrNameLst>
                                      </p:cBhvr>
                                      <p:tavLst>
                                        <p:tav tm="0">
                                          <p:val>
                                            <p:strVal val="#ppt_x"/>
                                          </p:val>
                                        </p:tav>
                                        <p:tav tm="100000">
                                          <p:val>
                                            <p:strVal val="#ppt_x"/>
                                          </p:val>
                                        </p:tav>
                                      </p:tavLst>
                                    </p:anim>
                                    <p:anim calcmode="lin" valueType="num">
                                      <p:cBhvr additive="base">
                                        <p:cTn id="26" dur="500" fill="hold"/>
                                        <p:tgtEl>
                                          <p:spTgt spid="1044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4"/>
          <p:cNvGraphicFramePr>
            <a:graphicFrameLocks noChangeAspect="1"/>
          </p:cNvGraphicFramePr>
          <p:nvPr/>
        </p:nvGraphicFramePr>
        <p:xfrm>
          <a:off x="684213" y="115888"/>
          <a:ext cx="4608512" cy="909637"/>
        </p:xfrm>
        <a:graphic>
          <a:graphicData uri="http://schemas.openxmlformats.org/presentationml/2006/ole">
            <mc:AlternateContent xmlns:mc="http://schemas.openxmlformats.org/markup-compatibility/2006">
              <mc:Choice xmlns:v="urn:schemas-microsoft-com:vml" Requires="v">
                <p:oleObj spid="_x0000_s28746" name="公式" r:id="rId3" imgW="1981200" imgH="393700" progId="Equation.3">
                  <p:embed/>
                </p:oleObj>
              </mc:Choice>
              <mc:Fallback>
                <p:oleObj name="公式" r:id="rId3" imgW="19812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15888"/>
                        <a:ext cx="4608512"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75" name="Object 5"/>
          <p:cNvGraphicFramePr>
            <a:graphicFrameLocks noChangeAspect="1"/>
          </p:cNvGraphicFramePr>
          <p:nvPr/>
        </p:nvGraphicFramePr>
        <p:xfrm>
          <a:off x="1547813" y="1196975"/>
          <a:ext cx="6192837" cy="3924300"/>
        </p:xfrm>
        <a:graphic>
          <a:graphicData uri="http://schemas.openxmlformats.org/presentationml/2006/ole">
            <mc:AlternateContent xmlns:mc="http://schemas.openxmlformats.org/markup-compatibility/2006">
              <mc:Choice xmlns:v="urn:schemas-microsoft-com:vml" Requires="v">
                <p:oleObj spid="_x0000_s28747" name="公式" r:id="rId5" imgW="2819400" imgH="1676400" progId="Equation.3">
                  <p:embed/>
                </p:oleObj>
              </mc:Choice>
              <mc:Fallback>
                <p:oleObj name="公式" r:id="rId5" imgW="2819400" imgH="1676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1196975"/>
                        <a:ext cx="6192837"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6" name="Rectangle 7"/>
          <p:cNvSpPr>
            <a:spLocks noChangeArrowheads="1"/>
          </p:cNvSpPr>
          <p:nvPr/>
        </p:nvSpPr>
        <p:spPr bwMode="auto">
          <a:xfrm>
            <a:off x="0" y="2747963"/>
            <a:ext cx="10985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000">
                <a:latin typeface="Times New Roman" pitchFamily="18" charset="0"/>
                <a:cs typeface="Times New Roman" pitchFamily="18" charset="0"/>
              </a:rPr>
              <a:t>	</a:t>
            </a:r>
            <a:endParaRPr lang="en-US" altLang="zh-CN"/>
          </a:p>
        </p:txBody>
      </p:sp>
      <p:sp>
        <p:nvSpPr>
          <p:cNvPr id="28677" name="Rectangle 8"/>
          <p:cNvSpPr>
            <a:spLocks noChangeArrowheads="1"/>
          </p:cNvSpPr>
          <p:nvPr/>
        </p:nvSpPr>
        <p:spPr bwMode="auto">
          <a:xfrm>
            <a:off x="0" y="4240213"/>
            <a:ext cx="22225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100"/>
              <a:t> </a:t>
            </a:r>
            <a:endParaRPr lang="en-US" altLang="zh-CN"/>
          </a:p>
        </p:txBody>
      </p:sp>
      <p:graphicFrame>
        <p:nvGraphicFramePr>
          <p:cNvPr id="28678" name="Object 9"/>
          <p:cNvGraphicFramePr>
            <a:graphicFrameLocks noChangeAspect="1"/>
          </p:cNvGraphicFramePr>
          <p:nvPr/>
        </p:nvGraphicFramePr>
        <p:xfrm>
          <a:off x="684213" y="5157788"/>
          <a:ext cx="7488237" cy="1463675"/>
        </p:xfrm>
        <a:graphic>
          <a:graphicData uri="http://schemas.openxmlformats.org/presentationml/2006/ole">
            <mc:AlternateContent xmlns:mc="http://schemas.openxmlformats.org/markup-compatibility/2006">
              <mc:Choice xmlns:v="urn:schemas-microsoft-com:vml" Requires="v">
                <p:oleObj spid="_x0000_s28748" name="公式" r:id="rId7" imgW="2145369" imgH="393529" progId="Equation.3">
                  <p:embed/>
                </p:oleObj>
              </mc:Choice>
              <mc:Fallback>
                <p:oleObj name="公式" r:id="rId7" imgW="2145369" imgH="393529"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5157788"/>
                        <a:ext cx="7488237"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5482" name="Rectangle 10"/>
          <p:cNvSpPr>
            <a:spLocks noChangeArrowheads="1"/>
          </p:cNvSpPr>
          <p:nvPr/>
        </p:nvSpPr>
        <p:spPr bwMode="auto">
          <a:xfrm>
            <a:off x="5580063" y="4581525"/>
            <a:ext cx="3244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solidFill>
                  <a:srgbClr val="FF0000"/>
                </a:solidFill>
                <a:latin typeface="Times New Roman" pitchFamily="18" charset="0"/>
              </a:rPr>
              <a:t>Trapezium rule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482"/>
                                        </p:tgtEl>
                                        <p:attrNameLst>
                                          <p:attrName>style.visibility</p:attrName>
                                        </p:attrNameLst>
                                      </p:cBhvr>
                                      <p:to>
                                        <p:strVal val="visible"/>
                                      </p:to>
                                    </p:set>
                                    <p:anim calcmode="lin" valueType="num">
                                      <p:cBhvr additive="base">
                                        <p:cTn id="7" dur="500" fill="hold"/>
                                        <p:tgtEl>
                                          <p:spTgt spid="105482"/>
                                        </p:tgtEl>
                                        <p:attrNameLst>
                                          <p:attrName>ppt_x</p:attrName>
                                        </p:attrNameLst>
                                      </p:cBhvr>
                                      <p:tavLst>
                                        <p:tav tm="0">
                                          <p:val>
                                            <p:strVal val="0-#ppt_w/2"/>
                                          </p:val>
                                        </p:tav>
                                        <p:tav tm="100000">
                                          <p:val>
                                            <p:strVal val="#ppt_x"/>
                                          </p:val>
                                        </p:tav>
                                      </p:tavLst>
                                    </p:anim>
                                    <p:anim calcmode="lin" valueType="num">
                                      <p:cBhvr additive="base">
                                        <p:cTn id="8" dur="500" fill="hold"/>
                                        <p:tgtEl>
                                          <p:spTgt spid="1054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2"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395288" y="333375"/>
            <a:ext cx="31988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3200" b="1"/>
              <a:t>2</a:t>
            </a:r>
            <a:r>
              <a:rPr lang="zh-CN" altLang="en-US" sz="3200" b="1"/>
              <a:t>．一点公式</a:t>
            </a:r>
            <a:r>
              <a:rPr lang="zh-CN" altLang="en-US" sz="3200"/>
              <a:t>	</a:t>
            </a:r>
          </a:p>
        </p:txBody>
      </p:sp>
      <p:sp>
        <p:nvSpPr>
          <p:cNvPr id="29699" name="Rectangle 3"/>
          <p:cNvSpPr>
            <a:spLocks noChangeArrowheads="1"/>
          </p:cNvSpPr>
          <p:nvPr/>
        </p:nvSpPr>
        <p:spPr bwMode="auto">
          <a:xfrm>
            <a:off x="179388" y="857250"/>
            <a:ext cx="8440737"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zh-CN" altLang="en-US" sz="3200" b="1"/>
              <a:t>构造以 </a:t>
            </a:r>
            <a:r>
              <a:rPr lang="en-US" altLang="zh-CN" sz="3200" b="1"/>
              <a:t>(</a:t>
            </a:r>
            <a:r>
              <a:rPr lang="en-US" altLang="zh-CN" sz="2800" b="1" i="1">
                <a:solidFill>
                  <a:srgbClr val="000080"/>
                </a:solidFill>
                <a:latin typeface="Times New Roman" pitchFamily="18" charset="0"/>
              </a:rPr>
              <a:t>x</a:t>
            </a:r>
            <a:r>
              <a:rPr lang="en-US" altLang="zh-CN" sz="2800" b="1" i="1" baseline="-25000">
                <a:solidFill>
                  <a:srgbClr val="008080"/>
                </a:solidFill>
                <a:latin typeface="Times New Roman" pitchFamily="18" charset="0"/>
              </a:rPr>
              <a:t>0</a:t>
            </a:r>
            <a:r>
              <a:rPr lang="en-US" altLang="zh-CN" sz="2800" b="1" i="1">
                <a:solidFill>
                  <a:srgbClr val="000080"/>
                </a:solidFill>
                <a:latin typeface="Times New Roman" pitchFamily="18" charset="0"/>
              </a:rPr>
              <a:t>–</a:t>
            </a:r>
            <a:r>
              <a:rPr lang="en-US" altLang="zh-CN" sz="2800" b="1" i="1">
                <a:latin typeface="Times New Roman" pitchFamily="18" charset="0"/>
                <a:sym typeface="Symbol" pitchFamily="18" charset="2"/>
              </a:rPr>
              <a:t></a:t>
            </a:r>
            <a:r>
              <a:rPr lang="en-US" altLang="zh-CN" sz="2800" b="1" i="1">
                <a:solidFill>
                  <a:srgbClr val="000080"/>
                </a:solidFill>
                <a:latin typeface="Times New Roman" pitchFamily="18" charset="0"/>
              </a:rPr>
              <a:t>x/2)</a:t>
            </a:r>
            <a:r>
              <a:rPr lang="zh-CN" altLang="en-US" sz="3200" b="1"/>
              <a:t>和</a:t>
            </a:r>
            <a:r>
              <a:rPr lang="en-US" altLang="zh-CN" sz="3200" b="1"/>
              <a:t>(</a:t>
            </a:r>
            <a:r>
              <a:rPr lang="en-US" altLang="zh-CN" sz="2800" b="1" i="1">
                <a:solidFill>
                  <a:srgbClr val="000080"/>
                </a:solidFill>
                <a:latin typeface="Times New Roman" pitchFamily="18" charset="0"/>
              </a:rPr>
              <a:t>x</a:t>
            </a:r>
            <a:r>
              <a:rPr lang="en-US" altLang="zh-CN" sz="2800" b="1" i="1" baseline="-25000">
                <a:solidFill>
                  <a:srgbClr val="008080"/>
                </a:solidFill>
                <a:latin typeface="Times New Roman" pitchFamily="18" charset="0"/>
              </a:rPr>
              <a:t>0</a:t>
            </a:r>
            <a:r>
              <a:rPr lang="en-US" altLang="zh-CN" sz="2800" b="1" i="1">
                <a:solidFill>
                  <a:srgbClr val="000080"/>
                </a:solidFill>
                <a:latin typeface="Times New Roman" pitchFamily="18" charset="0"/>
              </a:rPr>
              <a:t>+</a:t>
            </a:r>
            <a:r>
              <a:rPr lang="en-US" altLang="zh-CN" sz="2800" b="1" i="1">
                <a:latin typeface="Times New Roman" pitchFamily="18" charset="0"/>
                <a:sym typeface="Symbol" pitchFamily="18" charset="2"/>
              </a:rPr>
              <a:t></a:t>
            </a:r>
            <a:r>
              <a:rPr lang="en-US" altLang="zh-CN" sz="2800" b="1" i="1">
                <a:solidFill>
                  <a:srgbClr val="000080"/>
                </a:solidFill>
                <a:latin typeface="Times New Roman" pitchFamily="18" charset="0"/>
              </a:rPr>
              <a:t>x/2)</a:t>
            </a:r>
            <a:r>
              <a:rPr lang="zh-CN" altLang="en-US" sz="3200" b="1"/>
              <a:t>的中点为结点的线性插值多项式</a:t>
            </a:r>
          </a:p>
        </p:txBody>
      </p:sp>
      <p:graphicFrame>
        <p:nvGraphicFramePr>
          <p:cNvPr id="106500" name="Object 4"/>
          <p:cNvGraphicFramePr>
            <a:graphicFrameLocks noChangeAspect="1"/>
          </p:cNvGraphicFramePr>
          <p:nvPr/>
        </p:nvGraphicFramePr>
        <p:xfrm>
          <a:off x="3348038" y="2492375"/>
          <a:ext cx="2762250" cy="715963"/>
        </p:xfrm>
        <a:graphic>
          <a:graphicData uri="http://schemas.openxmlformats.org/presentationml/2006/ole">
            <mc:AlternateContent xmlns:mc="http://schemas.openxmlformats.org/markup-compatibility/2006">
              <mc:Choice xmlns:v="urn:schemas-microsoft-com:vml" Requires="v">
                <p:oleObj spid="_x0000_s29750" name="公式" r:id="rId3" imgW="876300" imgH="228600" progId="Equation.3">
                  <p:embed/>
                </p:oleObj>
              </mc:Choice>
              <mc:Fallback>
                <p:oleObj name="公式" r:id="rId3" imgW="8763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2492375"/>
                        <a:ext cx="276225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1" name="Rectangle 7"/>
          <p:cNvSpPr>
            <a:spLocks noChangeArrowheads="1"/>
          </p:cNvSpPr>
          <p:nvPr/>
        </p:nvSpPr>
        <p:spPr bwMode="auto">
          <a:xfrm>
            <a:off x="0" y="2747963"/>
            <a:ext cx="10985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000">
                <a:latin typeface="Times New Roman" pitchFamily="18" charset="0"/>
                <a:cs typeface="Times New Roman" pitchFamily="18" charset="0"/>
              </a:rPr>
              <a:t>	</a:t>
            </a:r>
            <a:endParaRPr lang="en-US" altLang="zh-CN"/>
          </a:p>
        </p:txBody>
      </p:sp>
      <p:sp>
        <p:nvSpPr>
          <p:cNvPr id="29702" name="Rectangle 8"/>
          <p:cNvSpPr>
            <a:spLocks noChangeArrowheads="1"/>
          </p:cNvSpPr>
          <p:nvPr/>
        </p:nvSpPr>
        <p:spPr bwMode="auto">
          <a:xfrm>
            <a:off x="0" y="4240213"/>
            <a:ext cx="22225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100"/>
              <a:t> </a:t>
            </a:r>
            <a:endParaRPr lang="en-US" altLang="zh-CN"/>
          </a:p>
        </p:txBody>
      </p:sp>
      <p:graphicFrame>
        <p:nvGraphicFramePr>
          <p:cNvPr id="106505" name="Object 9"/>
          <p:cNvGraphicFramePr>
            <a:graphicFrameLocks noChangeAspect="1"/>
          </p:cNvGraphicFramePr>
          <p:nvPr/>
        </p:nvGraphicFramePr>
        <p:xfrm>
          <a:off x="179388" y="3716338"/>
          <a:ext cx="8448675" cy="1852612"/>
        </p:xfrm>
        <a:graphic>
          <a:graphicData uri="http://schemas.openxmlformats.org/presentationml/2006/ole">
            <mc:AlternateContent xmlns:mc="http://schemas.openxmlformats.org/markup-compatibility/2006">
              <mc:Choice xmlns:v="urn:schemas-microsoft-com:vml" Requires="v">
                <p:oleObj spid="_x0000_s29751" name="公式" r:id="rId5" imgW="2476500" imgH="584200" progId="Equation.3">
                  <p:embed/>
                </p:oleObj>
              </mc:Choice>
              <mc:Fallback>
                <p:oleObj name="公式" r:id="rId5" imgW="2476500" imgH="584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3716338"/>
                        <a:ext cx="8448675" cy="185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4" name="Text Box 13"/>
          <p:cNvSpPr txBox="1">
            <a:spLocks noChangeArrowheads="1"/>
          </p:cNvSpPr>
          <p:nvPr/>
        </p:nvSpPr>
        <p:spPr bwMode="auto">
          <a:xfrm>
            <a:off x="4119563" y="120173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zh-CN"/>
          </a:p>
        </p:txBody>
      </p:sp>
      <p:sp>
        <p:nvSpPr>
          <p:cNvPr id="106513" name="Rectangle 17"/>
          <p:cNvSpPr>
            <a:spLocks noChangeArrowheads="1"/>
          </p:cNvSpPr>
          <p:nvPr/>
        </p:nvSpPr>
        <p:spPr bwMode="auto">
          <a:xfrm>
            <a:off x="2911475" y="5883275"/>
            <a:ext cx="318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solidFill>
                  <a:srgbClr val="FF0000"/>
                </a:solidFill>
                <a:latin typeface="Times New Roman" pitchFamily="18" charset="0"/>
              </a:rPr>
              <a:t> Mid-point rule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6505"/>
                                        </p:tgtEl>
                                        <p:attrNameLst>
                                          <p:attrName>style.visibility</p:attrName>
                                        </p:attrNameLst>
                                      </p:cBhvr>
                                      <p:to>
                                        <p:strVal val="visible"/>
                                      </p:to>
                                    </p:set>
                                    <p:anim calcmode="lin" valueType="num">
                                      <p:cBhvr additive="base">
                                        <p:cTn id="7" dur="500" fill="hold"/>
                                        <p:tgtEl>
                                          <p:spTgt spid="106505"/>
                                        </p:tgtEl>
                                        <p:attrNameLst>
                                          <p:attrName>ppt_x</p:attrName>
                                        </p:attrNameLst>
                                      </p:cBhvr>
                                      <p:tavLst>
                                        <p:tav tm="0">
                                          <p:val>
                                            <p:strVal val="0-#ppt_w/2"/>
                                          </p:val>
                                        </p:tav>
                                        <p:tav tm="100000">
                                          <p:val>
                                            <p:strVal val="#ppt_x"/>
                                          </p:val>
                                        </p:tav>
                                      </p:tavLst>
                                    </p:anim>
                                    <p:anim calcmode="lin" valueType="num">
                                      <p:cBhvr additive="base">
                                        <p:cTn id="8" dur="500" fill="hold"/>
                                        <p:tgtEl>
                                          <p:spTgt spid="10650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6500"/>
                                        </p:tgtEl>
                                        <p:attrNameLst>
                                          <p:attrName>style.visibility</p:attrName>
                                        </p:attrNameLst>
                                      </p:cBhvr>
                                      <p:to>
                                        <p:strVal val="visible"/>
                                      </p:to>
                                    </p:set>
                                    <p:anim calcmode="lin" valueType="num">
                                      <p:cBhvr additive="base">
                                        <p:cTn id="13" dur="500" fill="hold"/>
                                        <p:tgtEl>
                                          <p:spTgt spid="106500"/>
                                        </p:tgtEl>
                                        <p:attrNameLst>
                                          <p:attrName>ppt_x</p:attrName>
                                        </p:attrNameLst>
                                      </p:cBhvr>
                                      <p:tavLst>
                                        <p:tav tm="0">
                                          <p:val>
                                            <p:strVal val="#ppt_x"/>
                                          </p:val>
                                        </p:tav>
                                        <p:tav tm="100000">
                                          <p:val>
                                            <p:strVal val="#ppt_x"/>
                                          </p:val>
                                        </p:tav>
                                      </p:tavLst>
                                    </p:anim>
                                    <p:anim calcmode="lin" valueType="num">
                                      <p:cBhvr additive="base">
                                        <p:cTn id="14" dur="500" fill="hold"/>
                                        <p:tgtEl>
                                          <p:spTgt spid="10650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6505"/>
                                        </p:tgtEl>
                                        <p:attrNameLst>
                                          <p:attrName>style.visibility</p:attrName>
                                        </p:attrNameLst>
                                      </p:cBhvr>
                                      <p:to>
                                        <p:strVal val="visible"/>
                                      </p:to>
                                    </p:set>
                                    <p:anim calcmode="lin" valueType="num">
                                      <p:cBhvr additive="base">
                                        <p:cTn id="19" dur="500" fill="hold"/>
                                        <p:tgtEl>
                                          <p:spTgt spid="106505"/>
                                        </p:tgtEl>
                                        <p:attrNameLst>
                                          <p:attrName>ppt_x</p:attrName>
                                        </p:attrNameLst>
                                      </p:cBhvr>
                                      <p:tavLst>
                                        <p:tav tm="0">
                                          <p:val>
                                            <p:strVal val="#ppt_x"/>
                                          </p:val>
                                        </p:tav>
                                        <p:tav tm="100000">
                                          <p:val>
                                            <p:strVal val="#ppt_x"/>
                                          </p:val>
                                        </p:tav>
                                      </p:tavLst>
                                    </p:anim>
                                    <p:anim calcmode="lin" valueType="num">
                                      <p:cBhvr additive="base">
                                        <p:cTn id="20" dur="500" fill="hold"/>
                                        <p:tgtEl>
                                          <p:spTgt spid="10650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6513"/>
                                        </p:tgtEl>
                                        <p:attrNameLst>
                                          <p:attrName>style.visibility</p:attrName>
                                        </p:attrNameLst>
                                      </p:cBhvr>
                                      <p:to>
                                        <p:strVal val="visible"/>
                                      </p:to>
                                    </p:set>
                                    <p:anim calcmode="lin" valueType="num">
                                      <p:cBhvr additive="base">
                                        <p:cTn id="25" dur="500" fill="hold"/>
                                        <p:tgtEl>
                                          <p:spTgt spid="106513"/>
                                        </p:tgtEl>
                                        <p:attrNameLst>
                                          <p:attrName>ppt_x</p:attrName>
                                        </p:attrNameLst>
                                      </p:cBhvr>
                                      <p:tavLst>
                                        <p:tav tm="0">
                                          <p:val>
                                            <p:strVal val="0-#ppt_w/2"/>
                                          </p:val>
                                        </p:tav>
                                        <p:tav tm="100000">
                                          <p:val>
                                            <p:strVal val="#ppt_x"/>
                                          </p:val>
                                        </p:tav>
                                      </p:tavLst>
                                    </p:anim>
                                    <p:anim calcmode="lin" valueType="num">
                                      <p:cBhvr additive="base">
                                        <p:cTn id="26" dur="500" fill="hold"/>
                                        <p:tgtEl>
                                          <p:spTgt spid="1065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1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526" name="Object 6"/>
          <p:cNvGraphicFramePr>
            <a:graphicFrameLocks noChangeAspect="1"/>
          </p:cNvGraphicFramePr>
          <p:nvPr/>
        </p:nvGraphicFramePr>
        <p:xfrm>
          <a:off x="1692275" y="981075"/>
          <a:ext cx="1439863" cy="922338"/>
        </p:xfrm>
        <a:graphic>
          <a:graphicData uri="http://schemas.openxmlformats.org/presentationml/2006/ole">
            <mc:AlternateContent xmlns:mc="http://schemas.openxmlformats.org/markup-compatibility/2006">
              <mc:Choice xmlns:v="urn:schemas-microsoft-com:vml" Requires="v">
                <p:oleObj spid="_x0000_s30796" name="公式" r:id="rId3" imgW="609336" imgH="393529" progId="Equation.3">
                  <p:embed/>
                </p:oleObj>
              </mc:Choice>
              <mc:Fallback>
                <p:oleObj name="公式" r:id="rId3" imgW="609336" imgH="393529"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981075"/>
                        <a:ext cx="1439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7525" name="Object 5"/>
          <p:cNvGraphicFramePr>
            <a:graphicFrameLocks noChangeAspect="1"/>
          </p:cNvGraphicFramePr>
          <p:nvPr/>
        </p:nvGraphicFramePr>
        <p:xfrm>
          <a:off x="107950" y="2133600"/>
          <a:ext cx="8820150" cy="1150938"/>
        </p:xfrm>
        <a:graphic>
          <a:graphicData uri="http://schemas.openxmlformats.org/presentationml/2006/ole">
            <mc:AlternateContent xmlns:mc="http://schemas.openxmlformats.org/markup-compatibility/2006">
              <mc:Choice xmlns:v="urn:schemas-microsoft-com:vml" Requires="v">
                <p:oleObj spid="_x0000_s30797" name="公式" r:id="rId5" imgW="4191000" imgH="419100" progId="Equation.3">
                  <p:embed/>
                </p:oleObj>
              </mc:Choice>
              <mc:Fallback>
                <p:oleObj name="公式" r:id="rId5" imgW="4191000" imgH="4191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950" y="2133600"/>
                        <a:ext cx="8820150"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7524" name="Object 4"/>
          <p:cNvGraphicFramePr>
            <a:graphicFrameLocks noChangeAspect="1"/>
          </p:cNvGraphicFramePr>
          <p:nvPr/>
        </p:nvGraphicFramePr>
        <p:xfrm>
          <a:off x="179388" y="3716338"/>
          <a:ext cx="8893175" cy="2476500"/>
        </p:xfrm>
        <a:graphic>
          <a:graphicData uri="http://schemas.openxmlformats.org/presentationml/2006/ole">
            <mc:AlternateContent xmlns:mc="http://schemas.openxmlformats.org/markup-compatibility/2006">
              <mc:Choice xmlns:v="urn:schemas-microsoft-com:vml" Requires="v">
                <p:oleObj spid="_x0000_s30798" name="公式" r:id="rId7" imgW="3962400" imgH="1104900" progId="Equation.3">
                  <p:embed/>
                </p:oleObj>
              </mc:Choice>
              <mc:Fallback>
                <p:oleObj name="公式" r:id="rId7" imgW="3962400" imgH="11049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388" y="3716338"/>
                        <a:ext cx="889317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5" name="Rectangle 7"/>
          <p:cNvSpPr>
            <a:spLocks noChangeArrowheads="1"/>
          </p:cNvSpPr>
          <p:nvPr/>
        </p:nvSpPr>
        <p:spPr bwMode="auto">
          <a:xfrm>
            <a:off x="250825" y="303213"/>
            <a:ext cx="21478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2800" b="1">
                <a:latin typeface="Times New Roman" pitchFamily="18" charset="0"/>
                <a:cs typeface="Times New Roman" pitchFamily="18" charset="0"/>
              </a:rPr>
              <a:t>3</a:t>
            </a:r>
            <a:r>
              <a:rPr lang="zh-CN" altLang="en-US" sz="2800" b="1">
                <a:latin typeface="Times New Roman" pitchFamily="18" charset="0"/>
                <a:cs typeface="Times New Roman" pitchFamily="18" charset="0"/>
              </a:rPr>
              <a:t>．三点公式</a:t>
            </a:r>
            <a:endParaRPr lang="zh-CN" altLang="en-US" sz="2800" b="1"/>
          </a:p>
        </p:txBody>
      </p:sp>
      <p:sp>
        <p:nvSpPr>
          <p:cNvPr id="107528" name="Rectangle 8"/>
          <p:cNvSpPr>
            <a:spLocks noChangeArrowheads="1"/>
          </p:cNvSpPr>
          <p:nvPr/>
        </p:nvSpPr>
        <p:spPr bwMode="auto">
          <a:xfrm>
            <a:off x="3348038" y="1052513"/>
            <a:ext cx="5400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Times New Roman" pitchFamily="18" charset="0"/>
                <a:cs typeface="Times New Roman" pitchFamily="18" charset="0"/>
              </a:rPr>
              <a:t>，</a:t>
            </a:r>
            <a:r>
              <a:rPr lang="en-US" altLang="zh-CN" sz="2800" b="1" i="1">
                <a:latin typeface="Times New Roman" pitchFamily="18" charset="0"/>
                <a:cs typeface="Times New Roman" pitchFamily="18" charset="0"/>
              </a:rPr>
              <a:t>b</a:t>
            </a:r>
            <a:r>
              <a:rPr lang="zh-CN" altLang="en-US" sz="2800" b="1">
                <a:latin typeface="Times New Roman" pitchFamily="18" charset="0"/>
                <a:cs typeface="Times New Roman" pitchFamily="18" charset="0"/>
              </a:rPr>
              <a:t>为节点，构造二次插值多项式</a:t>
            </a:r>
            <a:endParaRPr lang="zh-CN" altLang="en-US" sz="2800" b="1"/>
          </a:p>
        </p:txBody>
      </p:sp>
      <p:sp>
        <p:nvSpPr>
          <p:cNvPr id="30727" name="Rectangle 9"/>
          <p:cNvSpPr>
            <a:spLocks noChangeArrowheads="1"/>
          </p:cNvSpPr>
          <p:nvPr/>
        </p:nvSpPr>
        <p:spPr bwMode="auto">
          <a:xfrm>
            <a:off x="2938463" y="3478213"/>
            <a:ext cx="29273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000">
                <a:latin typeface="Times New Roman" pitchFamily="18" charset="0"/>
                <a:cs typeface="Times New Roman" pitchFamily="18" charset="0"/>
              </a:rPr>
              <a:t>			</a:t>
            </a:r>
            <a:endParaRPr lang="en-US" altLang="zh-CN"/>
          </a:p>
        </p:txBody>
      </p:sp>
      <p:sp>
        <p:nvSpPr>
          <p:cNvPr id="30728" name="Rectangle 10"/>
          <p:cNvSpPr>
            <a:spLocks noChangeArrowheads="1"/>
          </p:cNvSpPr>
          <p:nvPr/>
        </p:nvSpPr>
        <p:spPr bwMode="auto">
          <a:xfrm>
            <a:off x="2938463" y="5170488"/>
            <a:ext cx="22225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100"/>
              <a:t> </a:t>
            </a:r>
            <a:endParaRPr lang="en-US" altLang="zh-CN"/>
          </a:p>
        </p:txBody>
      </p:sp>
      <p:sp>
        <p:nvSpPr>
          <p:cNvPr id="107531" name="Rectangle 11"/>
          <p:cNvSpPr>
            <a:spLocks noChangeArrowheads="1"/>
          </p:cNvSpPr>
          <p:nvPr/>
        </p:nvSpPr>
        <p:spPr bwMode="auto">
          <a:xfrm>
            <a:off x="395288" y="1095375"/>
            <a:ext cx="10017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Times New Roman" pitchFamily="18" charset="0"/>
                <a:cs typeface="Times New Roman" pitchFamily="18" charset="0"/>
              </a:rPr>
              <a:t>以</a:t>
            </a:r>
            <a:r>
              <a:rPr lang="en-US" altLang="zh-CN" sz="2800" b="1" i="1">
                <a:latin typeface="Times New Roman" pitchFamily="18" charset="0"/>
                <a:cs typeface="Times New Roman" pitchFamily="18" charset="0"/>
              </a:rPr>
              <a:t>a</a:t>
            </a:r>
            <a:r>
              <a:rPr lang="en-US" altLang="zh-CN" sz="2800" b="1">
                <a:latin typeface="Times New Roman" pitchFamily="18" charset="0"/>
                <a:cs typeface="Times New Roman" pitchFamily="18" charset="0"/>
              </a:rPr>
              <a:t>, </a:t>
            </a:r>
            <a:endParaRPr lang="en-US" altLang="zh-CN" sz="2800" b="1"/>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7531"/>
                                        </p:tgtEl>
                                        <p:attrNameLst>
                                          <p:attrName>style.visibility</p:attrName>
                                        </p:attrNameLst>
                                      </p:cBhvr>
                                      <p:to>
                                        <p:strVal val="visible"/>
                                      </p:to>
                                    </p:set>
                                    <p:anim calcmode="lin" valueType="num">
                                      <p:cBhvr additive="base">
                                        <p:cTn id="7" dur="500" fill="hold"/>
                                        <p:tgtEl>
                                          <p:spTgt spid="107531"/>
                                        </p:tgtEl>
                                        <p:attrNameLst>
                                          <p:attrName>ppt_x</p:attrName>
                                        </p:attrNameLst>
                                      </p:cBhvr>
                                      <p:tavLst>
                                        <p:tav tm="0">
                                          <p:val>
                                            <p:strVal val="#ppt_x"/>
                                          </p:val>
                                        </p:tav>
                                        <p:tav tm="100000">
                                          <p:val>
                                            <p:strVal val="#ppt_x"/>
                                          </p:val>
                                        </p:tav>
                                      </p:tavLst>
                                    </p:anim>
                                    <p:anim calcmode="lin" valueType="num">
                                      <p:cBhvr additive="base">
                                        <p:cTn id="8" dur="500" fill="hold"/>
                                        <p:tgtEl>
                                          <p:spTgt spid="10753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7526"/>
                                        </p:tgtEl>
                                        <p:attrNameLst>
                                          <p:attrName>style.visibility</p:attrName>
                                        </p:attrNameLst>
                                      </p:cBhvr>
                                      <p:to>
                                        <p:strVal val="visible"/>
                                      </p:to>
                                    </p:set>
                                    <p:anim calcmode="lin" valueType="num">
                                      <p:cBhvr additive="base">
                                        <p:cTn id="11" dur="500" fill="hold"/>
                                        <p:tgtEl>
                                          <p:spTgt spid="107526"/>
                                        </p:tgtEl>
                                        <p:attrNameLst>
                                          <p:attrName>ppt_x</p:attrName>
                                        </p:attrNameLst>
                                      </p:cBhvr>
                                      <p:tavLst>
                                        <p:tav tm="0">
                                          <p:val>
                                            <p:strVal val="#ppt_x"/>
                                          </p:val>
                                        </p:tav>
                                        <p:tav tm="100000">
                                          <p:val>
                                            <p:strVal val="#ppt_x"/>
                                          </p:val>
                                        </p:tav>
                                      </p:tavLst>
                                    </p:anim>
                                    <p:anim calcmode="lin" valueType="num">
                                      <p:cBhvr additive="base">
                                        <p:cTn id="12" dur="500" fill="hold"/>
                                        <p:tgtEl>
                                          <p:spTgt spid="10752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7528"/>
                                        </p:tgtEl>
                                        <p:attrNameLst>
                                          <p:attrName>style.visibility</p:attrName>
                                        </p:attrNameLst>
                                      </p:cBhvr>
                                      <p:to>
                                        <p:strVal val="visible"/>
                                      </p:to>
                                    </p:set>
                                    <p:anim calcmode="lin" valueType="num">
                                      <p:cBhvr additive="base">
                                        <p:cTn id="15" dur="500" fill="hold"/>
                                        <p:tgtEl>
                                          <p:spTgt spid="107528"/>
                                        </p:tgtEl>
                                        <p:attrNameLst>
                                          <p:attrName>ppt_x</p:attrName>
                                        </p:attrNameLst>
                                      </p:cBhvr>
                                      <p:tavLst>
                                        <p:tav tm="0">
                                          <p:val>
                                            <p:strVal val="#ppt_x"/>
                                          </p:val>
                                        </p:tav>
                                        <p:tav tm="100000">
                                          <p:val>
                                            <p:strVal val="#ppt_x"/>
                                          </p:val>
                                        </p:tav>
                                      </p:tavLst>
                                    </p:anim>
                                    <p:anim calcmode="lin" valueType="num">
                                      <p:cBhvr additive="base">
                                        <p:cTn id="16" dur="500" fill="hold"/>
                                        <p:tgtEl>
                                          <p:spTgt spid="107528"/>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107525"/>
                                        </p:tgtEl>
                                        <p:attrNameLst>
                                          <p:attrName>style.visibility</p:attrName>
                                        </p:attrNameLst>
                                      </p:cBhvr>
                                      <p:to>
                                        <p:strVal val="visible"/>
                                      </p:to>
                                    </p:set>
                                    <p:anim calcmode="lin" valueType="num">
                                      <p:cBhvr additive="base">
                                        <p:cTn id="21" dur="500" fill="hold"/>
                                        <p:tgtEl>
                                          <p:spTgt spid="107525"/>
                                        </p:tgtEl>
                                        <p:attrNameLst>
                                          <p:attrName>ppt_x</p:attrName>
                                        </p:attrNameLst>
                                      </p:cBhvr>
                                      <p:tavLst>
                                        <p:tav tm="0">
                                          <p:val>
                                            <p:strVal val="#ppt_x"/>
                                          </p:val>
                                        </p:tav>
                                        <p:tav tm="100000">
                                          <p:val>
                                            <p:strVal val="#ppt_x"/>
                                          </p:val>
                                        </p:tav>
                                      </p:tavLst>
                                    </p:anim>
                                    <p:anim calcmode="lin" valueType="num">
                                      <p:cBhvr additive="base">
                                        <p:cTn id="22" dur="500" fill="hold"/>
                                        <p:tgtEl>
                                          <p:spTgt spid="107525"/>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107524"/>
                                        </p:tgtEl>
                                        <p:attrNameLst>
                                          <p:attrName>style.visibility</p:attrName>
                                        </p:attrNameLst>
                                      </p:cBhvr>
                                      <p:to>
                                        <p:strVal val="visible"/>
                                      </p:to>
                                    </p:set>
                                    <p:anim calcmode="lin" valueType="num">
                                      <p:cBhvr additive="base">
                                        <p:cTn id="27" dur="500" fill="hold"/>
                                        <p:tgtEl>
                                          <p:spTgt spid="107524"/>
                                        </p:tgtEl>
                                        <p:attrNameLst>
                                          <p:attrName>ppt_x</p:attrName>
                                        </p:attrNameLst>
                                      </p:cBhvr>
                                      <p:tavLst>
                                        <p:tav tm="0">
                                          <p:val>
                                            <p:strVal val="#ppt_x"/>
                                          </p:val>
                                        </p:tav>
                                        <p:tav tm="100000">
                                          <p:val>
                                            <p:strVal val="#ppt_x"/>
                                          </p:val>
                                        </p:tav>
                                      </p:tavLst>
                                    </p:anim>
                                    <p:anim calcmode="lin" valueType="num">
                                      <p:cBhvr additive="base">
                                        <p:cTn id="28" dur="500" fill="hold"/>
                                        <p:tgtEl>
                                          <p:spTgt spid="1075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8" grpId="0"/>
      <p:bldP spid="10753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6" name="Object 5"/>
          <p:cNvGraphicFramePr>
            <a:graphicFrameLocks noChangeAspect="1"/>
          </p:cNvGraphicFramePr>
          <p:nvPr/>
        </p:nvGraphicFramePr>
        <p:xfrm>
          <a:off x="323850" y="115888"/>
          <a:ext cx="8280400" cy="4056062"/>
        </p:xfrm>
        <a:graphic>
          <a:graphicData uri="http://schemas.openxmlformats.org/presentationml/2006/ole">
            <mc:AlternateContent xmlns:mc="http://schemas.openxmlformats.org/markup-compatibility/2006">
              <mc:Choice xmlns:v="urn:schemas-microsoft-com:vml" Requires="v">
                <p:oleObj spid="_x0000_s31817" name="公式" r:id="rId3" imgW="3632200" imgH="1778000" progId="Equation.3">
                  <p:embed/>
                </p:oleObj>
              </mc:Choice>
              <mc:Fallback>
                <p:oleObj name="公式" r:id="rId3" imgW="3632200" imgH="17780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15888"/>
                        <a:ext cx="8280400" cy="405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47" name="Object 4"/>
          <p:cNvGraphicFramePr>
            <a:graphicFrameLocks noChangeAspect="1"/>
          </p:cNvGraphicFramePr>
          <p:nvPr/>
        </p:nvGraphicFramePr>
        <p:xfrm>
          <a:off x="468313" y="4148138"/>
          <a:ext cx="6696075" cy="1316037"/>
        </p:xfrm>
        <a:graphic>
          <a:graphicData uri="http://schemas.openxmlformats.org/presentationml/2006/ole">
            <mc:AlternateContent xmlns:mc="http://schemas.openxmlformats.org/markup-compatibility/2006">
              <mc:Choice xmlns:v="urn:schemas-microsoft-com:vml" Requires="v">
                <p:oleObj spid="_x0000_s31818" name="公式" r:id="rId5" imgW="2133600" imgH="419100" progId="Equation.3">
                  <p:embed/>
                </p:oleObj>
              </mc:Choice>
              <mc:Fallback>
                <p:oleObj name="公式" r:id="rId5" imgW="2133600" imgH="419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4148138"/>
                        <a:ext cx="6696075"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48" name="Rectangle 6"/>
          <p:cNvSpPr>
            <a:spLocks noChangeArrowheads="1"/>
          </p:cNvSpPr>
          <p:nvPr/>
        </p:nvSpPr>
        <p:spPr bwMode="auto">
          <a:xfrm>
            <a:off x="0" y="191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31749" name="Rectangle 9"/>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31750" name="Object 8"/>
          <p:cNvGraphicFramePr>
            <a:graphicFrameLocks noChangeAspect="1"/>
          </p:cNvGraphicFramePr>
          <p:nvPr/>
        </p:nvGraphicFramePr>
        <p:xfrm>
          <a:off x="611188" y="5589588"/>
          <a:ext cx="5905500" cy="1154112"/>
        </p:xfrm>
        <a:graphic>
          <a:graphicData uri="http://schemas.openxmlformats.org/presentationml/2006/ole">
            <mc:AlternateContent xmlns:mc="http://schemas.openxmlformats.org/markup-compatibility/2006">
              <mc:Choice xmlns:v="urn:schemas-microsoft-com:vml" Requires="v">
                <p:oleObj spid="_x0000_s31819" name="公式" r:id="rId7" imgW="2146300" imgH="419100" progId="Equation.3">
                  <p:embed/>
                </p:oleObj>
              </mc:Choice>
              <mc:Fallback>
                <p:oleObj name="公式" r:id="rId7" imgW="2146300" imgH="4191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188" y="5589588"/>
                        <a:ext cx="5905500"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a:spLocks noChangeArrowheads="1"/>
          </p:cNvSpPr>
          <p:nvPr/>
        </p:nvSpPr>
        <p:spPr bwMode="auto">
          <a:xfrm>
            <a:off x="0" y="2822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32771" name="Object 4"/>
          <p:cNvGraphicFramePr>
            <a:graphicFrameLocks noChangeAspect="1"/>
          </p:cNvGraphicFramePr>
          <p:nvPr/>
        </p:nvGraphicFramePr>
        <p:xfrm>
          <a:off x="544513" y="1203325"/>
          <a:ext cx="7129462" cy="1404938"/>
        </p:xfrm>
        <a:graphic>
          <a:graphicData uri="http://schemas.openxmlformats.org/presentationml/2006/ole">
            <mc:AlternateContent xmlns:mc="http://schemas.openxmlformats.org/markup-compatibility/2006">
              <mc:Choice xmlns:v="urn:schemas-microsoft-com:vml" Requires="v">
                <p:oleObj spid="_x0000_s32829" name="公式" r:id="rId3" imgW="1981200" imgH="393700" progId="Equation.3">
                  <p:embed/>
                </p:oleObj>
              </mc:Choice>
              <mc:Fallback>
                <p:oleObj name="公式" r:id="rId3" imgW="19812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513" y="1203325"/>
                        <a:ext cx="7129462"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2" name="Rectangle 6"/>
          <p:cNvSpPr>
            <a:spLocks noChangeArrowheads="1"/>
          </p:cNvSpPr>
          <p:nvPr/>
        </p:nvSpPr>
        <p:spPr bwMode="auto">
          <a:xfrm>
            <a:off x="400050" y="2716213"/>
            <a:ext cx="79914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latin typeface="楷体_GB2312" pitchFamily="49" charset="-122"/>
                <a:ea typeface="楷体_GB2312" pitchFamily="49" charset="-122"/>
                <a:cs typeface="Times New Roman" pitchFamily="18" charset="0"/>
              </a:rPr>
              <a:t>	</a:t>
            </a:r>
            <a:r>
              <a:rPr lang="zh-CN" altLang="en-US" sz="3200" b="1">
                <a:latin typeface="楷体_GB2312" pitchFamily="49" charset="-122"/>
                <a:ea typeface="楷体_GB2312" pitchFamily="49" charset="-122"/>
                <a:cs typeface="Times New Roman" pitchFamily="18" charset="0"/>
              </a:rPr>
              <a:t>称为辛卜生（</a:t>
            </a:r>
            <a:r>
              <a:rPr lang="en-US" altLang="zh-CN" sz="3600" b="1">
                <a:solidFill>
                  <a:srgbClr val="FF0000"/>
                </a:solidFill>
                <a:latin typeface="Times New Roman" pitchFamily="18" charset="0"/>
                <a:ea typeface="楷体_GB2312" pitchFamily="49" charset="-122"/>
                <a:cs typeface="Times New Roman" pitchFamily="18" charset="0"/>
              </a:rPr>
              <a:t>Simpson</a:t>
            </a:r>
            <a:r>
              <a:rPr lang="zh-CN" altLang="en-US" sz="3200" b="1">
                <a:latin typeface="楷体_GB2312" pitchFamily="49" charset="-122"/>
                <a:ea typeface="楷体_GB2312" pitchFamily="49" charset="-122"/>
                <a:cs typeface="Times New Roman" pitchFamily="18" charset="0"/>
              </a:rPr>
              <a:t>）求积公式。</a:t>
            </a:r>
          </a:p>
        </p:txBody>
      </p:sp>
      <p:sp>
        <p:nvSpPr>
          <p:cNvPr id="32773" name="Rectangle 7"/>
          <p:cNvSpPr>
            <a:spLocks noChangeArrowheads="1"/>
          </p:cNvSpPr>
          <p:nvPr/>
        </p:nvSpPr>
        <p:spPr bwMode="auto">
          <a:xfrm>
            <a:off x="144463" y="3298825"/>
            <a:ext cx="4211637" cy="325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zh-CN" altLang="en-US" sz="3200" b="1">
                <a:latin typeface="楷体_GB2312" pitchFamily="49" charset="-122"/>
                <a:ea typeface="楷体_GB2312" pitchFamily="49" charset="-122"/>
                <a:cs typeface="Times New Roman" pitchFamily="18" charset="0"/>
              </a:rPr>
              <a:t>我们也可以类似地构造五点、七点，</a:t>
            </a:r>
            <a:r>
              <a:rPr lang="en-US" altLang="zh-CN" sz="3200" b="1">
                <a:latin typeface="Times New Roman" pitchFamily="18" charset="0"/>
                <a:ea typeface="楷体_GB2312" pitchFamily="49" charset="-122"/>
                <a:cs typeface="Times New Roman" pitchFamily="18" charset="0"/>
              </a:rPr>
              <a:t>…</a:t>
            </a:r>
            <a:r>
              <a:rPr lang="zh-CN" altLang="en-US" sz="3200" b="1">
                <a:latin typeface="楷体_GB2312" pitchFamily="49" charset="-122"/>
                <a:ea typeface="楷体_GB2312" pitchFamily="49" charset="-122"/>
                <a:cs typeface="Times New Roman" pitchFamily="18" charset="0"/>
              </a:rPr>
              <a:t>，</a:t>
            </a:r>
            <a:r>
              <a:rPr lang="en-US" altLang="zh-CN" sz="3200" b="1" i="1">
                <a:latin typeface="楷体_GB2312" pitchFamily="49" charset="-122"/>
                <a:ea typeface="楷体_GB2312" pitchFamily="49" charset="-122"/>
                <a:cs typeface="Times New Roman" pitchFamily="18" charset="0"/>
              </a:rPr>
              <a:t>n</a:t>
            </a:r>
            <a:r>
              <a:rPr lang="zh-CN" altLang="en-US" sz="3200" b="1">
                <a:latin typeface="楷体_GB2312" pitchFamily="49" charset="-122"/>
                <a:ea typeface="楷体_GB2312" pitchFamily="49" charset="-122"/>
                <a:cs typeface="Times New Roman" pitchFamily="18" charset="0"/>
              </a:rPr>
              <a:t>点求积公式，在实际运算中，以梯形和</a:t>
            </a:r>
            <a:r>
              <a:rPr lang="en-US" altLang="zh-CN" sz="3200" b="1">
                <a:latin typeface="楷体_GB2312" pitchFamily="49" charset="-122"/>
                <a:ea typeface="楷体_GB2312" pitchFamily="49" charset="-122"/>
                <a:cs typeface="Times New Roman" pitchFamily="18" charset="0"/>
              </a:rPr>
              <a:t>Simpson</a:t>
            </a:r>
            <a:r>
              <a:rPr lang="zh-CN" altLang="en-US" sz="3200" b="1">
                <a:latin typeface="楷体_GB2312" pitchFamily="49" charset="-122"/>
                <a:ea typeface="楷体_GB2312" pitchFamily="49" charset="-122"/>
                <a:cs typeface="Times New Roman" pitchFamily="18" charset="0"/>
              </a:rPr>
              <a:t>公式为常用。</a:t>
            </a:r>
          </a:p>
        </p:txBody>
      </p:sp>
      <p:grpSp>
        <p:nvGrpSpPr>
          <p:cNvPr id="32774" name="Group 22"/>
          <p:cNvGrpSpPr>
            <a:grpSpLocks/>
          </p:cNvGrpSpPr>
          <p:nvPr/>
        </p:nvGrpSpPr>
        <p:grpSpPr bwMode="auto">
          <a:xfrm>
            <a:off x="4276725" y="3429000"/>
            <a:ext cx="4759325" cy="3384550"/>
            <a:chOff x="1334" y="73"/>
            <a:chExt cx="2998" cy="2132"/>
          </a:xfrm>
        </p:grpSpPr>
        <p:pic>
          <p:nvPicPr>
            <p:cNvPr id="32778"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4" y="73"/>
              <a:ext cx="2998" cy="1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9" name="Text Box 24"/>
            <p:cNvSpPr txBox="1">
              <a:spLocks noChangeArrowheads="1"/>
            </p:cNvSpPr>
            <p:nvPr/>
          </p:nvSpPr>
          <p:spPr bwMode="auto">
            <a:xfrm>
              <a:off x="1638" y="1476"/>
              <a:ext cx="33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i="1">
                  <a:latin typeface="Times New Roman" pitchFamily="18" charset="0"/>
                </a:rPr>
                <a:t>x</a:t>
              </a:r>
              <a:r>
                <a:rPr lang="en-US" altLang="zh-CN" sz="3200" b="1" i="1" baseline="-25000">
                  <a:latin typeface="Times New Roman" pitchFamily="18" charset="0"/>
                </a:rPr>
                <a:t>0</a:t>
              </a:r>
            </a:p>
          </p:txBody>
        </p:sp>
        <p:sp>
          <p:nvSpPr>
            <p:cNvPr id="32780" name="Text Box 25"/>
            <p:cNvSpPr txBox="1">
              <a:spLocks noChangeArrowheads="1"/>
            </p:cNvSpPr>
            <p:nvPr/>
          </p:nvSpPr>
          <p:spPr bwMode="auto">
            <a:xfrm>
              <a:off x="2336" y="1506"/>
              <a:ext cx="85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i="1">
                  <a:latin typeface="Times New Roman" pitchFamily="18" charset="0"/>
                </a:rPr>
                <a:t>x</a:t>
              </a:r>
              <a:r>
                <a:rPr lang="en-US" altLang="zh-CN" sz="3200" b="1" i="1" baseline="-25000">
                  <a:latin typeface="Times New Roman" pitchFamily="18" charset="0"/>
                </a:rPr>
                <a:t>0</a:t>
              </a:r>
              <a:r>
                <a:rPr lang="en-US" altLang="zh-CN" sz="3200" b="1" i="1">
                  <a:latin typeface="Times New Roman" pitchFamily="18" charset="0"/>
                </a:rPr>
                <a:t>+</a:t>
              </a:r>
              <a:r>
                <a:rPr lang="en-US" altLang="zh-CN" sz="3200" b="1" i="1">
                  <a:latin typeface="Times New Roman" pitchFamily="18" charset="0"/>
                  <a:sym typeface="Symbol" pitchFamily="18" charset="2"/>
                </a:rPr>
                <a:t>x</a:t>
              </a:r>
              <a:endParaRPr lang="en-US" altLang="zh-CN" sz="3200" b="1" i="1">
                <a:latin typeface="Times New Roman" pitchFamily="18" charset="0"/>
              </a:endParaRPr>
            </a:p>
          </p:txBody>
        </p:sp>
        <p:sp>
          <p:nvSpPr>
            <p:cNvPr id="32781" name="Text Box 26"/>
            <p:cNvSpPr txBox="1">
              <a:spLocks noChangeArrowheads="1"/>
            </p:cNvSpPr>
            <p:nvPr/>
          </p:nvSpPr>
          <p:spPr bwMode="auto">
            <a:xfrm>
              <a:off x="3089" y="1476"/>
              <a:ext cx="97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i="1">
                  <a:latin typeface="Times New Roman" pitchFamily="18" charset="0"/>
                </a:rPr>
                <a:t>x</a:t>
              </a:r>
              <a:r>
                <a:rPr lang="en-US" altLang="zh-CN" sz="3200" b="1" i="1" baseline="-25000">
                  <a:latin typeface="Times New Roman" pitchFamily="18" charset="0"/>
                </a:rPr>
                <a:t>0</a:t>
              </a:r>
              <a:r>
                <a:rPr lang="en-US" altLang="zh-CN" sz="3200" b="1" i="1">
                  <a:latin typeface="Times New Roman" pitchFamily="18" charset="0"/>
                </a:rPr>
                <a:t>+2</a:t>
              </a:r>
              <a:r>
                <a:rPr lang="en-US" altLang="zh-CN" sz="3200" b="1" i="1">
                  <a:latin typeface="Times New Roman" pitchFamily="18" charset="0"/>
                  <a:sym typeface="Symbol" pitchFamily="18" charset="2"/>
                </a:rPr>
                <a:t>x</a:t>
              </a:r>
              <a:endParaRPr lang="en-US" altLang="zh-CN" sz="3200" b="1" i="1">
                <a:latin typeface="Times New Roman" pitchFamily="18" charset="0"/>
              </a:endParaRPr>
            </a:p>
          </p:txBody>
        </p:sp>
        <p:sp>
          <p:nvSpPr>
            <p:cNvPr id="32782" name="Text Box 27"/>
            <p:cNvSpPr txBox="1">
              <a:spLocks noChangeArrowheads="1"/>
            </p:cNvSpPr>
            <p:nvPr/>
          </p:nvSpPr>
          <p:spPr bwMode="auto">
            <a:xfrm>
              <a:off x="1655" y="1840"/>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t>a</a:t>
              </a:r>
            </a:p>
          </p:txBody>
        </p:sp>
        <p:sp>
          <p:nvSpPr>
            <p:cNvPr id="32783" name="Text Box 28"/>
            <p:cNvSpPr txBox="1">
              <a:spLocks noChangeArrowheads="1"/>
            </p:cNvSpPr>
            <p:nvPr/>
          </p:nvSpPr>
          <p:spPr bwMode="auto">
            <a:xfrm>
              <a:off x="2536" y="1840"/>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t>c</a:t>
              </a:r>
            </a:p>
          </p:txBody>
        </p:sp>
        <p:sp>
          <p:nvSpPr>
            <p:cNvPr id="32784" name="Text Box 29"/>
            <p:cNvSpPr txBox="1">
              <a:spLocks noChangeArrowheads="1"/>
            </p:cNvSpPr>
            <p:nvPr/>
          </p:nvSpPr>
          <p:spPr bwMode="auto">
            <a:xfrm>
              <a:off x="3303" y="1840"/>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t>b</a:t>
              </a:r>
            </a:p>
          </p:txBody>
        </p:sp>
      </p:grpSp>
      <p:graphicFrame>
        <p:nvGraphicFramePr>
          <p:cNvPr id="16" name="Object 6"/>
          <p:cNvGraphicFramePr>
            <a:graphicFrameLocks noChangeAspect="1"/>
          </p:cNvGraphicFramePr>
          <p:nvPr/>
        </p:nvGraphicFramePr>
        <p:xfrm>
          <a:off x="1692275" y="476250"/>
          <a:ext cx="1439863" cy="922338"/>
        </p:xfrm>
        <a:graphic>
          <a:graphicData uri="http://schemas.openxmlformats.org/presentationml/2006/ole">
            <mc:AlternateContent xmlns:mc="http://schemas.openxmlformats.org/markup-compatibility/2006">
              <mc:Choice xmlns:v="urn:schemas-microsoft-com:vml" Requires="v">
                <p:oleObj spid="_x0000_s32830" name="公式" r:id="rId6" imgW="609336" imgH="393529" progId="Equation.3">
                  <p:embed/>
                </p:oleObj>
              </mc:Choice>
              <mc:Fallback>
                <p:oleObj name="公式" r:id="rId6" imgW="609336" imgH="393529"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476250"/>
                        <a:ext cx="1439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8"/>
          <p:cNvSpPr>
            <a:spLocks noChangeArrowheads="1"/>
          </p:cNvSpPr>
          <p:nvPr/>
        </p:nvSpPr>
        <p:spPr bwMode="auto">
          <a:xfrm>
            <a:off x="3348038" y="547688"/>
            <a:ext cx="5400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Times New Roman" pitchFamily="18" charset="0"/>
                <a:cs typeface="Times New Roman" pitchFamily="18" charset="0"/>
              </a:rPr>
              <a:t>，</a:t>
            </a:r>
            <a:r>
              <a:rPr lang="en-US" altLang="zh-CN" sz="2800" b="1" i="1">
                <a:latin typeface="Times New Roman" pitchFamily="18" charset="0"/>
                <a:cs typeface="Times New Roman" pitchFamily="18" charset="0"/>
              </a:rPr>
              <a:t>b</a:t>
            </a:r>
            <a:r>
              <a:rPr lang="zh-CN" altLang="en-US" sz="2800" b="1">
                <a:latin typeface="Times New Roman" pitchFamily="18" charset="0"/>
                <a:cs typeface="Times New Roman" pitchFamily="18" charset="0"/>
              </a:rPr>
              <a:t>为节点，构造二次插值多项式</a:t>
            </a:r>
            <a:endParaRPr lang="zh-CN" altLang="en-US" sz="2800" b="1"/>
          </a:p>
        </p:txBody>
      </p:sp>
      <p:sp>
        <p:nvSpPr>
          <p:cNvPr id="18" name="Rectangle 11"/>
          <p:cNvSpPr>
            <a:spLocks noChangeArrowheads="1"/>
          </p:cNvSpPr>
          <p:nvPr/>
        </p:nvSpPr>
        <p:spPr bwMode="auto">
          <a:xfrm>
            <a:off x="395288" y="590550"/>
            <a:ext cx="10017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Times New Roman" pitchFamily="18" charset="0"/>
                <a:cs typeface="Times New Roman" pitchFamily="18" charset="0"/>
              </a:rPr>
              <a:t>以</a:t>
            </a:r>
            <a:r>
              <a:rPr lang="en-US" altLang="zh-CN" sz="2800" b="1" i="1">
                <a:latin typeface="Times New Roman" pitchFamily="18" charset="0"/>
                <a:cs typeface="Times New Roman" pitchFamily="18" charset="0"/>
              </a:rPr>
              <a:t>a</a:t>
            </a:r>
            <a:r>
              <a:rPr lang="en-US" altLang="zh-CN" sz="2800" b="1">
                <a:latin typeface="Times New Roman" pitchFamily="18" charset="0"/>
                <a:cs typeface="Times New Roman" pitchFamily="18" charset="0"/>
              </a:rPr>
              <a:t>, </a:t>
            </a:r>
            <a:endParaRPr lang="en-US" altLang="zh-CN" sz="2800" b="1"/>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35496" y="260648"/>
            <a:ext cx="3206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dirty="0">
                <a:latin typeface="Times New Roman" pitchFamily="18" charset="0"/>
              </a:rPr>
              <a:t> Simpson’s rule</a:t>
            </a:r>
          </a:p>
        </p:txBody>
      </p:sp>
      <p:sp>
        <p:nvSpPr>
          <p:cNvPr id="87043" name="Line 3"/>
          <p:cNvSpPr>
            <a:spLocks noChangeShapeType="1"/>
          </p:cNvSpPr>
          <p:nvPr/>
        </p:nvSpPr>
        <p:spPr bwMode="auto">
          <a:xfrm flipV="1">
            <a:off x="3429000" y="44958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3796" name="Group 13"/>
          <p:cNvGrpSpPr>
            <a:grpSpLocks/>
          </p:cNvGrpSpPr>
          <p:nvPr/>
        </p:nvGrpSpPr>
        <p:grpSpPr bwMode="auto">
          <a:xfrm>
            <a:off x="605408" y="1268760"/>
            <a:ext cx="6702896" cy="4032448"/>
            <a:chOff x="336" y="1197"/>
            <a:chExt cx="4264" cy="3006"/>
          </a:xfrm>
        </p:grpSpPr>
        <p:grpSp>
          <p:nvGrpSpPr>
            <p:cNvPr id="33798" name="Group 4"/>
            <p:cNvGrpSpPr>
              <a:grpSpLocks/>
            </p:cNvGrpSpPr>
            <p:nvPr/>
          </p:nvGrpSpPr>
          <p:grpSpPr bwMode="auto">
            <a:xfrm>
              <a:off x="336" y="1197"/>
              <a:ext cx="4264" cy="2691"/>
              <a:chOff x="336" y="720"/>
              <a:chExt cx="4264" cy="2691"/>
            </a:xfrm>
          </p:grpSpPr>
          <p:pic>
            <p:nvPicPr>
              <p:cNvPr id="3380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 y="720"/>
                <a:ext cx="4264" cy="2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804" name="Text Box 6"/>
              <p:cNvSpPr txBox="1">
                <a:spLocks noChangeArrowheads="1"/>
              </p:cNvSpPr>
              <p:nvPr/>
            </p:nvSpPr>
            <p:spPr bwMode="auto">
              <a:xfrm>
                <a:off x="768" y="2976"/>
                <a:ext cx="48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i="1">
                    <a:latin typeface="Times New Roman" pitchFamily="18" charset="0"/>
                  </a:rPr>
                  <a:t>x</a:t>
                </a:r>
                <a:r>
                  <a:rPr lang="en-US" altLang="zh-CN" sz="3200" b="1" i="1" baseline="-25000">
                    <a:latin typeface="Times New Roman" pitchFamily="18" charset="0"/>
                  </a:rPr>
                  <a:t>0</a:t>
                </a:r>
              </a:p>
            </p:txBody>
          </p:sp>
          <p:sp>
            <p:nvSpPr>
              <p:cNvPr id="33805" name="Text Box 7"/>
              <p:cNvSpPr txBox="1">
                <a:spLocks noChangeArrowheads="1"/>
              </p:cNvSpPr>
              <p:nvPr/>
            </p:nvSpPr>
            <p:spPr bwMode="auto">
              <a:xfrm>
                <a:off x="1776" y="3024"/>
                <a:ext cx="81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i="1">
                    <a:latin typeface="Times New Roman" pitchFamily="18" charset="0"/>
                  </a:rPr>
                  <a:t>x</a:t>
                </a:r>
                <a:r>
                  <a:rPr lang="en-US" altLang="zh-CN" sz="3200" b="1" i="1" baseline="-25000">
                    <a:latin typeface="Times New Roman" pitchFamily="18" charset="0"/>
                  </a:rPr>
                  <a:t>0</a:t>
                </a:r>
                <a:r>
                  <a:rPr lang="en-US" altLang="zh-CN" sz="3200" b="1" i="1">
                    <a:latin typeface="Times New Roman" pitchFamily="18" charset="0"/>
                  </a:rPr>
                  <a:t>+</a:t>
                </a:r>
                <a:r>
                  <a:rPr lang="en-US" altLang="zh-CN" sz="3200" b="1" i="1">
                    <a:latin typeface="Times New Roman" pitchFamily="18" charset="0"/>
                    <a:sym typeface="Symbol" pitchFamily="18" charset="2"/>
                  </a:rPr>
                  <a:t>x</a:t>
                </a:r>
                <a:endParaRPr lang="en-US" altLang="zh-CN" sz="3200" b="1" i="1">
                  <a:latin typeface="Times New Roman" pitchFamily="18" charset="0"/>
                </a:endParaRPr>
              </a:p>
            </p:txBody>
          </p:sp>
          <p:sp>
            <p:nvSpPr>
              <p:cNvPr id="33806" name="Text Box 8"/>
              <p:cNvSpPr txBox="1">
                <a:spLocks noChangeArrowheads="1"/>
              </p:cNvSpPr>
              <p:nvPr/>
            </p:nvSpPr>
            <p:spPr bwMode="auto">
              <a:xfrm>
                <a:off x="2832" y="2976"/>
                <a:ext cx="105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i="1">
                    <a:latin typeface="Times New Roman" pitchFamily="18" charset="0"/>
                  </a:rPr>
                  <a:t>x</a:t>
                </a:r>
                <a:r>
                  <a:rPr lang="en-US" altLang="zh-CN" sz="3200" b="1" i="1" baseline="-25000">
                    <a:latin typeface="Times New Roman" pitchFamily="18" charset="0"/>
                  </a:rPr>
                  <a:t>0</a:t>
                </a:r>
                <a:r>
                  <a:rPr lang="en-US" altLang="zh-CN" sz="3200" b="1" i="1">
                    <a:latin typeface="Times New Roman" pitchFamily="18" charset="0"/>
                  </a:rPr>
                  <a:t>+2</a:t>
                </a:r>
                <a:r>
                  <a:rPr lang="en-US" altLang="zh-CN" sz="3200" b="1" i="1">
                    <a:latin typeface="Times New Roman" pitchFamily="18" charset="0"/>
                    <a:sym typeface="Symbol" pitchFamily="18" charset="2"/>
                  </a:rPr>
                  <a:t>x</a:t>
                </a:r>
                <a:endParaRPr lang="en-US" altLang="zh-CN" sz="3200" b="1" i="1">
                  <a:latin typeface="Times New Roman" pitchFamily="18" charset="0"/>
                </a:endParaRPr>
              </a:p>
            </p:txBody>
          </p:sp>
        </p:grpSp>
        <p:grpSp>
          <p:nvGrpSpPr>
            <p:cNvPr id="33799" name="Group 12"/>
            <p:cNvGrpSpPr>
              <a:grpSpLocks/>
            </p:cNvGrpSpPr>
            <p:nvPr/>
          </p:nvGrpSpPr>
          <p:grpSpPr bwMode="auto">
            <a:xfrm>
              <a:off x="793" y="3838"/>
              <a:ext cx="2600" cy="365"/>
              <a:chOff x="793" y="3838"/>
              <a:chExt cx="2600" cy="365"/>
            </a:xfrm>
          </p:grpSpPr>
          <p:sp>
            <p:nvSpPr>
              <p:cNvPr id="33800" name="Text Box 9"/>
              <p:cNvSpPr txBox="1">
                <a:spLocks noChangeArrowheads="1"/>
              </p:cNvSpPr>
              <p:nvPr/>
            </p:nvSpPr>
            <p:spPr bwMode="auto">
              <a:xfrm>
                <a:off x="793" y="3838"/>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t>a</a:t>
                </a:r>
              </a:p>
            </p:txBody>
          </p:sp>
          <p:sp>
            <p:nvSpPr>
              <p:cNvPr id="33801" name="Text Box 10"/>
              <p:cNvSpPr txBox="1">
                <a:spLocks noChangeArrowheads="1"/>
              </p:cNvSpPr>
              <p:nvPr/>
            </p:nvSpPr>
            <p:spPr bwMode="auto">
              <a:xfrm>
                <a:off x="2046" y="3838"/>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t>c</a:t>
                </a:r>
              </a:p>
            </p:txBody>
          </p:sp>
          <p:sp>
            <p:nvSpPr>
              <p:cNvPr id="33802" name="Text Box 11"/>
              <p:cNvSpPr txBox="1">
                <a:spLocks noChangeArrowheads="1"/>
              </p:cNvSpPr>
              <p:nvPr/>
            </p:nvSpPr>
            <p:spPr bwMode="auto">
              <a:xfrm>
                <a:off x="3135" y="3838"/>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t>b</a:t>
                </a:r>
              </a:p>
            </p:txBody>
          </p:sp>
        </p:grpSp>
      </p:grpSp>
      <p:graphicFrame>
        <p:nvGraphicFramePr>
          <p:cNvPr id="33797" name="Object 14"/>
          <p:cNvGraphicFramePr>
            <a:graphicFrameLocks noChangeAspect="1"/>
          </p:cNvGraphicFramePr>
          <p:nvPr>
            <p:extLst>
              <p:ext uri="{D42A27DB-BD31-4B8C-83A1-F6EECF244321}">
                <p14:modId xmlns:p14="http://schemas.microsoft.com/office/powerpoint/2010/main" val="2389590742"/>
              </p:ext>
            </p:extLst>
          </p:nvPr>
        </p:nvGraphicFramePr>
        <p:xfrm>
          <a:off x="3275856" y="188640"/>
          <a:ext cx="5730564" cy="1129268"/>
        </p:xfrm>
        <a:graphic>
          <a:graphicData uri="http://schemas.openxmlformats.org/presentationml/2006/ole">
            <mc:AlternateContent xmlns:mc="http://schemas.openxmlformats.org/markup-compatibility/2006">
              <mc:Choice xmlns:v="urn:schemas-microsoft-com:vml" Requires="v">
                <p:oleObj spid="_x0000_s33830" name="公式" r:id="rId4" imgW="1981200" imgH="393700" progId="Equation.3">
                  <p:embed/>
                </p:oleObj>
              </mc:Choice>
              <mc:Fallback>
                <p:oleObj name="公式" r:id="rId4" imgW="1981200" imgH="39370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5856" y="188640"/>
                        <a:ext cx="5730564" cy="1129268"/>
                      </a:xfrm>
                      <a:prstGeom prst="rect">
                        <a:avLst/>
                      </a:prstGeom>
                      <a:noFill/>
                      <a:ln>
                        <a:noFill/>
                      </a:ln>
                      <a:extLst/>
                    </p:spPr>
                  </p:pic>
                </p:oleObj>
              </mc:Fallback>
            </mc:AlternateContent>
          </a:graphicData>
        </a:graphic>
      </p:graphicFrame>
      <p:grpSp>
        <p:nvGrpSpPr>
          <p:cNvPr id="15" name="Group 8"/>
          <p:cNvGrpSpPr>
            <a:grpSpLocks/>
          </p:cNvGrpSpPr>
          <p:nvPr/>
        </p:nvGrpSpPr>
        <p:grpSpPr bwMode="auto">
          <a:xfrm>
            <a:off x="827584" y="5691215"/>
            <a:ext cx="6927304" cy="1166785"/>
            <a:chOff x="288" y="3456"/>
            <a:chExt cx="4320" cy="738"/>
          </a:xfrm>
        </p:grpSpPr>
        <p:pic>
          <p:nvPicPr>
            <p:cNvPr id="16"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 y="3456"/>
              <a:ext cx="1152" cy="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6" y="3552"/>
              <a:ext cx="3072"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7043"/>
                                        </p:tgtEl>
                                        <p:attrNameLst>
                                          <p:attrName>style.visibility</p:attrName>
                                        </p:attrNameLst>
                                      </p:cBhvr>
                                      <p:to>
                                        <p:strVal val="visible"/>
                                      </p:to>
                                    </p:set>
                                    <p:anim calcmode="lin" valueType="num">
                                      <p:cBhvr additive="base">
                                        <p:cTn id="7" dur="500" fill="hold"/>
                                        <p:tgtEl>
                                          <p:spTgt spid="87043"/>
                                        </p:tgtEl>
                                        <p:attrNameLst>
                                          <p:attrName>ppt_x</p:attrName>
                                        </p:attrNameLst>
                                      </p:cBhvr>
                                      <p:tavLst>
                                        <p:tav tm="0">
                                          <p:val>
                                            <p:strVal val="0-#ppt_w/2"/>
                                          </p:val>
                                        </p:tav>
                                        <p:tav tm="100000">
                                          <p:val>
                                            <p:strVal val="#ppt_x"/>
                                          </p:val>
                                        </p:tav>
                                      </p:tavLst>
                                    </p:anim>
                                    <p:anim calcmode="lin" valueType="num">
                                      <p:cBhvr additive="base">
                                        <p:cTn id="8" dur="500" fill="hold"/>
                                        <p:tgtEl>
                                          <p:spTgt spid="870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8" name="Object 2"/>
          <p:cNvGraphicFramePr>
            <a:graphicFrameLocks noChangeAspect="1"/>
          </p:cNvGraphicFramePr>
          <p:nvPr/>
        </p:nvGraphicFramePr>
        <p:xfrm>
          <a:off x="685800" y="228600"/>
          <a:ext cx="5562600" cy="744538"/>
        </p:xfrm>
        <a:graphic>
          <a:graphicData uri="http://schemas.openxmlformats.org/presentationml/2006/ole">
            <mc:AlternateContent xmlns:mc="http://schemas.openxmlformats.org/markup-compatibility/2006">
              <mc:Choice xmlns:v="urn:schemas-microsoft-com:vml" Requires="v">
                <p:oleObj spid="_x0000_s34959" name="Equation" r:id="rId3" imgW="1981200" imgH="241300" progId="Equation.3">
                  <p:embed/>
                </p:oleObj>
              </mc:Choice>
              <mc:Fallback>
                <p:oleObj name="Equation" r:id="rId3" imgW="1981200" imgH="2413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28600"/>
                        <a:ext cx="55626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7" name="Object 3"/>
          <p:cNvGraphicFramePr>
            <a:graphicFrameLocks noChangeAspect="1"/>
          </p:cNvGraphicFramePr>
          <p:nvPr/>
        </p:nvGraphicFramePr>
        <p:xfrm>
          <a:off x="533400" y="1066800"/>
          <a:ext cx="1447800" cy="706438"/>
        </p:xfrm>
        <a:graphic>
          <a:graphicData uri="http://schemas.openxmlformats.org/presentationml/2006/ole">
            <mc:AlternateContent xmlns:mc="http://schemas.openxmlformats.org/markup-compatibility/2006">
              <mc:Choice xmlns:v="urn:schemas-microsoft-com:vml" Requires="v">
                <p:oleObj spid="_x0000_s34960" name="Equation" r:id="rId5" imgW="457002" imgH="203112" progId="Equation.3">
                  <p:embed/>
                </p:oleObj>
              </mc:Choice>
              <mc:Fallback>
                <p:oleObj name="Equation" r:id="rId5" imgW="457002" imgH="203112"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066800"/>
                        <a:ext cx="1447800" cy="706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8" name="Object 4"/>
          <p:cNvGraphicFramePr>
            <a:graphicFrameLocks noChangeAspect="1"/>
          </p:cNvGraphicFramePr>
          <p:nvPr/>
        </p:nvGraphicFramePr>
        <p:xfrm>
          <a:off x="2589213" y="1143000"/>
          <a:ext cx="6175375" cy="682625"/>
        </p:xfrm>
        <a:graphic>
          <a:graphicData uri="http://schemas.openxmlformats.org/presentationml/2006/ole">
            <mc:AlternateContent xmlns:mc="http://schemas.openxmlformats.org/markup-compatibility/2006">
              <mc:Choice xmlns:v="urn:schemas-microsoft-com:vml" Requires="v">
                <p:oleObj spid="_x0000_s34961" name="Equation" r:id="rId7" imgW="2273300" imgH="228600" progId="Equation.3">
                  <p:embed/>
                </p:oleObj>
              </mc:Choice>
              <mc:Fallback>
                <p:oleObj name="Equation" r:id="rId7" imgW="22733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89213" y="1143000"/>
                        <a:ext cx="6175375" cy="68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9" name="Object 5"/>
          <p:cNvGraphicFramePr>
            <a:graphicFrameLocks noChangeAspect="1"/>
          </p:cNvGraphicFramePr>
          <p:nvPr/>
        </p:nvGraphicFramePr>
        <p:xfrm>
          <a:off x="1066800" y="2057400"/>
          <a:ext cx="6519863" cy="1176338"/>
        </p:xfrm>
        <a:graphic>
          <a:graphicData uri="http://schemas.openxmlformats.org/presentationml/2006/ole">
            <mc:AlternateContent xmlns:mc="http://schemas.openxmlformats.org/markup-compatibility/2006">
              <mc:Choice xmlns:v="urn:schemas-microsoft-com:vml" Requires="v">
                <p:oleObj spid="_x0000_s34962" name="Equation" r:id="rId9" imgW="2400300" imgH="393700" progId="Equation.3">
                  <p:embed/>
                </p:oleObj>
              </mc:Choice>
              <mc:Fallback>
                <p:oleObj name="Equation" r:id="rId9" imgW="2400300" imgH="3937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800" y="2057400"/>
                        <a:ext cx="6519863" cy="1176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70" name="Object 6"/>
          <p:cNvGraphicFramePr>
            <a:graphicFrameLocks noChangeAspect="1"/>
          </p:cNvGraphicFramePr>
          <p:nvPr/>
        </p:nvGraphicFramePr>
        <p:xfrm>
          <a:off x="838200" y="3352800"/>
          <a:ext cx="7037388" cy="1176338"/>
        </p:xfrm>
        <a:graphic>
          <a:graphicData uri="http://schemas.openxmlformats.org/presentationml/2006/ole">
            <mc:AlternateContent xmlns:mc="http://schemas.openxmlformats.org/markup-compatibility/2006">
              <mc:Choice xmlns:v="urn:schemas-microsoft-com:vml" Requires="v">
                <p:oleObj spid="_x0000_s34963" name="Equation" r:id="rId11" imgW="2590800" imgH="393700" progId="Equation.3">
                  <p:embed/>
                </p:oleObj>
              </mc:Choice>
              <mc:Fallback>
                <p:oleObj name="Equation" r:id="rId11" imgW="2590800" imgH="3937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8200" y="3352800"/>
                        <a:ext cx="7037388" cy="1176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71" name="Object 7"/>
          <p:cNvGraphicFramePr>
            <a:graphicFrameLocks noChangeAspect="1"/>
          </p:cNvGraphicFramePr>
          <p:nvPr/>
        </p:nvGraphicFramePr>
        <p:xfrm>
          <a:off x="1981200" y="4572000"/>
          <a:ext cx="1725613" cy="682625"/>
        </p:xfrm>
        <a:graphic>
          <a:graphicData uri="http://schemas.openxmlformats.org/presentationml/2006/ole">
            <mc:AlternateContent xmlns:mc="http://schemas.openxmlformats.org/markup-compatibility/2006">
              <mc:Choice xmlns:v="urn:schemas-microsoft-com:vml" Requires="v">
                <p:oleObj spid="_x0000_s34964" name="Equation" r:id="rId13" imgW="634725" imgH="228501" progId="Equation.3">
                  <p:embed/>
                </p:oleObj>
              </mc:Choice>
              <mc:Fallback>
                <p:oleObj name="Equation" r:id="rId13" imgW="634725" imgH="228501"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81200" y="4572000"/>
                        <a:ext cx="1725613" cy="68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4824" name="Group 8"/>
          <p:cNvGrpSpPr>
            <a:grpSpLocks/>
          </p:cNvGrpSpPr>
          <p:nvPr/>
        </p:nvGrpSpPr>
        <p:grpSpPr bwMode="auto">
          <a:xfrm>
            <a:off x="381000" y="5257800"/>
            <a:ext cx="7467600" cy="1371600"/>
            <a:chOff x="288" y="3456"/>
            <a:chExt cx="4320" cy="738"/>
          </a:xfrm>
        </p:grpSpPr>
        <p:pic>
          <p:nvPicPr>
            <p:cNvPr id="34825" name="Picture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8" y="3456"/>
              <a:ext cx="1152" cy="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6" name="Picture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36" y="3552"/>
              <a:ext cx="3072"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8067"/>
                                        </p:tgtEl>
                                        <p:attrNameLst>
                                          <p:attrName>style.visibility</p:attrName>
                                        </p:attrNameLst>
                                      </p:cBhvr>
                                      <p:to>
                                        <p:strVal val="visible"/>
                                      </p:to>
                                    </p:set>
                                    <p:anim calcmode="lin" valueType="num">
                                      <p:cBhvr additive="base">
                                        <p:cTn id="7" dur="500" fill="hold"/>
                                        <p:tgtEl>
                                          <p:spTgt spid="88067"/>
                                        </p:tgtEl>
                                        <p:attrNameLst>
                                          <p:attrName>ppt_x</p:attrName>
                                        </p:attrNameLst>
                                      </p:cBhvr>
                                      <p:tavLst>
                                        <p:tav tm="0">
                                          <p:val>
                                            <p:strVal val="0-#ppt_w/2"/>
                                          </p:val>
                                        </p:tav>
                                        <p:tav tm="100000">
                                          <p:val>
                                            <p:strVal val="#ppt_x"/>
                                          </p:val>
                                        </p:tav>
                                      </p:tavLst>
                                    </p:anim>
                                    <p:anim calcmode="lin" valueType="num">
                                      <p:cBhvr additive="base">
                                        <p:cTn id="8" dur="500" fill="hold"/>
                                        <p:tgtEl>
                                          <p:spTgt spid="8806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8068"/>
                                        </p:tgtEl>
                                        <p:attrNameLst>
                                          <p:attrName>style.visibility</p:attrName>
                                        </p:attrNameLst>
                                      </p:cBhvr>
                                      <p:to>
                                        <p:strVal val="visible"/>
                                      </p:to>
                                    </p:set>
                                    <p:anim calcmode="lin" valueType="num">
                                      <p:cBhvr additive="base">
                                        <p:cTn id="13" dur="500" fill="hold"/>
                                        <p:tgtEl>
                                          <p:spTgt spid="88068"/>
                                        </p:tgtEl>
                                        <p:attrNameLst>
                                          <p:attrName>ppt_x</p:attrName>
                                        </p:attrNameLst>
                                      </p:cBhvr>
                                      <p:tavLst>
                                        <p:tav tm="0">
                                          <p:val>
                                            <p:strVal val="0-#ppt_w/2"/>
                                          </p:val>
                                        </p:tav>
                                        <p:tav tm="100000">
                                          <p:val>
                                            <p:strVal val="#ppt_x"/>
                                          </p:val>
                                        </p:tav>
                                      </p:tavLst>
                                    </p:anim>
                                    <p:anim calcmode="lin" valueType="num">
                                      <p:cBhvr additive="base">
                                        <p:cTn id="14" dur="500" fill="hold"/>
                                        <p:tgtEl>
                                          <p:spTgt spid="8806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8069"/>
                                        </p:tgtEl>
                                        <p:attrNameLst>
                                          <p:attrName>style.visibility</p:attrName>
                                        </p:attrNameLst>
                                      </p:cBhvr>
                                      <p:to>
                                        <p:strVal val="visible"/>
                                      </p:to>
                                    </p:set>
                                    <p:anim calcmode="lin" valueType="num">
                                      <p:cBhvr additive="base">
                                        <p:cTn id="19" dur="500" fill="hold"/>
                                        <p:tgtEl>
                                          <p:spTgt spid="88069"/>
                                        </p:tgtEl>
                                        <p:attrNameLst>
                                          <p:attrName>ppt_x</p:attrName>
                                        </p:attrNameLst>
                                      </p:cBhvr>
                                      <p:tavLst>
                                        <p:tav tm="0">
                                          <p:val>
                                            <p:strVal val="0-#ppt_w/2"/>
                                          </p:val>
                                        </p:tav>
                                        <p:tav tm="100000">
                                          <p:val>
                                            <p:strVal val="#ppt_x"/>
                                          </p:val>
                                        </p:tav>
                                      </p:tavLst>
                                    </p:anim>
                                    <p:anim calcmode="lin" valueType="num">
                                      <p:cBhvr additive="base">
                                        <p:cTn id="20" dur="500" fill="hold"/>
                                        <p:tgtEl>
                                          <p:spTgt spid="8806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88070"/>
                                        </p:tgtEl>
                                        <p:attrNameLst>
                                          <p:attrName>style.visibility</p:attrName>
                                        </p:attrNameLst>
                                      </p:cBhvr>
                                      <p:to>
                                        <p:strVal val="visible"/>
                                      </p:to>
                                    </p:set>
                                    <p:anim calcmode="lin" valueType="num">
                                      <p:cBhvr additive="base">
                                        <p:cTn id="25" dur="500" fill="hold"/>
                                        <p:tgtEl>
                                          <p:spTgt spid="88070"/>
                                        </p:tgtEl>
                                        <p:attrNameLst>
                                          <p:attrName>ppt_x</p:attrName>
                                        </p:attrNameLst>
                                      </p:cBhvr>
                                      <p:tavLst>
                                        <p:tav tm="0">
                                          <p:val>
                                            <p:strVal val="0-#ppt_w/2"/>
                                          </p:val>
                                        </p:tav>
                                        <p:tav tm="100000">
                                          <p:val>
                                            <p:strVal val="#ppt_x"/>
                                          </p:val>
                                        </p:tav>
                                      </p:tavLst>
                                    </p:anim>
                                    <p:anim calcmode="lin" valueType="num">
                                      <p:cBhvr additive="base">
                                        <p:cTn id="26" dur="500" fill="hold"/>
                                        <p:tgtEl>
                                          <p:spTgt spid="8807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88071"/>
                                        </p:tgtEl>
                                        <p:attrNameLst>
                                          <p:attrName>style.visibility</p:attrName>
                                        </p:attrNameLst>
                                      </p:cBhvr>
                                      <p:to>
                                        <p:strVal val="visible"/>
                                      </p:to>
                                    </p:set>
                                    <p:anim calcmode="lin" valueType="num">
                                      <p:cBhvr additive="base">
                                        <p:cTn id="31" dur="500" fill="hold"/>
                                        <p:tgtEl>
                                          <p:spTgt spid="88071"/>
                                        </p:tgtEl>
                                        <p:attrNameLst>
                                          <p:attrName>ppt_x</p:attrName>
                                        </p:attrNameLst>
                                      </p:cBhvr>
                                      <p:tavLst>
                                        <p:tav tm="0">
                                          <p:val>
                                            <p:strVal val="0-#ppt_w/2"/>
                                          </p:val>
                                        </p:tav>
                                        <p:tav tm="100000">
                                          <p:val>
                                            <p:strVal val="#ppt_x"/>
                                          </p:val>
                                        </p:tav>
                                      </p:tavLst>
                                    </p:anim>
                                    <p:anim calcmode="lin" valueType="num">
                                      <p:cBhvr additive="base">
                                        <p:cTn id="32" dur="500" fill="hold"/>
                                        <p:tgtEl>
                                          <p:spTgt spid="880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3"/>
          <p:cNvGraphicFramePr>
            <a:graphicFrameLocks noChangeAspect="1"/>
          </p:cNvGraphicFramePr>
          <p:nvPr/>
        </p:nvGraphicFramePr>
        <p:xfrm>
          <a:off x="1187450" y="5218113"/>
          <a:ext cx="5905500" cy="1163637"/>
        </p:xfrm>
        <a:graphic>
          <a:graphicData uri="http://schemas.openxmlformats.org/presentationml/2006/ole">
            <mc:AlternateContent xmlns:mc="http://schemas.openxmlformats.org/markup-compatibility/2006">
              <mc:Choice xmlns:v="urn:schemas-microsoft-com:vml" Requires="v">
                <p:oleObj spid="_x0000_s35876" name="公式" r:id="rId3" imgW="1981200" imgH="393700" progId="Equation.3">
                  <p:embed/>
                </p:oleObj>
              </mc:Choice>
              <mc:Fallback>
                <p:oleObj name="公式" r:id="rId3" imgW="1981200" imgH="393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5218113"/>
                        <a:ext cx="5905500"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5843" name="Group 6"/>
          <p:cNvGrpSpPr>
            <a:grpSpLocks/>
          </p:cNvGrpSpPr>
          <p:nvPr/>
        </p:nvGrpSpPr>
        <p:grpSpPr bwMode="auto">
          <a:xfrm>
            <a:off x="381000" y="3641725"/>
            <a:ext cx="7720013" cy="1443038"/>
            <a:chOff x="288" y="3456"/>
            <a:chExt cx="4320" cy="738"/>
          </a:xfrm>
        </p:grpSpPr>
        <p:pic>
          <p:nvPicPr>
            <p:cNvPr id="35852"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 y="3456"/>
              <a:ext cx="1152" cy="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53"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 y="3552"/>
              <a:ext cx="3072"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5844" name="Group 25"/>
          <p:cNvGrpSpPr>
            <a:grpSpLocks/>
          </p:cNvGrpSpPr>
          <p:nvPr/>
        </p:nvGrpSpPr>
        <p:grpSpPr bwMode="auto">
          <a:xfrm>
            <a:off x="2117725" y="115888"/>
            <a:ext cx="4759325" cy="3384550"/>
            <a:chOff x="1334" y="73"/>
            <a:chExt cx="2998" cy="2132"/>
          </a:xfrm>
        </p:grpSpPr>
        <p:pic>
          <p:nvPicPr>
            <p:cNvPr id="35845"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4" y="73"/>
              <a:ext cx="2998" cy="1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6" name="Text Box 17"/>
            <p:cNvSpPr txBox="1">
              <a:spLocks noChangeArrowheads="1"/>
            </p:cNvSpPr>
            <p:nvPr/>
          </p:nvSpPr>
          <p:spPr bwMode="auto">
            <a:xfrm>
              <a:off x="1638" y="1476"/>
              <a:ext cx="33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i="1">
                  <a:latin typeface="Times New Roman" pitchFamily="18" charset="0"/>
                </a:rPr>
                <a:t>x</a:t>
              </a:r>
              <a:r>
                <a:rPr lang="en-US" altLang="zh-CN" sz="3200" b="1" i="1" baseline="-25000">
                  <a:latin typeface="Times New Roman" pitchFamily="18" charset="0"/>
                </a:rPr>
                <a:t>0</a:t>
              </a:r>
            </a:p>
          </p:txBody>
        </p:sp>
        <p:sp>
          <p:nvSpPr>
            <p:cNvPr id="35847" name="Text Box 18"/>
            <p:cNvSpPr txBox="1">
              <a:spLocks noChangeArrowheads="1"/>
            </p:cNvSpPr>
            <p:nvPr/>
          </p:nvSpPr>
          <p:spPr bwMode="auto">
            <a:xfrm>
              <a:off x="2336" y="1506"/>
              <a:ext cx="85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i="1">
                  <a:latin typeface="Times New Roman" pitchFamily="18" charset="0"/>
                </a:rPr>
                <a:t>x</a:t>
              </a:r>
              <a:r>
                <a:rPr lang="en-US" altLang="zh-CN" sz="3200" b="1" i="1" baseline="-25000">
                  <a:latin typeface="Times New Roman" pitchFamily="18" charset="0"/>
                </a:rPr>
                <a:t>0</a:t>
              </a:r>
              <a:r>
                <a:rPr lang="en-US" altLang="zh-CN" sz="3200" b="1" i="1">
                  <a:latin typeface="Times New Roman" pitchFamily="18" charset="0"/>
                </a:rPr>
                <a:t>+</a:t>
              </a:r>
              <a:r>
                <a:rPr lang="en-US" altLang="zh-CN" sz="3200" b="1" i="1">
                  <a:latin typeface="Times New Roman" pitchFamily="18" charset="0"/>
                  <a:sym typeface="Symbol" pitchFamily="18" charset="2"/>
                </a:rPr>
                <a:t>x</a:t>
              </a:r>
              <a:endParaRPr lang="en-US" altLang="zh-CN" sz="3200" b="1" i="1">
                <a:latin typeface="Times New Roman" pitchFamily="18" charset="0"/>
              </a:endParaRPr>
            </a:p>
          </p:txBody>
        </p:sp>
        <p:sp>
          <p:nvSpPr>
            <p:cNvPr id="35848" name="Text Box 19"/>
            <p:cNvSpPr txBox="1">
              <a:spLocks noChangeArrowheads="1"/>
            </p:cNvSpPr>
            <p:nvPr/>
          </p:nvSpPr>
          <p:spPr bwMode="auto">
            <a:xfrm>
              <a:off x="3089" y="1476"/>
              <a:ext cx="97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i="1">
                  <a:latin typeface="Times New Roman" pitchFamily="18" charset="0"/>
                </a:rPr>
                <a:t>x</a:t>
              </a:r>
              <a:r>
                <a:rPr lang="en-US" altLang="zh-CN" sz="3200" b="1" i="1" baseline="-25000">
                  <a:latin typeface="Times New Roman" pitchFamily="18" charset="0"/>
                </a:rPr>
                <a:t>0</a:t>
              </a:r>
              <a:r>
                <a:rPr lang="en-US" altLang="zh-CN" sz="3200" b="1" i="1">
                  <a:latin typeface="Times New Roman" pitchFamily="18" charset="0"/>
                </a:rPr>
                <a:t>+2</a:t>
              </a:r>
              <a:r>
                <a:rPr lang="en-US" altLang="zh-CN" sz="3200" b="1" i="1">
                  <a:latin typeface="Times New Roman" pitchFamily="18" charset="0"/>
                  <a:sym typeface="Symbol" pitchFamily="18" charset="2"/>
                </a:rPr>
                <a:t>x</a:t>
              </a:r>
              <a:endParaRPr lang="en-US" altLang="zh-CN" sz="3200" b="1" i="1">
                <a:latin typeface="Times New Roman" pitchFamily="18" charset="0"/>
              </a:endParaRPr>
            </a:p>
          </p:txBody>
        </p:sp>
        <p:sp>
          <p:nvSpPr>
            <p:cNvPr id="35849" name="Text Box 21"/>
            <p:cNvSpPr txBox="1">
              <a:spLocks noChangeArrowheads="1"/>
            </p:cNvSpPr>
            <p:nvPr/>
          </p:nvSpPr>
          <p:spPr bwMode="auto">
            <a:xfrm>
              <a:off x="1655" y="1840"/>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t>a</a:t>
              </a:r>
            </a:p>
          </p:txBody>
        </p:sp>
        <p:sp>
          <p:nvSpPr>
            <p:cNvPr id="35850" name="Text Box 22"/>
            <p:cNvSpPr txBox="1">
              <a:spLocks noChangeArrowheads="1"/>
            </p:cNvSpPr>
            <p:nvPr/>
          </p:nvSpPr>
          <p:spPr bwMode="auto">
            <a:xfrm>
              <a:off x="2536" y="1840"/>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t>c</a:t>
              </a:r>
            </a:p>
          </p:txBody>
        </p:sp>
        <p:sp>
          <p:nvSpPr>
            <p:cNvPr id="35851" name="Text Box 23"/>
            <p:cNvSpPr txBox="1">
              <a:spLocks noChangeArrowheads="1"/>
            </p:cNvSpPr>
            <p:nvPr/>
          </p:nvSpPr>
          <p:spPr bwMode="auto">
            <a:xfrm>
              <a:off x="3303" y="1840"/>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t>b</a:t>
              </a:r>
            </a:p>
          </p:txBody>
        </p:sp>
      </p:grpSp>
    </p:spTree>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 y="44450"/>
            <a:ext cx="9001125" cy="561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4740" name="Rectangle 4"/>
          <p:cNvSpPr>
            <a:spLocks noChangeArrowheads="1"/>
          </p:cNvSpPr>
          <p:nvPr/>
        </p:nvSpPr>
        <p:spPr bwMode="auto">
          <a:xfrm>
            <a:off x="2124075" y="4724400"/>
            <a:ext cx="4319588" cy="865188"/>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244741" name="Line 5"/>
          <p:cNvSpPr>
            <a:spLocks noChangeShapeType="1"/>
          </p:cNvSpPr>
          <p:nvPr/>
        </p:nvSpPr>
        <p:spPr bwMode="auto">
          <a:xfrm>
            <a:off x="6804025" y="5445125"/>
            <a:ext cx="504825"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4740"/>
                                        </p:tgtEl>
                                        <p:attrNameLst>
                                          <p:attrName>style.visibility</p:attrName>
                                        </p:attrNameLst>
                                      </p:cBhvr>
                                      <p:to>
                                        <p:strVal val="visible"/>
                                      </p:to>
                                    </p:set>
                                    <p:anim calcmode="lin" valueType="num">
                                      <p:cBhvr additive="base">
                                        <p:cTn id="7" dur="500" fill="hold"/>
                                        <p:tgtEl>
                                          <p:spTgt spid="244740"/>
                                        </p:tgtEl>
                                        <p:attrNameLst>
                                          <p:attrName>ppt_x</p:attrName>
                                        </p:attrNameLst>
                                      </p:cBhvr>
                                      <p:tavLst>
                                        <p:tav tm="0">
                                          <p:val>
                                            <p:strVal val="#ppt_x"/>
                                          </p:val>
                                        </p:tav>
                                        <p:tav tm="100000">
                                          <p:val>
                                            <p:strVal val="#ppt_x"/>
                                          </p:val>
                                        </p:tav>
                                      </p:tavLst>
                                    </p:anim>
                                    <p:anim calcmode="lin" valueType="num">
                                      <p:cBhvr additive="base">
                                        <p:cTn id="8" dur="500" fill="hold"/>
                                        <p:tgtEl>
                                          <p:spTgt spid="24474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4741"/>
                                        </p:tgtEl>
                                        <p:attrNameLst>
                                          <p:attrName>style.visibility</p:attrName>
                                        </p:attrNameLst>
                                      </p:cBhvr>
                                      <p:to>
                                        <p:strVal val="visible"/>
                                      </p:to>
                                    </p:set>
                                    <p:anim calcmode="lin" valueType="num">
                                      <p:cBhvr additive="base">
                                        <p:cTn id="13" dur="500" fill="hold"/>
                                        <p:tgtEl>
                                          <p:spTgt spid="244741"/>
                                        </p:tgtEl>
                                        <p:attrNameLst>
                                          <p:attrName>ppt_x</p:attrName>
                                        </p:attrNameLst>
                                      </p:cBhvr>
                                      <p:tavLst>
                                        <p:tav tm="0">
                                          <p:val>
                                            <p:strVal val="#ppt_x"/>
                                          </p:val>
                                        </p:tav>
                                        <p:tav tm="100000">
                                          <p:val>
                                            <p:strVal val="#ppt_x"/>
                                          </p:val>
                                        </p:tav>
                                      </p:tavLst>
                                    </p:anim>
                                    <p:anim calcmode="lin" valueType="num">
                                      <p:cBhvr additive="base">
                                        <p:cTn id="14" dur="500" fill="hold"/>
                                        <p:tgtEl>
                                          <p:spTgt spid="2447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0" grpId="0" animBg="1"/>
      <p:bldP spid="24474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152400" y="381000"/>
            <a:ext cx="89154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spcBef>
                <a:spcPct val="50000"/>
              </a:spcBef>
            </a:pPr>
            <a:r>
              <a:rPr lang="en-US" altLang="zh-CN" sz="3200" b="1"/>
              <a:t>interpolation at one, two, and three equally spaced points on the interval [a, b] gives the first three </a:t>
            </a:r>
            <a:r>
              <a:rPr lang="en-US" altLang="zh-CN" sz="3200" b="1">
                <a:solidFill>
                  <a:srgbClr val="0000FF"/>
                </a:solidFill>
              </a:rPr>
              <a:t>Newton-Cotes quadrature rules</a:t>
            </a:r>
            <a:r>
              <a:rPr lang="en-US" altLang="zh-CN" sz="3200" b="1"/>
              <a:t>:</a:t>
            </a:r>
          </a:p>
        </p:txBody>
      </p:sp>
      <p:graphicFrame>
        <p:nvGraphicFramePr>
          <p:cNvPr id="94211" name="Object 3"/>
          <p:cNvGraphicFramePr>
            <a:graphicFrameLocks noChangeAspect="1"/>
          </p:cNvGraphicFramePr>
          <p:nvPr/>
        </p:nvGraphicFramePr>
        <p:xfrm>
          <a:off x="1763713" y="4508500"/>
          <a:ext cx="6369050" cy="1852613"/>
        </p:xfrm>
        <a:graphic>
          <a:graphicData uri="http://schemas.openxmlformats.org/presentationml/2006/ole">
            <mc:AlternateContent xmlns:mc="http://schemas.openxmlformats.org/markup-compatibility/2006">
              <mc:Choice xmlns:v="urn:schemas-microsoft-com:vml" Requires="v">
                <p:oleObj spid="_x0000_s37915" name="公式" r:id="rId3" imgW="1866090" imgH="583947" progId="Equation.3">
                  <p:embed/>
                </p:oleObj>
              </mc:Choice>
              <mc:Fallback>
                <p:oleObj name="公式" r:id="rId3" imgW="1866090" imgH="583947"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4508500"/>
                        <a:ext cx="6369050" cy="185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2" name="Rectangle 4"/>
          <p:cNvSpPr>
            <a:spLocks noChangeArrowheads="1"/>
          </p:cNvSpPr>
          <p:nvPr/>
        </p:nvSpPr>
        <p:spPr bwMode="auto">
          <a:xfrm>
            <a:off x="228600" y="2295525"/>
            <a:ext cx="89154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spcBef>
                <a:spcPct val="50000"/>
              </a:spcBef>
            </a:pPr>
            <a:r>
              <a:rPr lang="en-US" altLang="zh-CN" sz="3200">
                <a:latin typeface="CMR10" charset="0"/>
              </a:rPr>
              <a:t>1</a:t>
            </a:r>
            <a:r>
              <a:rPr lang="en-US" altLang="zh-CN" sz="3200"/>
              <a:t>. Interpolating the function value at the midpoint of the interval by a constant  gives a one-point quadrature rule known as the midpoint rule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4212"/>
                                        </p:tgtEl>
                                        <p:attrNameLst>
                                          <p:attrName>style.visibility</p:attrName>
                                        </p:attrNameLst>
                                      </p:cBhvr>
                                      <p:to>
                                        <p:strVal val="visible"/>
                                      </p:to>
                                    </p:set>
                                    <p:anim calcmode="lin" valueType="num">
                                      <p:cBhvr additive="base">
                                        <p:cTn id="7" dur="500" fill="hold"/>
                                        <p:tgtEl>
                                          <p:spTgt spid="94212"/>
                                        </p:tgtEl>
                                        <p:attrNameLst>
                                          <p:attrName>ppt_x</p:attrName>
                                        </p:attrNameLst>
                                      </p:cBhvr>
                                      <p:tavLst>
                                        <p:tav tm="0">
                                          <p:val>
                                            <p:strVal val="0-#ppt_w/2"/>
                                          </p:val>
                                        </p:tav>
                                        <p:tav tm="100000">
                                          <p:val>
                                            <p:strVal val="#ppt_x"/>
                                          </p:val>
                                        </p:tav>
                                      </p:tavLst>
                                    </p:anim>
                                    <p:anim calcmode="lin" valueType="num">
                                      <p:cBhvr additive="base">
                                        <p:cTn id="8" dur="500" fill="hold"/>
                                        <p:tgtEl>
                                          <p:spTgt spid="942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94211"/>
                                        </p:tgtEl>
                                        <p:attrNameLst>
                                          <p:attrName>style.visibility</p:attrName>
                                        </p:attrNameLst>
                                      </p:cBhvr>
                                      <p:to>
                                        <p:strVal val="visible"/>
                                      </p:to>
                                    </p:set>
                                    <p:anim calcmode="lin" valueType="num">
                                      <p:cBhvr additive="base">
                                        <p:cTn id="13" dur="500" fill="hold"/>
                                        <p:tgtEl>
                                          <p:spTgt spid="94211"/>
                                        </p:tgtEl>
                                        <p:attrNameLst>
                                          <p:attrName>ppt_x</p:attrName>
                                        </p:attrNameLst>
                                      </p:cBhvr>
                                      <p:tavLst>
                                        <p:tav tm="0">
                                          <p:val>
                                            <p:strVal val="0-#ppt_w/2"/>
                                          </p:val>
                                        </p:tav>
                                        <p:tav tm="100000">
                                          <p:val>
                                            <p:strVal val="#ppt_x"/>
                                          </p:val>
                                        </p:tav>
                                      </p:tavLst>
                                    </p:anim>
                                    <p:anim calcmode="lin" valueType="num">
                                      <p:cBhvr additive="base">
                                        <p:cTn id="14" dur="500" fill="hold"/>
                                        <p:tgtEl>
                                          <p:spTgt spid="942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152400" y="533400"/>
            <a:ext cx="86868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spcBef>
                <a:spcPct val="50000"/>
              </a:spcBef>
            </a:pPr>
            <a:r>
              <a:rPr lang="en-US" altLang="zh-CN" sz="3200"/>
              <a:t>2. Interpolating the function values at the two endpoints of the interval by a straight line (i.e., a polynomial of degree one) gives a two-point quadrature rule known as the trapezoid rule:</a:t>
            </a:r>
          </a:p>
        </p:txBody>
      </p:sp>
      <p:graphicFrame>
        <p:nvGraphicFramePr>
          <p:cNvPr id="95235" name="Object 3"/>
          <p:cNvGraphicFramePr>
            <a:graphicFrameLocks noChangeAspect="1"/>
          </p:cNvGraphicFramePr>
          <p:nvPr/>
        </p:nvGraphicFramePr>
        <p:xfrm>
          <a:off x="47625" y="4005263"/>
          <a:ext cx="9061450" cy="1531937"/>
        </p:xfrm>
        <a:graphic>
          <a:graphicData uri="http://schemas.openxmlformats.org/presentationml/2006/ole">
            <mc:AlternateContent xmlns:mc="http://schemas.openxmlformats.org/markup-compatibility/2006">
              <mc:Choice xmlns:v="urn:schemas-microsoft-com:vml" Requires="v">
                <p:oleObj spid="_x0000_s38938" name="公式" r:id="rId3" imgW="3098800" imgH="495300" progId="Equation.3">
                  <p:embed/>
                </p:oleObj>
              </mc:Choice>
              <mc:Fallback>
                <p:oleObj name="公式" r:id="rId3" imgW="3098800" imgH="495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 y="4005263"/>
                        <a:ext cx="9061450" cy="1531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5235"/>
                                        </p:tgtEl>
                                        <p:attrNameLst>
                                          <p:attrName>style.visibility</p:attrName>
                                        </p:attrNameLst>
                                      </p:cBhvr>
                                      <p:to>
                                        <p:strVal val="visible"/>
                                      </p:to>
                                    </p:set>
                                    <p:anim calcmode="lin" valueType="num">
                                      <p:cBhvr additive="base">
                                        <p:cTn id="7" dur="500" fill="hold"/>
                                        <p:tgtEl>
                                          <p:spTgt spid="95235"/>
                                        </p:tgtEl>
                                        <p:attrNameLst>
                                          <p:attrName>ppt_x</p:attrName>
                                        </p:attrNameLst>
                                      </p:cBhvr>
                                      <p:tavLst>
                                        <p:tav tm="0">
                                          <p:val>
                                            <p:strVal val="0-#ppt_w/2"/>
                                          </p:val>
                                        </p:tav>
                                        <p:tav tm="100000">
                                          <p:val>
                                            <p:strVal val="#ppt_x"/>
                                          </p:val>
                                        </p:tav>
                                      </p:tavLst>
                                    </p:anim>
                                    <p:anim calcmode="lin" valueType="num">
                                      <p:cBhvr additive="base">
                                        <p:cTn id="8" dur="500" fill="hold"/>
                                        <p:tgtEl>
                                          <p:spTgt spid="952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228600" y="762000"/>
            <a:ext cx="89154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spcBef>
                <a:spcPct val="50000"/>
              </a:spcBef>
            </a:pPr>
            <a:r>
              <a:rPr lang="en-US" altLang="zh-CN" sz="3200">
                <a:latin typeface="CMR10" charset="0"/>
              </a:rPr>
              <a:t>3. Interpolating the function values at three points (the two endpoints and the midpoint) by a quadratic polynomial gives a three-point quadrature rule known as Simpson’s rule:</a:t>
            </a:r>
            <a:endParaRPr lang="en-US" altLang="zh-CN" sz="3200" b="1">
              <a:latin typeface="CMR10" charset="0"/>
            </a:endParaRPr>
          </a:p>
        </p:txBody>
      </p:sp>
      <p:grpSp>
        <p:nvGrpSpPr>
          <p:cNvPr id="96259" name="Group 3"/>
          <p:cNvGrpSpPr>
            <a:grpSpLocks/>
          </p:cNvGrpSpPr>
          <p:nvPr/>
        </p:nvGrpSpPr>
        <p:grpSpPr bwMode="auto">
          <a:xfrm>
            <a:off x="250825" y="4781550"/>
            <a:ext cx="8001000" cy="1600200"/>
            <a:chOff x="336" y="2736"/>
            <a:chExt cx="4608" cy="784"/>
          </a:xfrm>
        </p:grpSpPr>
        <p:pic>
          <p:nvPicPr>
            <p:cNvPr id="3994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 y="2736"/>
              <a:ext cx="1224" cy="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94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 y="2832"/>
              <a:ext cx="326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39940" name="Object 6"/>
          <p:cNvGraphicFramePr>
            <a:graphicFrameLocks noChangeAspect="1"/>
          </p:cNvGraphicFramePr>
          <p:nvPr/>
        </p:nvGraphicFramePr>
        <p:xfrm>
          <a:off x="77788" y="3463925"/>
          <a:ext cx="8958262" cy="1404938"/>
        </p:xfrm>
        <a:graphic>
          <a:graphicData uri="http://schemas.openxmlformats.org/presentationml/2006/ole">
            <mc:AlternateContent xmlns:mc="http://schemas.openxmlformats.org/markup-compatibility/2006">
              <mc:Choice xmlns:v="urn:schemas-microsoft-com:vml" Requires="v">
                <p:oleObj spid="_x0000_s39965" name="公式" r:id="rId5" imgW="2489200" imgH="393700" progId="Equation.3">
                  <p:embed/>
                </p:oleObj>
              </mc:Choice>
              <mc:Fallback>
                <p:oleObj name="公式" r:id="rId5" imgW="2489200" imgH="3937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88" y="3463925"/>
                        <a:ext cx="8958262"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6259"/>
                                        </p:tgtEl>
                                        <p:attrNameLst>
                                          <p:attrName>style.visibility</p:attrName>
                                        </p:attrNameLst>
                                      </p:cBhvr>
                                      <p:to>
                                        <p:strVal val="visible"/>
                                      </p:to>
                                    </p:set>
                                    <p:anim calcmode="lin" valueType="num">
                                      <p:cBhvr additive="base">
                                        <p:cTn id="7" dur="500" fill="hold"/>
                                        <p:tgtEl>
                                          <p:spTgt spid="96259"/>
                                        </p:tgtEl>
                                        <p:attrNameLst>
                                          <p:attrName>ppt_x</p:attrName>
                                        </p:attrNameLst>
                                      </p:cBhvr>
                                      <p:tavLst>
                                        <p:tav tm="0">
                                          <p:val>
                                            <p:strVal val="0-#ppt_w/2"/>
                                          </p:val>
                                        </p:tav>
                                        <p:tav tm="100000">
                                          <p:val>
                                            <p:strVal val="#ppt_x"/>
                                          </p:val>
                                        </p:tav>
                                      </p:tavLst>
                                    </p:anim>
                                    <p:anim calcmode="lin" valueType="num">
                                      <p:cBhvr additive="base">
                                        <p:cTn id="8" dur="500" fill="hold"/>
                                        <p:tgtEl>
                                          <p:spTgt spid="962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152400" y="228600"/>
            <a:ext cx="3244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Trapezium rule</a:t>
            </a:r>
          </a:p>
        </p:txBody>
      </p:sp>
      <p:sp>
        <p:nvSpPr>
          <p:cNvPr id="97283" name="Rectangle 3"/>
          <p:cNvSpPr>
            <a:spLocks noChangeArrowheads="1"/>
          </p:cNvSpPr>
          <p:nvPr/>
        </p:nvSpPr>
        <p:spPr bwMode="auto">
          <a:xfrm>
            <a:off x="304800" y="2362200"/>
            <a:ext cx="318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Mid-point rule</a:t>
            </a:r>
          </a:p>
        </p:txBody>
      </p:sp>
      <p:sp>
        <p:nvSpPr>
          <p:cNvPr id="97284" name="Text Box 4"/>
          <p:cNvSpPr txBox="1">
            <a:spLocks noChangeArrowheads="1"/>
          </p:cNvSpPr>
          <p:nvPr/>
        </p:nvSpPr>
        <p:spPr bwMode="auto">
          <a:xfrm>
            <a:off x="0" y="3789363"/>
            <a:ext cx="3206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Simpson’s rule</a:t>
            </a:r>
          </a:p>
        </p:txBody>
      </p:sp>
      <p:graphicFrame>
        <p:nvGraphicFramePr>
          <p:cNvPr id="97285" name="Object 5"/>
          <p:cNvGraphicFramePr>
            <a:graphicFrameLocks noChangeAspect="1"/>
          </p:cNvGraphicFramePr>
          <p:nvPr/>
        </p:nvGraphicFramePr>
        <p:xfrm>
          <a:off x="3886200" y="2514600"/>
          <a:ext cx="4724400" cy="1547813"/>
        </p:xfrm>
        <a:graphic>
          <a:graphicData uri="http://schemas.openxmlformats.org/presentationml/2006/ole">
            <mc:AlternateContent xmlns:mc="http://schemas.openxmlformats.org/markup-compatibility/2006">
              <mc:Choice xmlns:v="urn:schemas-microsoft-com:vml" Requires="v">
                <p:oleObj spid="_x0000_s41037" name="Equation" r:id="rId3" imgW="1295400" imgH="584200" progId="Equation.3">
                  <p:embed/>
                </p:oleObj>
              </mc:Choice>
              <mc:Fallback>
                <p:oleObj name="Equation" r:id="rId3" imgW="1295400" imgH="584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2514600"/>
                        <a:ext cx="4724400" cy="1547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286" name="Object 6"/>
          <p:cNvGraphicFramePr>
            <a:graphicFrameLocks noChangeAspect="1"/>
          </p:cNvGraphicFramePr>
          <p:nvPr/>
        </p:nvGraphicFramePr>
        <p:xfrm>
          <a:off x="2209800" y="838200"/>
          <a:ext cx="6743700" cy="1384300"/>
        </p:xfrm>
        <a:graphic>
          <a:graphicData uri="http://schemas.openxmlformats.org/presentationml/2006/ole">
            <mc:AlternateContent xmlns:mc="http://schemas.openxmlformats.org/markup-compatibility/2006">
              <mc:Choice xmlns:v="urn:schemas-microsoft-com:vml" Requires="v">
                <p:oleObj spid="_x0000_s41038" name="Equation" r:id="rId5" imgW="2552700" imgH="495300" progId="Equation.3">
                  <p:embed/>
                </p:oleObj>
              </mc:Choice>
              <mc:Fallback>
                <p:oleObj name="Equation" r:id="rId5" imgW="2552700" imgH="4953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838200"/>
                        <a:ext cx="6743700" cy="138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7287" name="Group 7"/>
          <p:cNvGrpSpPr>
            <a:grpSpLocks/>
          </p:cNvGrpSpPr>
          <p:nvPr/>
        </p:nvGrpSpPr>
        <p:grpSpPr bwMode="auto">
          <a:xfrm>
            <a:off x="827088" y="5486400"/>
            <a:ext cx="7239000" cy="1371600"/>
            <a:chOff x="1056" y="2880"/>
            <a:chExt cx="4320" cy="738"/>
          </a:xfrm>
        </p:grpSpPr>
        <p:pic>
          <p:nvPicPr>
            <p:cNvPr id="40969"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6" y="2880"/>
              <a:ext cx="1152" cy="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7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04" y="2976"/>
              <a:ext cx="3072"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97290" name="Object 10"/>
          <p:cNvGraphicFramePr>
            <a:graphicFrameLocks noChangeAspect="1"/>
          </p:cNvGraphicFramePr>
          <p:nvPr/>
        </p:nvGraphicFramePr>
        <p:xfrm>
          <a:off x="1403350" y="4365625"/>
          <a:ext cx="7129463" cy="1404938"/>
        </p:xfrm>
        <a:graphic>
          <a:graphicData uri="http://schemas.openxmlformats.org/presentationml/2006/ole">
            <mc:AlternateContent xmlns:mc="http://schemas.openxmlformats.org/markup-compatibility/2006">
              <mc:Choice xmlns:v="urn:schemas-microsoft-com:vml" Requires="v">
                <p:oleObj spid="_x0000_s41039" name="公式" r:id="rId9" imgW="1981200" imgH="393700" progId="Equation.3">
                  <p:embed/>
                </p:oleObj>
              </mc:Choice>
              <mc:Fallback>
                <p:oleObj name="公式" r:id="rId9" imgW="1981200" imgH="3937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3350" y="4365625"/>
                        <a:ext cx="7129463"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7286"/>
                                        </p:tgtEl>
                                        <p:attrNameLst>
                                          <p:attrName>style.visibility</p:attrName>
                                        </p:attrNameLst>
                                      </p:cBhvr>
                                      <p:to>
                                        <p:strVal val="visible"/>
                                      </p:to>
                                    </p:set>
                                    <p:anim calcmode="lin" valueType="num">
                                      <p:cBhvr additive="base">
                                        <p:cTn id="7" dur="500" fill="hold"/>
                                        <p:tgtEl>
                                          <p:spTgt spid="97286"/>
                                        </p:tgtEl>
                                        <p:attrNameLst>
                                          <p:attrName>ppt_x</p:attrName>
                                        </p:attrNameLst>
                                      </p:cBhvr>
                                      <p:tavLst>
                                        <p:tav tm="0">
                                          <p:val>
                                            <p:strVal val="0-#ppt_w/2"/>
                                          </p:val>
                                        </p:tav>
                                        <p:tav tm="100000">
                                          <p:val>
                                            <p:strVal val="#ppt_x"/>
                                          </p:val>
                                        </p:tav>
                                      </p:tavLst>
                                    </p:anim>
                                    <p:anim calcmode="lin" valueType="num">
                                      <p:cBhvr additive="base">
                                        <p:cTn id="8" dur="500" fill="hold"/>
                                        <p:tgtEl>
                                          <p:spTgt spid="9728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7283"/>
                                        </p:tgtEl>
                                        <p:attrNameLst>
                                          <p:attrName>style.visibility</p:attrName>
                                        </p:attrNameLst>
                                      </p:cBhvr>
                                      <p:to>
                                        <p:strVal val="visible"/>
                                      </p:to>
                                    </p:set>
                                    <p:anim calcmode="lin" valueType="num">
                                      <p:cBhvr additive="base">
                                        <p:cTn id="13" dur="500" fill="hold"/>
                                        <p:tgtEl>
                                          <p:spTgt spid="97283"/>
                                        </p:tgtEl>
                                        <p:attrNameLst>
                                          <p:attrName>ppt_x</p:attrName>
                                        </p:attrNameLst>
                                      </p:cBhvr>
                                      <p:tavLst>
                                        <p:tav tm="0">
                                          <p:val>
                                            <p:strVal val="0-#ppt_w/2"/>
                                          </p:val>
                                        </p:tav>
                                        <p:tav tm="100000">
                                          <p:val>
                                            <p:strVal val="#ppt_x"/>
                                          </p:val>
                                        </p:tav>
                                      </p:tavLst>
                                    </p:anim>
                                    <p:anim calcmode="lin" valueType="num">
                                      <p:cBhvr additive="base">
                                        <p:cTn id="14" dur="500" fill="hold"/>
                                        <p:tgtEl>
                                          <p:spTgt spid="9728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97285"/>
                                        </p:tgtEl>
                                        <p:attrNameLst>
                                          <p:attrName>style.visibility</p:attrName>
                                        </p:attrNameLst>
                                      </p:cBhvr>
                                      <p:to>
                                        <p:strVal val="visible"/>
                                      </p:to>
                                    </p:set>
                                    <p:anim calcmode="lin" valueType="num">
                                      <p:cBhvr additive="base">
                                        <p:cTn id="19" dur="500" fill="hold"/>
                                        <p:tgtEl>
                                          <p:spTgt spid="97285"/>
                                        </p:tgtEl>
                                        <p:attrNameLst>
                                          <p:attrName>ppt_x</p:attrName>
                                        </p:attrNameLst>
                                      </p:cBhvr>
                                      <p:tavLst>
                                        <p:tav tm="0">
                                          <p:val>
                                            <p:strVal val="0-#ppt_w/2"/>
                                          </p:val>
                                        </p:tav>
                                        <p:tav tm="100000">
                                          <p:val>
                                            <p:strVal val="#ppt_x"/>
                                          </p:val>
                                        </p:tav>
                                      </p:tavLst>
                                    </p:anim>
                                    <p:anim calcmode="lin" valueType="num">
                                      <p:cBhvr additive="base">
                                        <p:cTn id="20" dur="500" fill="hold"/>
                                        <p:tgtEl>
                                          <p:spTgt spid="9728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7284"/>
                                        </p:tgtEl>
                                        <p:attrNameLst>
                                          <p:attrName>style.visibility</p:attrName>
                                        </p:attrNameLst>
                                      </p:cBhvr>
                                      <p:to>
                                        <p:strVal val="visible"/>
                                      </p:to>
                                    </p:set>
                                    <p:anim calcmode="lin" valueType="num">
                                      <p:cBhvr additive="base">
                                        <p:cTn id="25" dur="500" fill="hold"/>
                                        <p:tgtEl>
                                          <p:spTgt spid="97284"/>
                                        </p:tgtEl>
                                        <p:attrNameLst>
                                          <p:attrName>ppt_x</p:attrName>
                                        </p:attrNameLst>
                                      </p:cBhvr>
                                      <p:tavLst>
                                        <p:tav tm="0">
                                          <p:val>
                                            <p:strVal val="0-#ppt_w/2"/>
                                          </p:val>
                                        </p:tav>
                                        <p:tav tm="100000">
                                          <p:val>
                                            <p:strVal val="#ppt_x"/>
                                          </p:val>
                                        </p:tav>
                                      </p:tavLst>
                                    </p:anim>
                                    <p:anim calcmode="lin" valueType="num">
                                      <p:cBhvr additive="base">
                                        <p:cTn id="26" dur="500" fill="hold"/>
                                        <p:tgtEl>
                                          <p:spTgt spid="9728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97290"/>
                                        </p:tgtEl>
                                        <p:attrNameLst>
                                          <p:attrName>style.visibility</p:attrName>
                                        </p:attrNameLst>
                                      </p:cBhvr>
                                      <p:to>
                                        <p:strVal val="visible"/>
                                      </p:to>
                                    </p:set>
                                    <p:anim calcmode="lin" valueType="num">
                                      <p:cBhvr additive="base">
                                        <p:cTn id="31" dur="500" fill="hold"/>
                                        <p:tgtEl>
                                          <p:spTgt spid="97290"/>
                                        </p:tgtEl>
                                        <p:attrNameLst>
                                          <p:attrName>ppt_x</p:attrName>
                                        </p:attrNameLst>
                                      </p:cBhvr>
                                      <p:tavLst>
                                        <p:tav tm="0">
                                          <p:val>
                                            <p:strVal val="#ppt_x"/>
                                          </p:val>
                                        </p:tav>
                                        <p:tav tm="100000">
                                          <p:val>
                                            <p:strVal val="#ppt_x"/>
                                          </p:val>
                                        </p:tav>
                                      </p:tavLst>
                                    </p:anim>
                                    <p:anim calcmode="lin" valueType="num">
                                      <p:cBhvr additive="base">
                                        <p:cTn id="32" dur="500" fill="hold"/>
                                        <p:tgtEl>
                                          <p:spTgt spid="97290"/>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97287"/>
                                        </p:tgtEl>
                                        <p:attrNameLst>
                                          <p:attrName>style.visibility</p:attrName>
                                        </p:attrNameLst>
                                      </p:cBhvr>
                                      <p:to>
                                        <p:strVal val="visible"/>
                                      </p:to>
                                    </p:set>
                                    <p:anim calcmode="lin" valueType="num">
                                      <p:cBhvr additive="base">
                                        <p:cTn id="37" dur="500" fill="hold"/>
                                        <p:tgtEl>
                                          <p:spTgt spid="97287"/>
                                        </p:tgtEl>
                                        <p:attrNameLst>
                                          <p:attrName>ppt_x</p:attrName>
                                        </p:attrNameLst>
                                      </p:cBhvr>
                                      <p:tavLst>
                                        <p:tav tm="0">
                                          <p:val>
                                            <p:strVal val="0-#ppt_w/2"/>
                                          </p:val>
                                        </p:tav>
                                        <p:tav tm="100000">
                                          <p:val>
                                            <p:strVal val="#ppt_x"/>
                                          </p:val>
                                        </p:tav>
                                      </p:tavLst>
                                    </p:anim>
                                    <p:anim calcmode="lin" valueType="num">
                                      <p:cBhvr additive="base">
                                        <p:cTn id="38" dur="500" fill="hold"/>
                                        <p:tgtEl>
                                          <p:spTgt spid="972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autoUpdateAnimBg="0"/>
      <p:bldP spid="97284"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152400" y="76200"/>
            <a:ext cx="3244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Trapezium rule</a:t>
            </a:r>
          </a:p>
        </p:txBody>
      </p:sp>
      <p:sp>
        <p:nvSpPr>
          <p:cNvPr id="41987" name="Rectangle 3"/>
          <p:cNvSpPr>
            <a:spLocks noChangeArrowheads="1"/>
          </p:cNvSpPr>
          <p:nvPr/>
        </p:nvSpPr>
        <p:spPr bwMode="auto">
          <a:xfrm>
            <a:off x="76200" y="1797050"/>
            <a:ext cx="318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Mid-point rule</a:t>
            </a:r>
          </a:p>
        </p:txBody>
      </p:sp>
      <p:sp>
        <p:nvSpPr>
          <p:cNvPr id="41988" name="Text Box 4"/>
          <p:cNvSpPr txBox="1">
            <a:spLocks noChangeArrowheads="1"/>
          </p:cNvSpPr>
          <p:nvPr/>
        </p:nvSpPr>
        <p:spPr bwMode="auto">
          <a:xfrm>
            <a:off x="228600" y="3505200"/>
            <a:ext cx="3206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Simpson’s rule</a:t>
            </a:r>
          </a:p>
        </p:txBody>
      </p:sp>
      <p:graphicFrame>
        <p:nvGraphicFramePr>
          <p:cNvPr id="41989" name="Object 5"/>
          <p:cNvGraphicFramePr>
            <a:graphicFrameLocks noChangeAspect="1"/>
          </p:cNvGraphicFramePr>
          <p:nvPr/>
        </p:nvGraphicFramePr>
        <p:xfrm>
          <a:off x="1476375" y="2133600"/>
          <a:ext cx="7321550" cy="1371600"/>
        </p:xfrm>
        <a:graphic>
          <a:graphicData uri="http://schemas.openxmlformats.org/presentationml/2006/ole">
            <mc:AlternateContent xmlns:mc="http://schemas.openxmlformats.org/markup-compatibility/2006">
              <mc:Choice xmlns:v="urn:schemas-microsoft-com:vml" Requires="v">
                <p:oleObj spid="_x0000_s42085" name="Equation" r:id="rId3" imgW="2145369" imgH="495085" progId="Equation.3">
                  <p:embed/>
                </p:oleObj>
              </mc:Choice>
              <mc:Fallback>
                <p:oleObj name="Equation" r:id="rId3" imgW="2145369" imgH="49508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133600"/>
                        <a:ext cx="7321550"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0" name="Object 6"/>
          <p:cNvGraphicFramePr>
            <a:graphicFrameLocks noChangeAspect="1"/>
          </p:cNvGraphicFramePr>
          <p:nvPr/>
        </p:nvGraphicFramePr>
        <p:xfrm>
          <a:off x="1963738" y="533400"/>
          <a:ext cx="7213600" cy="1384300"/>
        </p:xfrm>
        <a:graphic>
          <a:graphicData uri="http://schemas.openxmlformats.org/presentationml/2006/ole">
            <mc:AlternateContent xmlns:mc="http://schemas.openxmlformats.org/markup-compatibility/2006">
              <mc:Choice xmlns:v="urn:schemas-microsoft-com:vml" Requires="v">
                <p:oleObj spid="_x0000_s42086" name="Equation" r:id="rId5" imgW="2730500" imgH="495300" progId="Equation.3">
                  <p:embed/>
                </p:oleObj>
              </mc:Choice>
              <mc:Fallback>
                <p:oleObj name="Equation" r:id="rId5" imgW="2730500" imgH="4953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3738" y="533400"/>
                        <a:ext cx="7213600" cy="138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21" name="Object 17"/>
          <p:cNvGraphicFramePr>
            <a:graphicFrameLocks noChangeAspect="1"/>
          </p:cNvGraphicFramePr>
          <p:nvPr/>
        </p:nvGraphicFramePr>
        <p:xfrm>
          <a:off x="1187450" y="5589588"/>
          <a:ext cx="5281613" cy="974725"/>
        </p:xfrm>
        <a:graphic>
          <a:graphicData uri="http://schemas.openxmlformats.org/presentationml/2006/ole">
            <mc:AlternateContent xmlns:mc="http://schemas.openxmlformats.org/markup-compatibility/2006">
              <mc:Choice xmlns:v="urn:schemas-microsoft-com:vml" Requires="v">
                <p:oleObj spid="_x0000_s42087" name="公式" r:id="rId7" imgW="1548728" imgH="393529" progId="Equation.3">
                  <p:embed/>
                </p:oleObj>
              </mc:Choice>
              <mc:Fallback>
                <p:oleObj name="公式" r:id="rId7" imgW="1548728" imgH="393529"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5589588"/>
                        <a:ext cx="5281613"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2" name="Object 18"/>
          <p:cNvGraphicFramePr>
            <a:graphicFrameLocks noChangeAspect="1"/>
          </p:cNvGraphicFramePr>
          <p:nvPr/>
        </p:nvGraphicFramePr>
        <p:xfrm>
          <a:off x="395288" y="4221163"/>
          <a:ext cx="8567737" cy="1371600"/>
        </p:xfrm>
        <a:graphic>
          <a:graphicData uri="http://schemas.openxmlformats.org/presentationml/2006/ole">
            <mc:AlternateContent xmlns:mc="http://schemas.openxmlformats.org/markup-compatibility/2006">
              <mc:Choice xmlns:v="urn:schemas-microsoft-com:vml" Requires="v">
                <p:oleObj spid="_x0000_s42088" name="公式" r:id="rId9" imgW="3467100" imgH="495300" progId="Equation.3">
                  <p:embed/>
                </p:oleObj>
              </mc:Choice>
              <mc:Fallback>
                <p:oleObj name="公式" r:id="rId9" imgW="3467100" imgH="49530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4221163"/>
                        <a:ext cx="8567737"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8321"/>
                                        </p:tgtEl>
                                        <p:attrNameLst>
                                          <p:attrName>style.visibility</p:attrName>
                                        </p:attrNameLst>
                                      </p:cBhvr>
                                      <p:to>
                                        <p:strVal val="visible"/>
                                      </p:to>
                                    </p:set>
                                    <p:anim calcmode="lin" valueType="num">
                                      <p:cBhvr additive="base">
                                        <p:cTn id="7" dur="500" fill="hold"/>
                                        <p:tgtEl>
                                          <p:spTgt spid="98321"/>
                                        </p:tgtEl>
                                        <p:attrNameLst>
                                          <p:attrName>ppt_x</p:attrName>
                                        </p:attrNameLst>
                                      </p:cBhvr>
                                      <p:tavLst>
                                        <p:tav tm="0">
                                          <p:val>
                                            <p:strVal val="#ppt_x"/>
                                          </p:val>
                                        </p:tav>
                                        <p:tav tm="100000">
                                          <p:val>
                                            <p:strVal val="#ppt_x"/>
                                          </p:val>
                                        </p:tav>
                                      </p:tavLst>
                                    </p:anim>
                                    <p:anim calcmode="lin" valueType="num">
                                      <p:cBhvr additive="base">
                                        <p:cTn id="8" dur="500" fill="hold"/>
                                        <p:tgtEl>
                                          <p:spTgt spid="983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228600" y="228600"/>
            <a:ext cx="48768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spcBef>
                <a:spcPct val="50000"/>
              </a:spcBef>
            </a:pPr>
            <a:r>
              <a:rPr lang="en-US" altLang="zh-CN" sz="3200">
                <a:latin typeface="CMTI10" charset="0"/>
              </a:rPr>
              <a:t>Example</a:t>
            </a:r>
            <a:endParaRPr lang="en-US" altLang="zh-CN" sz="3200" b="1">
              <a:latin typeface="CMR10" charset="0"/>
            </a:endParaRPr>
          </a:p>
        </p:txBody>
      </p:sp>
      <p:sp>
        <p:nvSpPr>
          <p:cNvPr id="43011" name="Rectangle 3"/>
          <p:cNvSpPr>
            <a:spLocks noChangeArrowheads="1"/>
          </p:cNvSpPr>
          <p:nvPr/>
        </p:nvSpPr>
        <p:spPr bwMode="auto">
          <a:xfrm>
            <a:off x="228600" y="836712"/>
            <a:ext cx="89154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spcBef>
                <a:spcPct val="50000"/>
              </a:spcBef>
            </a:pPr>
            <a:r>
              <a:rPr lang="en-US" altLang="zh-CN" sz="3200" dirty="0">
                <a:latin typeface="CMR10" charset="0"/>
              </a:rPr>
              <a:t>Error Estimation. We illustrate error estimation by computing the approximate value for the integral</a:t>
            </a:r>
            <a:endParaRPr lang="en-US" altLang="zh-CN" sz="3200" b="1" dirty="0">
              <a:latin typeface="CMR10" charset="0"/>
            </a:endParaRPr>
          </a:p>
        </p:txBody>
      </p:sp>
      <p:sp>
        <p:nvSpPr>
          <p:cNvPr id="43012" name="Rectangle 4"/>
          <p:cNvSpPr>
            <a:spLocks noChangeArrowheads="1"/>
          </p:cNvSpPr>
          <p:nvPr/>
        </p:nvSpPr>
        <p:spPr bwMode="auto">
          <a:xfrm>
            <a:off x="533400" y="4114800"/>
            <a:ext cx="3244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Trapezium rule</a:t>
            </a:r>
          </a:p>
        </p:txBody>
      </p:sp>
      <p:sp>
        <p:nvSpPr>
          <p:cNvPr id="43013" name="Rectangle 5"/>
          <p:cNvSpPr>
            <a:spLocks noChangeArrowheads="1"/>
          </p:cNvSpPr>
          <p:nvPr/>
        </p:nvSpPr>
        <p:spPr bwMode="auto">
          <a:xfrm>
            <a:off x="539750" y="4941888"/>
            <a:ext cx="318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Mid-point rule</a:t>
            </a:r>
          </a:p>
        </p:txBody>
      </p:sp>
      <p:sp>
        <p:nvSpPr>
          <p:cNvPr id="43014" name="Text Box 6"/>
          <p:cNvSpPr txBox="1">
            <a:spLocks noChangeArrowheads="1"/>
          </p:cNvSpPr>
          <p:nvPr/>
        </p:nvSpPr>
        <p:spPr bwMode="auto">
          <a:xfrm>
            <a:off x="539750" y="5805488"/>
            <a:ext cx="3206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Simpson’s rule</a:t>
            </a:r>
          </a:p>
        </p:txBody>
      </p:sp>
      <p:graphicFrame>
        <p:nvGraphicFramePr>
          <p:cNvPr id="43015" name="Object 7"/>
          <p:cNvGraphicFramePr>
            <a:graphicFrameLocks noChangeAspect="1"/>
          </p:cNvGraphicFramePr>
          <p:nvPr>
            <p:extLst>
              <p:ext uri="{D42A27DB-BD31-4B8C-83A1-F6EECF244321}">
                <p14:modId xmlns:p14="http://schemas.microsoft.com/office/powerpoint/2010/main" val="644777069"/>
              </p:ext>
            </p:extLst>
          </p:nvPr>
        </p:nvGraphicFramePr>
        <p:xfrm>
          <a:off x="3381375" y="2198787"/>
          <a:ext cx="3135313" cy="1376363"/>
        </p:xfrm>
        <a:graphic>
          <a:graphicData uri="http://schemas.openxmlformats.org/presentationml/2006/ole">
            <mc:AlternateContent xmlns:mc="http://schemas.openxmlformats.org/markup-compatibility/2006">
              <mc:Choice xmlns:v="urn:schemas-microsoft-com:vml" Requires="v">
                <p:oleObj spid="_x0000_s43066" name="公式" r:id="rId3" imgW="457200" imgH="330200" progId="Equation.3">
                  <p:embed/>
                </p:oleObj>
              </mc:Choice>
              <mc:Fallback>
                <p:oleObj name="公式" r:id="rId3" imgW="457200" imgH="3302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1375" y="2198787"/>
                        <a:ext cx="3135313" cy="1376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1583720256"/>
              </p:ext>
            </p:extLst>
          </p:nvPr>
        </p:nvGraphicFramePr>
        <p:xfrm>
          <a:off x="4139952" y="3713482"/>
          <a:ext cx="4896544" cy="939654"/>
        </p:xfrm>
        <a:graphic>
          <a:graphicData uri="http://schemas.openxmlformats.org/presentationml/2006/ole">
            <mc:AlternateContent xmlns:mc="http://schemas.openxmlformats.org/markup-compatibility/2006">
              <mc:Choice xmlns:v="urn:schemas-microsoft-com:vml" Requires="v">
                <p:oleObj spid="_x0000_s43067" name="Equation" r:id="rId5" imgW="2730500" imgH="495300" progId="Equation.3">
                  <p:embed/>
                </p:oleObj>
              </mc:Choice>
              <mc:Fallback>
                <p:oleObj name="Equation" r:id="rId5" imgW="2730500" imgH="4953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9952" y="3713482"/>
                        <a:ext cx="4896544" cy="939654"/>
                      </a:xfrm>
                      <a:prstGeom prst="rect">
                        <a:avLst/>
                      </a:prstGeom>
                      <a:noFill/>
                      <a:ln>
                        <a:noFill/>
                      </a:ln>
                      <a:effec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673595130"/>
              </p:ext>
            </p:extLst>
          </p:nvPr>
        </p:nvGraphicFramePr>
        <p:xfrm>
          <a:off x="4067944" y="4868334"/>
          <a:ext cx="4969820" cy="931033"/>
        </p:xfrm>
        <a:graphic>
          <a:graphicData uri="http://schemas.openxmlformats.org/presentationml/2006/ole">
            <mc:AlternateContent xmlns:mc="http://schemas.openxmlformats.org/markup-compatibility/2006">
              <mc:Choice xmlns:v="urn:schemas-microsoft-com:vml" Requires="v">
                <p:oleObj spid="_x0000_s43068" name="Equation" r:id="rId7" imgW="2145369" imgH="495085" progId="Equation.3">
                  <p:embed/>
                </p:oleObj>
              </mc:Choice>
              <mc:Fallback>
                <p:oleObj name="Equation" r:id="rId7" imgW="2145369" imgH="49508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67944" y="4868334"/>
                        <a:ext cx="4969820" cy="931033"/>
                      </a:xfrm>
                      <a:prstGeom prst="rect">
                        <a:avLst/>
                      </a:prstGeom>
                      <a:noFill/>
                      <a:ln>
                        <a:noFill/>
                      </a:ln>
                      <a:effec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56844480"/>
              </p:ext>
            </p:extLst>
          </p:nvPr>
        </p:nvGraphicFramePr>
        <p:xfrm>
          <a:off x="4427984" y="5935715"/>
          <a:ext cx="3585124" cy="661637"/>
        </p:xfrm>
        <a:graphic>
          <a:graphicData uri="http://schemas.openxmlformats.org/presentationml/2006/ole">
            <mc:AlternateContent xmlns:mc="http://schemas.openxmlformats.org/markup-compatibility/2006">
              <mc:Choice xmlns:v="urn:schemas-microsoft-com:vml" Requires="v">
                <p:oleObj spid="_x0000_s43069" name="公式" r:id="rId9" imgW="1548728" imgH="393529" progId="Equation.3">
                  <p:embed/>
                </p:oleObj>
              </mc:Choice>
              <mc:Fallback>
                <p:oleObj name="公式" r:id="rId9" imgW="1548728" imgH="393529"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27984" y="5935715"/>
                        <a:ext cx="3585124" cy="661637"/>
                      </a:xfrm>
                      <a:prstGeom prst="rect">
                        <a:avLst/>
                      </a:prstGeom>
                      <a:noFill/>
                      <a:ln>
                        <a:noFill/>
                      </a:ln>
                      <a:effectLst/>
                    </p:spPr>
                  </p:pic>
                </p:oleObj>
              </mc:Fallback>
            </mc:AlternateContent>
          </a:graphicData>
        </a:graphic>
      </p:graphicFrame>
    </p:spTree>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ChangeArrowheads="1"/>
          </p:cNvSpPr>
          <p:nvPr/>
        </p:nvSpPr>
        <p:spPr bwMode="auto">
          <a:xfrm>
            <a:off x="381000" y="1981200"/>
            <a:ext cx="3244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Trapezium rule</a:t>
            </a:r>
          </a:p>
        </p:txBody>
      </p:sp>
      <p:sp>
        <p:nvSpPr>
          <p:cNvPr id="44035" name="Rectangle 4"/>
          <p:cNvSpPr>
            <a:spLocks noChangeArrowheads="1"/>
          </p:cNvSpPr>
          <p:nvPr/>
        </p:nvSpPr>
        <p:spPr bwMode="auto">
          <a:xfrm>
            <a:off x="381000" y="3073400"/>
            <a:ext cx="318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Mid-point rule</a:t>
            </a:r>
          </a:p>
        </p:txBody>
      </p:sp>
      <p:pic>
        <p:nvPicPr>
          <p:cNvPr id="4403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905000"/>
            <a:ext cx="4197350" cy="102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3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175" y="3152775"/>
            <a:ext cx="4537075" cy="1204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038" name="Text Box 9"/>
          <p:cNvSpPr txBox="1">
            <a:spLocks noChangeArrowheads="1"/>
          </p:cNvSpPr>
          <p:nvPr/>
        </p:nvSpPr>
        <p:spPr bwMode="auto">
          <a:xfrm>
            <a:off x="250825" y="4594225"/>
            <a:ext cx="8686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latin typeface="Times New Roman" pitchFamily="18" charset="0"/>
              </a:rPr>
              <a:t>from which we conclude that the error in M is about 1/12, and the error in T is about −1/6.</a:t>
            </a:r>
          </a:p>
        </p:txBody>
      </p:sp>
      <p:graphicFrame>
        <p:nvGraphicFramePr>
          <p:cNvPr id="44039" name="Object 11"/>
          <p:cNvGraphicFramePr>
            <a:graphicFrameLocks noChangeAspect="1"/>
          </p:cNvGraphicFramePr>
          <p:nvPr/>
        </p:nvGraphicFramePr>
        <p:xfrm>
          <a:off x="755650" y="260350"/>
          <a:ext cx="4535488" cy="1508125"/>
        </p:xfrm>
        <a:graphic>
          <a:graphicData uri="http://schemas.openxmlformats.org/presentationml/2006/ole">
            <mc:AlternateContent xmlns:mc="http://schemas.openxmlformats.org/markup-compatibility/2006">
              <mc:Choice xmlns:v="urn:schemas-microsoft-com:vml" Requires="v">
                <p:oleObj spid="_x0000_s44062" name="公式" r:id="rId5" imgW="1180588" imgH="393529" progId="Equation.3">
                  <p:embed/>
                </p:oleObj>
              </mc:Choice>
              <mc:Fallback>
                <p:oleObj name="公式" r:id="rId5" imgW="1180588" imgH="393529"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260350"/>
                        <a:ext cx="4535488" cy="150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788" name="Object 4"/>
          <p:cNvGraphicFramePr>
            <a:graphicFrameLocks noChangeAspect="1"/>
          </p:cNvGraphicFramePr>
          <p:nvPr/>
        </p:nvGraphicFramePr>
        <p:xfrm>
          <a:off x="611188" y="1700213"/>
          <a:ext cx="7129462" cy="1404937"/>
        </p:xfrm>
        <a:graphic>
          <a:graphicData uri="http://schemas.openxmlformats.org/presentationml/2006/ole">
            <mc:AlternateContent xmlns:mc="http://schemas.openxmlformats.org/markup-compatibility/2006">
              <mc:Choice xmlns:v="urn:schemas-microsoft-com:vml" Requires="v">
                <p:oleObj spid="_x0000_s45129" name="公式" r:id="rId3" imgW="1981200" imgH="393700" progId="Equation.3">
                  <p:embed/>
                </p:oleObj>
              </mc:Choice>
              <mc:Fallback>
                <p:oleObj name="公式" r:id="rId3" imgW="19812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700213"/>
                        <a:ext cx="7129462" cy="140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59" name="Text Box 5"/>
          <p:cNvSpPr txBox="1">
            <a:spLocks noChangeArrowheads="1"/>
          </p:cNvSpPr>
          <p:nvPr/>
        </p:nvSpPr>
        <p:spPr bwMode="auto">
          <a:xfrm>
            <a:off x="323850" y="476250"/>
            <a:ext cx="3206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Simpson’s rule</a:t>
            </a:r>
          </a:p>
        </p:txBody>
      </p:sp>
      <p:pic>
        <p:nvPicPr>
          <p:cNvPr id="11879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5084763"/>
            <a:ext cx="7416800" cy="1116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8791" name="Object 7"/>
          <p:cNvGraphicFramePr>
            <a:graphicFrameLocks noChangeAspect="1"/>
          </p:cNvGraphicFramePr>
          <p:nvPr/>
        </p:nvGraphicFramePr>
        <p:xfrm>
          <a:off x="1116013" y="3213100"/>
          <a:ext cx="5164137" cy="1404938"/>
        </p:xfrm>
        <a:graphic>
          <a:graphicData uri="http://schemas.openxmlformats.org/presentationml/2006/ole">
            <mc:AlternateContent xmlns:mc="http://schemas.openxmlformats.org/markup-compatibility/2006">
              <mc:Choice xmlns:v="urn:schemas-microsoft-com:vml" Requires="v">
                <p:oleObj spid="_x0000_s45130" name="公式" r:id="rId6" imgW="1435100" imgH="393700" progId="Equation.3">
                  <p:embed/>
                </p:oleObj>
              </mc:Choice>
              <mc:Fallback>
                <p:oleObj name="公式" r:id="rId6" imgW="1435100" imgH="3937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3213100"/>
                        <a:ext cx="5164137"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2" name="Object 9"/>
          <p:cNvGraphicFramePr>
            <a:graphicFrameLocks noChangeAspect="1"/>
          </p:cNvGraphicFramePr>
          <p:nvPr/>
        </p:nvGraphicFramePr>
        <p:xfrm>
          <a:off x="3781425" y="188913"/>
          <a:ext cx="4535488" cy="1508125"/>
        </p:xfrm>
        <a:graphic>
          <a:graphicData uri="http://schemas.openxmlformats.org/presentationml/2006/ole">
            <mc:AlternateContent xmlns:mc="http://schemas.openxmlformats.org/markup-compatibility/2006">
              <mc:Choice xmlns:v="urn:schemas-microsoft-com:vml" Requires="v">
                <p:oleObj spid="_x0000_s45131" name="公式" r:id="rId8" imgW="1180588" imgH="393529" progId="Equation.3">
                  <p:embed/>
                </p:oleObj>
              </mc:Choice>
              <mc:Fallback>
                <p:oleObj name="公式" r:id="rId8" imgW="1180588" imgH="393529"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81425" y="188913"/>
                        <a:ext cx="4535488" cy="150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8788"/>
                                        </p:tgtEl>
                                        <p:attrNameLst>
                                          <p:attrName>style.visibility</p:attrName>
                                        </p:attrNameLst>
                                      </p:cBhvr>
                                      <p:to>
                                        <p:strVal val="visible"/>
                                      </p:to>
                                    </p:set>
                                    <p:anim calcmode="lin" valueType="num">
                                      <p:cBhvr additive="base">
                                        <p:cTn id="7" dur="500" fill="hold"/>
                                        <p:tgtEl>
                                          <p:spTgt spid="118788"/>
                                        </p:tgtEl>
                                        <p:attrNameLst>
                                          <p:attrName>ppt_x</p:attrName>
                                        </p:attrNameLst>
                                      </p:cBhvr>
                                      <p:tavLst>
                                        <p:tav tm="0">
                                          <p:val>
                                            <p:strVal val="#ppt_x"/>
                                          </p:val>
                                        </p:tav>
                                        <p:tav tm="100000">
                                          <p:val>
                                            <p:strVal val="#ppt_x"/>
                                          </p:val>
                                        </p:tav>
                                      </p:tavLst>
                                    </p:anim>
                                    <p:anim calcmode="lin" valueType="num">
                                      <p:cBhvr additive="base">
                                        <p:cTn id="8" dur="500" fill="hold"/>
                                        <p:tgtEl>
                                          <p:spTgt spid="11878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8791"/>
                                        </p:tgtEl>
                                        <p:attrNameLst>
                                          <p:attrName>style.visibility</p:attrName>
                                        </p:attrNameLst>
                                      </p:cBhvr>
                                      <p:to>
                                        <p:strVal val="visible"/>
                                      </p:to>
                                    </p:set>
                                    <p:anim calcmode="lin" valueType="num">
                                      <p:cBhvr additive="base">
                                        <p:cTn id="13" dur="500" fill="hold"/>
                                        <p:tgtEl>
                                          <p:spTgt spid="118791"/>
                                        </p:tgtEl>
                                        <p:attrNameLst>
                                          <p:attrName>ppt_x</p:attrName>
                                        </p:attrNameLst>
                                      </p:cBhvr>
                                      <p:tavLst>
                                        <p:tav tm="0">
                                          <p:val>
                                            <p:strVal val="#ppt_x"/>
                                          </p:val>
                                        </p:tav>
                                        <p:tav tm="100000">
                                          <p:val>
                                            <p:strVal val="#ppt_x"/>
                                          </p:val>
                                        </p:tav>
                                      </p:tavLst>
                                    </p:anim>
                                    <p:anim calcmode="lin" valueType="num">
                                      <p:cBhvr additive="base">
                                        <p:cTn id="14" dur="500" fill="hold"/>
                                        <p:tgtEl>
                                          <p:spTgt spid="11879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18790"/>
                                        </p:tgtEl>
                                        <p:attrNameLst>
                                          <p:attrName>style.visibility</p:attrName>
                                        </p:attrNameLst>
                                      </p:cBhvr>
                                      <p:to>
                                        <p:strVal val="visible"/>
                                      </p:to>
                                    </p:set>
                                    <p:anim calcmode="lin" valueType="num">
                                      <p:cBhvr additive="base">
                                        <p:cTn id="19" dur="500" fill="hold"/>
                                        <p:tgtEl>
                                          <p:spTgt spid="118790"/>
                                        </p:tgtEl>
                                        <p:attrNameLst>
                                          <p:attrName>ppt_x</p:attrName>
                                        </p:attrNameLst>
                                      </p:cBhvr>
                                      <p:tavLst>
                                        <p:tav tm="0">
                                          <p:val>
                                            <p:strVal val="0-#ppt_w/2"/>
                                          </p:val>
                                        </p:tav>
                                        <p:tav tm="100000">
                                          <p:val>
                                            <p:strVal val="#ppt_x"/>
                                          </p:val>
                                        </p:tav>
                                      </p:tavLst>
                                    </p:anim>
                                    <p:anim calcmode="lin" valueType="num">
                                      <p:cBhvr additive="base">
                                        <p:cTn id="20" dur="500" fill="hold"/>
                                        <p:tgtEl>
                                          <p:spTgt spid="1187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33400"/>
            <a:ext cx="82296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6375" y="2093913"/>
            <a:ext cx="3311525" cy="155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Text Box 5"/>
          <p:cNvSpPr txBox="1">
            <a:spLocks noChangeArrowheads="1"/>
          </p:cNvSpPr>
          <p:nvPr/>
        </p:nvSpPr>
        <p:spPr bwMode="auto">
          <a:xfrm>
            <a:off x="179388" y="700088"/>
            <a:ext cx="8756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As an example, we approximate the integral</a:t>
            </a:r>
          </a:p>
        </p:txBody>
      </p:sp>
      <p:sp>
        <p:nvSpPr>
          <p:cNvPr id="47108" name="Rectangle 6"/>
          <p:cNvSpPr>
            <a:spLocks noChangeArrowheads="1"/>
          </p:cNvSpPr>
          <p:nvPr/>
        </p:nvSpPr>
        <p:spPr bwMode="auto">
          <a:xfrm>
            <a:off x="533400" y="4114800"/>
            <a:ext cx="3244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Trapezium rule</a:t>
            </a:r>
          </a:p>
        </p:txBody>
      </p:sp>
      <p:sp>
        <p:nvSpPr>
          <p:cNvPr id="47109" name="Rectangle 7"/>
          <p:cNvSpPr>
            <a:spLocks noChangeArrowheads="1"/>
          </p:cNvSpPr>
          <p:nvPr/>
        </p:nvSpPr>
        <p:spPr bwMode="auto">
          <a:xfrm>
            <a:off x="539750" y="4941888"/>
            <a:ext cx="318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Mid-point rule</a:t>
            </a:r>
          </a:p>
        </p:txBody>
      </p:sp>
      <p:sp>
        <p:nvSpPr>
          <p:cNvPr id="47110" name="Text Box 8"/>
          <p:cNvSpPr txBox="1">
            <a:spLocks noChangeArrowheads="1"/>
          </p:cNvSpPr>
          <p:nvPr/>
        </p:nvSpPr>
        <p:spPr bwMode="auto">
          <a:xfrm>
            <a:off x="539750" y="5805488"/>
            <a:ext cx="3206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Simpson’s rule</a:t>
            </a:r>
          </a:p>
        </p:txBody>
      </p:sp>
    </p:spTree>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850" y="0"/>
            <a:ext cx="2160588" cy="126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1" name="Rectangle 4"/>
          <p:cNvSpPr>
            <a:spLocks noChangeArrowheads="1"/>
          </p:cNvSpPr>
          <p:nvPr/>
        </p:nvSpPr>
        <p:spPr bwMode="auto">
          <a:xfrm>
            <a:off x="2555875" y="333375"/>
            <a:ext cx="1928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精确值为 </a:t>
            </a:r>
          </a:p>
        </p:txBody>
      </p:sp>
      <p:pic>
        <p:nvPicPr>
          <p:cNvPr id="11264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0113" y="3500438"/>
            <a:ext cx="7634287"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6" name="Rectangle 6"/>
          <p:cNvSpPr>
            <a:spLocks noChangeArrowheads="1"/>
          </p:cNvSpPr>
          <p:nvPr/>
        </p:nvSpPr>
        <p:spPr bwMode="auto">
          <a:xfrm>
            <a:off x="323850" y="2852738"/>
            <a:ext cx="1928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梯形公式 </a:t>
            </a:r>
          </a:p>
        </p:txBody>
      </p:sp>
      <p:pic>
        <p:nvPicPr>
          <p:cNvPr id="112647"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9750" y="5516563"/>
            <a:ext cx="8388350"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8" name="Text Box 8"/>
          <p:cNvSpPr txBox="1">
            <a:spLocks noChangeArrowheads="1"/>
          </p:cNvSpPr>
          <p:nvPr/>
        </p:nvSpPr>
        <p:spPr bwMode="auto">
          <a:xfrm>
            <a:off x="323850" y="4724400"/>
            <a:ext cx="3206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Simpson’s rule</a:t>
            </a:r>
          </a:p>
        </p:txBody>
      </p:sp>
      <p:sp>
        <p:nvSpPr>
          <p:cNvPr id="112649" name="Rectangle 9"/>
          <p:cNvSpPr>
            <a:spLocks noChangeArrowheads="1"/>
          </p:cNvSpPr>
          <p:nvPr/>
        </p:nvSpPr>
        <p:spPr bwMode="auto">
          <a:xfrm>
            <a:off x="250825" y="1341438"/>
            <a:ext cx="318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Mid-point rule</a:t>
            </a:r>
          </a:p>
        </p:txBody>
      </p:sp>
      <p:graphicFrame>
        <p:nvGraphicFramePr>
          <p:cNvPr id="48137" name="Object 14"/>
          <p:cNvGraphicFramePr>
            <a:graphicFrameLocks noChangeAspect="1"/>
          </p:cNvGraphicFramePr>
          <p:nvPr/>
        </p:nvGraphicFramePr>
        <p:xfrm>
          <a:off x="2124075" y="2060575"/>
          <a:ext cx="6804025" cy="669925"/>
        </p:xfrm>
        <a:graphic>
          <a:graphicData uri="http://schemas.openxmlformats.org/presentationml/2006/ole">
            <mc:AlternateContent xmlns:mc="http://schemas.openxmlformats.org/markup-compatibility/2006">
              <mc:Choice xmlns:v="urn:schemas-microsoft-com:vml" Requires="v">
                <p:oleObj spid="_x0000_s48183" name="公式" r:id="rId6" imgW="2362200" imgH="292100" progId="Equation.3">
                  <p:embed/>
                </p:oleObj>
              </mc:Choice>
              <mc:Fallback>
                <p:oleObj name="公式" r:id="rId6" imgW="2362200" imgH="292100"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4075" y="2060575"/>
                        <a:ext cx="6804025" cy="669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8" name="Object 30"/>
          <p:cNvGraphicFramePr>
            <a:graphicFrameLocks noChangeAspect="1"/>
          </p:cNvGraphicFramePr>
          <p:nvPr/>
        </p:nvGraphicFramePr>
        <p:xfrm>
          <a:off x="4572000" y="260350"/>
          <a:ext cx="4254500" cy="1252538"/>
        </p:xfrm>
        <a:graphic>
          <a:graphicData uri="http://schemas.openxmlformats.org/presentationml/2006/ole">
            <mc:AlternateContent xmlns:mc="http://schemas.openxmlformats.org/markup-compatibility/2006">
              <mc:Choice xmlns:v="urn:schemas-microsoft-com:vml" Requires="v">
                <p:oleObj spid="_x0000_s48184" name="公式" r:id="rId8" imgW="1333500" imgH="393700" progId="Equation.3">
                  <p:embed/>
                </p:oleObj>
              </mc:Choice>
              <mc:Fallback>
                <p:oleObj name="公式" r:id="rId8" imgW="1333500" imgH="393700" progId="Equation.3">
                  <p:embed/>
                  <p:pic>
                    <p:nvPicPr>
                      <p:cNvPr id="0"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260350"/>
                        <a:ext cx="4254500" cy="1252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46"/>
                                        </p:tgtEl>
                                        <p:attrNameLst>
                                          <p:attrName>style.visibility</p:attrName>
                                        </p:attrNameLst>
                                      </p:cBhvr>
                                      <p:to>
                                        <p:strVal val="visible"/>
                                      </p:to>
                                    </p:set>
                                    <p:anim calcmode="lin" valueType="num">
                                      <p:cBhvr additive="base">
                                        <p:cTn id="7" dur="500" fill="hold"/>
                                        <p:tgtEl>
                                          <p:spTgt spid="112646"/>
                                        </p:tgtEl>
                                        <p:attrNameLst>
                                          <p:attrName>ppt_x</p:attrName>
                                        </p:attrNameLst>
                                      </p:cBhvr>
                                      <p:tavLst>
                                        <p:tav tm="0">
                                          <p:val>
                                            <p:strVal val="#ppt_x"/>
                                          </p:val>
                                        </p:tav>
                                        <p:tav tm="100000">
                                          <p:val>
                                            <p:strVal val="#ppt_x"/>
                                          </p:val>
                                        </p:tav>
                                      </p:tavLst>
                                    </p:anim>
                                    <p:anim calcmode="lin" valueType="num">
                                      <p:cBhvr additive="base">
                                        <p:cTn id="8" dur="500" fill="hold"/>
                                        <p:tgtEl>
                                          <p:spTgt spid="11264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2645"/>
                                        </p:tgtEl>
                                        <p:attrNameLst>
                                          <p:attrName>style.visibility</p:attrName>
                                        </p:attrNameLst>
                                      </p:cBhvr>
                                      <p:to>
                                        <p:strVal val="visible"/>
                                      </p:to>
                                    </p:set>
                                    <p:anim calcmode="lin" valueType="num">
                                      <p:cBhvr additive="base">
                                        <p:cTn id="11" dur="500" fill="hold"/>
                                        <p:tgtEl>
                                          <p:spTgt spid="112645"/>
                                        </p:tgtEl>
                                        <p:attrNameLst>
                                          <p:attrName>ppt_x</p:attrName>
                                        </p:attrNameLst>
                                      </p:cBhvr>
                                      <p:tavLst>
                                        <p:tav tm="0">
                                          <p:val>
                                            <p:strVal val="#ppt_x"/>
                                          </p:val>
                                        </p:tav>
                                        <p:tav tm="100000">
                                          <p:val>
                                            <p:strVal val="#ppt_x"/>
                                          </p:val>
                                        </p:tav>
                                      </p:tavLst>
                                    </p:anim>
                                    <p:anim calcmode="lin" valueType="num">
                                      <p:cBhvr additive="base">
                                        <p:cTn id="12" dur="500" fill="hold"/>
                                        <p:tgtEl>
                                          <p:spTgt spid="112645"/>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2648"/>
                                        </p:tgtEl>
                                        <p:attrNameLst>
                                          <p:attrName>style.visibility</p:attrName>
                                        </p:attrNameLst>
                                      </p:cBhvr>
                                      <p:to>
                                        <p:strVal val="visible"/>
                                      </p:to>
                                    </p:set>
                                    <p:anim calcmode="lin" valueType="num">
                                      <p:cBhvr additive="base">
                                        <p:cTn id="17" dur="500" fill="hold"/>
                                        <p:tgtEl>
                                          <p:spTgt spid="112648"/>
                                        </p:tgtEl>
                                        <p:attrNameLst>
                                          <p:attrName>ppt_x</p:attrName>
                                        </p:attrNameLst>
                                      </p:cBhvr>
                                      <p:tavLst>
                                        <p:tav tm="0">
                                          <p:val>
                                            <p:strVal val="#ppt_x"/>
                                          </p:val>
                                        </p:tav>
                                        <p:tav tm="100000">
                                          <p:val>
                                            <p:strVal val="#ppt_x"/>
                                          </p:val>
                                        </p:tav>
                                      </p:tavLst>
                                    </p:anim>
                                    <p:anim calcmode="lin" valueType="num">
                                      <p:cBhvr additive="base">
                                        <p:cTn id="18" dur="500" fill="hold"/>
                                        <p:tgtEl>
                                          <p:spTgt spid="11264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2647"/>
                                        </p:tgtEl>
                                        <p:attrNameLst>
                                          <p:attrName>style.visibility</p:attrName>
                                        </p:attrNameLst>
                                      </p:cBhvr>
                                      <p:to>
                                        <p:strVal val="visible"/>
                                      </p:to>
                                    </p:set>
                                    <p:anim calcmode="lin" valueType="num">
                                      <p:cBhvr additive="base">
                                        <p:cTn id="21" dur="500" fill="hold"/>
                                        <p:tgtEl>
                                          <p:spTgt spid="112647"/>
                                        </p:tgtEl>
                                        <p:attrNameLst>
                                          <p:attrName>ppt_x</p:attrName>
                                        </p:attrNameLst>
                                      </p:cBhvr>
                                      <p:tavLst>
                                        <p:tav tm="0">
                                          <p:val>
                                            <p:strVal val="#ppt_x"/>
                                          </p:val>
                                        </p:tav>
                                        <p:tav tm="100000">
                                          <p:val>
                                            <p:strVal val="#ppt_x"/>
                                          </p:val>
                                        </p:tav>
                                      </p:tavLst>
                                    </p:anim>
                                    <p:anim calcmode="lin" valueType="num">
                                      <p:cBhvr additive="base">
                                        <p:cTn id="22" dur="500" fill="hold"/>
                                        <p:tgtEl>
                                          <p:spTgt spid="112647"/>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12649"/>
                                        </p:tgtEl>
                                        <p:attrNameLst>
                                          <p:attrName>style.visibility</p:attrName>
                                        </p:attrNameLst>
                                      </p:cBhvr>
                                      <p:to>
                                        <p:strVal val="visible"/>
                                      </p:to>
                                    </p:set>
                                    <p:anim calcmode="lin" valueType="num">
                                      <p:cBhvr additive="base">
                                        <p:cTn id="27" dur="500" fill="hold"/>
                                        <p:tgtEl>
                                          <p:spTgt spid="112649"/>
                                        </p:tgtEl>
                                        <p:attrNameLst>
                                          <p:attrName>ppt_x</p:attrName>
                                        </p:attrNameLst>
                                      </p:cBhvr>
                                      <p:tavLst>
                                        <p:tav tm="0">
                                          <p:val>
                                            <p:strVal val="0-#ppt_w/2"/>
                                          </p:val>
                                        </p:tav>
                                        <p:tav tm="100000">
                                          <p:val>
                                            <p:strVal val="#ppt_x"/>
                                          </p:val>
                                        </p:tav>
                                      </p:tavLst>
                                    </p:anim>
                                    <p:anim calcmode="lin" valueType="num">
                                      <p:cBhvr additive="base">
                                        <p:cTn id="28" dur="500" fill="hold"/>
                                        <p:tgtEl>
                                          <p:spTgt spid="1126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6" grpId="0"/>
      <p:bldP spid="112648" grpId="0"/>
      <p:bldP spid="112649"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14400"/>
            <a:ext cx="3429000" cy="1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55" name="Rectangle 6"/>
          <p:cNvSpPr>
            <a:spLocks noChangeArrowheads="1"/>
          </p:cNvSpPr>
          <p:nvPr/>
        </p:nvSpPr>
        <p:spPr bwMode="auto">
          <a:xfrm>
            <a:off x="533400" y="3860800"/>
            <a:ext cx="3244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Trapezium rule</a:t>
            </a:r>
          </a:p>
        </p:txBody>
      </p:sp>
      <p:sp>
        <p:nvSpPr>
          <p:cNvPr id="49156" name="Rectangle 7"/>
          <p:cNvSpPr>
            <a:spLocks noChangeArrowheads="1"/>
          </p:cNvSpPr>
          <p:nvPr/>
        </p:nvSpPr>
        <p:spPr bwMode="auto">
          <a:xfrm>
            <a:off x="539750" y="4687888"/>
            <a:ext cx="318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Mid-point rule</a:t>
            </a:r>
          </a:p>
        </p:txBody>
      </p:sp>
      <p:sp>
        <p:nvSpPr>
          <p:cNvPr id="49157" name="Text Box 8"/>
          <p:cNvSpPr txBox="1">
            <a:spLocks noChangeArrowheads="1"/>
          </p:cNvSpPr>
          <p:nvPr/>
        </p:nvSpPr>
        <p:spPr bwMode="auto">
          <a:xfrm>
            <a:off x="539750" y="5551488"/>
            <a:ext cx="3206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 Simpson’s rule</a:t>
            </a:r>
          </a:p>
        </p:txBody>
      </p:sp>
    </p:spTree>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14400"/>
            <a:ext cx="3429000" cy="1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7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362200"/>
            <a:ext cx="7772400"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124200"/>
            <a:ext cx="8001000" cy="92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1"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4114800"/>
            <a:ext cx="8763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182" name="Text Box 7"/>
          <p:cNvSpPr txBox="1">
            <a:spLocks noChangeArrowheads="1"/>
          </p:cNvSpPr>
          <p:nvPr/>
        </p:nvSpPr>
        <p:spPr bwMode="auto">
          <a:xfrm>
            <a:off x="250825" y="5445125"/>
            <a:ext cx="83756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latin typeface="Times New Roman" pitchFamily="18" charset="0"/>
              </a:rPr>
              <a:t>The correctly rounded result for this problem is 0.746824</a:t>
            </a:r>
          </a:p>
        </p:txBody>
      </p:sp>
    </p:spTree>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25" name="Group 9"/>
          <p:cNvGrpSpPr>
            <a:grpSpLocks/>
          </p:cNvGrpSpPr>
          <p:nvPr/>
        </p:nvGrpSpPr>
        <p:grpSpPr bwMode="auto">
          <a:xfrm>
            <a:off x="304800" y="1295400"/>
            <a:ext cx="7696200" cy="1143000"/>
            <a:chOff x="192" y="816"/>
            <a:chExt cx="4368" cy="738"/>
          </a:xfrm>
        </p:grpSpPr>
        <p:pic>
          <p:nvPicPr>
            <p:cNvPr id="5120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 y="816"/>
              <a:ext cx="1152" cy="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 y="960"/>
              <a:ext cx="3072"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51203" name="Text Box 2"/>
          <p:cNvSpPr txBox="1">
            <a:spLocks noChangeArrowheads="1"/>
          </p:cNvSpPr>
          <p:nvPr/>
        </p:nvSpPr>
        <p:spPr bwMode="auto">
          <a:xfrm>
            <a:off x="395288" y="476250"/>
            <a:ext cx="8137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zh-CN" sz="3600" b="1">
                <a:latin typeface="Times New Roman" pitchFamily="18" charset="0"/>
              </a:rPr>
              <a:t>Compound</a:t>
            </a:r>
            <a:r>
              <a:rPr lang="en-US" altLang="zh-CN" sz="3600" b="1">
                <a:latin typeface="Times New Roman" pitchFamily="18" charset="0"/>
              </a:rPr>
              <a:t>  Simpson’s rule</a:t>
            </a:r>
            <a:r>
              <a:rPr lang="zh-CN" altLang="en-US" sz="2800" b="1"/>
              <a:t>复化辛卜生公式</a:t>
            </a:r>
            <a:r>
              <a:rPr lang="zh-CN" altLang="en-US"/>
              <a:t> </a:t>
            </a:r>
          </a:p>
        </p:txBody>
      </p:sp>
      <p:pic>
        <p:nvPicPr>
          <p:cNvPr id="51204"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2236788"/>
            <a:ext cx="6264275" cy="450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4825"/>
                                        </p:tgtEl>
                                        <p:attrNameLst>
                                          <p:attrName>style.visibility</p:attrName>
                                        </p:attrNameLst>
                                      </p:cBhvr>
                                      <p:to>
                                        <p:strVal val="visible"/>
                                      </p:to>
                                    </p:set>
                                    <p:anim calcmode="lin" valueType="num">
                                      <p:cBhvr additive="base">
                                        <p:cTn id="7" dur="500" fill="hold"/>
                                        <p:tgtEl>
                                          <p:spTgt spid="34825"/>
                                        </p:tgtEl>
                                        <p:attrNameLst>
                                          <p:attrName>ppt_x</p:attrName>
                                        </p:attrNameLst>
                                      </p:cBhvr>
                                      <p:tavLst>
                                        <p:tav tm="0">
                                          <p:val>
                                            <p:strVal val="0-#ppt_w/2"/>
                                          </p:val>
                                        </p:tav>
                                        <p:tav tm="100000">
                                          <p:val>
                                            <p:strVal val="#ppt_x"/>
                                          </p:val>
                                        </p:tav>
                                      </p:tavLst>
                                    </p:anim>
                                    <p:anim calcmode="lin" valueType="num">
                                      <p:cBhvr additive="base">
                                        <p:cTn id="8" dur="500" fill="hold"/>
                                        <p:tgtEl>
                                          <p:spTgt spid="348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95288" y="476250"/>
            <a:ext cx="8137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zh-CN" sz="3600" b="1">
                <a:latin typeface="Times New Roman" pitchFamily="18" charset="0"/>
              </a:rPr>
              <a:t>Compound</a:t>
            </a:r>
            <a:r>
              <a:rPr lang="en-US" altLang="zh-CN" sz="3600" b="1">
                <a:latin typeface="Times New Roman" pitchFamily="18" charset="0"/>
              </a:rPr>
              <a:t>  Simpson’s rule</a:t>
            </a:r>
            <a:r>
              <a:rPr lang="zh-CN" altLang="en-US" sz="2800" b="1"/>
              <a:t>复化辛卜生公式</a:t>
            </a:r>
            <a:r>
              <a:rPr lang="zh-CN" altLang="en-US"/>
              <a:t> </a:t>
            </a:r>
          </a:p>
        </p:txBody>
      </p:sp>
      <p:grpSp>
        <p:nvGrpSpPr>
          <p:cNvPr id="52227" name="Group 3"/>
          <p:cNvGrpSpPr>
            <a:grpSpLocks/>
          </p:cNvGrpSpPr>
          <p:nvPr/>
        </p:nvGrpSpPr>
        <p:grpSpPr bwMode="auto">
          <a:xfrm>
            <a:off x="304800" y="1295400"/>
            <a:ext cx="7696200" cy="1143000"/>
            <a:chOff x="192" y="816"/>
            <a:chExt cx="4368" cy="738"/>
          </a:xfrm>
        </p:grpSpPr>
        <p:pic>
          <p:nvPicPr>
            <p:cNvPr id="522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 y="816"/>
              <a:ext cx="1152" cy="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3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 y="960"/>
              <a:ext cx="3072"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22835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743200"/>
            <a:ext cx="8534400"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835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191000"/>
            <a:ext cx="8991600" cy="78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8360" name="Text Box 8"/>
          <p:cNvSpPr txBox="1">
            <a:spLocks noChangeArrowheads="1"/>
          </p:cNvSpPr>
          <p:nvPr/>
        </p:nvSpPr>
        <p:spPr bwMode="auto">
          <a:xfrm>
            <a:off x="539750" y="5157788"/>
            <a:ext cx="14589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i="1">
                <a:latin typeface="Times New Roman" pitchFamily="18" charset="0"/>
              </a:rPr>
              <a:t>n=</a:t>
            </a:r>
            <a:r>
              <a:rPr lang="en-US" altLang="zh-CN" sz="3600">
                <a:latin typeface="Times New Roman" pitchFamily="18" charset="0"/>
              </a:rPr>
              <a:t>2</a:t>
            </a:r>
            <a:r>
              <a:rPr lang="en-US" altLang="zh-CN" sz="3600" i="1">
                <a:latin typeface="Times New Roman" pitchFamily="18" charset="0"/>
              </a:rPr>
              <a:t>m</a:t>
            </a:r>
            <a:endParaRPr lang="en-US" altLang="zh-CN" sz="3600">
              <a:latin typeface="Times New Roman" pitchFamily="18" charset="0"/>
            </a:endParaRPr>
          </a:p>
        </p:txBody>
      </p:sp>
      <p:sp>
        <p:nvSpPr>
          <p:cNvPr id="228361" name="Text Box 9"/>
          <p:cNvSpPr txBox="1">
            <a:spLocks noChangeArrowheads="1"/>
          </p:cNvSpPr>
          <p:nvPr/>
        </p:nvSpPr>
        <p:spPr bwMode="auto">
          <a:xfrm>
            <a:off x="609600" y="6019800"/>
            <a:ext cx="78898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solidFill>
                  <a:srgbClr val="000000"/>
                </a:solidFill>
                <a:latin typeface="Times New Roman" pitchFamily="18" charset="0"/>
              </a:rPr>
              <a:t>and the corresponding error </a:t>
            </a:r>
            <a:r>
              <a:rPr lang="en-US" altLang="zh-CN" sz="3200" i="1">
                <a:solidFill>
                  <a:srgbClr val="000080"/>
                </a:solidFill>
                <a:latin typeface="Times New Roman" pitchFamily="18" charset="0"/>
              </a:rPr>
              <a:t>O</a:t>
            </a:r>
            <a:r>
              <a:rPr lang="en-US" altLang="zh-CN" sz="3200">
                <a:solidFill>
                  <a:srgbClr val="000080"/>
                </a:solidFill>
                <a:latin typeface="Times New Roman" pitchFamily="18" charset="0"/>
              </a:rPr>
              <a:t>(</a:t>
            </a:r>
            <a:r>
              <a:rPr lang="en-US" altLang="zh-CN" sz="3200" i="1">
                <a:solidFill>
                  <a:srgbClr val="000080"/>
                </a:solidFill>
                <a:latin typeface="Times New Roman" pitchFamily="18" charset="0"/>
              </a:rPr>
              <a:t>n</a:t>
            </a:r>
            <a:r>
              <a:rPr lang="en-US" altLang="zh-CN" sz="3200">
                <a:solidFill>
                  <a:srgbClr val="008000"/>
                </a:solidFill>
                <a:latin typeface="Symbol" pitchFamily="18" charset="2"/>
              </a:rPr>
              <a:t>D</a:t>
            </a:r>
            <a:r>
              <a:rPr lang="en-US" altLang="zh-CN" sz="3200" i="1">
                <a:solidFill>
                  <a:srgbClr val="000080"/>
                </a:solidFill>
                <a:latin typeface="Times New Roman" pitchFamily="18" charset="0"/>
              </a:rPr>
              <a:t>x</a:t>
            </a:r>
            <a:r>
              <a:rPr lang="en-US" altLang="zh-CN" sz="3200" baseline="30000">
                <a:solidFill>
                  <a:srgbClr val="800080"/>
                </a:solidFill>
                <a:latin typeface="Times New Roman" pitchFamily="18" charset="0"/>
              </a:rPr>
              <a:t>5</a:t>
            </a:r>
            <a:r>
              <a:rPr lang="en-US" altLang="zh-CN" sz="3200">
                <a:solidFill>
                  <a:srgbClr val="000080"/>
                </a:solidFill>
                <a:latin typeface="Times New Roman" pitchFamily="18" charset="0"/>
              </a:rPr>
              <a:t>) </a:t>
            </a:r>
            <a:r>
              <a:rPr lang="en-US" altLang="zh-CN" sz="3200">
                <a:solidFill>
                  <a:srgbClr val="000000"/>
                </a:solidFill>
                <a:latin typeface="Times New Roman" pitchFamily="18" charset="0"/>
              </a:rPr>
              <a:t>or </a:t>
            </a:r>
            <a:r>
              <a:rPr lang="en-US" altLang="zh-CN" sz="3200" i="1">
                <a:solidFill>
                  <a:srgbClr val="000080"/>
                </a:solidFill>
                <a:latin typeface="Times New Roman" pitchFamily="18" charset="0"/>
              </a:rPr>
              <a:t>O</a:t>
            </a:r>
            <a:r>
              <a:rPr lang="en-US" altLang="zh-CN" sz="3200">
                <a:solidFill>
                  <a:srgbClr val="000080"/>
                </a:solidFill>
                <a:latin typeface="Times New Roman" pitchFamily="18" charset="0"/>
              </a:rPr>
              <a:t>(</a:t>
            </a:r>
            <a:r>
              <a:rPr lang="en-US" altLang="zh-CN" sz="3200">
                <a:solidFill>
                  <a:srgbClr val="008000"/>
                </a:solidFill>
                <a:latin typeface="Symbol" pitchFamily="18" charset="2"/>
              </a:rPr>
              <a:t>D</a:t>
            </a:r>
            <a:r>
              <a:rPr lang="en-US" altLang="zh-CN" sz="3200" i="1">
                <a:solidFill>
                  <a:srgbClr val="000080"/>
                </a:solidFill>
                <a:latin typeface="Times New Roman" pitchFamily="18" charset="0"/>
              </a:rPr>
              <a:t>x</a:t>
            </a:r>
            <a:r>
              <a:rPr lang="en-US" altLang="zh-CN" sz="3200" baseline="30000">
                <a:solidFill>
                  <a:srgbClr val="800080"/>
                </a:solidFill>
                <a:latin typeface="Times New Roman" pitchFamily="18" charset="0"/>
              </a:rPr>
              <a:t>4</a:t>
            </a:r>
            <a:r>
              <a:rPr lang="en-US" altLang="zh-CN" sz="3200">
                <a:solidFill>
                  <a:srgbClr val="000080"/>
                </a:solidFill>
                <a:latin typeface="Times New Roman" pitchFamily="18" charset="0"/>
              </a:rPr>
              <a:t>)</a:t>
            </a:r>
            <a:r>
              <a:rPr lang="en-US" altLang="zh-CN" sz="3200">
                <a:solidFill>
                  <a:srgbClr val="000000"/>
                </a:solidFill>
                <a:latin typeface="Times New Roman" pitchFamily="18" charset="0"/>
              </a:rPr>
              <a:t>.</a:t>
            </a:r>
            <a:endParaRPr lang="en-US" altLang="zh-CN" sz="32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8358"/>
                                        </p:tgtEl>
                                        <p:attrNameLst>
                                          <p:attrName>style.visibility</p:attrName>
                                        </p:attrNameLst>
                                      </p:cBhvr>
                                      <p:to>
                                        <p:strVal val="visible"/>
                                      </p:to>
                                    </p:set>
                                    <p:anim calcmode="lin" valueType="num">
                                      <p:cBhvr additive="base">
                                        <p:cTn id="7" dur="500" fill="hold"/>
                                        <p:tgtEl>
                                          <p:spTgt spid="228358"/>
                                        </p:tgtEl>
                                        <p:attrNameLst>
                                          <p:attrName>ppt_x</p:attrName>
                                        </p:attrNameLst>
                                      </p:cBhvr>
                                      <p:tavLst>
                                        <p:tav tm="0">
                                          <p:val>
                                            <p:strVal val="0-#ppt_w/2"/>
                                          </p:val>
                                        </p:tav>
                                        <p:tav tm="100000">
                                          <p:val>
                                            <p:strVal val="#ppt_x"/>
                                          </p:val>
                                        </p:tav>
                                      </p:tavLst>
                                    </p:anim>
                                    <p:anim calcmode="lin" valueType="num">
                                      <p:cBhvr additive="base">
                                        <p:cTn id="8" dur="500" fill="hold"/>
                                        <p:tgtEl>
                                          <p:spTgt spid="22835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8359"/>
                                        </p:tgtEl>
                                        <p:attrNameLst>
                                          <p:attrName>style.visibility</p:attrName>
                                        </p:attrNameLst>
                                      </p:cBhvr>
                                      <p:to>
                                        <p:strVal val="visible"/>
                                      </p:to>
                                    </p:set>
                                    <p:anim calcmode="lin" valueType="num">
                                      <p:cBhvr additive="base">
                                        <p:cTn id="13" dur="500" fill="hold"/>
                                        <p:tgtEl>
                                          <p:spTgt spid="228359"/>
                                        </p:tgtEl>
                                        <p:attrNameLst>
                                          <p:attrName>ppt_x</p:attrName>
                                        </p:attrNameLst>
                                      </p:cBhvr>
                                      <p:tavLst>
                                        <p:tav tm="0">
                                          <p:val>
                                            <p:strVal val="0-#ppt_w/2"/>
                                          </p:val>
                                        </p:tav>
                                        <p:tav tm="100000">
                                          <p:val>
                                            <p:strVal val="#ppt_x"/>
                                          </p:val>
                                        </p:tav>
                                      </p:tavLst>
                                    </p:anim>
                                    <p:anim calcmode="lin" valueType="num">
                                      <p:cBhvr additive="base">
                                        <p:cTn id="14" dur="500" fill="hold"/>
                                        <p:tgtEl>
                                          <p:spTgt spid="22835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8360"/>
                                        </p:tgtEl>
                                        <p:attrNameLst>
                                          <p:attrName>style.visibility</p:attrName>
                                        </p:attrNameLst>
                                      </p:cBhvr>
                                      <p:to>
                                        <p:strVal val="visible"/>
                                      </p:to>
                                    </p:set>
                                    <p:anim calcmode="lin" valueType="num">
                                      <p:cBhvr additive="base">
                                        <p:cTn id="19" dur="500" fill="hold"/>
                                        <p:tgtEl>
                                          <p:spTgt spid="228360"/>
                                        </p:tgtEl>
                                        <p:attrNameLst>
                                          <p:attrName>ppt_x</p:attrName>
                                        </p:attrNameLst>
                                      </p:cBhvr>
                                      <p:tavLst>
                                        <p:tav tm="0">
                                          <p:val>
                                            <p:strVal val="0-#ppt_w/2"/>
                                          </p:val>
                                        </p:tav>
                                        <p:tav tm="100000">
                                          <p:val>
                                            <p:strVal val="#ppt_x"/>
                                          </p:val>
                                        </p:tav>
                                      </p:tavLst>
                                    </p:anim>
                                    <p:anim calcmode="lin" valueType="num">
                                      <p:cBhvr additive="base">
                                        <p:cTn id="20" dur="500" fill="hold"/>
                                        <p:tgtEl>
                                          <p:spTgt spid="22836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8361"/>
                                        </p:tgtEl>
                                        <p:attrNameLst>
                                          <p:attrName>style.visibility</p:attrName>
                                        </p:attrNameLst>
                                      </p:cBhvr>
                                      <p:to>
                                        <p:strVal val="visible"/>
                                      </p:to>
                                    </p:set>
                                    <p:anim calcmode="lin" valueType="num">
                                      <p:cBhvr additive="base">
                                        <p:cTn id="25" dur="500" fill="hold"/>
                                        <p:tgtEl>
                                          <p:spTgt spid="228361"/>
                                        </p:tgtEl>
                                        <p:attrNameLst>
                                          <p:attrName>ppt_x</p:attrName>
                                        </p:attrNameLst>
                                      </p:cBhvr>
                                      <p:tavLst>
                                        <p:tav tm="0">
                                          <p:val>
                                            <p:strVal val="0-#ppt_w/2"/>
                                          </p:val>
                                        </p:tav>
                                        <p:tav tm="100000">
                                          <p:val>
                                            <p:strVal val="#ppt_x"/>
                                          </p:val>
                                        </p:tav>
                                      </p:tavLst>
                                    </p:anim>
                                    <p:anim calcmode="lin" valueType="num">
                                      <p:cBhvr additive="base">
                                        <p:cTn id="26" dur="500" fill="hold"/>
                                        <p:tgtEl>
                                          <p:spTgt spid="2283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60" grpId="0" autoUpdateAnimBg="0"/>
      <p:bldP spid="228361"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883" name="Group 51"/>
          <p:cNvGraphicFramePr>
            <a:graphicFrameLocks noGrp="1"/>
          </p:cNvGraphicFramePr>
          <p:nvPr/>
        </p:nvGraphicFramePr>
        <p:xfrm>
          <a:off x="179388" y="1268413"/>
          <a:ext cx="8964612" cy="1800225"/>
        </p:xfrm>
        <a:graphic>
          <a:graphicData uri="http://schemas.openxmlformats.org/drawingml/2006/table">
            <a:tbl>
              <a:tblPr/>
              <a:tblGrid>
                <a:gridCol w="896937">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96938">
                  <a:extLst>
                    <a:ext uri="{9D8B030D-6E8A-4147-A177-3AD203B41FA5}">
                      <a16:colId xmlns:a16="http://schemas.microsoft.com/office/drawing/2014/main" val="20002"/>
                    </a:ext>
                  </a:extLst>
                </a:gridCol>
                <a:gridCol w="896937">
                  <a:extLst>
                    <a:ext uri="{9D8B030D-6E8A-4147-A177-3AD203B41FA5}">
                      <a16:colId xmlns:a16="http://schemas.microsoft.com/office/drawing/2014/main" val="20003"/>
                    </a:ext>
                  </a:extLst>
                </a:gridCol>
                <a:gridCol w="896938">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6937">
                  <a:extLst>
                    <a:ext uri="{9D8B030D-6E8A-4147-A177-3AD203B41FA5}">
                      <a16:colId xmlns:a16="http://schemas.microsoft.com/office/drawing/2014/main" val="20006"/>
                    </a:ext>
                  </a:extLst>
                </a:gridCol>
                <a:gridCol w="896938">
                  <a:extLst>
                    <a:ext uri="{9D8B030D-6E8A-4147-A177-3AD203B41FA5}">
                      <a16:colId xmlns:a16="http://schemas.microsoft.com/office/drawing/2014/main" val="20007"/>
                    </a:ext>
                  </a:extLst>
                </a:gridCol>
                <a:gridCol w="895350">
                  <a:extLst>
                    <a:ext uri="{9D8B030D-6E8A-4147-A177-3AD203B41FA5}">
                      <a16:colId xmlns:a16="http://schemas.microsoft.com/office/drawing/2014/main" val="20008"/>
                    </a:ext>
                  </a:extLst>
                </a:gridCol>
                <a:gridCol w="896937">
                  <a:extLst>
                    <a:ext uri="{9D8B030D-6E8A-4147-A177-3AD203B41FA5}">
                      <a16:colId xmlns:a16="http://schemas.microsoft.com/office/drawing/2014/main" val="20009"/>
                    </a:ext>
                  </a:extLst>
                </a:gridCol>
              </a:tblGrid>
              <a:tr h="6873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800" b="1" i="1" u="none" strike="noStrike" cap="none" normalizeH="0" baseline="-30000">
                          <a:ln>
                            <a:noFill/>
                          </a:ln>
                          <a:solidFill>
                            <a:schemeClr val="tx1"/>
                          </a:solidFill>
                          <a:effectLst/>
                          <a:latin typeface="Times New Roman" pitchFamily="18" charset="0"/>
                          <a:ea typeface="宋体" pitchFamily="2" charset="-122"/>
                          <a:cs typeface="Times New Roman" pitchFamily="18" charset="0"/>
                        </a:rPr>
                        <a:t>k</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1/8</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1/4</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3/8</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5/8</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3/4</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7/8</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11128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800" b="1" i="1" u="none" strike="noStrike" cap="none" normalizeH="0" baseline="-30000">
                          <a:ln>
                            <a:noFill/>
                          </a:ln>
                          <a:solidFill>
                            <a:schemeClr val="tx1"/>
                          </a:solidFill>
                          <a:effectLst/>
                          <a:latin typeface="Times New Roman" pitchFamily="18" charset="0"/>
                          <a:ea typeface="宋体" pitchFamily="2" charset="-122"/>
                          <a:cs typeface="Times New Roman" pitchFamily="18" charset="0"/>
                        </a:rPr>
                        <a:t>k</a:t>
                      </a: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3.93846</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3.76470</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3.50685</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3.20000</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2.87640</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2.46000</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2.26549</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3271" name="Text Box 52"/>
          <p:cNvSpPr txBox="1">
            <a:spLocks noChangeArrowheads="1"/>
          </p:cNvSpPr>
          <p:nvPr/>
        </p:nvSpPr>
        <p:spPr bwMode="auto">
          <a:xfrm>
            <a:off x="827088" y="333375"/>
            <a:ext cx="38560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利用数据表计算积分</a:t>
            </a:r>
          </a:p>
        </p:txBody>
      </p:sp>
      <p:sp>
        <p:nvSpPr>
          <p:cNvPr id="53272" name="Rectangle 54"/>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53273" name="Object 53"/>
          <p:cNvGraphicFramePr>
            <a:graphicFrameLocks noChangeAspect="1"/>
          </p:cNvGraphicFramePr>
          <p:nvPr/>
        </p:nvGraphicFramePr>
        <p:xfrm>
          <a:off x="514350" y="3233738"/>
          <a:ext cx="5040313" cy="1590675"/>
        </p:xfrm>
        <a:graphic>
          <a:graphicData uri="http://schemas.openxmlformats.org/presentationml/2006/ole">
            <mc:AlternateContent xmlns:mc="http://schemas.openxmlformats.org/markup-compatibility/2006">
              <mc:Choice xmlns:v="urn:schemas-microsoft-com:vml" Requires="v">
                <p:oleObj spid="_x0000_s53299" name="公式" r:id="rId3" imgW="990170" imgH="393529" progId="Equation.3">
                  <p:embed/>
                </p:oleObj>
              </mc:Choice>
              <mc:Fallback>
                <p:oleObj name="公式" r:id="rId3" imgW="990170" imgH="393529" progId="Equation.3">
                  <p:embed/>
                  <p:pic>
                    <p:nvPicPr>
                      <p:cNvPr id="0" name="Object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3233738"/>
                        <a:ext cx="5040313"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74" name="Text Box 55"/>
          <p:cNvSpPr txBox="1">
            <a:spLocks noChangeArrowheads="1"/>
          </p:cNvSpPr>
          <p:nvPr/>
        </p:nvSpPr>
        <p:spPr bwMode="auto">
          <a:xfrm>
            <a:off x="5595938" y="3429000"/>
            <a:ext cx="3548062"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zh-CN" altLang="en-US" sz="3200"/>
              <a:t>用复化梯形公式 </a:t>
            </a:r>
          </a:p>
          <a:p>
            <a:pPr eaLnBrk="1" hangingPunct="1">
              <a:lnSpc>
                <a:spcPct val="130000"/>
              </a:lnSpc>
            </a:pPr>
            <a:r>
              <a:rPr lang="zh-CN" altLang="en-US" sz="3200"/>
              <a:t>用复化辛卜生公式 </a:t>
            </a:r>
          </a:p>
        </p:txBody>
      </p:sp>
      <p:pic>
        <p:nvPicPr>
          <p:cNvPr id="5327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805488"/>
            <a:ext cx="8991600" cy="785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76" name="Picture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 y="4787900"/>
            <a:ext cx="1368425"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74" name="Object 7"/>
          <p:cNvGraphicFramePr>
            <a:graphicFrameLocks noChangeAspect="1"/>
          </p:cNvGraphicFramePr>
          <p:nvPr/>
        </p:nvGraphicFramePr>
        <p:xfrm>
          <a:off x="5580063" y="188913"/>
          <a:ext cx="2592387" cy="1020762"/>
        </p:xfrm>
        <a:graphic>
          <a:graphicData uri="http://schemas.openxmlformats.org/presentationml/2006/ole">
            <mc:AlternateContent xmlns:mc="http://schemas.openxmlformats.org/markup-compatibility/2006">
              <mc:Choice xmlns:v="urn:schemas-microsoft-com:vml" Requires="v">
                <p:oleObj spid="_x0000_s54346" name="公式" r:id="rId3" imgW="990170" imgH="393529" progId="Equation.3">
                  <p:embed/>
                </p:oleObj>
              </mc:Choice>
              <mc:Fallback>
                <p:oleObj name="公式" r:id="rId3" imgW="990170" imgH="393529"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188913"/>
                        <a:ext cx="2592387"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5" name="Object 6"/>
          <p:cNvGraphicFramePr>
            <a:graphicFrameLocks noChangeAspect="1"/>
          </p:cNvGraphicFramePr>
          <p:nvPr/>
        </p:nvGraphicFramePr>
        <p:xfrm>
          <a:off x="900113" y="1268413"/>
          <a:ext cx="6119812" cy="663575"/>
        </p:xfrm>
        <a:graphic>
          <a:graphicData uri="http://schemas.openxmlformats.org/presentationml/2006/ole">
            <mc:AlternateContent xmlns:mc="http://schemas.openxmlformats.org/markup-compatibility/2006">
              <mc:Choice xmlns:v="urn:schemas-microsoft-com:vml" Requires="v">
                <p:oleObj spid="_x0000_s54347" name="公式" r:id="rId5" imgW="2197100" imgH="241300" progId="Equation.3">
                  <p:embed/>
                </p:oleObj>
              </mc:Choice>
              <mc:Fallback>
                <p:oleObj name="公式" r:id="rId5" imgW="2197100" imgH="2413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1268413"/>
                        <a:ext cx="6119812"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6" name="Object 5"/>
          <p:cNvGraphicFramePr>
            <a:graphicFrameLocks noChangeAspect="1"/>
          </p:cNvGraphicFramePr>
          <p:nvPr/>
        </p:nvGraphicFramePr>
        <p:xfrm>
          <a:off x="611188" y="3357563"/>
          <a:ext cx="8353425" cy="2879725"/>
        </p:xfrm>
        <a:graphic>
          <a:graphicData uri="http://schemas.openxmlformats.org/presentationml/2006/ole">
            <mc:AlternateContent xmlns:mc="http://schemas.openxmlformats.org/markup-compatibility/2006">
              <mc:Choice xmlns:v="urn:schemas-microsoft-com:vml" Requires="v">
                <p:oleObj spid="_x0000_s54348" name="公式" r:id="rId7" imgW="3314700" imgH="1143000" progId="Equation.3">
                  <p:embed/>
                </p:oleObj>
              </mc:Choice>
              <mc:Fallback>
                <p:oleObj name="公式" r:id="rId7" imgW="3314700" imgH="11430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188" y="3357563"/>
                        <a:ext cx="835342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77" name="Rectangle 8"/>
          <p:cNvSpPr>
            <a:spLocks noChangeArrowheads="1"/>
          </p:cNvSpPr>
          <p:nvPr/>
        </p:nvSpPr>
        <p:spPr bwMode="auto">
          <a:xfrm>
            <a:off x="0" y="11255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54278" name="Rectangle 9"/>
          <p:cNvSpPr>
            <a:spLocks noChangeArrowheads="1"/>
          </p:cNvSpPr>
          <p:nvPr/>
        </p:nvSpPr>
        <p:spPr bwMode="auto">
          <a:xfrm>
            <a:off x="539750" y="188913"/>
            <a:ext cx="496887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cs typeface="Times New Roman" pitchFamily="18" charset="0"/>
              </a:rPr>
              <a:t>这个问题有明显的答案		</a:t>
            </a:r>
            <a:endParaRPr lang="zh-CN" altLang="en-US" sz="3200" b="1"/>
          </a:p>
        </p:txBody>
      </p:sp>
      <p:sp>
        <p:nvSpPr>
          <p:cNvPr id="54279" name="Rectangle 10"/>
          <p:cNvSpPr>
            <a:spLocks noChangeArrowheads="1"/>
          </p:cNvSpPr>
          <p:nvPr/>
        </p:nvSpPr>
        <p:spPr bwMode="auto">
          <a:xfrm>
            <a:off x="611188" y="1916113"/>
            <a:ext cx="5795962"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latin typeface="Times New Roman" pitchFamily="18" charset="0"/>
                <a:cs typeface="Times New Roman" pitchFamily="18" charset="0"/>
              </a:rPr>
              <a:t>	</a:t>
            </a:r>
            <a:endParaRPr lang="en-US" altLang="zh-CN" sz="3200" b="1"/>
          </a:p>
          <a:p>
            <a:r>
              <a:rPr lang="zh-CN" altLang="en-US" sz="3200" b="1">
                <a:latin typeface="Times New Roman" pitchFamily="18" charset="0"/>
                <a:cs typeface="Times New Roman" pitchFamily="18" charset="0"/>
              </a:rPr>
              <a:t>取</a:t>
            </a:r>
            <a:r>
              <a:rPr lang="en-US" altLang="zh-CN" sz="3200" b="1" i="1">
                <a:latin typeface="Times New Roman" pitchFamily="18" charset="0"/>
                <a:cs typeface="Times New Roman" pitchFamily="18" charset="0"/>
              </a:rPr>
              <a:t>n</a:t>
            </a:r>
            <a:r>
              <a:rPr lang="en-US" altLang="zh-CN" sz="3200" b="1">
                <a:latin typeface="Times New Roman" pitchFamily="18" charset="0"/>
                <a:cs typeface="Times New Roman" pitchFamily="18" charset="0"/>
              </a:rPr>
              <a:t> = 8</a:t>
            </a:r>
            <a:r>
              <a:rPr lang="zh-CN" altLang="en-US" sz="3200" b="1">
                <a:latin typeface="Times New Roman" pitchFamily="18" charset="0"/>
                <a:cs typeface="Times New Roman" pitchFamily="18" charset="0"/>
              </a:rPr>
              <a:t>用复化梯形公式</a:t>
            </a:r>
            <a:endParaRPr lang="zh-CN" altLang="en-US" sz="3200" b="1"/>
          </a:p>
          <a:p>
            <a:r>
              <a:rPr lang="zh-CN" altLang="en-US" sz="3200" b="1">
                <a:latin typeface="Times New Roman" pitchFamily="18" charset="0"/>
                <a:cs typeface="Times New Roman" pitchFamily="18" charset="0"/>
              </a:rPr>
              <a:t>			</a:t>
            </a:r>
            <a:endParaRPr lang="zh-CN" altLang="en-US" sz="3200" b="1"/>
          </a:p>
        </p:txBody>
      </p:sp>
    </p:spTree>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298" name="Object 4"/>
          <p:cNvGraphicFramePr>
            <a:graphicFrameLocks noChangeAspect="1"/>
          </p:cNvGraphicFramePr>
          <p:nvPr/>
        </p:nvGraphicFramePr>
        <p:xfrm>
          <a:off x="195263" y="1844675"/>
          <a:ext cx="8680450" cy="2970213"/>
        </p:xfrm>
        <a:graphic>
          <a:graphicData uri="http://schemas.openxmlformats.org/presentationml/2006/ole">
            <mc:AlternateContent xmlns:mc="http://schemas.openxmlformats.org/markup-compatibility/2006">
              <mc:Choice xmlns:v="urn:schemas-microsoft-com:vml" Requires="v">
                <p:oleObj spid="_x0000_s55322" name="公式" r:id="rId3" imgW="3340100" imgH="1143000" progId="Equation.3">
                  <p:embed/>
                </p:oleObj>
              </mc:Choice>
              <mc:Fallback>
                <p:oleObj name="公式" r:id="rId3" imgW="3340100" imgH="1143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263" y="1844675"/>
                        <a:ext cx="8680450" cy="297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299" name="Rectangle 5"/>
          <p:cNvSpPr>
            <a:spLocks noChangeArrowheads="1"/>
          </p:cNvSpPr>
          <p:nvPr/>
        </p:nvSpPr>
        <p:spPr bwMode="auto">
          <a:xfrm>
            <a:off x="395288" y="115888"/>
            <a:ext cx="4170362"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latin typeface="Times New Roman" pitchFamily="18" charset="0"/>
                <a:cs typeface="Times New Roman" pitchFamily="18" charset="0"/>
              </a:rPr>
              <a:t>	</a:t>
            </a:r>
            <a:endParaRPr lang="en-US" altLang="zh-CN" sz="3200" b="1"/>
          </a:p>
          <a:p>
            <a:r>
              <a:rPr lang="zh-CN" altLang="en-US" sz="3200" b="1">
                <a:latin typeface="Times New Roman" pitchFamily="18" charset="0"/>
                <a:cs typeface="Times New Roman" pitchFamily="18" charset="0"/>
              </a:rPr>
              <a:t>取</a:t>
            </a:r>
            <a:r>
              <a:rPr lang="en-US" altLang="zh-CN" sz="3200" b="1" i="1">
                <a:latin typeface="Times New Roman" pitchFamily="18" charset="0"/>
                <a:cs typeface="Times New Roman" pitchFamily="18" charset="0"/>
              </a:rPr>
              <a:t>n=</a:t>
            </a:r>
            <a:r>
              <a:rPr lang="en-US" altLang="zh-CN" sz="3200" b="1">
                <a:latin typeface="Times New Roman" pitchFamily="18" charset="0"/>
                <a:cs typeface="Times New Roman" pitchFamily="18" charset="0"/>
              </a:rPr>
              <a:t>4, </a:t>
            </a:r>
            <a:r>
              <a:rPr lang="zh-CN" altLang="en-US" sz="3200" b="1">
                <a:latin typeface="Times New Roman" pitchFamily="18" charset="0"/>
                <a:cs typeface="Times New Roman" pitchFamily="18" charset="0"/>
              </a:rPr>
              <a:t>用辛卜生公式</a:t>
            </a:r>
          </a:p>
          <a:p>
            <a:r>
              <a:rPr lang="zh-CN" altLang="en-US" sz="3200" b="1">
                <a:latin typeface="Times New Roman" pitchFamily="18" charset="0"/>
                <a:cs typeface="Times New Roman" pitchFamily="18" charset="0"/>
              </a:rPr>
              <a:t>         </a:t>
            </a:r>
            <a:endParaRPr lang="zh-CN" altLang="en-US" sz="3200" b="1"/>
          </a:p>
        </p:txBody>
      </p:sp>
    </p:spTree>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323850" y="1268413"/>
            <a:ext cx="4783138"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en-US" altLang="zh-CN" sz="3200" b="1">
                <a:solidFill>
                  <a:srgbClr val="000000"/>
                </a:solidFill>
                <a:latin typeface="Times New Roman" pitchFamily="18" charset="0"/>
              </a:rPr>
              <a:t>With the Trapezium Rule</a:t>
            </a:r>
          </a:p>
        </p:txBody>
      </p:sp>
      <p:sp>
        <p:nvSpPr>
          <p:cNvPr id="56323" name="Text Box 4"/>
          <p:cNvSpPr txBox="1">
            <a:spLocks noChangeArrowheads="1"/>
          </p:cNvSpPr>
          <p:nvPr/>
        </p:nvSpPr>
        <p:spPr bwMode="auto">
          <a:xfrm>
            <a:off x="468313" y="188913"/>
            <a:ext cx="497205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b="1">
                <a:latin typeface="Times New Roman" pitchFamily="18" charset="0"/>
              </a:rPr>
              <a:t>6.6 Romberg integration</a:t>
            </a:r>
            <a:endParaRPr lang="en-US" altLang="zh-CN"/>
          </a:p>
        </p:txBody>
      </p:sp>
      <p:sp>
        <p:nvSpPr>
          <p:cNvPr id="56324" name="Rectangle 2"/>
          <p:cNvSpPr>
            <a:spLocks noChangeArrowheads="1"/>
          </p:cNvSpPr>
          <p:nvPr/>
        </p:nvSpPr>
        <p:spPr bwMode="auto">
          <a:xfrm>
            <a:off x="5435600" y="404813"/>
            <a:ext cx="31527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龙贝格求积公式</a:t>
            </a:r>
            <a:r>
              <a:rPr lang="zh-CN" altLang="en-US" sz="3200"/>
              <a:t> </a:t>
            </a:r>
          </a:p>
        </p:txBody>
      </p:sp>
      <p:grpSp>
        <p:nvGrpSpPr>
          <p:cNvPr id="75783" name="Group 7"/>
          <p:cNvGrpSpPr>
            <a:grpSpLocks/>
          </p:cNvGrpSpPr>
          <p:nvPr/>
        </p:nvGrpSpPr>
        <p:grpSpPr bwMode="auto">
          <a:xfrm>
            <a:off x="323850" y="2276475"/>
            <a:ext cx="8293100" cy="1146175"/>
            <a:chOff x="295" y="1434"/>
            <a:chExt cx="5224" cy="722"/>
          </a:xfrm>
        </p:grpSpPr>
        <p:graphicFrame>
          <p:nvGraphicFramePr>
            <p:cNvPr id="56328" name="Object 4"/>
            <p:cNvGraphicFramePr>
              <a:graphicFrameLocks noChangeAspect="1"/>
            </p:cNvGraphicFramePr>
            <p:nvPr/>
          </p:nvGraphicFramePr>
          <p:xfrm>
            <a:off x="1927" y="1434"/>
            <a:ext cx="3592" cy="693"/>
          </p:xfrm>
          <a:graphic>
            <a:graphicData uri="http://schemas.openxmlformats.org/presentationml/2006/ole">
              <mc:AlternateContent xmlns:mc="http://schemas.openxmlformats.org/markup-compatibility/2006">
                <mc:Choice xmlns:v="urn:schemas-microsoft-com:vml" Requires="v">
                  <p:oleObj spid="_x0000_s56374" name="公式" r:id="rId3" imgW="2159000" imgH="393700" progId="Equation.3">
                    <p:embed/>
                  </p:oleObj>
                </mc:Choice>
                <mc:Fallback>
                  <p:oleObj name="公式" r:id="rId3" imgW="21590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 y="1434"/>
                          <a:ext cx="3592" cy="6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9" name="Object 6"/>
            <p:cNvGraphicFramePr>
              <a:graphicFrameLocks noChangeAspect="1"/>
            </p:cNvGraphicFramePr>
            <p:nvPr/>
          </p:nvGraphicFramePr>
          <p:xfrm>
            <a:off x="295" y="1434"/>
            <a:ext cx="1587" cy="722"/>
          </p:xfrm>
          <a:graphic>
            <a:graphicData uri="http://schemas.openxmlformats.org/presentationml/2006/ole">
              <mc:AlternateContent xmlns:mc="http://schemas.openxmlformats.org/markup-compatibility/2006">
                <mc:Choice xmlns:v="urn:schemas-microsoft-com:vml" Requires="v">
                  <p:oleObj spid="_x0000_s56375" name="Equation" r:id="rId5" imgW="952087" imgH="495085" progId="Equation.3">
                    <p:embed/>
                  </p:oleObj>
                </mc:Choice>
                <mc:Fallback>
                  <p:oleObj name="Equation" r:id="rId5" imgW="952087" imgH="495085"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 y="1434"/>
                          <a:ext cx="1587" cy="7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5784" name="Rectangle 8"/>
          <p:cNvSpPr>
            <a:spLocks noChangeArrowheads="1"/>
          </p:cNvSpPr>
          <p:nvPr/>
        </p:nvSpPr>
        <p:spPr bwMode="auto">
          <a:xfrm>
            <a:off x="395288" y="3573463"/>
            <a:ext cx="752475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en-US" altLang="zh-CN" sz="3200" b="1" dirty="0">
                <a:solidFill>
                  <a:srgbClr val="000000"/>
                </a:solidFill>
                <a:latin typeface="Times New Roman" pitchFamily="18" charset="0"/>
              </a:rPr>
              <a:t>With the Compound Trapezium Rule</a:t>
            </a:r>
          </a:p>
        </p:txBody>
      </p:sp>
      <p:sp>
        <p:nvSpPr>
          <p:cNvPr id="75785" name="Text Box 9"/>
          <p:cNvSpPr txBox="1">
            <a:spLocks noChangeArrowheads="1"/>
          </p:cNvSpPr>
          <p:nvPr/>
        </p:nvSpPr>
        <p:spPr bwMode="auto">
          <a:xfrm>
            <a:off x="179388" y="4508500"/>
            <a:ext cx="8785225" cy="199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200" b="1" dirty="0">
                <a:solidFill>
                  <a:srgbClr val="000000"/>
                </a:solidFill>
                <a:latin typeface="Times New Roman" pitchFamily="18" charset="0"/>
              </a:rPr>
              <a:t>While the error for each step is </a:t>
            </a:r>
            <a:r>
              <a:rPr lang="en-US" altLang="zh-CN" sz="3200" b="1" i="1" dirty="0">
                <a:solidFill>
                  <a:srgbClr val="000080"/>
                </a:solidFill>
                <a:latin typeface="Times New Roman" pitchFamily="18" charset="0"/>
              </a:rPr>
              <a:t>O</a:t>
            </a:r>
            <a:r>
              <a:rPr lang="en-US" altLang="zh-CN" sz="3200" b="1" dirty="0">
                <a:solidFill>
                  <a:srgbClr val="000080"/>
                </a:solidFill>
                <a:latin typeface="Times New Roman" pitchFamily="18" charset="0"/>
              </a:rPr>
              <a:t>(</a:t>
            </a:r>
            <a:r>
              <a:rPr lang="en-US" altLang="zh-CN" sz="3200" b="1" dirty="0">
                <a:solidFill>
                  <a:srgbClr val="008000"/>
                </a:solidFill>
                <a:latin typeface="Symbol" pitchFamily="18" charset="2"/>
              </a:rPr>
              <a:t>D</a:t>
            </a:r>
            <a:r>
              <a:rPr lang="en-US" altLang="zh-CN" sz="3200" b="1" i="1" dirty="0">
                <a:solidFill>
                  <a:srgbClr val="000080"/>
                </a:solidFill>
                <a:latin typeface="Times New Roman" pitchFamily="18" charset="0"/>
              </a:rPr>
              <a:t>x</a:t>
            </a:r>
            <a:r>
              <a:rPr lang="en-US" altLang="zh-CN" sz="3200" b="1" baseline="30000" dirty="0">
                <a:solidFill>
                  <a:srgbClr val="800080"/>
                </a:solidFill>
                <a:latin typeface="Times New Roman" pitchFamily="18" charset="0"/>
              </a:rPr>
              <a:t>3</a:t>
            </a:r>
            <a:r>
              <a:rPr lang="en-US" altLang="zh-CN" sz="3200" b="1" dirty="0">
                <a:solidFill>
                  <a:srgbClr val="000080"/>
                </a:solidFill>
                <a:latin typeface="Times New Roman" pitchFamily="18" charset="0"/>
              </a:rPr>
              <a:t>)</a:t>
            </a:r>
            <a:r>
              <a:rPr lang="en-US" altLang="zh-CN" sz="3200" b="1" dirty="0">
                <a:solidFill>
                  <a:srgbClr val="000000"/>
                </a:solidFill>
                <a:latin typeface="Times New Roman" pitchFamily="18" charset="0"/>
              </a:rPr>
              <a:t>, the cumulative error is </a:t>
            </a:r>
            <a:r>
              <a:rPr lang="en-US" altLang="zh-CN" sz="3200" b="1" i="1" dirty="0">
                <a:solidFill>
                  <a:srgbClr val="000080"/>
                </a:solidFill>
                <a:latin typeface="Times New Roman" pitchFamily="18" charset="0"/>
              </a:rPr>
              <a:t>n </a:t>
            </a:r>
            <a:r>
              <a:rPr lang="en-US" altLang="zh-CN" sz="3200" b="1" dirty="0">
                <a:solidFill>
                  <a:srgbClr val="000000"/>
                </a:solidFill>
                <a:latin typeface="Times New Roman" pitchFamily="18" charset="0"/>
              </a:rPr>
              <a:t>times this or </a:t>
            </a:r>
            <a:r>
              <a:rPr lang="en-US" altLang="zh-CN" sz="3200" b="1" i="1" dirty="0">
                <a:solidFill>
                  <a:srgbClr val="000080"/>
                </a:solidFill>
                <a:latin typeface="Times New Roman" pitchFamily="18" charset="0"/>
              </a:rPr>
              <a:t>O</a:t>
            </a:r>
            <a:r>
              <a:rPr lang="en-US" altLang="zh-CN" sz="3200" b="1" dirty="0">
                <a:solidFill>
                  <a:srgbClr val="000080"/>
                </a:solidFill>
                <a:latin typeface="Times New Roman" pitchFamily="18" charset="0"/>
              </a:rPr>
              <a:t>(</a:t>
            </a:r>
            <a:r>
              <a:rPr lang="en-US" altLang="zh-CN" sz="3200" b="1" dirty="0">
                <a:solidFill>
                  <a:srgbClr val="008000"/>
                </a:solidFill>
                <a:latin typeface="Symbol" pitchFamily="18" charset="2"/>
              </a:rPr>
              <a:t>D</a:t>
            </a:r>
            <a:r>
              <a:rPr lang="en-US" altLang="zh-CN" sz="3200" b="1" i="1" dirty="0">
                <a:solidFill>
                  <a:srgbClr val="000080"/>
                </a:solidFill>
                <a:latin typeface="Times New Roman" pitchFamily="18" charset="0"/>
              </a:rPr>
              <a:t>x</a:t>
            </a:r>
            <a:r>
              <a:rPr lang="en-US" altLang="zh-CN" sz="3200" b="1" baseline="30000" dirty="0">
                <a:solidFill>
                  <a:srgbClr val="800080"/>
                </a:solidFill>
                <a:latin typeface="Times New Roman" pitchFamily="18" charset="0"/>
              </a:rPr>
              <a:t>2</a:t>
            </a:r>
            <a:r>
              <a:rPr lang="en-US" altLang="zh-CN" sz="3200" b="1" dirty="0">
                <a:solidFill>
                  <a:srgbClr val="000080"/>
                </a:solidFill>
                <a:latin typeface="Times New Roman" pitchFamily="18" charset="0"/>
              </a:rPr>
              <a:t>) ~ </a:t>
            </a:r>
            <a:r>
              <a:rPr lang="en-US" altLang="zh-CN" sz="3200" b="1" i="1" dirty="0">
                <a:solidFill>
                  <a:srgbClr val="000080"/>
                </a:solidFill>
                <a:latin typeface="Times New Roman" pitchFamily="18" charset="0"/>
              </a:rPr>
              <a:t>O</a:t>
            </a:r>
            <a:r>
              <a:rPr lang="en-US" altLang="zh-CN" sz="3200" b="1" dirty="0">
                <a:solidFill>
                  <a:srgbClr val="000080"/>
                </a:solidFill>
                <a:latin typeface="Times New Roman" pitchFamily="18" charset="0"/>
              </a:rPr>
              <a:t>(</a:t>
            </a:r>
            <a:r>
              <a:rPr lang="en-US" altLang="zh-CN" sz="3200" b="1" i="1" dirty="0">
                <a:solidFill>
                  <a:srgbClr val="000080"/>
                </a:solidFill>
                <a:latin typeface="Times New Roman" pitchFamily="18" charset="0"/>
              </a:rPr>
              <a:t>n</a:t>
            </a:r>
            <a:r>
              <a:rPr lang="en-US" altLang="zh-CN" sz="3200" b="1" baseline="30000" dirty="0">
                <a:solidFill>
                  <a:srgbClr val="800080"/>
                </a:solidFill>
                <a:latin typeface="Times New Roman" pitchFamily="18" charset="0"/>
              </a:rPr>
              <a:t>-2</a:t>
            </a:r>
            <a:r>
              <a:rPr lang="en-US" altLang="zh-CN" sz="3200" b="1" dirty="0">
                <a:solidFill>
                  <a:srgbClr val="000080"/>
                </a:solidFill>
                <a:latin typeface="Times New Roman" pitchFamily="18" charset="0"/>
              </a:rPr>
              <a:t>) </a:t>
            </a:r>
            <a:r>
              <a:rPr lang="en-US" altLang="zh-CN" sz="3200" b="1" dirty="0" err="1">
                <a:solidFill>
                  <a:srgbClr val="008000"/>
                </a:solidFill>
                <a:latin typeface="Symbol" pitchFamily="18" charset="2"/>
              </a:rPr>
              <a:t>D</a:t>
            </a:r>
            <a:r>
              <a:rPr lang="en-US" altLang="zh-CN" sz="3200" b="1" i="1" dirty="0" err="1">
                <a:solidFill>
                  <a:srgbClr val="000080"/>
                </a:solidFill>
                <a:latin typeface="Times New Roman" pitchFamily="18" charset="0"/>
              </a:rPr>
              <a:t>x</a:t>
            </a:r>
            <a:r>
              <a:rPr lang="en-US" altLang="zh-CN" sz="3200" b="1" i="1" dirty="0">
                <a:solidFill>
                  <a:srgbClr val="000080"/>
                </a:solidFill>
                <a:latin typeface="Times New Roman" pitchFamily="18" charset="0"/>
              </a:rPr>
              <a:t>=h</a:t>
            </a:r>
            <a:endParaRPr lang="en-US" altLang="zh-CN" sz="3200" b="1" baseline="30000" dirty="0">
              <a:solidFill>
                <a:srgbClr val="800080"/>
              </a:solidFill>
              <a:latin typeface="Times New Roman"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54"/>
                                        </p:tgtEl>
                                        <p:attrNameLst>
                                          <p:attrName>style.visibility</p:attrName>
                                        </p:attrNameLst>
                                      </p:cBhvr>
                                      <p:to>
                                        <p:strVal val="visible"/>
                                      </p:to>
                                    </p:set>
                                    <p:anim calcmode="lin" valueType="num">
                                      <p:cBhvr additive="base">
                                        <p:cTn id="7" dur="500" fill="hold"/>
                                        <p:tgtEl>
                                          <p:spTgt spid="23554"/>
                                        </p:tgtEl>
                                        <p:attrNameLst>
                                          <p:attrName>ppt_x</p:attrName>
                                        </p:attrNameLst>
                                      </p:cBhvr>
                                      <p:tavLst>
                                        <p:tav tm="0">
                                          <p:val>
                                            <p:strVal val="0-#ppt_w/2"/>
                                          </p:val>
                                        </p:tav>
                                        <p:tav tm="100000">
                                          <p:val>
                                            <p:strVal val="#ppt_x"/>
                                          </p:val>
                                        </p:tav>
                                      </p:tavLst>
                                    </p:anim>
                                    <p:anim calcmode="lin" valueType="num">
                                      <p:cBhvr additive="base">
                                        <p:cTn id="8" dur="500" fill="hold"/>
                                        <p:tgtEl>
                                          <p:spTgt spid="2355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75783"/>
                                        </p:tgtEl>
                                        <p:attrNameLst>
                                          <p:attrName>style.visibility</p:attrName>
                                        </p:attrNameLst>
                                      </p:cBhvr>
                                      <p:to>
                                        <p:strVal val="visible"/>
                                      </p:to>
                                    </p:set>
                                    <p:anim calcmode="lin" valueType="num">
                                      <p:cBhvr additive="base">
                                        <p:cTn id="12" dur="500" fill="hold"/>
                                        <p:tgtEl>
                                          <p:spTgt spid="75783"/>
                                        </p:tgtEl>
                                        <p:attrNameLst>
                                          <p:attrName>ppt_x</p:attrName>
                                        </p:attrNameLst>
                                      </p:cBhvr>
                                      <p:tavLst>
                                        <p:tav tm="0">
                                          <p:val>
                                            <p:strVal val="#ppt_x"/>
                                          </p:val>
                                        </p:tav>
                                        <p:tav tm="100000">
                                          <p:val>
                                            <p:strVal val="#ppt_x"/>
                                          </p:val>
                                        </p:tav>
                                      </p:tavLst>
                                    </p:anim>
                                    <p:anim calcmode="lin" valueType="num">
                                      <p:cBhvr additive="base">
                                        <p:cTn id="13" dur="500" fill="hold"/>
                                        <p:tgtEl>
                                          <p:spTgt spid="75783"/>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5784"/>
                                        </p:tgtEl>
                                        <p:attrNameLst>
                                          <p:attrName>style.visibility</p:attrName>
                                        </p:attrNameLst>
                                      </p:cBhvr>
                                      <p:to>
                                        <p:strVal val="visible"/>
                                      </p:to>
                                    </p:set>
                                    <p:anim calcmode="lin" valueType="num">
                                      <p:cBhvr additive="base">
                                        <p:cTn id="18" dur="500" fill="hold"/>
                                        <p:tgtEl>
                                          <p:spTgt spid="75784"/>
                                        </p:tgtEl>
                                        <p:attrNameLst>
                                          <p:attrName>ppt_x</p:attrName>
                                        </p:attrNameLst>
                                      </p:cBhvr>
                                      <p:tavLst>
                                        <p:tav tm="0">
                                          <p:val>
                                            <p:strVal val="0-#ppt_w/2"/>
                                          </p:val>
                                        </p:tav>
                                        <p:tav tm="100000">
                                          <p:val>
                                            <p:strVal val="#ppt_x"/>
                                          </p:val>
                                        </p:tav>
                                      </p:tavLst>
                                    </p:anim>
                                    <p:anim calcmode="lin" valueType="num">
                                      <p:cBhvr additive="base">
                                        <p:cTn id="19" dur="500" fill="hold"/>
                                        <p:tgtEl>
                                          <p:spTgt spid="75784"/>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75785"/>
                                        </p:tgtEl>
                                        <p:attrNameLst>
                                          <p:attrName>style.visibility</p:attrName>
                                        </p:attrNameLst>
                                      </p:cBhvr>
                                      <p:to>
                                        <p:strVal val="visible"/>
                                      </p:to>
                                    </p:set>
                                    <p:anim calcmode="lin" valueType="num">
                                      <p:cBhvr additive="base">
                                        <p:cTn id="23" dur="500" fill="hold"/>
                                        <p:tgtEl>
                                          <p:spTgt spid="75785"/>
                                        </p:tgtEl>
                                        <p:attrNameLst>
                                          <p:attrName>ppt_x</p:attrName>
                                        </p:attrNameLst>
                                      </p:cBhvr>
                                      <p:tavLst>
                                        <p:tav tm="0">
                                          <p:val>
                                            <p:strVal val="0-#ppt_w/2"/>
                                          </p:val>
                                        </p:tav>
                                        <p:tav tm="100000">
                                          <p:val>
                                            <p:strVal val="#ppt_x"/>
                                          </p:val>
                                        </p:tav>
                                      </p:tavLst>
                                    </p:anim>
                                    <p:anim calcmode="lin" valueType="num">
                                      <p:cBhvr additive="base">
                                        <p:cTn id="24" dur="500" fill="hold"/>
                                        <p:tgtEl>
                                          <p:spTgt spid="757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75784" grpId="0" autoUpdateAnimBg="0"/>
      <p:bldP spid="75785"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ChangeArrowheads="1"/>
          </p:cNvSpPr>
          <p:nvPr/>
        </p:nvSpPr>
        <p:spPr bwMode="auto">
          <a:xfrm>
            <a:off x="49213" y="981075"/>
            <a:ext cx="8915400" cy="487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en-US" altLang="zh-CN" sz="3200" b="1">
                <a:solidFill>
                  <a:srgbClr val="000000"/>
                </a:solidFill>
                <a:latin typeface="Times New Roman" pitchFamily="18" charset="0"/>
              </a:rPr>
              <a:t>With the Compound Trapezium Rule we know from above section the error in some estimate </a:t>
            </a:r>
            <a:r>
              <a:rPr lang="en-US" altLang="zh-CN" sz="3200" b="1" i="1">
                <a:solidFill>
                  <a:srgbClr val="000080"/>
                </a:solidFill>
                <a:latin typeface="Times New Roman" pitchFamily="18" charset="0"/>
              </a:rPr>
              <a:t>T</a:t>
            </a:r>
            <a:r>
              <a:rPr lang="en-US" altLang="zh-CN" sz="3200" b="1">
                <a:solidFill>
                  <a:srgbClr val="000080"/>
                </a:solidFill>
                <a:latin typeface="Times New Roman" pitchFamily="18" charset="0"/>
              </a:rPr>
              <a:t>(</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a:solidFill>
                  <a:srgbClr val="000080"/>
                </a:solidFill>
                <a:latin typeface="Times New Roman" pitchFamily="18" charset="0"/>
              </a:rPr>
              <a:t>) </a:t>
            </a:r>
            <a:r>
              <a:rPr lang="en-US" altLang="zh-CN" sz="3200" b="1">
                <a:solidFill>
                  <a:srgbClr val="000000"/>
                </a:solidFill>
                <a:latin typeface="Times New Roman" pitchFamily="18" charset="0"/>
              </a:rPr>
              <a:t>of the integral </a:t>
            </a:r>
            <a:r>
              <a:rPr lang="en-US" altLang="zh-CN" sz="3200" b="1" i="1">
                <a:solidFill>
                  <a:srgbClr val="000080"/>
                </a:solidFill>
                <a:latin typeface="Times New Roman" pitchFamily="18" charset="0"/>
              </a:rPr>
              <a:t>I </a:t>
            </a:r>
            <a:r>
              <a:rPr lang="en-US" altLang="zh-CN" sz="3200" b="1">
                <a:solidFill>
                  <a:srgbClr val="000000"/>
                </a:solidFill>
                <a:latin typeface="Times New Roman" pitchFamily="18" charset="0"/>
              </a:rPr>
              <a:t>using a step size </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 </a:t>
            </a:r>
            <a:r>
              <a:rPr lang="en-US" altLang="zh-CN" sz="3200" b="1">
                <a:solidFill>
                  <a:srgbClr val="000000"/>
                </a:solidFill>
                <a:latin typeface="Times New Roman" pitchFamily="18" charset="0"/>
              </a:rPr>
              <a:t>goes like </a:t>
            </a:r>
            <a:r>
              <a:rPr lang="en-US" altLang="zh-CN" sz="3200" b="1" i="1">
                <a:solidFill>
                  <a:srgbClr val="000080"/>
                </a:solidFill>
                <a:latin typeface="Times New Roman" pitchFamily="18" charset="0"/>
              </a:rPr>
              <a:t>c</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baseline="30000">
                <a:solidFill>
                  <a:srgbClr val="800080"/>
                </a:solidFill>
                <a:latin typeface="Times New Roman" pitchFamily="18" charset="0"/>
              </a:rPr>
              <a:t>2</a:t>
            </a:r>
            <a:r>
              <a:rPr lang="en-US" altLang="zh-CN" sz="3200" b="1">
                <a:solidFill>
                  <a:srgbClr val="800080"/>
                </a:solidFill>
                <a:latin typeface="Times New Roman" pitchFamily="18" charset="0"/>
              </a:rPr>
              <a:t> </a:t>
            </a:r>
            <a:r>
              <a:rPr lang="en-US" altLang="zh-CN" sz="3200" b="1">
                <a:solidFill>
                  <a:srgbClr val="000000"/>
                </a:solidFill>
                <a:latin typeface="Times New Roman" pitchFamily="18" charset="0"/>
              </a:rPr>
              <a:t>as </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a:solidFill>
                  <a:srgbClr val="000080"/>
                </a:solidFill>
                <a:latin typeface="Symbol" pitchFamily="18" charset="2"/>
              </a:rPr>
              <a:t>®</a:t>
            </a:r>
            <a:r>
              <a:rPr lang="en-US" altLang="zh-CN" sz="3200" b="1">
                <a:solidFill>
                  <a:srgbClr val="000080"/>
                </a:solidFill>
                <a:latin typeface="Times New Roman" pitchFamily="18" charset="0"/>
              </a:rPr>
              <a:t>0</a:t>
            </a:r>
            <a:r>
              <a:rPr lang="en-US" altLang="zh-CN" sz="3200" b="1">
                <a:solidFill>
                  <a:srgbClr val="000000"/>
                </a:solidFill>
                <a:latin typeface="Times New Roman" pitchFamily="18" charset="0"/>
              </a:rPr>
              <a:t>, for some constant </a:t>
            </a:r>
            <a:r>
              <a:rPr lang="en-US" altLang="zh-CN" sz="3200" b="1" i="1">
                <a:solidFill>
                  <a:srgbClr val="000080"/>
                </a:solidFill>
                <a:latin typeface="Times New Roman" pitchFamily="18" charset="0"/>
              </a:rPr>
              <a:t>c</a:t>
            </a:r>
            <a:r>
              <a:rPr lang="en-US" altLang="zh-CN" sz="3200" b="1">
                <a:solidFill>
                  <a:srgbClr val="000000"/>
                </a:solidFill>
                <a:latin typeface="Times New Roman" pitchFamily="18" charset="0"/>
              </a:rPr>
              <a:t>. Likewise the error in </a:t>
            </a:r>
            <a:r>
              <a:rPr lang="en-US" altLang="zh-CN" sz="3200" b="1" i="1">
                <a:solidFill>
                  <a:srgbClr val="000080"/>
                </a:solidFill>
                <a:latin typeface="Times New Roman" pitchFamily="18" charset="0"/>
              </a:rPr>
              <a:t>T</a:t>
            </a:r>
            <a:r>
              <a:rPr lang="en-US" altLang="zh-CN" sz="3200" b="1">
                <a:solidFill>
                  <a:srgbClr val="000080"/>
                </a:solidFill>
                <a:latin typeface="Times New Roman" pitchFamily="18" charset="0"/>
              </a:rPr>
              <a:t>(</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a:solidFill>
                  <a:srgbClr val="000080"/>
                </a:solidFill>
                <a:latin typeface="Times New Roman" pitchFamily="18" charset="0"/>
              </a:rPr>
              <a:t>/2) </a:t>
            </a:r>
            <a:r>
              <a:rPr lang="en-US" altLang="zh-CN" sz="3200" b="1">
                <a:solidFill>
                  <a:srgbClr val="000000"/>
                </a:solidFill>
                <a:latin typeface="Times New Roman" pitchFamily="18" charset="0"/>
              </a:rPr>
              <a:t>will be </a:t>
            </a:r>
            <a:r>
              <a:rPr lang="en-US" altLang="zh-CN" sz="3200" b="1" i="1">
                <a:solidFill>
                  <a:srgbClr val="000080"/>
                </a:solidFill>
                <a:latin typeface="Times New Roman" pitchFamily="18" charset="0"/>
              </a:rPr>
              <a:t>c</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baseline="30000">
                <a:solidFill>
                  <a:srgbClr val="800080"/>
                </a:solidFill>
                <a:latin typeface="Times New Roman" pitchFamily="18" charset="0"/>
              </a:rPr>
              <a:t>2</a:t>
            </a:r>
            <a:r>
              <a:rPr lang="en-US" altLang="zh-CN" sz="3200" b="1">
                <a:solidFill>
                  <a:srgbClr val="000080"/>
                </a:solidFill>
                <a:latin typeface="Times New Roman" pitchFamily="18" charset="0"/>
              </a:rPr>
              <a:t>/4</a:t>
            </a:r>
            <a:r>
              <a:rPr lang="en-US" altLang="zh-CN" sz="3200" b="1">
                <a:solidFill>
                  <a:srgbClr val="000000"/>
                </a:solidFill>
                <a:latin typeface="Times New Roman" pitchFamily="18" charset="0"/>
              </a:rPr>
              <a:t>. From this we may construct a revised estimate </a:t>
            </a:r>
            <a:r>
              <a:rPr lang="en-US" altLang="zh-CN" sz="3200" b="1" i="1">
                <a:solidFill>
                  <a:srgbClr val="000080"/>
                </a:solidFill>
                <a:latin typeface="Times New Roman" pitchFamily="18" charset="0"/>
              </a:rPr>
              <a:t>T</a:t>
            </a:r>
            <a:r>
              <a:rPr lang="en-US" altLang="zh-CN" sz="3200" b="1" baseline="30000">
                <a:solidFill>
                  <a:srgbClr val="800080"/>
                </a:solidFill>
                <a:latin typeface="Times New Roman" pitchFamily="18" charset="0"/>
              </a:rPr>
              <a:t>(1)</a:t>
            </a:r>
            <a:r>
              <a:rPr lang="en-US" altLang="zh-CN" sz="3200" b="1">
                <a:solidFill>
                  <a:srgbClr val="000080"/>
                </a:solidFill>
                <a:latin typeface="Times New Roman" pitchFamily="18" charset="0"/>
              </a:rPr>
              <a:t>(</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a:solidFill>
                  <a:srgbClr val="000080"/>
                </a:solidFill>
                <a:latin typeface="Times New Roman" pitchFamily="18" charset="0"/>
              </a:rPr>
              <a:t>/2) </a:t>
            </a:r>
            <a:r>
              <a:rPr lang="en-US" altLang="zh-CN" sz="3200" b="1">
                <a:solidFill>
                  <a:srgbClr val="000000"/>
                </a:solidFill>
                <a:latin typeface="Times New Roman" pitchFamily="18" charset="0"/>
              </a:rPr>
              <a:t>for </a:t>
            </a:r>
            <a:r>
              <a:rPr lang="en-US" altLang="zh-CN" sz="3200" b="1" i="1">
                <a:solidFill>
                  <a:srgbClr val="000080"/>
                </a:solidFill>
                <a:latin typeface="Times New Roman" pitchFamily="18" charset="0"/>
              </a:rPr>
              <a:t>I </a:t>
            </a:r>
            <a:r>
              <a:rPr lang="en-US" altLang="zh-CN" sz="3200" b="1">
                <a:solidFill>
                  <a:srgbClr val="000000"/>
                </a:solidFill>
                <a:latin typeface="Times New Roman" pitchFamily="18" charset="0"/>
              </a:rPr>
              <a:t>as a weighted mean of </a:t>
            </a:r>
            <a:r>
              <a:rPr lang="en-US" altLang="zh-CN" sz="3200" b="1" i="1">
                <a:solidFill>
                  <a:srgbClr val="000080"/>
                </a:solidFill>
                <a:latin typeface="Times New Roman" pitchFamily="18" charset="0"/>
              </a:rPr>
              <a:t>T</a:t>
            </a:r>
            <a:r>
              <a:rPr lang="en-US" altLang="zh-CN" sz="3200" b="1">
                <a:solidFill>
                  <a:srgbClr val="000080"/>
                </a:solidFill>
                <a:latin typeface="Times New Roman" pitchFamily="18" charset="0"/>
              </a:rPr>
              <a:t>(</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a:solidFill>
                  <a:srgbClr val="000080"/>
                </a:solidFill>
                <a:latin typeface="Times New Roman" pitchFamily="18" charset="0"/>
              </a:rPr>
              <a:t>) </a:t>
            </a:r>
            <a:r>
              <a:rPr lang="en-US" altLang="zh-CN" sz="3200" b="1">
                <a:solidFill>
                  <a:srgbClr val="000000"/>
                </a:solidFill>
                <a:latin typeface="Times New Roman" pitchFamily="18" charset="0"/>
              </a:rPr>
              <a:t>and </a:t>
            </a:r>
            <a:r>
              <a:rPr lang="en-US" altLang="zh-CN" sz="3200" b="1" i="1">
                <a:solidFill>
                  <a:srgbClr val="000080"/>
                </a:solidFill>
                <a:latin typeface="Times New Roman" pitchFamily="18" charset="0"/>
              </a:rPr>
              <a:t>T</a:t>
            </a:r>
            <a:r>
              <a:rPr lang="en-US" altLang="zh-CN" sz="3200" b="1">
                <a:solidFill>
                  <a:srgbClr val="000080"/>
                </a:solidFill>
                <a:latin typeface="Times New Roman" pitchFamily="18" charset="0"/>
              </a:rPr>
              <a:t>(</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a:solidFill>
                  <a:srgbClr val="000080"/>
                </a:solidFill>
                <a:latin typeface="Times New Roman" pitchFamily="18" charset="0"/>
              </a:rPr>
              <a:t>/2)</a:t>
            </a:r>
            <a:r>
              <a:rPr lang="en-US" altLang="zh-CN" sz="3200" b="1">
                <a:solidFill>
                  <a:srgbClr val="000000"/>
                </a:solidFill>
                <a:latin typeface="Times New Roman" pitchFamily="18" charset="0"/>
              </a:rPr>
              <a:t>:</a:t>
            </a:r>
          </a:p>
        </p:txBody>
      </p:sp>
      <p:sp>
        <p:nvSpPr>
          <p:cNvPr id="57347" name="Text Box 3"/>
          <p:cNvSpPr txBox="1">
            <a:spLocks noChangeArrowheads="1"/>
          </p:cNvSpPr>
          <p:nvPr/>
        </p:nvSpPr>
        <p:spPr bwMode="auto">
          <a:xfrm>
            <a:off x="468313" y="188913"/>
            <a:ext cx="440055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b="1">
                <a:latin typeface="Times New Roman" pitchFamily="18" charset="0"/>
              </a:rPr>
              <a:t> Romberg integration</a:t>
            </a:r>
            <a:endParaRPr lang="en-US" altLang="zh-CN"/>
          </a:p>
        </p:txBody>
      </p:sp>
      <p:sp>
        <p:nvSpPr>
          <p:cNvPr id="57348" name="Rectangle 4"/>
          <p:cNvSpPr>
            <a:spLocks noChangeArrowheads="1"/>
          </p:cNvSpPr>
          <p:nvPr/>
        </p:nvSpPr>
        <p:spPr bwMode="auto">
          <a:xfrm>
            <a:off x="5435600" y="404813"/>
            <a:ext cx="31527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龙贝格求积公式</a:t>
            </a:r>
            <a:r>
              <a:rPr lang="zh-CN" altLang="en-US" sz="3200"/>
              <a:t> </a:t>
            </a:r>
          </a:p>
        </p:txBody>
      </p:sp>
      <p:sp>
        <p:nvSpPr>
          <p:cNvPr id="222213" name="Rectangle 5"/>
          <p:cNvSpPr>
            <a:spLocks noChangeArrowheads="1"/>
          </p:cNvSpPr>
          <p:nvPr/>
        </p:nvSpPr>
        <p:spPr bwMode="auto">
          <a:xfrm>
            <a:off x="395288" y="5805488"/>
            <a:ext cx="295275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en-US" altLang="zh-CN" sz="3200" b="1" i="1">
                <a:solidFill>
                  <a:srgbClr val="000080"/>
                </a:solidFill>
                <a:latin typeface="Times New Roman" pitchFamily="18" charset="0"/>
              </a:rPr>
              <a:t>T</a:t>
            </a:r>
            <a:r>
              <a:rPr lang="en-US" altLang="zh-CN" sz="3200" b="1">
                <a:solidFill>
                  <a:srgbClr val="000080"/>
                </a:solidFill>
                <a:latin typeface="Times New Roman" pitchFamily="18" charset="0"/>
              </a:rPr>
              <a:t>(</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a:solidFill>
                  <a:srgbClr val="000080"/>
                </a:solidFill>
                <a:latin typeface="Times New Roman" pitchFamily="18" charset="0"/>
              </a:rPr>
              <a:t>)     </a:t>
            </a:r>
            <a:r>
              <a:rPr lang="en-US" altLang="zh-CN" sz="3200" b="1" i="1">
                <a:solidFill>
                  <a:srgbClr val="000080"/>
                </a:solidFill>
                <a:latin typeface="Times New Roman" pitchFamily="18" charset="0"/>
              </a:rPr>
              <a:t>c</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baseline="30000">
                <a:solidFill>
                  <a:srgbClr val="800080"/>
                </a:solidFill>
                <a:latin typeface="Times New Roman" pitchFamily="18" charset="0"/>
              </a:rPr>
              <a:t>2</a:t>
            </a:r>
            <a:endParaRPr lang="en-US" altLang="zh-CN" sz="3200" b="1">
              <a:solidFill>
                <a:srgbClr val="000000"/>
              </a:solidFill>
              <a:latin typeface="Times New Roman" pitchFamily="18" charset="0"/>
            </a:endParaRPr>
          </a:p>
        </p:txBody>
      </p:sp>
      <p:sp>
        <p:nvSpPr>
          <p:cNvPr id="222214" name="Rectangle 6"/>
          <p:cNvSpPr>
            <a:spLocks noChangeArrowheads="1"/>
          </p:cNvSpPr>
          <p:nvPr/>
        </p:nvSpPr>
        <p:spPr bwMode="auto">
          <a:xfrm>
            <a:off x="3995738" y="5876925"/>
            <a:ext cx="446405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en-US" altLang="zh-CN" sz="3200" b="1" i="1">
                <a:solidFill>
                  <a:srgbClr val="000080"/>
                </a:solidFill>
                <a:latin typeface="Times New Roman" pitchFamily="18" charset="0"/>
              </a:rPr>
              <a:t>T</a:t>
            </a:r>
            <a:r>
              <a:rPr lang="en-US" altLang="zh-CN" sz="3200" b="1">
                <a:solidFill>
                  <a:srgbClr val="000080"/>
                </a:solidFill>
                <a:latin typeface="Times New Roman" pitchFamily="18" charset="0"/>
              </a:rPr>
              <a:t>(</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a:solidFill>
                  <a:srgbClr val="000080"/>
                </a:solidFill>
                <a:latin typeface="Times New Roman" pitchFamily="18" charset="0"/>
              </a:rPr>
              <a:t>/2)      </a:t>
            </a:r>
            <a:r>
              <a:rPr lang="en-US" altLang="zh-CN" sz="3200" b="1" i="1">
                <a:solidFill>
                  <a:srgbClr val="000080"/>
                </a:solidFill>
                <a:latin typeface="Times New Roman" pitchFamily="18" charset="0"/>
              </a:rPr>
              <a:t>c</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baseline="30000">
                <a:solidFill>
                  <a:srgbClr val="800080"/>
                </a:solidFill>
                <a:latin typeface="Times New Roman" pitchFamily="18" charset="0"/>
              </a:rPr>
              <a:t>2</a:t>
            </a:r>
            <a:r>
              <a:rPr lang="en-US" altLang="zh-CN" sz="3200" b="1">
                <a:solidFill>
                  <a:srgbClr val="000080"/>
                </a:solidFill>
                <a:latin typeface="Times New Roman" pitchFamily="18" charset="0"/>
              </a:rPr>
              <a:t>/4</a:t>
            </a:r>
            <a:endParaRPr lang="en-US" altLang="zh-CN" sz="3200" b="1">
              <a:solidFill>
                <a:srgbClr val="000000"/>
              </a:solidFill>
              <a:latin typeface="Times New Roman"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2210"/>
                                        </p:tgtEl>
                                        <p:attrNameLst>
                                          <p:attrName>style.visibility</p:attrName>
                                        </p:attrNameLst>
                                      </p:cBhvr>
                                      <p:to>
                                        <p:strVal val="visible"/>
                                      </p:to>
                                    </p:set>
                                    <p:anim calcmode="lin" valueType="num">
                                      <p:cBhvr additive="base">
                                        <p:cTn id="7" dur="500" fill="hold"/>
                                        <p:tgtEl>
                                          <p:spTgt spid="222210"/>
                                        </p:tgtEl>
                                        <p:attrNameLst>
                                          <p:attrName>ppt_x</p:attrName>
                                        </p:attrNameLst>
                                      </p:cBhvr>
                                      <p:tavLst>
                                        <p:tav tm="0">
                                          <p:val>
                                            <p:strVal val="0-#ppt_w/2"/>
                                          </p:val>
                                        </p:tav>
                                        <p:tav tm="100000">
                                          <p:val>
                                            <p:strVal val="#ppt_x"/>
                                          </p:val>
                                        </p:tav>
                                      </p:tavLst>
                                    </p:anim>
                                    <p:anim calcmode="lin" valueType="num">
                                      <p:cBhvr additive="base">
                                        <p:cTn id="8" dur="500" fill="hold"/>
                                        <p:tgtEl>
                                          <p:spTgt spid="22221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2213"/>
                                        </p:tgtEl>
                                        <p:attrNameLst>
                                          <p:attrName>style.visibility</p:attrName>
                                        </p:attrNameLst>
                                      </p:cBhvr>
                                      <p:to>
                                        <p:strVal val="visible"/>
                                      </p:to>
                                    </p:set>
                                    <p:anim calcmode="lin" valueType="num">
                                      <p:cBhvr additive="base">
                                        <p:cTn id="13" dur="500" fill="hold"/>
                                        <p:tgtEl>
                                          <p:spTgt spid="222213"/>
                                        </p:tgtEl>
                                        <p:attrNameLst>
                                          <p:attrName>ppt_x</p:attrName>
                                        </p:attrNameLst>
                                      </p:cBhvr>
                                      <p:tavLst>
                                        <p:tav tm="0">
                                          <p:val>
                                            <p:strVal val="0-#ppt_w/2"/>
                                          </p:val>
                                        </p:tav>
                                        <p:tav tm="100000">
                                          <p:val>
                                            <p:strVal val="#ppt_x"/>
                                          </p:val>
                                        </p:tav>
                                      </p:tavLst>
                                    </p:anim>
                                    <p:anim calcmode="lin" valueType="num">
                                      <p:cBhvr additive="base">
                                        <p:cTn id="14" dur="500" fill="hold"/>
                                        <p:tgtEl>
                                          <p:spTgt spid="22221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2214"/>
                                        </p:tgtEl>
                                        <p:attrNameLst>
                                          <p:attrName>style.visibility</p:attrName>
                                        </p:attrNameLst>
                                      </p:cBhvr>
                                      <p:to>
                                        <p:strVal val="visible"/>
                                      </p:to>
                                    </p:set>
                                    <p:anim calcmode="lin" valueType="num">
                                      <p:cBhvr additive="base">
                                        <p:cTn id="19" dur="500" fill="hold"/>
                                        <p:tgtEl>
                                          <p:spTgt spid="222214"/>
                                        </p:tgtEl>
                                        <p:attrNameLst>
                                          <p:attrName>ppt_x</p:attrName>
                                        </p:attrNameLst>
                                      </p:cBhvr>
                                      <p:tavLst>
                                        <p:tav tm="0">
                                          <p:val>
                                            <p:strVal val="0-#ppt_w/2"/>
                                          </p:val>
                                        </p:tav>
                                        <p:tav tm="100000">
                                          <p:val>
                                            <p:strVal val="#ppt_x"/>
                                          </p:val>
                                        </p:tav>
                                      </p:tavLst>
                                    </p:anim>
                                    <p:anim calcmode="lin" valueType="num">
                                      <p:cBhvr additive="base">
                                        <p:cTn id="20" dur="500" fill="hold"/>
                                        <p:tgtEl>
                                          <p:spTgt spid="2222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0" grpId="0" autoUpdateAnimBg="0"/>
      <p:bldP spid="222213" grpId="0" autoUpdateAnimBg="0"/>
      <p:bldP spid="222214"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9"/>
          <p:cNvGrpSpPr>
            <a:grpSpLocks/>
          </p:cNvGrpSpPr>
          <p:nvPr/>
        </p:nvGrpSpPr>
        <p:grpSpPr bwMode="auto">
          <a:xfrm>
            <a:off x="250825" y="-26988"/>
            <a:ext cx="5905500" cy="5153026"/>
            <a:chOff x="703" y="184"/>
            <a:chExt cx="3946" cy="3246"/>
          </a:xfrm>
        </p:grpSpPr>
        <p:pic>
          <p:nvPicPr>
            <p:cNvPr id="5837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 y="184"/>
              <a:ext cx="3946" cy="2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8375" name="Group 8"/>
            <p:cNvGrpSpPr>
              <a:grpSpLocks/>
            </p:cNvGrpSpPr>
            <p:nvPr/>
          </p:nvGrpSpPr>
          <p:grpSpPr bwMode="auto">
            <a:xfrm>
              <a:off x="1519" y="3088"/>
              <a:ext cx="2894" cy="342"/>
              <a:chOff x="1519" y="3088"/>
              <a:chExt cx="2894" cy="342"/>
            </a:xfrm>
          </p:grpSpPr>
          <p:pic>
            <p:nvPicPr>
              <p:cNvPr id="5837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9" y="3163"/>
                <a:ext cx="2676"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7" name="Text Box 6"/>
              <p:cNvSpPr txBox="1">
                <a:spLocks noChangeArrowheads="1"/>
              </p:cNvSpPr>
              <p:nvPr/>
            </p:nvSpPr>
            <p:spPr bwMode="auto">
              <a:xfrm>
                <a:off x="3651" y="3099"/>
                <a:ext cx="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2800" b="1">
                    <a:latin typeface="Times New Roman" pitchFamily="18" charset="0"/>
                  </a:rPr>
                  <a:t>2</a:t>
                </a:r>
              </a:p>
            </p:txBody>
          </p:sp>
          <p:sp>
            <p:nvSpPr>
              <p:cNvPr id="58378" name="Text Box 7"/>
              <p:cNvSpPr txBox="1">
                <a:spLocks noChangeArrowheads="1"/>
              </p:cNvSpPr>
              <p:nvPr/>
            </p:nvSpPr>
            <p:spPr bwMode="auto">
              <a:xfrm>
                <a:off x="4105" y="3088"/>
                <a:ext cx="3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2800" b="1">
                    <a:latin typeface="Times New Roman" pitchFamily="18" charset="0"/>
                  </a:rPr>
                  <a:t>/2</a:t>
                </a:r>
              </a:p>
            </p:txBody>
          </p:sp>
        </p:grpSp>
      </p:grpSp>
      <p:sp>
        <p:nvSpPr>
          <p:cNvPr id="245770" name="Rectangle 10"/>
          <p:cNvSpPr>
            <a:spLocks noChangeArrowheads="1"/>
          </p:cNvSpPr>
          <p:nvPr/>
        </p:nvSpPr>
        <p:spPr bwMode="auto">
          <a:xfrm>
            <a:off x="6046788" y="3686175"/>
            <a:ext cx="2557462"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en-US" altLang="zh-CN" sz="3200" b="1" i="1">
                <a:solidFill>
                  <a:srgbClr val="000080"/>
                </a:solidFill>
                <a:latin typeface="Times New Roman" pitchFamily="18" charset="0"/>
              </a:rPr>
              <a:t>T</a:t>
            </a:r>
            <a:r>
              <a:rPr lang="en-US" altLang="zh-CN" sz="3200" b="1">
                <a:solidFill>
                  <a:srgbClr val="000080"/>
                </a:solidFill>
                <a:latin typeface="Times New Roman" pitchFamily="18" charset="0"/>
              </a:rPr>
              <a:t>(</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a:solidFill>
                  <a:srgbClr val="000080"/>
                </a:solidFill>
                <a:latin typeface="Times New Roman" pitchFamily="18" charset="0"/>
              </a:rPr>
              <a:t>)     </a:t>
            </a:r>
            <a:r>
              <a:rPr lang="en-US" altLang="zh-CN" sz="3200" b="1" i="1">
                <a:solidFill>
                  <a:srgbClr val="000080"/>
                </a:solidFill>
                <a:latin typeface="Times New Roman" pitchFamily="18" charset="0"/>
              </a:rPr>
              <a:t>c</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baseline="30000">
                <a:solidFill>
                  <a:srgbClr val="800080"/>
                </a:solidFill>
                <a:latin typeface="Times New Roman" pitchFamily="18" charset="0"/>
              </a:rPr>
              <a:t>2</a:t>
            </a:r>
            <a:endParaRPr lang="en-US" altLang="zh-CN" sz="3200" b="1">
              <a:solidFill>
                <a:srgbClr val="000000"/>
              </a:solidFill>
              <a:latin typeface="Times New Roman" pitchFamily="18" charset="0"/>
            </a:endParaRPr>
          </a:p>
        </p:txBody>
      </p:sp>
      <p:sp>
        <p:nvSpPr>
          <p:cNvPr id="245771" name="Rectangle 11"/>
          <p:cNvSpPr>
            <a:spLocks noChangeArrowheads="1"/>
          </p:cNvSpPr>
          <p:nvPr/>
        </p:nvSpPr>
        <p:spPr bwMode="auto">
          <a:xfrm>
            <a:off x="6011863" y="4405313"/>
            <a:ext cx="3097212"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en-US" altLang="zh-CN" sz="3200" b="1" i="1">
                <a:solidFill>
                  <a:srgbClr val="000080"/>
                </a:solidFill>
                <a:latin typeface="Times New Roman" pitchFamily="18" charset="0"/>
              </a:rPr>
              <a:t>T</a:t>
            </a:r>
            <a:r>
              <a:rPr lang="en-US" altLang="zh-CN" sz="3200" b="1">
                <a:solidFill>
                  <a:srgbClr val="000080"/>
                </a:solidFill>
                <a:latin typeface="Times New Roman" pitchFamily="18" charset="0"/>
              </a:rPr>
              <a:t>(</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a:solidFill>
                  <a:srgbClr val="000080"/>
                </a:solidFill>
                <a:latin typeface="Times New Roman" pitchFamily="18" charset="0"/>
              </a:rPr>
              <a:t>/2)    </a:t>
            </a:r>
            <a:r>
              <a:rPr lang="en-US" altLang="zh-CN" sz="3200" b="1" i="1">
                <a:solidFill>
                  <a:srgbClr val="000080"/>
                </a:solidFill>
                <a:latin typeface="Times New Roman" pitchFamily="18" charset="0"/>
              </a:rPr>
              <a:t>c</a:t>
            </a:r>
            <a:r>
              <a:rPr lang="en-US" altLang="zh-CN" sz="3200" b="1">
                <a:solidFill>
                  <a:srgbClr val="008000"/>
                </a:solidFill>
                <a:latin typeface="Symbol" pitchFamily="18" charset="2"/>
              </a:rPr>
              <a:t>D</a:t>
            </a:r>
            <a:r>
              <a:rPr lang="en-US" altLang="zh-CN" sz="3200" b="1" i="1">
                <a:solidFill>
                  <a:srgbClr val="000080"/>
                </a:solidFill>
                <a:latin typeface="Times New Roman" pitchFamily="18" charset="0"/>
              </a:rPr>
              <a:t>x</a:t>
            </a:r>
            <a:r>
              <a:rPr lang="en-US" altLang="zh-CN" sz="3200" b="1" baseline="30000">
                <a:solidFill>
                  <a:srgbClr val="800080"/>
                </a:solidFill>
                <a:latin typeface="Times New Roman" pitchFamily="18" charset="0"/>
              </a:rPr>
              <a:t>2</a:t>
            </a:r>
            <a:r>
              <a:rPr lang="en-US" altLang="zh-CN" sz="3200" b="1">
                <a:solidFill>
                  <a:srgbClr val="000080"/>
                </a:solidFill>
                <a:latin typeface="Times New Roman" pitchFamily="18" charset="0"/>
              </a:rPr>
              <a:t>/4</a:t>
            </a:r>
            <a:endParaRPr lang="en-US" altLang="zh-CN" sz="3200" b="1">
              <a:solidFill>
                <a:srgbClr val="000000"/>
              </a:solidFill>
              <a:latin typeface="Times New Roman" pitchFamily="18" charset="0"/>
            </a:endParaRPr>
          </a:p>
        </p:txBody>
      </p:sp>
      <p:pic>
        <p:nvPicPr>
          <p:cNvPr id="58373"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5365750"/>
            <a:ext cx="8820150" cy="1376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70"/>
                                        </p:tgtEl>
                                        <p:attrNameLst>
                                          <p:attrName>style.visibility</p:attrName>
                                        </p:attrNameLst>
                                      </p:cBhvr>
                                      <p:to>
                                        <p:strVal val="visible"/>
                                      </p:to>
                                    </p:set>
                                    <p:anim calcmode="lin" valueType="num">
                                      <p:cBhvr additive="base">
                                        <p:cTn id="7" dur="500" fill="hold"/>
                                        <p:tgtEl>
                                          <p:spTgt spid="245770"/>
                                        </p:tgtEl>
                                        <p:attrNameLst>
                                          <p:attrName>ppt_x</p:attrName>
                                        </p:attrNameLst>
                                      </p:cBhvr>
                                      <p:tavLst>
                                        <p:tav tm="0">
                                          <p:val>
                                            <p:strVal val="0-#ppt_w/2"/>
                                          </p:val>
                                        </p:tav>
                                        <p:tav tm="100000">
                                          <p:val>
                                            <p:strVal val="#ppt_x"/>
                                          </p:val>
                                        </p:tav>
                                      </p:tavLst>
                                    </p:anim>
                                    <p:anim calcmode="lin" valueType="num">
                                      <p:cBhvr additive="base">
                                        <p:cTn id="8" dur="500" fill="hold"/>
                                        <p:tgtEl>
                                          <p:spTgt spid="2457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5771"/>
                                        </p:tgtEl>
                                        <p:attrNameLst>
                                          <p:attrName>style.visibility</p:attrName>
                                        </p:attrNameLst>
                                      </p:cBhvr>
                                      <p:to>
                                        <p:strVal val="visible"/>
                                      </p:to>
                                    </p:set>
                                    <p:anim calcmode="lin" valueType="num">
                                      <p:cBhvr additive="base">
                                        <p:cTn id="13" dur="500" fill="hold"/>
                                        <p:tgtEl>
                                          <p:spTgt spid="245771"/>
                                        </p:tgtEl>
                                        <p:attrNameLst>
                                          <p:attrName>ppt_x</p:attrName>
                                        </p:attrNameLst>
                                      </p:cBhvr>
                                      <p:tavLst>
                                        <p:tav tm="0">
                                          <p:val>
                                            <p:strVal val="0-#ppt_w/2"/>
                                          </p:val>
                                        </p:tav>
                                        <p:tav tm="100000">
                                          <p:val>
                                            <p:strVal val="#ppt_x"/>
                                          </p:val>
                                        </p:tav>
                                      </p:tavLst>
                                    </p:anim>
                                    <p:anim calcmode="lin" valueType="num">
                                      <p:cBhvr additive="base">
                                        <p:cTn id="14" dur="500" fill="hold"/>
                                        <p:tgtEl>
                                          <p:spTgt spid="2457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70" grpId="0" autoUpdateAnimBg="0"/>
      <p:bldP spid="245771"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25" y="404813"/>
            <a:ext cx="8820150" cy="1376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79" name="Rectangle 3"/>
          <p:cNvSpPr>
            <a:spLocks noChangeArrowheads="1"/>
          </p:cNvSpPr>
          <p:nvPr/>
        </p:nvSpPr>
        <p:spPr bwMode="auto">
          <a:xfrm>
            <a:off x="179388" y="3354388"/>
            <a:ext cx="8964612"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spcBef>
                <a:spcPct val="50000"/>
              </a:spcBef>
            </a:pPr>
            <a:r>
              <a:rPr lang="en-US" altLang="zh-CN" sz="3600">
                <a:solidFill>
                  <a:srgbClr val="000000"/>
                </a:solidFill>
                <a:latin typeface="Times New Roman" pitchFamily="18" charset="0"/>
              </a:rPr>
              <a:t>By choosing the weighting factor </a:t>
            </a:r>
            <a:r>
              <a:rPr lang="en-US" altLang="zh-CN" sz="3600">
                <a:solidFill>
                  <a:srgbClr val="008000"/>
                </a:solidFill>
                <a:latin typeface="Symbol" pitchFamily="18" charset="2"/>
              </a:rPr>
              <a:t>a </a:t>
            </a:r>
            <a:r>
              <a:rPr lang="en-US" altLang="zh-CN" sz="3600">
                <a:solidFill>
                  <a:srgbClr val="000080"/>
                </a:solidFill>
                <a:latin typeface="Times New Roman" pitchFamily="18" charset="0"/>
              </a:rPr>
              <a:t>= 4/3 </a:t>
            </a:r>
            <a:r>
              <a:rPr lang="en-US" altLang="zh-CN" sz="3600">
                <a:solidFill>
                  <a:srgbClr val="000000"/>
                </a:solidFill>
                <a:latin typeface="Times New Roman" pitchFamily="18" charset="0"/>
              </a:rPr>
              <a:t>we eliminate the leading order (</a:t>
            </a:r>
            <a:r>
              <a:rPr lang="en-US" altLang="zh-CN" sz="3600" i="1">
                <a:solidFill>
                  <a:srgbClr val="000080"/>
                </a:solidFill>
                <a:latin typeface="Times New Roman" pitchFamily="18" charset="0"/>
              </a:rPr>
              <a:t>O</a:t>
            </a:r>
            <a:r>
              <a:rPr lang="en-US" altLang="zh-CN" sz="3600">
                <a:solidFill>
                  <a:srgbClr val="000080"/>
                </a:solidFill>
                <a:latin typeface="Times New Roman" pitchFamily="18" charset="0"/>
              </a:rPr>
              <a:t>(</a:t>
            </a:r>
            <a:r>
              <a:rPr lang="en-US" altLang="zh-CN" sz="3600">
                <a:solidFill>
                  <a:srgbClr val="008000"/>
                </a:solidFill>
                <a:latin typeface="Symbol" pitchFamily="18" charset="2"/>
              </a:rPr>
              <a:t>D</a:t>
            </a:r>
            <a:r>
              <a:rPr lang="en-US" altLang="zh-CN" sz="3600" i="1">
                <a:solidFill>
                  <a:srgbClr val="000080"/>
                </a:solidFill>
                <a:latin typeface="Times New Roman" pitchFamily="18" charset="0"/>
              </a:rPr>
              <a:t>x</a:t>
            </a:r>
            <a:r>
              <a:rPr lang="en-US" altLang="zh-CN" sz="3600" baseline="30000">
                <a:solidFill>
                  <a:srgbClr val="800080"/>
                </a:solidFill>
                <a:latin typeface="Times New Roman" pitchFamily="18" charset="0"/>
              </a:rPr>
              <a:t>2</a:t>
            </a:r>
            <a:r>
              <a:rPr lang="en-US" altLang="zh-CN" sz="3600">
                <a:solidFill>
                  <a:srgbClr val="000080"/>
                </a:solidFill>
                <a:latin typeface="Times New Roman" pitchFamily="18" charset="0"/>
              </a:rPr>
              <a:t>)</a:t>
            </a:r>
            <a:r>
              <a:rPr lang="en-US" altLang="zh-CN" sz="3600">
                <a:solidFill>
                  <a:srgbClr val="000000"/>
                </a:solidFill>
                <a:latin typeface="Times New Roman" pitchFamily="18" charset="0"/>
              </a:rPr>
              <a:t>) error </a:t>
            </a:r>
            <a:r>
              <a:rPr lang="en-US" altLang="zh-CN" sz="3200">
                <a:solidFill>
                  <a:srgbClr val="000000"/>
                </a:solidFill>
                <a:latin typeface="Times New Roman" pitchFamily="18" charset="0"/>
              </a:rPr>
              <a:t>terms</a:t>
            </a:r>
            <a:r>
              <a:rPr lang="en-US" altLang="zh-CN" sz="3600">
                <a:solidFill>
                  <a:srgbClr val="000000"/>
                </a:solidFill>
                <a:latin typeface="Times New Roman" pitchFamily="18" charset="0"/>
              </a:rPr>
              <a:t>, relegating the error to </a:t>
            </a:r>
            <a:r>
              <a:rPr lang="en-US" altLang="zh-CN" sz="3600" i="1">
                <a:solidFill>
                  <a:srgbClr val="000080"/>
                </a:solidFill>
                <a:latin typeface="Times New Roman" pitchFamily="18" charset="0"/>
              </a:rPr>
              <a:t>O</a:t>
            </a:r>
            <a:r>
              <a:rPr lang="en-US" altLang="zh-CN" sz="3600">
                <a:solidFill>
                  <a:srgbClr val="000080"/>
                </a:solidFill>
                <a:latin typeface="Times New Roman" pitchFamily="18" charset="0"/>
              </a:rPr>
              <a:t>(</a:t>
            </a:r>
            <a:r>
              <a:rPr lang="en-US" altLang="zh-CN" sz="3600">
                <a:solidFill>
                  <a:srgbClr val="008000"/>
                </a:solidFill>
                <a:latin typeface="Symbol" pitchFamily="18" charset="2"/>
              </a:rPr>
              <a:t>D</a:t>
            </a:r>
            <a:r>
              <a:rPr lang="en-US" altLang="zh-CN" sz="3600" i="1">
                <a:solidFill>
                  <a:srgbClr val="000080"/>
                </a:solidFill>
                <a:latin typeface="Times New Roman" pitchFamily="18" charset="0"/>
              </a:rPr>
              <a:t>x</a:t>
            </a:r>
            <a:r>
              <a:rPr lang="en-US" altLang="zh-CN" sz="3600" baseline="30000">
                <a:solidFill>
                  <a:srgbClr val="800080"/>
                </a:solidFill>
                <a:latin typeface="Times New Roman" pitchFamily="18" charset="0"/>
              </a:rPr>
              <a:t>4</a:t>
            </a:r>
            <a:r>
              <a:rPr lang="en-US" altLang="zh-CN" sz="3600">
                <a:solidFill>
                  <a:srgbClr val="000080"/>
                </a:solidFill>
                <a:latin typeface="Times New Roman" pitchFamily="18" charset="0"/>
              </a:rPr>
              <a:t>)</a:t>
            </a:r>
            <a:r>
              <a:rPr lang="en-US" altLang="zh-CN" sz="3600">
                <a:solidFill>
                  <a:srgbClr val="000000"/>
                </a:solidFill>
                <a:latin typeface="Times New Roman" pitchFamily="18" charset="0"/>
              </a:rPr>
              <a:t>. Thus we have </a:t>
            </a:r>
          </a:p>
        </p:txBody>
      </p:sp>
      <p:pic>
        <p:nvPicPr>
          <p:cNvPr id="245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5730875"/>
            <a:ext cx="7543800"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2" name="Rectangle 6"/>
          <p:cNvSpPr>
            <a:spLocks noChangeArrowheads="1"/>
          </p:cNvSpPr>
          <p:nvPr/>
        </p:nvSpPr>
        <p:spPr bwMode="auto">
          <a:xfrm>
            <a:off x="2843213" y="2622550"/>
            <a:ext cx="2303462"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spcBef>
                <a:spcPct val="50000"/>
              </a:spcBef>
            </a:pPr>
            <a:r>
              <a:rPr lang="en-US" altLang="zh-CN" sz="3600" b="1">
                <a:solidFill>
                  <a:srgbClr val="008000"/>
                </a:solidFill>
                <a:latin typeface="Symbol" pitchFamily="18" charset="2"/>
              </a:rPr>
              <a:t>a/</a:t>
            </a:r>
            <a:r>
              <a:rPr lang="en-US" altLang="zh-CN" sz="3600" b="1">
                <a:solidFill>
                  <a:srgbClr val="000080"/>
                </a:solidFill>
                <a:latin typeface="Times New Roman" pitchFamily="18" charset="0"/>
              </a:rPr>
              <a:t>4+1-</a:t>
            </a:r>
            <a:r>
              <a:rPr lang="en-US" altLang="zh-CN" sz="3600" b="1">
                <a:solidFill>
                  <a:srgbClr val="008000"/>
                </a:solidFill>
                <a:latin typeface="Symbol" pitchFamily="18" charset="2"/>
              </a:rPr>
              <a:t>a</a:t>
            </a:r>
            <a:r>
              <a:rPr lang="en-US" altLang="zh-CN" sz="3600" b="1">
                <a:solidFill>
                  <a:srgbClr val="000080"/>
                </a:solidFill>
                <a:latin typeface="Times New Roman" pitchFamily="18" charset="0"/>
              </a:rPr>
              <a:t>=0</a:t>
            </a:r>
          </a:p>
        </p:txBody>
      </p:sp>
      <p:sp>
        <p:nvSpPr>
          <p:cNvPr id="24583" name="Rectangle 7"/>
          <p:cNvSpPr>
            <a:spLocks noChangeArrowheads="1"/>
          </p:cNvSpPr>
          <p:nvPr/>
        </p:nvSpPr>
        <p:spPr bwMode="auto">
          <a:xfrm>
            <a:off x="5364163" y="2551113"/>
            <a:ext cx="1655762"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spcBef>
                <a:spcPct val="50000"/>
              </a:spcBef>
            </a:pPr>
            <a:r>
              <a:rPr lang="en-US" altLang="zh-CN" sz="3600" b="1">
                <a:solidFill>
                  <a:srgbClr val="008000"/>
                </a:solidFill>
                <a:latin typeface="Symbol" pitchFamily="18" charset="2"/>
              </a:rPr>
              <a:t>a=</a:t>
            </a:r>
            <a:r>
              <a:rPr lang="en-US" altLang="zh-CN" sz="3600" b="1">
                <a:solidFill>
                  <a:srgbClr val="000080"/>
                </a:solidFill>
                <a:latin typeface="Times New Roman" pitchFamily="18" charset="0"/>
              </a:rPr>
              <a:t>4/3</a:t>
            </a:r>
          </a:p>
        </p:txBody>
      </p:sp>
      <p:sp>
        <p:nvSpPr>
          <p:cNvPr id="24584" name="Line 8"/>
          <p:cNvSpPr>
            <a:spLocks noChangeShapeType="1"/>
          </p:cNvSpPr>
          <p:nvPr/>
        </p:nvSpPr>
        <p:spPr bwMode="auto">
          <a:xfrm>
            <a:off x="6588125" y="4149725"/>
            <a:ext cx="115252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85" name="Line 9"/>
          <p:cNvSpPr>
            <a:spLocks noChangeShapeType="1"/>
          </p:cNvSpPr>
          <p:nvPr/>
        </p:nvSpPr>
        <p:spPr bwMode="auto">
          <a:xfrm>
            <a:off x="5508625" y="4868863"/>
            <a:ext cx="115252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86" name="Rectangle 10"/>
          <p:cNvSpPr>
            <a:spLocks noChangeArrowheads="1"/>
          </p:cNvSpPr>
          <p:nvPr/>
        </p:nvSpPr>
        <p:spPr bwMode="auto">
          <a:xfrm>
            <a:off x="179388" y="1844675"/>
            <a:ext cx="5545137"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spcBef>
                <a:spcPct val="50000"/>
              </a:spcBef>
            </a:pPr>
            <a:r>
              <a:rPr lang="en-US" altLang="zh-CN" sz="3600" b="1">
                <a:solidFill>
                  <a:srgbClr val="000080"/>
                </a:solidFill>
                <a:latin typeface="Times New Roman" pitchFamily="18" charset="0"/>
                <a:sym typeface="Symbol" pitchFamily="18" charset="2"/>
              </a:rPr>
              <a:t></a:t>
            </a:r>
            <a:r>
              <a:rPr lang="en-US" altLang="zh-CN" sz="3600" b="1" i="1">
                <a:solidFill>
                  <a:srgbClr val="0000FF"/>
                </a:solidFill>
                <a:latin typeface="Times New Roman" pitchFamily="18" charset="0"/>
              </a:rPr>
              <a:t>I</a:t>
            </a:r>
            <a:r>
              <a:rPr lang="en-US" altLang="zh-CN" sz="3600" b="1">
                <a:solidFill>
                  <a:srgbClr val="000080"/>
                </a:solidFill>
                <a:latin typeface="Times New Roman" pitchFamily="18" charset="0"/>
              </a:rPr>
              <a:t>+c(</a:t>
            </a:r>
            <a:r>
              <a:rPr lang="en-US" altLang="zh-CN" sz="3600" b="1">
                <a:solidFill>
                  <a:srgbClr val="008000"/>
                </a:solidFill>
                <a:latin typeface="Symbol" pitchFamily="18" charset="2"/>
              </a:rPr>
              <a:t>a/</a:t>
            </a:r>
            <a:r>
              <a:rPr lang="en-US" altLang="zh-CN" sz="3600" b="1">
                <a:solidFill>
                  <a:srgbClr val="000080"/>
                </a:solidFill>
                <a:latin typeface="Times New Roman" pitchFamily="18" charset="0"/>
              </a:rPr>
              <a:t>4+1-</a:t>
            </a:r>
            <a:r>
              <a:rPr lang="en-US" altLang="zh-CN" sz="3600" b="1">
                <a:solidFill>
                  <a:srgbClr val="008000"/>
                </a:solidFill>
                <a:latin typeface="Symbol" pitchFamily="18" charset="2"/>
              </a:rPr>
              <a:t>a) </a:t>
            </a:r>
            <a:r>
              <a:rPr lang="en-US" altLang="zh-CN" sz="3600">
                <a:solidFill>
                  <a:srgbClr val="008000"/>
                </a:solidFill>
                <a:latin typeface="Symbol" pitchFamily="18" charset="2"/>
              </a:rPr>
              <a:t>D</a:t>
            </a:r>
            <a:r>
              <a:rPr lang="en-US" altLang="zh-CN" sz="3600" i="1">
                <a:solidFill>
                  <a:srgbClr val="000080"/>
                </a:solidFill>
                <a:latin typeface="Times New Roman" pitchFamily="18" charset="0"/>
              </a:rPr>
              <a:t>x</a:t>
            </a:r>
            <a:r>
              <a:rPr lang="en-US" altLang="zh-CN" sz="3600" baseline="30000">
                <a:solidFill>
                  <a:srgbClr val="800080"/>
                </a:solidFill>
                <a:latin typeface="Times New Roman" pitchFamily="18" charset="0"/>
              </a:rPr>
              <a:t>2</a:t>
            </a:r>
            <a:r>
              <a:rPr lang="en-US" altLang="zh-CN" sz="3600" b="1">
                <a:solidFill>
                  <a:srgbClr val="000080"/>
                </a:solidFill>
                <a:latin typeface="Times New Roman" pitchFamily="18" charset="0"/>
              </a:rPr>
              <a:t>+O (</a:t>
            </a:r>
            <a:r>
              <a:rPr lang="en-US" altLang="zh-CN" sz="3600">
                <a:solidFill>
                  <a:srgbClr val="008000"/>
                </a:solidFill>
                <a:latin typeface="Symbol" pitchFamily="18" charset="2"/>
              </a:rPr>
              <a:t>D</a:t>
            </a:r>
            <a:r>
              <a:rPr lang="en-US" altLang="zh-CN" sz="3600" i="1">
                <a:solidFill>
                  <a:srgbClr val="000080"/>
                </a:solidFill>
                <a:latin typeface="Times New Roman" pitchFamily="18" charset="0"/>
              </a:rPr>
              <a:t>x</a:t>
            </a:r>
            <a:r>
              <a:rPr lang="en-US" altLang="zh-CN" sz="3600" baseline="30000">
                <a:solidFill>
                  <a:srgbClr val="800080"/>
                </a:solidFill>
                <a:latin typeface="Times New Roman" pitchFamily="18" charset="0"/>
              </a:rPr>
              <a:t>4 </a:t>
            </a:r>
            <a:r>
              <a:rPr lang="en-US" altLang="zh-CN" sz="3600" b="1">
                <a:solidFill>
                  <a:srgbClr val="008000"/>
                </a:solidFill>
                <a:latin typeface="Symbol" pitchFamily="18" charset="2"/>
              </a:rPr>
              <a:t>)</a:t>
            </a:r>
          </a:p>
        </p:txBody>
      </p:sp>
      <p:sp>
        <p:nvSpPr>
          <p:cNvPr id="24587" name="Line 11"/>
          <p:cNvSpPr>
            <a:spLocks noChangeShapeType="1"/>
          </p:cNvSpPr>
          <p:nvPr/>
        </p:nvSpPr>
        <p:spPr bwMode="auto">
          <a:xfrm>
            <a:off x="4356100" y="5589588"/>
            <a:ext cx="115252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86"/>
                                        </p:tgtEl>
                                        <p:attrNameLst>
                                          <p:attrName>style.visibility</p:attrName>
                                        </p:attrNameLst>
                                      </p:cBhvr>
                                      <p:to>
                                        <p:strVal val="visible"/>
                                      </p:to>
                                    </p:set>
                                    <p:anim calcmode="lin" valueType="num">
                                      <p:cBhvr additive="base">
                                        <p:cTn id="7" dur="500" fill="hold"/>
                                        <p:tgtEl>
                                          <p:spTgt spid="24586"/>
                                        </p:tgtEl>
                                        <p:attrNameLst>
                                          <p:attrName>ppt_x</p:attrName>
                                        </p:attrNameLst>
                                      </p:cBhvr>
                                      <p:tavLst>
                                        <p:tav tm="0">
                                          <p:val>
                                            <p:strVal val="#ppt_x"/>
                                          </p:val>
                                        </p:tav>
                                        <p:tav tm="100000">
                                          <p:val>
                                            <p:strVal val="#ppt_x"/>
                                          </p:val>
                                        </p:tav>
                                      </p:tavLst>
                                    </p:anim>
                                    <p:anim calcmode="lin" valueType="num">
                                      <p:cBhvr additive="base">
                                        <p:cTn id="8" dur="500" fill="hold"/>
                                        <p:tgtEl>
                                          <p:spTgt spid="2458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82"/>
                                        </p:tgtEl>
                                        <p:attrNameLst>
                                          <p:attrName>style.visibility</p:attrName>
                                        </p:attrNameLst>
                                      </p:cBhvr>
                                      <p:to>
                                        <p:strVal val="visible"/>
                                      </p:to>
                                    </p:set>
                                    <p:anim calcmode="lin" valueType="num">
                                      <p:cBhvr additive="base">
                                        <p:cTn id="13" dur="500" fill="hold"/>
                                        <p:tgtEl>
                                          <p:spTgt spid="24582"/>
                                        </p:tgtEl>
                                        <p:attrNameLst>
                                          <p:attrName>ppt_x</p:attrName>
                                        </p:attrNameLst>
                                      </p:cBhvr>
                                      <p:tavLst>
                                        <p:tav tm="0">
                                          <p:val>
                                            <p:strVal val="#ppt_x"/>
                                          </p:val>
                                        </p:tav>
                                        <p:tav tm="100000">
                                          <p:val>
                                            <p:strVal val="#ppt_x"/>
                                          </p:val>
                                        </p:tav>
                                      </p:tavLst>
                                    </p:anim>
                                    <p:anim calcmode="lin" valueType="num">
                                      <p:cBhvr additive="base">
                                        <p:cTn id="14" dur="500" fill="hold"/>
                                        <p:tgtEl>
                                          <p:spTgt spid="2458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583"/>
                                        </p:tgtEl>
                                        <p:attrNameLst>
                                          <p:attrName>style.visibility</p:attrName>
                                        </p:attrNameLst>
                                      </p:cBhvr>
                                      <p:to>
                                        <p:strVal val="visible"/>
                                      </p:to>
                                    </p:set>
                                    <p:anim calcmode="lin" valueType="num">
                                      <p:cBhvr additive="base">
                                        <p:cTn id="19" dur="500" fill="hold"/>
                                        <p:tgtEl>
                                          <p:spTgt spid="24583"/>
                                        </p:tgtEl>
                                        <p:attrNameLst>
                                          <p:attrName>ppt_x</p:attrName>
                                        </p:attrNameLst>
                                      </p:cBhvr>
                                      <p:tavLst>
                                        <p:tav tm="0">
                                          <p:val>
                                            <p:strVal val="#ppt_x"/>
                                          </p:val>
                                        </p:tav>
                                        <p:tav tm="100000">
                                          <p:val>
                                            <p:strVal val="#ppt_x"/>
                                          </p:val>
                                        </p:tav>
                                      </p:tavLst>
                                    </p:anim>
                                    <p:anim calcmode="lin" valueType="num">
                                      <p:cBhvr additive="base">
                                        <p:cTn id="20" dur="500" fill="hold"/>
                                        <p:tgtEl>
                                          <p:spTgt spid="2458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579"/>
                                        </p:tgtEl>
                                        <p:attrNameLst>
                                          <p:attrName>style.visibility</p:attrName>
                                        </p:attrNameLst>
                                      </p:cBhvr>
                                      <p:to>
                                        <p:strVal val="visible"/>
                                      </p:to>
                                    </p:set>
                                    <p:anim calcmode="lin" valueType="num">
                                      <p:cBhvr additive="base">
                                        <p:cTn id="25" dur="500" fill="hold"/>
                                        <p:tgtEl>
                                          <p:spTgt spid="24579"/>
                                        </p:tgtEl>
                                        <p:attrNameLst>
                                          <p:attrName>ppt_x</p:attrName>
                                        </p:attrNameLst>
                                      </p:cBhvr>
                                      <p:tavLst>
                                        <p:tav tm="0">
                                          <p:val>
                                            <p:strVal val="#ppt_x"/>
                                          </p:val>
                                        </p:tav>
                                        <p:tav tm="100000">
                                          <p:val>
                                            <p:strVal val="#ppt_x"/>
                                          </p:val>
                                        </p:tav>
                                      </p:tavLst>
                                    </p:anim>
                                    <p:anim calcmode="lin" valueType="num">
                                      <p:cBhvr additive="base">
                                        <p:cTn id="26" dur="500" fill="hold"/>
                                        <p:tgtEl>
                                          <p:spTgt spid="24579"/>
                                        </p:tgtEl>
                                        <p:attrNameLst>
                                          <p:attrName>ppt_y</p:attrName>
                                        </p:attrNameLst>
                                      </p:cBhvr>
                                      <p:tavLst>
                                        <p:tav tm="0">
                                          <p:val>
                                            <p:strVal val="1+#ppt_h/2"/>
                                          </p:val>
                                        </p:tav>
                                        <p:tav tm="100000">
                                          <p:val>
                                            <p:strVal val="#ppt_y"/>
                                          </p:val>
                                        </p:tav>
                                      </p:tavLst>
                                    </p:anim>
                                  </p:childTnLst>
                                </p:cTn>
                              </p:par>
                            </p:childTnLst>
                          </p:cTn>
                        </p:par>
                        <p:par>
                          <p:cTn id="27" fill="hold" nodeType="afterGroup">
                            <p:stCondLst>
                              <p:cond delay="500"/>
                            </p:stCondLst>
                            <p:childTnLst>
                              <p:par>
                                <p:cTn id="28" presetID="2" presetClass="entr" presetSubtype="4" fill="hold" grpId="0" nodeType="afterEffect">
                                  <p:stCondLst>
                                    <p:cond delay="0"/>
                                  </p:stCondLst>
                                  <p:childTnLst>
                                    <p:set>
                                      <p:cBhvr>
                                        <p:cTn id="29" dur="1" fill="hold">
                                          <p:stCondLst>
                                            <p:cond delay="0"/>
                                          </p:stCondLst>
                                        </p:cTn>
                                        <p:tgtEl>
                                          <p:spTgt spid="24584"/>
                                        </p:tgtEl>
                                        <p:attrNameLst>
                                          <p:attrName>style.visibility</p:attrName>
                                        </p:attrNameLst>
                                      </p:cBhvr>
                                      <p:to>
                                        <p:strVal val="visible"/>
                                      </p:to>
                                    </p:set>
                                    <p:anim calcmode="lin" valueType="num">
                                      <p:cBhvr additive="base">
                                        <p:cTn id="30" dur="500" fill="hold"/>
                                        <p:tgtEl>
                                          <p:spTgt spid="24584"/>
                                        </p:tgtEl>
                                        <p:attrNameLst>
                                          <p:attrName>ppt_x</p:attrName>
                                        </p:attrNameLst>
                                      </p:cBhvr>
                                      <p:tavLst>
                                        <p:tav tm="0">
                                          <p:val>
                                            <p:strVal val="#ppt_x"/>
                                          </p:val>
                                        </p:tav>
                                        <p:tav tm="100000">
                                          <p:val>
                                            <p:strVal val="#ppt_x"/>
                                          </p:val>
                                        </p:tav>
                                      </p:tavLst>
                                    </p:anim>
                                    <p:anim calcmode="lin" valueType="num">
                                      <p:cBhvr additive="base">
                                        <p:cTn id="31" dur="500" fill="hold"/>
                                        <p:tgtEl>
                                          <p:spTgt spid="24584"/>
                                        </p:tgtEl>
                                        <p:attrNameLst>
                                          <p:attrName>ppt_y</p:attrName>
                                        </p:attrNameLst>
                                      </p:cBhvr>
                                      <p:tavLst>
                                        <p:tav tm="0">
                                          <p:val>
                                            <p:strVal val="1+#ppt_h/2"/>
                                          </p:val>
                                        </p:tav>
                                        <p:tav tm="100000">
                                          <p:val>
                                            <p:strVal val="#ppt_y"/>
                                          </p:val>
                                        </p:tav>
                                      </p:tavLst>
                                    </p:anim>
                                  </p:childTnLst>
                                </p:cTn>
                              </p:par>
                            </p:childTnLst>
                          </p:cTn>
                        </p:par>
                        <p:par>
                          <p:cTn id="32" fill="hold" nodeType="afterGroup">
                            <p:stCondLst>
                              <p:cond delay="1000"/>
                            </p:stCondLst>
                            <p:childTnLst>
                              <p:par>
                                <p:cTn id="33" presetID="2" presetClass="entr" presetSubtype="4" fill="hold" grpId="0" nodeType="afterEffect">
                                  <p:stCondLst>
                                    <p:cond delay="0"/>
                                  </p:stCondLst>
                                  <p:childTnLst>
                                    <p:set>
                                      <p:cBhvr>
                                        <p:cTn id="34" dur="1" fill="hold">
                                          <p:stCondLst>
                                            <p:cond delay="0"/>
                                          </p:stCondLst>
                                        </p:cTn>
                                        <p:tgtEl>
                                          <p:spTgt spid="24585"/>
                                        </p:tgtEl>
                                        <p:attrNameLst>
                                          <p:attrName>style.visibility</p:attrName>
                                        </p:attrNameLst>
                                      </p:cBhvr>
                                      <p:to>
                                        <p:strVal val="visible"/>
                                      </p:to>
                                    </p:set>
                                    <p:anim calcmode="lin" valueType="num">
                                      <p:cBhvr additive="base">
                                        <p:cTn id="35" dur="500" fill="hold"/>
                                        <p:tgtEl>
                                          <p:spTgt spid="24585"/>
                                        </p:tgtEl>
                                        <p:attrNameLst>
                                          <p:attrName>ppt_x</p:attrName>
                                        </p:attrNameLst>
                                      </p:cBhvr>
                                      <p:tavLst>
                                        <p:tav tm="0">
                                          <p:val>
                                            <p:strVal val="#ppt_x"/>
                                          </p:val>
                                        </p:tav>
                                        <p:tav tm="100000">
                                          <p:val>
                                            <p:strVal val="#ppt_x"/>
                                          </p:val>
                                        </p:tav>
                                      </p:tavLst>
                                    </p:anim>
                                    <p:anim calcmode="lin" valueType="num">
                                      <p:cBhvr additive="base">
                                        <p:cTn id="36" dur="500" fill="hold"/>
                                        <p:tgtEl>
                                          <p:spTgt spid="24585"/>
                                        </p:tgtEl>
                                        <p:attrNameLst>
                                          <p:attrName>ppt_y</p:attrName>
                                        </p:attrNameLst>
                                      </p:cBhvr>
                                      <p:tavLst>
                                        <p:tav tm="0">
                                          <p:val>
                                            <p:strVal val="1+#ppt_h/2"/>
                                          </p:val>
                                        </p:tav>
                                        <p:tav tm="100000">
                                          <p:val>
                                            <p:strVal val="#ppt_y"/>
                                          </p:val>
                                        </p:tav>
                                      </p:tavLst>
                                    </p:anim>
                                  </p:childTnLst>
                                </p:cTn>
                              </p:par>
                            </p:childTnLst>
                          </p:cTn>
                        </p:par>
                        <p:par>
                          <p:cTn id="37" fill="hold" nodeType="afterGroup">
                            <p:stCondLst>
                              <p:cond delay="1500"/>
                            </p:stCondLst>
                            <p:childTnLst>
                              <p:par>
                                <p:cTn id="38" presetID="2" presetClass="entr" presetSubtype="4" fill="hold" grpId="0" nodeType="afterEffect">
                                  <p:stCondLst>
                                    <p:cond delay="0"/>
                                  </p:stCondLst>
                                  <p:childTnLst>
                                    <p:set>
                                      <p:cBhvr>
                                        <p:cTn id="39" dur="1" fill="hold">
                                          <p:stCondLst>
                                            <p:cond delay="0"/>
                                          </p:stCondLst>
                                        </p:cTn>
                                        <p:tgtEl>
                                          <p:spTgt spid="24587"/>
                                        </p:tgtEl>
                                        <p:attrNameLst>
                                          <p:attrName>style.visibility</p:attrName>
                                        </p:attrNameLst>
                                      </p:cBhvr>
                                      <p:to>
                                        <p:strVal val="visible"/>
                                      </p:to>
                                    </p:set>
                                    <p:anim calcmode="lin" valueType="num">
                                      <p:cBhvr additive="base">
                                        <p:cTn id="40" dur="500" fill="hold"/>
                                        <p:tgtEl>
                                          <p:spTgt spid="24587"/>
                                        </p:tgtEl>
                                        <p:attrNameLst>
                                          <p:attrName>ppt_x</p:attrName>
                                        </p:attrNameLst>
                                      </p:cBhvr>
                                      <p:tavLst>
                                        <p:tav tm="0">
                                          <p:val>
                                            <p:strVal val="#ppt_x"/>
                                          </p:val>
                                        </p:tav>
                                        <p:tav tm="100000">
                                          <p:val>
                                            <p:strVal val="#ppt_x"/>
                                          </p:val>
                                        </p:tav>
                                      </p:tavLst>
                                    </p:anim>
                                    <p:anim calcmode="lin" valueType="num">
                                      <p:cBhvr additive="base">
                                        <p:cTn id="41" dur="500" fill="hold"/>
                                        <p:tgtEl>
                                          <p:spTgt spid="24587"/>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24580"/>
                                        </p:tgtEl>
                                        <p:attrNameLst>
                                          <p:attrName>style.visibility</p:attrName>
                                        </p:attrNameLst>
                                      </p:cBhvr>
                                      <p:to>
                                        <p:strVal val="visible"/>
                                      </p:to>
                                    </p:set>
                                    <p:anim calcmode="lin" valueType="num">
                                      <p:cBhvr additive="base">
                                        <p:cTn id="46" dur="500" fill="hold"/>
                                        <p:tgtEl>
                                          <p:spTgt spid="24580"/>
                                        </p:tgtEl>
                                        <p:attrNameLst>
                                          <p:attrName>ppt_x</p:attrName>
                                        </p:attrNameLst>
                                      </p:cBhvr>
                                      <p:tavLst>
                                        <p:tav tm="0">
                                          <p:val>
                                            <p:strVal val="#ppt_x"/>
                                          </p:val>
                                        </p:tav>
                                        <p:tav tm="100000">
                                          <p:val>
                                            <p:strVal val="#ppt_x"/>
                                          </p:val>
                                        </p:tav>
                                      </p:tavLst>
                                    </p:anim>
                                    <p:anim calcmode="lin" valueType="num">
                                      <p:cBhvr additive="base">
                                        <p:cTn id="47" dur="500" fill="hold"/>
                                        <p:tgtEl>
                                          <p:spTgt spid="245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p:bldP spid="24582" grpId="0"/>
      <p:bldP spid="24583" grpId="0"/>
      <p:bldP spid="24584" grpId="0" animBg="1"/>
      <p:bldP spid="24585" grpId="0" animBg="1"/>
      <p:bldP spid="24586" grpId="0"/>
      <p:bldP spid="2458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6438" name="Object 6"/>
          <p:cNvGraphicFramePr>
            <a:graphicFrameLocks noChangeAspect="1"/>
          </p:cNvGraphicFramePr>
          <p:nvPr/>
        </p:nvGraphicFramePr>
        <p:xfrm>
          <a:off x="1547813" y="4149725"/>
          <a:ext cx="4968875" cy="950913"/>
        </p:xfrm>
        <a:graphic>
          <a:graphicData uri="http://schemas.openxmlformats.org/presentationml/2006/ole">
            <mc:AlternateContent xmlns:mc="http://schemas.openxmlformats.org/markup-compatibility/2006">
              <mc:Choice xmlns:v="urn:schemas-microsoft-com:vml" Requires="v">
                <p:oleObj spid="_x0000_s60513" name="公式" r:id="rId3" imgW="1905000" imgH="368300" progId="Equation.3">
                  <p:embed/>
                </p:oleObj>
              </mc:Choice>
              <mc:Fallback>
                <p:oleObj name="公式" r:id="rId3" imgW="1905000" imgH="3683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4149725"/>
                        <a:ext cx="4968875" cy="950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39" name="Object 7"/>
          <p:cNvGraphicFramePr>
            <a:graphicFrameLocks noChangeAspect="1"/>
          </p:cNvGraphicFramePr>
          <p:nvPr/>
        </p:nvGraphicFramePr>
        <p:xfrm>
          <a:off x="1724025" y="5434013"/>
          <a:ext cx="2919413" cy="941387"/>
        </p:xfrm>
        <a:graphic>
          <a:graphicData uri="http://schemas.openxmlformats.org/presentationml/2006/ole">
            <mc:AlternateContent xmlns:mc="http://schemas.openxmlformats.org/markup-compatibility/2006">
              <mc:Choice xmlns:v="urn:schemas-microsoft-com:vml" Requires="v">
                <p:oleObj spid="_x0000_s60514" name="Equation" r:id="rId5" imgW="1054100" imgH="342900" progId="Equation.3">
                  <p:embed/>
                </p:oleObj>
              </mc:Choice>
              <mc:Fallback>
                <p:oleObj name="Equation" r:id="rId5" imgW="1054100" imgH="3429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4025" y="5434013"/>
                        <a:ext cx="2919413" cy="941387"/>
                      </a:xfrm>
                      <a:prstGeom prst="rect">
                        <a:avLst/>
                      </a:prstGeom>
                      <a:noFill/>
                      <a:ln w="38100" cmpd="dbl">
                        <a:solidFill>
                          <a:srgbClr val="CC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6442" name="Group 10"/>
          <p:cNvGrpSpPr>
            <a:grpSpLocks/>
          </p:cNvGrpSpPr>
          <p:nvPr/>
        </p:nvGrpSpPr>
        <p:grpSpPr bwMode="auto">
          <a:xfrm>
            <a:off x="1116013" y="1557338"/>
            <a:ext cx="7345362" cy="2393950"/>
            <a:chOff x="1066" y="1207"/>
            <a:chExt cx="4405" cy="1282"/>
          </a:xfrm>
        </p:grpSpPr>
        <p:graphicFrame>
          <p:nvGraphicFramePr>
            <p:cNvPr id="60423" name="Object 5"/>
            <p:cNvGraphicFramePr>
              <a:graphicFrameLocks noChangeAspect="1"/>
            </p:cNvGraphicFramePr>
            <p:nvPr/>
          </p:nvGraphicFramePr>
          <p:xfrm>
            <a:off x="2109" y="1207"/>
            <a:ext cx="3362" cy="1282"/>
          </p:xfrm>
          <a:graphic>
            <a:graphicData uri="http://schemas.openxmlformats.org/presentationml/2006/ole">
              <mc:AlternateContent xmlns:mc="http://schemas.openxmlformats.org/markup-compatibility/2006">
                <mc:Choice xmlns:v="urn:schemas-microsoft-com:vml" Requires="v">
                  <p:oleObj spid="_x0000_s60515" name="公式" r:id="rId7" imgW="2108200" imgH="812800" progId="Equation.3">
                    <p:embed/>
                  </p:oleObj>
                </mc:Choice>
                <mc:Fallback>
                  <p:oleObj name="公式" r:id="rId7" imgW="2108200" imgH="8128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9" y="1207"/>
                          <a:ext cx="3362" cy="1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4" name="Object 8"/>
            <p:cNvGraphicFramePr>
              <a:graphicFrameLocks noChangeAspect="1"/>
            </p:cNvGraphicFramePr>
            <p:nvPr/>
          </p:nvGraphicFramePr>
          <p:xfrm>
            <a:off x="1066" y="1298"/>
            <a:ext cx="952" cy="525"/>
          </p:xfrm>
          <a:graphic>
            <a:graphicData uri="http://schemas.openxmlformats.org/presentationml/2006/ole">
              <mc:AlternateContent xmlns:mc="http://schemas.openxmlformats.org/markup-compatibility/2006">
                <mc:Choice xmlns:v="urn:schemas-microsoft-com:vml" Requires="v">
                  <p:oleObj spid="_x0000_s60516" name="Equation" r:id="rId9" imgW="660400" imgH="368300" progId="Equation.3">
                    <p:embed/>
                  </p:oleObj>
                </mc:Choice>
                <mc:Fallback>
                  <p:oleObj name="Equation" r:id="rId9" imgW="660400" imgH="3683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 y="1298"/>
                          <a:ext cx="952"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60421"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5650" y="260350"/>
            <a:ext cx="7543800"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43" name="Picture 11" descr="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32363" y="5676900"/>
            <a:ext cx="15541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6442"/>
                                        </p:tgtEl>
                                        <p:attrNameLst>
                                          <p:attrName>style.visibility</p:attrName>
                                        </p:attrNameLst>
                                      </p:cBhvr>
                                      <p:to>
                                        <p:strVal val="visible"/>
                                      </p:to>
                                    </p:set>
                                    <p:anim calcmode="lin" valueType="num">
                                      <p:cBhvr additive="base">
                                        <p:cTn id="7" dur="500" fill="hold"/>
                                        <p:tgtEl>
                                          <p:spTgt spid="146442"/>
                                        </p:tgtEl>
                                        <p:attrNameLst>
                                          <p:attrName>ppt_x</p:attrName>
                                        </p:attrNameLst>
                                      </p:cBhvr>
                                      <p:tavLst>
                                        <p:tav tm="0">
                                          <p:val>
                                            <p:strVal val="#ppt_x"/>
                                          </p:val>
                                        </p:tav>
                                        <p:tav tm="100000">
                                          <p:val>
                                            <p:strVal val="#ppt_x"/>
                                          </p:val>
                                        </p:tav>
                                      </p:tavLst>
                                    </p:anim>
                                    <p:anim calcmode="lin" valueType="num">
                                      <p:cBhvr additive="base">
                                        <p:cTn id="8" dur="500" fill="hold"/>
                                        <p:tgtEl>
                                          <p:spTgt spid="14644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46438"/>
                                        </p:tgtEl>
                                        <p:attrNameLst>
                                          <p:attrName>style.visibility</p:attrName>
                                        </p:attrNameLst>
                                      </p:cBhvr>
                                      <p:to>
                                        <p:strVal val="visible"/>
                                      </p:to>
                                    </p:set>
                                    <p:animEffect transition="in" filter="wipe(up)">
                                      <p:cBhvr>
                                        <p:cTn id="13" dur="500"/>
                                        <p:tgtEl>
                                          <p:spTgt spid="14643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146439"/>
                                        </p:tgtEl>
                                        <p:attrNameLst>
                                          <p:attrName>style.visibility</p:attrName>
                                        </p:attrNameLst>
                                      </p:cBhvr>
                                      <p:to>
                                        <p:strVal val="visible"/>
                                      </p:to>
                                    </p:set>
                                    <p:anim calcmode="lin" valueType="num">
                                      <p:cBhvr>
                                        <p:cTn id="18" dur="500" fill="hold"/>
                                        <p:tgtEl>
                                          <p:spTgt spid="146439"/>
                                        </p:tgtEl>
                                        <p:attrNameLst>
                                          <p:attrName>ppt_w</p:attrName>
                                        </p:attrNameLst>
                                      </p:cBhvr>
                                      <p:tavLst>
                                        <p:tav tm="0">
                                          <p:val>
                                            <p:fltVal val="0"/>
                                          </p:val>
                                        </p:tav>
                                        <p:tav tm="100000">
                                          <p:val>
                                            <p:strVal val="#ppt_w"/>
                                          </p:val>
                                        </p:tav>
                                      </p:tavLst>
                                    </p:anim>
                                    <p:anim calcmode="lin" valueType="num">
                                      <p:cBhvr>
                                        <p:cTn id="19" dur="500" fill="hold"/>
                                        <p:tgtEl>
                                          <p:spTgt spid="146439"/>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146443"/>
                                        </p:tgtEl>
                                        <p:attrNameLst>
                                          <p:attrName>style.visibility</p:attrName>
                                        </p:attrNameLst>
                                      </p:cBhvr>
                                      <p:to>
                                        <p:strVal val="visible"/>
                                      </p:to>
                                    </p:set>
                                    <p:animEffect transition="in" filter="wipe(up)">
                                      <p:cBhvr>
                                        <p:cTn id="24" dur="500"/>
                                        <p:tgtEl>
                                          <p:spTgt spid="146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6788" name="Object 4"/>
          <p:cNvGraphicFramePr>
            <a:graphicFrameLocks noChangeAspect="1"/>
          </p:cNvGraphicFramePr>
          <p:nvPr/>
        </p:nvGraphicFramePr>
        <p:xfrm>
          <a:off x="1763713" y="5667375"/>
          <a:ext cx="2465387" cy="930275"/>
        </p:xfrm>
        <a:graphic>
          <a:graphicData uri="http://schemas.openxmlformats.org/presentationml/2006/ole">
            <mc:AlternateContent xmlns:mc="http://schemas.openxmlformats.org/markup-compatibility/2006">
              <mc:Choice xmlns:v="urn:schemas-microsoft-com:vml" Requires="v">
                <p:oleObj spid="_x0000_s61562" name="Equation" r:id="rId3" imgW="1066337" imgH="406224" progId="Equation.3">
                  <p:embed/>
                </p:oleObj>
              </mc:Choice>
              <mc:Fallback>
                <p:oleObj name="Equation" r:id="rId3" imgW="1066337" imgH="406224"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5667375"/>
                        <a:ext cx="2465387" cy="930275"/>
                      </a:xfrm>
                      <a:prstGeom prst="rect">
                        <a:avLst/>
                      </a:prstGeom>
                      <a:noFill/>
                      <a:ln w="57150" cmpd="thinThick">
                        <a:solidFill>
                          <a:srgbClr val="CC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46789" name="Picture 5" descr="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0238" y="5819775"/>
            <a:ext cx="15652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1444" name="Object 6"/>
          <p:cNvGraphicFramePr>
            <a:graphicFrameLocks noChangeAspect="1"/>
          </p:cNvGraphicFramePr>
          <p:nvPr/>
        </p:nvGraphicFramePr>
        <p:xfrm>
          <a:off x="1724025" y="404813"/>
          <a:ext cx="2919413" cy="941387"/>
        </p:xfrm>
        <a:graphic>
          <a:graphicData uri="http://schemas.openxmlformats.org/presentationml/2006/ole">
            <mc:AlternateContent xmlns:mc="http://schemas.openxmlformats.org/markup-compatibility/2006">
              <mc:Choice xmlns:v="urn:schemas-microsoft-com:vml" Requires="v">
                <p:oleObj spid="_x0000_s61563" name="Equation" r:id="rId6" imgW="1054100" imgH="342900" progId="Equation.3">
                  <p:embed/>
                </p:oleObj>
              </mc:Choice>
              <mc:Fallback>
                <p:oleObj name="Equation" r:id="rId6" imgW="1054100" imgH="3429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24025" y="404813"/>
                        <a:ext cx="2919413" cy="941387"/>
                      </a:xfrm>
                      <a:prstGeom prst="rect">
                        <a:avLst/>
                      </a:prstGeom>
                      <a:noFill/>
                      <a:ln w="38100" cmpd="dbl">
                        <a:solidFill>
                          <a:srgbClr val="CC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1445" name="Picture 7" descr="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2363" y="647700"/>
            <a:ext cx="15541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6792" name="Object 8"/>
          <p:cNvGraphicFramePr>
            <a:graphicFrameLocks noChangeAspect="1"/>
          </p:cNvGraphicFramePr>
          <p:nvPr/>
        </p:nvGraphicFramePr>
        <p:xfrm>
          <a:off x="1763713" y="1628775"/>
          <a:ext cx="2919412" cy="1081088"/>
        </p:xfrm>
        <a:graphic>
          <a:graphicData uri="http://schemas.openxmlformats.org/presentationml/2006/ole">
            <mc:AlternateContent xmlns:mc="http://schemas.openxmlformats.org/markup-compatibility/2006">
              <mc:Choice xmlns:v="urn:schemas-microsoft-com:vml" Requires="v">
                <p:oleObj spid="_x0000_s61564" name="公式" r:id="rId9" imgW="1054100" imgH="393700" progId="Equation.3">
                  <p:embed/>
                </p:oleObj>
              </mc:Choice>
              <mc:Fallback>
                <p:oleObj name="公式" r:id="rId9" imgW="1054100" imgH="3937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713" y="1628775"/>
                        <a:ext cx="2919412" cy="1081088"/>
                      </a:xfrm>
                      <a:prstGeom prst="rect">
                        <a:avLst/>
                      </a:prstGeom>
                      <a:noFill/>
                      <a:ln w="38100" cmpd="dbl">
                        <a:solidFill>
                          <a:srgbClr val="CC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46793" name="Picture 9" descr="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72050" y="1941513"/>
            <a:ext cx="15541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6794" name="Object 10"/>
          <p:cNvGraphicFramePr>
            <a:graphicFrameLocks noChangeAspect="1"/>
          </p:cNvGraphicFramePr>
          <p:nvPr/>
        </p:nvGraphicFramePr>
        <p:xfrm>
          <a:off x="1709738" y="2997200"/>
          <a:ext cx="2884487" cy="1081088"/>
        </p:xfrm>
        <a:graphic>
          <a:graphicData uri="http://schemas.openxmlformats.org/presentationml/2006/ole">
            <mc:AlternateContent xmlns:mc="http://schemas.openxmlformats.org/markup-compatibility/2006">
              <mc:Choice xmlns:v="urn:schemas-microsoft-com:vml" Requires="v">
                <p:oleObj spid="_x0000_s61565" name="公式" r:id="rId11" imgW="1040948" imgH="393529" progId="Equation.3">
                  <p:embed/>
                </p:oleObj>
              </mc:Choice>
              <mc:Fallback>
                <p:oleObj name="公式" r:id="rId11" imgW="1040948" imgH="393529"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09738" y="2997200"/>
                        <a:ext cx="2884487" cy="1081088"/>
                      </a:xfrm>
                      <a:prstGeom prst="rect">
                        <a:avLst/>
                      </a:prstGeom>
                      <a:noFill/>
                      <a:ln w="38100" cmpd="dbl">
                        <a:solidFill>
                          <a:srgbClr val="CC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46795" name="Picture 11" descr="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00613" y="3309938"/>
            <a:ext cx="15541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6796" name="Object 12"/>
          <p:cNvGraphicFramePr>
            <a:graphicFrameLocks noChangeAspect="1"/>
          </p:cNvGraphicFramePr>
          <p:nvPr/>
        </p:nvGraphicFramePr>
        <p:xfrm>
          <a:off x="1692275" y="4379913"/>
          <a:ext cx="2460625" cy="993775"/>
        </p:xfrm>
        <a:graphic>
          <a:graphicData uri="http://schemas.openxmlformats.org/presentationml/2006/ole">
            <mc:AlternateContent xmlns:mc="http://schemas.openxmlformats.org/markup-compatibility/2006">
              <mc:Choice xmlns:v="urn:schemas-microsoft-com:vml" Requires="v">
                <p:oleObj spid="_x0000_s61566" name="Equation" r:id="rId13" imgW="965200" imgH="393700" progId="Equation.3">
                  <p:embed/>
                </p:oleObj>
              </mc:Choice>
              <mc:Fallback>
                <p:oleObj name="Equation" r:id="rId13" imgW="965200" imgH="39370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92275" y="4379913"/>
                        <a:ext cx="2460625" cy="993775"/>
                      </a:xfrm>
                      <a:prstGeom prst="rect">
                        <a:avLst/>
                      </a:prstGeom>
                      <a:noFill/>
                      <a:ln w="57150" cmpd="thinThick">
                        <a:solidFill>
                          <a:srgbClr val="CC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46797" name="Picture 13" descr="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54500" y="4625975"/>
            <a:ext cx="15541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246792"/>
                                        </p:tgtEl>
                                        <p:attrNameLst>
                                          <p:attrName>style.visibility</p:attrName>
                                        </p:attrNameLst>
                                      </p:cBhvr>
                                      <p:to>
                                        <p:strVal val="visible"/>
                                      </p:to>
                                    </p:set>
                                    <p:anim calcmode="lin" valueType="num">
                                      <p:cBhvr>
                                        <p:cTn id="7" dur="500" fill="hold"/>
                                        <p:tgtEl>
                                          <p:spTgt spid="246792"/>
                                        </p:tgtEl>
                                        <p:attrNameLst>
                                          <p:attrName>ppt_w</p:attrName>
                                        </p:attrNameLst>
                                      </p:cBhvr>
                                      <p:tavLst>
                                        <p:tav tm="0">
                                          <p:val>
                                            <p:fltVal val="0"/>
                                          </p:val>
                                        </p:tav>
                                        <p:tav tm="100000">
                                          <p:val>
                                            <p:strVal val="#ppt_w"/>
                                          </p:val>
                                        </p:tav>
                                      </p:tavLst>
                                    </p:anim>
                                    <p:anim calcmode="lin" valueType="num">
                                      <p:cBhvr>
                                        <p:cTn id="8" dur="500" fill="hold"/>
                                        <p:tgtEl>
                                          <p:spTgt spid="24679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246793"/>
                                        </p:tgtEl>
                                        <p:attrNameLst>
                                          <p:attrName>style.visibility</p:attrName>
                                        </p:attrNameLst>
                                      </p:cBhvr>
                                      <p:to>
                                        <p:strVal val="visible"/>
                                      </p:to>
                                    </p:set>
                                    <p:animEffect transition="in" filter="wipe(up)">
                                      <p:cBhvr>
                                        <p:cTn id="13" dur="500"/>
                                        <p:tgtEl>
                                          <p:spTgt spid="24679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246794"/>
                                        </p:tgtEl>
                                        <p:attrNameLst>
                                          <p:attrName>style.visibility</p:attrName>
                                        </p:attrNameLst>
                                      </p:cBhvr>
                                      <p:to>
                                        <p:strVal val="visible"/>
                                      </p:to>
                                    </p:set>
                                    <p:anim calcmode="lin" valueType="num">
                                      <p:cBhvr>
                                        <p:cTn id="18" dur="500" fill="hold"/>
                                        <p:tgtEl>
                                          <p:spTgt spid="246794"/>
                                        </p:tgtEl>
                                        <p:attrNameLst>
                                          <p:attrName>ppt_w</p:attrName>
                                        </p:attrNameLst>
                                      </p:cBhvr>
                                      <p:tavLst>
                                        <p:tav tm="0">
                                          <p:val>
                                            <p:fltVal val="0"/>
                                          </p:val>
                                        </p:tav>
                                        <p:tav tm="100000">
                                          <p:val>
                                            <p:strVal val="#ppt_w"/>
                                          </p:val>
                                        </p:tav>
                                      </p:tavLst>
                                    </p:anim>
                                    <p:anim calcmode="lin" valueType="num">
                                      <p:cBhvr>
                                        <p:cTn id="19" dur="500" fill="hold"/>
                                        <p:tgtEl>
                                          <p:spTgt spid="246794"/>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246795"/>
                                        </p:tgtEl>
                                        <p:attrNameLst>
                                          <p:attrName>style.visibility</p:attrName>
                                        </p:attrNameLst>
                                      </p:cBhvr>
                                      <p:to>
                                        <p:strVal val="visible"/>
                                      </p:to>
                                    </p:set>
                                    <p:animEffect transition="in" filter="wipe(up)">
                                      <p:cBhvr>
                                        <p:cTn id="24" dur="500"/>
                                        <p:tgtEl>
                                          <p:spTgt spid="246795"/>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246796"/>
                                        </p:tgtEl>
                                        <p:attrNameLst>
                                          <p:attrName>style.visibility</p:attrName>
                                        </p:attrNameLst>
                                      </p:cBhvr>
                                      <p:to>
                                        <p:strVal val="visible"/>
                                      </p:to>
                                    </p:set>
                                    <p:animEffect transition="in" filter="wipe(left)">
                                      <p:cBhvr>
                                        <p:cTn id="28" dur="500"/>
                                        <p:tgtEl>
                                          <p:spTgt spid="24679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246797"/>
                                        </p:tgtEl>
                                        <p:attrNameLst>
                                          <p:attrName>style.visibility</p:attrName>
                                        </p:attrNameLst>
                                      </p:cBhvr>
                                      <p:to>
                                        <p:strVal val="visible"/>
                                      </p:to>
                                    </p:set>
                                    <p:animEffect transition="in" filter="wipe(up)">
                                      <p:cBhvr>
                                        <p:cTn id="33" dur="500"/>
                                        <p:tgtEl>
                                          <p:spTgt spid="24679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246788"/>
                                        </p:tgtEl>
                                        <p:attrNameLst>
                                          <p:attrName>style.visibility</p:attrName>
                                        </p:attrNameLst>
                                      </p:cBhvr>
                                      <p:to>
                                        <p:strVal val="visible"/>
                                      </p:to>
                                    </p:set>
                                    <p:anim calcmode="lin" valueType="num">
                                      <p:cBhvr additive="base">
                                        <p:cTn id="38" dur="500" fill="hold"/>
                                        <p:tgtEl>
                                          <p:spTgt spid="246788"/>
                                        </p:tgtEl>
                                        <p:attrNameLst>
                                          <p:attrName>ppt_x</p:attrName>
                                        </p:attrNameLst>
                                      </p:cBhvr>
                                      <p:tavLst>
                                        <p:tav tm="0">
                                          <p:val>
                                            <p:strVal val="#ppt_x"/>
                                          </p:val>
                                        </p:tav>
                                        <p:tav tm="100000">
                                          <p:val>
                                            <p:strVal val="#ppt_x"/>
                                          </p:val>
                                        </p:tav>
                                      </p:tavLst>
                                    </p:anim>
                                    <p:anim calcmode="lin" valueType="num">
                                      <p:cBhvr additive="base">
                                        <p:cTn id="39" dur="500" fill="hold"/>
                                        <p:tgtEl>
                                          <p:spTgt spid="246788"/>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46789"/>
                                        </p:tgtEl>
                                        <p:attrNameLst>
                                          <p:attrName>style.visibility</p:attrName>
                                        </p:attrNameLst>
                                      </p:cBhvr>
                                      <p:to>
                                        <p:strVal val="visible"/>
                                      </p:to>
                                    </p:set>
                                    <p:anim calcmode="lin" valueType="num">
                                      <p:cBhvr additive="base">
                                        <p:cTn id="42" dur="500" fill="hold"/>
                                        <p:tgtEl>
                                          <p:spTgt spid="246789"/>
                                        </p:tgtEl>
                                        <p:attrNameLst>
                                          <p:attrName>ppt_x</p:attrName>
                                        </p:attrNameLst>
                                      </p:cBhvr>
                                      <p:tavLst>
                                        <p:tav tm="0">
                                          <p:val>
                                            <p:strVal val="#ppt_x"/>
                                          </p:val>
                                        </p:tav>
                                        <p:tav tm="100000">
                                          <p:val>
                                            <p:strVal val="#ppt_x"/>
                                          </p:val>
                                        </p:tav>
                                      </p:tavLst>
                                    </p:anim>
                                    <p:anim calcmode="lin" valueType="num">
                                      <p:cBhvr additive="base">
                                        <p:cTn id="43" dur="500" fill="hold"/>
                                        <p:tgtEl>
                                          <p:spTgt spid="2467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524000" y="349250"/>
            <a:ext cx="5410200" cy="641350"/>
          </a:xfrm>
          <a:noFill/>
        </p:spPr>
        <p:txBody>
          <a:bodyPr anchor="b">
            <a:spAutoFit/>
          </a:bodyPr>
          <a:lstStyle/>
          <a:p>
            <a:pPr eaLnBrk="1" hangingPunct="1"/>
            <a:r>
              <a:rPr lang="zh-CN" altLang="en-US" sz="4800">
                <a:latin typeface="Times New Roman" pitchFamily="18" charset="0"/>
              </a:rPr>
              <a:t>龙贝格公式</a:t>
            </a:r>
          </a:p>
        </p:txBody>
      </p:sp>
      <p:sp>
        <p:nvSpPr>
          <p:cNvPr id="147459" name="Rectangle 3"/>
          <p:cNvSpPr>
            <a:spLocks noChangeArrowheads="1"/>
          </p:cNvSpPr>
          <p:nvPr/>
        </p:nvSpPr>
        <p:spPr bwMode="auto">
          <a:xfrm>
            <a:off x="533400" y="2590800"/>
            <a:ext cx="1612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b="1">
                <a:solidFill>
                  <a:srgbClr val="0000CC"/>
                </a:solidFill>
                <a:latin typeface="Times New Roman" pitchFamily="18" charset="0"/>
              </a:rPr>
              <a:t>同理可得</a:t>
            </a:r>
          </a:p>
        </p:txBody>
      </p:sp>
      <p:graphicFrame>
        <p:nvGraphicFramePr>
          <p:cNvPr id="147460" name="Object 4"/>
          <p:cNvGraphicFramePr>
            <a:graphicFrameLocks noChangeAspect="1"/>
          </p:cNvGraphicFramePr>
          <p:nvPr/>
        </p:nvGraphicFramePr>
        <p:xfrm>
          <a:off x="3048000" y="2479675"/>
          <a:ext cx="2465388" cy="930275"/>
        </p:xfrm>
        <a:graphic>
          <a:graphicData uri="http://schemas.openxmlformats.org/presentationml/2006/ole">
            <mc:AlternateContent xmlns:mc="http://schemas.openxmlformats.org/markup-compatibility/2006">
              <mc:Choice xmlns:v="urn:schemas-microsoft-com:vml" Requires="v">
                <p:oleObj spid="_x0000_s62544" name="Equation" r:id="rId3" imgW="1066337" imgH="406224" progId="Equation.3">
                  <p:embed/>
                </p:oleObj>
              </mc:Choice>
              <mc:Fallback>
                <p:oleObj name="Equation" r:id="rId3" imgW="1066337" imgH="406224"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479675"/>
                        <a:ext cx="2465388" cy="930275"/>
                      </a:xfrm>
                      <a:prstGeom prst="rect">
                        <a:avLst/>
                      </a:prstGeom>
                      <a:noFill/>
                      <a:ln w="57150" cmpd="thinThick">
                        <a:solidFill>
                          <a:srgbClr val="CC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61" name="Rectangle 5"/>
          <p:cNvSpPr>
            <a:spLocks noChangeArrowheads="1"/>
          </p:cNvSpPr>
          <p:nvPr/>
        </p:nvSpPr>
        <p:spPr bwMode="auto">
          <a:xfrm>
            <a:off x="533400" y="1600200"/>
            <a:ext cx="19700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b="1">
                <a:solidFill>
                  <a:srgbClr val="0000CC"/>
                </a:solidFill>
                <a:latin typeface="Times New Roman" pitchFamily="18" charset="0"/>
              </a:rPr>
              <a:t>一般地，有</a:t>
            </a:r>
          </a:p>
        </p:txBody>
      </p:sp>
      <p:graphicFrame>
        <p:nvGraphicFramePr>
          <p:cNvPr id="147462" name="Object 6"/>
          <p:cNvGraphicFramePr>
            <a:graphicFrameLocks noChangeAspect="1"/>
          </p:cNvGraphicFramePr>
          <p:nvPr/>
        </p:nvGraphicFramePr>
        <p:xfrm>
          <a:off x="3048000" y="1319213"/>
          <a:ext cx="2460625" cy="993775"/>
        </p:xfrm>
        <a:graphic>
          <a:graphicData uri="http://schemas.openxmlformats.org/presentationml/2006/ole">
            <mc:AlternateContent xmlns:mc="http://schemas.openxmlformats.org/markup-compatibility/2006">
              <mc:Choice xmlns:v="urn:schemas-microsoft-com:vml" Requires="v">
                <p:oleObj spid="_x0000_s62545" name="Equation" r:id="rId5" imgW="965200" imgH="393700" progId="Equation.3">
                  <p:embed/>
                </p:oleObj>
              </mc:Choice>
              <mc:Fallback>
                <p:oleObj name="Equation" r:id="rId5" imgW="965200" imgH="3937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1319213"/>
                        <a:ext cx="2460625" cy="993775"/>
                      </a:xfrm>
                      <a:prstGeom prst="rect">
                        <a:avLst/>
                      </a:prstGeom>
                      <a:noFill/>
                      <a:ln w="57150" cmpd="thinThick">
                        <a:solidFill>
                          <a:srgbClr val="CC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63" name="Object 7"/>
          <p:cNvGraphicFramePr>
            <a:graphicFrameLocks noChangeAspect="1"/>
          </p:cNvGraphicFramePr>
          <p:nvPr/>
        </p:nvGraphicFramePr>
        <p:xfrm>
          <a:off x="3048000" y="3546475"/>
          <a:ext cx="2522538" cy="930275"/>
        </p:xfrm>
        <a:graphic>
          <a:graphicData uri="http://schemas.openxmlformats.org/presentationml/2006/ole">
            <mc:AlternateContent xmlns:mc="http://schemas.openxmlformats.org/markup-compatibility/2006">
              <mc:Choice xmlns:v="urn:schemas-microsoft-com:vml" Requires="v">
                <p:oleObj spid="_x0000_s62546" name="Equation" r:id="rId7" imgW="1091726" imgH="406224" progId="Equation.3">
                  <p:embed/>
                </p:oleObj>
              </mc:Choice>
              <mc:Fallback>
                <p:oleObj name="Equation" r:id="rId7" imgW="1091726" imgH="406224"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0" y="3546475"/>
                        <a:ext cx="2522538" cy="930275"/>
                      </a:xfrm>
                      <a:prstGeom prst="rect">
                        <a:avLst/>
                      </a:prstGeom>
                      <a:noFill/>
                      <a:ln w="57150" cmpd="thinThick">
                        <a:solidFill>
                          <a:srgbClr val="CC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64" name="Rectangle 8"/>
          <p:cNvSpPr>
            <a:spLocks noChangeArrowheads="1"/>
          </p:cNvSpPr>
          <p:nvPr/>
        </p:nvSpPr>
        <p:spPr bwMode="auto">
          <a:xfrm>
            <a:off x="533400" y="3810000"/>
            <a:ext cx="1979613" cy="528638"/>
          </a:xfrm>
          <a:prstGeom prst="rect">
            <a:avLst/>
          </a:prstGeom>
          <a:noFill/>
          <a:ln w="9525">
            <a:solidFill>
              <a:srgbClr val="CC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b="1">
                <a:solidFill>
                  <a:srgbClr val="990000"/>
                </a:solidFill>
                <a:latin typeface="Times New Roman" pitchFamily="18" charset="0"/>
                <a:ea typeface="黑体" pitchFamily="49" charset="-122"/>
              </a:rPr>
              <a:t>龙贝格公式</a:t>
            </a:r>
          </a:p>
        </p:txBody>
      </p:sp>
      <p:sp>
        <p:nvSpPr>
          <p:cNvPr id="147465" name="Line 9"/>
          <p:cNvSpPr>
            <a:spLocks noChangeShapeType="1"/>
          </p:cNvSpPr>
          <p:nvPr/>
        </p:nvSpPr>
        <p:spPr bwMode="auto">
          <a:xfrm flipH="1">
            <a:off x="2514600" y="4003675"/>
            <a:ext cx="503238" cy="1588"/>
          </a:xfrm>
          <a:prstGeom prst="line">
            <a:avLst/>
          </a:prstGeom>
          <a:noFill/>
          <a:ln w="28575">
            <a:solidFill>
              <a:schemeClr val="hlink"/>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pic>
        <p:nvPicPr>
          <p:cNvPr id="147466" name="Picture 10" descr="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10225" y="1565275"/>
            <a:ext cx="15541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467" name="Picture 11" descr="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24525" y="2632075"/>
            <a:ext cx="15652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468" name="Picture 12" descr="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95963" y="3775075"/>
            <a:ext cx="16144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69" name="AutoShape 13" descr="再生纸"/>
          <p:cNvSpPr>
            <a:spLocks noChangeArrowheads="1"/>
          </p:cNvSpPr>
          <p:nvPr/>
        </p:nvSpPr>
        <p:spPr bwMode="auto">
          <a:xfrm>
            <a:off x="1258888" y="4795838"/>
            <a:ext cx="6481762" cy="1873250"/>
          </a:xfrm>
          <a:prstGeom prst="roundRect">
            <a:avLst>
              <a:gd name="adj" fmla="val 16667"/>
            </a:avLst>
          </a:prstGeom>
          <a:blipFill dpi="0" rotWithShape="0">
            <a:blip r:embed="rId12"/>
            <a:srcRect/>
            <a:tile tx="0" ty="0" sx="100000" sy="100000" flip="none" algn="tl"/>
          </a:bli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77850" indent="-57785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10000"/>
              </a:lnSpc>
            </a:pPr>
            <a:r>
              <a:rPr kumimoji="1" lang="zh-CN" altLang="en-US" sz="2400" b="1">
                <a:solidFill>
                  <a:srgbClr val="0000CC"/>
                </a:solidFill>
                <a:latin typeface="黑体" pitchFamily="49" charset="-122"/>
                <a:ea typeface="黑体" pitchFamily="49" charset="-122"/>
              </a:rPr>
              <a:t>注：</a:t>
            </a:r>
            <a:r>
              <a:rPr kumimoji="1" lang="en-US" altLang="zh-CN" sz="2400" b="1">
                <a:solidFill>
                  <a:srgbClr val="990000"/>
                </a:solidFill>
                <a:latin typeface="楷体_GB2312" pitchFamily="49" charset="-122"/>
                <a:ea typeface="楷体_GB2312" pitchFamily="49" charset="-122"/>
              </a:rPr>
              <a:t>(1)</a:t>
            </a:r>
            <a:r>
              <a:rPr kumimoji="1" lang="zh-CN" altLang="en-US" sz="2400" b="1">
                <a:solidFill>
                  <a:srgbClr val="990000"/>
                </a:solidFill>
                <a:latin typeface="楷体_GB2312" pitchFamily="49" charset="-122"/>
                <a:ea typeface="楷体_GB2312" pitchFamily="49" charset="-122"/>
              </a:rPr>
              <a:t>上述加速技巧称为</a:t>
            </a:r>
            <a:r>
              <a:rPr kumimoji="1" lang="zh-CN" altLang="en-US" sz="2400" b="1">
                <a:solidFill>
                  <a:srgbClr val="0000CC"/>
                </a:solidFill>
                <a:latin typeface="楷体_GB2312" pitchFamily="49" charset="-122"/>
                <a:ea typeface="楷体_GB2312" pitchFamily="49" charset="-122"/>
              </a:rPr>
              <a:t>龙贝格求积算法</a:t>
            </a:r>
            <a:r>
              <a:rPr kumimoji="1" lang="zh-CN" altLang="en-US" sz="2400" b="1">
                <a:solidFill>
                  <a:srgbClr val="990000"/>
                </a:solidFill>
                <a:latin typeface="楷体_GB2312" pitchFamily="49" charset="-122"/>
                <a:ea typeface="楷体_GB2312" pitchFamily="49" charset="-122"/>
              </a:rPr>
              <a:t>；</a:t>
            </a:r>
          </a:p>
          <a:p>
            <a:pPr eaLnBrk="1" hangingPunct="1">
              <a:lnSpc>
                <a:spcPct val="110000"/>
              </a:lnSpc>
            </a:pPr>
            <a:r>
              <a:rPr kumimoji="1" lang="zh-CN" altLang="en-US" sz="2400" b="1">
                <a:solidFill>
                  <a:srgbClr val="990000"/>
                </a:solidFill>
                <a:latin typeface="楷体_GB2312" pitchFamily="49" charset="-122"/>
                <a:ea typeface="楷体_GB2312" pitchFamily="49" charset="-122"/>
              </a:rPr>
              <a:t>    </a:t>
            </a:r>
            <a:r>
              <a:rPr kumimoji="1" lang="en-US" altLang="zh-CN" sz="2400" b="1">
                <a:solidFill>
                  <a:srgbClr val="990000"/>
                </a:solidFill>
                <a:latin typeface="楷体_GB2312" pitchFamily="49" charset="-122"/>
                <a:ea typeface="楷体_GB2312" pitchFamily="49" charset="-122"/>
              </a:rPr>
              <a:t>(2)</a:t>
            </a:r>
            <a:r>
              <a:rPr kumimoji="1" lang="zh-CN" altLang="en-US" sz="2400" b="1">
                <a:solidFill>
                  <a:srgbClr val="990000"/>
                </a:solidFill>
                <a:latin typeface="楷体_GB2312" pitchFamily="49" charset="-122"/>
                <a:ea typeface="楷体_GB2312" pitchFamily="49" charset="-122"/>
              </a:rPr>
              <a:t>每加速一次，计算精度提高</a:t>
            </a:r>
            <a:r>
              <a:rPr kumimoji="1" lang="zh-CN" altLang="en-US" sz="2400" b="1">
                <a:solidFill>
                  <a:srgbClr val="0000CC"/>
                </a:solidFill>
                <a:latin typeface="楷体_GB2312" pitchFamily="49" charset="-122"/>
                <a:ea typeface="楷体_GB2312" pitchFamily="49" charset="-122"/>
              </a:rPr>
              <a:t>二阶</a:t>
            </a:r>
            <a:r>
              <a:rPr kumimoji="1" lang="zh-CN" altLang="en-US" sz="2400" b="1">
                <a:solidFill>
                  <a:srgbClr val="990000"/>
                </a:solidFill>
                <a:latin typeface="楷体_GB2312" pitchFamily="49" charset="-122"/>
                <a:ea typeface="楷体_GB2312" pitchFamily="49" charset="-122"/>
              </a:rPr>
              <a:t>；</a:t>
            </a:r>
          </a:p>
          <a:p>
            <a:pPr eaLnBrk="1" hangingPunct="1">
              <a:lnSpc>
                <a:spcPct val="110000"/>
              </a:lnSpc>
            </a:pPr>
            <a:r>
              <a:rPr kumimoji="1" lang="zh-CN" altLang="en-US" sz="2400" b="1">
                <a:solidFill>
                  <a:srgbClr val="990000"/>
                </a:solidFill>
                <a:latin typeface="楷体_GB2312" pitchFamily="49" charset="-122"/>
                <a:ea typeface="楷体_GB2312" pitchFamily="49" charset="-122"/>
              </a:rPr>
              <a:t>    </a:t>
            </a:r>
            <a:r>
              <a:rPr kumimoji="1" lang="en-US" altLang="zh-CN" sz="2400" b="1">
                <a:solidFill>
                  <a:srgbClr val="990000"/>
                </a:solidFill>
                <a:latin typeface="楷体_GB2312" pitchFamily="49" charset="-122"/>
                <a:ea typeface="楷体_GB2312" pitchFamily="49" charset="-122"/>
              </a:rPr>
              <a:t>(3)</a:t>
            </a:r>
            <a:r>
              <a:rPr kumimoji="1" lang="zh-CN" altLang="en-US" sz="2400" b="1">
                <a:solidFill>
                  <a:srgbClr val="990000"/>
                </a:solidFill>
                <a:latin typeface="楷体_GB2312" pitchFamily="49" charset="-122"/>
                <a:ea typeface="楷体_GB2312" pitchFamily="49" charset="-122"/>
              </a:rPr>
              <a:t>该技巧可以不断继续下去，</a:t>
            </a:r>
          </a:p>
          <a:p>
            <a:pPr eaLnBrk="1" hangingPunct="1">
              <a:lnSpc>
                <a:spcPct val="110000"/>
              </a:lnSpc>
            </a:pPr>
            <a:r>
              <a:rPr kumimoji="1" lang="zh-CN" altLang="en-US" sz="2400" b="1">
                <a:solidFill>
                  <a:srgbClr val="990000"/>
                </a:solidFill>
                <a:latin typeface="楷体_GB2312" pitchFamily="49" charset="-122"/>
                <a:ea typeface="楷体_GB2312" pitchFamily="49" charset="-122"/>
              </a:rPr>
              <a:t>       但通常</a:t>
            </a:r>
            <a:r>
              <a:rPr kumimoji="1" lang="zh-CN" altLang="en-US" sz="2400" b="1">
                <a:solidFill>
                  <a:srgbClr val="0000CC"/>
                </a:solidFill>
                <a:latin typeface="楷体_GB2312" pitchFamily="49" charset="-122"/>
                <a:ea typeface="楷体_GB2312" pitchFamily="49" charset="-122"/>
              </a:rPr>
              <a:t>最多用到龙贝格公式</a:t>
            </a:r>
            <a:r>
              <a:rPr kumimoji="1" lang="zh-CN" altLang="en-US" sz="2400" b="1">
                <a:solidFill>
                  <a:srgbClr val="990000"/>
                </a:solidFill>
                <a:latin typeface="楷体_GB2312" pitchFamily="49" charset="-122"/>
                <a:ea typeface="楷体_GB2312" pitchFamily="49" charset="-122"/>
              </a:rPr>
              <a:t>。</a:t>
            </a:r>
            <a:endParaRPr kumimoji="1" lang="zh-CN" altLang="en-US" sz="2400" b="1">
              <a:solidFill>
                <a:srgbClr val="0000CC"/>
              </a:solidFill>
              <a:latin typeface="楷体_GB2312" pitchFamily="49" charset="-122"/>
              <a:ea typeface="楷体_GB2312" pitchFamily="49"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7461"/>
                                        </p:tgtEl>
                                        <p:attrNameLst>
                                          <p:attrName>style.visibility</p:attrName>
                                        </p:attrNameLst>
                                      </p:cBhvr>
                                      <p:to>
                                        <p:strVal val="visible"/>
                                      </p:to>
                                    </p:set>
                                    <p:animEffect transition="in" filter="box(in)">
                                      <p:cBhvr>
                                        <p:cTn id="7" dur="500"/>
                                        <p:tgtEl>
                                          <p:spTgt spid="14746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47462"/>
                                        </p:tgtEl>
                                        <p:attrNameLst>
                                          <p:attrName>style.visibility</p:attrName>
                                        </p:attrNameLst>
                                      </p:cBhvr>
                                      <p:to>
                                        <p:strVal val="visible"/>
                                      </p:to>
                                    </p:set>
                                    <p:animEffect transition="in" filter="wipe(left)">
                                      <p:cBhvr>
                                        <p:cTn id="11" dur="500"/>
                                        <p:tgtEl>
                                          <p:spTgt spid="14746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47459"/>
                                        </p:tgtEl>
                                        <p:attrNameLst>
                                          <p:attrName>style.visibility</p:attrName>
                                        </p:attrNameLst>
                                      </p:cBhvr>
                                      <p:to>
                                        <p:strVal val="visible"/>
                                      </p:to>
                                    </p:set>
                                    <p:animEffect transition="in" filter="wipe(up)">
                                      <p:cBhvr>
                                        <p:cTn id="16" dur="500"/>
                                        <p:tgtEl>
                                          <p:spTgt spid="147459"/>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147460"/>
                                        </p:tgtEl>
                                        <p:attrNameLst>
                                          <p:attrName>style.visibility</p:attrName>
                                        </p:attrNameLst>
                                      </p:cBhvr>
                                      <p:to>
                                        <p:strVal val="visible"/>
                                      </p:to>
                                    </p:set>
                                    <p:animEffect transition="in" filter="wipe(left)">
                                      <p:cBhvr>
                                        <p:cTn id="20" dur="500"/>
                                        <p:tgtEl>
                                          <p:spTgt spid="14746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147463"/>
                                        </p:tgtEl>
                                        <p:attrNameLst>
                                          <p:attrName>style.visibility</p:attrName>
                                        </p:attrNameLst>
                                      </p:cBhvr>
                                      <p:to>
                                        <p:strVal val="visible"/>
                                      </p:to>
                                    </p:set>
                                    <p:animEffect transition="in" filter="wipe(up)">
                                      <p:cBhvr>
                                        <p:cTn id="25" dur="500"/>
                                        <p:tgtEl>
                                          <p:spTgt spid="14746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147465"/>
                                        </p:tgtEl>
                                        <p:attrNameLst>
                                          <p:attrName>style.visibility</p:attrName>
                                        </p:attrNameLst>
                                      </p:cBhvr>
                                      <p:to>
                                        <p:strVal val="visible"/>
                                      </p:to>
                                    </p:set>
                                    <p:animEffect transition="in" filter="wipe(right)">
                                      <p:cBhvr>
                                        <p:cTn id="30" dur="500"/>
                                        <p:tgtEl>
                                          <p:spTgt spid="147465"/>
                                        </p:tgtEl>
                                      </p:cBhvr>
                                    </p:animEffect>
                                  </p:childTnLst>
                                </p:cTn>
                              </p:par>
                            </p:childTnLst>
                          </p:cTn>
                        </p:par>
                        <p:par>
                          <p:cTn id="31" fill="hold" nodeType="afterGroup">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147464"/>
                                        </p:tgtEl>
                                        <p:attrNameLst>
                                          <p:attrName>style.visibility</p:attrName>
                                        </p:attrNameLst>
                                      </p:cBhvr>
                                      <p:to>
                                        <p:strVal val="visible"/>
                                      </p:to>
                                    </p:set>
                                    <p:animEffect transition="in" filter="wipe(up)">
                                      <p:cBhvr>
                                        <p:cTn id="34" dur="500"/>
                                        <p:tgtEl>
                                          <p:spTgt spid="14746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147466"/>
                                        </p:tgtEl>
                                        <p:attrNameLst>
                                          <p:attrName>style.visibility</p:attrName>
                                        </p:attrNameLst>
                                      </p:cBhvr>
                                      <p:to>
                                        <p:strVal val="visible"/>
                                      </p:to>
                                    </p:set>
                                    <p:animEffect transition="in" filter="wipe(up)">
                                      <p:cBhvr>
                                        <p:cTn id="39" dur="500"/>
                                        <p:tgtEl>
                                          <p:spTgt spid="147466"/>
                                        </p:tgtEl>
                                      </p:cBhvr>
                                    </p:animEffect>
                                  </p:childTnLst>
                                </p:cTn>
                              </p:par>
                            </p:childTnLst>
                          </p:cTn>
                        </p:par>
                        <p:par>
                          <p:cTn id="40" fill="hold" nodeType="afterGroup">
                            <p:stCondLst>
                              <p:cond delay="500"/>
                            </p:stCondLst>
                            <p:childTnLst>
                              <p:par>
                                <p:cTn id="41" presetID="22" presetClass="entr" presetSubtype="1" fill="hold" nodeType="afterEffect">
                                  <p:stCondLst>
                                    <p:cond delay="1000"/>
                                  </p:stCondLst>
                                  <p:childTnLst>
                                    <p:set>
                                      <p:cBhvr>
                                        <p:cTn id="42" dur="1" fill="hold">
                                          <p:stCondLst>
                                            <p:cond delay="0"/>
                                          </p:stCondLst>
                                        </p:cTn>
                                        <p:tgtEl>
                                          <p:spTgt spid="147467"/>
                                        </p:tgtEl>
                                        <p:attrNameLst>
                                          <p:attrName>style.visibility</p:attrName>
                                        </p:attrNameLst>
                                      </p:cBhvr>
                                      <p:to>
                                        <p:strVal val="visible"/>
                                      </p:to>
                                    </p:set>
                                    <p:animEffect transition="in" filter="wipe(up)">
                                      <p:cBhvr>
                                        <p:cTn id="43" dur="500"/>
                                        <p:tgtEl>
                                          <p:spTgt spid="147467"/>
                                        </p:tgtEl>
                                      </p:cBhvr>
                                    </p:animEffect>
                                  </p:childTnLst>
                                </p:cTn>
                              </p:par>
                            </p:childTnLst>
                          </p:cTn>
                        </p:par>
                        <p:par>
                          <p:cTn id="44" fill="hold" nodeType="afterGroup">
                            <p:stCondLst>
                              <p:cond delay="2000"/>
                            </p:stCondLst>
                            <p:childTnLst>
                              <p:par>
                                <p:cTn id="45" presetID="22" presetClass="entr" presetSubtype="1" fill="hold" nodeType="afterEffect">
                                  <p:stCondLst>
                                    <p:cond delay="0"/>
                                  </p:stCondLst>
                                  <p:childTnLst>
                                    <p:set>
                                      <p:cBhvr>
                                        <p:cTn id="46" dur="1" fill="hold">
                                          <p:stCondLst>
                                            <p:cond delay="0"/>
                                          </p:stCondLst>
                                        </p:cTn>
                                        <p:tgtEl>
                                          <p:spTgt spid="147468"/>
                                        </p:tgtEl>
                                        <p:attrNameLst>
                                          <p:attrName>style.visibility</p:attrName>
                                        </p:attrNameLst>
                                      </p:cBhvr>
                                      <p:to>
                                        <p:strVal val="visible"/>
                                      </p:to>
                                    </p:set>
                                    <p:animEffect transition="in" filter="wipe(up)">
                                      <p:cBhvr>
                                        <p:cTn id="47" dur="500"/>
                                        <p:tgtEl>
                                          <p:spTgt spid="14746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47469"/>
                                        </p:tgtEl>
                                        <p:attrNameLst>
                                          <p:attrName>style.visibility</p:attrName>
                                        </p:attrNameLst>
                                      </p:cBhvr>
                                      <p:to>
                                        <p:strVal val="visible"/>
                                      </p:to>
                                    </p:set>
                                    <p:anim calcmode="lin" valueType="num">
                                      <p:cBhvr>
                                        <p:cTn id="52" dur="500" fill="hold"/>
                                        <p:tgtEl>
                                          <p:spTgt spid="147469"/>
                                        </p:tgtEl>
                                        <p:attrNameLst>
                                          <p:attrName>ppt_w</p:attrName>
                                        </p:attrNameLst>
                                      </p:cBhvr>
                                      <p:tavLst>
                                        <p:tav tm="0">
                                          <p:val>
                                            <p:fltVal val="0"/>
                                          </p:val>
                                        </p:tav>
                                        <p:tav tm="100000">
                                          <p:val>
                                            <p:strVal val="#ppt_w"/>
                                          </p:val>
                                        </p:tav>
                                      </p:tavLst>
                                    </p:anim>
                                    <p:anim calcmode="lin" valueType="num">
                                      <p:cBhvr>
                                        <p:cTn id="53" dur="500" fill="hold"/>
                                        <p:tgtEl>
                                          <p:spTgt spid="14746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autoUpdateAnimBg="0"/>
      <p:bldP spid="147461" grpId="0" autoUpdateAnimBg="0"/>
      <p:bldP spid="147464" grpId="0" animBg="1" autoUpdateAnimBg="0"/>
      <p:bldP spid="147465" grpId="0" animBg="1"/>
      <p:bldP spid="147469"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ltLang="zh-CN"/>
              <a:t>Romberg</a:t>
            </a:r>
            <a:r>
              <a:rPr lang="zh-CN" altLang="zh-CN"/>
              <a:t>公式计算方法</a:t>
            </a:r>
            <a:endParaRPr lang="zh-CN" altLang="en-US"/>
          </a:p>
        </p:txBody>
      </p:sp>
      <p:sp>
        <p:nvSpPr>
          <p:cNvPr id="63491" name="Rectangle 3"/>
          <p:cNvSpPr>
            <a:spLocks noGrp="1" noChangeArrowheads="1"/>
          </p:cNvSpPr>
          <p:nvPr>
            <p:ph type="body" idx="1"/>
          </p:nvPr>
        </p:nvSpPr>
        <p:spPr>
          <a:xfrm>
            <a:off x="684213" y="1844675"/>
            <a:ext cx="7924800" cy="4475163"/>
          </a:xfrm>
          <a:ln w="3175">
            <a:solidFill>
              <a:schemeClr val="tx1"/>
            </a:solidFill>
            <a:miter lim="800000"/>
            <a:headEnd/>
            <a:tailEnd/>
          </a:ln>
        </p:spPr>
        <p:txBody>
          <a:bodyPr/>
          <a:lstStyle/>
          <a:p>
            <a:pPr eaLnBrk="1" hangingPunct="1"/>
            <a:r>
              <a:rPr lang="en-US" altLang="zh-CN" sz="2400"/>
              <a:t>T</a:t>
            </a:r>
            <a:r>
              <a:rPr lang="en-US" altLang="zh-CN" sz="2400" baseline="-25000"/>
              <a:t>1</a:t>
            </a:r>
            <a:endParaRPr lang="en-US" altLang="zh-CN" sz="2400"/>
          </a:p>
          <a:p>
            <a:pPr eaLnBrk="1" hangingPunct="1"/>
            <a:r>
              <a:rPr lang="en-US" altLang="zh-CN" sz="2400"/>
              <a:t>T</a:t>
            </a:r>
            <a:r>
              <a:rPr lang="en-US" altLang="zh-CN" sz="2400" baseline="-25000"/>
              <a:t>2 </a:t>
            </a:r>
            <a:r>
              <a:rPr lang="en-US" altLang="zh-CN" sz="2400"/>
              <a:t>    S</a:t>
            </a:r>
            <a:r>
              <a:rPr lang="en-US" altLang="zh-CN" sz="2400" baseline="-25000"/>
              <a:t>1</a:t>
            </a:r>
            <a:r>
              <a:rPr lang="en-US" altLang="zh-CN" sz="2400"/>
              <a:t>     </a:t>
            </a:r>
          </a:p>
          <a:p>
            <a:pPr eaLnBrk="1" hangingPunct="1"/>
            <a:r>
              <a:rPr lang="en-US" altLang="zh-CN" sz="2400"/>
              <a:t>T</a:t>
            </a:r>
            <a:r>
              <a:rPr lang="en-US" altLang="zh-CN" sz="2400" baseline="-25000"/>
              <a:t>4</a:t>
            </a:r>
            <a:r>
              <a:rPr lang="en-US" altLang="zh-CN" sz="2400"/>
              <a:t>    S</a:t>
            </a:r>
            <a:r>
              <a:rPr lang="en-US" altLang="zh-CN" sz="2400" baseline="-25000"/>
              <a:t>2 </a:t>
            </a:r>
            <a:r>
              <a:rPr lang="en-US" altLang="zh-CN" sz="2400"/>
              <a:t>    C</a:t>
            </a:r>
            <a:r>
              <a:rPr lang="en-US" altLang="zh-CN" sz="2400" baseline="-25000"/>
              <a:t>1</a:t>
            </a:r>
            <a:endParaRPr lang="en-US" altLang="zh-CN" sz="2400"/>
          </a:p>
          <a:p>
            <a:pPr eaLnBrk="1" hangingPunct="1"/>
            <a:r>
              <a:rPr lang="en-US" altLang="zh-CN" sz="2400"/>
              <a:t>T</a:t>
            </a:r>
            <a:r>
              <a:rPr lang="en-US" altLang="zh-CN" sz="2400" baseline="-25000"/>
              <a:t>8</a:t>
            </a:r>
            <a:r>
              <a:rPr lang="en-US" altLang="zh-CN" sz="2400"/>
              <a:t>    S</a:t>
            </a:r>
            <a:r>
              <a:rPr lang="en-US" altLang="zh-CN" sz="2400" baseline="-25000"/>
              <a:t>4 </a:t>
            </a:r>
            <a:r>
              <a:rPr lang="en-US" altLang="zh-CN" sz="2400"/>
              <a:t>    C</a:t>
            </a:r>
            <a:r>
              <a:rPr lang="en-US" altLang="zh-CN" sz="2400" baseline="-25000"/>
              <a:t>2 </a:t>
            </a:r>
            <a:r>
              <a:rPr lang="en-US" altLang="zh-CN" sz="2400"/>
              <a:t>    R</a:t>
            </a:r>
            <a:r>
              <a:rPr lang="en-US" altLang="zh-CN" sz="2400" baseline="-25000"/>
              <a:t>1</a:t>
            </a:r>
            <a:endParaRPr lang="en-US" altLang="zh-CN" sz="2400"/>
          </a:p>
          <a:p>
            <a:pPr eaLnBrk="1" hangingPunct="1"/>
            <a:r>
              <a:rPr lang="en-US" altLang="zh-CN" sz="2400"/>
              <a:t>T</a:t>
            </a:r>
            <a:r>
              <a:rPr lang="en-US" altLang="zh-CN" sz="2400" baseline="-25000"/>
              <a:t>16</a:t>
            </a:r>
            <a:r>
              <a:rPr lang="en-US" altLang="zh-CN" sz="2400"/>
              <a:t>   S</a:t>
            </a:r>
            <a:r>
              <a:rPr lang="en-US" altLang="zh-CN" sz="2400" baseline="-25000"/>
              <a:t>8  </a:t>
            </a:r>
            <a:r>
              <a:rPr lang="en-US" altLang="zh-CN" sz="2400"/>
              <a:t>   C</a:t>
            </a:r>
            <a:r>
              <a:rPr lang="en-US" altLang="zh-CN" sz="2400" baseline="-25000"/>
              <a:t>4 </a:t>
            </a:r>
            <a:r>
              <a:rPr lang="en-US" altLang="zh-CN" sz="2400"/>
              <a:t>    R</a:t>
            </a:r>
            <a:r>
              <a:rPr lang="en-US" altLang="zh-CN" sz="2400" baseline="-25000"/>
              <a:t>2</a:t>
            </a:r>
          </a:p>
          <a:p>
            <a:pPr eaLnBrk="1" hangingPunct="1"/>
            <a:r>
              <a:rPr lang="en-US" altLang="zh-CN" sz="2400"/>
              <a:t>T</a:t>
            </a:r>
            <a:r>
              <a:rPr lang="en-US" altLang="zh-CN" sz="2400" baseline="-25000"/>
              <a:t>32</a:t>
            </a:r>
            <a:r>
              <a:rPr lang="en-US" altLang="zh-CN" sz="2400"/>
              <a:t>   S</a:t>
            </a:r>
            <a:r>
              <a:rPr lang="en-US" altLang="zh-CN" sz="2400" baseline="-25000"/>
              <a:t>16  </a:t>
            </a:r>
            <a:r>
              <a:rPr lang="en-US" altLang="zh-CN" sz="2400"/>
              <a:t>   C</a:t>
            </a:r>
            <a:r>
              <a:rPr lang="en-US" altLang="zh-CN" sz="2400" baseline="-25000"/>
              <a:t>8 </a:t>
            </a:r>
            <a:r>
              <a:rPr lang="en-US" altLang="zh-CN" sz="2400"/>
              <a:t>   R</a:t>
            </a:r>
            <a:r>
              <a:rPr lang="en-US" altLang="zh-CN" sz="2400" baseline="-25000"/>
              <a:t>4.</a:t>
            </a:r>
          </a:p>
          <a:p>
            <a:pPr eaLnBrk="1" hangingPunct="1"/>
            <a:r>
              <a:rPr lang="en-US" altLang="zh-CN" sz="2400" baseline="-25000"/>
              <a:t>................................................</a:t>
            </a:r>
            <a:endParaRPr lang="en-US" altLang="zh-CN" sz="2400"/>
          </a:p>
          <a:p>
            <a:pPr eaLnBrk="1" hangingPunct="1"/>
            <a:r>
              <a:rPr lang="zh-CN" altLang="en-US" sz="2400"/>
              <a:t>上面是</a:t>
            </a:r>
            <a:r>
              <a:rPr lang="en-US" altLang="zh-CN" sz="2400"/>
              <a:t>Romberg</a:t>
            </a:r>
            <a:r>
              <a:rPr lang="zh-CN" altLang="zh-CN" sz="2400"/>
              <a:t>的计算表</a:t>
            </a:r>
            <a:r>
              <a:rPr lang="zh-CN" altLang="en-US" sz="2400"/>
              <a:t>若                                       </a:t>
            </a:r>
          </a:p>
          <a:p>
            <a:pPr eaLnBrk="1" hangingPunct="1"/>
            <a:endParaRPr lang="zh-CN" altLang="en-US" sz="2400"/>
          </a:p>
          <a:p>
            <a:pPr eaLnBrk="1" hangingPunct="1"/>
            <a:r>
              <a:rPr lang="zh-CN" altLang="en-US" sz="2400"/>
              <a:t>   则计算停止；否则用</a:t>
            </a:r>
            <a:r>
              <a:rPr lang="en-US" altLang="zh-CN" sz="2400"/>
              <a:t>i+1</a:t>
            </a:r>
            <a:r>
              <a:rPr lang="zh-CN" altLang="zh-CN" sz="2400"/>
              <a:t>代</a:t>
            </a:r>
            <a:r>
              <a:rPr lang="en-US" altLang="zh-CN" sz="2400"/>
              <a:t>i</a:t>
            </a:r>
            <a:r>
              <a:rPr lang="zh-CN" altLang="en-US" sz="2400"/>
              <a:t>，转入下一步。</a:t>
            </a:r>
          </a:p>
        </p:txBody>
      </p:sp>
      <p:graphicFrame>
        <p:nvGraphicFramePr>
          <p:cNvPr id="63492" name="Object 4"/>
          <p:cNvGraphicFramePr>
            <a:graphicFrameLocks noChangeAspect="1"/>
          </p:cNvGraphicFramePr>
          <p:nvPr/>
        </p:nvGraphicFramePr>
        <p:xfrm>
          <a:off x="5148263" y="4724400"/>
          <a:ext cx="1943100" cy="774700"/>
        </p:xfrm>
        <a:graphic>
          <a:graphicData uri="http://schemas.openxmlformats.org/presentationml/2006/ole">
            <mc:AlternateContent xmlns:mc="http://schemas.openxmlformats.org/markup-compatibility/2006">
              <mc:Choice xmlns:v="urn:schemas-microsoft-com:vml" Requires="v">
                <p:oleObj spid="_x0000_s63597" name="公式" r:id="rId3" imgW="1040948" imgH="355446" progId="Equation.3">
                  <p:embed/>
                </p:oleObj>
              </mc:Choice>
              <mc:Fallback>
                <p:oleObj name="公式" r:id="rId3" imgW="1040948" imgH="355446"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263" y="4724400"/>
                        <a:ext cx="19431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3" name="Line 5"/>
          <p:cNvSpPr>
            <a:spLocks noChangeShapeType="1"/>
          </p:cNvSpPr>
          <p:nvPr/>
        </p:nvSpPr>
        <p:spPr bwMode="auto">
          <a:xfrm>
            <a:off x="1447800" y="2590800"/>
            <a:ext cx="152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4" name="Line 6"/>
          <p:cNvSpPr>
            <a:spLocks noChangeShapeType="1"/>
          </p:cNvSpPr>
          <p:nvPr/>
        </p:nvSpPr>
        <p:spPr bwMode="auto">
          <a:xfrm>
            <a:off x="1219200" y="2209800"/>
            <a:ext cx="0" cy="15240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5" name="Line 7"/>
          <p:cNvSpPr>
            <a:spLocks noChangeShapeType="1"/>
          </p:cNvSpPr>
          <p:nvPr/>
        </p:nvSpPr>
        <p:spPr bwMode="auto">
          <a:xfrm>
            <a:off x="1524000" y="2971800"/>
            <a:ext cx="152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6" name="Line 9"/>
          <p:cNvSpPr>
            <a:spLocks noChangeShapeType="1"/>
          </p:cNvSpPr>
          <p:nvPr/>
        </p:nvSpPr>
        <p:spPr bwMode="auto">
          <a:xfrm>
            <a:off x="2057400" y="2971800"/>
            <a:ext cx="152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7" name="Line 11"/>
          <p:cNvSpPr>
            <a:spLocks noChangeShapeType="1"/>
          </p:cNvSpPr>
          <p:nvPr/>
        </p:nvSpPr>
        <p:spPr bwMode="auto">
          <a:xfrm>
            <a:off x="1447800" y="3429000"/>
            <a:ext cx="152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8" name="Line 12"/>
          <p:cNvSpPr>
            <a:spLocks noChangeShapeType="1"/>
          </p:cNvSpPr>
          <p:nvPr/>
        </p:nvSpPr>
        <p:spPr bwMode="auto">
          <a:xfrm>
            <a:off x="2057400" y="3429000"/>
            <a:ext cx="152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9" name="Line 13"/>
          <p:cNvSpPr>
            <a:spLocks noChangeShapeType="1"/>
          </p:cNvSpPr>
          <p:nvPr/>
        </p:nvSpPr>
        <p:spPr bwMode="auto">
          <a:xfrm>
            <a:off x="2743200" y="3429000"/>
            <a:ext cx="152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0" name="Line 15"/>
          <p:cNvSpPr>
            <a:spLocks noChangeShapeType="1"/>
          </p:cNvSpPr>
          <p:nvPr/>
        </p:nvSpPr>
        <p:spPr bwMode="auto">
          <a:xfrm>
            <a:off x="1524000" y="3886200"/>
            <a:ext cx="152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1" name="Line 16"/>
          <p:cNvSpPr>
            <a:spLocks noChangeShapeType="1"/>
          </p:cNvSpPr>
          <p:nvPr/>
        </p:nvSpPr>
        <p:spPr bwMode="auto">
          <a:xfrm>
            <a:off x="2133600" y="3886200"/>
            <a:ext cx="152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2" name="Line 17"/>
          <p:cNvSpPr>
            <a:spLocks noChangeShapeType="1"/>
          </p:cNvSpPr>
          <p:nvPr/>
        </p:nvSpPr>
        <p:spPr bwMode="auto">
          <a:xfrm>
            <a:off x="2667000" y="3886200"/>
            <a:ext cx="3048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3" name="Line 19"/>
          <p:cNvSpPr>
            <a:spLocks noChangeShapeType="1"/>
          </p:cNvSpPr>
          <p:nvPr/>
        </p:nvSpPr>
        <p:spPr bwMode="auto">
          <a:xfrm>
            <a:off x="1524000" y="4267200"/>
            <a:ext cx="152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4" name="Line 20"/>
          <p:cNvSpPr>
            <a:spLocks noChangeShapeType="1"/>
          </p:cNvSpPr>
          <p:nvPr/>
        </p:nvSpPr>
        <p:spPr bwMode="auto">
          <a:xfrm>
            <a:off x="2133600" y="4267200"/>
            <a:ext cx="2286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5" name="Line 21"/>
          <p:cNvSpPr>
            <a:spLocks noChangeShapeType="1"/>
          </p:cNvSpPr>
          <p:nvPr/>
        </p:nvSpPr>
        <p:spPr bwMode="auto">
          <a:xfrm>
            <a:off x="2819400" y="4343400"/>
            <a:ext cx="2286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3506" name="Object 22"/>
          <p:cNvGraphicFramePr>
            <a:graphicFrameLocks noChangeAspect="1"/>
          </p:cNvGraphicFramePr>
          <p:nvPr/>
        </p:nvGraphicFramePr>
        <p:xfrm>
          <a:off x="6142038" y="1981200"/>
          <a:ext cx="2030412" cy="596900"/>
        </p:xfrm>
        <a:graphic>
          <a:graphicData uri="http://schemas.openxmlformats.org/presentationml/2006/ole">
            <mc:AlternateContent xmlns:mc="http://schemas.openxmlformats.org/markup-compatibility/2006">
              <mc:Choice xmlns:v="urn:schemas-microsoft-com:vml" Requires="v">
                <p:oleObj spid="_x0000_s63598" name="公式" r:id="rId5" imgW="1104900" imgH="419100" progId="Equation.3">
                  <p:embed/>
                </p:oleObj>
              </mc:Choice>
              <mc:Fallback>
                <p:oleObj name="公式" r:id="rId5" imgW="1104900" imgH="419100"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2038" y="1981200"/>
                        <a:ext cx="2030412"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7" name="Object 23"/>
          <p:cNvGraphicFramePr>
            <a:graphicFrameLocks noChangeAspect="1"/>
          </p:cNvGraphicFramePr>
          <p:nvPr/>
        </p:nvGraphicFramePr>
        <p:xfrm>
          <a:off x="6011863" y="3573463"/>
          <a:ext cx="2360612" cy="652462"/>
        </p:xfrm>
        <a:graphic>
          <a:graphicData uri="http://schemas.openxmlformats.org/presentationml/2006/ole">
            <mc:AlternateContent xmlns:mc="http://schemas.openxmlformats.org/markup-compatibility/2006">
              <mc:Choice xmlns:v="urn:schemas-microsoft-com:vml" Requires="v">
                <p:oleObj spid="_x0000_s63599" name="公式" r:id="rId7" imgW="1206500" imgH="431800" progId="Equation.3">
                  <p:embed/>
                </p:oleObj>
              </mc:Choice>
              <mc:Fallback>
                <p:oleObj name="公式" r:id="rId7" imgW="1206500" imgH="431800"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1863" y="3573463"/>
                        <a:ext cx="2360612" cy="652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8" name="Object 24"/>
          <p:cNvGraphicFramePr>
            <a:graphicFrameLocks noChangeAspect="1"/>
          </p:cNvGraphicFramePr>
          <p:nvPr/>
        </p:nvGraphicFramePr>
        <p:xfrm>
          <a:off x="6227763" y="2708275"/>
          <a:ext cx="2000250" cy="625475"/>
        </p:xfrm>
        <a:graphic>
          <a:graphicData uri="http://schemas.openxmlformats.org/presentationml/2006/ole">
            <mc:AlternateContent xmlns:mc="http://schemas.openxmlformats.org/markup-compatibility/2006">
              <mc:Choice xmlns:v="urn:schemas-microsoft-com:vml" Requires="v">
                <p:oleObj spid="_x0000_s63600" name="公式" r:id="rId9" imgW="1167893" imgH="431613" progId="Equation.3">
                  <p:embed/>
                </p:oleObj>
              </mc:Choice>
              <mc:Fallback>
                <p:oleObj name="公式" r:id="rId9" imgW="1167893" imgH="431613" progId="Equation.3">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27763" y="2708275"/>
                        <a:ext cx="2000250"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14" name="Object 13"/>
          <p:cNvGraphicFramePr>
            <a:graphicFrameLocks noChangeAspect="1"/>
          </p:cNvGraphicFramePr>
          <p:nvPr/>
        </p:nvGraphicFramePr>
        <p:xfrm>
          <a:off x="468313" y="1125538"/>
          <a:ext cx="2343150" cy="581025"/>
        </p:xfrm>
        <a:graphic>
          <a:graphicData uri="http://schemas.openxmlformats.org/presentationml/2006/ole">
            <mc:AlternateContent xmlns:mc="http://schemas.openxmlformats.org/markup-compatibility/2006">
              <mc:Choice xmlns:v="urn:schemas-microsoft-com:vml" Requires="v">
                <p:oleObj spid="_x0000_s64677" name="公式" r:id="rId3" imgW="977900" imgH="241300" progId="Equation.3">
                  <p:embed/>
                </p:oleObj>
              </mc:Choice>
              <mc:Fallback>
                <p:oleObj name="公式" r:id="rId3" imgW="977900" imgH="2413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125538"/>
                        <a:ext cx="23431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48" name="Object 12"/>
          <p:cNvGraphicFramePr>
            <a:graphicFrameLocks noChangeAspect="1"/>
          </p:cNvGraphicFramePr>
          <p:nvPr/>
        </p:nvGraphicFramePr>
        <p:xfrm>
          <a:off x="4500563" y="981075"/>
          <a:ext cx="3830637" cy="1027113"/>
        </p:xfrm>
        <a:graphic>
          <a:graphicData uri="http://schemas.openxmlformats.org/presentationml/2006/ole">
            <mc:AlternateContent xmlns:mc="http://schemas.openxmlformats.org/markup-compatibility/2006">
              <mc:Choice xmlns:v="urn:schemas-microsoft-com:vml" Requires="v">
                <p:oleObj spid="_x0000_s64678" name="公式" r:id="rId5" imgW="1600200" imgH="431800" progId="Equation.3">
                  <p:embed/>
                </p:oleObj>
              </mc:Choice>
              <mc:Fallback>
                <p:oleObj name="公式" r:id="rId5" imgW="1600200" imgH="4318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981075"/>
                        <a:ext cx="3830637"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16" name="Object 11"/>
          <p:cNvGraphicFramePr>
            <a:graphicFrameLocks noChangeAspect="1"/>
          </p:cNvGraphicFramePr>
          <p:nvPr/>
        </p:nvGraphicFramePr>
        <p:xfrm>
          <a:off x="323850" y="1916113"/>
          <a:ext cx="3240088" cy="995362"/>
        </p:xfrm>
        <a:graphic>
          <a:graphicData uri="http://schemas.openxmlformats.org/presentationml/2006/ole">
            <mc:AlternateContent xmlns:mc="http://schemas.openxmlformats.org/markup-compatibility/2006">
              <mc:Choice xmlns:v="urn:schemas-microsoft-com:vml" Requires="v">
                <p:oleObj spid="_x0000_s64679" name="公式" r:id="rId7" imgW="1358310" imgH="393529" progId="Equation.3">
                  <p:embed/>
                </p:oleObj>
              </mc:Choice>
              <mc:Fallback>
                <p:oleObj name="公式" r:id="rId7" imgW="1358310" imgH="393529"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850" y="1916113"/>
                        <a:ext cx="3240088"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46" name="Object 10"/>
          <p:cNvGraphicFramePr>
            <a:graphicFrameLocks noChangeAspect="1"/>
          </p:cNvGraphicFramePr>
          <p:nvPr/>
        </p:nvGraphicFramePr>
        <p:xfrm>
          <a:off x="1692275" y="3500438"/>
          <a:ext cx="4103688" cy="1074737"/>
        </p:xfrm>
        <a:graphic>
          <a:graphicData uri="http://schemas.openxmlformats.org/presentationml/2006/ole">
            <mc:AlternateContent xmlns:mc="http://schemas.openxmlformats.org/markup-compatibility/2006">
              <mc:Choice xmlns:v="urn:schemas-microsoft-com:vml" Requires="v">
                <p:oleObj spid="_x0000_s64680" name="公式" r:id="rId9" imgW="1637589" imgH="431613" progId="Equation.3">
                  <p:embed/>
                </p:oleObj>
              </mc:Choice>
              <mc:Fallback>
                <p:oleObj name="公式" r:id="rId9" imgW="1637589" imgH="431613"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2275" y="3500438"/>
                        <a:ext cx="4103688"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18" name="Object 9"/>
          <p:cNvGraphicFramePr>
            <a:graphicFrameLocks noChangeAspect="1"/>
          </p:cNvGraphicFramePr>
          <p:nvPr/>
        </p:nvGraphicFramePr>
        <p:xfrm>
          <a:off x="395288" y="4724400"/>
          <a:ext cx="2892425" cy="990600"/>
        </p:xfrm>
        <a:graphic>
          <a:graphicData uri="http://schemas.openxmlformats.org/presentationml/2006/ole">
            <mc:AlternateContent xmlns:mc="http://schemas.openxmlformats.org/markup-compatibility/2006">
              <mc:Choice xmlns:v="urn:schemas-microsoft-com:vml" Requires="v">
                <p:oleObj spid="_x0000_s64681" name="公式" r:id="rId11" imgW="1143000" imgH="393700" progId="Equation.3">
                  <p:embed/>
                </p:oleObj>
              </mc:Choice>
              <mc:Fallback>
                <p:oleObj name="公式" r:id="rId11" imgW="1143000" imgH="3937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5288" y="4724400"/>
                        <a:ext cx="28924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44" name="Object 8"/>
          <p:cNvGraphicFramePr>
            <a:graphicFrameLocks noChangeAspect="1"/>
          </p:cNvGraphicFramePr>
          <p:nvPr/>
        </p:nvGraphicFramePr>
        <p:xfrm>
          <a:off x="2843213" y="5589588"/>
          <a:ext cx="5014912" cy="1027112"/>
        </p:xfrm>
        <a:graphic>
          <a:graphicData uri="http://schemas.openxmlformats.org/presentationml/2006/ole">
            <mc:AlternateContent xmlns:mc="http://schemas.openxmlformats.org/markup-compatibility/2006">
              <mc:Choice xmlns:v="urn:schemas-microsoft-com:vml" Requires="v">
                <p:oleObj spid="_x0000_s64682" name="公式" r:id="rId13" imgW="2095500" imgH="431800" progId="Equation.3">
                  <p:embed/>
                </p:oleObj>
              </mc:Choice>
              <mc:Fallback>
                <p:oleObj name="公式" r:id="rId13" imgW="2095500" imgH="4318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43213" y="5589588"/>
                        <a:ext cx="5014912" cy="102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4520" name="Rectangle 14"/>
          <p:cNvSpPr>
            <a:spLocks noChangeArrowheads="1"/>
          </p:cNvSpPr>
          <p:nvPr/>
        </p:nvSpPr>
        <p:spPr bwMode="auto">
          <a:xfrm>
            <a:off x="250825" y="333375"/>
            <a:ext cx="7200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Times New Roman" pitchFamily="18" charset="0"/>
                <a:cs typeface="Times New Roman" pitchFamily="18" charset="0"/>
              </a:rPr>
              <a:t>按照区间逐次分半的方法，计算梯形和序列</a:t>
            </a:r>
            <a:endParaRPr lang="zh-CN" altLang="en-US" sz="2800" b="1"/>
          </a:p>
        </p:txBody>
      </p:sp>
      <p:sp>
        <p:nvSpPr>
          <p:cNvPr id="64521" name="Rectangle 22"/>
          <p:cNvSpPr>
            <a:spLocks noChangeArrowheads="1"/>
          </p:cNvSpPr>
          <p:nvPr/>
        </p:nvSpPr>
        <p:spPr bwMode="auto">
          <a:xfrm>
            <a:off x="2981325" y="6102350"/>
            <a:ext cx="2159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900"/>
              <a:t> </a:t>
            </a:r>
            <a:endParaRPr lang="en-US" altLang="zh-CN"/>
          </a:p>
        </p:txBody>
      </p:sp>
      <p:graphicFrame>
        <p:nvGraphicFramePr>
          <p:cNvPr id="116759" name="Object 23"/>
          <p:cNvGraphicFramePr>
            <a:graphicFrameLocks noChangeAspect="1"/>
          </p:cNvGraphicFramePr>
          <p:nvPr/>
        </p:nvGraphicFramePr>
        <p:xfrm>
          <a:off x="3967163" y="2133600"/>
          <a:ext cx="5176837" cy="985838"/>
        </p:xfrm>
        <a:graphic>
          <a:graphicData uri="http://schemas.openxmlformats.org/presentationml/2006/ole">
            <mc:AlternateContent xmlns:mc="http://schemas.openxmlformats.org/markup-compatibility/2006">
              <mc:Choice xmlns:v="urn:schemas-microsoft-com:vml" Requires="v">
                <p:oleObj spid="_x0000_s64683" name="公式" r:id="rId15" imgW="2044700" imgH="393700" progId="Equation.3">
                  <p:embed/>
                </p:oleObj>
              </mc:Choice>
              <mc:Fallback>
                <p:oleObj name="公式" r:id="rId15" imgW="2044700" imgH="393700" progId="Equation.3">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67163" y="2133600"/>
                        <a:ext cx="5176837"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6748"/>
                                        </p:tgtEl>
                                        <p:attrNameLst>
                                          <p:attrName>style.visibility</p:attrName>
                                        </p:attrNameLst>
                                      </p:cBhvr>
                                      <p:to>
                                        <p:strVal val="visible"/>
                                      </p:to>
                                    </p:set>
                                    <p:anim calcmode="lin" valueType="num">
                                      <p:cBhvr additive="base">
                                        <p:cTn id="7" dur="500" fill="hold"/>
                                        <p:tgtEl>
                                          <p:spTgt spid="116748"/>
                                        </p:tgtEl>
                                        <p:attrNameLst>
                                          <p:attrName>ppt_x</p:attrName>
                                        </p:attrNameLst>
                                      </p:cBhvr>
                                      <p:tavLst>
                                        <p:tav tm="0">
                                          <p:val>
                                            <p:strVal val="#ppt_x"/>
                                          </p:val>
                                        </p:tav>
                                        <p:tav tm="100000">
                                          <p:val>
                                            <p:strVal val="#ppt_x"/>
                                          </p:val>
                                        </p:tav>
                                      </p:tavLst>
                                    </p:anim>
                                    <p:anim calcmode="lin" valueType="num">
                                      <p:cBhvr additive="base">
                                        <p:cTn id="8" dur="500" fill="hold"/>
                                        <p:tgtEl>
                                          <p:spTgt spid="11674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6746"/>
                                        </p:tgtEl>
                                        <p:attrNameLst>
                                          <p:attrName>style.visibility</p:attrName>
                                        </p:attrNameLst>
                                      </p:cBhvr>
                                      <p:to>
                                        <p:strVal val="visible"/>
                                      </p:to>
                                    </p:set>
                                    <p:anim calcmode="lin" valueType="num">
                                      <p:cBhvr additive="base">
                                        <p:cTn id="13" dur="500" fill="hold"/>
                                        <p:tgtEl>
                                          <p:spTgt spid="116746"/>
                                        </p:tgtEl>
                                        <p:attrNameLst>
                                          <p:attrName>ppt_x</p:attrName>
                                        </p:attrNameLst>
                                      </p:cBhvr>
                                      <p:tavLst>
                                        <p:tav tm="0">
                                          <p:val>
                                            <p:strVal val="#ppt_x"/>
                                          </p:val>
                                        </p:tav>
                                        <p:tav tm="100000">
                                          <p:val>
                                            <p:strVal val="#ppt_x"/>
                                          </p:val>
                                        </p:tav>
                                      </p:tavLst>
                                    </p:anim>
                                    <p:anim calcmode="lin" valueType="num">
                                      <p:cBhvr additive="base">
                                        <p:cTn id="14" dur="500" fill="hold"/>
                                        <p:tgtEl>
                                          <p:spTgt spid="11674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6744"/>
                                        </p:tgtEl>
                                        <p:attrNameLst>
                                          <p:attrName>style.visibility</p:attrName>
                                        </p:attrNameLst>
                                      </p:cBhvr>
                                      <p:to>
                                        <p:strVal val="visible"/>
                                      </p:to>
                                    </p:set>
                                    <p:anim calcmode="lin" valueType="num">
                                      <p:cBhvr additive="base">
                                        <p:cTn id="19" dur="500" fill="hold"/>
                                        <p:tgtEl>
                                          <p:spTgt spid="116744"/>
                                        </p:tgtEl>
                                        <p:attrNameLst>
                                          <p:attrName>ppt_x</p:attrName>
                                        </p:attrNameLst>
                                      </p:cBhvr>
                                      <p:tavLst>
                                        <p:tav tm="0">
                                          <p:val>
                                            <p:strVal val="#ppt_x"/>
                                          </p:val>
                                        </p:tav>
                                        <p:tav tm="100000">
                                          <p:val>
                                            <p:strVal val="#ppt_x"/>
                                          </p:val>
                                        </p:tav>
                                      </p:tavLst>
                                    </p:anim>
                                    <p:anim calcmode="lin" valueType="num">
                                      <p:cBhvr additive="base">
                                        <p:cTn id="20" dur="500" fill="hold"/>
                                        <p:tgtEl>
                                          <p:spTgt spid="11674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116759"/>
                                        </p:tgtEl>
                                        <p:attrNameLst>
                                          <p:attrName>style.visibility</p:attrName>
                                        </p:attrNameLst>
                                      </p:cBhvr>
                                      <p:to>
                                        <p:strVal val="visible"/>
                                      </p:to>
                                    </p:set>
                                    <p:animEffect transition="in" filter="wipe(up)">
                                      <p:cBhvr>
                                        <p:cTn id="25" dur="500"/>
                                        <p:tgtEl>
                                          <p:spTgt spid="116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2852738"/>
            <a:ext cx="102235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3"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43213" y="3500438"/>
            <a:ext cx="5256212"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6564" name="Group 31"/>
          <p:cNvGrpSpPr>
            <a:grpSpLocks/>
          </p:cNvGrpSpPr>
          <p:nvPr/>
        </p:nvGrpSpPr>
        <p:grpSpPr bwMode="auto">
          <a:xfrm>
            <a:off x="179388" y="1052513"/>
            <a:ext cx="5105400" cy="669925"/>
            <a:chOff x="340" y="663"/>
            <a:chExt cx="3216" cy="422"/>
          </a:xfrm>
        </p:grpSpPr>
        <p:pic>
          <p:nvPicPr>
            <p:cNvPr id="66587"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38" y="709"/>
              <a:ext cx="1360"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88" name="Picture 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88" y="663"/>
              <a:ext cx="268"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89" name="Rectangle 15"/>
            <p:cNvSpPr>
              <a:spLocks noChangeArrowheads="1"/>
            </p:cNvSpPr>
            <p:nvPr/>
          </p:nvSpPr>
          <p:spPr bwMode="auto">
            <a:xfrm>
              <a:off x="340" y="663"/>
              <a:ext cx="95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latin typeface="Times New Roman" pitchFamily="18" charset="0"/>
                </a:rPr>
                <a:t>(1)</a:t>
              </a:r>
              <a:r>
                <a:rPr lang="zh-CN" altLang="en-US" sz="3200">
                  <a:latin typeface="Times New Roman" pitchFamily="18" charset="0"/>
                </a:rPr>
                <a:t>计算</a:t>
              </a:r>
              <a:endParaRPr lang="zh-CN" altLang="en-US" sz="3200"/>
            </a:p>
          </p:txBody>
        </p:sp>
        <p:sp>
          <p:nvSpPr>
            <p:cNvPr id="66590" name="Rectangle 16"/>
            <p:cNvSpPr>
              <a:spLocks noChangeArrowheads="1"/>
            </p:cNvSpPr>
            <p:nvPr/>
          </p:nvSpPr>
          <p:spPr bwMode="auto">
            <a:xfrm>
              <a:off x="2653" y="663"/>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latin typeface="Times New Roman" pitchFamily="18" charset="0"/>
                </a:rPr>
                <a:t>算出</a:t>
              </a:r>
              <a:endParaRPr lang="zh-CN" altLang="en-US" sz="3200"/>
            </a:p>
          </p:txBody>
        </p:sp>
      </p:grpSp>
      <p:grpSp>
        <p:nvGrpSpPr>
          <p:cNvPr id="66565" name="Group 30"/>
          <p:cNvGrpSpPr>
            <a:grpSpLocks/>
          </p:cNvGrpSpPr>
          <p:nvPr/>
        </p:nvGrpSpPr>
        <p:grpSpPr bwMode="auto">
          <a:xfrm>
            <a:off x="179388" y="1687513"/>
            <a:ext cx="8388350" cy="1165225"/>
            <a:chOff x="340" y="1018"/>
            <a:chExt cx="5284" cy="734"/>
          </a:xfrm>
        </p:grpSpPr>
        <p:pic>
          <p:nvPicPr>
            <p:cNvPr id="66579"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20" y="1162"/>
              <a:ext cx="304"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80"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5" y="1199"/>
              <a:ext cx="644"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81" name="Picture 1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016" y="1018"/>
              <a:ext cx="1163"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82" name="Picture 1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86" y="1154"/>
              <a:ext cx="304"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83" name="Rectangle 17"/>
            <p:cNvSpPr>
              <a:spLocks noChangeArrowheads="1"/>
            </p:cNvSpPr>
            <p:nvPr/>
          </p:nvSpPr>
          <p:spPr bwMode="auto">
            <a:xfrm>
              <a:off x="340" y="1199"/>
              <a:ext cx="67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tabLst>
                  <a:tab pos="495300" algn="l"/>
                </a:tabLst>
                <a:defRPr>
                  <a:solidFill>
                    <a:schemeClr val="tx1"/>
                  </a:solidFill>
                  <a:latin typeface="Arial" pitchFamily="34" charset="0"/>
                  <a:ea typeface="宋体" pitchFamily="2" charset="-122"/>
                </a:defRPr>
              </a:lvl1pPr>
              <a:lvl2pPr marL="742950" indent="-285750" eaLnBrk="0" hangingPunct="0">
                <a:tabLst>
                  <a:tab pos="495300" algn="l"/>
                </a:tabLst>
                <a:defRPr>
                  <a:solidFill>
                    <a:schemeClr val="tx1"/>
                  </a:solidFill>
                  <a:latin typeface="Arial" pitchFamily="34" charset="0"/>
                  <a:ea typeface="宋体" pitchFamily="2" charset="-122"/>
                </a:defRPr>
              </a:lvl2pPr>
              <a:lvl3pPr marL="1143000" indent="-228600" eaLnBrk="0" hangingPunct="0">
                <a:tabLst>
                  <a:tab pos="495300" algn="l"/>
                </a:tabLst>
                <a:defRPr>
                  <a:solidFill>
                    <a:schemeClr val="tx1"/>
                  </a:solidFill>
                  <a:latin typeface="Arial" pitchFamily="34" charset="0"/>
                  <a:ea typeface="宋体" pitchFamily="2" charset="-122"/>
                </a:defRPr>
              </a:lvl3pPr>
              <a:lvl4pPr marL="1600200" indent="-228600" eaLnBrk="0" hangingPunct="0">
                <a:tabLst>
                  <a:tab pos="495300" algn="l"/>
                </a:tabLst>
                <a:defRPr>
                  <a:solidFill>
                    <a:schemeClr val="tx1"/>
                  </a:solidFill>
                  <a:latin typeface="Arial" pitchFamily="34" charset="0"/>
                  <a:ea typeface="宋体" pitchFamily="2" charset="-122"/>
                </a:defRPr>
              </a:lvl4pPr>
              <a:lvl5pPr marL="2057400" indent="-228600" eaLnBrk="0" hangingPunct="0">
                <a:tabLst>
                  <a:tab pos="495300" algn="l"/>
                </a:tabLst>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9pPr>
            </a:lstStyle>
            <a:p>
              <a:pPr eaLnBrk="1" hangingPunct="1"/>
              <a:r>
                <a:rPr lang="en-US" altLang="zh-CN" sz="3200">
                  <a:latin typeface="Times New Roman" pitchFamily="18" charset="0"/>
                </a:rPr>
                <a:t>(2)</a:t>
              </a:r>
              <a:r>
                <a:rPr lang="zh-CN" altLang="en-US" sz="3200">
                  <a:latin typeface="Times New Roman" pitchFamily="18" charset="0"/>
                </a:rPr>
                <a:t>把</a:t>
              </a:r>
              <a:endParaRPr lang="zh-CN" altLang="en-US" sz="3200"/>
            </a:p>
          </p:txBody>
        </p:sp>
        <p:sp>
          <p:nvSpPr>
            <p:cNvPr id="66584" name="Rectangle 18"/>
            <p:cNvSpPr>
              <a:spLocks noChangeArrowheads="1"/>
            </p:cNvSpPr>
            <p:nvPr/>
          </p:nvSpPr>
          <p:spPr bwMode="auto">
            <a:xfrm>
              <a:off x="1746" y="1199"/>
              <a:ext cx="126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latin typeface="Times New Roman" pitchFamily="18" charset="0"/>
                </a:rPr>
                <a:t>2</a:t>
              </a:r>
              <a:r>
                <a:rPr lang="zh-CN" altLang="en-US" sz="3200">
                  <a:latin typeface="Times New Roman" pitchFamily="18" charset="0"/>
                </a:rPr>
                <a:t>等分计算</a:t>
              </a:r>
              <a:endParaRPr lang="zh-CN" altLang="en-US" sz="3200"/>
            </a:p>
          </p:txBody>
        </p:sp>
        <p:sp>
          <p:nvSpPr>
            <p:cNvPr id="66585" name="Rectangle 19"/>
            <p:cNvSpPr>
              <a:spLocks noChangeArrowheads="1"/>
            </p:cNvSpPr>
            <p:nvPr/>
          </p:nvSpPr>
          <p:spPr bwMode="auto">
            <a:xfrm>
              <a:off x="4241" y="1162"/>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latin typeface="Times New Roman" pitchFamily="18" charset="0"/>
                </a:rPr>
                <a:t>算出</a:t>
              </a:r>
              <a:endParaRPr lang="zh-CN" altLang="en-US" sz="3200"/>
            </a:p>
          </p:txBody>
        </p:sp>
        <p:sp>
          <p:nvSpPr>
            <p:cNvPr id="66586" name="Rectangle 20"/>
            <p:cNvSpPr>
              <a:spLocks noChangeArrowheads="1"/>
            </p:cNvSpPr>
            <p:nvPr/>
          </p:nvSpPr>
          <p:spPr bwMode="auto">
            <a:xfrm>
              <a:off x="5057" y="1162"/>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latin typeface="Times New Roman" pitchFamily="18" charset="0"/>
                </a:rPr>
                <a:t>与</a:t>
              </a:r>
              <a:endParaRPr lang="zh-CN" altLang="en-US" sz="3200"/>
            </a:p>
          </p:txBody>
        </p:sp>
      </p:grpSp>
      <p:sp>
        <p:nvSpPr>
          <p:cNvPr id="66566" name="Rectangle 21"/>
          <p:cNvSpPr>
            <a:spLocks noChangeArrowheads="1"/>
          </p:cNvSpPr>
          <p:nvPr/>
        </p:nvSpPr>
        <p:spPr bwMode="auto">
          <a:xfrm>
            <a:off x="179388" y="2849563"/>
            <a:ext cx="10636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tabLst>
                <a:tab pos="495300" algn="l"/>
              </a:tabLst>
              <a:defRPr>
                <a:solidFill>
                  <a:schemeClr val="tx1"/>
                </a:solidFill>
                <a:latin typeface="Arial" pitchFamily="34" charset="0"/>
                <a:ea typeface="宋体" pitchFamily="2" charset="-122"/>
              </a:defRPr>
            </a:lvl1pPr>
            <a:lvl2pPr marL="742950" indent="-285750" eaLnBrk="0" hangingPunct="0">
              <a:tabLst>
                <a:tab pos="495300" algn="l"/>
              </a:tabLst>
              <a:defRPr>
                <a:solidFill>
                  <a:schemeClr val="tx1"/>
                </a:solidFill>
                <a:latin typeface="Arial" pitchFamily="34" charset="0"/>
                <a:ea typeface="宋体" pitchFamily="2" charset="-122"/>
              </a:defRPr>
            </a:lvl2pPr>
            <a:lvl3pPr marL="1143000" indent="-228600" eaLnBrk="0" hangingPunct="0">
              <a:tabLst>
                <a:tab pos="495300" algn="l"/>
              </a:tabLst>
              <a:defRPr>
                <a:solidFill>
                  <a:schemeClr val="tx1"/>
                </a:solidFill>
                <a:latin typeface="Arial" pitchFamily="34" charset="0"/>
                <a:ea typeface="宋体" pitchFamily="2" charset="-122"/>
              </a:defRPr>
            </a:lvl3pPr>
            <a:lvl4pPr marL="1600200" indent="-228600" eaLnBrk="0" hangingPunct="0">
              <a:tabLst>
                <a:tab pos="495300" algn="l"/>
              </a:tabLst>
              <a:defRPr>
                <a:solidFill>
                  <a:schemeClr val="tx1"/>
                </a:solidFill>
                <a:latin typeface="Arial" pitchFamily="34" charset="0"/>
                <a:ea typeface="宋体" pitchFamily="2" charset="-122"/>
              </a:defRPr>
            </a:lvl4pPr>
            <a:lvl5pPr marL="2057400" indent="-228600" eaLnBrk="0" hangingPunct="0">
              <a:tabLst>
                <a:tab pos="495300" algn="l"/>
              </a:tabLst>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9pPr>
          </a:lstStyle>
          <a:p>
            <a:pPr eaLnBrk="1" hangingPunct="1"/>
            <a:r>
              <a:rPr lang="en-US" altLang="zh-CN" sz="3200">
                <a:latin typeface="Times New Roman" pitchFamily="18" charset="0"/>
              </a:rPr>
              <a:t>(3)</a:t>
            </a:r>
            <a:r>
              <a:rPr lang="zh-CN" altLang="en-US" sz="3200">
                <a:latin typeface="Times New Roman" pitchFamily="18" charset="0"/>
              </a:rPr>
              <a:t>把</a:t>
            </a:r>
            <a:endParaRPr lang="zh-CN" altLang="en-US" sz="3200"/>
          </a:p>
        </p:txBody>
      </p:sp>
      <p:sp>
        <p:nvSpPr>
          <p:cNvPr id="66567" name="Rectangle 22"/>
          <p:cNvSpPr>
            <a:spLocks noChangeArrowheads="1"/>
          </p:cNvSpPr>
          <p:nvPr/>
        </p:nvSpPr>
        <p:spPr bwMode="auto">
          <a:xfrm>
            <a:off x="2124075" y="2852738"/>
            <a:ext cx="2114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latin typeface="Times New Roman" pitchFamily="18" charset="0"/>
              </a:rPr>
              <a:t>4</a:t>
            </a:r>
            <a:r>
              <a:rPr lang="zh-CN" altLang="en-US" sz="3200">
                <a:latin typeface="Times New Roman" pitchFamily="18" charset="0"/>
              </a:rPr>
              <a:t>等分</a:t>
            </a:r>
            <a:r>
              <a:rPr lang="en-US" altLang="zh-CN" sz="3200">
                <a:latin typeface="Times New Roman" pitchFamily="18" charset="0"/>
              </a:rPr>
              <a:t>,</a:t>
            </a:r>
            <a:r>
              <a:rPr lang="zh-CN" altLang="en-US" sz="3200">
                <a:latin typeface="Times New Roman" pitchFamily="18" charset="0"/>
              </a:rPr>
              <a:t>计算</a:t>
            </a:r>
            <a:endParaRPr lang="zh-CN" altLang="en-US" sz="3200"/>
          </a:p>
        </p:txBody>
      </p:sp>
      <p:grpSp>
        <p:nvGrpSpPr>
          <p:cNvPr id="66568" name="Group 28"/>
          <p:cNvGrpSpPr>
            <a:grpSpLocks/>
          </p:cNvGrpSpPr>
          <p:nvPr/>
        </p:nvGrpSpPr>
        <p:grpSpPr bwMode="auto">
          <a:xfrm>
            <a:off x="539750" y="4724400"/>
            <a:ext cx="4833938" cy="804863"/>
            <a:chOff x="476" y="2880"/>
            <a:chExt cx="3045" cy="507"/>
          </a:xfrm>
        </p:grpSpPr>
        <p:pic>
          <p:nvPicPr>
            <p:cNvPr id="66572" name="Picture 6"/>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83" y="2880"/>
              <a:ext cx="304"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73" name="Picture 5"/>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018" y="2925"/>
              <a:ext cx="340"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74" name="Picture 4"/>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880" y="2974"/>
              <a:ext cx="340"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75" name="Rectangle 23"/>
            <p:cNvSpPr>
              <a:spLocks noChangeArrowheads="1"/>
            </p:cNvSpPr>
            <p:nvPr/>
          </p:nvSpPr>
          <p:spPr bwMode="auto">
            <a:xfrm>
              <a:off x="476" y="2927"/>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latin typeface="Times New Roman" pitchFamily="18" charset="0"/>
                </a:rPr>
                <a:t>算出</a:t>
              </a:r>
              <a:endParaRPr lang="zh-CN" altLang="en-US" sz="3200"/>
            </a:p>
          </p:txBody>
        </p:sp>
        <p:sp>
          <p:nvSpPr>
            <p:cNvPr id="66576" name="Rectangle 24"/>
            <p:cNvSpPr>
              <a:spLocks noChangeArrowheads="1"/>
            </p:cNvSpPr>
            <p:nvPr/>
          </p:nvSpPr>
          <p:spPr bwMode="auto">
            <a:xfrm>
              <a:off x="1746" y="2883"/>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latin typeface="Times New Roman" pitchFamily="18" charset="0"/>
                </a:rPr>
                <a:t>, </a:t>
              </a:r>
              <a:endParaRPr lang="en-US" altLang="zh-CN" sz="3200"/>
            </a:p>
          </p:txBody>
        </p:sp>
        <p:sp>
          <p:nvSpPr>
            <p:cNvPr id="66577" name="Rectangle 25"/>
            <p:cNvSpPr>
              <a:spLocks noChangeArrowheads="1"/>
            </p:cNvSpPr>
            <p:nvPr/>
          </p:nvSpPr>
          <p:spPr bwMode="auto">
            <a:xfrm>
              <a:off x="2472" y="2929"/>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latin typeface="Times New Roman" pitchFamily="18" charset="0"/>
                </a:rPr>
                <a:t>与</a:t>
              </a:r>
              <a:endParaRPr lang="zh-CN" altLang="en-US" sz="3200"/>
            </a:p>
          </p:txBody>
        </p:sp>
        <p:sp>
          <p:nvSpPr>
            <p:cNvPr id="66578" name="Rectangle 26"/>
            <p:cNvSpPr>
              <a:spLocks noChangeArrowheads="1"/>
            </p:cNvSpPr>
            <p:nvPr/>
          </p:nvSpPr>
          <p:spPr bwMode="auto">
            <a:xfrm>
              <a:off x="3334" y="3022"/>
              <a:ext cx="1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tabLst>
                  <a:tab pos="495300" algn="l"/>
                </a:tabLst>
                <a:defRPr>
                  <a:solidFill>
                    <a:schemeClr val="tx1"/>
                  </a:solidFill>
                  <a:latin typeface="Arial" pitchFamily="34" charset="0"/>
                  <a:ea typeface="宋体" pitchFamily="2" charset="-122"/>
                </a:defRPr>
              </a:lvl1pPr>
              <a:lvl2pPr marL="742950" indent="-285750" eaLnBrk="0" hangingPunct="0">
                <a:tabLst>
                  <a:tab pos="495300" algn="l"/>
                </a:tabLst>
                <a:defRPr>
                  <a:solidFill>
                    <a:schemeClr val="tx1"/>
                  </a:solidFill>
                  <a:latin typeface="Arial" pitchFamily="34" charset="0"/>
                  <a:ea typeface="宋体" pitchFamily="2" charset="-122"/>
                </a:defRPr>
              </a:lvl2pPr>
              <a:lvl3pPr marL="1143000" indent="-228600" eaLnBrk="0" hangingPunct="0">
                <a:tabLst>
                  <a:tab pos="495300" algn="l"/>
                </a:tabLst>
                <a:defRPr>
                  <a:solidFill>
                    <a:schemeClr val="tx1"/>
                  </a:solidFill>
                  <a:latin typeface="Arial" pitchFamily="34" charset="0"/>
                  <a:ea typeface="宋体" pitchFamily="2" charset="-122"/>
                </a:defRPr>
              </a:lvl3pPr>
              <a:lvl4pPr marL="1600200" indent="-228600" eaLnBrk="0" hangingPunct="0">
                <a:tabLst>
                  <a:tab pos="495300" algn="l"/>
                </a:tabLst>
                <a:defRPr>
                  <a:solidFill>
                    <a:schemeClr val="tx1"/>
                  </a:solidFill>
                  <a:latin typeface="Arial" pitchFamily="34" charset="0"/>
                  <a:ea typeface="宋体" pitchFamily="2" charset="-122"/>
                </a:defRPr>
              </a:lvl4pPr>
              <a:lvl5pPr marL="2057400" indent="-228600" eaLnBrk="0" hangingPunct="0">
                <a:tabLst>
                  <a:tab pos="495300" algn="l"/>
                </a:tabLst>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tabLst>
                  <a:tab pos="495300" algn="l"/>
                </a:tabLst>
                <a:defRPr>
                  <a:solidFill>
                    <a:schemeClr val="tx1"/>
                  </a:solidFill>
                  <a:latin typeface="Arial" pitchFamily="34" charset="0"/>
                  <a:ea typeface="宋体" pitchFamily="2" charset="-122"/>
                </a:defRPr>
              </a:lvl9pPr>
            </a:lstStyle>
            <a:p>
              <a:pPr eaLnBrk="1" hangingPunct="1"/>
              <a:r>
                <a:rPr lang="en-US" altLang="zh-CN" sz="3200">
                  <a:latin typeface="Times New Roman" pitchFamily="18" charset="0"/>
                </a:rPr>
                <a:t>;</a:t>
              </a:r>
              <a:endParaRPr lang="en-US" altLang="zh-CN" sz="3200"/>
            </a:p>
          </p:txBody>
        </p:sp>
      </p:grpSp>
      <p:sp>
        <p:nvSpPr>
          <p:cNvPr id="66569" name="Rectangle 27"/>
          <p:cNvSpPr>
            <a:spLocks noChangeArrowheads="1"/>
          </p:cNvSpPr>
          <p:nvPr/>
        </p:nvSpPr>
        <p:spPr bwMode="auto">
          <a:xfrm>
            <a:off x="1547813" y="188913"/>
            <a:ext cx="61198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latin typeface="Times New Roman" pitchFamily="18" charset="0"/>
              </a:rPr>
              <a:t>龙贝格求积的计算步骤如下：</a:t>
            </a:r>
            <a:endParaRPr lang="zh-CN" altLang="en-US" sz="3200"/>
          </a:p>
        </p:txBody>
      </p:sp>
      <p:sp>
        <p:nvSpPr>
          <p:cNvPr id="66570" name="Rectangle 36"/>
          <p:cNvSpPr>
            <a:spLocks noChangeArrowheads="1"/>
          </p:cNvSpPr>
          <p:nvPr/>
        </p:nvSpPr>
        <p:spPr bwMode="auto">
          <a:xfrm>
            <a:off x="468313" y="5876925"/>
            <a:ext cx="29733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latin typeface="Times New Roman" pitchFamily="18" charset="0"/>
              </a:rPr>
              <a:t>算出 </a:t>
            </a:r>
            <a:r>
              <a:rPr lang="en-US" altLang="zh-CN" sz="3200" i="1">
                <a:latin typeface="Times New Roman" pitchFamily="18" charset="0"/>
              </a:rPr>
              <a:t>T</a:t>
            </a:r>
            <a:r>
              <a:rPr lang="en-US" altLang="zh-CN" sz="3200" i="1" baseline="-18000">
                <a:latin typeface="Times New Roman" pitchFamily="18" charset="0"/>
              </a:rPr>
              <a:t>8 </a:t>
            </a:r>
            <a:r>
              <a:rPr lang="en-US" altLang="zh-CN" sz="3200">
                <a:latin typeface="Times New Roman" pitchFamily="18" charset="0"/>
              </a:rPr>
              <a:t>, </a:t>
            </a:r>
            <a:r>
              <a:rPr lang="en-US" altLang="zh-CN" sz="3200" i="1" baseline="-18000">
                <a:latin typeface="Times New Roman" pitchFamily="18" charset="0"/>
              </a:rPr>
              <a:t> </a:t>
            </a:r>
            <a:r>
              <a:rPr lang="en-US" altLang="zh-CN" sz="3200" i="1">
                <a:latin typeface="Times New Roman" pitchFamily="18" charset="0"/>
              </a:rPr>
              <a:t>S</a:t>
            </a:r>
            <a:r>
              <a:rPr lang="en-US" altLang="zh-CN" sz="3200" i="1" baseline="-18000">
                <a:latin typeface="Times New Roman" pitchFamily="18" charset="0"/>
              </a:rPr>
              <a:t>4 </a:t>
            </a:r>
            <a:r>
              <a:rPr lang="en-US" altLang="zh-CN" sz="3200">
                <a:latin typeface="Times New Roman" pitchFamily="18" charset="0"/>
              </a:rPr>
              <a:t>, </a:t>
            </a:r>
            <a:r>
              <a:rPr lang="en-US" altLang="zh-CN" sz="3200" i="1">
                <a:latin typeface="Times New Roman" pitchFamily="18" charset="0"/>
              </a:rPr>
              <a:t>C</a:t>
            </a:r>
            <a:r>
              <a:rPr lang="en-US" altLang="zh-CN" sz="3200" i="1" baseline="-18000">
                <a:latin typeface="Times New Roman" pitchFamily="18" charset="0"/>
              </a:rPr>
              <a:t>2 </a:t>
            </a:r>
            <a:r>
              <a:rPr lang="en-US" altLang="zh-CN" sz="3200">
                <a:latin typeface="Times New Roman" pitchFamily="18" charset="0"/>
              </a:rPr>
              <a:t>,</a:t>
            </a:r>
          </a:p>
        </p:txBody>
      </p:sp>
      <p:sp>
        <p:nvSpPr>
          <p:cNvPr id="66571" name="Rectangle 48"/>
          <p:cNvSpPr>
            <a:spLocks noChangeArrowheads="1"/>
          </p:cNvSpPr>
          <p:nvPr/>
        </p:nvSpPr>
        <p:spPr bwMode="auto">
          <a:xfrm>
            <a:off x="3995738" y="5876925"/>
            <a:ext cx="1479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latin typeface="Times New Roman" pitchFamily="18" charset="0"/>
              </a:rPr>
              <a:t>算出 </a:t>
            </a:r>
            <a:r>
              <a:rPr lang="en-US" altLang="zh-CN" sz="3200" i="1">
                <a:latin typeface="Times New Roman" pitchFamily="18" charset="0"/>
              </a:rPr>
              <a:t>R</a:t>
            </a:r>
            <a:r>
              <a:rPr lang="en-US" altLang="zh-CN" sz="3200" i="1" baseline="-18000">
                <a:latin typeface="Times New Roman" pitchFamily="18" charset="0"/>
              </a:rPr>
              <a:t>1</a:t>
            </a:r>
          </a:p>
        </p:txBody>
      </p:sp>
    </p:spTree>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538" name="Object 8"/>
          <p:cNvGraphicFramePr>
            <a:graphicFrameLocks noChangeAspect="1"/>
          </p:cNvGraphicFramePr>
          <p:nvPr/>
        </p:nvGraphicFramePr>
        <p:xfrm>
          <a:off x="1033463" y="836613"/>
          <a:ext cx="2744787" cy="935037"/>
        </p:xfrm>
        <a:graphic>
          <a:graphicData uri="http://schemas.openxmlformats.org/presentationml/2006/ole">
            <mc:AlternateContent xmlns:mc="http://schemas.openxmlformats.org/markup-compatibility/2006">
              <mc:Choice xmlns:v="urn:schemas-microsoft-com:vml" Requires="v">
                <p:oleObj spid="_x0000_s65586" name="公式" r:id="rId3" imgW="1143000" imgH="393700" progId="Equation.3">
                  <p:embed/>
                </p:oleObj>
              </mc:Choice>
              <mc:Fallback>
                <p:oleObj name="公式" r:id="rId3" imgW="1143000" imgH="3937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3463" y="836613"/>
                        <a:ext cx="2744787"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3065" name="Object 9"/>
          <p:cNvGraphicFramePr>
            <a:graphicFrameLocks noChangeAspect="1"/>
          </p:cNvGraphicFramePr>
          <p:nvPr/>
        </p:nvGraphicFramePr>
        <p:xfrm>
          <a:off x="539750" y="2276475"/>
          <a:ext cx="7345363" cy="1468438"/>
        </p:xfrm>
        <a:graphic>
          <a:graphicData uri="http://schemas.openxmlformats.org/presentationml/2006/ole">
            <mc:AlternateContent xmlns:mc="http://schemas.openxmlformats.org/markup-compatibility/2006">
              <mc:Choice xmlns:v="urn:schemas-microsoft-com:vml" Requires="v">
                <p:oleObj spid="_x0000_s65587" name="公式" r:id="rId5" imgW="2286000" imgH="457200" progId="Equation.3">
                  <p:embed/>
                </p:oleObj>
              </mc:Choice>
              <mc:Fallback>
                <p:oleObj name="公式" r:id="rId5" imgW="2286000" imgH="457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2276475"/>
                        <a:ext cx="7345363"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40" name="Rectangle 11"/>
          <p:cNvSpPr>
            <a:spLocks noChangeArrowheads="1"/>
          </p:cNvSpPr>
          <p:nvPr/>
        </p:nvSpPr>
        <p:spPr bwMode="auto">
          <a:xfrm>
            <a:off x="2981325" y="3305175"/>
            <a:ext cx="20129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000">
                <a:latin typeface="Times New Roman" pitchFamily="18" charset="0"/>
                <a:cs typeface="Times New Roman" pitchFamily="18" charset="0"/>
              </a:rPr>
              <a:t>		</a:t>
            </a:r>
            <a:endParaRPr lang="en-US" altLang="zh-CN"/>
          </a:p>
        </p:txBody>
      </p:sp>
      <p:sp>
        <p:nvSpPr>
          <p:cNvPr id="65541" name="Rectangle 12"/>
          <p:cNvSpPr>
            <a:spLocks noChangeArrowheads="1"/>
          </p:cNvSpPr>
          <p:nvPr/>
        </p:nvSpPr>
        <p:spPr bwMode="auto">
          <a:xfrm>
            <a:off x="2981325" y="6102350"/>
            <a:ext cx="2159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900"/>
              <a:t> </a:t>
            </a:r>
            <a:endParaRPr lang="en-US" altLang="zh-CN"/>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3065"/>
                                        </p:tgtEl>
                                        <p:attrNameLst>
                                          <p:attrName>style.visibility</p:attrName>
                                        </p:attrNameLst>
                                      </p:cBhvr>
                                      <p:to>
                                        <p:strVal val="visible"/>
                                      </p:to>
                                    </p:set>
                                    <p:anim calcmode="lin" valueType="num">
                                      <p:cBhvr additive="base">
                                        <p:cTn id="7" dur="500" fill="hold"/>
                                        <p:tgtEl>
                                          <p:spTgt spid="173065"/>
                                        </p:tgtEl>
                                        <p:attrNameLst>
                                          <p:attrName>ppt_x</p:attrName>
                                        </p:attrNameLst>
                                      </p:cBhvr>
                                      <p:tavLst>
                                        <p:tav tm="0">
                                          <p:val>
                                            <p:strVal val="#ppt_x"/>
                                          </p:val>
                                        </p:tav>
                                        <p:tav tm="100000">
                                          <p:val>
                                            <p:strVal val="#ppt_x"/>
                                          </p:val>
                                        </p:tav>
                                      </p:tavLst>
                                    </p:anim>
                                    <p:anim calcmode="lin" valueType="num">
                                      <p:cBhvr additive="base">
                                        <p:cTn id="8" dur="500" fill="hold"/>
                                        <p:tgtEl>
                                          <p:spTgt spid="1730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5"/>
          <p:cNvSpPr>
            <a:spLocks noChangeArrowheads="1"/>
          </p:cNvSpPr>
          <p:nvPr/>
        </p:nvSpPr>
        <p:spPr bwMode="auto">
          <a:xfrm>
            <a:off x="539750" y="404813"/>
            <a:ext cx="482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宋体" pitchFamily="2" charset="-122"/>
              </a:rPr>
              <a:t>用龙贝格求积法计算积分</a:t>
            </a:r>
          </a:p>
        </p:txBody>
      </p:sp>
      <p:pic>
        <p:nvPicPr>
          <p:cNvPr id="6758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1484313"/>
            <a:ext cx="3240088" cy="138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8" name="Rectangle 6"/>
          <p:cNvSpPr>
            <a:spLocks noChangeArrowheads="1"/>
          </p:cNvSpPr>
          <p:nvPr/>
        </p:nvSpPr>
        <p:spPr bwMode="auto">
          <a:xfrm>
            <a:off x="5292725" y="1989138"/>
            <a:ext cx="2225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宋体" pitchFamily="2" charset="-122"/>
              </a:rPr>
              <a:t>的近似值</a:t>
            </a:r>
            <a:r>
              <a:rPr lang="en-US" altLang="zh-CN" sz="3200" b="1">
                <a:latin typeface="宋体" pitchFamily="2" charset="-122"/>
              </a:rPr>
              <a:t>, </a:t>
            </a:r>
          </a:p>
        </p:txBody>
      </p:sp>
      <p:graphicFrame>
        <p:nvGraphicFramePr>
          <p:cNvPr id="113675" name="Group 11"/>
          <p:cNvGraphicFramePr>
            <a:graphicFrameLocks noGrp="1"/>
          </p:cNvGraphicFramePr>
          <p:nvPr/>
        </p:nvGraphicFramePr>
        <p:xfrm>
          <a:off x="179388" y="4005263"/>
          <a:ext cx="8964612" cy="1800225"/>
        </p:xfrm>
        <a:graphic>
          <a:graphicData uri="http://schemas.openxmlformats.org/drawingml/2006/table">
            <a:tbl>
              <a:tblPr/>
              <a:tblGrid>
                <a:gridCol w="896937">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96938">
                  <a:extLst>
                    <a:ext uri="{9D8B030D-6E8A-4147-A177-3AD203B41FA5}">
                      <a16:colId xmlns:a16="http://schemas.microsoft.com/office/drawing/2014/main" val="20002"/>
                    </a:ext>
                  </a:extLst>
                </a:gridCol>
                <a:gridCol w="896937">
                  <a:extLst>
                    <a:ext uri="{9D8B030D-6E8A-4147-A177-3AD203B41FA5}">
                      <a16:colId xmlns:a16="http://schemas.microsoft.com/office/drawing/2014/main" val="20003"/>
                    </a:ext>
                  </a:extLst>
                </a:gridCol>
                <a:gridCol w="896938">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6937">
                  <a:extLst>
                    <a:ext uri="{9D8B030D-6E8A-4147-A177-3AD203B41FA5}">
                      <a16:colId xmlns:a16="http://schemas.microsoft.com/office/drawing/2014/main" val="20006"/>
                    </a:ext>
                  </a:extLst>
                </a:gridCol>
                <a:gridCol w="896938">
                  <a:extLst>
                    <a:ext uri="{9D8B030D-6E8A-4147-A177-3AD203B41FA5}">
                      <a16:colId xmlns:a16="http://schemas.microsoft.com/office/drawing/2014/main" val="20007"/>
                    </a:ext>
                  </a:extLst>
                </a:gridCol>
                <a:gridCol w="895350">
                  <a:extLst>
                    <a:ext uri="{9D8B030D-6E8A-4147-A177-3AD203B41FA5}">
                      <a16:colId xmlns:a16="http://schemas.microsoft.com/office/drawing/2014/main" val="20008"/>
                    </a:ext>
                  </a:extLst>
                </a:gridCol>
                <a:gridCol w="896937">
                  <a:extLst>
                    <a:ext uri="{9D8B030D-6E8A-4147-A177-3AD203B41FA5}">
                      <a16:colId xmlns:a16="http://schemas.microsoft.com/office/drawing/2014/main" val="20009"/>
                    </a:ext>
                  </a:extLst>
                </a:gridCol>
              </a:tblGrid>
              <a:tr h="6873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800" b="1" i="1" u="none" strike="noStrike" cap="none" normalizeH="0" baseline="-30000">
                          <a:ln>
                            <a:noFill/>
                          </a:ln>
                          <a:solidFill>
                            <a:schemeClr val="tx1"/>
                          </a:solidFill>
                          <a:effectLst/>
                          <a:latin typeface="Times New Roman" pitchFamily="18" charset="0"/>
                          <a:ea typeface="宋体" pitchFamily="2" charset="-122"/>
                          <a:cs typeface="Times New Roman" pitchFamily="18" charset="0"/>
                        </a:rPr>
                        <a:t>k</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1/8</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1/4</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3/8</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5/8</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3/4</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7/8</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11128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en-US" altLang="zh-CN" sz="28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800" b="1" i="1" u="none" strike="noStrike" cap="none" normalizeH="0" baseline="-30000">
                          <a:ln>
                            <a:noFill/>
                          </a:ln>
                          <a:solidFill>
                            <a:schemeClr val="tx1"/>
                          </a:solidFill>
                          <a:effectLst/>
                          <a:latin typeface="Times New Roman" pitchFamily="18" charset="0"/>
                          <a:ea typeface="宋体" pitchFamily="2" charset="-122"/>
                          <a:cs typeface="Times New Roman" pitchFamily="18" charset="0"/>
                        </a:rPr>
                        <a:t>k</a:t>
                      </a: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3.93846</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3.76470</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3.50685</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3.20000</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2.87640</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2.46000</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2.26549</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en-US" altLang="zh-CN" sz="28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ransition spd="slow">
    <p:push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7"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7538" y="260350"/>
            <a:ext cx="2957512"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6"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08400" y="1844675"/>
            <a:ext cx="3986213"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5"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8313" y="2636838"/>
            <a:ext cx="4608512"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4"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9388" y="3938588"/>
            <a:ext cx="2414587"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3"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32138" y="3865563"/>
            <a:ext cx="521652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2" name="Picture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8313" y="5522913"/>
            <a:ext cx="5614987"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6" name="Rectangle 12"/>
          <p:cNvSpPr>
            <a:spLocks noChangeArrowheads="1"/>
          </p:cNvSpPr>
          <p:nvPr/>
        </p:nvSpPr>
        <p:spPr bwMode="auto">
          <a:xfrm>
            <a:off x="612775" y="2873375"/>
            <a:ext cx="4508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200">
                <a:latin typeface="Times New Roman" pitchFamily="18" charset="0"/>
              </a:rPr>
              <a:t>   </a:t>
            </a:r>
            <a:endParaRPr lang="en-US" altLang="zh-CN"/>
          </a:p>
        </p:txBody>
      </p:sp>
      <p:sp>
        <p:nvSpPr>
          <p:cNvPr id="68617" name="Rectangle 14"/>
          <p:cNvSpPr>
            <a:spLocks noChangeArrowheads="1"/>
          </p:cNvSpPr>
          <p:nvPr/>
        </p:nvSpPr>
        <p:spPr bwMode="auto">
          <a:xfrm>
            <a:off x="612775" y="4203700"/>
            <a:ext cx="5270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200">
                <a:latin typeface="Times New Roman" pitchFamily="18" charset="0"/>
              </a:rPr>
              <a:t> </a:t>
            </a:r>
            <a:endParaRPr lang="en-US" altLang="zh-CN"/>
          </a:p>
        </p:txBody>
      </p:sp>
      <p:sp>
        <p:nvSpPr>
          <p:cNvPr id="68618" name="Rectangle 16"/>
          <p:cNvSpPr>
            <a:spLocks noChangeArrowheads="1"/>
          </p:cNvSpPr>
          <p:nvPr/>
        </p:nvSpPr>
        <p:spPr bwMode="auto">
          <a:xfrm>
            <a:off x="612775" y="514508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zh-CN"/>
          </a:p>
        </p:txBody>
      </p:sp>
      <p:pic>
        <p:nvPicPr>
          <p:cNvPr id="68619" name="Picture 17"/>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79388" y="260350"/>
            <a:ext cx="3240087" cy="13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4697"/>
                                        </p:tgtEl>
                                        <p:attrNameLst>
                                          <p:attrName>style.visibility</p:attrName>
                                        </p:attrNameLst>
                                      </p:cBhvr>
                                      <p:to>
                                        <p:strVal val="visible"/>
                                      </p:to>
                                    </p:set>
                                    <p:anim calcmode="lin" valueType="num">
                                      <p:cBhvr additive="base">
                                        <p:cTn id="7" dur="500" fill="hold"/>
                                        <p:tgtEl>
                                          <p:spTgt spid="114697"/>
                                        </p:tgtEl>
                                        <p:attrNameLst>
                                          <p:attrName>ppt_x</p:attrName>
                                        </p:attrNameLst>
                                      </p:cBhvr>
                                      <p:tavLst>
                                        <p:tav tm="0">
                                          <p:val>
                                            <p:strVal val="#ppt_x"/>
                                          </p:val>
                                        </p:tav>
                                        <p:tav tm="100000">
                                          <p:val>
                                            <p:strVal val="#ppt_x"/>
                                          </p:val>
                                        </p:tav>
                                      </p:tavLst>
                                    </p:anim>
                                    <p:anim calcmode="lin" valueType="num">
                                      <p:cBhvr additive="base">
                                        <p:cTn id="8" dur="500" fill="hold"/>
                                        <p:tgtEl>
                                          <p:spTgt spid="11469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4696"/>
                                        </p:tgtEl>
                                        <p:attrNameLst>
                                          <p:attrName>style.visibility</p:attrName>
                                        </p:attrNameLst>
                                      </p:cBhvr>
                                      <p:to>
                                        <p:strVal val="visible"/>
                                      </p:to>
                                    </p:set>
                                    <p:anim calcmode="lin" valueType="num">
                                      <p:cBhvr additive="base">
                                        <p:cTn id="11" dur="500" fill="hold"/>
                                        <p:tgtEl>
                                          <p:spTgt spid="114696"/>
                                        </p:tgtEl>
                                        <p:attrNameLst>
                                          <p:attrName>ppt_x</p:attrName>
                                        </p:attrNameLst>
                                      </p:cBhvr>
                                      <p:tavLst>
                                        <p:tav tm="0">
                                          <p:val>
                                            <p:strVal val="#ppt_x"/>
                                          </p:val>
                                        </p:tav>
                                        <p:tav tm="100000">
                                          <p:val>
                                            <p:strVal val="#ppt_x"/>
                                          </p:val>
                                        </p:tav>
                                      </p:tavLst>
                                    </p:anim>
                                    <p:anim calcmode="lin" valueType="num">
                                      <p:cBhvr additive="base">
                                        <p:cTn id="12" dur="500" fill="hold"/>
                                        <p:tgtEl>
                                          <p:spTgt spid="11469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14695"/>
                                        </p:tgtEl>
                                        <p:attrNameLst>
                                          <p:attrName>style.visibility</p:attrName>
                                        </p:attrNameLst>
                                      </p:cBhvr>
                                      <p:to>
                                        <p:strVal val="visible"/>
                                      </p:to>
                                    </p:set>
                                    <p:anim calcmode="lin" valueType="num">
                                      <p:cBhvr additive="base">
                                        <p:cTn id="17" dur="500" fill="hold"/>
                                        <p:tgtEl>
                                          <p:spTgt spid="114695"/>
                                        </p:tgtEl>
                                        <p:attrNameLst>
                                          <p:attrName>ppt_x</p:attrName>
                                        </p:attrNameLst>
                                      </p:cBhvr>
                                      <p:tavLst>
                                        <p:tav tm="0">
                                          <p:val>
                                            <p:strVal val="#ppt_x"/>
                                          </p:val>
                                        </p:tav>
                                        <p:tav tm="100000">
                                          <p:val>
                                            <p:strVal val="#ppt_x"/>
                                          </p:val>
                                        </p:tav>
                                      </p:tavLst>
                                    </p:anim>
                                    <p:anim calcmode="lin" valueType="num">
                                      <p:cBhvr additive="base">
                                        <p:cTn id="18" dur="500" fill="hold"/>
                                        <p:tgtEl>
                                          <p:spTgt spid="114695"/>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14694"/>
                                        </p:tgtEl>
                                        <p:attrNameLst>
                                          <p:attrName>style.visibility</p:attrName>
                                        </p:attrNameLst>
                                      </p:cBhvr>
                                      <p:to>
                                        <p:strVal val="visible"/>
                                      </p:to>
                                    </p:set>
                                    <p:anim calcmode="lin" valueType="num">
                                      <p:cBhvr additive="base">
                                        <p:cTn id="23" dur="500" fill="hold"/>
                                        <p:tgtEl>
                                          <p:spTgt spid="114694"/>
                                        </p:tgtEl>
                                        <p:attrNameLst>
                                          <p:attrName>ppt_x</p:attrName>
                                        </p:attrNameLst>
                                      </p:cBhvr>
                                      <p:tavLst>
                                        <p:tav tm="0">
                                          <p:val>
                                            <p:strVal val="#ppt_x"/>
                                          </p:val>
                                        </p:tav>
                                        <p:tav tm="100000">
                                          <p:val>
                                            <p:strVal val="#ppt_x"/>
                                          </p:val>
                                        </p:tav>
                                      </p:tavLst>
                                    </p:anim>
                                    <p:anim calcmode="lin" valueType="num">
                                      <p:cBhvr additive="base">
                                        <p:cTn id="24" dur="500" fill="hold"/>
                                        <p:tgtEl>
                                          <p:spTgt spid="114694"/>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114693"/>
                                        </p:tgtEl>
                                        <p:attrNameLst>
                                          <p:attrName>style.visibility</p:attrName>
                                        </p:attrNameLst>
                                      </p:cBhvr>
                                      <p:to>
                                        <p:strVal val="visible"/>
                                      </p:to>
                                    </p:set>
                                    <p:anim calcmode="lin" valueType="num">
                                      <p:cBhvr additive="base">
                                        <p:cTn id="29" dur="500" fill="hold"/>
                                        <p:tgtEl>
                                          <p:spTgt spid="114693"/>
                                        </p:tgtEl>
                                        <p:attrNameLst>
                                          <p:attrName>ppt_x</p:attrName>
                                        </p:attrNameLst>
                                      </p:cBhvr>
                                      <p:tavLst>
                                        <p:tav tm="0">
                                          <p:val>
                                            <p:strVal val="#ppt_x"/>
                                          </p:val>
                                        </p:tav>
                                        <p:tav tm="100000">
                                          <p:val>
                                            <p:strVal val="#ppt_x"/>
                                          </p:val>
                                        </p:tav>
                                      </p:tavLst>
                                    </p:anim>
                                    <p:anim calcmode="lin" valueType="num">
                                      <p:cBhvr additive="base">
                                        <p:cTn id="30" dur="500" fill="hold"/>
                                        <p:tgtEl>
                                          <p:spTgt spid="114693"/>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14692"/>
                                        </p:tgtEl>
                                        <p:attrNameLst>
                                          <p:attrName>style.visibility</p:attrName>
                                        </p:attrNameLst>
                                      </p:cBhvr>
                                      <p:to>
                                        <p:strVal val="visible"/>
                                      </p:to>
                                    </p:set>
                                    <p:anim calcmode="lin" valueType="num">
                                      <p:cBhvr additive="base">
                                        <p:cTn id="35" dur="500" fill="hold"/>
                                        <p:tgtEl>
                                          <p:spTgt spid="114692"/>
                                        </p:tgtEl>
                                        <p:attrNameLst>
                                          <p:attrName>ppt_x</p:attrName>
                                        </p:attrNameLst>
                                      </p:cBhvr>
                                      <p:tavLst>
                                        <p:tav tm="0">
                                          <p:val>
                                            <p:strVal val="#ppt_x"/>
                                          </p:val>
                                        </p:tav>
                                        <p:tav tm="100000">
                                          <p:val>
                                            <p:strVal val="#ppt_x"/>
                                          </p:val>
                                        </p:tav>
                                      </p:tavLst>
                                    </p:anim>
                                    <p:anim calcmode="lin" valueType="num">
                                      <p:cBhvr additive="base">
                                        <p:cTn id="36" dur="500" fill="hold"/>
                                        <p:tgtEl>
                                          <p:spTgt spid="1146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188" y="0"/>
            <a:ext cx="2957512"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9750" y="3141663"/>
            <a:ext cx="3986213"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19700" y="2636838"/>
            <a:ext cx="255905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637" name="Group 7"/>
          <p:cNvGrpSpPr>
            <a:grpSpLocks/>
          </p:cNvGrpSpPr>
          <p:nvPr/>
        </p:nvGrpSpPr>
        <p:grpSpPr bwMode="auto">
          <a:xfrm>
            <a:off x="250825" y="1700213"/>
            <a:ext cx="8229600" cy="1171575"/>
            <a:chOff x="96" y="2640"/>
            <a:chExt cx="5184" cy="738"/>
          </a:xfrm>
        </p:grpSpPr>
        <p:grpSp>
          <p:nvGrpSpPr>
            <p:cNvPr id="69639" name="Group 8"/>
            <p:cNvGrpSpPr>
              <a:grpSpLocks/>
            </p:cNvGrpSpPr>
            <p:nvPr/>
          </p:nvGrpSpPr>
          <p:grpSpPr bwMode="auto">
            <a:xfrm>
              <a:off x="960" y="2640"/>
              <a:ext cx="4320" cy="738"/>
              <a:chOff x="1056" y="2880"/>
              <a:chExt cx="4320" cy="738"/>
            </a:xfrm>
          </p:grpSpPr>
          <p:pic>
            <p:nvPicPr>
              <p:cNvPr id="69641"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 y="2880"/>
                <a:ext cx="1152" cy="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42"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4" y="2976"/>
                <a:ext cx="3072"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69640" name="Object 11"/>
            <p:cNvGraphicFramePr>
              <a:graphicFrameLocks noChangeAspect="1"/>
            </p:cNvGraphicFramePr>
            <p:nvPr/>
          </p:nvGraphicFramePr>
          <p:xfrm>
            <a:off x="96" y="2832"/>
            <a:ext cx="1009" cy="317"/>
          </p:xfrm>
          <a:graphic>
            <a:graphicData uri="http://schemas.openxmlformats.org/presentationml/2006/ole">
              <mc:AlternateContent xmlns:mc="http://schemas.openxmlformats.org/markup-compatibility/2006">
                <mc:Choice xmlns:v="urn:schemas-microsoft-com:vml" Requires="v">
                  <p:oleObj spid="_x0000_s69687" name="Equation" r:id="rId8" imgW="469696" imgH="203112" progId="Equation.3">
                    <p:embed/>
                  </p:oleObj>
                </mc:Choice>
                <mc:Fallback>
                  <p:oleObj name="Equation" r:id="rId8" imgW="469696" imgH="203112"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 y="2832"/>
                          <a:ext cx="1009"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9638" name="Object 12"/>
          <p:cNvGraphicFramePr>
            <a:graphicFrameLocks noChangeAspect="1"/>
          </p:cNvGraphicFramePr>
          <p:nvPr/>
        </p:nvGraphicFramePr>
        <p:xfrm>
          <a:off x="755650" y="4221163"/>
          <a:ext cx="8137525" cy="1425575"/>
        </p:xfrm>
        <a:graphic>
          <a:graphicData uri="http://schemas.openxmlformats.org/presentationml/2006/ole">
            <mc:AlternateContent xmlns:mc="http://schemas.openxmlformats.org/markup-compatibility/2006">
              <mc:Choice xmlns:v="urn:schemas-microsoft-com:vml" Requires="v">
                <p:oleObj spid="_x0000_s69688" name="公式" r:id="rId10" imgW="2247900" imgH="393700" progId="Equation.3">
                  <p:embed/>
                </p:oleObj>
              </mc:Choice>
              <mc:Fallback>
                <p:oleObj name="公式" r:id="rId10" imgW="2247900" imgH="393700"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5650" y="4221163"/>
                        <a:ext cx="8137525" cy="1425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213" y="1673225"/>
            <a:ext cx="5265737"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213" y="2852738"/>
            <a:ext cx="686435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0"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1550" y="4171950"/>
            <a:ext cx="476885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1"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0113" y="5373688"/>
            <a:ext cx="5184775"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2" name="Rectangle 10"/>
          <p:cNvSpPr>
            <a:spLocks noChangeArrowheads="1"/>
          </p:cNvSpPr>
          <p:nvPr/>
        </p:nvSpPr>
        <p:spPr bwMode="auto">
          <a:xfrm>
            <a:off x="539750" y="1890713"/>
            <a:ext cx="6794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572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200">
                <a:latin typeface="Times New Roman" pitchFamily="18" charset="0"/>
              </a:rPr>
              <a:t> </a:t>
            </a:r>
            <a:endParaRPr lang="en-US" altLang="zh-CN" sz="1100"/>
          </a:p>
          <a:p>
            <a:endParaRPr lang="en-US" altLang="zh-CN"/>
          </a:p>
        </p:txBody>
      </p:sp>
      <p:pic>
        <p:nvPicPr>
          <p:cNvPr id="70663" name="Picture 1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11188" y="0"/>
            <a:ext cx="2957512"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988" y="333375"/>
            <a:ext cx="5040312"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650" y="1412875"/>
            <a:ext cx="583247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Rectangle 6"/>
          <p:cNvSpPr>
            <a:spLocks noChangeArrowheads="1"/>
          </p:cNvSpPr>
          <p:nvPr/>
        </p:nvSpPr>
        <p:spPr bwMode="auto">
          <a:xfrm>
            <a:off x="0" y="3038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685" name="Rectangle 7"/>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572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zh-CN"/>
          </a:p>
        </p:txBody>
      </p:sp>
      <p:sp>
        <p:nvSpPr>
          <p:cNvPr id="71686" name="Rectangle 8"/>
          <p:cNvSpPr>
            <a:spLocks noChangeArrowheads="1"/>
          </p:cNvSpPr>
          <p:nvPr/>
        </p:nvSpPr>
        <p:spPr bwMode="auto">
          <a:xfrm>
            <a:off x="0" y="3819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zh-CN"/>
          </a:p>
        </p:txBody>
      </p:sp>
      <p:pic>
        <p:nvPicPr>
          <p:cNvPr id="71687"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388" y="2565400"/>
            <a:ext cx="835342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8" name="Picture 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03350" y="3789363"/>
            <a:ext cx="4248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9"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08175" y="4941888"/>
            <a:ext cx="404653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0" name="Picture 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24075" y="5994400"/>
            <a:ext cx="40671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1" name="Rectangle 13"/>
          <p:cNvSpPr>
            <a:spLocks noChangeArrowheads="1"/>
          </p:cNvSpPr>
          <p:nvPr/>
        </p:nvSpPr>
        <p:spPr bwMode="auto">
          <a:xfrm>
            <a:off x="0" y="2373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692" name="Rectangle 14"/>
          <p:cNvSpPr>
            <a:spLocks noChangeArrowheads="1"/>
          </p:cNvSpPr>
          <p:nvPr/>
        </p:nvSpPr>
        <p:spPr bwMode="auto">
          <a:xfrm>
            <a:off x="0" y="2763838"/>
            <a:ext cx="6794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572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200">
                <a:latin typeface="Times New Roman" pitchFamily="18" charset="0"/>
              </a:rPr>
              <a:t> </a:t>
            </a:r>
            <a:endParaRPr lang="en-US" altLang="zh-CN" sz="900"/>
          </a:p>
          <a:p>
            <a:endParaRPr lang="en-US" altLang="zh-CN"/>
          </a:p>
        </p:txBody>
      </p:sp>
      <p:sp>
        <p:nvSpPr>
          <p:cNvPr id="71693" name="Rectangle 17"/>
          <p:cNvSpPr>
            <a:spLocks noChangeArrowheads="1"/>
          </p:cNvSpPr>
          <p:nvPr/>
        </p:nvSpPr>
        <p:spPr bwMode="auto">
          <a:xfrm>
            <a:off x="0" y="448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zh-CN"/>
          </a:p>
        </p:txBody>
      </p:sp>
    </p:spTree>
  </p:cSld>
  <p:clrMapOvr>
    <a:masterClrMapping/>
  </p:clrMapOvr>
  <p:transition spd="slow">
    <p:push di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750" y="333375"/>
            <a:ext cx="461010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7"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8313" y="1196975"/>
            <a:ext cx="46101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8"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188" y="2133600"/>
            <a:ext cx="471170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9"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7088" y="2997200"/>
            <a:ext cx="461010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0"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24075" y="3860800"/>
            <a:ext cx="3563938"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1" name="Rectangle 11"/>
          <p:cNvSpPr>
            <a:spLocks noChangeArrowheads="1"/>
          </p:cNvSpPr>
          <p:nvPr/>
        </p:nvSpPr>
        <p:spPr bwMode="auto">
          <a:xfrm>
            <a:off x="0" y="2160588"/>
            <a:ext cx="4127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200">
                <a:latin typeface="Times New Roman" pitchFamily="18" charset="0"/>
              </a:rPr>
              <a:t>      </a:t>
            </a:r>
            <a:endParaRPr lang="en-US" altLang="zh-CN"/>
          </a:p>
        </p:txBody>
      </p:sp>
      <p:sp>
        <p:nvSpPr>
          <p:cNvPr id="72712" name="Rectangle 13"/>
          <p:cNvSpPr>
            <a:spLocks noChangeArrowheads="1"/>
          </p:cNvSpPr>
          <p:nvPr/>
        </p:nvSpPr>
        <p:spPr bwMode="auto">
          <a:xfrm>
            <a:off x="0" y="3157538"/>
            <a:ext cx="4889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1200">
                <a:latin typeface="Times New Roman" pitchFamily="18" charset="0"/>
              </a:rPr>
              <a:t>    </a:t>
            </a:r>
            <a:endParaRPr lang="en-US" altLang="zh-CN"/>
          </a:p>
        </p:txBody>
      </p:sp>
      <p:sp>
        <p:nvSpPr>
          <p:cNvPr id="72713" name="Rectangle 14"/>
          <p:cNvSpPr>
            <a:spLocks noChangeArrowheads="1"/>
          </p:cNvSpPr>
          <p:nvPr/>
        </p:nvSpPr>
        <p:spPr bwMode="auto">
          <a:xfrm>
            <a:off x="0" y="3595688"/>
            <a:ext cx="9969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latin typeface="Times New Roman" pitchFamily="18" charset="0"/>
              </a:rPr>
              <a:t>所以</a:t>
            </a:r>
            <a:endParaRPr lang="zh-CN" altLang="en-US" sz="3200"/>
          </a:p>
          <a:p>
            <a:endParaRPr lang="en-US" altLang="zh-CN" sz="3200"/>
          </a:p>
        </p:txBody>
      </p:sp>
      <p:sp>
        <p:nvSpPr>
          <p:cNvPr id="72714" name="Rectangle 16"/>
          <p:cNvSpPr>
            <a:spLocks noChangeArrowheads="1"/>
          </p:cNvSpPr>
          <p:nvPr/>
        </p:nvSpPr>
        <p:spPr bwMode="auto">
          <a:xfrm>
            <a:off x="827088" y="4868863"/>
            <a:ext cx="24765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i="1">
                <a:latin typeface="Times New Roman" pitchFamily="18" charset="0"/>
              </a:rPr>
              <a:t>I</a:t>
            </a:r>
            <a:r>
              <a:rPr lang="en-US" altLang="zh-CN" sz="3200">
                <a:latin typeface="Times New Roman" pitchFamily="18" charset="0"/>
              </a:rPr>
              <a:t> </a:t>
            </a:r>
            <a:r>
              <a:rPr lang="zh-CN" altLang="en-US" sz="3200">
                <a:latin typeface="Times New Roman" pitchFamily="18" charset="0"/>
              </a:rPr>
              <a:t>的准确值为</a:t>
            </a:r>
            <a:endParaRPr lang="zh-CN" altLang="en-US" sz="3200"/>
          </a:p>
        </p:txBody>
      </p:sp>
      <p:pic>
        <p:nvPicPr>
          <p:cNvPr id="72715" name="Picture 1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87450" y="5589588"/>
            <a:ext cx="741680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457200" y="304800"/>
            <a:ext cx="441325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b="1">
                <a:latin typeface="Times New Roman" pitchFamily="18" charset="0"/>
              </a:rPr>
              <a:t>6.7 Gauss quadrature</a:t>
            </a:r>
          </a:p>
        </p:txBody>
      </p:sp>
      <p:sp>
        <p:nvSpPr>
          <p:cNvPr id="73731" name="Rectangle 3"/>
          <p:cNvSpPr>
            <a:spLocks noChangeArrowheads="1"/>
          </p:cNvSpPr>
          <p:nvPr/>
        </p:nvSpPr>
        <p:spPr bwMode="auto">
          <a:xfrm>
            <a:off x="323850" y="1628775"/>
            <a:ext cx="851535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zh-CN" altLang="en-US" sz="3200" b="1">
                <a:latin typeface="楷体_GB2312" pitchFamily="49" charset="-122"/>
                <a:ea typeface="楷体_GB2312" pitchFamily="49" charset="-122"/>
              </a:rPr>
              <a:t>在插值型求积公式中，插值节点是事先固定的，有时还进一步限定是等距的。现在进一步考虑，在节点个数一定的情况下，是否可以在</a:t>
            </a:r>
            <a:r>
              <a:rPr lang="en-US" altLang="zh-CN" sz="3200" b="1">
                <a:latin typeface="楷体_GB2312" pitchFamily="49" charset="-122"/>
                <a:ea typeface="楷体_GB2312" pitchFamily="49" charset="-122"/>
              </a:rPr>
              <a:t>[a, b]</a:t>
            </a:r>
            <a:r>
              <a:rPr lang="zh-CN" altLang="en-US" sz="3200" b="1">
                <a:latin typeface="楷体_GB2312" pitchFamily="49" charset="-122"/>
                <a:ea typeface="楷体_GB2312" pitchFamily="49" charset="-122"/>
              </a:rPr>
              <a:t>上自由选择节点的位置，使求积公式的精度提得更高</a:t>
            </a:r>
            <a:r>
              <a:rPr lang="en-US" altLang="zh-CN" sz="3200" b="1">
                <a:latin typeface="楷体_GB2312" pitchFamily="49" charset="-122"/>
                <a:ea typeface="楷体_GB2312" pitchFamily="49" charset="-122"/>
              </a:rPr>
              <a:t>? </a:t>
            </a:r>
          </a:p>
        </p:txBody>
      </p:sp>
      <p:sp>
        <p:nvSpPr>
          <p:cNvPr id="73732" name="Rectangle 4"/>
          <p:cNvSpPr>
            <a:spLocks noChangeArrowheads="1"/>
          </p:cNvSpPr>
          <p:nvPr/>
        </p:nvSpPr>
        <p:spPr bwMode="auto">
          <a:xfrm>
            <a:off x="5003800" y="442913"/>
            <a:ext cx="30400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高斯型求积公式</a:t>
            </a:r>
          </a:p>
        </p:txBody>
      </p:sp>
    </p:spTree>
    <p:extLst>
      <p:ext uri="{BB962C8B-B14F-4D97-AF65-F5344CB8AC3E}">
        <p14:creationId xmlns:p14="http://schemas.microsoft.com/office/powerpoint/2010/main" val="3029878136"/>
      </p:ext>
    </p:extLst>
  </p:cSld>
  <p:clrMapOvr>
    <a:masterClrMapping/>
  </p:clrMapOvr>
  <p:transition spd="slow">
    <p:push di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323850" y="260350"/>
            <a:ext cx="22240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b="1">
                <a:latin typeface="楷体_GB2312" pitchFamily="49" charset="-122"/>
                <a:ea typeface="楷体_GB2312" pitchFamily="49" charset="-122"/>
              </a:rPr>
              <a:t>代数精确度</a:t>
            </a:r>
            <a:endParaRPr kumimoji="1" lang="zh-CN" altLang="en-US" sz="3200">
              <a:latin typeface="Times New Roman" pitchFamily="18" charset="0"/>
            </a:endParaRPr>
          </a:p>
        </p:txBody>
      </p:sp>
      <p:sp>
        <p:nvSpPr>
          <p:cNvPr id="74755" name="Text Box 3"/>
          <p:cNvSpPr txBox="1">
            <a:spLocks noChangeArrowheads="1"/>
          </p:cNvSpPr>
          <p:nvPr/>
        </p:nvSpPr>
        <p:spPr bwMode="auto">
          <a:xfrm>
            <a:off x="250825" y="1844675"/>
            <a:ext cx="8713788"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50000"/>
              </a:lnSpc>
            </a:pPr>
            <a:r>
              <a:rPr kumimoji="1" lang="zh-CN" altLang="en-US" sz="3200" b="1">
                <a:latin typeface="楷体_GB2312" pitchFamily="49" charset="-122"/>
                <a:ea typeface="楷体_GB2312" pitchFamily="49" charset="-122"/>
              </a:rPr>
              <a:t>为一般求积公式。这里</a:t>
            </a:r>
            <a:r>
              <a:rPr kumimoji="1" lang="en-US" altLang="zh-CN" sz="3200" b="1" i="1">
                <a:latin typeface="Times New Roman" pitchFamily="18" charset="0"/>
                <a:ea typeface="楷体_GB2312" pitchFamily="49" charset="-122"/>
              </a:rPr>
              <a:t>A</a:t>
            </a:r>
            <a:r>
              <a:rPr kumimoji="1" lang="en-US" altLang="zh-CN" sz="3200" b="1" i="1" baseline="-30000">
                <a:latin typeface="Times New Roman" pitchFamily="18" charset="0"/>
                <a:ea typeface="楷体_GB2312" pitchFamily="49" charset="-122"/>
              </a:rPr>
              <a:t>i </a:t>
            </a:r>
            <a:r>
              <a:rPr kumimoji="1" lang="zh-CN" altLang="en-US" sz="3200" b="1">
                <a:latin typeface="楷体_GB2312" pitchFamily="49" charset="-122"/>
                <a:ea typeface="楷体_GB2312" pitchFamily="49" charset="-122"/>
              </a:rPr>
              <a:t>为不依赖</a:t>
            </a:r>
            <a:r>
              <a:rPr kumimoji="1" lang="en-US" altLang="zh-CN" sz="3200" b="1" i="1">
                <a:latin typeface="Times New Roman" pitchFamily="18" charset="0"/>
                <a:ea typeface="楷体_GB2312" pitchFamily="49" charset="-122"/>
              </a:rPr>
              <a:t>f</a:t>
            </a:r>
            <a:r>
              <a:rPr kumimoji="1" lang="en-US" altLang="zh-CN" sz="3200" b="1">
                <a:latin typeface="Times New Roman" pitchFamily="18" charset="0"/>
                <a:ea typeface="楷体_GB2312" pitchFamily="49" charset="-122"/>
              </a:rPr>
              <a:t> (</a:t>
            </a:r>
            <a:r>
              <a:rPr kumimoji="1" lang="en-US" altLang="zh-CN" sz="3200" b="1" i="1">
                <a:latin typeface="Times New Roman" pitchFamily="18" charset="0"/>
                <a:ea typeface="楷体_GB2312" pitchFamily="49" charset="-122"/>
              </a:rPr>
              <a:t>x</a:t>
            </a:r>
            <a:r>
              <a:rPr kumimoji="1" lang="en-US" altLang="zh-CN" sz="3200" b="1">
                <a:latin typeface="Times New Roman" pitchFamily="18" charset="0"/>
                <a:ea typeface="楷体_GB2312" pitchFamily="49" charset="-122"/>
              </a:rPr>
              <a:t>)</a:t>
            </a:r>
            <a:r>
              <a:rPr kumimoji="1" lang="zh-CN" altLang="en-US" sz="3200" b="1">
                <a:latin typeface="楷体_GB2312" pitchFamily="49" charset="-122"/>
                <a:ea typeface="楷体_GB2312" pitchFamily="49" charset="-122"/>
              </a:rPr>
              <a:t>的常数</a:t>
            </a:r>
            <a:r>
              <a:rPr kumimoji="1" lang="en-US" altLang="zh-CN" sz="3200" b="1">
                <a:latin typeface="楷体_GB2312" pitchFamily="49" charset="-122"/>
                <a:ea typeface="楷体_GB2312" pitchFamily="49" charset="-122"/>
              </a:rPr>
              <a:t>.</a:t>
            </a:r>
          </a:p>
        </p:txBody>
      </p:sp>
      <p:graphicFrame>
        <p:nvGraphicFramePr>
          <p:cNvPr id="74756" name="Object 4"/>
          <p:cNvGraphicFramePr>
            <a:graphicFrameLocks noChangeAspect="1"/>
          </p:cNvGraphicFramePr>
          <p:nvPr/>
        </p:nvGraphicFramePr>
        <p:xfrm>
          <a:off x="1347788" y="869950"/>
          <a:ext cx="3783012" cy="1165225"/>
        </p:xfrm>
        <a:graphic>
          <a:graphicData uri="http://schemas.openxmlformats.org/presentationml/2006/ole">
            <mc:AlternateContent xmlns:mc="http://schemas.openxmlformats.org/markup-compatibility/2006">
              <mc:Choice xmlns:v="urn:schemas-microsoft-com:vml" Requires="v">
                <p:oleObj spid="_x0000_s74783" name="公式" r:id="rId3" imgW="1460160" imgH="431640" progId="Equation.3">
                  <p:embed/>
                </p:oleObj>
              </mc:Choice>
              <mc:Fallback>
                <p:oleObj name="公式" r:id="rId3" imgW="1460160" imgH="4316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7788" y="869950"/>
                        <a:ext cx="3783012"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57" name="Text Box 5"/>
          <p:cNvSpPr txBox="1">
            <a:spLocks noChangeArrowheads="1"/>
          </p:cNvSpPr>
          <p:nvPr/>
        </p:nvSpPr>
        <p:spPr bwMode="auto">
          <a:xfrm>
            <a:off x="5219700" y="1268413"/>
            <a:ext cx="1076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b="1">
                <a:latin typeface="Times New Roman" pitchFamily="18" charset="0"/>
              </a:rPr>
              <a:t>（</a:t>
            </a:r>
            <a:r>
              <a:rPr kumimoji="1" lang="en-US" altLang="zh-CN" sz="2800" b="1">
                <a:latin typeface="Times New Roman" pitchFamily="18" charset="0"/>
              </a:rPr>
              <a:t>1</a:t>
            </a:r>
            <a:r>
              <a:rPr kumimoji="1" lang="zh-CN" altLang="en-US" sz="2800" b="1">
                <a:latin typeface="Times New Roman" pitchFamily="18" charset="0"/>
              </a:rPr>
              <a:t>）</a:t>
            </a:r>
          </a:p>
        </p:txBody>
      </p:sp>
      <p:sp>
        <p:nvSpPr>
          <p:cNvPr id="237574" name="Text Box 6"/>
          <p:cNvSpPr txBox="1">
            <a:spLocks noChangeArrowheads="1"/>
          </p:cNvSpPr>
          <p:nvPr/>
        </p:nvSpPr>
        <p:spPr bwMode="auto">
          <a:xfrm>
            <a:off x="250825" y="3068638"/>
            <a:ext cx="8713788"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50000"/>
              </a:lnSpc>
            </a:pPr>
            <a:r>
              <a:rPr kumimoji="1" lang="zh-CN" altLang="en-US" sz="3200" b="1">
                <a:latin typeface="楷体_GB2312" pitchFamily="49" charset="-122"/>
                <a:ea typeface="楷体_GB2312" pitchFamily="49" charset="-122"/>
              </a:rPr>
              <a:t>若</a:t>
            </a:r>
            <a:r>
              <a:rPr kumimoji="1" lang="zh-CN" altLang="en-US" sz="3200" b="1">
                <a:latin typeface="Times New Roman" pitchFamily="18" charset="0"/>
                <a:ea typeface="楷体_GB2312" pitchFamily="49" charset="-122"/>
              </a:rPr>
              <a:t>（</a:t>
            </a:r>
            <a:r>
              <a:rPr kumimoji="1" lang="en-US" altLang="zh-CN" sz="3200" b="1">
                <a:latin typeface="Times New Roman" pitchFamily="18" charset="0"/>
                <a:ea typeface="楷体_GB2312" pitchFamily="49" charset="-122"/>
              </a:rPr>
              <a:t>1</a:t>
            </a:r>
            <a:r>
              <a:rPr kumimoji="1" lang="zh-CN" altLang="en-US" sz="3200" b="1">
                <a:latin typeface="Times New Roman" pitchFamily="18" charset="0"/>
                <a:ea typeface="楷体_GB2312" pitchFamily="49" charset="-122"/>
              </a:rPr>
              <a:t>）式</a:t>
            </a:r>
            <a:r>
              <a:rPr kumimoji="1" lang="zh-CN" altLang="en-US" sz="3200" b="1">
                <a:latin typeface="楷体_GB2312" pitchFamily="49" charset="-122"/>
                <a:ea typeface="楷体_GB2312" pitchFamily="49" charset="-122"/>
              </a:rPr>
              <a:t>对任意不高于</a:t>
            </a:r>
            <a:r>
              <a:rPr kumimoji="1" lang="en-US" altLang="zh-CN" sz="3200" b="1" i="1">
                <a:latin typeface="Times New Roman" pitchFamily="18" charset="0"/>
                <a:ea typeface="楷体_GB2312" pitchFamily="49" charset="-122"/>
              </a:rPr>
              <a:t>m</a:t>
            </a:r>
            <a:r>
              <a:rPr kumimoji="1" lang="zh-CN" altLang="en-US" sz="3200" b="1">
                <a:latin typeface="楷体_GB2312" pitchFamily="49" charset="-122"/>
                <a:ea typeface="楷体_GB2312" pitchFamily="49" charset="-122"/>
              </a:rPr>
              <a:t>次的多项式</a:t>
            </a:r>
            <a:r>
              <a:rPr kumimoji="1" lang="zh-CN" altLang="en-US" sz="3200" b="1">
                <a:solidFill>
                  <a:srgbClr val="FF0000"/>
                </a:solidFill>
                <a:latin typeface="楷体_GB2312" pitchFamily="49" charset="-122"/>
                <a:ea typeface="楷体_GB2312" pitchFamily="49" charset="-122"/>
              </a:rPr>
              <a:t>精确</a:t>
            </a:r>
            <a:r>
              <a:rPr kumimoji="1" lang="zh-CN" altLang="en-US" sz="3200" b="1">
                <a:latin typeface="楷体_GB2312" pitchFamily="49" charset="-122"/>
                <a:ea typeface="楷体_GB2312" pitchFamily="49" charset="-122"/>
              </a:rPr>
              <a:t>成立，而对于</a:t>
            </a:r>
            <a:r>
              <a:rPr kumimoji="1" lang="en-US" altLang="zh-CN" sz="3200" b="1" i="1">
                <a:latin typeface="Times New Roman" pitchFamily="18" charset="0"/>
                <a:ea typeface="楷体_GB2312" pitchFamily="49" charset="-122"/>
              </a:rPr>
              <a:t>x</a:t>
            </a:r>
            <a:r>
              <a:rPr kumimoji="1" lang="en-US" altLang="zh-CN" sz="3200" b="1" i="1" baseline="30000">
                <a:latin typeface="Times New Roman" pitchFamily="18" charset="0"/>
                <a:ea typeface="楷体_GB2312" pitchFamily="49" charset="-122"/>
              </a:rPr>
              <a:t>m</a:t>
            </a:r>
            <a:r>
              <a:rPr kumimoji="1" lang="en-US" altLang="zh-CN" sz="3200" b="1" baseline="30000">
                <a:latin typeface="Times New Roman" pitchFamily="18" charset="0"/>
                <a:ea typeface="楷体_GB2312" pitchFamily="49" charset="-122"/>
              </a:rPr>
              <a:t>+1</a:t>
            </a:r>
            <a:r>
              <a:rPr kumimoji="1" lang="zh-CN" altLang="en-US" sz="3200" b="1">
                <a:latin typeface="楷体_GB2312" pitchFamily="49" charset="-122"/>
                <a:ea typeface="楷体_GB2312" pitchFamily="49" charset="-122"/>
              </a:rPr>
              <a:t>不能精确成立，就说</a:t>
            </a:r>
            <a:r>
              <a:rPr kumimoji="1" lang="zh-CN" altLang="en-US" sz="3200" b="1">
                <a:latin typeface="Times New Roman" pitchFamily="18" charset="0"/>
                <a:ea typeface="楷体_GB2312" pitchFamily="49" charset="-122"/>
              </a:rPr>
              <a:t>（</a:t>
            </a:r>
            <a:r>
              <a:rPr kumimoji="1" lang="en-US" altLang="zh-CN" sz="3200" b="1">
                <a:latin typeface="Times New Roman" pitchFamily="18" charset="0"/>
                <a:ea typeface="楷体_GB2312" pitchFamily="49" charset="-122"/>
              </a:rPr>
              <a:t>1</a:t>
            </a:r>
            <a:r>
              <a:rPr kumimoji="1" lang="zh-CN" altLang="en-US" sz="3200" b="1">
                <a:latin typeface="Times New Roman" pitchFamily="18" charset="0"/>
                <a:ea typeface="楷体_GB2312" pitchFamily="49" charset="-122"/>
              </a:rPr>
              <a:t>）</a:t>
            </a:r>
            <a:r>
              <a:rPr kumimoji="1" lang="zh-CN" altLang="en-US" sz="3200" b="1">
                <a:latin typeface="楷体_GB2312" pitchFamily="49" charset="-122"/>
                <a:ea typeface="楷体_GB2312" pitchFamily="49" charset="-122"/>
              </a:rPr>
              <a:t>式具有</a:t>
            </a:r>
            <a:r>
              <a:rPr kumimoji="1" lang="en-US" altLang="zh-CN" sz="3200" b="1" i="1">
                <a:latin typeface="Times New Roman" pitchFamily="18" charset="0"/>
                <a:ea typeface="楷体_GB2312" pitchFamily="49" charset="-122"/>
              </a:rPr>
              <a:t>m</a:t>
            </a:r>
            <a:r>
              <a:rPr kumimoji="1" lang="zh-CN" altLang="en-US" sz="3200" b="1">
                <a:latin typeface="楷体_GB2312" pitchFamily="49" charset="-122"/>
                <a:ea typeface="楷体_GB2312" pitchFamily="49" charset="-122"/>
              </a:rPr>
              <a:t>次代数精确度。</a:t>
            </a:r>
          </a:p>
        </p:txBody>
      </p:sp>
      <p:pic>
        <p:nvPicPr>
          <p:cNvPr id="237575"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92275" y="5283200"/>
            <a:ext cx="7056438"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0" name="Text Box 8"/>
          <p:cNvSpPr txBox="1">
            <a:spLocks noChangeArrowheads="1"/>
          </p:cNvSpPr>
          <p:nvPr/>
        </p:nvSpPr>
        <p:spPr bwMode="auto">
          <a:xfrm>
            <a:off x="323850" y="1125538"/>
            <a:ext cx="13065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b="1">
                <a:latin typeface="宋体" pitchFamily="2" charset="-122"/>
              </a:rPr>
              <a:t>称：</a:t>
            </a:r>
            <a:r>
              <a:rPr kumimoji="1" lang="zh-CN" altLang="en-US" sz="3200" b="1">
                <a:latin typeface="楷体_GB2312" pitchFamily="49" charset="-122"/>
                <a:ea typeface="楷体_GB2312" pitchFamily="49" charset="-122"/>
              </a:rPr>
              <a:t> </a:t>
            </a:r>
            <a:r>
              <a:rPr kumimoji="1" lang="zh-CN" altLang="en-US" sz="3200">
                <a:latin typeface="Times New Roman" pitchFamily="18" charset="0"/>
              </a:rPr>
              <a:t> </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7574"/>
                                        </p:tgtEl>
                                        <p:attrNameLst>
                                          <p:attrName>style.visibility</p:attrName>
                                        </p:attrNameLst>
                                      </p:cBhvr>
                                      <p:to>
                                        <p:strVal val="visible"/>
                                      </p:to>
                                    </p:set>
                                    <p:animEffect transition="in" filter="dissolve">
                                      <p:cBhvr>
                                        <p:cTn id="7" dur="500"/>
                                        <p:tgtEl>
                                          <p:spTgt spid="2375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37575"/>
                                        </p:tgtEl>
                                        <p:attrNameLst>
                                          <p:attrName>style.visibility</p:attrName>
                                        </p:attrNameLst>
                                      </p:cBhvr>
                                      <p:to>
                                        <p:strVal val="visible"/>
                                      </p:to>
                                    </p:set>
                                    <p:anim calcmode="lin" valueType="num">
                                      <p:cBhvr additive="base">
                                        <p:cTn id="12" dur="500" fill="hold"/>
                                        <p:tgtEl>
                                          <p:spTgt spid="237575"/>
                                        </p:tgtEl>
                                        <p:attrNameLst>
                                          <p:attrName>ppt_x</p:attrName>
                                        </p:attrNameLst>
                                      </p:cBhvr>
                                      <p:tavLst>
                                        <p:tav tm="0">
                                          <p:val>
                                            <p:strVal val="#ppt_x"/>
                                          </p:val>
                                        </p:tav>
                                        <p:tav tm="100000">
                                          <p:val>
                                            <p:strVal val="#ppt_x"/>
                                          </p:val>
                                        </p:tav>
                                      </p:tavLst>
                                    </p:anim>
                                    <p:anim calcmode="lin" valueType="num">
                                      <p:cBhvr additive="base">
                                        <p:cTn id="13" dur="500" fill="hold"/>
                                        <p:tgtEl>
                                          <p:spTgt spid="2375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4"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517525" y="400050"/>
            <a:ext cx="20177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b="1">
                <a:latin typeface="楷体_GB2312" pitchFamily="49" charset="-122"/>
                <a:ea typeface="楷体_GB2312" pitchFamily="49" charset="-122"/>
              </a:rPr>
              <a:t>例</a:t>
            </a:r>
            <a:r>
              <a:rPr kumimoji="1" lang="zh-CN" altLang="en-US" sz="3200">
                <a:latin typeface="Times New Roman" pitchFamily="18" charset="0"/>
              </a:rPr>
              <a:t> </a:t>
            </a:r>
            <a:r>
              <a:rPr kumimoji="1" lang="zh-CN" altLang="en-US" sz="3200">
                <a:latin typeface="宋体" pitchFamily="2" charset="-122"/>
              </a:rPr>
              <a:t>：</a:t>
            </a:r>
            <a:r>
              <a:rPr kumimoji="1" lang="zh-CN" altLang="en-US" sz="3200" b="1">
                <a:latin typeface="楷体_GB2312" pitchFamily="49" charset="-122"/>
                <a:ea typeface="楷体_GB2312" pitchFamily="49" charset="-122"/>
              </a:rPr>
              <a:t>形如</a:t>
            </a:r>
            <a:r>
              <a:rPr kumimoji="1" lang="zh-CN" altLang="en-US" sz="3200">
                <a:latin typeface="Times New Roman" pitchFamily="18" charset="0"/>
              </a:rPr>
              <a:t> </a:t>
            </a:r>
          </a:p>
        </p:txBody>
      </p:sp>
      <p:graphicFrame>
        <p:nvGraphicFramePr>
          <p:cNvPr id="75779" name="Object 3"/>
          <p:cNvGraphicFramePr>
            <a:graphicFrameLocks noChangeAspect="1"/>
          </p:cNvGraphicFramePr>
          <p:nvPr/>
        </p:nvGraphicFramePr>
        <p:xfrm>
          <a:off x="3276600" y="476250"/>
          <a:ext cx="4764088" cy="782638"/>
        </p:xfrm>
        <a:graphic>
          <a:graphicData uri="http://schemas.openxmlformats.org/presentationml/2006/ole">
            <mc:AlternateContent xmlns:mc="http://schemas.openxmlformats.org/markup-compatibility/2006">
              <mc:Choice xmlns:v="urn:schemas-microsoft-com:vml" Requires="v">
                <p:oleObj spid="_x0000_s75828" name="Equation" r:id="rId3" imgW="1996488" imgH="289632" progId="Equation.3">
                  <p:embed/>
                </p:oleObj>
              </mc:Choice>
              <mc:Fallback>
                <p:oleObj name="Equation" r:id="rId3" imgW="1996488" imgH="289632"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476250"/>
                        <a:ext cx="4764088"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80" name="Text Box 4"/>
          <p:cNvSpPr txBox="1">
            <a:spLocks noChangeArrowheads="1"/>
          </p:cNvSpPr>
          <p:nvPr/>
        </p:nvSpPr>
        <p:spPr bwMode="auto">
          <a:xfrm>
            <a:off x="468313" y="1557338"/>
            <a:ext cx="36528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b="1">
                <a:latin typeface="楷体_GB2312" pitchFamily="49" charset="-122"/>
                <a:ea typeface="楷体_GB2312" pitchFamily="49" charset="-122"/>
              </a:rPr>
              <a:t>的两点求积公式。 </a:t>
            </a:r>
          </a:p>
        </p:txBody>
      </p:sp>
      <p:sp>
        <p:nvSpPr>
          <p:cNvPr id="163845" name="Text Box 5"/>
          <p:cNvSpPr txBox="1">
            <a:spLocks noChangeArrowheads="1"/>
          </p:cNvSpPr>
          <p:nvPr/>
        </p:nvSpPr>
        <p:spPr bwMode="auto">
          <a:xfrm>
            <a:off x="250825" y="2276475"/>
            <a:ext cx="8294688"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kumimoji="1" lang="zh-CN" altLang="en-US" sz="3200" b="1">
                <a:latin typeface="楷体_GB2312" pitchFamily="49" charset="-122"/>
                <a:ea typeface="楷体_GB2312" pitchFamily="49" charset="-122"/>
              </a:rPr>
              <a:t>用梯形公式（即以</a:t>
            </a:r>
            <a:r>
              <a:rPr kumimoji="1" lang="en-US" altLang="zh-CN" sz="3200" b="1" i="1">
                <a:latin typeface="Times New Roman" pitchFamily="18" charset="0"/>
                <a:ea typeface="楷体_GB2312" pitchFamily="49" charset="-122"/>
              </a:rPr>
              <a:t>x</a:t>
            </a:r>
            <a:r>
              <a:rPr kumimoji="1" lang="en-US" altLang="zh-CN" sz="3200" b="1" baseline="-30000">
                <a:latin typeface="Times New Roman" pitchFamily="18" charset="0"/>
                <a:ea typeface="楷体_GB2312" pitchFamily="49" charset="-122"/>
              </a:rPr>
              <a:t>0</a:t>
            </a:r>
            <a:r>
              <a:rPr kumimoji="1" lang="en-US" altLang="zh-CN" sz="3200" b="1">
                <a:latin typeface="Times New Roman" pitchFamily="18" charset="0"/>
                <a:ea typeface="楷体_GB2312" pitchFamily="49" charset="-122"/>
              </a:rPr>
              <a:t> = -1</a:t>
            </a:r>
            <a:r>
              <a:rPr kumimoji="1" lang="zh-CN" altLang="en-US" sz="3200" b="1">
                <a:latin typeface="Times New Roman" pitchFamily="18" charset="0"/>
                <a:ea typeface="楷体_GB2312" pitchFamily="49" charset="-122"/>
              </a:rPr>
              <a:t>，</a:t>
            </a:r>
            <a:r>
              <a:rPr kumimoji="1" lang="en-US" altLang="zh-CN" sz="3200" b="1" i="1">
                <a:latin typeface="Times New Roman" pitchFamily="18" charset="0"/>
                <a:ea typeface="楷体_GB2312" pitchFamily="49" charset="-122"/>
              </a:rPr>
              <a:t>x</a:t>
            </a:r>
            <a:r>
              <a:rPr kumimoji="1" lang="en-US" altLang="zh-CN" sz="3200" b="1" baseline="-30000">
                <a:latin typeface="Times New Roman" pitchFamily="18" charset="0"/>
                <a:ea typeface="楷体_GB2312" pitchFamily="49" charset="-122"/>
              </a:rPr>
              <a:t>1</a:t>
            </a:r>
            <a:r>
              <a:rPr kumimoji="1" lang="en-US" altLang="zh-CN" sz="3200" b="1">
                <a:latin typeface="Times New Roman" pitchFamily="18" charset="0"/>
                <a:ea typeface="楷体_GB2312" pitchFamily="49" charset="-122"/>
              </a:rPr>
              <a:t> = 1</a:t>
            </a:r>
            <a:r>
              <a:rPr kumimoji="1" lang="zh-CN" altLang="en-US" sz="3200" b="1">
                <a:latin typeface="楷体_GB2312" pitchFamily="49" charset="-122"/>
                <a:ea typeface="楷体_GB2312" pitchFamily="49" charset="-122"/>
              </a:rPr>
              <a:t>为节点的插值型求积公式）立即可得 </a:t>
            </a:r>
          </a:p>
        </p:txBody>
      </p:sp>
      <p:graphicFrame>
        <p:nvGraphicFramePr>
          <p:cNvPr id="163846" name="Object 6"/>
          <p:cNvGraphicFramePr>
            <a:graphicFrameLocks noChangeAspect="1"/>
          </p:cNvGraphicFramePr>
          <p:nvPr/>
        </p:nvGraphicFramePr>
        <p:xfrm>
          <a:off x="900113" y="3716338"/>
          <a:ext cx="4257675" cy="917575"/>
        </p:xfrm>
        <a:graphic>
          <a:graphicData uri="http://schemas.openxmlformats.org/presentationml/2006/ole">
            <mc:AlternateContent xmlns:mc="http://schemas.openxmlformats.org/markup-compatibility/2006">
              <mc:Choice xmlns:v="urn:schemas-microsoft-com:vml" Requires="v">
                <p:oleObj spid="_x0000_s75829" name="公式" r:id="rId5" imgW="1508760" imgH="289632" progId="Equation.3">
                  <p:embed/>
                </p:oleObj>
              </mc:Choice>
              <mc:Fallback>
                <p:oleObj name="公式" r:id="rId5" imgW="1508760" imgH="289632"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3716338"/>
                        <a:ext cx="425767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3848"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763713" y="4868863"/>
            <a:ext cx="6265862"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3845"/>
                                        </p:tgtEl>
                                        <p:attrNameLst>
                                          <p:attrName>style.visibility</p:attrName>
                                        </p:attrNameLst>
                                      </p:cBhvr>
                                      <p:to>
                                        <p:strVal val="visible"/>
                                      </p:to>
                                    </p:set>
                                    <p:animEffect transition="in" filter="dissolve">
                                      <p:cBhvr>
                                        <p:cTn id="7" dur="500"/>
                                        <p:tgtEl>
                                          <p:spTgt spid="1638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63846"/>
                                        </p:tgtEl>
                                        <p:attrNameLst>
                                          <p:attrName>style.visibility</p:attrName>
                                        </p:attrNameLst>
                                      </p:cBhvr>
                                      <p:to>
                                        <p:strVal val="visible"/>
                                      </p:to>
                                    </p:set>
                                    <p:animEffect transition="in" filter="wipe(left)">
                                      <p:cBhvr>
                                        <p:cTn id="12" dur="500"/>
                                        <p:tgtEl>
                                          <p:spTgt spid="1638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63848"/>
                                        </p:tgtEl>
                                        <p:attrNameLst>
                                          <p:attrName>style.visibility</p:attrName>
                                        </p:attrNameLst>
                                      </p:cBhvr>
                                      <p:to>
                                        <p:strVal val="visible"/>
                                      </p:to>
                                    </p:set>
                                    <p:anim calcmode="lin" valueType="num">
                                      <p:cBhvr additive="base">
                                        <p:cTn id="17" dur="500" fill="hold"/>
                                        <p:tgtEl>
                                          <p:spTgt spid="163848"/>
                                        </p:tgtEl>
                                        <p:attrNameLst>
                                          <p:attrName>ppt_x</p:attrName>
                                        </p:attrNameLst>
                                      </p:cBhvr>
                                      <p:tavLst>
                                        <p:tav tm="0">
                                          <p:val>
                                            <p:strVal val="#ppt_x"/>
                                          </p:val>
                                        </p:tav>
                                        <p:tav tm="100000">
                                          <p:val>
                                            <p:strVal val="#ppt_x"/>
                                          </p:val>
                                        </p:tav>
                                      </p:tavLst>
                                    </p:anim>
                                    <p:anim calcmode="lin" valueType="num">
                                      <p:cBhvr additive="base">
                                        <p:cTn id="18" dur="500" fill="hold"/>
                                        <p:tgtEl>
                                          <p:spTgt spid="1638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5"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802" name="Object 6"/>
          <p:cNvGraphicFramePr>
            <a:graphicFrameLocks noChangeAspect="1"/>
          </p:cNvGraphicFramePr>
          <p:nvPr/>
        </p:nvGraphicFramePr>
        <p:xfrm>
          <a:off x="395288" y="333375"/>
          <a:ext cx="4257675" cy="917575"/>
        </p:xfrm>
        <a:graphic>
          <a:graphicData uri="http://schemas.openxmlformats.org/presentationml/2006/ole">
            <mc:AlternateContent xmlns:mc="http://schemas.openxmlformats.org/markup-compatibility/2006">
              <mc:Choice xmlns:v="urn:schemas-microsoft-com:vml" Requires="v">
                <p:oleObj spid="_x0000_s76974" name="公式" r:id="rId3" imgW="1508760" imgH="289632" progId="Equation.3">
                  <p:embed/>
                </p:oleObj>
              </mc:Choice>
              <mc:Fallback>
                <p:oleObj name="公式" r:id="rId3" imgW="1508760" imgH="289632"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333375"/>
                        <a:ext cx="425767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0407" name="Text Box 7"/>
          <p:cNvSpPr txBox="1">
            <a:spLocks noChangeArrowheads="1"/>
          </p:cNvSpPr>
          <p:nvPr/>
        </p:nvSpPr>
        <p:spPr bwMode="auto">
          <a:xfrm>
            <a:off x="611188" y="6021388"/>
            <a:ext cx="35496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b="1">
                <a:latin typeface="楷体_GB2312" pitchFamily="49" charset="-122"/>
                <a:ea typeface="楷体_GB2312" pitchFamily="49" charset="-122"/>
              </a:rPr>
              <a:t>一次代数精确度。</a:t>
            </a:r>
            <a:r>
              <a:rPr kumimoji="1" lang="zh-CN" altLang="en-US" sz="3200">
                <a:latin typeface="Times New Roman" pitchFamily="18" charset="0"/>
              </a:rPr>
              <a:t> </a:t>
            </a:r>
          </a:p>
        </p:txBody>
      </p:sp>
      <p:pic>
        <p:nvPicPr>
          <p:cNvPr id="76804"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9250" y="1268413"/>
            <a:ext cx="6265863"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30409" name="Object 9"/>
          <p:cNvGraphicFramePr>
            <a:graphicFrameLocks noChangeAspect="1"/>
          </p:cNvGraphicFramePr>
          <p:nvPr/>
        </p:nvGraphicFramePr>
        <p:xfrm>
          <a:off x="539750" y="2924175"/>
          <a:ext cx="1536700" cy="565150"/>
        </p:xfrm>
        <a:graphic>
          <a:graphicData uri="http://schemas.openxmlformats.org/presentationml/2006/ole">
            <mc:AlternateContent xmlns:mc="http://schemas.openxmlformats.org/markup-compatibility/2006">
              <mc:Choice xmlns:v="urn:schemas-microsoft-com:vml" Requires="v">
                <p:oleObj spid="_x0000_s76975" name="公式" r:id="rId6" imgW="518184" imgH="167568" progId="Equation.3">
                  <p:embed/>
                </p:oleObj>
              </mc:Choice>
              <mc:Fallback>
                <p:oleObj name="公式" r:id="rId6" imgW="518184" imgH="167568"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750" y="2924175"/>
                        <a:ext cx="15367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0413" name="Group 13"/>
          <p:cNvGrpSpPr>
            <a:grpSpLocks/>
          </p:cNvGrpSpPr>
          <p:nvPr/>
        </p:nvGrpSpPr>
        <p:grpSpPr bwMode="auto">
          <a:xfrm>
            <a:off x="2555875" y="2781300"/>
            <a:ext cx="3373438" cy="917575"/>
            <a:chOff x="2064" y="1797"/>
            <a:chExt cx="2125" cy="578"/>
          </a:xfrm>
        </p:grpSpPr>
        <p:graphicFrame>
          <p:nvGraphicFramePr>
            <p:cNvPr id="76818" name="Object 10"/>
            <p:cNvGraphicFramePr>
              <a:graphicFrameLocks noChangeAspect="1"/>
            </p:cNvGraphicFramePr>
            <p:nvPr/>
          </p:nvGraphicFramePr>
          <p:xfrm>
            <a:off x="2562" y="1797"/>
            <a:ext cx="1627" cy="578"/>
          </p:xfrm>
          <a:graphic>
            <a:graphicData uri="http://schemas.openxmlformats.org/presentationml/2006/ole">
              <mc:AlternateContent xmlns:mc="http://schemas.openxmlformats.org/markup-compatibility/2006">
                <mc:Choice xmlns:v="urn:schemas-microsoft-com:vml" Requires="v">
                  <p:oleObj spid="_x0000_s76976" name="公式" r:id="rId8" imgW="899208" imgH="289632" progId="Equation.3">
                    <p:embed/>
                  </p:oleObj>
                </mc:Choice>
                <mc:Fallback>
                  <p:oleObj name="公式" r:id="rId8" imgW="899208" imgH="289632"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62" y="1797"/>
                          <a:ext cx="1627"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19" name="Rectangle 11"/>
            <p:cNvSpPr>
              <a:spLocks noChangeArrowheads="1"/>
            </p:cNvSpPr>
            <p:nvPr/>
          </p:nvSpPr>
          <p:spPr bwMode="auto">
            <a:xfrm>
              <a:off x="2064" y="1933"/>
              <a:ext cx="5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左</a:t>
              </a:r>
              <a:r>
                <a:rPr lang="en-US" altLang="zh-CN" sz="2800" b="1">
                  <a:latin typeface="宋体" pitchFamily="2" charset="-122"/>
                </a:rPr>
                <a:t>= </a:t>
              </a:r>
            </a:p>
          </p:txBody>
        </p:sp>
      </p:grpSp>
      <p:sp>
        <p:nvSpPr>
          <p:cNvPr id="230414" name="Rectangle 14"/>
          <p:cNvSpPr>
            <a:spLocks noChangeArrowheads="1"/>
          </p:cNvSpPr>
          <p:nvPr/>
        </p:nvSpPr>
        <p:spPr bwMode="auto">
          <a:xfrm>
            <a:off x="6588125" y="2924175"/>
            <a:ext cx="2025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宋体" pitchFamily="2" charset="-122"/>
              </a:rPr>
              <a:t>右</a:t>
            </a:r>
            <a:r>
              <a:rPr lang="en-US" altLang="zh-CN" sz="3200" b="1">
                <a:latin typeface="宋体" pitchFamily="2" charset="-122"/>
              </a:rPr>
              <a:t>=</a:t>
            </a:r>
            <a:r>
              <a:rPr lang="en-US" altLang="zh-CN" sz="3200" b="1" i="1">
                <a:latin typeface="宋体" pitchFamily="2" charset="-122"/>
              </a:rPr>
              <a:t>c+c=2c</a:t>
            </a:r>
          </a:p>
        </p:txBody>
      </p:sp>
      <p:graphicFrame>
        <p:nvGraphicFramePr>
          <p:cNvPr id="230415" name="Object 15"/>
          <p:cNvGraphicFramePr>
            <a:graphicFrameLocks noChangeAspect="1"/>
          </p:cNvGraphicFramePr>
          <p:nvPr/>
        </p:nvGraphicFramePr>
        <p:xfrm>
          <a:off x="306388" y="4076700"/>
          <a:ext cx="1571625" cy="565150"/>
        </p:xfrm>
        <a:graphic>
          <a:graphicData uri="http://schemas.openxmlformats.org/presentationml/2006/ole">
            <mc:AlternateContent xmlns:mc="http://schemas.openxmlformats.org/markup-compatibility/2006">
              <mc:Choice xmlns:v="urn:schemas-microsoft-com:vml" Requires="v">
                <p:oleObj spid="_x0000_s76977" name="公式" r:id="rId10" imgW="533304" imgH="167568" progId="Equation.3">
                  <p:embed/>
                </p:oleObj>
              </mc:Choice>
              <mc:Fallback>
                <p:oleObj name="公式" r:id="rId10" imgW="533304" imgH="167568"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6388" y="4076700"/>
                        <a:ext cx="157162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0421" name="Group 21"/>
          <p:cNvGrpSpPr>
            <a:grpSpLocks/>
          </p:cNvGrpSpPr>
          <p:nvPr/>
        </p:nvGrpSpPr>
        <p:grpSpPr bwMode="auto">
          <a:xfrm>
            <a:off x="2195513" y="3716338"/>
            <a:ext cx="4592637" cy="1093787"/>
            <a:chOff x="1429" y="2341"/>
            <a:chExt cx="2893" cy="689"/>
          </a:xfrm>
        </p:grpSpPr>
        <p:graphicFrame>
          <p:nvGraphicFramePr>
            <p:cNvPr id="76816" name="Object 18"/>
            <p:cNvGraphicFramePr>
              <a:graphicFrameLocks noChangeAspect="1"/>
            </p:cNvGraphicFramePr>
            <p:nvPr/>
          </p:nvGraphicFramePr>
          <p:xfrm>
            <a:off x="1882" y="2341"/>
            <a:ext cx="2440" cy="689"/>
          </p:xfrm>
          <a:graphic>
            <a:graphicData uri="http://schemas.openxmlformats.org/presentationml/2006/ole">
              <mc:AlternateContent xmlns:mc="http://schemas.openxmlformats.org/markup-compatibility/2006">
                <mc:Choice xmlns:v="urn:schemas-microsoft-com:vml" Requires="v">
                  <p:oleObj spid="_x0000_s76978" name="公式" r:id="rId12" imgW="1371600" imgH="358212" progId="Equation.3">
                    <p:embed/>
                  </p:oleObj>
                </mc:Choice>
                <mc:Fallback>
                  <p:oleObj name="公式" r:id="rId12" imgW="1371600" imgH="358212" progId="Equation.3">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82" y="2341"/>
                          <a:ext cx="2440"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17" name="Rectangle 19"/>
            <p:cNvSpPr>
              <a:spLocks noChangeArrowheads="1"/>
            </p:cNvSpPr>
            <p:nvPr/>
          </p:nvSpPr>
          <p:spPr bwMode="auto">
            <a:xfrm>
              <a:off x="1429" y="2568"/>
              <a:ext cx="5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左</a:t>
              </a:r>
              <a:r>
                <a:rPr lang="en-US" altLang="zh-CN" sz="2800" b="1">
                  <a:latin typeface="宋体" pitchFamily="2" charset="-122"/>
                </a:rPr>
                <a:t>= </a:t>
              </a:r>
            </a:p>
          </p:txBody>
        </p:sp>
      </p:grpSp>
      <p:sp>
        <p:nvSpPr>
          <p:cNvPr id="230420" name="Rectangle 20"/>
          <p:cNvSpPr>
            <a:spLocks noChangeArrowheads="1"/>
          </p:cNvSpPr>
          <p:nvPr/>
        </p:nvSpPr>
        <p:spPr bwMode="auto">
          <a:xfrm>
            <a:off x="7091363" y="3975100"/>
            <a:ext cx="2025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宋体" pitchFamily="2" charset="-122"/>
              </a:rPr>
              <a:t>右</a:t>
            </a:r>
            <a:r>
              <a:rPr lang="en-US" altLang="zh-CN" sz="3200" b="1">
                <a:latin typeface="宋体" pitchFamily="2" charset="-122"/>
              </a:rPr>
              <a:t>=</a:t>
            </a:r>
            <a:r>
              <a:rPr lang="en-US" altLang="zh-CN" sz="3200" b="1" i="1">
                <a:latin typeface="宋体" pitchFamily="2" charset="-122"/>
              </a:rPr>
              <a:t>-1+1=0</a:t>
            </a:r>
          </a:p>
        </p:txBody>
      </p:sp>
      <p:graphicFrame>
        <p:nvGraphicFramePr>
          <p:cNvPr id="230422" name="Object 22"/>
          <p:cNvGraphicFramePr>
            <a:graphicFrameLocks noChangeAspect="1"/>
          </p:cNvGraphicFramePr>
          <p:nvPr/>
        </p:nvGraphicFramePr>
        <p:xfrm>
          <a:off x="179388" y="4941888"/>
          <a:ext cx="1711325" cy="636587"/>
        </p:xfrm>
        <a:graphic>
          <a:graphicData uri="http://schemas.openxmlformats.org/presentationml/2006/ole">
            <mc:AlternateContent xmlns:mc="http://schemas.openxmlformats.org/markup-compatibility/2006">
              <mc:Choice xmlns:v="urn:schemas-microsoft-com:vml" Requires="v">
                <p:oleObj spid="_x0000_s76979" name="公式" r:id="rId14" imgW="586656" imgH="190428" progId="Equation.3">
                  <p:embed/>
                </p:oleObj>
              </mc:Choice>
              <mc:Fallback>
                <p:oleObj name="公式" r:id="rId14" imgW="586656" imgH="190428" progId="Equation.3">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9388" y="4941888"/>
                        <a:ext cx="171132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0427" name="Group 27"/>
          <p:cNvGrpSpPr>
            <a:grpSpLocks/>
          </p:cNvGrpSpPr>
          <p:nvPr/>
        </p:nvGrpSpPr>
        <p:grpSpPr bwMode="auto">
          <a:xfrm>
            <a:off x="2124075" y="4724400"/>
            <a:ext cx="4610100" cy="1093788"/>
            <a:chOff x="1429" y="2976"/>
            <a:chExt cx="2904" cy="689"/>
          </a:xfrm>
        </p:grpSpPr>
        <p:graphicFrame>
          <p:nvGraphicFramePr>
            <p:cNvPr id="76814" name="Object 24"/>
            <p:cNvGraphicFramePr>
              <a:graphicFrameLocks noChangeAspect="1"/>
            </p:cNvGraphicFramePr>
            <p:nvPr/>
          </p:nvGraphicFramePr>
          <p:xfrm>
            <a:off x="1871" y="2976"/>
            <a:ext cx="2462" cy="689"/>
          </p:xfrm>
          <a:graphic>
            <a:graphicData uri="http://schemas.openxmlformats.org/presentationml/2006/ole">
              <mc:AlternateContent xmlns:mc="http://schemas.openxmlformats.org/markup-compatibility/2006">
                <mc:Choice xmlns:v="urn:schemas-microsoft-com:vml" Requires="v">
                  <p:oleObj spid="_x0000_s76980" name="公式" r:id="rId16" imgW="1386936" imgH="358212" progId="Equation.3">
                    <p:embed/>
                  </p:oleObj>
                </mc:Choice>
                <mc:Fallback>
                  <p:oleObj name="公式" r:id="rId16" imgW="1386936" imgH="358212" progId="Equation.3">
                    <p:embed/>
                    <p:pic>
                      <p:nvPicPr>
                        <p:cNvPr id="0"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71" y="2976"/>
                          <a:ext cx="2462"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15" name="Rectangle 25"/>
            <p:cNvSpPr>
              <a:spLocks noChangeArrowheads="1"/>
            </p:cNvSpPr>
            <p:nvPr/>
          </p:nvSpPr>
          <p:spPr bwMode="auto">
            <a:xfrm>
              <a:off x="1429" y="3203"/>
              <a:ext cx="5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左</a:t>
              </a:r>
              <a:r>
                <a:rPr lang="en-US" altLang="zh-CN" sz="2800" b="1">
                  <a:latin typeface="宋体" pitchFamily="2" charset="-122"/>
                </a:rPr>
                <a:t>= </a:t>
              </a:r>
            </a:p>
          </p:txBody>
        </p:sp>
      </p:grpSp>
      <p:sp>
        <p:nvSpPr>
          <p:cNvPr id="230426" name="Rectangle 26"/>
          <p:cNvSpPr>
            <a:spLocks noChangeArrowheads="1"/>
          </p:cNvSpPr>
          <p:nvPr/>
        </p:nvSpPr>
        <p:spPr bwMode="auto">
          <a:xfrm>
            <a:off x="7164388" y="4983163"/>
            <a:ext cx="18208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宋体" pitchFamily="2" charset="-122"/>
              </a:rPr>
              <a:t>右</a:t>
            </a:r>
            <a:r>
              <a:rPr lang="en-US" altLang="zh-CN" sz="3200" b="1">
                <a:latin typeface="宋体" pitchFamily="2" charset="-122"/>
              </a:rPr>
              <a:t>=</a:t>
            </a:r>
            <a:r>
              <a:rPr lang="en-US" altLang="zh-CN" sz="3200" b="1" i="1">
                <a:latin typeface="宋体" pitchFamily="2" charset="-122"/>
              </a:rPr>
              <a:t>1+1=2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0407"/>
                                        </p:tgtEl>
                                        <p:attrNameLst>
                                          <p:attrName>style.visibility</p:attrName>
                                        </p:attrNameLst>
                                      </p:cBhvr>
                                      <p:to>
                                        <p:strVal val="visible"/>
                                      </p:to>
                                    </p:set>
                                    <p:animEffect transition="in" filter="wipe(left)">
                                      <p:cBhvr>
                                        <p:cTn id="7" dur="500"/>
                                        <p:tgtEl>
                                          <p:spTgt spid="2304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30409"/>
                                        </p:tgtEl>
                                        <p:attrNameLst>
                                          <p:attrName>style.visibility</p:attrName>
                                        </p:attrNameLst>
                                      </p:cBhvr>
                                      <p:to>
                                        <p:strVal val="visible"/>
                                      </p:to>
                                    </p:set>
                                    <p:anim calcmode="lin" valueType="num">
                                      <p:cBhvr additive="base">
                                        <p:cTn id="12" dur="500" fill="hold"/>
                                        <p:tgtEl>
                                          <p:spTgt spid="230409"/>
                                        </p:tgtEl>
                                        <p:attrNameLst>
                                          <p:attrName>ppt_x</p:attrName>
                                        </p:attrNameLst>
                                      </p:cBhvr>
                                      <p:tavLst>
                                        <p:tav tm="0">
                                          <p:val>
                                            <p:strVal val="#ppt_x"/>
                                          </p:val>
                                        </p:tav>
                                        <p:tav tm="100000">
                                          <p:val>
                                            <p:strVal val="#ppt_x"/>
                                          </p:val>
                                        </p:tav>
                                      </p:tavLst>
                                    </p:anim>
                                    <p:anim calcmode="lin" valueType="num">
                                      <p:cBhvr additive="base">
                                        <p:cTn id="13" dur="500" fill="hold"/>
                                        <p:tgtEl>
                                          <p:spTgt spid="230409"/>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230413"/>
                                        </p:tgtEl>
                                        <p:attrNameLst>
                                          <p:attrName>style.visibility</p:attrName>
                                        </p:attrNameLst>
                                      </p:cBhvr>
                                      <p:to>
                                        <p:strVal val="visible"/>
                                      </p:to>
                                    </p:set>
                                    <p:anim calcmode="lin" valueType="num">
                                      <p:cBhvr additive="base">
                                        <p:cTn id="18" dur="500" fill="hold"/>
                                        <p:tgtEl>
                                          <p:spTgt spid="230413"/>
                                        </p:tgtEl>
                                        <p:attrNameLst>
                                          <p:attrName>ppt_x</p:attrName>
                                        </p:attrNameLst>
                                      </p:cBhvr>
                                      <p:tavLst>
                                        <p:tav tm="0">
                                          <p:val>
                                            <p:strVal val="#ppt_x"/>
                                          </p:val>
                                        </p:tav>
                                        <p:tav tm="100000">
                                          <p:val>
                                            <p:strVal val="#ppt_x"/>
                                          </p:val>
                                        </p:tav>
                                      </p:tavLst>
                                    </p:anim>
                                    <p:anim calcmode="lin" valueType="num">
                                      <p:cBhvr additive="base">
                                        <p:cTn id="19" dur="500" fill="hold"/>
                                        <p:tgtEl>
                                          <p:spTgt spid="230413"/>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30414"/>
                                        </p:tgtEl>
                                        <p:attrNameLst>
                                          <p:attrName>style.visibility</p:attrName>
                                        </p:attrNameLst>
                                      </p:cBhvr>
                                      <p:to>
                                        <p:strVal val="visible"/>
                                      </p:to>
                                    </p:set>
                                    <p:anim calcmode="lin" valueType="num">
                                      <p:cBhvr additive="base">
                                        <p:cTn id="24" dur="500" fill="hold"/>
                                        <p:tgtEl>
                                          <p:spTgt spid="230414"/>
                                        </p:tgtEl>
                                        <p:attrNameLst>
                                          <p:attrName>ppt_x</p:attrName>
                                        </p:attrNameLst>
                                      </p:cBhvr>
                                      <p:tavLst>
                                        <p:tav tm="0">
                                          <p:val>
                                            <p:strVal val="#ppt_x"/>
                                          </p:val>
                                        </p:tav>
                                        <p:tav tm="100000">
                                          <p:val>
                                            <p:strVal val="#ppt_x"/>
                                          </p:val>
                                        </p:tav>
                                      </p:tavLst>
                                    </p:anim>
                                    <p:anim calcmode="lin" valueType="num">
                                      <p:cBhvr additive="base">
                                        <p:cTn id="25" dur="500" fill="hold"/>
                                        <p:tgtEl>
                                          <p:spTgt spid="230414"/>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230415"/>
                                        </p:tgtEl>
                                        <p:attrNameLst>
                                          <p:attrName>style.visibility</p:attrName>
                                        </p:attrNameLst>
                                      </p:cBhvr>
                                      <p:to>
                                        <p:strVal val="visible"/>
                                      </p:to>
                                    </p:set>
                                    <p:anim calcmode="lin" valueType="num">
                                      <p:cBhvr additive="base">
                                        <p:cTn id="30" dur="500" fill="hold"/>
                                        <p:tgtEl>
                                          <p:spTgt spid="230415"/>
                                        </p:tgtEl>
                                        <p:attrNameLst>
                                          <p:attrName>ppt_x</p:attrName>
                                        </p:attrNameLst>
                                      </p:cBhvr>
                                      <p:tavLst>
                                        <p:tav tm="0">
                                          <p:val>
                                            <p:strVal val="#ppt_x"/>
                                          </p:val>
                                        </p:tav>
                                        <p:tav tm="100000">
                                          <p:val>
                                            <p:strVal val="#ppt_x"/>
                                          </p:val>
                                        </p:tav>
                                      </p:tavLst>
                                    </p:anim>
                                    <p:anim calcmode="lin" valueType="num">
                                      <p:cBhvr additive="base">
                                        <p:cTn id="31" dur="500" fill="hold"/>
                                        <p:tgtEl>
                                          <p:spTgt spid="230415"/>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230421"/>
                                        </p:tgtEl>
                                        <p:attrNameLst>
                                          <p:attrName>style.visibility</p:attrName>
                                        </p:attrNameLst>
                                      </p:cBhvr>
                                      <p:to>
                                        <p:strVal val="visible"/>
                                      </p:to>
                                    </p:set>
                                    <p:anim calcmode="lin" valueType="num">
                                      <p:cBhvr additive="base">
                                        <p:cTn id="36" dur="500" fill="hold"/>
                                        <p:tgtEl>
                                          <p:spTgt spid="230421"/>
                                        </p:tgtEl>
                                        <p:attrNameLst>
                                          <p:attrName>ppt_x</p:attrName>
                                        </p:attrNameLst>
                                      </p:cBhvr>
                                      <p:tavLst>
                                        <p:tav tm="0">
                                          <p:val>
                                            <p:strVal val="#ppt_x"/>
                                          </p:val>
                                        </p:tav>
                                        <p:tav tm="100000">
                                          <p:val>
                                            <p:strVal val="#ppt_x"/>
                                          </p:val>
                                        </p:tav>
                                      </p:tavLst>
                                    </p:anim>
                                    <p:anim calcmode="lin" valueType="num">
                                      <p:cBhvr additive="base">
                                        <p:cTn id="37" dur="500" fill="hold"/>
                                        <p:tgtEl>
                                          <p:spTgt spid="230421"/>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30420"/>
                                        </p:tgtEl>
                                        <p:attrNameLst>
                                          <p:attrName>style.visibility</p:attrName>
                                        </p:attrNameLst>
                                      </p:cBhvr>
                                      <p:to>
                                        <p:strVal val="visible"/>
                                      </p:to>
                                    </p:set>
                                    <p:anim calcmode="lin" valueType="num">
                                      <p:cBhvr additive="base">
                                        <p:cTn id="42" dur="500" fill="hold"/>
                                        <p:tgtEl>
                                          <p:spTgt spid="230420"/>
                                        </p:tgtEl>
                                        <p:attrNameLst>
                                          <p:attrName>ppt_x</p:attrName>
                                        </p:attrNameLst>
                                      </p:cBhvr>
                                      <p:tavLst>
                                        <p:tav tm="0">
                                          <p:val>
                                            <p:strVal val="#ppt_x"/>
                                          </p:val>
                                        </p:tav>
                                        <p:tav tm="100000">
                                          <p:val>
                                            <p:strVal val="#ppt_x"/>
                                          </p:val>
                                        </p:tav>
                                      </p:tavLst>
                                    </p:anim>
                                    <p:anim calcmode="lin" valueType="num">
                                      <p:cBhvr additive="base">
                                        <p:cTn id="43" dur="500" fill="hold"/>
                                        <p:tgtEl>
                                          <p:spTgt spid="230420"/>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nodeType="clickEffect">
                                  <p:stCondLst>
                                    <p:cond delay="0"/>
                                  </p:stCondLst>
                                  <p:childTnLst>
                                    <p:set>
                                      <p:cBhvr>
                                        <p:cTn id="47" dur="1" fill="hold">
                                          <p:stCondLst>
                                            <p:cond delay="0"/>
                                          </p:stCondLst>
                                        </p:cTn>
                                        <p:tgtEl>
                                          <p:spTgt spid="230422"/>
                                        </p:tgtEl>
                                        <p:attrNameLst>
                                          <p:attrName>style.visibility</p:attrName>
                                        </p:attrNameLst>
                                      </p:cBhvr>
                                      <p:to>
                                        <p:strVal val="visible"/>
                                      </p:to>
                                    </p:set>
                                    <p:anim calcmode="lin" valueType="num">
                                      <p:cBhvr additive="base">
                                        <p:cTn id="48" dur="500" fill="hold"/>
                                        <p:tgtEl>
                                          <p:spTgt spid="230422"/>
                                        </p:tgtEl>
                                        <p:attrNameLst>
                                          <p:attrName>ppt_x</p:attrName>
                                        </p:attrNameLst>
                                      </p:cBhvr>
                                      <p:tavLst>
                                        <p:tav tm="0">
                                          <p:val>
                                            <p:strVal val="#ppt_x"/>
                                          </p:val>
                                        </p:tav>
                                        <p:tav tm="100000">
                                          <p:val>
                                            <p:strVal val="#ppt_x"/>
                                          </p:val>
                                        </p:tav>
                                      </p:tavLst>
                                    </p:anim>
                                    <p:anim calcmode="lin" valueType="num">
                                      <p:cBhvr additive="base">
                                        <p:cTn id="49" dur="500" fill="hold"/>
                                        <p:tgtEl>
                                          <p:spTgt spid="230422"/>
                                        </p:tgtEl>
                                        <p:attrNameLst>
                                          <p:attrName>ppt_y</p:attrName>
                                        </p:attrNameLst>
                                      </p:cBhvr>
                                      <p:tavLst>
                                        <p:tav tm="0">
                                          <p:val>
                                            <p:strVal val="1+#ppt_h/2"/>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4" fill="hold" nodeType="clickEffect">
                                  <p:stCondLst>
                                    <p:cond delay="0"/>
                                  </p:stCondLst>
                                  <p:childTnLst>
                                    <p:set>
                                      <p:cBhvr>
                                        <p:cTn id="53" dur="1" fill="hold">
                                          <p:stCondLst>
                                            <p:cond delay="0"/>
                                          </p:stCondLst>
                                        </p:cTn>
                                        <p:tgtEl>
                                          <p:spTgt spid="230427"/>
                                        </p:tgtEl>
                                        <p:attrNameLst>
                                          <p:attrName>style.visibility</p:attrName>
                                        </p:attrNameLst>
                                      </p:cBhvr>
                                      <p:to>
                                        <p:strVal val="visible"/>
                                      </p:to>
                                    </p:set>
                                    <p:anim calcmode="lin" valueType="num">
                                      <p:cBhvr additive="base">
                                        <p:cTn id="54" dur="500" fill="hold"/>
                                        <p:tgtEl>
                                          <p:spTgt spid="230427"/>
                                        </p:tgtEl>
                                        <p:attrNameLst>
                                          <p:attrName>ppt_x</p:attrName>
                                        </p:attrNameLst>
                                      </p:cBhvr>
                                      <p:tavLst>
                                        <p:tav tm="0">
                                          <p:val>
                                            <p:strVal val="#ppt_x"/>
                                          </p:val>
                                        </p:tav>
                                        <p:tav tm="100000">
                                          <p:val>
                                            <p:strVal val="#ppt_x"/>
                                          </p:val>
                                        </p:tav>
                                      </p:tavLst>
                                    </p:anim>
                                    <p:anim calcmode="lin" valueType="num">
                                      <p:cBhvr additive="base">
                                        <p:cTn id="55" dur="500" fill="hold"/>
                                        <p:tgtEl>
                                          <p:spTgt spid="230427"/>
                                        </p:tgtEl>
                                        <p:attrNameLst>
                                          <p:attrName>ppt_y</p:attrName>
                                        </p:attrNameLst>
                                      </p:cBhvr>
                                      <p:tavLst>
                                        <p:tav tm="0">
                                          <p:val>
                                            <p:strVal val="1+#ppt_h/2"/>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230426"/>
                                        </p:tgtEl>
                                        <p:attrNameLst>
                                          <p:attrName>style.visibility</p:attrName>
                                        </p:attrNameLst>
                                      </p:cBhvr>
                                      <p:to>
                                        <p:strVal val="visible"/>
                                      </p:to>
                                    </p:set>
                                    <p:anim calcmode="lin" valueType="num">
                                      <p:cBhvr additive="base">
                                        <p:cTn id="60" dur="500" fill="hold"/>
                                        <p:tgtEl>
                                          <p:spTgt spid="230426"/>
                                        </p:tgtEl>
                                        <p:attrNameLst>
                                          <p:attrName>ppt_x</p:attrName>
                                        </p:attrNameLst>
                                      </p:cBhvr>
                                      <p:tavLst>
                                        <p:tav tm="0">
                                          <p:val>
                                            <p:strVal val="#ppt_x"/>
                                          </p:val>
                                        </p:tav>
                                        <p:tav tm="100000">
                                          <p:val>
                                            <p:strVal val="#ppt_x"/>
                                          </p:val>
                                        </p:tav>
                                      </p:tavLst>
                                    </p:anim>
                                    <p:anim calcmode="lin" valueType="num">
                                      <p:cBhvr additive="base">
                                        <p:cTn id="61" dur="500" fill="hold"/>
                                        <p:tgtEl>
                                          <p:spTgt spid="2304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7" grpId="0" autoUpdateAnimBg="0"/>
      <p:bldP spid="230414" grpId="0"/>
      <p:bldP spid="230420" grpId="0"/>
      <p:bldP spid="23042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826" name="Object 2"/>
          <p:cNvGraphicFramePr>
            <a:graphicFrameLocks noChangeAspect="1"/>
          </p:cNvGraphicFramePr>
          <p:nvPr/>
        </p:nvGraphicFramePr>
        <p:xfrm>
          <a:off x="482600" y="115888"/>
          <a:ext cx="6176963" cy="1095375"/>
        </p:xfrm>
        <a:graphic>
          <a:graphicData uri="http://schemas.openxmlformats.org/presentationml/2006/ole">
            <mc:AlternateContent xmlns:mc="http://schemas.openxmlformats.org/markup-compatibility/2006">
              <mc:Choice xmlns:v="urn:schemas-microsoft-com:vml" Requires="v">
                <p:oleObj spid="_x0000_s78095" name="公式" r:id="rId3" imgW="2209896" imgH="358212" progId="Equation.3">
                  <p:embed/>
                </p:oleObj>
              </mc:Choice>
              <mc:Fallback>
                <p:oleObj name="公式" r:id="rId3" imgW="2209896" imgH="358212"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600" y="115888"/>
                        <a:ext cx="6176963"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7827"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9250" y="1052513"/>
            <a:ext cx="6265863"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31429" name="Object 5"/>
          <p:cNvGraphicFramePr>
            <a:graphicFrameLocks noChangeAspect="1"/>
          </p:cNvGraphicFramePr>
          <p:nvPr/>
        </p:nvGraphicFramePr>
        <p:xfrm>
          <a:off x="539750" y="2419350"/>
          <a:ext cx="1536700" cy="565150"/>
        </p:xfrm>
        <a:graphic>
          <a:graphicData uri="http://schemas.openxmlformats.org/presentationml/2006/ole">
            <mc:AlternateContent xmlns:mc="http://schemas.openxmlformats.org/markup-compatibility/2006">
              <mc:Choice xmlns:v="urn:schemas-microsoft-com:vml" Requires="v">
                <p:oleObj spid="_x0000_s78096" name="公式" r:id="rId6" imgW="518184" imgH="167568" progId="Equation.3">
                  <p:embed/>
                </p:oleObj>
              </mc:Choice>
              <mc:Fallback>
                <p:oleObj name="公式" r:id="rId6" imgW="518184" imgH="167568"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750" y="2419350"/>
                        <a:ext cx="15367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1430" name="Group 6"/>
          <p:cNvGrpSpPr>
            <a:grpSpLocks/>
          </p:cNvGrpSpPr>
          <p:nvPr/>
        </p:nvGrpSpPr>
        <p:grpSpPr bwMode="auto">
          <a:xfrm>
            <a:off x="2484438" y="2276475"/>
            <a:ext cx="3373437" cy="917575"/>
            <a:chOff x="2064" y="1797"/>
            <a:chExt cx="2125" cy="578"/>
          </a:xfrm>
        </p:grpSpPr>
        <p:graphicFrame>
          <p:nvGraphicFramePr>
            <p:cNvPr id="77851" name="Object 7"/>
            <p:cNvGraphicFramePr>
              <a:graphicFrameLocks noChangeAspect="1"/>
            </p:cNvGraphicFramePr>
            <p:nvPr/>
          </p:nvGraphicFramePr>
          <p:xfrm>
            <a:off x="2562" y="1797"/>
            <a:ext cx="1627" cy="578"/>
          </p:xfrm>
          <a:graphic>
            <a:graphicData uri="http://schemas.openxmlformats.org/presentationml/2006/ole">
              <mc:AlternateContent xmlns:mc="http://schemas.openxmlformats.org/markup-compatibility/2006">
                <mc:Choice xmlns:v="urn:schemas-microsoft-com:vml" Requires="v">
                  <p:oleObj spid="_x0000_s78097" name="公式" r:id="rId8" imgW="899208" imgH="289632" progId="Equation.3">
                    <p:embed/>
                  </p:oleObj>
                </mc:Choice>
                <mc:Fallback>
                  <p:oleObj name="公式" r:id="rId8" imgW="899208" imgH="289632"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62" y="1797"/>
                          <a:ext cx="1627"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52" name="Rectangle 8"/>
            <p:cNvSpPr>
              <a:spLocks noChangeArrowheads="1"/>
            </p:cNvSpPr>
            <p:nvPr/>
          </p:nvSpPr>
          <p:spPr bwMode="auto">
            <a:xfrm>
              <a:off x="2064" y="1933"/>
              <a:ext cx="5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左</a:t>
              </a:r>
              <a:r>
                <a:rPr lang="en-US" altLang="zh-CN" sz="2800" b="1">
                  <a:latin typeface="宋体" pitchFamily="2" charset="-122"/>
                </a:rPr>
                <a:t>= </a:t>
              </a:r>
            </a:p>
          </p:txBody>
        </p:sp>
      </p:grpSp>
      <p:sp>
        <p:nvSpPr>
          <p:cNvPr id="231433" name="Rectangle 9"/>
          <p:cNvSpPr>
            <a:spLocks noChangeArrowheads="1"/>
          </p:cNvSpPr>
          <p:nvPr/>
        </p:nvSpPr>
        <p:spPr bwMode="auto">
          <a:xfrm>
            <a:off x="6300788" y="2419350"/>
            <a:ext cx="2514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右</a:t>
            </a:r>
            <a:r>
              <a:rPr lang="en-US" altLang="zh-CN" sz="2800" b="1">
                <a:latin typeface="宋体" pitchFamily="2" charset="-122"/>
              </a:rPr>
              <a:t>=(</a:t>
            </a:r>
            <a:r>
              <a:rPr lang="en-US" altLang="zh-CN" sz="2800" b="1" i="1">
                <a:latin typeface="宋体" pitchFamily="2" charset="-122"/>
              </a:rPr>
              <a:t>c+4c+c)/3</a:t>
            </a:r>
          </a:p>
        </p:txBody>
      </p:sp>
      <p:graphicFrame>
        <p:nvGraphicFramePr>
          <p:cNvPr id="231434" name="Object 10"/>
          <p:cNvGraphicFramePr>
            <a:graphicFrameLocks noChangeAspect="1"/>
          </p:cNvGraphicFramePr>
          <p:nvPr/>
        </p:nvGraphicFramePr>
        <p:xfrm>
          <a:off x="306388" y="3284538"/>
          <a:ext cx="1571625" cy="565150"/>
        </p:xfrm>
        <a:graphic>
          <a:graphicData uri="http://schemas.openxmlformats.org/presentationml/2006/ole">
            <mc:AlternateContent xmlns:mc="http://schemas.openxmlformats.org/markup-compatibility/2006">
              <mc:Choice xmlns:v="urn:schemas-microsoft-com:vml" Requires="v">
                <p:oleObj spid="_x0000_s78098" name="公式" r:id="rId10" imgW="533304" imgH="167568" progId="Equation.3">
                  <p:embed/>
                </p:oleObj>
              </mc:Choice>
              <mc:Fallback>
                <p:oleObj name="公式" r:id="rId10" imgW="533304" imgH="167568"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6388" y="3284538"/>
                        <a:ext cx="157162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1435" name="Group 11"/>
          <p:cNvGrpSpPr>
            <a:grpSpLocks/>
          </p:cNvGrpSpPr>
          <p:nvPr/>
        </p:nvGrpSpPr>
        <p:grpSpPr bwMode="auto">
          <a:xfrm>
            <a:off x="2124075" y="2924175"/>
            <a:ext cx="4592638" cy="1093788"/>
            <a:chOff x="1429" y="2341"/>
            <a:chExt cx="2893" cy="689"/>
          </a:xfrm>
        </p:grpSpPr>
        <p:graphicFrame>
          <p:nvGraphicFramePr>
            <p:cNvPr id="77849" name="Object 12"/>
            <p:cNvGraphicFramePr>
              <a:graphicFrameLocks noChangeAspect="1"/>
            </p:cNvGraphicFramePr>
            <p:nvPr/>
          </p:nvGraphicFramePr>
          <p:xfrm>
            <a:off x="1882" y="2341"/>
            <a:ext cx="2440" cy="689"/>
          </p:xfrm>
          <a:graphic>
            <a:graphicData uri="http://schemas.openxmlformats.org/presentationml/2006/ole">
              <mc:AlternateContent xmlns:mc="http://schemas.openxmlformats.org/markup-compatibility/2006">
                <mc:Choice xmlns:v="urn:schemas-microsoft-com:vml" Requires="v">
                  <p:oleObj spid="_x0000_s78099" name="公式" r:id="rId12" imgW="1371600" imgH="358212" progId="Equation.3">
                    <p:embed/>
                  </p:oleObj>
                </mc:Choice>
                <mc:Fallback>
                  <p:oleObj name="公式" r:id="rId12" imgW="1371600" imgH="358212"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82" y="2341"/>
                          <a:ext cx="2440"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50" name="Rectangle 13"/>
            <p:cNvSpPr>
              <a:spLocks noChangeArrowheads="1"/>
            </p:cNvSpPr>
            <p:nvPr/>
          </p:nvSpPr>
          <p:spPr bwMode="auto">
            <a:xfrm>
              <a:off x="1429" y="2568"/>
              <a:ext cx="5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左</a:t>
              </a:r>
              <a:r>
                <a:rPr lang="en-US" altLang="zh-CN" sz="2800" b="1">
                  <a:latin typeface="宋体" pitchFamily="2" charset="-122"/>
                </a:rPr>
                <a:t>= </a:t>
              </a:r>
            </a:p>
          </p:txBody>
        </p:sp>
      </p:grpSp>
      <p:sp>
        <p:nvSpPr>
          <p:cNvPr id="231438" name="Rectangle 14"/>
          <p:cNvSpPr>
            <a:spLocks noChangeArrowheads="1"/>
          </p:cNvSpPr>
          <p:nvPr/>
        </p:nvSpPr>
        <p:spPr bwMode="auto">
          <a:xfrm>
            <a:off x="7164388" y="3213100"/>
            <a:ext cx="1797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右</a:t>
            </a:r>
            <a:r>
              <a:rPr lang="en-US" altLang="zh-CN" sz="2800" b="1">
                <a:latin typeface="宋体" pitchFamily="2" charset="-122"/>
              </a:rPr>
              <a:t>=</a:t>
            </a:r>
            <a:r>
              <a:rPr lang="en-US" altLang="zh-CN" sz="2800" b="1" i="1">
                <a:latin typeface="宋体" pitchFamily="2" charset="-122"/>
              </a:rPr>
              <a:t>-1+1=0</a:t>
            </a:r>
          </a:p>
        </p:txBody>
      </p:sp>
      <p:graphicFrame>
        <p:nvGraphicFramePr>
          <p:cNvPr id="231439" name="Object 15"/>
          <p:cNvGraphicFramePr>
            <a:graphicFrameLocks noChangeAspect="1"/>
          </p:cNvGraphicFramePr>
          <p:nvPr/>
        </p:nvGraphicFramePr>
        <p:xfrm>
          <a:off x="179388" y="4078288"/>
          <a:ext cx="1711325" cy="636587"/>
        </p:xfrm>
        <a:graphic>
          <a:graphicData uri="http://schemas.openxmlformats.org/presentationml/2006/ole">
            <mc:AlternateContent xmlns:mc="http://schemas.openxmlformats.org/markup-compatibility/2006">
              <mc:Choice xmlns:v="urn:schemas-microsoft-com:vml" Requires="v">
                <p:oleObj spid="_x0000_s78100" name="公式" r:id="rId14" imgW="586656" imgH="190428" progId="Equation.3">
                  <p:embed/>
                </p:oleObj>
              </mc:Choice>
              <mc:Fallback>
                <p:oleObj name="公式" r:id="rId14" imgW="586656" imgH="190428" progId="Equation.3">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9388" y="4078288"/>
                        <a:ext cx="171132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1440" name="Group 16"/>
          <p:cNvGrpSpPr>
            <a:grpSpLocks/>
          </p:cNvGrpSpPr>
          <p:nvPr/>
        </p:nvGrpSpPr>
        <p:grpSpPr bwMode="auto">
          <a:xfrm>
            <a:off x="2051050" y="3860800"/>
            <a:ext cx="4610100" cy="1093788"/>
            <a:chOff x="1429" y="2976"/>
            <a:chExt cx="2904" cy="689"/>
          </a:xfrm>
        </p:grpSpPr>
        <p:graphicFrame>
          <p:nvGraphicFramePr>
            <p:cNvPr id="77847" name="Object 17"/>
            <p:cNvGraphicFramePr>
              <a:graphicFrameLocks noChangeAspect="1"/>
            </p:cNvGraphicFramePr>
            <p:nvPr/>
          </p:nvGraphicFramePr>
          <p:xfrm>
            <a:off x="1871" y="2976"/>
            <a:ext cx="2462" cy="689"/>
          </p:xfrm>
          <a:graphic>
            <a:graphicData uri="http://schemas.openxmlformats.org/presentationml/2006/ole">
              <mc:AlternateContent xmlns:mc="http://schemas.openxmlformats.org/markup-compatibility/2006">
                <mc:Choice xmlns:v="urn:schemas-microsoft-com:vml" Requires="v">
                  <p:oleObj spid="_x0000_s78101" name="公式" r:id="rId16" imgW="1386936" imgH="358212" progId="Equation.3">
                    <p:embed/>
                  </p:oleObj>
                </mc:Choice>
                <mc:Fallback>
                  <p:oleObj name="公式" r:id="rId16" imgW="1386936" imgH="358212" progId="Equation.3">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71" y="2976"/>
                          <a:ext cx="2462"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48" name="Rectangle 18"/>
            <p:cNvSpPr>
              <a:spLocks noChangeArrowheads="1"/>
            </p:cNvSpPr>
            <p:nvPr/>
          </p:nvSpPr>
          <p:spPr bwMode="auto">
            <a:xfrm>
              <a:off x="1429" y="3203"/>
              <a:ext cx="5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左</a:t>
              </a:r>
              <a:r>
                <a:rPr lang="en-US" altLang="zh-CN" sz="2800" b="1">
                  <a:latin typeface="宋体" pitchFamily="2" charset="-122"/>
                </a:rPr>
                <a:t>= </a:t>
              </a:r>
            </a:p>
          </p:txBody>
        </p:sp>
      </p:grpSp>
      <p:sp>
        <p:nvSpPr>
          <p:cNvPr id="231443" name="Rectangle 19"/>
          <p:cNvSpPr>
            <a:spLocks noChangeArrowheads="1"/>
          </p:cNvSpPr>
          <p:nvPr/>
        </p:nvSpPr>
        <p:spPr bwMode="auto">
          <a:xfrm>
            <a:off x="7019925" y="4149725"/>
            <a:ext cx="19764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右</a:t>
            </a:r>
            <a:r>
              <a:rPr lang="en-US" altLang="zh-CN" sz="2800" b="1">
                <a:latin typeface="宋体" pitchFamily="2" charset="-122"/>
              </a:rPr>
              <a:t>=(</a:t>
            </a:r>
            <a:r>
              <a:rPr lang="en-US" altLang="zh-CN" sz="2800" b="1" i="1">
                <a:latin typeface="宋体" pitchFamily="2" charset="-122"/>
              </a:rPr>
              <a:t>1+1)/3</a:t>
            </a:r>
          </a:p>
        </p:txBody>
      </p:sp>
      <p:graphicFrame>
        <p:nvGraphicFramePr>
          <p:cNvPr id="231444" name="Object 20"/>
          <p:cNvGraphicFramePr>
            <a:graphicFrameLocks noChangeAspect="1"/>
          </p:cNvGraphicFramePr>
          <p:nvPr/>
        </p:nvGraphicFramePr>
        <p:xfrm>
          <a:off x="0" y="4943475"/>
          <a:ext cx="1711325" cy="636588"/>
        </p:xfrm>
        <a:graphic>
          <a:graphicData uri="http://schemas.openxmlformats.org/presentationml/2006/ole">
            <mc:AlternateContent xmlns:mc="http://schemas.openxmlformats.org/markup-compatibility/2006">
              <mc:Choice xmlns:v="urn:schemas-microsoft-com:vml" Requires="v">
                <p:oleObj spid="_x0000_s78102" name="公式" r:id="rId18" imgW="586656" imgH="190428" progId="Equation.3">
                  <p:embed/>
                </p:oleObj>
              </mc:Choice>
              <mc:Fallback>
                <p:oleObj name="公式" r:id="rId18" imgW="586656" imgH="190428" progId="Equation.3">
                  <p:embed/>
                  <p:pic>
                    <p:nvPicPr>
                      <p:cNvPr id="0"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4943475"/>
                        <a:ext cx="1711325"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1449" name="Group 25"/>
          <p:cNvGrpSpPr>
            <a:grpSpLocks/>
          </p:cNvGrpSpPr>
          <p:nvPr/>
        </p:nvGrpSpPr>
        <p:grpSpPr bwMode="auto">
          <a:xfrm>
            <a:off x="1763713" y="4724400"/>
            <a:ext cx="4592637" cy="1093788"/>
            <a:chOff x="1179" y="3376"/>
            <a:chExt cx="2893" cy="689"/>
          </a:xfrm>
        </p:grpSpPr>
        <p:graphicFrame>
          <p:nvGraphicFramePr>
            <p:cNvPr id="77845" name="Object 22"/>
            <p:cNvGraphicFramePr>
              <a:graphicFrameLocks noChangeAspect="1"/>
            </p:cNvGraphicFramePr>
            <p:nvPr/>
          </p:nvGraphicFramePr>
          <p:xfrm>
            <a:off x="1632" y="3376"/>
            <a:ext cx="2440" cy="689"/>
          </p:xfrm>
          <a:graphic>
            <a:graphicData uri="http://schemas.openxmlformats.org/presentationml/2006/ole">
              <mc:AlternateContent xmlns:mc="http://schemas.openxmlformats.org/markup-compatibility/2006">
                <mc:Choice xmlns:v="urn:schemas-microsoft-com:vml" Requires="v">
                  <p:oleObj spid="_x0000_s78103" name="公式" r:id="rId20" imgW="1371600" imgH="358212" progId="Equation.3">
                    <p:embed/>
                  </p:oleObj>
                </mc:Choice>
                <mc:Fallback>
                  <p:oleObj name="公式" r:id="rId20" imgW="1371600" imgH="358212" progId="Equation.3">
                    <p:embed/>
                    <p:pic>
                      <p:nvPicPr>
                        <p:cNvPr id="0" name="Object 2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32" y="3376"/>
                          <a:ext cx="2440"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46" name="Rectangle 23"/>
            <p:cNvSpPr>
              <a:spLocks noChangeArrowheads="1"/>
            </p:cNvSpPr>
            <p:nvPr/>
          </p:nvSpPr>
          <p:spPr bwMode="auto">
            <a:xfrm>
              <a:off x="1179" y="3603"/>
              <a:ext cx="5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左</a:t>
              </a:r>
              <a:r>
                <a:rPr lang="en-US" altLang="zh-CN" sz="2800" b="1">
                  <a:latin typeface="宋体" pitchFamily="2" charset="-122"/>
                </a:rPr>
                <a:t>= </a:t>
              </a:r>
            </a:p>
          </p:txBody>
        </p:sp>
      </p:grpSp>
      <p:sp>
        <p:nvSpPr>
          <p:cNvPr id="231450" name="Rectangle 26"/>
          <p:cNvSpPr>
            <a:spLocks noChangeArrowheads="1"/>
          </p:cNvSpPr>
          <p:nvPr/>
        </p:nvSpPr>
        <p:spPr bwMode="auto">
          <a:xfrm>
            <a:off x="6877050" y="4956175"/>
            <a:ext cx="1797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右</a:t>
            </a:r>
            <a:r>
              <a:rPr lang="en-US" altLang="zh-CN" sz="2800" b="1">
                <a:latin typeface="宋体" pitchFamily="2" charset="-122"/>
              </a:rPr>
              <a:t>=</a:t>
            </a:r>
            <a:r>
              <a:rPr lang="en-US" altLang="zh-CN" sz="2800" b="1" i="1">
                <a:latin typeface="宋体" pitchFamily="2" charset="-122"/>
              </a:rPr>
              <a:t>-1+1=0</a:t>
            </a:r>
          </a:p>
        </p:txBody>
      </p:sp>
      <p:graphicFrame>
        <p:nvGraphicFramePr>
          <p:cNvPr id="231451" name="Object 27"/>
          <p:cNvGraphicFramePr>
            <a:graphicFrameLocks noChangeAspect="1"/>
          </p:cNvGraphicFramePr>
          <p:nvPr/>
        </p:nvGraphicFramePr>
        <p:xfrm>
          <a:off x="0" y="5981700"/>
          <a:ext cx="1711325" cy="636588"/>
        </p:xfrm>
        <a:graphic>
          <a:graphicData uri="http://schemas.openxmlformats.org/presentationml/2006/ole">
            <mc:AlternateContent xmlns:mc="http://schemas.openxmlformats.org/markup-compatibility/2006">
              <mc:Choice xmlns:v="urn:schemas-microsoft-com:vml" Requires="v">
                <p:oleObj spid="_x0000_s78104" name="公式" r:id="rId22" imgW="586656" imgH="190428" progId="Equation.3">
                  <p:embed/>
                </p:oleObj>
              </mc:Choice>
              <mc:Fallback>
                <p:oleObj name="公式" r:id="rId22" imgW="586656" imgH="190428" progId="Equation.3">
                  <p:embed/>
                  <p:pic>
                    <p:nvPicPr>
                      <p:cNvPr id="0" name="Object 2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0" y="5981700"/>
                        <a:ext cx="1711325"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7841" name="Group 32"/>
          <p:cNvGrpSpPr>
            <a:grpSpLocks/>
          </p:cNvGrpSpPr>
          <p:nvPr/>
        </p:nvGrpSpPr>
        <p:grpSpPr bwMode="auto">
          <a:xfrm>
            <a:off x="1763713" y="5719763"/>
            <a:ext cx="4610100" cy="1093787"/>
            <a:chOff x="1111" y="3603"/>
            <a:chExt cx="2904" cy="689"/>
          </a:xfrm>
        </p:grpSpPr>
        <p:graphicFrame>
          <p:nvGraphicFramePr>
            <p:cNvPr id="77843" name="Object 29"/>
            <p:cNvGraphicFramePr>
              <a:graphicFrameLocks noChangeAspect="1"/>
            </p:cNvGraphicFramePr>
            <p:nvPr/>
          </p:nvGraphicFramePr>
          <p:xfrm>
            <a:off x="1553" y="3603"/>
            <a:ext cx="2462" cy="689"/>
          </p:xfrm>
          <a:graphic>
            <a:graphicData uri="http://schemas.openxmlformats.org/presentationml/2006/ole">
              <mc:AlternateContent xmlns:mc="http://schemas.openxmlformats.org/markup-compatibility/2006">
                <mc:Choice xmlns:v="urn:schemas-microsoft-com:vml" Requires="v">
                  <p:oleObj spid="_x0000_s78105" name="公式" r:id="rId24" imgW="1386936" imgH="358212" progId="Equation.3">
                    <p:embed/>
                  </p:oleObj>
                </mc:Choice>
                <mc:Fallback>
                  <p:oleObj name="公式" r:id="rId24" imgW="1386936" imgH="358212" progId="Equation.3">
                    <p:embed/>
                    <p:pic>
                      <p:nvPicPr>
                        <p:cNvPr id="0" name="Object 2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53" y="3603"/>
                          <a:ext cx="2462"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44" name="Rectangle 30"/>
            <p:cNvSpPr>
              <a:spLocks noChangeArrowheads="1"/>
            </p:cNvSpPr>
            <p:nvPr/>
          </p:nvSpPr>
          <p:spPr bwMode="auto">
            <a:xfrm>
              <a:off x="1111" y="3830"/>
              <a:ext cx="5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左</a:t>
              </a:r>
              <a:r>
                <a:rPr lang="en-US" altLang="zh-CN" sz="2800" b="1">
                  <a:latin typeface="宋体" pitchFamily="2" charset="-122"/>
                </a:rPr>
                <a:t>= </a:t>
              </a:r>
            </a:p>
          </p:txBody>
        </p:sp>
      </p:grpSp>
      <p:sp>
        <p:nvSpPr>
          <p:cNvPr id="231457" name="Rectangle 33"/>
          <p:cNvSpPr>
            <a:spLocks noChangeArrowheads="1"/>
          </p:cNvSpPr>
          <p:nvPr/>
        </p:nvSpPr>
        <p:spPr bwMode="auto">
          <a:xfrm>
            <a:off x="6804025" y="5949950"/>
            <a:ext cx="19764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b="1">
                <a:latin typeface="宋体" pitchFamily="2" charset="-122"/>
              </a:rPr>
              <a:t>右</a:t>
            </a:r>
            <a:r>
              <a:rPr lang="en-US" altLang="zh-CN" sz="2800" b="1">
                <a:latin typeface="宋体" pitchFamily="2" charset="-122"/>
              </a:rPr>
              <a:t>=(</a:t>
            </a:r>
            <a:r>
              <a:rPr lang="en-US" altLang="zh-CN" sz="2800" b="1" i="1">
                <a:latin typeface="宋体" pitchFamily="2" charset="-122"/>
              </a:rPr>
              <a:t>1+1)/3</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1429"/>
                                        </p:tgtEl>
                                        <p:attrNameLst>
                                          <p:attrName>style.visibility</p:attrName>
                                        </p:attrNameLst>
                                      </p:cBhvr>
                                      <p:to>
                                        <p:strVal val="visible"/>
                                      </p:to>
                                    </p:set>
                                    <p:anim calcmode="lin" valueType="num">
                                      <p:cBhvr additive="base">
                                        <p:cTn id="7" dur="500" fill="hold"/>
                                        <p:tgtEl>
                                          <p:spTgt spid="231429"/>
                                        </p:tgtEl>
                                        <p:attrNameLst>
                                          <p:attrName>ppt_x</p:attrName>
                                        </p:attrNameLst>
                                      </p:cBhvr>
                                      <p:tavLst>
                                        <p:tav tm="0">
                                          <p:val>
                                            <p:strVal val="#ppt_x"/>
                                          </p:val>
                                        </p:tav>
                                        <p:tav tm="100000">
                                          <p:val>
                                            <p:strVal val="#ppt_x"/>
                                          </p:val>
                                        </p:tav>
                                      </p:tavLst>
                                    </p:anim>
                                    <p:anim calcmode="lin" valueType="num">
                                      <p:cBhvr additive="base">
                                        <p:cTn id="8" dur="500" fill="hold"/>
                                        <p:tgtEl>
                                          <p:spTgt spid="23142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31430"/>
                                        </p:tgtEl>
                                        <p:attrNameLst>
                                          <p:attrName>style.visibility</p:attrName>
                                        </p:attrNameLst>
                                      </p:cBhvr>
                                      <p:to>
                                        <p:strVal val="visible"/>
                                      </p:to>
                                    </p:set>
                                    <p:anim calcmode="lin" valueType="num">
                                      <p:cBhvr additive="base">
                                        <p:cTn id="13" dur="500" fill="hold"/>
                                        <p:tgtEl>
                                          <p:spTgt spid="231430"/>
                                        </p:tgtEl>
                                        <p:attrNameLst>
                                          <p:attrName>ppt_x</p:attrName>
                                        </p:attrNameLst>
                                      </p:cBhvr>
                                      <p:tavLst>
                                        <p:tav tm="0">
                                          <p:val>
                                            <p:strVal val="#ppt_x"/>
                                          </p:val>
                                        </p:tav>
                                        <p:tav tm="100000">
                                          <p:val>
                                            <p:strVal val="#ppt_x"/>
                                          </p:val>
                                        </p:tav>
                                      </p:tavLst>
                                    </p:anim>
                                    <p:anim calcmode="lin" valueType="num">
                                      <p:cBhvr additive="base">
                                        <p:cTn id="14" dur="500" fill="hold"/>
                                        <p:tgtEl>
                                          <p:spTgt spid="23143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1433"/>
                                        </p:tgtEl>
                                        <p:attrNameLst>
                                          <p:attrName>style.visibility</p:attrName>
                                        </p:attrNameLst>
                                      </p:cBhvr>
                                      <p:to>
                                        <p:strVal val="visible"/>
                                      </p:to>
                                    </p:set>
                                    <p:anim calcmode="lin" valueType="num">
                                      <p:cBhvr additive="base">
                                        <p:cTn id="19" dur="500" fill="hold"/>
                                        <p:tgtEl>
                                          <p:spTgt spid="231433"/>
                                        </p:tgtEl>
                                        <p:attrNameLst>
                                          <p:attrName>ppt_x</p:attrName>
                                        </p:attrNameLst>
                                      </p:cBhvr>
                                      <p:tavLst>
                                        <p:tav tm="0">
                                          <p:val>
                                            <p:strVal val="#ppt_x"/>
                                          </p:val>
                                        </p:tav>
                                        <p:tav tm="100000">
                                          <p:val>
                                            <p:strVal val="#ppt_x"/>
                                          </p:val>
                                        </p:tav>
                                      </p:tavLst>
                                    </p:anim>
                                    <p:anim calcmode="lin" valueType="num">
                                      <p:cBhvr additive="base">
                                        <p:cTn id="20" dur="500" fill="hold"/>
                                        <p:tgtEl>
                                          <p:spTgt spid="23143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31434"/>
                                        </p:tgtEl>
                                        <p:attrNameLst>
                                          <p:attrName>style.visibility</p:attrName>
                                        </p:attrNameLst>
                                      </p:cBhvr>
                                      <p:to>
                                        <p:strVal val="visible"/>
                                      </p:to>
                                    </p:set>
                                    <p:anim calcmode="lin" valueType="num">
                                      <p:cBhvr additive="base">
                                        <p:cTn id="25" dur="500" fill="hold"/>
                                        <p:tgtEl>
                                          <p:spTgt spid="231434"/>
                                        </p:tgtEl>
                                        <p:attrNameLst>
                                          <p:attrName>ppt_x</p:attrName>
                                        </p:attrNameLst>
                                      </p:cBhvr>
                                      <p:tavLst>
                                        <p:tav tm="0">
                                          <p:val>
                                            <p:strVal val="#ppt_x"/>
                                          </p:val>
                                        </p:tav>
                                        <p:tav tm="100000">
                                          <p:val>
                                            <p:strVal val="#ppt_x"/>
                                          </p:val>
                                        </p:tav>
                                      </p:tavLst>
                                    </p:anim>
                                    <p:anim calcmode="lin" valueType="num">
                                      <p:cBhvr additive="base">
                                        <p:cTn id="26" dur="500" fill="hold"/>
                                        <p:tgtEl>
                                          <p:spTgt spid="231434"/>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31435"/>
                                        </p:tgtEl>
                                        <p:attrNameLst>
                                          <p:attrName>style.visibility</p:attrName>
                                        </p:attrNameLst>
                                      </p:cBhvr>
                                      <p:to>
                                        <p:strVal val="visible"/>
                                      </p:to>
                                    </p:set>
                                    <p:anim calcmode="lin" valueType="num">
                                      <p:cBhvr additive="base">
                                        <p:cTn id="31" dur="500" fill="hold"/>
                                        <p:tgtEl>
                                          <p:spTgt spid="231435"/>
                                        </p:tgtEl>
                                        <p:attrNameLst>
                                          <p:attrName>ppt_x</p:attrName>
                                        </p:attrNameLst>
                                      </p:cBhvr>
                                      <p:tavLst>
                                        <p:tav tm="0">
                                          <p:val>
                                            <p:strVal val="#ppt_x"/>
                                          </p:val>
                                        </p:tav>
                                        <p:tav tm="100000">
                                          <p:val>
                                            <p:strVal val="#ppt_x"/>
                                          </p:val>
                                        </p:tav>
                                      </p:tavLst>
                                    </p:anim>
                                    <p:anim calcmode="lin" valueType="num">
                                      <p:cBhvr additive="base">
                                        <p:cTn id="32" dur="500" fill="hold"/>
                                        <p:tgtEl>
                                          <p:spTgt spid="231435"/>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31438"/>
                                        </p:tgtEl>
                                        <p:attrNameLst>
                                          <p:attrName>style.visibility</p:attrName>
                                        </p:attrNameLst>
                                      </p:cBhvr>
                                      <p:to>
                                        <p:strVal val="visible"/>
                                      </p:to>
                                    </p:set>
                                    <p:anim calcmode="lin" valueType="num">
                                      <p:cBhvr additive="base">
                                        <p:cTn id="37" dur="500" fill="hold"/>
                                        <p:tgtEl>
                                          <p:spTgt spid="231438"/>
                                        </p:tgtEl>
                                        <p:attrNameLst>
                                          <p:attrName>ppt_x</p:attrName>
                                        </p:attrNameLst>
                                      </p:cBhvr>
                                      <p:tavLst>
                                        <p:tav tm="0">
                                          <p:val>
                                            <p:strVal val="#ppt_x"/>
                                          </p:val>
                                        </p:tav>
                                        <p:tav tm="100000">
                                          <p:val>
                                            <p:strVal val="#ppt_x"/>
                                          </p:val>
                                        </p:tav>
                                      </p:tavLst>
                                    </p:anim>
                                    <p:anim calcmode="lin" valueType="num">
                                      <p:cBhvr additive="base">
                                        <p:cTn id="38" dur="500" fill="hold"/>
                                        <p:tgtEl>
                                          <p:spTgt spid="231438"/>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31439"/>
                                        </p:tgtEl>
                                        <p:attrNameLst>
                                          <p:attrName>style.visibility</p:attrName>
                                        </p:attrNameLst>
                                      </p:cBhvr>
                                      <p:to>
                                        <p:strVal val="visible"/>
                                      </p:to>
                                    </p:set>
                                    <p:anim calcmode="lin" valueType="num">
                                      <p:cBhvr additive="base">
                                        <p:cTn id="43" dur="500" fill="hold"/>
                                        <p:tgtEl>
                                          <p:spTgt spid="231439"/>
                                        </p:tgtEl>
                                        <p:attrNameLst>
                                          <p:attrName>ppt_x</p:attrName>
                                        </p:attrNameLst>
                                      </p:cBhvr>
                                      <p:tavLst>
                                        <p:tav tm="0">
                                          <p:val>
                                            <p:strVal val="#ppt_x"/>
                                          </p:val>
                                        </p:tav>
                                        <p:tav tm="100000">
                                          <p:val>
                                            <p:strVal val="#ppt_x"/>
                                          </p:val>
                                        </p:tav>
                                      </p:tavLst>
                                    </p:anim>
                                    <p:anim calcmode="lin" valueType="num">
                                      <p:cBhvr additive="base">
                                        <p:cTn id="44" dur="500" fill="hold"/>
                                        <p:tgtEl>
                                          <p:spTgt spid="231439"/>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231440"/>
                                        </p:tgtEl>
                                        <p:attrNameLst>
                                          <p:attrName>style.visibility</p:attrName>
                                        </p:attrNameLst>
                                      </p:cBhvr>
                                      <p:to>
                                        <p:strVal val="visible"/>
                                      </p:to>
                                    </p:set>
                                    <p:anim calcmode="lin" valueType="num">
                                      <p:cBhvr additive="base">
                                        <p:cTn id="49" dur="500" fill="hold"/>
                                        <p:tgtEl>
                                          <p:spTgt spid="231440"/>
                                        </p:tgtEl>
                                        <p:attrNameLst>
                                          <p:attrName>ppt_x</p:attrName>
                                        </p:attrNameLst>
                                      </p:cBhvr>
                                      <p:tavLst>
                                        <p:tav tm="0">
                                          <p:val>
                                            <p:strVal val="#ppt_x"/>
                                          </p:val>
                                        </p:tav>
                                        <p:tav tm="100000">
                                          <p:val>
                                            <p:strVal val="#ppt_x"/>
                                          </p:val>
                                        </p:tav>
                                      </p:tavLst>
                                    </p:anim>
                                    <p:anim calcmode="lin" valueType="num">
                                      <p:cBhvr additive="base">
                                        <p:cTn id="50" dur="500" fill="hold"/>
                                        <p:tgtEl>
                                          <p:spTgt spid="231440"/>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31443"/>
                                        </p:tgtEl>
                                        <p:attrNameLst>
                                          <p:attrName>style.visibility</p:attrName>
                                        </p:attrNameLst>
                                      </p:cBhvr>
                                      <p:to>
                                        <p:strVal val="visible"/>
                                      </p:to>
                                    </p:set>
                                    <p:anim calcmode="lin" valueType="num">
                                      <p:cBhvr additive="base">
                                        <p:cTn id="55" dur="500" fill="hold"/>
                                        <p:tgtEl>
                                          <p:spTgt spid="231443"/>
                                        </p:tgtEl>
                                        <p:attrNameLst>
                                          <p:attrName>ppt_x</p:attrName>
                                        </p:attrNameLst>
                                      </p:cBhvr>
                                      <p:tavLst>
                                        <p:tav tm="0">
                                          <p:val>
                                            <p:strVal val="#ppt_x"/>
                                          </p:val>
                                        </p:tav>
                                        <p:tav tm="100000">
                                          <p:val>
                                            <p:strVal val="#ppt_x"/>
                                          </p:val>
                                        </p:tav>
                                      </p:tavLst>
                                    </p:anim>
                                    <p:anim calcmode="lin" valueType="num">
                                      <p:cBhvr additive="base">
                                        <p:cTn id="56" dur="500" fill="hold"/>
                                        <p:tgtEl>
                                          <p:spTgt spid="231443"/>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231444"/>
                                        </p:tgtEl>
                                        <p:attrNameLst>
                                          <p:attrName>style.visibility</p:attrName>
                                        </p:attrNameLst>
                                      </p:cBhvr>
                                      <p:to>
                                        <p:strVal val="visible"/>
                                      </p:to>
                                    </p:set>
                                    <p:anim calcmode="lin" valueType="num">
                                      <p:cBhvr additive="base">
                                        <p:cTn id="61" dur="500" fill="hold"/>
                                        <p:tgtEl>
                                          <p:spTgt spid="231444"/>
                                        </p:tgtEl>
                                        <p:attrNameLst>
                                          <p:attrName>ppt_x</p:attrName>
                                        </p:attrNameLst>
                                      </p:cBhvr>
                                      <p:tavLst>
                                        <p:tav tm="0">
                                          <p:val>
                                            <p:strVal val="#ppt_x"/>
                                          </p:val>
                                        </p:tav>
                                        <p:tav tm="100000">
                                          <p:val>
                                            <p:strVal val="#ppt_x"/>
                                          </p:val>
                                        </p:tav>
                                      </p:tavLst>
                                    </p:anim>
                                    <p:anim calcmode="lin" valueType="num">
                                      <p:cBhvr additive="base">
                                        <p:cTn id="62" dur="500" fill="hold"/>
                                        <p:tgtEl>
                                          <p:spTgt spid="231444"/>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nodeType="clickEffect">
                                  <p:stCondLst>
                                    <p:cond delay="0"/>
                                  </p:stCondLst>
                                  <p:childTnLst>
                                    <p:set>
                                      <p:cBhvr>
                                        <p:cTn id="66" dur="1" fill="hold">
                                          <p:stCondLst>
                                            <p:cond delay="0"/>
                                          </p:stCondLst>
                                        </p:cTn>
                                        <p:tgtEl>
                                          <p:spTgt spid="231449"/>
                                        </p:tgtEl>
                                        <p:attrNameLst>
                                          <p:attrName>style.visibility</p:attrName>
                                        </p:attrNameLst>
                                      </p:cBhvr>
                                      <p:to>
                                        <p:strVal val="visible"/>
                                      </p:to>
                                    </p:set>
                                    <p:animEffect transition="in" filter="fade">
                                      <p:cBhvr>
                                        <p:cTn id="67" dur="2000"/>
                                        <p:tgtEl>
                                          <p:spTgt spid="23144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231450"/>
                                        </p:tgtEl>
                                        <p:attrNameLst>
                                          <p:attrName>style.visibility</p:attrName>
                                        </p:attrNameLst>
                                      </p:cBhvr>
                                      <p:to>
                                        <p:strVal val="visible"/>
                                      </p:to>
                                    </p:set>
                                    <p:anim calcmode="lin" valueType="num">
                                      <p:cBhvr additive="base">
                                        <p:cTn id="72" dur="500" fill="hold"/>
                                        <p:tgtEl>
                                          <p:spTgt spid="231450"/>
                                        </p:tgtEl>
                                        <p:attrNameLst>
                                          <p:attrName>ppt_x</p:attrName>
                                        </p:attrNameLst>
                                      </p:cBhvr>
                                      <p:tavLst>
                                        <p:tav tm="0">
                                          <p:val>
                                            <p:strVal val="#ppt_x"/>
                                          </p:val>
                                        </p:tav>
                                        <p:tav tm="100000">
                                          <p:val>
                                            <p:strVal val="#ppt_x"/>
                                          </p:val>
                                        </p:tav>
                                      </p:tavLst>
                                    </p:anim>
                                    <p:anim calcmode="lin" valueType="num">
                                      <p:cBhvr additive="base">
                                        <p:cTn id="73" dur="500" fill="hold"/>
                                        <p:tgtEl>
                                          <p:spTgt spid="231450"/>
                                        </p:tgtEl>
                                        <p:attrNameLst>
                                          <p:attrName>ppt_y</p:attrName>
                                        </p:attrNameLst>
                                      </p:cBhvr>
                                      <p:tavLst>
                                        <p:tav tm="0">
                                          <p:val>
                                            <p:strVal val="1+#ppt_h/2"/>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4" fill="hold" nodeType="clickEffect">
                                  <p:stCondLst>
                                    <p:cond delay="0"/>
                                  </p:stCondLst>
                                  <p:childTnLst>
                                    <p:set>
                                      <p:cBhvr>
                                        <p:cTn id="77" dur="1" fill="hold">
                                          <p:stCondLst>
                                            <p:cond delay="0"/>
                                          </p:stCondLst>
                                        </p:cTn>
                                        <p:tgtEl>
                                          <p:spTgt spid="231451"/>
                                        </p:tgtEl>
                                        <p:attrNameLst>
                                          <p:attrName>style.visibility</p:attrName>
                                        </p:attrNameLst>
                                      </p:cBhvr>
                                      <p:to>
                                        <p:strVal val="visible"/>
                                      </p:to>
                                    </p:set>
                                    <p:anim calcmode="lin" valueType="num">
                                      <p:cBhvr additive="base">
                                        <p:cTn id="78" dur="500" fill="hold"/>
                                        <p:tgtEl>
                                          <p:spTgt spid="231451"/>
                                        </p:tgtEl>
                                        <p:attrNameLst>
                                          <p:attrName>ppt_x</p:attrName>
                                        </p:attrNameLst>
                                      </p:cBhvr>
                                      <p:tavLst>
                                        <p:tav tm="0">
                                          <p:val>
                                            <p:strVal val="#ppt_x"/>
                                          </p:val>
                                        </p:tav>
                                        <p:tav tm="100000">
                                          <p:val>
                                            <p:strVal val="#ppt_x"/>
                                          </p:val>
                                        </p:tav>
                                      </p:tavLst>
                                    </p:anim>
                                    <p:anim calcmode="lin" valueType="num">
                                      <p:cBhvr additive="base">
                                        <p:cTn id="79" dur="500" fill="hold"/>
                                        <p:tgtEl>
                                          <p:spTgt spid="231451"/>
                                        </p:tgtEl>
                                        <p:attrNameLst>
                                          <p:attrName>ppt_y</p:attrName>
                                        </p:attrNameLst>
                                      </p:cBhvr>
                                      <p:tavLst>
                                        <p:tav tm="0">
                                          <p:val>
                                            <p:strVal val="1+#ppt_h/2"/>
                                          </p:val>
                                        </p:tav>
                                        <p:tav tm="100000">
                                          <p:val>
                                            <p:strVal val="#ppt_y"/>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231457"/>
                                        </p:tgtEl>
                                        <p:attrNameLst>
                                          <p:attrName>style.visibility</p:attrName>
                                        </p:attrNameLst>
                                      </p:cBhvr>
                                      <p:to>
                                        <p:strVal val="visible"/>
                                      </p:to>
                                    </p:set>
                                    <p:anim calcmode="lin" valueType="num">
                                      <p:cBhvr additive="base">
                                        <p:cTn id="84" dur="500" fill="hold"/>
                                        <p:tgtEl>
                                          <p:spTgt spid="231457"/>
                                        </p:tgtEl>
                                        <p:attrNameLst>
                                          <p:attrName>ppt_x</p:attrName>
                                        </p:attrNameLst>
                                      </p:cBhvr>
                                      <p:tavLst>
                                        <p:tav tm="0">
                                          <p:val>
                                            <p:strVal val="#ppt_x"/>
                                          </p:val>
                                        </p:tav>
                                        <p:tav tm="100000">
                                          <p:val>
                                            <p:strVal val="#ppt_x"/>
                                          </p:val>
                                        </p:tav>
                                      </p:tavLst>
                                    </p:anim>
                                    <p:anim calcmode="lin" valueType="num">
                                      <p:cBhvr additive="base">
                                        <p:cTn id="85" dur="500" fill="hold"/>
                                        <p:tgtEl>
                                          <p:spTgt spid="2314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3" grpId="0"/>
      <p:bldP spid="231438" grpId="0"/>
      <p:bldP spid="231443" grpId="0"/>
      <p:bldP spid="231450" grpId="0"/>
      <p:bldP spid="23145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5"/>
          <p:cNvSpPr>
            <a:spLocks noChangeArrowheads="1"/>
          </p:cNvSpPr>
          <p:nvPr/>
        </p:nvSpPr>
        <p:spPr bwMode="auto">
          <a:xfrm>
            <a:off x="250825" y="2997200"/>
            <a:ext cx="88931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作为插值型求积公式它至少具有</a:t>
            </a:r>
            <a:r>
              <a:rPr lang="en-US" altLang="zh-CN" sz="3200" b="1" i="1"/>
              <a:t>n</a:t>
            </a:r>
            <a:r>
              <a:rPr lang="zh-CN" altLang="en-US" sz="3200" b="1"/>
              <a:t>次代数精确度 </a:t>
            </a:r>
          </a:p>
        </p:txBody>
      </p:sp>
      <p:pic>
        <p:nvPicPr>
          <p:cNvPr id="7885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3789363"/>
            <a:ext cx="7200900" cy="141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8852" name="Object 8"/>
          <p:cNvGraphicFramePr>
            <a:graphicFrameLocks noChangeAspect="1"/>
          </p:cNvGraphicFramePr>
          <p:nvPr/>
        </p:nvGraphicFramePr>
        <p:xfrm>
          <a:off x="1835150" y="1168400"/>
          <a:ext cx="4465638" cy="1323975"/>
        </p:xfrm>
        <a:graphic>
          <a:graphicData uri="http://schemas.openxmlformats.org/presentationml/2006/ole">
            <mc:AlternateContent xmlns:mc="http://schemas.openxmlformats.org/markup-compatibility/2006">
              <mc:Choice xmlns:v="urn:schemas-microsoft-com:vml" Requires="v">
                <p:oleObj spid="_x0000_s78877" name="公式" r:id="rId4" imgW="1409616" imgH="396168" progId="Equation.3">
                  <p:embed/>
                </p:oleObj>
              </mc:Choice>
              <mc:Fallback>
                <p:oleObj name="公式" r:id="rId4" imgW="1409616" imgH="396168"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150" y="1168400"/>
                        <a:ext cx="446563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53" name="Rectangle 9"/>
          <p:cNvSpPr>
            <a:spLocks noChangeArrowheads="1"/>
          </p:cNvSpPr>
          <p:nvPr/>
        </p:nvSpPr>
        <p:spPr bwMode="auto">
          <a:xfrm>
            <a:off x="684213" y="476250"/>
            <a:ext cx="1816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可以证明</a:t>
            </a:r>
          </a:p>
        </p:txBody>
      </p:sp>
      <p:sp>
        <p:nvSpPr>
          <p:cNvPr id="78854" name="Rectangle 10"/>
          <p:cNvSpPr>
            <a:spLocks noChangeArrowheads="1"/>
          </p:cNvSpPr>
          <p:nvPr/>
        </p:nvSpPr>
        <p:spPr bwMode="auto">
          <a:xfrm>
            <a:off x="684213" y="5661025"/>
            <a:ext cx="532765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zh-CN" altLang="en-US" sz="3200" b="1"/>
              <a:t>其最大可能的代数精确度是</a:t>
            </a:r>
            <a:r>
              <a:rPr lang="en-US" altLang="zh-CN" sz="3200" b="1"/>
              <a:t>?</a:t>
            </a:r>
          </a:p>
        </p:txBody>
      </p:sp>
    </p:spTree>
  </p:cSld>
  <p:clrMapOvr>
    <a:masterClrMapping/>
  </p:clrMapOvr>
  <p:transition spd="slow">
    <p:push dir="u"/>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250825" y="476250"/>
            <a:ext cx="8713788" cy="1396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zh-CN" altLang="en-US" sz="3200" b="1" dirty="0">
                <a:latin typeface="楷体_GB2312" pitchFamily="49" charset="-122"/>
                <a:ea typeface="楷体_GB2312" pitchFamily="49" charset="-122"/>
              </a:rPr>
              <a:t>可以证明</a:t>
            </a:r>
            <a:r>
              <a:rPr lang="en-US" altLang="zh-CN" sz="3200" b="1" dirty="0">
                <a:latin typeface="楷体_GB2312" pitchFamily="49" charset="-122"/>
                <a:ea typeface="楷体_GB2312" pitchFamily="49" charset="-122"/>
              </a:rPr>
              <a:t>: </a:t>
            </a:r>
            <a:r>
              <a:rPr lang="zh-CN" altLang="en-US" sz="3200" b="1" dirty="0">
                <a:latin typeface="楷体_GB2312" pitchFamily="49" charset="-122"/>
                <a:ea typeface="楷体_GB2312" pitchFamily="49" charset="-122"/>
              </a:rPr>
              <a:t>对于</a:t>
            </a:r>
            <a:r>
              <a:rPr lang="en-US" altLang="zh-CN" sz="3200" b="1" i="1" dirty="0">
                <a:latin typeface="Times New Roman" pitchFamily="18" charset="0"/>
                <a:ea typeface="楷体_GB2312" pitchFamily="49" charset="-122"/>
              </a:rPr>
              <a:t>n+</a:t>
            </a:r>
            <a:r>
              <a:rPr lang="en-US" altLang="zh-CN" sz="3200" b="1" dirty="0">
                <a:latin typeface="Times New Roman" pitchFamily="18" charset="0"/>
                <a:ea typeface="楷体_GB2312" pitchFamily="49" charset="-122"/>
              </a:rPr>
              <a:t>1</a:t>
            </a:r>
            <a:r>
              <a:rPr lang="zh-CN" altLang="en-US" sz="3200" b="1" dirty="0">
                <a:latin typeface="楷体_GB2312" pitchFamily="49" charset="-122"/>
                <a:ea typeface="楷体_GB2312" pitchFamily="49" charset="-122"/>
              </a:rPr>
              <a:t>个节点的求积公式，其最大可能的代数精确度是</a:t>
            </a:r>
            <a:r>
              <a:rPr lang="en-US" altLang="zh-CN" sz="3200" b="1" dirty="0">
                <a:latin typeface="Times New Roman" pitchFamily="18" charset="0"/>
                <a:ea typeface="楷体_GB2312" pitchFamily="49" charset="-122"/>
              </a:rPr>
              <a:t>2</a:t>
            </a:r>
            <a:r>
              <a:rPr lang="en-US" altLang="zh-CN" sz="3200" b="1" i="1" dirty="0">
                <a:latin typeface="Times New Roman" pitchFamily="18" charset="0"/>
                <a:ea typeface="楷体_GB2312" pitchFamily="49" charset="-122"/>
              </a:rPr>
              <a:t>n</a:t>
            </a:r>
            <a:r>
              <a:rPr lang="en-US" altLang="zh-CN" sz="3200" b="1" dirty="0">
                <a:latin typeface="Times New Roman" pitchFamily="18" charset="0"/>
                <a:ea typeface="楷体_GB2312" pitchFamily="49" charset="-122"/>
              </a:rPr>
              <a:t> + 1</a:t>
            </a:r>
            <a:r>
              <a:rPr lang="zh-CN" altLang="en-US" sz="3200" b="1" dirty="0">
                <a:latin typeface="楷体_GB2312" pitchFamily="49" charset="-122"/>
                <a:ea typeface="楷体_GB2312" pitchFamily="49" charset="-122"/>
              </a:rPr>
              <a:t>次。</a:t>
            </a:r>
          </a:p>
        </p:txBody>
      </p:sp>
      <p:sp>
        <p:nvSpPr>
          <p:cNvPr id="80899" name="Text Box 4"/>
          <p:cNvSpPr txBox="1">
            <a:spLocks noChangeArrowheads="1"/>
          </p:cNvSpPr>
          <p:nvPr/>
        </p:nvSpPr>
        <p:spPr bwMode="auto">
          <a:xfrm>
            <a:off x="179388" y="2205038"/>
            <a:ext cx="8713787"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zh-CN" altLang="en-US" sz="3200" b="1" dirty="0">
                <a:latin typeface="楷体_GB2312" pitchFamily="49" charset="-122"/>
                <a:ea typeface="楷体_GB2312" pitchFamily="49" charset="-122"/>
              </a:rPr>
              <a:t>对于</a:t>
            </a:r>
            <a:r>
              <a:rPr lang="en-US" altLang="zh-CN" sz="3200" b="1" i="1" dirty="0">
                <a:latin typeface="Times New Roman" pitchFamily="18" charset="0"/>
                <a:ea typeface="楷体_GB2312" pitchFamily="49" charset="-122"/>
              </a:rPr>
              <a:t>2 </a:t>
            </a:r>
            <a:r>
              <a:rPr lang="zh-CN" altLang="en-US" sz="3200" b="1" dirty="0">
                <a:latin typeface="楷体_GB2312" pitchFamily="49" charset="-122"/>
                <a:ea typeface="楷体_GB2312" pitchFamily="49" charset="-122"/>
              </a:rPr>
              <a:t>个节点的求积公式，其最大可能</a:t>
            </a:r>
            <a:r>
              <a:rPr kumimoji="1" lang="zh-CN" altLang="en-US" sz="3200" b="1" dirty="0">
                <a:latin typeface="楷体_GB2312" pitchFamily="49" charset="-122"/>
                <a:ea typeface="楷体_GB2312" pitchFamily="49" charset="-122"/>
              </a:rPr>
              <a:t>的代数精确度是</a:t>
            </a:r>
            <a:r>
              <a:rPr kumimoji="1" lang="en-US" altLang="zh-CN" sz="3200" b="1" dirty="0">
                <a:latin typeface="楷体_GB2312" pitchFamily="49" charset="-122"/>
                <a:ea typeface="楷体_GB2312" pitchFamily="49" charset="-122"/>
              </a:rPr>
              <a:t>3</a:t>
            </a:r>
            <a:r>
              <a:rPr kumimoji="1" lang="zh-CN" altLang="en-US" sz="3200" b="1" dirty="0">
                <a:latin typeface="楷体_GB2312" pitchFamily="49" charset="-122"/>
                <a:ea typeface="楷体_GB2312" pitchFamily="49" charset="-122"/>
              </a:rPr>
              <a:t>次</a:t>
            </a:r>
            <a:r>
              <a:rPr lang="zh-CN" altLang="en-US" sz="3200" b="1" dirty="0">
                <a:latin typeface="楷体_GB2312" pitchFamily="49" charset="-122"/>
                <a:ea typeface="楷体_GB2312" pitchFamily="49" charset="-122"/>
              </a:rPr>
              <a:t>。</a:t>
            </a:r>
          </a:p>
        </p:txBody>
      </p:sp>
      <p:graphicFrame>
        <p:nvGraphicFramePr>
          <p:cNvPr id="238597" name="Object 5"/>
          <p:cNvGraphicFramePr>
            <a:graphicFrameLocks noChangeAspect="1"/>
          </p:cNvGraphicFramePr>
          <p:nvPr/>
        </p:nvGraphicFramePr>
        <p:xfrm>
          <a:off x="1116013" y="3716338"/>
          <a:ext cx="6624637" cy="1089025"/>
        </p:xfrm>
        <a:graphic>
          <a:graphicData uri="http://schemas.openxmlformats.org/presentationml/2006/ole">
            <mc:AlternateContent xmlns:mc="http://schemas.openxmlformats.org/markup-compatibility/2006">
              <mc:Choice xmlns:v="urn:schemas-microsoft-com:vml" Requires="v">
                <p:oleObj spid="_x0000_s80924" name="Equation" r:id="rId3" imgW="1996488" imgH="289632" progId="Equation.3">
                  <p:embed/>
                </p:oleObj>
              </mc:Choice>
              <mc:Fallback>
                <p:oleObj name="Equation" r:id="rId3" imgW="1996488" imgH="289632"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716338"/>
                        <a:ext cx="6624637"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8598" name="Text Box 6"/>
          <p:cNvSpPr txBox="1">
            <a:spLocks noChangeArrowheads="1"/>
          </p:cNvSpPr>
          <p:nvPr/>
        </p:nvSpPr>
        <p:spPr bwMode="auto">
          <a:xfrm>
            <a:off x="395288" y="5013325"/>
            <a:ext cx="8497887"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kumimoji="1" lang="zh-CN" altLang="en-US" sz="3200" b="1">
                <a:latin typeface="楷体_GB2312" pitchFamily="49" charset="-122"/>
                <a:ea typeface="楷体_GB2312" pitchFamily="49" charset="-122"/>
              </a:rPr>
              <a:t>若对求积公式中的四个待定系数</a:t>
            </a:r>
            <a:r>
              <a:rPr kumimoji="1" lang="en-US" altLang="zh-CN" sz="3200" b="1" i="1">
                <a:latin typeface="Times New Roman" pitchFamily="18" charset="0"/>
                <a:ea typeface="楷体_GB2312" pitchFamily="49" charset="-122"/>
              </a:rPr>
              <a:t>A</a:t>
            </a:r>
            <a:r>
              <a:rPr kumimoji="1" lang="en-US" altLang="zh-CN" sz="3200" b="1" baseline="-30000">
                <a:latin typeface="Times New Roman" pitchFamily="18" charset="0"/>
                <a:ea typeface="楷体_GB2312" pitchFamily="49" charset="-122"/>
              </a:rPr>
              <a:t>0</a:t>
            </a:r>
            <a:r>
              <a:rPr kumimoji="1" lang="en-US" altLang="zh-CN" sz="3200" b="1">
                <a:latin typeface="Times New Roman" pitchFamily="18" charset="0"/>
                <a:ea typeface="楷体_GB2312" pitchFamily="49" charset="-122"/>
              </a:rPr>
              <a:t>, </a:t>
            </a:r>
            <a:r>
              <a:rPr kumimoji="1" lang="en-US" altLang="zh-CN" sz="3200" b="1" i="1">
                <a:latin typeface="Times New Roman" pitchFamily="18" charset="0"/>
                <a:ea typeface="楷体_GB2312" pitchFamily="49" charset="-122"/>
              </a:rPr>
              <a:t>A</a:t>
            </a:r>
            <a:r>
              <a:rPr kumimoji="1" lang="en-US" altLang="zh-CN" sz="3200" b="1" baseline="-30000">
                <a:latin typeface="Times New Roman" pitchFamily="18" charset="0"/>
                <a:ea typeface="楷体_GB2312" pitchFamily="49" charset="-122"/>
              </a:rPr>
              <a:t>1</a:t>
            </a:r>
            <a:r>
              <a:rPr kumimoji="1" lang="en-US" altLang="zh-CN" sz="3200" b="1">
                <a:latin typeface="Times New Roman" pitchFamily="18" charset="0"/>
                <a:ea typeface="楷体_GB2312" pitchFamily="49" charset="-122"/>
              </a:rPr>
              <a:t>, </a:t>
            </a:r>
            <a:r>
              <a:rPr kumimoji="1" lang="en-US" altLang="zh-CN" sz="3200" b="1" i="1">
                <a:latin typeface="Times New Roman" pitchFamily="18" charset="0"/>
                <a:ea typeface="楷体_GB2312" pitchFamily="49" charset="-122"/>
              </a:rPr>
              <a:t>x</a:t>
            </a:r>
            <a:r>
              <a:rPr kumimoji="1" lang="en-US" altLang="zh-CN" sz="3200" b="1" baseline="-30000">
                <a:latin typeface="Times New Roman" pitchFamily="18" charset="0"/>
                <a:ea typeface="楷体_GB2312" pitchFamily="49" charset="-122"/>
              </a:rPr>
              <a:t>0</a:t>
            </a:r>
            <a:r>
              <a:rPr kumimoji="1" lang="en-US" altLang="zh-CN" sz="3200" b="1">
                <a:latin typeface="Times New Roman" pitchFamily="18" charset="0"/>
                <a:ea typeface="楷体_GB2312" pitchFamily="49" charset="-122"/>
              </a:rPr>
              <a:t>, </a:t>
            </a:r>
            <a:r>
              <a:rPr kumimoji="1" lang="en-US" altLang="zh-CN" sz="3200" b="1" i="1">
                <a:latin typeface="Times New Roman" pitchFamily="18" charset="0"/>
                <a:ea typeface="楷体_GB2312" pitchFamily="49" charset="-122"/>
              </a:rPr>
              <a:t>x</a:t>
            </a:r>
            <a:r>
              <a:rPr kumimoji="1" lang="en-US" altLang="zh-CN" sz="3200" b="1" baseline="-30000">
                <a:latin typeface="Times New Roman" pitchFamily="18" charset="0"/>
                <a:ea typeface="楷体_GB2312" pitchFamily="49" charset="-122"/>
              </a:rPr>
              <a:t>1</a:t>
            </a:r>
            <a:r>
              <a:rPr kumimoji="1" lang="zh-CN" altLang="en-US" sz="3200" b="1">
                <a:latin typeface="楷体_GB2312" pitchFamily="49" charset="-122"/>
                <a:ea typeface="楷体_GB2312" pitchFamily="49" charset="-122"/>
              </a:rPr>
              <a:t>适当选取，使求积公式的代数精确度是</a:t>
            </a:r>
            <a:r>
              <a:rPr kumimoji="1" lang="en-US" altLang="zh-CN" sz="3200" b="1">
                <a:latin typeface="楷体_GB2312" pitchFamily="49" charset="-122"/>
                <a:ea typeface="楷体_GB2312" pitchFamily="49" charset="-122"/>
              </a:rPr>
              <a:t>3</a:t>
            </a:r>
            <a:r>
              <a:rPr kumimoji="1" lang="zh-CN" altLang="en-US" sz="3200" b="1">
                <a:latin typeface="楷体_GB2312" pitchFamily="49" charset="-122"/>
                <a:ea typeface="楷体_GB2312" pitchFamily="49" charset="-122"/>
              </a:rPr>
              <a:t>次</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8597"/>
                                        </p:tgtEl>
                                        <p:attrNameLst>
                                          <p:attrName>style.visibility</p:attrName>
                                        </p:attrNameLst>
                                      </p:cBhvr>
                                      <p:to>
                                        <p:strVal val="visible"/>
                                      </p:to>
                                    </p:set>
                                    <p:anim calcmode="lin" valueType="num">
                                      <p:cBhvr additive="base">
                                        <p:cTn id="7" dur="500" fill="hold"/>
                                        <p:tgtEl>
                                          <p:spTgt spid="238597"/>
                                        </p:tgtEl>
                                        <p:attrNameLst>
                                          <p:attrName>ppt_x</p:attrName>
                                        </p:attrNameLst>
                                      </p:cBhvr>
                                      <p:tavLst>
                                        <p:tav tm="0">
                                          <p:val>
                                            <p:strVal val="#ppt_x"/>
                                          </p:val>
                                        </p:tav>
                                        <p:tav tm="100000">
                                          <p:val>
                                            <p:strVal val="#ppt_x"/>
                                          </p:val>
                                        </p:tav>
                                      </p:tavLst>
                                    </p:anim>
                                    <p:anim calcmode="lin" valueType="num">
                                      <p:cBhvr additive="base">
                                        <p:cTn id="8" dur="500" fill="hold"/>
                                        <p:tgtEl>
                                          <p:spTgt spid="238597"/>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38598"/>
                                        </p:tgtEl>
                                        <p:attrNameLst>
                                          <p:attrName>style.visibility</p:attrName>
                                        </p:attrNameLst>
                                      </p:cBhvr>
                                      <p:to>
                                        <p:strVal val="visible"/>
                                      </p:to>
                                    </p:set>
                                    <p:anim calcmode="lin" valueType="num">
                                      <p:cBhvr additive="base">
                                        <p:cTn id="12" dur="500" fill="hold"/>
                                        <p:tgtEl>
                                          <p:spTgt spid="238598"/>
                                        </p:tgtEl>
                                        <p:attrNameLst>
                                          <p:attrName>ppt_x</p:attrName>
                                        </p:attrNameLst>
                                      </p:cBhvr>
                                      <p:tavLst>
                                        <p:tav tm="0">
                                          <p:val>
                                            <p:strVal val="#ppt_x"/>
                                          </p:val>
                                        </p:tav>
                                        <p:tav tm="100000">
                                          <p:val>
                                            <p:strVal val="#ppt_x"/>
                                          </p:val>
                                        </p:tav>
                                      </p:tavLst>
                                    </p:anim>
                                    <p:anim calcmode="lin" valueType="num">
                                      <p:cBhvr additive="base">
                                        <p:cTn id="13" dur="500" fill="hold"/>
                                        <p:tgtEl>
                                          <p:spTgt spid="2385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328613" y="1557338"/>
            <a:ext cx="8815387"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kumimoji="1" lang="zh-CN" altLang="en-US" sz="2800" b="1">
                <a:latin typeface="楷体_GB2312" pitchFamily="49" charset="-122"/>
                <a:ea typeface="楷体_GB2312" pitchFamily="49" charset="-122"/>
              </a:rPr>
              <a:t>若对求积公式中的四个待定系数</a:t>
            </a:r>
            <a:r>
              <a:rPr kumimoji="1" lang="en-US" altLang="zh-CN" sz="2800" b="1" i="1">
                <a:latin typeface="Times New Roman" pitchFamily="18" charset="0"/>
                <a:ea typeface="楷体_GB2312" pitchFamily="49" charset="-122"/>
              </a:rPr>
              <a:t>A</a:t>
            </a:r>
            <a:r>
              <a:rPr kumimoji="1" lang="en-US" altLang="zh-CN" sz="2800" b="1" baseline="-30000">
                <a:latin typeface="Times New Roman" pitchFamily="18" charset="0"/>
                <a:ea typeface="楷体_GB2312" pitchFamily="49" charset="-122"/>
              </a:rPr>
              <a:t>0</a:t>
            </a:r>
            <a:r>
              <a:rPr kumimoji="1" lang="en-US" altLang="zh-CN" sz="2800" b="1">
                <a:latin typeface="Times New Roman" pitchFamily="18" charset="0"/>
                <a:ea typeface="楷体_GB2312" pitchFamily="49" charset="-122"/>
              </a:rPr>
              <a:t>, </a:t>
            </a:r>
            <a:r>
              <a:rPr kumimoji="1" lang="en-US" altLang="zh-CN" sz="2800" b="1" i="1">
                <a:latin typeface="Times New Roman" pitchFamily="18" charset="0"/>
                <a:ea typeface="楷体_GB2312" pitchFamily="49" charset="-122"/>
              </a:rPr>
              <a:t>A</a:t>
            </a:r>
            <a:r>
              <a:rPr kumimoji="1" lang="en-US" altLang="zh-CN" sz="2800" b="1" baseline="-30000">
                <a:latin typeface="Times New Roman" pitchFamily="18" charset="0"/>
                <a:ea typeface="楷体_GB2312" pitchFamily="49" charset="-122"/>
              </a:rPr>
              <a:t>1</a:t>
            </a:r>
            <a:r>
              <a:rPr kumimoji="1" lang="en-US" altLang="zh-CN" sz="2800" b="1">
                <a:latin typeface="Times New Roman" pitchFamily="18" charset="0"/>
                <a:ea typeface="楷体_GB2312" pitchFamily="49" charset="-122"/>
              </a:rPr>
              <a:t>, </a:t>
            </a:r>
            <a:r>
              <a:rPr kumimoji="1" lang="en-US" altLang="zh-CN" sz="2800" b="1" i="1">
                <a:latin typeface="Times New Roman" pitchFamily="18" charset="0"/>
                <a:ea typeface="楷体_GB2312" pitchFamily="49" charset="-122"/>
              </a:rPr>
              <a:t>x</a:t>
            </a:r>
            <a:r>
              <a:rPr kumimoji="1" lang="en-US" altLang="zh-CN" sz="2800" b="1" baseline="-30000">
                <a:latin typeface="Times New Roman" pitchFamily="18" charset="0"/>
                <a:ea typeface="楷体_GB2312" pitchFamily="49" charset="-122"/>
              </a:rPr>
              <a:t>0</a:t>
            </a:r>
            <a:r>
              <a:rPr kumimoji="1" lang="en-US" altLang="zh-CN" sz="2800" b="1">
                <a:latin typeface="Times New Roman" pitchFamily="18" charset="0"/>
                <a:ea typeface="楷体_GB2312" pitchFamily="49" charset="-122"/>
              </a:rPr>
              <a:t>, </a:t>
            </a:r>
            <a:r>
              <a:rPr kumimoji="1" lang="en-US" altLang="zh-CN" sz="2800" b="1" i="1">
                <a:latin typeface="Times New Roman" pitchFamily="18" charset="0"/>
                <a:ea typeface="楷体_GB2312" pitchFamily="49" charset="-122"/>
              </a:rPr>
              <a:t>x</a:t>
            </a:r>
            <a:r>
              <a:rPr kumimoji="1" lang="en-US" altLang="zh-CN" sz="2800" b="1" baseline="-30000">
                <a:latin typeface="Times New Roman" pitchFamily="18" charset="0"/>
                <a:ea typeface="楷体_GB2312" pitchFamily="49" charset="-122"/>
              </a:rPr>
              <a:t>1</a:t>
            </a:r>
            <a:r>
              <a:rPr kumimoji="1" lang="zh-CN" altLang="en-US" sz="2800" b="1">
                <a:latin typeface="楷体_GB2312" pitchFamily="49" charset="-122"/>
                <a:ea typeface="楷体_GB2312" pitchFamily="49" charset="-122"/>
              </a:rPr>
              <a:t>适当选取，</a:t>
            </a:r>
          </a:p>
        </p:txBody>
      </p:sp>
      <p:sp>
        <p:nvSpPr>
          <p:cNvPr id="81923" name="Text Box 3"/>
          <p:cNvSpPr txBox="1">
            <a:spLocks noChangeArrowheads="1"/>
          </p:cNvSpPr>
          <p:nvPr/>
        </p:nvSpPr>
        <p:spPr bwMode="auto">
          <a:xfrm>
            <a:off x="611188" y="3068638"/>
            <a:ext cx="2411412" cy="282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kumimoji="1" lang="zh-CN" altLang="en-US" sz="3200" b="1">
                <a:latin typeface="楷体_GB2312" pitchFamily="49" charset="-122"/>
                <a:ea typeface="楷体_GB2312" pitchFamily="49" charset="-122"/>
              </a:rPr>
              <a:t>使求积公式对</a:t>
            </a:r>
            <a:r>
              <a:rPr kumimoji="1" lang="en-US" altLang="zh-CN" sz="3200" b="1" i="1">
                <a:latin typeface="Times New Roman" pitchFamily="18" charset="0"/>
                <a:ea typeface="楷体_GB2312" pitchFamily="49" charset="-122"/>
              </a:rPr>
              <a:t>f</a:t>
            </a:r>
            <a:r>
              <a:rPr kumimoji="1" lang="en-US" altLang="zh-CN" sz="3200" b="1">
                <a:latin typeface="Times New Roman" pitchFamily="18" charset="0"/>
                <a:ea typeface="楷体_GB2312" pitchFamily="49" charset="-122"/>
              </a:rPr>
              <a:t> (</a:t>
            </a:r>
            <a:r>
              <a:rPr kumimoji="1" lang="en-US" altLang="zh-CN" sz="3200" b="1" i="1">
                <a:latin typeface="Times New Roman" pitchFamily="18" charset="0"/>
                <a:ea typeface="楷体_GB2312" pitchFamily="49" charset="-122"/>
              </a:rPr>
              <a:t>x</a:t>
            </a:r>
            <a:r>
              <a:rPr kumimoji="1" lang="en-US" altLang="zh-CN" sz="3200" b="1">
                <a:latin typeface="Times New Roman" pitchFamily="18" charset="0"/>
                <a:ea typeface="楷体_GB2312" pitchFamily="49" charset="-122"/>
              </a:rPr>
              <a:t>) = 1</a:t>
            </a:r>
            <a:r>
              <a:rPr kumimoji="1" lang="zh-CN" altLang="en-US" sz="3200" b="1">
                <a:latin typeface="Times New Roman" pitchFamily="18" charset="0"/>
                <a:ea typeface="楷体_GB2312" pitchFamily="49" charset="-122"/>
              </a:rPr>
              <a:t>，</a:t>
            </a:r>
            <a:r>
              <a:rPr kumimoji="1" lang="en-US" altLang="zh-CN" sz="3200" b="1" i="1">
                <a:latin typeface="Times New Roman" pitchFamily="18" charset="0"/>
                <a:ea typeface="楷体_GB2312" pitchFamily="49" charset="-122"/>
              </a:rPr>
              <a:t>x</a:t>
            </a:r>
            <a:r>
              <a:rPr kumimoji="1" lang="zh-CN" altLang="en-US" sz="3200" b="1">
                <a:latin typeface="Times New Roman" pitchFamily="18" charset="0"/>
                <a:ea typeface="楷体_GB2312" pitchFamily="49" charset="-122"/>
              </a:rPr>
              <a:t>，</a:t>
            </a:r>
            <a:r>
              <a:rPr kumimoji="1" lang="en-US" altLang="zh-CN" sz="3200" b="1" i="1">
                <a:latin typeface="Times New Roman" pitchFamily="18" charset="0"/>
                <a:ea typeface="楷体_GB2312" pitchFamily="49" charset="-122"/>
              </a:rPr>
              <a:t>x</a:t>
            </a:r>
            <a:r>
              <a:rPr kumimoji="1" lang="en-US" altLang="zh-CN" sz="3200" b="1" baseline="30000">
                <a:latin typeface="Times New Roman" pitchFamily="18" charset="0"/>
                <a:ea typeface="楷体_GB2312" pitchFamily="49" charset="-122"/>
              </a:rPr>
              <a:t>2</a:t>
            </a:r>
            <a:r>
              <a:rPr kumimoji="1" lang="zh-CN" altLang="en-US" sz="3200" b="1">
                <a:latin typeface="Times New Roman" pitchFamily="18" charset="0"/>
                <a:ea typeface="楷体_GB2312" pitchFamily="49" charset="-122"/>
              </a:rPr>
              <a:t>，</a:t>
            </a:r>
            <a:r>
              <a:rPr kumimoji="1" lang="en-US" altLang="zh-CN" sz="3200" b="1" i="1">
                <a:latin typeface="Times New Roman" pitchFamily="18" charset="0"/>
                <a:ea typeface="楷体_GB2312" pitchFamily="49" charset="-122"/>
              </a:rPr>
              <a:t>x</a:t>
            </a:r>
            <a:r>
              <a:rPr kumimoji="1" lang="en-US" altLang="zh-CN" sz="3200" b="1" baseline="30000">
                <a:latin typeface="Times New Roman" pitchFamily="18" charset="0"/>
                <a:ea typeface="楷体_GB2312" pitchFamily="49" charset="-122"/>
              </a:rPr>
              <a:t>3</a:t>
            </a:r>
            <a:r>
              <a:rPr kumimoji="1" lang="zh-CN" altLang="en-US" sz="3200" b="1">
                <a:latin typeface="楷体_GB2312" pitchFamily="49" charset="-122"/>
                <a:ea typeface="楷体_GB2312" pitchFamily="49" charset="-122"/>
              </a:rPr>
              <a:t>都准确成立</a:t>
            </a:r>
            <a:endParaRPr kumimoji="1" lang="zh-CN" altLang="en-US" sz="3200">
              <a:latin typeface="Times New Roman" pitchFamily="18" charset="0"/>
            </a:endParaRPr>
          </a:p>
        </p:txBody>
      </p:sp>
      <p:graphicFrame>
        <p:nvGraphicFramePr>
          <p:cNvPr id="165910" name="Object 22"/>
          <p:cNvGraphicFramePr>
            <a:graphicFrameLocks noChangeAspect="1"/>
          </p:cNvGraphicFramePr>
          <p:nvPr/>
        </p:nvGraphicFramePr>
        <p:xfrm>
          <a:off x="3995738" y="2924175"/>
          <a:ext cx="4141787" cy="3744913"/>
        </p:xfrm>
        <a:graphic>
          <a:graphicData uri="http://schemas.openxmlformats.org/presentationml/2006/ole">
            <mc:AlternateContent xmlns:mc="http://schemas.openxmlformats.org/markup-compatibility/2006">
              <mc:Choice xmlns:v="urn:schemas-microsoft-com:vml" Requires="v">
                <p:oleObj spid="_x0000_s81970" name="公式" r:id="rId3" imgW="1130300" imgH="1143000" progId="Equation.3">
                  <p:embed/>
                </p:oleObj>
              </mc:Choice>
              <mc:Fallback>
                <p:oleObj name="公式" r:id="rId3" imgW="1130300" imgH="1143000" progId="Equation.3">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2924175"/>
                        <a:ext cx="4141787"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25" name="Object 23"/>
          <p:cNvGraphicFramePr>
            <a:graphicFrameLocks noChangeAspect="1"/>
          </p:cNvGraphicFramePr>
          <p:nvPr/>
        </p:nvGraphicFramePr>
        <p:xfrm>
          <a:off x="1835150" y="333375"/>
          <a:ext cx="4897438" cy="804863"/>
        </p:xfrm>
        <a:graphic>
          <a:graphicData uri="http://schemas.openxmlformats.org/presentationml/2006/ole">
            <mc:AlternateContent xmlns:mc="http://schemas.openxmlformats.org/markup-compatibility/2006">
              <mc:Choice xmlns:v="urn:schemas-microsoft-com:vml" Requires="v">
                <p:oleObj spid="_x0000_s81971" name="Equation" r:id="rId5" imgW="1996488" imgH="289632" progId="Equation.3">
                  <p:embed/>
                </p:oleObj>
              </mc:Choice>
              <mc:Fallback>
                <p:oleObj name="Equation" r:id="rId5" imgW="1996488" imgH="289632" progId="Equation.3">
                  <p:embed/>
                  <p:pic>
                    <p:nvPicPr>
                      <p:cNvPr id="0"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150" y="333375"/>
                        <a:ext cx="4897438"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5910"/>
                                        </p:tgtEl>
                                        <p:attrNameLst>
                                          <p:attrName>style.visibility</p:attrName>
                                        </p:attrNameLst>
                                      </p:cBhvr>
                                      <p:to>
                                        <p:strVal val="visible"/>
                                      </p:to>
                                    </p:set>
                                    <p:anim calcmode="lin" valueType="num">
                                      <p:cBhvr additive="base">
                                        <p:cTn id="7" dur="500" fill="hold"/>
                                        <p:tgtEl>
                                          <p:spTgt spid="165910"/>
                                        </p:tgtEl>
                                        <p:attrNameLst>
                                          <p:attrName>ppt_x</p:attrName>
                                        </p:attrNameLst>
                                      </p:cBhvr>
                                      <p:tavLst>
                                        <p:tav tm="0">
                                          <p:val>
                                            <p:strVal val="#ppt_x"/>
                                          </p:val>
                                        </p:tav>
                                        <p:tav tm="100000">
                                          <p:val>
                                            <p:strVal val="#ppt_x"/>
                                          </p:val>
                                        </p:tav>
                                      </p:tavLst>
                                    </p:anim>
                                    <p:anim calcmode="lin" valueType="num">
                                      <p:cBhvr additive="base">
                                        <p:cTn id="8" dur="500" fill="hold"/>
                                        <p:tgtEl>
                                          <p:spTgt spid="1659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5"/>
          <p:cNvSpPr>
            <a:spLocks noChangeArrowheads="1"/>
          </p:cNvSpPr>
          <p:nvPr/>
        </p:nvSpPr>
        <p:spPr bwMode="auto">
          <a:xfrm>
            <a:off x="0" y="2857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82947" name="Object 4"/>
          <p:cNvGraphicFramePr>
            <a:graphicFrameLocks noChangeAspect="1"/>
          </p:cNvGraphicFramePr>
          <p:nvPr/>
        </p:nvGraphicFramePr>
        <p:xfrm>
          <a:off x="34925" y="188913"/>
          <a:ext cx="4068763" cy="3887787"/>
        </p:xfrm>
        <a:graphic>
          <a:graphicData uri="http://schemas.openxmlformats.org/presentationml/2006/ole">
            <mc:AlternateContent xmlns:mc="http://schemas.openxmlformats.org/markup-compatibility/2006">
              <mc:Choice xmlns:v="urn:schemas-microsoft-com:vml" Requires="v">
                <p:oleObj spid="_x0000_s83069" name="公式" r:id="rId3" imgW="1130300" imgH="1143000" progId="Equation.3">
                  <p:embed/>
                </p:oleObj>
              </mc:Choice>
              <mc:Fallback>
                <p:oleObj name="公式" r:id="rId3" imgW="1130300" imgH="1143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 y="188913"/>
                        <a:ext cx="4068763" cy="388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948" name="Rectangle 7"/>
          <p:cNvSpPr>
            <a:spLocks noChangeArrowheads="1"/>
          </p:cNvSpPr>
          <p:nvPr/>
        </p:nvSpPr>
        <p:spPr bwMode="auto">
          <a:xfrm>
            <a:off x="4500563" y="549275"/>
            <a:ext cx="292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latin typeface="Times New Roman" pitchFamily="18" charset="0"/>
                <a:cs typeface="Times New Roman" pitchFamily="18" charset="0"/>
              </a:rPr>
              <a:t>求解得		</a:t>
            </a:r>
            <a:endParaRPr lang="zh-CN" altLang="en-US" sz="3200"/>
          </a:p>
        </p:txBody>
      </p:sp>
      <p:graphicFrame>
        <p:nvGraphicFramePr>
          <p:cNvPr id="82949" name="Object 6"/>
          <p:cNvGraphicFramePr>
            <a:graphicFrameLocks noChangeAspect="1"/>
          </p:cNvGraphicFramePr>
          <p:nvPr/>
        </p:nvGraphicFramePr>
        <p:xfrm>
          <a:off x="6372225" y="476250"/>
          <a:ext cx="2160588" cy="701675"/>
        </p:xfrm>
        <a:graphic>
          <a:graphicData uri="http://schemas.openxmlformats.org/presentationml/2006/ole">
            <mc:AlternateContent xmlns:mc="http://schemas.openxmlformats.org/markup-compatibility/2006">
              <mc:Choice xmlns:v="urn:schemas-microsoft-com:vml" Requires="v">
                <p:oleObj spid="_x0000_s83070" name="公式" r:id="rId5" imgW="698500" imgH="228600" progId="Equation.3">
                  <p:embed/>
                </p:oleObj>
              </mc:Choice>
              <mc:Fallback>
                <p:oleObj name="公式" r:id="rId5" imgW="69850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2225" y="476250"/>
                        <a:ext cx="21605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6920" name="Object 8"/>
          <p:cNvGraphicFramePr>
            <a:graphicFrameLocks noChangeAspect="1"/>
          </p:cNvGraphicFramePr>
          <p:nvPr/>
        </p:nvGraphicFramePr>
        <p:xfrm>
          <a:off x="827088" y="5668963"/>
          <a:ext cx="4752975" cy="1189037"/>
        </p:xfrm>
        <a:graphic>
          <a:graphicData uri="http://schemas.openxmlformats.org/presentationml/2006/ole">
            <mc:AlternateContent xmlns:mc="http://schemas.openxmlformats.org/markup-compatibility/2006">
              <mc:Choice xmlns:v="urn:schemas-microsoft-com:vml" Requires="v">
                <p:oleObj spid="_x0000_s83071" name="公式" r:id="rId7" imgW="2019300" imgH="508000" progId="Equation.3">
                  <p:embed/>
                </p:oleObj>
              </mc:Choice>
              <mc:Fallback>
                <p:oleObj name="公式" r:id="rId7" imgW="2019300" imgH="5080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5668963"/>
                        <a:ext cx="4752975"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6922" name="Object 10"/>
          <p:cNvGraphicFramePr>
            <a:graphicFrameLocks noChangeAspect="1"/>
          </p:cNvGraphicFramePr>
          <p:nvPr/>
        </p:nvGraphicFramePr>
        <p:xfrm>
          <a:off x="900113" y="4508500"/>
          <a:ext cx="5184775" cy="915988"/>
        </p:xfrm>
        <a:graphic>
          <a:graphicData uri="http://schemas.openxmlformats.org/presentationml/2006/ole">
            <mc:AlternateContent xmlns:mc="http://schemas.openxmlformats.org/markup-compatibility/2006">
              <mc:Choice xmlns:v="urn:schemas-microsoft-com:vml" Requires="v">
                <p:oleObj spid="_x0000_s83072" name="公式" r:id="rId9" imgW="1851768" imgH="289632" progId="Equation.3">
                  <p:embed/>
                </p:oleObj>
              </mc:Choice>
              <mc:Fallback>
                <p:oleObj name="公式" r:id="rId9" imgW="1851768" imgH="289632"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4508500"/>
                        <a:ext cx="518477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952" name="Object 11"/>
          <p:cNvGraphicFramePr>
            <a:graphicFrameLocks noChangeAspect="1"/>
          </p:cNvGraphicFramePr>
          <p:nvPr/>
        </p:nvGraphicFramePr>
        <p:xfrm>
          <a:off x="5867400" y="1341438"/>
          <a:ext cx="2089150" cy="2184400"/>
        </p:xfrm>
        <a:graphic>
          <a:graphicData uri="http://schemas.openxmlformats.org/presentationml/2006/ole">
            <mc:AlternateContent xmlns:mc="http://schemas.openxmlformats.org/markup-compatibility/2006">
              <mc:Choice xmlns:v="urn:schemas-microsoft-com:vml" Requires="v">
                <p:oleObj spid="_x0000_s83073" name="公式" r:id="rId11" imgW="647419" imgH="863225" progId="Equation.3">
                  <p:embed/>
                </p:oleObj>
              </mc:Choice>
              <mc:Fallback>
                <p:oleObj name="公式" r:id="rId11" imgW="647419" imgH="863225"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7400" y="1341438"/>
                        <a:ext cx="208915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6924"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84663" y="3789363"/>
            <a:ext cx="4535487"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6922"/>
                                        </p:tgtEl>
                                        <p:attrNameLst>
                                          <p:attrName>style.visibility</p:attrName>
                                        </p:attrNameLst>
                                      </p:cBhvr>
                                      <p:to>
                                        <p:strVal val="visible"/>
                                      </p:to>
                                    </p:set>
                                    <p:animEffect transition="in" filter="dissolve">
                                      <p:cBhvr>
                                        <p:cTn id="7" dur="500"/>
                                        <p:tgtEl>
                                          <p:spTgt spid="1669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66920"/>
                                        </p:tgtEl>
                                        <p:attrNameLst>
                                          <p:attrName>style.visibility</p:attrName>
                                        </p:attrNameLst>
                                      </p:cBhvr>
                                      <p:to>
                                        <p:strVal val="visible"/>
                                      </p:to>
                                    </p:set>
                                    <p:anim calcmode="lin" valueType="num">
                                      <p:cBhvr additive="base">
                                        <p:cTn id="12" dur="500" fill="hold"/>
                                        <p:tgtEl>
                                          <p:spTgt spid="166920"/>
                                        </p:tgtEl>
                                        <p:attrNameLst>
                                          <p:attrName>ppt_x</p:attrName>
                                        </p:attrNameLst>
                                      </p:cBhvr>
                                      <p:tavLst>
                                        <p:tav tm="0">
                                          <p:val>
                                            <p:strVal val="#ppt_x"/>
                                          </p:val>
                                        </p:tav>
                                        <p:tav tm="100000">
                                          <p:val>
                                            <p:strVal val="#ppt_x"/>
                                          </p:val>
                                        </p:tav>
                                      </p:tavLst>
                                    </p:anim>
                                    <p:anim calcmode="lin" valueType="num">
                                      <p:cBhvr additive="base">
                                        <p:cTn id="13" dur="500" fill="hold"/>
                                        <p:tgtEl>
                                          <p:spTgt spid="166920"/>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66924"/>
                                        </p:tgtEl>
                                        <p:attrNameLst>
                                          <p:attrName>style.visibility</p:attrName>
                                        </p:attrNameLst>
                                      </p:cBhvr>
                                      <p:to>
                                        <p:strVal val="visible"/>
                                      </p:to>
                                    </p:set>
                                    <p:anim calcmode="lin" valueType="num">
                                      <p:cBhvr additive="base">
                                        <p:cTn id="18" dur="500" fill="hold"/>
                                        <p:tgtEl>
                                          <p:spTgt spid="166924"/>
                                        </p:tgtEl>
                                        <p:attrNameLst>
                                          <p:attrName>ppt_x</p:attrName>
                                        </p:attrNameLst>
                                      </p:cBhvr>
                                      <p:tavLst>
                                        <p:tav tm="0">
                                          <p:val>
                                            <p:strVal val="#ppt_x"/>
                                          </p:val>
                                        </p:tav>
                                        <p:tav tm="100000">
                                          <p:val>
                                            <p:strVal val="#ppt_x"/>
                                          </p:val>
                                        </p:tav>
                                      </p:tavLst>
                                    </p:anim>
                                    <p:anim calcmode="lin" valueType="num">
                                      <p:cBhvr additive="base">
                                        <p:cTn id="19" dur="500" fill="hold"/>
                                        <p:tgtEl>
                                          <p:spTgt spid="1669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4"/>
          <p:cNvSpPr>
            <a:spLocks noChangeArrowheads="1"/>
          </p:cNvSpPr>
          <p:nvPr/>
        </p:nvSpPr>
        <p:spPr bwMode="auto">
          <a:xfrm>
            <a:off x="179388" y="582613"/>
            <a:ext cx="8785225" cy="555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zh-CN" altLang="en-US" sz="3200" b="1" dirty="0">
                <a:latin typeface="楷体_GB2312" pitchFamily="49" charset="-122"/>
                <a:ea typeface="楷体_GB2312" pitchFamily="49" charset="-122"/>
              </a:rPr>
              <a:t>此例告诉我们，对两点求积公式，只要适当选取求积节点 </a:t>
            </a:r>
            <a:r>
              <a:rPr lang="en-US" altLang="zh-CN" sz="3200" b="1" i="1" dirty="0">
                <a:latin typeface="Times New Roman" pitchFamily="18" charset="0"/>
                <a:ea typeface="楷体_GB2312" pitchFamily="49" charset="-122"/>
              </a:rPr>
              <a:t>x</a:t>
            </a:r>
            <a:r>
              <a:rPr lang="en-US" altLang="zh-CN" sz="3200" b="1" i="1" baseline="-25000" dirty="0">
                <a:latin typeface="Times New Roman" pitchFamily="18" charset="0"/>
                <a:ea typeface="楷体_GB2312" pitchFamily="49" charset="-122"/>
              </a:rPr>
              <a:t>0</a:t>
            </a:r>
            <a:r>
              <a:rPr lang="en-US" altLang="zh-CN" sz="3200" b="1" i="1" dirty="0">
                <a:latin typeface="Times New Roman" pitchFamily="18" charset="0"/>
                <a:ea typeface="楷体_GB2312" pitchFamily="49" charset="-122"/>
              </a:rPr>
              <a:t>, x</a:t>
            </a:r>
            <a:r>
              <a:rPr lang="en-US" altLang="zh-CN" sz="3200" b="1" i="1" baseline="-25000" dirty="0">
                <a:latin typeface="Times New Roman" pitchFamily="18" charset="0"/>
                <a:ea typeface="楷体_GB2312" pitchFamily="49" charset="-122"/>
              </a:rPr>
              <a:t>1 </a:t>
            </a:r>
            <a:r>
              <a:rPr lang="zh-CN" altLang="en-US" sz="3200" b="1" dirty="0">
                <a:latin typeface="楷体_GB2312" pitchFamily="49" charset="-122"/>
                <a:ea typeface="楷体_GB2312" pitchFamily="49" charset="-122"/>
              </a:rPr>
              <a:t>和求积系数 </a:t>
            </a:r>
            <a:r>
              <a:rPr lang="en-US" altLang="zh-CN" sz="3200" b="1" i="1" dirty="0">
                <a:latin typeface="Times New Roman" pitchFamily="18" charset="0"/>
                <a:ea typeface="楷体_GB2312" pitchFamily="49" charset="-122"/>
              </a:rPr>
              <a:t>A</a:t>
            </a:r>
            <a:r>
              <a:rPr lang="en-US" altLang="zh-CN" sz="3200" b="1" i="1" baseline="-25000" dirty="0">
                <a:latin typeface="Times New Roman" pitchFamily="18" charset="0"/>
                <a:ea typeface="楷体_GB2312" pitchFamily="49" charset="-122"/>
              </a:rPr>
              <a:t>0</a:t>
            </a:r>
            <a:r>
              <a:rPr lang="en-US" altLang="zh-CN" sz="3200" b="1" i="1" dirty="0">
                <a:latin typeface="Times New Roman" pitchFamily="18" charset="0"/>
                <a:ea typeface="楷体_GB2312" pitchFamily="49" charset="-122"/>
              </a:rPr>
              <a:t>, A</a:t>
            </a:r>
            <a:r>
              <a:rPr lang="en-US" altLang="zh-CN" sz="3200" b="1" i="1" baseline="-25000" dirty="0">
                <a:latin typeface="Times New Roman" pitchFamily="18" charset="0"/>
                <a:ea typeface="楷体_GB2312" pitchFamily="49" charset="-122"/>
              </a:rPr>
              <a:t>1</a:t>
            </a:r>
            <a:r>
              <a:rPr lang="zh-CN" altLang="en-US" sz="3200" b="1" dirty="0">
                <a:latin typeface="楷体_GB2312" pitchFamily="49" charset="-122"/>
                <a:ea typeface="楷体_GB2312" pitchFamily="49" charset="-122"/>
              </a:rPr>
              <a:t>，可使其代数精确度达到三次。由此可见，求积公式的代数精确度不仅与积分节点数目有关，而且与这些这点的所在位置有关。适当调整这些点的分布和求积系数，能使求积公式达到最高的代数精确度。本节就是要讨论这种具有最高代数精确度的求积公式，它们也叫做高斯型求积公式。 </a:t>
            </a:r>
          </a:p>
        </p:txBody>
      </p:sp>
    </p:spTree>
  </p:cSld>
  <p:clrMapOvr>
    <a:masterClrMapping/>
  </p:clrMapOvr>
  <p:transition spd="slow">
    <p:push dir="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179388" y="260350"/>
            <a:ext cx="8713787"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zh-CN" altLang="en-US" sz="3200" b="1">
                <a:latin typeface="楷体_GB2312" pitchFamily="49" charset="-122"/>
                <a:ea typeface="楷体_GB2312" pitchFamily="49" charset="-122"/>
              </a:rPr>
              <a:t>可以证明</a:t>
            </a:r>
            <a:r>
              <a:rPr lang="en-US" altLang="zh-CN" sz="3200" b="1">
                <a:latin typeface="楷体_GB2312" pitchFamily="49" charset="-122"/>
                <a:ea typeface="楷体_GB2312" pitchFamily="49" charset="-122"/>
              </a:rPr>
              <a:t>:</a:t>
            </a:r>
            <a:r>
              <a:rPr lang="zh-CN" altLang="en-US" sz="3200" b="1">
                <a:latin typeface="楷体_GB2312" pitchFamily="49" charset="-122"/>
                <a:ea typeface="楷体_GB2312" pitchFamily="49" charset="-122"/>
              </a:rPr>
              <a:t>对于</a:t>
            </a:r>
            <a:r>
              <a:rPr lang="en-US" altLang="zh-CN" sz="3200" b="1" i="1">
                <a:latin typeface="Times New Roman" pitchFamily="18" charset="0"/>
                <a:ea typeface="楷体_GB2312" pitchFamily="49" charset="-122"/>
              </a:rPr>
              <a:t>n+</a:t>
            </a:r>
            <a:r>
              <a:rPr lang="en-US" altLang="zh-CN" sz="3200" b="1">
                <a:latin typeface="Times New Roman" pitchFamily="18" charset="0"/>
                <a:ea typeface="楷体_GB2312" pitchFamily="49" charset="-122"/>
              </a:rPr>
              <a:t>1</a:t>
            </a:r>
            <a:r>
              <a:rPr lang="zh-CN" altLang="en-US" sz="3200" b="1">
                <a:latin typeface="楷体_GB2312" pitchFamily="49" charset="-122"/>
                <a:ea typeface="楷体_GB2312" pitchFamily="49" charset="-122"/>
              </a:rPr>
              <a:t>个节点的求积公式，其最大可能的代数精确度是</a:t>
            </a:r>
            <a:r>
              <a:rPr lang="en-US" altLang="zh-CN" sz="3200" b="1">
                <a:latin typeface="Times New Roman" pitchFamily="18" charset="0"/>
                <a:ea typeface="楷体_GB2312" pitchFamily="49" charset="-122"/>
              </a:rPr>
              <a:t>2</a:t>
            </a:r>
            <a:r>
              <a:rPr lang="en-US" altLang="zh-CN" sz="3200" b="1" i="1">
                <a:latin typeface="Times New Roman" pitchFamily="18" charset="0"/>
                <a:ea typeface="楷体_GB2312" pitchFamily="49" charset="-122"/>
              </a:rPr>
              <a:t>n</a:t>
            </a:r>
            <a:r>
              <a:rPr lang="en-US" altLang="zh-CN" sz="3200" b="1">
                <a:latin typeface="Times New Roman" pitchFamily="18" charset="0"/>
                <a:ea typeface="楷体_GB2312" pitchFamily="49" charset="-122"/>
              </a:rPr>
              <a:t> + 1</a:t>
            </a:r>
            <a:r>
              <a:rPr lang="zh-CN" altLang="en-US" sz="3200" b="1">
                <a:latin typeface="楷体_GB2312" pitchFamily="49" charset="-122"/>
                <a:ea typeface="楷体_GB2312" pitchFamily="49" charset="-122"/>
              </a:rPr>
              <a:t>次。</a:t>
            </a:r>
          </a:p>
        </p:txBody>
      </p:sp>
      <p:graphicFrame>
        <p:nvGraphicFramePr>
          <p:cNvPr id="79875" name="Object 5"/>
          <p:cNvGraphicFramePr>
            <a:graphicFrameLocks noChangeAspect="1"/>
          </p:cNvGraphicFramePr>
          <p:nvPr/>
        </p:nvGraphicFramePr>
        <p:xfrm>
          <a:off x="3275013" y="5345113"/>
          <a:ext cx="4465637" cy="1323975"/>
        </p:xfrm>
        <a:graphic>
          <a:graphicData uri="http://schemas.openxmlformats.org/presentationml/2006/ole">
            <mc:AlternateContent xmlns:mc="http://schemas.openxmlformats.org/markup-compatibility/2006">
              <mc:Choice xmlns:v="urn:schemas-microsoft-com:vml" Requires="v">
                <p:oleObj spid="_x0000_s106506" name="公式" r:id="rId3" imgW="1409616" imgH="396168" progId="Equation.3">
                  <p:embed/>
                </p:oleObj>
              </mc:Choice>
              <mc:Fallback>
                <p:oleObj name="公式" r:id="rId3" imgW="1409616" imgH="39616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5013" y="5345113"/>
                        <a:ext cx="446563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876" name="Text Box 6"/>
          <p:cNvSpPr txBox="1">
            <a:spLocks noChangeArrowheads="1"/>
          </p:cNvSpPr>
          <p:nvPr/>
        </p:nvSpPr>
        <p:spPr bwMode="auto">
          <a:xfrm>
            <a:off x="250825" y="2444750"/>
            <a:ext cx="8713788"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zh-CN" altLang="en-US" sz="3200" b="1">
                <a:latin typeface="楷体_GB2312" pitchFamily="49" charset="-122"/>
                <a:ea typeface="楷体_GB2312" pitchFamily="49" charset="-122"/>
              </a:rPr>
              <a:t>可以证明</a:t>
            </a:r>
            <a:r>
              <a:rPr lang="en-US" altLang="zh-CN" sz="3200" b="1">
                <a:latin typeface="楷体_GB2312" pitchFamily="49" charset="-122"/>
                <a:ea typeface="楷体_GB2312" pitchFamily="49" charset="-122"/>
              </a:rPr>
              <a:t>,</a:t>
            </a:r>
            <a:r>
              <a:rPr lang="zh-CN" altLang="en-US" sz="3200" b="1">
                <a:latin typeface="楷体_GB2312" pitchFamily="49" charset="-122"/>
                <a:ea typeface="楷体_GB2312" pitchFamily="49" charset="-122"/>
              </a:rPr>
              <a:t>含有</a:t>
            </a:r>
            <a:r>
              <a:rPr lang="en-US" altLang="zh-CN" sz="3200" b="1" i="1">
                <a:latin typeface="Times New Roman" pitchFamily="18" charset="0"/>
                <a:ea typeface="楷体_GB2312" pitchFamily="49" charset="-122"/>
              </a:rPr>
              <a:t>n+</a:t>
            </a:r>
            <a:r>
              <a:rPr lang="en-US" altLang="zh-CN" sz="3200" b="1">
                <a:latin typeface="Times New Roman" pitchFamily="18" charset="0"/>
                <a:ea typeface="楷体_GB2312" pitchFamily="49" charset="-122"/>
              </a:rPr>
              <a:t>1</a:t>
            </a:r>
            <a:r>
              <a:rPr lang="zh-CN" altLang="en-US" sz="3200" b="1">
                <a:latin typeface="楷体_GB2312" pitchFamily="49" charset="-122"/>
                <a:ea typeface="楷体_GB2312" pitchFamily="49" charset="-122"/>
              </a:rPr>
              <a:t>个节点而代数精确度为</a:t>
            </a:r>
            <a:r>
              <a:rPr lang="en-US" altLang="zh-CN" sz="3200" b="1">
                <a:latin typeface="Times New Roman" pitchFamily="18" charset="0"/>
                <a:ea typeface="楷体_GB2312" pitchFamily="49" charset="-122"/>
              </a:rPr>
              <a:t>2</a:t>
            </a:r>
            <a:r>
              <a:rPr lang="en-US" altLang="zh-CN" sz="3200" b="1" i="1">
                <a:latin typeface="Times New Roman" pitchFamily="18" charset="0"/>
                <a:ea typeface="楷体_GB2312" pitchFamily="49" charset="-122"/>
              </a:rPr>
              <a:t>n</a:t>
            </a:r>
            <a:r>
              <a:rPr lang="en-US" altLang="zh-CN" sz="3200" b="1">
                <a:latin typeface="Times New Roman" pitchFamily="18" charset="0"/>
                <a:ea typeface="楷体_GB2312" pitchFamily="49" charset="-122"/>
              </a:rPr>
              <a:t> + 1</a:t>
            </a:r>
            <a:r>
              <a:rPr lang="zh-CN" altLang="en-US" sz="3200" b="1">
                <a:latin typeface="楷体_GB2312" pitchFamily="49" charset="-122"/>
                <a:ea typeface="楷体_GB2312" pitchFamily="49" charset="-122"/>
              </a:rPr>
              <a:t>的插值型求积公式是存在的</a:t>
            </a:r>
            <a:r>
              <a:rPr lang="en-US" altLang="zh-CN" sz="3200" b="1">
                <a:latin typeface="楷体_GB2312" pitchFamily="49" charset="-122"/>
                <a:ea typeface="楷体_GB2312" pitchFamily="49" charset="-122"/>
              </a:rPr>
              <a:t>,</a:t>
            </a:r>
            <a:r>
              <a:rPr lang="zh-CN" altLang="en-US" sz="3200" b="1">
                <a:latin typeface="楷体_GB2312" pitchFamily="49" charset="-122"/>
                <a:ea typeface="楷体_GB2312" pitchFamily="49" charset="-122"/>
              </a:rPr>
              <a:t>它所用的节点是</a:t>
            </a:r>
            <a:r>
              <a:rPr lang="en-US" altLang="zh-CN" sz="3200" b="1">
                <a:latin typeface="楷体_GB2312" pitchFamily="49" charset="-122"/>
                <a:ea typeface="楷体_GB2312" pitchFamily="49" charset="-122"/>
              </a:rPr>
              <a:t>[a,b]</a:t>
            </a:r>
            <a:r>
              <a:rPr lang="zh-CN" altLang="en-US" sz="3200" b="1">
                <a:latin typeface="楷体_GB2312" pitchFamily="49" charset="-122"/>
                <a:ea typeface="楷体_GB2312" pitchFamily="49" charset="-122"/>
              </a:rPr>
              <a:t>上的第</a:t>
            </a:r>
            <a:r>
              <a:rPr lang="en-US" altLang="zh-CN" sz="3200" b="1" i="1">
                <a:latin typeface="Times New Roman" pitchFamily="18" charset="0"/>
                <a:ea typeface="楷体_GB2312" pitchFamily="49" charset="-122"/>
              </a:rPr>
              <a:t>n+</a:t>
            </a:r>
            <a:r>
              <a:rPr lang="en-US" altLang="zh-CN" sz="3200" b="1">
                <a:latin typeface="Times New Roman" pitchFamily="18" charset="0"/>
                <a:ea typeface="楷体_GB2312" pitchFamily="49" charset="-122"/>
              </a:rPr>
              <a:t>1</a:t>
            </a:r>
            <a:r>
              <a:rPr lang="zh-CN" altLang="en-US" sz="3200" b="1">
                <a:latin typeface="楷体_GB2312" pitchFamily="49" charset="-122"/>
                <a:ea typeface="楷体_GB2312" pitchFamily="49" charset="-122"/>
              </a:rPr>
              <a:t>次正交多项式的零点。</a:t>
            </a:r>
          </a:p>
          <a:p>
            <a:pPr eaLnBrk="1" hangingPunct="1">
              <a:lnSpc>
                <a:spcPct val="140000"/>
              </a:lnSpc>
            </a:pPr>
            <a:r>
              <a:rPr lang="zh-CN" altLang="en-US" sz="3200" b="1">
                <a:latin typeface="楷体_GB2312" pitchFamily="49" charset="-122"/>
                <a:ea typeface="楷体_GB2312" pitchFamily="49" charset="-122"/>
              </a:rPr>
              <a:t>称这一 类求积公式为高斯</a:t>
            </a:r>
            <a:r>
              <a:rPr lang="en-US" altLang="zh-CN" sz="3200" b="1">
                <a:latin typeface="楷体_GB2312" pitchFamily="49" charset="-122"/>
                <a:ea typeface="楷体_GB2312" pitchFamily="49" charset="-122"/>
              </a:rPr>
              <a:t>(Gauss)</a:t>
            </a:r>
            <a:r>
              <a:rPr lang="zh-CN" altLang="en-US" sz="3200" b="1">
                <a:latin typeface="楷体_GB2312" pitchFamily="49" charset="-122"/>
                <a:ea typeface="楷体_GB2312" pitchFamily="49" charset="-122"/>
              </a:rPr>
              <a:t>公式</a:t>
            </a:r>
            <a:r>
              <a:rPr lang="en-US" altLang="zh-CN" sz="3200" b="1">
                <a:latin typeface="楷体_GB2312" pitchFamily="49" charset="-122"/>
                <a:ea typeface="楷体_GB2312" pitchFamily="49" charset="-122"/>
              </a:rPr>
              <a:t>,</a:t>
            </a:r>
            <a:r>
              <a:rPr lang="zh-CN" altLang="en-US" sz="3200" b="1">
                <a:latin typeface="楷体_GB2312" pitchFamily="49" charset="-122"/>
                <a:ea typeface="楷体_GB2312" pitchFamily="49" charset="-122"/>
              </a:rPr>
              <a:t>其节点为高斯点。 </a:t>
            </a:r>
          </a:p>
        </p:txBody>
      </p:sp>
      <p:sp>
        <p:nvSpPr>
          <p:cNvPr id="79877" name="Text Box 8"/>
          <p:cNvSpPr txBox="1">
            <a:spLocks noChangeArrowheads="1"/>
          </p:cNvSpPr>
          <p:nvPr/>
        </p:nvSpPr>
        <p:spPr bwMode="auto">
          <a:xfrm>
            <a:off x="684213" y="1806575"/>
            <a:ext cx="1816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b="1"/>
              <a:t>梯形公式</a:t>
            </a:r>
          </a:p>
        </p:txBody>
      </p:sp>
      <p:sp>
        <p:nvSpPr>
          <p:cNvPr id="79878" name="Text Box 9"/>
          <p:cNvSpPr txBox="1">
            <a:spLocks noChangeArrowheads="1"/>
          </p:cNvSpPr>
          <p:nvPr/>
        </p:nvSpPr>
        <p:spPr bwMode="auto">
          <a:xfrm>
            <a:off x="3924300" y="1773238"/>
            <a:ext cx="27146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t>Simpson</a:t>
            </a:r>
            <a:r>
              <a:rPr kumimoji="1" lang="zh-CN" altLang="en-US" sz="3200" b="1"/>
              <a:t>公式</a:t>
            </a:r>
          </a:p>
        </p:txBody>
      </p:sp>
    </p:spTree>
    <p:extLst>
      <p:ext uri="{BB962C8B-B14F-4D97-AF65-F5344CB8AC3E}">
        <p14:creationId xmlns:p14="http://schemas.microsoft.com/office/powerpoint/2010/main" val="2357788855"/>
      </p:ext>
    </p:extLst>
  </p:cSld>
  <p:clrMapOvr>
    <a:masterClrMapping/>
  </p:clrMapOvr>
  <p:transition spd="slow">
    <p:push dir="u"/>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6"/>
          <p:cNvSpPr>
            <a:spLocks noChangeArrowheads="1"/>
          </p:cNvSpPr>
          <p:nvPr/>
        </p:nvSpPr>
        <p:spPr bwMode="auto">
          <a:xfrm>
            <a:off x="250825" y="798513"/>
            <a:ext cx="8424863" cy="457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zh-CN" altLang="en-US" sz="3200" b="1" dirty="0">
                <a:latin typeface="楷体_GB2312" pitchFamily="49" charset="-122"/>
                <a:ea typeface="楷体_GB2312" pitchFamily="49" charset="-122"/>
                <a:cs typeface="Times New Roman" pitchFamily="18" charset="0"/>
              </a:rPr>
              <a:t>构造高斯型求积公式的方法就是去找</a:t>
            </a:r>
            <a:r>
              <a:rPr lang="en-US" altLang="zh-CN" sz="3200" b="1" dirty="0">
                <a:latin typeface="Times New Roman" pitchFamily="18" charset="0"/>
                <a:ea typeface="楷体_GB2312" pitchFamily="49" charset="-122"/>
                <a:cs typeface="Times New Roman" pitchFamily="18" charset="0"/>
              </a:rPr>
              <a:t>[a, b]</a:t>
            </a:r>
            <a:r>
              <a:rPr lang="zh-CN" altLang="en-US" sz="3200" b="1" dirty="0">
                <a:latin typeface="楷体_GB2312" pitchFamily="49" charset="-122"/>
                <a:ea typeface="楷体_GB2312" pitchFamily="49" charset="-122"/>
                <a:cs typeface="Times New Roman" pitchFamily="18" charset="0"/>
              </a:rPr>
              <a:t>上的</a:t>
            </a:r>
            <a:r>
              <a:rPr lang="en-US" altLang="zh-CN" sz="3200" b="1" i="1" dirty="0">
                <a:latin typeface="Times New Roman" pitchFamily="18" charset="0"/>
                <a:ea typeface="楷体_GB2312" pitchFamily="49" charset="-122"/>
                <a:cs typeface="Times New Roman" pitchFamily="18" charset="0"/>
              </a:rPr>
              <a:t>n</a:t>
            </a:r>
            <a:r>
              <a:rPr lang="en-US" altLang="zh-CN" sz="3200" b="1" dirty="0">
                <a:latin typeface="Times New Roman" pitchFamily="18" charset="0"/>
                <a:ea typeface="楷体_GB2312" pitchFamily="49" charset="-122"/>
                <a:cs typeface="Times New Roman" pitchFamily="18" charset="0"/>
              </a:rPr>
              <a:t> + 1</a:t>
            </a:r>
            <a:r>
              <a:rPr lang="zh-CN" altLang="en-US" sz="3200" b="1" dirty="0">
                <a:latin typeface="楷体_GB2312" pitchFamily="49" charset="-122"/>
                <a:ea typeface="楷体_GB2312" pitchFamily="49" charset="-122"/>
                <a:cs typeface="Times New Roman" pitchFamily="18" charset="0"/>
              </a:rPr>
              <a:t>次正交多项式，再把它的</a:t>
            </a:r>
            <a:r>
              <a:rPr lang="en-US" altLang="zh-CN" sz="3200" b="1" i="1" dirty="0">
                <a:latin typeface="Times New Roman" pitchFamily="18" charset="0"/>
                <a:ea typeface="楷体_GB2312" pitchFamily="49" charset="-122"/>
                <a:cs typeface="Times New Roman" pitchFamily="18" charset="0"/>
              </a:rPr>
              <a:t>n</a:t>
            </a:r>
            <a:r>
              <a:rPr lang="en-US" altLang="zh-CN" sz="3200" b="1" dirty="0">
                <a:latin typeface="Times New Roman" pitchFamily="18" charset="0"/>
                <a:ea typeface="楷体_GB2312" pitchFamily="49" charset="-122"/>
                <a:cs typeface="Times New Roman" pitchFamily="18" charset="0"/>
              </a:rPr>
              <a:t> + 1</a:t>
            </a:r>
            <a:r>
              <a:rPr lang="zh-CN" altLang="en-US" sz="3200" b="1" dirty="0">
                <a:latin typeface="楷体_GB2312" pitchFamily="49" charset="-122"/>
                <a:ea typeface="楷体_GB2312" pitchFamily="49" charset="-122"/>
                <a:cs typeface="Times New Roman" pitchFamily="18" charset="0"/>
              </a:rPr>
              <a:t>个零点求出来，由于正交多项式具有性质</a:t>
            </a:r>
            <a:r>
              <a:rPr lang="en-US" altLang="zh-CN" sz="3200" b="1" dirty="0">
                <a:latin typeface="楷体_GB2312" pitchFamily="49" charset="-122"/>
                <a:ea typeface="楷体_GB2312" pitchFamily="49" charset="-122"/>
                <a:cs typeface="Times New Roman" pitchFamily="18" charset="0"/>
              </a:rPr>
              <a:t>:  </a:t>
            </a:r>
            <a:r>
              <a:rPr lang="zh-CN" altLang="en-US" sz="3200" b="1" dirty="0">
                <a:latin typeface="楷体_GB2312" pitchFamily="49" charset="-122"/>
                <a:ea typeface="楷体_GB2312" pitchFamily="49" charset="-122"/>
                <a:cs typeface="Times New Roman" pitchFamily="18" charset="0"/>
              </a:rPr>
              <a:t>在</a:t>
            </a:r>
            <a:r>
              <a:rPr lang="en-US" altLang="zh-CN" sz="3200" b="1" dirty="0">
                <a:latin typeface="楷体_GB2312" pitchFamily="49" charset="-122"/>
                <a:ea typeface="楷体_GB2312" pitchFamily="49" charset="-122"/>
                <a:cs typeface="Times New Roman" pitchFamily="18" charset="0"/>
              </a:rPr>
              <a:t>[a, b]</a:t>
            </a:r>
            <a:r>
              <a:rPr lang="zh-CN" altLang="en-US" sz="3200" b="1" dirty="0">
                <a:latin typeface="楷体_GB2312" pitchFamily="49" charset="-122"/>
                <a:ea typeface="楷体_GB2312" pitchFamily="49" charset="-122"/>
                <a:cs typeface="Times New Roman" pitchFamily="18" charset="0"/>
              </a:rPr>
              <a:t>上的 </a:t>
            </a:r>
            <a:r>
              <a:rPr lang="en-US" altLang="zh-CN" sz="3200" b="1" dirty="0">
                <a:latin typeface="Times New Roman" pitchFamily="18" charset="0"/>
                <a:ea typeface="楷体_GB2312" pitchFamily="49" charset="-122"/>
                <a:cs typeface="Times New Roman" pitchFamily="18" charset="0"/>
              </a:rPr>
              <a:t>n + 1</a:t>
            </a:r>
            <a:r>
              <a:rPr lang="zh-CN" altLang="en-US" sz="3200" b="1" dirty="0">
                <a:latin typeface="楷体_GB2312" pitchFamily="49" charset="-122"/>
                <a:ea typeface="楷体_GB2312" pitchFamily="49" charset="-122"/>
                <a:cs typeface="Times New Roman" pitchFamily="18" charset="0"/>
              </a:rPr>
              <a:t>次正交多项式一定有</a:t>
            </a:r>
            <a:r>
              <a:rPr lang="en-US" altLang="zh-CN" sz="3200" b="1" dirty="0">
                <a:latin typeface="Times New Roman" pitchFamily="18" charset="0"/>
                <a:ea typeface="楷体_GB2312" pitchFamily="49" charset="-122"/>
                <a:cs typeface="Times New Roman" pitchFamily="18" charset="0"/>
              </a:rPr>
              <a:t>n + 1</a:t>
            </a:r>
            <a:r>
              <a:rPr lang="zh-CN" altLang="en-US" sz="3200" b="1" dirty="0">
                <a:latin typeface="楷体_GB2312" pitchFamily="49" charset="-122"/>
                <a:ea typeface="楷体_GB2312" pitchFamily="49" charset="-122"/>
                <a:cs typeface="Times New Roman" pitchFamily="18" charset="0"/>
              </a:rPr>
              <a:t>个不同零点，且全部位于</a:t>
            </a:r>
            <a:r>
              <a:rPr lang="en-US" altLang="zh-CN" sz="3200" b="1" dirty="0">
                <a:latin typeface="楷体_GB2312" pitchFamily="49" charset="-122"/>
                <a:ea typeface="楷体_GB2312" pitchFamily="49" charset="-122"/>
                <a:cs typeface="Times New Roman" pitchFamily="18" charset="0"/>
              </a:rPr>
              <a:t>[a, b]</a:t>
            </a:r>
            <a:r>
              <a:rPr lang="zh-CN" altLang="en-US" sz="3200" b="1" dirty="0">
                <a:latin typeface="楷体_GB2312" pitchFamily="49" charset="-122"/>
                <a:ea typeface="楷体_GB2312" pitchFamily="49" charset="-122"/>
                <a:cs typeface="Times New Roman" pitchFamily="18" charset="0"/>
              </a:rPr>
              <a:t>内，所以只要将此 </a:t>
            </a:r>
            <a:r>
              <a:rPr lang="en-US" altLang="zh-CN" sz="3200" b="1" dirty="0">
                <a:latin typeface="Times New Roman" pitchFamily="18" charset="0"/>
                <a:ea typeface="楷体_GB2312" pitchFamily="49" charset="-122"/>
                <a:cs typeface="Times New Roman" pitchFamily="18" charset="0"/>
              </a:rPr>
              <a:t>n + 1</a:t>
            </a:r>
            <a:r>
              <a:rPr lang="zh-CN" altLang="en-US" sz="3200" b="1" dirty="0">
                <a:latin typeface="楷体_GB2312" pitchFamily="49" charset="-122"/>
                <a:ea typeface="楷体_GB2312" pitchFamily="49" charset="-122"/>
                <a:cs typeface="Times New Roman" pitchFamily="18" charset="0"/>
              </a:rPr>
              <a:t>个零点作为</a:t>
            </a:r>
            <a:r>
              <a:rPr lang="en-US" altLang="zh-CN" sz="3200" b="1" dirty="0">
                <a:latin typeface="Times New Roman" pitchFamily="18" charset="0"/>
                <a:ea typeface="楷体_GB2312" pitchFamily="49" charset="-122"/>
                <a:cs typeface="Times New Roman" pitchFamily="18" charset="0"/>
              </a:rPr>
              <a:t>n + 1</a:t>
            </a:r>
            <a:r>
              <a:rPr lang="zh-CN" altLang="en-US" sz="3200" b="1" dirty="0">
                <a:latin typeface="楷体_GB2312" pitchFamily="49" charset="-122"/>
                <a:ea typeface="楷体_GB2312" pitchFamily="49" charset="-122"/>
                <a:cs typeface="Times New Roman" pitchFamily="18" charset="0"/>
              </a:rPr>
              <a:t>次插值多项式的节点，构造出的插值多项式即为高斯型求积公式。</a:t>
            </a:r>
          </a:p>
        </p:txBody>
      </p:sp>
      <p:sp>
        <p:nvSpPr>
          <p:cNvPr id="84995"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84996" name="Rectangle 11"/>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201741" name="Object 13"/>
          <p:cNvGraphicFramePr>
            <a:graphicFrameLocks noChangeAspect="1"/>
          </p:cNvGraphicFramePr>
          <p:nvPr/>
        </p:nvGraphicFramePr>
        <p:xfrm>
          <a:off x="252413" y="5462588"/>
          <a:ext cx="4535487" cy="1135062"/>
        </p:xfrm>
        <a:graphic>
          <a:graphicData uri="http://schemas.openxmlformats.org/presentationml/2006/ole">
            <mc:AlternateContent xmlns:mc="http://schemas.openxmlformats.org/markup-compatibility/2006">
              <mc:Choice xmlns:v="urn:schemas-microsoft-com:vml" Requires="v">
                <p:oleObj spid="_x0000_s85021" name="公式" r:id="rId3" imgW="2019300" imgH="508000" progId="Equation.3">
                  <p:embed/>
                </p:oleObj>
              </mc:Choice>
              <mc:Fallback>
                <p:oleObj name="公式" r:id="rId3" imgW="2019300" imgH="5080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3" y="5462588"/>
                        <a:ext cx="4535487" cy="113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9338" y="5413375"/>
            <a:ext cx="4284662"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1741"/>
                                        </p:tgtEl>
                                        <p:attrNameLst>
                                          <p:attrName>style.visibility</p:attrName>
                                        </p:attrNameLst>
                                      </p:cBhvr>
                                      <p:to>
                                        <p:strVal val="visible"/>
                                      </p:to>
                                    </p:set>
                                    <p:anim calcmode="lin" valueType="num">
                                      <p:cBhvr additive="base">
                                        <p:cTn id="7" dur="500" fill="hold"/>
                                        <p:tgtEl>
                                          <p:spTgt spid="201741"/>
                                        </p:tgtEl>
                                        <p:attrNameLst>
                                          <p:attrName>ppt_x</p:attrName>
                                        </p:attrNameLst>
                                      </p:cBhvr>
                                      <p:tavLst>
                                        <p:tav tm="0">
                                          <p:val>
                                            <p:strVal val="#ppt_x"/>
                                          </p:val>
                                        </p:tav>
                                        <p:tav tm="100000">
                                          <p:val>
                                            <p:strVal val="#ppt_x"/>
                                          </p:val>
                                        </p:tav>
                                      </p:tavLst>
                                    </p:anim>
                                    <p:anim calcmode="lin" valueType="num">
                                      <p:cBhvr additive="base">
                                        <p:cTn id="8" dur="500" fill="hold"/>
                                        <p:tgtEl>
                                          <p:spTgt spid="20174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p:cNvSpPr>
          <p:nvPr/>
        </p:nvSpPr>
        <p:spPr bwMode="auto">
          <a:xfrm>
            <a:off x="250825" y="1363663"/>
            <a:ext cx="871378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dirty="0">
                <a:latin typeface="楷体_GB2312" pitchFamily="49" charset="-122"/>
                <a:ea typeface="楷体_GB2312" pitchFamily="49" charset="-122"/>
                <a:cs typeface="Times New Roman" pitchFamily="18" charset="0"/>
              </a:rPr>
              <a:t>不失一般性，假定积分区间不为</a:t>
            </a:r>
            <a:r>
              <a:rPr lang="zh-CN" altLang="en-US" sz="3200" b="1" dirty="0">
                <a:latin typeface="Times New Roman" pitchFamily="18" charset="0"/>
                <a:ea typeface="楷体_GB2312" pitchFamily="49" charset="-122"/>
                <a:cs typeface="Times New Roman" pitchFamily="18" charset="0"/>
              </a:rPr>
              <a:t>（</a:t>
            </a:r>
            <a:r>
              <a:rPr lang="en-US" altLang="zh-CN" sz="3200" b="1" dirty="0">
                <a:latin typeface="Times New Roman" pitchFamily="18" charset="0"/>
                <a:ea typeface="楷体_GB2312" pitchFamily="49" charset="-122"/>
                <a:cs typeface="Times New Roman" pitchFamily="18" charset="0"/>
              </a:rPr>
              <a:t>-1, 1</a:t>
            </a:r>
            <a:r>
              <a:rPr lang="zh-CN" altLang="en-US" sz="3200" b="1" dirty="0">
                <a:latin typeface="Times New Roman" pitchFamily="18" charset="0"/>
                <a:ea typeface="楷体_GB2312" pitchFamily="49" charset="-122"/>
                <a:cs typeface="Times New Roman" pitchFamily="18" charset="0"/>
              </a:rPr>
              <a:t>），</a:t>
            </a:r>
            <a:r>
              <a:rPr lang="zh-CN" altLang="en-US" sz="3200" b="1" dirty="0">
                <a:latin typeface="楷体_GB2312" pitchFamily="49" charset="-122"/>
                <a:ea typeface="楷体_GB2312" pitchFamily="49" charset="-122"/>
                <a:cs typeface="Times New Roman" pitchFamily="18" charset="0"/>
              </a:rPr>
              <a:t>因为总可以利用变换	</a:t>
            </a:r>
          </a:p>
        </p:txBody>
      </p:sp>
      <p:sp>
        <p:nvSpPr>
          <p:cNvPr id="86019" name="Rectangle 3"/>
          <p:cNvSpPr>
            <a:spLocks noChangeArrowheads="1"/>
          </p:cNvSpPr>
          <p:nvPr/>
        </p:nvSpPr>
        <p:spPr bwMode="auto">
          <a:xfrm>
            <a:off x="250825" y="3719513"/>
            <a:ext cx="85693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楷体_GB2312" pitchFamily="49" charset="-122"/>
                <a:ea typeface="楷体_GB2312" pitchFamily="49" charset="-122"/>
                <a:cs typeface="Times New Roman" pitchFamily="18" charset="0"/>
              </a:rPr>
              <a:t>将区间</a:t>
            </a:r>
            <a:r>
              <a:rPr lang="zh-CN" altLang="en-US" sz="3200" b="1">
                <a:latin typeface="Times New Roman" pitchFamily="18" charset="0"/>
                <a:ea typeface="楷体_GB2312" pitchFamily="49" charset="-122"/>
                <a:cs typeface="Times New Roman" pitchFamily="18" charset="0"/>
              </a:rPr>
              <a:t>（</a:t>
            </a:r>
            <a:r>
              <a:rPr lang="en-US" altLang="zh-CN" sz="3200" b="1">
                <a:latin typeface="Times New Roman" pitchFamily="18" charset="0"/>
                <a:ea typeface="楷体_GB2312" pitchFamily="49" charset="-122"/>
                <a:cs typeface="Times New Roman" pitchFamily="18" charset="0"/>
              </a:rPr>
              <a:t>a, b</a:t>
            </a:r>
            <a:r>
              <a:rPr lang="zh-CN" altLang="en-US" sz="3200" b="1">
                <a:latin typeface="Times New Roman" pitchFamily="18" charset="0"/>
                <a:ea typeface="楷体_GB2312" pitchFamily="49" charset="-122"/>
                <a:cs typeface="Times New Roman" pitchFamily="18" charset="0"/>
              </a:rPr>
              <a:t>）</a:t>
            </a:r>
            <a:r>
              <a:rPr lang="zh-CN" altLang="en-US" sz="3200" b="1">
                <a:latin typeface="楷体_GB2312" pitchFamily="49" charset="-122"/>
                <a:ea typeface="楷体_GB2312" pitchFamily="49" charset="-122"/>
                <a:cs typeface="Times New Roman" pitchFamily="18" charset="0"/>
              </a:rPr>
              <a:t>变成</a:t>
            </a:r>
            <a:r>
              <a:rPr lang="zh-CN" altLang="en-US" sz="3200" b="1">
                <a:latin typeface="Times New Roman" pitchFamily="18" charset="0"/>
                <a:ea typeface="楷体_GB2312" pitchFamily="49" charset="-122"/>
                <a:cs typeface="Times New Roman" pitchFamily="18" charset="0"/>
              </a:rPr>
              <a:t>（</a:t>
            </a:r>
            <a:r>
              <a:rPr lang="en-US" altLang="zh-CN" sz="3200" b="1">
                <a:latin typeface="Times New Roman" pitchFamily="18" charset="0"/>
                <a:ea typeface="楷体_GB2312" pitchFamily="49" charset="-122"/>
                <a:cs typeface="Times New Roman" pitchFamily="18" charset="0"/>
              </a:rPr>
              <a:t>-1, 1</a:t>
            </a:r>
            <a:r>
              <a:rPr lang="zh-CN" altLang="en-US" sz="3200" b="1">
                <a:latin typeface="Times New Roman" pitchFamily="18" charset="0"/>
                <a:ea typeface="楷体_GB2312" pitchFamily="49" charset="-122"/>
                <a:cs typeface="Times New Roman" pitchFamily="18" charset="0"/>
              </a:rPr>
              <a:t>）</a:t>
            </a:r>
            <a:r>
              <a:rPr lang="zh-CN" altLang="en-US" sz="3200" b="1">
                <a:latin typeface="楷体_GB2312" pitchFamily="49" charset="-122"/>
                <a:ea typeface="楷体_GB2312" pitchFamily="49" charset="-122"/>
                <a:cs typeface="Times New Roman" pitchFamily="18" charset="0"/>
              </a:rPr>
              <a:t>而积分变为：</a:t>
            </a:r>
          </a:p>
        </p:txBody>
      </p:sp>
      <p:sp>
        <p:nvSpPr>
          <p:cNvPr id="86020" name="Rectangle 4"/>
          <p:cNvSpPr>
            <a:spLocks noChangeArrowheads="1"/>
          </p:cNvSpPr>
          <p:nvPr/>
        </p:nvSpPr>
        <p:spPr bwMode="auto">
          <a:xfrm>
            <a:off x="0" y="-2428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86021" name="Object 5"/>
          <p:cNvGraphicFramePr>
            <a:graphicFrameLocks noChangeAspect="1"/>
          </p:cNvGraphicFramePr>
          <p:nvPr/>
        </p:nvGraphicFramePr>
        <p:xfrm>
          <a:off x="3068638" y="2405063"/>
          <a:ext cx="3581400" cy="1270000"/>
        </p:xfrm>
        <a:graphic>
          <a:graphicData uri="http://schemas.openxmlformats.org/presentationml/2006/ole">
            <mc:AlternateContent xmlns:mc="http://schemas.openxmlformats.org/markup-compatibility/2006">
              <mc:Choice xmlns:v="urn:schemas-microsoft-com:vml" Requires="v">
                <p:oleObj spid="_x0000_s86138" name="公式" r:id="rId3" imgW="1104900" imgH="393700" progId="Equation.3">
                  <p:embed/>
                </p:oleObj>
              </mc:Choice>
              <mc:Fallback>
                <p:oleObj name="公式" r:id="rId3" imgW="1104900" imgH="393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8638" y="2405063"/>
                        <a:ext cx="3581400"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22" name="Rectangle 6"/>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86023" name="Object 7"/>
          <p:cNvGraphicFramePr>
            <a:graphicFrameLocks noChangeAspect="1"/>
          </p:cNvGraphicFramePr>
          <p:nvPr/>
        </p:nvGraphicFramePr>
        <p:xfrm>
          <a:off x="827088" y="4511675"/>
          <a:ext cx="4752975" cy="1114425"/>
        </p:xfrm>
        <a:graphic>
          <a:graphicData uri="http://schemas.openxmlformats.org/presentationml/2006/ole">
            <mc:AlternateContent xmlns:mc="http://schemas.openxmlformats.org/markup-compatibility/2006">
              <mc:Choice xmlns:v="urn:schemas-microsoft-com:vml" Requires="v">
                <p:oleObj spid="_x0000_s86139" name="公式" r:id="rId5" imgW="1663700" imgH="393700" progId="Equation.3">
                  <p:embed/>
                </p:oleObj>
              </mc:Choice>
              <mc:Fallback>
                <p:oleObj name="公式" r:id="rId5" imgW="1663700" imgH="3937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4511675"/>
                        <a:ext cx="47529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24" name="Rectangle 9"/>
          <p:cNvSpPr>
            <a:spLocks noChangeArrowheads="1"/>
          </p:cNvSpPr>
          <p:nvPr/>
        </p:nvSpPr>
        <p:spPr bwMode="auto">
          <a:xfrm>
            <a:off x="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86025" name="Object 8"/>
          <p:cNvGraphicFramePr>
            <a:graphicFrameLocks noChangeAspect="1"/>
          </p:cNvGraphicFramePr>
          <p:nvPr/>
        </p:nvGraphicFramePr>
        <p:xfrm>
          <a:off x="3635375" y="5737225"/>
          <a:ext cx="3744913" cy="1004888"/>
        </p:xfrm>
        <a:graphic>
          <a:graphicData uri="http://schemas.openxmlformats.org/presentationml/2006/ole">
            <mc:AlternateContent xmlns:mc="http://schemas.openxmlformats.org/markup-compatibility/2006">
              <mc:Choice xmlns:v="urn:schemas-microsoft-com:vml" Requires="v">
                <p:oleObj spid="_x0000_s86140" name="公式" r:id="rId7" imgW="1600200" imgH="431800" progId="Equation.3">
                  <p:embed/>
                </p:oleObj>
              </mc:Choice>
              <mc:Fallback>
                <p:oleObj name="公式" r:id="rId7" imgW="1600200" imgH="4318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5375" y="5737225"/>
                        <a:ext cx="3744913"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6" name="Object 10"/>
          <p:cNvGraphicFramePr>
            <a:graphicFrameLocks noChangeAspect="1"/>
          </p:cNvGraphicFramePr>
          <p:nvPr/>
        </p:nvGraphicFramePr>
        <p:xfrm>
          <a:off x="395288" y="260350"/>
          <a:ext cx="4032250" cy="857250"/>
        </p:xfrm>
        <a:graphic>
          <a:graphicData uri="http://schemas.openxmlformats.org/presentationml/2006/ole">
            <mc:AlternateContent xmlns:mc="http://schemas.openxmlformats.org/markup-compatibility/2006">
              <mc:Choice xmlns:v="urn:schemas-microsoft-com:vml" Requires="v">
                <p:oleObj spid="_x0000_s86141" name="公式" r:id="rId9" imgW="1851768" imgH="289632" progId="Equation.3">
                  <p:embed/>
                </p:oleObj>
              </mc:Choice>
              <mc:Fallback>
                <p:oleObj name="公式" r:id="rId9" imgW="1851768" imgH="289632"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260350"/>
                        <a:ext cx="40322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7" name="Object 11"/>
          <p:cNvGraphicFramePr>
            <a:graphicFrameLocks noChangeAspect="1"/>
          </p:cNvGraphicFramePr>
          <p:nvPr/>
        </p:nvGraphicFramePr>
        <p:xfrm>
          <a:off x="4894263" y="188913"/>
          <a:ext cx="4070350" cy="1063625"/>
        </p:xfrm>
        <a:graphic>
          <a:graphicData uri="http://schemas.openxmlformats.org/presentationml/2006/ole">
            <mc:AlternateContent xmlns:mc="http://schemas.openxmlformats.org/markup-compatibility/2006">
              <mc:Choice xmlns:v="urn:schemas-microsoft-com:vml" Requires="v">
                <p:oleObj spid="_x0000_s86142" name="公式" r:id="rId11" imgW="2019300" imgH="508000" progId="Equation.3">
                  <p:embed/>
                </p:oleObj>
              </mc:Choice>
              <mc:Fallback>
                <p:oleObj name="公式" r:id="rId11" imgW="2019300" imgH="5080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94263" y="188913"/>
                        <a:ext cx="4070350"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2" name="Object 4"/>
          <p:cNvGraphicFramePr>
            <a:graphicFrameLocks noChangeAspect="1"/>
          </p:cNvGraphicFramePr>
          <p:nvPr/>
        </p:nvGraphicFramePr>
        <p:xfrm>
          <a:off x="971550" y="404813"/>
          <a:ext cx="6048375" cy="1511300"/>
        </p:xfrm>
        <a:graphic>
          <a:graphicData uri="http://schemas.openxmlformats.org/presentationml/2006/ole">
            <mc:AlternateContent xmlns:mc="http://schemas.openxmlformats.org/markup-compatibility/2006">
              <mc:Choice xmlns:v="urn:schemas-microsoft-com:vml" Requires="v">
                <p:oleObj spid="_x0000_s87113" name="公式" r:id="rId3" imgW="2019300" imgH="508000" progId="Equation.3">
                  <p:embed/>
                </p:oleObj>
              </mc:Choice>
              <mc:Fallback>
                <p:oleObj name="公式" r:id="rId3" imgW="2019300" imgH="508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404813"/>
                        <a:ext cx="60483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43" name="Rectangle 5"/>
          <p:cNvSpPr>
            <a:spLocks noChangeArrowheads="1"/>
          </p:cNvSpPr>
          <p:nvPr/>
        </p:nvSpPr>
        <p:spPr bwMode="auto">
          <a:xfrm>
            <a:off x="1258888" y="3209925"/>
            <a:ext cx="54879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高斯</a:t>
            </a:r>
            <a:r>
              <a:rPr lang="en-US" altLang="zh-CN" sz="3200" b="1"/>
              <a:t>――</a:t>
            </a:r>
            <a:r>
              <a:rPr lang="zh-CN" altLang="en-US" sz="3200" b="1"/>
              <a:t>勒让德计算积分公式</a:t>
            </a:r>
          </a:p>
        </p:txBody>
      </p:sp>
      <p:graphicFrame>
        <p:nvGraphicFramePr>
          <p:cNvPr id="87044" name="Object 6"/>
          <p:cNvGraphicFramePr>
            <a:graphicFrameLocks noChangeAspect="1"/>
          </p:cNvGraphicFramePr>
          <p:nvPr/>
        </p:nvGraphicFramePr>
        <p:xfrm>
          <a:off x="900113" y="4221163"/>
          <a:ext cx="4752975" cy="1114425"/>
        </p:xfrm>
        <a:graphic>
          <a:graphicData uri="http://schemas.openxmlformats.org/presentationml/2006/ole">
            <mc:AlternateContent xmlns:mc="http://schemas.openxmlformats.org/markup-compatibility/2006">
              <mc:Choice xmlns:v="urn:schemas-microsoft-com:vml" Requires="v">
                <p:oleObj spid="_x0000_s87114" name="公式" r:id="rId5" imgW="1663700" imgH="393700" progId="Equation.3">
                  <p:embed/>
                </p:oleObj>
              </mc:Choice>
              <mc:Fallback>
                <p:oleObj name="公式" r:id="rId5" imgW="1663700" imgH="3937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4221163"/>
                        <a:ext cx="47529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45" name="Object 7"/>
          <p:cNvGraphicFramePr>
            <a:graphicFrameLocks noChangeAspect="1"/>
          </p:cNvGraphicFramePr>
          <p:nvPr/>
        </p:nvGraphicFramePr>
        <p:xfrm>
          <a:off x="3708400" y="5373688"/>
          <a:ext cx="3744913" cy="1004887"/>
        </p:xfrm>
        <a:graphic>
          <a:graphicData uri="http://schemas.openxmlformats.org/presentationml/2006/ole">
            <mc:AlternateContent xmlns:mc="http://schemas.openxmlformats.org/markup-compatibility/2006">
              <mc:Choice xmlns:v="urn:schemas-microsoft-com:vml" Requires="v">
                <p:oleObj spid="_x0000_s87115" name="公式" r:id="rId7" imgW="1600200" imgH="431800" progId="Equation.3">
                  <p:embed/>
                </p:oleObj>
              </mc:Choice>
              <mc:Fallback>
                <p:oleObj name="公式" r:id="rId7" imgW="1600200" imgH="4318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5373688"/>
                        <a:ext cx="3744913"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704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8538" y="2276475"/>
            <a:ext cx="4535487"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4"/>
          <p:cNvSpPr>
            <a:spLocks noChangeArrowheads="1"/>
          </p:cNvSpPr>
          <p:nvPr/>
        </p:nvSpPr>
        <p:spPr bwMode="auto">
          <a:xfrm>
            <a:off x="1258888" y="658813"/>
            <a:ext cx="7048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例</a:t>
            </a:r>
            <a:r>
              <a:rPr lang="zh-CN" altLang="en-US" sz="3200"/>
              <a:t> </a:t>
            </a:r>
          </a:p>
        </p:txBody>
      </p:sp>
      <p:sp>
        <p:nvSpPr>
          <p:cNvPr id="88067" name="Rectangle 6"/>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88068" name="Object 5"/>
          <p:cNvGraphicFramePr>
            <a:graphicFrameLocks noChangeAspect="1"/>
          </p:cNvGraphicFramePr>
          <p:nvPr/>
        </p:nvGraphicFramePr>
        <p:xfrm>
          <a:off x="2555875" y="476250"/>
          <a:ext cx="4392613" cy="942975"/>
        </p:xfrm>
        <a:graphic>
          <a:graphicData uri="http://schemas.openxmlformats.org/presentationml/2006/ole">
            <mc:AlternateContent xmlns:mc="http://schemas.openxmlformats.org/markup-compatibility/2006">
              <mc:Choice xmlns:v="urn:schemas-microsoft-com:vml" Requires="v">
                <p:oleObj spid="_x0000_s88117" name="公式" r:id="rId3" imgW="1549400" imgH="330200" progId="Equation.3">
                  <p:embed/>
                </p:oleObj>
              </mc:Choice>
              <mc:Fallback>
                <p:oleObj name="公式" r:id="rId3" imgW="1549400" imgH="330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476250"/>
                        <a:ext cx="4392613"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8069" name="Rectangle 13"/>
          <p:cNvSpPr>
            <a:spLocks noChangeArrowheads="1"/>
          </p:cNvSpPr>
          <p:nvPr/>
        </p:nvSpPr>
        <p:spPr bwMode="auto">
          <a:xfrm>
            <a:off x="971550" y="1844675"/>
            <a:ext cx="77231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cs typeface="Times New Roman" pitchFamily="18" charset="0"/>
              </a:rPr>
              <a:t>运用高斯</a:t>
            </a:r>
            <a:r>
              <a:rPr lang="en-US" altLang="zh-CN" sz="3200" b="1">
                <a:latin typeface="Times New Roman" pitchFamily="18" charset="0"/>
                <a:cs typeface="Times New Roman" pitchFamily="18" charset="0"/>
              </a:rPr>
              <a:t>――</a:t>
            </a:r>
            <a:r>
              <a:rPr lang="zh-CN" altLang="en-US" sz="3200" b="1">
                <a:latin typeface="Times New Roman" pitchFamily="18" charset="0"/>
                <a:cs typeface="Times New Roman" pitchFamily="18" charset="0"/>
              </a:rPr>
              <a:t>勒让德公式计算积分		</a:t>
            </a:r>
            <a:endParaRPr lang="zh-CN" altLang="en-US" sz="3200" b="1"/>
          </a:p>
        </p:txBody>
      </p:sp>
      <p:sp>
        <p:nvSpPr>
          <p:cNvPr id="88070" name="Rectangle 15"/>
          <p:cNvSpPr>
            <a:spLocks noChangeArrowheads="1"/>
          </p:cNvSpPr>
          <p:nvPr/>
        </p:nvSpPr>
        <p:spPr bwMode="auto">
          <a:xfrm>
            <a:off x="1042988" y="2708275"/>
            <a:ext cx="3546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latin typeface="Times New Roman" pitchFamily="18" charset="0"/>
                <a:cs typeface="Times New Roman" pitchFamily="18" charset="0"/>
              </a:rPr>
              <a:t>	</a:t>
            </a:r>
            <a:r>
              <a:rPr lang="zh-CN" altLang="en-US" sz="3200" b="1">
                <a:latin typeface="Times New Roman" pitchFamily="18" charset="0"/>
                <a:cs typeface="Times New Roman" pitchFamily="18" charset="0"/>
              </a:rPr>
              <a:t>两点梯形公式</a:t>
            </a:r>
            <a:endParaRPr lang="zh-CN" altLang="en-US" sz="3200" b="1"/>
          </a:p>
        </p:txBody>
      </p:sp>
      <p:sp>
        <p:nvSpPr>
          <p:cNvPr id="88071" name="Rectangle 17"/>
          <p:cNvSpPr>
            <a:spLocks noChangeArrowheads="1"/>
          </p:cNvSpPr>
          <p:nvPr/>
        </p:nvSpPr>
        <p:spPr bwMode="auto">
          <a:xfrm>
            <a:off x="1187450" y="3500438"/>
            <a:ext cx="51101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latin typeface="Times New Roman" pitchFamily="18" charset="0"/>
                <a:cs typeface="Times New Roman" pitchFamily="18" charset="0"/>
              </a:rPr>
              <a:t>	</a:t>
            </a:r>
            <a:r>
              <a:rPr lang="zh-CN" altLang="en-US" sz="3200" b="1">
                <a:latin typeface="Times New Roman" pitchFamily="18" charset="0"/>
                <a:cs typeface="Times New Roman" pitchFamily="18" charset="0"/>
              </a:rPr>
              <a:t>三点辛卜生公式：	</a:t>
            </a:r>
            <a:endParaRPr lang="zh-CN" altLang="en-US" sz="3200" b="1"/>
          </a:p>
        </p:txBody>
      </p:sp>
      <p:graphicFrame>
        <p:nvGraphicFramePr>
          <p:cNvPr id="88072" name="Object 19"/>
          <p:cNvGraphicFramePr>
            <a:graphicFrameLocks noChangeAspect="1"/>
          </p:cNvGraphicFramePr>
          <p:nvPr/>
        </p:nvGraphicFramePr>
        <p:xfrm>
          <a:off x="1042988" y="4652963"/>
          <a:ext cx="6048375" cy="1511300"/>
        </p:xfrm>
        <a:graphic>
          <a:graphicData uri="http://schemas.openxmlformats.org/presentationml/2006/ole">
            <mc:AlternateContent xmlns:mc="http://schemas.openxmlformats.org/markup-compatibility/2006">
              <mc:Choice xmlns:v="urn:schemas-microsoft-com:vml" Requires="v">
                <p:oleObj spid="_x0000_s88118" name="公式" r:id="rId5" imgW="2019300" imgH="508000" progId="Equation.3">
                  <p:embed/>
                </p:oleObj>
              </mc:Choice>
              <mc:Fallback>
                <p:oleObj name="公式" r:id="rId5" imgW="2019300" imgH="508000"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4652963"/>
                        <a:ext cx="60483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611188" y="260350"/>
            <a:ext cx="7048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例</a:t>
            </a:r>
            <a:r>
              <a:rPr lang="zh-CN" altLang="en-US" sz="3200"/>
              <a:t> </a:t>
            </a:r>
          </a:p>
        </p:txBody>
      </p:sp>
      <p:sp>
        <p:nvSpPr>
          <p:cNvPr id="89091" name="Rectangle 3"/>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89092" name="Object 4"/>
          <p:cNvGraphicFramePr>
            <a:graphicFrameLocks noChangeAspect="1"/>
          </p:cNvGraphicFramePr>
          <p:nvPr/>
        </p:nvGraphicFramePr>
        <p:xfrm>
          <a:off x="2195513" y="333375"/>
          <a:ext cx="4392612" cy="942975"/>
        </p:xfrm>
        <a:graphic>
          <a:graphicData uri="http://schemas.openxmlformats.org/presentationml/2006/ole">
            <mc:AlternateContent xmlns:mc="http://schemas.openxmlformats.org/markup-compatibility/2006">
              <mc:Choice xmlns:v="urn:schemas-microsoft-com:vml" Requires="v">
                <p:oleObj spid="_x0000_s89187" name="公式" r:id="rId3" imgW="1549400" imgH="330200" progId="Equation.3">
                  <p:embed/>
                </p:oleObj>
              </mc:Choice>
              <mc:Fallback>
                <p:oleObj name="公式" r:id="rId3" imgW="1549400" imgH="330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333375"/>
                        <a:ext cx="4392612"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830" name="Object 6"/>
          <p:cNvGraphicFramePr>
            <a:graphicFrameLocks noChangeAspect="1"/>
          </p:cNvGraphicFramePr>
          <p:nvPr/>
        </p:nvGraphicFramePr>
        <p:xfrm>
          <a:off x="323850" y="2276475"/>
          <a:ext cx="8675688" cy="744538"/>
        </p:xfrm>
        <a:graphic>
          <a:graphicData uri="http://schemas.openxmlformats.org/presentationml/2006/ole">
            <mc:AlternateContent xmlns:mc="http://schemas.openxmlformats.org/markup-compatibility/2006">
              <mc:Choice xmlns:v="urn:schemas-microsoft-com:vml" Requires="v">
                <p:oleObj spid="_x0000_s89188" name="公式" r:id="rId5" imgW="3886200" imgH="330200" progId="Equation.3">
                  <p:embed/>
                </p:oleObj>
              </mc:Choice>
              <mc:Fallback>
                <p:oleObj name="公式" r:id="rId5" imgW="3886200" imgH="330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2276475"/>
                        <a:ext cx="8675688"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831" name="Object 7"/>
          <p:cNvGraphicFramePr>
            <a:graphicFrameLocks noChangeAspect="1"/>
          </p:cNvGraphicFramePr>
          <p:nvPr/>
        </p:nvGraphicFramePr>
        <p:xfrm>
          <a:off x="900113" y="3933825"/>
          <a:ext cx="7667625" cy="957263"/>
        </p:xfrm>
        <a:graphic>
          <a:graphicData uri="http://schemas.openxmlformats.org/presentationml/2006/ole">
            <mc:AlternateContent xmlns:mc="http://schemas.openxmlformats.org/markup-compatibility/2006">
              <mc:Choice xmlns:v="urn:schemas-microsoft-com:vml" Requires="v">
                <p:oleObj spid="_x0000_s89189" name="公式" r:id="rId7" imgW="3441700" imgH="431800" progId="Equation.3">
                  <p:embed/>
                </p:oleObj>
              </mc:Choice>
              <mc:Fallback>
                <p:oleObj name="公式" r:id="rId7" imgW="3441700" imgH="4318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3933825"/>
                        <a:ext cx="7667625"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833" name="Object 9"/>
          <p:cNvGraphicFramePr>
            <a:graphicFrameLocks noChangeAspect="1"/>
          </p:cNvGraphicFramePr>
          <p:nvPr/>
        </p:nvGraphicFramePr>
        <p:xfrm>
          <a:off x="1476375" y="5930900"/>
          <a:ext cx="6588125" cy="811213"/>
        </p:xfrm>
        <a:graphic>
          <a:graphicData uri="http://schemas.openxmlformats.org/presentationml/2006/ole">
            <mc:AlternateContent xmlns:mc="http://schemas.openxmlformats.org/markup-compatibility/2006">
              <mc:Choice xmlns:v="urn:schemas-microsoft-com:vml" Requires="v">
                <p:oleObj spid="_x0000_s89190" name="公式" r:id="rId9" imgW="3175000" imgH="393700" progId="Equation.3">
                  <p:embed/>
                </p:oleObj>
              </mc:Choice>
              <mc:Fallback>
                <p:oleObj name="公式" r:id="rId9" imgW="3175000" imgH="3937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6375" y="5930900"/>
                        <a:ext cx="6588125"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096" name="Rectangle 11"/>
          <p:cNvSpPr>
            <a:spLocks noChangeArrowheads="1"/>
          </p:cNvSpPr>
          <p:nvPr/>
        </p:nvSpPr>
        <p:spPr bwMode="auto">
          <a:xfrm>
            <a:off x="323850" y="1484313"/>
            <a:ext cx="7499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cs typeface="Times New Roman" pitchFamily="18" charset="0"/>
              </a:rPr>
              <a:t>解：运用高斯</a:t>
            </a:r>
            <a:r>
              <a:rPr lang="en-US" altLang="zh-CN" sz="3200" b="1">
                <a:latin typeface="Times New Roman" pitchFamily="18" charset="0"/>
                <a:cs typeface="Times New Roman" pitchFamily="18" charset="0"/>
              </a:rPr>
              <a:t>――</a:t>
            </a:r>
            <a:r>
              <a:rPr lang="zh-CN" altLang="en-US" sz="3200" b="1">
                <a:latin typeface="Times New Roman" pitchFamily="18" charset="0"/>
                <a:cs typeface="Times New Roman" pitchFamily="18" charset="0"/>
              </a:rPr>
              <a:t>勒让德公式计算积分	</a:t>
            </a:r>
          </a:p>
        </p:txBody>
      </p:sp>
      <p:sp>
        <p:nvSpPr>
          <p:cNvPr id="205839" name="Rectangle 15"/>
          <p:cNvSpPr>
            <a:spLocks noChangeArrowheads="1"/>
          </p:cNvSpPr>
          <p:nvPr/>
        </p:nvSpPr>
        <p:spPr bwMode="auto">
          <a:xfrm>
            <a:off x="250825" y="5067300"/>
            <a:ext cx="567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cs typeface="Times New Roman" pitchFamily="18" charset="0"/>
              </a:rPr>
              <a:t>三点辛卜生公式：		</a:t>
            </a:r>
            <a:endParaRPr lang="zh-CN" altLang="en-US" sz="3200" b="1"/>
          </a:p>
        </p:txBody>
      </p:sp>
      <p:sp>
        <p:nvSpPr>
          <p:cNvPr id="205841" name="Rectangle 17"/>
          <p:cNvSpPr>
            <a:spLocks noChangeArrowheads="1"/>
          </p:cNvSpPr>
          <p:nvPr/>
        </p:nvSpPr>
        <p:spPr bwMode="auto">
          <a:xfrm>
            <a:off x="323850" y="3213100"/>
            <a:ext cx="26320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cs typeface="Times New Roman" pitchFamily="18" charset="0"/>
              </a:rPr>
              <a:t>两点梯形公式</a:t>
            </a:r>
            <a:endParaRPr lang="zh-CN" altLang="en-US" sz="3200" b="1"/>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5830"/>
                                        </p:tgtEl>
                                        <p:attrNameLst>
                                          <p:attrName>style.visibility</p:attrName>
                                        </p:attrNameLst>
                                      </p:cBhvr>
                                      <p:to>
                                        <p:strVal val="visible"/>
                                      </p:to>
                                    </p:set>
                                    <p:anim calcmode="lin" valueType="num">
                                      <p:cBhvr additive="base">
                                        <p:cTn id="7" dur="500" fill="hold"/>
                                        <p:tgtEl>
                                          <p:spTgt spid="205830"/>
                                        </p:tgtEl>
                                        <p:attrNameLst>
                                          <p:attrName>ppt_x</p:attrName>
                                        </p:attrNameLst>
                                      </p:cBhvr>
                                      <p:tavLst>
                                        <p:tav tm="0">
                                          <p:val>
                                            <p:strVal val="#ppt_x"/>
                                          </p:val>
                                        </p:tav>
                                        <p:tav tm="100000">
                                          <p:val>
                                            <p:strVal val="#ppt_x"/>
                                          </p:val>
                                        </p:tav>
                                      </p:tavLst>
                                    </p:anim>
                                    <p:anim calcmode="lin" valueType="num">
                                      <p:cBhvr additive="base">
                                        <p:cTn id="8" dur="500" fill="hold"/>
                                        <p:tgtEl>
                                          <p:spTgt spid="20583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5841"/>
                                        </p:tgtEl>
                                        <p:attrNameLst>
                                          <p:attrName>style.visibility</p:attrName>
                                        </p:attrNameLst>
                                      </p:cBhvr>
                                      <p:to>
                                        <p:strVal val="visible"/>
                                      </p:to>
                                    </p:set>
                                    <p:anim calcmode="lin" valueType="num">
                                      <p:cBhvr additive="base">
                                        <p:cTn id="13" dur="500" fill="hold"/>
                                        <p:tgtEl>
                                          <p:spTgt spid="205841"/>
                                        </p:tgtEl>
                                        <p:attrNameLst>
                                          <p:attrName>ppt_x</p:attrName>
                                        </p:attrNameLst>
                                      </p:cBhvr>
                                      <p:tavLst>
                                        <p:tav tm="0">
                                          <p:val>
                                            <p:strVal val="#ppt_x"/>
                                          </p:val>
                                        </p:tav>
                                        <p:tav tm="100000">
                                          <p:val>
                                            <p:strVal val="#ppt_x"/>
                                          </p:val>
                                        </p:tav>
                                      </p:tavLst>
                                    </p:anim>
                                    <p:anim calcmode="lin" valueType="num">
                                      <p:cBhvr additive="base">
                                        <p:cTn id="14" dur="500" fill="hold"/>
                                        <p:tgtEl>
                                          <p:spTgt spid="20584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05831"/>
                                        </p:tgtEl>
                                        <p:attrNameLst>
                                          <p:attrName>style.visibility</p:attrName>
                                        </p:attrNameLst>
                                      </p:cBhvr>
                                      <p:to>
                                        <p:strVal val="visible"/>
                                      </p:to>
                                    </p:set>
                                    <p:anim calcmode="lin" valueType="num">
                                      <p:cBhvr additive="base">
                                        <p:cTn id="19" dur="500" fill="hold"/>
                                        <p:tgtEl>
                                          <p:spTgt spid="205831"/>
                                        </p:tgtEl>
                                        <p:attrNameLst>
                                          <p:attrName>ppt_x</p:attrName>
                                        </p:attrNameLst>
                                      </p:cBhvr>
                                      <p:tavLst>
                                        <p:tav tm="0">
                                          <p:val>
                                            <p:strVal val="#ppt_x"/>
                                          </p:val>
                                        </p:tav>
                                        <p:tav tm="100000">
                                          <p:val>
                                            <p:strVal val="#ppt_x"/>
                                          </p:val>
                                        </p:tav>
                                      </p:tavLst>
                                    </p:anim>
                                    <p:anim calcmode="lin" valueType="num">
                                      <p:cBhvr additive="base">
                                        <p:cTn id="20" dur="500" fill="hold"/>
                                        <p:tgtEl>
                                          <p:spTgt spid="20583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5839"/>
                                        </p:tgtEl>
                                        <p:attrNameLst>
                                          <p:attrName>style.visibility</p:attrName>
                                        </p:attrNameLst>
                                      </p:cBhvr>
                                      <p:to>
                                        <p:strVal val="visible"/>
                                      </p:to>
                                    </p:set>
                                    <p:anim calcmode="lin" valueType="num">
                                      <p:cBhvr additive="base">
                                        <p:cTn id="25" dur="500" fill="hold"/>
                                        <p:tgtEl>
                                          <p:spTgt spid="205839"/>
                                        </p:tgtEl>
                                        <p:attrNameLst>
                                          <p:attrName>ppt_x</p:attrName>
                                        </p:attrNameLst>
                                      </p:cBhvr>
                                      <p:tavLst>
                                        <p:tav tm="0">
                                          <p:val>
                                            <p:strVal val="#ppt_x"/>
                                          </p:val>
                                        </p:tav>
                                        <p:tav tm="100000">
                                          <p:val>
                                            <p:strVal val="#ppt_x"/>
                                          </p:val>
                                        </p:tav>
                                      </p:tavLst>
                                    </p:anim>
                                    <p:anim calcmode="lin" valueType="num">
                                      <p:cBhvr additive="base">
                                        <p:cTn id="26" dur="500" fill="hold"/>
                                        <p:tgtEl>
                                          <p:spTgt spid="20583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05833"/>
                                        </p:tgtEl>
                                        <p:attrNameLst>
                                          <p:attrName>style.visibility</p:attrName>
                                        </p:attrNameLst>
                                      </p:cBhvr>
                                      <p:to>
                                        <p:strVal val="visible"/>
                                      </p:to>
                                    </p:set>
                                    <p:anim calcmode="lin" valueType="num">
                                      <p:cBhvr additive="base">
                                        <p:cTn id="31" dur="500" fill="hold"/>
                                        <p:tgtEl>
                                          <p:spTgt spid="205833"/>
                                        </p:tgtEl>
                                        <p:attrNameLst>
                                          <p:attrName>ppt_x</p:attrName>
                                        </p:attrNameLst>
                                      </p:cBhvr>
                                      <p:tavLst>
                                        <p:tav tm="0">
                                          <p:val>
                                            <p:strVal val="#ppt_x"/>
                                          </p:val>
                                        </p:tav>
                                        <p:tav tm="100000">
                                          <p:val>
                                            <p:strVal val="#ppt_x"/>
                                          </p:val>
                                        </p:tav>
                                      </p:tavLst>
                                    </p:anim>
                                    <p:anim calcmode="lin" valueType="num">
                                      <p:cBhvr additive="base">
                                        <p:cTn id="32" dur="500" fill="hold"/>
                                        <p:tgtEl>
                                          <p:spTgt spid="2058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39" grpId="0"/>
      <p:bldP spid="20584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3713" y="1125538"/>
            <a:ext cx="24479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5"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71775" y="3716338"/>
            <a:ext cx="2447925" cy="119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6" name="Rectangle 11"/>
          <p:cNvSpPr>
            <a:spLocks noChangeArrowheads="1"/>
          </p:cNvSpPr>
          <p:nvPr/>
        </p:nvSpPr>
        <p:spPr bwMode="auto">
          <a:xfrm>
            <a:off x="250825" y="404813"/>
            <a:ext cx="741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rPr>
              <a:t>例  用二点高斯</a:t>
            </a:r>
            <a:r>
              <a:rPr lang="en-US" altLang="zh-CN" sz="3200" b="1">
                <a:latin typeface="Times New Roman" pitchFamily="18" charset="0"/>
              </a:rPr>
              <a:t>-</a:t>
            </a:r>
            <a:r>
              <a:rPr lang="zh-CN" altLang="en-US" sz="3200" b="1">
                <a:latin typeface="Times New Roman" pitchFamily="18" charset="0"/>
              </a:rPr>
              <a:t>勒让德公式计算积分</a:t>
            </a:r>
            <a:endParaRPr lang="zh-CN" altLang="en-US" sz="3200" b="1"/>
          </a:p>
        </p:txBody>
      </p:sp>
      <p:sp>
        <p:nvSpPr>
          <p:cNvPr id="90117" name="Rectangle 12"/>
          <p:cNvSpPr>
            <a:spLocks noChangeArrowheads="1"/>
          </p:cNvSpPr>
          <p:nvPr/>
        </p:nvSpPr>
        <p:spPr bwMode="auto">
          <a:xfrm>
            <a:off x="250825" y="2492375"/>
            <a:ext cx="31416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306388"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rPr>
              <a:t>解  作变量代换</a:t>
            </a:r>
            <a:endParaRPr lang="zh-CN" altLang="en-US" sz="3200" b="1"/>
          </a:p>
        </p:txBody>
      </p:sp>
      <p:sp>
        <p:nvSpPr>
          <p:cNvPr id="90118" name="Rectangle 13"/>
          <p:cNvSpPr>
            <a:spLocks noChangeArrowheads="1"/>
          </p:cNvSpPr>
          <p:nvPr/>
        </p:nvSpPr>
        <p:spPr bwMode="auto">
          <a:xfrm>
            <a:off x="468313" y="3908425"/>
            <a:ext cx="647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latin typeface="Times New Roman" pitchFamily="18" charset="0"/>
              </a:rPr>
              <a:t>则</a:t>
            </a:r>
            <a:endParaRPr lang="zh-CN" altLang="en-US" sz="3200"/>
          </a:p>
        </p:txBody>
      </p:sp>
      <p:sp>
        <p:nvSpPr>
          <p:cNvPr id="90119" name="Rectangle 17"/>
          <p:cNvSpPr>
            <a:spLocks noChangeArrowheads="1"/>
          </p:cNvSpPr>
          <p:nvPr/>
        </p:nvSpPr>
        <p:spPr bwMode="auto">
          <a:xfrm>
            <a:off x="4846638" y="4949825"/>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3200">
                <a:latin typeface="Times New Roman" pitchFamily="18" charset="0"/>
              </a:rPr>
              <a:t>  </a:t>
            </a:r>
            <a:endParaRPr lang="en-US" altLang="zh-CN" sz="3200"/>
          </a:p>
        </p:txBody>
      </p:sp>
      <p:graphicFrame>
        <p:nvGraphicFramePr>
          <p:cNvPr id="90120" name="Object 19"/>
          <p:cNvGraphicFramePr>
            <a:graphicFrameLocks noChangeAspect="1"/>
          </p:cNvGraphicFramePr>
          <p:nvPr/>
        </p:nvGraphicFramePr>
        <p:xfrm>
          <a:off x="4140200" y="2276475"/>
          <a:ext cx="3581400" cy="1270000"/>
        </p:xfrm>
        <a:graphic>
          <a:graphicData uri="http://schemas.openxmlformats.org/presentationml/2006/ole">
            <mc:AlternateContent xmlns:mc="http://schemas.openxmlformats.org/markup-compatibility/2006">
              <mc:Choice xmlns:v="urn:schemas-microsoft-com:vml" Requires="v">
                <p:oleObj spid="_x0000_s90167" name="公式" r:id="rId5" imgW="1104900" imgH="393700" progId="Equation.3">
                  <p:embed/>
                </p:oleObj>
              </mc:Choice>
              <mc:Fallback>
                <p:oleObj name="公式" r:id="rId5" imgW="1104900" imgH="393700"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0200" y="2276475"/>
                        <a:ext cx="3581400"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21" name="Object 20"/>
          <p:cNvGraphicFramePr>
            <a:graphicFrameLocks noChangeAspect="1"/>
          </p:cNvGraphicFramePr>
          <p:nvPr/>
        </p:nvGraphicFramePr>
        <p:xfrm>
          <a:off x="1187450" y="5157788"/>
          <a:ext cx="6048375" cy="1511300"/>
        </p:xfrm>
        <a:graphic>
          <a:graphicData uri="http://schemas.openxmlformats.org/presentationml/2006/ole">
            <mc:AlternateContent xmlns:mc="http://schemas.openxmlformats.org/markup-compatibility/2006">
              <mc:Choice xmlns:v="urn:schemas-microsoft-com:vml" Requires="v">
                <p:oleObj spid="_x0000_s90168" name="公式" r:id="rId7" imgW="2019300" imgH="508000" progId="Equation.3">
                  <p:embed/>
                </p:oleObj>
              </mc:Choice>
              <mc:Fallback>
                <p:oleObj name="公式" r:id="rId7" imgW="2019300" imgH="508000"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5157788"/>
                        <a:ext cx="60483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06869" name="Picture 2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11863" y="4221163"/>
            <a:ext cx="2916237"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206869"/>
                                        </p:tgtEl>
                                        <p:attrNameLst>
                                          <p:attrName>style.visibility</p:attrName>
                                        </p:attrNameLst>
                                      </p:cBhvr>
                                      <p:to>
                                        <p:strVal val="visible"/>
                                      </p:to>
                                    </p:set>
                                    <p:anim calcmode="lin" valueType="num">
                                      <p:cBhvr additive="base">
                                        <p:cTn id="7" dur="500" fill="hold"/>
                                        <p:tgtEl>
                                          <p:spTgt spid="206869"/>
                                        </p:tgtEl>
                                        <p:attrNameLst>
                                          <p:attrName>ppt_x</p:attrName>
                                        </p:attrNameLst>
                                      </p:cBhvr>
                                      <p:tavLst>
                                        <p:tav tm="0">
                                          <p:val>
                                            <p:strVal val="#ppt_x"/>
                                          </p:val>
                                        </p:tav>
                                        <p:tav tm="100000">
                                          <p:val>
                                            <p:strVal val="#ppt_x"/>
                                          </p:val>
                                        </p:tav>
                                      </p:tavLst>
                                    </p:anim>
                                    <p:anim calcmode="lin" valueType="num">
                                      <p:cBhvr additive="base">
                                        <p:cTn id="8" dur="500" fill="hold"/>
                                        <p:tgtEl>
                                          <p:spTgt spid="2068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8888" y="260350"/>
            <a:ext cx="24479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39"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43663" y="765175"/>
            <a:ext cx="2087562"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0"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03350" y="1844675"/>
            <a:ext cx="5616575"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877"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0825" y="3213100"/>
            <a:ext cx="252095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878"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508625" y="4149725"/>
            <a:ext cx="24479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3" name="Rectangle 9"/>
          <p:cNvSpPr>
            <a:spLocks noChangeArrowheads="1"/>
          </p:cNvSpPr>
          <p:nvPr/>
        </p:nvSpPr>
        <p:spPr bwMode="auto">
          <a:xfrm>
            <a:off x="250825" y="404813"/>
            <a:ext cx="1225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rPr>
              <a:t>例</a:t>
            </a:r>
            <a:endParaRPr lang="zh-CN" altLang="en-US" sz="3200"/>
          </a:p>
        </p:txBody>
      </p:sp>
      <p:sp>
        <p:nvSpPr>
          <p:cNvPr id="91144" name="Rectangle 10"/>
          <p:cNvSpPr>
            <a:spLocks noChangeArrowheads="1"/>
          </p:cNvSpPr>
          <p:nvPr/>
        </p:nvSpPr>
        <p:spPr bwMode="auto">
          <a:xfrm>
            <a:off x="4356100" y="260350"/>
            <a:ext cx="31416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306388"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rPr>
              <a:t>解  作变量代换</a:t>
            </a:r>
            <a:endParaRPr lang="zh-CN" altLang="en-US" sz="3200" b="1"/>
          </a:p>
        </p:txBody>
      </p:sp>
      <p:sp>
        <p:nvSpPr>
          <p:cNvPr id="91145" name="Rectangle 11"/>
          <p:cNvSpPr>
            <a:spLocks noChangeArrowheads="1"/>
          </p:cNvSpPr>
          <p:nvPr/>
        </p:nvSpPr>
        <p:spPr bwMode="auto">
          <a:xfrm>
            <a:off x="539750" y="2276475"/>
            <a:ext cx="1295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rPr>
              <a:t>则</a:t>
            </a:r>
            <a:endParaRPr lang="zh-CN" altLang="en-US" sz="3200" b="1"/>
          </a:p>
        </p:txBody>
      </p:sp>
      <p:sp>
        <p:nvSpPr>
          <p:cNvPr id="207885" name="Rectangle 13"/>
          <p:cNvSpPr>
            <a:spLocks noChangeArrowheads="1"/>
          </p:cNvSpPr>
          <p:nvPr/>
        </p:nvSpPr>
        <p:spPr bwMode="auto">
          <a:xfrm>
            <a:off x="3059113" y="4076700"/>
            <a:ext cx="1917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latin typeface="Times New Roman" pitchFamily="18" charset="0"/>
              </a:rPr>
              <a:t>,</a:t>
            </a:r>
            <a:r>
              <a:rPr lang="zh-CN" altLang="en-US" sz="3200" b="1">
                <a:latin typeface="Times New Roman" pitchFamily="18" charset="0"/>
              </a:rPr>
              <a:t>因为节点</a:t>
            </a:r>
            <a:endParaRPr lang="zh-CN" altLang="en-US" sz="3200" b="1"/>
          </a:p>
        </p:txBody>
      </p:sp>
      <p:sp>
        <p:nvSpPr>
          <p:cNvPr id="91147" name="Rectangle 14"/>
          <p:cNvSpPr>
            <a:spLocks noChangeArrowheads="1"/>
          </p:cNvSpPr>
          <p:nvPr/>
        </p:nvSpPr>
        <p:spPr bwMode="auto">
          <a:xfrm>
            <a:off x="468313" y="5013325"/>
            <a:ext cx="64770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rPr>
              <a:t>得</a:t>
            </a:r>
            <a:endParaRPr lang="zh-CN" altLang="en-US" sz="3200" b="1"/>
          </a:p>
        </p:txBody>
      </p:sp>
      <p:graphicFrame>
        <p:nvGraphicFramePr>
          <p:cNvPr id="207891" name="Object 19"/>
          <p:cNvGraphicFramePr>
            <a:graphicFrameLocks noChangeAspect="1"/>
          </p:cNvGraphicFramePr>
          <p:nvPr/>
        </p:nvGraphicFramePr>
        <p:xfrm>
          <a:off x="3492500" y="2852738"/>
          <a:ext cx="4824413" cy="1204912"/>
        </p:xfrm>
        <a:graphic>
          <a:graphicData uri="http://schemas.openxmlformats.org/presentationml/2006/ole">
            <mc:AlternateContent xmlns:mc="http://schemas.openxmlformats.org/markup-compatibility/2006">
              <mc:Choice xmlns:v="urn:schemas-microsoft-com:vml" Requires="v">
                <p:oleObj spid="_x0000_s91217" name="公式" r:id="rId8" imgW="2019300" imgH="508000" progId="Equation.3">
                  <p:embed/>
                </p:oleObj>
              </mc:Choice>
              <mc:Fallback>
                <p:oleObj name="公式" r:id="rId8" imgW="2019300" imgH="508000"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92500" y="2852738"/>
                        <a:ext cx="4824413" cy="120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7892" name="Object 20"/>
          <p:cNvGraphicFramePr>
            <a:graphicFrameLocks noChangeAspect="1"/>
          </p:cNvGraphicFramePr>
          <p:nvPr/>
        </p:nvGraphicFramePr>
        <p:xfrm>
          <a:off x="1835150" y="4941888"/>
          <a:ext cx="6249988" cy="542925"/>
        </p:xfrm>
        <a:graphic>
          <a:graphicData uri="http://schemas.openxmlformats.org/presentationml/2006/ole">
            <mc:AlternateContent xmlns:mc="http://schemas.openxmlformats.org/markup-compatibility/2006">
              <mc:Choice xmlns:v="urn:schemas-microsoft-com:vml" Requires="v">
                <p:oleObj spid="_x0000_s91218" name="公式" r:id="rId10" imgW="2616200" imgH="228600" progId="Equation.3">
                  <p:embed/>
                </p:oleObj>
              </mc:Choice>
              <mc:Fallback>
                <p:oleObj name="公式" r:id="rId10" imgW="2616200" imgH="228600" progId="Equation.3">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5150" y="4941888"/>
                        <a:ext cx="6249988"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7893" name="Object 21"/>
          <p:cNvGraphicFramePr>
            <a:graphicFrameLocks noChangeAspect="1"/>
          </p:cNvGraphicFramePr>
          <p:nvPr/>
        </p:nvGraphicFramePr>
        <p:xfrm>
          <a:off x="1692275" y="5876925"/>
          <a:ext cx="6189663" cy="512763"/>
        </p:xfrm>
        <a:graphic>
          <a:graphicData uri="http://schemas.openxmlformats.org/presentationml/2006/ole">
            <mc:AlternateContent xmlns:mc="http://schemas.openxmlformats.org/markup-compatibility/2006">
              <mc:Choice xmlns:v="urn:schemas-microsoft-com:vml" Requires="v">
                <p:oleObj spid="_x0000_s91219" name="公式" r:id="rId12" imgW="2590800" imgH="215900" progId="Equation.3">
                  <p:embed/>
                </p:oleObj>
              </mc:Choice>
              <mc:Fallback>
                <p:oleObj name="公式" r:id="rId12" imgW="2590800" imgH="215900" progId="Equation.3">
                  <p:embed/>
                  <p:pic>
                    <p:nvPicPr>
                      <p:cNvPr id="0"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92275" y="5876925"/>
                        <a:ext cx="618966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7877"/>
                                        </p:tgtEl>
                                        <p:attrNameLst>
                                          <p:attrName>style.visibility</p:attrName>
                                        </p:attrNameLst>
                                      </p:cBhvr>
                                      <p:to>
                                        <p:strVal val="visible"/>
                                      </p:to>
                                    </p:set>
                                    <p:anim calcmode="lin" valueType="num">
                                      <p:cBhvr additive="base">
                                        <p:cTn id="7" dur="500" fill="hold"/>
                                        <p:tgtEl>
                                          <p:spTgt spid="207877"/>
                                        </p:tgtEl>
                                        <p:attrNameLst>
                                          <p:attrName>ppt_x</p:attrName>
                                        </p:attrNameLst>
                                      </p:cBhvr>
                                      <p:tavLst>
                                        <p:tav tm="0">
                                          <p:val>
                                            <p:strVal val="#ppt_x"/>
                                          </p:val>
                                        </p:tav>
                                        <p:tav tm="100000">
                                          <p:val>
                                            <p:strVal val="#ppt_x"/>
                                          </p:val>
                                        </p:tav>
                                      </p:tavLst>
                                    </p:anim>
                                    <p:anim calcmode="lin" valueType="num">
                                      <p:cBhvr additive="base">
                                        <p:cTn id="8" dur="500" fill="hold"/>
                                        <p:tgtEl>
                                          <p:spTgt spid="20787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07891"/>
                                        </p:tgtEl>
                                        <p:attrNameLst>
                                          <p:attrName>style.visibility</p:attrName>
                                        </p:attrNameLst>
                                      </p:cBhvr>
                                      <p:to>
                                        <p:strVal val="visible"/>
                                      </p:to>
                                    </p:set>
                                    <p:anim calcmode="lin" valueType="num">
                                      <p:cBhvr additive="base">
                                        <p:cTn id="13" dur="500" fill="hold"/>
                                        <p:tgtEl>
                                          <p:spTgt spid="207891"/>
                                        </p:tgtEl>
                                        <p:attrNameLst>
                                          <p:attrName>ppt_x</p:attrName>
                                        </p:attrNameLst>
                                      </p:cBhvr>
                                      <p:tavLst>
                                        <p:tav tm="0">
                                          <p:val>
                                            <p:strVal val="#ppt_x"/>
                                          </p:val>
                                        </p:tav>
                                        <p:tav tm="100000">
                                          <p:val>
                                            <p:strVal val="#ppt_x"/>
                                          </p:val>
                                        </p:tav>
                                      </p:tavLst>
                                    </p:anim>
                                    <p:anim calcmode="lin" valueType="num">
                                      <p:cBhvr additive="base">
                                        <p:cTn id="14" dur="500" fill="hold"/>
                                        <p:tgtEl>
                                          <p:spTgt spid="20789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7885"/>
                                        </p:tgtEl>
                                        <p:attrNameLst>
                                          <p:attrName>style.visibility</p:attrName>
                                        </p:attrNameLst>
                                      </p:cBhvr>
                                      <p:to>
                                        <p:strVal val="visible"/>
                                      </p:to>
                                    </p:set>
                                    <p:anim calcmode="lin" valueType="num">
                                      <p:cBhvr additive="base">
                                        <p:cTn id="19" dur="500" fill="hold"/>
                                        <p:tgtEl>
                                          <p:spTgt spid="207885"/>
                                        </p:tgtEl>
                                        <p:attrNameLst>
                                          <p:attrName>ppt_x</p:attrName>
                                        </p:attrNameLst>
                                      </p:cBhvr>
                                      <p:tavLst>
                                        <p:tav tm="0">
                                          <p:val>
                                            <p:strVal val="#ppt_x"/>
                                          </p:val>
                                        </p:tav>
                                        <p:tav tm="100000">
                                          <p:val>
                                            <p:strVal val="#ppt_x"/>
                                          </p:val>
                                        </p:tav>
                                      </p:tavLst>
                                    </p:anim>
                                    <p:anim calcmode="lin" valueType="num">
                                      <p:cBhvr additive="base">
                                        <p:cTn id="20" dur="500" fill="hold"/>
                                        <p:tgtEl>
                                          <p:spTgt spid="20788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07878"/>
                                        </p:tgtEl>
                                        <p:attrNameLst>
                                          <p:attrName>style.visibility</p:attrName>
                                        </p:attrNameLst>
                                      </p:cBhvr>
                                      <p:to>
                                        <p:strVal val="visible"/>
                                      </p:to>
                                    </p:set>
                                    <p:anim calcmode="lin" valueType="num">
                                      <p:cBhvr additive="base">
                                        <p:cTn id="23" dur="500" fill="hold"/>
                                        <p:tgtEl>
                                          <p:spTgt spid="207878"/>
                                        </p:tgtEl>
                                        <p:attrNameLst>
                                          <p:attrName>ppt_x</p:attrName>
                                        </p:attrNameLst>
                                      </p:cBhvr>
                                      <p:tavLst>
                                        <p:tav tm="0">
                                          <p:val>
                                            <p:strVal val="#ppt_x"/>
                                          </p:val>
                                        </p:tav>
                                        <p:tav tm="100000">
                                          <p:val>
                                            <p:strVal val="#ppt_x"/>
                                          </p:val>
                                        </p:tav>
                                      </p:tavLst>
                                    </p:anim>
                                    <p:anim calcmode="lin" valueType="num">
                                      <p:cBhvr additive="base">
                                        <p:cTn id="24" dur="500" fill="hold"/>
                                        <p:tgtEl>
                                          <p:spTgt spid="207878"/>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07892"/>
                                        </p:tgtEl>
                                        <p:attrNameLst>
                                          <p:attrName>style.visibility</p:attrName>
                                        </p:attrNameLst>
                                      </p:cBhvr>
                                      <p:to>
                                        <p:strVal val="visible"/>
                                      </p:to>
                                    </p:set>
                                    <p:anim calcmode="lin" valueType="num">
                                      <p:cBhvr additive="base">
                                        <p:cTn id="29" dur="500" fill="hold"/>
                                        <p:tgtEl>
                                          <p:spTgt spid="207892"/>
                                        </p:tgtEl>
                                        <p:attrNameLst>
                                          <p:attrName>ppt_x</p:attrName>
                                        </p:attrNameLst>
                                      </p:cBhvr>
                                      <p:tavLst>
                                        <p:tav tm="0">
                                          <p:val>
                                            <p:strVal val="#ppt_x"/>
                                          </p:val>
                                        </p:tav>
                                        <p:tav tm="100000">
                                          <p:val>
                                            <p:strVal val="#ppt_x"/>
                                          </p:val>
                                        </p:tav>
                                      </p:tavLst>
                                    </p:anim>
                                    <p:anim calcmode="lin" valueType="num">
                                      <p:cBhvr additive="base">
                                        <p:cTn id="30" dur="500" fill="hold"/>
                                        <p:tgtEl>
                                          <p:spTgt spid="207892"/>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207893"/>
                                        </p:tgtEl>
                                        <p:attrNameLst>
                                          <p:attrName>style.visibility</p:attrName>
                                        </p:attrNameLst>
                                      </p:cBhvr>
                                      <p:to>
                                        <p:strVal val="visible"/>
                                      </p:to>
                                    </p:set>
                                    <p:anim calcmode="lin" valueType="num">
                                      <p:cBhvr additive="base">
                                        <p:cTn id="35" dur="500" fill="hold"/>
                                        <p:tgtEl>
                                          <p:spTgt spid="207893"/>
                                        </p:tgtEl>
                                        <p:attrNameLst>
                                          <p:attrName>ppt_x</p:attrName>
                                        </p:attrNameLst>
                                      </p:cBhvr>
                                      <p:tavLst>
                                        <p:tav tm="0">
                                          <p:val>
                                            <p:strVal val="#ppt_x"/>
                                          </p:val>
                                        </p:tav>
                                        <p:tav tm="100000">
                                          <p:val>
                                            <p:strVal val="#ppt_x"/>
                                          </p:val>
                                        </p:tav>
                                      </p:tavLst>
                                    </p:anim>
                                    <p:anim calcmode="lin" valueType="num">
                                      <p:cBhvr additive="base">
                                        <p:cTn id="36" dur="500" fill="hold"/>
                                        <p:tgtEl>
                                          <p:spTgt spid="2078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8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088" y="1341438"/>
            <a:ext cx="74898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3713" y="3500438"/>
            <a:ext cx="3024187"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Rectangle 6"/>
          <p:cNvSpPr>
            <a:spLocks noChangeArrowheads="1"/>
          </p:cNvSpPr>
          <p:nvPr/>
        </p:nvSpPr>
        <p:spPr bwMode="auto">
          <a:xfrm>
            <a:off x="215900" y="5229225"/>
            <a:ext cx="88201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计算结果比用复合梯形公式</a:t>
            </a:r>
            <a:r>
              <a:rPr lang="en-US" altLang="zh-CN" sz="3200" b="1"/>
              <a:t>7</a:t>
            </a:r>
            <a:r>
              <a:rPr lang="zh-CN" altLang="en-US" sz="3200" b="1"/>
              <a:t>个节点计算的结果还要好 。</a:t>
            </a:r>
          </a:p>
        </p:txBody>
      </p:sp>
      <p:sp>
        <p:nvSpPr>
          <p:cNvPr id="92165" name="Rectangle 7"/>
          <p:cNvSpPr>
            <a:spLocks noChangeArrowheads="1"/>
          </p:cNvSpPr>
          <p:nvPr/>
        </p:nvSpPr>
        <p:spPr bwMode="auto">
          <a:xfrm>
            <a:off x="684213" y="549275"/>
            <a:ext cx="39576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Times New Roman" pitchFamily="18" charset="0"/>
              </a:rPr>
              <a:t>所以</a:t>
            </a:r>
            <a:r>
              <a:rPr lang="en-US" altLang="zh-CN" sz="3200" b="1">
                <a:latin typeface="Times New Roman" pitchFamily="18" charset="0"/>
              </a:rPr>
              <a:t>,</a:t>
            </a:r>
            <a:r>
              <a:rPr lang="zh-CN" altLang="en-US" sz="3200" b="1">
                <a:latin typeface="Times New Roman" pitchFamily="18" charset="0"/>
              </a:rPr>
              <a:t>由二点高斯公式</a:t>
            </a:r>
            <a:endParaRPr lang="zh-CN" altLang="en-US" sz="3200" b="1"/>
          </a:p>
        </p:txBody>
      </p:sp>
    </p:spTree>
  </p:cSld>
  <p:clrMapOvr>
    <a:masterClrMapping/>
  </p:clrMapOvr>
  <p:transition spd="slow">
    <p:push dir="u"/>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250825" y="549275"/>
            <a:ext cx="8596313" cy="490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5000"/>
              </a:lnSpc>
            </a:pPr>
            <a:r>
              <a:rPr lang="en-US" altLang="zh-CN" sz="3600" b="1">
                <a:latin typeface="Times New Roman" pitchFamily="18" charset="0"/>
              </a:rPr>
              <a:t>One widely used example of this is Gauss quadrature which enables exact integration of cubics with only two function evaluations (in contrast Simpson’s Rule, which is also exact for cubics, requires three function evaluations). </a:t>
            </a:r>
          </a:p>
        </p:txBody>
      </p:sp>
    </p:spTree>
  </p:cSld>
  <p:clrMapOvr>
    <a:masterClrMapping/>
  </p:clrMapOvr>
  <p:transition spd="slow">
    <p:push dir="u"/>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152400" y="250825"/>
            <a:ext cx="8839200" cy="437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b="1">
                <a:solidFill>
                  <a:srgbClr val="000000"/>
                </a:solidFill>
                <a:latin typeface="Times New Roman" pitchFamily="18" charset="0"/>
              </a:rPr>
              <a:t>The Gauss Quadrature accurate to order </a:t>
            </a:r>
            <a:r>
              <a:rPr lang="en-US" altLang="zh-CN" sz="3600" b="1">
                <a:solidFill>
                  <a:srgbClr val="000080"/>
                </a:solidFill>
                <a:latin typeface="Times New Roman" pitchFamily="18" charset="0"/>
              </a:rPr>
              <a:t>2</a:t>
            </a:r>
            <a:r>
              <a:rPr lang="en-US" altLang="zh-CN" sz="3600" b="1" i="1">
                <a:solidFill>
                  <a:srgbClr val="000080"/>
                </a:solidFill>
                <a:latin typeface="Times New Roman" pitchFamily="18" charset="0"/>
              </a:rPr>
              <a:t>M</a:t>
            </a:r>
            <a:r>
              <a:rPr lang="en-US" altLang="zh-CN" sz="3600" b="1">
                <a:solidFill>
                  <a:srgbClr val="000080"/>
                </a:solidFill>
                <a:latin typeface="Symbol" pitchFamily="18" charset="2"/>
              </a:rPr>
              <a:t>-</a:t>
            </a:r>
            <a:r>
              <a:rPr lang="en-US" altLang="zh-CN" sz="3600" b="1">
                <a:solidFill>
                  <a:srgbClr val="000080"/>
                </a:solidFill>
                <a:latin typeface="Times New Roman" pitchFamily="18" charset="0"/>
              </a:rPr>
              <a:t>1 </a:t>
            </a:r>
            <a:r>
              <a:rPr lang="en-US" altLang="zh-CN" sz="3600" b="1">
                <a:solidFill>
                  <a:srgbClr val="000000"/>
                </a:solidFill>
                <a:latin typeface="Times New Roman" pitchFamily="18" charset="0"/>
              </a:rPr>
              <a:t>may be determined using the same approach required for the two-point scheme. This may be derived by comparing the Taylor Series expansion for the integral with that</a:t>
            </a:r>
          </a:p>
        </p:txBody>
      </p:sp>
      <p:pic>
        <p:nvPicPr>
          <p:cNvPr id="481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661025"/>
            <a:ext cx="91440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8132" name="Object 4"/>
          <p:cNvGraphicFramePr>
            <a:graphicFrameLocks noChangeAspect="1"/>
          </p:cNvGraphicFramePr>
          <p:nvPr/>
        </p:nvGraphicFramePr>
        <p:xfrm>
          <a:off x="468313" y="4724400"/>
          <a:ext cx="7705725" cy="923925"/>
        </p:xfrm>
        <a:graphic>
          <a:graphicData uri="http://schemas.openxmlformats.org/presentationml/2006/ole">
            <mc:AlternateContent xmlns:mc="http://schemas.openxmlformats.org/markup-compatibility/2006">
              <mc:Choice xmlns:v="urn:schemas-microsoft-com:vml" Requires="v">
                <p:oleObj spid="_x0000_s94235" name="公式" r:id="rId4" imgW="2956608" imgH="320040" progId="Equation.3">
                  <p:embed/>
                </p:oleObj>
              </mc:Choice>
              <mc:Fallback>
                <p:oleObj name="公式" r:id="rId4" imgW="2956608" imgH="32004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4724400"/>
                        <a:ext cx="77057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dissolve">
                                      <p:cBhvr>
                                        <p:cTn id="7" dur="500"/>
                                        <p:tgtEl>
                                          <p:spTgt spid="481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48131"/>
                                        </p:tgtEl>
                                        <p:attrNameLst>
                                          <p:attrName>style.visibility</p:attrName>
                                        </p:attrNameLst>
                                      </p:cBhvr>
                                      <p:to>
                                        <p:strVal val="visible"/>
                                      </p:to>
                                    </p:set>
                                    <p:anim calcmode="lin" valueType="num">
                                      <p:cBhvr additive="base">
                                        <p:cTn id="12" dur="500" fill="hold"/>
                                        <p:tgtEl>
                                          <p:spTgt spid="48131"/>
                                        </p:tgtEl>
                                        <p:attrNameLst>
                                          <p:attrName>ppt_x</p:attrName>
                                        </p:attrNameLst>
                                      </p:cBhvr>
                                      <p:tavLst>
                                        <p:tav tm="0">
                                          <p:val>
                                            <p:strVal val="#ppt_x"/>
                                          </p:val>
                                        </p:tav>
                                        <p:tav tm="100000">
                                          <p:val>
                                            <p:strVal val="#ppt_x"/>
                                          </p:val>
                                        </p:tav>
                                      </p:tavLst>
                                    </p:anim>
                                    <p:anim calcmode="lin" valueType="num">
                                      <p:cBhvr additive="base">
                                        <p:cTn id="13" dur="500" fill="hold"/>
                                        <p:tgtEl>
                                          <p:spTgt spid="48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5"/>
          <p:cNvSpPr>
            <a:spLocks noChangeArrowheads="1"/>
          </p:cNvSpPr>
          <p:nvPr/>
        </p:nvSpPr>
        <p:spPr bwMode="auto">
          <a:xfrm>
            <a:off x="323850" y="188913"/>
            <a:ext cx="8316913"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a:solidFill>
                  <a:srgbClr val="000000"/>
                </a:solidFill>
                <a:latin typeface="Times New Roman" pitchFamily="18" charset="0"/>
              </a:rPr>
              <a:t>that for the points </a:t>
            </a:r>
            <a:r>
              <a:rPr lang="en-US" altLang="zh-CN" sz="3600" i="1">
                <a:solidFill>
                  <a:srgbClr val="000080"/>
                </a:solidFill>
                <a:latin typeface="Times New Roman" pitchFamily="18" charset="0"/>
              </a:rPr>
              <a:t>x</a:t>
            </a:r>
            <a:r>
              <a:rPr lang="en-US" altLang="zh-CN" sz="3600" baseline="-25000">
                <a:solidFill>
                  <a:srgbClr val="008080"/>
                </a:solidFill>
                <a:latin typeface="Times New Roman" pitchFamily="18" charset="0"/>
              </a:rPr>
              <a:t>0</a:t>
            </a:r>
            <a:r>
              <a:rPr lang="en-US" altLang="zh-CN" sz="3600">
                <a:solidFill>
                  <a:srgbClr val="000080"/>
                </a:solidFill>
                <a:latin typeface="Times New Roman" pitchFamily="18" charset="0"/>
              </a:rPr>
              <a:t>+</a:t>
            </a:r>
            <a:r>
              <a:rPr lang="en-US" altLang="zh-CN" sz="3600">
                <a:solidFill>
                  <a:srgbClr val="008000"/>
                </a:solidFill>
                <a:latin typeface="Symbol" pitchFamily="18" charset="2"/>
              </a:rPr>
              <a:t>aD</a:t>
            </a:r>
            <a:r>
              <a:rPr lang="en-US" altLang="zh-CN" sz="3600" i="1">
                <a:solidFill>
                  <a:srgbClr val="000080"/>
                </a:solidFill>
                <a:latin typeface="Times New Roman" pitchFamily="18" charset="0"/>
              </a:rPr>
              <a:t>x </a:t>
            </a:r>
            <a:r>
              <a:rPr lang="en-US" altLang="zh-CN" sz="3600">
                <a:solidFill>
                  <a:srgbClr val="000000"/>
                </a:solidFill>
                <a:latin typeface="Times New Roman" pitchFamily="18" charset="0"/>
              </a:rPr>
              <a:t>and </a:t>
            </a:r>
            <a:r>
              <a:rPr lang="en-US" altLang="zh-CN" sz="3600" i="1">
                <a:solidFill>
                  <a:srgbClr val="000080"/>
                </a:solidFill>
                <a:latin typeface="Times New Roman" pitchFamily="18" charset="0"/>
              </a:rPr>
              <a:t>x</a:t>
            </a:r>
            <a:r>
              <a:rPr lang="en-US" altLang="zh-CN" sz="3600" baseline="-25000">
                <a:solidFill>
                  <a:srgbClr val="008080"/>
                </a:solidFill>
                <a:latin typeface="Times New Roman" pitchFamily="18" charset="0"/>
              </a:rPr>
              <a:t>0</a:t>
            </a:r>
            <a:r>
              <a:rPr lang="en-US" altLang="zh-CN" sz="3600">
                <a:solidFill>
                  <a:srgbClr val="000080"/>
                </a:solidFill>
                <a:latin typeface="Times New Roman" pitchFamily="18" charset="0"/>
              </a:rPr>
              <a:t>+</a:t>
            </a:r>
            <a:r>
              <a:rPr lang="en-US" altLang="zh-CN" sz="3600">
                <a:solidFill>
                  <a:srgbClr val="008000"/>
                </a:solidFill>
                <a:latin typeface="Symbol" pitchFamily="18" charset="2"/>
              </a:rPr>
              <a:t>bD</a:t>
            </a:r>
            <a:r>
              <a:rPr lang="en-US" altLang="zh-CN" sz="3600" i="1">
                <a:solidFill>
                  <a:srgbClr val="000080"/>
                </a:solidFill>
                <a:latin typeface="Times New Roman" pitchFamily="18" charset="0"/>
              </a:rPr>
              <a:t>x</a:t>
            </a:r>
            <a:r>
              <a:rPr lang="en-US" altLang="zh-CN" sz="3600">
                <a:solidFill>
                  <a:srgbClr val="000000"/>
                </a:solidFill>
                <a:latin typeface="Times New Roman" pitchFamily="18" charset="0"/>
              </a:rPr>
              <a:t>:</a:t>
            </a:r>
          </a:p>
        </p:txBody>
      </p:sp>
      <p:pic>
        <p:nvPicPr>
          <p:cNvPr id="266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25538"/>
            <a:ext cx="8748713" cy="94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6650" name="Object 26"/>
          <p:cNvGraphicFramePr>
            <a:graphicFrameLocks noChangeAspect="1"/>
          </p:cNvGraphicFramePr>
          <p:nvPr/>
        </p:nvGraphicFramePr>
        <p:xfrm>
          <a:off x="468313" y="2205038"/>
          <a:ext cx="7705725" cy="923925"/>
        </p:xfrm>
        <a:graphic>
          <a:graphicData uri="http://schemas.openxmlformats.org/presentationml/2006/ole">
            <mc:AlternateContent xmlns:mc="http://schemas.openxmlformats.org/markup-compatibility/2006">
              <mc:Choice xmlns:v="urn:schemas-microsoft-com:vml" Requires="v">
                <p:oleObj spid="_x0000_s95311" name="公式" r:id="rId4" imgW="2956608" imgH="320040" progId="Equation.3">
                  <p:embed/>
                </p:oleObj>
              </mc:Choice>
              <mc:Fallback>
                <p:oleObj name="公式" r:id="rId4" imgW="2956608" imgH="320040" progId="Equation.3">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2205038"/>
                        <a:ext cx="77057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51" name="Object 27"/>
          <p:cNvGraphicFramePr>
            <a:graphicFrameLocks noChangeAspect="1"/>
          </p:cNvGraphicFramePr>
          <p:nvPr/>
        </p:nvGraphicFramePr>
        <p:xfrm>
          <a:off x="290513" y="3716338"/>
          <a:ext cx="747712" cy="1668462"/>
        </p:xfrm>
        <a:graphic>
          <a:graphicData uri="http://schemas.openxmlformats.org/presentationml/2006/ole">
            <mc:AlternateContent xmlns:mc="http://schemas.openxmlformats.org/markup-compatibility/2006">
              <mc:Choice xmlns:v="urn:schemas-microsoft-com:vml" Requires="v">
                <p:oleObj spid="_x0000_s95312" name="公式" r:id="rId6" imgW="266760" imgH="632532" progId="Equation.3">
                  <p:embed/>
                </p:oleObj>
              </mc:Choice>
              <mc:Fallback>
                <p:oleObj name="公式" r:id="rId6" imgW="266760" imgH="632532" progId="Equation.3">
                  <p:embed/>
                  <p:pic>
                    <p:nvPicPr>
                      <p:cNvPr id="0"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513" y="3716338"/>
                        <a:ext cx="747712"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5238" name="Group 30"/>
          <p:cNvGrpSpPr>
            <a:grpSpLocks/>
          </p:cNvGrpSpPr>
          <p:nvPr/>
        </p:nvGrpSpPr>
        <p:grpSpPr bwMode="auto">
          <a:xfrm>
            <a:off x="1187450" y="3213100"/>
            <a:ext cx="7129463" cy="1152525"/>
            <a:chOff x="703" y="1979"/>
            <a:chExt cx="4115" cy="681"/>
          </a:xfrm>
        </p:grpSpPr>
        <p:pic>
          <p:nvPicPr>
            <p:cNvPr id="95243" name="Picture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3" y="2069"/>
              <a:ext cx="3991" cy="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244" name="Picture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94" y="1979"/>
              <a:ext cx="124" cy="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95239" name="Group 33"/>
          <p:cNvGrpSpPr>
            <a:grpSpLocks/>
          </p:cNvGrpSpPr>
          <p:nvPr/>
        </p:nvGrpSpPr>
        <p:grpSpPr bwMode="auto">
          <a:xfrm>
            <a:off x="1116013" y="4508500"/>
            <a:ext cx="7056437" cy="1152525"/>
            <a:chOff x="748" y="2704"/>
            <a:chExt cx="3118" cy="490"/>
          </a:xfrm>
        </p:grpSpPr>
        <p:pic>
          <p:nvPicPr>
            <p:cNvPr id="95241" name="Picture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8" y="2750"/>
              <a:ext cx="90" cy="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242" name="Picture 3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9" y="2704"/>
              <a:ext cx="3027" cy="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26658" name="Object 34"/>
          <p:cNvGraphicFramePr>
            <a:graphicFrameLocks noChangeAspect="1"/>
          </p:cNvGraphicFramePr>
          <p:nvPr/>
        </p:nvGraphicFramePr>
        <p:xfrm>
          <a:off x="1116013" y="5805488"/>
          <a:ext cx="3168650" cy="749300"/>
        </p:xfrm>
        <a:graphic>
          <a:graphicData uri="http://schemas.openxmlformats.org/presentationml/2006/ole">
            <mc:AlternateContent xmlns:mc="http://schemas.openxmlformats.org/markup-compatibility/2006">
              <mc:Choice xmlns:v="urn:schemas-microsoft-com:vml" Requires="v">
                <p:oleObj spid="_x0000_s95313" name="公式" r:id="rId12" imgW="937224" imgH="190428" progId="Equation.3">
                  <p:embed/>
                </p:oleObj>
              </mc:Choice>
              <mc:Fallback>
                <p:oleObj name="公式" r:id="rId12" imgW="937224" imgH="190428" progId="Equation.3">
                  <p:embed/>
                  <p:pic>
                    <p:nvPicPr>
                      <p:cNvPr id="0" name="Object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6013" y="5805488"/>
                        <a:ext cx="316865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6630"/>
                                        </p:tgtEl>
                                        <p:attrNameLst>
                                          <p:attrName>style.visibility</p:attrName>
                                        </p:attrNameLst>
                                      </p:cBhvr>
                                      <p:to>
                                        <p:strVal val="visible"/>
                                      </p:to>
                                    </p:set>
                                    <p:anim calcmode="lin" valueType="num">
                                      <p:cBhvr additive="base">
                                        <p:cTn id="7" dur="500" fill="hold"/>
                                        <p:tgtEl>
                                          <p:spTgt spid="26630"/>
                                        </p:tgtEl>
                                        <p:attrNameLst>
                                          <p:attrName>ppt_x</p:attrName>
                                        </p:attrNameLst>
                                      </p:cBhvr>
                                      <p:tavLst>
                                        <p:tav tm="0">
                                          <p:val>
                                            <p:strVal val="0-#ppt_w/2"/>
                                          </p:val>
                                        </p:tav>
                                        <p:tav tm="100000">
                                          <p:val>
                                            <p:strVal val="#ppt_x"/>
                                          </p:val>
                                        </p:tav>
                                      </p:tavLst>
                                    </p:anim>
                                    <p:anim calcmode="lin" valueType="num">
                                      <p:cBhvr additive="base">
                                        <p:cTn id="8" dur="500" fill="hold"/>
                                        <p:tgtEl>
                                          <p:spTgt spid="2663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26650"/>
                                        </p:tgtEl>
                                        <p:attrNameLst>
                                          <p:attrName>style.visibility</p:attrName>
                                        </p:attrNameLst>
                                      </p:cBhvr>
                                      <p:to>
                                        <p:strVal val="visible"/>
                                      </p:to>
                                    </p:set>
                                    <p:animEffect transition="in" filter="dissolve">
                                      <p:cBhvr>
                                        <p:cTn id="13" dur="500"/>
                                        <p:tgtEl>
                                          <p:spTgt spid="2665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26651"/>
                                        </p:tgtEl>
                                        <p:attrNameLst>
                                          <p:attrName>style.visibility</p:attrName>
                                        </p:attrNameLst>
                                      </p:cBhvr>
                                      <p:to>
                                        <p:strVal val="visible"/>
                                      </p:to>
                                    </p:set>
                                    <p:animEffect transition="in" filter="dissolve">
                                      <p:cBhvr>
                                        <p:cTn id="18" dur="500"/>
                                        <p:tgtEl>
                                          <p:spTgt spid="2665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26658"/>
                                        </p:tgtEl>
                                        <p:attrNameLst>
                                          <p:attrName>style.visibility</p:attrName>
                                        </p:attrNameLst>
                                      </p:cBhvr>
                                      <p:to>
                                        <p:strVal val="visible"/>
                                      </p:to>
                                    </p:set>
                                    <p:animEffect transition="in" filter="dissolve">
                                      <p:cBhvr>
                                        <p:cTn id="23" dur="500"/>
                                        <p:tgtEl>
                                          <p:spTgt spid="26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5445125"/>
            <a:ext cx="2590800"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6259" name="Rectangle 3"/>
          <p:cNvSpPr>
            <a:spLocks noChangeArrowheads="1"/>
          </p:cNvSpPr>
          <p:nvPr/>
        </p:nvSpPr>
        <p:spPr bwMode="auto">
          <a:xfrm>
            <a:off x="0" y="228600"/>
            <a:ext cx="914400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a:solidFill>
                  <a:srgbClr val="000000"/>
                </a:solidFill>
                <a:latin typeface="Times New Roman" pitchFamily="18" charset="0"/>
              </a:rPr>
              <a:t>that for the points </a:t>
            </a:r>
            <a:r>
              <a:rPr lang="en-US" altLang="zh-CN" sz="3600" i="1">
                <a:solidFill>
                  <a:srgbClr val="000080"/>
                </a:solidFill>
                <a:latin typeface="Times New Roman" pitchFamily="18" charset="0"/>
              </a:rPr>
              <a:t>x</a:t>
            </a:r>
            <a:r>
              <a:rPr lang="en-US" altLang="zh-CN" sz="3600" baseline="-25000">
                <a:solidFill>
                  <a:srgbClr val="008080"/>
                </a:solidFill>
                <a:latin typeface="Times New Roman" pitchFamily="18" charset="0"/>
              </a:rPr>
              <a:t>0</a:t>
            </a:r>
            <a:r>
              <a:rPr lang="en-US" altLang="zh-CN" sz="3600">
                <a:solidFill>
                  <a:srgbClr val="000080"/>
                </a:solidFill>
                <a:latin typeface="Times New Roman" pitchFamily="18" charset="0"/>
              </a:rPr>
              <a:t>+</a:t>
            </a:r>
            <a:r>
              <a:rPr lang="en-US" altLang="zh-CN" sz="3600">
                <a:solidFill>
                  <a:srgbClr val="008000"/>
                </a:solidFill>
                <a:latin typeface="Symbol" pitchFamily="18" charset="2"/>
              </a:rPr>
              <a:t>aD</a:t>
            </a:r>
            <a:r>
              <a:rPr lang="en-US" altLang="zh-CN" sz="3600" i="1">
                <a:solidFill>
                  <a:srgbClr val="000080"/>
                </a:solidFill>
                <a:latin typeface="Times New Roman" pitchFamily="18" charset="0"/>
              </a:rPr>
              <a:t>x </a:t>
            </a:r>
            <a:r>
              <a:rPr lang="en-US" altLang="zh-CN" sz="3600">
                <a:solidFill>
                  <a:srgbClr val="000000"/>
                </a:solidFill>
                <a:latin typeface="Times New Roman" pitchFamily="18" charset="0"/>
              </a:rPr>
              <a:t>and </a:t>
            </a:r>
            <a:r>
              <a:rPr lang="en-US" altLang="zh-CN" sz="3600" i="1">
                <a:solidFill>
                  <a:srgbClr val="000080"/>
                </a:solidFill>
                <a:latin typeface="Times New Roman" pitchFamily="18" charset="0"/>
              </a:rPr>
              <a:t>x</a:t>
            </a:r>
            <a:r>
              <a:rPr lang="en-US" altLang="zh-CN" sz="3600" baseline="-25000">
                <a:solidFill>
                  <a:srgbClr val="008080"/>
                </a:solidFill>
                <a:latin typeface="Times New Roman" pitchFamily="18" charset="0"/>
              </a:rPr>
              <a:t>0</a:t>
            </a:r>
            <a:r>
              <a:rPr lang="en-US" altLang="zh-CN" sz="3600">
                <a:solidFill>
                  <a:srgbClr val="000080"/>
                </a:solidFill>
                <a:latin typeface="Times New Roman" pitchFamily="18" charset="0"/>
              </a:rPr>
              <a:t>+</a:t>
            </a:r>
            <a:r>
              <a:rPr lang="en-US" altLang="zh-CN" sz="3600">
                <a:solidFill>
                  <a:srgbClr val="008000"/>
                </a:solidFill>
                <a:latin typeface="Symbol" pitchFamily="18" charset="2"/>
              </a:rPr>
              <a:t>bD</a:t>
            </a:r>
            <a:r>
              <a:rPr lang="en-US" altLang="zh-CN" sz="3600" i="1">
                <a:solidFill>
                  <a:srgbClr val="000080"/>
                </a:solidFill>
                <a:latin typeface="Times New Roman" pitchFamily="18" charset="0"/>
              </a:rPr>
              <a:t>x</a:t>
            </a:r>
            <a:r>
              <a:rPr lang="en-US" altLang="zh-CN" sz="3600">
                <a:solidFill>
                  <a:srgbClr val="000000"/>
                </a:solidFill>
                <a:latin typeface="Times New Roman" pitchFamily="18" charset="0"/>
              </a:rPr>
              <a:t>:</a:t>
            </a:r>
          </a:p>
        </p:txBody>
      </p:sp>
      <p:pic>
        <p:nvPicPr>
          <p:cNvPr id="1689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463" y="1196975"/>
            <a:ext cx="8748712" cy="94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896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2133600"/>
            <a:ext cx="8137525" cy="234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896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 y="4295775"/>
            <a:ext cx="8640763" cy="86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967" name="Line 7"/>
          <p:cNvSpPr>
            <a:spLocks noChangeShapeType="1"/>
          </p:cNvSpPr>
          <p:nvPr/>
        </p:nvSpPr>
        <p:spPr bwMode="auto">
          <a:xfrm>
            <a:off x="3059113" y="2120900"/>
            <a:ext cx="43338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68" name="Line 8"/>
          <p:cNvSpPr>
            <a:spLocks noChangeShapeType="1"/>
          </p:cNvSpPr>
          <p:nvPr/>
        </p:nvSpPr>
        <p:spPr bwMode="auto">
          <a:xfrm>
            <a:off x="1835150" y="5157788"/>
            <a:ext cx="1368425"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8969" name="Group 9"/>
          <p:cNvGrpSpPr>
            <a:grpSpLocks/>
          </p:cNvGrpSpPr>
          <p:nvPr/>
        </p:nvGrpSpPr>
        <p:grpSpPr bwMode="auto">
          <a:xfrm>
            <a:off x="6588125" y="5516563"/>
            <a:ext cx="2087563" cy="1081087"/>
            <a:chOff x="4150" y="3475"/>
            <a:chExt cx="1270" cy="694"/>
          </a:xfrm>
        </p:grpSpPr>
        <p:pic>
          <p:nvPicPr>
            <p:cNvPr id="96272"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9" y="3475"/>
              <a:ext cx="771" cy="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273"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50" y="3702"/>
              <a:ext cx="40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68972" name="Group 12"/>
          <p:cNvGrpSpPr>
            <a:grpSpLocks/>
          </p:cNvGrpSpPr>
          <p:nvPr/>
        </p:nvGrpSpPr>
        <p:grpSpPr bwMode="auto">
          <a:xfrm>
            <a:off x="3635375" y="5516563"/>
            <a:ext cx="2305050" cy="1008062"/>
            <a:chOff x="2352" y="3408"/>
            <a:chExt cx="1344" cy="602"/>
          </a:xfrm>
        </p:grpSpPr>
        <p:sp>
          <p:nvSpPr>
            <p:cNvPr id="96269" name="Text Box 13"/>
            <p:cNvSpPr txBox="1">
              <a:spLocks noChangeArrowheads="1"/>
            </p:cNvSpPr>
            <p:nvPr/>
          </p:nvSpPr>
          <p:spPr bwMode="auto">
            <a:xfrm>
              <a:off x="2653" y="3525"/>
              <a:ext cx="259"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a:t>
              </a:r>
            </a:p>
          </p:txBody>
        </p:sp>
        <p:pic>
          <p:nvPicPr>
            <p:cNvPr id="96270"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24" y="3408"/>
              <a:ext cx="672" cy="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271"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2" y="3552"/>
              <a:ext cx="33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68976" name="Line 16"/>
          <p:cNvSpPr>
            <a:spLocks noChangeShapeType="1"/>
          </p:cNvSpPr>
          <p:nvPr/>
        </p:nvSpPr>
        <p:spPr bwMode="auto">
          <a:xfrm>
            <a:off x="4643438" y="2133600"/>
            <a:ext cx="433387"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77" name="Line 17"/>
          <p:cNvSpPr>
            <a:spLocks noChangeShapeType="1"/>
          </p:cNvSpPr>
          <p:nvPr/>
        </p:nvSpPr>
        <p:spPr bwMode="auto">
          <a:xfrm>
            <a:off x="4643438" y="5229225"/>
            <a:ext cx="1223962"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68965"/>
                                        </p:tgtEl>
                                        <p:attrNameLst>
                                          <p:attrName>style.visibility</p:attrName>
                                        </p:attrNameLst>
                                      </p:cBhvr>
                                      <p:to>
                                        <p:strVal val="visible"/>
                                      </p:to>
                                    </p:set>
                                    <p:anim calcmode="lin" valueType="num">
                                      <p:cBhvr additive="base">
                                        <p:cTn id="13" dur="500" fill="hold"/>
                                        <p:tgtEl>
                                          <p:spTgt spid="168965"/>
                                        </p:tgtEl>
                                        <p:attrNameLst>
                                          <p:attrName>ppt_x</p:attrName>
                                        </p:attrNameLst>
                                      </p:cBhvr>
                                      <p:tavLst>
                                        <p:tav tm="0">
                                          <p:val>
                                            <p:strVal val="0-#ppt_w/2"/>
                                          </p:val>
                                        </p:tav>
                                        <p:tav tm="100000">
                                          <p:val>
                                            <p:strVal val="#ppt_x"/>
                                          </p:val>
                                        </p:tav>
                                      </p:tavLst>
                                    </p:anim>
                                    <p:anim calcmode="lin" valueType="num">
                                      <p:cBhvr additive="base">
                                        <p:cTn id="14" dur="500" fill="hold"/>
                                        <p:tgtEl>
                                          <p:spTgt spid="16896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68966"/>
                                        </p:tgtEl>
                                        <p:attrNameLst>
                                          <p:attrName>style.visibility</p:attrName>
                                        </p:attrNameLst>
                                      </p:cBhvr>
                                      <p:to>
                                        <p:strVal val="visible"/>
                                      </p:to>
                                    </p:set>
                                    <p:anim calcmode="lin" valueType="num">
                                      <p:cBhvr additive="base">
                                        <p:cTn id="19" dur="500" fill="hold"/>
                                        <p:tgtEl>
                                          <p:spTgt spid="168966"/>
                                        </p:tgtEl>
                                        <p:attrNameLst>
                                          <p:attrName>ppt_x</p:attrName>
                                        </p:attrNameLst>
                                      </p:cBhvr>
                                      <p:tavLst>
                                        <p:tav tm="0">
                                          <p:val>
                                            <p:strVal val="0-#ppt_w/2"/>
                                          </p:val>
                                        </p:tav>
                                        <p:tav tm="100000">
                                          <p:val>
                                            <p:strVal val="#ppt_x"/>
                                          </p:val>
                                        </p:tav>
                                      </p:tavLst>
                                    </p:anim>
                                    <p:anim calcmode="lin" valueType="num">
                                      <p:cBhvr additive="base">
                                        <p:cTn id="20" dur="500" fill="hold"/>
                                        <p:tgtEl>
                                          <p:spTgt spid="16896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8967"/>
                                        </p:tgtEl>
                                        <p:attrNameLst>
                                          <p:attrName>style.visibility</p:attrName>
                                        </p:attrNameLst>
                                      </p:cBhvr>
                                      <p:to>
                                        <p:strVal val="visible"/>
                                      </p:to>
                                    </p:set>
                                    <p:anim calcmode="lin" valueType="num">
                                      <p:cBhvr additive="base">
                                        <p:cTn id="25" dur="500" fill="hold"/>
                                        <p:tgtEl>
                                          <p:spTgt spid="168967"/>
                                        </p:tgtEl>
                                        <p:attrNameLst>
                                          <p:attrName>ppt_x</p:attrName>
                                        </p:attrNameLst>
                                      </p:cBhvr>
                                      <p:tavLst>
                                        <p:tav tm="0">
                                          <p:val>
                                            <p:strVal val="0-#ppt_w/2"/>
                                          </p:val>
                                        </p:tav>
                                        <p:tav tm="100000">
                                          <p:val>
                                            <p:strVal val="#ppt_x"/>
                                          </p:val>
                                        </p:tav>
                                      </p:tavLst>
                                    </p:anim>
                                    <p:anim calcmode="lin" valueType="num">
                                      <p:cBhvr additive="base">
                                        <p:cTn id="26" dur="500" fill="hold"/>
                                        <p:tgtEl>
                                          <p:spTgt spid="16896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68968"/>
                                        </p:tgtEl>
                                        <p:attrNameLst>
                                          <p:attrName>style.visibility</p:attrName>
                                        </p:attrNameLst>
                                      </p:cBhvr>
                                      <p:to>
                                        <p:strVal val="visible"/>
                                      </p:to>
                                    </p:set>
                                    <p:anim calcmode="lin" valueType="num">
                                      <p:cBhvr additive="base">
                                        <p:cTn id="31" dur="500" fill="hold"/>
                                        <p:tgtEl>
                                          <p:spTgt spid="168968"/>
                                        </p:tgtEl>
                                        <p:attrNameLst>
                                          <p:attrName>ppt_x</p:attrName>
                                        </p:attrNameLst>
                                      </p:cBhvr>
                                      <p:tavLst>
                                        <p:tav tm="0">
                                          <p:val>
                                            <p:strVal val="0-#ppt_w/2"/>
                                          </p:val>
                                        </p:tav>
                                        <p:tav tm="100000">
                                          <p:val>
                                            <p:strVal val="#ppt_x"/>
                                          </p:val>
                                        </p:tav>
                                      </p:tavLst>
                                    </p:anim>
                                    <p:anim calcmode="lin" valueType="num">
                                      <p:cBhvr additive="base">
                                        <p:cTn id="32" dur="500" fill="hold"/>
                                        <p:tgtEl>
                                          <p:spTgt spid="16896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68976"/>
                                        </p:tgtEl>
                                        <p:attrNameLst>
                                          <p:attrName>style.visibility</p:attrName>
                                        </p:attrNameLst>
                                      </p:cBhvr>
                                      <p:to>
                                        <p:strVal val="visible"/>
                                      </p:to>
                                    </p:set>
                                    <p:anim calcmode="lin" valueType="num">
                                      <p:cBhvr additive="base">
                                        <p:cTn id="37" dur="500" fill="hold"/>
                                        <p:tgtEl>
                                          <p:spTgt spid="168976"/>
                                        </p:tgtEl>
                                        <p:attrNameLst>
                                          <p:attrName>ppt_x</p:attrName>
                                        </p:attrNameLst>
                                      </p:cBhvr>
                                      <p:tavLst>
                                        <p:tav tm="0">
                                          <p:val>
                                            <p:strVal val="0-#ppt_w/2"/>
                                          </p:val>
                                        </p:tav>
                                        <p:tav tm="100000">
                                          <p:val>
                                            <p:strVal val="#ppt_x"/>
                                          </p:val>
                                        </p:tav>
                                      </p:tavLst>
                                    </p:anim>
                                    <p:anim calcmode="lin" valueType="num">
                                      <p:cBhvr additive="base">
                                        <p:cTn id="38" dur="500" fill="hold"/>
                                        <p:tgtEl>
                                          <p:spTgt spid="168976"/>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68977"/>
                                        </p:tgtEl>
                                        <p:attrNameLst>
                                          <p:attrName>style.visibility</p:attrName>
                                        </p:attrNameLst>
                                      </p:cBhvr>
                                      <p:to>
                                        <p:strVal val="visible"/>
                                      </p:to>
                                    </p:set>
                                    <p:anim calcmode="lin" valueType="num">
                                      <p:cBhvr additive="base">
                                        <p:cTn id="43" dur="500" fill="hold"/>
                                        <p:tgtEl>
                                          <p:spTgt spid="168977"/>
                                        </p:tgtEl>
                                        <p:attrNameLst>
                                          <p:attrName>ppt_x</p:attrName>
                                        </p:attrNameLst>
                                      </p:cBhvr>
                                      <p:tavLst>
                                        <p:tav tm="0">
                                          <p:val>
                                            <p:strVal val="0-#ppt_w/2"/>
                                          </p:val>
                                        </p:tav>
                                        <p:tav tm="100000">
                                          <p:val>
                                            <p:strVal val="#ppt_x"/>
                                          </p:val>
                                        </p:tav>
                                      </p:tavLst>
                                    </p:anim>
                                    <p:anim calcmode="lin" valueType="num">
                                      <p:cBhvr additive="base">
                                        <p:cTn id="44" dur="500" fill="hold"/>
                                        <p:tgtEl>
                                          <p:spTgt spid="168977"/>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68962"/>
                                        </p:tgtEl>
                                        <p:attrNameLst>
                                          <p:attrName>style.visibility</p:attrName>
                                        </p:attrNameLst>
                                      </p:cBhvr>
                                      <p:to>
                                        <p:strVal val="visible"/>
                                      </p:to>
                                    </p:set>
                                    <p:anim calcmode="lin" valueType="num">
                                      <p:cBhvr additive="base">
                                        <p:cTn id="49" dur="500" fill="hold"/>
                                        <p:tgtEl>
                                          <p:spTgt spid="168962"/>
                                        </p:tgtEl>
                                        <p:attrNameLst>
                                          <p:attrName>ppt_x</p:attrName>
                                        </p:attrNameLst>
                                      </p:cBhvr>
                                      <p:tavLst>
                                        <p:tav tm="0">
                                          <p:val>
                                            <p:strVal val="0-#ppt_w/2"/>
                                          </p:val>
                                        </p:tav>
                                        <p:tav tm="100000">
                                          <p:val>
                                            <p:strVal val="#ppt_x"/>
                                          </p:val>
                                        </p:tav>
                                      </p:tavLst>
                                    </p:anim>
                                    <p:anim calcmode="lin" valueType="num">
                                      <p:cBhvr additive="base">
                                        <p:cTn id="50" dur="500" fill="hold"/>
                                        <p:tgtEl>
                                          <p:spTgt spid="168962"/>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168972"/>
                                        </p:tgtEl>
                                        <p:attrNameLst>
                                          <p:attrName>style.visibility</p:attrName>
                                        </p:attrNameLst>
                                      </p:cBhvr>
                                      <p:to>
                                        <p:strVal val="visible"/>
                                      </p:to>
                                    </p:set>
                                    <p:anim calcmode="lin" valueType="num">
                                      <p:cBhvr additive="base">
                                        <p:cTn id="55" dur="500" fill="hold"/>
                                        <p:tgtEl>
                                          <p:spTgt spid="168972"/>
                                        </p:tgtEl>
                                        <p:attrNameLst>
                                          <p:attrName>ppt_x</p:attrName>
                                        </p:attrNameLst>
                                      </p:cBhvr>
                                      <p:tavLst>
                                        <p:tav tm="0">
                                          <p:val>
                                            <p:strVal val="0-#ppt_w/2"/>
                                          </p:val>
                                        </p:tav>
                                        <p:tav tm="100000">
                                          <p:val>
                                            <p:strVal val="#ppt_x"/>
                                          </p:val>
                                        </p:tav>
                                      </p:tavLst>
                                    </p:anim>
                                    <p:anim calcmode="lin" valueType="num">
                                      <p:cBhvr additive="base">
                                        <p:cTn id="56" dur="500" fill="hold"/>
                                        <p:tgtEl>
                                          <p:spTgt spid="168972"/>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168969"/>
                                        </p:tgtEl>
                                        <p:attrNameLst>
                                          <p:attrName>style.visibility</p:attrName>
                                        </p:attrNameLst>
                                      </p:cBhvr>
                                      <p:to>
                                        <p:strVal val="visible"/>
                                      </p:to>
                                    </p:set>
                                    <p:anim calcmode="lin" valueType="num">
                                      <p:cBhvr additive="base">
                                        <p:cTn id="61" dur="500" fill="hold"/>
                                        <p:tgtEl>
                                          <p:spTgt spid="168969"/>
                                        </p:tgtEl>
                                        <p:attrNameLst>
                                          <p:attrName>ppt_x</p:attrName>
                                        </p:attrNameLst>
                                      </p:cBhvr>
                                      <p:tavLst>
                                        <p:tav tm="0">
                                          <p:val>
                                            <p:strVal val="0-#ppt_w/2"/>
                                          </p:val>
                                        </p:tav>
                                        <p:tav tm="100000">
                                          <p:val>
                                            <p:strVal val="#ppt_x"/>
                                          </p:val>
                                        </p:tav>
                                      </p:tavLst>
                                    </p:anim>
                                    <p:anim calcmode="lin" valueType="num">
                                      <p:cBhvr additive="base">
                                        <p:cTn id="62" dur="500" fill="hold"/>
                                        <p:tgtEl>
                                          <p:spTgt spid="1689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7" grpId="0" animBg="1"/>
      <p:bldP spid="168968" grpId="0" animBg="1"/>
      <p:bldP spid="168976" grpId="0" animBg="1"/>
      <p:bldP spid="16897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3933825"/>
            <a:ext cx="8763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7283" name="Text Box 3"/>
          <p:cNvSpPr txBox="1">
            <a:spLocks noChangeArrowheads="1"/>
          </p:cNvSpPr>
          <p:nvPr/>
        </p:nvSpPr>
        <p:spPr bwMode="auto">
          <a:xfrm>
            <a:off x="395288" y="333375"/>
            <a:ext cx="6915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Gauss quadrature has the formula</a:t>
            </a:r>
          </a:p>
        </p:txBody>
      </p:sp>
      <p:grpSp>
        <p:nvGrpSpPr>
          <p:cNvPr id="66564" name="Group 4"/>
          <p:cNvGrpSpPr>
            <a:grpSpLocks/>
          </p:cNvGrpSpPr>
          <p:nvPr/>
        </p:nvGrpSpPr>
        <p:grpSpPr bwMode="auto">
          <a:xfrm>
            <a:off x="6732588" y="2182813"/>
            <a:ext cx="2016125" cy="1101725"/>
            <a:chOff x="4150" y="3475"/>
            <a:chExt cx="1270" cy="694"/>
          </a:xfrm>
        </p:grpSpPr>
        <p:pic>
          <p:nvPicPr>
            <p:cNvPr id="9729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9" y="3475"/>
              <a:ext cx="771" cy="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29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0" y="3702"/>
              <a:ext cx="40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6567" name="Group 7"/>
          <p:cNvGrpSpPr>
            <a:grpSpLocks/>
          </p:cNvGrpSpPr>
          <p:nvPr/>
        </p:nvGrpSpPr>
        <p:grpSpPr bwMode="auto">
          <a:xfrm>
            <a:off x="3635375" y="2325688"/>
            <a:ext cx="2286000" cy="1031875"/>
            <a:chOff x="2352" y="3408"/>
            <a:chExt cx="1344" cy="602"/>
          </a:xfrm>
        </p:grpSpPr>
        <p:sp>
          <p:nvSpPr>
            <p:cNvPr id="97293" name="Text Box 8"/>
            <p:cNvSpPr txBox="1">
              <a:spLocks noChangeArrowheads="1"/>
            </p:cNvSpPr>
            <p:nvPr/>
          </p:nvSpPr>
          <p:spPr bwMode="auto">
            <a:xfrm>
              <a:off x="2653" y="3525"/>
              <a:ext cx="262"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a:t>
              </a:r>
            </a:p>
          </p:txBody>
        </p:sp>
        <p:pic>
          <p:nvPicPr>
            <p:cNvPr id="97294"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4" y="3408"/>
              <a:ext cx="672" cy="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295"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2" y="3552"/>
              <a:ext cx="33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66571" name="Object 11"/>
          <p:cNvGraphicFramePr>
            <a:graphicFrameLocks noChangeAspect="1"/>
          </p:cNvGraphicFramePr>
          <p:nvPr/>
        </p:nvGraphicFramePr>
        <p:xfrm>
          <a:off x="468313" y="1268413"/>
          <a:ext cx="7848600" cy="941387"/>
        </p:xfrm>
        <a:graphic>
          <a:graphicData uri="http://schemas.openxmlformats.org/presentationml/2006/ole">
            <mc:AlternateContent xmlns:mc="http://schemas.openxmlformats.org/markup-compatibility/2006">
              <mc:Choice xmlns:v="urn:schemas-microsoft-com:vml" Requires="v">
                <p:oleObj spid="_x0000_s97386" name="公式" r:id="rId8" imgW="2956608" imgH="320040" progId="Equation.3">
                  <p:embed/>
                </p:oleObj>
              </mc:Choice>
              <mc:Fallback>
                <p:oleObj name="公式" r:id="rId8" imgW="2956608" imgH="32004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313" y="1268413"/>
                        <a:ext cx="78486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72" name="Object 12"/>
          <p:cNvGraphicFramePr>
            <a:graphicFrameLocks noChangeAspect="1"/>
          </p:cNvGraphicFramePr>
          <p:nvPr/>
        </p:nvGraphicFramePr>
        <p:xfrm>
          <a:off x="179388" y="2535238"/>
          <a:ext cx="3168650" cy="749300"/>
        </p:xfrm>
        <a:graphic>
          <a:graphicData uri="http://schemas.openxmlformats.org/presentationml/2006/ole">
            <mc:AlternateContent xmlns:mc="http://schemas.openxmlformats.org/markup-compatibility/2006">
              <mc:Choice xmlns:v="urn:schemas-microsoft-com:vml" Requires="v">
                <p:oleObj spid="_x0000_s97387" name="公式" r:id="rId10" imgW="937224" imgH="190428" progId="Equation.3">
                  <p:embed/>
                </p:oleObj>
              </mc:Choice>
              <mc:Fallback>
                <p:oleObj name="公式" r:id="rId10" imgW="937224" imgH="190428"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9388" y="2535238"/>
                        <a:ext cx="316865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6575" name="Group 15"/>
          <p:cNvGrpSpPr>
            <a:grpSpLocks/>
          </p:cNvGrpSpPr>
          <p:nvPr/>
        </p:nvGrpSpPr>
        <p:grpSpPr bwMode="auto">
          <a:xfrm>
            <a:off x="468313" y="5445125"/>
            <a:ext cx="8278812" cy="1169988"/>
            <a:chOff x="295" y="3430"/>
            <a:chExt cx="5215" cy="737"/>
          </a:xfrm>
        </p:grpSpPr>
        <p:graphicFrame>
          <p:nvGraphicFramePr>
            <p:cNvPr id="97291" name="Object 13"/>
            <p:cNvGraphicFramePr>
              <a:graphicFrameLocks noChangeAspect="1"/>
            </p:cNvGraphicFramePr>
            <p:nvPr/>
          </p:nvGraphicFramePr>
          <p:xfrm>
            <a:off x="295" y="3475"/>
            <a:ext cx="1892" cy="472"/>
          </p:xfrm>
          <a:graphic>
            <a:graphicData uri="http://schemas.openxmlformats.org/presentationml/2006/ole">
              <mc:AlternateContent xmlns:mc="http://schemas.openxmlformats.org/markup-compatibility/2006">
                <mc:Choice xmlns:v="urn:schemas-microsoft-com:vml" Requires="v">
                  <p:oleObj spid="_x0000_s97388" name="公式" r:id="rId12" imgW="891648" imgH="190428" progId="Equation.3">
                    <p:embed/>
                  </p:oleObj>
                </mc:Choice>
                <mc:Fallback>
                  <p:oleObj name="公式" r:id="rId12" imgW="891648" imgH="190428"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5" y="3475"/>
                          <a:ext cx="1892"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7292" name="Object 14"/>
            <p:cNvGraphicFramePr>
              <a:graphicFrameLocks noChangeAspect="1"/>
            </p:cNvGraphicFramePr>
            <p:nvPr/>
          </p:nvGraphicFramePr>
          <p:xfrm>
            <a:off x="2562" y="3430"/>
            <a:ext cx="2948" cy="737"/>
          </p:xfrm>
          <a:graphic>
            <a:graphicData uri="http://schemas.openxmlformats.org/presentationml/2006/ole">
              <mc:AlternateContent xmlns:mc="http://schemas.openxmlformats.org/markup-compatibility/2006">
                <mc:Choice xmlns:v="urn:schemas-microsoft-com:vml" Requires="v">
                  <p:oleObj spid="_x0000_s97389" name="公式" r:id="rId14" imgW="2019300" imgH="508000" progId="Equation.3">
                    <p:embed/>
                  </p:oleObj>
                </mc:Choice>
                <mc:Fallback>
                  <p:oleObj name="公式" r:id="rId14" imgW="2019300" imgH="508000" progId="Equation.3">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62" y="3430"/>
                          <a:ext cx="2948"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6576" name="Rectangle 16"/>
          <p:cNvSpPr>
            <a:spLocks noChangeArrowheads="1"/>
          </p:cNvSpPr>
          <p:nvPr/>
        </p:nvSpPr>
        <p:spPr bwMode="auto">
          <a:xfrm>
            <a:off x="107950" y="3644900"/>
            <a:ext cx="8964613" cy="1512888"/>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66577" name="Rectangle 17"/>
          <p:cNvSpPr>
            <a:spLocks noChangeArrowheads="1"/>
          </p:cNvSpPr>
          <p:nvPr/>
        </p:nvSpPr>
        <p:spPr bwMode="auto">
          <a:xfrm>
            <a:off x="3995738" y="5345113"/>
            <a:ext cx="4968875" cy="132397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6571"/>
                                        </p:tgtEl>
                                        <p:attrNameLst>
                                          <p:attrName>style.visibility</p:attrName>
                                        </p:attrNameLst>
                                      </p:cBhvr>
                                      <p:to>
                                        <p:strVal val="visible"/>
                                      </p:to>
                                    </p:set>
                                    <p:animEffect transition="in" filter="dissolve">
                                      <p:cBhvr>
                                        <p:cTn id="7" dur="500"/>
                                        <p:tgtEl>
                                          <p:spTgt spid="665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6572"/>
                                        </p:tgtEl>
                                        <p:attrNameLst>
                                          <p:attrName>style.visibility</p:attrName>
                                        </p:attrNameLst>
                                      </p:cBhvr>
                                      <p:to>
                                        <p:strVal val="visible"/>
                                      </p:to>
                                    </p:set>
                                    <p:animEffect transition="in" filter="dissolve">
                                      <p:cBhvr>
                                        <p:cTn id="12" dur="500"/>
                                        <p:tgtEl>
                                          <p:spTgt spid="665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66567"/>
                                        </p:tgtEl>
                                        <p:attrNameLst>
                                          <p:attrName>style.visibility</p:attrName>
                                        </p:attrNameLst>
                                      </p:cBhvr>
                                      <p:to>
                                        <p:strVal val="visible"/>
                                      </p:to>
                                    </p:set>
                                    <p:anim calcmode="lin" valueType="num">
                                      <p:cBhvr additive="base">
                                        <p:cTn id="17" dur="500" fill="hold"/>
                                        <p:tgtEl>
                                          <p:spTgt spid="66567"/>
                                        </p:tgtEl>
                                        <p:attrNameLst>
                                          <p:attrName>ppt_x</p:attrName>
                                        </p:attrNameLst>
                                      </p:cBhvr>
                                      <p:tavLst>
                                        <p:tav tm="0">
                                          <p:val>
                                            <p:strVal val="0-#ppt_w/2"/>
                                          </p:val>
                                        </p:tav>
                                        <p:tav tm="100000">
                                          <p:val>
                                            <p:strVal val="#ppt_x"/>
                                          </p:val>
                                        </p:tav>
                                      </p:tavLst>
                                    </p:anim>
                                    <p:anim calcmode="lin" valueType="num">
                                      <p:cBhvr additive="base">
                                        <p:cTn id="18" dur="500" fill="hold"/>
                                        <p:tgtEl>
                                          <p:spTgt spid="66567"/>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66564"/>
                                        </p:tgtEl>
                                        <p:attrNameLst>
                                          <p:attrName>style.visibility</p:attrName>
                                        </p:attrNameLst>
                                      </p:cBhvr>
                                      <p:to>
                                        <p:strVal val="visible"/>
                                      </p:to>
                                    </p:set>
                                    <p:anim calcmode="lin" valueType="num">
                                      <p:cBhvr additive="base">
                                        <p:cTn id="23" dur="500" fill="hold"/>
                                        <p:tgtEl>
                                          <p:spTgt spid="66564"/>
                                        </p:tgtEl>
                                        <p:attrNameLst>
                                          <p:attrName>ppt_x</p:attrName>
                                        </p:attrNameLst>
                                      </p:cBhvr>
                                      <p:tavLst>
                                        <p:tav tm="0">
                                          <p:val>
                                            <p:strVal val="0-#ppt_w/2"/>
                                          </p:val>
                                        </p:tav>
                                        <p:tav tm="100000">
                                          <p:val>
                                            <p:strVal val="#ppt_x"/>
                                          </p:val>
                                        </p:tav>
                                      </p:tavLst>
                                    </p:anim>
                                    <p:anim calcmode="lin" valueType="num">
                                      <p:cBhvr additive="base">
                                        <p:cTn id="24" dur="500" fill="hold"/>
                                        <p:tgtEl>
                                          <p:spTgt spid="66564"/>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66562"/>
                                        </p:tgtEl>
                                        <p:attrNameLst>
                                          <p:attrName>style.visibility</p:attrName>
                                        </p:attrNameLst>
                                      </p:cBhvr>
                                      <p:to>
                                        <p:strVal val="visible"/>
                                      </p:to>
                                    </p:set>
                                    <p:anim calcmode="lin" valueType="num">
                                      <p:cBhvr additive="base">
                                        <p:cTn id="29" dur="500" fill="hold"/>
                                        <p:tgtEl>
                                          <p:spTgt spid="66562"/>
                                        </p:tgtEl>
                                        <p:attrNameLst>
                                          <p:attrName>ppt_x</p:attrName>
                                        </p:attrNameLst>
                                      </p:cBhvr>
                                      <p:tavLst>
                                        <p:tav tm="0">
                                          <p:val>
                                            <p:strVal val="0-#ppt_w/2"/>
                                          </p:val>
                                        </p:tav>
                                        <p:tav tm="100000">
                                          <p:val>
                                            <p:strVal val="#ppt_x"/>
                                          </p:val>
                                        </p:tav>
                                      </p:tavLst>
                                    </p:anim>
                                    <p:anim calcmode="lin" valueType="num">
                                      <p:cBhvr additive="base">
                                        <p:cTn id="30" dur="500" fill="hold"/>
                                        <p:tgtEl>
                                          <p:spTgt spid="66562"/>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66575"/>
                                        </p:tgtEl>
                                        <p:attrNameLst>
                                          <p:attrName>style.visibility</p:attrName>
                                        </p:attrNameLst>
                                      </p:cBhvr>
                                      <p:to>
                                        <p:strVal val="visible"/>
                                      </p:to>
                                    </p:set>
                                    <p:anim calcmode="lin" valueType="num">
                                      <p:cBhvr additive="base">
                                        <p:cTn id="35" dur="500" fill="hold"/>
                                        <p:tgtEl>
                                          <p:spTgt spid="66575"/>
                                        </p:tgtEl>
                                        <p:attrNameLst>
                                          <p:attrName>ppt_x</p:attrName>
                                        </p:attrNameLst>
                                      </p:cBhvr>
                                      <p:tavLst>
                                        <p:tav tm="0">
                                          <p:val>
                                            <p:strVal val="#ppt_x"/>
                                          </p:val>
                                        </p:tav>
                                        <p:tav tm="100000">
                                          <p:val>
                                            <p:strVal val="#ppt_x"/>
                                          </p:val>
                                        </p:tav>
                                      </p:tavLst>
                                    </p:anim>
                                    <p:anim calcmode="lin" valueType="num">
                                      <p:cBhvr additive="base">
                                        <p:cTn id="36" dur="500" fill="hold"/>
                                        <p:tgtEl>
                                          <p:spTgt spid="66575"/>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66576"/>
                                        </p:tgtEl>
                                        <p:attrNameLst>
                                          <p:attrName>style.visibility</p:attrName>
                                        </p:attrNameLst>
                                      </p:cBhvr>
                                      <p:to>
                                        <p:strVal val="visible"/>
                                      </p:to>
                                    </p:set>
                                    <p:anim calcmode="lin" valueType="num">
                                      <p:cBhvr additive="base">
                                        <p:cTn id="41" dur="500" fill="hold"/>
                                        <p:tgtEl>
                                          <p:spTgt spid="66576"/>
                                        </p:tgtEl>
                                        <p:attrNameLst>
                                          <p:attrName>ppt_x</p:attrName>
                                        </p:attrNameLst>
                                      </p:cBhvr>
                                      <p:tavLst>
                                        <p:tav tm="0">
                                          <p:val>
                                            <p:strVal val="#ppt_x"/>
                                          </p:val>
                                        </p:tav>
                                        <p:tav tm="100000">
                                          <p:val>
                                            <p:strVal val="#ppt_x"/>
                                          </p:val>
                                        </p:tav>
                                      </p:tavLst>
                                    </p:anim>
                                    <p:anim calcmode="lin" valueType="num">
                                      <p:cBhvr additive="base">
                                        <p:cTn id="42" dur="500" fill="hold"/>
                                        <p:tgtEl>
                                          <p:spTgt spid="66576"/>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6577"/>
                                        </p:tgtEl>
                                        <p:attrNameLst>
                                          <p:attrName>style.visibility</p:attrName>
                                        </p:attrNameLst>
                                      </p:cBhvr>
                                      <p:to>
                                        <p:strVal val="visible"/>
                                      </p:to>
                                    </p:set>
                                    <p:anim calcmode="lin" valueType="num">
                                      <p:cBhvr additive="base">
                                        <p:cTn id="47" dur="500" fill="hold"/>
                                        <p:tgtEl>
                                          <p:spTgt spid="66577"/>
                                        </p:tgtEl>
                                        <p:attrNameLst>
                                          <p:attrName>ppt_x</p:attrName>
                                        </p:attrNameLst>
                                      </p:cBhvr>
                                      <p:tavLst>
                                        <p:tav tm="0">
                                          <p:val>
                                            <p:strVal val="#ppt_x"/>
                                          </p:val>
                                        </p:tav>
                                        <p:tav tm="100000">
                                          <p:val>
                                            <p:strVal val="#ppt_x"/>
                                          </p:val>
                                        </p:tav>
                                      </p:tavLst>
                                    </p:anim>
                                    <p:anim calcmode="lin" valueType="num">
                                      <p:cBhvr additive="base">
                                        <p:cTn id="48" dur="500" fill="hold"/>
                                        <p:tgtEl>
                                          <p:spTgt spid="665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76" grpId="0" animBg="1"/>
      <p:bldP spid="66577"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64" y="836712"/>
            <a:ext cx="8763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a:spLocks noChangeArrowheads="1"/>
          </p:cNvSpPr>
          <p:nvPr/>
        </p:nvSpPr>
        <p:spPr bwMode="auto">
          <a:xfrm>
            <a:off x="60325" y="3035950"/>
            <a:ext cx="90836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800" b="1" i="0" u="none" strike="noStrike" cap="none" normalizeH="0" baseline="0" dirty="0">
                <a:ln>
                  <a:noFill/>
                </a:ln>
                <a:solidFill>
                  <a:srgbClr val="000000"/>
                </a:solidFill>
                <a:effectLst/>
                <a:latin typeface="Times New Roman" pitchFamily="18" charset="0"/>
                <a:ea typeface="楷体_GB2312"/>
                <a:cs typeface="Times New Roman" pitchFamily="18" charset="0"/>
              </a:rPr>
              <a:t>使用</a:t>
            </a:r>
            <a:r>
              <a:rPr kumimoji="0" lang="zh-CN" altLang="zh-CN" sz="2800" b="1" i="0" u="none" strike="noStrike" cap="none" normalizeH="0" baseline="0" dirty="0">
                <a:ln>
                  <a:noFill/>
                </a:ln>
                <a:solidFill>
                  <a:srgbClr val="333333"/>
                </a:solidFill>
                <a:effectLst/>
                <a:latin typeface="Times New Roman" pitchFamily="18" charset="0"/>
                <a:ea typeface="楷体_GB2312"/>
                <a:cs typeface="Times New Roman" pitchFamily="18" charset="0"/>
              </a:rPr>
              <a:t>高斯</a:t>
            </a:r>
            <a:r>
              <a:rPr kumimoji="0" lang="en-US" altLang="zh-CN" sz="2800" b="1" i="0" u="none" strike="noStrike" cap="none" normalizeH="0" baseline="0" dirty="0">
                <a:ln>
                  <a:noFill/>
                </a:ln>
                <a:solidFill>
                  <a:srgbClr val="333333"/>
                </a:solidFill>
                <a:effectLst/>
                <a:latin typeface="Times New Roman" pitchFamily="18" charset="0"/>
                <a:ea typeface="楷体_GB2312"/>
                <a:cs typeface="Times New Roman" pitchFamily="18" charset="0"/>
              </a:rPr>
              <a:t>-</a:t>
            </a:r>
            <a:r>
              <a:rPr kumimoji="0" lang="zh-CN" altLang="en-US" sz="2800" b="1" i="0" u="none" strike="noStrike" cap="none" normalizeH="0" baseline="0" dirty="0">
                <a:ln>
                  <a:noFill/>
                </a:ln>
                <a:solidFill>
                  <a:srgbClr val="333333"/>
                </a:solidFill>
                <a:effectLst/>
                <a:latin typeface="Times New Roman" pitchFamily="18" charset="0"/>
                <a:ea typeface="楷体_GB2312"/>
                <a:cs typeface="Times New Roman" pitchFamily="18" charset="0"/>
              </a:rPr>
              <a:t>勒让德公式计算</a:t>
            </a:r>
            <a:r>
              <a:rPr kumimoji="0" lang="zh-CN" altLang="en-US" sz="2800" b="1" i="0" u="none" strike="noStrike" cap="none" normalizeH="0" baseline="0" dirty="0">
                <a:ln>
                  <a:noFill/>
                </a:ln>
                <a:solidFill>
                  <a:schemeClr val="tx1"/>
                </a:solidFill>
                <a:effectLst/>
                <a:latin typeface="Times New Roman" pitchFamily="18" charset="0"/>
                <a:ea typeface="楷体_GB2312"/>
                <a:cs typeface="Times New Roman" pitchFamily="18" charset="0"/>
              </a:rPr>
              <a:t>积分                          的近似值</a:t>
            </a:r>
            <a:endParaRPr kumimoji="0" lang="zh-CN" altLang="en-US" sz="2800" b="0" i="0" u="none" strike="noStrike" cap="none" normalizeH="0" baseline="0" dirty="0">
              <a:ln>
                <a:noFill/>
              </a:ln>
              <a:solidFill>
                <a:schemeClr val="tx1"/>
              </a:solidFill>
              <a:effectLst/>
              <a:cs typeface="宋体" pitchFamily="2" charset="-122"/>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2568069580"/>
              </p:ext>
            </p:extLst>
          </p:nvPr>
        </p:nvGraphicFramePr>
        <p:xfrm>
          <a:off x="5220072" y="2564904"/>
          <a:ext cx="1768797" cy="1313963"/>
        </p:xfrm>
        <a:graphic>
          <a:graphicData uri="http://schemas.openxmlformats.org/presentationml/2006/ole">
            <mc:AlternateContent xmlns:mc="http://schemas.openxmlformats.org/markup-compatibility/2006">
              <mc:Choice xmlns:v="urn:schemas-microsoft-com:vml" Requires="v">
                <p:oleObj spid="_x0000_s104471" r:id="rId4" imgW="444240" imgH="330120" progId="">
                  <p:embed/>
                </p:oleObj>
              </mc:Choice>
              <mc:Fallback>
                <p:oleObj r:id="rId4" imgW="444240" imgH="330120" progId="">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0072" y="2564904"/>
                        <a:ext cx="1768797" cy="1313963"/>
                      </a:xfrm>
                      <a:prstGeom prst="rect">
                        <a:avLst/>
                      </a:prstGeom>
                      <a:noFill/>
                      <a:ln>
                        <a:noFill/>
                      </a:ln>
                      <a:effec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39618"/>
                                        </p:tgtEl>
                                        <p:attrNameLst>
                                          <p:attrName>style.visibility</p:attrName>
                                        </p:attrNameLst>
                                      </p:cBhvr>
                                      <p:to>
                                        <p:strVal val="visible"/>
                                      </p:to>
                                    </p:set>
                                    <p:anim calcmode="lin" valueType="num">
                                      <p:cBhvr additive="base">
                                        <p:cTn id="7" dur="500" fill="hold"/>
                                        <p:tgtEl>
                                          <p:spTgt spid="239618"/>
                                        </p:tgtEl>
                                        <p:attrNameLst>
                                          <p:attrName>ppt_x</p:attrName>
                                        </p:attrNameLst>
                                      </p:cBhvr>
                                      <p:tavLst>
                                        <p:tav tm="0">
                                          <p:val>
                                            <p:strVal val="0-#ppt_w/2"/>
                                          </p:val>
                                        </p:tav>
                                        <p:tav tm="100000">
                                          <p:val>
                                            <p:strVal val="#ppt_x"/>
                                          </p:val>
                                        </p:tav>
                                      </p:tavLst>
                                    </p:anim>
                                    <p:anim calcmode="lin" valueType="num">
                                      <p:cBhvr additive="base">
                                        <p:cTn id="8" dur="500" fill="hold"/>
                                        <p:tgtEl>
                                          <p:spTgt spid="2396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64" y="836712"/>
            <a:ext cx="8763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2512224293"/>
              </p:ext>
            </p:extLst>
          </p:nvPr>
        </p:nvGraphicFramePr>
        <p:xfrm>
          <a:off x="60325" y="4293096"/>
          <a:ext cx="8755234" cy="1224136"/>
        </p:xfrm>
        <a:graphic>
          <a:graphicData uri="http://schemas.openxmlformats.org/presentationml/2006/ole">
            <mc:AlternateContent xmlns:mc="http://schemas.openxmlformats.org/markup-compatibility/2006">
              <mc:Choice xmlns:v="urn:schemas-microsoft-com:vml" Requires="v">
                <p:oleObj spid="_x0000_s105485" r:id="rId4" imgW="3124200" imgH="431800" progId="Equation.3">
                  <p:embed/>
                </p:oleObj>
              </mc:Choice>
              <mc:Fallback>
                <p:oleObj r:id="rId4" imgW="3124200" imgH="431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25" y="4293096"/>
                        <a:ext cx="8755234" cy="1224136"/>
                      </a:xfrm>
                      <a:prstGeom prst="rect">
                        <a:avLst/>
                      </a:prstGeom>
                      <a:noFill/>
                    </p:spPr>
                  </p:pic>
                </p:oleObj>
              </mc:Fallback>
            </mc:AlternateContent>
          </a:graphicData>
        </a:graphic>
      </p:graphicFrame>
      <p:sp>
        <p:nvSpPr>
          <p:cNvPr id="7" name="Rectangle 6"/>
          <p:cNvSpPr>
            <a:spLocks noChangeArrowheads="1"/>
          </p:cNvSpPr>
          <p:nvPr/>
        </p:nvSpPr>
        <p:spPr bwMode="auto">
          <a:xfrm>
            <a:off x="60325" y="3035950"/>
            <a:ext cx="70647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800" b="1" i="0" u="none" strike="noStrike" cap="none" normalizeH="0" baseline="0" dirty="0">
                <a:ln>
                  <a:noFill/>
                </a:ln>
                <a:solidFill>
                  <a:srgbClr val="000000"/>
                </a:solidFill>
                <a:effectLst/>
                <a:latin typeface="Times New Roman" pitchFamily="18" charset="0"/>
                <a:ea typeface="楷体_GB2312"/>
                <a:cs typeface="Times New Roman" pitchFamily="18" charset="0"/>
              </a:rPr>
              <a:t>使用</a:t>
            </a:r>
            <a:r>
              <a:rPr kumimoji="0" lang="zh-CN" altLang="zh-CN" sz="2800" b="1" i="0" u="none" strike="noStrike" cap="none" normalizeH="0" baseline="0" dirty="0">
                <a:ln>
                  <a:noFill/>
                </a:ln>
                <a:solidFill>
                  <a:srgbClr val="333333"/>
                </a:solidFill>
                <a:effectLst/>
                <a:latin typeface="Times New Roman" pitchFamily="18" charset="0"/>
                <a:ea typeface="楷体_GB2312"/>
                <a:cs typeface="Times New Roman" pitchFamily="18" charset="0"/>
              </a:rPr>
              <a:t>高斯</a:t>
            </a:r>
            <a:r>
              <a:rPr kumimoji="0" lang="en-US" altLang="zh-CN" sz="2800" b="1" i="0" u="none" strike="noStrike" cap="none" normalizeH="0" baseline="0" dirty="0">
                <a:ln>
                  <a:noFill/>
                </a:ln>
                <a:solidFill>
                  <a:srgbClr val="333333"/>
                </a:solidFill>
                <a:effectLst/>
                <a:latin typeface="Times New Roman" pitchFamily="18" charset="0"/>
                <a:ea typeface="楷体_GB2312"/>
                <a:cs typeface="Times New Roman" pitchFamily="18" charset="0"/>
              </a:rPr>
              <a:t>-</a:t>
            </a:r>
            <a:r>
              <a:rPr kumimoji="0" lang="zh-CN" altLang="en-US" sz="2800" b="1" i="0" u="none" strike="noStrike" cap="none" normalizeH="0" baseline="0" dirty="0">
                <a:ln>
                  <a:noFill/>
                </a:ln>
                <a:solidFill>
                  <a:srgbClr val="333333"/>
                </a:solidFill>
                <a:effectLst/>
                <a:latin typeface="Times New Roman" pitchFamily="18" charset="0"/>
                <a:ea typeface="楷体_GB2312"/>
                <a:cs typeface="Times New Roman" pitchFamily="18" charset="0"/>
              </a:rPr>
              <a:t>勒让德公式计算</a:t>
            </a:r>
            <a:r>
              <a:rPr kumimoji="0" lang="zh-CN" altLang="en-US" sz="2800" b="1" i="0" u="none" strike="noStrike" cap="none" normalizeH="0" baseline="0" dirty="0">
                <a:ln>
                  <a:noFill/>
                </a:ln>
                <a:solidFill>
                  <a:schemeClr val="tx1"/>
                </a:solidFill>
                <a:effectLst/>
                <a:latin typeface="Times New Roman" pitchFamily="18" charset="0"/>
                <a:ea typeface="楷体_GB2312"/>
                <a:cs typeface="Times New Roman" pitchFamily="18" charset="0"/>
              </a:rPr>
              <a:t>积分       的近似值</a:t>
            </a:r>
            <a:endParaRPr kumimoji="0" lang="zh-CN" altLang="en-US" sz="2800" b="0" i="0" u="none" strike="noStrike" cap="none" normalizeH="0" baseline="0" dirty="0">
              <a:ln>
                <a:noFill/>
              </a:ln>
              <a:solidFill>
                <a:schemeClr val="tx1"/>
              </a:solidFill>
              <a:effectLst/>
              <a:cs typeface="宋体" pitchFamily="2" charset="-122"/>
            </a:endParaRPr>
          </a:p>
        </p:txBody>
      </p:sp>
    </p:spTree>
    <p:extLst>
      <p:ext uri="{BB962C8B-B14F-4D97-AF65-F5344CB8AC3E}">
        <p14:creationId xmlns:p14="http://schemas.microsoft.com/office/powerpoint/2010/main" val="9714973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39618"/>
                                        </p:tgtEl>
                                        <p:attrNameLst>
                                          <p:attrName>style.visibility</p:attrName>
                                        </p:attrNameLst>
                                      </p:cBhvr>
                                      <p:to>
                                        <p:strVal val="visible"/>
                                      </p:to>
                                    </p:set>
                                    <p:anim calcmode="lin" valueType="num">
                                      <p:cBhvr additive="base">
                                        <p:cTn id="7" dur="500" fill="hold"/>
                                        <p:tgtEl>
                                          <p:spTgt spid="239618"/>
                                        </p:tgtEl>
                                        <p:attrNameLst>
                                          <p:attrName>ppt_x</p:attrName>
                                        </p:attrNameLst>
                                      </p:cBhvr>
                                      <p:tavLst>
                                        <p:tav tm="0">
                                          <p:val>
                                            <p:strVal val="0-#ppt_w/2"/>
                                          </p:val>
                                        </p:tav>
                                        <p:tav tm="100000">
                                          <p:val>
                                            <p:strVal val="#ppt_x"/>
                                          </p:val>
                                        </p:tav>
                                      </p:tavLst>
                                    </p:anim>
                                    <p:anim calcmode="lin" valueType="num">
                                      <p:cBhvr additive="base">
                                        <p:cTn id="8" dur="500" fill="hold"/>
                                        <p:tgtEl>
                                          <p:spTgt spid="2396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557338"/>
            <a:ext cx="8763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307" name="Picture 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24075" y="3860800"/>
            <a:ext cx="3095625" cy="136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19961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39618"/>
                                        </p:tgtEl>
                                        <p:attrNameLst>
                                          <p:attrName>style.visibility</p:attrName>
                                        </p:attrNameLst>
                                      </p:cBhvr>
                                      <p:to>
                                        <p:strVal val="visible"/>
                                      </p:to>
                                    </p:set>
                                    <p:anim calcmode="lin" valueType="num">
                                      <p:cBhvr additive="base">
                                        <p:cTn id="7" dur="500" fill="hold"/>
                                        <p:tgtEl>
                                          <p:spTgt spid="239618"/>
                                        </p:tgtEl>
                                        <p:attrNameLst>
                                          <p:attrName>ppt_x</p:attrName>
                                        </p:attrNameLst>
                                      </p:cBhvr>
                                      <p:tavLst>
                                        <p:tav tm="0">
                                          <p:val>
                                            <p:strVal val="0-#ppt_w/2"/>
                                          </p:val>
                                        </p:tav>
                                        <p:tav tm="100000">
                                          <p:val>
                                            <p:strVal val="#ppt_x"/>
                                          </p:val>
                                        </p:tav>
                                      </p:tavLst>
                                    </p:anim>
                                    <p:anim calcmode="lin" valueType="num">
                                      <p:cBhvr additive="base">
                                        <p:cTn id="8" dur="500" fill="hold"/>
                                        <p:tgtEl>
                                          <p:spTgt spid="2396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1050" y="260350"/>
            <a:ext cx="24479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992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704975"/>
            <a:ext cx="8763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9926"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1188" y="4581525"/>
            <a:ext cx="74898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9927" name="Object 7"/>
          <p:cNvGraphicFramePr>
            <a:graphicFrameLocks noChangeAspect="1"/>
          </p:cNvGraphicFramePr>
          <p:nvPr/>
        </p:nvGraphicFramePr>
        <p:xfrm>
          <a:off x="1568450" y="2971800"/>
          <a:ext cx="6675438" cy="1465263"/>
        </p:xfrm>
        <a:graphic>
          <a:graphicData uri="http://schemas.openxmlformats.org/presentationml/2006/ole">
            <mc:AlternateContent xmlns:mc="http://schemas.openxmlformats.org/markup-compatibility/2006">
              <mc:Choice xmlns:v="urn:schemas-microsoft-com:vml" Requires="v">
                <p:oleObj spid="_x0000_s99356" name="公式" r:id="rId6" imgW="1955800" imgH="431800" progId="Equation.3">
                  <p:embed/>
                </p:oleObj>
              </mc:Choice>
              <mc:Fallback>
                <p:oleObj name="公式" r:id="rId6" imgW="1955800" imgH="4318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8450" y="2971800"/>
                        <a:ext cx="6675438"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9925"/>
                                        </p:tgtEl>
                                        <p:attrNameLst>
                                          <p:attrName>style.visibility</p:attrName>
                                        </p:attrNameLst>
                                      </p:cBhvr>
                                      <p:to>
                                        <p:strVal val="visible"/>
                                      </p:to>
                                    </p:set>
                                    <p:anim calcmode="lin" valueType="num">
                                      <p:cBhvr additive="base">
                                        <p:cTn id="7" dur="500" fill="hold"/>
                                        <p:tgtEl>
                                          <p:spTgt spid="209925"/>
                                        </p:tgtEl>
                                        <p:attrNameLst>
                                          <p:attrName>ppt_x</p:attrName>
                                        </p:attrNameLst>
                                      </p:cBhvr>
                                      <p:tavLst>
                                        <p:tav tm="0">
                                          <p:val>
                                            <p:strVal val="0-#ppt_w/2"/>
                                          </p:val>
                                        </p:tav>
                                        <p:tav tm="100000">
                                          <p:val>
                                            <p:strVal val="#ppt_x"/>
                                          </p:val>
                                        </p:tav>
                                      </p:tavLst>
                                    </p:anim>
                                    <p:anim calcmode="lin" valueType="num">
                                      <p:cBhvr additive="base">
                                        <p:cTn id="8" dur="500" fill="hold"/>
                                        <p:tgtEl>
                                          <p:spTgt spid="20992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09927"/>
                                        </p:tgtEl>
                                        <p:attrNameLst>
                                          <p:attrName>style.visibility</p:attrName>
                                        </p:attrNameLst>
                                      </p:cBhvr>
                                      <p:to>
                                        <p:strVal val="visible"/>
                                      </p:to>
                                    </p:set>
                                    <p:anim calcmode="lin" valueType="num">
                                      <p:cBhvr additive="base">
                                        <p:cTn id="13" dur="500" fill="hold"/>
                                        <p:tgtEl>
                                          <p:spTgt spid="209927"/>
                                        </p:tgtEl>
                                        <p:attrNameLst>
                                          <p:attrName>ppt_x</p:attrName>
                                        </p:attrNameLst>
                                      </p:cBhvr>
                                      <p:tavLst>
                                        <p:tav tm="0">
                                          <p:val>
                                            <p:strVal val="#ppt_x"/>
                                          </p:val>
                                        </p:tav>
                                        <p:tav tm="100000">
                                          <p:val>
                                            <p:strVal val="#ppt_x"/>
                                          </p:val>
                                        </p:tav>
                                      </p:tavLst>
                                    </p:anim>
                                    <p:anim calcmode="lin" valueType="num">
                                      <p:cBhvr additive="base">
                                        <p:cTn id="14" dur="500" fill="hold"/>
                                        <p:tgtEl>
                                          <p:spTgt spid="20992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09926"/>
                                        </p:tgtEl>
                                        <p:attrNameLst>
                                          <p:attrName>style.visibility</p:attrName>
                                        </p:attrNameLst>
                                      </p:cBhvr>
                                      <p:to>
                                        <p:strVal val="visible"/>
                                      </p:to>
                                    </p:set>
                                    <p:anim calcmode="lin" valueType="num">
                                      <p:cBhvr additive="base">
                                        <p:cTn id="19" dur="500" fill="hold"/>
                                        <p:tgtEl>
                                          <p:spTgt spid="209926"/>
                                        </p:tgtEl>
                                        <p:attrNameLst>
                                          <p:attrName>ppt_x</p:attrName>
                                        </p:attrNameLst>
                                      </p:cBhvr>
                                      <p:tavLst>
                                        <p:tav tm="0">
                                          <p:val>
                                            <p:strVal val="#ppt_x"/>
                                          </p:val>
                                        </p:tav>
                                        <p:tav tm="100000">
                                          <p:val>
                                            <p:strVal val="#ppt_x"/>
                                          </p:val>
                                        </p:tav>
                                      </p:tavLst>
                                    </p:anim>
                                    <p:anim calcmode="lin" valueType="num">
                                      <p:cBhvr additive="base">
                                        <p:cTn id="20" dur="500" fill="hold"/>
                                        <p:tgtEl>
                                          <p:spTgt spid="2099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11"/>
          <p:cNvSpPr txBox="1">
            <a:spLocks noChangeArrowheads="1"/>
          </p:cNvSpPr>
          <p:nvPr/>
        </p:nvSpPr>
        <p:spPr bwMode="auto">
          <a:xfrm>
            <a:off x="152400" y="609600"/>
            <a:ext cx="8785225" cy="294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a:latin typeface="Times New Roman" pitchFamily="18" charset="0"/>
              </a:rPr>
              <a:t>Using three function evaluations: symmetry suggests for the interval </a:t>
            </a:r>
            <a:r>
              <a:rPr lang="en-US" altLang="zh-CN" sz="3600" i="1">
                <a:latin typeface="Times New Roman" pitchFamily="18" charset="0"/>
              </a:rPr>
              <a:t>x</a:t>
            </a:r>
            <a:r>
              <a:rPr lang="en-US" altLang="zh-CN" sz="3600" baseline="-25000">
                <a:latin typeface="Times New Roman" pitchFamily="18" charset="0"/>
              </a:rPr>
              <a:t>0</a:t>
            </a:r>
            <a:r>
              <a:rPr lang="en-US" altLang="zh-CN" sz="3600">
                <a:latin typeface="Times New Roman" pitchFamily="18" charset="0"/>
              </a:rPr>
              <a:t>-  </a:t>
            </a:r>
            <a:r>
              <a:rPr lang="en-US" altLang="zh-CN" sz="3600">
                <a:latin typeface="Times New Roman" pitchFamily="18" charset="0"/>
                <a:sym typeface="Symbol" pitchFamily="18" charset="2"/>
              </a:rPr>
              <a:t></a:t>
            </a:r>
            <a:r>
              <a:rPr lang="en-US" altLang="zh-CN" sz="3600">
                <a:latin typeface="Times New Roman" pitchFamily="18" charset="0"/>
              </a:rPr>
              <a:t> </a:t>
            </a:r>
            <a:r>
              <a:rPr lang="en-US" altLang="zh-CN" sz="3600" i="1">
                <a:latin typeface="Times New Roman" pitchFamily="18" charset="0"/>
              </a:rPr>
              <a:t>x </a:t>
            </a:r>
            <a:r>
              <a:rPr lang="en-US" altLang="zh-CN" sz="3600">
                <a:latin typeface="Times New Roman" pitchFamily="18" charset="0"/>
              </a:rPr>
              <a:t>to </a:t>
            </a:r>
            <a:r>
              <a:rPr lang="en-US" altLang="zh-CN" sz="3600" i="1">
                <a:latin typeface="Times New Roman" pitchFamily="18" charset="0"/>
              </a:rPr>
              <a:t>x</a:t>
            </a:r>
            <a:r>
              <a:rPr lang="en-US" altLang="zh-CN" sz="3600" baseline="-25000">
                <a:latin typeface="Times New Roman" pitchFamily="18" charset="0"/>
              </a:rPr>
              <a:t>0</a:t>
            </a:r>
            <a:r>
              <a:rPr lang="en-US" altLang="zh-CN" sz="3600">
                <a:latin typeface="Times New Roman" pitchFamily="18" charset="0"/>
              </a:rPr>
              <a:t>+</a:t>
            </a:r>
            <a:r>
              <a:rPr lang="en-US" altLang="zh-CN" sz="3600">
                <a:latin typeface="Times New Roman" pitchFamily="18" charset="0"/>
                <a:sym typeface="Symbol" pitchFamily="18" charset="2"/>
              </a:rPr>
              <a:t></a:t>
            </a:r>
            <a:r>
              <a:rPr lang="en-US" altLang="zh-CN" sz="3600" i="1">
                <a:latin typeface="Times New Roman" pitchFamily="18" charset="0"/>
              </a:rPr>
              <a:t>x </a:t>
            </a:r>
            <a:r>
              <a:rPr lang="en-US" altLang="zh-CN" sz="3600">
                <a:latin typeface="Times New Roman" pitchFamily="18" charset="0"/>
              </a:rPr>
              <a:t>the points should be evaluated at </a:t>
            </a:r>
            <a:r>
              <a:rPr lang="en-US" altLang="zh-CN" sz="3600" i="1">
                <a:latin typeface="Times New Roman" pitchFamily="18" charset="0"/>
              </a:rPr>
              <a:t>x</a:t>
            </a:r>
            <a:r>
              <a:rPr lang="en-US" altLang="zh-CN" sz="3600" baseline="-25000">
                <a:latin typeface="Times New Roman" pitchFamily="18" charset="0"/>
              </a:rPr>
              <a:t>0</a:t>
            </a:r>
            <a:r>
              <a:rPr lang="en-US" altLang="zh-CN" sz="3600">
                <a:latin typeface="Times New Roman" pitchFamily="18" charset="0"/>
              </a:rPr>
              <a:t> and </a:t>
            </a:r>
            <a:r>
              <a:rPr lang="en-US" altLang="zh-CN" sz="3600" i="1">
                <a:latin typeface="Times New Roman" pitchFamily="18" charset="0"/>
              </a:rPr>
              <a:t>x</a:t>
            </a:r>
            <a:r>
              <a:rPr lang="en-US" altLang="zh-CN" sz="3600" baseline="-25000">
                <a:latin typeface="Times New Roman" pitchFamily="18" charset="0"/>
              </a:rPr>
              <a:t>0</a:t>
            </a:r>
            <a:r>
              <a:rPr lang="en-US" altLang="zh-CN" sz="3600">
                <a:latin typeface="Times New Roman" pitchFamily="18" charset="0"/>
              </a:rPr>
              <a:t>±</a:t>
            </a:r>
            <a:r>
              <a:rPr lang="en-US" altLang="zh-CN" sz="3600">
                <a:latin typeface="Times New Roman" pitchFamily="18" charset="0"/>
                <a:sym typeface="Symbol" pitchFamily="18" charset="2"/>
              </a:rPr>
              <a:t>. </a:t>
            </a:r>
            <a:r>
              <a:rPr lang="en-US" altLang="zh-CN" sz="3600">
                <a:latin typeface="Times New Roman" pitchFamily="18" charset="0"/>
              </a:rPr>
              <a:t>The Taylor Series expansion of the integral</a:t>
            </a:r>
          </a:p>
        </p:txBody>
      </p:sp>
      <p:pic>
        <p:nvPicPr>
          <p:cNvPr id="100355"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5300663"/>
            <a:ext cx="2303463"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3860800"/>
            <a:ext cx="7632700"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731" name="Rectangle 3"/>
          <p:cNvSpPr>
            <a:spLocks noChangeArrowheads="1"/>
          </p:cNvSpPr>
          <p:nvPr/>
        </p:nvSpPr>
        <p:spPr bwMode="auto">
          <a:xfrm>
            <a:off x="107950" y="3644900"/>
            <a:ext cx="8964613" cy="1512888"/>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1"/>
                                        </p:tgtEl>
                                        <p:attrNameLst>
                                          <p:attrName>style.visibility</p:attrName>
                                        </p:attrNameLst>
                                      </p:cBhvr>
                                      <p:to>
                                        <p:strVal val="visible"/>
                                      </p:to>
                                    </p:set>
                                    <p:anim calcmode="lin" valueType="num">
                                      <p:cBhvr additive="base">
                                        <p:cTn id="7" dur="500" fill="hold"/>
                                        <p:tgtEl>
                                          <p:spTgt spid="73731"/>
                                        </p:tgtEl>
                                        <p:attrNameLst>
                                          <p:attrName>ppt_x</p:attrName>
                                        </p:attrNameLst>
                                      </p:cBhvr>
                                      <p:tavLst>
                                        <p:tav tm="0">
                                          <p:val>
                                            <p:strVal val="#ppt_x"/>
                                          </p:val>
                                        </p:tav>
                                        <p:tav tm="100000">
                                          <p:val>
                                            <p:strVal val="#ppt_x"/>
                                          </p:val>
                                        </p:tav>
                                      </p:tavLst>
                                    </p:anim>
                                    <p:anim calcmode="lin" valueType="num">
                                      <p:cBhvr additive="base">
                                        <p:cTn id="8" dur="500" fill="hold"/>
                                        <p:tgtEl>
                                          <p:spTgt spid="737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620713"/>
            <a:ext cx="88931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37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989138"/>
            <a:ext cx="7632700"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38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3141663"/>
            <a:ext cx="1728787" cy="80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381"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005263"/>
            <a:ext cx="91440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382"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5445125"/>
            <a:ext cx="7848600"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620713"/>
            <a:ext cx="88931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0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989138"/>
            <a:ext cx="7848600"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064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5" y="3498850"/>
            <a:ext cx="3167063" cy="236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064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3500438"/>
            <a:ext cx="2354263" cy="244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0649" name="Line 9"/>
          <p:cNvSpPr>
            <a:spLocks noChangeShapeType="1"/>
          </p:cNvSpPr>
          <p:nvPr/>
        </p:nvSpPr>
        <p:spPr bwMode="auto">
          <a:xfrm>
            <a:off x="2411413" y="1412875"/>
            <a:ext cx="43338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0650" name="Line 10"/>
          <p:cNvSpPr>
            <a:spLocks noChangeShapeType="1"/>
          </p:cNvSpPr>
          <p:nvPr/>
        </p:nvSpPr>
        <p:spPr bwMode="auto">
          <a:xfrm>
            <a:off x="1547813" y="2636838"/>
            <a:ext cx="100806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0651" name="Line 11"/>
          <p:cNvSpPr>
            <a:spLocks noChangeShapeType="1"/>
          </p:cNvSpPr>
          <p:nvPr/>
        </p:nvSpPr>
        <p:spPr bwMode="auto">
          <a:xfrm>
            <a:off x="3276600" y="1485900"/>
            <a:ext cx="433388"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0652" name="Line 12"/>
          <p:cNvSpPr>
            <a:spLocks noChangeShapeType="1"/>
          </p:cNvSpPr>
          <p:nvPr/>
        </p:nvSpPr>
        <p:spPr bwMode="auto">
          <a:xfrm>
            <a:off x="3132138" y="2708275"/>
            <a:ext cx="6477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0653" name="Line 13"/>
          <p:cNvSpPr>
            <a:spLocks noChangeShapeType="1"/>
          </p:cNvSpPr>
          <p:nvPr/>
        </p:nvSpPr>
        <p:spPr bwMode="auto">
          <a:xfrm>
            <a:off x="4716463" y="1484313"/>
            <a:ext cx="576262" cy="0"/>
          </a:xfrm>
          <a:prstGeom prst="line">
            <a:avLst/>
          </a:prstGeom>
          <a:noFill/>
          <a:ln w="2540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0654" name="Line 14"/>
          <p:cNvSpPr>
            <a:spLocks noChangeShapeType="1"/>
          </p:cNvSpPr>
          <p:nvPr/>
        </p:nvSpPr>
        <p:spPr bwMode="auto">
          <a:xfrm>
            <a:off x="4427538" y="2708275"/>
            <a:ext cx="647700" cy="0"/>
          </a:xfrm>
          <a:prstGeom prst="line">
            <a:avLst/>
          </a:prstGeom>
          <a:noFill/>
          <a:ln w="2540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0649"/>
                                        </p:tgtEl>
                                        <p:attrNameLst>
                                          <p:attrName>style.visibility</p:attrName>
                                        </p:attrNameLst>
                                      </p:cBhvr>
                                      <p:to>
                                        <p:strVal val="visible"/>
                                      </p:to>
                                    </p:set>
                                    <p:anim calcmode="lin" valueType="num">
                                      <p:cBhvr additive="base">
                                        <p:cTn id="7" dur="500" fill="hold"/>
                                        <p:tgtEl>
                                          <p:spTgt spid="240649"/>
                                        </p:tgtEl>
                                        <p:attrNameLst>
                                          <p:attrName>ppt_x</p:attrName>
                                        </p:attrNameLst>
                                      </p:cBhvr>
                                      <p:tavLst>
                                        <p:tav tm="0">
                                          <p:val>
                                            <p:strVal val="0-#ppt_w/2"/>
                                          </p:val>
                                        </p:tav>
                                        <p:tav tm="100000">
                                          <p:val>
                                            <p:strVal val="#ppt_x"/>
                                          </p:val>
                                        </p:tav>
                                      </p:tavLst>
                                    </p:anim>
                                    <p:anim calcmode="lin" valueType="num">
                                      <p:cBhvr additive="base">
                                        <p:cTn id="8" dur="500" fill="hold"/>
                                        <p:tgtEl>
                                          <p:spTgt spid="24064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0650"/>
                                        </p:tgtEl>
                                        <p:attrNameLst>
                                          <p:attrName>style.visibility</p:attrName>
                                        </p:attrNameLst>
                                      </p:cBhvr>
                                      <p:to>
                                        <p:strVal val="visible"/>
                                      </p:to>
                                    </p:set>
                                    <p:anim calcmode="lin" valueType="num">
                                      <p:cBhvr additive="base">
                                        <p:cTn id="13" dur="500" fill="hold"/>
                                        <p:tgtEl>
                                          <p:spTgt spid="240650"/>
                                        </p:tgtEl>
                                        <p:attrNameLst>
                                          <p:attrName>ppt_x</p:attrName>
                                        </p:attrNameLst>
                                      </p:cBhvr>
                                      <p:tavLst>
                                        <p:tav tm="0">
                                          <p:val>
                                            <p:strVal val="0-#ppt_w/2"/>
                                          </p:val>
                                        </p:tav>
                                        <p:tav tm="100000">
                                          <p:val>
                                            <p:strVal val="#ppt_x"/>
                                          </p:val>
                                        </p:tav>
                                      </p:tavLst>
                                    </p:anim>
                                    <p:anim calcmode="lin" valueType="num">
                                      <p:cBhvr additive="base">
                                        <p:cTn id="14" dur="500" fill="hold"/>
                                        <p:tgtEl>
                                          <p:spTgt spid="24065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0651"/>
                                        </p:tgtEl>
                                        <p:attrNameLst>
                                          <p:attrName>style.visibility</p:attrName>
                                        </p:attrNameLst>
                                      </p:cBhvr>
                                      <p:to>
                                        <p:strVal val="visible"/>
                                      </p:to>
                                    </p:set>
                                    <p:anim calcmode="lin" valueType="num">
                                      <p:cBhvr additive="base">
                                        <p:cTn id="19" dur="500" fill="hold"/>
                                        <p:tgtEl>
                                          <p:spTgt spid="240651"/>
                                        </p:tgtEl>
                                        <p:attrNameLst>
                                          <p:attrName>ppt_x</p:attrName>
                                        </p:attrNameLst>
                                      </p:cBhvr>
                                      <p:tavLst>
                                        <p:tav tm="0">
                                          <p:val>
                                            <p:strVal val="0-#ppt_w/2"/>
                                          </p:val>
                                        </p:tav>
                                        <p:tav tm="100000">
                                          <p:val>
                                            <p:strVal val="#ppt_x"/>
                                          </p:val>
                                        </p:tav>
                                      </p:tavLst>
                                    </p:anim>
                                    <p:anim calcmode="lin" valueType="num">
                                      <p:cBhvr additive="base">
                                        <p:cTn id="20" dur="500" fill="hold"/>
                                        <p:tgtEl>
                                          <p:spTgt spid="24065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0652"/>
                                        </p:tgtEl>
                                        <p:attrNameLst>
                                          <p:attrName>style.visibility</p:attrName>
                                        </p:attrNameLst>
                                      </p:cBhvr>
                                      <p:to>
                                        <p:strVal val="visible"/>
                                      </p:to>
                                    </p:set>
                                    <p:anim calcmode="lin" valueType="num">
                                      <p:cBhvr additive="base">
                                        <p:cTn id="25" dur="500" fill="hold"/>
                                        <p:tgtEl>
                                          <p:spTgt spid="240652"/>
                                        </p:tgtEl>
                                        <p:attrNameLst>
                                          <p:attrName>ppt_x</p:attrName>
                                        </p:attrNameLst>
                                      </p:cBhvr>
                                      <p:tavLst>
                                        <p:tav tm="0">
                                          <p:val>
                                            <p:strVal val="0-#ppt_w/2"/>
                                          </p:val>
                                        </p:tav>
                                        <p:tav tm="100000">
                                          <p:val>
                                            <p:strVal val="#ppt_x"/>
                                          </p:val>
                                        </p:tav>
                                      </p:tavLst>
                                    </p:anim>
                                    <p:anim calcmode="lin" valueType="num">
                                      <p:cBhvr additive="base">
                                        <p:cTn id="26" dur="500" fill="hold"/>
                                        <p:tgtEl>
                                          <p:spTgt spid="24065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0653"/>
                                        </p:tgtEl>
                                        <p:attrNameLst>
                                          <p:attrName>style.visibility</p:attrName>
                                        </p:attrNameLst>
                                      </p:cBhvr>
                                      <p:to>
                                        <p:strVal val="visible"/>
                                      </p:to>
                                    </p:set>
                                    <p:anim calcmode="lin" valueType="num">
                                      <p:cBhvr additive="base">
                                        <p:cTn id="31" dur="500" fill="hold"/>
                                        <p:tgtEl>
                                          <p:spTgt spid="240653"/>
                                        </p:tgtEl>
                                        <p:attrNameLst>
                                          <p:attrName>ppt_x</p:attrName>
                                        </p:attrNameLst>
                                      </p:cBhvr>
                                      <p:tavLst>
                                        <p:tav tm="0">
                                          <p:val>
                                            <p:strVal val="0-#ppt_w/2"/>
                                          </p:val>
                                        </p:tav>
                                        <p:tav tm="100000">
                                          <p:val>
                                            <p:strVal val="#ppt_x"/>
                                          </p:val>
                                        </p:tav>
                                      </p:tavLst>
                                    </p:anim>
                                    <p:anim calcmode="lin" valueType="num">
                                      <p:cBhvr additive="base">
                                        <p:cTn id="32" dur="500" fill="hold"/>
                                        <p:tgtEl>
                                          <p:spTgt spid="240653"/>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0654"/>
                                        </p:tgtEl>
                                        <p:attrNameLst>
                                          <p:attrName>style.visibility</p:attrName>
                                        </p:attrNameLst>
                                      </p:cBhvr>
                                      <p:to>
                                        <p:strVal val="visible"/>
                                      </p:to>
                                    </p:set>
                                    <p:anim calcmode="lin" valueType="num">
                                      <p:cBhvr additive="base">
                                        <p:cTn id="37" dur="500" fill="hold"/>
                                        <p:tgtEl>
                                          <p:spTgt spid="240654"/>
                                        </p:tgtEl>
                                        <p:attrNameLst>
                                          <p:attrName>ppt_x</p:attrName>
                                        </p:attrNameLst>
                                      </p:cBhvr>
                                      <p:tavLst>
                                        <p:tav tm="0">
                                          <p:val>
                                            <p:strVal val="0-#ppt_w/2"/>
                                          </p:val>
                                        </p:tav>
                                        <p:tav tm="100000">
                                          <p:val>
                                            <p:strVal val="#ppt_x"/>
                                          </p:val>
                                        </p:tav>
                                      </p:tavLst>
                                    </p:anim>
                                    <p:anim calcmode="lin" valueType="num">
                                      <p:cBhvr additive="base">
                                        <p:cTn id="38" dur="500" fill="hold"/>
                                        <p:tgtEl>
                                          <p:spTgt spid="240654"/>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40647"/>
                                        </p:tgtEl>
                                        <p:attrNameLst>
                                          <p:attrName>style.visibility</p:attrName>
                                        </p:attrNameLst>
                                      </p:cBhvr>
                                      <p:to>
                                        <p:strVal val="visible"/>
                                      </p:to>
                                    </p:set>
                                    <p:anim calcmode="lin" valueType="num">
                                      <p:cBhvr additive="base">
                                        <p:cTn id="43" dur="500" fill="hold"/>
                                        <p:tgtEl>
                                          <p:spTgt spid="240647"/>
                                        </p:tgtEl>
                                        <p:attrNameLst>
                                          <p:attrName>ppt_x</p:attrName>
                                        </p:attrNameLst>
                                      </p:cBhvr>
                                      <p:tavLst>
                                        <p:tav tm="0">
                                          <p:val>
                                            <p:strVal val="#ppt_x"/>
                                          </p:val>
                                        </p:tav>
                                        <p:tav tm="100000">
                                          <p:val>
                                            <p:strVal val="#ppt_x"/>
                                          </p:val>
                                        </p:tav>
                                      </p:tavLst>
                                    </p:anim>
                                    <p:anim calcmode="lin" valueType="num">
                                      <p:cBhvr additive="base">
                                        <p:cTn id="44" dur="500" fill="hold"/>
                                        <p:tgtEl>
                                          <p:spTgt spid="240647"/>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240648"/>
                                        </p:tgtEl>
                                        <p:attrNameLst>
                                          <p:attrName>style.visibility</p:attrName>
                                        </p:attrNameLst>
                                      </p:cBhvr>
                                      <p:to>
                                        <p:strVal val="visible"/>
                                      </p:to>
                                    </p:set>
                                    <p:anim calcmode="lin" valueType="num">
                                      <p:cBhvr additive="base">
                                        <p:cTn id="49" dur="500" fill="hold"/>
                                        <p:tgtEl>
                                          <p:spTgt spid="240648"/>
                                        </p:tgtEl>
                                        <p:attrNameLst>
                                          <p:attrName>ppt_x</p:attrName>
                                        </p:attrNameLst>
                                      </p:cBhvr>
                                      <p:tavLst>
                                        <p:tav tm="0">
                                          <p:val>
                                            <p:strVal val="#ppt_x"/>
                                          </p:val>
                                        </p:tav>
                                        <p:tav tm="100000">
                                          <p:val>
                                            <p:strVal val="#ppt_x"/>
                                          </p:val>
                                        </p:tav>
                                      </p:tavLst>
                                    </p:anim>
                                    <p:anim calcmode="lin" valueType="num">
                                      <p:cBhvr additive="base">
                                        <p:cTn id="50" dur="500" fill="hold"/>
                                        <p:tgtEl>
                                          <p:spTgt spid="2406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9" grpId="0" animBg="1"/>
      <p:bldP spid="240650" grpId="0" animBg="1"/>
      <p:bldP spid="240651" grpId="0" animBg="1"/>
      <p:bldP spid="240652" grpId="0" animBg="1"/>
      <p:bldP spid="240653" grpId="0" animBg="1"/>
      <p:bldP spid="240654"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4005263"/>
            <a:ext cx="8458200" cy="116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2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260350"/>
            <a:ext cx="3167062" cy="236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2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188913"/>
            <a:ext cx="2354263" cy="244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2636838"/>
            <a:ext cx="7632700"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0186" name="Group 10"/>
          <p:cNvGrpSpPr>
            <a:grpSpLocks/>
          </p:cNvGrpSpPr>
          <p:nvPr/>
        </p:nvGrpSpPr>
        <p:grpSpPr bwMode="auto">
          <a:xfrm>
            <a:off x="704850" y="5157788"/>
            <a:ext cx="7612063" cy="1516062"/>
            <a:chOff x="444" y="3249"/>
            <a:chExt cx="4795" cy="955"/>
          </a:xfrm>
        </p:grpSpPr>
        <p:pic>
          <p:nvPicPr>
            <p:cNvPr id="103433"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83" y="3612"/>
              <a:ext cx="3856" cy="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3434" name="Object 9"/>
            <p:cNvGraphicFramePr>
              <a:graphicFrameLocks noChangeAspect="1"/>
            </p:cNvGraphicFramePr>
            <p:nvPr/>
          </p:nvGraphicFramePr>
          <p:xfrm>
            <a:off x="444" y="3249"/>
            <a:ext cx="1684" cy="472"/>
          </p:xfrm>
          <a:graphic>
            <a:graphicData uri="http://schemas.openxmlformats.org/presentationml/2006/ole">
              <mc:AlternateContent xmlns:mc="http://schemas.openxmlformats.org/markup-compatibility/2006">
                <mc:Choice xmlns:v="urn:schemas-microsoft-com:vml" Requires="v">
                  <p:oleObj spid="_x0000_s103457" name="公式" r:id="rId8" imgW="784944" imgH="190428" progId="Equation.3">
                    <p:embed/>
                  </p:oleObj>
                </mc:Choice>
                <mc:Fallback>
                  <p:oleObj name="公式" r:id="rId8" imgW="784944" imgH="190428"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 y="3249"/>
                          <a:ext cx="168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50187" name="Rectangle 11"/>
          <p:cNvSpPr>
            <a:spLocks noChangeArrowheads="1"/>
          </p:cNvSpPr>
          <p:nvPr/>
        </p:nvSpPr>
        <p:spPr bwMode="auto">
          <a:xfrm>
            <a:off x="107950" y="3860800"/>
            <a:ext cx="8964613" cy="1296988"/>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50188" name="Rectangle 12"/>
          <p:cNvSpPr>
            <a:spLocks noChangeArrowheads="1"/>
          </p:cNvSpPr>
          <p:nvPr/>
        </p:nvSpPr>
        <p:spPr bwMode="auto">
          <a:xfrm>
            <a:off x="1835150" y="5734050"/>
            <a:ext cx="7129463" cy="1008063"/>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0183"/>
                                        </p:tgtEl>
                                        <p:attrNameLst>
                                          <p:attrName>style.visibility</p:attrName>
                                        </p:attrNameLst>
                                      </p:cBhvr>
                                      <p:to>
                                        <p:strVal val="visible"/>
                                      </p:to>
                                    </p:set>
                                    <p:anim calcmode="lin" valueType="num">
                                      <p:cBhvr additive="base">
                                        <p:cTn id="7" dur="500" fill="hold"/>
                                        <p:tgtEl>
                                          <p:spTgt spid="50183"/>
                                        </p:tgtEl>
                                        <p:attrNameLst>
                                          <p:attrName>ppt_x</p:attrName>
                                        </p:attrNameLst>
                                      </p:cBhvr>
                                      <p:tavLst>
                                        <p:tav tm="0">
                                          <p:val>
                                            <p:strVal val="#ppt_x"/>
                                          </p:val>
                                        </p:tav>
                                        <p:tav tm="100000">
                                          <p:val>
                                            <p:strVal val="#ppt_x"/>
                                          </p:val>
                                        </p:tav>
                                      </p:tavLst>
                                    </p:anim>
                                    <p:anim calcmode="lin" valueType="num">
                                      <p:cBhvr additive="base">
                                        <p:cTn id="8" dur="500" fill="hold"/>
                                        <p:tgtEl>
                                          <p:spTgt spid="5018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0180"/>
                                        </p:tgtEl>
                                        <p:attrNameLst>
                                          <p:attrName>style.visibility</p:attrName>
                                        </p:attrNameLst>
                                      </p:cBhvr>
                                      <p:to>
                                        <p:strVal val="visible"/>
                                      </p:to>
                                    </p:set>
                                    <p:anim calcmode="lin" valueType="num">
                                      <p:cBhvr additive="base">
                                        <p:cTn id="13" dur="500" fill="hold"/>
                                        <p:tgtEl>
                                          <p:spTgt spid="50180"/>
                                        </p:tgtEl>
                                        <p:attrNameLst>
                                          <p:attrName>ppt_x</p:attrName>
                                        </p:attrNameLst>
                                      </p:cBhvr>
                                      <p:tavLst>
                                        <p:tav tm="0">
                                          <p:val>
                                            <p:strVal val="#ppt_x"/>
                                          </p:val>
                                        </p:tav>
                                        <p:tav tm="100000">
                                          <p:val>
                                            <p:strVal val="#ppt_x"/>
                                          </p:val>
                                        </p:tav>
                                      </p:tavLst>
                                    </p:anim>
                                    <p:anim calcmode="lin" valueType="num">
                                      <p:cBhvr additive="base">
                                        <p:cTn id="14" dur="500" fill="hold"/>
                                        <p:tgtEl>
                                          <p:spTgt spid="5018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0186"/>
                                        </p:tgtEl>
                                        <p:attrNameLst>
                                          <p:attrName>style.visibility</p:attrName>
                                        </p:attrNameLst>
                                      </p:cBhvr>
                                      <p:to>
                                        <p:strVal val="visible"/>
                                      </p:to>
                                    </p:set>
                                    <p:anim calcmode="lin" valueType="num">
                                      <p:cBhvr additive="base">
                                        <p:cTn id="19" dur="500" fill="hold"/>
                                        <p:tgtEl>
                                          <p:spTgt spid="50186"/>
                                        </p:tgtEl>
                                        <p:attrNameLst>
                                          <p:attrName>ppt_x</p:attrName>
                                        </p:attrNameLst>
                                      </p:cBhvr>
                                      <p:tavLst>
                                        <p:tav tm="0">
                                          <p:val>
                                            <p:strVal val="#ppt_x"/>
                                          </p:val>
                                        </p:tav>
                                        <p:tav tm="100000">
                                          <p:val>
                                            <p:strVal val="#ppt_x"/>
                                          </p:val>
                                        </p:tav>
                                      </p:tavLst>
                                    </p:anim>
                                    <p:anim calcmode="lin" valueType="num">
                                      <p:cBhvr additive="base">
                                        <p:cTn id="20" dur="500" fill="hold"/>
                                        <p:tgtEl>
                                          <p:spTgt spid="5018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0187"/>
                                        </p:tgtEl>
                                        <p:attrNameLst>
                                          <p:attrName>style.visibility</p:attrName>
                                        </p:attrNameLst>
                                      </p:cBhvr>
                                      <p:to>
                                        <p:strVal val="visible"/>
                                      </p:to>
                                    </p:set>
                                    <p:anim calcmode="lin" valueType="num">
                                      <p:cBhvr additive="base">
                                        <p:cTn id="25" dur="500" fill="hold"/>
                                        <p:tgtEl>
                                          <p:spTgt spid="50187"/>
                                        </p:tgtEl>
                                        <p:attrNameLst>
                                          <p:attrName>ppt_x</p:attrName>
                                        </p:attrNameLst>
                                      </p:cBhvr>
                                      <p:tavLst>
                                        <p:tav tm="0">
                                          <p:val>
                                            <p:strVal val="#ppt_x"/>
                                          </p:val>
                                        </p:tav>
                                        <p:tav tm="100000">
                                          <p:val>
                                            <p:strVal val="#ppt_x"/>
                                          </p:val>
                                        </p:tav>
                                      </p:tavLst>
                                    </p:anim>
                                    <p:anim calcmode="lin" valueType="num">
                                      <p:cBhvr additive="base">
                                        <p:cTn id="26" dur="500" fill="hold"/>
                                        <p:tgtEl>
                                          <p:spTgt spid="5018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0188"/>
                                        </p:tgtEl>
                                        <p:attrNameLst>
                                          <p:attrName>style.visibility</p:attrName>
                                        </p:attrNameLst>
                                      </p:cBhvr>
                                      <p:to>
                                        <p:strVal val="visible"/>
                                      </p:to>
                                    </p:set>
                                    <p:anim calcmode="lin" valueType="num">
                                      <p:cBhvr additive="base">
                                        <p:cTn id="31" dur="500" fill="hold"/>
                                        <p:tgtEl>
                                          <p:spTgt spid="50188"/>
                                        </p:tgtEl>
                                        <p:attrNameLst>
                                          <p:attrName>ppt_x</p:attrName>
                                        </p:attrNameLst>
                                      </p:cBhvr>
                                      <p:tavLst>
                                        <p:tav tm="0">
                                          <p:val>
                                            <p:strVal val="#ppt_x"/>
                                          </p:val>
                                        </p:tav>
                                        <p:tav tm="100000">
                                          <p:val>
                                            <p:strVal val="#ppt_x"/>
                                          </p:val>
                                        </p:tav>
                                      </p:tavLst>
                                    </p:anim>
                                    <p:anim calcmode="lin" valueType="num">
                                      <p:cBhvr additive="base">
                                        <p:cTn id="32" dur="500" fill="hold"/>
                                        <p:tgtEl>
                                          <p:spTgt spid="501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7" grpId="0" animBg="1"/>
      <p:bldP spid="50188"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1413" y="1844675"/>
            <a:ext cx="38893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650" y="620713"/>
            <a:ext cx="6840538"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2" name="Rectangle 6"/>
          <p:cNvSpPr>
            <a:spLocks noChangeArrowheads="1"/>
          </p:cNvSpPr>
          <p:nvPr/>
        </p:nvSpPr>
        <p:spPr bwMode="auto">
          <a:xfrm>
            <a:off x="2484438" y="3357563"/>
            <a:ext cx="4673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宋体" pitchFamily="2" charset="-122"/>
              </a:rPr>
              <a:t>三点高斯</a:t>
            </a:r>
            <a:r>
              <a:rPr lang="en-US" altLang="zh-CN" sz="3200" b="1">
                <a:latin typeface="宋体" pitchFamily="2" charset="-122"/>
              </a:rPr>
              <a:t>-</a:t>
            </a:r>
            <a:r>
              <a:rPr lang="zh-CN" altLang="en-US" sz="3200" b="1">
                <a:latin typeface="宋体" pitchFamily="2" charset="-122"/>
              </a:rPr>
              <a:t>勒让德公式为 </a:t>
            </a:r>
          </a:p>
        </p:txBody>
      </p:sp>
      <p:pic>
        <p:nvPicPr>
          <p:cNvPr id="22323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4508500"/>
            <a:ext cx="6264275"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324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5661025"/>
            <a:ext cx="6624637"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3239"/>
                                        </p:tgtEl>
                                        <p:attrNameLst>
                                          <p:attrName>style.visibility</p:attrName>
                                        </p:attrNameLst>
                                      </p:cBhvr>
                                      <p:to>
                                        <p:strVal val="visible"/>
                                      </p:to>
                                    </p:set>
                                    <p:anim calcmode="lin" valueType="num">
                                      <p:cBhvr additive="base">
                                        <p:cTn id="7" dur="500" fill="hold"/>
                                        <p:tgtEl>
                                          <p:spTgt spid="223239"/>
                                        </p:tgtEl>
                                        <p:attrNameLst>
                                          <p:attrName>ppt_x</p:attrName>
                                        </p:attrNameLst>
                                      </p:cBhvr>
                                      <p:tavLst>
                                        <p:tav tm="0">
                                          <p:val>
                                            <p:strVal val="#ppt_x"/>
                                          </p:val>
                                        </p:tav>
                                        <p:tav tm="100000">
                                          <p:val>
                                            <p:strVal val="#ppt_x"/>
                                          </p:val>
                                        </p:tav>
                                      </p:tavLst>
                                    </p:anim>
                                    <p:anim calcmode="lin" valueType="num">
                                      <p:cBhvr additive="base">
                                        <p:cTn id="8" dur="500" fill="hold"/>
                                        <p:tgtEl>
                                          <p:spTgt spid="22323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23240"/>
                                        </p:tgtEl>
                                        <p:attrNameLst>
                                          <p:attrName>style.visibility</p:attrName>
                                        </p:attrNameLst>
                                      </p:cBhvr>
                                      <p:to>
                                        <p:strVal val="visible"/>
                                      </p:to>
                                    </p:set>
                                    <p:anim calcmode="lin" valueType="num">
                                      <p:cBhvr additive="base">
                                        <p:cTn id="13" dur="500" fill="hold"/>
                                        <p:tgtEl>
                                          <p:spTgt spid="223240"/>
                                        </p:tgtEl>
                                        <p:attrNameLst>
                                          <p:attrName>ppt_x</p:attrName>
                                        </p:attrNameLst>
                                      </p:cBhvr>
                                      <p:tavLst>
                                        <p:tav tm="0">
                                          <p:val>
                                            <p:strVal val="#ppt_x"/>
                                          </p:val>
                                        </p:tav>
                                        <p:tav tm="100000">
                                          <p:val>
                                            <p:strVal val="#ppt_x"/>
                                          </p:val>
                                        </p:tav>
                                      </p:tavLst>
                                    </p:anim>
                                    <p:anim calcmode="lin" valueType="num">
                                      <p:cBhvr additive="base">
                                        <p:cTn id="14" dur="500" fill="hold"/>
                                        <p:tgtEl>
                                          <p:spTgt spid="2232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2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631825"/>
            <a:ext cx="8964612" cy="596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1844675"/>
            <a:ext cx="2120900" cy="119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6499" name="Text Box 5"/>
          <p:cNvSpPr txBox="1">
            <a:spLocks noChangeArrowheads="1"/>
          </p:cNvSpPr>
          <p:nvPr/>
        </p:nvSpPr>
        <p:spPr bwMode="auto">
          <a:xfrm>
            <a:off x="971550" y="765175"/>
            <a:ext cx="4264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t>积分区间为无限的积分</a:t>
            </a:r>
          </a:p>
        </p:txBody>
      </p:sp>
      <p:sp>
        <p:nvSpPr>
          <p:cNvPr id="106500" name="Text Box 6"/>
          <p:cNvSpPr txBox="1">
            <a:spLocks noChangeArrowheads="1"/>
          </p:cNvSpPr>
          <p:nvPr/>
        </p:nvSpPr>
        <p:spPr bwMode="auto">
          <a:xfrm>
            <a:off x="1023938" y="3611563"/>
            <a:ext cx="24272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b="1">
                <a:latin typeface="宋体" pitchFamily="2" charset="-122"/>
              </a:rPr>
              <a:t>变量代换法</a:t>
            </a:r>
            <a:r>
              <a:rPr lang="zh-CN" altLang="en-US" sz="3200">
                <a:latin typeface="宋体" pitchFamily="2" charset="-122"/>
              </a:rPr>
              <a:t> </a:t>
            </a:r>
          </a:p>
        </p:txBody>
      </p:sp>
      <p:sp>
        <p:nvSpPr>
          <p:cNvPr id="106501" name="Text Box 7"/>
          <p:cNvSpPr txBox="1">
            <a:spLocks noChangeArrowheads="1"/>
          </p:cNvSpPr>
          <p:nvPr/>
        </p:nvSpPr>
        <p:spPr bwMode="auto">
          <a:xfrm>
            <a:off x="3708400" y="3644900"/>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i="1">
                <a:latin typeface="Times New Roman" pitchFamily="18" charset="0"/>
              </a:rPr>
              <a:t>x= -ln(t)</a:t>
            </a:r>
          </a:p>
        </p:txBody>
      </p:sp>
      <p:sp>
        <p:nvSpPr>
          <p:cNvPr id="106502" name="Text Box 8"/>
          <p:cNvSpPr txBox="1">
            <a:spLocks noChangeArrowheads="1"/>
          </p:cNvSpPr>
          <p:nvPr/>
        </p:nvSpPr>
        <p:spPr bwMode="auto">
          <a:xfrm>
            <a:off x="6011863" y="3644900"/>
            <a:ext cx="19446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i="1">
                <a:latin typeface="Times New Roman" pitchFamily="18" charset="0"/>
              </a:rPr>
              <a:t>dx= -dt/t</a:t>
            </a:r>
          </a:p>
        </p:txBody>
      </p:sp>
      <p:pic>
        <p:nvPicPr>
          <p:cNvPr id="10650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4797425"/>
            <a:ext cx="7488238" cy="119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4"/>
          <p:cNvSpPr>
            <a:spLocks noChangeArrowheads="1"/>
          </p:cNvSpPr>
          <p:nvPr/>
        </p:nvSpPr>
        <p:spPr bwMode="auto">
          <a:xfrm>
            <a:off x="180975" y="260350"/>
            <a:ext cx="7461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6.8 Example of numerical integration</a:t>
            </a:r>
          </a:p>
        </p:txBody>
      </p:sp>
      <p:pic>
        <p:nvPicPr>
          <p:cNvPr id="10752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836613"/>
            <a:ext cx="2736850"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7524" name="Text Box 6"/>
          <p:cNvSpPr txBox="1">
            <a:spLocks noChangeArrowheads="1"/>
          </p:cNvSpPr>
          <p:nvPr/>
        </p:nvSpPr>
        <p:spPr bwMode="auto">
          <a:xfrm>
            <a:off x="1455738" y="2786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zh-CN"/>
          </a:p>
        </p:txBody>
      </p:sp>
      <p:sp>
        <p:nvSpPr>
          <p:cNvPr id="107525" name="Text Box 8"/>
          <p:cNvSpPr txBox="1">
            <a:spLocks noChangeArrowheads="1"/>
          </p:cNvSpPr>
          <p:nvPr/>
        </p:nvSpPr>
        <p:spPr bwMode="auto">
          <a:xfrm>
            <a:off x="1455738" y="2930525"/>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zh-CN"/>
          </a:p>
        </p:txBody>
      </p:sp>
      <p:pic>
        <p:nvPicPr>
          <p:cNvPr id="10752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1916113"/>
            <a:ext cx="6553200" cy="451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4"/>
          <p:cNvSpPr txBox="1">
            <a:spLocks noChangeArrowheads="1"/>
          </p:cNvSpPr>
          <p:nvPr/>
        </p:nvSpPr>
        <p:spPr bwMode="auto">
          <a:xfrm>
            <a:off x="539750" y="260350"/>
            <a:ext cx="3917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C   Trapezium rule</a:t>
            </a:r>
          </a:p>
        </p:txBody>
      </p:sp>
      <p:sp>
        <p:nvSpPr>
          <p:cNvPr id="108547" name="Text Box 5"/>
          <p:cNvSpPr txBox="1">
            <a:spLocks noChangeArrowheads="1"/>
          </p:cNvSpPr>
          <p:nvPr/>
        </p:nvSpPr>
        <p:spPr bwMode="auto">
          <a:xfrm>
            <a:off x="395288" y="1052513"/>
            <a:ext cx="7131050" cy="437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600" b="1">
                <a:latin typeface="Times New Roman" pitchFamily="18" charset="0"/>
              </a:rPr>
              <a:t>nx = 1</a:t>
            </a:r>
          </a:p>
          <a:p>
            <a:pPr eaLnBrk="1" hangingPunct="1">
              <a:lnSpc>
                <a:spcPct val="130000"/>
              </a:lnSpc>
            </a:pPr>
            <a:r>
              <a:rPr lang="en-US" altLang="zh-CN" sz="3600" b="1">
                <a:latin typeface="Times New Roman" pitchFamily="18" charset="0"/>
              </a:rPr>
              <a:t>DO i=1,20</a:t>
            </a:r>
          </a:p>
          <a:p>
            <a:pPr eaLnBrk="1" hangingPunct="1">
              <a:lnSpc>
                <a:spcPct val="130000"/>
              </a:lnSpc>
            </a:pPr>
            <a:r>
              <a:rPr lang="en-US" altLang="zh-CN" sz="3600" b="1">
                <a:latin typeface="Times New Roman" pitchFamily="18" charset="0"/>
              </a:rPr>
              <a:t>Value = TrapeziumRule(x0,x1,nx)</a:t>
            </a:r>
          </a:p>
          <a:p>
            <a:pPr eaLnBrk="1" hangingPunct="1">
              <a:lnSpc>
                <a:spcPct val="130000"/>
              </a:lnSpc>
            </a:pPr>
            <a:r>
              <a:rPr lang="en-US" altLang="zh-CN" sz="3600" b="1">
                <a:latin typeface="Times New Roman" pitchFamily="18" charset="0"/>
              </a:rPr>
              <a:t>WRITE(6,*)nx,Value,Value - Exact</a:t>
            </a:r>
          </a:p>
          <a:p>
            <a:pPr eaLnBrk="1" hangingPunct="1">
              <a:lnSpc>
                <a:spcPct val="130000"/>
              </a:lnSpc>
            </a:pPr>
            <a:r>
              <a:rPr lang="en-US" altLang="zh-CN" sz="3600" b="1">
                <a:latin typeface="Times New Roman" pitchFamily="18" charset="0"/>
              </a:rPr>
              <a:t>nx = 2*nx</a:t>
            </a:r>
          </a:p>
          <a:p>
            <a:pPr eaLnBrk="1" hangingPunct="1">
              <a:lnSpc>
                <a:spcPct val="130000"/>
              </a:lnSpc>
            </a:pPr>
            <a:r>
              <a:rPr lang="en-US" altLang="zh-CN" sz="3600" b="1">
                <a:latin typeface="Times New Roman" pitchFamily="18" charset="0"/>
              </a:rPr>
              <a:t>ENDDO</a:t>
            </a:r>
          </a:p>
        </p:txBody>
      </p:sp>
    </p:spTree>
  </p:cSld>
  <p:clrMapOvr>
    <a:masterClrMapping/>
  </p:clrMapOvr>
  <p:transition spd="slow">
    <p:push dir="u"/>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4"/>
          <p:cNvSpPr txBox="1">
            <a:spLocks noChangeArrowheads="1"/>
          </p:cNvSpPr>
          <p:nvPr/>
        </p:nvSpPr>
        <p:spPr bwMode="auto">
          <a:xfrm>
            <a:off x="1763713" y="260350"/>
            <a:ext cx="5508625" cy="618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5000"/>
              </a:lnSpc>
            </a:pPr>
            <a:r>
              <a:rPr lang="en-US" altLang="zh-CN" sz="3200" b="1">
                <a:latin typeface="Times New Roman" pitchFamily="18" charset="0"/>
              </a:rPr>
              <a:t>REAL*8 FUNCTION TrapeziumRule(x0,x1,nx)</a:t>
            </a:r>
          </a:p>
          <a:p>
            <a:pPr eaLnBrk="1" hangingPunct="1">
              <a:lnSpc>
                <a:spcPct val="125000"/>
              </a:lnSpc>
            </a:pPr>
            <a:r>
              <a:rPr lang="en-US" altLang="zh-CN" sz="3200" b="1">
                <a:latin typeface="Times New Roman" pitchFamily="18" charset="0"/>
              </a:rPr>
              <a:t>C=====parameters</a:t>
            </a:r>
          </a:p>
          <a:p>
            <a:pPr eaLnBrk="1" hangingPunct="1">
              <a:lnSpc>
                <a:spcPct val="125000"/>
              </a:lnSpc>
            </a:pPr>
            <a:r>
              <a:rPr lang="en-US" altLang="zh-CN" sz="3200" b="1">
                <a:latin typeface="Times New Roman" pitchFamily="18" charset="0"/>
              </a:rPr>
              <a:t>INTEGER*4 nx</a:t>
            </a:r>
          </a:p>
          <a:p>
            <a:pPr eaLnBrk="1" hangingPunct="1">
              <a:lnSpc>
                <a:spcPct val="125000"/>
              </a:lnSpc>
            </a:pPr>
            <a:r>
              <a:rPr lang="en-US" altLang="zh-CN" sz="3200" b="1">
                <a:latin typeface="Times New Roman" pitchFamily="18" charset="0"/>
              </a:rPr>
              <a:t>REAL*8 x0,x1</a:t>
            </a:r>
          </a:p>
          <a:p>
            <a:pPr eaLnBrk="1" hangingPunct="1">
              <a:lnSpc>
                <a:spcPct val="125000"/>
              </a:lnSpc>
            </a:pPr>
            <a:r>
              <a:rPr lang="en-US" altLang="zh-CN" sz="3200" b="1">
                <a:latin typeface="Times New Roman" pitchFamily="18" charset="0"/>
              </a:rPr>
              <a:t>C=====functions</a:t>
            </a:r>
          </a:p>
          <a:p>
            <a:pPr eaLnBrk="1" hangingPunct="1">
              <a:lnSpc>
                <a:spcPct val="125000"/>
              </a:lnSpc>
            </a:pPr>
            <a:r>
              <a:rPr lang="en-US" altLang="zh-CN" sz="3200" b="1">
                <a:latin typeface="Times New Roman" pitchFamily="18" charset="0"/>
              </a:rPr>
              <a:t>REAL*8 f</a:t>
            </a:r>
          </a:p>
          <a:p>
            <a:pPr eaLnBrk="1" hangingPunct="1">
              <a:lnSpc>
                <a:spcPct val="125000"/>
              </a:lnSpc>
            </a:pPr>
            <a:r>
              <a:rPr lang="en-US" altLang="zh-CN" sz="3200" b="1">
                <a:latin typeface="Times New Roman" pitchFamily="18" charset="0"/>
              </a:rPr>
              <a:t>C=====local variables</a:t>
            </a:r>
          </a:p>
          <a:p>
            <a:pPr eaLnBrk="1" hangingPunct="1">
              <a:lnSpc>
                <a:spcPct val="125000"/>
              </a:lnSpc>
            </a:pPr>
            <a:r>
              <a:rPr lang="en-US" altLang="zh-CN" sz="3200" b="1">
                <a:latin typeface="Times New Roman" pitchFamily="18" charset="0"/>
              </a:rPr>
              <a:t>INTEGER*4 i</a:t>
            </a:r>
          </a:p>
          <a:p>
            <a:pPr eaLnBrk="1" hangingPunct="1">
              <a:lnSpc>
                <a:spcPct val="125000"/>
              </a:lnSpc>
            </a:pPr>
            <a:r>
              <a:rPr lang="en-US" altLang="zh-CN" sz="3200" b="1">
                <a:latin typeface="Times New Roman" pitchFamily="18" charset="0"/>
              </a:rPr>
              <a:t>REAL*8 dx,xa,xb,fa,fb,Sum</a:t>
            </a:r>
          </a:p>
        </p:txBody>
      </p:sp>
    </p:spTree>
  </p:cSld>
  <p:clrMapOvr>
    <a:masterClrMapping/>
  </p:clrMapOvr>
  <p:transition spd="slow">
    <p:push dir="u"/>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4"/>
          <p:cNvSpPr txBox="1">
            <a:spLocks noChangeArrowheads="1"/>
          </p:cNvSpPr>
          <p:nvPr/>
        </p:nvSpPr>
        <p:spPr bwMode="auto">
          <a:xfrm>
            <a:off x="539750" y="0"/>
            <a:ext cx="5472113" cy="679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5000"/>
              </a:lnSpc>
            </a:pPr>
            <a:r>
              <a:rPr lang="en-US" altLang="zh-CN" sz="3200" b="1">
                <a:latin typeface="Times New Roman" pitchFamily="18" charset="0"/>
              </a:rPr>
              <a:t>dx = (x1 - x0)/DFLOAT(nx)</a:t>
            </a:r>
          </a:p>
          <a:p>
            <a:pPr eaLnBrk="1" hangingPunct="1">
              <a:lnSpc>
                <a:spcPct val="125000"/>
              </a:lnSpc>
            </a:pPr>
            <a:r>
              <a:rPr lang="en-US" altLang="zh-CN" sz="3200" b="1">
                <a:latin typeface="Times New Roman" pitchFamily="18" charset="0"/>
              </a:rPr>
              <a:t>Sum = 0.0</a:t>
            </a:r>
          </a:p>
          <a:p>
            <a:pPr eaLnBrk="1" hangingPunct="1">
              <a:lnSpc>
                <a:spcPct val="125000"/>
              </a:lnSpc>
            </a:pPr>
            <a:r>
              <a:rPr lang="en-US" altLang="zh-CN" sz="3200" b="1">
                <a:latin typeface="Times New Roman" pitchFamily="18" charset="0"/>
              </a:rPr>
              <a:t>DO i=0,nx-1</a:t>
            </a:r>
          </a:p>
          <a:p>
            <a:pPr eaLnBrk="1" hangingPunct="1">
              <a:lnSpc>
                <a:spcPct val="125000"/>
              </a:lnSpc>
            </a:pPr>
            <a:r>
              <a:rPr lang="en-US" altLang="zh-CN" sz="3200" b="1">
                <a:latin typeface="Times New Roman" pitchFamily="18" charset="0"/>
              </a:rPr>
              <a:t>xa = x0 + DFLOAT(i)*dx</a:t>
            </a:r>
          </a:p>
          <a:p>
            <a:pPr eaLnBrk="1" hangingPunct="1">
              <a:lnSpc>
                <a:spcPct val="125000"/>
              </a:lnSpc>
            </a:pPr>
            <a:r>
              <a:rPr lang="en-US" altLang="zh-CN" sz="3200" b="1">
                <a:latin typeface="Times New Roman" pitchFamily="18" charset="0"/>
              </a:rPr>
              <a:t>xb = x0 + DFLOAT(i+1)*dx</a:t>
            </a:r>
          </a:p>
          <a:p>
            <a:pPr eaLnBrk="1" hangingPunct="1">
              <a:lnSpc>
                <a:spcPct val="125000"/>
              </a:lnSpc>
            </a:pPr>
            <a:r>
              <a:rPr lang="en-US" altLang="zh-CN" sz="3200" b="1">
                <a:latin typeface="Times New Roman" pitchFamily="18" charset="0"/>
              </a:rPr>
              <a:t>fa = f(xa)     fb = f(xb)</a:t>
            </a:r>
          </a:p>
          <a:p>
            <a:pPr eaLnBrk="1" hangingPunct="1">
              <a:lnSpc>
                <a:spcPct val="125000"/>
              </a:lnSpc>
            </a:pPr>
            <a:r>
              <a:rPr lang="en-US" altLang="zh-CN" sz="3200" b="1">
                <a:latin typeface="Times New Roman" pitchFamily="18" charset="0"/>
              </a:rPr>
              <a:t>Sum = Sum + fa + fb</a:t>
            </a:r>
          </a:p>
          <a:p>
            <a:pPr eaLnBrk="1" hangingPunct="1">
              <a:lnSpc>
                <a:spcPct val="125000"/>
              </a:lnSpc>
            </a:pPr>
            <a:r>
              <a:rPr lang="en-US" altLang="zh-CN" sz="3200" b="1">
                <a:latin typeface="Times New Roman" pitchFamily="18" charset="0"/>
              </a:rPr>
              <a:t>ENDDO</a:t>
            </a:r>
          </a:p>
          <a:p>
            <a:pPr eaLnBrk="1" hangingPunct="1">
              <a:lnSpc>
                <a:spcPct val="125000"/>
              </a:lnSpc>
            </a:pPr>
            <a:r>
              <a:rPr lang="en-US" altLang="zh-CN" sz="3200" b="1">
                <a:latin typeface="Times New Roman" pitchFamily="18" charset="0"/>
              </a:rPr>
              <a:t>Sum = Sum * dx / 2.0</a:t>
            </a:r>
          </a:p>
          <a:p>
            <a:pPr eaLnBrk="1" hangingPunct="1">
              <a:lnSpc>
                <a:spcPct val="125000"/>
              </a:lnSpc>
            </a:pPr>
            <a:r>
              <a:rPr lang="en-US" altLang="zh-CN" sz="3200" b="1">
                <a:latin typeface="Times New Roman" pitchFamily="18" charset="0"/>
              </a:rPr>
              <a:t>TrapeziumRule = Sum</a:t>
            </a:r>
          </a:p>
          <a:p>
            <a:pPr eaLnBrk="1" hangingPunct="1">
              <a:lnSpc>
                <a:spcPct val="125000"/>
              </a:lnSpc>
            </a:pPr>
            <a:r>
              <a:rPr lang="en-US" altLang="zh-CN" sz="3200" b="1">
                <a:latin typeface="Times New Roman" pitchFamily="18" charset="0"/>
              </a:rPr>
              <a:t>RETURN    END</a:t>
            </a:r>
          </a:p>
        </p:txBody>
      </p:sp>
    </p:spTree>
  </p:cSld>
  <p:clrMapOvr>
    <a:masterClrMapping/>
  </p:clrMapOvr>
  <p:transition spd="slow">
    <p:push dir="u"/>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4"/>
          <p:cNvSpPr txBox="1">
            <a:spLocks noChangeArrowheads="1"/>
          </p:cNvSpPr>
          <p:nvPr/>
        </p:nvSpPr>
        <p:spPr bwMode="auto">
          <a:xfrm>
            <a:off x="2484438" y="1412875"/>
            <a:ext cx="4679950" cy="389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lang="en-US" altLang="zh-CN" sz="3200" b="1"/>
              <a:t>FUNCTION f(x)</a:t>
            </a:r>
          </a:p>
          <a:p>
            <a:pPr eaLnBrk="1" hangingPunct="1">
              <a:lnSpc>
                <a:spcPct val="130000"/>
              </a:lnSpc>
            </a:pPr>
            <a:r>
              <a:rPr lang="en-US" altLang="zh-CN" sz="3200" b="1"/>
              <a:t>C=====parameters</a:t>
            </a:r>
          </a:p>
          <a:p>
            <a:pPr eaLnBrk="1" hangingPunct="1">
              <a:lnSpc>
                <a:spcPct val="130000"/>
              </a:lnSpc>
            </a:pPr>
            <a:r>
              <a:rPr lang="en-US" altLang="zh-CN" sz="3200" b="1"/>
              <a:t>REAL*8 x,f</a:t>
            </a:r>
          </a:p>
          <a:p>
            <a:pPr eaLnBrk="1" hangingPunct="1">
              <a:lnSpc>
                <a:spcPct val="130000"/>
              </a:lnSpc>
            </a:pPr>
            <a:r>
              <a:rPr lang="en-US" altLang="zh-CN" sz="3200" b="1"/>
              <a:t>f = SIN(x)</a:t>
            </a:r>
          </a:p>
          <a:p>
            <a:pPr eaLnBrk="1" hangingPunct="1">
              <a:lnSpc>
                <a:spcPct val="130000"/>
              </a:lnSpc>
            </a:pPr>
            <a:r>
              <a:rPr lang="en-US" altLang="zh-CN" sz="3200" b="1"/>
              <a:t>RETURN</a:t>
            </a:r>
          </a:p>
          <a:p>
            <a:pPr eaLnBrk="1" hangingPunct="1">
              <a:lnSpc>
                <a:spcPct val="130000"/>
              </a:lnSpc>
            </a:pPr>
            <a:r>
              <a:rPr lang="en-US" altLang="zh-CN" sz="3200" b="1"/>
              <a:t>END</a:t>
            </a:r>
          </a:p>
        </p:txBody>
      </p:sp>
    </p:spTree>
  </p:cSld>
  <p:clrMapOvr>
    <a:masterClrMapping/>
  </p:clrMapOvr>
  <p:transition spd="slow">
    <p:push dir="u"/>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4"/>
          <p:cNvSpPr txBox="1">
            <a:spLocks noChangeArrowheads="1"/>
          </p:cNvSpPr>
          <p:nvPr/>
        </p:nvSpPr>
        <p:spPr bwMode="auto">
          <a:xfrm>
            <a:off x="468313" y="476250"/>
            <a:ext cx="8243887" cy="557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5000"/>
              </a:lnSpc>
            </a:pPr>
            <a:r>
              <a:rPr lang="en-US" altLang="zh-CN" sz="3200" b="1">
                <a:latin typeface="Times New Roman" pitchFamily="18" charset="0"/>
              </a:rPr>
              <a:t>REAL*8 FUNCTION MidpointRule(x0,x1,nx)</a:t>
            </a:r>
          </a:p>
          <a:p>
            <a:pPr eaLnBrk="1" hangingPunct="1">
              <a:lnSpc>
                <a:spcPct val="125000"/>
              </a:lnSpc>
            </a:pPr>
            <a:r>
              <a:rPr lang="en-US" altLang="zh-CN" sz="3200" b="1">
                <a:latin typeface="Times New Roman" pitchFamily="18" charset="0"/>
              </a:rPr>
              <a:t>C=====parameters</a:t>
            </a:r>
          </a:p>
          <a:p>
            <a:pPr eaLnBrk="1" hangingPunct="1">
              <a:lnSpc>
                <a:spcPct val="125000"/>
              </a:lnSpc>
            </a:pPr>
            <a:r>
              <a:rPr lang="en-US" altLang="zh-CN" sz="3200" b="1">
                <a:latin typeface="Times New Roman" pitchFamily="18" charset="0"/>
              </a:rPr>
              <a:t>INTEGER*4 nx</a:t>
            </a:r>
          </a:p>
          <a:p>
            <a:pPr eaLnBrk="1" hangingPunct="1">
              <a:lnSpc>
                <a:spcPct val="125000"/>
              </a:lnSpc>
            </a:pPr>
            <a:r>
              <a:rPr lang="en-US" altLang="zh-CN" sz="3200" b="1">
                <a:latin typeface="Times New Roman" pitchFamily="18" charset="0"/>
              </a:rPr>
              <a:t>REAL*8 x0,x1</a:t>
            </a:r>
          </a:p>
          <a:p>
            <a:pPr eaLnBrk="1" hangingPunct="1">
              <a:lnSpc>
                <a:spcPct val="125000"/>
              </a:lnSpc>
            </a:pPr>
            <a:r>
              <a:rPr lang="en-US" altLang="zh-CN" sz="3200" b="1">
                <a:latin typeface="Times New Roman" pitchFamily="18" charset="0"/>
              </a:rPr>
              <a:t>C=====functions</a:t>
            </a:r>
          </a:p>
          <a:p>
            <a:pPr eaLnBrk="1" hangingPunct="1">
              <a:lnSpc>
                <a:spcPct val="125000"/>
              </a:lnSpc>
            </a:pPr>
            <a:r>
              <a:rPr lang="en-US" altLang="zh-CN" sz="3200" b="1">
                <a:latin typeface="Times New Roman" pitchFamily="18" charset="0"/>
              </a:rPr>
              <a:t>REAL*8 f</a:t>
            </a:r>
          </a:p>
          <a:p>
            <a:pPr eaLnBrk="1" hangingPunct="1">
              <a:lnSpc>
                <a:spcPct val="125000"/>
              </a:lnSpc>
            </a:pPr>
            <a:r>
              <a:rPr lang="en-US" altLang="zh-CN" sz="3200" b="1">
                <a:latin typeface="Times New Roman" pitchFamily="18" charset="0"/>
              </a:rPr>
              <a:t>C=====local variables</a:t>
            </a:r>
          </a:p>
          <a:p>
            <a:pPr eaLnBrk="1" hangingPunct="1">
              <a:lnSpc>
                <a:spcPct val="125000"/>
              </a:lnSpc>
            </a:pPr>
            <a:r>
              <a:rPr lang="en-US" altLang="zh-CN" sz="3200" b="1">
                <a:latin typeface="Times New Roman" pitchFamily="18" charset="0"/>
              </a:rPr>
              <a:t>INTEGER*4 i</a:t>
            </a:r>
          </a:p>
          <a:p>
            <a:pPr eaLnBrk="1" hangingPunct="1">
              <a:lnSpc>
                <a:spcPct val="125000"/>
              </a:lnSpc>
            </a:pPr>
            <a:r>
              <a:rPr lang="en-US" altLang="zh-CN" sz="3200" b="1">
                <a:latin typeface="Times New Roman" pitchFamily="18" charset="0"/>
              </a:rPr>
              <a:t>REAL*8 dx,xa,fa,Sum</a:t>
            </a:r>
          </a:p>
        </p:txBody>
      </p:sp>
    </p:spTree>
  </p:cSld>
  <p:clrMapOvr>
    <a:masterClrMapping/>
  </p:clrMapOvr>
  <p:transition spd="slow">
    <p:push dir="u"/>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4"/>
          <p:cNvSpPr>
            <a:spLocks noChangeArrowheads="1"/>
          </p:cNvSpPr>
          <p:nvPr/>
        </p:nvSpPr>
        <p:spPr bwMode="auto">
          <a:xfrm>
            <a:off x="1403350" y="44450"/>
            <a:ext cx="5689600" cy="679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5000"/>
              </a:lnSpc>
            </a:pPr>
            <a:r>
              <a:rPr lang="en-US" altLang="zh-CN" sz="3200" b="1">
                <a:latin typeface="Times New Roman" pitchFamily="18" charset="0"/>
              </a:rPr>
              <a:t>dx = (x1 - x0)/Dfloat(nx)</a:t>
            </a:r>
          </a:p>
          <a:p>
            <a:pPr eaLnBrk="1" hangingPunct="1">
              <a:lnSpc>
                <a:spcPct val="125000"/>
              </a:lnSpc>
            </a:pPr>
            <a:r>
              <a:rPr lang="en-US" altLang="zh-CN" sz="3200" b="1">
                <a:latin typeface="Times New Roman" pitchFamily="18" charset="0"/>
              </a:rPr>
              <a:t>Sum = 0.0</a:t>
            </a:r>
          </a:p>
          <a:p>
            <a:pPr eaLnBrk="1" hangingPunct="1">
              <a:lnSpc>
                <a:spcPct val="125000"/>
              </a:lnSpc>
            </a:pPr>
            <a:r>
              <a:rPr lang="en-US" altLang="zh-CN" sz="3200" b="1">
                <a:latin typeface="Times New Roman" pitchFamily="18" charset="0"/>
              </a:rPr>
              <a:t>DO i=0,nx-1</a:t>
            </a:r>
          </a:p>
          <a:p>
            <a:pPr eaLnBrk="1" hangingPunct="1">
              <a:lnSpc>
                <a:spcPct val="125000"/>
              </a:lnSpc>
            </a:pPr>
            <a:r>
              <a:rPr lang="en-US" altLang="zh-CN" sz="3200" b="1">
                <a:latin typeface="Times New Roman" pitchFamily="18" charset="0"/>
              </a:rPr>
              <a:t>xa = x0 + (DFLOAT(i)+0.5)*dx</a:t>
            </a:r>
          </a:p>
          <a:p>
            <a:pPr eaLnBrk="1" hangingPunct="1">
              <a:lnSpc>
                <a:spcPct val="125000"/>
              </a:lnSpc>
            </a:pPr>
            <a:r>
              <a:rPr lang="en-US" altLang="zh-CN" sz="3200" b="1">
                <a:latin typeface="Times New Roman" pitchFamily="18" charset="0"/>
              </a:rPr>
              <a:t>fa = f(xa)</a:t>
            </a:r>
          </a:p>
          <a:p>
            <a:pPr eaLnBrk="1" hangingPunct="1">
              <a:lnSpc>
                <a:spcPct val="125000"/>
              </a:lnSpc>
            </a:pPr>
            <a:r>
              <a:rPr lang="en-US" altLang="zh-CN" sz="3200" b="1">
                <a:latin typeface="Times New Roman" pitchFamily="18" charset="0"/>
              </a:rPr>
              <a:t>Sum = Sum + fa</a:t>
            </a:r>
          </a:p>
          <a:p>
            <a:pPr eaLnBrk="1" hangingPunct="1">
              <a:lnSpc>
                <a:spcPct val="125000"/>
              </a:lnSpc>
            </a:pPr>
            <a:r>
              <a:rPr lang="en-US" altLang="zh-CN" sz="3200" b="1">
                <a:latin typeface="Times New Roman" pitchFamily="18" charset="0"/>
              </a:rPr>
              <a:t>ENDDO</a:t>
            </a:r>
          </a:p>
          <a:p>
            <a:pPr eaLnBrk="1" hangingPunct="1">
              <a:lnSpc>
                <a:spcPct val="125000"/>
              </a:lnSpc>
            </a:pPr>
            <a:r>
              <a:rPr lang="en-US" altLang="zh-CN" sz="3200" b="1">
                <a:latin typeface="Times New Roman" pitchFamily="18" charset="0"/>
              </a:rPr>
              <a:t>Sum = Sum * dx</a:t>
            </a:r>
          </a:p>
          <a:p>
            <a:pPr eaLnBrk="1" hangingPunct="1">
              <a:lnSpc>
                <a:spcPct val="125000"/>
              </a:lnSpc>
            </a:pPr>
            <a:r>
              <a:rPr lang="en-US" altLang="zh-CN" sz="3200" b="1">
                <a:latin typeface="Times New Roman" pitchFamily="18" charset="0"/>
              </a:rPr>
              <a:t>MidpointRule = Sum</a:t>
            </a:r>
          </a:p>
          <a:p>
            <a:pPr eaLnBrk="1" hangingPunct="1">
              <a:lnSpc>
                <a:spcPct val="125000"/>
              </a:lnSpc>
            </a:pPr>
            <a:r>
              <a:rPr lang="en-US" altLang="zh-CN" sz="3200" b="1">
                <a:latin typeface="Times New Roman" pitchFamily="18" charset="0"/>
              </a:rPr>
              <a:t>RETURN</a:t>
            </a:r>
          </a:p>
          <a:p>
            <a:pPr eaLnBrk="1" hangingPunct="1">
              <a:lnSpc>
                <a:spcPct val="125000"/>
              </a:lnSpc>
            </a:pPr>
            <a:r>
              <a:rPr lang="en-US" altLang="zh-CN" sz="3200" b="1">
                <a:latin typeface="Times New Roman" pitchFamily="18" charset="0"/>
              </a:rPr>
              <a:t>END</a:t>
            </a:r>
          </a:p>
        </p:txBody>
      </p:sp>
    </p:spTree>
  </p:cSld>
  <p:clrMapOvr>
    <a:masterClrMapping/>
  </p:clrMapOvr>
  <p:transition spd="slow">
    <p:push dir="u"/>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4"/>
          <p:cNvSpPr txBox="1">
            <a:spLocks noChangeArrowheads="1"/>
          </p:cNvSpPr>
          <p:nvPr/>
        </p:nvSpPr>
        <p:spPr bwMode="auto">
          <a:xfrm>
            <a:off x="827088" y="260350"/>
            <a:ext cx="7993062" cy="593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pPr>
            <a:r>
              <a:rPr lang="en-US" altLang="zh-CN" sz="3200" b="1">
                <a:latin typeface="Times New Roman" pitchFamily="18" charset="0"/>
              </a:rPr>
              <a:t>REAL*8 FUNCTION SimpsonsRule(x0,x1,nx)</a:t>
            </a:r>
          </a:p>
          <a:p>
            <a:pPr eaLnBrk="1" hangingPunct="1">
              <a:lnSpc>
                <a:spcPct val="120000"/>
              </a:lnSpc>
            </a:pPr>
            <a:r>
              <a:rPr lang="en-US" altLang="zh-CN" sz="3200" b="1">
                <a:latin typeface="Times New Roman" pitchFamily="18" charset="0"/>
              </a:rPr>
              <a:t>C=====parameters</a:t>
            </a:r>
          </a:p>
          <a:p>
            <a:pPr eaLnBrk="1" hangingPunct="1">
              <a:lnSpc>
                <a:spcPct val="120000"/>
              </a:lnSpc>
            </a:pPr>
            <a:r>
              <a:rPr lang="en-US" altLang="zh-CN" sz="3200" b="1">
                <a:latin typeface="Times New Roman" pitchFamily="18" charset="0"/>
              </a:rPr>
              <a:t>INTEGER*4 nx</a:t>
            </a:r>
          </a:p>
          <a:p>
            <a:pPr eaLnBrk="1" hangingPunct="1">
              <a:lnSpc>
                <a:spcPct val="120000"/>
              </a:lnSpc>
            </a:pPr>
            <a:r>
              <a:rPr lang="en-US" altLang="zh-CN" sz="3200" b="1">
                <a:latin typeface="Times New Roman" pitchFamily="18" charset="0"/>
              </a:rPr>
              <a:t>REAL*8 x0,x1</a:t>
            </a:r>
          </a:p>
          <a:p>
            <a:pPr eaLnBrk="1" hangingPunct="1">
              <a:lnSpc>
                <a:spcPct val="120000"/>
              </a:lnSpc>
            </a:pPr>
            <a:r>
              <a:rPr lang="en-US" altLang="zh-CN" sz="3200" b="1">
                <a:latin typeface="Times New Roman" pitchFamily="18" charset="0"/>
              </a:rPr>
              <a:t>C=====functions</a:t>
            </a:r>
          </a:p>
          <a:p>
            <a:pPr eaLnBrk="1" hangingPunct="1">
              <a:lnSpc>
                <a:spcPct val="120000"/>
              </a:lnSpc>
            </a:pPr>
            <a:r>
              <a:rPr lang="en-US" altLang="zh-CN" sz="3200" b="1">
                <a:latin typeface="Times New Roman" pitchFamily="18" charset="0"/>
              </a:rPr>
              <a:t>REAL*8 f</a:t>
            </a:r>
          </a:p>
          <a:p>
            <a:pPr eaLnBrk="1" hangingPunct="1">
              <a:lnSpc>
                <a:spcPct val="120000"/>
              </a:lnSpc>
            </a:pPr>
            <a:r>
              <a:rPr lang="en-US" altLang="zh-CN" sz="3200" b="1">
                <a:latin typeface="Times New Roman" pitchFamily="18" charset="0"/>
              </a:rPr>
              <a:t>C=====local variables</a:t>
            </a:r>
          </a:p>
          <a:p>
            <a:pPr eaLnBrk="1" hangingPunct="1">
              <a:lnSpc>
                <a:spcPct val="120000"/>
              </a:lnSpc>
            </a:pPr>
            <a:r>
              <a:rPr lang="en-US" altLang="zh-CN" sz="3200" b="1">
                <a:latin typeface="Times New Roman" pitchFamily="18" charset="0"/>
              </a:rPr>
              <a:t>INTEGER*4 i</a:t>
            </a:r>
          </a:p>
          <a:p>
            <a:pPr eaLnBrk="1" hangingPunct="1">
              <a:lnSpc>
                <a:spcPct val="120000"/>
              </a:lnSpc>
            </a:pPr>
            <a:r>
              <a:rPr lang="en-US" altLang="zh-CN" sz="3200" b="1">
                <a:latin typeface="Times New Roman" pitchFamily="18" charset="0"/>
              </a:rPr>
              <a:t>REAL*8 dx,xa,xb,xc,fa,fb,fc,Sum</a:t>
            </a:r>
          </a:p>
        </p:txBody>
      </p:sp>
    </p:spTree>
  </p:cSld>
  <p:clrMapOvr>
    <a:masterClrMapping/>
  </p:clrMapOvr>
  <p:transition spd="slow">
    <p:push dir="u"/>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4"/>
          <p:cNvSpPr txBox="1">
            <a:spLocks noChangeArrowheads="1"/>
          </p:cNvSpPr>
          <p:nvPr/>
        </p:nvSpPr>
        <p:spPr bwMode="auto">
          <a:xfrm>
            <a:off x="395288" y="260350"/>
            <a:ext cx="6121400" cy="710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pPr>
            <a:r>
              <a:rPr lang="en-US" altLang="zh-CN" sz="3200" b="1">
                <a:latin typeface="Times New Roman" pitchFamily="18" charset="0"/>
              </a:rPr>
              <a:t>dx = (x1 - x0)/DFLOAT(nx)</a:t>
            </a:r>
          </a:p>
          <a:p>
            <a:pPr eaLnBrk="1" hangingPunct="1">
              <a:lnSpc>
                <a:spcPct val="120000"/>
              </a:lnSpc>
            </a:pPr>
            <a:r>
              <a:rPr lang="en-US" altLang="zh-CN" sz="3200" b="1">
                <a:latin typeface="Times New Roman" pitchFamily="18" charset="0"/>
              </a:rPr>
              <a:t>Sum = 0.0</a:t>
            </a:r>
          </a:p>
          <a:p>
            <a:pPr eaLnBrk="1" hangingPunct="1">
              <a:lnSpc>
                <a:spcPct val="120000"/>
              </a:lnSpc>
            </a:pPr>
            <a:r>
              <a:rPr lang="en-US" altLang="zh-CN" sz="3200" b="1">
                <a:latin typeface="Times New Roman" pitchFamily="18" charset="0"/>
              </a:rPr>
              <a:t>DO i=0,nx-1,2</a:t>
            </a:r>
          </a:p>
          <a:p>
            <a:pPr eaLnBrk="1" hangingPunct="1">
              <a:lnSpc>
                <a:spcPct val="120000"/>
              </a:lnSpc>
            </a:pPr>
            <a:r>
              <a:rPr lang="en-US" altLang="zh-CN" sz="3200" b="1">
                <a:latin typeface="Times New Roman" pitchFamily="18" charset="0"/>
              </a:rPr>
              <a:t>xa = x0 + DFLOAT(i)*dx</a:t>
            </a:r>
          </a:p>
          <a:p>
            <a:pPr eaLnBrk="1" hangingPunct="1">
              <a:lnSpc>
                <a:spcPct val="120000"/>
              </a:lnSpc>
            </a:pPr>
            <a:r>
              <a:rPr lang="en-US" altLang="zh-CN" sz="3200" b="1">
                <a:latin typeface="Times New Roman" pitchFamily="18" charset="0"/>
              </a:rPr>
              <a:t>xb = x0 + DFLOAT(i+1)*dx</a:t>
            </a:r>
          </a:p>
          <a:p>
            <a:pPr eaLnBrk="1" hangingPunct="1">
              <a:lnSpc>
                <a:spcPct val="120000"/>
              </a:lnSpc>
            </a:pPr>
            <a:r>
              <a:rPr lang="en-US" altLang="zh-CN" sz="3200" b="1">
                <a:latin typeface="Times New Roman" pitchFamily="18" charset="0"/>
              </a:rPr>
              <a:t>xc = x0 + DFLOAT(i+2)*dx</a:t>
            </a:r>
          </a:p>
          <a:p>
            <a:pPr eaLnBrk="1" hangingPunct="1">
              <a:lnSpc>
                <a:spcPct val="120000"/>
              </a:lnSpc>
            </a:pPr>
            <a:r>
              <a:rPr lang="en-US" altLang="zh-CN" sz="3200" b="1">
                <a:latin typeface="Times New Roman" pitchFamily="18" charset="0"/>
              </a:rPr>
              <a:t>fa = f(xa)  fb = f(xb)   fc = f(xc)</a:t>
            </a:r>
          </a:p>
          <a:p>
            <a:pPr eaLnBrk="1" hangingPunct="1">
              <a:lnSpc>
                <a:spcPct val="120000"/>
              </a:lnSpc>
            </a:pPr>
            <a:r>
              <a:rPr lang="en-US" altLang="zh-CN" sz="3200" b="1">
                <a:latin typeface="Times New Roman" pitchFamily="18" charset="0"/>
              </a:rPr>
              <a:t>Sum = Sum + fa + 4.0*fb + fc</a:t>
            </a:r>
          </a:p>
          <a:p>
            <a:pPr eaLnBrk="1" hangingPunct="1">
              <a:lnSpc>
                <a:spcPct val="120000"/>
              </a:lnSpc>
            </a:pPr>
            <a:r>
              <a:rPr lang="en-US" altLang="zh-CN" sz="3200" b="1">
                <a:latin typeface="Times New Roman" pitchFamily="18" charset="0"/>
              </a:rPr>
              <a:t>ENDDO</a:t>
            </a:r>
          </a:p>
          <a:p>
            <a:pPr eaLnBrk="1" hangingPunct="1">
              <a:lnSpc>
                <a:spcPct val="120000"/>
              </a:lnSpc>
            </a:pPr>
            <a:r>
              <a:rPr lang="en-US" altLang="zh-CN" sz="3200" b="1">
                <a:latin typeface="Times New Roman" pitchFamily="18" charset="0"/>
              </a:rPr>
              <a:t>Sum = Sum * dx / 3.0</a:t>
            </a:r>
          </a:p>
          <a:p>
            <a:pPr eaLnBrk="1" hangingPunct="1">
              <a:lnSpc>
                <a:spcPct val="120000"/>
              </a:lnSpc>
            </a:pPr>
            <a:r>
              <a:rPr lang="en-US" altLang="zh-CN" sz="3200" b="1">
                <a:latin typeface="Times New Roman" pitchFamily="18" charset="0"/>
              </a:rPr>
              <a:t>SimpsonsRule = Sum</a:t>
            </a:r>
          </a:p>
          <a:p>
            <a:pPr eaLnBrk="1" hangingPunct="1">
              <a:lnSpc>
                <a:spcPct val="120000"/>
              </a:lnSpc>
            </a:pPr>
            <a:endParaRPr lang="en-US" altLang="zh-CN" sz="3200" b="1">
              <a:latin typeface="Times New Roman" pitchFamily="18" charset="0"/>
            </a:endParaRPr>
          </a:p>
        </p:txBody>
      </p:sp>
      <p:sp>
        <p:nvSpPr>
          <p:cNvPr id="115715" name="Text Box 5"/>
          <p:cNvSpPr txBox="1">
            <a:spLocks noChangeArrowheads="1"/>
          </p:cNvSpPr>
          <p:nvPr/>
        </p:nvSpPr>
        <p:spPr bwMode="auto">
          <a:xfrm>
            <a:off x="6084888" y="4724400"/>
            <a:ext cx="24130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pPr>
            <a:r>
              <a:rPr lang="en-US" altLang="zh-CN" sz="3200" b="1">
                <a:latin typeface="Times New Roman" pitchFamily="18" charset="0"/>
              </a:rPr>
              <a:t>RETURN</a:t>
            </a:r>
          </a:p>
          <a:p>
            <a:pPr eaLnBrk="1" hangingPunct="1">
              <a:lnSpc>
                <a:spcPct val="120000"/>
              </a:lnSpc>
            </a:pPr>
            <a:r>
              <a:rPr lang="en-US" altLang="zh-CN" sz="3200" b="1">
                <a:latin typeface="Times New Roman" pitchFamily="18" charset="0"/>
              </a:rPr>
              <a:t>END</a:t>
            </a:r>
          </a:p>
          <a:p>
            <a:pPr eaLnBrk="1" hangingPunct="1">
              <a:lnSpc>
                <a:spcPct val="120000"/>
              </a:lnSpc>
            </a:pPr>
            <a:endParaRPr lang="en-US" altLang="zh-CN" sz="3200" b="1">
              <a:latin typeface="Times New Roman" pitchFamily="18" charset="0"/>
            </a:endParaRPr>
          </a:p>
        </p:txBody>
      </p:sp>
    </p:spTree>
  </p:cSld>
  <p:clrMapOvr>
    <a:masterClrMapping/>
  </p:clrMapOvr>
  <p:transition spd="slow">
    <p:push dir="u"/>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4"/>
          <p:cNvSpPr txBox="1">
            <a:spLocks noChangeArrowheads="1"/>
          </p:cNvSpPr>
          <p:nvPr/>
        </p:nvSpPr>
        <p:spPr bwMode="auto">
          <a:xfrm>
            <a:off x="755650" y="333375"/>
            <a:ext cx="6840538" cy="593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pPr>
            <a:r>
              <a:rPr lang="en-US" altLang="zh-CN" sz="3200" b="1">
                <a:latin typeface="Times New Roman" pitchFamily="18" charset="0"/>
              </a:rPr>
              <a:t>REAL*8 FUNCTION GaussQuad(x0,x1,nx)</a:t>
            </a:r>
          </a:p>
          <a:p>
            <a:pPr eaLnBrk="1" hangingPunct="1">
              <a:lnSpc>
                <a:spcPct val="120000"/>
              </a:lnSpc>
            </a:pPr>
            <a:r>
              <a:rPr lang="en-US" altLang="zh-CN" sz="3200" b="1">
                <a:latin typeface="Times New Roman" pitchFamily="18" charset="0"/>
              </a:rPr>
              <a:t>C=====parameters</a:t>
            </a:r>
          </a:p>
          <a:p>
            <a:pPr eaLnBrk="1" hangingPunct="1">
              <a:lnSpc>
                <a:spcPct val="120000"/>
              </a:lnSpc>
            </a:pPr>
            <a:r>
              <a:rPr lang="en-US" altLang="zh-CN" sz="3200" b="1">
                <a:latin typeface="Times New Roman" pitchFamily="18" charset="0"/>
              </a:rPr>
              <a:t>INTEGER*4 nx</a:t>
            </a:r>
          </a:p>
          <a:p>
            <a:pPr eaLnBrk="1" hangingPunct="1">
              <a:lnSpc>
                <a:spcPct val="120000"/>
              </a:lnSpc>
            </a:pPr>
            <a:r>
              <a:rPr lang="en-US" altLang="zh-CN" sz="3200" b="1">
                <a:latin typeface="Times New Roman" pitchFamily="18" charset="0"/>
              </a:rPr>
              <a:t>REAL*8 x0,x1</a:t>
            </a:r>
          </a:p>
          <a:p>
            <a:pPr eaLnBrk="1" hangingPunct="1">
              <a:lnSpc>
                <a:spcPct val="120000"/>
              </a:lnSpc>
            </a:pPr>
            <a:r>
              <a:rPr lang="en-US" altLang="zh-CN" sz="3200" b="1">
                <a:latin typeface="Times New Roman" pitchFamily="18" charset="0"/>
              </a:rPr>
              <a:t>C=====functions</a:t>
            </a:r>
          </a:p>
          <a:p>
            <a:pPr eaLnBrk="1" hangingPunct="1">
              <a:lnSpc>
                <a:spcPct val="120000"/>
              </a:lnSpc>
            </a:pPr>
            <a:r>
              <a:rPr lang="en-US" altLang="zh-CN" sz="3200" b="1">
                <a:latin typeface="Times New Roman" pitchFamily="18" charset="0"/>
              </a:rPr>
              <a:t>REAL*8 f</a:t>
            </a:r>
          </a:p>
          <a:p>
            <a:pPr eaLnBrk="1" hangingPunct="1">
              <a:lnSpc>
                <a:spcPct val="120000"/>
              </a:lnSpc>
            </a:pPr>
            <a:r>
              <a:rPr lang="en-US" altLang="zh-CN" sz="3200" b="1">
                <a:latin typeface="Times New Roman" pitchFamily="18" charset="0"/>
              </a:rPr>
              <a:t>C=====local variables</a:t>
            </a:r>
          </a:p>
          <a:p>
            <a:pPr eaLnBrk="1" hangingPunct="1">
              <a:lnSpc>
                <a:spcPct val="120000"/>
              </a:lnSpc>
            </a:pPr>
            <a:r>
              <a:rPr lang="en-US" altLang="zh-CN" sz="3200" b="1">
                <a:latin typeface="Times New Roman" pitchFamily="18" charset="0"/>
              </a:rPr>
              <a:t>INTEGER*4 i</a:t>
            </a:r>
          </a:p>
          <a:p>
            <a:pPr eaLnBrk="1" hangingPunct="1">
              <a:lnSpc>
                <a:spcPct val="120000"/>
              </a:lnSpc>
            </a:pPr>
            <a:r>
              <a:rPr lang="en-US" altLang="zh-CN" sz="3200" b="1">
                <a:latin typeface="Times New Roman" pitchFamily="18" charset="0"/>
              </a:rPr>
              <a:t>REAL*8 dx,xa,xb,fa,fb,Sum,dxl,dxr</a:t>
            </a:r>
          </a:p>
        </p:txBody>
      </p:sp>
    </p:spTree>
  </p:cSld>
  <p:clrMapOvr>
    <a:masterClrMapping/>
  </p:clrMapOvr>
  <p:transition spd="slow">
    <p:push dir="u"/>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4"/>
          <p:cNvSpPr txBox="1">
            <a:spLocks noChangeArrowheads="1"/>
          </p:cNvSpPr>
          <p:nvPr/>
        </p:nvSpPr>
        <p:spPr bwMode="auto">
          <a:xfrm>
            <a:off x="107950" y="115888"/>
            <a:ext cx="7200900" cy="651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pPr>
            <a:r>
              <a:rPr lang="en-US" altLang="zh-CN" sz="3200" b="1">
                <a:latin typeface="Times New Roman" pitchFamily="18" charset="0"/>
              </a:rPr>
              <a:t>dx = (x1 - x0)/DFLOAT(nx)</a:t>
            </a:r>
          </a:p>
          <a:p>
            <a:pPr eaLnBrk="1" hangingPunct="1">
              <a:lnSpc>
                <a:spcPct val="120000"/>
              </a:lnSpc>
            </a:pPr>
            <a:r>
              <a:rPr lang="en-US" altLang="zh-CN" sz="3200" b="1">
                <a:latin typeface="Times New Roman" pitchFamily="18" charset="0"/>
              </a:rPr>
              <a:t>dxl = dx*(0.5D0 - SQRT(3.0D0)/6.0D0)</a:t>
            </a:r>
          </a:p>
          <a:p>
            <a:pPr eaLnBrk="1" hangingPunct="1">
              <a:lnSpc>
                <a:spcPct val="120000"/>
              </a:lnSpc>
            </a:pPr>
            <a:r>
              <a:rPr lang="en-US" altLang="zh-CN" sz="3200" b="1">
                <a:latin typeface="Times New Roman" pitchFamily="18" charset="0"/>
              </a:rPr>
              <a:t>dxr = dx*(0.5D0 + SQRT(3.0D0)/6.0D0)</a:t>
            </a:r>
          </a:p>
          <a:p>
            <a:pPr eaLnBrk="1" hangingPunct="1">
              <a:lnSpc>
                <a:spcPct val="120000"/>
              </a:lnSpc>
            </a:pPr>
            <a:r>
              <a:rPr lang="en-US" altLang="zh-CN" sz="3200" b="1">
                <a:latin typeface="Times New Roman" pitchFamily="18" charset="0"/>
              </a:rPr>
              <a:t>Sum = 0.0</a:t>
            </a:r>
          </a:p>
          <a:p>
            <a:pPr eaLnBrk="1" hangingPunct="1">
              <a:lnSpc>
                <a:spcPct val="120000"/>
              </a:lnSpc>
            </a:pPr>
            <a:r>
              <a:rPr lang="en-US" altLang="zh-CN" sz="3200" b="1">
                <a:latin typeface="Times New Roman" pitchFamily="18" charset="0"/>
              </a:rPr>
              <a:t>DO i=0,nx-1</a:t>
            </a:r>
          </a:p>
          <a:p>
            <a:pPr eaLnBrk="1" hangingPunct="1">
              <a:lnSpc>
                <a:spcPct val="120000"/>
              </a:lnSpc>
            </a:pPr>
            <a:r>
              <a:rPr lang="en-US" altLang="zh-CN" sz="3200" b="1">
                <a:latin typeface="Times New Roman" pitchFamily="18" charset="0"/>
              </a:rPr>
              <a:t>xa = x0 + DFLOAT(i)*dx + dxl</a:t>
            </a:r>
          </a:p>
          <a:p>
            <a:pPr eaLnBrk="1" hangingPunct="1">
              <a:lnSpc>
                <a:spcPct val="120000"/>
              </a:lnSpc>
            </a:pPr>
            <a:r>
              <a:rPr lang="en-US" altLang="zh-CN" sz="3200" b="1">
                <a:latin typeface="Times New Roman" pitchFamily="18" charset="0"/>
              </a:rPr>
              <a:t>xb = x0 + DFLOAT(i)*dx + dxr</a:t>
            </a:r>
          </a:p>
          <a:p>
            <a:pPr eaLnBrk="1" hangingPunct="1">
              <a:lnSpc>
                <a:spcPct val="120000"/>
              </a:lnSpc>
            </a:pPr>
            <a:r>
              <a:rPr lang="en-US" altLang="zh-CN" sz="3200" b="1">
                <a:latin typeface="Times New Roman" pitchFamily="18" charset="0"/>
              </a:rPr>
              <a:t>fa = f(xa)  fb = f(xb)</a:t>
            </a:r>
          </a:p>
          <a:p>
            <a:pPr eaLnBrk="1" hangingPunct="1">
              <a:lnSpc>
                <a:spcPct val="120000"/>
              </a:lnSpc>
            </a:pPr>
            <a:r>
              <a:rPr lang="en-US" altLang="zh-CN" sz="3200" b="1">
                <a:latin typeface="Times New Roman" pitchFamily="18" charset="0"/>
              </a:rPr>
              <a:t>Sum = Sum + fa + fb</a:t>
            </a:r>
          </a:p>
          <a:p>
            <a:pPr eaLnBrk="1" hangingPunct="1">
              <a:lnSpc>
                <a:spcPct val="120000"/>
              </a:lnSpc>
            </a:pPr>
            <a:r>
              <a:rPr lang="en-US" altLang="zh-CN" sz="3200" b="1">
                <a:latin typeface="Times New Roman" pitchFamily="18" charset="0"/>
              </a:rPr>
              <a:t>ENDDO</a:t>
            </a:r>
          </a:p>
          <a:p>
            <a:pPr eaLnBrk="1" hangingPunct="1">
              <a:lnSpc>
                <a:spcPct val="120000"/>
              </a:lnSpc>
            </a:pPr>
            <a:r>
              <a:rPr lang="en-US" altLang="zh-CN" sz="3200" b="1">
                <a:latin typeface="Times New Roman" pitchFamily="18" charset="0"/>
              </a:rPr>
              <a:t>Sum = Sum * dx / 2.0</a:t>
            </a:r>
          </a:p>
        </p:txBody>
      </p:sp>
      <p:sp>
        <p:nvSpPr>
          <p:cNvPr id="117763" name="Text Box 5"/>
          <p:cNvSpPr txBox="1">
            <a:spLocks noChangeArrowheads="1"/>
          </p:cNvSpPr>
          <p:nvPr/>
        </p:nvSpPr>
        <p:spPr bwMode="auto">
          <a:xfrm>
            <a:off x="5453063" y="4970463"/>
            <a:ext cx="3440112"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latin typeface="Times New Roman" pitchFamily="18" charset="0"/>
              </a:rPr>
              <a:t>GaussQuad = Sum</a:t>
            </a:r>
          </a:p>
          <a:p>
            <a:pPr eaLnBrk="1" hangingPunct="1"/>
            <a:r>
              <a:rPr lang="en-US" altLang="zh-CN" sz="3200" b="1">
                <a:latin typeface="Times New Roman" pitchFamily="18" charset="0"/>
              </a:rPr>
              <a:t>RETURN</a:t>
            </a:r>
          </a:p>
          <a:p>
            <a:pPr eaLnBrk="1" hangingPunct="1"/>
            <a:r>
              <a:rPr lang="en-US" altLang="zh-CN" sz="3200" b="1">
                <a:latin typeface="Times New Roman" pitchFamily="18" charset="0"/>
              </a:rPr>
              <a:t>END</a:t>
            </a:r>
            <a:endParaRPr lang="en-US" altLang="zh-CN" sz="3200">
              <a:latin typeface="Times New Roman" pitchFamily="18" charset="0"/>
            </a:endParaRPr>
          </a:p>
        </p:txBody>
      </p:sp>
    </p:spTree>
  </p:cSld>
  <p:clrMapOvr>
    <a:masterClrMapping/>
  </p:clrMapOvr>
  <p:transition spd="slow">
    <p:push dir="u"/>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4"/>
          <p:cNvSpPr txBox="1">
            <a:spLocks noChangeArrowheads="1"/>
          </p:cNvSpPr>
          <p:nvPr/>
        </p:nvSpPr>
        <p:spPr bwMode="auto">
          <a:xfrm>
            <a:off x="468313" y="260350"/>
            <a:ext cx="8459787"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600" b="1">
                <a:latin typeface="Times New Roman" pitchFamily="18" charset="0"/>
              </a:rPr>
              <a:t>6.9 Numerical Integration of Multi-dimensions</a:t>
            </a:r>
          </a:p>
        </p:txBody>
      </p:sp>
      <p:sp>
        <p:nvSpPr>
          <p:cNvPr id="118787" name="Text Box 5"/>
          <p:cNvSpPr txBox="1">
            <a:spLocks noChangeArrowheads="1"/>
          </p:cNvSpPr>
          <p:nvPr/>
        </p:nvSpPr>
        <p:spPr bwMode="auto">
          <a:xfrm>
            <a:off x="228600" y="4572000"/>
            <a:ext cx="8686800" cy="199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pPr>
            <a:r>
              <a:rPr lang="en-US" altLang="zh-CN" sz="3200" dirty="0">
                <a:latin typeface="CMR10" charset="0"/>
              </a:rPr>
              <a:t>In general if the error goes as </a:t>
            </a:r>
            <a:r>
              <a:rPr lang="en-US" altLang="zh-CN" sz="3600" b="1" dirty="0">
                <a:solidFill>
                  <a:srgbClr val="000000"/>
                </a:solidFill>
                <a:latin typeface="Times New Roman" pitchFamily="18" charset="0"/>
              </a:rPr>
              <a:t>(</a:t>
            </a:r>
            <a:r>
              <a:rPr lang="en-US" altLang="zh-CN" sz="3600" b="1" i="1" dirty="0">
                <a:solidFill>
                  <a:srgbClr val="000080"/>
                </a:solidFill>
                <a:latin typeface="Times New Roman" pitchFamily="18" charset="0"/>
              </a:rPr>
              <a:t>O</a:t>
            </a:r>
            <a:r>
              <a:rPr lang="en-US" altLang="zh-CN" sz="3600" b="1" dirty="0">
                <a:solidFill>
                  <a:srgbClr val="000080"/>
                </a:solidFill>
                <a:latin typeface="Times New Roman" pitchFamily="18" charset="0"/>
              </a:rPr>
              <a:t>(</a:t>
            </a:r>
            <a:r>
              <a:rPr lang="en-US" altLang="zh-CN" sz="3600" b="1" dirty="0" err="1">
                <a:solidFill>
                  <a:srgbClr val="008000"/>
                </a:solidFill>
                <a:latin typeface="Symbol" pitchFamily="18" charset="2"/>
              </a:rPr>
              <a:t>D</a:t>
            </a:r>
            <a:r>
              <a:rPr lang="en-US" altLang="zh-CN" sz="3600" b="1" i="1" dirty="0" err="1">
                <a:solidFill>
                  <a:srgbClr val="000080"/>
                </a:solidFill>
                <a:latin typeface="Times New Roman" pitchFamily="18" charset="0"/>
              </a:rPr>
              <a:t>x</a:t>
            </a:r>
            <a:r>
              <a:rPr lang="en-US" altLang="zh-CN" sz="3600" b="1" i="1" baseline="30000" dirty="0" err="1">
                <a:solidFill>
                  <a:srgbClr val="800080"/>
                </a:solidFill>
                <a:latin typeface="Times New Roman" pitchFamily="18" charset="0"/>
              </a:rPr>
              <a:t>n</a:t>
            </a:r>
            <a:r>
              <a:rPr lang="en-US" altLang="zh-CN" sz="3600" b="1" dirty="0">
                <a:solidFill>
                  <a:srgbClr val="000080"/>
                </a:solidFill>
                <a:latin typeface="Times New Roman" pitchFamily="18" charset="0"/>
              </a:rPr>
              <a:t>)</a:t>
            </a:r>
            <a:r>
              <a:rPr lang="en-US" altLang="zh-CN" sz="3600" b="1" dirty="0">
                <a:solidFill>
                  <a:srgbClr val="000000"/>
                </a:solidFill>
                <a:latin typeface="Times New Roman" pitchFamily="18" charset="0"/>
              </a:rPr>
              <a:t>)</a:t>
            </a:r>
            <a:r>
              <a:rPr lang="en-US" altLang="zh-CN" sz="3200" dirty="0">
                <a:latin typeface="CMR10" charset="0"/>
              </a:rPr>
              <a:t> in one dimension, then the error in </a:t>
            </a:r>
            <a:r>
              <a:rPr lang="en-US" altLang="zh-CN" sz="3200" dirty="0">
                <a:latin typeface="CMMI10" charset="0"/>
              </a:rPr>
              <a:t>d </a:t>
            </a:r>
            <a:r>
              <a:rPr lang="en-US" altLang="zh-CN" sz="3200" dirty="0">
                <a:latin typeface="CMR10" charset="0"/>
              </a:rPr>
              <a:t>dimensions goes as </a:t>
            </a:r>
            <a:r>
              <a:rPr lang="en-US" altLang="zh-CN" sz="3600" b="1" dirty="0">
                <a:solidFill>
                  <a:srgbClr val="000000"/>
                </a:solidFill>
                <a:latin typeface="Times New Roman" pitchFamily="18" charset="0"/>
              </a:rPr>
              <a:t>(</a:t>
            </a:r>
            <a:r>
              <a:rPr lang="en-US" altLang="zh-CN" sz="3600" b="1" i="1" dirty="0">
                <a:solidFill>
                  <a:srgbClr val="000080"/>
                </a:solidFill>
                <a:latin typeface="Times New Roman" pitchFamily="18" charset="0"/>
              </a:rPr>
              <a:t>O</a:t>
            </a:r>
            <a:r>
              <a:rPr lang="en-US" altLang="zh-CN" sz="3600" b="1" dirty="0">
                <a:solidFill>
                  <a:srgbClr val="000080"/>
                </a:solidFill>
                <a:latin typeface="Times New Roman" pitchFamily="18" charset="0"/>
              </a:rPr>
              <a:t>(</a:t>
            </a:r>
            <a:r>
              <a:rPr lang="en-US" altLang="zh-CN" sz="3600" b="1" dirty="0" err="1">
                <a:solidFill>
                  <a:srgbClr val="008000"/>
                </a:solidFill>
                <a:latin typeface="Symbol" pitchFamily="18" charset="2"/>
              </a:rPr>
              <a:t>D</a:t>
            </a:r>
            <a:r>
              <a:rPr lang="en-US" altLang="zh-CN" sz="3600" b="1" i="1" dirty="0" err="1">
                <a:solidFill>
                  <a:srgbClr val="000080"/>
                </a:solidFill>
                <a:latin typeface="Times New Roman" pitchFamily="18" charset="0"/>
              </a:rPr>
              <a:t>x</a:t>
            </a:r>
            <a:r>
              <a:rPr lang="en-US" altLang="zh-CN" sz="3600" b="1" i="1" baseline="30000" dirty="0" err="1">
                <a:solidFill>
                  <a:srgbClr val="800080"/>
                </a:solidFill>
                <a:latin typeface="Times New Roman" pitchFamily="18" charset="0"/>
              </a:rPr>
              <a:t>n</a:t>
            </a:r>
            <a:r>
              <a:rPr lang="en-US" altLang="zh-CN" sz="3600" b="1" i="1" baseline="30000" dirty="0">
                <a:solidFill>
                  <a:srgbClr val="800080"/>
                </a:solidFill>
                <a:latin typeface="Times New Roman" pitchFamily="18" charset="0"/>
              </a:rPr>
              <a:t>/d</a:t>
            </a:r>
            <a:r>
              <a:rPr lang="en-US" altLang="zh-CN" sz="3600" b="1" dirty="0">
                <a:solidFill>
                  <a:srgbClr val="000080"/>
                </a:solidFill>
                <a:latin typeface="Times New Roman" pitchFamily="18" charset="0"/>
              </a:rPr>
              <a:t>)</a:t>
            </a:r>
            <a:r>
              <a:rPr lang="en-US" altLang="zh-CN" sz="3600" b="1" dirty="0">
                <a:solidFill>
                  <a:srgbClr val="000000"/>
                </a:solidFill>
                <a:latin typeface="Times New Roman" pitchFamily="18" charset="0"/>
              </a:rPr>
              <a:t>)</a:t>
            </a:r>
            <a:r>
              <a:rPr lang="en-US" altLang="zh-CN" sz="3200" dirty="0">
                <a:latin typeface="CMR10" charset="0"/>
              </a:rPr>
              <a:t> . </a:t>
            </a:r>
          </a:p>
        </p:txBody>
      </p:sp>
      <p:pic>
        <p:nvPicPr>
          <p:cNvPr id="11878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801813"/>
            <a:ext cx="45720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8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2492375"/>
            <a:ext cx="3200400"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402013"/>
            <a:ext cx="3276600" cy="110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228600" y="838200"/>
            <a:ext cx="7429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latin typeface="Times New Roman" pitchFamily="18" charset="0"/>
              </a:rPr>
              <a:t>the total energy of 10 interacting particles</a:t>
            </a:r>
          </a:p>
        </p:txBody>
      </p:sp>
      <p:sp>
        <p:nvSpPr>
          <p:cNvPr id="119811" name="Text Box 3"/>
          <p:cNvSpPr txBox="1">
            <a:spLocks noChangeArrowheads="1"/>
          </p:cNvSpPr>
          <p:nvPr/>
        </p:nvSpPr>
        <p:spPr bwMode="auto">
          <a:xfrm>
            <a:off x="304800" y="2362200"/>
            <a:ext cx="64087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b="1">
                <a:latin typeface="Times New Roman" pitchFamily="18" charset="0"/>
              </a:rPr>
              <a:t>N = 30 dimensional integral</a:t>
            </a:r>
          </a:p>
        </p:txBody>
      </p:sp>
      <p:sp>
        <p:nvSpPr>
          <p:cNvPr id="119812" name="Text Box 5"/>
          <p:cNvSpPr txBox="1">
            <a:spLocks noChangeArrowheads="1"/>
          </p:cNvSpPr>
          <p:nvPr/>
        </p:nvSpPr>
        <p:spPr bwMode="auto">
          <a:xfrm>
            <a:off x="533400" y="4343400"/>
            <a:ext cx="64087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latin typeface="CMSSBX10" charset="0"/>
              </a:rPr>
              <a:t>Monte Carlo</a:t>
            </a:r>
            <a:endParaRPr lang="en-US" altLang="zh-CN" sz="3200" b="1">
              <a:latin typeface="Times New Roman" pitchFamily="18" charset="0"/>
            </a:endParaRPr>
          </a:p>
        </p:txBody>
      </p:sp>
    </p:spTree>
  </p:cSld>
  <p:clrMapOvr>
    <a:masterClrMapping/>
  </p:clrMapOvr>
  <p:transition spd="slow">
    <p:push dir="u"/>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8900" y="1052513"/>
            <a:ext cx="3714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4663" y="765175"/>
            <a:ext cx="849312"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0836" name="Group 4"/>
          <p:cNvGrpSpPr>
            <a:grpSpLocks/>
          </p:cNvGrpSpPr>
          <p:nvPr/>
        </p:nvGrpSpPr>
        <p:grpSpPr bwMode="auto">
          <a:xfrm>
            <a:off x="2222500" y="1700213"/>
            <a:ext cx="549275" cy="412750"/>
            <a:chOff x="340" y="1389"/>
            <a:chExt cx="323" cy="246"/>
          </a:xfrm>
        </p:grpSpPr>
        <p:pic>
          <p:nvPicPr>
            <p:cNvPr id="120926"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 y="1389"/>
              <a:ext cx="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27"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0" y="1389"/>
              <a:ext cx="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0837" name="Group 7"/>
          <p:cNvGrpSpPr>
            <a:grpSpLocks/>
          </p:cNvGrpSpPr>
          <p:nvPr/>
        </p:nvGrpSpPr>
        <p:grpSpPr bwMode="auto">
          <a:xfrm>
            <a:off x="2151063" y="2133600"/>
            <a:ext cx="704850" cy="412750"/>
            <a:chOff x="249" y="2840"/>
            <a:chExt cx="414" cy="246"/>
          </a:xfrm>
        </p:grpSpPr>
        <p:pic>
          <p:nvPicPr>
            <p:cNvPr id="120923"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49" y="2840"/>
              <a:ext cx="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24" name="Picture 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1" y="2840"/>
              <a:ext cx="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25" name="Picture 1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67" y="2840"/>
              <a:ext cx="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0838" name="Group 11"/>
          <p:cNvGrpSpPr>
            <a:grpSpLocks/>
          </p:cNvGrpSpPr>
          <p:nvPr/>
        </p:nvGrpSpPr>
        <p:grpSpPr bwMode="auto">
          <a:xfrm>
            <a:off x="2078038" y="3357563"/>
            <a:ext cx="2703512" cy="531812"/>
            <a:chOff x="837" y="3694"/>
            <a:chExt cx="1455" cy="254"/>
          </a:xfrm>
        </p:grpSpPr>
        <p:pic>
          <p:nvPicPr>
            <p:cNvPr id="120918" name="Picture 1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37" y="3694"/>
              <a:ext cx="138"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19" name="Picture 1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56" y="3702"/>
              <a:ext cx="138"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20" name="Picture 14"/>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74" y="3702"/>
              <a:ext cx="138"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21" name="Picture 15"/>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837" y="3702"/>
              <a:ext cx="138"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22" name="Picture 16"/>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154" y="3702"/>
              <a:ext cx="138"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0839" name="Group 17"/>
          <p:cNvGrpSpPr>
            <a:grpSpLocks/>
          </p:cNvGrpSpPr>
          <p:nvPr/>
        </p:nvGrpSpPr>
        <p:grpSpPr bwMode="auto">
          <a:xfrm>
            <a:off x="2006600" y="4005263"/>
            <a:ext cx="4016375" cy="552450"/>
            <a:chOff x="1973" y="3555"/>
            <a:chExt cx="2233" cy="257"/>
          </a:xfrm>
        </p:grpSpPr>
        <p:pic>
          <p:nvPicPr>
            <p:cNvPr id="120912" name="Picture 18"/>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973" y="3558"/>
              <a:ext cx="19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13" name="Picture 19"/>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336" y="3566"/>
              <a:ext cx="19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14" name="Picture 20"/>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744" y="3560"/>
              <a:ext cx="19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15" name="Picture 21"/>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3152" y="3566"/>
              <a:ext cx="19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16" name="Picture 22"/>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560" y="3566"/>
              <a:ext cx="19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17" name="Picture 2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014" y="3555"/>
              <a:ext cx="19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0840" name="Group 24"/>
          <p:cNvGrpSpPr>
            <a:grpSpLocks/>
          </p:cNvGrpSpPr>
          <p:nvPr/>
        </p:nvGrpSpPr>
        <p:grpSpPr bwMode="auto">
          <a:xfrm>
            <a:off x="2078038" y="4724400"/>
            <a:ext cx="4479925" cy="608013"/>
            <a:chOff x="2336" y="3612"/>
            <a:chExt cx="2499" cy="291"/>
          </a:xfrm>
        </p:grpSpPr>
        <p:pic>
          <p:nvPicPr>
            <p:cNvPr id="120905" name="Picture 25"/>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336" y="3657"/>
              <a:ext cx="18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06" name="Picture 26"/>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2789" y="3657"/>
              <a:ext cx="19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07" name="Picture 27"/>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3198" y="3657"/>
              <a:ext cx="18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08" name="Picture 28"/>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3515" y="3657"/>
              <a:ext cx="19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09" name="Picture 29"/>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3878" y="3612"/>
              <a:ext cx="18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10" name="Picture 30"/>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241" y="3657"/>
              <a:ext cx="19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11" name="Picture 31"/>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649" y="3657"/>
              <a:ext cx="18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0841" name="Rectangle 32"/>
          <p:cNvSpPr>
            <a:spLocks noChangeArrowheads="1"/>
          </p:cNvSpPr>
          <p:nvPr/>
        </p:nvSpPr>
        <p:spPr bwMode="auto">
          <a:xfrm>
            <a:off x="933450" y="1739900"/>
            <a:ext cx="4111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120842" name="Rectangle 33"/>
          <p:cNvSpPr>
            <a:spLocks noChangeArrowheads="1"/>
          </p:cNvSpPr>
          <p:nvPr/>
        </p:nvSpPr>
        <p:spPr bwMode="auto">
          <a:xfrm>
            <a:off x="933450" y="1739900"/>
            <a:ext cx="500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120843" name="Rectangle 34"/>
          <p:cNvSpPr>
            <a:spLocks noChangeArrowheads="1"/>
          </p:cNvSpPr>
          <p:nvPr/>
        </p:nvSpPr>
        <p:spPr bwMode="auto">
          <a:xfrm>
            <a:off x="933450" y="1739900"/>
            <a:ext cx="500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120844" name="Rectangle 35"/>
          <p:cNvSpPr>
            <a:spLocks noChangeArrowheads="1"/>
          </p:cNvSpPr>
          <p:nvPr/>
        </p:nvSpPr>
        <p:spPr bwMode="auto">
          <a:xfrm>
            <a:off x="933450" y="1739900"/>
            <a:ext cx="500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120845" name="Rectangle 36"/>
          <p:cNvSpPr>
            <a:spLocks noChangeArrowheads="1"/>
          </p:cNvSpPr>
          <p:nvPr/>
        </p:nvSpPr>
        <p:spPr bwMode="auto">
          <a:xfrm>
            <a:off x="933450" y="1693863"/>
            <a:ext cx="4699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46" name="Rectangle 37"/>
          <p:cNvSpPr>
            <a:spLocks noChangeArrowheads="1"/>
          </p:cNvSpPr>
          <p:nvPr/>
        </p:nvSpPr>
        <p:spPr bwMode="auto">
          <a:xfrm>
            <a:off x="933450" y="1693863"/>
            <a:ext cx="43815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47" name="Rectangle 38"/>
          <p:cNvSpPr>
            <a:spLocks noChangeArrowheads="1"/>
          </p:cNvSpPr>
          <p:nvPr/>
        </p:nvSpPr>
        <p:spPr bwMode="auto">
          <a:xfrm>
            <a:off x="933450" y="1739900"/>
            <a:ext cx="500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120848" name="Rectangle 39"/>
          <p:cNvSpPr>
            <a:spLocks noChangeArrowheads="1"/>
          </p:cNvSpPr>
          <p:nvPr/>
        </p:nvSpPr>
        <p:spPr bwMode="auto">
          <a:xfrm>
            <a:off x="933450" y="1693863"/>
            <a:ext cx="50165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49" name="Rectangle 40"/>
          <p:cNvSpPr>
            <a:spLocks noChangeArrowheads="1"/>
          </p:cNvSpPr>
          <p:nvPr/>
        </p:nvSpPr>
        <p:spPr bwMode="auto">
          <a:xfrm>
            <a:off x="933450" y="1693863"/>
            <a:ext cx="43815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50" name="Rectangle 41"/>
          <p:cNvSpPr>
            <a:spLocks noChangeArrowheads="1"/>
          </p:cNvSpPr>
          <p:nvPr/>
        </p:nvSpPr>
        <p:spPr bwMode="auto">
          <a:xfrm>
            <a:off x="933450" y="1693863"/>
            <a:ext cx="4699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51" name="Rectangle 42"/>
          <p:cNvSpPr>
            <a:spLocks noChangeArrowheads="1"/>
          </p:cNvSpPr>
          <p:nvPr/>
        </p:nvSpPr>
        <p:spPr bwMode="auto">
          <a:xfrm>
            <a:off x="933450" y="1739900"/>
            <a:ext cx="500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120852" name="Rectangle 43"/>
          <p:cNvSpPr>
            <a:spLocks noChangeArrowheads="1"/>
          </p:cNvSpPr>
          <p:nvPr/>
        </p:nvSpPr>
        <p:spPr bwMode="auto">
          <a:xfrm>
            <a:off x="933450" y="1693863"/>
            <a:ext cx="4064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53" name="Rectangle 44"/>
          <p:cNvSpPr>
            <a:spLocks noChangeArrowheads="1"/>
          </p:cNvSpPr>
          <p:nvPr/>
        </p:nvSpPr>
        <p:spPr bwMode="auto">
          <a:xfrm>
            <a:off x="933450" y="1693863"/>
            <a:ext cx="43815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54" name="Rectangle 45"/>
          <p:cNvSpPr>
            <a:spLocks noChangeArrowheads="1"/>
          </p:cNvSpPr>
          <p:nvPr/>
        </p:nvSpPr>
        <p:spPr bwMode="auto">
          <a:xfrm>
            <a:off x="933450" y="1693863"/>
            <a:ext cx="4064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55" name="Rectangle 46"/>
          <p:cNvSpPr>
            <a:spLocks noChangeArrowheads="1"/>
          </p:cNvSpPr>
          <p:nvPr/>
        </p:nvSpPr>
        <p:spPr bwMode="auto">
          <a:xfrm>
            <a:off x="933450" y="1693863"/>
            <a:ext cx="4699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56" name="Rectangle 47"/>
          <p:cNvSpPr>
            <a:spLocks noChangeArrowheads="1"/>
          </p:cNvSpPr>
          <p:nvPr/>
        </p:nvSpPr>
        <p:spPr bwMode="auto">
          <a:xfrm>
            <a:off x="933450" y="1739900"/>
            <a:ext cx="500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120857" name="Rectangle 48"/>
          <p:cNvSpPr>
            <a:spLocks noChangeArrowheads="1"/>
          </p:cNvSpPr>
          <p:nvPr/>
        </p:nvSpPr>
        <p:spPr bwMode="auto">
          <a:xfrm>
            <a:off x="933450" y="1693863"/>
            <a:ext cx="3429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58" name="Rectangle 49"/>
          <p:cNvSpPr>
            <a:spLocks noChangeArrowheads="1"/>
          </p:cNvSpPr>
          <p:nvPr/>
        </p:nvSpPr>
        <p:spPr bwMode="auto">
          <a:xfrm>
            <a:off x="933450" y="1693863"/>
            <a:ext cx="3429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59" name="Rectangle 50"/>
          <p:cNvSpPr>
            <a:spLocks noChangeArrowheads="1"/>
          </p:cNvSpPr>
          <p:nvPr/>
        </p:nvSpPr>
        <p:spPr bwMode="auto">
          <a:xfrm>
            <a:off x="933450" y="1693863"/>
            <a:ext cx="3429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60" name="Rectangle 51"/>
          <p:cNvSpPr>
            <a:spLocks noChangeArrowheads="1"/>
          </p:cNvSpPr>
          <p:nvPr/>
        </p:nvSpPr>
        <p:spPr bwMode="auto">
          <a:xfrm>
            <a:off x="933450" y="1693863"/>
            <a:ext cx="37465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61" name="Rectangle 52"/>
          <p:cNvSpPr>
            <a:spLocks noChangeArrowheads="1"/>
          </p:cNvSpPr>
          <p:nvPr/>
        </p:nvSpPr>
        <p:spPr bwMode="auto">
          <a:xfrm>
            <a:off x="933450" y="1693863"/>
            <a:ext cx="31115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62" name="Rectangle 53"/>
          <p:cNvSpPr>
            <a:spLocks noChangeArrowheads="1"/>
          </p:cNvSpPr>
          <p:nvPr/>
        </p:nvSpPr>
        <p:spPr bwMode="auto">
          <a:xfrm>
            <a:off x="933450" y="1739900"/>
            <a:ext cx="500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120863" name="Rectangle 54"/>
          <p:cNvSpPr>
            <a:spLocks noChangeArrowheads="1"/>
          </p:cNvSpPr>
          <p:nvPr/>
        </p:nvSpPr>
        <p:spPr bwMode="auto">
          <a:xfrm>
            <a:off x="933450" y="1693863"/>
            <a:ext cx="3429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64" name="Rectangle 55"/>
          <p:cNvSpPr>
            <a:spLocks noChangeArrowheads="1"/>
          </p:cNvSpPr>
          <p:nvPr/>
        </p:nvSpPr>
        <p:spPr bwMode="auto">
          <a:xfrm>
            <a:off x="933450" y="1693863"/>
            <a:ext cx="3429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65" name="Rectangle 56"/>
          <p:cNvSpPr>
            <a:spLocks noChangeArrowheads="1"/>
          </p:cNvSpPr>
          <p:nvPr/>
        </p:nvSpPr>
        <p:spPr bwMode="auto">
          <a:xfrm>
            <a:off x="933450" y="1693863"/>
            <a:ext cx="3429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66" name="Rectangle 57"/>
          <p:cNvSpPr>
            <a:spLocks noChangeArrowheads="1"/>
          </p:cNvSpPr>
          <p:nvPr/>
        </p:nvSpPr>
        <p:spPr bwMode="auto">
          <a:xfrm>
            <a:off x="933450" y="1693863"/>
            <a:ext cx="3429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67" name="Rectangle 58"/>
          <p:cNvSpPr>
            <a:spLocks noChangeArrowheads="1"/>
          </p:cNvSpPr>
          <p:nvPr/>
        </p:nvSpPr>
        <p:spPr bwMode="auto">
          <a:xfrm>
            <a:off x="933450" y="1693863"/>
            <a:ext cx="31115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68" name="Rectangle 59"/>
          <p:cNvSpPr>
            <a:spLocks noChangeArrowheads="1"/>
          </p:cNvSpPr>
          <p:nvPr/>
        </p:nvSpPr>
        <p:spPr bwMode="auto">
          <a:xfrm>
            <a:off x="933450" y="1693863"/>
            <a:ext cx="31115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graphicFrame>
        <p:nvGraphicFramePr>
          <p:cNvPr id="243772" name="Group 60"/>
          <p:cNvGraphicFramePr>
            <a:graphicFrameLocks noGrp="1"/>
          </p:cNvGraphicFramePr>
          <p:nvPr/>
        </p:nvGraphicFramePr>
        <p:xfrm>
          <a:off x="1358900" y="908050"/>
          <a:ext cx="6381750" cy="4681538"/>
        </p:xfrm>
        <a:graphic>
          <a:graphicData uri="http://schemas.openxmlformats.org/drawingml/2006/table">
            <a:tbl>
              <a:tblPr/>
              <a:tblGrid>
                <a:gridCol w="485775">
                  <a:extLst>
                    <a:ext uri="{9D8B030D-6E8A-4147-A177-3AD203B41FA5}">
                      <a16:colId xmlns:a16="http://schemas.microsoft.com/office/drawing/2014/main" val="20000"/>
                    </a:ext>
                  </a:extLst>
                </a:gridCol>
                <a:gridCol w="5895975">
                  <a:extLst>
                    <a:ext uri="{9D8B030D-6E8A-4147-A177-3AD203B41FA5}">
                      <a16:colId xmlns:a16="http://schemas.microsoft.com/office/drawing/2014/main" val="20001"/>
                    </a:ext>
                  </a:extLst>
                </a:gridCol>
              </a:tblGrid>
              <a:tr h="7397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89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itchFamily="2" charset="-122"/>
                          <a:ea typeface="宋体" pitchFamily="2" charset="-122"/>
                          <a:cs typeface="Times New Roman" pitchFamily="18" charset="0"/>
                        </a:rPr>
                        <a:t>1</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3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itchFamily="2" charset="-122"/>
                          <a:ea typeface="宋体" pitchFamily="2" charset="-122"/>
                          <a:cs typeface="Times New Roman" pitchFamily="18" charset="0"/>
                        </a:rPr>
                        <a:t>2</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500" b="0" i="0" u="none" strike="noStrike" cap="none" normalizeH="0" baseline="0">
                          <a:ln>
                            <a:noFill/>
                          </a:ln>
                          <a:solidFill>
                            <a:schemeClr val="tx1"/>
                          </a:solidFill>
                          <a:effectLst/>
                          <a:latin typeface="宋体" pitchFamily="2" charset="-122"/>
                          <a:ea typeface="宋体" pitchFamily="2" charset="-122"/>
                          <a:cs typeface="Times New Roman" pitchFamily="18" charset="0"/>
                        </a:rPr>
                        <a:t> </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9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itchFamily="2" charset="-122"/>
                          <a:ea typeface="宋体" pitchFamily="2" charset="-122"/>
                          <a:cs typeface="Times New Roman" pitchFamily="18" charset="0"/>
                        </a:rPr>
                        <a:t>3</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39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itchFamily="2" charset="-122"/>
                          <a:ea typeface="宋体" pitchFamily="2" charset="-122"/>
                          <a:cs typeface="Times New Roman" pitchFamily="18" charset="0"/>
                        </a:rPr>
                        <a:t>4</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39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itchFamily="2" charset="-122"/>
                          <a:ea typeface="宋体" pitchFamily="2" charset="-122"/>
                          <a:cs typeface="Times New Roman" pitchFamily="18" charset="0"/>
                        </a:rPr>
                        <a:t>5</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39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宋体" pitchFamily="2" charset="-122"/>
                          <a:ea typeface="宋体" pitchFamily="2" charset="-122"/>
                          <a:cs typeface="Times New Roman" pitchFamily="18" charset="0"/>
                        </a:rPr>
                        <a:t>6</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120895" name="Group 86"/>
          <p:cNvGrpSpPr>
            <a:grpSpLocks/>
          </p:cNvGrpSpPr>
          <p:nvPr/>
        </p:nvGrpSpPr>
        <p:grpSpPr bwMode="auto">
          <a:xfrm>
            <a:off x="2006600" y="2636838"/>
            <a:ext cx="1620838" cy="609600"/>
            <a:chOff x="204" y="2886"/>
            <a:chExt cx="816" cy="256"/>
          </a:xfrm>
        </p:grpSpPr>
        <p:pic>
          <p:nvPicPr>
            <p:cNvPr id="120901" name="Picture 87"/>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204" y="2896"/>
              <a:ext cx="9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02" name="Picture 88"/>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476" y="2896"/>
              <a:ext cx="9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03" name="Picture 89"/>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703" y="2886"/>
              <a:ext cx="9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04" name="Picture 90"/>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930" y="2886"/>
              <a:ext cx="9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0896" name="Rectangle 91"/>
          <p:cNvSpPr>
            <a:spLocks noChangeArrowheads="1"/>
          </p:cNvSpPr>
          <p:nvPr/>
        </p:nvSpPr>
        <p:spPr bwMode="auto">
          <a:xfrm>
            <a:off x="1036638" y="3170238"/>
            <a:ext cx="500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120897" name="Rectangle 92"/>
          <p:cNvSpPr>
            <a:spLocks noChangeArrowheads="1"/>
          </p:cNvSpPr>
          <p:nvPr/>
        </p:nvSpPr>
        <p:spPr bwMode="auto">
          <a:xfrm>
            <a:off x="1036638" y="3124200"/>
            <a:ext cx="50165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98" name="Rectangle 93"/>
          <p:cNvSpPr>
            <a:spLocks noChangeArrowheads="1"/>
          </p:cNvSpPr>
          <p:nvPr/>
        </p:nvSpPr>
        <p:spPr bwMode="auto">
          <a:xfrm>
            <a:off x="1036638" y="3124200"/>
            <a:ext cx="43815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sp>
        <p:nvSpPr>
          <p:cNvPr id="120899" name="Rectangle 94"/>
          <p:cNvSpPr>
            <a:spLocks noChangeArrowheads="1"/>
          </p:cNvSpPr>
          <p:nvPr/>
        </p:nvSpPr>
        <p:spPr bwMode="auto">
          <a:xfrm>
            <a:off x="1036638" y="3124200"/>
            <a:ext cx="4699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500">
                <a:latin typeface="宋体" pitchFamily="2" charset="-122"/>
                <a:cs typeface="Times New Roman" pitchFamily="18" charset="0"/>
              </a:rPr>
              <a:t>         </a:t>
            </a:r>
            <a:endParaRPr lang="en-US" altLang="zh-CN"/>
          </a:p>
        </p:txBody>
      </p:sp>
      <p:pic>
        <p:nvPicPr>
          <p:cNvPr id="120900" name="Picture 95"/>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2339975" y="5661025"/>
            <a:ext cx="158432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6032</TotalTime>
  <Words>3269</Words>
  <Application>Microsoft Office PowerPoint</Application>
  <PresentationFormat>全屏显示(4:3)</PresentationFormat>
  <Paragraphs>463</Paragraphs>
  <Slides>119</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119</vt:i4>
      </vt:variant>
    </vt:vector>
  </HeadingPairs>
  <TitlesOfParts>
    <vt:vector size="133" baseType="lpstr">
      <vt:lpstr>CMMI10</vt:lpstr>
      <vt:lpstr>CMR10</vt:lpstr>
      <vt:lpstr>CMSSBX10</vt:lpstr>
      <vt:lpstr>CMTI10</vt:lpstr>
      <vt:lpstr>黑体</vt:lpstr>
      <vt:lpstr>楷体_GB2312</vt:lpstr>
      <vt:lpstr>宋体</vt:lpstr>
      <vt:lpstr>Arial</vt:lpstr>
      <vt:lpstr>Symbol</vt:lpstr>
      <vt:lpstr>Times New Roman</vt:lpstr>
      <vt:lpstr>默认设计模板</vt:lpstr>
      <vt:lpstr>公式</vt:lpstr>
      <vt:lpstr>Equation</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龙贝格公式</vt:lpstr>
      <vt:lpstr>Romberg公式计算方法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NKU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nmr</dc:creator>
  <cp:lastModifiedBy>apple</cp:lastModifiedBy>
  <cp:revision>170</cp:revision>
  <dcterms:created xsi:type="dcterms:W3CDTF">2005-10-09T01:56:44Z</dcterms:created>
  <dcterms:modified xsi:type="dcterms:W3CDTF">2022-04-19T05:54:03Z</dcterms:modified>
</cp:coreProperties>
</file>