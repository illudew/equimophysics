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261" r:id="rId2"/>
    <p:sldId id="345" r:id="rId3"/>
    <p:sldId id="337" r:id="rId4"/>
    <p:sldId id="307" r:id="rId5"/>
    <p:sldId id="306" r:id="rId6"/>
    <p:sldId id="284" r:id="rId7"/>
    <p:sldId id="285" r:id="rId8"/>
    <p:sldId id="286" r:id="rId9"/>
    <p:sldId id="342" r:id="rId10"/>
    <p:sldId id="287" r:id="rId11"/>
    <p:sldId id="288" r:id="rId12"/>
    <p:sldId id="313" r:id="rId13"/>
    <p:sldId id="294" r:id="rId14"/>
    <p:sldId id="304" r:id="rId15"/>
    <p:sldId id="343" r:id="rId16"/>
    <p:sldId id="289" r:id="rId17"/>
    <p:sldId id="290" r:id="rId18"/>
    <p:sldId id="344" r:id="rId19"/>
    <p:sldId id="336" r:id="rId20"/>
    <p:sldId id="311" r:id="rId21"/>
    <p:sldId id="291" r:id="rId22"/>
    <p:sldId id="295" r:id="rId23"/>
    <p:sldId id="308" r:id="rId24"/>
    <p:sldId id="309" r:id="rId25"/>
    <p:sldId id="310" r:id="rId26"/>
    <p:sldId id="296" r:id="rId27"/>
    <p:sldId id="297" r:id="rId28"/>
    <p:sldId id="298" r:id="rId29"/>
    <p:sldId id="338" r:id="rId30"/>
    <p:sldId id="339" r:id="rId31"/>
    <p:sldId id="340" r:id="rId32"/>
    <p:sldId id="302" r:id="rId33"/>
    <p:sldId id="301" r:id="rId34"/>
    <p:sldId id="341" r:id="rId35"/>
    <p:sldId id="312" r:id="rId36"/>
    <p:sldId id="333" r:id="rId37"/>
    <p:sldId id="334" r:id="rId38"/>
    <p:sldId id="314" r:id="rId39"/>
    <p:sldId id="322" r:id="rId40"/>
    <p:sldId id="315" r:id="rId41"/>
    <p:sldId id="317" r:id="rId42"/>
    <p:sldId id="316" r:id="rId43"/>
    <p:sldId id="318" r:id="rId44"/>
    <p:sldId id="323" r:id="rId45"/>
    <p:sldId id="324" r:id="rId46"/>
    <p:sldId id="325" r:id="rId47"/>
    <p:sldId id="326" r:id="rId48"/>
    <p:sldId id="327" r:id="rId49"/>
    <p:sldId id="328" r:id="rId50"/>
    <p:sldId id="332" r:id="rId51"/>
    <p:sldId id="331" r:id="rId52"/>
    <p:sldId id="330" r:id="rId53"/>
    <p:sldId id="305" r:id="rId54"/>
    <p:sldId id="300" r:id="rId55"/>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48"/>
    <p:restoredTop sz="94559"/>
  </p:normalViewPr>
  <p:slideViewPr>
    <p:cSldViewPr snapToGrid="0" snapToObjects="1">
      <p:cViewPr varScale="1">
        <p:scale>
          <a:sx n="119" d="100"/>
          <a:sy n="119" d="100"/>
        </p:scale>
        <p:origin x="35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855553-E204-9B48-B2FA-93A5E176C98D}" type="datetimeFigureOut">
              <a:rPr lang="en-CN" smtClean="0"/>
              <a:t>2023/4/17</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B01603-0B4F-9349-A3FE-B726F2D14976}" type="slidenum">
              <a:rPr lang="en-CN" smtClean="0"/>
              <a:t>‹#›</a:t>
            </a:fld>
            <a:endParaRPr lang="en-CN"/>
          </a:p>
        </p:txBody>
      </p:sp>
    </p:spTree>
    <p:extLst>
      <p:ext uri="{BB962C8B-B14F-4D97-AF65-F5344CB8AC3E}">
        <p14:creationId xmlns:p14="http://schemas.microsoft.com/office/powerpoint/2010/main" val="35748504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29B01603-0B4F-9349-A3FE-B726F2D14976}" type="slidenum">
              <a:rPr lang="en-CN" smtClean="0"/>
              <a:t>54</a:t>
            </a:fld>
            <a:endParaRPr lang="en-CN"/>
          </a:p>
        </p:txBody>
      </p:sp>
    </p:spTree>
    <p:extLst>
      <p:ext uri="{BB962C8B-B14F-4D97-AF65-F5344CB8AC3E}">
        <p14:creationId xmlns:p14="http://schemas.microsoft.com/office/powerpoint/2010/main" val="1727052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D7C1-D8EB-D547-BCEE-EC505565F5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N"/>
          </a:p>
        </p:txBody>
      </p:sp>
      <p:sp>
        <p:nvSpPr>
          <p:cNvPr id="3" name="Subtitle 2">
            <a:extLst>
              <a:ext uri="{FF2B5EF4-FFF2-40B4-BE49-F238E27FC236}">
                <a16:creationId xmlns:a16="http://schemas.microsoft.com/office/drawing/2014/main" id="{2089B034-FF72-0842-A5AB-84F0A71076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4" name="Date Placeholder 3">
            <a:extLst>
              <a:ext uri="{FF2B5EF4-FFF2-40B4-BE49-F238E27FC236}">
                <a16:creationId xmlns:a16="http://schemas.microsoft.com/office/drawing/2014/main" id="{3FD5C968-918F-8641-AE02-594B5224B66F}"/>
              </a:ext>
            </a:extLst>
          </p:cNvPr>
          <p:cNvSpPr>
            <a:spLocks noGrp="1"/>
          </p:cNvSpPr>
          <p:nvPr>
            <p:ph type="dt" sz="half" idx="10"/>
          </p:nvPr>
        </p:nvSpPr>
        <p:spPr/>
        <p:txBody>
          <a:bodyPr/>
          <a:lstStyle/>
          <a:p>
            <a:fld id="{E800E28F-22DF-9E47-9EC9-E68F8BF2B40B}" type="datetimeFigureOut">
              <a:rPr lang="en-CN" smtClean="0"/>
              <a:t>2023/4/17</a:t>
            </a:fld>
            <a:endParaRPr lang="en-CN"/>
          </a:p>
        </p:txBody>
      </p:sp>
      <p:sp>
        <p:nvSpPr>
          <p:cNvPr id="5" name="Footer Placeholder 4">
            <a:extLst>
              <a:ext uri="{FF2B5EF4-FFF2-40B4-BE49-F238E27FC236}">
                <a16:creationId xmlns:a16="http://schemas.microsoft.com/office/drawing/2014/main" id="{3519C305-E85D-1548-A375-1DBDEDB5978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2873FDED-A1AE-D846-9147-0D1EE8B81396}"/>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54886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2013E-BDF0-8C4A-B4ED-0D321223FDC4}"/>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007ABE0F-0622-5C49-AEF9-031610282B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F8EF4ABA-C3F7-F04B-B87A-4A9D3D3BA1AF}"/>
              </a:ext>
            </a:extLst>
          </p:cNvPr>
          <p:cNvSpPr>
            <a:spLocks noGrp="1"/>
          </p:cNvSpPr>
          <p:nvPr>
            <p:ph type="dt" sz="half" idx="10"/>
          </p:nvPr>
        </p:nvSpPr>
        <p:spPr/>
        <p:txBody>
          <a:bodyPr/>
          <a:lstStyle/>
          <a:p>
            <a:fld id="{E800E28F-22DF-9E47-9EC9-E68F8BF2B40B}" type="datetimeFigureOut">
              <a:rPr lang="en-CN" smtClean="0"/>
              <a:t>2023/4/17</a:t>
            </a:fld>
            <a:endParaRPr lang="en-CN"/>
          </a:p>
        </p:txBody>
      </p:sp>
      <p:sp>
        <p:nvSpPr>
          <p:cNvPr id="5" name="Footer Placeholder 4">
            <a:extLst>
              <a:ext uri="{FF2B5EF4-FFF2-40B4-BE49-F238E27FC236}">
                <a16:creationId xmlns:a16="http://schemas.microsoft.com/office/drawing/2014/main" id="{FD28897E-B07B-B441-BDAF-727D0E889B1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3FA11B97-AE03-0E47-93A0-D14C3D946881}"/>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43825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83D1F-C55B-2F42-AE7E-78E4DC54AD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86FFFBC5-80CC-8C45-9404-C9556920AE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B78CD9-0063-224A-90B2-5B178A6FB8BD}"/>
              </a:ext>
            </a:extLst>
          </p:cNvPr>
          <p:cNvSpPr>
            <a:spLocks noGrp="1"/>
          </p:cNvSpPr>
          <p:nvPr>
            <p:ph type="dt" sz="half" idx="10"/>
          </p:nvPr>
        </p:nvSpPr>
        <p:spPr/>
        <p:txBody>
          <a:bodyPr/>
          <a:lstStyle/>
          <a:p>
            <a:fld id="{E800E28F-22DF-9E47-9EC9-E68F8BF2B40B}" type="datetimeFigureOut">
              <a:rPr lang="en-CN" smtClean="0"/>
              <a:t>2023/4/17</a:t>
            </a:fld>
            <a:endParaRPr lang="en-CN"/>
          </a:p>
        </p:txBody>
      </p:sp>
      <p:sp>
        <p:nvSpPr>
          <p:cNvPr id="5" name="Footer Placeholder 4">
            <a:extLst>
              <a:ext uri="{FF2B5EF4-FFF2-40B4-BE49-F238E27FC236}">
                <a16:creationId xmlns:a16="http://schemas.microsoft.com/office/drawing/2014/main" id="{64A6CE81-9F37-BF4C-BDF3-A9FBC99E240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AF3B8F5E-2051-1745-8C26-13E510972A27}"/>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2648670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95BE8-2906-8E4F-AF10-6C859962C87A}"/>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65877BC1-205D-ED44-902E-6DC52E37DB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86DCF4BC-B5D9-7A46-9CA0-C1833531EB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729A32F2-DC1B-494A-8AB9-039BCA541EDF}"/>
              </a:ext>
            </a:extLst>
          </p:cNvPr>
          <p:cNvSpPr>
            <a:spLocks noGrp="1"/>
          </p:cNvSpPr>
          <p:nvPr>
            <p:ph type="dt" sz="half" idx="10"/>
          </p:nvPr>
        </p:nvSpPr>
        <p:spPr/>
        <p:txBody>
          <a:bodyPr/>
          <a:lstStyle/>
          <a:p>
            <a:fld id="{E800E28F-22DF-9E47-9EC9-E68F8BF2B40B}" type="datetimeFigureOut">
              <a:rPr lang="en-CN" smtClean="0"/>
              <a:t>2023/4/17</a:t>
            </a:fld>
            <a:endParaRPr lang="en-CN"/>
          </a:p>
        </p:txBody>
      </p:sp>
      <p:sp>
        <p:nvSpPr>
          <p:cNvPr id="6" name="Footer Placeholder 5">
            <a:extLst>
              <a:ext uri="{FF2B5EF4-FFF2-40B4-BE49-F238E27FC236}">
                <a16:creationId xmlns:a16="http://schemas.microsoft.com/office/drawing/2014/main" id="{1FC77452-A3E3-4443-92ED-FF9D858C7417}"/>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D6CB1547-4E3B-B44B-81F0-9E977B3EF147}"/>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816650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E04FC-EB95-6042-A824-3928DD90D352}"/>
              </a:ext>
            </a:extLst>
          </p:cNvPr>
          <p:cNvSpPr>
            <a:spLocks noGrp="1"/>
          </p:cNvSpPr>
          <p:nvPr>
            <p:ph type="title"/>
          </p:nvPr>
        </p:nvSpPr>
        <p:spPr>
          <a:xfrm>
            <a:off x="839788" y="365125"/>
            <a:ext cx="105156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F8826F3F-BBDF-4748-B28F-F8C02C1F26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BC1051-699C-4F4F-A964-DE4CCEF3BE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A05D3799-BF1A-B544-92F3-A668C8479A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7BDBCE-CA7F-5143-91B1-42C71E89D4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A9D47ACE-B299-B447-AB9F-A7E598DB00BB}"/>
              </a:ext>
            </a:extLst>
          </p:cNvPr>
          <p:cNvSpPr>
            <a:spLocks noGrp="1"/>
          </p:cNvSpPr>
          <p:nvPr>
            <p:ph type="dt" sz="half" idx="10"/>
          </p:nvPr>
        </p:nvSpPr>
        <p:spPr/>
        <p:txBody>
          <a:bodyPr/>
          <a:lstStyle/>
          <a:p>
            <a:fld id="{E800E28F-22DF-9E47-9EC9-E68F8BF2B40B}" type="datetimeFigureOut">
              <a:rPr lang="en-CN" smtClean="0"/>
              <a:t>2023/4/17</a:t>
            </a:fld>
            <a:endParaRPr lang="en-CN"/>
          </a:p>
        </p:txBody>
      </p:sp>
      <p:sp>
        <p:nvSpPr>
          <p:cNvPr id="8" name="Footer Placeholder 7">
            <a:extLst>
              <a:ext uri="{FF2B5EF4-FFF2-40B4-BE49-F238E27FC236}">
                <a16:creationId xmlns:a16="http://schemas.microsoft.com/office/drawing/2014/main" id="{E1CA539D-7612-E848-999B-9D151DFE0F4E}"/>
              </a:ext>
            </a:extLst>
          </p:cNvPr>
          <p:cNvSpPr>
            <a:spLocks noGrp="1"/>
          </p:cNvSpPr>
          <p:nvPr>
            <p:ph type="ftr" sz="quarter" idx="11"/>
          </p:nvPr>
        </p:nvSpPr>
        <p:spPr/>
        <p:txBody>
          <a:bodyPr/>
          <a:lstStyle/>
          <a:p>
            <a:endParaRPr lang="en-CN"/>
          </a:p>
        </p:txBody>
      </p:sp>
      <p:sp>
        <p:nvSpPr>
          <p:cNvPr id="9" name="Slide Number Placeholder 8">
            <a:extLst>
              <a:ext uri="{FF2B5EF4-FFF2-40B4-BE49-F238E27FC236}">
                <a16:creationId xmlns:a16="http://schemas.microsoft.com/office/drawing/2014/main" id="{91C80D14-ED83-5545-8AE2-4469C82031B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860530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6444D-3A68-EB45-9015-DA6329C909CA}"/>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7EFBB93C-F3ED-3F47-B452-7C28F2091105}"/>
              </a:ext>
            </a:extLst>
          </p:cNvPr>
          <p:cNvSpPr>
            <a:spLocks noGrp="1"/>
          </p:cNvSpPr>
          <p:nvPr>
            <p:ph type="dt" sz="half" idx="10"/>
          </p:nvPr>
        </p:nvSpPr>
        <p:spPr/>
        <p:txBody>
          <a:bodyPr/>
          <a:lstStyle/>
          <a:p>
            <a:fld id="{E800E28F-22DF-9E47-9EC9-E68F8BF2B40B}" type="datetimeFigureOut">
              <a:rPr lang="en-CN" smtClean="0"/>
              <a:t>2023/4/17</a:t>
            </a:fld>
            <a:endParaRPr lang="en-CN"/>
          </a:p>
        </p:txBody>
      </p:sp>
      <p:sp>
        <p:nvSpPr>
          <p:cNvPr id="4" name="Footer Placeholder 3">
            <a:extLst>
              <a:ext uri="{FF2B5EF4-FFF2-40B4-BE49-F238E27FC236}">
                <a16:creationId xmlns:a16="http://schemas.microsoft.com/office/drawing/2014/main" id="{C90FAABE-D364-A94B-BEC5-9C8F70BD57F2}"/>
              </a:ext>
            </a:extLst>
          </p:cNvPr>
          <p:cNvSpPr>
            <a:spLocks noGrp="1"/>
          </p:cNvSpPr>
          <p:nvPr>
            <p:ph type="ftr" sz="quarter" idx="11"/>
          </p:nvPr>
        </p:nvSpPr>
        <p:spPr/>
        <p:txBody>
          <a:bodyPr/>
          <a:lstStyle/>
          <a:p>
            <a:endParaRPr lang="en-CN"/>
          </a:p>
        </p:txBody>
      </p:sp>
      <p:sp>
        <p:nvSpPr>
          <p:cNvPr id="5" name="Slide Number Placeholder 4">
            <a:extLst>
              <a:ext uri="{FF2B5EF4-FFF2-40B4-BE49-F238E27FC236}">
                <a16:creationId xmlns:a16="http://schemas.microsoft.com/office/drawing/2014/main" id="{7DA6D1B4-DA1C-F240-90A2-84B2A717EF7E}"/>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18744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D0083D-F5D5-C543-B61F-4094F539E6A7}"/>
              </a:ext>
            </a:extLst>
          </p:cNvPr>
          <p:cNvSpPr>
            <a:spLocks noGrp="1"/>
          </p:cNvSpPr>
          <p:nvPr>
            <p:ph type="dt" sz="half" idx="10"/>
          </p:nvPr>
        </p:nvSpPr>
        <p:spPr/>
        <p:txBody>
          <a:bodyPr/>
          <a:lstStyle/>
          <a:p>
            <a:fld id="{E800E28F-22DF-9E47-9EC9-E68F8BF2B40B}" type="datetimeFigureOut">
              <a:rPr lang="en-CN" smtClean="0"/>
              <a:t>2023/4/17</a:t>
            </a:fld>
            <a:endParaRPr lang="en-CN"/>
          </a:p>
        </p:txBody>
      </p:sp>
      <p:sp>
        <p:nvSpPr>
          <p:cNvPr id="3" name="Footer Placeholder 2">
            <a:extLst>
              <a:ext uri="{FF2B5EF4-FFF2-40B4-BE49-F238E27FC236}">
                <a16:creationId xmlns:a16="http://schemas.microsoft.com/office/drawing/2014/main" id="{E0DDC8BC-428B-BB4D-8AEE-C6B272C6798C}"/>
              </a:ext>
            </a:extLst>
          </p:cNvPr>
          <p:cNvSpPr>
            <a:spLocks noGrp="1"/>
          </p:cNvSpPr>
          <p:nvPr>
            <p:ph type="ftr" sz="quarter" idx="11"/>
          </p:nvPr>
        </p:nvSpPr>
        <p:spPr/>
        <p:txBody>
          <a:bodyPr/>
          <a:lstStyle/>
          <a:p>
            <a:endParaRPr lang="en-CN"/>
          </a:p>
        </p:txBody>
      </p:sp>
      <p:sp>
        <p:nvSpPr>
          <p:cNvPr id="4" name="Slide Number Placeholder 3">
            <a:extLst>
              <a:ext uri="{FF2B5EF4-FFF2-40B4-BE49-F238E27FC236}">
                <a16:creationId xmlns:a16="http://schemas.microsoft.com/office/drawing/2014/main" id="{378B49BB-14D1-1849-B437-37A7A6070E9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147709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D422E-2ECF-6E40-B192-F3102DB3C2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56070A34-B607-1742-A5C9-F66E9CB59C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688185AD-9C29-CE46-8CE9-E6D8F6BB58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88B05E-F489-3841-AF6F-1A1FE3BB3F71}"/>
              </a:ext>
            </a:extLst>
          </p:cNvPr>
          <p:cNvSpPr>
            <a:spLocks noGrp="1"/>
          </p:cNvSpPr>
          <p:nvPr>
            <p:ph type="dt" sz="half" idx="10"/>
          </p:nvPr>
        </p:nvSpPr>
        <p:spPr/>
        <p:txBody>
          <a:bodyPr/>
          <a:lstStyle/>
          <a:p>
            <a:fld id="{E800E28F-22DF-9E47-9EC9-E68F8BF2B40B}" type="datetimeFigureOut">
              <a:rPr lang="en-CN" smtClean="0"/>
              <a:t>2023/4/17</a:t>
            </a:fld>
            <a:endParaRPr lang="en-CN"/>
          </a:p>
        </p:txBody>
      </p:sp>
      <p:sp>
        <p:nvSpPr>
          <p:cNvPr id="6" name="Footer Placeholder 5">
            <a:extLst>
              <a:ext uri="{FF2B5EF4-FFF2-40B4-BE49-F238E27FC236}">
                <a16:creationId xmlns:a16="http://schemas.microsoft.com/office/drawing/2014/main" id="{D5D58E87-9859-F14A-B389-187843C24D8E}"/>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F152D493-6FBF-EA46-8CFB-E11E167F3225}"/>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507294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53968-37CC-B647-9F46-44E9F86425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0F620B7A-6421-6346-BBFA-BD37AAC93C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N"/>
          </a:p>
        </p:txBody>
      </p:sp>
      <p:sp>
        <p:nvSpPr>
          <p:cNvPr id="4" name="Text Placeholder 3">
            <a:extLst>
              <a:ext uri="{FF2B5EF4-FFF2-40B4-BE49-F238E27FC236}">
                <a16:creationId xmlns:a16="http://schemas.microsoft.com/office/drawing/2014/main" id="{508ED188-FEB7-E74E-B65D-281002E7AA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4B8C2D-F1DB-C34A-AD60-DF4B2FE59B4C}"/>
              </a:ext>
            </a:extLst>
          </p:cNvPr>
          <p:cNvSpPr>
            <a:spLocks noGrp="1"/>
          </p:cNvSpPr>
          <p:nvPr>
            <p:ph type="dt" sz="half" idx="10"/>
          </p:nvPr>
        </p:nvSpPr>
        <p:spPr/>
        <p:txBody>
          <a:bodyPr/>
          <a:lstStyle/>
          <a:p>
            <a:fld id="{E800E28F-22DF-9E47-9EC9-E68F8BF2B40B}" type="datetimeFigureOut">
              <a:rPr lang="en-CN" smtClean="0"/>
              <a:t>2023/4/17</a:t>
            </a:fld>
            <a:endParaRPr lang="en-CN"/>
          </a:p>
        </p:txBody>
      </p:sp>
      <p:sp>
        <p:nvSpPr>
          <p:cNvPr id="6" name="Footer Placeholder 5">
            <a:extLst>
              <a:ext uri="{FF2B5EF4-FFF2-40B4-BE49-F238E27FC236}">
                <a16:creationId xmlns:a16="http://schemas.microsoft.com/office/drawing/2014/main" id="{2F1817A2-AEE3-244B-8185-A484A6B8C7D4}"/>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97410CD3-341B-C348-B1D4-069400F93D8A}"/>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238695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C41A4-A3DA-9C44-A87F-544863819FAD}"/>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00F37D03-3ABB-E94A-A564-7D516299FF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D225D3D3-9B3A-E34D-A7DB-07B8D9C07F2E}"/>
              </a:ext>
            </a:extLst>
          </p:cNvPr>
          <p:cNvSpPr>
            <a:spLocks noGrp="1"/>
          </p:cNvSpPr>
          <p:nvPr>
            <p:ph type="dt" sz="half" idx="10"/>
          </p:nvPr>
        </p:nvSpPr>
        <p:spPr/>
        <p:txBody>
          <a:bodyPr/>
          <a:lstStyle/>
          <a:p>
            <a:fld id="{E800E28F-22DF-9E47-9EC9-E68F8BF2B40B}" type="datetimeFigureOut">
              <a:rPr lang="en-CN" smtClean="0"/>
              <a:t>2023/4/17</a:t>
            </a:fld>
            <a:endParaRPr lang="en-CN"/>
          </a:p>
        </p:txBody>
      </p:sp>
      <p:sp>
        <p:nvSpPr>
          <p:cNvPr id="5" name="Footer Placeholder 4">
            <a:extLst>
              <a:ext uri="{FF2B5EF4-FFF2-40B4-BE49-F238E27FC236}">
                <a16:creationId xmlns:a16="http://schemas.microsoft.com/office/drawing/2014/main" id="{9951226C-2D9F-3E4D-8439-D1417E4DA26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915AA4E6-5819-4C43-8676-2EDC65D0B11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2077077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69D237-9FA6-7643-A46C-6BF452F3C3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B0F4148B-28D9-4E4F-98AA-281CE3B51E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F59114E8-0490-9844-A6E6-A76C29CB09BF}"/>
              </a:ext>
            </a:extLst>
          </p:cNvPr>
          <p:cNvSpPr>
            <a:spLocks noGrp="1"/>
          </p:cNvSpPr>
          <p:nvPr>
            <p:ph type="dt" sz="half" idx="10"/>
          </p:nvPr>
        </p:nvSpPr>
        <p:spPr/>
        <p:txBody>
          <a:bodyPr/>
          <a:lstStyle/>
          <a:p>
            <a:fld id="{E800E28F-22DF-9E47-9EC9-E68F8BF2B40B}" type="datetimeFigureOut">
              <a:rPr lang="en-CN" smtClean="0"/>
              <a:t>2023/4/17</a:t>
            </a:fld>
            <a:endParaRPr lang="en-CN"/>
          </a:p>
        </p:txBody>
      </p:sp>
      <p:sp>
        <p:nvSpPr>
          <p:cNvPr id="5" name="Footer Placeholder 4">
            <a:extLst>
              <a:ext uri="{FF2B5EF4-FFF2-40B4-BE49-F238E27FC236}">
                <a16:creationId xmlns:a16="http://schemas.microsoft.com/office/drawing/2014/main" id="{70A5F247-BB24-C14C-8BDC-3AEC6E2F44BC}"/>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9209EBDF-B685-F445-BD1C-7044BC30248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707622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7E8360-99FB-314F-8FFC-5DFE146448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N"/>
          </a:p>
        </p:txBody>
      </p:sp>
      <p:sp>
        <p:nvSpPr>
          <p:cNvPr id="3" name="Text Placeholder 2">
            <a:extLst>
              <a:ext uri="{FF2B5EF4-FFF2-40B4-BE49-F238E27FC236}">
                <a16:creationId xmlns:a16="http://schemas.microsoft.com/office/drawing/2014/main" id="{0FD170A0-1BBB-7549-88EE-B708486E0C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ED353904-8539-AE42-A677-9B45FCA67D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00E28F-22DF-9E47-9EC9-E68F8BF2B40B}" type="datetimeFigureOut">
              <a:rPr lang="en-CN" smtClean="0"/>
              <a:t>2023/4/17</a:t>
            </a:fld>
            <a:endParaRPr lang="en-CN"/>
          </a:p>
        </p:txBody>
      </p:sp>
      <p:sp>
        <p:nvSpPr>
          <p:cNvPr id="5" name="Footer Placeholder 4">
            <a:extLst>
              <a:ext uri="{FF2B5EF4-FFF2-40B4-BE49-F238E27FC236}">
                <a16:creationId xmlns:a16="http://schemas.microsoft.com/office/drawing/2014/main" id="{B3BDB817-6A9E-8D4B-93C6-69B4752E21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N"/>
          </a:p>
        </p:txBody>
      </p:sp>
      <p:sp>
        <p:nvSpPr>
          <p:cNvPr id="6" name="Slide Number Placeholder 5">
            <a:extLst>
              <a:ext uri="{FF2B5EF4-FFF2-40B4-BE49-F238E27FC236}">
                <a16:creationId xmlns:a16="http://schemas.microsoft.com/office/drawing/2014/main" id="{23920E11-ECD6-A240-8C4D-4AA249F37A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25E0B1-8A12-D049-82EE-CBBDFA3D597D}" type="slidenum">
              <a:rPr lang="en-CN" smtClean="0"/>
              <a:t>‹#›</a:t>
            </a:fld>
            <a:endParaRPr lang="en-CN"/>
          </a:p>
        </p:txBody>
      </p:sp>
    </p:spTree>
    <p:extLst>
      <p:ext uri="{BB962C8B-B14F-4D97-AF65-F5344CB8AC3E}">
        <p14:creationId xmlns:p14="http://schemas.microsoft.com/office/powerpoint/2010/main" val="527461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Spectral_energy_distribution"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8.gif"/></Relationships>
</file>

<file path=ppt/slides/_rels/slide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10.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69.png"/></Relationships>
</file>

<file path=ppt/slides/_rels/slide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10.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69.png"/></Relationships>
</file>

<file path=ppt/slides/_rels/slide10.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15.jpeg"/><Relationship Id="rId3" Type="http://schemas.openxmlformats.org/officeDocument/2006/relationships/image" Target="../media/image15.png"/><Relationship Id="rId7" Type="http://schemas.openxmlformats.org/officeDocument/2006/relationships/image" Target="../media/image140.png"/><Relationship Id="rId12" Type="http://schemas.openxmlformats.org/officeDocument/2006/relationships/image" Target="../media/image150.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30.png"/><Relationship Id="rId11" Type="http://schemas.openxmlformats.org/officeDocument/2006/relationships/image" Target="../media/image14.jpeg"/><Relationship Id="rId5" Type="http://schemas.openxmlformats.org/officeDocument/2006/relationships/image" Target="../media/image120.png"/><Relationship Id="rId10"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160.png"/><Relationship Id="rId14" Type="http://schemas.openxmlformats.org/officeDocument/2006/relationships/image" Target="../media/image16.jpe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20.png"/><Relationship Id="rId3" Type="http://schemas.openxmlformats.org/officeDocument/2006/relationships/image" Target="../media/image20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1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15.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9"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32.jpeg"/><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8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50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300.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28.xml.rels><?xml version="1.0" encoding="UTF-8" standalone="yes"?>
<Relationships xmlns="http://schemas.openxmlformats.org/package/2006/relationships"><Relationship Id="rId3" Type="http://schemas.openxmlformats.org/officeDocument/2006/relationships/image" Target="../media/image451.png"/><Relationship Id="rId2" Type="http://schemas.openxmlformats.org/officeDocument/2006/relationships/image" Target="../media/image430.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4.png"/><Relationship Id="rId4" Type="http://schemas.openxmlformats.org/officeDocument/2006/relationships/image" Target="../media/image58.png"/></Relationships>
</file>

<file path=ppt/slides/_rels/slide29.xml.rels><?xml version="1.0" encoding="UTF-8" standalone="yes"?>
<Relationships xmlns="http://schemas.openxmlformats.org/package/2006/relationships"><Relationship Id="rId3" Type="http://schemas.openxmlformats.org/officeDocument/2006/relationships/image" Target="../media/image53.gif"/><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3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3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66.png"/><Relationship Id="rId7" Type="http://schemas.openxmlformats.org/officeDocument/2006/relationships/image" Target="../media/image75.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4.png"/><Relationship Id="rId11" Type="http://schemas.openxmlformats.org/officeDocument/2006/relationships/image" Target="../media/image79.png"/><Relationship Id="rId5" Type="http://schemas.openxmlformats.org/officeDocument/2006/relationships/image" Target="../media/image73.png"/><Relationship Id="rId10" Type="http://schemas.openxmlformats.org/officeDocument/2006/relationships/image" Target="../media/image78.png"/><Relationship Id="rId4" Type="http://schemas.openxmlformats.org/officeDocument/2006/relationships/image" Target="../media/image72.png"/><Relationship Id="rId9" Type="http://schemas.openxmlformats.org/officeDocument/2006/relationships/image" Target="../media/image77.png"/></Relationships>
</file>

<file path=ppt/slides/_rels/slide3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34.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60.png"/><Relationship Id="rId2" Type="http://schemas.openxmlformats.org/officeDocument/2006/relationships/image" Target="../media/image750.png"/><Relationship Id="rId1" Type="http://schemas.openxmlformats.org/officeDocument/2006/relationships/slideLayout" Target="../slideLayouts/slideLayout2.xml"/><Relationship Id="rId4" Type="http://schemas.openxmlformats.org/officeDocument/2006/relationships/image" Target="../media/image770.png"/></Relationships>
</file>

<file path=ppt/slides/_rels/slide41.xml.rels><?xml version="1.0" encoding="UTF-8" standalone="yes"?>
<Relationships xmlns="http://schemas.openxmlformats.org/package/2006/relationships"><Relationship Id="rId3" Type="http://schemas.openxmlformats.org/officeDocument/2006/relationships/image" Target="../media/image790.png"/><Relationship Id="rId2" Type="http://schemas.openxmlformats.org/officeDocument/2006/relationships/image" Target="../media/image780.png"/><Relationship Id="rId1" Type="http://schemas.openxmlformats.org/officeDocument/2006/relationships/slideLayout" Target="../slideLayouts/slideLayout2.xml"/><Relationship Id="rId6" Type="http://schemas.openxmlformats.org/officeDocument/2006/relationships/image" Target="../media/image820.png"/><Relationship Id="rId5" Type="http://schemas.openxmlformats.org/officeDocument/2006/relationships/image" Target="../media/image810.png"/><Relationship Id="rId4" Type="http://schemas.openxmlformats.org/officeDocument/2006/relationships/image" Target="../media/image87.gif"/></Relationships>
</file>

<file path=ppt/slides/_rels/slide42.xml.rels><?xml version="1.0" encoding="UTF-8" standalone="yes"?>
<Relationships xmlns="http://schemas.openxmlformats.org/package/2006/relationships"><Relationship Id="rId8" Type="http://schemas.openxmlformats.org/officeDocument/2006/relationships/image" Target="../media/image880.png"/><Relationship Id="rId3" Type="http://schemas.openxmlformats.org/officeDocument/2006/relationships/image" Target="../media/image830.png"/><Relationship Id="rId7" Type="http://schemas.openxmlformats.org/officeDocument/2006/relationships/image" Target="../media/image870.png"/><Relationship Id="rId2" Type="http://schemas.openxmlformats.org/officeDocument/2006/relationships/image" Target="../media/image87.gif"/><Relationship Id="rId1" Type="http://schemas.openxmlformats.org/officeDocument/2006/relationships/slideLayout" Target="../slideLayouts/slideLayout2.xml"/><Relationship Id="rId6" Type="http://schemas.openxmlformats.org/officeDocument/2006/relationships/image" Target="../media/image860.png"/><Relationship Id="rId5" Type="http://schemas.openxmlformats.org/officeDocument/2006/relationships/image" Target="../media/image850.png"/><Relationship Id="rId4" Type="http://schemas.openxmlformats.org/officeDocument/2006/relationships/image" Target="../media/image840.png"/><Relationship Id="rId9" Type="http://schemas.openxmlformats.org/officeDocument/2006/relationships/image" Target="../media/image88.gif"/></Relationships>
</file>

<file path=ppt/slides/_rels/slide43.xml.rels><?xml version="1.0" encoding="UTF-8" standalone="yes"?>
<Relationships xmlns="http://schemas.openxmlformats.org/package/2006/relationships"><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image" Target="../media/image910.png"/><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4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90.gif"/><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 Id="rId4" Type="http://schemas.openxmlformats.org/officeDocument/2006/relationships/image" Target="../media/image103.png"/></Relationships>
</file>

<file path=ppt/slides/_rels/slide47.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 Id="rId6" Type="http://schemas.openxmlformats.org/officeDocument/2006/relationships/image" Target="../media/image108.png"/><Relationship Id="rId5" Type="http://schemas.openxmlformats.org/officeDocument/2006/relationships/image" Target="../media/image91.jpeg"/><Relationship Id="rId4" Type="http://schemas.openxmlformats.org/officeDocument/2006/relationships/image" Target="../media/image106.png"/></Relationships>
</file>

<file path=ppt/slides/_rels/slide4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s>
</file>

<file path=ppt/slides/_rels/slide49.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50.png"/><Relationship Id="rId1" Type="http://schemas.openxmlformats.org/officeDocument/2006/relationships/slideLayout" Target="../slideLayouts/slideLayout2.xml"/><Relationship Id="rId5" Type="http://schemas.openxmlformats.org/officeDocument/2006/relationships/image" Target="../media/image710.png"/><Relationship Id="rId4" Type="http://schemas.openxmlformats.org/officeDocument/2006/relationships/image" Target="../media/image610.png"/></Relationships>
</file>

<file path=ppt/slides/_rels/slide54.xml.rels><?xml version="1.0" encoding="UTF-8" standalone="yes"?>
<Relationships xmlns="http://schemas.openxmlformats.org/package/2006/relationships"><Relationship Id="rId3" Type="http://schemas.openxmlformats.org/officeDocument/2006/relationships/image" Target="../media/image114.png"/><Relationship Id="rId7" Type="http://schemas.openxmlformats.org/officeDocument/2006/relationships/image" Target="../media/image68.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50.png"/><Relationship Id="rId5" Type="http://schemas.openxmlformats.org/officeDocument/2006/relationships/image" Target="../media/image117.png"/><Relationship Id="rId4" Type="http://schemas.openxmlformats.org/officeDocument/2006/relationships/image" Target="../media/image1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B4EF1E6A-93E9-E142-9419-9B435DBC58F6}"/>
              </a:ext>
            </a:extLst>
          </p:cNvPr>
          <p:cNvSpPr txBox="1">
            <a:spLocks/>
          </p:cNvSpPr>
          <p:nvPr/>
        </p:nvSpPr>
        <p:spPr>
          <a:xfrm>
            <a:off x="353025" y="1007013"/>
            <a:ext cx="4540515" cy="220724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CN" sz="4000" dirty="0">
                <a:latin typeface="FangSong" panose="02010609060101010101" pitchFamily="49" charset="-122"/>
                <a:ea typeface="FangSong" panose="02010609060101010101" pitchFamily="49" charset="-122"/>
              </a:rPr>
              <a:t>黑体辐射</a:t>
            </a:r>
          </a:p>
          <a:p>
            <a:pPr marL="342900" indent="-342900"/>
            <a:r>
              <a:rPr lang="en-CN" sz="4000" dirty="0">
                <a:latin typeface="FangSong" panose="02010609060101010101" pitchFamily="49" charset="-122"/>
                <a:ea typeface="FangSong" panose="02010609060101010101" pitchFamily="49" charset="-122"/>
              </a:rPr>
              <a:t>Debye固体</a:t>
            </a:r>
          </a:p>
          <a:p>
            <a:pPr marL="342900" indent="-342900"/>
            <a:r>
              <a:rPr lang="en-CN" sz="4000" dirty="0">
                <a:latin typeface="FangSong" panose="02010609060101010101" pitchFamily="49" charset="-122"/>
                <a:ea typeface="FangSong" panose="02010609060101010101" pitchFamily="49" charset="-122"/>
              </a:rPr>
              <a:t>BEC</a:t>
            </a:r>
          </a:p>
        </p:txBody>
      </p:sp>
      <p:sp>
        <p:nvSpPr>
          <p:cNvPr id="8" name="Title 1">
            <a:extLst>
              <a:ext uri="{FF2B5EF4-FFF2-40B4-BE49-F238E27FC236}">
                <a16:creationId xmlns:a16="http://schemas.microsoft.com/office/drawing/2014/main" id="{6F6D7691-9579-8243-A6CF-AE72C6A9E7AF}"/>
              </a:ext>
            </a:extLst>
          </p:cNvPr>
          <p:cNvSpPr txBox="1">
            <a:spLocks/>
          </p:cNvSpPr>
          <p:nvPr/>
        </p:nvSpPr>
        <p:spPr>
          <a:xfrm>
            <a:off x="4222620" y="100400"/>
            <a:ext cx="4410741" cy="906613"/>
          </a:xfrm>
          <a:prstGeom prst="rect">
            <a:avLst/>
          </a:prstGeom>
        </p:spPr>
        <p:txBody>
          <a:bodyPr vert="horz" lIns="91440" tIns="45720" rIns="91440" bIns="45720" rtlCol="0" anchor="ct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N" dirty="0">
                <a:latin typeface="FangSong" panose="02010609060101010101" pitchFamily="49" charset="-122"/>
                <a:ea typeface="FangSong" panose="02010609060101010101" pitchFamily="49" charset="-122"/>
              </a:rPr>
              <a:t>热物</a:t>
            </a:r>
            <a:r>
              <a:rPr lang="zh-CN" altLang="en-US" dirty="0">
                <a:latin typeface="FangSong" panose="02010609060101010101" pitchFamily="49" charset="-122"/>
                <a:ea typeface="FangSong" panose="02010609060101010101" pitchFamily="49" charset="-122"/>
              </a:rPr>
              <a:t>（第十、十一周）</a:t>
            </a:r>
            <a:endParaRPr lang="en-CN" dirty="0">
              <a:latin typeface="FangSong" panose="02010609060101010101" pitchFamily="49" charset="-122"/>
              <a:ea typeface="FangSong" panose="02010609060101010101" pitchFamily="49" charset="-122"/>
            </a:endParaRPr>
          </a:p>
        </p:txBody>
      </p:sp>
    </p:spTree>
    <p:extLst>
      <p:ext uri="{BB962C8B-B14F-4D97-AF65-F5344CB8AC3E}">
        <p14:creationId xmlns:p14="http://schemas.microsoft.com/office/powerpoint/2010/main" val="4208559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B4EF1E6A-93E9-E142-9419-9B435DBC58F6}"/>
              </a:ext>
            </a:extLst>
          </p:cNvPr>
          <p:cNvSpPr txBox="1">
            <a:spLocks/>
          </p:cNvSpPr>
          <p:nvPr/>
        </p:nvSpPr>
        <p:spPr>
          <a:xfrm>
            <a:off x="353025" y="1007013"/>
            <a:ext cx="4540515" cy="220724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CN" sz="4000" dirty="0">
                <a:latin typeface="FangSong" panose="02010609060101010101" pitchFamily="49" charset="-122"/>
                <a:ea typeface="FangSong" panose="02010609060101010101" pitchFamily="49" charset="-122"/>
              </a:rPr>
              <a:t>黑体辐射</a:t>
            </a:r>
          </a:p>
          <a:p>
            <a:pPr marL="342900" indent="-342900"/>
            <a:r>
              <a:rPr lang="en-CN" sz="4000" dirty="0">
                <a:solidFill>
                  <a:schemeClr val="bg1">
                    <a:lumMod val="50000"/>
                  </a:schemeClr>
                </a:solidFill>
                <a:latin typeface="FangSong" panose="02010609060101010101" pitchFamily="49" charset="-122"/>
                <a:ea typeface="FangSong" panose="02010609060101010101" pitchFamily="49" charset="-122"/>
              </a:rPr>
              <a:t>Debye固体</a:t>
            </a:r>
          </a:p>
          <a:p>
            <a:pPr marL="342900" indent="-342900"/>
            <a:r>
              <a:rPr lang="en-CN" sz="4000" dirty="0">
                <a:solidFill>
                  <a:schemeClr val="bg1">
                    <a:lumMod val="50000"/>
                  </a:schemeClr>
                </a:solidFill>
                <a:latin typeface="FangSong" panose="02010609060101010101" pitchFamily="49" charset="-122"/>
                <a:ea typeface="FangSong" panose="02010609060101010101" pitchFamily="49" charset="-122"/>
              </a:rPr>
              <a:t>BEC</a:t>
            </a:r>
          </a:p>
        </p:txBody>
      </p:sp>
      <p:sp>
        <p:nvSpPr>
          <p:cNvPr id="8" name="Title 1">
            <a:extLst>
              <a:ext uri="{FF2B5EF4-FFF2-40B4-BE49-F238E27FC236}">
                <a16:creationId xmlns:a16="http://schemas.microsoft.com/office/drawing/2014/main" id="{6F6D7691-9579-8243-A6CF-AE72C6A9E7AF}"/>
              </a:ext>
            </a:extLst>
          </p:cNvPr>
          <p:cNvSpPr txBox="1">
            <a:spLocks/>
          </p:cNvSpPr>
          <p:nvPr/>
        </p:nvSpPr>
        <p:spPr>
          <a:xfrm>
            <a:off x="4222620" y="100400"/>
            <a:ext cx="4410741" cy="906613"/>
          </a:xfrm>
          <a:prstGeom prst="rect">
            <a:avLst/>
          </a:prstGeom>
        </p:spPr>
        <p:txBody>
          <a:bodyPr vert="horz" lIns="91440" tIns="45720" rIns="91440" bIns="45720" rtlCol="0" anchor="ct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N" dirty="0">
                <a:latin typeface="FangSong" panose="02010609060101010101" pitchFamily="49" charset="-122"/>
                <a:ea typeface="FangSong" panose="02010609060101010101" pitchFamily="49" charset="-122"/>
              </a:rPr>
              <a:t>热物</a:t>
            </a:r>
            <a:r>
              <a:rPr lang="zh-CN" altLang="en-US" dirty="0">
                <a:latin typeface="FangSong" panose="02010609060101010101" pitchFamily="49" charset="-122"/>
                <a:ea typeface="FangSong" panose="02010609060101010101" pitchFamily="49" charset="-122"/>
              </a:rPr>
              <a:t>（第十、十一周）</a:t>
            </a:r>
            <a:endParaRPr lang="en-CN" dirty="0">
              <a:latin typeface="FangSong" panose="02010609060101010101" pitchFamily="49" charset="-122"/>
              <a:ea typeface="FangSong" panose="02010609060101010101" pitchFamily="49" charset="-122"/>
            </a:endParaRPr>
          </a:p>
        </p:txBody>
      </p:sp>
    </p:spTree>
    <p:extLst>
      <p:ext uri="{BB962C8B-B14F-4D97-AF65-F5344CB8AC3E}">
        <p14:creationId xmlns:p14="http://schemas.microsoft.com/office/powerpoint/2010/main" val="394050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olor vision of a green leaf">
            <a:extLst>
              <a:ext uri="{FF2B5EF4-FFF2-40B4-BE49-F238E27FC236}">
                <a16:creationId xmlns:a16="http://schemas.microsoft.com/office/drawing/2014/main" id="{3F99847C-EF8A-454D-F9AB-79716B7F70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447" y="215491"/>
            <a:ext cx="5321417" cy="299329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olor vision of a black object">
            <a:extLst>
              <a:ext uri="{FF2B5EF4-FFF2-40B4-BE49-F238E27FC236}">
                <a16:creationId xmlns:a16="http://schemas.microsoft.com/office/drawing/2014/main" id="{02A89CF4-331A-CD00-04EB-17001F4998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320467"/>
            <a:ext cx="5707310" cy="3210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483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9D1B0B8-848D-C3D6-1430-C2B1B2749D8C}"/>
              </a:ext>
            </a:extLst>
          </p:cNvPr>
          <p:cNvPicPr>
            <a:picLocks noChangeAspect="1"/>
          </p:cNvPicPr>
          <p:nvPr/>
        </p:nvPicPr>
        <p:blipFill>
          <a:blip r:embed="rId2"/>
          <a:stretch>
            <a:fillRect/>
          </a:stretch>
        </p:blipFill>
        <p:spPr>
          <a:xfrm>
            <a:off x="0" y="261796"/>
            <a:ext cx="12192000" cy="4034551"/>
          </a:xfrm>
          <a:prstGeom prst="rect">
            <a:avLst/>
          </a:prstGeom>
        </p:spPr>
      </p:pic>
      <p:sp>
        <p:nvSpPr>
          <p:cNvPr id="12" name="TextBox 11">
            <a:extLst>
              <a:ext uri="{FF2B5EF4-FFF2-40B4-BE49-F238E27FC236}">
                <a16:creationId xmlns:a16="http://schemas.microsoft.com/office/drawing/2014/main" id="{0F40817A-73CB-4FC7-829D-C74DE764F7E3}"/>
              </a:ext>
            </a:extLst>
          </p:cNvPr>
          <p:cNvSpPr txBox="1"/>
          <p:nvPr/>
        </p:nvSpPr>
        <p:spPr>
          <a:xfrm>
            <a:off x="1366824" y="5137159"/>
            <a:ext cx="6096000" cy="923330"/>
          </a:xfrm>
          <a:prstGeom prst="rect">
            <a:avLst/>
          </a:prstGeom>
          <a:noFill/>
        </p:spPr>
        <p:txBody>
          <a:bodyPr wrap="square">
            <a:spAutoFit/>
          </a:bodyPr>
          <a:lstStyle/>
          <a:p>
            <a:r>
              <a:rPr lang="en-US" b="0" i="0" u="none" strike="noStrike" dirty="0">
                <a:solidFill>
                  <a:srgbClr val="202122"/>
                </a:solidFill>
                <a:effectLst/>
                <a:latin typeface="Arial" panose="020B0604020202020204" pitchFamily="34" charset="0"/>
              </a:rPr>
              <a:t>Black-body radiation has a characteristic, continuous </a:t>
            </a:r>
            <a:r>
              <a:rPr lang="en-US" b="0" i="0" u="none" strike="noStrike" dirty="0">
                <a:solidFill>
                  <a:srgbClr val="0B0080"/>
                </a:solidFill>
                <a:effectLst/>
                <a:latin typeface="Arial" panose="020B0604020202020204" pitchFamily="34" charset="0"/>
                <a:hlinkClick r:id="rId3" tooltip="Spectral energy distribution"/>
              </a:rPr>
              <a:t>frequency spectrum</a:t>
            </a:r>
            <a:r>
              <a:rPr lang="en-US" b="0" i="0" u="none" strike="noStrike" dirty="0">
                <a:solidFill>
                  <a:srgbClr val="202122"/>
                </a:solidFill>
                <a:effectLst/>
                <a:latin typeface="Arial" panose="020B0604020202020204" pitchFamily="34" charset="0"/>
              </a:rPr>
              <a:t> </a:t>
            </a:r>
          </a:p>
          <a:p>
            <a:r>
              <a:rPr lang="en-US" b="0" i="0" u="none" strike="noStrike" dirty="0">
                <a:solidFill>
                  <a:srgbClr val="202122"/>
                </a:solidFill>
                <a:effectLst/>
                <a:latin typeface="Arial" panose="020B0604020202020204" pitchFamily="34" charset="0"/>
              </a:rPr>
              <a:t>that depends only on the body's temperature</a:t>
            </a:r>
            <a:endParaRPr lang="en-CN" dirty="0"/>
          </a:p>
        </p:txBody>
      </p:sp>
      <p:pic>
        <p:nvPicPr>
          <p:cNvPr id="2050" name="Picture 2" descr="Black-body radiation spectrum. The radiation power φ as a function of... |  Download Scientific Diagram">
            <a:extLst>
              <a:ext uri="{FF2B5EF4-FFF2-40B4-BE49-F238E27FC236}">
                <a16:creationId xmlns:a16="http://schemas.microsoft.com/office/drawing/2014/main" id="{EC24AC4C-9AA5-8926-AE29-1F4A203A35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4925" y="1946245"/>
            <a:ext cx="4604974" cy="4766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2584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3C3FE1-129C-4D55-3A23-D5384969E717}"/>
              </a:ext>
            </a:extLst>
          </p:cNvPr>
          <p:cNvSpPr txBox="1"/>
          <p:nvPr/>
        </p:nvSpPr>
        <p:spPr>
          <a:xfrm>
            <a:off x="665018" y="429491"/>
            <a:ext cx="5832764"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约束在方盒子中的电磁场</a:t>
            </a:r>
            <a:r>
              <a:rPr lang="zh-CN" altLang="en-US" dirty="0">
                <a:latin typeface="FangSong" panose="02010609060101010101" pitchFamily="49" charset="-122"/>
                <a:ea typeface="FangSong" panose="02010609060101010101" pitchFamily="49" charset="-122"/>
              </a:rPr>
              <a:t>（经典）</a:t>
            </a:r>
            <a:endParaRPr lang="en-CN" dirty="0">
              <a:latin typeface="FangSong" panose="02010609060101010101" pitchFamily="49" charset="-122"/>
              <a:ea typeface="FangSong" panose="02010609060101010101" pitchFamily="49" charset="-122"/>
            </a:endParaRPr>
          </a:p>
        </p:txBody>
      </p:sp>
      <p:sp>
        <p:nvSpPr>
          <p:cNvPr id="3" name="Cube 2">
            <a:extLst>
              <a:ext uri="{FF2B5EF4-FFF2-40B4-BE49-F238E27FC236}">
                <a16:creationId xmlns:a16="http://schemas.microsoft.com/office/drawing/2014/main" id="{0FDBE4EE-1A62-E7E4-F429-5C0A5A17F0F3}"/>
              </a:ext>
            </a:extLst>
          </p:cNvPr>
          <p:cNvSpPr/>
          <p:nvPr/>
        </p:nvSpPr>
        <p:spPr>
          <a:xfrm>
            <a:off x="1814945" y="1385455"/>
            <a:ext cx="3532909" cy="2964873"/>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5" name="Straight Connector 4">
            <a:extLst>
              <a:ext uri="{FF2B5EF4-FFF2-40B4-BE49-F238E27FC236}">
                <a16:creationId xmlns:a16="http://schemas.microsoft.com/office/drawing/2014/main" id="{261FCB19-987F-8797-8B25-082A1393F570}"/>
              </a:ext>
            </a:extLst>
          </p:cNvPr>
          <p:cNvCxnSpPr/>
          <p:nvPr/>
        </p:nvCxnSpPr>
        <p:spPr>
          <a:xfrm>
            <a:off x="304800" y="4350328"/>
            <a:ext cx="6317673"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D507737-5A7F-C605-0825-918577DFACC5}"/>
                  </a:ext>
                </a:extLst>
              </p:cNvPr>
              <p:cNvSpPr txBox="1"/>
              <p:nvPr/>
            </p:nvSpPr>
            <p:spPr>
              <a:xfrm>
                <a:off x="304800" y="4516582"/>
                <a:ext cx="95596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oMath>
                  </m:oMathPara>
                </a14:m>
                <a:endParaRPr lang="en-CN" dirty="0"/>
              </a:p>
            </p:txBody>
          </p:sp>
        </mc:Choice>
        <mc:Fallback xmlns="">
          <p:sp>
            <p:nvSpPr>
              <p:cNvPr id="6" name="TextBox 5">
                <a:extLst>
                  <a:ext uri="{FF2B5EF4-FFF2-40B4-BE49-F238E27FC236}">
                    <a16:creationId xmlns:a16="http://schemas.microsoft.com/office/drawing/2014/main" id="{ED507737-5A7F-C605-0825-918577DFACC5}"/>
                  </a:ext>
                </a:extLst>
              </p:cNvPr>
              <p:cNvSpPr txBox="1">
                <a:spLocks noRot="1" noChangeAspect="1" noMove="1" noResize="1" noEditPoints="1" noAdjustHandles="1" noChangeArrowheads="1" noChangeShapeType="1" noTextEdit="1"/>
              </p:cNvSpPr>
              <p:nvPr/>
            </p:nvSpPr>
            <p:spPr>
              <a:xfrm>
                <a:off x="304800" y="4516582"/>
                <a:ext cx="955964" cy="369332"/>
              </a:xfrm>
              <a:prstGeom prst="rect">
                <a:avLst/>
              </a:prstGeom>
              <a:blipFill>
                <a:blip r:embed="rId2"/>
                <a:stretch>
                  <a:fillRect/>
                </a:stretch>
              </a:blipFill>
            </p:spPr>
            <p:txBody>
              <a:bodyPr/>
              <a:lstStyle/>
              <a:p>
                <a:r>
                  <a:rPr lang="en-CN">
                    <a:noFill/>
                  </a:rPr>
                  <a:t> </a:t>
                </a:r>
              </a:p>
            </p:txBody>
          </p:sp>
        </mc:Fallback>
      </mc:AlternateContent>
      <p:sp>
        <p:nvSpPr>
          <p:cNvPr id="7" name="TextBox 6">
            <a:extLst>
              <a:ext uri="{FF2B5EF4-FFF2-40B4-BE49-F238E27FC236}">
                <a16:creationId xmlns:a16="http://schemas.microsoft.com/office/drawing/2014/main" id="{94C01941-B036-FE3D-02BB-77745179B083}"/>
              </a:ext>
            </a:extLst>
          </p:cNvPr>
          <p:cNvSpPr txBox="1"/>
          <p:nvPr/>
        </p:nvSpPr>
        <p:spPr>
          <a:xfrm>
            <a:off x="6523759" y="863863"/>
            <a:ext cx="5126182" cy="1938992"/>
          </a:xfrm>
          <a:prstGeom prst="rect">
            <a:avLst/>
          </a:prstGeom>
          <a:noFill/>
        </p:spPr>
        <p:txBody>
          <a:bodyPr wrap="square" rtlCol="0">
            <a:spAutoFit/>
          </a:bodyPr>
          <a:lstStyle/>
          <a:p>
            <a:r>
              <a:rPr lang="en-CN" sz="4000" b="1" dirty="0">
                <a:solidFill>
                  <a:srgbClr val="FF0000"/>
                </a:solidFill>
                <a:latin typeface="FangSong" panose="02010609060101010101" pitchFamily="49" charset="-122"/>
                <a:ea typeface="FangSong" panose="02010609060101010101" pitchFamily="49" charset="-122"/>
              </a:rPr>
              <a:t>约束在腔中的辐射场相当于一大群简偕振子组成的力学体系</a:t>
            </a:r>
          </a:p>
        </p:txBody>
      </p:sp>
      <p:sp>
        <p:nvSpPr>
          <p:cNvPr id="4" name="Up Arrow 3">
            <a:extLst>
              <a:ext uri="{FF2B5EF4-FFF2-40B4-BE49-F238E27FC236}">
                <a16:creationId xmlns:a16="http://schemas.microsoft.com/office/drawing/2014/main" id="{16A515A9-22E9-132E-CF01-912C65AADAC4}"/>
              </a:ext>
            </a:extLst>
          </p:cNvPr>
          <p:cNvSpPr/>
          <p:nvPr/>
        </p:nvSpPr>
        <p:spPr>
          <a:xfrm>
            <a:off x="3616036" y="798823"/>
            <a:ext cx="96982" cy="822159"/>
          </a:xfrm>
          <a:prstGeom prst="up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8" name="Right Arrow 7">
            <a:extLst>
              <a:ext uri="{FF2B5EF4-FFF2-40B4-BE49-F238E27FC236}">
                <a16:creationId xmlns:a16="http://schemas.microsoft.com/office/drawing/2014/main" id="{90A3A829-31CB-1A24-6659-51A743B1802D}"/>
              </a:ext>
            </a:extLst>
          </p:cNvPr>
          <p:cNvSpPr/>
          <p:nvPr/>
        </p:nvSpPr>
        <p:spPr>
          <a:xfrm>
            <a:off x="5001491" y="2895600"/>
            <a:ext cx="1094509" cy="152400"/>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solidFill>
                <a:sysClr val="windowText" lastClr="000000"/>
              </a:solidFill>
            </a:endParaRPr>
          </a:p>
        </p:txBody>
      </p:sp>
      <p:pic>
        <p:nvPicPr>
          <p:cNvPr id="1026" name="Picture 2" descr="Image">
            <a:extLst>
              <a:ext uri="{FF2B5EF4-FFF2-40B4-BE49-F238E27FC236}">
                <a16:creationId xmlns:a16="http://schemas.microsoft.com/office/drawing/2014/main" id="{78D2EFE5-C595-7C26-9909-B525633AA2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6221" y="3676072"/>
            <a:ext cx="5600700" cy="264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1270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3C3FE1-129C-4D55-3A23-D5384969E717}"/>
              </a:ext>
            </a:extLst>
          </p:cNvPr>
          <p:cNvSpPr txBox="1"/>
          <p:nvPr/>
        </p:nvSpPr>
        <p:spPr>
          <a:xfrm>
            <a:off x="665018" y="429491"/>
            <a:ext cx="5832764"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约束在方盒子中的电磁场</a:t>
            </a:r>
            <a:r>
              <a:rPr lang="zh-CN" altLang="en-US" dirty="0">
                <a:latin typeface="FangSong" panose="02010609060101010101" pitchFamily="49" charset="-122"/>
                <a:ea typeface="FangSong" panose="02010609060101010101" pitchFamily="49" charset="-122"/>
              </a:rPr>
              <a:t>（经典）</a:t>
            </a:r>
            <a:endParaRPr lang="en-CN" dirty="0">
              <a:latin typeface="FangSong" panose="02010609060101010101" pitchFamily="49" charset="-122"/>
              <a:ea typeface="FangSong" panose="02010609060101010101" pitchFamily="49" charset="-122"/>
            </a:endParaRPr>
          </a:p>
        </p:txBody>
      </p:sp>
      <p:sp>
        <p:nvSpPr>
          <p:cNvPr id="3" name="Cube 2">
            <a:extLst>
              <a:ext uri="{FF2B5EF4-FFF2-40B4-BE49-F238E27FC236}">
                <a16:creationId xmlns:a16="http://schemas.microsoft.com/office/drawing/2014/main" id="{0FDBE4EE-1A62-E7E4-F429-5C0A5A17F0F3}"/>
              </a:ext>
            </a:extLst>
          </p:cNvPr>
          <p:cNvSpPr/>
          <p:nvPr/>
        </p:nvSpPr>
        <p:spPr>
          <a:xfrm>
            <a:off x="1814945" y="1385455"/>
            <a:ext cx="3532909" cy="2964873"/>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5" name="Straight Connector 4">
            <a:extLst>
              <a:ext uri="{FF2B5EF4-FFF2-40B4-BE49-F238E27FC236}">
                <a16:creationId xmlns:a16="http://schemas.microsoft.com/office/drawing/2014/main" id="{261FCB19-987F-8797-8B25-082A1393F570}"/>
              </a:ext>
            </a:extLst>
          </p:cNvPr>
          <p:cNvCxnSpPr/>
          <p:nvPr/>
        </p:nvCxnSpPr>
        <p:spPr>
          <a:xfrm>
            <a:off x="304800" y="4350328"/>
            <a:ext cx="6317673"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D507737-5A7F-C605-0825-918577DFACC5}"/>
                  </a:ext>
                </a:extLst>
              </p:cNvPr>
              <p:cNvSpPr txBox="1"/>
              <p:nvPr/>
            </p:nvSpPr>
            <p:spPr>
              <a:xfrm>
                <a:off x="304800" y="4516582"/>
                <a:ext cx="95596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oMath>
                  </m:oMathPara>
                </a14:m>
                <a:endParaRPr lang="en-CN" dirty="0"/>
              </a:p>
            </p:txBody>
          </p:sp>
        </mc:Choice>
        <mc:Fallback xmlns="">
          <p:sp>
            <p:nvSpPr>
              <p:cNvPr id="6" name="TextBox 5">
                <a:extLst>
                  <a:ext uri="{FF2B5EF4-FFF2-40B4-BE49-F238E27FC236}">
                    <a16:creationId xmlns:a16="http://schemas.microsoft.com/office/drawing/2014/main" id="{ED507737-5A7F-C605-0825-918577DFACC5}"/>
                  </a:ext>
                </a:extLst>
              </p:cNvPr>
              <p:cNvSpPr txBox="1">
                <a:spLocks noRot="1" noChangeAspect="1" noMove="1" noResize="1" noEditPoints="1" noAdjustHandles="1" noChangeArrowheads="1" noChangeShapeType="1" noTextEdit="1"/>
              </p:cNvSpPr>
              <p:nvPr/>
            </p:nvSpPr>
            <p:spPr>
              <a:xfrm>
                <a:off x="304800" y="4516582"/>
                <a:ext cx="955964" cy="369332"/>
              </a:xfrm>
              <a:prstGeom prst="rect">
                <a:avLst/>
              </a:prstGeom>
              <a:blipFill>
                <a:blip r:embed="rId2"/>
                <a:stretch>
                  <a:fillRect/>
                </a:stretch>
              </a:blipFill>
            </p:spPr>
            <p:txBody>
              <a:bodyPr/>
              <a:lstStyle/>
              <a:p>
                <a:r>
                  <a:rPr lang="en-CN">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94C01941-B036-FE3D-02BB-77745179B083}"/>
                  </a:ext>
                </a:extLst>
              </p:cNvPr>
              <p:cNvSpPr txBox="1"/>
              <p:nvPr/>
            </p:nvSpPr>
            <p:spPr>
              <a:xfrm>
                <a:off x="6234546" y="295502"/>
                <a:ext cx="5126182" cy="6368090"/>
              </a:xfrm>
              <a:prstGeom prst="rect">
                <a:avLst/>
              </a:prstGeom>
              <a:noFill/>
            </p:spPr>
            <p:txBody>
              <a:bodyPr wrap="square" rtlCol="0">
                <a:spAutoFit/>
              </a:bodyPr>
              <a:lstStyle/>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电场强度和磁场强度可由矢势</a:t>
                </a:r>
                <a:r>
                  <a:rPr lang="en-CN" b="1" dirty="0">
                    <a:latin typeface="FangSong" panose="02010609060101010101" pitchFamily="49" charset="-122"/>
                    <a:ea typeface="FangSong" panose="02010609060101010101" pitchFamily="49" charset="-122"/>
                  </a:rPr>
                  <a:t>A</a:t>
                </a:r>
                <a:r>
                  <a:rPr lang="en-CN" dirty="0">
                    <a:latin typeface="FangSong" panose="02010609060101010101" pitchFamily="49" charset="-122"/>
                    <a:ea typeface="FangSong" panose="02010609060101010101" pitchFamily="49" charset="-122"/>
                  </a:rPr>
                  <a:t>表示</a:t>
                </a:r>
              </a:p>
              <a:p>
                <a:pPr algn="ctr"/>
                <a14:m>
                  <m:oMathPara xmlns:m="http://schemas.openxmlformats.org/officeDocument/2006/math">
                    <m:oMathParaPr>
                      <m:jc m:val="centerGroup"/>
                    </m:oMathParaPr>
                    <m:oMath xmlns:m="http://schemas.openxmlformats.org/officeDocument/2006/math">
                      <m:acc>
                        <m:accPr>
                          <m:chr m:val="⃗"/>
                          <m:ctrlPr>
                            <a:rPr lang="en-CN" i="1" smtClean="0">
                              <a:latin typeface="Cambria Math" panose="02040503050406030204" pitchFamily="18" charset="0"/>
                            </a:rPr>
                          </m:ctrlPr>
                        </m:accPr>
                        <m:e>
                          <m:r>
                            <a:rPr lang="en-US" b="0" i="1" smtClean="0">
                              <a:latin typeface="Cambria Math" panose="02040503050406030204" pitchFamily="18" charset="0"/>
                            </a:rPr>
                            <m:t>𝐸</m:t>
                          </m:r>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𝑐</m:t>
                          </m:r>
                        </m:den>
                      </m:f>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 </m:t>
                          </m:r>
                          <m:r>
                            <a:rPr lang="en-US" b="1" i="1" smtClean="0">
                              <a:latin typeface="Cambria Math" panose="02040503050406030204" pitchFamily="18" charset="0"/>
                            </a:rPr>
                            <m:t>𝑨</m:t>
                          </m:r>
                        </m:num>
                        <m:den>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𝑡</m:t>
                          </m:r>
                        </m:den>
                      </m:f>
                    </m:oMath>
                  </m:oMathPara>
                </a14:m>
                <a:endParaRPr lang="en-CN" dirty="0"/>
              </a:p>
              <a:p>
                <a:pPr algn="ctr"/>
                <a14:m>
                  <m:oMathPara xmlns:m="http://schemas.openxmlformats.org/officeDocument/2006/math">
                    <m:oMathParaPr>
                      <m:jc m:val="centerGroup"/>
                    </m:oMathParaPr>
                    <m:oMath xmlns:m="http://schemas.openxmlformats.org/officeDocument/2006/math">
                      <m:acc>
                        <m:accPr>
                          <m:chr m:val="⃗"/>
                          <m:ctrlPr>
                            <a:rPr lang="en-CN" i="1" smtClean="0">
                              <a:latin typeface="Cambria Math" panose="02040503050406030204" pitchFamily="18" charset="0"/>
                            </a:rPr>
                          </m:ctrlPr>
                        </m:accPr>
                        <m:e>
                          <m:r>
                            <a:rPr lang="en-US" b="0" i="1" smtClean="0">
                              <a:latin typeface="Cambria Math" panose="02040503050406030204" pitchFamily="18" charset="0"/>
                            </a:rPr>
                            <m:t>𝐻</m:t>
                          </m:r>
                        </m:e>
                      </m:acc>
                      <m:r>
                        <a:rPr lang="en-US" b="0" i="1" smtClean="0">
                          <a:latin typeface="Cambria Math" panose="02040503050406030204" pitchFamily="18" charset="0"/>
                        </a:rPr>
                        <m:t>=</m:t>
                      </m:r>
                      <m:r>
                        <m:rPr>
                          <m:sty m:val="p"/>
                        </m:rP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𝑨</m:t>
                      </m:r>
                    </m:oMath>
                  </m:oMathPara>
                </a14:m>
                <a:endParaRPr lang="en-CN" b="1" dirty="0"/>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波动方程</a:t>
                </a:r>
              </a:p>
              <a:p>
                <a:pPr algn="ctr"/>
                <a14:m>
                  <m:oMathPara xmlns:m="http://schemas.openxmlformats.org/officeDocument/2006/math">
                    <m:oMathParaPr>
                      <m:jc m:val="centerGroup"/>
                    </m:oMathParaPr>
                    <m:oMath xmlns:m="http://schemas.openxmlformats.org/officeDocument/2006/math">
                      <m:sSup>
                        <m:sSupPr>
                          <m:ctrlPr>
                            <a:rPr lang="en-CN" i="1" smtClean="0">
                              <a:latin typeface="Cambria Math" panose="02040503050406030204" pitchFamily="18" charset="0"/>
                            </a:rPr>
                          </m:ctrlPr>
                        </m:sSupPr>
                        <m:e>
                          <m:r>
                            <m:rPr>
                              <m:sty m:val="p"/>
                            </m:rPr>
                            <a:rPr lang="en-CN"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rPr>
                            <m:t>2</m:t>
                          </m:r>
                        </m:sup>
                      </m:sSup>
                      <m:r>
                        <a:rPr lang="en-US" b="1" i="1" smtClean="0">
                          <a:latin typeface="Cambria Math" panose="02040503050406030204" pitchFamily="18" charset="0"/>
                        </a:rPr>
                        <m:t>𝑨</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rPr>
                                <m:t>2</m:t>
                              </m:r>
                            </m:sup>
                          </m:sSup>
                          <m:r>
                            <a:rPr lang="en-US" b="1" i="1" smtClean="0">
                              <a:latin typeface="Cambria Math" panose="02040503050406030204" pitchFamily="18" charset="0"/>
                            </a:rPr>
                            <m:t>𝑨</m:t>
                          </m:r>
                        </m:num>
                        <m:den>
                          <m:r>
                            <a:rPr lang="en-US" b="0" i="1" smtClean="0">
                              <a:latin typeface="Cambria Math" panose="02040503050406030204" pitchFamily="18" charset="0"/>
                            </a:rPr>
                            <m:t>𝜕</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2</m:t>
                              </m:r>
                            </m:sup>
                          </m:sSup>
                        </m:den>
                      </m:f>
                      <m:r>
                        <a:rPr lang="en-US" b="0" i="1" smtClean="0">
                          <a:latin typeface="Cambria Math" panose="02040503050406030204" pitchFamily="18" charset="0"/>
                        </a:rPr>
                        <m:t>=0</m:t>
                      </m:r>
                    </m:oMath>
                  </m:oMathPara>
                </a14:m>
                <a:endParaRPr lang="en-CN" dirty="0"/>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边界条件</a:t>
                </a:r>
                <a:r>
                  <a:rPr lang="zh-CN" altLang="en-US" dirty="0">
                    <a:latin typeface="FangSong" panose="02010609060101010101" pitchFamily="49" charset="-122"/>
                    <a:ea typeface="FangSong" panose="02010609060101010101" pitchFamily="49" charset="-122"/>
                  </a:rPr>
                  <a:t>、规范</a:t>
                </a:r>
                <a:endParaRPr lang="en-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14:m>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𝑥</m:t>
                        </m:r>
                      </m:sub>
                    </m:sSub>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𝑙</m:t>
                        </m:r>
                        <m:r>
                          <a:rPr lang="en-US" b="0" i="1" smtClean="0">
                            <a:latin typeface="Cambria Math" panose="02040503050406030204" pitchFamily="18" charset="0"/>
                          </a:rPr>
                          <m:t>𝑚𝑛</m:t>
                        </m:r>
                      </m:sub>
                      <m:sup/>
                      <m:e>
                        <m:r>
                          <a:rPr lang="en-US" b="0" i="1" smtClean="0">
                            <a:latin typeface="Cambria Math" panose="02040503050406030204" pitchFamily="18" charset="0"/>
                          </a:rPr>
                          <m:t>𝐴𝑓</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solidFill>
                              <a:srgbClr val="FF0000"/>
                            </a:solidFill>
                            <a:latin typeface="Cambria Math" panose="02040503050406030204" pitchFamily="18" charset="0"/>
                          </a:rPr>
                          <m:t>𝑐𝑜𝑠</m:t>
                        </m:r>
                        <m:f>
                          <m:fPr>
                            <m:ctrlPr>
                              <a:rPr lang="en-US" b="0" i="1" smtClean="0">
                                <a:latin typeface="Cambria Math" panose="02040503050406030204" pitchFamily="18" charset="0"/>
                              </a:rPr>
                            </m:ctrlPr>
                          </m:fPr>
                          <m:num>
                            <m:r>
                              <a:rPr lang="en-US" b="0" i="1" smtClean="0">
                                <a:latin typeface="Cambria Math" panose="02040503050406030204" pitchFamily="18" charset="0"/>
                              </a:rPr>
                              <m:t>𝑙</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𝑥</m:t>
                            </m:r>
                          </m:num>
                          <m:den>
                            <m:r>
                              <a:rPr lang="en-US" b="0" i="1" smtClean="0">
                                <a:latin typeface="Cambria Math" panose="02040503050406030204" pitchFamily="18" charset="0"/>
                              </a:rPr>
                              <m:t>𝐿</m:t>
                            </m:r>
                          </m:den>
                        </m:f>
                        <m:r>
                          <a:rPr lang="en-US" b="0" i="1" smtClean="0">
                            <a:latin typeface="Cambria Math" panose="02040503050406030204" pitchFamily="18" charset="0"/>
                          </a:rPr>
                          <m:t>𝑠𝑖𝑛</m:t>
                        </m:r>
                        <m:f>
                          <m:fPr>
                            <m:ctrlPr>
                              <a:rPr lang="en-US" b="0" i="1" smtClean="0">
                                <a:latin typeface="Cambria Math" panose="02040503050406030204" pitchFamily="18" charset="0"/>
                              </a:rPr>
                            </m:ctrlPr>
                          </m:fPr>
                          <m:num>
                            <m:r>
                              <a:rPr lang="en-US" b="0" i="1" smtClean="0">
                                <a:latin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𝑦</m:t>
                            </m:r>
                          </m:num>
                          <m:den>
                            <m:r>
                              <a:rPr lang="en-US" b="0" i="1" smtClean="0">
                                <a:latin typeface="Cambria Math" panose="02040503050406030204" pitchFamily="18" charset="0"/>
                              </a:rPr>
                              <m:t>𝐿</m:t>
                            </m:r>
                          </m:den>
                        </m:f>
                        <m:r>
                          <a:rPr lang="en-US" b="0" i="1" smtClean="0">
                            <a:latin typeface="Cambria Math" panose="02040503050406030204" pitchFamily="18" charset="0"/>
                          </a:rPr>
                          <m:t>𝑠𝑖𝑛</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𝑧</m:t>
                            </m:r>
                          </m:num>
                          <m:den>
                            <m:r>
                              <a:rPr lang="en-US" b="0" i="1" smtClean="0">
                                <a:latin typeface="Cambria Math" panose="02040503050406030204" pitchFamily="18" charset="0"/>
                              </a:rPr>
                              <m:t>𝐿</m:t>
                            </m:r>
                          </m:den>
                        </m:f>
                      </m:e>
                    </m:nary>
                  </m:oMath>
                </a14:m>
                <a:endParaRPr lang="en-CN" dirty="0"/>
              </a:p>
              <a:p>
                <a:pPr marL="285750" indent="-285750">
                  <a:buFont typeface="Arial" panose="020B0604020202020204" pitchFamily="34" charset="0"/>
                  <a:buChar char="•"/>
                </a:pPr>
                <a14:m>
                  <m:oMath xmlns:m="http://schemas.openxmlformats.org/officeDocument/2006/math">
                    <m:sSub>
                      <m:sSubPr>
                        <m:ctrlPr>
                          <a:rPr lang="en-CN" i="1">
                            <a:latin typeface="Cambria Math" panose="02040503050406030204" pitchFamily="18" charset="0"/>
                          </a:rPr>
                        </m:ctrlPr>
                      </m:sSubPr>
                      <m:e>
                        <m:r>
                          <a:rPr lang="en-US" i="1">
                            <a:latin typeface="Cambria Math" panose="02040503050406030204" pitchFamily="18" charset="0"/>
                          </a:rPr>
                          <m:t>𝐴</m:t>
                        </m:r>
                      </m:e>
                      <m:sub>
                        <m:r>
                          <a:rPr lang="en-US" b="0" i="1" smtClean="0">
                            <a:latin typeface="Cambria Math" panose="02040503050406030204" pitchFamily="18" charset="0"/>
                          </a:rPr>
                          <m:t>𝑦</m:t>
                        </m:r>
                      </m:sub>
                    </m:sSub>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𝑙</m:t>
                        </m:r>
                        <m:r>
                          <a:rPr lang="en-US" i="1">
                            <a:latin typeface="Cambria Math" panose="02040503050406030204" pitchFamily="18" charset="0"/>
                          </a:rPr>
                          <m:t>𝑚𝑛</m:t>
                        </m:r>
                      </m:sub>
                      <m:sup/>
                      <m:e>
                        <m:r>
                          <a:rPr lang="en-US" b="0" i="1" smtClean="0">
                            <a:latin typeface="Cambria Math" panose="02040503050406030204" pitchFamily="18" charset="0"/>
                          </a:rPr>
                          <m:t>𝐵</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𝑡</m:t>
                            </m:r>
                          </m:e>
                        </m:d>
                        <m:r>
                          <a:rPr lang="en-US" b="0" i="1" smtClean="0">
                            <a:latin typeface="Cambria Math" panose="02040503050406030204" pitchFamily="18" charset="0"/>
                          </a:rPr>
                          <m:t>𝑠𝑖𝑛</m:t>
                        </m:r>
                        <m:f>
                          <m:fPr>
                            <m:ctrlPr>
                              <a:rPr lang="en-US" i="1">
                                <a:latin typeface="Cambria Math" panose="02040503050406030204" pitchFamily="18" charset="0"/>
                              </a:rPr>
                            </m:ctrlPr>
                          </m:fPr>
                          <m:num>
                            <m:r>
                              <a:rPr lang="en-US" i="1">
                                <a:latin typeface="Cambria Math" panose="02040503050406030204" pitchFamily="18" charset="0"/>
                              </a:rPr>
                              <m:t>𝑙</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𝑥</m:t>
                            </m:r>
                          </m:num>
                          <m:den>
                            <m:r>
                              <a:rPr lang="en-US" i="1">
                                <a:latin typeface="Cambria Math" panose="02040503050406030204" pitchFamily="18" charset="0"/>
                              </a:rPr>
                              <m:t>𝐿</m:t>
                            </m:r>
                          </m:den>
                        </m:f>
                        <m:r>
                          <a:rPr lang="en-US" b="0" i="1" smtClean="0">
                            <a:solidFill>
                              <a:srgbClr val="FF0000"/>
                            </a:solidFill>
                            <a:latin typeface="Cambria Math" panose="02040503050406030204" pitchFamily="18" charset="0"/>
                          </a:rPr>
                          <m:t>𝑐𝑜𝑠</m:t>
                        </m:r>
                        <m:f>
                          <m:fPr>
                            <m:ctrlPr>
                              <a:rPr lang="en-US" i="1">
                                <a:latin typeface="Cambria Math" panose="02040503050406030204" pitchFamily="18" charset="0"/>
                              </a:rPr>
                            </m:ctrlPr>
                          </m:fPr>
                          <m:num>
                            <m:r>
                              <a:rPr lang="en-US" i="1">
                                <a:latin typeface="Cambria Math" panose="02040503050406030204" pitchFamily="18" charset="0"/>
                              </a:rPr>
                              <m:t>𝑚</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𝑦</m:t>
                            </m:r>
                          </m:num>
                          <m:den>
                            <m:r>
                              <a:rPr lang="en-US" i="1">
                                <a:latin typeface="Cambria Math" panose="02040503050406030204" pitchFamily="18" charset="0"/>
                              </a:rPr>
                              <m:t>𝐿</m:t>
                            </m:r>
                          </m:den>
                        </m:f>
                        <m:r>
                          <a:rPr lang="en-US" b="0" i="1" smtClean="0">
                            <a:latin typeface="Cambria Math" panose="02040503050406030204" pitchFamily="18" charset="0"/>
                          </a:rPr>
                          <m:t>𝑠𝑖𝑛</m:t>
                        </m:r>
                        <m:f>
                          <m:fPr>
                            <m:ctrlPr>
                              <a:rPr lang="en-US" i="1">
                                <a:latin typeface="Cambria Math" panose="02040503050406030204" pitchFamily="18" charset="0"/>
                              </a:rPr>
                            </m:ctrlPr>
                          </m:fPr>
                          <m:num>
                            <m:r>
                              <a:rPr lang="en-US" i="1">
                                <a:latin typeface="Cambria Math" panose="02040503050406030204" pitchFamily="18" charset="0"/>
                              </a:rPr>
                              <m:t>𝑛</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𝑧</m:t>
                            </m:r>
                          </m:num>
                          <m:den>
                            <m:r>
                              <a:rPr lang="en-US" i="1">
                                <a:latin typeface="Cambria Math" panose="02040503050406030204" pitchFamily="18" charset="0"/>
                              </a:rPr>
                              <m:t>𝐿</m:t>
                            </m:r>
                          </m:den>
                        </m:f>
                      </m:e>
                    </m:nary>
                  </m:oMath>
                </a14:m>
                <a:endParaRPr lang="en-CN" dirty="0"/>
              </a:p>
              <a:p>
                <a:pPr marL="285750" indent="-285750">
                  <a:buFont typeface="Arial" panose="020B0604020202020204" pitchFamily="34" charset="0"/>
                  <a:buChar char="•"/>
                </a:pPr>
                <a14:m>
                  <m:oMath xmlns:m="http://schemas.openxmlformats.org/officeDocument/2006/math">
                    <m:sSub>
                      <m:sSubPr>
                        <m:ctrlPr>
                          <a:rPr lang="en-CN" i="1">
                            <a:latin typeface="Cambria Math" panose="02040503050406030204" pitchFamily="18" charset="0"/>
                          </a:rPr>
                        </m:ctrlPr>
                      </m:sSubPr>
                      <m:e>
                        <m:r>
                          <a:rPr lang="en-US" i="1">
                            <a:latin typeface="Cambria Math" panose="02040503050406030204" pitchFamily="18" charset="0"/>
                          </a:rPr>
                          <m:t>𝐴</m:t>
                        </m:r>
                      </m:e>
                      <m:sub>
                        <m:r>
                          <a:rPr lang="en-US" b="0" i="1" smtClean="0">
                            <a:latin typeface="Cambria Math" panose="02040503050406030204" pitchFamily="18" charset="0"/>
                          </a:rPr>
                          <m:t>𝑧</m:t>
                        </m:r>
                      </m:sub>
                    </m:sSub>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𝑙</m:t>
                        </m:r>
                        <m:r>
                          <a:rPr lang="en-US" i="1">
                            <a:latin typeface="Cambria Math" panose="02040503050406030204" pitchFamily="18" charset="0"/>
                          </a:rPr>
                          <m:t>𝑚𝑛</m:t>
                        </m:r>
                      </m:sub>
                      <m:sup/>
                      <m:e>
                        <m:r>
                          <a:rPr lang="en-US" b="0" i="1" smtClean="0">
                            <a:latin typeface="Cambria Math" panose="02040503050406030204" pitchFamily="18" charset="0"/>
                          </a:rPr>
                          <m:t>𝐶</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𝑡</m:t>
                            </m:r>
                          </m:e>
                        </m:d>
                        <m:r>
                          <a:rPr lang="en-US" b="0" i="1" smtClean="0">
                            <a:latin typeface="Cambria Math" panose="02040503050406030204" pitchFamily="18" charset="0"/>
                          </a:rPr>
                          <m:t>𝑠𝑖𝑛</m:t>
                        </m:r>
                        <m:f>
                          <m:fPr>
                            <m:ctrlPr>
                              <a:rPr lang="en-US" i="1">
                                <a:latin typeface="Cambria Math" panose="02040503050406030204" pitchFamily="18" charset="0"/>
                              </a:rPr>
                            </m:ctrlPr>
                          </m:fPr>
                          <m:num>
                            <m:r>
                              <a:rPr lang="en-US" i="1">
                                <a:latin typeface="Cambria Math" panose="02040503050406030204" pitchFamily="18" charset="0"/>
                              </a:rPr>
                              <m:t>𝑙</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𝑥</m:t>
                            </m:r>
                          </m:num>
                          <m:den>
                            <m:r>
                              <a:rPr lang="en-US" i="1">
                                <a:latin typeface="Cambria Math" panose="02040503050406030204" pitchFamily="18" charset="0"/>
                              </a:rPr>
                              <m:t>𝐿</m:t>
                            </m:r>
                          </m:den>
                        </m:f>
                        <m:r>
                          <a:rPr lang="en-US" b="0" i="1" smtClean="0">
                            <a:latin typeface="Cambria Math" panose="02040503050406030204" pitchFamily="18" charset="0"/>
                          </a:rPr>
                          <m:t>𝑐𝑜𝑠</m:t>
                        </m:r>
                        <m:f>
                          <m:fPr>
                            <m:ctrlPr>
                              <a:rPr lang="en-US" i="1">
                                <a:latin typeface="Cambria Math" panose="02040503050406030204" pitchFamily="18" charset="0"/>
                              </a:rPr>
                            </m:ctrlPr>
                          </m:fPr>
                          <m:num>
                            <m:r>
                              <a:rPr lang="en-US" i="1">
                                <a:latin typeface="Cambria Math" panose="02040503050406030204" pitchFamily="18" charset="0"/>
                              </a:rPr>
                              <m:t>𝑚</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𝑦</m:t>
                            </m:r>
                          </m:num>
                          <m:den>
                            <m:r>
                              <a:rPr lang="en-US" i="1">
                                <a:latin typeface="Cambria Math" panose="02040503050406030204" pitchFamily="18" charset="0"/>
                              </a:rPr>
                              <m:t>𝐿</m:t>
                            </m:r>
                          </m:den>
                        </m:f>
                        <m:r>
                          <a:rPr lang="en-US" b="0" i="1" smtClean="0">
                            <a:solidFill>
                              <a:srgbClr val="FF0000"/>
                            </a:solidFill>
                            <a:latin typeface="Cambria Math" panose="02040503050406030204" pitchFamily="18" charset="0"/>
                          </a:rPr>
                          <m:t>𝑐𝑜𝑠</m:t>
                        </m:r>
                        <m:f>
                          <m:fPr>
                            <m:ctrlPr>
                              <a:rPr lang="en-US" i="1">
                                <a:latin typeface="Cambria Math" panose="02040503050406030204" pitchFamily="18" charset="0"/>
                              </a:rPr>
                            </m:ctrlPr>
                          </m:fPr>
                          <m:num>
                            <m:r>
                              <a:rPr lang="en-US" i="1">
                                <a:latin typeface="Cambria Math" panose="02040503050406030204" pitchFamily="18" charset="0"/>
                              </a:rPr>
                              <m:t>𝑛</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𝑧</m:t>
                            </m:r>
                          </m:num>
                          <m:den>
                            <m:r>
                              <a:rPr lang="en-US" i="1">
                                <a:latin typeface="Cambria Math" panose="02040503050406030204" pitchFamily="18" charset="0"/>
                              </a:rPr>
                              <m:t>𝐿</m:t>
                            </m:r>
                          </m:den>
                        </m:f>
                      </m:e>
                    </m:nary>
                  </m:oMath>
                </a14:m>
                <a:endParaRPr lang="en-CN" dirty="0"/>
              </a:p>
              <a:p>
                <a:pPr marL="285750" indent="-285750">
                  <a:buFont typeface="Arial" panose="020B0604020202020204" pitchFamily="34" charset="0"/>
                  <a:buChar char="•"/>
                </a:pPr>
                <a:r>
                  <a:rPr lang="en-US" dirty="0"/>
                  <a:t>l</a:t>
                </a:r>
                <a:r>
                  <a:rPr lang="en-CN" dirty="0"/>
                  <a:t>,m,n</a:t>
                </a:r>
                <a:r>
                  <a:rPr lang="en-CN" dirty="0">
                    <a:latin typeface="FangSong" panose="02010609060101010101" pitchFamily="49" charset="-122"/>
                    <a:ea typeface="FangSong" panose="02010609060101010101" pitchFamily="49" charset="-122"/>
                  </a:rPr>
                  <a:t>正整数</a:t>
                </a:r>
                <a:r>
                  <a:rPr lang="zh-CN" altLang="en-US" dirty="0"/>
                  <a:t> </a:t>
                </a:r>
                <a14:m>
                  <m:oMath xmlns:m="http://schemas.openxmlformats.org/officeDocument/2006/math">
                    <m:sSup>
                      <m:sSupPr>
                        <m:ctrlPr>
                          <a:rPr lang="en-US" altLang="zh-CN" i="1" smtClean="0">
                            <a:solidFill>
                              <a:srgbClr val="FF0000"/>
                            </a:solidFill>
                            <a:latin typeface="Cambria Math" panose="02040503050406030204" pitchFamily="18" charset="0"/>
                          </a:rPr>
                        </m:ctrlPr>
                      </m:sSupPr>
                      <m:e>
                        <m:r>
                          <a:rPr lang="en-US" altLang="zh-CN" b="0" i="1" smtClean="0">
                            <a:solidFill>
                              <a:srgbClr val="FF0000"/>
                            </a:solidFill>
                            <a:latin typeface="Cambria Math" panose="02040503050406030204" pitchFamily="18" charset="0"/>
                          </a:rPr>
                          <m:t>𝑙</m:t>
                        </m:r>
                      </m:e>
                      <m:sup>
                        <m:r>
                          <a:rPr lang="en-US" altLang="zh-CN" b="0" i="1" smtClean="0">
                            <a:solidFill>
                              <a:srgbClr val="FF0000"/>
                            </a:solidFill>
                            <a:latin typeface="Cambria Math" panose="02040503050406030204" pitchFamily="18" charset="0"/>
                          </a:rPr>
                          <m:t>2</m:t>
                        </m:r>
                      </m:sup>
                    </m:sSup>
                    <m:r>
                      <a:rPr lang="en-US" altLang="zh-CN" b="0" i="1" smtClean="0">
                        <a:solidFill>
                          <a:srgbClr val="FF0000"/>
                        </a:solidFill>
                        <a:latin typeface="Cambria Math" panose="02040503050406030204" pitchFamily="18" charset="0"/>
                      </a:rPr>
                      <m:t>+</m:t>
                    </m:r>
                    <m:sSup>
                      <m:sSupPr>
                        <m:ctrlPr>
                          <a:rPr lang="en-US" altLang="zh-CN" b="0" i="1" smtClean="0">
                            <a:solidFill>
                              <a:srgbClr val="FF0000"/>
                            </a:solidFill>
                            <a:latin typeface="Cambria Math" panose="02040503050406030204" pitchFamily="18" charset="0"/>
                          </a:rPr>
                        </m:ctrlPr>
                      </m:sSupPr>
                      <m:e>
                        <m:r>
                          <a:rPr lang="en-US" altLang="zh-CN" b="0" i="1" smtClean="0">
                            <a:solidFill>
                              <a:srgbClr val="FF0000"/>
                            </a:solidFill>
                            <a:latin typeface="Cambria Math" panose="02040503050406030204" pitchFamily="18" charset="0"/>
                          </a:rPr>
                          <m:t>𝑚</m:t>
                        </m:r>
                      </m:e>
                      <m:sup>
                        <m:r>
                          <a:rPr lang="en-US" altLang="zh-CN" b="0" i="1" smtClean="0">
                            <a:solidFill>
                              <a:srgbClr val="FF0000"/>
                            </a:solidFill>
                            <a:latin typeface="Cambria Math" panose="02040503050406030204" pitchFamily="18" charset="0"/>
                          </a:rPr>
                          <m:t>2</m:t>
                        </m:r>
                      </m:sup>
                    </m:sSup>
                    <m:r>
                      <a:rPr lang="en-US" altLang="zh-CN" b="0" i="1" smtClean="0">
                        <a:solidFill>
                          <a:srgbClr val="FF0000"/>
                        </a:solidFill>
                        <a:latin typeface="Cambria Math" panose="02040503050406030204" pitchFamily="18" charset="0"/>
                      </a:rPr>
                      <m:t>+</m:t>
                    </m:r>
                    <m:sSup>
                      <m:sSupPr>
                        <m:ctrlPr>
                          <a:rPr lang="en-US" altLang="zh-CN" b="0" i="1" smtClean="0">
                            <a:solidFill>
                              <a:srgbClr val="FF0000"/>
                            </a:solidFill>
                            <a:latin typeface="Cambria Math" panose="02040503050406030204" pitchFamily="18" charset="0"/>
                          </a:rPr>
                        </m:ctrlPr>
                      </m:sSupPr>
                      <m:e>
                        <m:r>
                          <a:rPr lang="en-US" altLang="zh-CN" b="0" i="1" smtClean="0">
                            <a:solidFill>
                              <a:srgbClr val="FF0000"/>
                            </a:solidFill>
                            <a:latin typeface="Cambria Math" panose="02040503050406030204" pitchFamily="18" charset="0"/>
                          </a:rPr>
                          <m:t>𝑛</m:t>
                        </m:r>
                      </m:e>
                      <m:sup>
                        <m:r>
                          <a:rPr lang="en-US" altLang="zh-CN" b="0" i="1" smtClean="0">
                            <a:solidFill>
                              <a:srgbClr val="FF0000"/>
                            </a:solidFill>
                            <a:latin typeface="Cambria Math" panose="02040503050406030204" pitchFamily="18" charset="0"/>
                          </a:rPr>
                          <m:t>2</m:t>
                        </m:r>
                      </m:sup>
                    </m:sSup>
                    <m:r>
                      <a:rPr lang="en-US" altLang="zh-CN" b="0" i="1" smtClean="0">
                        <a:solidFill>
                          <a:srgbClr val="FF0000"/>
                        </a:solidFill>
                        <a:latin typeface="Cambria Math" panose="02040503050406030204" pitchFamily="18" charset="0"/>
                      </a:rPr>
                      <m:t>=</m:t>
                    </m:r>
                    <m:f>
                      <m:fPr>
                        <m:ctrlPr>
                          <a:rPr lang="en-US" altLang="zh-CN" b="0" i="1" smtClean="0">
                            <a:solidFill>
                              <a:srgbClr val="FF0000"/>
                            </a:solidFill>
                            <a:latin typeface="Cambria Math" panose="02040503050406030204" pitchFamily="18" charset="0"/>
                          </a:rPr>
                        </m:ctrlPr>
                      </m:fPr>
                      <m:num>
                        <m:sSup>
                          <m:sSupPr>
                            <m:ctrlPr>
                              <a:rPr lang="en-US" altLang="zh-CN" b="0" i="1" smtClean="0">
                                <a:solidFill>
                                  <a:srgbClr val="FF0000"/>
                                </a:solidFill>
                                <a:latin typeface="Cambria Math" panose="02040503050406030204" pitchFamily="18" charset="0"/>
                              </a:rPr>
                            </m:ctrlPr>
                          </m:sSupPr>
                          <m:e>
                            <m:r>
                              <a:rPr lang="en-US" altLang="zh-CN" b="0" i="1" smtClean="0">
                                <a:solidFill>
                                  <a:srgbClr val="FF0000"/>
                                </a:solidFill>
                                <a:latin typeface="Cambria Math" panose="02040503050406030204" pitchFamily="18" charset="0"/>
                                <a:ea typeface="Cambria Math" panose="02040503050406030204" pitchFamily="18" charset="0"/>
                              </a:rPr>
                              <m:t>𝜔</m:t>
                            </m:r>
                          </m:e>
                          <m:sup>
                            <m:r>
                              <a:rPr lang="en-US" altLang="zh-CN" b="0" i="1" smtClean="0">
                                <a:solidFill>
                                  <a:srgbClr val="FF0000"/>
                                </a:solidFill>
                                <a:latin typeface="Cambria Math" panose="02040503050406030204" pitchFamily="18" charset="0"/>
                              </a:rPr>
                              <m:t>2</m:t>
                            </m:r>
                          </m:sup>
                        </m:sSup>
                      </m:num>
                      <m:den>
                        <m:sSup>
                          <m:sSupPr>
                            <m:ctrlPr>
                              <a:rPr lang="en-US" altLang="zh-CN" b="0" i="1" smtClean="0">
                                <a:solidFill>
                                  <a:srgbClr val="FF0000"/>
                                </a:solidFill>
                                <a:latin typeface="Cambria Math" panose="02040503050406030204" pitchFamily="18" charset="0"/>
                              </a:rPr>
                            </m:ctrlPr>
                          </m:sSupPr>
                          <m:e>
                            <m:r>
                              <a:rPr lang="en-US" altLang="zh-CN" b="0" i="1" smtClean="0">
                                <a:solidFill>
                                  <a:srgbClr val="FF0000"/>
                                </a:solidFill>
                                <a:latin typeface="Cambria Math" panose="02040503050406030204" pitchFamily="18" charset="0"/>
                              </a:rPr>
                              <m:t>𝑐</m:t>
                            </m:r>
                          </m:e>
                          <m:sup>
                            <m:r>
                              <a:rPr lang="en-US" altLang="zh-CN" b="0" i="1" smtClean="0">
                                <a:solidFill>
                                  <a:srgbClr val="FF0000"/>
                                </a:solidFill>
                                <a:latin typeface="Cambria Math" panose="02040503050406030204" pitchFamily="18" charset="0"/>
                              </a:rPr>
                              <m:t>2</m:t>
                            </m:r>
                          </m:sup>
                        </m:sSup>
                        <m:sSup>
                          <m:sSupPr>
                            <m:ctrlPr>
                              <a:rPr lang="en-US" altLang="zh-CN" b="0" i="1" smtClean="0">
                                <a:solidFill>
                                  <a:srgbClr val="FF0000"/>
                                </a:solidFill>
                                <a:latin typeface="Cambria Math" panose="02040503050406030204" pitchFamily="18" charset="0"/>
                              </a:rPr>
                            </m:ctrlPr>
                          </m:sSupPr>
                          <m:e>
                            <m:r>
                              <a:rPr lang="en-US" altLang="zh-CN" b="0" i="1" smtClean="0">
                                <a:solidFill>
                                  <a:srgbClr val="FF0000"/>
                                </a:solidFill>
                                <a:latin typeface="Cambria Math" panose="02040503050406030204" pitchFamily="18" charset="0"/>
                                <a:ea typeface="Cambria Math" panose="02040503050406030204" pitchFamily="18" charset="0"/>
                              </a:rPr>
                              <m:t>𝜋</m:t>
                            </m:r>
                          </m:e>
                          <m:sup>
                            <m:r>
                              <a:rPr lang="en-US" altLang="zh-CN" b="0" i="1" smtClean="0">
                                <a:solidFill>
                                  <a:srgbClr val="FF0000"/>
                                </a:solidFill>
                                <a:latin typeface="Cambria Math" panose="02040503050406030204" pitchFamily="18" charset="0"/>
                              </a:rPr>
                              <m:t>2</m:t>
                            </m:r>
                          </m:sup>
                        </m:sSup>
                      </m:den>
                    </m:f>
                    <m:sSup>
                      <m:sSupPr>
                        <m:ctrlPr>
                          <a:rPr lang="en-US" altLang="zh-CN" b="0" i="1" smtClean="0">
                            <a:solidFill>
                              <a:srgbClr val="FF0000"/>
                            </a:solidFill>
                            <a:latin typeface="Cambria Math" panose="02040503050406030204" pitchFamily="18" charset="0"/>
                          </a:rPr>
                        </m:ctrlPr>
                      </m:sSupPr>
                      <m:e>
                        <m:r>
                          <a:rPr lang="en-US" altLang="zh-CN" b="0" i="1" smtClean="0">
                            <a:solidFill>
                              <a:srgbClr val="FF0000"/>
                            </a:solidFill>
                            <a:latin typeface="Cambria Math" panose="02040503050406030204" pitchFamily="18" charset="0"/>
                          </a:rPr>
                          <m:t>𝐿</m:t>
                        </m:r>
                      </m:e>
                      <m:sup>
                        <m:r>
                          <a:rPr lang="en-US" altLang="zh-CN" b="0" i="1" smtClean="0">
                            <a:solidFill>
                              <a:srgbClr val="FF0000"/>
                            </a:solidFill>
                            <a:latin typeface="Cambria Math" panose="02040503050406030204" pitchFamily="18" charset="0"/>
                          </a:rPr>
                          <m:t>2</m:t>
                        </m:r>
                      </m:sup>
                    </m:sSup>
                  </m:oMath>
                </a14:m>
                <a:endParaRPr lang="en-CN" dirty="0"/>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电磁场能量</a:t>
                </a:r>
                <a:r>
                  <a:rPr lang="zh-CN" altLang="en-US" dirty="0">
                    <a:latin typeface="FangSong" panose="02010609060101010101" pitchFamily="49" charset="-122"/>
                    <a:ea typeface="FangSong" panose="02010609060101010101" pitchFamily="49" charset="-122"/>
                  </a:rPr>
                  <a:t> </a:t>
                </a:r>
                <a:endParaRPr lang="en-US" altLang="zh-CN" dirty="0">
                  <a:latin typeface="FangSong" panose="02010609060101010101" pitchFamily="49" charset="-122"/>
                  <a:ea typeface="FangSong" panose="02010609060101010101" pitchFamily="49" charset="-122"/>
                </a:endParaRP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𝑉</m:t>
                          </m:r>
                        </m:num>
                        <m:den>
                          <m:r>
                            <a:rPr lang="en-US" b="0" i="1" smtClean="0">
                              <a:latin typeface="Cambria Math" panose="02040503050406030204" pitchFamily="18" charset="0"/>
                            </a:rPr>
                            <m:t>64</m:t>
                          </m:r>
                          <m:r>
                            <a:rPr lang="en-US" b="0" i="1" smtClean="0">
                              <a:latin typeface="Cambria Math" panose="02040503050406030204" pitchFamily="18" charset="0"/>
                              <a:ea typeface="Cambria Math" panose="02040503050406030204" pitchFamily="18" charset="0"/>
                            </a:rPr>
                            <m:t>𝜋</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den>
                      </m:f>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𝑙</m:t>
                          </m:r>
                          <m:r>
                            <a:rPr lang="en-US" b="0" i="1" smtClean="0">
                              <a:latin typeface="Cambria Math" panose="02040503050406030204" pitchFamily="18" charset="0"/>
                            </a:rPr>
                            <m:t>𝑚𝑛</m:t>
                          </m:r>
                        </m:sub>
                        <m:sup/>
                        <m:e>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𝑑𝑓</m:t>
                                          </m:r>
                                        </m:num>
                                        <m:den>
                                          <m:r>
                                            <a:rPr lang="en-US" b="0" i="1" smtClean="0">
                                              <a:latin typeface="Cambria Math" panose="02040503050406030204" pitchFamily="18" charset="0"/>
                                            </a:rPr>
                                            <m:t>𝑑𝑡</m:t>
                                          </m:r>
                                        </m:den>
                                      </m:f>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𝜔</m:t>
                                  </m:r>
                                </m:e>
                                <m:sup>
                                  <m:r>
                                    <a:rPr lang="en-US" b="0" i="1" smtClean="0">
                                      <a:latin typeface="Cambria Math" panose="02040503050406030204" pitchFamily="18" charset="0"/>
                                    </a:rPr>
                                    <m:t>2</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2</m:t>
                                  </m:r>
                                </m:sup>
                              </m:sSup>
                            </m:e>
                          </m:d>
                        </m:e>
                      </m:nary>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𝐵</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𝐶</m:t>
                              </m:r>
                            </m:e>
                            <m:sup>
                              <m:r>
                                <a:rPr lang="en-US" b="0" i="1" smtClean="0">
                                  <a:latin typeface="Cambria Math" panose="02040503050406030204" pitchFamily="18" charset="0"/>
                                </a:rPr>
                                <m:t>2</m:t>
                              </m:r>
                            </m:sup>
                          </m:sSup>
                        </m:e>
                      </m:d>
                    </m:oMath>
                  </m:oMathPara>
                </a14:m>
                <a:endParaRPr lang="en-CN" dirty="0"/>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令</a:t>
                </a:r>
                <a:r>
                  <a:rPr lang="zh-CN" altLang="en-US" dirty="0"/>
                  <a:t> </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𝑄</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𝑉</m:t>
                        </m:r>
                      </m:num>
                      <m:den>
                        <m:r>
                          <a:rPr lang="en-US" altLang="zh-CN" b="0" i="1" smtClean="0">
                            <a:latin typeface="Cambria Math" panose="02040503050406030204" pitchFamily="18" charset="0"/>
                          </a:rPr>
                          <m:t>32</m:t>
                        </m:r>
                        <m:r>
                          <a:rPr lang="en-US" altLang="zh-CN" b="0" i="1" smtClean="0">
                            <a:latin typeface="Cambria Math" panose="02040503050406030204" pitchFamily="18" charset="0"/>
                            <a:ea typeface="Cambria Math" panose="02040503050406030204" pitchFamily="18" charset="0"/>
                          </a:rPr>
                          <m:t>𝜋</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𝑐</m:t>
                            </m:r>
                          </m:e>
                          <m:sup>
                            <m:r>
                              <a:rPr lang="en-US" altLang="zh-CN" b="0" i="1" smtClean="0">
                                <a:latin typeface="Cambria Math" panose="02040503050406030204" pitchFamily="18" charset="0"/>
                                <a:ea typeface="Cambria Math" panose="02040503050406030204" pitchFamily="18" charset="0"/>
                              </a:rPr>
                              <m:t>2</m:t>
                            </m:r>
                          </m:sup>
                        </m:sSup>
                      </m:den>
                    </m:f>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𝑓</m:t>
                        </m:r>
                      </m:e>
                      <m:sup>
                        <m:r>
                          <a:rPr lang="en-US" altLang="zh-CN" b="0" i="1" smtClean="0">
                            <a:latin typeface="Cambria Math" panose="02040503050406030204" pitchFamily="18" charset="0"/>
                          </a:rPr>
                          <m:t>2</m:t>
                        </m:r>
                      </m:sup>
                    </m:sSup>
                  </m:oMath>
                </a14:m>
                <a:r>
                  <a:rPr lang="en-US" dirty="0"/>
                  <a:t> </a:t>
                </a:r>
                <a14:m>
                  <m:oMath xmlns:m="http://schemas.openxmlformats.org/officeDocument/2006/math">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𝐵</m:t>
                            </m:r>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𝐶</m:t>
                            </m:r>
                          </m:e>
                          <m:sup>
                            <m:r>
                              <a:rPr lang="en-US" i="1">
                                <a:latin typeface="Cambria Math" panose="02040503050406030204" pitchFamily="18" charset="0"/>
                              </a:rPr>
                              <m:t>2</m:t>
                            </m:r>
                          </m:sup>
                        </m:sSup>
                      </m:e>
                    </m:d>
                  </m:oMath>
                </a14:m>
                <a:endParaRPr lang="en-CN" dirty="0"/>
              </a:p>
              <a:p>
                <a:pPr marL="285750" indent="-28575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nary>
                      <m:naryPr>
                        <m:chr m:val="∑"/>
                        <m:subHide m:val="on"/>
                        <m:supHide m:val="on"/>
                        <m:ctrlPr>
                          <a:rPr lang="en-US" b="0" i="1" smtClean="0">
                            <a:latin typeface="Cambria Math" panose="02040503050406030204" pitchFamily="18" charset="0"/>
                          </a:rPr>
                        </m:ctrlPr>
                      </m:naryPr>
                      <m:sub/>
                      <m:sup/>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𝑄</m:t>
                                    </m:r>
                                  </m:e>
                                </m:acc>
                              </m:e>
                              <m:sup>
                                <m:r>
                                  <a:rPr lang="en-US" b="0" i="1" smtClean="0">
                                    <a:latin typeface="Cambria Math" panose="02040503050406030204" pitchFamily="18" charset="0"/>
                                  </a:rPr>
                                  <m:t>2</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𝜔</m:t>
                                </m:r>
                              </m:e>
                              <m:sup>
                                <m:r>
                                  <a:rPr lang="en-US" b="0" i="1" smtClean="0">
                                    <a:latin typeface="Cambria Math" panose="02040503050406030204" pitchFamily="18" charset="0"/>
                                  </a:rPr>
                                  <m:t>2</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𝑄</m:t>
                                </m:r>
                              </m:e>
                              <m:sup>
                                <m:r>
                                  <a:rPr lang="en-US" b="0" i="1" smtClean="0">
                                    <a:latin typeface="Cambria Math" panose="02040503050406030204" pitchFamily="18" charset="0"/>
                                  </a:rPr>
                                  <m:t>2</m:t>
                                </m:r>
                              </m:sup>
                            </m:sSup>
                          </m:e>
                        </m:d>
                      </m:e>
                    </m:nary>
                  </m:oMath>
                </a14:m>
                <a:endParaRPr lang="en-CN" dirty="0"/>
              </a:p>
              <a:p>
                <a:pPr marL="285750" indent="-285750">
                  <a:buFont typeface="Arial" panose="020B0604020202020204" pitchFamily="34" charset="0"/>
                  <a:buChar char="•"/>
                </a:pPr>
                <a:r>
                  <a:rPr lang="en-CN" b="1" dirty="0">
                    <a:solidFill>
                      <a:srgbClr val="FF0000"/>
                    </a:solidFill>
                    <a:latin typeface="FangSong" panose="02010609060101010101" pitchFamily="49" charset="-122"/>
                    <a:ea typeface="FangSong" panose="02010609060101010101" pitchFamily="49" charset="-122"/>
                  </a:rPr>
                  <a:t>约束在腔中的辐射场相当于一大群简偕振子组成的力学体系</a:t>
                </a:r>
              </a:p>
            </p:txBody>
          </p:sp>
        </mc:Choice>
        <mc:Fallback>
          <p:sp>
            <p:nvSpPr>
              <p:cNvPr id="7" name="TextBox 6">
                <a:extLst>
                  <a:ext uri="{FF2B5EF4-FFF2-40B4-BE49-F238E27FC236}">
                    <a16:creationId xmlns:a16="http://schemas.microsoft.com/office/drawing/2014/main" id="{94C01941-B036-FE3D-02BB-77745179B083}"/>
                  </a:ext>
                </a:extLst>
              </p:cNvPr>
              <p:cNvSpPr txBox="1">
                <a:spLocks noRot="1" noChangeAspect="1" noMove="1" noResize="1" noEditPoints="1" noAdjustHandles="1" noChangeArrowheads="1" noChangeShapeType="1" noTextEdit="1"/>
              </p:cNvSpPr>
              <p:nvPr/>
            </p:nvSpPr>
            <p:spPr>
              <a:xfrm>
                <a:off x="6234546" y="295502"/>
                <a:ext cx="5126182" cy="6368090"/>
              </a:xfrm>
              <a:prstGeom prst="rect">
                <a:avLst/>
              </a:prstGeom>
              <a:blipFill>
                <a:blip r:embed="rId3"/>
                <a:stretch>
                  <a:fillRect l="-990" t="-398"/>
                </a:stretch>
              </a:blipFill>
            </p:spPr>
            <p:txBody>
              <a:bodyPr/>
              <a:lstStyle/>
              <a:p>
                <a:r>
                  <a:rPr lang="en-CN">
                    <a:noFill/>
                  </a:rPr>
                  <a:t> </a:t>
                </a:r>
              </a:p>
            </p:txBody>
          </p:sp>
        </mc:Fallback>
      </mc:AlternateContent>
      <p:sp>
        <p:nvSpPr>
          <p:cNvPr id="4" name="Up Arrow 3">
            <a:extLst>
              <a:ext uri="{FF2B5EF4-FFF2-40B4-BE49-F238E27FC236}">
                <a16:creationId xmlns:a16="http://schemas.microsoft.com/office/drawing/2014/main" id="{16A515A9-22E9-132E-CF01-912C65AADAC4}"/>
              </a:ext>
            </a:extLst>
          </p:cNvPr>
          <p:cNvSpPr/>
          <p:nvPr/>
        </p:nvSpPr>
        <p:spPr>
          <a:xfrm>
            <a:off x="3616036" y="798823"/>
            <a:ext cx="96982" cy="822159"/>
          </a:xfrm>
          <a:prstGeom prst="up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8" name="Right Arrow 7">
            <a:extLst>
              <a:ext uri="{FF2B5EF4-FFF2-40B4-BE49-F238E27FC236}">
                <a16:creationId xmlns:a16="http://schemas.microsoft.com/office/drawing/2014/main" id="{90A3A829-31CB-1A24-6659-51A743B1802D}"/>
              </a:ext>
            </a:extLst>
          </p:cNvPr>
          <p:cNvSpPr/>
          <p:nvPr/>
        </p:nvSpPr>
        <p:spPr>
          <a:xfrm>
            <a:off x="5001491" y="2895600"/>
            <a:ext cx="1094509" cy="152400"/>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solidFill>
                <a:sysClr val="windowText" lastClr="000000"/>
              </a:solidFill>
            </a:endParaRPr>
          </a:p>
        </p:txBody>
      </p:sp>
      <p:cxnSp>
        <p:nvCxnSpPr>
          <p:cNvPr id="10" name="Straight Arrow Connector 9">
            <a:extLst>
              <a:ext uri="{FF2B5EF4-FFF2-40B4-BE49-F238E27FC236}">
                <a16:creationId xmlns:a16="http://schemas.microsoft.com/office/drawing/2014/main" id="{44A0AAA2-1BF0-E82E-A9A5-C60809DE34CC}"/>
              </a:ext>
            </a:extLst>
          </p:cNvPr>
          <p:cNvCxnSpPr/>
          <p:nvPr/>
        </p:nvCxnSpPr>
        <p:spPr>
          <a:xfrm flipV="1">
            <a:off x="706581" y="2136100"/>
            <a:ext cx="0" cy="872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C2D0413-8338-A6C4-FEEC-AD6D3D2FCB1C}"/>
              </a:ext>
            </a:extLst>
          </p:cNvPr>
          <p:cNvCxnSpPr/>
          <p:nvPr/>
        </p:nvCxnSpPr>
        <p:spPr>
          <a:xfrm>
            <a:off x="706581" y="3022791"/>
            <a:ext cx="11083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FA5E342-5D70-593C-09B1-212CC7D84FB3}"/>
              </a:ext>
            </a:extLst>
          </p:cNvPr>
          <p:cNvCxnSpPr/>
          <p:nvPr/>
        </p:nvCxnSpPr>
        <p:spPr>
          <a:xfrm flipH="1">
            <a:off x="13854" y="3008936"/>
            <a:ext cx="692727" cy="4710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2620A3C-79A6-1837-1676-2EE918562E8B}"/>
              </a:ext>
            </a:extLst>
          </p:cNvPr>
          <p:cNvPicPr>
            <a:picLocks noChangeAspect="1"/>
          </p:cNvPicPr>
          <p:nvPr/>
        </p:nvPicPr>
        <p:blipFill>
          <a:blip r:embed="rId4"/>
          <a:stretch>
            <a:fillRect/>
          </a:stretch>
        </p:blipFill>
        <p:spPr>
          <a:xfrm>
            <a:off x="110040" y="4936960"/>
            <a:ext cx="2795610" cy="1781997"/>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ACE9AE9-4C95-C103-38A9-CC518711EEFE}"/>
                  </a:ext>
                </a:extLst>
              </p:cNvPr>
              <p:cNvSpPr txBox="1"/>
              <p:nvPr/>
            </p:nvSpPr>
            <p:spPr>
              <a:xfrm>
                <a:off x="3125449" y="5051685"/>
                <a:ext cx="2106118" cy="369332"/>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r>
                      <m:rPr>
                        <m:sty m:val="p"/>
                      </m:rPr>
                      <a:rPr lang="en-CN" i="1" smtClean="0">
                        <a:latin typeface="Cambria Math" panose="02040503050406030204" pitchFamily="18" charset="0"/>
                        <a:ea typeface="Cambria Math" panose="02040503050406030204" pitchFamily="18" charset="0"/>
                      </a:rPr>
                      <m:t>∇</m:t>
                    </m:r>
                    <m:r>
                      <a:rPr lang="en-C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=0</m:t>
                    </m:r>
                  </m:oMath>
                </a14:m>
                <a:endParaRPr lang="en-US" b="0" dirty="0">
                  <a:ea typeface="Cambria Math" panose="02040503050406030204" pitchFamily="18" charset="0"/>
                </a:endParaRPr>
              </a:p>
            </p:txBody>
          </p:sp>
        </mc:Choice>
        <mc:Fallback xmlns="">
          <p:sp>
            <p:nvSpPr>
              <p:cNvPr id="11" name="TextBox 10">
                <a:extLst>
                  <a:ext uri="{FF2B5EF4-FFF2-40B4-BE49-F238E27FC236}">
                    <a16:creationId xmlns:a16="http://schemas.microsoft.com/office/drawing/2014/main" id="{0ACE9AE9-4C95-C103-38A9-CC518711EEFE}"/>
                  </a:ext>
                </a:extLst>
              </p:cNvPr>
              <p:cNvSpPr txBox="1">
                <a:spLocks noRot="1" noChangeAspect="1" noMove="1" noResize="1" noEditPoints="1" noAdjustHandles="1" noChangeArrowheads="1" noChangeShapeType="1" noTextEdit="1"/>
              </p:cNvSpPr>
              <p:nvPr/>
            </p:nvSpPr>
            <p:spPr>
              <a:xfrm>
                <a:off x="3125449" y="5051685"/>
                <a:ext cx="2106118" cy="369332"/>
              </a:xfrm>
              <a:prstGeom prst="rect">
                <a:avLst/>
              </a:prstGeom>
              <a:blipFill>
                <a:blip r:embed="rId5"/>
                <a:stretch>
                  <a:fillRect l="-2410" t="-3333" b="-20000"/>
                </a:stretch>
              </a:blipFill>
            </p:spPr>
            <p:txBody>
              <a:bodyPr/>
              <a:lstStyle/>
              <a:p>
                <a:r>
                  <a:rPr lang="en-CN">
                    <a:noFill/>
                  </a:rPr>
                  <a:t> </a:t>
                </a:r>
              </a:p>
            </p:txBody>
          </p:sp>
        </mc:Fallback>
      </mc:AlternateContent>
    </p:spTree>
    <p:extLst>
      <p:ext uri="{BB962C8B-B14F-4D97-AF65-F5344CB8AC3E}">
        <p14:creationId xmlns:p14="http://schemas.microsoft.com/office/powerpoint/2010/main" val="3858008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3D654DF-FDC5-0EEE-C447-EAACECB4B254}"/>
                  </a:ext>
                </a:extLst>
              </p:cNvPr>
              <p:cNvSpPr txBox="1"/>
              <p:nvPr/>
            </p:nvSpPr>
            <p:spPr>
              <a:xfrm>
                <a:off x="831272" y="1593529"/>
                <a:ext cx="10529455" cy="4286494"/>
              </a:xfrm>
              <a:prstGeom prst="rect">
                <a:avLst/>
              </a:prstGeom>
              <a:noFill/>
            </p:spPr>
            <p:txBody>
              <a:bodyPr wrap="square" rtlCol="0">
                <a:spAutoFit/>
              </a:bodyPr>
              <a:lstStyle/>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对于</a:t>
                </a:r>
                <a:r>
                  <a:rPr lang="en-CN" dirty="0">
                    <a:solidFill>
                      <a:srgbClr val="FF0000"/>
                    </a:solidFill>
                    <a:latin typeface="FangSong" panose="02010609060101010101" pitchFamily="49" charset="-122"/>
                    <a:ea typeface="FangSong" panose="02010609060101010101" pitchFamily="49" charset="-122"/>
                  </a:rPr>
                  <a:t>某一个频率</a:t>
                </a:r>
                <a:r>
                  <a:rPr lang="en-CN" dirty="0">
                    <a:latin typeface="FangSong" panose="02010609060101010101" pitchFamily="49" charset="-122"/>
                    <a:ea typeface="FangSong" panose="02010609060101010101" pitchFamily="49" charset="-122"/>
                  </a:rPr>
                  <a:t>的谐振子</a:t>
                </a:r>
                <a:r>
                  <a:rPr lang="zh-CN" altLang="en-US" dirty="0">
                    <a:latin typeface="FangSong" panose="02010609060101010101" pitchFamily="49" charset="-122"/>
                    <a:ea typeface="FangSong" panose="02010609060101010101" pitchFamily="49" charset="-122"/>
                  </a:rPr>
                  <a:t>，</a:t>
                </a:r>
                <a:r>
                  <a:rPr lang="zh-CN" altLang="en-US" dirty="0">
                    <a:solidFill>
                      <a:srgbClr val="FF0000"/>
                    </a:solidFill>
                    <a:latin typeface="FangSong" panose="02010609060101010101" pitchFamily="49" charset="-122"/>
                    <a:ea typeface="FangSong" panose="02010609060101010101" pitchFamily="49" charset="-122"/>
                  </a:rPr>
                  <a:t>能量一份一份的买卖</a:t>
                </a:r>
                <a:r>
                  <a:rPr lang="zh-CN" altLang="en-US" dirty="0">
                    <a:latin typeface="FangSong" panose="02010609060101010101" pitchFamily="49" charset="-122"/>
                    <a:ea typeface="FangSong" panose="02010609060101010101" pitchFamily="49" charset="-122"/>
                  </a:rPr>
                  <a:t>（普朗克的</a:t>
                </a:r>
                <a:r>
                  <a:rPr lang="en-US" altLang="zh-CN" dirty="0">
                    <a:latin typeface="FangSong" panose="02010609060101010101" pitchFamily="49" charset="-122"/>
                    <a:ea typeface="FangSong" panose="02010609060101010101" pitchFamily="49" charset="-122"/>
                  </a:rPr>
                  <a:t>idea</a:t>
                </a:r>
                <a:r>
                  <a:rPr lang="zh-CN" altLang="en-US" dirty="0">
                    <a:latin typeface="FangSong" panose="02010609060101010101" pitchFamily="49" charset="-122"/>
                    <a:ea typeface="FangSong" panose="02010609060101010101" pitchFamily="49" charset="-122"/>
                  </a:rPr>
                  <a:t>，能量单元</a:t>
                </a:r>
                <a14:m>
                  <m:oMath xmlns:m="http://schemas.openxmlformats.org/officeDocument/2006/math">
                    <m:r>
                      <a:rPr lang="en-US" altLang="zh-CN" i="1" smtClean="0">
                        <a:latin typeface="Cambria Math" panose="02040503050406030204" pitchFamily="18" charset="0"/>
                        <a:ea typeface="Cambria Math" panose="02040503050406030204" pitchFamily="18" charset="0"/>
                      </a:rPr>
                      <m:t>ℏ</m:t>
                    </m:r>
                    <m:r>
                      <a:rPr lang="en-US" altLang="zh-CN" i="1" smtClean="0">
                        <a:latin typeface="Cambria Math" panose="02040503050406030204" pitchFamily="18" charset="0"/>
                        <a:ea typeface="Cambria Math" panose="02040503050406030204" pitchFamily="18" charset="0"/>
                      </a:rPr>
                      <m:t>𝜔</m:t>
                    </m:r>
                  </m:oMath>
                </a14:m>
                <a:r>
                  <a:rPr lang="zh-CN" altLang="en-US" dirty="0">
                    <a:latin typeface="FangSong" panose="02010609060101010101" pitchFamily="49" charset="-122"/>
                    <a:ea typeface="FangSong" panose="02010609060101010101" pitchFamily="49" charset="-122"/>
                  </a:rPr>
                  <a:t>）</a:t>
                </a:r>
                <a:endParaRPr lang="en-US" altLang="zh-CN" dirty="0">
                  <a:latin typeface="FangSong" panose="02010609060101010101" pitchFamily="49" charset="-122"/>
                  <a:ea typeface="FangSong" panose="02010609060101010101" pitchFamily="49" charset="-122"/>
                </a:endParaRPr>
              </a:p>
              <a:p>
                <a:pPr algn="ctr"/>
                <a14:m>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𝑛</m:t>
                        </m:r>
                      </m:sub>
                    </m:sSub>
                    <m:r>
                      <a:rPr lang="en-US" b="0" i="1" smtClean="0">
                        <a:latin typeface="Cambria Math" panose="02040503050406030204" pitchFamily="18" charset="0"/>
                      </a:rPr>
                      <m:t>=0,</m:t>
                    </m:r>
                    <m:r>
                      <a:rPr lang="en-US" b="0" i="1" smtClean="0">
                        <a:latin typeface="Cambria Math" panose="02040503050406030204" pitchFamily="18" charset="0"/>
                        <a:ea typeface="Cambria Math" panose="02040503050406030204" pitchFamily="18" charset="0"/>
                      </a:rPr>
                      <m:t>ℏ</m:t>
                    </m:r>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,2ℏ</m:t>
                    </m:r>
                    <m:r>
                      <a:rPr lang="en-US" i="1">
                        <a:latin typeface="Cambria Math" panose="02040503050406030204" pitchFamily="18" charset="0"/>
                        <a:ea typeface="Cambria Math" panose="02040503050406030204" pitchFamily="18" charset="0"/>
                      </a:rPr>
                      <m:t>𝜔</m:t>
                    </m:r>
                  </m:oMath>
                </a14:m>
                <a:r>
                  <a:rPr lang="en-CN" dirty="0"/>
                  <a:t>,…</a:t>
                </a:r>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配分函数</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ℏ</m:t>
                          </m:r>
                          <m:r>
                            <a:rPr lang="en-US" i="1">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r>
                            <a:rPr lang="en-US" i="1">
                              <a:latin typeface="Cambria Math" panose="02040503050406030204" pitchFamily="18" charset="0"/>
                              <a:ea typeface="Cambria Math" panose="02040503050406030204" pitchFamily="18" charset="0"/>
                            </a:rPr>
                            <m:t>ℏ</m:t>
                          </m:r>
                          <m:r>
                            <a:rPr lang="en-US" i="1">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ℏ</m:t>
                              </m:r>
                              <m:r>
                                <a:rPr lang="en-US" i="1">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den>
                      </m:f>
                    </m:oMath>
                  </m:oMathPara>
                </a14:m>
                <a:endParaRPr lang="en-CN" dirty="0"/>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平均能量</a:t>
                </a:r>
              </a:p>
              <a:p>
                <a:pPr algn="ctr"/>
                <a14:m>
                  <m:oMathPara xmlns:m="http://schemas.openxmlformats.org/officeDocument/2006/math">
                    <m:oMathParaPr>
                      <m:jc m:val="centerGroup"/>
                    </m:oMathParaPr>
                    <m:oMath xmlns:m="http://schemas.openxmlformats.org/officeDocument/2006/math">
                      <m:d>
                        <m:dPr>
                          <m:begChr m:val="⟨"/>
                          <m:endChr m:val="⟩"/>
                          <m:ctrlPr>
                            <a:rPr lang="en-CN" i="1" smtClean="0">
                              <a:latin typeface="Cambria Math" panose="02040503050406030204" pitchFamily="18" charset="0"/>
                            </a:rPr>
                          </m:ctrlPr>
                        </m:dPr>
                        <m:e>
                          <m:r>
                            <a:rPr lang="en-CN" i="1" smtClean="0">
                              <a:latin typeface="Cambria Math" panose="02040503050406030204" pitchFamily="18" charset="0"/>
                              <a:ea typeface="Cambria Math" panose="02040503050406030204" pitchFamily="18" charset="0"/>
                            </a:rPr>
                            <m:t>𝜀</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𝜏</m:t>
                          </m:r>
                        </m:e>
                        <m:sup>
                          <m:r>
                            <a:rPr lang="en-US" b="0" i="1" smtClean="0">
                              <a:latin typeface="Cambria Math" panose="02040503050406030204" pitchFamily="18" charset="0"/>
                            </a:rPr>
                            <m:t>2</m:t>
                          </m:r>
                        </m:sup>
                      </m:sSup>
                      <m:f>
                        <m:fPr>
                          <m:ctrlPr>
                            <a:rPr lang="en-US" b="0" i="1" smtClean="0">
                              <a:latin typeface="Cambria Math" panose="02040503050406030204" pitchFamily="18" charset="0"/>
                            </a:rPr>
                          </m:ctrlPr>
                        </m:fPr>
                        <m:num>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𝑍</m:t>
                              </m:r>
                            </m:e>
                          </m:func>
                        </m:num>
                        <m:den>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ℏ</m:t>
                          </m:r>
                          <m:r>
                            <a:rPr lang="en-US" i="1">
                              <a:latin typeface="Cambria Math" panose="02040503050406030204" pitchFamily="18" charset="0"/>
                              <a:ea typeface="Cambria Math" panose="02040503050406030204" pitchFamily="18" charset="0"/>
                            </a:rPr>
                            <m:t>𝜔</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i="1">
                                  <a:latin typeface="Cambria Math" panose="02040503050406030204" pitchFamily="18" charset="0"/>
                                  <a:ea typeface="Cambria Math" panose="02040503050406030204" pitchFamily="18" charset="0"/>
                                </a:rPr>
                                <m:t>ℏ</m:t>
                              </m:r>
                              <m:r>
                                <a:rPr lang="en-US" i="1">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rPr>
                            <m:t>−1</m:t>
                          </m:r>
                        </m:den>
                      </m:f>
                    </m:oMath>
                  </m:oMathPara>
                </a14:m>
                <a:endParaRPr lang="en-CN" dirty="0"/>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考虑</a:t>
                </a:r>
                <a:r>
                  <a:rPr lang="en-US" dirty="0">
                    <a:latin typeface="FangSong" panose="02010609060101010101" pitchFamily="49" charset="-122"/>
                    <a:ea typeface="FangSong" panose="02010609060101010101" pitchFamily="49" charset="-122"/>
                  </a:rPr>
                  <a:t> </a:t>
                </a:r>
                <a14:m>
                  <m:oMath xmlns:m="http://schemas.openxmlformats.org/officeDocument/2006/math">
                    <m:r>
                      <a:rPr lang="en-US" i="1">
                        <a:latin typeface="Cambria Math" panose="02040503050406030204" pitchFamily="18" charset="0"/>
                        <a:ea typeface="Cambria Math" panose="02040503050406030204" pitchFamily="18" charset="0"/>
                      </a:rPr>
                      <m:t>ℏ</m:t>
                    </m:r>
                    <m:r>
                      <a:rPr lang="en-US" i="1">
                        <a:latin typeface="Cambria Math" panose="02040503050406030204" pitchFamily="18" charset="0"/>
                        <a:ea typeface="Cambria Math" panose="02040503050406030204" pitchFamily="18" charset="0"/>
                      </a:rPr>
                      <m:t>𝜔</m:t>
                    </m:r>
                  </m:oMath>
                </a14:m>
                <a:r>
                  <a:rPr lang="en-CN" dirty="0">
                    <a:latin typeface="FangSong" panose="02010609060101010101" pitchFamily="49" charset="-122"/>
                    <a:ea typeface="FangSong" panose="02010609060101010101" pitchFamily="49" charset="-122"/>
                  </a:rPr>
                  <a:t>为能量单元</a:t>
                </a:r>
                <a:r>
                  <a:rPr lang="zh-CN" altLang="en-US" dirty="0">
                    <a:latin typeface="FangSong" panose="02010609060101010101" pitchFamily="49" charset="-122"/>
                    <a:ea typeface="FangSong" panose="02010609060101010101" pitchFamily="49" charset="-122"/>
                  </a:rPr>
                  <a:t>，可以定义“单位能量下的平均数目“</a:t>
                </a:r>
                <a:endParaRPr lang="en-US" altLang="zh-CN" dirty="0">
                  <a:latin typeface="FangSong" panose="02010609060101010101" pitchFamily="49" charset="-122"/>
                  <a:ea typeface="FangSong" panose="02010609060101010101" pitchFamily="49" charset="-122"/>
                </a:endParaRPr>
              </a:p>
              <a:p>
                <a:pPr algn="ctr"/>
                <a14:m>
                  <m:oMathPara xmlns:m="http://schemas.openxmlformats.org/officeDocument/2006/math">
                    <m:oMathParaPr>
                      <m:jc m:val="centerGroup"/>
                    </m:oMathParaPr>
                    <m:oMath xmlns:m="http://schemas.openxmlformats.org/officeDocument/2006/math">
                      <m:acc>
                        <m:accPr>
                          <m:chr m:val="̅"/>
                          <m:ctrlPr>
                            <a:rPr lang="en-CN" i="1" smtClean="0">
                              <a:latin typeface="Cambria Math" panose="02040503050406030204" pitchFamily="18" charset="0"/>
                            </a:rPr>
                          </m:ctrlPr>
                        </m:accPr>
                        <m:e>
                          <m:r>
                            <a:rPr lang="en-US" b="0" i="1" smtClean="0">
                              <a:latin typeface="Cambria Math" panose="02040503050406030204" pitchFamily="18" charset="0"/>
                            </a:rPr>
                            <m:t>𝑛</m:t>
                          </m:r>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i="1">
                                  <a:latin typeface="Cambria Math" panose="02040503050406030204" pitchFamily="18" charset="0"/>
                                  <a:ea typeface="Cambria Math" panose="02040503050406030204" pitchFamily="18" charset="0"/>
                                </a:rPr>
                                <m:t>ℏ</m:t>
                              </m:r>
                              <m:r>
                                <a:rPr lang="en-US" i="1">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rPr>
                            <m:t>−1</m:t>
                          </m:r>
                        </m:den>
                      </m:f>
                    </m:oMath>
                  </m:oMathPara>
                </a14:m>
                <a:endParaRPr lang="en-CN" dirty="0"/>
              </a:p>
              <a:p>
                <a:pPr algn="ctr"/>
                <a:endParaRPr lang="en-CN" sz="4000" dirty="0">
                  <a:solidFill>
                    <a:srgbClr val="FF0000"/>
                  </a:solidFill>
                </a:endParaRPr>
              </a:p>
              <a:p>
                <a:pPr algn="ctr"/>
                <a:r>
                  <a:rPr lang="en-CN" sz="4000" dirty="0">
                    <a:solidFill>
                      <a:srgbClr val="FF0000"/>
                    </a:solidFill>
                  </a:rPr>
                  <a:t>Plank distribution(after Max Planck)</a:t>
                </a:r>
              </a:p>
            </p:txBody>
          </p:sp>
        </mc:Choice>
        <mc:Fallback xmlns="">
          <p:sp>
            <p:nvSpPr>
              <p:cNvPr id="2" name="TextBox 1">
                <a:extLst>
                  <a:ext uri="{FF2B5EF4-FFF2-40B4-BE49-F238E27FC236}">
                    <a16:creationId xmlns:a16="http://schemas.microsoft.com/office/drawing/2014/main" id="{93D654DF-FDC5-0EEE-C447-EAACECB4B254}"/>
                  </a:ext>
                </a:extLst>
              </p:cNvPr>
              <p:cNvSpPr txBox="1">
                <a:spLocks noRot="1" noChangeAspect="1" noMove="1" noResize="1" noEditPoints="1" noAdjustHandles="1" noChangeArrowheads="1" noChangeShapeType="1" noTextEdit="1"/>
              </p:cNvSpPr>
              <p:nvPr/>
            </p:nvSpPr>
            <p:spPr>
              <a:xfrm>
                <a:off x="831272" y="1593529"/>
                <a:ext cx="10529455" cy="4286494"/>
              </a:xfrm>
              <a:prstGeom prst="rect">
                <a:avLst/>
              </a:prstGeom>
              <a:blipFill>
                <a:blip r:embed="rId2"/>
                <a:stretch>
                  <a:fillRect l="-361" t="-885" b="-501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755848C-CDCC-F3F8-AECC-581386723059}"/>
                  </a:ext>
                </a:extLst>
              </p:cNvPr>
              <p:cNvSpPr txBox="1"/>
              <p:nvPr/>
            </p:nvSpPr>
            <p:spPr>
              <a:xfrm>
                <a:off x="304799" y="332509"/>
                <a:ext cx="11194473"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特定频率(</a:t>
                </a:r>
                <a:r>
                  <a:rPr lang="zh-CN" altLang="en-US" dirty="0">
                    <a:latin typeface="FangSong" panose="02010609060101010101" pitchFamily="49" charset="-122"/>
                    <a:ea typeface="FangSong" panose="02010609060101010101" pitchFamily="49" charset="-122"/>
                  </a:rPr>
                  <a:t>每一个谐振子贡献</a:t>
                </a:r>
                <a14:m>
                  <m:oMath xmlns:m="http://schemas.openxmlformats.org/officeDocument/2006/math">
                    <m:r>
                      <a:rPr lang="zh-CN" altLang="en-US" i="1" smtClean="0">
                        <a:latin typeface="Cambria Math" panose="02040503050406030204" pitchFamily="18" charset="0"/>
                        <a:ea typeface="FangSong" panose="02010609060101010101" pitchFamily="49" charset="-122"/>
                      </a:rPr>
                      <m:t>𝜏</m:t>
                    </m:r>
                  </m:oMath>
                </a14:m>
                <a:r>
                  <a:rPr lang="en-CN" dirty="0">
                    <a:latin typeface="FangSong" panose="02010609060101010101" pitchFamily="49" charset="-122"/>
                    <a:ea typeface="FangSong" panose="02010609060101010101" pitchFamily="49" charset="-122"/>
                  </a:rPr>
                  <a:t>能量</a:t>
                </a:r>
                <a:r>
                  <a:rPr lang="zh-CN" altLang="en-US" dirty="0">
                    <a:latin typeface="FangSong" panose="02010609060101010101" pitchFamily="49" charset="-122"/>
                    <a:ea typeface="FangSong" panose="02010609060101010101" pitchFamily="49" charset="-122"/>
                  </a:rPr>
                  <a:t>，总能量无穷，紫外灾难，量子力学的诞生</a:t>
                </a:r>
                <a:r>
                  <a:rPr lang="en-CN" dirty="0">
                    <a:latin typeface="FangSong" panose="02010609060101010101" pitchFamily="49" charset="-122"/>
                    <a:ea typeface="FangSong" panose="02010609060101010101" pitchFamily="49" charset="-122"/>
                  </a:rPr>
                  <a:t>)</a:t>
                </a:r>
              </a:p>
            </p:txBody>
          </p:sp>
        </mc:Choice>
        <mc:Fallback xmlns="">
          <p:sp>
            <p:nvSpPr>
              <p:cNvPr id="3" name="TextBox 2">
                <a:extLst>
                  <a:ext uri="{FF2B5EF4-FFF2-40B4-BE49-F238E27FC236}">
                    <a16:creationId xmlns:a16="http://schemas.microsoft.com/office/drawing/2014/main" id="{E755848C-CDCC-F3F8-AECC-581386723059}"/>
                  </a:ext>
                </a:extLst>
              </p:cNvPr>
              <p:cNvSpPr txBox="1">
                <a:spLocks noRot="1" noChangeAspect="1" noMove="1" noResize="1" noEditPoints="1" noAdjustHandles="1" noChangeArrowheads="1" noChangeShapeType="1" noTextEdit="1"/>
              </p:cNvSpPr>
              <p:nvPr/>
            </p:nvSpPr>
            <p:spPr>
              <a:xfrm>
                <a:off x="304799" y="332509"/>
                <a:ext cx="11194473" cy="369332"/>
              </a:xfrm>
              <a:prstGeom prst="rect">
                <a:avLst/>
              </a:prstGeom>
              <a:blipFill>
                <a:blip r:embed="rId3"/>
                <a:stretch>
                  <a:fillRect l="-454" t="-10000" b="-20000"/>
                </a:stretch>
              </a:blipFill>
            </p:spPr>
            <p:txBody>
              <a:bodyPr/>
              <a:lstStyle/>
              <a:p>
                <a:r>
                  <a:rPr lang="en-CN">
                    <a:noFill/>
                  </a:rPr>
                  <a:t> </a:t>
                </a:r>
              </a:p>
            </p:txBody>
          </p:sp>
        </mc:Fallback>
      </mc:AlternateContent>
      <p:pic>
        <p:nvPicPr>
          <p:cNvPr id="1028" name="Picture 4">
            <a:extLst>
              <a:ext uri="{FF2B5EF4-FFF2-40B4-BE49-F238E27FC236}">
                <a16:creationId xmlns:a16="http://schemas.microsoft.com/office/drawing/2014/main" id="{A778353B-63FD-8146-18F5-C1973B928A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65591" y="3767282"/>
            <a:ext cx="2159000" cy="28702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A3E94468-BB43-13F7-220E-664394234B95}"/>
              </a:ext>
            </a:extLst>
          </p:cNvPr>
          <p:cNvPicPr>
            <a:picLocks noChangeAspect="1"/>
          </p:cNvPicPr>
          <p:nvPr/>
        </p:nvPicPr>
        <p:blipFill>
          <a:blip r:embed="rId5"/>
          <a:stretch>
            <a:fillRect/>
          </a:stretch>
        </p:blipFill>
        <p:spPr>
          <a:xfrm>
            <a:off x="10343626" y="0"/>
            <a:ext cx="1848374" cy="3491372"/>
          </a:xfrm>
          <a:prstGeom prst="rect">
            <a:avLst/>
          </a:prstGeom>
        </p:spPr>
      </p:pic>
    </p:spTree>
    <p:extLst>
      <p:ext uri="{BB962C8B-B14F-4D97-AF65-F5344CB8AC3E}">
        <p14:creationId xmlns:p14="http://schemas.microsoft.com/office/powerpoint/2010/main" val="3903107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2610D7-43D0-8FB4-BAB5-0D680E91EC24}"/>
              </a:ext>
            </a:extLst>
          </p:cNvPr>
          <p:cNvSpPr txBox="1"/>
          <p:nvPr/>
        </p:nvSpPr>
        <p:spPr>
          <a:xfrm>
            <a:off x="581891" y="443345"/>
            <a:ext cx="10958945" cy="646331"/>
          </a:xfrm>
          <a:prstGeom prst="rect">
            <a:avLst/>
          </a:prstGeom>
          <a:noFill/>
        </p:spPr>
        <p:txBody>
          <a:bodyPr wrap="square" rtlCol="0">
            <a:spAutoFit/>
          </a:bodyPr>
          <a:lstStyle/>
          <a:p>
            <a:r>
              <a:rPr lang="en-US" dirty="0" err="1">
                <a:latin typeface="FangSong" panose="02010609060101010101" pitchFamily="49" charset="-122"/>
                <a:ea typeface="FangSong" panose="02010609060101010101" pitchFamily="49" charset="-122"/>
              </a:rPr>
              <a:t>所有频率</a:t>
            </a:r>
            <a:r>
              <a:rPr lang="zh-CN" altLang="en-US" dirty="0">
                <a:latin typeface="FangSong" panose="02010609060101010101" pitchFamily="49" charset="-122"/>
                <a:ea typeface="FangSong" panose="02010609060101010101" pitchFamily="49" charset="-122"/>
              </a:rPr>
              <a:t>、</a:t>
            </a:r>
            <a:r>
              <a:rPr lang="en-US" dirty="0">
                <a:latin typeface="FangSong" panose="02010609060101010101" pitchFamily="49" charset="-122"/>
                <a:ea typeface="FangSong" panose="02010609060101010101" pitchFamily="49" charset="-122"/>
              </a:rPr>
              <a:t>M</a:t>
            </a:r>
            <a:r>
              <a:rPr lang="en-CN" dirty="0">
                <a:latin typeface="FangSong" panose="02010609060101010101" pitchFamily="49" charset="-122"/>
                <a:ea typeface="FangSong" panose="02010609060101010101" pitchFamily="49" charset="-122"/>
              </a:rPr>
              <a:t>odes求和</a:t>
            </a:r>
          </a:p>
          <a:p>
            <a:endParaRPr lang="en-CN"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B4C7D7A-CDD3-70A3-7A5A-469A79DAE4EF}"/>
                  </a:ext>
                </a:extLst>
              </p:cNvPr>
              <p:cNvSpPr txBox="1"/>
              <p:nvPr/>
            </p:nvSpPr>
            <p:spPr>
              <a:xfrm>
                <a:off x="2521527" y="666505"/>
                <a:ext cx="6096000" cy="112075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solidFill>
                                <a:srgbClr val="FF0000"/>
                              </a:solidFill>
                              <a:latin typeface="Cambria Math" panose="02040503050406030204" pitchFamily="18" charset="0"/>
                            </a:rPr>
                          </m:ctrlPr>
                        </m:sSubSupPr>
                        <m:e>
                          <m:r>
                            <a:rPr lang="en-US" altLang="zh-CN" b="0" i="1" smtClean="0">
                              <a:solidFill>
                                <a:srgbClr val="FF0000"/>
                              </a:solidFill>
                              <a:latin typeface="Cambria Math" panose="02040503050406030204" pitchFamily="18" charset="0"/>
                            </a:rPr>
                            <m:t>𝑛</m:t>
                          </m:r>
                        </m:e>
                        <m:sub>
                          <m:r>
                            <a:rPr lang="en-US" altLang="zh-CN" b="0" i="1" smtClean="0">
                              <a:solidFill>
                                <a:srgbClr val="FF0000"/>
                              </a:solidFill>
                              <a:latin typeface="Cambria Math" panose="02040503050406030204" pitchFamily="18" charset="0"/>
                            </a:rPr>
                            <m:t>𝑥</m:t>
                          </m:r>
                        </m:sub>
                        <m:sup>
                          <m:r>
                            <a:rPr lang="en-US" altLang="zh-CN" b="0" i="1" smtClean="0">
                              <a:solidFill>
                                <a:srgbClr val="FF0000"/>
                              </a:solidFill>
                              <a:latin typeface="Cambria Math" panose="02040503050406030204" pitchFamily="18" charset="0"/>
                            </a:rPr>
                            <m:t>2</m:t>
                          </m:r>
                        </m:sup>
                      </m:sSubSup>
                      <m:r>
                        <a:rPr lang="en-US" altLang="zh-CN" b="0" i="1" smtClean="0">
                          <a:solidFill>
                            <a:srgbClr val="FF0000"/>
                          </a:solidFill>
                          <a:latin typeface="Cambria Math" panose="02040503050406030204" pitchFamily="18" charset="0"/>
                        </a:rPr>
                        <m:t>+</m:t>
                      </m:r>
                      <m:sSubSup>
                        <m:sSubSupPr>
                          <m:ctrlPr>
                            <a:rPr lang="en-US" altLang="zh-CN" b="0" i="1" smtClean="0">
                              <a:solidFill>
                                <a:srgbClr val="FF0000"/>
                              </a:solidFill>
                              <a:latin typeface="Cambria Math" panose="02040503050406030204" pitchFamily="18" charset="0"/>
                            </a:rPr>
                          </m:ctrlPr>
                        </m:sSubSupPr>
                        <m:e>
                          <m:r>
                            <a:rPr lang="en-US" altLang="zh-CN" b="0" i="1" smtClean="0">
                              <a:solidFill>
                                <a:srgbClr val="FF0000"/>
                              </a:solidFill>
                              <a:latin typeface="Cambria Math" panose="02040503050406030204" pitchFamily="18" charset="0"/>
                            </a:rPr>
                            <m:t>𝑛</m:t>
                          </m:r>
                        </m:e>
                        <m:sub>
                          <m:r>
                            <a:rPr lang="en-US" altLang="zh-CN" b="0" i="1" smtClean="0">
                              <a:solidFill>
                                <a:srgbClr val="FF0000"/>
                              </a:solidFill>
                              <a:latin typeface="Cambria Math" panose="02040503050406030204" pitchFamily="18" charset="0"/>
                            </a:rPr>
                            <m:t>𝑦</m:t>
                          </m:r>
                        </m:sub>
                        <m:sup>
                          <m:r>
                            <a:rPr lang="en-US" altLang="zh-CN" b="0" i="1" smtClean="0">
                              <a:solidFill>
                                <a:srgbClr val="FF0000"/>
                              </a:solidFill>
                              <a:latin typeface="Cambria Math" panose="02040503050406030204" pitchFamily="18" charset="0"/>
                            </a:rPr>
                            <m:t>2</m:t>
                          </m:r>
                        </m:sup>
                      </m:sSubSup>
                      <m:r>
                        <a:rPr lang="en-US" altLang="zh-CN" b="0" i="1" smtClean="0">
                          <a:solidFill>
                            <a:srgbClr val="FF0000"/>
                          </a:solidFill>
                          <a:latin typeface="Cambria Math" panose="02040503050406030204" pitchFamily="18" charset="0"/>
                        </a:rPr>
                        <m:t>+</m:t>
                      </m:r>
                      <m:sSubSup>
                        <m:sSubSupPr>
                          <m:ctrlPr>
                            <a:rPr lang="en-US" altLang="zh-CN" b="0" i="1" smtClean="0">
                              <a:solidFill>
                                <a:srgbClr val="FF0000"/>
                              </a:solidFill>
                              <a:latin typeface="Cambria Math" panose="02040503050406030204" pitchFamily="18" charset="0"/>
                            </a:rPr>
                          </m:ctrlPr>
                        </m:sSubSupPr>
                        <m:e>
                          <m:r>
                            <a:rPr lang="en-US" altLang="zh-CN" b="0" i="1" smtClean="0">
                              <a:solidFill>
                                <a:srgbClr val="FF0000"/>
                              </a:solidFill>
                              <a:latin typeface="Cambria Math" panose="02040503050406030204" pitchFamily="18" charset="0"/>
                            </a:rPr>
                            <m:t>𝑛</m:t>
                          </m:r>
                        </m:e>
                        <m:sub>
                          <m:r>
                            <a:rPr lang="en-US" altLang="zh-CN" b="0" i="1" smtClean="0">
                              <a:solidFill>
                                <a:srgbClr val="FF0000"/>
                              </a:solidFill>
                              <a:latin typeface="Cambria Math" panose="02040503050406030204" pitchFamily="18" charset="0"/>
                            </a:rPr>
                            <m:t>𝑧</m:t>
                          </m:r>
                        </m:sub>
                        <m:sup>
                          <m:r>
                            <a:rPr lang="en-US" altLang="zh-CN" b="0" i="1" smtClean="0">
                              <a:solidFill>
                                <a:srgbClr val="FF0000"/>
                              </a:solidFill>
                              <a:latin typeface="Cambria Math" panose="02040503050406030204" pitchFamily="18" charset="0"/>
                            </a:rPr>
                            <m:t>2</m:t>
                          </m:r>
                        </m:sup>
                      </m:sSubSup>
                      <m:r>
                        <a:rPr lang="en-US" altLang="zh-CN" b="0" i="1" smtClean="0">
                          <a:solidFill>
                            <a:srgbClr val="FF0000"/>
                          </a:solidFill>
                          <a:latin typeface="Cambria Math" panose="02040503050406030204" pitchFamily="18" charset="0"/>
                        </a:rPr>
                        <m:t>=</m:t>
                      </m:r>
                      <m:f>
                        <m:fPr>
                          <m:ctrlPr>
                            <a:rPr lang="en-US" altLang="zh-CN" b="0" i="1" smtClean="0">
                              <a:solidFill>
                                <a:srgbClr val="FF0000"/>
                              </a:solidFill>
                              <a:latin typeface="Cambria Math" panose="02040503050406030204" pitchFamily="18" charset="0"/>
                            </a:rPr>
                          </m:ctrlPr>
                        </m:fPr>
                        <m:num>
                          <m:sSup>
                            <m:sSupPr>
                              <m:ctrlPr>
                                <a:rPr lang="en-US" altLang="zh-CN" b="0" i="1" smtClean="0">
                                  <a:solidFill>
                                    <a:srgbClr val="FF0000"/>
                                  </a:solidFill>
                                  <a:latin typeface="Cambria Math" panose="02040503050406030204" pitchFamily="18" charset="0"/>
                                </a:rPr>
                              </m:ctrlPr>
                            </m:sSupPr>
                            <m:e>
                              <m:r>
                                <a:rPr lang="en-US" altLang="zh-CN" b="0" i="1" smtClean="0">
                                  <a:solidFill>
                                    <a:srgbClr val="FF0000"/>
                                  </a:solidFill>
                                  <a:latin typeface="Cambria Math" panose="02040503050406030204" pitchFamily="18" charset="0"/>
                                  <a:ea typeface="Cambria Math" panose="02040503050406030204" pitchFamily="18" charset="0"/>
                                </a:rPr>
                                <m:t>𝜔</m:t>
                              </m:r>
                            </m:e>
                            <m:sup>
                              <m:r>
                                <a:rPr lang="en-US" altLang="zh-CN" b="0" i="1" smtClean="0">
                                  <a:solidFill>
                                    <a:srgbClr val="FF0000"/>
                                  </a:solidFill>
                                  <a:latin typeface="Cambria Math" panose="02040503050406030204" pitchFamily="18" charset="0"/>
                                </a:rPr>
                                <m:t>2</m:t>
                              </m:r>
                            </m:sup>
                          </m:sSup>
                        </m:num>
                        <m:den>
                          <m:sSup>
                            <m:sSupPr>
                              <m:ctrlPr>
                                <a:rPr lang="en-US" altLang="zh-CN" b="0" i="1" smtClean="0">
                                  <a:solidFill>
                                    <a:srgbClr val="FF0000"/>
                                  </a:solidFill>
                                  <a:latin typeface="Cambria Math" panose="02040503050406030204" pitchFamily="18" charset="0"/>
                                </a:rPr>
                              </m:ctrlPr>
                            </m:sSupPr>
                            <m:e>
                              <m:r>
                                <a:rPr lang="en-US" altLang="zh-CN" b="0" i="1" smtClean="0">
                                  <a:solidFill>
                                    <a:srgbClr val="FF0000"/>
                                  </a:solidFill>
                                  <a:latin typeface="Cambria Math" panose="02040503050406030204" pitchFamily="18" charset="0"/>
                                </a:rPr>
                                <m:t>𝑐</m:t>
                              </m:r>
                            </m:e>
                            <m:sup>
                              <m:r>
                                <a:rPr lang="en-US" altLang="zh-CN" b="0" i="1" smtClean="0">
                                  <a:solidFill>
                                    <a:srgbClr val="FF0000"/>
                                  </a:solidFill>
                                  <a:latin typeface="Cambria Math" panose="02040503050406030204" pitchFamily="18" charset="0"/>
                                </a:rPr>
                                <m:t>2</m:t>
                              </m:r>
                            </m:sup>
                          </m:sSup>
                          <m:sSup>
                            <m:sSupPr>
                              <m:ctrlPr>
                                <a:rPr lang="en-US" altLang="zh-CN" b="0" i="1" smtClean="0">
                                  <a:solidFill>
                                    <a:srgbClr val="FF0000"/>
                                  </a:solidFill>
                                  <a:latin typeface="Cambria Math" panose="02040503050406030204" pitchFamily="18" charset="0"/>
                                </a:rPr>
                              </m:ctrlPr>
                            </m:sSupPr>
                            <m:e>
                              <m:r>
                                <a:rPr lang="en-US" altLang="zh-CN" b="0" i="1" smtClean="0">
                                  <a:solidFill>
                                    <a:srgbClr val="FF0000"/>
                                  </a:solidFill>
                                  <a:latin typeface="Cambria Math" panose="02040503050406030204" pitchFamily="18" charset="0"/>
                                  <a:ea typeface="Cambria Math" panose="02040503050406030204" pitchFamily="18" charset="0"/>
                                </a:rPr>
                                <m:t>𝜋</m:t>
                              </m:r>
                            </m:e>
                            <m:sup>
                              <m:r>
                                <a:rPr lang="en-US" altLang="zh-CN" b="0" i="1" smtClean="0">
                                  <a:solidFill>
                                    <a:srgbClr val="FF0000"/>
                                  </a:solidFill>
                                  <a:latin typeface="Cambria Math" panose="02040503050406030204" pitchFamily="18" charset="0"/>
                                </a:rPr>
                                <m:t>2</m:t>
                              </m:r>
                            </m:sup>
                          </m:sSup>
                        </m:den>
                      </m:f>
                      <m:sSup>
                        <m:sSupPr>
                          <m:ctrlPr>
                            <a:rPr lang="en-US" altLang="zh-CN" b="0" i="1" smtClean="0">
                              <a:solidFill>
                                <a:srgbClr val="FF0000"/>
                              </a:solidFill>
                              <a:latin typeface="Cambria Math" panose="02040503050406030204" pitchFamily="18" charset="0"/>
                            </a:rPr>
                          </m:ctrlPr>
                        </m:sSupPr>
                        <m:e>
                          <m:r>
                            <a:rPr lang="en-US" altLang="zh-CN" b="0" i="1" smtClean="0">
                              <a:solidFill>
                                <a:srgbClr val="FF0000"/>
                              </a:solidFill>
                              <a:latin typeface="Cambria Math" panose="02040503050406030204" pitchFamily="18" charset="0"/>
                            </a:rPr>
                            <m:t>𝐿</m:t>
                          </m:r>
                        </m:e>
                        <m:sup>
                          <m:r>
                            <a:rPr lang="en-US" altLang="zh-CN" b="0" i="1" smtClean="0">
                              <a:solidFill>
                                <a:srgbClr val="FF0000"/>
                              </a:solidFill>
                              <a:latin typeface="Cambria Math" panose="02040503050406030204" pitchFamily="18" charset="0"/>
                            </a:rPr>
                            <m:t>2</m:t>
                          </m:r>
                        </m:sup>
                      </m:sSup>
                    </m:oMath>
                  </m:oMathPara>
                </a14:m>
                <a:endParaRPr lang="en-CN" dirty="0"/>
              </a:p>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m:t>
                      </m:r>
                      <m:sSub>
                        <m:sSubPr>
                          <m:ctrlPr>
                            <a:rPr lang="en-CN" i="1" smtClean="0">
                              <a:solidFill>
                                <a:srgbClr val="FF0000"/>
                              </a:solidFill>
                              <a:latin typeface="Cambria Math" panose="02040503050406030204" pitchFamily="18" charset="0"/>
                              <a:ea typeface="Cambria Math" panose="02040503050406030204" pitchFamily="18" charset="0"/>
                            </a:rPr>
                          </m:ctrlPr>
                        </m:sSubPr>
                        <m:e>
                          <m:r>
                            <a:rPr lang="en-CN" i="1" smtClean="0">
                              <a:solidFill>
                                <a:srgbClr val="FF0000"/>
                              </a:solidFill>
                              <a:latin typeface="Cambria Math" panose="02040503050406030204" pitchFamily="18" charset="0"/>
                              <a:ea typeface="Cambria Math" panose="02040503050406030204" pitchFamily="18" charset="0"/>
                            </a:rPr>
                            <m:t>𝜔</m:t>
                          </m:r>
                        </m:e>
                        <m:sub>
                          <m:r>
                            <a:rPr lang="en-US" b="0" i="1" smtClean="0">
                              <a:solidFill>
                                <a:srgbClr val="FF0000"/>
                              </a:solidFill>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𝑐</m:t>
                          </m:r>
                        </m:num>
                        <m:den>
                          <m:r>
                            <a:rPr lang="en-US" b="0" i="1" smtClean="0">
                              <a:latin typeface="Cambria Math" panose="02040503050406030204" pitchFamily="18" charset="0"/>
                              <a:ea typeface="Cambria Math" panose="02040503050406030204" pitchFamily="18" charset="0"/>
                            </a:rPr>
                            <m:t>𝐿</m:t>
                          </m:r>
                        </m:den>
                      </m:f>
                    </m:oMath>
                  </m:oMathPara>
                </a14:m>
                <a:endParaRPr lang="en-CN" dirty="0"/>
              </a:p>
            </p:txBody>
          </p:sp>
        </mc:Choice>
        <mc:Fallback xmlns="">
          <p:sp>
            <p:nvSpPr>
              <p:cNvPr id="4" name="TextBox 3">
                <a:extLst>
                  <a:ext uri="{FF2B5EF4-FFF2-40B4-BE49-F238E27FC236}">
                    <a16:creationId xmlns:a16="http://schemas.microsoft.com/office/drawing/2014/main" id="{2B4C7D7A-CDD3-70A3-7A5A-469A79DAE4EF}"/>
                  </a:ext>
                </a:extLst>
              </p:cNvPr>
              <p:cNvSpPr txBox="1">
                <a:spLocks noRot="1" noChangeAspect="1" noMove="1" noResize="1" noEditPoints="1" noAdjustHandles="1" noChangeArrowheads="1" noChangeShapeType="1" noTextEdit="1"/>
              </p:cNvSpPr>
              <p:nvPr/>
            </p:nvSpPr>
            <p:spPr>
              <a:xfrm>
                <a:off x="2521527" y="666505"/>
                <a:ext cx="6096000" cy="1120756"/>
              </a:xfrm>
              <a:prstGeom prst="rect">
                <a:avLst/>
              </a:prstGeom>
              <a:blipFill>
                <a:blip r:embed="rId2"/>
                <a:stretch>
                  <a:fillRect b="-224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BE21BFE-EF99-982A-B920-E03B7AB42BB5}"/>
                  </a:ext>
                </a:extLst>
              </p:cNvPr>
              <p:cNvSpPr txBox="1"/>
              <p:nvPr/>
            </p:nvSpPr>
            <p:spPr>
              <a:xfrm>
                <a:off x="1274619" y="2010421"/>
                <a:ext cx="9157854" cy="178407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=2</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𝑛</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𝑛𝑦</m:t>
                          </m:r>
                          <m:r>
                            <a:rPr lang="en-US" b="0" i="1" smtClean="0">
                              <a:latin typeface="Cambria Math" panose="02040503050406030204" pitchFamily="18" charset="0"/>
                            </a:rPr>
                            <m:t>,</m:t>
                          </m:r>
                          <m:r>
                            <a:rPr lang="en-US" b="0" i="1" smtClean="0">
                              <a:latin typeface="Cambria Math" panose="02040503050406030204" pitchFamily="18" charset="0"/>
                            </a:rPr>
                            <m:t>𝑛𝑧</m:t>
                          </m:r>
                        </m:sub>
                        <m:sup/>
                        <m:e>
                          <m:r>
                            <a:rPr lang="en-US" b="0" i="1" smtClean="0">
                              <a:latin typeface="Cambria Math" panose="02040503050406030204" pitchFamily="18" charset="0"/>
                              <a:ea typeface="Cambria Math" panose="02040503050406030204" pitchFamily="18" charset="0"/>
                            </a:rPr>
                            <m:t>ℏ</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𝑐</m:t>
                              </m:r>
                            </m:num>
                            <m:den>
                              <m:r>
                                <a:rPr lang="en-US" i="1">
                                  <a:latin typeface="Cambria Math" panose="02040503050406030204" pitchFamily="18" charset="0"/>
                                  <a:ea typeface="Cambria Math" panose="02040503050406030204" pitchFamily="18" charset="0"/>
                                </a:rPr>
                                <m:t>𝐿</m:t>
                              </m:r>
                            </m:den>
                          </m:f>
                          <m:f>
                            <m:fPr>
                              <m:ctrlPr>
                                <a:rPr lang="en-US"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i="1" smtClean="0">
                                      <a:latin typeface="Cambria Math" panose="02040503050406030204" pitchFamily="18" charset="0"/>
                                      <a:ea typeface="Cambria Math" panose="02040503050406030204" pitchFamily="18" charset="0"/>
                                    </a:rPr>
                                    <m:t>ℏ</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𝑐</m:t>
                                      </m:r>
                                    </m:num>
                                    <m:den>
                                      <m:r>
                                        <a:rPr lang="en-US" i="1">
                                          <a:latin typeface="Cambria Math" panose="02040503050406030204" pitchFamily="18" charset="0"/>
                                          <a:ea typeface="Cambria Math" panose="02040503050406030204" pitchFamily="18" charset="0"/>
                                        </a:rPr>
                                        <m:t>𝐿</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ea typeface="Cambria Math" panose="02040503050406030204" pitchFamily="18" charset="0"/>
                                </a:rPr>
                                <m:t>−1</m:t>
                              </m:r>
                            </m:den>
                          </m:f>
                        </m:e>
                      </m:nary>
                    </m:oMath>
                  </m:oMathPara>
                </a14:m>
                <a:endParaRPr lang="en-CN" dirty="0"/>
              </a:p>
              <a:p>
                <a:pPr algn="ctr"/>
                <a14:m>
                  <m:oMath xmlns:m="http://schemas.openxmlformats.org/officeDocument/2006/math">
                    <m:r>
                      <a:rPr lang="en-US" b="0" i="1" smtClean="0">
                        <a:latin typeface="Cambria Math" panose="02040503050406030204" pitchFamily="18" charset="0"/>
                      </a:rPr>
                      <m:t>=2</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𝑑𝑛</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0</m:t>
                            </m:r>
                          </m:sub>
                          <m:sup>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𝜋</m:t>
                                </m:r>
                              </m:num>
                              <m:den>
                                <m:r>
                                  <a:rPr lang="en-US" b="0" i="1" smtClean="0">
                                    <a:latin typeface="Cambria Math" panose="02040503050406030204" pitchFamily="18" charset="0"/>
                                  </a:rPr>
                                  <m:t>2</m:t>
                                </m:r>
                              </m:den>
                            </m:f>
                          </m:sup>
                          <m:e>
                            <m:r>
                              <a:rPr lang="en-US" b="0" i="1" smtClean="0">
                                <a:latin typeface="Cambria Math" panose="02040503050406030204" pitchFamily="18" charset="0"/>
                              </a:rPr>
                              <m:t>𝑠𝑖𝑛</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𝜃</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𝜋</m:t>
                                    </m:r>
                                  </m:num>
                                  <m:den>
                                    <m:r>
                                      <a:rPr lang="en-US" b="0" i="1" smtClean="0">
                                        <a:latin typeface="Cambria Math" panose="02040503050406030204" pitchFamily="18" charset="0"/>
                                        <a:ea typeface="Cambria Math" panose="02040503050406030204" pitchFamily="18" charset="0"/>
                                      </a:rPr>
                                      <m:t>2</m:t>
                                    </m:r>
                                  </m:den>
                                </m:f>
                              </m:sup>
                              <m:e>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𝜙</m:t>
                                </m:r>
                              </m:e>
                            </m:nary>
                          </m:e>
                        </m:nary>
                      </m:e>
                    </m:nary>
                  </m:oMath>
                </a14:m>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ℏ</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𝑐</m:t>
                        </m:r>
                      </m:num>
                      <m:den>
                        <m:r>
                          <a:rPr lang="en-US" i="1">
                            <a:latin typeface="Cambria Math" panose="02040503050406030204" pitchFamily="18" charset="0"/>
                            <a:ea typeface="Cambria Math" panose="02040503050406030204" pitchFamily="18" charset="0"/>
                          </a:rPr>
                          <m:t>𝐿</m:t>
                        </m:r>
                      </m:den>
                    </m:f>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ℏ</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𝑐</m:t>
                                </m:r>
                              </m:num>
                              <m:den>
                                <m:r>
                                  <a:rPr lang="en-US" i="1">
                                    <a:latin typeface="Cambria Math" panose="02040503050406030204" pitchFamily="18" charset="0"/>
                                    <a:ea typeface="Cambria Math" panose="02040503050406030204" pitchFamily="18" charset="0"/>
                                  </a:rPr>
                                  <m:t>𝐿</m:t>
                                </m:r>
                              </m:den>
                            </m:f>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𝜏</m:t>
                            </m:r>
                          </m:sup>
                        </m:sSup>
                        <m:r>
                          <a:rPr lang="en-US" i="1">
                            <a:latin typeface="Cambria Math" panose="02040503050406030204" pitchFamily="18" charset="0"/>
                            <a:ea typeface="Cambria Math" panose="02040503050406030204" pitchFamily="18" charset="0"/>
                          </a:rPr>
                          <m:t>−1</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𝜋</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𝑛</m:t>
                            </m:r>
                          </m:e>
                          <m:sup>
                            <m:r>
                              <a:rPr lang="en-US" b="0" i="1" smtClean="0">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ℏ</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𝑐</m:t>
                            </m:r>
                          </m:num>
                          <m:den>
                            <m:r>
                              <a:rPr lang="en-US" i="1">
                                <a:latin typeface="Cambria Math" panose="02040503050406030204" pitchFamily="18" charset="0"/>
                                <a:ea typeface="Cambria Math" panose="02040503050406030204" pitchFamily="18" charset="0"/>
                              </a:rPr>
                              <m:t>𝐿</m:t>
                            </m:r>
                          </m:den>
                        </m:f>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ℏ</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𝑐</m:t>
                                    </m:r>
                                  </m:num>
                                  <m:den>
                                    <m:r>
                                      <a:rPr lang="en-US" i="1">
                                        <a:latin typeface="Cambria Math" panose="02040503050406030204" pitchFamily="18" charset="0"/>
                                        <a:ea typeface="Cambria Math" panose="02040503050406030204" pitchFamily="18" charset="0"/>
                                      </a:rPr>
                                      <m:t>𝐿</m:t>
                                    </m:r>
                                  </m:den>
                                </m:f>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𝜏</m:t>
                                </m:r>
                              </m:sup>
                            </m:sSup>
                            <m:r>
                              <a:rPr lang="en-US" i="1">
                                <a:latin typeface="Cambria Math" panose="02040503050406030204" pitchFamily="18" charset="0"/>
                                <a:ea typeface="Cambria Math" panose="02040503050406030204" pitchFamily="18" charset="0"/>
                              </a:rPr>
                              <m:t>−1</m:t>
                            </m:r>
                          </m:den>
                        </m:f>
                        <m:r>
                          <a:rPr lang="en-US" b="0" i="1" smtClean="0">
                            <a:latin typeface="Cambria Math" panose="02040503050406030204" pitchFamily="18" charset="0"/>
                            <a:ea typeface="Cambria Math" panose="02040503050406030204" pitchFamily="18" charset="0"/>
                          </a:rPr>
                          <m:t>𝑑𝑛</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𝑉</m:t>
                            </m:r>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𝜋</m:t>
                                </m:r>
                              </m:e>
                              <m:sup>
                                <m:r>
                                  <a:rPr lang="en-US" b="0" i="1" smtClean="0">
                                    <a:latin typeface="Cambria Math" panose="02040503050406030204" pitchFamily="18" charset="0"/>
                                    <a:ea typeface="Cambria Math" panose="02040503050406030204" pitchFamily="18" charset="0"/>
                                  </a:rPr>
                                  <m:t>2</m:t>
                                </m:r>
                              </m:sup>
                            </m:sSup>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ℏ</m:t>
                                    </m:r>
                                    <m:r>
                                      <a:rPr lang="en-US" b="0" i="1" smtClean="0">
                                        <a:latin typeface="Cambria Math" panose="02040503050406030204" pitchFamily="18" charset="0"/>
                                        <a:ea typeface="Cambria Math" panose="02040503050406030204" pitchFamily="18" charset="0"/>
                                      </a:rPr>
                                      <m:t>𝑐</m:t>
                                    </m:r>
                                  </m:e>
                                </m:d>
                              </m:e>
                              <m:sup>
                                <m:r>
                                  <a:rPr lang="en-US" b="0" i="1" smtClean="0">
                                    <a:latin typeface="Cambria Math" panose="02040503050406030204" pitchFamily="18" charset="0"/>
                                    <a:ea typeface="Cambria Math" panose="02040503050406030204" pitchFamily="18" charset="0"/>
                                  </a:rPr>
                                  <m:t>3</m:t>
                                </m:r>
                              </m:sup>
                            </m:sSup>
                          </m:den>
                        </m:f>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𝜏</m:t>
                            </m:r>
                          </m:e>
                          <m:sup>
                            <m:r>
                              <a:rPr lang="en-US" b="0" i="1" smtClean="0">
                                <a:latin typeface="Cambria Math" panose="02040503050406030204" pitchFamily="18" charset="0"/>
                                <a:ea typeface="Cambria Math" panose="02040503050406030204" pitchFamily="18" charset="0"/>
                              </a:rPr>
                              <m:t>4</m:t>
                            </m:r>
                          </m:sup>
                        </m:sSup>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3</m:t>
                                    </m:r>
                                  </m:sup>
                                </m:s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𝑥</m:t>
                                    </m:r>
                                  </m:sup>
                                </m:sSup>
                                <m:r>
                                  <a:rPr lang="en-US" b="0" i="1" smtClean="0">
                                    <a:latin typeface="Cambria Math" panose="02040503050406030204" pitchFamily="18" charset="0"/>
                                    <a:ea typeface="Cambria Math" panose="02040503050406030204" pitchFamily="18" charset="0"/>
                                  </a:rPr>
                                  <m:t>−1</m:t>
                                </m:r>
                              </m:den>
                            </m:f>
                            <m:r>
                              <a:rPr lang="en-US" b="0" i="1" smtClean="0">
                                <a:latin typeface="Cambria Math" panose="02040503050406030204" pitchFamily="18" charset="0"/>
                                <a:ea typeface="Cambria Math" panose="02040503050406030204" pitchFamily="18" charset="0"/>
                              </a:rPr>
                              <m:t>𝑑𝑥</m:t>
                            </m:r>
                          </m:e>
                        </m:nary>
                      </m:e>
                    </m:nary>
                  </m:oMath>
                </a14:m>
                <a:endParaRPr lang="en-CN" dirty="0"/>
              </a:p>
            </p:txBody>
          </p:sp>
        </mc:Choice>
        <mc:Fallback xmlns="">
          <p:sp>
            <p:nvSpPr>
              <p:cNvPr id="7" name="TextBox 6">
                <a:extLst>
                  <a:ext uri="{FF2B5EF4-FFF2-40B4-BE49-F238E27FC236}">
                    <a16:creationId xmlns:a16="http://schemas.microsoft.com/office/drawing/2014/main" id="{FBE21BFE-EF99-982A-B920-E03B7AB42BB5}"/>
                  </a:ext>
                </a:extLst>
              </p:cNvPr>
              <p:cNvSpPr txBox="1">
                <a:spLocks noRot="1" noChangeAspect="1" noMove="1" noResize="1" noEditPoints="1" noAdjustHandles="1" noChangeArrowheads="1" noChangeShapeType="1" noTextEdit="1"/>
              </p:cNvSpPr>
              <p:nvPr/>
            </p:nvSpPr>
            <p:spPr>
              <a:xfrm>
                <a:off x="1274619" y="2010421"/>
                <a:ext cx="9157854" cy="1784078"/>
              </a:xfrm>
              <a:prstGeom prst="rect">
                <a:avLst/>
              </a:prstGeom>
              <a:blipFill>
                <a:blip r:embed="rId3"/>
                <a:stretch>
                  <a:fillRect t="-53191" b="-35461"/>
                </a:stretch>
              </a:blipFill>
            </p:spPr>
            <p:txBody>
              <a:bodyPr/>
              <a:lstStyle/>
              <a:p>
                <a:r>
                  <a:rPr lang="en-CN">
                    <a:noFill/>
                  </a:rPr>
                  <a:t> </a:t>
                </a:r>
              </a:p>
            </p:txBody>
          </p:sp>
        </mc:Fallback>
      </mc:AlternateContent>
      <p:sp>
        <p:nvSpPr>
          <p:cNvPr id="8" name="Down Arrow 7">
            <a:extLst>
              <a:ext uri="{FF2B5EF4-FFF2-40B4-BE49-F238E27FC236}">
                <a16:creationId xmlns:a16="http://schemas.microsoft.com/office/drawing/2014/main" id="{CD56E8DE-768B-3DCB-088C-BBBD949706CF}"/>
              </a:ext>
            </a:extLst>
          </p:cNvPr>
          <p:cNvSpPr/>
          <p:nvPr/>
        </p:nvSpPr>
        <p:spPr>
          <a:xfrm>
            <a:off x="5853546" y="3906982"/>
            <a:ext cx="394854" cy="11637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5E7CB93-02DD-4DB0-A9B2-8598809407BB}"/>
                  </a:ext>
                </a:extLst>
              </p:cNvPr>
              <p:cNvSpPr txBox="1"/>
              <p:nvPr/>
            </p:nvSpPr>
            <p:spPr>
              <a:xfrm>
                <a:off x="6414655" y="4294909"/>
                <a:ext cx="1413163" cy="5648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𝜀</m:t>
                          </m:r>
                        </m:num>
                        <m:den>
                          <m:r>
                            <a:rPr lang="en-US" b="0" i="1" smtClean="0">
                              <a:latin typeface="Cambria Math" panose="02040503050406030204" pitchFamily="18" charset="0"/>
                              <a:ea typeface="Cambria Math" panose="02040503050406030204" pitchFamily="18" charset="0"/>
                            </a:rPr>
                            <m:t>𝜏</m:t>
                          </m:r>
                        </m:den>
                      </m:f>
                    </m:oMath>
                  </m:oMathPara>
                </a14:m>
                <a:endParaRPr lang="en-CN" dirty="0"/>
              </a:p>
            </p:txBody>
          </p:sp>
        </mc:Choice>
        <mc:Fallback xmlns="">
          <p:sp>
            <p:nvSpPr>
              <p:cNvPr id="9" name="TextBox 8">
                <a:extLst>
                  <a:ext uri="{FF2B5EF4-FFF2-40B4-BE49-F238E27FC236}">
                    <a16:creationId xmlns:a16="http://schemas.microsoft.com/office/drawing/2014/main" id="{E5E7CB93-02DD-4DB0-A9B2-8598809407BB}"/>
                  </a:ext>
                </a:extLst>
              </p:cNvPr>
              <p:cNvSpPr txBox="1">
                <a:spLocks noRot="1" noChangeAspect="1" noMove="1" noResize="1" noEditPoints="1" noAdjustHandles="1" noChangeArrowheads="1" noChangeShapeType="1" noTextEdit="1"/>
              </p:cNvSpPr>
              <p:nvPr/>
            </p:nvSpPr>
            <p:spPr>
              <a:xfrm>
                <a:off x="6414655" y="4294909"/>
                <a:ext cx="1413163" cy="564898"/>
              </a:xfrm>
              <a:prstGeom prst="rect">
                <a:avLst/>
              </a:prstGeom>
              <a:blipFill>
                <a:blip r:embed="rId4"/>
                <a:stretch>
                  <a:fillRect b="-222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F75D77B-1206-DC5F-5C14-901B47D0F40D}"/>
                  </a:ext>
                </a:extLst>
              </p:cNvPr>
              <p:cNvSpPr txBox="1"/>
              <p:nvPr/>
            </p:nvSpPr>
            <p:spPr>
              <a:xfrm>
                <a:off x="3120736" y="5360217"/>
                <a:ext cx="5860473" cy="7366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𝑉</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r>
                            <a:rPr lang="en-US" b="0" i="1" smtClean="0">
                              <a:solidFill>
                                <a:srgbClr val="FF0000"/>
                              </a:solidFill>
                              <a:latin typeface="Cambria Math" panose="02040503050406030204" pitchFamily="18" charset="0"/>
                            </a:rPr>
                            <m:t>𝑢</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𝜀</m:t>
                              </m:r>
                            </m:e>
                          </m:d>
                          <m:r>
                            <a:rPr lang="en-US" b="0" i="1" smtClean="0">
                              <a:solidFill>
                                <a:srgbClr val="FF0000"/>
                              </a:solidFill>
                              <a:latin typeface="Cambria Math" panose="02040503050406030204" pitchFamily="18" charset="0"/>
                            </a:rPr>
                            <m:t>𝑑</m:t>
                          </m:r>
                          <m:r>
                            <a:rPr lang="en-US" b="0" i="1" smtClean="0">
                              <a:solidFill>
                                <a:srgbClr val="FF0000"/>
                              </a:solidFill>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f>
                                <m:fPr>
                                  <m:ctrlPr>
                                    <a:rPr lang="en-US" b="0" i="1" smtClean="0">
                                      <a:solidFill>
                                        <a:srgbClr val="FF0000"/>
                                      </a:solidFill>
                                      <a:latin typeface="Cambria Math" panose="02040503050406030204" pitchFamily="18" charset="0"/>
                                      <a:ea typeface="Cambria Math" panose="02040503050406030204" pitchFamily="18" charset="0"/>
                                    </a:rPr>
                                  </m:ctrlPr>
                                </m:fPr>
                                <m:num>
                                  <m:r>
                                    <a:rPr lang="en-US" b="0" i="1" smtClean="0">
                                      <a:solidFill>
                                        <a:srgbClr val="FF0000"/>
                                      </a:solidFill>
                                      <a:latin typeface="Cambria Math" panose="02040503050406030204" pitchFamily="18" charset="0"/>
                                      <a:ea typeface="Cambria Math" panose="02040503050406030204" pitchFamily="18" charset="0"/>
                                    </a:rPr>
                                    <m:t>1</m:t>
                                  </m:r>
                                </m:num>
                                <m:den>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𝜋</m:t>
                                      </m:r>
                                    </m:e>
                                    <m:sup>
                                      <m:r>
                                        <a:rPr lang="en-US" b="0" i="1" smtClean="0">
                                          <a:solidFill>
                                            <a:srgbClr val="FF0000"/>
                                          </a:solidFill>
                                          <a:latin typeface="Cambria Math" panose="02040503050406030204" pitchFamily="18" charset="0"/>
                                          <a:ea typeface="Cambria Math" panose="02040503050406030204" pitchFamily="18" charset="0"/>
                                        </a:rPr>
                                        <m:t>2</m:t>
                                      </m:r>
                                    </m:sup>
                                  </m:sSup>
                                  <m:sSup>
                                    <m:sSupPr>
                                      <m:ctrlPr>
                                        <a:rPr lang="en-US" b="0" i="1" smtClean="0">
                                          <a:solidFill>
                                            <a:srgbClr val="FF0000"/>
                                          </a:solidFill>
                                          <a:latin typeface="Cambria Math" panose="02040503050406030204" pitchFamily="18" charset="0"/>
                                          <a:ea typeface="Cambria Math" panose="02040503050406030204" pitchFamily="18" charset="0"/>
                                        </a:rPr>
                                      </m:ctrlPr>
                                    </m:sSupPr>
                                    <m:e>
                                      <m:d>
                                        <m:dPr>
                                          <m:ctrlPr>
                                            <a:rPr lang="en-US" b="0" i="1" smtClean="0">
                                              <a:solidFill>
                                                <a:srgbClr val="FF0000"/>
                                              </a:solidFill>
                                              <a:latin typeface="Cambria Math" panose="02040503050406030204" pitchFamily="18" charset="0"/>
                                              <a:ea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ℏ</m:t>
                                          </m:r>
                                          <m:r>
                                            <a:rPr lang="en-US" b="0" i="1" smtClean="0">
                                              <a:solidFill>
                                                <a:srgbClr val="FF0000"/>
                                              </a:solidFill>
                                              <a:latin typeface="Cambria Math" panose="02040503050406030204" pitchFamily="18" charset="0"/>
                                              <a:ea typeface="Cambria Math" panose="02040503050406030204" pitchFamily="18" charset="0"/>
                                            </a:rPr>
                                            <m:t>𝑐</m:t>
                                          </m:r>
                                        </m:e>
                                      </m:d>
                                    </m:e>
                                    <m:sup>
                                      <m:r>
                                        <a:rPr lang="en-US" b="0" i="1" smtClean="0">
                                          <a:solidFill>
                                            <a:srgbClr val="FF0000"/>
                                          </a:solidFill>
                                          <a:latin typeface="Cambria Math" panose="02040503050406030204" pitchFamily="18" charset="0"/>
                                          <a:ea typeface="Cambria Math" panose="02040503050406030204" pitchFamily="18" charset="0"/>
                                        </a:rPr>
                                        <m:t>3</m:t>
                                      </m:r>
                                    </m:sup>
                                  </m:sSup>
                                </m:den>
                              </m:f>
                              <m:f>
                                <m:fPr>
                                  <m:ctrlPr>
                                    <a:rPr lang="en-US" b="0" i="1" smtClean="0">
                                      <a:solidFill>
                                        <a:srgbClr val="FF0000"/>
                                      </a:solidFill>
                                      <a:latin typeface="Cambria Math" panose="02040503050406030204" pitchFamily="18" charset="0"/>
                                      <a:ea typeface="Cambria Math" panose="02040503050406030204" pitchFamily="18" charset="0"/>
                                    </a:rPr>
                                  </m:ctrlPr>
                                </m:fPr>
                                <m:num>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𝜀</m:t>
                                      </m:r>
                                    </m:e>
                                    <m:sup>
                                      <m:r>
                                        <a:rPr lang="en-US" b="0" i="1" smtClean="0">
                                          <a:solidFill>
                                            <a:srgbClr val="FF0000"/>
                                          </a:solidFill>
                                          <a:latin typeface="Cambria Math" panose="02040503050406030204" pitchFamily="18" charset="0"/>
                                          <a:ea typeface="Cambria Math" panose="02040503050406030204" pitchFamily="18" charset="0"/>
                                        </a:rPr>
                                        <m:t>3</m:t>
                                      </m:r>
                                    </m:sup>
                                  </m:sSup>
                                </m:num>
                                <m:den>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𝑒</m:t>
                                      </m:r>
                                    </m:e>
                                    <m:sup>
                                      <m:r>
                                        <a:rPr lang="en-US" b="0" i="1" smtClean="0">
                                          <a:solidFill>
                                            <a:srgbClr val="FF0000"/>
                                          </a:solidFill>
                                          <a:latin typeface="Cambria Math" panose="02040503050406030204" pitchFamily="18" charset="0"/>
                                          <a:ea typeface="Cambria Math" panose="02040503050406030204" pitchFamily="18" charset="0"/>
                                        </a:rPr>
                                        <m:t>𝜀</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𝜏</m:t>
                                      </m:r>
                                    </m:sup>
                                  </m:sSup>
                                  <m:r>
                                    <a:rPr lang="en-US" b="0" i="1" smtClean="0">
                                      <a:solidFill>
                                        <a:srgbClr val="FF0000"/>
                                      </a:solidFill>
                                      <a:latin typeface="Cambria Math" panose="02040503050406030204" pitchFamily="18" charset="0"/>
                                      <a:ea typeface="Cambria Math" panose="02040503050406030204" pitchFamily="18" charset="0"/>
                                    </a:rPr>
                                    <m:t>−1</m:t>
                                  </m:r>
                                </m:den>
                              </m:f>
                              <m:r>
                                <a:rPr lang="en-US" b="0" i="1" smtClean="0">
                                  <a:solidFill>
                                    <a:srgbClr val="FF0000"/>
                                  </a:solidFill>
                                  <a:latin typeface="Cambria Math" panose="02040503050406030204" pitchFamily="18" charset="0"/>
                                  <a:ea typeface="Cambria Math" panose="02040503050406030204" pitchFamily="18" charset="0"/>
                                </a:rPr>
                                <m:t>𝑑</m:t>
                              </m:r>
                              <m:r>
                                <a:rPr lang="en-US" b="0" i="1" smtClean="0">
                                  <a:solidFill>
                                    <a:srgbClr val="FF0000"/>
                                  </a:solidFill>
                                  <a:latin typeface="Cambria Math" panose="02040503050406030204" pitchFamily="18" charset="0"/>
                                  <a:ea typeface="Cambria Math" panose="02040503050406030204" pitchFamily="18" charset="0"/>
                                </a:rPr>
                                <m:t>𝜀</m:t>
                              </m:r>
                            </m:e>
                          </m:nary>
                        </m:e>
                      </m:nary>
                    </m:oMath>
                  </m:oMathPara>
                </a14:m>
                <a:endParaRPr lang="en-CN" dirty="0"/>
              </a:p>
            </p:txBody>
          </p:sp>
        </mc:Choice>
        <mc:Fallback xmlns="">
          <p:sp>
            <p:nvSpPr>
              <p:cNvPr id="10" name="TextBox 9">
                <a:extLst>
                  <a:ext uri="{FF2B5EF4-FFF2-40B4-BE49-F238E27FC236}">
                    <a16:creationId xmlns:a16="http://schemas.microsoft.com/office/drawing/2014/main" id="{CF75D77B-1206-DC5F-5C14-901B47D0F40D}"/>
                  </a:ext>
                </a:extLst>
              </p:cNvPr>
              <p:cNvSpPr txBox="1">
                <a:spLocks noRot="1" noChangeAspect="1" noMove="1" noResize="1" noEditPoints="1" noAdjustHandles="1" noChangeArrowheads="1" noChangeShapeType="1" noTextEdit="1"/>
              </p:cNvSpPr>
              <p:nvPr/>
            </p:nvSpPr>
            <p:spPr>
              <a:xfrm>
                <a:off x="3120736" y="5360217"/>
                <a:ext cx="5860473" cy="736612"/>
              </a:xfrm>
              <a:prstGeom prst="rect">
                <a:avLst/>
              </a:prstGeom>
              <a:blipFill>
                <a:blip r:embed="rId5"/>
                <a:stretch>
                  <a:fillRect t="-143333" b="-213333"/>
                </a:stretch>
              </a:blipFill>
            </p:spPr>
            <p:txBody>
              <a:bodyPr/>
              <a:lstStyle/>
              <a:p>
                <a:r>
                  <a:rPr lang="en-CN">
                    <a:noFill/>
                  </a:rPr>
                  <a:t> </a:t>
                </a:r>
              </a:p>
            </p:txBody>
          </p:sp>
        </mc:Fallback>
      </mc:AlternateContent>
      <p:sp>
        <p:nvSpPr>
          <p:cNvPr id="11" name="TextBox 10">
            <a:extLst>
              <a:ext uri="{FF2B5EF4-FFF2-40B4-BE49-F238E27FC236}">
                <a16:creationId xmlns:a16="http://schemas.microsoft.com/office/drawing/2014/main" id="{8C94C0D7-C2C7-3108-2131-9FAB7B959EE0}"/>
              </a:ext>
            </a:extLst>
          </p:cNvPr>
          <p:cNvSpPr txBox="1"/>
          <p:nvPr/>
        </p:nvSpPr>
        <p:spPr>
          <a:xfrm>
            <a:off x="9421090" y="5543857"/>
            <a:ext cx="2286000" cy="369332"/>
          </a:xfrm>
          <a:prstGeom prst="rect">
            <a:avLst/>
          </a:prstGeom>
          <a:noFill/>
        </p:spPr>
        <p:txBody>
          <a:bodyPr wrap="square" rtlCol="0">
            <a:spAutoFit/>
          </a:bodyPr>
          <a:lstStyle/>
          <a:p>
            <a:r>
              <a:rPr lang="en-US" dirty="0" err="1">
                <a:solidFill>
                  <a:srgbClr val="FF0000"/>
                </a:solidFill>
              </a:rPr>
              <a:t>普朗克公式</a:t>
            </a:r>
            <a:endParaRPr lang="en-CN" dirty="0">
              <a:solidFill>
                <a:srgbClr val="FF0000"/>
              </a:solidFill>
            </a:endParaRPr>
          </a:p>
        </p:txBody>
      </p:sp>
    </p:spTree>
    <p:extLst>
      <p:ext uri="{BB962C8B-B14F-4D97-AF65-F5344CB8AC3E}">
        <p14:creationId xmlns:p14="http://schemas.microsoft.com/office/powerpoint/2010/main" val="3512444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2610D7-43D0-8FB4-BAB5-0D680E91EC24}"/>
              </a:ext>
            </a:extLst>
          </p:cNvPr>
          <p:cNvSpPr txBox="1"/>
          <p:nvPr/>
        </p:nvSpPr>
        <p:spPr>
          <a:xfrm>
            <a:off x="581891" y="443345"/>
            <a:ext cx="10958945" cy="646331"/>
          </a:xfrm>
          <a:prstGeom prst="rect">
            <a:avLst/>
          </a:prstGeom>
          <a:noFill/>
        </p:spPr>
        <p:txBody>
          <a:bodyPr wrap="square" rtlCol="0">
            <a:spAutoFit/>
          </a:bodyPr>
          <a:lstStyle/>
          <a:p>
            <a:r>
              <a:rPr lang="en-US" dirty="0" err="1">
                <a:latin typeface="FangSong" panose="02010609060101010101" pitchFamily="49" charset="-122"/>
                <a:ea typeface="FangSong" panose="02010609060101010101" pitchFamily="49" charset="-122"/>
              </a:rPr>
              <a:t>所有频率</a:t>
            </a:r>
            <a:r>
              <a:rPr lang="zh-CN" altLang="en-US" dirty="0">
                <a:latin typeface="FangSong" panose="02010609060101010101" pitchFamily="49" charset="-122"/>
                <a:ea typeface="FangSong" panose="02010609060101010101" pitchFamily="49" charset="-122"/>
              </a:rPr>
              <a:t>、</a:t>
            </a:r>
            <a:r>
              <a:rPr lang="en-US" dirty="0">
                <a:latin typeface="FangSong" panose="02010609060101010101" pitchFamily="49" charset="-122"/>
                <a:ea typeface="FangSong" panose="02010609060101010101" pitchFamily="49" charset="-122"/>
              </a:rPr>
              <a:t>M</a:t>
            </a:r>
            <a:r>
              <a:rPr lang="en-CN" dirty="0">
                <a:latin typeface="FangSong" panose="02010609060101010101" pitchFamily="49" charset="-122"/>
                <a:ea typeface="FangSong" panose="02010609060101010101" pitchFamily="49" charset="-122"/>
              </a:rPr>
              <a:t>odes求和</a:t>
            </a:r>
          </a:p>
          <a:p>
            <a:endParaRPr lang="en-CN"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B4C7D7A-CDD3-70A3-7A5A-469A79DAE4EF}"/>
                  </a:ext>
                </a:extLst>
              </p:cNvPr>
              <p:cNvSpPr txBox="1"/>
              <p:nvPr/>
            </p:nvSpPr>
            <p:spPr>
              <a:xfrm>
                <a:off x="2521527" y="666505"/>
                <a:ext cx="6096000" cy="112075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solidFill>
                                <a:srgbClr val="FF0000"/>
                              </a:solidFill>
                              <a:latin typeface="Cambria Math" panose="02040503050406030204" pitchFamily="18" charset="0"/>
                            </a:rPr>
                          </m:ctrlPr>
                        </m:sSubSupPr>
                        <m:e>
                          <m:r>
                            <a:rPr lang="en-US" altLang="zh-CN" b="0" i="1" smtClean="0">
                              <a:solidFill>
                                <a:srgbClr val="FF0000"/>
                              </a:solidFill>
                              <a:latin typeface="Cambria Math" panose="02040503050406030204" pitchFamily="18" charset="0"/>
                            </a:rPr>
                            <m:t>𝑛</m:t>
                          </m:r>
                        </m:e>
                        <m:sub>
                          <m:r>
                            <a:rPr lang="en-US" altLang="zh-CN" b="0" i="1" smtClean="0">
                              <a:solidFill>
                                <a:srgbClr val="FF0000"/>
                              </a:solidFill>
                              <a:latin typeface="Cambria Math" panose="02040503050406030204" pitchFamily="18" charset="0"/>
                            </a:rPr>
                            <m:t>𝑥</m:t>
                          </m:r>
                        </m:sub>
                        <m:sup>
                          <m:r>
                            <a:rPr lang="en-US" altLang="zh-CN" b="0" i="1" smtClean="0">
                              <a:solidFill>
                                <a:srgbClr val="FF0000"/>
                              </a:solidFill>
                              <a:latin typeface="Cambria Math" panose="02040503050406030204" pitchFamily="18" charset="0"/>
                            </a:rPr>
                            <m:t>2</m:t>
                          </m:r>
                        </m:sup>
                      </m:sSubSup>
                      <m:r>
                        <a:rPr lang="en-US" altLang="zh-CN" b="0" i="1" smtClean="0">
                          <a:solidFill>
                            <a:srgbClr val="FF0000"/>
                          </a:solidFill>
                          <a:latin typeface="Cambria Math" panose="02040503050406030204" pitchFamily="18" charset="0"/>
                        </a:rPr>
                        <m:t>+</m:t>
                      </m:r>
                      <m:sSubSup>
                        <m:sSubSupPr>
                          <m:ctrlPr>
                            <a:rPr lang="en-US" altLang="zh-CN" b="0" i="1" smtClean="0">
                              <a:solidFill>
                                <a:srgbClr val="FF0000"/>
                              </a:solidFill>
                              <a:latin typeface="Cambria Math" panose="02040503050406030204" pitchFamily="18" charset="0"/>
                            </a:rPr>
                          </m:ctrlPr>
                        </m:sSubSupPr>
                        <m:e>
                          <m:r>
                            <a:rPr lang="en-US" altLang="zh-CN" b="0" i="1" smtClean="0">
                              <a:solidFill>
                                <a:srgbClr val="FF0000"/>
                              </a:solidFill>
                              <a:latin typeface="Cambria Math" panose="02040503050406030204" pitchFamily="18" charset="0"/>
                            </a:rPr>
                            <m:t>𝑛</m:t>
                          </m:r>
                        </m:e>
                        <m:sub>
                          <m:r>
                            <a:rPr lang="en-US" altLang="zh-CN" b="0" i="1" smtClean="0">
                              <a:solidFill>
                                <a:srgbClr val="FF0000"/>
                              </a:solidFill>
                              <a:latin typeface="Cambria Math" panose="02040503050406030204" pitchFamily="18" charset="0"/>
                            </a:rPr>
                            <m:t>𝑦</m:t>
                          </m:r>
                        </m:sub>
                        <m:sup>
                          <m:r>
                            <a:rPr lang="en-US" altLang="zh-CN" b="0" i="1" smtClean="0">
                              <a:solidFill>
                                <a:srgbClr val="FF0000"/>
                              </a:solidFill>
                              <a:latin typeface="Cambria Math" panose="02040503050406030204" pitchFamily="18" charset="0"/>
                            </a:rPr>
                            <m:t>2</m:t>
                          </m:r>
                        </m:sup>
                      </m:sSubSup>
                      <m:r>
                        <a:rPr lang="en-US" altLang="zh-CN" b="0" i="1" smtClean="0">
                          <a:solidFill>
                            <a:srgbClr val="FF0000"/>
                          </a:solidFill>
                          <a:latin typeface="Cambria Math" panose="02040503050406030204" pitchFamily="18" charset="0"/>
                        </a:rPr>
                        <m:t>+</m:t>
                      </m:r>
                      <m:sSubSup>
                        <m:sSubSupPr>
                          <m:ctrlPr>
                            <a:rPr lang="en-US" altLang="zh-CN" b="0" i="1" smtClean="0">
                              <a:solidFill>
                                <a:srgbClr val="FF0000"/>
                              </a:solidFill>
                              <a:latin typeface="Cambria Math" panose="02040503050406030204" pitchFamily="18" charset="0"/>
                            </a:rPr>
                          </m:ctrlPr>
                        </m:sSubSupPr>
                        <m:e>
                          <m:r>
                            <a:rPr lang="en-US" altLang="zh-CN" b="0" i="1" smtClean="0">
                              <a:solidFill>
                                <a:srgbClr val="FF0000"/>
                              </a:solidFill>
                              <a:latin typeface="Cambria Math" panose="02040503050406030204" pitchFamily="18" charset="0"/>
                            </a:rPr>
                            <m:t>𝑛</m:t>
                          </m:r>
                        </m:e>
                        <m:sub>
                          <m:r>
                            <a:rPr lang="en-US" altLang="zh-CN" b="0" i="1" smtClean="0">
                              <a:solidFill>
                                <a:srgbClr val="FF0000"/>
                              </a:solidFill>
                              <a:latin typeface="Cambria Math" panose="02040503050406030204" pitchFamily="18" charset="0"/>
                            </a:rPr>
                            <m:t>𝑧</m:t>
                          </m:r>
                        </m:sub>
                        <m:sup>
                          <m:r>
                            <a:rPr lang="en-US" altLang="zh-CN" b="0" i="1" smtClean="0">
                              <a:solidFill>
                                <a:srgbClr val="FF0000"/>
                              </a:solidFill>
                              <a:latin typeface="Cambria Math" panose="02040503050406030204" pitchFamily="18" charset="0"/>
                            </a:rPr>
                            <m:t>2</m:t>
                          </m:r>
                        </m:sup>
                      </m:sSubSup>
                      <m:r>
                        <a:rPr lang="en-US" altLang="zh-CN" b="0" i="1" smtClean="0">
                          <a:solidFill>
                            <a:srgbClr val="FF0000"/>
                          </a:solidFill>
                          <a:latin typeface="Cambria Math" panose="02040503050406030204" pitchFamily="18" charset="0"/>
                        </a:rPr>
                        <m:t>=</m:t>
                      </m:r>
                      <m:f>
                        <m:fPr>
                          <m:ctrlPr>
                            <a:rPr lang="en-US" altLang="zh-CN" b="0" i="1" smtClean="0">
                              <a:solidFill>
                                <a:srgbClr val="FF0000"/>
                              </a:solidFill>
                              <a:latin typeface="Cambria Math" panose="02040503050406030204" pitchFamily="18" charset="0"/>
                            </a:rPr>
                          </m:ctrlPr>
                        </m:fPr>
                        <m:num>
                          <m:sSup>
                            <m:sSupPr>
                              <m:ctrlPr>
                                <a:rPr lang="en-US" altLang="zh-CN" b="0" i="1" smtClean="0">
                                  <a:solidFill>
                                    <a:srgbClr val="FF0000"/>
                                  </a:solidFill>
                                  <a:latin typeface="Cambria Math" panose="02040503050406030204" pitchFamily="18" charset="0"/>
                                </a:rPr>
                              </m:ctrlPr>
                            </m:sSupPr>
                            <m:e>
                              <m:r>
                                <a:rPr lang="en-US" altLang="zh-CN" b="0" i="1" smtClean="0">
                                  <a:solidFill>
                                    <a:srgbClr val="FF0000"/>
                                  </a:solidFill>
                                  <a:latin typeface="Cambria Math" panose="02040503050406030204" pitchFamily="18" charset="0"/>
                                  <a:ea typeface="Cambria Math" panose="02040503050406030204" pitchFamily="18" charset="0"/>
                                </a:rPr>
                                <m:t>𝜔</m:t>
                              </m:r>
                            </m:e>
                            <m:sup>
                              <m:r>
                                <a:rPr lang="en-US" altLang="zh-CN" b="0" i="1" smtClean="0">
                                  <a:solidFill>
                                    <a:srgbClr val="FF0000"/>
                                  </a:solidFill>
                                  <a:latin typeface="Cambria Math" panose="02040503050406030204" pitchFamily="18" charset="0"/>
                                </a:rPr>
                                <m:t>2</m:t>
                              </m:r>
                            </m:sup>
                          </m:sSup>
                        </m:num>
                        <m:den>
                          <m:sSup>
                            <m:sSupPr>
                              <m:ctrlPr>
                                <a:rPr lang="en-US" altLang="zh-CN" b="0" i="1" smtClean="0">
                                  <a:solidFill>
                                    <a:srgbClr val="FF0000"/>
                                  </a:solidFill>
                                  <a:latin typeface="Cambria Math" panose="02040503050406030204" pitchFamily="18" charset="0"/>
                                </a:rPr>
                              </m:ctrlPr>
                            </m:sSupPr>
                            <m:e>
                              <m:r>
                                <a:rPr lang="en-US" altLang="zh-CN" b="0" i="1" smtClean="0">
                                  <a:solidFill>
                                    <a:srgbClr val="FF0000"/>
                                  </a:solidFill>
                                  <a:latin typeface="Cambria Math" panose="02040503050406030204" pitchFamily="18" charset="0"/>
                                </a:rPr>
                                <m:t>𝑐</m:t>
                              </m:r>
                            </m:e>
                            <m:sup>
                              <m:r>
                                <a:rPr lang="en-US" altLang="zh-CN" b="0" i="1" smtClean="0">
                                  <a:solidFill>
                                    <a:srgbClr val="FF0000"/>
                                  </a:solidFill>
                                  <a:latin typeface="Cambria Math" panose="02040503050406030204" pitchFamily="18" charset="0"/>
                                </a:rPr>
                                <m:t>2</m:t>
                              </m:r>
                            </m:sup>
                          </m:sSup>
                          <m:sSup>
                            <m:sSupPr>
                              <m:ctrlPr>
                                <a:rPr lang="en-US" altLang="zh-CN" b="0" i="1" smtClean="0">
                                  <a:solidFill>
                                    <a:srgbClr val="FF0000"/>
                                  </a:solidFill>
                                  <a:latin typeface="Cambria Math" panose="02040503050406030204" pitchFamily="18" charset="0"/>
                                </a:rPr>
                              </m:ctrlPr>
                            </m:sSupPr>
                            <m:e>
                              <m:r>
                                <a:rPr lang="en-US" altLang="zh-CN" b="0" i="1" smtClean="0">
                                  <a:solidFill>
                                    <a:srgbClr val="FF0000"/>
                                  </a:solidFill>
                                  <a:latin typeface="Cambria Math" panose="02040503050406030204" pitchFamily="18" charset="0"/>
                                  <a:ea typeface="Cambria Math" panose="02040503050406030204" pitchFamily="18" charset="0"/>
                                </a:rPr>
                                <m:t>𝜋</m:t>
                              </m:r>
                            </m:e>
                            <m:sup>
                              <m:r>
                                <a:rPr lang="en-US" altLang="zh-CN" b="0" i="1" smtClean="0">
                                  <a:solidFill>
                                    <a:srgbClr val="FF0000"/>
                                  </a:solidFill>
                                  <a:latin typeface="Cambria Math" panose="02040503050406030204" pitchFamily="18" charset="0"/>
                                </a:rPr>
                                <m:t>2</m:t>
                              </m:r>
                            </m:sup>
                          </m:sSup>
                        </m:den>
                      </m:f>
                      <m:sSup>
                        <m:sSupPr>
                          <m:ctrlPr>
                            <a:rPr lang="en-US" altLang="zh-CN" b="0" i="1" smtClean="0">
                              <a:solidFill>
                                <a:srgbClr val="FF0000"/>
                              </a:solidFill>
                              <a:latin typeface="Cambria Math" panose="02040503050406030204" pitchFamily="18" charset="0"/>
                            </a:rPr>
                          </m:ctrlPr>
                        </m:sSupPr>
                        <m:e>
                          <m:r>
                            <a:rPr lang="en-US" altLang="zh-CN" b="0" i="1" smtClean="0">
                              <a:solidFill>
                                <a:srgbClr val="FF0000"/>
                              </a:solidFill>
                              <a:latin typeface="Cambria Math" panose="02040503050406030204" pitchFamily="18" charset="0"/>
                            </a:rPr>
                            <m:t>𝐿</m:t>
                          </m:r>
                        </m:e>
                        <m:sup>
                          <m:r>
                            <a:rPr lang="en-US" altLang="zh-CN" b="0" i="1" smtClean="0">
                              <a:solidFill>
                                <a:srgbClr val="FF0000"/>
                              </a:solidFill>
                              <a:latin typeface="Cambria Math" panose="02040503050406030204" pitchFamily="18" charset="0"/>
                            </a:rPr>
                            <m:t>2</m:t>
                          </m:r>
                        </m:sup>
                      </m:sSup>
                    </m:oMath>
                  </m:oMathPara>
                </a14:m>
                <a:endParaRPr lang="en-CN" dirty="0"/>
              </a:p>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m:t>
                      </m:r>
                      <m:sSub>
                        <m:sSubPr>
                          <m:ctrlPr>
                            <a:rPr lang="en-CN" i="1" smtClean="0">
                              <a:solidFill>
                                <a:srgbClr val="FF0000"/>
                              </a:solidFill>
                              <a:latin typeface="Cambria Math" panose="02040503050406030204" pitchFamily="18" charset="0"/>
                              <a:ea typeface="Cambria Math" panose="02040503050406030204" pitchFamily="18" charset="0"/>
                            </a:rPr>
                          </m:ctrlPr>
                        </m:sSubPr>
                        <m:e>
                          <m:r>
                            <a:rPr lang="en-CN" i="1" smtClean="0">
                              <a:solidFill>
                                <a:srgbClr val="FF0000"/>
                              </a:solidFill>
                              <a:latin typeface="Cambria Math" panose="02040503050406030204" pitchFamily="18" charset="0"/>
                              <a:ea typeface="Cambria Math" panose="02040503050406030204" pitchFamily="18" charset="0"/>
                            </a:rPr>
                            <m:t>𝜔</m:t>
                          </m:r>
                        </m:e>
                        <m:sub>
                          <m:r>
                            <a:rPr lang="en-US" b="0" i="1" smtClean="0">
                              <a:solidFill>
                                <a:srgbClr val="FF0000"/>
                              </a:solidFill>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𝑐</m:t>
                          </m:r>
                        </m:num>
                        <m:den>
                          <m:r>
                            <a:rPr lang="en-US" b="0" i="1" smtClean="0">
                              <a:latin typeface="Cambria Math" panose="02040503050406030204" pitchFamily="18" charset="0"/>
                              <a:ea typeface="Cambria Math" panose="02040503050406030204" pitchFamily="18" charset="0"/>
                            </a:rPr>
                            <m:t>𝐿</m:t>
                          </m:r>
                        </m:den>
                      </m:f>
                    </m:oMath>
                  </m:oMathPara>
                </a14:m>
                <a:endParaRPr lang="en-CN" dirty="0"/>
              </a:p>
            </p:txBody>
          </p:sp>
        </mc:Choice>
        <mc:Fallback xmlns="">
          <p:sp>
            <p:nvSpPr>
              <p:cNvPr id="4" name="TextBox 3">
                <a:extLst>
                  <a:ext uri="{FF2B5EF4-FFF2-40B4-BE49-F238E27FC236}">
                    <a16:creationId xmlns:a16="http://schemas.microsoft.com/office/drawing/2014/main" id="{2B4C7D7A-CDD3-70A3-7A5A-469A79DAE4EF}"/>
                  </a:ext>
                </a:extLst>
              </p:cNvPr>
              <p:cNvSpPr txBox="1">
                <a:spLocks noRot="1" noChangeAspect="1" noMove="1" noResize="1" noEditPoints="1" noAdjustHandles="1" noChangeArrowheads="1" noChangeShapeType="1" noTextEdit="1"/>
              </p:cNvSpPr>
              <p:nvPr/>
            </p:nvSpPr>
            <p:spPr>
              <a:xfrm>
                <a:off x="2521527" y="666505"/>
                <a:ext cx="6096000" cy="1120756"/>
              </a:xfrm>
              <a:prstGeom prst="rect">
                <a:avLst/>
              </a:prstGeom>
              <a:blipFill>
                <a:blip r:embed="rId2"/>
                <a:stretch>
                  <a:fillRect b="-224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BE21BFE-EF99-982A-B920-E03B7AB42BB5}"/>
                  </a:ext>
                </a:extLst>
              </p:cNvPr>
              <p:cNvSpPr txBox="1"/>
              <p:nvPr/>
            </p:nvSpPr>
            <p:spPr>
              <a:xfrm>
                <a:off x="1274619" y="2010421"/>
                <a:ext cx="9157854" cy="178407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=2</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𝑛</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𝑛𝑦</m:t>
                          </m:r>
                          <m:r>
                            <a:rPr lang="en-US" b="0" i="1" smtClean="0">
                              <a:latin typeface="Cambria Math" panose="02040503050406030204" pitchFamily="18" charset="0"/>
                            </a:rPr>
                            <m:t>,</m:t>
                          </m:r>
                          <m:r>
                            <a:rPr lang="en-US" b="0" i="1" smtClean="0">
                              <a:latin typeface="Cambria Math" panose="02040503050406030204" pitchFamily="18" charset="0"/>
                            </a:rPr>
                            <m:t>𝑛𝑧</m:t>
                          </m:r>
                        </m:sub>
                        <m:sup/>
                        <m:e>
                          <m:r>
                            <a:rPr lang="en-US" b="0" i="1" smtClean="0">
                              <a:latin typeface="Cambria Math" panose="02040503050406030204" pitchFamily="18" charset="0"/>
                              <a:ea typeface="Cambria Math" panose="02040503050406030204" pitchFamily="18" charset="0"/>
                            </a:rPr>
                            <m:t>ℏ</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𝑐</m:t>
                              </m:r>
                            </m:num>
                            <m:den>
                              <m:r>
                                <a:rPr lang="en-US" i="1">
                                  <a:latin typeface="Cambria Math" panose="02040503050406030204" pitchFamily="18" charset="0"/>
                                  <a:ea typeface="Cambria Math" panose="02040503050406030204" pitchFamily="18" charset="0"/>
                                </a:rPr>
                                <m:t>𝐿</m:t>
                              </m:r>
                            </m:den>
                          </m:f>
                          <m:f>
                            <m:fPr>
                              <m:ctrlPr>
                                <a:rPr lang="en-US"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i="1" smtClean="0">
                                      <a:latin typeface="Cambria Math" panose="02040503050406030204" pitchFamily="18" charset="0"/>
                                      <a:ea typeface="Cambria Math" panose="02040503050406030204" pitchFamily="18" charset="0"/>
                                    </a:rPr>
                                    <m:t>ℏ</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𝑐</m:t>
                                      </m:r>
                                    </m:num>
                                    <m:den>
                                      <m:r>
                                        <a:rPr lang="en-US" i="1">
                                          <a:latin typeface="Cambria Math" panose="02040503050406030204" pitchFamily="18" charset="0"/>
                                          <a:ea typeface="Cambria Math" panose="02040503050406030204" pitchFamily="18" charset="0"/>
                                        </a:rPr>
                                        <m:t>𝐿</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ea typeface="Cambria Math" panose="02040503050406030204" pitchFamily="18" charset="0"/>
                                </a:rPr>
                                <m:t>−1</m:t>
                              </m:r>
                            </m:den>
                          </m:f>
                        </m:e>
                      </m:nary>
                    </m:oMath>
                  </m:oMathPara>
                </a14:m>
                <a:endParaRPr lang="en-CN" dirty="0"/>
              </a:p>
              <a:p>
                <a:pPr algn="ctr"/>
                <a14:m>
                  <m:oMath xmlns:m="http://schemas.openxmlformats.org/officeDocument/2006/math">
                    <m:r>
                      <a:rPr lang="en-US" b="0" i="1" smtClean="0">
                        <a:latin typeface="Cambria Math" panose="02040503050406030204" pitchFamily="18" charset="0"/>
                      </a:rPr>
                      <m:t>=2</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𝑑𝑛</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0</m:t>
                            </m:r>
                          </m:sub>
                          <m:sup>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𝜋</m:t>
                                </m:r>
                              </m:num>
                              <m:den>
                                <m:r>
                                  <a:rPr lang="en-US" b="0" i="1" smtClean="0">
                                    <a:latin typeface="Cambria Math" panose="02040503050406030204" pitchFamily="18" charset="0"/>
                                  </a:rPr>
                                  <m:t>2</m:t>
                                </m:r>
                              </m:den>
                            </m:f>
                          </m:sup>
                          <m:e>
                            <m:r>
                              <a:rPr lang="en-US" b="0" i="1" smtClean="0">
                                <a:latin typeface="Cambria Math" panose="02040503050406030204" pitchFamily="18" charset="0"/>
                              </a:rPr>
                              <m:t>𝑠𝑖𝑛</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𝜃</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𝜋</m:t>
                                    </m:r>
                                  </m:num>
                                  <m:den>
                                    <m:r>
                                      <a:rPr lang="en-US" b="0" i="1" smtClean="0">
                                        <a:latin typeface="Cambria Math" panose="02040503050406030204" pitchFamily="18" charset="0"/>
                                        <a:ea typeface="Cambria Math" panose="02040503050406030204" pitchFamily="18" charset="0"/>
                                      </a:rPr>
                                      <m:t>2</m:t>
                                    </m:r>
                                  </m:den>
                                </m:f>
                              </m:sup>
                              <m:e>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𝜙</m:t>
                                </m:r>
                              </m:e>
                            </m:nary>
                          </m:e>
                        </m:nary>
                      </m:e>
                    </m:nary>
                  </m:oMath>
                </a14:m>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ℏ</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𝑐</m:t>
                        </m:r>
                      </m:num>
                      <m:den>
                        <m:r>
                          <a:rPr lang="en-US" i="1">
                            <a:latin typeface="Cambria Math" panose="02040503050406030204" pitchFamily="18" charset="0"/>
                            <a:ea typeface="Cambria Math" panose="02040503050406030204" pitchFamily="18" charset="0"/>
                          </a:rPr>
                          <m:t>𝐿</m:t>
                        </m:r>
                      </m:den>
                    </m:f>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ℏ</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𝑐</m:t>
                                </m:r>
                              </m:num>
                              <m:den>
                                <m:r>
                                  <a:rPr lang="en-US" i="1">
                                    <a:latin typeface="Cambria Math" panose="02040503050406030204" pitchFamily="18" charset="0"/>
                                    <a:ea typeface="Cambria Math" panose="02040503050406030204" pitchFamily="18" charset="0"/>
                                  </a:rPr>
                                  <m:t>𝐿</m:t>
                                </m:r>
                              </m:den>
                            </m:f>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𝜏</m:t>
                            </m:r>
                          </m:sup>
                        </m:sSup>
                        <m:r>
                          <a:rPr lang="en-US" i="1">
                            <a:latin typeface="Cambria Math" panose="02040503050406030204" pitchFamily="18" charset="0"/>
                            <a:ea typeface="Cambria Math" panose="02040503050406030204" pitchFamily="18" charset="0"/>
                          </a:rPr>
                          <m:t>−1</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𝜋</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𝑛</m:t>
                            </m:r>
                          </m:e>
                          <m:sup>
                            <m:r>
                              <a:rPr lang="en-US" b="0" i="1" smtClean="0">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ℏ</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𝑐</m:t>
                            </m:r>
                          </m:num>
                          <m:den>
                            <m:r>
                              <a:rPr lang="en-US" i="1">
                                <a:latin typeface="Cambria Math" panose="02040503050406030204" pitchFamily="18" charset="0"/>
                                <a:ea typeface="Cambria Math" panose="02040503050406030204" pitchFamily="18" charset="0"/>
                              </a:rPr>
                              <m:t>𝐿</m:t>
                            </m:r>
                          </m:den>
                        </m:f>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ℏ</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𝑐</m:t>
                                    </m:r>
                                  </m:num>
                                  <m:den>
                                    <m:r>
                                      <a:rPr lang="en-US" i="1">
                                        <a:latin typeface="Cambria Math" panose="02040503050406030204" pitchFamily="18" charset="0"/>
                                        <a:ea typeface="Cambria Math" panose="02040503050406030204" pitchFamily="18" charset="0"/>
                                      </a:rPr>
                                      <m:t>𝐿</m:t>
                                    </m:r>
                                  </m:den>
                                </m:f>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𝜏</m:t>
                                </m:r>
                              </m:sup>
                            </m:sSup>
                            <m:r>
                              <a:rPr lang="en-US" i="1">
                                <a:latin typeface="Cambria Math" panose="02040503050406030204" pitchFamily="18" charset="0"/>
                                <a:ea typeface="Cambria Math" panose="02040503050406030204" pitchFamily="18" charset="0"/>
                              </a:rPr>
                              <m:t>−1</m:t>
                            </m:r>
                          </m:den>
                        </m:f>
                        <m:r>
                          <a:rPr lang="en-US" b="0" i="1" smtClean="0">
                            <a:latin typeface="Cambria Math" panose="02040503050406030204" pitchFamily="18" charset="0"/>
                            <a:ea typeface="Cambria Math" panose="02040503050406030204" pitchFamily="18" charset="0"/>
                          </a:rPr>
                          <m:t>𝑑𝑛</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𝑉</m:t>
                            </m:r>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𝜋</m:t>
                                </m:r>
                              </m:e>
                              <m:sup>
                                <m:r>
                                  <a:rPr lang="en-US" b="0" i="1" smtClean="0">
                                    <a:latin typeface="Cambria Math" panose="02040503050406030204" pitchFamily="18" charset="0"/>
                                    <a:ea typeface="Cambria Math" panose="02040503050406030204" pitchFamily="18" charset="0"/>
                                  </a:rPr>
                                  <m:t>2</m:t>
                                </m:r>
                              </m:sup>
                            </m:sSup>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ℏ</m:t>
                                    </m:r>
                                    <m:r>
                                      <a:rPr lang="en-US" b="0" i="1" smtClean="0">
                                        <a:latin typeface="Cambria Math" panose="02040503050406030204" pitchFamily="18" charset="0"/>
                                        <a:ea typeface="Cambria Math" panose="02040503050406030204" pitchFamily="18" charset="0"/>
                                      </a:rPr>
                                      <m:t>𝑐</m:t>
                                    </m:r>
                                  </m:e>
                                </m:d>
                              </m:e>
                              <m:sup>
                                <m:r>
                                  <a:rPr lang="en-US" b="0" i="1" smtClean="0">
                                    <a:latin typeface="Cambria Math" panose="02040503050406030204" pitchFamily="18" charset="0"/>
                                    <a:ea typeface="Cambria Math" panose="02040503050406030204" pitchFamily="18" charset="0"/>
                                  </a:rPr>
                                  <m:t>3</m:t>
                                </m:r>
                              </m:sup>
                            </m:sSup>
                          </m:den>
                        </m:f>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𝜏</m:t>
                            </m:r>
                          </m:e>
                          <m:sup>
                            <m:r>
                              <a:rPr lang="en-US" b="0" i="1" smtClean="0">
                                <a:latin typeface="Cambria Math" panose="02040503050406030204" pitchFamily="18" charset="0"/>
                                <a:ea typeface="Cambria Math" panose="02040503050406030204" pitchFamily="18" charset="0"/>
                              </a:rPr>
                              <m:t>4</m:t>
                            </m:r>
                          </m:sup>
                        </m:sSup>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3</m:t>
                                    </m:r>
                                  </m:sup>
                                </m:s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𝑥</m:t>
                                    </m:r>
                                  </m:sup>
                                </m:sSup>
                                <m:r>
                                  <a:rPr lang="en-US" b="0" i="1" smtClean="0">
                                    <a:latin typeface="Cambria Math" panose="02040503050406030204" pitchFamily="18" charset="0"/>
                                    <a:ea typeface="Cambria Math" panose="02040503050406030204" pitchFamily="18" charset="0"/>
                                  </a:rPr>
                                  <m:t>−1</m:t>
                                </m:r>
                              </m:den>
                            </m:f>
                            <m:r>
                              <a:rPr lang="en-US" b="0" i="1" smtClean="0">
                                <a:latin typeface="Cambria Math" panose="02040503050406030204" pitchFamily="18" charset="0"/>
                                <a:ea typeface="Cambria Math" panose="02040503050406030204" pitchFamily="18" charset="0"/>
                              </a:rPr>
                              <m:t>𝑑𝑥</m:t>
                            </m:r>
                          </m:e>
                        </m:nary>
                      </m:e>
                    </m:nary>
                  </m:oMath>
                </a14:m>
                <a:endParaRPr lang="en-CN" dirty="0"/>
              </a:p>
            </p:txBody>
          </p:sp>
        </mc:Choice>
        <mc:Fallback xmlns="">
          <p:sp>
            <p:nvSpPr>
              <p:cNvPr id="7" name="TextBox 6">
                <a:extLst>
                  <a:ext uri="{FF2B5EF4-FFF2-40B4-BE49-F238E27FC236}">
                    <a16:creationId xmlns:a16="http://schemas.microsoft.com/office/drawing/2014/main" id="{FBE21BFE-EF99-982A-B920-E03B7AB42BB5}"/>
                  </a:ext>
                </a:extLst>
              </p:cNvPr>
              <p:cNvSpPr txBox="1">
                <a:spLocks noRot="1" noChangeAspect="1" noMove="1" noResize="1" noEditPoints="1" noAdjustHandles="1" noChangeArrowheads="1" noChangeShapeType="1" noTextEdit="1"/>
              </p:cNvSpPr>
              <p:nvPr/>
            </p:nvSpPr>
            <p:spPr>
              <a:xfrm>
                <a:off x="1274619" y="2010421"/>
                <a:ext cx="9157854" cy="1784078"/>
              </a:xfrm>
              <a:prstGeom prst="rect">
                <a:avLst/>
              </a:prstGeom>
              <a:blipFill>
                <a:blip r:embed="rId3"/>
                <a:stretch>
                  <a:fillRect t="-53191" b="-35461"/>
                </a:stretch>
              </a:blipFill>
            </p:spPr>
            <p:txBody>
              <a:bodyPr/>
              <a:lstStyle/>
              <a:p>
                <a:r>
                  <a:rPr lang="en-CN">
                    <a:noFill/>
                  </a:rPr>
                  <a:t> </a:t>
                </a:r>
              </a:p>
            </p:txBody>
          </p:sp>
        </mc:Fallback>
      </mc:AlternateContent>
      <p:sp>
        <p:nvSpPr>
          <p:cNvPr id="8" name="Down Arrow 7">
            <a:extLst>
              <a:ext uri="{FF2B5EF4-FFF2-40B4-BE49-F238E27FC236}">
                <a16:creationId xmlns:a16="http://schemas.microsoft.com/office/drawing/2014/main" id="{CD56E8DE-768B-3DCB-088C-BBBD949706CF}"/>
              </a:ext>
            </a:extLst>
          </p:cNvPr>
          <p:cNvSpPr/>
          <p:nvPr/>
        </p:nvSpPr>
        <p:spPr>
          <a:xfrm>
            <a:off x="5853546" y="3906982"/>
            <a:ext cx="394854" cy="11637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5E7CB93-02DD-4DB0-A9B2-8598809407BB}"/>
                  </a:ext>
                </a:extLst>
              </p:cNvPr>
              <p:cNvSpPr txBox="1"/>
              <p:nvPr/>
            </p:nvSpPr>
            <p:spPr>
              <a:xfrm>
                <a:off x="6414655" y="4294909"/>
                <a:ext cx="1413163" cy="5648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𝜀</m:t>
                          </m:r>
                        </m:num>
                        <m:den>
                          <m:r>
                            <a:rPr lang="en-US" b="0" i="1" smtClean="0">
                              <a:latin typeface="Cambria Math" panose="02040503050406030204" pitchFamily="18" charset="0"/>
                              <a:ea typeface="Cambria Math" panose="02040503050406030204" pitchFamily="18" charset="0"/>
                            </a:rPr>
                            <m:t>𝜏</m:t>
                          </m:r>
                        </m:den>
                      </m:f>
                    </m:oMath>
                  </m:oMathPara>
                </a14:m>
                <a:endParaRPr lang="en-CN" dirty="0"/>
              </a:p>
            </p:txBody>
          </p:sp>
        </mc:Choice>
        <mc:Fallback xmlns="">
          <p:sp>
            <p:nvSpPr>
              <p:cNvPr id="9" name="TextBox 8">
                <a:extLst>
                  <a:ext uri="{FF2B5EF4-FFF2-40B4-BE49-F238E27FC236}">
                    <a16:creationId xmlns:a16="http://schemas.microsoft.com/office/drawing/2014/main" id="{E5E7CB93-02DD-4DB0-A9B2-8598809407BB}"/>
                  </a:ext>
                </a:extLst>
              </p:cNvPr>
              <p:cNvSpPr txBox="1">
                <a:spLocks noRot="1" noChangeAspect="1" noMove="1" noResize="1" noEditPoints="1" noAdjustHandles="1" noChangeArrowheads="1" noChangeShapeType="1" noTextEdit="1"/>
              </p:cNvSpPr>
              <p:nvPr/>
            </p:nvSpPr>
            <p:spPr>
              <a:xfrm>
                <a:off x="6414655" y="4294909"/>
                <a:ext cx="1413163" cy="564898"/>
              </a:xfrm>
              <a:prstGeom prst="rect">
                <a:avLst/>
              </a:prstGeom>
              <a:blipFill>
                <a:blip r:embed="rId4"/>
                <a:stretch>
                  <a:fillRect b="-222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F75D77B-1206-DC5F-5C14-901B47D0F40D}"/>
                  </a:ext>
                </a:extLst>
              </p:cNvPr>
              <p:cNvSpPr txBox="1"/>
              <p:nvPr/>
            </p:nvSpPr>
            <p:spPr>
              <a:xfrm>
                <a:off x="3120736" y="5360217"/>
                <a:ext cx="5860473" cy="7366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𝑉</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r>
                            <a:rPr lang="en-US" b="0" i="1" smtClean="0">
                              <a:solidFill>
                                <a:srgbClr val="FF0000"/>
                              </a:solidFill>
                              <a:latin typeface="Cambria Math" panose="02040503050406030204" pitchFamily="18" charset="0"/>
                            </a:rPr>
                            <m:t>𝑢</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𝜀</m:t>
                              </m:r>
                            </m:e>
                          </m:d>
                          <m:r>
                            <a:rPr lang="en-US" b="0" i="1" smtClean="0">
                              <a:solidFill>
                                <a:srgbClr val="FF0000"/>
                              </a:solidFill>
                              <a:latin typeface="Cambria Math" panose="02040503050406030204" pitchFamily="18" charset="0"/>
                            </a:rPr>
                            <m:t>𝑑</m:t>
                          </m:r>
                          <m:r>
                            <a:rPr lang="en-US" b="0" i="1" smtClean="0">
                              <a:solidFill>
                                <a:srgbClr val="FF0000"/>
                              </a:solidFill>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f>
                                <m:fPr>
                                  <m:ctrlPr>
                                    <a:rPr lang="en-US" b="0" i="1" smtClean="0">
                                      <a:solidFill>
                                        <a:srgbClr val="FF0000"/>
                                      </a:solidFill>
                                      <a:latin typeface="Cambria Math" panose="02040503050406030204" pitchFamily="18" charset="0"/>
                                      <a:ea typeface="Cambria Math" panose="02040503050406030204" pitchFamily="18" charset="0"/>
                                    </a:rPr>
                                  </m:ctrlPr>
                                </m:fPr>
                                <m:num>
                                  <m:r>
                                    <a:rPr lang="en-US" b="0" i="1" smtClean="0">
                                      <a:solidFill>
                                        <a:srgbClr val="FF0000"/>
                                      </a:solidFill>
                                      <a:latin typeface="Cambria Math" panose="02040503050406030204" pitchFamily="18" charset="0"/>
                                      <a:ea typeface="Cambria Math" panose="02040503050406030204" pitchFamily="18" charset="0"/>
                                    </a:rPr>
                                    <m:t>1</m:t>
                                  </m:r>
                                </m:num>
                                <m:den>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𝜋</m:t>
                                      </m:r>
                                    </m:e>
                                    <m:sup>
                                      <m:r>
                                        <a:rPr lang="en-US" b="0" i="1" smtClean="0">
                                          <a:solidFill>
                                            <a:srgbClr val="FF0000"/>
                                          </a:solidFill>
                                          <a:latin typeface="Cambria Math" panose="02040503050406030204" pitchFamily="18" charset="0"/>
                                          <a:ea typeface="Cambria Math" panose="02040503050406030204" pitchFamily="18" charset="0"/>
                                        </a:rPr>
                                        <m:t>2</m:t>
                                      </m:r>
                                    </m:sup>
                                  </m:sSup>
                                  <m:sSup>
                                    <m:sSupPr>
                                      <m:ctrlPr>
                                        <a:rPr lang="en-US" b="0" i="1" smtClean="0">
                                          <a:solidFill>
                                            <a:srgbClr val="FF0000"/>
                                          </a:solidFill>
                                          <a:latin typeface="Cambria Math" panose="02040503050406030204" pitchFamily="18" charset="0"/>
                                          <a:ea typeface="Cambria Math" panose="02040503050406030204" pitchFamily="18" charset="0"/>
                                        </a:rPr>
                                      </m:ctrlPr>
                                    </m:sSupPr>
                                    <m:e>
                                      <m:d>
                                        <m:dPr>
                                          <m:ctrlPr>
                                            <a:rPr lang="en-US" b="0" i="1" smtClean="0">
                                              <a:solidFill>
                                                <a:srgbClr val="FF0000"/>
                                              </a:solidFill>
                                              <a:latin typeface="Cambria Math" panose="02040503050406030204" pitchFamily="18" charset="0"/>
                                              <a:ea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ℏ</m:t>
                                          </m:r>
                                          <m:r>
                                            <a:rPr lang="en-US" b="0" i="1" smtClean="0">
                                              <a:solidFill>
                                                <a:srgbClr val="FF0000"/>
                                              </a:solidFill>
                                              <a:latin typeface="Cambria Math" panose="02040503050406030204" pitchFamily="18" charset="0"/>
                                              <a:ea typeface="Cambria Math" panose="02040503050406030204" pitchFamily="18" charset="0"/>
                                            </a:rPr>
                                            <m:t>𝑐</m:t>
                                          </m:r>
                                        </m:e>
                                      </m:d>
                                    </m:e>
                                    <m:sup>
                                      <m:r>
                                        <a:rPr lang="en-US" b="0" i="1" smtClean="0">
                                          <a:solidFill>
                                            <a:srgbClr val="FF0000"/>
                                          </a:solidFill>
                                          <a:latin typeface="Cambria Math" panose="02040503050406030204" pitchFamily="18" charset="0"/>
                                          <a:ea typeface="Cambria Math" panose="02040503050406030204" pitchFamily="18" charset="0"/>
                                        </a:rPr>
                                        <m:t>3</m:t>
                                      </m:r>
                                    </m:sup>
                                  </m:sSup>
                                </m:den>
                              </m:f>
                              <m:f>
                                <m:fPr>
                                  <m:ctrlPr>
                                    <a:rPr lang="en-US" b="0" i="1" smtClean="0">
                                      <a:solidFill>
                                        <a:srgbClr val="FF0000"/>
                                      </a:solidFill>
                                      <a:latin typeface="Cambria Math" panose="02040503050406030204" pitchFamily="18" charset="0"/>
                                      <a:ea typeface="Cambria Math" panose="02040503050406030204" pitchFamily="18" charset="0"/>
                                    </a:rPr>
                                  </m:ctrlPr>
                                </m:fPr>
                                <m:num>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𝜀</m:t>
                                      </m:r>
                                    </m:e>
                                    <m:sup>
                                      <m:r>
                                        <a:rPr lang="en-US" b="0" i="1" smtClean="0">
                                          <a:solidFill>
                                            <a:srgbClr val="FF0000"/>
                                          </a:solidFill>
                                          <a:latin typeface="Cambria Math" panose="02040503050406030204" pitchFamily="18" charset="0"/>
                                          <a:ea typeface="Cambria Math" panose="02040503050406030204" pitchFamily="18" charset="0"/>
                                        </a:rPr>
                                        <m:t>3</m:t>
                                      </m:r>
                                    </m:sup>
                                  </m:sSup>
                                </m:num>
                                <m:den>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𝑒</m:t>
                                      </m:r>
                                    </m:e>
                                    <m:sup>
                                      <m:r>
                                        <a:rPr lang="en-US" b="0" i="1" smtClean="0">
                                          <a:solidFill>
                                            <a:srgbClr val="FF0000"/>
                                          </a:solidFill>
                                          <a:latin typeface="Cambria Math" panose="02040503050406030204" pitchFamily="18" charset="0"/>
                                          <a:ea typeface="Cambria Math" panose="02040503050406030204" pitchFamily="18" charset="0"/>
                                        </a:rPr>
                                        <m:t>𝜀</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𝜏</m:t>
                                      </m:r>
                                    </m:sup>
                                  </m:sSup>
                                  <m:r>
                                    <a:rPr lang="en-US" b="0" i="1" smtClean="0">
                                      <a:solidFill>
                                        <a:srgbClr val="FF0000"/>
                                      </a:solidFill>
                                      <a:latin typeface="Cambria Math" panose="02040503050406030204" pitchFamily="18" charset="0"/>
                                      <a:ea typeface="Cambria Math" panose="02040503050406030204" pitchFamily="18" charset="0"/>
                                    </a:rPr>
                                    <m:t>−1</m:t>
                                  </m:r>
                                </m:den>
                              </m:f>
                              <m:r>
                                <a:rPr lang="en-US" b="0" i="1" smtClean="0">
                                  <a:solidFill>
                                    <a:srgbClr val="FF0000"/>
                                  </a:solidFill>
                                  <a:latin typeface="Cambria Math" panose="02040503050406030204" pitchFamily="18" charset="0"/>
                                  <a:ea typeface="Cambria Math" panose="02040503050406030204" pitchFamily="18" charset="0"/>
                                </a:rPr>
                                <m:t>𝑑</m:t>
                              </m:r>
                              <m:r>
                                <a:rPr lang="en-US" b="0" i="1" smtClean="0">
                                  <a:solidFill>
                                    <a:srgbClr val="FF0000"/>
                                  </a:solidFill>
                                  <a:latin typeface="Cambria Math" panose="02040503050406030204" pitchFamily="18" charset="0"/>
                                  <a:ea typeface="Cambria Math" panose="02040503050406030204" pitchFamily="18" charset="0"/>
                                </a:rPr>
                                <m:t>𝜀</m:t>
                              </m:r>
                            </m:e>
                          </m:nary>
                        </m:e>
                      </m:nary>
                    </m:oMath>
                  </m:oMathPara>
                </a14:m>
                <a:endParaRPr lang="en-CN" dirty="0"/>
              </a:p>
            </p:txBody>
          </p:sp>
        </mc:Choice>
        <mc:Fallback xmlns="">
          <p:sp>
            <p:nvSpPr>
              <p:cNvPr id="10" name="TextBox 9">
                <a:extLst>
                  <a:ext uri="{FF2B5EF4-FFF2-40B4-BE49-F238E27FC236}">
                    <a16:creationId xmlns:a16="http://schemas.microsoft.com/office/drawing/2014/main" id="{CF75D77B-1206-DC5F-5C14-901B47D0F40D}"/>
                  </a:ext>
                </a:extLst>
              </p:cNvPr>
              <p:cNvSpPr txBox="1">
                <a:spLocks noRot="1" noChangeAspect="1" noMove="1" noResize="1" noEditPoints="1" noAdjustHandles="1" noChangeArrowheads="1" noChangeShapeType="1" noTextEdit="1"/>
              </p:cNvSpPr>
              <p:nvPr/>
            </p:nvSpPr>
            <p:spPr>
              <a:xfrm>
                <a:off x="3120736" y="5360217"/>
                <a:ext cx="5860473" cy="736612"/>
              </a:xfrm>
              <a:prstGeom prst="rect">
                <a:avLst/>
              </a:prstGeom>
              <a:blipFill>
                <a:blip r:embed="rId5"/>
                <a:stretch>
                  <a:fillRect t="-143333" b="-213333"/>
                </a:stretch>
              </a:blipFill>
            </p:spPr>
            <p:txBody>
              <a:bodyPr/>
              <a:lstStyle/>
              <a:p>
                <a:r>
                  <a:rPr lang="en-CN">
                    <a:noFill/>
                  </a:rPr>
                  <a:t> </a:t>
                </a:r>
              </a:p>
            </p:txBody>
          </p:sp>
        </mc:Fallback>
      </mc:AlternateContent>
      <p:sp>
        <p:nvSpPr>
          <p:cNvPr id="11" name="TextBox 10">
            <a:extLst>
              <a:ext uri="{FF2B5EF4-FFF2-40B4-BE49-F238E27FC236}">
                <a16:creationId xmlns:a16="http://schemas.microsoft.com/office/drawing/2014/main" id="{8C94C0D7-C2C7-3108-2131-9FAB7B959EE0}"/>
              </a:ext>
            </a:extLst>
          </p:cNvPr>
          <p:cNvSpPr txBox="1"/>
          <p:nvPr/>
        </p:nvSpPr>
        <p:spPr>
          <a:xfrm>
            <a:off x="9421090" y="5543857"/>
            <a:ext cx="2286000" cy="369332"/>
          </a:xfrm>
          <a:prstGeom prst="rect">
            <a:avLst/>
          </a:prstGeom>
          <a:noFill/>
        </p:spPr>
        <p:txBody>
          <a:bodyPr wrap="square" rtlCol="0">
            <a:spAutoFit/>
          </a:bodyPr>
          <a:lstStyle/>
          <a:p>
            <a:r>
              <a:rPr lang="en-US" dirty="0" err="1">
                <a:solidFill>
                  <a:srgbClr val="FF0000"/>
                </a:solidFill>
              </a:rPr>
              <a:t>普朗克公式</a:t>
            </a:r>
            <a:endParaRPr lang="en-CN" dirty="0">
              <a:solidFill>
                <a:srgbClr val="FF0000"/>
              </a:solidFill>
            </a:endParaRPr>
          </a:p>
        </p:txBody>
      </p:sp>
      <p:pic>
        <p:nvPicPr>
          <p:cNvPr id="5" name="Picture 4">
            <a:extLst>
              <a:ext uri="{FF2B5EF4-FFF2-40B4-BE49-F238E27FC236}">
                <a16:creationId xmlns:a16="http://schemas.microsoft.com/office/drawing/2014/main" id="{D0DF7D26-7B4A-384C-2B69-D4C6DF1A31E5}"/>
              </a:ext>
            </a:extLst>
          </p:cNvPr>
          <p:cNvPicPr>
            <a:picLocks noChangeAspect="1"/>
          </p:cNvPicPr>
          <p:nvPr/>
        </p:nvPicPr>
        <p:blipFill>
          <a:blip r:embed="rId6"/>
          <a:stretch>
            <a:fillRect/>
          </a:stretch>
        </p:blipFill>
        <p:spPr>
          <a:xfrm>
            <a:off x="2209800" y="345606"/>
            <a:ext cx="7772400" cy="4947104"/>
          </a:xfrm>
          <a:prstGeom prst="rect">
            <a:avLst/>
          </a:prstGeom>
        </p:spPr>
      </p:pic>
    </p:spTree>
    <p:extLst>
      <p:ext uri="{BB962C8B-B14F-4D97-AF65-F5344CB8AC3E}">
        <p14:creationId xmlns:p14="http://schemas.microsoft.com/office/powerpoint/2010/main" val="3107934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5F87B01-5414-6541-F800-5D283913F4D2}"/>
                  </a:ext>
                </a:extLst>
              </p:cNvPr>
              <p:cNvSpPr txBox="1"/>
              <p:nvPr/>
            </p:nvSpPr>
            <p:spPr>
              <a:xfrm>
                <a:off x="1454728" y="1205345"/>
                <a:ext cx="235527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𝑑𝑈</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𝑉𝑢</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𝜀</m:t>
                          </m:r>
                        </m:e>
                      </m:d>
                      <m:r>
                        <a:rPr lang="en-US" b="0" i="1" smtClean="0">
                          <a:solidFill>
                            <a:srgbClr val="FF0000"/>
                          </a:solidFill>
                          <a:latin typeface="Cambria Math" panose="02040503050406030204" pitchFamily="18" charset="0"/>
                        </a:rPr>
                        <m:t>𝑑</m:t>
                      </m:r>
                      <m:r>
                        <a:rPr lang="en-US" b="0" i="1" smtClean="0">
                          <a:solidFill>
                            <a:srgbClr val="FF0000"/>
                          </a:solidFill>
                          <a:latin typeface="Cambria Math" panose="02040503050406030204" pitchFamily="18" charset="0"/>
                          <a:ea typeface="Cambria Math" panose="02040503050406030204" pitchFamily="18" charset="0"/>
                        </a:rPr>
                        <m:t>𝜀</m:t>
                      </m:r>
                    </m:oMath>
                  </m:oMathPara>
                </a14:m>
                <a:endParaRPr lang="en-CN" dirty="0"/>
              </a:p>
            </p:txBody>
          </p:sp>
        </mc:Choice>
        <mc:Fallback xmlns="">
          <p:sp>
            <p:nvSpPr>
              <p:cNvPr id="2" name="TextBox 1">
                <a:extLst>
                  <a:ext uri="{FF2B5EF4-FFF2-40B4-BE49-F238E27FC236}">
                    <a16:creationId xmlns:a16="http://schemas.microsoft.com/office/drawing/2014/main" id="{C5F87B01-5414-6541-F800-5D283913F4D2}"/>
                  </a:ext>
                </a:extLst>
              </p:cNvPr>
              <p:cNvSpPr txBox="1">
                <a:spLocks noRot="1" noChangeAspect="1" noMove="1" noResize="1" noEditPoints="1" noAdjustHandles="1" noChangeArrowheads="1" noChangeShapeType="1" noTextEdit="1"/>
              </p:cNvSpPr>
              <p:nvPr/>
            </p:nvSpPr>
            <p:spPr>
              <a:xfrm>
                <a:off x="1454728" y="1205345"/>
                <a:ext cx="2355272" cy="369332"/>
              </a:xfrm>
              <a:prstGeom prst="rect">
                <a:avLst/>
              </a:prstGeom>
              <a:blipFill>
                <a:blip r:embed="rId2"/>
                <a:stretch>
                  <a:fillRect/>
                </a:stretch>
              </a:blipFill>
            </p:spPr>
            <p:txBody>
              <a:bodyPr/>
              <a:lstStyle/>
              <a:p>
                <a:r>
                  <a:rPr lang="en-CN">
                    <a:noFill/>
                  </a:rPr>
                  <a:t> </a:t>
                </a:r>
              </a:p>
            </p:txBody>
          </p:sp>
        </mc:Fallback>
      </mc:AlternateContent>
      <p:sp>
        <p:nvSpPr>
          <p:cNvPr id="3" name="Right Arrow 2">
            <a:extLst>
              <a:ext uri="{FF2B5EF4-FFF2-40B4-BE49-F238E27FC236}">
                <a16:creationId xmlns:a16="http://schemas.microsoft.com/office/drawing/2014/main" id="{162185AB-2E2E-3EA6-D0AE-B1517EB592A4}"/>
              </a:ext>
            </a:extLst>
          </p:cNvPr>
          <p:cNvSpPr/>
          <p:nvPr/>
        </p:nvSpPr>
        <p:spPr>
          <a:xfrm>
            <a:off x="3810000" y="1311440"/>
            <a:ext cx="1399309" cy="184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4265FBC-E2D2-CA94-84D8-AA130EA03B7A}"/>
                  </a:ext>
                </a:extLst>
              </p:cNvPr>
              <p:cNvSpPr txBox="1"/>
              <p:nvPr/>
            </p:nvSpPr>
            <p:spPr>
              <a:xfrm>
                <a:off x="5209309" y="1219107"/>
                <a:ext cx="235527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𝑑𝑈</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𝑉𝑓</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𝜔</m:t>
                          </m:r>
                        </m:e>
                      </m:d>
                      <m:r>
                        <a:rPr lang="en-US" b="0" i="1" smtClean="0">
                          <a:solidFill>
                            <a:srgbClr val="FF0000"/>
                          </a:solidFill>
                          <a:latin typeface="Cambria Math" panose="02040503050406030204" pitchFamily="18" charset="0"/>
                        </a:rPr>
                        <m:t>𝑑</m:t>
                      </m:r>
                      <m:r>
                        <a:rPr lang="en-US" b="0" i="1" smtClean="0">
                          <a:solidFill>
                            <a:srgbClr val="FF0000"/>
                          </a:solidFill>
                          <a:latin typeface="Cambria Math" panose="02040503050406030204" pitchFamily="18" charset="0"/>
                          <a:ea typeface="Cambria Math" panose="02040503050406030204" pitchFamily="18" charset="0"/>
                        </a:rPr>
                        <m:t>𝜔</m:t>
                      </m:r>
                    </m:oMath>
                  </m:oMathPara>
                </a14:m>
                <a:endParaRPr lang="en-CN" dirty="0"/>
              </a:p>
            </p:txBody>
          </p:sp>
        </mc:Choice>
        <mc:Fallback xmlns="">
          <p:sp>
            <p:nvSpPr>
              <p:cNvPr id="4" name="TextBox 3">
                <a:extLst>
                  <a:ext uri="{FF2B5EF4-FFF2-40B4-BE49-F238E27FC236}">
                    <a16:creationId xmlns:a16="http://schemas.microsoft.com/office/drawing/2014/main" id="{24265FBC-E2D2-CA94-84D8-AA130EA03B7A}"/>
                  </a:ext>
                </a:extLst>
              </p:cNvPr>
              <p:cNvSpPr txBox="1">
                <a:spLocks noRot="1" noChangeAspect="1" noMove="1" noResize="1" noEditPoints="1" noAdjustHandles="1" noChangeArrowheads="1" noChangeShapeType="1" noTextEdit="1"/>
              </p:cNvSpPr>
              <p:nvPr/>
            </p:nvSpPr>
            <p:spPr>
              <a:xfrm>
                <a:off x="5209309" y="1219107"/>
                <a:ext cx="2355272" cy="369332"/>
              </a:xfrm>
              <a:prstGeom prst="rect">
                <a:avLst/>
              </a:prstGeom>
              <a:blipFill>
                <a:blip r:embed="rId3"/>
                <a:stretch>
                  <a:fillRect b="-1333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C2F51E5-0701-1F12-C5E3-3256F310378C}"/>
                  </a:ext>
                </a:extLst>
              </p:cNvPr>
              <p:cNvSpPr txBox="1"/>
              <p:nvPr/>
            </p:nvSpPr>
            <p:spPr>
              <a:xfrm>
                <a:off x="8382000" y="1223663"/>
                <a:ext cx="235527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𝑑𝑈</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𝑉𝑔</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𝜆</m:t>
                          </m:r>
                        </m:e>
                      </m:d>
                      <m:r>
                        <a:rPr lang="en-US" b="0" i="1" smtClean="0">
                          <a:solidFill>
                            <a:srgbClr val="FF0000"/>
                          </a:solidFill>
                          <a:latin typeface="Cambria Math" panose="02040503050406030204" pitchFamily="18" charset="0"/>
                        </a:rPr>
                        <m:t>𝑑</m:t>
                      </m:r>
                      <m:r>
                        <a:rPr lang="en-US" b="0" i="1" smtClean="0">
                          <a:solidFill>
                            <a:srgbClr val="FF0000"/>
                          </a:solidFill>
                          <a:latin typeface="Cambria Math" panose="02040503050406030204" pitchFamily="18" charset="0"/>
                          <a:ea typeface="Cambria Math" panose="02040503050406030204" pitchFamily="18" charset="0"/>
                        </a:rPr>
                        <m:t>𝜆</m:t>
                      </m:r>
                    </m:oMath>
                  </m:oMathPara>
                </a14:m>
                <a:endParaRPr lang="en-CN" dirty="0"/>
              </a:p>
            </p:txBody>
          </p:sp>
        </mc:Choice>
        <mc:Fallback xmlns="">
          <p:sp>
            <p:nvSpPr>
              <p:cNvPr id="5" name="TextBox 4">
                <a:extLst>
                  <a:ext uri="{FF2B5EF4-FFF2-40B4-BE49-F238E27FC236}">
                    <a16:creationId xmlns:a16="http://schemas.microsoft.com/office/drawing/2014/main" id="{7C2F51E5-0701-1F12-C5E3-3256F310378C}"/>
                  </a:ext>
                </a:extLst>
              </p:cNvPr>
              <p:cNvSpPr txBox="1">
                <a:spLocks noRot="1" noChangeAspect="1" noMove="1" noResize="1" noEditPoints="1" noAdjustHandles="1" noChangeArrowheads="1" noChangeShapeType="1" noTextEdit="1"/>
              </p:cNvSpPr>
              <p:nvPr/>
            </p:nvSpPr>
            <p:spPr>
              <a:xfrm>
                <a:off x="8382000" y="1223663"/>
                <a:ext cx="2355272" cy="369332"/>
              </a:xfrm>
              <a:prstGeom prst="rect">
                <a:avLst/>
              </a:prstGeom>
              <a:blipFill>
                <a:blip r:embed="rId4"/>
                <a:stretch>
                  <a:fillRect b="-13333"/>
                </a:stretch>
              </a:blipFill>
            </p:spPr>
            <p:txBody>
              <a:bodyPr/>
              <a:lstStyle/>
              <a:p>
                <a:r>
                  <a:rPr lang="en-CN">
                    <a:noFill/>
                  </a:rPr>
                  <a:t> </a:t>
                </a:r>
              </a:p>
            </p:txBody>
          </p:sp>
        </mc:Fallback>
      </mc:AlternateContent>
      <p:sp>
        <p:nvSpPr>
          <p:cNvPr id="6" name="Right Arrow 5">
            <a:extLst>
              <a:ext uri="{FF2B5EF4-FFF2-40B4-BE49-F238E27FC236}">
                <a16:creationId xmlns:a16="http://schemas.microsoft.com/office/drawing/2014/main" id="{0E7B8F52-B887-7BFF-4FBB-BABB67293BD2}"/>
              </a:ext>
            </a:extLst>
          </p:cNvPr>
          <p:cNvSpPr/>
          <p:nvPr/>
        </p:nvSpPr>
        <p:spPr>
          <a:xfrm>
            <a:off x="7273636" y="1311440"/>
            <a:ext cx="1399309" cy="184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Down Arrow 6">
            <a:extLst>
              <a:ext uri="{FF2B5EF4-FFF2-40B4-BE49-F238E27FC236}">
                <a16:creationId xmlns:a16="http://schemas.microsoft.com/office/drawing/2014/main" id="{13EFBE34-597B-FA45-6EC4-AB8993BD031F}"/>
              </a:ext>
            </a:extLst>
          </p:cNvPr>
          <p:cNvSpPr/>
          <p:nvPr/>
        </p:nvSpPr>
        <p:spPr>
          <a:xfrm rot="1838997">
            <a:off x="4946072" y="1468448"/>
            <a:ext cx="166255" cy="252152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8" name="Down Arrow 7">
            <a:extLst>
              <a:ext uri="{FF2B5EF4-FFF2-40B4-BE49-F238E27FC236}">
                <a16:creationId xmlns:a16="http://schemas.microsoft.com/office/drawing/2014/main" id="{FFB68397-0E83-AC3C-F7AE-AC36B583D162}"/>
              </a:ext>
            </a:extLst>
          </p:cNvPr>
          <p:cNvSpPr/>
          <p:nvPr/>
        </p:nvSpPr>
        <p:spPr>
          <a:xfrm rot="18991834">
            <a:off x="7243646" y="1261439"/>
            <a:ext cx="185283" cy="294914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6670405-7A75-E44F-CB8C-FD09AF233023}"/>
                  </a:ext>
                </a:extLst>
              </p:cNvPr>
              <p:cNvSpPr txBox="1"/>
              <p:nvPr/>
            </p:nvSpPr>
            <p:spPr>
              <a:xfrm>
                <a:off x="2992582" y="2313709"/>
                <a:ext cx="173181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ℏ</m:t>
                      </m:r>
                      <m:r>
                        <a:rPr lang="en-CN" i="1" smtClean="0">
                          <a:latin typeface="Cambria Math" panose="02040503050406030204" pitchFamily="18" charset="0"/>
                          <a:ea typeface="Cambria Math" panose="02040503050406030204" pitchFamily="18" charset="0"/>
                        </a:rPr>
                        <m:t>𝜔</m:t>
                      </m:r>
                      <m:r>
                        <a:rPr lang="en-CN" i="1" smtClean="0">
                          <a:latin typeface="Cambria Math" panose="02040503050406030204" pitchFamily="18" charset="0"/>
                          <a:ea typeface="Cambria Math" panose="02040503050406030204" pitchFamily="18" charset="0"/>
                        </a:rPr>
                        <m:t>≪</m:t>
                      </m:r>
                      <m:r>
                        <a:rPr lang="en-CN" i="1" smtClean="0">
                          <a:latin typeface="Cambria Math" panose="02040503050406030204" pitchFamily="18" charset="0"/>
                          <a:ea typeface="Cambria Math" panose="02040503050406030204" pitchFamily="18" charset="0"/>
                        </a:rPr>
                        <m:t>𝜏</m:t>
                      </m:r>
                    </m:oMath>
                  </m:oMathPara>
                </a14:m>
                <a:endParaRPr lang="en-CN" dirty="0"/>
              </a:p>
            </p:txBody>
          </p:sp>
        </mc:Choice>
        <mc:Fallback xmlns="">
          <p:sp>
            <p:nvSpPr>
              <p:cNvPr id="9" name="TextBox 8">
                <a:extLst>
                  <a:ext uri="{FF2B5EF4-FFF2-40B4-BE49-F238E27FC236}">
                    <a16:creationId xmlns:a16="http://schemas.microsoft.com/office/drawing/2014/main" id="{46670405-7A75-E44F-CB8C-FD09AF233023}"/>
                  </a:ext>
                </a:extLst>
              </p:cNvPr>
              <p:cNvSpPr txBox="1">
                <a:spLocks noRot="1" noChangeAspect="1" noMove="1" noResize="1" noEditPoints="1" noAdjustHandles="1" noChangeArrowheads="1" noChangeShapeType="1" noTextEdit="1"/>
              </p:cNvSpPr>
              <p:nvPr/>
            </p:nvSpPr>
            <p:spPr>
              <a:xfrm>
                <a:off x="2992582" y="2313709"/>
                <a:ext cx="1731818" cy="369332"/>
              </a:xfrm>
              <a:prstGeom prst="rect">
                <a:avLst/>
              </a:prstGeom>
              <a:blipFill>
                <a:blip r:embed="rId5"/>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B5F2B31-AEDB-263A-1CE9-4E105797D016}"/>
                  </a:ext>
                </a:extLst>
              </p:cNvPr>
              <p:cNvSpPr txBox="1"/>
              <p:nvPr/>
            </p:nvSpPr>
            <p:spPr>
              <a:xfrm>
                <a:off x="7273636" y="2313709"/>
                <a:ext cx="173181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ℏ</m:t>
                      </m:r>
                      <m:r>
                        <a:rPr lang="en-CN" i="1" smtClean="0">
                          <a:latin typeface="Cambria Math" panose="02040503050406030204" pitchFamily="18" charset="0"/>
                          <a:ea typeface="Cambria Math" panose="02040503050406030204" pitchFamily="18" charset="0"/>
                        </a:rPr>
                        <m:t>𝜔</m:t>
                      </m:r>
                      <m:r>
                        <a:rPr lang="en-CN" i="1" smtClean="0">
                          <a:latin typeface="Cambria Math" panose="02040503050406030204" pitchFamily="18" charset="0"/>
                          <a:ea typeface="Cambria Math" panose="02040503050406030204" pitchFamily="18" charset="0"/>
                        </a:rPr>
                        <m:t>≫</m:t>
                      </m:r>
                      <m:r>
                        <a:rPr lang="en-CN" i="1" smtClean="0">
                          <a:latin typeface="Cambria Math" panose="02040503050406030204" pitchFamily="18" charset="0"/>
                          <a:ea typeface="Cambria Math" panose="02040503050406030204" pitchFamily="18" charset="0"/>
                        </a:rPr>
                        <m:t>𝜏</m:t>
                      </m:r>
                    </m:oMath>
                  </m:oMathPara>
                </a14:m>
                <a:endParaRPr lang="en-CN" dirty="0"/>
              </a:p>
            </p:txBody>
          </p:sp>
        </mc:Choice>
        <mc:Fallback xmlns="">
          <p:sp>
            <p:nvSpPr>
              <p:cNvPr id="10" name="TextBox 9">
                <a:extLst>
                  <a:ext uri="{FF2B5EF4-FFF2-40B4-BE49-F238E27FC236}">
                    <a16:creationId xmlns:a16="http://schemas.microsoft.com/office/drawing/2014/main" id="{FB5F2B31-AEDB-263A-1CE9-4E105797D016}"/>
                  </a:ext>
                </a:extLst>
              </p:cNvPr>
              <p:cNvSpPr txBox="1">
                <a:spLocks noRot="1" noChangeAspect="1" noMove="1" noResize="1" noEditPoints="1" noAdjustHandles="1" noChangeArrowheads="1" noChangeShapeType="1" noTextEdit="1"/>
              </p:cNvSpPr>
              <p:nvPr/>
            </p:nvSpPr>
            <p:spPr>
              <a:xfrm>
                <a:off x="7273636" y="2313709"/>
                <a:ext cx="1731818" cy="369332"/>
              </a:xfrm>
              <a:prstGeom prst="rect">
                <a:avLst/>
              </a:prstGeom>
              <a:blipFill>
                <a:blip r:embed="rId6"/>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C45CF2F-C9F0-75CD-5233-A9A85179B811}"/>
                  </a:ext>
                </a:extLst>
              </p:cNvPr>
              <p:cNvSpPr txBox="1"/>
              <p:nvPr/>
            </p:nvSpPr>
            <p:spPr>
              <a:xfrm>
                <a:off x="2535382" y="4003964"/>
                <a:ext cx="3906982"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𝑑𝑈</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𝜔</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𝜔</m:t>
                      </m:r>
                    </m:oMath>
                  </m:oMathPara>
                </a14:m>
                <a:endParaRPr lang="en-CN" dirty="0"/>
              </a:p>
              <a:p>
                <a:pPr algn="ctr"/>
                <a:r>
                  <a:rPr lang="en-CN" dirty="0"/>
                  <a:t>Rayleigh-Jeans</a:t>
                </a:r>
              </a:p>
              <a:p>
                <a:pPr algn="ctr"/>
                <a:r>
                  <a:rPr lang="en-CN" dirty="0"/>
                  <a:t>瑞利</a:t>
                </a:r>
                <a:r>
                  <a:rPr lang="en-US" altLang="zh-CN" dirty="0"/>
                  <a:t>-</a:t>
                </a:r>
                <a:r>
                  <a:rPr lang="zh-CN" altLang="en-CN" dirty="0"/>
                  <a:t>金斯</a:t>
                </a:r>
                <a:endParaRPr lang="en-CN" dirty="0"/>
              </a:p>
            </p:txBody>
          </p:sp>
        </mc:Choice>
        <mc:Fallback xmlns="">
          <p:sp>
            <p:nvSpPr>
              <p:cNvPr id="11" name="TextBox 10">
                <a:extLst>
                  <a:ext uri="{FF2B5EF4-FFF2-40B4-BE49-F238E27FC236}">
                    <a16:creationId xmlns:a16="http://schemas.microsoft.com/office/drawing/2014/main" id="{EC45CF2F-C9F0-75CD-5233-A9A85179B811}"/>
                  </a:ext>
                </a:extLst>
              </p:cNvPr>
              <p:cNvSpPr txBox="1">
                <a:spLocks noRot="1" noChangeAspect="1" noMove="1" noResize="1" noEditPoints="1" noAdjustHandles="1" noChangeArrowheads="1" noChangeShapeType="1" noTextEdit="1"/>
              </p:cNvSpPr>
              <p:nvPr/>
            </p:nvSpPr>
            <p:spPr>
              <a:xfrm>
                <a:off x="2535382" y="4003964"/>
                <a:ext cx="3906982" cy="923330"/>
              </a:xfrm>
              <a:prstGeom prst="rect">
                <a:avLst/>
              </a:prstGeom>
              <a:blipFill>
                <a:blip r:embed="rId7"/>
                <a:stretch>
                  <a:fillRect b="-1095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0998732-FD26-4DA5-4195-9098B3B1B387}"/>
                  </a:ext>
                </a:extLst>
              </p:cNvPr>
              <p:cNvSpPr txBox="1"/>
              <p:nvPr/>
            </p:nvSpPr>
            <p:spPr>
              <a:xfrm>
                <a:off x="6719454" y="4003964"/>
                <a:ext cx="3906982" cy="9336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𝑑𝑈</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𝜔</m:t>
                          </m:r>
                        </m:e>
                        <m:sup>
                          <m:r>
                            <a:rPr lang="en-US" b="0" i="1" smtClean="0">
                              <a:latin typeface="Cambria Math" panose="02040503050406030204" pitchFamily="18" charset="0"/>
                              <a:ea typeface="Cambria Math" panose="02040503050406030204" pitchFamily="18" charset="0"/>
                            </a:rPr>
                            <m:t>3</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−ℏ</m:t>
                          </m:r>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𝜔</m:t>
                      </m:r>
                    </m:oMath>
                  </m:oMathPara>
                </a14:m>
                <a:endParaRPr lang="en-CN" dirty="0"/>
              </a:p>
              <a:p>
                <a:pPr algn="ctr"/>
                <a:r>
                  <a:rPr lang="en-CN" dirty="0"/>
                  <a:t>Wien</a:t>
                </a:r>
              </a:p>
              <a:p>
                <a:pPr algn="ctr"/>
                <a:r>
                  <a:rPr lang="en-CN" dirty="0"/>
                  <a:t>维恩</a:t>
                </a:r>
              </a:p>
            </p:txBody>
          </p:sp>
        </mc:Choice>
        <mc:Fallback xmlns="">
          <p:sp>
            <p:nvSpPr>
              <p:cNvPr id="12" name="TextBox 11">
                <a:extLst>
                  <a:ext uri="{FF2B5EF4-FFF2-40B4-BE49-F238E27FC236}">
                    <a16:creationId xmlns:a16="http://schemas.microsoft.com/office/drawing/2014/main" id="{60998732-FD26-4DA5-4195-9098B3B1B387}"/>
                  </a:ext>
                </a:extLst>
              </p:cNvPr>
              <p:cNvSpPr txBox="1">
                <a:spLocks noRot="1" noChangeAspect="1" noMove="1" noResize="1" noEditPoints="1" noAdjustHandles="1" noChangeArrowheads="1" noChangeShapeType="1" noTextEdit="1"/>
              </p:cNvSpPr>
              <p:nvPr/>
            </p:nvSpPr>
            <p:spPr>
              <a:xfrm>
                <a:off x="6719454" y="4003964"/>
                <a:ext cx="3906982" cy="933654"/>
              </a:xfrm>
              <a:prstGeom prst="rect">
                <a:avLst/>
              </a:prstGeom>
              <a:blipFill>
                <a:blip r:embed="rId8"/>
                <a:stretch>
                  <a:fillRect b="-945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42D5CAA-9D1A-0E52-10ED-44D4C7CDBBAE}"/>
                  </a:ext>
                </a:extLst>
              </p:cNvPr>
              <p:cNvSpPr txBox="1"/>
              <p:nvPr/>
            </p:nvSpPr>
            <p:spPr>
              <a:xfrm>
                <a:off x="3948545" y="942108"/>
                <a:ext cx="94211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=ℏ</m:t>
                      </m:r>
                      <m:r>
                        <a:rPr lang="en-US" b="0" i="1" smtClean="0">
                          <a:latin typeface="Cambria Math" panose="02040503050406030204" pitchFamily="18" charset="0"/>
                          <a:ea typeface="Cambria Math" panose="02040503050406030204" pitchFamily="18" charset="0"/>
                        </a:rPr>
                        <m:t>𝜔</m:t>
                      </m:r>
                    </m:oMath>
                  </m:oMathPara>
                </a14:m>
                <a:endParaRPr lang="en-CN" dirty="0"/>
              </a:p>
            </p:txBody>
          </p:sp>
        </mc:Choice>
        <mc:Fallback xmlns="">
          <p:sp>
            <p:nvSpPr>
              <p:cNvPr id="13" name="TextBox 12">
                <a:extLst>
                  <a:ext uri="{FF2B5EF4-FFF2-40B4-BE49-F238E27FC236}">
                    <a16:creationId xmlns:a16="http://schemas.microsoft.com/office/drawing/2014/main" id="{C42D5CAA-9D1A-0E52-10ED-44D4C7CDBBAE}"/>
                  </a:ext>
                </a:extLst>
              </p:cNvPr>
              <p:cNvSpPr txBox="1">
                <a:spLocks noRot="1" noChangeAspect="1" noMove="1" noResize="1" noEditPoints="1" noAdjustHandles="1" noChangeArrowheads="1" noChangeShapeType="1" noTextEdit="1"/>
              </p:cNvSpPr>
              <p:nvPr/>
            </p:nvSpPr>
            <p:spPr>
              <a:xfrm>
                <a:off x="3948545" y="942108"/>
                <a:ext cx="942110" cy="369332"/>
              </a:xfrm>
              <a:prstGeom prst="rect">
                <a:avLst/>
              </a:prstGeom>
              <a:blipFill>
                <a:blip r:embed="rId9"/>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1F02CE6-7283-4C0A-7C56-8D7B73C05BD6}"/>
                  </a:ext>
                </a:extLst>
              </p:cNvPr>
              <p:cNvSpPr txBox="1"/>
              <p:nvPr/>
            </p:nvSpPr>
            <p:spPr>
              <a:xfrm>
                <a:off x="7186880" y="727310"/>
                <a:ext cx="1486065" cy="6127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𝑐</m:t>
                          </m:r>
                        </m:num>
                        <m:den>
                          <m:r>
                            <a:rPr lang="en-US" b="0" i="1" smtClean="0">
                              <a:latin typeface="Cambria Math" panose="02040503050406030204" pitchFamily="18" charset="0"/>
                              <a:ea typeface="Cambria Math" panose="02040503050406030204" pitchFamily="18" charset="0"/>
                            </a:rPr>
                            <m:t>𝜔</m:t>
                          </m:r>
                        </m:den>
                      </m:f>
                    </m:oMath>
                  </m:oMathPara>
                </a14:m>
                <a:endParaRPr lang="en-CN" dirty="0"/>
              </a:p>
            </p:txBody>
          </p:sp>
        </mc:Choice>
        <mc:Fallback xmlns="">
          <p:sp>
            <p:nvSpPr>
              <p:cNvPr id="14" name="TextBox 13">
                <a:extLst>
                  <a:ext uri="{FF2B5EF4-FFF2-40B4-BE49-F238E27FC236}">
                    <a16:creationId xmlns:a16="http://schemas.microsoft.com/office/drawing/2014/main" id="{C1F02CE6-7283-4C0A-7C56-8D7B73C05BD6}"/>
                  </a:ext>
                </a:extLst>
              </p:cNvPr>
              <p:cNvSpPr txBox="1">
                <a:spLocks noRot="1" noChangeAspect="1" noMove="1" noResize="1" noEditPoints="1" noAdjustHandles="1" noChangeArrowheads="1" noChangeShapeType="1" noTextEdit="1"/>
              </p:cNvSpPr>
              <p:nvPr/>
            </p:nvSpPr>
            <p:spPr>
              <a:xfrm>
                <a:off x="7186880" y="727310"/>
                <a:ext cx="1486065" cy="612732"/>
              </a:xfrm>
              <a:prstGeom prst="rect">
                <a:avLst/>
              </a:prstGeom>
              <a:blipFill>
                <a:blip r:embed="rId10"/>
                <a:stretch>
                  <a:fillRect/>
                </a:stretch>
              </a:blipFill>
            </p:spPr>
            <p:txBody>
              <a:bodyPr/>
              <a:lstStyle/>
              <a:p>
                <a:r>
                  <a:rPr lang="en-CN">
                    <a:noFill/>
                  </a:rPr>
                  <a:t> </a:t>
                </a:r>
              </a:p>
            </p:txBody>
          </p:sp>
        </mc:Fallback>
      </mc:AlternateContent>
      <p:pic>
        <p:nvPicPr>
          <p:cNvPr id="2050" name="Picture 2">
            <a:extLst>
              <a:ext uri="{FF2B5EF4-FFF2-40B4-BE49-F238E27FC236}">
                <a16:creationId xmlns:a16="http://schemas.microsoft.com/office/drawing/2014/main" id="{E971FC99-7040-AA8D-752F-AE8204F0C33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374014" y="3581248"/>
            <a:ext cx="1610872" cy="227718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E01239C-21F6-BAC4-F9A7-7814574CBCF3}"/>
                  </a:ext>
                </a:extLst>
              </p:cNvPr>
              <p:cNvSpPr txBox="1"/>
              <p:nvPr/>
            </p:nvSpPr>
            <p:spPr>
              <a:xfrm>
                <a:off x="3048000" y="2066474"/>
                <a:ext cx="6096000" cy="6873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FF0000"/>
                              </a:solidFill>
                              <a:latin typeface="Cambria Math" panose="02040503050406030204" pitchFamily="18" charset="0"/>
                              <a:ea typeface="Cambria Math" panose="02040503050406030204" pitchFamily="18" charset="0"/>
                            </a:rPr>
                          </m:ctrlPr>
                        </m:fPr>
                        <m:num>
                          <m:r>
                            <a:rPr lang="en-US" b="0" i="1" smtClean="0">
                              <a:solidFill>
                                <a:srgbClr val="FF0000"/>
                              </a:solidFill>
                              <a:latin typeface="Cambria Math" panose="02040503050406030204" pitchFamily="18" charset="0"/>
                              <a:ea typeface="Cambria Math" panose="02040503050406030204" pitchFamily="18" charset="0"/>
                            </a:rPr>
                            <m:t>1</m:t>
                          </m:r>
                        </m:num>
                        <m:den>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𝜋</m:t>
                              </m:r>
                            </m:e>
                            <m:sup>
                              <m:r>
                                <a:rPr lang="en-US" b="0" i="1" smtClean="0">
                                  <a:solidFill>
                                    <a:srgbClr val="FF0000"/>
                                  </a:solidFill>
                                  <a:latin typeface="Cambria Math" panose="02040503050406030204" pitchFamily="18" charset="0"/>
                                  <a:ea typeface="Cambria Math" panose="02040503050406030204" pitchFamily="18" charset="0"/>
                                </a:rPr>
                                <m:t>2</m:t>
                              </m:r>
                            </m:sup>
                          </m:sSup>
                          <m:sSup>
                            <m:sSupPr>
                              <m:ctrlPr>
                                <a:rPr lang="en-US" b="0" i="1" smtClean="0">
                                  <a:solidFill>
                                    <a:srgbClr val="FF0000"/>
                                  </a:solidFill>
                                  <a:latin typeface="Cambria Math" panose="02040503050406030204" pitchFamily="18" charset="0"/>
                                  <a:ea typeface="Cambria Math" panose="02040503050406030204" pitchFamily="18" charset="0"/>
                                </a:rPr>
                              </m:ctrlPr>
                            </m:sSupPr>
                            <m:e>
                              <m:d>
                                <m:dPr>
                                  <m:ctrlPr>
                                    <a:rPr lang="en-US" b="0" i="1" smtClean="0">
                                      <a:solidFill>
                                        <a:srgbClr val="FF0000"/>
                                      </a:solidFill>
                                      <a:latin typeface="Cambria Math" panose="02040503050406030204" pitchFamily="18" charset="0"/>
                                      <a:ea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ℏ</m:t>
                                  </m:r>
                                  <m:r>
                                    <a:rPr lang="en-US" b="0" i="1" smtClean="0">
                                      <a:solidFill>
                                        <a:srgbClr val="FF0000"/>
                                      </a:solidFill>
                                      <a:latin typeface="Cambria Math" panose="02040503050406030204" pitchFamily="18" charset="0"/>
                                      <a:ea typeface="Cambria Math" panose="02040503050406030204" pitchFamily="18" charset="0"/>
                                    </a:rPr>
                                    <m:t>𝑐</m:t>
                                  </m:r>
                                </m:e>
                              </m:d>
                            </m:e>
                            <m:sup>
                              <m:r>
                                <a:rPr lang="en-US" b="0" i="1" smtClean="0">
                                  <a:solidFill>
                                    <a:srgbClr val="FF0000"/>
                                  </a:solidFill>
                                  <a:latin typeface="Cambria Math" panose="02040503050406030204" pitchFamily="18" charset="0"/>
                                  <a:ea typeface="Cambria Math" panose="02040503050406030204" pitchFamily="18" charset="0"/>
                                </a:rPr>
                                <m:t>3</m:t>
                              </m:r>
                            </m:sup>
                          </m:sSup>
                        </m:den>
                      </m:f>
                      <m:f>
                        <m:fPr>
                          <m:ctrlPr>
                            <a:rPr lang="en-US" b="0" i="1" smtClean="0">
                              <a:solidFill>
                                <a:srgbClr val="FF0000"/>
                              </a:solidFill>
                              <a:latin typeface="Cambria Math" panose="02040503050406030204" pitchFamily="18" charset="0"/>
                              <a:ea typeface="Cambria Math" panose="02040503050406030204" pitchFamily="18" charset="0"/>
                            </a:rPr>
                          </m:ctrlPr>
                        </m:fPr>
                        <m:num>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𝜀</m:t>
                              </m:r>
                            </m:e>
                            <m:sup>
                              <m:r>
                                <a:rPr lang="en-US" b="0" i="1" smtClean="0">
                                  <a:solidFill>
                                    <a:srgbClr val="FF0000"/>
                                  </a:solidFill>
                                  <a:latin typeface="Cambria Math" panose="02040503050406030204" pitchFamily="18" charset="0"/>
                                  <a:ea typeface="Cambria Math" panose="02040503050406030204" pitchFamily="18" charset="0"/>
                                </a:rPr>
                                <m:t>3</m:t>
                              </m:r>
                            </m:sup>
                          </m:sSup>
                        </m:num>
                        <m:den>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𝑒</m:t>
                              </m:r>
                            </m:e>
                            <m:sup>
                              <m:r>
                                <a:rPr lang="en-US" b="0" i="1" smtClean="0">
                                  <a:solidFill>
                                    <a:srgbClr val="FF0000"/>
                                  </a:solidFill>
                                  <a:latin typeface="Cambria Math" panose="02040503050406030204" pitchFamily="18" charset="0"/>
                                  <a:ea typeface="Cambria Math" panose="02040503050406030204" pitchFamily="18" charset="0"/>
                                </a:rPr>
                                <m:t>𝜀</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𝜏</m:t>
                              </m:r>
                            </m:sup>
                          </m:sSup>
                          <m:r>
                            <a:rPr lang="en-US" b="0" i="1" smtClean="0">
                              <a:solidFill>
                                <a:srgbClr val="FF0000"/>
                              </a:solidFill>
                              <a:latin typeface="Cambria Math" panose="02040503050406030204" pitchFamily="18" charset="0"/>
                              <a:ea typeface="Cambria Math" panose="02040503050406030204" pitchFamily="18" charset="0"/>
                            </a:rPr>
                            <m:t>−1</m:t>
                          </m:r>
                        </m:den>
                      </m:f>
                    </m:oMath>
                  </m:oMathPara>
                </a14:m>
                <a:endParaRPr lang="en-CN" dirty="0"/>
              </a:p>
            </p:txBody>
          </p:sp>
        </mc:Choice>
        <mc:Fallback xmlns="">
          <p:sp>
            <p:nvSpPr>
              <p:cNvPr id="17" name="TextBox 16">
                <a:extLst>
                  <a:ext uri="{FF2B5EF4-FFF2-40B4-BE49-F238E27FC236}">
                    <a16:creationId xmlns:a16="http://schemas.microsoft.com/office/drawing/2014/main" id="{BE01239C-21F6-BAC4-F9A7-7814574CBCF3}"/>
                  </a:ext>
                </a:extLst>
              </p:cNvPr>
              <p:cNvSpPr txBox="1">
                <a:spLocks noRot="1" noChangeAspect="1" noMove="1" noResize="1" noEditPoints="1" noAdjustHandles="1" noChangeArrowheads="1" noChangeShapeType="1" noTextEdit="1"/>
              </p:cNvSpPr>
              <p:nvPr/>
            </p:nvSpPr>
            <p:spPr>
              <a:xfrm>
                <a:off x="3048000" y="2066474"/>
                <a:ext cx="6096000" cy="687368"/>
              </a:xfrm>
              <a:prstGeom prst="rect">
                <a:avLst/>
              </a:prstGeom>
              <a:blipFill>
                <a:blip r:embed="rId12"/>
                <a:stretch>
                  <a:fillRect/>
                </a:stretch>
              </a:blipFill>
            </p:spPr>
            <p:txBody>
              <a:bodyPr/>
              <a:lstStyle/>
              <a:p>
                <a:r>
                  <a:rPr lang="en-CN">
                    <a:noFill/>
                  </a:rPr>
                  <a:t> </a:t>
                </a:r>
              </a:p>
            </p:txBody>
          </p:sp>
        </mc:Fallback>
      </mc:AlternateContent>
      <p:pic>
        <p:nvPicPr>
          <p:cNvPr id="1026" name="Picture 2">
            <a:extLst>
              <a:ext uri="{FF2B5EF4-FFF2-40B4-BE49-F238E27FC236}">
                <a16:creationId xmlns:a16="http://schemas.microsoft.com/office/drawing/2014/main" id="{BBB636DE-C950-B04A-F69D-AD70E3A0400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7839" y="3590653"/>
            <a:ext cx="1693906" cy="22790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4F104A34-B470-C1E3-6E35-5D2330C8059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19531" y="3590653"/>
            <a:ext cx="1605709" cy="2277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4607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FDE60A-FD9E-4337-2F47-F1EE923953DE}"/>
              </a:ext>
            </a:extLst>
          </p:cNvPr>
          <p:cNvSpPr txBox="1"/>
          <p:nvPr/>
        </p:nvSpPr>
        <p:spPr>
          <a:xfrm>
            <a:off x="4350327" y="249382"/>
            <a:ext cx="2964873" cy="707886"/>
          </a:xfrm>
          <a:prstGeom prst="rect">
            <a:avLst/>
          </a:prstGeom>
          <a:noFill/>
        </p:spPr>
        <p:txBody>
          <a:bodyPr wrap="square" rtlCol="0">
            <a:spAutoFit/>
          </a:bodyPr>
          <a:lstStyle/>
          <a:p>
            <a:pPr algn="ctr"/>
            <a:r>
              <a:rPr lang="en-CN" sz="4000" dirty="0"/>
              <a:t>光子</a:t>
            </a:r>
          </a:p>
        </p:txBody>
      </p:sp>
      <p:pic>
        <p:nvPicPr>
          <p:cNvPr id="4" name="Picture 3">
            <a:extLst>
              <a:ext uri="{FF2B5EF4-FFF2-40B4-BE49-F238E27FC236}">
                <a16:creationId xmlns:a16="http://schemas.microsoft.com/office/drawing/2014/main" id="{C8D1171D-9304-D15A-58B7-30C950E99375}"/>
              </a:ext>
            </a:extLst>
          </p:cNvPr>
          <p:cNvPicPr>
            <a:picLocks noChangeAspect="1"/>
          </p:cNvPicPr>
          <p:nvPr/>
        </p:nvPicPr>
        <p:blipFill>
          <a:blip r:embed="rId2"/>
          <a:stretch>
            <a:fillRect/>
          </a:stretch>
        </p:blipFill>
        <p:spPr>
          <a:xfrm>
            <a:off x="0" y="918508"/>
            <a:ext cx="12192000" cy="3778909"/>
          </a:xfrm>
          <a:prstGeom prst="rect">
            <a:avLst/>
          </a:prstGeom>
        </p:spPr>
      </p:pic>
      <p:sp>
        <p:nvSpPr>
          <p:cNvPr id="6" name="TextBox 5">
            <a:extLst>
              <a:ext uri="{FF2B5EF4-FFF2-40B4-BE49-F238E27FC236}">
                <a16:creationId xmlns:a16="http://schemas.microsoft.com/office/drawing/2014/main" id="{19509D59-7C88-BAEF-BB97-3000C626DF6E}"/>
              </a:ext>
            </a:extLst>
          </p:cNvPr>
          <p:cNvSpPr txBox="1"/>
          <p:nvPr/>
        </p:nvSpPr>
        <p:spPr>
          <a:xfrm>
            <a:off x="1039091" y="5592955"/>
            <a:ext cx="10515600" cy="646331"/>
          </a:xfrm>
          <a:prstGeom prst="rect">
            <a:avLst/>
          </a:prstGeom>
          <a:noFill/>
        </p:spPr>
        <p:txBody>
          <a:bodyPr wrap="square">
            <a:spAutoFit/>
          </a:bodyPr>
          <a:lstStyle/>
          <a:p>
            <a:r>
              <a:rPr lang="en-CN" dirty="0"/>
              <a:t>https://en.wikisource.org/wiki/Translation:On_a_Heuristic_Point_of_View_about_the_Creation_and_Conversion_of_Light#cite_note-5</a:t>
            </a:r>
          </a:p>
        </p:txBody>
      </p:sp>
    </p:spTree>
    <p:extLst>
      <p:ext uri="{BB962C8B-B14F-4D97-AF65-F5344CB8AC3E}">
        <p14:creationId xmlns:p14="http://schemas.microsoft.com/office/powerpoint/2010/main" val="6109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2C9A660-BAC4-1B9B-F243-73AE50789A53}"/>
                  </a:ext>
                </a:extLst>
              </p:cNvPr>
              <p:cNvSpPr txBox="1"/>
              <p:nvPr/>
            </p:nvSpPr>
            <p:spPr>
              <a:xfrm>
                <a:off x="762001" y="401773"/>
                <a:ext cx="5098472" cy="2304029"/>
              </a:xfrm>
              <a:prstGeom prst="rect">
                <a:avLst/>
              </a:prstGeom>
              <a:noFill/>
            </p:spPr>
            <p:txBody>
              <a:bodyPr wrap="square" rtlCol="0">
                <a:spAutoFit/>
              </a:bodyPr>
              <a:lstStyle/>
              <a:p>
                <a:r>
                  <a:rPr lang="en-CN" dirty="0"/>
                  <a:t>Total energy                          U</a:t>
                </a:r>
              </a:p>
              <a:p>
                <a:r>
                  <a:rPr lang="en-CN" dirty="0"/>
                  <a:t>The energy density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𝑈</m:t>
                        </m:r>
                      </m:num>
                      <m:den>
                        <m:r>
                          <a:rPr lang="en-US" b="0" i="1" smtClean="0">
                            <a:latin typeface="Cambria Math" panose="02040503050406030204" pitchFamily="18" charset="0"/>
                          </a:rPr>
                          <m:t>𝑉</m:t>
                        </m:r>
                      </m:den>
                    </m:f>
                  </m:oMath>
                </a14:m>
                <a:endParaRPr lang="en-CN" dirty="0"/>
              </a:p>
              <a:p>
                <a:r>
                  <a:rPr lang="en-CN" dirty="0"/>
                  <a:t>The rate of change of energy density with frequency as we proceed through the spectrum will be called  </a:t>
                </a:r>
                <a14:m>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𝑢</m:t>
                        </m:r>
                      </m:e>
                      <m:sub>
                        <m:r>
                          <a:rPr lang="en-CN" i="1" smtClean="0">
                            <a:latin typeface="Cambria Math" panose="02040503050406030204" pitchFamily="18" charset="0"/>
                            <a:ea typeface="Cambria Math" panose="02040503050406030204" pitchFamily="18" charset="0"/>
                          </a:rPr>
                          <m:t>𝜔</m:t>
                        </m:r>
                      </m:sub>
                    </m:sSub>
                  </m:oMath>
                </a14:m>
                <a:r>
                  <a:rPr lang="en-CN" dirty="0"/>
                  <a:t>. Hence the density of energy lying between any two given frrequencies is</a:t>
                </a:r>
              </a:p>
              <a:p>
                <a:pPr algn="ctr"/>
                <a14:m>
                  <m:oMath xmlns:m="http://schemas.openxmlformats.org/officeDocument/2006/math">
                    <m:nary>
                      <m:naryPr>
                        <m:ctrlPr>
                          <a:rPr lang="en-CN" i="1" smtClean="0">
                            <a:latin typeface="Cambria Math" panose="02040503050406030204" pitchFamily="18" charset="0"/>
                          </a:rPr>
                        </m:ctrlPr>
                      </m:naryPr>
                      <m:sub>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1</m:t>
                            </m:r>
                          </m:sub>
                        </m:sSub>
                      </m:sub>
                      <m:sup>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2</m:t>
                            </m:r>
                          </m:sub>
                        </m:sSub>
                      </m:sup>
                      <m:e>
                        <m:sSub>
                          <m:sSubPr>
                            <m:ctrlPr>
                              <a:rPr lang="en-CN" i="1" smtClean="0">
                                <a:latin typeface="Cambria Math" panose="02040503050406030204" pitchFamily="18" charset="0"/>
                              </a:rPr>
                            </m:ctrlPr>
                          </m:sSubPr>
                          <m:e>
                            <m:r>
                              <a:rPr lang="en-US" b="0" i="1" smtClean="0">
                                <a:latin typeface="Cambria Math" panose="02040503050406030204" pitchFamily="18" charset="0"/>
                              </a:rPr>
                              <m:t>𝑢</m:t>
                            </m:r>
                          </m:e>
                          <m:sub>
                            <m:r>
                              <a:rPr lang="en-CN" i="1" smtClean="0">
                                <a:latin typeface="Cambria Math" panose="02040503050406030204" pitchFamily="18" charset="0"/>
                                <a:ea typeface="Cambria Math" panose="02040503050406030204" pitchFamily="18" charset="0"/>
                              </a:rPr>
                              <m:t>𝜔</m:t>
                            </m:r>
                          </m:sub>
                        </m:sSub>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𝜔</m:t>
                        </m:r>
                      </m:e>
                    </m:nary>
                  </m:oMath>
                </a14:m>
                <a:r>
                  <a:rPr lang="en-CN" dirty="0"/>
                  <a:t> </a:t>
                </a:r>
              </a:p>
            </p:txBody>
          </p:sp>
        </mc:Choice>
        <mc:Fallback xmlns="">
          <p:sp>
            <p:nvSpPr>
              <p:cNvPr id="2" name="TextBox 1">
                <a:extLst>
                  <a:ext uri="{FF2B5EF4-FFF2-40B4-BE49-F238E27FC236}">
                    <a16:creationId xmlns:a16="http://schemas.microsoft.com/office/drawing/2014/main" id="{12C9A660-BAC4-1B9B-F243-73AE50789A53}"/>
                  </a:ext>
                </a:extLst>
              </p:cNvPr>
              <p:cNvSpPr txBox="1">
                <a:spLocks noRot="1" noChangeAspect="1" noMove="1" noResize="1" noEditPoints="1" noAdjustHandles="1" noChangeArrowheads="1" noChangeShapeType="1" noTextEdit="1"/>
              </p:cNvSpPr>
              <p:nvPr/>
            </p:nvSpPr>
            <p:spPr>
              <a:xfrm>
                <a:off x="762001" y="401773"/>
                <a:ext cx="5098472" cy="2304029"/>
              </a:xfrm>
              <a:prstGeom prst="rect">
                <a:avLst/>
              </a:prstGeom>
              <a:blipFill>
                <a:blip r:embed="rId2"/>
                <a:stretch>
                  <a:fillRect l="-995" t="-1093" b="-28415"/>
                </a:stretch>
              </a:blipFill>
            </p:spPr>
            <p:txBody>
              <a:bodyPr/>
              <a:lstStyle/>
              <a:p>
                <a:r>
                  <a:rPr lang="en-CN">
                    <a:noFill/>
                  </a:rPr>
                  <a:t> </a:t>
                </a:r>
              </a:p>
            </p:txBody>
          </p:sp>
        </mc:Fallback>
      </mc:AlternateContent>
      <p:sp>
        <p:nvSpPr>
          <p:cNvPr id="3" name="TextBox 2">
            <a:extLst>
              <a:ext uri="{FF2B5EF4-FFF2-40B4-BE49-F238E27FC236}">
                <a16:creationId xmlns:a16="http://schemas.microsoft.com/office/drawing/2014/main" id="{CE01D620-07EA-386E-B446-D8BC9A69CD9B}"/>
              </a:ext>
            </a:extLst>
          </p:cNvPr>
          <p:cNvSpPr txBox="1"/>
          <p:nvPr/>
        </p:nvSpPr>
        <p:spPr>
          <a:xfrm>
            <a:off x="3865418" y="39452"/>
            <a:ext cx="4461164" cy="369332"/>
          </a:xfrm>
          <a:prstGeom prst="rect">
            <a:avLst/>
          </a:prstGeom>
          <a:noFill/>
        </p:spPr>
        <p:txBody>
          <a:bodyPr wrap="square" rtlCol="0">
            <a:spAutoFit/>
          </a:bodyPr>
          <a:lstStyle/>
          <a:p>
            <a:pPr algn="ctr"/>
            <a:r>
              <a:rPr lang="en-CN" dirty="0"/>
              <a:t>Trying…</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E85398F-9909-0D58-13CF-B1F020FE06AB}"/>
                  </a:ext>
                </a:extLst>
              </p:cNvPr>
              <p:cNvSpPr txBox="1"/>
              <p:nvPr/>
            </p:nvSpPr>
            <p:spPr>
              <a:xfrm>
                <a:off x="6636328" y="423881"/>
                <a:ext cx="5098472" cy="2304029"/>
              </a:xfrm>
              <a:prstGeom prst="rect">
                <a:avLst/>
              </a:prstGeom>
              <a:noFill/>
            </p:spPr>
            <p:txBody>
              <a:bodyPr wrap="square" rtlCol="0">
                <a:spAutoFit/>
              </a:bodyPr>
              <a:lstStyle/>
              <a:p>
                <a:r>
                  <a:rPr lang="en-CN" dirty="0"/>
                  <a:t>Total entropy                          </a:t>
                </a:r>
                <a14:m>
                  <m:oMath xmlns:m="http://schemas.openxmlformats.org/officeDocument/2006/math">
                    <m:r>
                      <a:rPr lang="en-CN" i="1" smtClean="0">
                        <a:latin typeface="Cambria Math" panose="02040503050406030204" pitchFamily="18" charset="0"/>
                        <a:ea typeface="Cambria Math" panose="02040503050406030204" pitchFamily="18" charset="0"/>
                      </a:rPr>
                      <m:t>𝜎</m:t>
                    </m:r>
                  </m:oMath>
                </a14:m>
                <a:endParaRPr lang="en-CN" dirty="0"/>
              </a:p>
              <a:p>
                <a:r>
                  <a:rPr lang="en-CN" dirty="0"/>
                  <a:t>The entropy density              </a:t>
                </a:r>
                <a14:m>
                  <m:oMath xmlns:m="http://schemas.openxmlformats.org/officeDocument/2006/math">
                    <m:r>
                      <m:rPr>
                        <m:sty m:val="p"/>
                      </m:rPr>
                      <a:rPr lang="en-US" b="0" i="0" smtClean="0">
                        <a:latin typeface="Cambria Math" panose="02040503050406030204" pitchFamily="18" charset="0"/>
                      </a:rPr>
                      <m:t>s</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𝜎</m:t>
                        </m:r>
                      </m:num>
                      <m:den>
                        <m:r>
                          <a:rPr lang="en-US" b="0" i="1" smtClean="0">
                            <a:latin typeface="Cambria Math" panose="02040503050406030204" pitchFamily="18" charset="0"/>
                          </a:rPr>
                          <m:t>𝑉</m:t>
                        </m:r>
                      </m:den>
                    </m:f>
                  </m:oMath>
                </a14:m>
                <a:endParaRPr lang="en-CN" dirty="0"/>
              </a:p>
              <a:p>
                <a:r>
                  <a:rPr lang="en-CN" dirty="0"/>
                  <a:t>The rate of change of entropy density with frequency as we proceed through the spectrum will be called  </a:t>
                </a:r>
                <a14:m>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𝜎</m:t>
                        </m:r>
                      </m:e>
                      <m:sub>
                        <m:r>
                          <a:rPr lang="en-CN" i="1" smtClean="0">
                            <a:latin typeface="Cambria Math" panose="02040503050406030204" pitchFamily="18" charset="0"/>
                            <a:ea typeface="Cambria Math" panose="02040503050406030204" pitchFamily="18" charset="0"/>
                          </a:rPr>
                          <m:t>𝜔</m:t>
                        </m:r>
                      </m:sub>
                    </m:sSub>
                  </m:oMath>
                </a14:m>
                <a:r>
                  <a:rPr lang="en-CN" dirty="0"/>
                  <a:t>. Hence the density of entropy lying between any two given frrequencies is</a:t>
                </a:r>
              </a:p>
              <a:p>
                <a:pPr algn="ctr"/>
                <a14:m>
                  <m:oMath xmlns:m="http://schemas.openxmlformats.org/officeDocument/2006/math">
                    <m:nary>
                      <m:naryPr>
                        <m:ctrlPr>
                          <a:rPr lang="en-CN" i="1" smtClean="0">
                            <a:latin typeface="Cambria Math" panose="02040503050406030204" pitchFamily="18" charset="0"/>
                          </a:rPr>
                        </m:ctrlPr>
                      </m:naryPr>
                      <m:sub>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1</m:t>
                            </m:r>
                          </m:sub>
                        </m:sSub>
                      </m:sub>
                      <m:sup>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2</m:t>
                            </m:r>
                          </m:sub>
                        </m:sSub>
                      </m:sup>
                      <m:e>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𝜎</m:t>
                            </m:r>
                          </m:e>
                          <m:sub>
                            <m:r>
                              <a:rPr lang="en-CN" i="1" smtClean="0">
                                <a:latin typeface="Cambria Math" panose="02040503050406030204" pitchFamily="18" charset="0"/>
                                <a:ea typeface="Cambria Math" panose="02040503050406030204" pitchFamily="18" charset="0"/>
                              </a:rPr>
                              <m:t>𝜔</m:t>
                            </m:r>
                          </m:sub>
                        </m:sSub>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𝜔</m:t>
                        </m:r>
                      </m:e>
                    </m:nary>
                  </m:oMath>
                </a14:m>
                <a:r>
                  <a:rPr lang="en-CN" dirty="0"/>
                  <a:t> </a:t>
                </a:r>
              </a:p>
            </p:txBody>
          </p:sp>
        </mc:Choice>
        <mc:Fallback xmlns="">
          <p:sp>
            <p:nvSpPr>
              <p:cNvPr id="4" name="TextBox 3">
                <a:extLst>
                  <a:ext uri="{FF2B5EF4-FFF2-40B4-BE49-F238E27FC236}">
                    <a16:creationId xmlns:a16="http://schemas.microsoft.com/office/drawing/2014/main" id="{5E85398F-9909-0D58-13CF-B1F020FE06AB}"/>
                  </a:ext>
                </a:extLst>
              </p:cNvPr>
              <p:cNvSpPr txBox="1">
                <a:spLocks noRot="1" noChangeAspect="1" noMove="1" noResize="1" noEditPoints="1" noAdjustHandles="1" noChangeArrowheads="1" noChangeShapeType="1" noTextEdit="1"/>
              </p:cNvSpPr>
              <p:nvPr/>
            </p:nvSpPr>
            <p:spPr>
              <a:xfrm>
                <a:off x="6636328" y="423881"/>
                <a:ext cx="5098472" cy="2304029"/>
              </a:xfrm>
              <a:prstGeom prst="rect">
                <a:avLst/>
              </a:prstGeom>
              <a:blipFill>
                <a:blip r:embed="rId3"/>
                <a:stretch>
                  <a:fillRect l="-993" t="-1099" b="-2747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CEC786D-F44D-4249-2C18-9CF7D684C0E6}"/>
                  </a:ext>
                </a:extLst>
              </p:cNvPr>
              <p:cNvSpPr txBox="1"/>
              <p:nvPr/>
            </p:nvSpPr>
            <p:spPr>
              <a:xfrm>
                <a:off x="337886" y="3103394"/>
                <a:ext cx="2826327" cy="445058"/>
              </a:xfrm>
              <a:prstGeom prst="rect">
                <a:avLst/>
              </a:prstGeom>
              <a:noFill/>
            </p:spPr>
            <p:txBody>
              <a:bodyPr wrap="square" rtlCol="0">
                <a:spAutoFit/>
              </a:bodyPr>
              <a:lstStyle/>
              <a:p>
                <a:pPr algn="ctr"/>
                <a:r>
                  <a:rPr lang="en-US" b="0" dirty="0" err="1"/>
                  <a:t>Engergy</a:t>
                </a:r>
                <a:r>
                  <a:rPr lang="en-US" b="0" dirty="0"/>
                  <a:t> </a:t>
                </a:r>
                <a14:m>
                  <m:oMath xmlns:m="http://schemas.openxmlformats.org/officeDocument/2006/math">
                    <m:r>
                      <a:rPr lang="en-US" b="0" i="1" smtClean="0">
                        <a:latin typeface="Cambria Math" panose="02040503050406030204" pitchFamily="18" charset="0"/>
                      </a:rPr>
                      <m:t>𝑈</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sSub>
                          <m:sSubPr>
                            <m:ctrlPr>
                              <a:rPr lang="en-US" b="0" i="1" smtClean="0">
                                <a:solidFill>
                                  <a:srgbClr val="FF0000"/>
                                </a:solidFill>
                                <a:latin typeface="Cambria Math" panose="02040503050406030204" pitchFamily="18" charset="0"/>
                                <a:ea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𝑢</m:t>
                            </m:r>
                          </m:e>
                          <m:sub>
                            <m:r>
                              <a:rPr lang="en-US" b="0" i="1" smtClean="0">
                                <a:solidFill>
                                  <a:srgbClr val="FF0000"/>
                                </a:solidFill>
                                <a:latin typeface="Cambria Math" panose="02040503050406030204" pitchFamily="18" charset="0"/>
                                <a:ea typeface="Cambria Math" panose="02040503050406030204" pitchFamily="18" charset="0"/>
                              </a:rPr>
                              <m:t>𝜔</m:t>
                            </m:r>
                          </m:sub>
                        </m:sSub>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𝜔</m:t>
                        </m:r>
                      </m:e>
                    </m:nary>
                  </m:oMath>
                </a14:m>
                <a:endParaRPr lang="en-CN" dirty="0"/>
              </a:p>
            </p:txBody>
          </p:sp>
        </mc:Choice>
        <mc:Fallback xmlns="">
          <p:sp>
            <p:nvSpPr>
              <p:cNvPr id="5" name="TextBox 4">
                <a:extLst>
                  <a:ext uri="{FF2B5EF4-FFF2-40B4-BE49-F238E27FC236}">
                    <a16:creationId xmlns:a16="http://schemas.microsoft.com/office/drawing/2014/main" id="{5CEC786D-F44D-4249-2C18-9CF7D684C0E6}"/>
                  </a:ext>
                </a:extLst>
              </p:cNvPr>
              <p:cNvSpPr txBox="1">
                <a:spLocks noRot="1" noChangeAspect="1" noMove="1" noResize="1" noEditPoints="1" noAdjustHandles="1" noChangeArrowheads="1" noChangeShapeType="1" noTextEdit="1"/>
              </p:cNvSpPr>
              <p:nvPr/>
            </p:nvSpPr>
            <p:spPr>
              <a:xfrm>
                <a:off x="337886" y="3103394"/>
                <a:ext cx="2826327" cy="445058"/>
              </a:xfrm>
              <a:prstGeom prst="rect">
                <a:avLst/>
              </a:prstGeom>
              <a:blipFill>
                <a:blip r:embed="rId4"/>
                <a:stretch>
                  <a:fillRect t="-108333" b="-16388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6A9CA96-EE24-4249-D0AC-9C1B944EC78D}"/>
                  </a:ext>
                </a:extLst>
              </p:cNvPr>
              <p:cNvSpPr txBox="1"/>
              <p:nvPr/>
            </p:nvSpPr>
            <p:spPr>
              <a:xfrm>
                <a:off x="0" y="3851217"/>
                <a:ext cx="3494880" cy="445058"/>
              </a:xfrm>
              <a:prstGeom prst="rect">
                <a:avLst/>
              </a:prstGeom>
              <a:noFill/>
            </p:spPr>
            <p:txBody>
              <a:bodyPr wrap="square" rtlCol="0">
                <a:spAutoFit/>
              </a:bodyPr>
              <a:lstStyle/>
              <a:p>
                <a:pPr algn="ctr"/>
                <a:r>
                  <a:rPr lang="en-CN" dirty="0">
                    <a:ea typeface="Cambria Math" panose="02040503050406030204" pitchFamily="18" charset="0"/>
                  </a:rPr>
                  <a:t>Entropy </a:t>
                </a:r>
                <a14:m>
                  <m:oMath xmlns:m="http://schemas.openxmlformats.org/officeDocument/2006/math">
                    <m:r>
                      <a:rPr lang="en-CN" i="1" smtClean="0">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nary>
                      <m:naryPr>
                        <m:ctrlPr>
                          <a:rPr lang="en-US" b="0" i="1" smtClean="0">
                            <a:latin typeface="Cambria Math" panose="02040503050406030204" pitchFamily="18" charset="0"/>
                            <a:ea typeface="Cambria Math" panose="02040503050406030204" pitchFamily="18" charset="0"/>
                          </a:rPr>
                        </m:ctrlPr>
                      </m:naryPr>
                      <m:sub>
                        <m:r>
                          <m:rPr>
                            <m:brk m:alnAt="23"/>
                          </m:rPr>
                          <a:rPr lang="en-US" altLang="zh-CN"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sSub>
                          <m:sSubPr>
                            <m:ctrlPr>
                              <a:rPr lang="en-US" b="0" i="1" smtClean="0">
                                <a:solidFill>
                                  <a:srgbClr val="C00000"/>
                                </a:solidFill>
                                <a:latin typeface="Cambria Math" panose="02040503050406030204" pitchFamily="18" charset="0"/>
                                <a:ea typeface="Cambria Math" panose="02040503050406030204" pitchFamily="18" charset="0"/>
                              </a:rPr>
                            </m:ctrlPr>
                          </m:sSubPr>
                          <m:e>
                            <m:r>
                              <a:rPr lang="en-US" b="0" i="1" smtClean="0">
                                <a:solidFill>
                                  <a:srgbClr val="C00000"/>
                                </a:solidFill>
                                <a:latin typeface="Cambria Math" panose="02040503050406030204" pitchFamily="18" charset="0"/>
                                <a:ea typeface="Cambria Math" panose="02040503050406030204" pitchFamily="18" charset="0"/>
                              </a:rPr>
                              <m:t>𝜎</m:t>
                            </m:r>
                          </m:e>
                          <m:sub>
                            <m:r>
                              <a:rPr lang="en-US" b="0" i="1" smtClean="0">
                                <a:solidFill>
                                  <a:srgbClr val="C00000"/>
                                </a:solidFill>
                                <a:latin typeface="Cambria Math" panose="02040503050406030204" pitchFamily="18" charset="0"/>
                                <a:ea typeface="Cambria Math" panose="02040503050406030204" pitchFamily="18" charset="0"/>
                              </a:rPr>
                              <m:t>𝜔</m:t>
                            </m:r>
                          </m:sub>
                        </m:sSub>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𝜔</m:t>
                        </m:r>
                      </m:e>
                    </m:nary>
                  </m:oMath>
                </a14:m>
                <a:endParaRPr lang="en-CN" dirty="0"/>
              </a:p>
            </p:txBody>
          </p:sp>
        </mc:Choice>
        <mc:Fallback xmlns="">
          <p:sp>
            <p:nvSpPr>
              <p:cNvPr id="7" name="TextBox 6">
                <a:extLst>
                  <a:ext uri="{FF2B5EF4-FFF2-40B4-BE49-F238E27FC236}">
                    <a16:creationId xmlns:a16="http://schemas.microsoft.com/office/drawing/2014/main" id="{C6A9CA96-EE24-4249-D0AC-9C1B944EC78D}"/>
                  </a:ext>
                </a:extLst>
              </p:cNvPr>
              <p:cNvSpPr txBox="1">
                <a:spLocks noRot="1" noChangeAspect="1" noMove="1" noResize="1" noEditPoints="1" noAdjustHandles="1" noChangeArrowheads="1" noChangeShapeType="1" noTextEdit="1"/>
              </p:cNvSpPr>
              <p:nvPr/>
            </p:nvSpPr>
            <p:spPr>
              <a:xfrm>
                <a:off x="0" y="3851217"/>
                <a:ext cx="3494880" cy="445058"/>
              </a:xfrm>
              <a:prstGeom prst="rect">
                <a:avLst/>
              </a:prstGeom>
              <a:blipFill>
                <a:blip r:embed="rId5"/>
                <a:stretch>
                  <a:fillRect t="-108333" b="-16388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C34C5BE-AF1A-EC72-4AC9-75E1FFA8EF33}"/>
                  </a:ext>
                </a:extLst>
              </p:cNvPr>
              <p:cNvSpPr txBox="1"/>
              <p:nvPr/>
            </p:nvSpPr>
            <p:spPr>
              <a:xfrm>
                <a:off x="337886" y="4331751"/>
                <a:ext cx="4296642" cy="8849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1" i="1" smtClean="0">
                              <a:solidFill>
                                <a:srgbClr val="FF0000"/>
                              </a:solidFill>
                              <a:latin typeface="Cambria Math" panose="02040503050406030204" pitchFamily="18" charset="0"/>
                            </a:rPr>
                          </m:ctrlPr>
                        </m:fPr>
                        <m:num>
                          <m:r>
                            <a:rPr lang="en-US" sz="2400" b="1" i="1" smtClean="0">
                              <a:solidFill>
                                <a:srgbClr val="FF0000"/>
                              </a:solidFill>
                              <a:latin typeface="Cambria Math" panose="02040503050406030204" pitchFamily="18" charset="0"/>
                            </a:rPr>
                            <m:t>𝟏</m:t>
                          </m:r>
                        </m:num>
                        <m:den>
                          <m:r>
                            <a:rPr lang="en-US" sz="2400" b="1" i="1" smtClean="0">
                              <a:solidFill>
                                <a:srgbClr val="FF0000"/>
                              </a:solidFill>
                              <a:latin typeface="Cambria Math" panose="02040503050406030204" pitchFamily="18" charset="0"/>
                              <a:ea typeface="Cambria Math" panose="02040503050406030204" pitchFamily="18" charset="0"/>
                            </a:rPr>
                            <m:t>𝝉</m:t>
                          </m:r>
                        </m:den>
                      </m:f>
                      <m:r>
                        <a:rPr lang="en-US" sz="2400" b="1" i="0" smtClean="0">
                          <a:solidFill>
                            <a:srgbClr val="FF0000"/>
                          </a:solidFill>
                          <a:latin typeface="Cambria Math" panose="02040503050406030204" pitchFamily="18" charset="0"/>
                        </a:rPr>
                        <m:t>=</m:t>
                      </m:r>
                      <m:f>
                        <m:fPr>
                          <m:ctrlPr>
                            <a:rPr lang="en-US" sz="2400" b="1" i="1" smtClean="0">
                              <a:solidFill>
                                <a:srgbClr val="FF0000"/>
                              </a:solidFill>
                              <a:latin typeface="Cambria Math" panose="02040503050406030204" pitchFamily="18" charset="0"/>
                            </a:rPr>
                          </m:ctrlPr>
                        </m:fPr>
                        <m:num>
                          <m:r>
                            <a:rPr lang="en-US" sz="2400" b="1" i="1" smtClean="0">
                              <a:solidFill>
                                <a:srgbClr val="FF0000"/>
                              </a:solidFill>
                              <a:latin typeface="Cambria Math" panose="02040503050406030204" pitchFamily="18" charset="0"/>
                            </a:rPr>
                            <m:t>𝝏</m:t>
                          </m:r>
                          <m:r>
                            <a:rPr lang="en-US" sz="2400" b="1" i="1" smtClean="0">
                              <a:solidFill>
                                <a:srgbClr val="FF0000"/>
                              </a:solidFill>
                              <a:latin typeface="Cambria Math" panose="02040503050406030204" pitchFamily="18" charset="0"/>
                            </a:rPr>
                            <m:t> </m:t>
                          </m:r>
                          <m:r>
                            <a:rPr lang="en-US" sz="2400" b="1" i="1" smtClean="0">
                              <a:solidFill>
                                <a:srgbClr val="FF0000"/>
                              </a:solidFill>
                              <a:latin typeface="Cambria Math" panose="02040503050406030204" pitchFamily="18" charset="0"/>
                              <a:ea typeface="Cambria Math" panose="02040503050406030204" pitchFamily="18" charset="0"/>
                            </a:rPr>
                            <m:t>𝝈</m:t>
                          </m:r>
                        </m:num>
                        <m:den>
                          <m:r>
                            <a:rPr lang="en-US" sz="2400" b="1" i="1" smtClean="0">
                              <a:solidFill>
                                <a:srgbClr val="FF0000"/>
                              </a:solidFill>
                              <a:latin typeface="Cambria Math" panose="02040503050406030204" pitchFamily="18" charset="0"/>
                            </a:rPr>
                            <m:t>𝝏</m:t>
                          </m:r>
                          <m:r>
                            <a:rPr lang="en-US" sz="2400" b="1" i="1" smtClean="0">
                              <a:solidFill>
                                <a:srgbClr val="FF0000"/>
                              </a:solidFill>
                              <a:latin typeface="Cambria Math" panose="02040503050406030204" pitchFamily="18" charset="0"/>
                            </a:rPr>
                            <m:t> </m:t>
                          </m:r>
                          <m:r>
                            <a:rPr lang="en-US" sz="2400" b="1" i="1" smtClean="0">
                              <a:solidFill>
                                <a:srgbClr val="FF0000"/>
                              </a:solidFill>
                              <a:latin typeface="Cambria Math" panose="02040503050406030204" pitchFamily="18" charset="0"/>
                            </a:rPr>
                            <m:t>𝑼</m:t>
                          </m:r>
                        </m:den>
                      </m:f>
                      <m:groupChr>
                        <m:groupChrPr>
                          <m:chr m:val="⇒"/>
                          <m:vertJc m:val="bot"/>
                          <m:ctrlPr>
                            <a:rPr lang="en-US" sz="2400" b="1" i="1" smtClean="0">
                              <a:solidFill>
                                <a:srgbClr val="FF0000"/>
                              </a:solidFill>
                              <a:latin typeface="Cambria Math" panose="02040503050406030204" pitchFamily="18" charset="0"/>
                            </a:rPr>
                          </m:ctrlPr>
                        </m:groupChrPr>
                        <m:e>
                          <m:r>
                            <m:rPr>
                              <m:brk m:alnAt="2"/>
                            </m:rPr>
                            <a:rPr lang="en-US" sz="2400" b="1" i="1" smtClean="0">
                              <a:solidFill>
                                <a:srgbClr val="FF0000"/>
                              </a:solidFill>
                              <a:latin typeface="Cambria Math" panose="02040503050406030204" pitchFamily="18" charset="0"/>
                            </a:rPr>
                            <m:t>?</m:t>
                          </m:r>
                        </m:e>
                      </m:groupChr>
                      <m:f>
                        <m:fPr>
                          <m:ctrlPr>
                            <a:rPr lang="en-US" sz="2400" b="1" i="1">
                              <a:solidFill>
                                <a:srgbClr val="FF0000"/>
                              </a:solidFill>
                              <a:latin typeface="Cambria Math" panose="02040503050406030204" pitchFamily="18" charset="0"/>
                            </a:rPr>
                          </m:ctrlPr>
                        </m:fPr>
                        <m:num>
                          <m:r>
                            <a:rPr lang="en-US" sz="2400" b="1" i="1">
                              <a:solidFill>
                                <a:srgbClr val="FF0000"/>
                              </a:solidFill>
                              <a:latin typeface="Cambria Math" panose="02040503050406030204" pitchFamily="18" charset="0"/>
                            </a:rPr>
                            <m:t>𝝏</m:t>
                          </m:r>
                          <m:r>
                            <a:rPr lang="en-US" sz="2400" b="1" i="1">
                              <a:solidFill>
                                <a:srgbClr val="FF0000"/>
                              </a:solidFill>
                              <a:latin typeface="Cambria Math" panose="02040503050406030204" pitchFamily="18" charset="0"/>
                            </a:rPr>
                            <m:t> </m:t>
                          </m:r>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ea typeface="Cambria Math" panose="02040503050406030204" pitchFamily="18" charset="0"/>
                                </a:rPr>
                                <m:t>𝝈</m:t>
                              </m:r>
                            </m:e>
                            <m:sub>
                              <m:r>
                                <a:rPr lang="en-US" sz="2400" b="1" i="1">
                                  <a:solidFill>
                                    <a:srgbClr val="FF0000"/>
                                  </a:solidFill>
                                  <a:latin typeface="Cambria Math" panose="02040503050406030204" pitchFamily="18" charset="0"/>
                                  <a:ea typeface="Cambria Math" panose="02040503050406030204" pitchFamily="18" charset="0"/>
                                </a:rPr>
                                <m:t>𝝎</m:t>
                              </m:r>
                            </m:sub>
                          </m:sSub>
                        </m:num>
                        <m:den>
                          <m:r>
                            <a:rPr lang="en-US" sz="2400" b="1" i="1">
                              <a:solidFill>
                                <a:srgbClr val="FF0000"/>
                              </a:solidFill>
                              <a:latin typeface="Cambria Math" panose="02040503050406030204" pitchFamily="18" charset="0"/>
                            </a:rPr>
                            <m:t>𝝏</m:t>
                          </m:r>
                          <m:r>
                            <a:rPr lang="en-US" sz="2400" b="1" i="1">
                              <a:solidFill>
                                <a:srgbClr val="FF0000"/>
                              </a:solidFill>
                              <a:latin typeface="Cambria Math" panose="02040503050406030204" pitchFamily="18" charset="0"/>
                            </a:rPr>
                            <m:t> </m:t>
                          </m:r>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𝒖</m:t>
                              </m:r>
                            </m:e>
                            <m:sub>
                              <m:r>
                                <a:rPr lang="en-US" sz="2400" b="1" i="1">
                                  <a:solidFill>
                                    <a:srgbClr val="FF0000"/>
                                  </a:solidFill>
                                  <a:latin typeface="Cambria Math" panose="02040503050406030204" pitchFamily="18" charset="0"/>
                                  <a:ea typeface="Cambria Math" panose="02040503050406030204" pitchFamily="18" charset="0"/>
                                </a:rPr>
                                <m:t>𝝎</m:t>
                              </m:r>
                            </m:sub>
                          </m:sSub>
                        </m:den>
                      </m:f>
                    </m:oMath>
                  </m:oMathPara>
                </a14:m>
                <a:endParaRPr lang="en-CN" sz="2400" b="1" dirty="0"/>
              </a:p>
            </p:txBody>
          </p:sp>
        </mc:Choice>
        <mc:Fallback xmlns="">
          <p:sp>
            <p:nvSpPr>
              <p:cNvPr id="8" name="TextBox 7">
                <a:extLst>
                  <a:ext uri="{FF2B5EF4-FFF2-40B4-BE49-F238E27FC236}">
                    <a16:creationId xmlns:a16="http://schemas.microsoft.com/office/drawing/2014/main" id="{8C34C5BE-AF1A-EC72-4AC9-75E1FFA8EF33}"/>
                  </a:ext>
                </a:extLst>
              </p:cNvPr>
              <p:cNvSpPr txBox="1">
                <a:spLocks noRot="1" noChangeAspect="1" noMove="1" noResize="1" noEditPoints="1" noAdjustHandles="1" noChangeArrowheads="1" noChangeShapeType="1" noTextEdit="1"/>
              </p:cNvSpPr>
              <p:nvPr/>
            </p:nvSpPr>
            <p:spPr>
              <a:xfrm>
                <a:off x="337886" y="4331751"/>
                <a:ext cx="4296642" cy="884986"/>
              </a:xfrm>
              <a:prstGeom prst="rect">
                <a:avLst/>
              </a:prstGeom>
              <a:blipFill>
                <a:blip r:embed="rId6"/>
                <a:stretch>
                  <a:fillRect t="-1429" b="-20000"/>
                </a:stretch>
              </a:blipFill>
            </p:spPr>
            <p:txBody>
              <a:bodyPr/>
              <a:lstStyle/>
              <a:p>
                <a:r>
                  <a:rPr lang="en-CN">
                    <a:noFill/>
                  </a:rPr>
                  <a:t> </a:t>
                </a:r>
              </a:p>
            </p:txBody>
          </p:sp>
        </mc:Fallback>
      </mc:AlternateContent>
      <p:sp>
        <p:nvSpPr>
          <p:cNvPr id="9" name="TextBox 8">
            <a:extLst>
              <a:ext uri="{FF2B5EF4-FFF2-40B4-BE49-F238E27FC236}">
                <a16:creationId xmlns:a16="http://schemas.microsoft.com/office/drawing/2014/main" id="{F1619129-B67F-B468-B1C5-4F75637123E8}"/>
              </a:ext>
            </a:extLst>
          </p:cNvPr>
          <p:cNvSpPr txBox="1"/>
          <p:nvPr/>
        </p:nvSpPr>
        <p:spPr>
          <a:xfrm>
            <a:off x="427490" y="4567731"/>
            <a:ext cx="1257907" cy="369332"/>
          </a:xfrm>
          <a:prstGeom prst="rect">
            <a:avLst/>
          </a:prstGeom>
          <a:noFill/>
        </p:spPr>
        <p:txBody>
          <a:bodyPr wrap="square" rtlCol="0">
            <a:spAutoFit/>
          </a:bodyPr>
          <a:lstStyle/>
          <a:p>
            <a:r>
              <a:rPr lang="en-CN" dirty="0"/>
              <a:t> we have: </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9C5436B-03F0-B914-E8A6-F9849F10E486}"/>
                  </a:ext>
                </a:extLst>
              </p:cNvPr>
              <p:cNvSpPr txBox="1"/>
              <p:nvPr/>
            </p:nvSpPr>
            <p:spPr>
              <a:xfrm>
                <a:off x="4765962" y="3080989"/>
                <a:ext cx="3724481" cy="459357"/>
              </a:xfrm>
              <a:prstGeom prst="rect">
                <a:avLst/>
              </a:prstGeom>
              <a:noFill/>
            </p:spPr>
            <p:txBody>
              <a:bodyPr wrap="none" lIns="0" tIns="0" rIns="0" bIns="0" rtlCol="0">
                <a:spAutoFit/>
              </a:bodyPr>
              <a:lstStyle/>
              <a:p>
                <a:r>
                  <a:rPr lang="en-US" dirty="0">
                    <a:ea typeface="Cambria Math" panose="02040503050406030204" pitchFamily="18" charset="0"/>
                  </a:rPr>
                  <a:t>W</a:t>
                </a:r>
                <a:r>
                  <a:rPr lang="en-CN" dirty="0">
                    <a:ea typeface="Cambria Math" panose="02040503050406030204" pitchFamily="18" charset="0"/>
                  </a:rPr>
                  <a:t>hen </a:t>
                </a:r>
                <a14:m>
                  <m:oMath xmlns:m="http://schemas.openxmlformats.org/officeDocument/2006/math">
                    <m:r>
                      <a:rPr lang="en-CN" i="1" smtClean="0">
                        <a:latin typeface="Cambria Math" panose="02040503050406030204" pitchFamily="18" charset="0"/>
                        <a:ea typeface="Cambria Math" panose="02040503050406030204" pitchFamily="18" charset="0"/>
                      </a:rPr>
                      <m:t>ℏ</m:t>
                    </m:r>
                    <m:r>
                      <a:rPr lang="en-CN" i="1" smtClean="0">
                        <a:latin typeface="Cambria Math" panose="02040503050406030204" pitchFamily="18" charset="0"/>
                        <a:ea typeface="Cambria Math" panose="02040503050406030204" pitchFamily="18" charset="0"/>
                      </a:rPr>
                      <m:t>𝜔</m:t>
                    </m:r>
                    <m:r>
                      <a:rPr lang="en-CN" i="1" smtClean="0">
                        <a:latin typeface="Cambria Math" panose="02040503050406030204" pitchFamily="18" charset="0"/>
                        <a:ea typeface="Cambria Math" panose="02040503050406030204" pitchFamily="18" charset="0"/>
                      </a:rPr>
                      <m:t>≫</m:t>
                    </m:r>
                    <m:r>
                      <a:rPr lang="en-CN" i="1" smtClean="0">
                        <a:latin typeface="Cambria Math" panose="02040503050406030204" pitchFamily="18" charset="0"/>
                        <a:ea typeface="Cambria Math" panose="02040503050406030204" pitchFamily="18" charset="0"/>
                      </a:rPr>
                      <m:t>𝜏</m:t>
                    </m:r>
                  </m:oMath>
                </a14:m>
                <a:r>
                  <a:rPr lang="en-CN" dirty="0"/>
                  <a:t>, </a:t>
                </a:r>
                <a14:m>
                  <m:oMath xmlns:m="http://schemas.openxmlformats.org/officeDocument/2006/math">
                    <m:sSub>
                      <m:sSubPr>
                        <m:ctrlPr>
                          <a:rPr lang="en-CN"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𝑢</m:t>
                        </m:r>
                      </m:e>
                      <m:sub>
                        <m:r>
                          <a:rPr lang="en-CN" i="1" smtClean="0">
                            <a:solidFill>
                              <a:srgbClr val="C00000"/>
                            </a:solidFill>
                            <a:latin typeface="Cambria Math" panose="02040503050406030204" pitchFamily="18" charset="0"/>
                            <a:ea typeface="Cambria Math" panose="02040503050406030204" pitchFamily="18" charset="0"/>
                          </a:rPr>
                          <m:t>𝜔</m:t>
                        </m:r>
                      </m:sub>
                    </m:sSub>
                    <m:r>
                      <a:rPr lang="en-US" b="0" i="1" smtClean="0">
                        <a:solidFill>
                          <a:srgbClr val="C00000"/>
                        </a:solidFill>
                        <a:latin typeface="Cambria Math" panose="02040503050406030204" pitchFamily="18" charset="0"/>
                      </a:rPr>
                      <m:t>=</m:t>
                    </m:r>
                    <m:f>
                      <m:fPr>
                        <m:ctrlPr>
                          <a:rPr lang="en-US" i="1">
                            <a:solidFill>
                              <a:srgbClr val="FF0000"/>
                            </a:solidFill>
                            <a:latin typeface="Cambria Math" panose="02040503050406030204" pitchFamily="18" charset="0"/>
                          </a:rPr>
                        </m:ctrlPr>
                      </m:fPr>
                      <m:num>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ea typeface="Cambria Math" panose="02040503050406030204" pitchFamily="18" charset="0"/>
                              </a:rPr>
                              <m:t>ℏ</m:t>
                            </m:r>
                          </m:e>
                          <m:sup>
                            <m:r>
                              <a:rPr lang="en-US" i="1">
                                <a:solidFill>
                                  <a:srgbClr val="FF0000"/>
                                </a:solidFill>
                                <a:latin typeface="Cambria Math" panose="02040503050406030204" pitchFamily="18" charset="0"/>
                              </a:rPr>
                              <m:t>4</m:t>
                            </m:r>
                          </m:sup>
                        </m:sSup>
                      </m:num>
                      <m:den>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ea typeface="Cambria Math" panose="02040503050406030204" pitchFamily="18" charset="0"/>
                              </a:rPr>
                              <m:t>𝜋</m:t>
                            </m:r>
                          </m:e>
                          <m:sup>
                            <m:r>
                              <a:rPr lang="en-US" i="1">
                                <a:solidFill>
                                  <a:srgbClr val="FF0000"/>
                                </a:solidFill>
                                <a:latin typeface="Cambria Math" panose="02040503050406030204" pitchFamily="18" charset="0"/>
                              </a:rPr>
                              <m:t>2</m:t>
                            </m:r>
                          </m:sup>
                        </m:sSup>
                        <m:sSup>
                          <m:sSupPr>
                            <m:ctrlPr>
                              <a:rPr lang="en-US" i="1">
                                <a:solidFill>
                                  <a:srgbClr val="FF0000"/>
                                </a:solidFill>
                                <a:latin typeface="Cambria Math" panose="02040503050406030204" pitchFamily="18" charset="0"/>
                                <a:ea typeface="Cambria Math" panose="02040503050406030204" pitchFamily="18" charset="0"/>
                              </a:rPr>
                            </m:ctrlPr>
                          </m:sSupPr>
                          <m:e>
                            <m:d>
                              <m:dPr>
                                <m:ctrlPr>
                                  <a:rPr lang="en-US" i="1">
                                    <a:solidFill>
                                      <a:srgbClr val="FF0000"/>
                                    </a:solidFill>
                                    <a:latin typeface="Cambria Math" panose="02040503050406030204" pitchFamily="18" charset="0"/>
                                    <a:ea typeface="Cambria Math" panose="02040503050406030204" pitchFamily="18" charset="0"/>
                                  </a:rPr>
                                </m:ctrlPr>
                              </m:dPr>
                              <m:e>
                                <m:r>
                                  <a:rPr lang="en-US" i="1">
                                    <a:solidFill>
                                      <a:srgbClr val="FF0000"/>
                                    </a:solidFill>
                                    <a:latin typeface="Cambria Math" panose="02040503050406030204" pitchFamily="18" charset="0"/>
                                    <a:ea typeface="Cambria Math" panose="02040503050406030204" pitchFamily="18" charset="0"/>
                                  </a:rPr>
                                  <m:t>ℏ</m:t>
                                </m:r>
                                <m:r>
                                  <a:rPr lang="en-US" i="1">
                                    <a:solidFill>
                                      <a:srgbClr val="FF0000"/>
                                    </a:solidFill>
                                    <a:latin typeface="Cambria Math" panose="02040503050406030204" pitchFamily="18" charset="0"/>
                                    <a:ea typeface="Cambria Math" panose="02040503050406030204" pitchFamily="18" charset="0"/>
                                  </a:rPr>
                                  <m:t>𝑐</m:t>
                                </m:r>
                              </m:e>
                            </m:d>
                          </m:e>
                          <m:sup>
                            <m:r>
                              <a:rPr lang="en-US" i="1">
                                <a:solidFill>
                                  <a:srgbClr val="FF0000"/>
                                </a:solidFill>
                                <a:latin typeface="Cambria Math" panose="02040503050406030204" pitchFamily="18" charset="0"/>
                                <a:ea typeface="Cambria Math" panose="02040503050406030204" pitchFamily="18" charset="0"/>
                              </a:rPr>
                              <m:t>3</m:t>
                            </m:r>
                          </m:sup>
                        </m:sSup>
                      </m:den>
                    </m:f>
                    <m:sSup>
                      <m:sSupPr>
                        <m:ctrlPr>
                          <a:rPr lang="en-US" i="1" smtClean="0">
                            <a:solidFill>
                              <a:srgbClr val="FF0000"/>
                            </a:solidFill>
                            <a:latin typeface="Cambria Math" panose="02040503050406030204" pitchFamily="18" charset="0"/>
                            <a:ea typeface="Cambria Math" panose="02040503050406030204" pitchFamily="18" charset="0"/>
                          </a:rPr>
                        </m:ctrlPr>
                      </m:sSupPr>
                      <m:e>
                        <m:r>
                          <a:rPr lang="en-US" i="1" smtClean="0">
                            <a:solidFill>
                              <a:srgbClr val="FF0000"/>
                            </a:solidFill>
                            <a:latin typeface="Cambria Math" panose="02040503050406030204" pitchFamily="18" charset="0"/>
                            <a:ea typeface="Cambria Math" panose="02040503050406030204" pitchFamily="18" charset="0"/>
                          </a:rPr>
                          <m:t>𝜔</m:t>
                        </m:r>
                      </m:e>
                      <m:sup>
                        <m:r>
                          <a:rPr lang="en-US" b="0" i="1" smtClean="0">
                            <a:solidFill>
                              <a:srgbClr val="FF0000"/>
                            </a:solidFill>
                            <a:latin typeface="Cambria Math" panose="02040503050406030204" pitchFamily="18" charset="0"/>
                            <a:ea typeface="Cambria Math" panose="02040503050406030204" pitchFamily="18" charset="0"/>
                          </a:rPr>
                          <m:t>3</m:t>
                        </m:r>
                      </m:sup>
                    </m:sSup>
                    <m:sSup>
                      <m:sSupPr>
                        <m:ctrlPr>
                          <a:rPr lang="en-US"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𝑒</m:t>
                        </m:r>
                      </m:e>
                      <m:sup>
                        <m:r>
                          <a:rPr lang="en-US" b="0" i="1" smtClean="0">
                            <a:solidFill>
                              <a:srgbClr val="FF0000"/>
                            </a:solidFill>
                            <a:latin typeface="Cambria Math" panose="02040503050406030204" pitchFamily="18" charset="0"/>
                            <a:ea typeface="Cambria Math" panose="02040503050406030204" pitchFamily="18" charset="0"/>
                          </a:rPr>
                          <m:t>−ℏ</m:t>
                        </m:r>
                        <m:r>
                          <a:rPr lang="en-US" b="0" i="1" smtClean="0">
                            <a:solidFill>
                              <a:srgbClr val="FF0000"/>
                            </a:solidFill>
                            <a:latin typeface="Cambria Math" panose="02040503050406030204" pitchFamily="18" charset="0"/>
                            <a:ea typeface="Cambria Math" panose="02040503050406030204" pitchFamily="18" charset="0"/>
                          </a:rPr>
                          <m:t>𝜔</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𝜏</m:t>
                        </m:r>
                      </m:sup>
                    </m:sSup>
                  </m:oMath>
                </a14:m>
                <a:r>
                  <a:rPr lang="en-CN" dirty="0"/>
                  <a:t> </a:t>
                </a:r>
              </a:p>
            </p:txBody>
          </p:sp>
        </mc:Choice>
        <mc:Fallback xmlns="">
          <p:sp>
            <p:nvSpPr>
              <p:cNvPr id="11" name="TextBox 10">
                <a:extLst>
                  <a:ext uri="{FF2B5EF4-FFF2-40B4-BE49-F238E27FC236}">
                    <a16:creationId xmlns:a16="http://schemas.microsoft.com/office/drawing/2014/main" id="{79C5436B-03F0-B914-E8A6-F9849F10E486}"/>
                  </a:ext>
                </a:extLst>
              </p:cNvPr>
              <p:cNvSpPr txBox="1">
                <a:spLocks noRot="1" noChangeAspect="1" noMove="1" noResize="1" noEditPoints="1" noAdjustHandles="1" noChangeArrowheads="1" noChangeShapeType="1" noTextEdit="1"/>
              </p:cNvSpPr>
              <p:nvPr/>
            </p:nvSpPr>
            <p:spPr>
              <a:xfrm>
                <a:off x="4765962" y="3080989"/>
                <a:ext cx="3724481" cy="459357"/>
              </a:xfrm>
              <a:prstGeom prst="rect">
                <a:avLst/>
              </a:prstGeom>
              <a:blipFill>
                <a:blip r:embed="rId7"/>
                <a:stretch>
                  <a:fillRect l="-4082" b="-10811"/>
                </a:stretch>
              </a:blipFill>
            </p:spPr>
            <p:txBody>
              <a:bodyPr/>
              <a:lstStyle/>
              <a:p>
                <a:r>
                  <a:rPr lang="en-CN">
                    <a:noFill/>
                  </a:rPr>
                  <a:t> </a:t>
                </a:r>
              </a:p>
            </p:txBody>
          </p:sp>
        </mc:Fallback>
      </mc:AlternateContent>
      <p:cxnSp>
        <p:nvCxnSpPr>
          <p:cNvPr id="15" name="Straight Connector 14">
            <a:extLst>
              <a:ext uri="{FF2B5EF4-FFF2-40B4-BE49-F238E27FC236}">
                <a16:creationId xmlns:a16="http://schemas.microsoft.com/office/drawing/2014/main" id="{8B034B58-5ED9-CF2D-5C58-FEA16DC1E05B}"/>
              </a:ext>
            </a:extLst>
          </p:cNvPr>
          <p:cNvCxnSpPr/>
          <p:nvPr/>
        </p:nvCxnSpPr>
        <p:spPr>
          <a:xfrm>
            <a:off x="609600" y="3782287"/>
            <a:ext cx="1137458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8" name="Right Brace 17">
            <a:extLst>
              <a:ext uri="{FF2B5EF4-FFF2-40B4-BE49-F238E27FC236}">
                <a16:creationId xmlns:a16="http://schemas.microsoft.com/office/drawing/2014/main" id="{2DDAE3BC-87AF-6CC3-A691-24EF8A6A7E70}"/>
              </a:ext>
            </a:extLst>
          </p:cNvPr>
          <p:cNvSpPr/>
          <p:nvPr/>
        </p:nvSpPr>
        <p:spPr>
          <a:xfrm>
            <a:off x="3621591" y="4110100"/>
            <a:ext cx="609599" cy="102998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7B8F449-11BB-3E60-A01E-859F24DF6723}"/>
                  </a:ext>
                </a:extLst>
              </p:cNvPr>
              <p:cNvSpPr txBox="1"/>
              <p:nvPr/>
            </p:nvSpPr>
            <p:spPr>
              <a:xfrm>
                <a:off x="4249732" y="4313196"/>
                <a:ext cx="3238644" cy="56669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𝜎</m:t>
                          </m:r>
                        </m:e>
                        <m:sub>
                          <m:r>
                            <a:rPr lang="en-CN" i="1" smtClean="0">
                              <a:latin typeface="Cambria Math" panose="02040503050406030204" pitchFamily="18" charset="0"/>
                              <a:ea typeface="Cambria Math" panose="02040503050406030204" pitchFamily="18" charset="0"/>
                            </a:rPr>
                            <m:t>𝜔</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ea typeface="Cambria Math" panose="02040503050406030204" pitchFamily="18" charset="0"/>
                                </a:rPr>
                                <m:t>𝜔</m:t>
                              </m:r>
                            </m:sub>
                          </m:sSub>
                        </m:num>
                        <m:den>
                          <m:r>
                            <a:rPr lang="en-US" b="0" i="1" smtClean="0">
                              <a:latin typeface="Cambria Math" panose="02040503050406030204" pitchFamily="18" charset="0"/>
                              <a:ea typeface="Cambria Math" panose="02040503050406030204" pitchFamily="18" charset="0"/>
                            </a:rPr>
                            <m:t>ℏ</m:t>
                          </m:r>
                          <m:r>
                            <a:rPr lang="en-US" b="0" i="1" smtClean="0">
                              <a:latin typeface="Cambria Math" panose="02040503050406030204" pitchFamily="18" charset="0"/>
                              <a:ea typeface="Cambria Math" panose="02040503050406030204" pitchFamily="18" charset="0"/>
                            </a:rPr>
                            <m:t>𝜔</m:t>
                          </m:r>
                        </m:den>
                      </m:f>
                      <m:func>
                        <m:funcPr>
                          <m:ctrlPr>
                            <a:rPr lang="en-US" i="1">
                              <a:latin typeface="Cambria Math" panose="02040503050406030204" pitchFamily="18" charset="0"/>
                            </a:rPr>
                          </m:ctrlPr>
                        </m:funcPr>
                        <m:fName>
                          <m:r>
                            <a:rPr lang="en-US" b="0" i="0" smtClean="0">
                              <a:latin typeface="Cambria Math" panose="02040503050406030204" pitchFamily="18" charset="0"/>
                            </a:rPr>
                            <m:t>(</m:t>
                          </m:r>
                          <m:r>
                            <m:rPr>
                              <m:sty m:val="p"/>
                            </m:rPr>
                            <a:rPr lang="en-US">
                              <a:latin typeface="Cambria Math" panose="02040503050406030204" pitchFamily="18" charset="0"/>
                            </a:rPr>
                            <m:t>log</m:t>
                          </m:r>
                        </m:fName>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ea typeface="Cambria Math" panose="02040503050406030204" pitchFamily="18" charset="0"/>
                                    </a:rPr>
                                    <m:t>𝜔</m:t>
                                  </m:r>
                                </m:sub>
                              </m:sSub>
                            </m:num>
                            <m:den>
                              <m:r>
                                <a:rPr lang="en-US" i="1">
                                  <a:latin typeface="Cambria Math" panose="02040503050406030204" pitchFamily="18" charset="0"/>
                                </a:rPr>
                                <m:t>𝑎</m:t>
                              </m:r>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𝜔</m:t>
                                  </m:r>
                                </m:e>
                                <m:sup>
                                  <m:r>
                                    <a:rPr lang="en-US" i="1">
                                      <a:latin typeface="Cambria Math" panose="02040503050406030204" pitchFamily="18" charset="0"/>
                                    </a:rPr>
                                    <m:t>3</m:t>
                                  </m:r>
                                </m:sup>
                              </m:sSup>
                            </m:den>
                          </m:f>
                        </m:e>
                      </m:func>
                      <m:r>
                        <a:rPr lang="en-US" b="0" i="0" smtClean="0">
                          <a:latin typeface="Cambria Math" panose="02040503050406030204" pitchFamily="18" charset="0"/>
                        </a:rPr>
                        <m:t> −1)</m:t>
                      </m:r>
                    </m:oMath>
                  </m:oMathPara>
                </a14:m>
                <a:endParaRPr lang="en-CN" dirty="0"/>
              </a:p>
            </p:txBody>
          </p:sp>
        </mc:Choice>
        <mc:Fallback xmlns="">
          <p:sp>
            <p:nvSpPr>
              <p:cNvPr id="14" name="TextBox 13">
                <a:extLst>
                  <a:ext uri="{FF2B5EF4-FFF2-40B4-BE49-F238E27FC236}">
                    <a16:creationId xmlns:a16="http://schemas.microsoft.com/office/drawing/2014/main" id="{87B8F449-11BB-3E60-A01E-859F24DF6723}"/>
                  </a:ext>
                </a:extLst>
              </p:cNvPr>
              <p:cNvSpPr txBox="1">
                <a:spLocks noRot="1" noChangeAspect="1" noMove="1" noResize="1" noEditPoints="1" noAdjustHandles="1" noChangeArrowheads="1" noChangeShapeType="1" noTextEdit="1"/>
              </p:cNvSpPr>
              <p:nvPr/>
            </p:nvSpPr>
            <p:spPr>
              <a:xfrm>
                <a:off x="4249732" y="4313196"/>
                <a:ext cx="3238644" cy="566694"/>
              </a:xfrm>
              <a:prstGeom prst="rect">
                <a:avLst/>
              </a:prstGeom>
              <a:blipFill>
                <a:blip r:embed="rId8"/>
                <a:stretch>
                  <a:fillRect b="-19565"/>
                </a:stretch>
              </a:blipFill>
            </p:spPr>
            <p:txBody>
              <a:bodyPr/>
              <a:lstStyle/>
              <a:p>
                <a:r>
                  <a:rPr lang="en-CN">
                    <a:noFill/>
                  </a:rPr>
                  <a:t> </a:t>
                </a:r>
              </a:p>
            </p:txBody>
          </p:sp>
        </mc:Fallback>
      </mc:AlternateContent>
      <p:sp>
        <p:nvSpPr>
          <p:cNvPr id="16" name="Right Arrow 15">
            <a:extLst>
              <a:ext uri="{FF2B5EF4-FFF2-40B4-BE49-F238E27FC236}">
                <a16:creationId xmlns:a16="http://schemas.microsoft.com/office/drawing/2014/main" id="{83BD39F3-293E-450B-DFEC-C65A84465E6D}"/>
              </a:ext>
            </a:extLst>
          </p:cNvPr>
          <p:cNvSpPr/>
          <p:nvPr/>
        </p:nvSpPr>
        <p:spPr>
          <a:xfrm>
            <a:off x="4007277" y="4567731"/>
            <a:ext cx="484909" cy="1411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C3EB9A8-10C3-1265-EB2A-9DEA1DF2E8F4}"/>
                  </a:ext>
                </a:extLst>
              </p:cNvPr>
              <p:cNvSpPr txBox="1"/>
              <p:nvPr/>
            </p:nvSpPr>
            <p:spPr>
              <a:xfrm>
                <a:off x="4378322" y="5410798"/>
                <a:ext cx="3435355" cy="141493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r>
                            <a:rPr lang="en-CN" i="1" smtClean="0">
                              <a:latin typeface="Cambria Math" panose="02040503050406030204" pitchFamily="18" charset="0"/>
                              <a:ea typeface="Cambria Math" panose="02040503050406030204" pitchFamily="18" charset="0"/>
                            </a:rPr>
                            <m:t>𝜎</m:t>
                          </m:r>
                        </m:e>
                        <m:sub>
                          <m:r>
                            <a:rPr lang="en-CN" i="1" smtClean="0">
                              <a:latin typeface="Cambria Math" panose="02040503050406030204" pitchFamily="18" charset="0"/>
                              <a:ea typeface="Cambria Math" panose="02040503050406030204" pitchFamily="18" charset="0"/>
                            </a:rPr>
                            <m:t>𝜔</m:t>
                          </m:r>
                        </m:sub>
                      </m:sSub>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𝑉𝑢</m:t>
                              </m:r>
                            </m:e>
                            <m:sub>
                              <m:r>
                                <a:rPr lang="en-US" b="0" i="1" smtClean="0">
                                  <a:latin typeface="Cambria Math" panose="02040503050406030204" pitchFamily="18" charset="0"/>
                                  <a:ea typeface="Cambria Math" panose="02040503050406030204" pitchFamily="18" charset="0"/>
                                </a:rPr>
                                <m:t>𝜔</m:t>
                              </m:r>
                            </m:sub>
                          </m:sSub>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𝜔</m:t>
                          </m:r>
                        </m:num>
                        <m:den>
                          <m:r>
                            <a:rPr lang="en-US" b="0" i="1" smtClean="0">
                              <a:latin typeface="Cambria Math" panose="02040503050406030204" pitchFamily="18" charset="0"/>
                              <a:ea typeface="Cambria Math" panose="02040503050406030204" pitchFamily="18" charset="0"/>
                            </a:rPr>
                            <m:t>ℏ</m:t>
                          </m:r>
                          <m:r>
                            <a:rPr lang="en-US" b="0" i="1" smtClean="0">
                              <a:latin typeface="Cambria Math" panose="02040503050406030204" pitchFamily="18" charset="0"/>
                              <a:ea typeface="Cambria Math" panose="02040503050406030204" pitchFamily="18" charset="0"/>
                            </a:rPr>
                            <m:t>𝜔</m:t>
                          </m:r>
                        </m:den>
                      </m:f>
                      <m:r>
                        <a:rPr lang="en-US" b="0" i="1" smtClean="0">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b="0" i="1" smtClean="0">
                                      <a:latin typeface="Cambria Math" panose="02040503050406030204" pitchFamily="18" charset="0"/>
                                    </a:rPr>
                                    <m:t>𝑉</m:t>
                                  </m:r>
                                  <m:r>
                                    <a:rPr lang="en-US" i="1">
                                      <a:latin typeface="Cambria Math" panose="02040503050406030204" pitchFamily="18" charset="0"/>
                                    </a:rPr>
                                    <m:t>𝑢</m:t>
                                  </m:r>
                                </m:e>
                                <m:sub>
                                  <m:r>
                                    <a:rPr lang="en-US" i="1">
                                      <a:latin typeface="Cambria Math" panose="02040503050406030204" pitchFamily="18" charset="0"/>
                                      <a:ea typeface="Cambria Math" panose="02040503050406030204" pitchFamily="18" charset="0"/>
                                    </a:rPr>
                                    <m:t>𝜔</m:t>
                                  </m:r>
                                </m:sub>
                              </m:sSub>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𝜔</m:t>
                              </m:r>
                            </m:num>
                            <m:den>
                              <m:r>
                                <a:rPr lang="en-US" i="1">
                                  <a:latin typeface="Cambria Math" panose="02040503050406030204" pitchFamily="18" charset="0"/>
                                </a:rPr>
                                <m:t>𝑎</m:t>
                              </m:r>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𝜔</m:t>
                                  </m:r>
                                </m:e>
                                <m:sup>
                                  <m:r>
                                    <a:rPr lang="en-US" i="1">
                                      <a:latin typeface="Cambria Math" panose="02040503050406030204" pitchFamily="18" charset="0"/>
                                    </a:rPr>
                                    <m:t>3</m:t>
                                  </m:r>
                                </m:sup>
                              </m:sSup>
                              <m:r>
                                <a:rPr lang="en-US" b="0" i="1" smtClean="0">
                                  <a:latin typeface="Cambria Math" panose="02040503050406030204" pitchFamily="18" charset="0"/>
                                </a:rPr>
                                <m:t>𝑉𝑑</m:t>
                              </m:r>
                              <m:r>
                                <a:rPr lang="en-US" b="0" i="1" smtClean="0">
                                  <a:latin typeface="Cambria Math" panose="02040503050406030204" pitchFamily="18" charset="0"/>
                                  <a:ea typeface="Cambria Math" panose="02040503050406030204" pitchFamily="18" charset="0"/>
                                </a:rPr>
                                <m:t>𝜔</m:t>
                              </m:r>
                            </m:den>
                          </m:f>
                        </m:e>
                      </m:func>
                      <m:r>
                        <a:rPr lang="en-US" b="0" i="0" smtClean="0">
                          <a:latin typeface="Cambria Math" panose="02040503050406030204" pitchFamily="18" charset="0"/>
                        </a:rPr>
                        <m:t> −1)</m:t>
                      </m:r>
                    </m:oMath>
                  </m:oMathPara>
                </a14:m>
                <a:endParaRPr lang="en-CN"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𝑑𝑈</m:t>
                          </m:r>
                        </m:num>
                        <m:den>
                          <m:r>
                            <a:rPr lang="en-US" i="1">
                              <a:latin typeface="Cambria Math" panose="02040503050406030204" pitchFamily="18" charset="0"/>
                              <a:ea typeface="Cambria Math" panose="02040503050406030204" pitchFamily="18" charset="0"/>
                            </a:rPr>
                            <m:t>ℏ</m:t>
                          </m:r>
                          <m:r>
                            <a:rPr lang="en-US" i="1">
                              <a:latin typeface="Cambria Math" panose="02040503050406030204" pitchFamily="18" charset="0"/>
                              <a:ea typeface="Cambria Math" panose="02040503050406030204" pitchFamily="18" charset="0"/>
                            </a:rPr>
                            <m:t>𝜔</m:t>
                          </m:r>
                        </m:den>
                      </m:f>
                      <m:func>
                        <m:funcPr>
                          <m:ctrlPr>
                            <a:rPr lang="en-US" b="0" i="1" smtClean="0">
                              <a:latin typeface="Cambria Math" panose="02040503050406030204" pitchFamily="18" charset="0"/>
                            </a:rPr>
                          </m:ctrlPr>
                        </m:funcPr>
                        <m:fName>
                          <m:r>
                            <a:rPr lang="en-US" b="0" i="0" smtClean="0">
                              <a:latin typeface="Cambria Math" panose="02040503050406030204" pitchFamily="18" charset="0"/>
                            </a:rPr>
                            <m:t>(</m:t>
                          </m:r>
                          <m:r>
                            <m:rPr>
                              <m:sty m:val="p"/>
                            </m:rPr>
                            <a:rPr lang="en-US" b="0" i="0" smtClean="0">
                              <a:latin typeface="Cambria Math" panose="02040503050406030204" pitchFamily="18" charset="0"/>
                            </a:rPr>
                            <m:t>log</m:t>
                          </m:r>
                        </m:fName>
                        <m:e>
                          <m:f>
                            <m:fPr>
                              <m:ctrlPr>
                                <a:rPr lang="en-US" b="0" i="1" smtClean="0">
                                  <a:latin typeface="Cambria Math" panose="02040503050406030204" pitchFamily="18" charset="0"/>
                                </a:rPr>
                              </m:ctrlPr>
                            </m:fPr>
                            <m:num>
                              <m:r>
                                <a:rPr lang="en-US" b="0" i="1" smtClean="0">
                                  <a:latin typeface="Cambria Math" panose="02040503050406030204" pitchFamily="18" charset="0"/>
                                </a:rPr>
                                <m:t>𝑑𝑈</m:t>
                              </m:r>
                            </m:num>
                            <m:den>
                              <m:r>
                                <a:rPr lang="en-US" b="0" i="1" smtClean="0">
                                  <a:latin typeface="Cambria Math" panose="02040503050406030204" pitchFamily="18" charset="0"/>
                                </a:rPr>
                                <m:t>𝑏</m:t>
                              </m:r>
                              <m:r>
                                <a:rPr lang="en-US" b="0" i="1" smtClean="0">
                                  <a:latin typeface="Cambria Math" panose="02040503050406030204" pitchFamily="18" charset="0"/>
                                </a:rPr>
                                <m:t> </m:t>
                              </m:r>
                              <m:r>
                                <a:rPr lang="en-US" b="0" i="1" smtClean="0">
                                  <a:latin typeface="Cambria Math" panose="02040503050406030204" pitchFamily="18" charset="0"/>
                                </a:rPr>
                                <m:t>𝑉</m:t>
                              </m:r>
                            </m:den>
                          </m:f>
                          <m:r>
                            <a:rPr lang="en-US" b="0" i="1" smtClean="0">
                              <a:latin typeface="Cambria Math" panose="02040503050406030204" pitchFamily="18" charset="0"/>
                            </a:rPr>
                            <m:t> −1)</m:t>
                          </m:r>
                        </m:e>
                      </m:func>
                    </m:oMath>
                  </m:oMathPara>
                </a14:m>
                <a:endParaRPr lang="en-CN" dirty="0"/>
              </a:p>
            </p:txBody>
          </p:sp>
        </mc:Choice>
        <mc:Fallback xmlns="">
          <p:sp>
            <p:nvSpPr>
              <p:cNvPr id="19" name="TextBox 18">
                <a:extLst>
                  <a:ext uri="{FF2B5EF4-FFF2-40B4-BE49-F238E27FC236}">
                    <a16:creationId xmlns:a16="http://schemas.microsoft.com/office/drawing/2014/main" id="{BC3EB9A8-10C3-1265-EB2A-9DEA1DF2E8F4}"/>
                  </a:ext>
                </a:extLst>
              </p:cNvPr>
              <p:cNvSpPr txBox="1">
                <a:spLocks noRot="1" noChangeAspect="1" noMove="1" noResize="1" noEditPoints="1" noAdjustHandles="1" noChangeArrowheads="1" noChangeShapeType="1" noTextEdit="1"/>
              </p:cNvSpPr>
              <p:nvPr/>
            </p:nvSpPr>
            <p:spPr>
              <a:xfrm>
                <a:off x="4378322" y="5410798"/>
                <a:ext cx="3435355" cy="1414939"/>
              </a:xfrm>
              <a:prstGeom prst="rect">
                <a:avLst/>
              </a:prstGeom>
              <a:blipFill>
                <a:blip r:embed="rId9"/>
                <a:stretch>
                  <a:fillRect b="-714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B0C93EC-6DF7-A4D3-4A2E-42D7BBDD6E0A}"/>
                  </a:ext>
                </a:extLst>
              </p:cNvPr>
              <p:cNvSpPr txBox="1"/>
              <p:nvPr/>
            </p:nvSpPr>
            <p:spPr>
              <a:xfrm>
                <a:off x="8631382" y="5909624"/>
                <a:ext cx="3560618" cy="663580"/>
              </a:xfrm>
              <a:prstGeom prst="rect">
                <a:avLst/>
              </a:prstGeom>
              <a:solidFill>
                <a:schemeClr val="accent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𝜎</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𝑉</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0</m:t>
                              </m:r>
                            </m:sub>
                          </m:sSub>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𝑑𝑈</m:t>
                          </m:r>
                        </m:num>
                        <m:den>
                          <m:r>
                            <a:rPr lang="en-US" i="1">
                              <a:latin typeface="Cambria Math" panose="02040503050406030204" pitchFamily="18" charset="0"/>
                              <a:ea typeface="Cambria Math" panose="02040503050406030204" pitchFamily="18" charset="0"/>
                            </a:rPr>
                            <m:t>ℏ</m:t>
                          </m:r>
                          <m:r>
                            <a:rPr lang="en-US" i="1">
                              <a:latin typeface="Cambria Math" panose="02040503050406030204" pitchFamily="18" charset="0"/>
                              <a:ea typeface="Cambria Math" panose="02040503050406030204" pitchFamily="18" charset="0"/>
                            </a:rPr>
                            <m:t>𝜔</m:t>
                          </m:r>
                        </m:den>
                      </m:f>
                      <m:r>
                        <m:rPr>
                          <m:sty m:val="p"/>
                        </m:rPr>
                        <a:rPr lang="en-US" b="0" i="0" smtClean="0">
                          <a:latin typeface="Cambria Math" panose="02040503050406030204" pitchFamily="18" charset="0"/>
                          <a:ea typeface="Cambria Math" panose="02040503050406030204" pitchFamily="18" charset="0"/>
                        </a:rPr>
                        <m:t>log</m:t>
                      </m:r>
                      <m:r>
                        <a:rPr lang="en-US" b="0" i="0"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𝑉</m:t>
                          </m:r>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0</m:t>
                              </m:r>
                            </m:sub>
                          </m:sSub>
                        </m:den>
                      </m:f>
                    </m:oMath>
                  </m:oMathPara>
                </a14:m>
                <a:endParaRPr lang="en-CN" dirty="0"/>
              </a:p>
            </p:txBody>
          </p:sp>
        </mc:Choice>
        <mc:Fallback xmlns="">
          <p:sp>
            <p:nvSpPr>
              <p:cNvPr id="20" name="TextBox 19">
                <a:extLst>
                  <a:ext uri="{FF2B5EF4-FFF2-40B4-BE49-F238E27FC236}">
                    <a16:creationId xmlns:a16="http://schemas.microsoft.com/office/drawing/2014/main" id="{1B0C93EC-6DF7-A4D3-4A2E-42D7BBDD6E0A}"/>
                  </a:ext>
                </a:extLst>
              </p:cNvPr>
              <p:cNvSpPr txBox="1">
                <a:spLocks noRot="1" noChangeAspect="1" noMove="1" noResize="1" noEditPoints="1" noAdjustHandles="1" noChangeArrowheads="1" noChangeShapeType="1" noTextEdit="1"/>
              </p:cNvSpPr>
              <p:nvPr/>
            </p:nvSpPr>
            <p:spPr>
              <a:xfrm>
                <a:off x="8631382" y="5909624"/>
                <a:ext cx="3560618" cy="663580"/>
              </a:xfrm>
              <a:prstGeom prst="rect">
                <a:avLst/>
              </a:prstGeom>
              <a:blipFill>
                <a:blip r:embed="rId10"/>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928DA6D-18C6-5540-D22C-CC7A66828328}"/>
                  </a:ext>
                </a:extLst>
              </p:cNvPr>
              <p:cNvSpPr txBox="1"/>
              <p:nvPr/>
            </p:nvSpPr>
            <p:spPr>
              <a:xfrm>
                <a:off x="8954401" y="3755868"/>
                <a:ext cx="3755772" cy="6862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solidFill>
                            <a:schemeClr val="tx1"/>
                          </a:solidFill>
                          <a:latin typeface="Cambria Math" panose="02040503050406030204" pitchFamily="18" charset="0"/>
                        </a:rPr>
                        <m:t>𝑎</m:t>
                      </m:r>
                      <m:r>
                        <a:rPr lang="en-US" b="0" i="1" smtClean="0">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rPr>
                          </m:ctrlPr>
                        </m:fPr>
                        <m:num>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ℏ</m:t>
                              </m:r>
                            </m:e>
                            <m:sup>
                              <m:r>
                                <a:rPr lang="en-US" i="1">
                                  <a:solidFill>
                                    <a:schemeClr val="tx1"/>
                                  </a:solidFill>
                                  <a:latin typeface="Cambria Math" panose="02040503050406030204" pitchFamily="18" charset="0"/>
                                </a:rPr>
                                <m:t>4</m:t>
                              </m:r>
                            </m:sup>
                          </m:sSup>
                        </m:num>
                        <m:den>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𝜋</m:t>
                              </m:r>
                            </m:e>
                            <m:sup>
                              <m:r>
                                <a:rPr lang="en-US" i="1">
                                  <a:solidFill>
                                    <a:schemeClr val="tx1"/>
                                  </a:solidFill>
                                  <a:latin typeface="Cambria Math" panose="02040503050406030204" pitchFamily="18" charset="0"/>
                                </a:rPr>
                                <m:t>2</m:t>
                              </m:r>
                            </m:sup>
                          </m:sSup>
                          <m:sSup>
                            <m:sSupPr>
                              <m:ctrlPr>
                                <a:rPr lang="en-US" i="1">
                                  <a:solidFill>
                                    <a:schemeClr val="tx1"/>
                                  </a:solidFill>
                                  <a:latin typeface="Cambria Math" panose="02040503050406030204" pitchFamily="18" charset="0"/>
                                  <a:ea typeface="Cambria Math" panose="02040503050406030204" pitchFamily="18" charset="0"/>
                                </a:rPr>
                              </m:ctrlPr>
                            </m:sSupPr>
                            <m:e>
                              <m:d>
                                <m:dPr>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ℏ</m:t>
                                  </m:r>
                                  <m:r>
                                    <a:rPr lang="en-US" i="1">
                                      <a:solidFill>
                                        <a:schemeClr val="tx1"/>
                                      </a:solidFill>
                                      <a:latin typeface="Cambria Math" panose="02040503050406030204" pitchFamily="18" charset="0"/>
                                      <a:ea typeface="Cambria Math" panose="02040503050406030204" pitchFamily="18" charset="0"/>
                                    </a:rPr>
                                    <m:t>𝑐</m:t>
                                  </m:r>
                                </m:e>
                              </m:d>
                            </m:e>
                            <m:sup>
                              <m:r>
                                <a:rPr lang="en-US" i="1">
                                  <a:solidFill>
                                    <a:schemeClr val="tx1"/>
                                  </a:solidFill>
                                  <a:latin typeface="Cambria Math" panose="02040503050406030204" pitchFamily="18" charset="0"/>
                                  <a:ea typeface="Cambria Math" panose="02040503050406030204" pitchFamily="18" charset="0"/>
                                </a:rPr>
                                <m:t>3</m:t>
                              </m:r>
                            </m:sup>
                          </m:sSup>
                        </m:den>
                      </m:f>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𝑏</m:t>
                      </m:r>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𝑎</m:t>
                      </m:r>
                      <m:sSup>
                        <m:sSupPr>
                          <m:ctrlPr>
                            <a:rPr lang="en-US" b="0" i="1" smtClean="0">
                              <a:solidFill>
                                <a:schemeClr val="tx1"/>
                              </a:solidFill>
                              <a:latin typeface="Cambria Math" panose="02040503050406030204" pitchFamily="18" charset="0"/>
                              <a:ea typeface="Cambria Math" panose="02040503050406030204" pitchFamily="18" charset="0"/>
                            </a:rPr>
                          </m:ctrlPr>
                        </m:sSupPr>
                        <m:e>
                          <m:r>
                            <a:rPr lang="en-US" b="0" i="1" smtClean="0">
                              <a:solidFill>
                                <a:schemeClr val="tx1"/>
                              </a:solidFill>
                              <a:latin typeface="Cambria Math" panose="02040503050406030204" pitchFamily="18" charset="0"/>
                              <a:ea typeface="Cambria Math" panose="02040503050406030204" pitchFamily="18" charset="0"/>
                            </a:rPr>
                            <m:t>𝜔</m:t>
                          </m:r>
                        </m:e>
                        <m:sup>
                          <m:r>
                            <a:rPr lang="en-US" b="0" i="1" smtClean="0">
                              <a:solidFill>
                                <a:schemeClr val="tx1"/>
                              </a:solidFill>
                              <a:latin typeface="Cambria Math" panose="02040503050406030204" pitchFamily="18" charset="0"/>
                              <a:ea typeface="Cambria Math" panose="02040503050406030204" pitchFamily="18" charset="0"/>
                            </a:rPr>
                            <m:t>3</m:t>
                          </m:r>
                        </m:sup>
                      </m:sSup>
                      <m:r>
                        <a:rPr lang="en-US" b="0" i="1" smtClean="0">
                          <a:solidFill>
                            <a:schemeClr val="tx1"/>
                          </a:solidFill>
                          <a:latin typeface="Cambria Math" panose="02040503050406030204" pitchFamily="18" charset="0"/>
                          <a:ea typeface="Cambria Math" panose="02040503050406030204" pitchFamily="18" charset="0"/>
                        </a:rPr>
                        <m:t>𝑑</m:t>
                      </m:r>
                      <m:r>
                        <a:rPr lang="en-US" b="0" i="1" smtClean="0">
                          <a:solidFill>
                            <a:schemeClr val="tx1"/>
                          </a:solidFill>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rPr>
                        <m:t>)</m:t>
                      </m:r>
                    </m:oMath>
                  </m:oMathPara>
                </a14:m>
                <a:endParaRPr lang="en-CN" dirty="0"/>
              </a:p>
            </p:txBody>
          </p:sp>
        </mc:Choice>
        <mc:Fallback xmlns="">
          <p:sp>
            <p:nvSpPr>
              <p:cNvPr id="21" name="TextBox 20">
                <a:extLst>
                  <a:ext uri="{FF2B5EF4-FFF2-40B4-BE49-F238E27FC236}">
                    <a16:creationId xmlns:a16="http://schemas.microsoft.com/office/drawing/2014/main" id="{6928DA6D-18C6-5540-D22C-CC7A66828328}"/>
                  </a:ext>
                </a:extLst>
              </p:cNvPr>
              <p:cNvSpPr txBox="1">
                <a:spLocks noRot="1" noChangeAspect="1" noMove="1" noResize="1" noEditPoints="1" noAdjustHandles="1" noChangeArrowheads="1" noChangeShapeType="1" noTextEdit="1"/>
              </p:cNvSpPr>
              <p:nvPr/>
            </p:nvSpPr>
            <p:spPr>
              <a:xfrm>
                <a:off x="8954401" y="3755868"/>
                <a:ext cx="3755772" cy="686213"/>
              </a:xfrm>
              <a:prstGeom prst="rect">
                <a:avLst/>
              </a:prstGeom>
              <a:blipFill>
                <a:blip r:embed="rId11"/>
                <a:stretch>
                  <a:fillRect/>
                </a:stretch>
              </a:blipFill>
            </p:spPr>
            <p:txBody>
              <a:bodyPr/>
              <a:lstStyle/>
              <a:p>
                <a:r>
                  <a:rPr lang="en-CN">
                    <a:noFill/>
                  </a:rPr>
                  <a:t> </a:t>
                </a:r>
              </a:p>
            </p:txBody>
          </p:sp>
        </mc:Fallback>
      </mc:AlternateContent>
      <p:cxnSp>
        <p:nvCxnSpPr>
          <p:cNvPr id="23" name="Straight Connector 22">
            <a:extLst>
              <a:ext uri="{FF2B5EF4-FFF2-40B4-BE49-F238E27FC236}">
                <a16:creationId xmlns:a16="http://schemas.microsoft.com/office/drawing/2014/main" id="{B255FC21-2EA3-D069-5A68-BA6346CB5FBB}"/>
              </a:ext>
            </a:extLst>
          </p:cNvPr>
          <p:cNvCxnSpPr/>
          <p:nvPr/>
        </p:nvCxnSpPr>
        <p:spPr>
          <a:xfrm>
            <a:off x="609599" y="2881742"/>
            <a:ext cx="11374581"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657D76B-C005-DBD1-B892-9BBF688709B1}"/>
                  </a:ext>
                </a:extLst>
              </p:cNvPr>
              <p:cNvSpPr txBox="1"/>
              <p:nvPr/>
            </p:nvSpPr>
            <p:spPr>
              <a:xfrm>
                <a:off x="8497237" y="2983166"/>
                <a:ext cx="2598160" cy="636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r>
                            <a:rPr lang="en-US" b="0" i="1" smtClean="0">
                              <a:latin typeface="Cambria Math" panose="02040503050406030204" pitchFamily="18" charset="0"/>
                            </a:rPr>
                            <m:t>1</m:t>
                          </m:r>
                        </m:num>
                        <m:den>
                          <m:r>
                            <a:rPr lang="en-CN"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ℏ</m:t>
                          </m:r>
                          <m:r>
                            <a:rPr lang="en-US" b="0" i="1" smtClean="0">
                              <a:latin typeface="Cambria Math" panose="02040503050406030204" pitchFamily="18" charset="0"/>
                              <a:ea typeface="Cambria Math" panose="02040503050406030204" pitchFamily="18" charset="0"/>
                            </a:rPr>
                            <m:t>𝜔</m:t>
                          </m:r>
                        </m:den>
                      </m:f>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ea typeface="Cambria Math" panose="02040503050406030204" pitchFamily="18" charset="0"/>
                                    </a:rPr>
                                    <m:t>𝜔</m:t>
                                  </m:r>
                                </m:sub>
                              </m:sSub>
                            </m:num>
                            <m:den>
                              <m:r>
                                <a:rPr lang="en-US" b="0" i="1" smtClean="0">
                                  <a:latin typeface="Cambria Math" panose="02040503050406030204" pitchFamily="18" charset="0"/>
                                </a:rPr>
                                <m:t>𝑎</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𝜔</m:t>
                                  </m:r>
                                </m:e>
                                <m:sup>
                                  <m:r>
                                    <a:rPr lang="en-US" b="0" i="1" smtClean="0">
                                      <a:latin typeface="Cambria Math" panose="02040503050406030204" pitchFamily="18" charset="0"/>
                                    </a:rPr>
                                    <m:t>3</m:t>
                                  </m:r>
                                </m:sup>
                              </m:sSup>
                            </m:den>
                          </m:f>
                        </m:e>
                      </m:func>
                    </m:oMath>
                  </m:oMathPara>
                </a14:m>
                <a:endParaRPr lang="en-CN" dirty="0"/>
              </a:p>
            </p:txBody>
          </p:sp>
        </mc:Choice>
        <mc:Fallback xmlns="">
          <p:sp>
            <p:nvSpPr>
              <p:cNvPr id="24" name="TextBox 23">
                <a:extLst>
                  <a:ext uri="{FF2B5EF4-FFF2-40B4-BE49-F238E27FC236}">
                    <a16:creationId xmlns:a16="http://schemas.microsoft.com/office/drawing/2014/main" id="{C657D76B-C005-DBD1-B892-9BBF688709B1}"/>
                  </a:ext>
                </a:extLst>
              </p:cNvPr>
              <p:cNvSpPr txBox="1">
                <a:spLocks noRot="1" noChangeAspect="1" noMove="1" noResize="1" noEditPoints="1" noAdjustHandles="1" noChangeArrowheads="1" noChangeShapeType="1" noTextEdit="1"/>
              </p:cNvSpPr>
              <p:nvPr/>
            </p:nvSpPr>
            <p:spPr>
              <a:xfrm>
                <a:off x="8497237" y="2983166"/>
                <a:ext cx="2598160" cy="636585"/>
              </a:xfrm>
              <a:prstGeom prst="rect">
                <a:avLst/>
              </a:prstGeom>
              <a:blipFill>
                <a:blip r:embed="rId12"/>
                <a:stretch>
                  <a:fillRect b="-11538"/>
                </a:stretch>
              </a:blipFill>
            </p:spPr>
            <p:txBody>
              <a:bodyPr/>
              <a:lstStyle/>
              <a:p>
                <a:r>
                  <a:rPr lang="en-CN">
                    <a:noFill/>
                  </a:rPr>
                  <a:t> </a:t>
                </a:r>
              </a:p>
            </p:txBody>
          </p:sp>
        </mc:Fallback>
      </mc:AlternateContent>
      <p:sp>
        <p:nvSpPr>
          <p:cNvPr id="10" name="Right Arrow 9">
            <a:extLst>
              <a:ext uri="{FF2B5EF4-FFF2-40B4-BE49-F238E27FC236}">
                <a16:creationId xmlns:a16="http://schemas.microsoft.com/office/drawing/2014/main" id="{F024AF48-156D-4D40-F230-042805FD845B}"/>
              </a:ext>
            </a:extLst>
          </p:cNvPr>
          <p:cNvSpPr/>
          <p:nvPr/>
        </p:nvSpPr>
        <p:spPr>
          <a:xfrm>
            <a:off x="8490443" y="3310034"/>
            <a:ext cx="210210" cy="1189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2" name="Down Arrow 11">
            <a:extLst>
              <a:ext uri="{FF2B5EF4-FFF2-40B4-BE49-F238E27FC236}">
                <a16:creationId xmlns:a16="http://schemas.microsoft.com/office/drawing/2014/main" id="{4B974DDF-F606-F21A-EF53-9C15493F9879}"/>
              </a:ext>
            </a:extLst>
          </p:cNvPr>
          <p:cNvSpPr/>
          <p:nvPr/>
        </p:nvSpPr>
        <p:spPr>
          <a:xfrm>
            <a:off x="5569527" y="4972536"/>
            <a:ext cx="299527" cy="38216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3" name="Right Arrow 12">
            <a:extLst>
              <a:ext uri="{FF2B5EF4-FFF2-40B4-BE49-F238E27FC236}">
                <a16:creationId xmlns:a16="http://schemas.microsoft.com/office/drawing/2014/main" id="{EE13E977-C412-8830-858F-D2E5FD6AE199}"/>
              </a:ext>
            </a:extLst>
          </p:cNvPr>
          <p:cNvSpPr/>
          <p:nvPr/>
        </p:nvSpPr>
        <p:spPr>
          <a:xfrm>
            <a:off x="7488376" y="6241414"/>
            <a:ext cx="838206" cy="1662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pic>
        <p:nvPicPr>
          <p:cNvPr id="17" name="Picture 16">
            <a:extLst>
              <a:ext uri="{FF2B5EF4-FFF2-40B4-BE49-F238E27FC236}">
                <a16:creationId xmlns:a16="http://schemas.microsoft.com/office/drawing/2014/main" id="{A7AABC2F-CFD8-390C-96E2-CD720C86C6FA}"/>
              </a:ext>
            </a:extLst>
          </p:cNvPr>
          <p:cNvPicPr>
            <a:picLocks noChangeAspect="1"/>
          </p:cNvPicPr>
          <p:nvPr/>
        </p:nvPicPr>
        <p:blipFill>
          <a:blip r:embed="rId13"/>
          <a:stretch>
            <a:fillRect/>
          </a:stretch>
        </p:blipFill>
        <p:spPr>
          <a:xfrm>
            <a:off x="1037247" y="0"/>
            <a:ext cx="10117506" cy="6858000"/>
          </a:xfrm>
          <a:prstGeom prst="rect">
            <a:avLst/>
          </a:prstGeom>
        </p:spPr>
      </p:pic>
    </p:spTree>
    <p:extLst>
      <p:ext uri="{BB962C8B-B14F-4D97-AF65-F5344CB8AC3E}">
        <p14:creationId xmlns:p14="http://schemas.microsoft.com/office/powerpoint/2010/main" val="3725920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6A64D3-CCDE-3322-644D-E8F458A1B8C4}"/>
              </a:ext>
            </a:extLst>
          </p:cNvPr>
          <p:cNvPicPr>
            <a:picLocks noChangeAspect="1"/>
          </p:cNvPicPr>
          <p:nvPr/>
        </p:nvPicPr>
        <p:blipFill>
          <a:blip r:embed="rId2"/>
          <a:stretch>
            <a:fillRect/>
          </a:stretch>
        </p:blipFill>
        <p:spPr>
          <a:xfrm>
            <a:off x="0" y="0"/>
            <a:ext cx="5143500" cy="6858000"/>
          </a:xfrm>
          <a:prstGeom prst="rect">
            <a:avLst/>
          </a:prstGeom>
        </p:spPr>
      </p:pic>
      <p:pic>
        <p:nvPicPr>
          <p:cNvPr id="5" name="Picture 4">
            <a:extLst>
              <a:ext uri="{FF2B5EF4-FFF2-40B4-BE49-F238E27FC236}">
                <a16:creationId xmlns:a16="http://schemas.microsoft.com/office/drawing/2014/main" id="{5FE4FC22-F023-7CE1-5AC0-697EDDF39CFA}"/>
              </a:ext>
            </a:extLst>
          </p:cNvPr>
          <p:cNvPicPr>
            <a:picLocks noChangeAspect="1"/>
          </p:cNvPicPr>
          <p:nvPr/>
        </p:nvPicPr>
        <p:blipFill>
          <a:blip r:embed="rId3"/>
          <a:stretch>
            <a:fillRect/>
          </a:stretch>
        </p:blipFill>
        <p:spPr>
          <a:xfrm rot="16200000">
            <a:off x="2132395" y="857250"/>
            <a:ext cx="6857998" cy="5143499"/>
          </a:xfrm>
          <a:prstGeom prst="rect">
            <a:avLst/>
          </a:prstGeom>
        </p:spPr>
      </p:pic>
      <p:pic>
        <p:nvPicPr>
          <p:cNvPr id="7" name="Picture 6">
            <a:extLst>
              <a:ext uri="{FF2B5EF4-FFF2-40B4-BE49-F238E27FC236}">
                <a16:creationId xmlns:a16="http://schemas.microsoft.com/office/drawing/2014/main" id="{4A49BF89-92AD-FD3F-5518-89AA5996F0EB}"/>
              </a:ext>
            </a:extLst>
          </p:cNvPr>
          <p:cNvPicPr>
            <a:picLocks noChangeAspect="1"/>
          </p:cNvPicPr>
          <p:nvPr/>
        </p:nvPicPr>
        <p:blipFill>
          <a:blip r:embed="rId4"/>
          <a:stretch>
            <a:fillRect/>
          </a:stretch>
        </p:blipFill>
        <p:spPr>
          <a:xfrm rot="16200000">
            <a:off x="6579560" y="758234"/>
            <a:ext cx="6065874" cy="4549406"/>
          </a:xfrm>
          <a:prstGeom prst="rect">
            <a:avLst/>
          </a:prstGeom>
        </p:spPr>
      </p:pic>
      <p:sp>
        <p:nvSpPr>
          <p:cNvPr id="2" name="TextBox 1">
            <a:extLst>
              <a:ext uri="{FF2B5EF4-FFF2-40B4-BE49-F238E27FC236}">
                <a16:creationId xmlns:a16="http://schemas.microsoft.com/office/drawing/2014/main" id="{CFD0E843-472E-57A8-D7EE-449E4A8CD839}"/>
              </a:ext>
            </a:extLst>
          </p:cNvPr>
          <p:cNvSpPr txBox="1"/>
          <p:nvPr/>
        </p:nvSpPr>
        <p:spPr>
          <a:xfrm>
            <a:off x="8559384" y="6303364"/>
            <a:ext cx="3455232" cy="369332"/>
          </a:xfrm>
          <a:prstGeom prst="rect">
            <a:avLst/>
          </a:prstGeom>
          <a:noFill/>
        </p:spPr>
        <p:txBody>
          <a:bodyPr wrap="square" rtlCol="0">
            <a:spAutoFit/>
          </a:bodyPr>
          <a:lstStyle/>
          <a:p>
            <a:r>
              <a:rPr lang="en-CN" dirty="0">
                <a:solidFill>
                  <a:srgbClr val="FF0000"/>
                </a:solidFill>
              </a:rPr>
              <a:t>原子物理学</a:t>
            </a:r>
            <a:r>
              <a:rPr lang="zh-CN" altLang="en-US" dirty="0">
                <a:solidFill>
                  <a:srgbClr val="FF0000"/>
                </a:solidFill>
              </a:rPr>
              <a:t>，刘玉鑫，北京大学</a:t>
            </a:r>
            <a:endParaRPr lang="en-CN" dirty="0">
              <a:solidFill>
                <a:srgbClr val="FF0000"/>
              </a:solidFill>
            </a:endParaRPr>
          </a:p>
        </p:txBody>
      </p:sp>
    </p:spTree>
    <p:extLst>
      <p:ext uri="{BB962C8B-B14F-4D97-AF65-F5344CB8AC3E}">
        <p14:creationId xmlns:p14="http://schemas.microsoft.com/office/powerpoint/2010/main" val="2344846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2C9A660-BAC4-1B9B-F243-73AE50789A53}"/>
                  </a:ext>
                </a:extLst>
              </p:cNvPr>
              <p:cNvSpPr txBox="1"/>
              <p:nvPr/>
            </p:nvSpPr>
            <p:spPr>
              <a:xfrm>
                <a:off x="762001" y="401773"/>
                <a:ext cx="5098472" cy="2304029"/>
              </a:xfrm>
              <a:prstGeom prst="rect">
                <a:avLst/>
              </a:prstGeom>
              <a:noFill/>
            </p:spPr>
            <p:txBody>
              <a:bodyPr wrap="square" rtlCol="0">
                <a:spAutoFit/>
              </a:bodyPr>
              <a:lstStyle/>
              <a:p>
                <a:r>
                  <a:rPr lang="en-CN" dirty="0"/>
                  <a:t>Total energy                          U</a:t>
                </a:r>
              </a:p>
              <a:p>
                <a:r>
                  <a:rPr lang="en-CN" dirty="0"/>
                  <a:t>The energy density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𝑈</m:t>
                        </m:r>
                      </m:num>
                      <m:den>
                        <m:r>
                          <a:rPr lang="en-US" b="0" i="1" smtClean="0">
                            <a:latin typeface="Cambria Math" panose="02040503050406030204" pitchFamily="18" charset="0"/>
                          </a:rPr>
                          <m:t>𝑉</m:t>
                        </m:r>
                      </m:den>
                    </m:f>
                  </m:oMath>
                </a14:m>
                <a:endParaRPr lang="en-CN" dirty="0"/>
              </a:p>
              <a:p>
                <a:r>
                  <a:rPr lang="en-CN" dirty="0"/>
                  <a:t>The rate of change of energy density with frequency as we proceed through the spectrum will be called  </a:t>
                </a:r>
                <a14:m>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𝑢</m:t>
                        </m:r>
                      </m:e>
                      <m:sub>
                        <m:r>
                          <a:rPr lang="en-CN" i="1" smtClean="0">
                            <a:latin typeface="Cambria Math" panose="02040503050406030204" pitchFamily="18" charset="0"/>
                            <a:ea typeface="Cambria Math" panose="02040503050406030204" pitchFamily="18" charset="0"/>
                          </a:rPr>
                          <m:t>𝜔</m:t>
                        </m:r>
                      </m:sub>
                    </m:sSub>
                  </m:oMath>
                </a14:m>
                <a:r>
                  <a:rPr lang="en-CN" dirty="0"/>
                  <a:t>. Hence the density of energy lying between any two given frrequencies is</a:t>
                </a:r>
              </a:p>
              <a:p>
                <a:pPr algn="ctr"/>
                <a14:m>
                  <m:oMath xmlns:m="http://schemas.openxmlformats.org/officeDocument/2006/math">
                    <m:nary>
                      <m:naryPr>
                        <m:ctrlPr>
                          <a:rPr lang="en-CN" i="1" smtClean="0">
                            <a:latin typeface="Cambria Math" panose="02040503050406030204" pitchFamily="18" charset="0"/>
                          </a:rPr>
                        </m:ctrlPr>
                      </m:naryPr>
                      <m:sub>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1</m:t>
                            </m:r>
                          </m:sub>
                        </m:sSub>
                      </m:sub>
                      <m:sup>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2</m:t>
                            </m:r>
                          </m:sub>
                        </m:sSub>
                      </m:sup>
                      <m:e>
                        <m:sSub>
                          <m:sSubPr>
                            <m:ctrlPr>
                              <a:rPr lang="en-CN" i="1" smtClean="0">
                                <a:latin typeface="Cambria Math" panose="02040503050406030204" pitchFamily="18" charset="0"/>
                              </a:rPr>
                            </m:ctrlPr>
                          </m:sSubPr>
                          <m:e>
                            <m:r>
                              <a:rPr lang="en-US" b="0" i="1" smtClean="0">
                                <a:latin typeface="Cambria Math" panose="02040503050406030204" pitchFamily="18" charset="0"/>
                              </a:rPr>
                              <m:t>𝑢</m:t>
                            </m:r>
                          </m:e>
                          <m:sub>
                            <m:r>
                              <a:rPr lang="en-CN" i="1" smtClean="0">
                                <a:latin typeface="Cambria Math" panose="02040503050406030204" pitchFamily="18" charset="0"/>
                                <a:ea typeface="Cambria Math" panose="02040503050406030204" pitchFamily="18" charset="0"/>
                              </a:rPr>
                              <m:t>𝜔</m:t>
                            </m:r>
                          </m:sub>
                        </m:sSub>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𝜔</m:t>
                        </m:r>
                      </m:e>
                    </m:nary>
                  </m:oMath>
                </a14:m>
                <a:r>
                  <a:rPr lang="en-CN" dirty="0"/>
                  <a:t> </a:t>
                </a:r>
              </a:p>
            </p:txBody>
          </p:sp>
        </mc:Choice>
        <mc:Fallback xmlns="">
          <p:sp>
            <p:nvSpPr>
              <p:cNvPr id="2" name="TextBox 1">
                <a:extLst>
                  <a:ext uri="{FF2B5EF4-FFF2-40B4-BE49-F238E27FC236}">
                    <a16:creationId xmlns:a16="http://schemas.microsoft.com/office/drawing/2014/main" id="{12C9A660-BAC4-1B9B-F243-73AE50789A53}"/>
                  </a:ext>
                </a:extLst>
              </p:cNvPr>
              <p:cNvSpPr txBox="1">
                <a:spLocks noRot="1" noChangeAspect="1" noMove="1" noResize="1" noEditPoints="1" noAdjustHandles="1" noChangeArrowheads="1" noChangeShapeType="1" noTextEdit="1"/>
              </p:cNvSpPr>
              <p:nvPr/>
            </p:nvSpPr>
            <p:spPr>
              <a:xfrm>
                <a:off x="762001" y="401773"/>
                <a:ext cx="5098472" cy="2304029"/>
              </a:xfrm>
              <a:prstGeom prst="rect">
                <a:avLst/>
              </a:prstGeom>
              <a:blipFill>
                <a:blip r:embed="rId2"/>
                <a:stretch>
                  <a:fillRect l="-995" t="-1093" b="-28415"/>
                </a:stretch>
              </a:blipFill>
            </p:spPr>
            <p:txBody>
              <a:bodyPr/>
              <a:lstStyle/>
              <a:p>
                <a:r>
                  <a:rPr lang="en-CN">
                    <a:noFill/>
                  </a:rPr>
                  <a:t> </a:t>
                </a:r>
              </a:p>
            </p:txBody>
          </p:sp>
        </mc:Fallback>
      </mc:AlternateContent>
      <p:sp>
        <p:nvSpPr>
          <p:cNvPr id="3" name="TextBox 2">
            <a:extLst>
              <a:ext uri="{FF2B5EF4-FFF2-40B4-BE49-F238E27FC236}">
                <a16:creationId xmlns:a16="http://schemas.microsoft.com/office/drawing/2014/main" id="{CE01D620-07EA-386E-B446-D8BC9A69CD9B}"/>
              </a:ext>
            </a:extLst>
          </p:cNvPr>
          <p:cNvSpPr txBox="1"/>
          <p:nvPr/>
        </p:nvSpPr>
        <p:spPr>
          <a:xfrm>
            <a:off x="3865418" y="39452"/>
            <a:ext cx="4461164" cy="369332"/>
          </a:xfrm>
          <a:prstGeom prst="rect">
            <a:avLst/>
          </a:prstGeom>
          <a:noFill/>
        </p:spPr>
        <p:txBody>
          <a:bodyPr wrap="square" rtlCol="0">
            <a:spAutoFit/>
          </a:bodyPr>
          <a:lstStyle/>
          <a:p>
            <a:pPr algn="ctr"/>
            <a:r>
              <a:rPr lang="en-CN" dirty="0"/>
              <a:t>Trying…</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E85398F-9909-0D58-13CF-B1F020FE06AB}"/>
                  </a:ext>
                </a:extLst>
              </p:cNvPr>
              <p:cNvSpPr txBox="1"/>
              <p:nvPr/>
            </p:nvSpPr>
            <p:spPr>
              <a:xfrm>
                <a:off x="6636328" y="423881"/>
                <a:ext cx="5098472" cy="2304029"/>
              </a:xfrm>
              <a:prstGeom prst="rect">
                <a:avLst/>
              </a:prstGeom>
              <a:noFill/>
            </p:spPr>
            <p:txBody>
              <a:bodyPr wrap="square" rtlCol="0">
                <a:spAutoFit/>
              </a:bodyPr>
              <a:lstStyle/>
              <a:p>
                <a:r>
                  <a:rPr lang="en-CN" dirty="0"/>
                  <a:t>Total entropy                          </a:t>
                </a:r>
                <a14:m>
                  <m:oMath xmlns:m="http://schemas.openxmlformats.org/officeDocument/2006/math">
                    <m:r>
                      <a:rPr lang="en-CN" i="1" smtClean="0">
                        <a:latin typeface="Cambria Math" panose="02040503050406030204" pitchFamily="18" charset="0"/>
                        <a:ea typeface="Cambria Math" panose="02040503050406030204" pitchFamily="18" charset="0"/>
                      </a:rPr>
                      <m:t>𝜎</m:t>
                    </m:r>
                  </m:oMath>
                </a14:m>
                <a:endParaRPr lang="en-CN" dirty="0"/>
              </a:p>
              <a:p>
                <a:r>
                  <a:rPr lang="en-CN" dirty="0"/>
                  <a:t>The entropy density              </a:t>
                </a:r>
                <a14:m>
                  <m:oMath xmlns:m="http://schemas.openxmlformats.org/officeDocument/2006/math">
                    <m:r>
                      <m:rPr>
                        <m:sty m:val="p"/>
                      </m:rPr>
                      <a:rPr lang="en-US" b="0" i="0" smtClean="0">
                        <a:latin typeface="Cambria Math" panose="02040503050406030204" pitchFamily="18" charset="0"/>
                      </a:rPr>
                      <m:t>s</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𝜎</m:t>
                        </m:r>
                      </m:num>
                      <m:den>
                        <m:r>
                          <a:rPr lang="en-US" b="0" i="1" smtClean="0">
                            <a:latin typeface="Cambria Math" panose="02040503050406030204" pitchFamily="18" charset="0"/>
                          </a:rPr>
                          <m:t>𝑉</m:t>
                        </m:r>
                      </m:den>
                    </m:f>
                  </m:oMath>
                </a14:m>
                <a:endParaRPr lang="en-CN" dirty="0"/>
              </a:p>
              <a:p>
                <a:r>
                  <a:rPr lang="en-CN" dirty="0"/>
                  <a:t>The rate of change of entropy density with frequency as we proceed through the spectrum will be called  </a:t>
                </a:r>
                <a14:m>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𝜎</m:t>
                        </m:r>
                      </m:e>
                      <m:sub>
                        <m:r>
                          <a:rPr lang="en-CN" i="1" smtClean="0">
                            <a:latin typeface="Cambria Math" panose="02040503050406030204" pitchFamily="18" charset="0"/>
                            <a:ea typeface="Cambria Math" panose="02040503050406030204" pitchFamily="18" charset="0"/>
                          </a:rPr>
                          <m:t>𝜔</m:t>
                        </m:r>
                      </m:sub>
                    </m:sSub>
                  </m:oMath>
                </a14:m>
                <a:r>
                  <a:rPr lang="en-CN" dirty="0"/>
                  <a:t>. Hence the density of entropy lying between any two given frrequencies is</a:t>
                </a:r>
              </a:p>
              <a:p>
                <a:pPr algn="ctr"/>
                <a14:m>
                  <m:oMath xmlns:m="http://schemas.openxmlformats.org/officeDocument/2006/math">
                    <m:nary>
                      <m:naryPr>
                        <m:ctrlPr>
                          <a:rPr lang="en-CN" i="1" smtClean="0">
                            <a:latin typeface="Cambria Math" panose="02040503050406030204" pitchFamily="18" charset="0"/>
                          </a:rPr>
                        </m:ctrlPr>
                      </m:naryPr>
                      <m:sub>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1</m:t>
                            </m:r>
                          </m:sub>
                        </m:sSub>
                      </m:sub>
                      <m:sup>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2</m:t>
                            </m:r>
                          </m:sub>
                        </m:sSub>
                      </m:sup>
                      <m:e>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𝜎</m:t>
                            </m:r>
                          </m:e>
                          <m:sub>
                            <m:r>
                              <a:rPr lang="en-CN" i="1" smtClean="0">
                                <a:latin typeface="Cambria Math" panose="02040503050406030204" pitchFamily="18" charset="0"/>
                                <a:ea typeface="Cambria Math" panose="02040503050406030204" pitchFamily="18" charset="0"/>
                              </a:rPr>
                              <m:t>𝜔</m:t>
                            </m:r>
                          </m:sub>
                        </m:sSub>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𝜔</m:t>
                        </m:r>
                      </m:e>
                    </m:nary>
                  </m:oMath>
                </a14:m>
                <a:r>
                  <a:rPr lang="en-CN" dirty="0"/>
                  <a:t> </a:t>
                </a:r>
              </a:p>
            </p:txBody>
          </p:sp>
        </mc:Choice>
        <mc:Fallback xmlns="">
          <p:sp>
            <p:nvSpPr>
              <p:cNvPr id="4" name="TextBox 3">
                <a:extLst>
                  <a:ext uri="{FF2B5EF4-FFF2-40B4-BE49-F238E27FC236}">
                    <a16:creationId xmlns:a16="http://schemas.microsoft.com/office/drawing/2014/main" id="{5E85398F-9909-0D58-13CF-B1F020FE06AB}"/>
                  </a:ext>
                </a:extLst>
              </p:cNvPr>
              <p:cNvSpPr txBox="1">
                <a:spLocks noRot="1" noChangeAspect="1" noMove="1" noResize="1" noEditPoints="1" noAdjustHandles="1" noChangeArrowheads="1" noChangeShapeType="1" noTextEdit="1"/>
              </p:cNvSpPr>
              <p:nvPr/>
            </p:nvSpPr>
            <p:spPr>
              <a:xfrm>
                <a:off x="6636328" y="423881"/>
                <a:ext cx="5098472" cy="2304029"/>
              </a:xfrm>
              <a:prstGeom prst="rect">
                <a:avLst/>
              </a:prstGeom>
              <a:blipFill>
                <a:blip r:embed="rId3"/>
                <a:stretch>
                  <a:fillRect l="-993" t="-1099" b="-2747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CEC786D-F44D-4249-2C18-9CF7D684C0E6}"/>
                  </a:ext>
                </a:extLst>
              </p:cNvPr>
              <p:cNvSpPr txBox="1"/>
              <p:nvPr/>
            </p:nvSpPr>
            <p:spPr>
              <a:xfrm>
                <a:off x="337886" y="3103394"/>
                <a:ext cx="2826327" cy="445058"/>
              </a:xfrm>
              <a:prstGeom prst="rect">
                <a:avLst/>
              </a:prstGeom>
              <a:noFill/>
            </p:spPr>
            <p:txBody>
              <a:bodyPr wrap="square" rtlCol="0">
                <a:spAutoFit/>
              </a:bodyPr>
              <a:lstStyle/>
              <a:p>
                <a:pPr algn="ctr"/>
                <a:r>
                  <a:rPr lang="en-US" b="0" dirty="0" err="1"/>
                  <a:t>Engergy</a:t>
                </a:r>
                <a:r>
                  <a:rPr lang="en-US" b="0" dirty="0"/>
                  <a:t> </a:t>
                </a:r>
                <a14:m>
                  <m:oMath xmlns:m="http://schemas.openxmlformats.org/officeDocument/2006/math">
                    <m:r>
                      <a:rPr lang="en-US" b="0" i="1" smtClean="0">
                        <a:latin typeface="Cambria Math" panose="02040503050406030204" pitchFamily="18" charset="0"/>
                      </a:rPr>
                      <m:t>𝑈</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sSub>
                          <m:sSubPr>
                            <m:ctrlPr>
                              <a:rPr lang="en-US" b="0" i="1" smtClean="0">
                                <a:solidFill>
                                  <a:srgbClr val="FF0000"/>
                                </a:solidFill>
                                <a:latin typeface="Cambria Math" panose="02040503050406030204" pitchFamily="18" charset="0"/>
                                <a:ea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𝑢</m:t>
                            </m:r>
                          </m:e>
                          <m:sub>
                            <m:r>
                              <a:rPr lang="en-US" b="0" i="1" smtClean="0">
                                <a:solidFill>
                                  <a:srgbClr val="FF0000"/>
                                </a:solidFill>
                                <a:latin typeface="Cambria Math" panose="02040503050406030204" pitchFamily="18" charset="0"/>
                                <a:ea typeface="Cambria Math" panose="02040503050406030204" pitchFamily="18" charset="0"/>
                              </a:rPr>
                              <m:t>𝜔</m:t>
                            </m:r>
                          </m:sub>
                        </m:sSub>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𝜔</m:t>
                        </m:r>
                      </m:e>
                    </m:nary>
                  </m:oMath>
                </a14:m>
                <a:endParaRPr lang="en-CN" dirty="0"/>
              </a:p>
            </p:txBody>
          </p:sp>
        </mc:Choice>
        <mc:Fallback xmlns="">
          <p:sp>
            <p:nvSpPr>
              <p:cNvPr id="5" name="TextBox 4">
                <a:extLst>
                  <a:ext uri="{FF2B5EF4-FFF2-40B4-BE49-F238E27FC236}">
                    <a16:creationId xmlns:a16="http://schemas.microsoft.com/office/drawing/2014/main" id="{5CEC786D-F44D-4249-2C18-9CF7D684C0E6}"/>
                  </a:ext>
                </a:extLst>
              </p:cNvPr>
              <p:cNvSpPr txBox="1">
                <a:spLocks noRot="1" noChangeAspect="1" noMove="1" noResize="1" noEditPoints="1" noAdjustHandles="1" noChangeArrowheads="1" noChangeShapeType="1" noTextEdit="1"/>
              </p:cNvSpPr>
              <p:nvPr/>
            </p:nvSpPr>
            <p:spPr>
              <a:xfrm>
                <a:off x="337886" y="3103394"/>
                <a:ext cx="2826327" cy="445058"/>
              </a:xfrm>
              <a:prstGeom prst="rect">
                <a:avLst/>
              </a:prstGeom>
              <a:blipFill>
                <a:blip r:embed="rId4"/>
                <a:stretch>
                  <a:fillRect t="-108333" b="-16388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6A9CA96-EE24-4249-D0AC-9C1B944EC78D}"/>
                  </a:ext>
                </a:extLst>
              </p:cNvPr>
              <p:cNvSpPr txBox="1"/>
              <p:nvPr/>
            </p:nvSpPr>
            <p:spPr>
              <a:xfrm>
                <a:off x="0" y="3851217"/>
                <a:ext cx="3494880" cy="445058"/>
              </a:xfrm>
              <a:prstGeom prst="rect">
                <a:avLst/>
              </a:prstGeom>
              <a:noFill/>
            </p:spPr>
            <p:txBody>
              <a:bodyPr wrap="square" rtlCol="0">
                <a:spAutoFit/>
              </a:bodyPr>
              <a:lstStyle/>
              <a:p>
                <a:pPr algn="ctr"/>
                <a:r>
                  <a:rPr lang="en-CN" dirty="0">
                    <a:ea typeface="Cambria Math" panose="02040503050406030204" pitchFamily="18" charset="0"/>
                  </a:rPr>
                  <a:t>Entropy </a:t>
                </a:r>
                <a14:m>
                  <m:oMath xmlns:m="http://schemas.openxmlformats.org/officeDocument/2006/math">
                    <m:r>
                      <a:rPr lang="en-CN" i="1" smtClean="0">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nary>
                      <m:naryPr>
                        <m:ctrlPr>
                          <a:rPr lang="en-US" b="0" i="1" smtClean="0">
                            <a:latin typeface="Cambria Math" panose="02040503050406030204" pitchFamily="18" charset="0"/>
                            <a:ea typeface="Cambria Math" panose="02040503050406030204" pitchFamily="18" charset="0"/>
                          </a:rPr>
                        </m:ctrlPr>
                      </m:naryPr>
                      <m:sub>
                        <m:r>
                          <m:rPr>
                            <m:brk m:alnAt="23"/>
                          </m:rPr>
                          <a:rPr lang="en-US" altLang="zh-CN"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sSub>
                          <m:sSubPr>
                            <m:ctrlPr>
                              <a:rPr lang="en-US" b="0" i="1" smtClean="0">
                                <a:solidFill>
                                  <a:srgbClr val="C00000"/>
                                </a:solidFill>
                                <a:latin typeface="Cambria Math" panose="02040503050406030204" pitchFamily="18" charset="0"/>
                                <a:ea typeface="Cambria Math" panose="02040503050406030204" pitchFamily="18" charset="0"/>
                              </a:rPr>
                            </m:ctrlPr>
                          </m:sSubPr>
                          <m:e>
                            <m:r>
                              <a:rPr lang="en-US" b="0" i="1" smtClean="0">
                                <a:solidFill>
                                  <a:srgbClr val="C00000"/>
                                </a:solidFill>
                                <a:latin typeface="Cambria Math" panose="02040503050406030204" pitchFamily="18" charset="0"/>
                                <a:ea typeface="Cambria Math" panose="02040503050406030204" pitchFamily="18" charset="0"/>
                              </a:rPr>
                              <m:t>𝜎</m:t>
                            </m:r>
                          </m:e>
                          <m:sub>
                            <m:r>
                              <a:rPr lang="en-US" b="0" i="1" smtClean="0">
                                <a:solidFill>
                                  <a:srgbClr val="C00000"/>
                                </a:solidFill>
                                <a:latin typeface="Cambria Math" panose="02040503050406030204" pitchFamily="18" charset="0"/>
                                <a:ea typeface="Cambria Math" panose="02040503050406030204" pitchFamily="18" charset="0"/>
                              </a:rPr>
                              <m:t>𝜔</m:t>
                            </m:r>
                          </m:sub>
                        </m:sSub>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𝜔</m:t>
                        </m:r>
                      </m:e>
                    </m:nary>
                  </m:oMath>
                </a14:m>
                <a:endParaRPr lang="en-CN" dirty="0"/>
              </a:p>
            </p:txBody>
          </p:sp>
        </mc:Choice>
        <mc:Fallback xmlns="">
          <p:sp>
            <p:nvSpPr>
              <p:cNvPr id="7" name="TextBox 6">
                <a:extLst>
                  <a:ext uri="{FF2B5EF4-FFF2-40B4-BE49-F238E27FC236}">
                    <a16:creationId xmlns:a16="http://schemas.microsoft.com/office/drawing/2014/main" id="{C6A9CA96-EE24-4249-D0AC-9C1B944EC78D}"/>
                  </a:ext>
                </a:extLst>
              </p:cNvPr>
              <p:cNvSpPr txBox="1">
                <a:spLocks noRot="1" noChangeAspect="1" noMove="1" noResize="1" noEditPoints="1" noAdjustHandles="1" noChangeArrowheads="1" noChangeShapeType="1" noTextEdit="1"/>
              </p:cNvSpPr>
              <p:nvPr/>
            </p:nvSpPr>
            <p:spPr>
              <a:xfrm>
                <a:off x="0" y="3851217"/>
                <a:ext cx="3494880" cy="445058"/>
              </a:xfrm>
              <a:prstGeom prst="rect">
                <a:avLst/>
              </a:prstGeom>
              <a:blipFill>
                <a:blip r:embed="rId5"/>
                <a:stretch>
                  <a:fillRect t="-108333" b="-16388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C34C5BE-AF1A-EC72-4AC9-75E1FFA8EF33}"/>
                  </a:ext>
                </a:extLst>
              </p:cNvPr>
              <p:cNvSpPr txBox="1"/>
              <p:nvPr/>
            </p:nvSpPr>
            <p:spPr>
              <a:xfrm>
                <a:off x="337886" y="4331751"/>
                <a:ext cx="4296642" cy="8849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1" i="1" smtClean="0">
                              <a:solidFill>
                                <a:srgbClr val="FF0000"/>
                              </a:solidFill>
                              <a:latin typeface="Cambria Math" panose="02040503050406030204" pitchFamily="18" charset="0"/>
                            </a:rPr>
                          </m:ctrlPr>
                        </m:fPr>
                        <m:num>
                          <m:r>
                            <a:rPr lang="en-US" sz="2400" b="1" i="1" smtClean="0">
                              <a:solidFill>
                                <a:srgbClr val="FF0000"/>
                              </a:solidFill>
                              <a:latin typeface="Cambria Math" panose="02040503050406030204" pitchFamily="18" charset="0"/>
                            </a:rPr>
                            <m:t>𝟏</m:t>
                          </m:r>
                        </m:num>
                        <m:den>
                          <m:r>
                            <a:rPr lang="en-US" sz="2400" b="1" i="1" smtClean="0">
                              <a:solidFill>
                                <a:srgbClr val="FF0000"/>
                              </a:solidFill>
                              <a:latin typeface="Cambria Math" panose="02040503050406030204" pitchFamily="18" charset="0"/>
                              <a:ea typeface="Cambria Math" panose="02040503050406030204" pitchFamily="18" charset="0"/>
                            </a:rPr>
                            <m:t>𝝉</m:t>
                          </m:r>
                        </m:den>
                      </m:f>
                      <m:r>
                        <a:rPr lang="en-US" sz="2400" b="1" i="0" smtClean="0">
                          <a:solidFill>
                            <a:srgbClr val="FF0000"/>
                          </a:solidFill>
                          <a:latin typeface="Cambria Math" panose="02040503050406030204" pitchFamily="18" charset="0"/>
                        </a:rPr>
                        <m:t>=</m:t>
                      </m:r>
                      <m:f>
                        <m:fPr>
                          <m:ctrlPr>
                            <a:rPr lang="en-US" sz="2400" b="1" i="1" smtClean="0">
                              <a:solidFill>
                                <a:srgbClr val="FF0000"/>
                              </a:solidFill>
                              <a:latin typeface="Cambria Math" panose="02040503050406030204" pitchFamily="18" charset="0"/>
                            </a:rPr>
                          </m:ctrlPr>
                        </m:fPr>
                        <m:num>
                          <m:r>
                            <a:rPr lang="en-US" sz="2400" b="1" i="1" smtClean="0">
                              <a:solidFill>
                                <a:srgbClr val="FF0000"/>
                              </a:solidFill>
                              <a:latin typeface="Cambria Math" panose="02040503050406030204" pitchFamily="18" charset="0"/>
                            </a:rPr>
                            <m:t>𝝏</m:t>
                          </m:r>
                          <m:r>
                            <a:rPr lang="en-US" sz="2400" b="1" i="1" smtClean="0">
                              <a:solidFill>
                                <a:srgbClr val="FF0000"/>
                              </a:solidFill>
                              <a:latin typeface="Cambria Math" panose="02040503050406030204" pitchFamily="18" charset="0"/>
                            </a:rPr>
                            <m:t> </m:t>
                          </m:r>
                          <m:r>
                            <a:rPr lang="en-US" sz="2400" b="1" i="1" smtClean="0">
                              <a:solidFill>
                                <a:srgbClr val="FF0000"/>
                              </a:solidFill>
                              <a:latin typeface="Cambria Math" panose="02040503050406030204" pitchFamily="18" charset="0"/>
                              <a:ea typeface="Cambria Math" panose="02040503050406030204" pitchFamily="18" charset="0"/>
                            </a:rPr>
                            <m:t>𝝈</m:t>
                          </m:r>
                        </m:num>
                        <m:den>
                          <m:r>
                            <a:rPr lang="en-US" sz="2400" b="1" i="1" smtClean="0">
                              <a:solidFill>
                                <a:srgbClr val="FF0000"/>
                              </a:solidFill>
                              <a:latin typeface="Cambria Math" panose="02040503050406030204" pitchFamily="18" charset="0"/>
                            </a:rPr>
                            <m:t>𝝏</m:t>
                          </m:r>
                          <m:r>
                            <a:rPr lang="en-US" sz="2400" b="1" i="1" smtClean="0">
                              <a:solidFill>
                                <a:srgbClr val="FF0000"/>
                              </a:solidFill>
                              <a:latin typeface="Cambria Math" panose="02040503050406030204" pitchFamily="18" charset="0"/>
                            </a:rPr>
                            <m:t> </m:t>
                          </m:r>
                          <m:r>
                            <a:rPr lang="en-US" sz="2400" b="1" i="1" smtClean="0">
                              <a:solidFill>
                                <a:srgbClr val="FF0000"/>
                              </a:solidFill>
                              <a:latin typeface="Cambria Math" panose="02040503050406030204" pitchFamily="18" charset="0"/>
                            </a:rPr>
                            <m:t>𝑼</m:t>
                          </m:r>
                        </m:den>
                      </m:f>
                      <m:groupChr>
                        <m:groupChrPr>
                          <m:chr m:val="⇒"/>
                          <m:vertJc m:val="bot"/>
                          <m:ctrlPr>
                            <a:rPr lang="en-US" sz="2400" b="1" i="1" smtClean="0">
                              <a:solidFill>
                                <a:srgbClr val="FF0000"/>
                              </a:solidFill>
                              <a:latin typeface="Cambria Math" panose="02040503050406030204" pitchFamily="18" charset="0"/>
                            </a:rPr>
                          </m:ctrlPr>
                        </m:groupChrPr>
                        <m:e>
                          <m:r>
                            <m:rPr>
                              <m:brk m:alnAt="2"/>
                            </m:rPr>
                            <a:rPr lang="en-US" sz="2400" b="1" i="1" smtClean="0">
                              <a:solidFill>
                                <a:srgbClr val="FF0000"/>
                              </a:solidFill>
                              <a:latin typeface="Cambria Math" panose="02040503050406030204" pitchFamily="18" charset="0"/>
                            </a:rPr>
                            <m:t>?</m:t>
                          </m:r>
                        </m:e>
                      </m:groupChr>
                      <m:f>
                        <m:fPr>
                          <m:ctrlPr>
                            <a:rPr lang="en-US" sz="2400" b="1" i="1">
                              <a:solidFill>
                                <a:srgbClr val="FF0000"/>
                              </a:solidFill>
                              <a:latin typeface="Cambria Math" panose="02040503050406030204" pitchFamily="18" charset="0"/>
                            </a:rPr>
                          </m:ctrlPr>
                        </m:fPr>
                        <m:num>
                          <m:r>
                            <a:rPr lang="en-US" sz="2400" b="1" i="1">
                              <a:solidFill>
                                <a:srgbClr val="FF0000"/>
                              </a:solidFill>
                              <a:latin typeface="Cambria Math" panose="02040503050406030204" pitchFamily="18" charset="0"/>
                            </a:rPr>
                            <m:t>𝝏</m:t>
                          </m:r>
                          <m:r>
                            <a:rPr lang="en-US" sz="2400" b="1" i="1">
                              <a:solidFill>
                                <a:srgbClr val="FF0000"/>
                              </a:solidFill>
                              <a:latin typeface="Cambria Math" panose="02040503050406030204" pitchFamily="18" charset="0"/>
                            </a:rPr>
                            <m:t> </m:t>
                          </m:r>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ea typeface="Cambria Math" panose="02040503050406030204" pitchFamily="18" charset="0"/>
                                </a:rPr>
                                <m:t>𝝈</m:t>
                              </m:r>
                            </m:e>
                            <m:sub>
                              <m:r>
                                <a:rPr lang="en-US" sz="2400" b="1" i="1">
                                  <a:solidFill>
                                    <a:srgbClr val="FF0000"/>
                                  </a:solidFill>
                                  <a:latin typeface="Cambria Math" panose="02040503050406030204" pitchFamily="18" charset="0"/>
                                  <a:ea typeface="Cambria Math" panose="02040503050406030204" pitchFamily="18" charset="0"/>
                                </a:rPr>
                                <m:t>𝝎</m:t>
                              </m:r>
                            </m:sub>
                          </m:sSub>
                        </m:num>
                        <m:den>
                          <m:r>
                            <a:rPr lang="en-US" sz="2400" b="1" i="1">
                              <a:solidFill>
                                <a:srgbClr val="FF0000"/>
                              </a:solidFill>
                              <a:latin typeface="Cambria Math" panose="02040503050406030204" pitchFamily="18" charset="0"/>
                            </a:rPr>
                            <m:t>𝝏</m:t>
                          </m:r>
                          <m:r>
                            <a:rPr lang="en-US" sz="2400" b="1" i="1">
                              <a:solidFill>
                                <a:srgbClr val="FF0000"/>
                              </a:solidFill>
                              <a:latin typeface="Cambria Math" panose="02040503050406030204" pitchFamily="18" charset="0"/>
                            </a:rPr>
                            <m:t> </m:t>
                          </m:r>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𝒖</m:t>
                              </m:r>
                            </m:e>
                            <m:sub>
                              <m:r>
                                <a:rPr lang="en-US" sz="2400" b="1" i="1">
                                  <a:solidFill>
                                    <a:srgbClr val="FF0000"/>
                                  </a:solidFill>
                                  <a:latin typeface="Cambria Math" panose="02040503050406030204" pitchFamily="18" charset="0"/>
                                  <a:ea typeface="Cambria Math" panose="02040503050406030204" pitchFamily="18" charset="0"/>
                                </a:rPr>
                                <m:t>𝝎</m:t>
                              </m:r>
                            </m:sub>
                          </m:sSub>
                        </m:den>
                      </m:f>
                    </m:oMath>
                  </m:oMathPara>
                </a14:m>
                <a:endParaRPr lang="en-CN" sz="2400" b="1" dirty="0"/>
              </a:p>
            </p:txBody>
          </p:sp>
        </mc:Choice>
        <mc:Fallback xmlns="">
          <p:sp>
            <p:nvSpPr>
              <p:cNvPr id="8" name="TextBox 7">
                <a:extLst>
                  <a:ext uri="{FF2B5EF4-FFF2-40B4-BE49-F238E27FC236}">
                    <a16:creationId xmlns:a16="http://schemas.microsoft.com/office/drawing/2014/main" id="{8C34C5BE-AF1A-EC72-4AC9-75E1FFA8EF33}"/>
                  </a:ext>
                </a:extLst>
              </p:cNvPr>
              <p:cNvSpPr txBox="1">
                <a:spLocks noRot="1" noChangeAspect="1" noMove="1" noResize="1" noEditPoints="1" noAdjustHandles="1" noChangeArrowheads="1" noChangeShapeType="1" noTextEdit="1"/>
              </p:cNvSpPr>
              <p:nvPr/>
            </p:nvSpPr>
            <p:spPr>
              <a:xfrm>
                <a:off x="337886" y="4331751"/>
                <a:ext cx="4296642" cy="884986"/>
              </a:xfrm>
              <a:prstGeom prst="rect">
                <a:avLst/>
              </a:prstGeom>
              <a:blipFill>
                <a:blip r:embed="rId6"/>
                <a:stretch>
                  <a:fillRect t="-1429" b="-20000"/>
                </a:stretch>
              </a:blipFill>
            </p:spPr>
            <p:txBody>
              <a:bodyPr/>
              <a:lstStyle/>
              <a:p>
                <a:r>
                  <a:rPr lang="en-CN">
                    <a:noFill/>
                  </a:rPr>
                  <a:t> </a:t>
                </a:r>
              </a:p>
            </p:txBody>
          </p:sp>
        </mc:Fallback>
      </mc:AlternateContent>
      <p:sp>
        <p:nvSpPr>
          <p:cNvPr id="9" name="TextBox 8">
            <a:extLst>
              <a:ext uri="{FF2B5EF4-FFF2-40B4-BE49-F238E27FC236}">
                <a16:creationId xmlns:a16="http://schemas.microsoft.com/office/drawing/2014/main" id="{F1619129-B67F-B468-B1C5-4F75637123E8}"/>
              </a:ext>
            </a:extLst>
          </p:cNvPr>
          <p:cNvSpPr txBox="1"/>
          <p:nvPr/>
        </p:nvSpPr>
        <p:spPr>
          <a:xfrm>
            <a:off x="427490" y="4567731"/>
            <a:ext cx="1257907" cy="369332"/>
          </a:xfrm>
          <a:prstGeom prst="rect">
            <a:avLst/>
          </a:prstGeom>
          <a:noFill/>
        </p:spPr>
        <p:txBody>
          <a:bodyPr wrap="square" rtlCol="0">
            <a:spAutoFit/>
          </a:bodyPr>
          <a:lstStyle/>
          <a:p>
            <a:r>
              <a:rPr lang="en-CN" dirty="0"/>
              <a:t> we have: </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9C5436B-03F0-B914-E8A6-F9849F10E486}"/>
                  </a:ext>
                </a:extLst>
              </p:cNvPr>
              <p:cNvSpPr txBox="1"/>
              <p:nvPr/>
            </p:nvSpPr>
            <p:spPr>
              <a:xfrm>
                <a:off x="4765962" y="3080989"/>
                <a:ext cx="3724481" cy="459357"/>
              </a:xfrm>
              <a:prstGeom prst="rect">
                <a:avLst/>
              </a:prstGeom>
              <a:noFill/>
            </p:spPr>
            <p:txBody>
              <a:bodyPr wrap="none" lIns="0" tIns="0" rIns="0" bIns="0" rtlCol="0">
                <a:spAutoFit/>
              </a:bodyPr>
              <a:lstStyle/>
              <a:p>
                <a:r>
                  <a:rPr lang="en-US" dirty="0">
                    <a:ea typeface="Cambria Math" panose="02040503050406030204" pitchFamily="18" charset="0"/>
                  </a:rPr>
                  <a:t>W</a:t>
                </a:r>
                <a:r>
                  <a:rPr lang="en-CN" dirty="0">
                    <a:ea typeface="Cambria Math" panose="02040503050406030204" pitchFamily="18" charset="0"/>
                  </a:rPr>
                  <a:t>hen </a:t>
                </a:r>
                <a14:m>
                  <m:oMath xmlns:m="http://schemas.openxmlformats.org/officeDocument/2006/math">
                    <m:r>
                      <a:rPr lang="en-CN" i="1" smtClean="0">
                        <a:latin typeface="Cambria Math" panose="02040503050406030204" pitchFamily="18" charset="0"/>
                        <a:ea typeface="Cambria Math" panose="02040503050406030204" pitchFamily="18" charset="0"/>
                      </a:rPr>
                      <m:t>ℏ</m:t>
                    </m:r>
                    <m:r>
                      <a:rPr lang="en-CN" i="1" smtClean="0">
                        <a:latin typeface="Cambria Math" panose="02040503050406030204" pitchFamily="18" charset="0"/>
                        <a:ea typeface="Cambria Math" panose="02040503050406030204" pitchFamily="18" charset="0"/>
                      </a:rPr>
                      <m:t>𝜔</m:t>
                    </m:r>
                    <m:r>
                      <a:rPr lang="en-CN" i="1" smtClean="0">
                        <a:latin typeface="Cambria Math" panose="02040503050406030204" pitchFamily="18" charset="0"/>
                        <a:ea typeface="Cambria Math" panose="02040503050406030204" pitchFamily="18" charset="0"/>
                      </a:rPr>
                      <m:t>≫</m:t>
                    </m:r>
                    <m:r>
                      <a:rPr lang="en-CN" i="1" smtClean="0">
                        <a:latin typeface="Cambria Math" panose="02040503050406030204" pitchFamily="18" charset="0"/>
                        <a:ea typeface="Cambria Math" panose="02040503050406030204" pitchFamily="18" charset="0"/>
                      </a:rPr>
                      <m:t>𝜏</m:t>
                    </m:r>
                  </m:oMath>
                </a14:m>
                <a:r>
                  <a:rPr lang="en-CN" dirty="0"/>
                  <a:t>, </a:t>
                </a:r>
                <a14:m>
                  <m:oMath xmlns:m="http://schemas.openxmlformats.org/officeDocument/2006/math">
                    <m:sSub>
                      <m:sSubPr>
                        <m:ctrlPr>
                          <a:rPr lang="en-CN"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𝑢</m:t>
                        </m:r>
                      </m:e>
                      <m:sub>
                        <m:r>
                          <a:rPr lang="en-CN" i="1" smtClean="0">
                            <a:solidFill>
                              <a:srgbClr val="C00000"/>
                            </a:solidFill>
                            <a:latin typeface="Cambria Math" panose="02040503050406030204" pitchFamily="18" charset="0"/>
                            <a:ea typeface="Cambria Math" panose="02040503050406030204" pitchFamily="18" charset="0"/>
                          </a:rPr>
                          <m:t>𝜔</m:t>
                        </m:r>
                      </m:sub>
                    </m:sSub>
                    <m:r>
                      <a:rPr lang="en-US" b="0" i="1" smtClean="0">
                        <a:solidFill>
                          <a:srgbClr val="C00000"/>
                        </a:solidFill>
                        <a:latin typeface="Cambria Math" panose="02040503050406030204" pitchFamily="18" charset="0"/>
                      </a:rPr>
                      <m:t>=</m:t>
                    </m:r>
                    <m:f>
                      <m:fPr>
                        <m:ctrlPr>
                          <a:rPr lang="en-US" i="1">
                            <a:solidFill>
                              <a:srgbClr val="FF0000"/>
                            </a:solidFill>
                            <a:latin typeface="Cambria Math" panose="02040503050406030204" pitchFamily="18" charset="0"/>
                          </a:rPr>
                        </m:ctrlPr>
                      </m:fPr>
                      <m:num>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ea typeface="Cambria Math" panose="02040503050406030204" pitchFamily="18" charset="0"/>
                              </a:rPr>
                              <m:t>ℏ</m:t>
                            </m:r>
                          </m:e>
                          <m:sup>
                            <m:r>
                              <a:rPr lang="en-US" i="1">
                                <a:solidFill>
                                  <a:srgbClr val="FF0000"/>
                                </a:solidFill>
                                <a:latin typeface="Cambria Math" panose="02040503050406030204" pitchFamily="18" charset="0"/>
                              </a:rPr>
                              <m:t>4</m:t>
                            </m:r>
                          </m:sup>
                        </m:sSup>
                      </m:num>
                      <m:den>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ea typeface="Cambria Math" panose="02040503050406030204" pitchFamily="18" charset="0"/>
                              </a:rPr>
                              <m:t>𝜋</m:t>
                            </m:r>
                          </m:e>
                          <m:sup>
                            <m:r>
                              <a:rPr lang="en-US" i="1">
                                <a:solidFill>
                                  <a:srgbClr val="FF0000"/>
                                </a:solidFill>
                                <a:latin typeface="Cambria Math" panose="02040503050406030204" pitchFamily="18" charset="0"/>
                              </a:rPr>
                              <m:t>2</m:t>
                            </m:r>
                          </m:sup>
                        </m:sSup>
                        <m:sSup>
                          <m:sSupPr>
                            <m:ctrlPr>
                              <a:rPr lang="en-US" i="1">
                                <a:solidFill>
                                  <a:srgbClr val="FF0000"/>
                                </a:solidFill>
                                <a:latin typeface="Cambria Math" panose="02040503050406030204" pitchFamily="18" charset="0"/>
                                <a:ea typeface="Cambria Math" panose="02040503050406030204" pitchFamily="18" charset="0"/>
                              </a:rPr>
                            </m:ctrlPr>
                          </m:sSupPr>
                          <m:e>
                            <m:d>
                              <m:dPr>
                                <m:ctrlPr>
                                  <a:rPr lang="en-US" i="1">
                                    <a:solidFill>
                                      <a:srgbClr val="FF0000"/>
                                    </a:solidFill>
                                    <a:latin typeface="Cambria Math" panose="02040503050406030204" pitchFamily="18" charset="0"/>
                                    <a:ea typeface="Cambria Math" panose="02040503050406030204" pitchFamily="18" charset="0"/>
                                  </a:rPr>
                                </m:ctrlPr>
                              </m:dPr>
                              <m:e>
                                <m:r>
                                  <a:rPr lang="en-US" i="1">
                                    <a:solidFill>
                                      <a:srgbClr val="FF0000"/>
                                    </a:solidFill>
                                    <a:latin typeface="Cambria Math" panose="02040503050406030204" pitchFamily="18" charset="0"/>
                                    <a:ea typeface="Cambria Math" panose="02040503050406030204" pitchFamily="18" charset="0"/>
                                  </a:rPr>
                                  <m:t>ℏ</m:t>
                                </m:r>
                                <m:r>
                                  <a:rPr lang="en-US" i="1">
                                    <a:solidFill>
                                      <a:srgbClr val="FF0000"/>
                                    </a:solidFill>
                                    <a:latin typeface="Cambria Math" panose="02040503050406030204" pitchFamily="18" charset="0"/>
                                    <a:ea typeface="Cambria Math" panose="02040503050406030204" pitchFamily="18" charset="0"/>
                                  </a:rPr>
                                  <m:t>𝑐</m:t>
                                </m:r>
                              </m:e>
                            </m:d>
                          </m:e>
                          <m:sup>
                            <m:r>
                              <a:rPr lang="en-US" i="1">
                                <a:solidFill>
                                  <a:srgbClr val="FF0000"/>
                                </a:solidFill>
                                <a:latin typeface="Cambria Math" panose="02040503050406030204" pitchFamily="18" charset="0"/>
                                <a:ea typeface="Cambria Math" panose="02040503050406030204" pitchFamily="18" charset="0"/>
                              </a:rPr>
                              <m:t>3</m:t>
                            </m:r>
                          </m:sup>
                        </m:sSup>
                      </m:den>
                    </m:f>
                    <m:sSup>
                      <m:sSupPr>
                        <m:ctrlPr>
                          <a:rPr lang="en-US" i="1" smtClean="0">
                            <a:solidFill>
                              <a:srgbClr val="FF0000"/>
                            </a:solidFill>
                            <a:latin typeface="Cambria Math" panose="02040503050406030204" pitchFamily="18" charset="0"/>
                            <a:ea typeface="Cambria Math" panose="02040503050406030204" pitchFamily="18" charset="0"/>
                          </a:rPr>
                        </m:ctrlPr>
                      </m:sSupPr>
                      <m:e>
                        <m:r>
                          <a:rPr lang="en-US" i="1" smtClean="0">
                            <a:solidFill>
                              <a:srgbClr val="FF0000"/>
                            </a:solidFill>
                            <a:latin typeface="Cambria Math" panose="02040503050406030204" pitchFamily="18" charset="0"/>
                            <a:ea typeface="Cambria Math" panose="02040503050406030204" pitchFamily="18" charset="0"/>
                          </a:rPr>
                          <m:t>𝜔</m:t>
                        </m:r>
                      </m:e>
                      <m:sup>
                        <m:r>
                          <a:rPr lang="en-US" b="0" i="1" smtClean="0">
                            <a:solidFill>
                              <a:srgbClr val="FF0000"/>
                            </a:solidFill>
                            <a:latin typeface="Cambria Math" panose="02040503050406030204" pitchFamily="18" charset="0"/>
                            <a:ea typeface="Cambria Math" panose="02040503050406030204" pitchFamily="18" charset="0"/>
                          </a:rPr>
                          <m:t>3</m:t>
                        </m:r>
                      </m:sup>
                    </m:sSup>
                    <m:sSup>
                      <m:sSupPr>
                        <m:ctrlPr>
                          <a:rPr lang="en-US"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𝑒</m:t>
                        </m:r>
                      </m:e>
                      <m:sup>
                        <m:r>
                          <a:rPr lang="en-US" b="0" i="1" smtClean="0">
                            <a:solidFill>
                              <a:srgbClr val="FF0000"/>
                            </a:solidFill>
                            <a:latin typeface="Cambria Math" panose="02040503050406030204" pitchFamily="18" charset="0"/>
                            <a:ea typeface="Cambria Math" panose="02040503050406030204" pitchFamily="18" charset="0"/>
                          </a:rPr>
                          <m:t>−ℏ</m:t>
                        </m:r>
                        <m:r>
                          <a:rPr lang="en-US" b="0" i="1" smtClean="0">
                            <a:solidFill>
                              <a:srgbClr val="FF0000"/>
                            </a:solidFill>
                            <a:latin typeface="Cambria Math" panose="02040503050406030204" pitchFamily="18" charset="0"/>
                            <a:ea typeface="Cambria Math" panose="02040503050406030204" pitchFamily="18" charset="0"/>
                          </a:rPr>
                          <m:t>𝜔</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𝜏</m:t>
                        </m:r>
                      </m:sup>
                    </m:sSup>
                  </m:oMath>
                </a14:m>
                <a:r>
                  <a:rPr lang="en-CN" dirty="0"/>
                  <a:t> </a:t>
                </a:r>
              </a:p>
            </p:txBody>
          </p:sp>
        </mc:Choice>
        <mc:Fallback xmlns="">
          <p:sp>
            <p:nvSpPr>
              <p:cNvPr id="11" name="TextBox 10">
                <a:extLst>
                  <a:ext uri="{FF2B5EF4-FFF2-40B4-BE49-F238E27FC236}">
                    <a16:creationId xmlns:a16="http://schemas.microsoft.com/office/drawing/2014/main" id="{79C5436B-03F0-B914-E8A6-F9849F10E486}"/>
                  </a:ext>
                </a:extLst>
              </p:cNvPr>
              <p:cNvSpPr txBox="1">
                <a:spLocks noRot="1" noChangeAspect="1" noMove="1" noResize="1" noEditPoints="1" noAdjustHandles="1" noChangeArrowheads="1" noChangeShapeType="1" noTextEdit="1"/>
              </p:cNvSpPr>
              <p:nvPr/>
            </p:nvSpPr>
            <p:spPr>
              <a:xfrm>
                <a:off x="4765962" y="3080989"/>
                <a:ext cx="3724481" cy="459357"/>
              </a:xfrm>
              <a:prstGeom prst="rect">
                <a:avLst/>
              </a:prstGeom>
              <a:blipFill>
                <a:blip r:embed="rId7"/>
                <a:stretch>
                  <a:fillRect l="-4082" b="-10811"/>
                </a:stretch>
              </a:blipFill>
            </p:spPr>
            <p:txBody>
              <a:bodyPr/>
              <a:lstStyle/>
              <a:p>
                <a:r>
                  <a:rPr lang="en-CN">
                    <a:noFill/>
                  </a:rPr>
                  <a:t> </a:t>
                </a:r>
              </a:p>
            </p:txBody>
          </p:sp>
        </mc:Fallback>
      </mc:AlternateContent>
      <p:cxnSp>
        <p:nvCxnSpPr>
          <p:cNvPr id="15" name="Straight Connector 14">
            <a:extLst>
              <a:ext uri="{FF2B5EF4-FFF2-40B4-BE49-F238E27FC236}">
                <a16:creationId xmlns:a16="http://schemas.microsoft.com/office/drawing/2014/main" id="{8B034B58-5ED9-CF2D-5C58-FEA16DC1E05B}"/>
              </a:ext>
            </a:extLst>
          </p:cNvPr>
          <p:cNvCxnSpPr/>
          <p:nvPr/>
        </p:nvCxnSpPr>
        <p:spPr>
          <a:xfrm>
            <a:off x="609600" y="3782287"/>
            <a:ext cx="1137458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8" name="Right Brace 17">
            <a:extLst>
              <a:ext uri="{FF2B5EF4-FFF2-40B4-BE49-F238E27FC236}">
                <a16:creationId xmlns:a16="http://schemas.microsoft.com/office/drawing/2014/main" id="{2DDAE3BC-87AF-6CC3-A691-24EF8A6A7E70}"/>
              </a:ext>
            </a:extLst>
          </p:cNvPr>
          <p:cNvSpPr/>
          <p:nvPr/>
        </p:nvSpPr>
        <p:spPr>
          <a:xfrm>
            <a:off x="3621591" y="4110100"/>
            <a:ext cx="609599" cy="102998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7B8F449-11BB-3E60-A01E-859F24DF6723}"/>
                  </a:ext>
                </a:extLst>
              </p:cNvPr>
              <p:cNvSpPr txBox="1"/>
              <p:nvPr/>
            </p:nvSpPr>
            <p:spPr>
              <a:xfrm>
                <a:off x="4249732" y="4313196"/>
                <a:ext cx="3238644" cy="56669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𝜎</m:t>
                          </m:r>
                        </m:e>
                        <m:sub>
                          <m:r>
                            <a:rPr lang="en-CN" i="1" smtClean="0">
                              <a:latin typeface="Cambria Math" panose="02040503050406030204" pitchFamily="18" charset="0"/>
                              <a:ea typeface="Cambria Math" panose="02040503050406030204" pitchFamily="18" charset="0"/>
                            </a:rPr>
                            <m:t>𝜔</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ea typeface="Cambria Math" panose="02040503050406030204" pitchFamily="18" charset="0"/>
                                </a:rPr>
                                <m:t>𝜔</m:t>
                              </m:r>
                            </m:sub>
                          </m:sSub>
                        </m:num>
                        <m:den>
                          <m:r>
                            <a:rPr lang="en-US" b="0" i="1" smtClean="0">
                              <a:latin typeface="Cambria Math" panose="02040503050406030204" pitchFamily="18" charset="0"/>
                              <a:ea typeface="Cambria Math" panose="02040503050406030204" pitchFamily="18" charset="0"/>
                            </a:rPr>
                            <m:t>ℏ</m:t>
                          </m:r>
                          <m:r>
                            <a:rPr lang="en-US" b="0" i="1" smtClean="0">
                              <a:latin typeface="Cambria Math" panose="02040503050406030204" pitchFamily="18" charset="0"/>
                              <a:ea typeface="Cambria Math" panose="02040503050406030204" pitchFamily="18" charset="0"/>
                            </a:rPr>
                            <m:t>𝜔</m:t>
                          </m:r>
                        </m:den>
                      </m:f>
                      <m:func>
                        <m:funcPr>
                          <m:ctrlPr>
                            <a:rPr lang="en-US" i="1">
                              <a:latin typeface="Cambria Math" panose="02040503050406030204" pitchFamily="18" charset="0"/>
                            </a:rPr>
                          </m:ctrlPr>
                        </m:funcPr>
                        <m:fName>
                          <m:r>
                            <a:rPr lang="en-US" b="0" i="0" smtClean="0">
                              <a:latin typeface="Cambria Math" panose="02040503050406030204" pitchFamily="18" charset="0"/>
                            </a:rPr>
                            <m:t>(</m:t>
                          </m:r>
                          <m:r>
                            <m:rPr>
                              <m:sty m:val="p"/>
                            </m:rPr>
                            <a:rPr lang="en-US">
                              <a:latin typeface="Cambria Math" panose="02040503050406030204" pitchFamily="18" charset="0"/>
                            </a:rPr>
                            <m:t>log</m:t>
                          </m:r>
                        </m:fName>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ea typeface="Cambria Math" panose="02040503050406030204" pitchFamily="18" charset="0"/>
                                    </a:rPr>
                                    <m:t>𝜔</m:t>
                                  </m:r>
                                </m:sub>
                              </m:sSub>
                            </m:num>
                            <m:den>
                              <m:r>
                                <a:rPr lang="en-US" i="1">
                                  <a:latin typeface="Cambria Math" panose="02040503050406030204" pitchFamily="18" charset="0"/>
                                </a:rPr>
                                <m:t>𝑎</m:t>
                              </m:r>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𝜔</m:t>
                                  </m:r>
                                </m:e>
                                <m:sup>
                                  <m:r>
                                    <a:rPr lang="en-US" i="1">
                                      <a:latin typeface="Cambria Math" panose="02040503050406030204" pitchFamily="18" charset="0"/>
                                    </a:rPr>
                                    <m:t>3</m:t>
                                  </m:r>
                                </m:sup>
                              </m:sSup>
                            </m:den>
                          </m:f>
                        </m:e>
                      </m:func>
                      <m:r>
                        <a:rPr lang="en-US" b="0" i="0" smtClean="0">
                          <a:latin typeface="Cambria Math" panose="02040503050406030204" pitchFamily="18" charset="0"/>
                        </a:rPr>
                        <m:t> −1)</m:t>
                      </m:r>
                    </m:oMath>
                  </m:oMathPara>
                </a14:m>
                <a:endParaRPr lang="en-CN" dirty="0"/>
              </a:p>
            </p:txBody>
          </p:sp>
        </mc:Choice>
        <mc:Fallback xmlns="">
          <p:sp>
            <p:nvSpPr>
              <p:cNvPr id="14" name="TextBox 13">
                <a:extLst>
                  <a:ext uri="{FF2B5EF4-FFF2-40B4-BE49-F238E27FC236}">
                    <a16:creationId xmlns:a16="http://schemas.microsoft.com/office/drawing/2014/main" id="{87B8F449-11BB-3E60-A01E-859F24DF6723}"/>
                  </a:ext>
                </a:extLst>
              </p:cNvPr>
              <p:cNvSpPr txBox="1">
                <a:spLocks noRot="1" noChangeAspect="1" noMove="1" noResize="1" noEditPoints="1" noAdjustHandles="1" noChangeArrowheads="1" noChangeShapeType="1" noTextEdit="1"/>
              </p:cNvSpPr>
              <p:nvPr/>
            </p:nvSpPr>
            <p:spPr>
              <a:xfrm>
                <a:off x="4249732" y="4313196"/>
                <a:ext cx="3238644" cy="566694"/>
              </a:xfrm>
              <a:prstGeom prst="rect">
                <a:avLst/>
              </a:prstGeom>
              <a:blipFill>
                <a:blip r:embed="rId8"/>
                <a:stretch>
                  <a:fillRect b="-19565"/>
                </a:stretch>
              </a:blipFill>
            </p:spPr>
            <p:txBody>
              <a:bodyPr/>
              <a:lstStyle/>
              <a:p>
                <a:r>
                  <a:rPr lang="en-CN">
                    <a:noFill/>
                  </a:rPr>
                  <a:t> </a:t>
                </a:r>
              </a:p>
            </p:txBody>
          </p:sp>
        </mc:Fallback>
      </mc:AlternateContent>
      <p:sp>
        <p:nvSpPr>
          <p:cNvPr id="16" name="Right Arrow 15">
            <a:extLst>
              <a:ext uri="{FF2B5EF4-FFF2-40B4-BE49-F238E27FC236}">
                <a16:creationId xmlns:a16="http://schemas.microsoft.com/office/drawing/2014/main" id="{83BD39F3-293E-450B-DFEC-C65A84465E6D}"/>
              </a:ext>
            </a:extLst>
          </p:cNvPr>
          <p:cNvSpPr/>
          <p:nvPr/>
        </p:nvSpPr>
        <p:spPr>
          <a:xfrm>
            <a:off x="4007277" y="4567731"/>
            <a:ext cx="484909" cy="1411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C3EB9A8-10C3-1265-EB2A-9DEA1DF2E8F4}"/>
                  </a:ext>
                </a:extLst>
              </p:cNvPr>
              <p:cNvSpPr txBox="1"/>
              <p:nvPr/>
            </p:nvSpPr>
            <p:spPr>
              <a:xfrm>
                <a:off x="4378322" y="5410798"/>
                <a:ext cx="3435355" cy="141493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r>
                            <a:rPr lang="en-CN" i="1" smtClean="0">
                              <a:latin typeface="Cambria Math" panose="02040503050406030204" pitchFamily="18" charset="0"/>
                              <a:ea typeface="Cambria Math" panose="02040503050406030204" pitchFamily="18" charset="0"/>
                            </a:rPr>
                            <m:t>𝜎</m:t>
                          </m:r>
                        </m:e>
                        <m:sub>
                          <m:r>
                            <a:rPr lang="en-CN" i="1" smtClean="0">
                              <a:latin typeface="Cambria Math" panose="02040503050406030204" pitchFamily="18" charset="0"/>
                              <a:ea typeface="Cambria Math" panose="02040503050406030204" pitchFamily="18" charset="0"/>
                            </a:rPr>
                            <m:t>𝜔</m:t>
                          </m:r>
                        </m:sub>
                      </m:sSub>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𝑉𝑢</m:t>
                              </m:r>
                            </m:e>
                            <m:sub>
                              <m:r>
                                <a:rPr lang="en-US" b="0" i="1" smtClean="0">
                                  <a:latin typeface="Cambria Math" panose="02040503050406030204" pitchFamily="18" charset="0"/>
                                  <a:ea typeface="Cambria Math" panose="02040503050406030204" pitchFamily="18" charset="0"/>
                                </a:rPr>
                                <m:t>𝜔</m:t>
                              </m:r>
                            </m:sub>
                          </m:sSub>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𝜔</m:t>
                          </m:r>
                        </m:num>
                        <m:den>
                          <m:r>
                            <a:rPr lang="en-US" b="0" i="1" smtClean="0">
                              <a:latin typeface="Cambria Math" panose="02040503050406030204" pitchFamily="18" charset="0"/>
                              <a:ea typeface="Cambria Math" panose="02040503050406030204" pitchFamily="18" charset="0"/>
                            </a:rPr>
                            <m:t>ℏ</m:t>
                          </m:r>
                          <m:r>
                            <a:rPr lang="en-US" b="0" i="1" smtClean="0">
                              <a:latin typeface="Cambria Math" panose="02040503050406030204" pitchFamily="18" charset="0"/>
                              <a:ea typeface="Cambria Math" panose="02040503050406030204" pitchFamily="18" charset="0"/>
                            </a:rPr>
                            <m:t>𝜔</m:t>
                          </m:r>
                        </m:den>
                      </m:f>
                      <m:r>
                        <a:rPr lang="en-US" b="0" i="1" smtClean="0">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b="0" i="1" smtClean="0">
                                      <a:latin typeface="Cambria Math" panose="02040503050406030204" pitchFamily="18" charset="0"/>
                                    </a:rPr>
                                    <m:t>𝑉</m:t>
                                  </m:r>
                                  <m:r>
                                    <a:rPr lang="en-US" i="1">
                                      <a:latin typeface="Cambria Math" panose="02040503050406030204" pitchFamily="18" charset="0"/>
                                    </a:rPr>
                                    <m:t>𝑢</m:t>
                                  </m:r>
                                </m:e>
                                <m:sub>
                                  <m:r>
                                    <a:rPr lang="en-US" i="1">
                                      <a:latin typeface="Cambria Math" panose="02040503050406030204" pitchFamily="18" charset="0"/>
                                      <a:ea typeface="Cambria Math" panose="02040503050406030204" pitchFamily="18" charset="0"/>
                                    </a:rPr>
                                    <m:t>𝜔</m:t>
                                  </m:r>
                                </m:sub>
                              </m:sSub>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𝜔</m:t>
                              </m:r>
                            </m:num>
                            <m:den>
                              <m:r>
                                <a:rPr lang="en-US" i="1">
                                  <a:latin typeface="Cambria Math" panose="02040503050406030204" pitchFamily="18" charset="0"/>
                                </a:rPr>
                                <m:t>𝑎</m:t>
                              </m:r>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𝜔</m:t>
                                  </m:r>
                                </m:e>
                                <m:sup>
                                  <m:r>
                                    <a:rPr lang="en-US" i="1">
                                      <a:latin typeface="Cambria Math" panose="02040503050406030204" pitchFamily="18" charset="0"/>
                                    </a:rPr>
                                    <m:t>3</m:t>
                                  </m:r>
                                </m:sup>
                              </m:sSup>
                              <m:r>
                                <a:rPr lang="en-US" b="0" i="1" smtClean="0">
                                  <a:latin typeface="Cambria Math" panose="02040503050406030204" pitchFamily="18" charset="0"/>
                                </a:rPr>
                                <m:t>𝑉𝑑</m:t>
                              </m:r>
                              <m:r>
                                <a:rPr lang="en-US" b="0" i="1" smtClean="0">
                                  <a:latin typeface="Cambria Math" panose="02040503050406030204" pitchFamily="18" charset="0"/>
                                  <a:ea typeface="Cambria Math" panose="02040503050406030204" pitchFamily="18" charset="0"/>
                                </a:rPr>
                                <m:t>𝜔</m:t>
                              </m:r>
                            </m:den>
                          </m:f>
                        </m:e>
                      </m:func>
                      <m:r>
                        <a:rPr lang="en-US" b="0" i="0" smtClean="0">
                          <a:latin typeface="Cambria Math" panose="02040503050406030204" pitchFamily="18" charset="0"/>
                        </a:rPr>
                        <m:t> −1)</m:t>
                      </m:r>
                    </m:oMath>
                  </m:oMathPara>
                </a14:m>
                <a:endParaRPr lang="en-CN"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𝑑𝑈</m:t>
                          </m:r>
                        </m:num>
                        <m:den>
                          <m:r>
                            <a:rPr lang="en-US" i="1">
                              <a:latin typeface="Cambria Math" panose="02040503050406030204" pitchFamily="18" charset="0"/>
                              <a:ea typeface="Cambria Math" panose="02040503050406030204" pitchFamily="18" charset="0"/>
                            </a:rPr>
                            <m:t>ℏ</m:t>
                          </m:r>
                          <m:r>
                            <a:rPr lang="en-US" i="1">
                              <a:latin typeface="Cambria Math" panose="02040503050406030204" pitchFamily="18" charset="0"/>
                              <a:ea typeface="Cambria Math" panose="02040503050406030204" pitchFamily="18" charset="0"/>
                            </a:rPr>
                            <m:t>𝜔</m:t>
                          </m:r>
                        </m:den>
                      </m:f>
                      <m:func>
                        <m:funcPr>
                          <m:ctrlPr>
                            <a:rPr lang="en-US" b="0" i="1" smtClean="0">
                              <a:latin typeface="Cambria Math" panose="02040503050406030204" pitchFamily="18" charset="0"/>
                            </a:rPr>
                          </m:ctrlPr>
                        </m:funcPr>
                        <m:fName>
                          <m:r>
                            <a:rPr lang="en-US" b="0" i="0" smtClean="0">
                              <a:latin typeface="Cambria Math" panose="02040503050406030204" pitchFamily="18" charset="0"/>
                            </a:rPr>
                            <m:t>(</m:t>
                          </m:r>
                          <m:r>
                            <m:rPr>
                              <m:sty m:val="p"/>
                            </m:rPr>
                            <a:rPr lang="en-US" b="0" i="0" smtClean="0">
                              <a:latin typeface="Cambria Math" panose="02040503050406030204" pitchFamily="18" charset="0"/>
                            </a:rPr>
                            <m:t>log</m:t>
                          </m:r>
                        </m:fName>
                        <m:e>
                          <m:f>
                            <m:fPr>
                              <m:ctrlPr>
                                <a:rPr lang="en-US" b="0" i="1" smtClean="0">
                                  <a:latin typeface="Cambria Math" panose="02040503050406030204" pitchFamily="18" charset="0"/>
                                </a:rPr>
                              </m:ctrlPr>
                            </m:fPr>
                            <m:num>
                              <m:r>
                                <a:rPr lang="en-US" b="0" i="1" smtClean="0">
                                  <a:latin typeface="Cambria Math" panose="02040503050406030204" pitchFamily="18" charset="0"/>
                                </a:rPr>
                                <m:t>𝑑𝑈</m:t>
                              </m:r>
                            </m:num>
                            <m:den>
                              <m:r>
                                <a:rPr lang="en-US" b="0" i="1" smtClean="0">
                                  <a:latin typeface="Cambria Math" panose="02040503050406030204" pitchFamily="18" charset="0"/>
                                </a:rPr>
                                <m:t>𝑏</m:t>
                              </m:r>
                              <m:r>
                                <a:rPr lang="en-US" b="0" i="1" smtClean="0">
                                  <a:latin typeface="Cambria Math" panose="02040503050406030204" pitchFamily="18" charset="0"/>
                                </a:rPr>
                                <m:t> </m:t>
                              </m:r>
                              <m:r>
                                <a:rPr lang="en-US" b="0" i="1" smtClean="0">
                                  <a:latin typeface="Cambria Math" panose="02040503050406030204" pitchFamily="18" charset="0"/>
                                </a:rPr>
                                <m:t>𝑉</m:t>
                              </m:r>
                            </m:den>
                          </m:f>
                          <m:r>
                            <a:rPr lang="en-US" b="0" i="1" smtClean="0">
                              <a:latin typeface="Cambria Math" panose="02040503050406030204" pitchFamily="18" charset="0"/>
                            </a:rPr>
                            <m:t> −1)</m:t>
                          </m:r>
                        </m:e>
                      </m:func>
                    </m:oMath>
                  </m:oMathPara>
                </a14:m>
                <a:endParaRPr lang="en-CN" dirty="0"/>
              </a:p>
            </p:txBody>
          </p:sp>
        </mc:Choice>
        <mc:Fallback xmlns="">
          <p:sp>
            <p:nvSpPr>
              <p:cNvPr id="19" name="TextBox 18">
                <a:extLst>
                  <a:ext uri="{FF2B5EF4-FFF2-40B4-BE49-F238E27FC236}">
                    <a16:creationId xmlns:a16="http://schemas.microsoft.com/office/drawing/2014/main" id="{BC3EB9A8-10C3-1265-EB2A-9DEA1DF2E8F4}"/>
                  </a:ext>
                </a:extLst>
              </p:cNvPr>
              <p:cNvSpPr txBox="1">
                <a:spLocks noRot="1" noChangeAspect="1" noMove="1" noResize="1" noEditPoints="1" noAdjustHandles="1" noChangeArrowheads="1" noChangeShapeType="1" noTextEdit="1"/>
              </p:cNvSpPr>
              <p:nvPr/>
            </p:nvSpPr>
            <p:spPr>
              <a:xfrm>
                <a:off x="4378322" y="5410798"/>
                <a:ext cx="3435355" cy="1414939"/>
              </a:xfrm>
              <a:prstGeom prst="rect">
                <a:avLst/>
              </a:prstGeom>
              <a:blipFill>
                <a:blip r:embed="rId9"/>
                <a:stretch>
                  <a:fillRect b="-714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B0C93EC-6DF7-A4D3-4A2E-42D7BBDD6E0A}"/>
                  </a:ext>
                </a:extLst>
              </p:cNvPr>
              <p:cNvSpPr txBox="1"/>
              <p:nvPr/>
            </p:nvSpPr>
            <p:spPr>
              <a:xfrm>
                <a:off x="8631382" y="5909624"/>
                <a:ext cx="3560618" cy="663580"/>
              </a:xfrm>
              <a:prstGeom prst="rect">
                <a:avLst/>
              </a:prstGeom>
              <a:solidFill>
                <a:schemeClr val="accent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𝜎</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𝑉</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0</m:t>
                              </m:r>
                            </m:sub>
                          </m:sSub>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𝑑𝑈</m:t>
                          </m:r>
                        </m:num>
                        <m:den>
                          <m:r>
                            <a:rPr lang="en-US" i="1">
                              <a:latin typeface="Cambria Math" panose="02040503050406030204" pitchFamily="18" charset="0"/>
                              <a:ea typeface="Cambria Math" panose="02040503050406030204" pitchFamily="18" charset="0"/>
                            </a:rPr>
                            <m:t>ℏ</m:t>
                          </m:r>
                          <m:r>
                            <a:rPr lang="en-US" i="1">
                              <a:latin typeface="Cambria Math" panose="02040503050406030204" pitchFamily="18" charset="0"/>
                              <a:ea typeface="Cambria Math" panose="02040503050406030204" pitchFamily="18" charset="0"/>
                            </a:rPr>
                            <m:t>𝜔</m:t>
                          </m:r>
                        </m:den>
                      </m:f>
                      <m:r>
                        <m:rPr>
                          <m:sty m:val="p"/>
                        </m:rPr>
                        <a:rPr lang="en-US" b="0" i="0" smtClean="0">
                          <a:latin typeface="Cambria Math" panose="02040503050406030204" pitchFamily="18" charset="0"/>
                          <a:ea typeface="Cambria Math" panose="02040503050406030204" pitchFamily="18" charset="0"/>
                        </a:rPr>
                        <m:t>log</m:t>
                      </m:r>
                      <m:r>
                        <a:rPr lang="en-US" b="0" i="0"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𝑉</m:t>
                          </m:r>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0</m:t>
                              </m:r>
                            </m:sub>
                          </m:sSub>
                        </m:den>
                      </m:f>
                    </m:oMath>
                  </m:oMathPara>
                </a14:m>
                <a:endParaRPr lang="en-CN" dirty="0"/>
              </a:p>
            </p:txBody>
          </p:sp>
        </mc:Choice>
        <mc:Fallback xmlns="">
          <p:sp>
            <p:nvSpPr>
              <p:cNvPr id="20" name="TextBox 19">
                <a:extLst>
                  <a:ext uri="{FF2B5EF4-FFF2-40B4-BE49-F238E27FC236}">
                    <a16:creationId xmlns:a16="http://schemas.microsoft.com/office/drawing/2014/main" id="{1B0C93EC-6DF7-A4D3-4A2E-42D7BBDD6E0A}"/>
                  </a:ext>
                </a:extLst>
              </p:cNvPr>
              <p:cNvSpPr txBox="1">
                <a:spLocks noRot="1" noChangeAspect="1" noMove="1" noResize="1" noEditPoints="1" noAdjustHandles="1" noChangeArrowheads="1" noChangeShapeType="1" noTextEdit="1"/>
              </p:cNvSpPr>
              <p:nvPr/>
            </p:nvSpPr>
            <p:spPr>
              <a:xfrm>
                <a:off x="8631382" y="5909624"/>
                <a:ext cx="3560618" cy="663580"/>
              </a:xfrm>
              <a:prstGeom prst="rect">
                <a:avLst/>
              </a:prstGeom>
              <a:blipFill>
                <a:blip r:embed="rId10"/>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928DA6D-18C6-5540-D22C-CC7A66828328}"/>
                  </a:ext>
                </a:extLst>
              </p:cNvPr>
              <p:cNvSpPr txBox="1"/>
              <p:nvPr/>
            </p:nvSpPr>
            <p:spPr>
              <a:xfrm>
                <a:off x="8954401" y="3755868"/>
                <a:ext cx="3755772" cy="6862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solidFill>
                            <a:schemeClr val="tx1"/>
                          </a:solidFill>
                          <a:latin typeface="Cambria Math" panose="02040503050406030204" pitchFamily="18" charset="0"/>
                        </a:rPr>
                        <m:t>𝑎</m:t>
                      </m:r>
                      <m:r>
                        <a:rPr lang="en-US" b="0" i="1" smtClean="0">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rPr>
                          </m:ctrlPr>
                        </m:fPr>
                        <m:num>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ℏ</m:t>
                              </m:r>
                            </m:e>
                            <m:sup>
                              <m:r>
                                <a:rPr lang="en-US" i="1">
                                  <a:solidFill>
                                    <a:schemeClr val="tx1"/>
                                  </a:solidFill>
                                  <a:latin typeface="Cambria Math" panose="02040503050406030204" pitchFamily="18" charset="0"/>
                                </a:rPr>
                                <m:t>4</m:t>
                              </m:r>
                            </m:sup>
                          </m:sSup>
                        </m:num>
                        <m:den>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𝜋</m:t>
                              </m:r>
                            </m:e>
                            <m:sup>
                              <m:r>
                                <a:rPr lang="en-US" i="1">
                                  <a:solidFill>
                                    <a:schemeClr val="tx1"/>
                                  </a:solidFill>
                                  <a:latin typeface="Cambria Math" panose="02040503050406030204" pitchFamily="18" charset="0"/>
                                </a:rPr>
                                <m:t>2</m:t>
                              </m:r>
                            </m:sup>
                          </m:sSup>
                          <m:sSup>
                            <m:sSupPr>
                              <m:ctrlPr>
                                <a:rPr lang="en-US" i="1">
                                  <a:solidFill>
                                    <a:schemeClr val="tx1"/>
                                  </a:solidFill>
                                  <a:latin typeface="Cambria Math" panose="02040503050406030204" pitchFamily="18" charset="0"/>
                                  <a:ea typeface="Cambria Math" panose="02040503050406030204" pitchFamily="18" charset="0"/>
                                </a:rPr>
                              </m:ctrlPr>
                            </m:sSupPr>
                            <m:e>
                              <m:d>
                                <m:dPr>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ℏ</m:t>
                                  </m:r>
                                  <m:r>
                                    <a:rPr lang="en-US" i="1">
                                      <a:solidFill>
                                        <a:schemeClr val="tx1"/>
                                      </a:solidFill>
                                      <a:latin typeface="Cambria Math" panose="02040503050406030204" pitchFamily="18" charset="0"/>
                                      <a:ea typeface="Cambria Math" panose="02040503050406030204" pitchFamily="18" charset="0"/>
                                    </a:rPr>
                                    <m:t>𝑐</m:t>
                                  </m:r>
                                </m:e>
                              </m:d>
                            </m:e>
                            <m:sup>
                              <m:r>
                                <a:rPr lang="en-US" i="1">
                                  <a:solidFill>
                                    <a:schemeClr val="tx1"/>
                                  </a:solidFill>
                                  <a:latin typeface="Cambria Math" panose="02040503050406030204" pitchFamily="18" charset="0"/>
                                  <a:ea typeface="Cambria Math" panose="02040503050406030204" pitchFamily="18" charset="0"/>
                                </a:rPr>
                                <m:t>3</m:t>
                              </m:r>
                            </m:sup>
                          </m:sSup>
                        </m:den>
                      </m:f>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𝑏</m:t>
                      </m:r>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𝑎</m:t>
                      </m:r>
                      <m:sSup>
                        <m:sSupPr>
                          <m:ctrlPr>
                            <a:rPr lang="en-US" b="0" i="1" smtClean="0">
                              <a:solidFill>
                                <a:schemeClr val="tx1"/>
                              </a:solidFill>
                              <a:latin typeface="Cambria Math" panose="02040503050406030204" pitchFamily="18" charset="0"/>
                              <a:ea typeface="Cambria Math" panose="02040503050406030204" pitchFamily="18" charset="0"/>
                            </a:rPr>
                          </m:ctrlPr>
                        </m:sSupPr>
                        <m:e>
                          <m:r>
                            <a:rPr lang="en-US" b="0" i="1" smtClean="0">
                              <a:solidFill>
                                <a:schemeClr val="tx1"/>
                              </a:solidFill>
                              <a:latin typeface="Cambria Math" panose="02040503050406030204" pitchFamily="18" charset="0"/>
                              <a:ea typeface="Cambria Math" panose="02040503050406030204" pitchFamily="18" charset="0"/>
                            </a:rPr>
                            <m:t>𝜔</m:t>
                          </m:r>
                        </m:e>
                        <m:sup>
                          <m:r>
                            <a:rPr lang="en-US" b="0" i="1" smtClean="0">
                              <a:solidFill>
                                <a:schemeClr val="tx1"/>
                              </a:solidFill>
                              <a:latin typeface="Cambria Math" panose="02040503050406030204" pitchFamily="18" charset="0"/>
                              <a:ea typeface="Cambria Math" panose="02040503050406030204" pitchFamily="18" charset="0"/>
                            </a:rPr>
                            <m:t>3</m:t>
                          </m:r>
                        </m:sup>
                      </m:sSup>
                      <m:r>
                        <a:rPr lang="en-US" b="0" i="1" smtClean="0">
                          <a:solidFill>
                            <a:schemeClr val="tx1"/>
                          </a:solidFill>
                          <a:latin typeface="Cambria Math" panose="02040503050406030204" pitchFamily="18" charset="0"/>
                          <a:ea typeface="Cambria Math" panose="02040503050406030204" pitchFamily="18" charset="0"/>
                        </a:rPr>
                        <m:t>𝑑</m:t>
                      </m:r>
                      <m:r>
                        <a:rPr lang="en-US" b="0" i="1" smtClean="0">
                          <a:solidFill>
                            <a:schemeClr val="tx1"/>
                          </a:solidFill>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rPr>
                        <m:t>)</m:t>
                      </m:r>
                    </m:oMath>
                  </m:oMathPara>
                </a14:m>
                <a:endParaRPr lang="en-CN" dirty="0"/>
              </a:p>
            </p:txBody>
          </p:sp>
        </mc:Choice>
        <mc:Fallback xmlns="">
          <p:sp>
            <p:nvSpPr>
              <p:cNvPr id="21" name="TextBox 20">
                <a:extLst>
                  <a:ext uri="{FF2B5EF4-FFF2-40B4-BE49-F238E27FC236}">
                    <a16:creationId xmlns:a16="http://schemas.microsoft.com/office/drawing/2014/main" id="{6928DA6D-18C6-5540-D22C-CC7A66828328}"/>
                  </a:ext>
                </a:extLst>
              </p:cNvPr>
              <p:cNvSpPr txBox="1">
                <a:spLocks noRot="1" noChangeAspect="1" noMove="1" noResize="1" noEditPoints="1" noAdjustHandles="1" noChangeArrowheads="1" noChangeShapeType="1" noTextEdit="1"/>
              </p:cNvSpPr>
              <p:nvPr/>
            </p:nvSpPr>
            <p:spPr>
              <a:xfrm>
                <a:off x="8954401" y="3755868"/>
                <a:ext cx="3755772" cy="686213"/>
              </a:xfrm>
              <a:prstGeom prst="rect">
                <a:avLst/>
              </a:prstGeom>
              <a:blipFill>
                <a:blip r:embed="rId11"/>
                <a:stretch>
                  <a:fillRect/>
                </a:stretch>
              </a:blipFill>
            </p:spPr>
            <p:txBody>
              <a:bodyPr/>
              <a:lstStyle/>
              <a:p>
                <a:r>
                  <a:rPr lang="en-CN">
                    <a:noFill/>
                  </a:rPr>
                  <a:t> </a:t>
                </a:r>
              </a:p>
            </p:txBody>
          </p:sp>
        </mc:Fallback>
      </mc:AlternateContent>
      <p:cxnSp>
        <p:nvCxnSpPr>
          <p:cNvPr id="23" name="Straight Connector 22">
            <a:extLst>
              <a:ext uri="{FF2B5EF4-FFF2-40B4-BE49-F238E27FC236}">
                <a16:creationId xmlns:a16="http://schemas.microsoft.com/office/drawing/2014/main" id="{B255FC21-2EA3-D069-5A68-BA6346CB5FBB}"/>
              </a:ext>
            </a:extLst>
          </p:cNvPr>
          <p:cNvCxnSpPr/>
          <p:nvPr/>
        </p:nvCxnSpPr>
        <p:spPr>
          <a:xfrm>
            <a:off x="609599" y="2881742"/>
            <a:ext cx="11374581"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657D76B-C005-DBD1-B892-9BBF688709B1}"/>
                  </a:ext>
                </a:extLst>
              </p:cNvPr>
              <p:cNvSpPr txBox="1"/>
              <p:nvPr/>
            </p:nvSpPr>
            <p:spPr>
              <a:xfrm>
                <a:off x="8497237" y="2983166"/>
                <a:ext cx="2598160" cy="636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r>
                            <a:rPr lang="en-US" b="0" i="1" smtClean="0">
                              <a:latin typeface="Cambria Math" panose="02040503050406030204" pitchFamily="18" charset="0"/>
                            </a:rPr>
                            <m:t>1</m:t>
                          </m:r>
                        </m:num>
                        <m:den>
                          <m:r>
                            <a:rPr lang="en-CN"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ℏ</m:t>
                          </m:r>
                          <m:r>
                            <a:rPr lang="en-US" b="0" i="1" smtClean="0">
                              <a:latin typeface="Cambria Math" panose="02040503050406030204" pitchFamily="18" charset="0"/>
                              <a:ea typeface="Cambria Math" panose="02040503050406030204" pitchFamily="18" charset="0"/>
                            </a:rPr>
                            <m:t>𝜔</m:t>
                          </m:r>
                        </m:den>
                      </m:f>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ea typeface="Cambria Math" panose="02040503050406030204" pitchFamily="18" charset="0"/>
                                    </a:rPr>
                                    <m:t>𝜔</m:t>
                                  </m:r>
                                </m:sub>
                              </m:sSub>
                            </m:num>
                            <m:den>
                              <m:r>
                                <a:rPr lang="en-US" b="0" i="1" smtClean="0">
                                  <a:latin typeface="Cambria Math" panose="02040503050406030204" pitchFamily="18" charset="0"/>
                                </a:rPr>
                                <m:t>𝑎</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𝜔</m:t>
                                  </m:r>
                                </m:e>
                                <m:sup>
                                  <m:r>
                                    <a:rPr lang="en-US" b="0" i="1" smtClean="0">
                                      <a:latin typeface="Cambria Math" panose="02040503050406030204" pitchFamily="18" charset="0"/>
                                    </a:rPr>
                                    <m:t>3</m:t>
                                  </m:r>
                                </m:sup>
                              </m:sSup>
                            </m:den>
                          </m:f>
                        </m:e>
                      </m:func>
                    </m:oMath>
                  </m:oMathPara>
                </a14:m>
                <a:endParaRPr lang="en-CN" dirty="0"/>
              </a:p>
            </p:txBody>
          </p:sp>
        </mc:Choice>
        <mc:Fallback xmlns="">
          <p:sp>
            <p:nvSpPr>
              <p:cNvPr id="24" name="TextBox 23">
                <a:extLst>
                  <a:ext uri="{FF2B5EF4-FFF2-40B4-BE49-F238E27FC236}">
                    <a16:creationId xmlns:a16="http://schemas.microsoft.com/office/drawing/2014/main" id="{C657D76B-C005-DBD1-B892-9BBF688709B1}"/>
                  </a:ext>
                </a:extLst>
              </p:cNvPr>
              <p:cNvSpPr txBox="1">
                <a:spLocks noRot="1" noChangeAspect="1" noMove="1" noResize="1" noEditPoints="1" noAdjustHandles="1" noChangeArrowheads="1" noChangeShapeType="1" noTextEdit="1"/>
              </p:cNvSpPr>
              <p:nvPr/>
            </p:nvSpPr>
            <p:spPr>
              <a:xfrm>
                <a:off x="8497237" y="2983166"/>
                <a:ext cx="2598160" cy="636585"/>
              </a:xfrm>
              <a:prstGeom prst="rect">
                <a:avLst/>
              </a:prstGeom>
              <a:blipFill>
                <a:blip r:embed="rId12"/>
                <a:stretch>
                  <a:fillRect b="-11538"/>
                </a:stretch>
              </a:blipFill>
            </p:spPr>
            <p:txBody>
              <a:bodyPr/>
              <a:lstStyle/>
              <a:p>
                <a:r>
                  <a:rPr lang="en-CN">
                    <a:noFill/>
                  </a:rPr>
                  <a:t> </a:t>
                </a:r>
              </a:p>
            </p:txBody>
          </p:sp>
        </mc:Fallback>
      </mc:AlternateContent>
      <p:sp>
        <p:nvSpPr>
          <p:cNvPr id="10" name="Right Arrow 9">
            <a:extLst>
              <a:ext uri="{FF2B5EF4-FFF2-40B4-BE49-F238E27FC236}">
                <a16:creationId xmlns:a16="http://schemas.microsoft.com/office/drawing/2014/main" id="{F024AF48-156D-4D40-F230-042805FD845B}"/>
              </a:ext>
            </a:extLst>
          </p:cNvPr>
          <p:cNvSpPr/>
          <p:nvPr/>
        </p:nvSpPr>
        <p:spPr>
          <a:xfrm>
            <a:off x="8490443" y="3310034"/>
            <a:ext cx="210210" cy="1189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2" name="Down Arrow 11">
            <a:extLst>
              <a:ext uri="{FF2B5EF4-FFF2-40B4-BE49-F238E27FC236}">
                <a16:creationId xmlns:a16="http://schemas.microsoft.com/office/drawing/2014/main" id="{4B974DDF-F606-F21A-EF53-9C15493F9879}"/>
              </a:ext>
            </a:extLst>
          </p:cNvPr>
          <p:cNvSpPr/>
          <p:nvPr/>
        </p:nvSpPr>
        <p:spPr>
          <a:xfrm>
            <a:off x="5569527" y="4972536"/>
            <a:ext cx="299527" cy="38216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3" name="Right Arrow 12">
            <a:extLst>
              <a:ext uri="{FF2B5EF4-FFF2-40B4-BE49-F238E27FC236}">
                <a16:creationId xmlns:a16="http://schemas.microsoft.com/office/drawing/2014/main" id="{EE13E977-C412-8830-858F-D2E5FD6AE199}"/>
              </a:ext>
            </a:extLst>
          </p:cNvPr>
          <p:cNvSpPr/>
          <p:nvPr/>
        </p:nvSpPr>
        <p:spPr>
          <a:xfrm>
            <a:off x="7488376" y="6241414"/>
            <a:ext cx="838206" cy="1662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113604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A49BF89-92AD-FD3F-5518-89AA5996F0EB}"/>
              </a:ext>
            </a:extLst>
          </p:cNvPr>
          <p:cNvPicPr>
            <a:picLocks noChangeAspect="1"/>
          </p:cNvPicPr>
          <p:nvPr/>
        </p:nvPicPr>
        <p:blipFill>
          <a:blip r:embed="rId2"/>
          <a:stretch>
            <a:fillRect/>
          </a:stretch>
        </p:blipFill>
        <p:spPr>
          <a:xfrm rot="16200000">
            <a:off x="4882287" y="826415"/>
            <a:ext cx="6065874" cy="4549406"/>
          </a:xfrm>
          <a:prstGeom prst="rect">
            <a:avLst/>
          </a:prstGeom>
        </p:spPr>
      </p:pic>
      <p:sp>
        <p:nvSpPr>
          <p:cNvPr id="2" name="TextBox 1">
            <a:extLst>
              <a:ext uri="{FF2B5EF4-FFF2-40B4-BE49-F238E27FC236}">
                <a16:creationId xmlns:a16="http://schemas.microsoft.com/office/drawing/2014/main" id="{CFD0E843-472E-57A8-D7EE-449E4A8CD839}"/>
              </a:ext>
            </a:extLst>
          </p:cNvPr>
          <p:cNvSpPr txBox="1"/>
          <p:nvPr/>
        </p:nvSpPr>
        <p:spPr>
          <a:xfrm>
            <a:off x="8559384" y="6303364"/>
            <a:ext cx="3455232" cy="369332"/>
          </a:xfrm>
          <a:prstGeom prst="rect">
            <a:avLst/>
          </a:prstGeom>
          <a:noFill/>
        </p:spPr>
        <p:txBody>
          <a:bodyPr wrap="square" rtlCol="0">
            <a:spAutoFit/>
          </a:bodyPr>
          <a:lstStyle/>
          <a:p>
            <a:r>
              <a:rPr lang="en-CN" dirty="0">
                <a:solidFill>
                  <a:srgbClr val="FF0000"/>
                </a:solidFill>
              </a:rPr>
              <a:t>原子物理学</a:t>
            </a:r>
            <a:r>
              <a:rPr lang="zh-CN" altLang="en-US" dirty="0">
                <a:solidFill>
                  <a:srgbClr val="FF0000"/>
                </a:solidFill>
              </a:rPr>
              <a:t>，刘玉鑫，北京大学</a:t>
            </a:r>
            <a:endParaRPr lang="en-CN" dirty="0">
              <a:solidFill>
                <a:srgbClr val="FF0000"/>
              </a:solidFill>
            </a:endParaRPr>
          </a:p>
        </p:txBody>
      </p:sp>
      <p:sp>
        <p:nvSpPr>
          <p:cNvPr id="4" name="TextBox 3">
            <a:extLst>
              <a:ext uri="{FF2B5EF4-FFF2-40B4-BE49-F238E27FC236}">
                <a16:creationId xmlns:a16="http://schemas.microsoft.com/office/drawing/2014/main" id="{AFD43152-603B-A447-5086-4C521DC1FD34}"/>
              </a:ext>
            </a:extLst>
          </p:cNvPr>
          <p:cNvSpPr txBox="1"/>
          <p:nvPr/>
        </p:nvSpPr>
        <p:spPr>
          <a:xfrm>
            <a:off x="1416316" y="1932039"/>
            <a:ext cx="3568639" cy="1938992"/>
          </a:xfrm>
          <a:prstGeom prst="rect">
            <a:avLst/>
          </a:prstGeom>
          <a:noFill/>
        </p:spPr>
        <p:txBody>
          <a:bodyPr wrap="square" rtlCol="0">
            <a:spAutoFit/>
          </a:bodyPr>
          <a:lstStyle/>
          <a:p>
            <a:r>
              <a:rPr lang="en-CN" sz="6000" dirty="0">
                <a:latin typeface="Songti TC" panose="02010600040101010101" pitchFamily="2" charset="-120"/>
                <a:ea typeface="Songti TC" panose="02010600040101010101" pitchFamily="2" charset="-120"/>
              </a:rPr>
              <a:t>类比方法</a:t>
            </a:r>
          </a:p>
          <a:p>
            <a:r>
              <a:rPr lang="en-CN" sz="6000" dirty="0">
                <a:latin typeface="Songti TC" panose="02010600040101010101" pitchFamily="2" charset="-120"/>
                <a:ea typeface="Songti TC" panose="02010600040101010101" pitchFamily="2" charset="-120"/>
              </a:rPr>
              <a:t>大胆外推</a:t>
            </a:r>
          </a:p>
        </p:txBody>
      </p:sp>
    </p:spTree>
    <p:extLst>
      <p:ext uri="{BB962C8B-B14F-4D97-AF65-F5344CB8AC3E}">
        <p14:creationId xmlns:p14="http://schemas.microsoft.com/office/powerpoint/2010/main" val="3414960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60E8493-A5FE-BBB7-29FE-F86B45B6CD9D}"/>
                  </a:ext>
                </a:extLst>
              </p:cNvPr>
              <p:cNvSpPr txBox="1"/>
              <p:nvPr/>
            </p:nvSpPr>
            <p:spPr>
              <a:xfrm>
                <a:off x="942109" y="1233055"/>
                <a:ext cx="10612581" cy="923330"/>
              </a:xfrm>
              <a:prstGeom prst="rect">
                <a:avLst/>
              </a:prstGeom>
              <a:noFill/>
            </p:spPr>
            <p:txBody>
              <a:bodyPr wrap="square" rtlCol="0">
                <a:spAutoFit/>
              </a:bodyPr>
              <a:lstStyle/>
              <a:p>
                <a:pPr marL="285750" indent="-285750">
                  <a:buFont typeface="Arial" panose="020B0604020202020204" pitchFamily="34" charset="0"/>
                  <a:buChar char="•"/>
                </a:pPr>
                <a:r>
                  <a:rPr lang="en-CN" dirty="0"/>
                  <a:t>BE distribution function</a:t>
                </a:r>
                <a:r>
                  <a:rPr lang="zh-CN" altLang="en-US" dirty="0"/>
                  <a:t>（光子是</a:t>
                </a:r>
                <a:r>
                  <a:rPr lang="en-US" altLang="zh-CN" dirty="0"/>
                  <a:t>boson</a:t>
                </a:r>
                <a:r>
                  <a:rPr lang="zh-CN" altLang="en-US" dirty="0"/>
                  <a:t>）</a:t>
                </a:r>
                <a:endParaRPr lang="en-CN" dirty="0"/>
              </a:p>
              <a:p>
                <a:pPr marL="285750" indent="-285750">
                  <a:buFont typeface="Arial" panose="020B0604020202020204" pitchFamily="34" charset="0"/>
                  <a:buChar char="•"/>
                </a:pPr>
                <a:r>
                  <a:rPr lang="en-US" dirty="0">
                    <a:solidFill>
                      <a:srgbClr val="FF0000"/>
                    </a:solidFill>
                  </a:rPr>
                  <a:t>C</a:t>
                </a:r>
                <a:r>
                  <a:rPr lang="en-CN" dirty="0">
                    <a:solidFill>
                      <a:srgbClr val="FF0000"/>
                    </a:solidFill>
                  </a:rPr>
                  <a:t>hemical potential is zero!!(查笔记)</a:t>
                </a:r>
              </a:p>
              <a:p>
                <a:pPr marL="285750" indent="-285750">
                  <a:buFont typeface="Arial" panose="020B0604020202020204" pitchFamily="34" charset="0"/>
                  <a:buChar char="•"/>
                </a:pPr>
                <a14:m>
                  <m:oMath xmlns:m="http://schemas.openxmlformats.org/officeDocument/2006/math">
                    <m:r>
                      <a:rPr lang="en-CN"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𝑝𝑐</m:t>
                    </m:r>
                  </m:oMath>
                </a14:m>
                <a:r>
                  <a:rPr lang="zh-CN" altLang="en-US" dirty="0"/>
                  <a:t>（色散关系）</a:t>
                </a:r>
                <a:endParaRPr lang="en-CN" dirty="0"/>
              </a:p>
            </p:txBody>
          </p:sp>
        </mc:Choice>
        <mc:Fallback xmlns="">
          <p:sp>
            <p:nvSpPr>
              <p:cNvPr id="2" name="TextBox 1">
                <a:extLst>
                  <a:ext uri="{FF2B5EF4-FFF2-40B4-BE49-F238E27FC236}">
                    <a16:creationId xmlns:a16="http://schemas.microsoft.com/office/drawing/2014/main" id="{060E8493-A5FE-BBB7-29FE-F86B45B6CD9D}"/>
                  </a:ext>
                </a:extLst>
              </p:cNvPr>
              <p:cNvSpPr txBox="1">
                <a:spLocks noRot="1" noChangeAspect="1" noMove="1" noResize="1" noEditPoints="1" noAdjustHandles="1" noChangeArrowheads="1" noChangeShapeType="1" noTextEdit="1"/>
              </p:cNvSpPr>
              <p:nvPr/>
            </p:nvSpPr>
            <p:spPr>
              <a:xfrm>
                <a:off x="942109" y="1233055"/>
                <a:ext cx="10612581" cy="923330"/>
              </a:xfrm>
              <a:prstGeom prst="rect">
                <a:avLst/>
              </a:prstGeom>
              <a:blipFill>
                <a:blip r:embed="rId2"/>
                <a:stretch>
                  <a:fillRect l="-359" t="-1351" b="-1081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0BCF5F4-D21C-2A23-F117-E3E84DE731F9}"/>
                  </a:ext>
                </a:extLst>
              </p:cNvPr>
              <p:cNvSpPr txBox="1"/>
              <p:nvPr/>
            </p:nvSpPr>
            <p:spPr>
              <a:xfrm>
                <a:off x="3006437" y="280947"/>
                <a:ext cx="5666509" cy="6295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f>
                        <m:fPr>
                          <m:ctrlPr>
                            <a:rPr lang="en-CN"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CN" i="1" smtClean="0">
                                  <a:latin typeface="Cambria Math" panose="02040503050406030204" pitchFamily="18" charset="0"/>
                                </a:rPr>
                              </m:ctrlPr>
                            </m:sSupPr>
                            <m:e>
                              <m:r>
                                <a:rPr lang="en-US" b="0" i="1" smtClean="0">
                                  <a:latin typeface="Cambria Math" panose="02040503050406030204" pitchFamily="18" charset="0"/>
                                </a:rPr>
                                <m:t>𝑒</m:t>
                              </m:r>
                            </m:e>
                            <m:sup>
                              <m:d>
                                <m:dPr>
                                  <m:ctrlPr>
                                    <a:rPr lang="en-CN" i="1" smtClean="0">
                                      <a:latin typeface="Cambria Math" panose="02040503050406030204" pitchFamily="18" charset="0"/>
                                    </a:rPr>
                                  </m:ctrlPr>
                                </m:dPr>
                                <m:e>
                                  <m:r>
                                    <a:rPr lang="en-CN"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rPr>
                            <m:t>−1</m:t>
                          </m:r>
                        </m:den>
                      </m:f>
                    </m:oMath>
                  </m:oMathPara>
                </a14:m>
                <a:endParaRPr lang="en-CN" dirty="0"/>
              </a:p>
            </p:txBody>
          </p:sp>
        </mc:Choice>
        <mc:Fallback xmlns="">
          <p:sp>
            <p:nvSpPr>
              <p:cNvPr id="3" name="TextBox 2">
                <a:extLst>
                  <a:ext uri="{FF2B5EF4-FFF2-40B4-BE49-F238E27FC236}">
                    <a16:creationId xmlns:a16="http://schemas.microsoft.com/office/drawing/2014/main" id="{E0BCF5F4-D21C-2A23-F117-E3E84DE731F9}"/>
                  </a:ext>
                </a:extLst>
              </p:cNvPr>
              <p:cNvSpPr txBox="1">
                <a:spLocks noRot="1" noChangeAspect="1" noMove="1" noResize="1" noEditPoints="1" noAdjustHandles="1" noChangeArrowheads="1" noChangeShapeType="1" noTextEdit="1"/>
              </p:cNvSpPr>
              <p:nvPr/>
            </p:nvSpPr>
            <p:spPr>
              <a:xfrm>
                <a:off x="3006437" y="280947"/>
                <a:ext cx="5666509" cy="629596"/>
              </a:xfrm>
              <a:prstGeom prst="rect">
                <a:avLst/>
              </a:prstGeom>
              <a:blipFill>
                <a:blip r:embed="rId3"/>
                <a:stretch>
                  <a:fillRect b="-20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4C86837-65DD-1AB2-374D-274D7EC2392B}"/>
                  </a:ext>
                </a:extLst>
              </p:cNvPr>
              <p:cNvSpPr txBox="1"/>
              <p:nvPr/>
            </p:nvSpPr>
            <p:spPr>
              <a:xfrm>
                <a:off x="2812473" y="2156385"/>
                <a:ext cx="5860473" cy="83856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=2 </m:t>
                      </m:r>
                      <m:r>
                        <a:rPr lang="en-US" b="0" i="1" smtClean="0">
                          <a:latin typeface="Cambria Math" panose="02040503050406030204" pitchFamily="18" charset="0"/>
                        </a:rPr>
                        <m:t>𝑉</m:t>
                      </m:r>
                      <m:nary>
                        <m:naryPr>
                          <m:limLoc m:val="undOvr"/>
                          <m:subHide m:val="on"/>
                          <m:supHide m:val="on"/>
                          <m:ctrlPr>
                            <a:rPr lang="en-US" b="0" i="1" smtClean="0">
                              <a:latin typeface="Cambria Math" panose="02040503050406030204" pitchFamily="18" charset="0"/>
                            </a:rPr>
                          </m:ctrlPr>
                        </m:naryPr>
                        <m:sub/>
                        <m:sup/>
                        <m:e>
                          <m:r>
                            <a:rPr lang="en-US" b="0" i="1" smtClean="0">
                              <a:solidFill>
                                <a:srgbClr val="7030A0"/>
                              </a:solidFill>
                              <a:latin typeface="Cambria Math" panose="02040503050406030204" pitchFamily="18" charset="0"/>
                            </a:rPr>
                            <m:t>𝑝𝑐</m:t>
                          </m:r>
                          <m:r>
                            <a:rPr lang="en-US" b="0" i="1" smtClean="0">
                              <a:latin typeface="Cambria Math" panose="02040503050406030204" pitchFamily="18" charset="0"/>
                            </a:rPr>
                            <m:t> </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3</m:t>
                                  </m:r>
                                </m:sup>
                              </m:sSup>
                              <m:r>
                                <a:rPr lang="en-US" b="0" i="1" smtClean="0">
                                  <a:latin typeface="Cambria Math" panose="02040503050406030204" pitchFamily="18" charset="0"/>
                                </a:rPr>
                                <m:t>𝑝</m:t>
                              </m:r>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ℏ</m:t>
                                      </m:r>
                                    </m:e>
                                  </m:d>
                                </m:e>
                                <m:sup>
                                  <m:r>
                                    <a:rPr lang="en-US" b="0" i="1" smtClean="0">
                                      <a:latin typeface="Cambria Math" panose="02040503050406030204" pitchFamily="18" charset="0"/>
                                    </a:rPr>
                                    <m:t>3</m:t>
                                  </m:r>
                                </m:sup>
                              </m:sSup>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𝑉</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𝜋</m:t>
                                  </m:r>
                                </m:e>
                                <m:sup>
                                  <m:r>
                                    <a:rPr lang="en-US" b="0" i="1" smtClean="0">
                                      <a:latin typeface="Cambria Math" panose="02040503050406030204" pitchFamily="18" charset="0"/>
                                    </a:rPr>
                                    <m:t>2</m:t>
                                  </m:r>
                                </m:sup>
                              </m:sSup>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ℏ</m:t>
                                      </m:r>
                                      <m:r>
                                        <a:rPr lang="en-US" b="0" i="1" smtClean="0">
                                          <a:latin typeface="Cambria Math" panose="02040503050406030204" pitchFamily="18" charset="0"/>
                                          <a:ea typeface="Cambria Math" panose="02040503050406030204" pitchFamily="18" charset="0"/>
                                        </a:rPr>
                                        <m:t>𝑐</m:t>
                                      </m:r>
                                    </m:e>
                                  </m:d>
                                </m:e>
                                <m:sup>
                                  <m:r>
                                    <a:rPr lang="en-US" b="0" i="1" smtClean="0">
                                      <a:latin typeface="Cambria Math" panose="02040503050406030204" pitchFamily="18" charset="0"/>
                                    </a:rPr>
                                    <m:t>3</m:t>
                                  </m:r>
                                </m:sup>
                              </m:sSup>
                            </m:den>
                          </m:f>
                          <m:nary>
                            <m:naryPr>
                              <m:limLoc m:val="undOvr"/>
                              <m:subHide m:val="on"/>
                              <m:supHide m:val="on"/>
                              <m:ctrlPr>
                                <a:rPr lang="en-US" b="0" i="1" smtClean="0">
                                  <a:latin typeface="Cambria Math" panose="02040503050406030204" pitchFamily="18" charset="0"/>
                                </a:rPr>
                              </m:ctrlPr>
                            </m:naryPr>
                            <m:sub/>
                            <m:sup/>
                            <m:e>
                              <m:sSup>
                                <m:sSupPr>
                                  <m:ctrlPr>
                                    <a:rPr lang="en-US" b="0" i="1" smtClean="0">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𝜀</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𝜀</m:t>
                              </m:r>
                            </m:e>
                          </m:nary>
                        </m:e>
                      </m:nary>
                    </m:oMath>
                  </m:oMathPara>
                </a14:m>
                <a:endParaRPr lang="en-CN" dirty="0"/>
              </a:p>
            </p:txBody>
          </p:sp>
        </mc:Choice>
        <mc:Fallback xmlns="">
          <p:sp>
            <p:nvSpPr>
              <p:cNvPr id="4" name="TextBox 3">
                <a:extLst>
                  <a:ext uri="{FF2B5EF4-FFF2-40B4-BE49-F238E27FC236}">
                    <a16:creationId xmlns:a16="http://schemas.microsoft.com/office/drawing/2014/main" id="{04C86837-65DD-1AB2-374D-274D7EC2392B}"/>
                  </a:ext>
                </a:extLst>
              </p:cNvPr>
              <p:cNvSpPr txBox="1">
                <a:spLocks noRot="1" noChangeAspect="1" noMove="1" noResize="1" noEditPoints="1" noAdjustHandles="1" noChangeArrowheads="1" noChangeShapeType="1" noTextEdit="1"/>
              </p:cNvSpPr>
              <p:nvPr/>
            </p:nvSpPr>
            <p:spPr>
              <a:xfrm>
                <a:off x="2812473" y="2156385"/>
                <a:ext cx="5860473" cy="838563"/>
              </a:xfrm>
              <a:prstGeom prst="rect">
                <a:avLst/>
              </a:prstGeom>
              <a:blipFill>
                <a:blip r:embed="rId4"/>
                <a:stretch>
                  <a:fillRect t="-126866" b="-182090"/>
                </a:stretch>
              </a:blipFill>
            </p:spPr>
            <p:txBody>
              <a:bodyPr/>
              <a:lstStyle/>
              <a:p>
                <a:r>
                  <a:rPr lang="en-CN">
                    <a:noFill/>
                  </a:rPr>
                  <a:t> </a:t>
                </a:r>
              </a:p>
            </p:txBody>
          </p:sp>
        </mc:Fallback>
      </mc:AlternateContent>
      <p:sp>
        <p:nvSpPr>
          <p:cNvPr id="5" name="Down Arrow 4">
            <a:extLst>
              <a:ext uri="{FF2B5EF4-FFF2-40B4-BE49-F238E27FC236}">
                <a16:creationId xmlns:a16="http://schemas.microsoft.com/office/drawing/2014/main" id="{CADA374F-B3D5-F9FA-0BF3-0D08DB2E7E0B}"/>
              </a:ext>
            </a:extLst>
          </p:cNvPr>
          <p:cNvSpPr/>
          <p:nvPr/>
        </p:nvSpPr>
        <p:spPr>
          <a:xfrm>
            <a:off x="5500255" y="2994948"/>
            <a:ext cx="339436" cy="6210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D42C1AE-F7A4-A57C-EBD6-C9DA2BA18C9B}"/>
                  </a:ext>
                </a:extLst>
              </p:cNvPr>
              <p:cNvSpPr txBox="1"/>
              <p:nvPr/>
            </p:nvSpPr>
            <p:spPr>
              <a:xfrm>
                <a:off x="2812473" y="3863053"/>
                <a:ext cx="5860473" cy="8188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𝑉</m:t>
                          </m:r>
                        </m:num>
                        <m:den>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𝜋</m:t>
                              </m:r>
                            </m:e>
                            <m:sup>
                              <m:r>
                                <a:rPr lang="en-US" i="1">
                                  <a:latin typeface="Cambria Math" panose="02040503050406030204" pitchFamily="18" charset="0"/>
                                </a:rPr>
                                <m:t>2</m:t>
                              </m:r>
                            </m:sup>
                          </m:sSup>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ea typeface="Cambria Math" panose="02040503050406030204" pitchFamily="18" charset="0"/>
                                    </a:rPr>
                                    <m:t>ℏ</m:t>
                                  </m:r>
                                  <m:r>
                                    <a:rPr lang="en-US" i="1">
                                      <a:latin typeface="Cambria Math" panose="02040503050406030204" pitchFamily="18" charset="0"/>
                                      <a:ea typeface="Cambria Math" panose="02040503050406030204" pitchFamily="18" charset="0"/>
                                    </a:rPr>
                                    <m:t>𝑐</m:t>
                                  </m:r>
                                </m:e>
                              </m:d>
                            </m:e>
                            <m:sup>
                              <m:r>
                                <a:rPr lang="en-US" i="1">
                                  <a:latin typeface="Cambria Math" panose="02040503050406030204" pitchFamily="18" charset="0"/>
                                </a:rPr>
                                <m:t>3</m:t>
                              </m:r>
                            </m:sup>
                          </m:sSup>
                        </m:den>
                      </m:f>
                      <m:nary>
                        <m:naryPr>
                          <m:limLoc m:val="undOvr"/>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𝜀</m:t>
                              </m:r>
                            </m:e>
                            <m:sup>
                              <m:r>
                                <a:rPr lang="en-US" i="1">
                                  <a:latin typeface="Cambria Math" panose="02040503050406030204" pitchFamily="18" charset="0"/>
                                </a:rPr>
                                <m:t>3</m:t>
                              </m:r>
                            </m:sup>
                          </m:sSup>
                          <m:f>
                            <m:fPr>
                              <m:ctrlPr>
                                <a:rPr lang="en-CN" i="1">
                                  <a:latin typeface="Cambria Math" panose="02040503050406030204" pitchFamily="18" charset="0"/>
                                </a:rPr>
                              </m:ctrlPr>
                            </m:fPr>
                            <m:num>
                              <m:r>
                                <a:rPr lang="en-US" i="1">
                                  <a:latin typeface="Cambria Math" panose="02040503050406030204" pitchFamily="18" charset="0"/>
                                </a:rPr>
                                <m:t>1</m:t>
                              </m:r>
                            </m:num>
                            <m:den>
                              <m:sSup>
                                <m:sSupPr>
                                  <m:ctrlPr>
                                    <a:rPr lang="en-CN" i="1">
                                      <a:latin typeface="Cambria Math" panose="02040503050406030204" pitchFamily="18" charset="0"/>
                                    </a:rPr>
                                  </m:ctrlPr>
                                </m:sSupPr>
                                <m:e>
                                  <m:r>
                                    <a:rPr lang="en-US" i="1">
                                      <a:latin typeface="Cambria Math" panose="02040503050406030204" pitchFamily="18" charset="0"/>
                                    </a:rPr>
                                    <m:t>𝑒</m:t>
                                  </m:r>
                                </m:e>
                                <m:sup>
                                  <m:d>
                                    <m:dPr>
                                      <m:ctrlPr>
                                        <a:rPr lang="en-CN" i="1">
                                          <a:latin typeface="Cambria Math" panose="02040503050406030204" pitchFamily="18" charset="0"/>
                                        </a:rPr>
                                      </m:ctrlPr>
                                    </m:dPr>
                                    <m:e>
                                      <m:r>
                                        <a:rPr lang="en-CN" i="1">
                                          <a:latin typeface="Cambria Math" panose="02040503050406030204" pitchFamily="18" charset="0"/>
                                          <a:ea typeface="Cambria Math" panose="02040503050406030204" pitchFamily="18" charset="0"/>
                                        </a:rPr>
                                        <m:t>𝜀</m:t>
                                      </m:r>
                                    </m:e>
                                  </m:d>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𝜏</m:t>
                                  </m:r>
                                </m:sup>
                              </m:sSup>
                              <m:r>
                                <a:rPr lang="en-US" i="1">
                                  <a:latin typeface="Cambria Math" panose="02040503050406030204" pitchFamily="18" charset="0"/>
                                </a:rPr>
                                <m:t>−1</m:t>
                              </m:r>
                            </m:den>
                          </m:f>
                          <m:r>
                            <a:rPr lang="en-US" i="1">
                              <a:latin typeface="Cambria Math" panose="02040503050406030204" pitchFamily="18" charset="0"/>
                            </a:rPr>
                            <m:t>𝑑</m:t>
                          </m:r>
                          <m:r>
                            <a:rPr lang="en-US" i="1">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e>
                      </m:nary>
                    </m:oMath>
                  </m:oMathPara>
                </a14:m>
                <a:endParaRPr lang="en-CN" dirty="0"/>
              </a:p>
            </p:txBody>
          </p:sp>
        </mc:Choice>
        <mc:Fallback xmlns="">
          <p:sp>
            <p:nvSpPr>
              <p:cNvPr id="6" name="TextBox 5">
                <a:extLst>
                  <a:ext uri="{FF2B5EF4-FFF2-40B4-BE49-F238E27FC236}">
                    <a16:creationId xmlns:a16="http://schemas.microsoft.com/office/drawing/2014/main" id="{0D42C1AE-F7A4-A57C-EBD6-C9DA2BA18C9B}"/>
                  </a:ext>
                </a:extLst>
              </p:cNvPr>
              <p:cNvSpPr txBox="1">
                <a:spLocks noRot="1" noChangeAspect="1" noMove="1" noResize="1" noEditPoints="1" noAdjustHandles="1" noChangeArrowheads="1" noChangeShapeType="1" noTextEdit="1"/>
              </p:cNvSpPr>
              <p:nvPr/>
            </p:nvSpPr>
            <p:spPr>
              <a:xfrm>
                <a:off x="2812473" y="3863053"/>
                <a:ext cx="5860473" cy="818814"/>
              </a:xfrm>
              <a:prstGeom prst="rect">
                <a:avLst/>
              </a:prstGeom>
              <a:blipFill>
                <a:blip r:embed="rId5"/>
                <a:stretch>
                  <a:fillRect t="-132308" b="-190769"/>
                </a:stretch>
              </a:blipFill>
            </p:spPr>
            <p:txBody>
              <a:bodyPr/>
              <a:lstStyle/>
              <a:p>
                <a:r>
                  <a:rPr lang="en-CN">
                    <a:noFill/>
                  </a:rPr>
                  <a:t> </a:t>
                </a:r>
              </a:p>
            </p:txBody>
          </p:sp>
        </mc:Fallback>
      </mc:AlternateContent>
    </p:spTree>
    <p:extLst>
      <p:ext uri="{BB962C8B-B14F-4D97-AF65-F5344CB8AC3E}">
        <p14:creationId xmlns:p14="http://schemas.microsoft.com/office/powerpoint/2010/main" val="2490062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DE7E95-9100-0AD6-EB38-DC433E19A094}"/>
              </a:ext>
            </a:extLst>
          </p:cNvPr>
          <p:cNvSpPr txBox="1"/>
          <p:nvPr/>
        </p:nvSpPr>
        <p:spPr>
          <a:xfrm>
            <a:off x="332509" y="304800"/>
            <a:ext cx="5915891" cy="369332"/>
          </a:xfrm>
          <a:prstGeom prst="rect">
            <a:avLst/>
          </a:prstGeom>
          <a:noFill/>
        </p:spPr>
        <p:txBody>
          <a:bodyPr wrap="square" rtlCol="0">
            <a:spAutoFit/>
          </a:bodyPr>
          <a:lstStyle/>
          <a:p>
            <a:r>
              <a:rPr lang="en-CN" dirty="0"/>
              <a:t>Grand potential</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730343A-9F13-E579-8C3E-C66FB4869CFB}"/>
                  </a:ext>
                </a:extLst>
              </p:cNvPr>
              <p:cNvSpPr txBox="1"/>
              <p:nvPr/>
            </p:nvSpPr>
            <p:spPr>
              <a:xfrm>
                <a:off x="2382982" y="36247"/>
                <a:ext cx="7204364" cy="8188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l-GR" i="1" smtClean="0">
                          <a:latin typeface="Cambria Math" panose="02040503050406030204" pitchFamily="18" charset="0"/>
                          <a:ea typeface="Cambria Math" panose="02040503050406030204" pitchFamily="18" charset="0"/>
                        </a:rPr>
                        <m:t>Ω</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nary>
                        <m:naryPr>
                          <m:chr m:val="∑"/>
                          <m:subHide m:val="on"/>
                          <m:supHide m:val="on"/>
                          <m:ctrlPr>
                            <a:rPr lang="en-US" b="0" i="1" smtClean="0">
                              <a:latin typeface="Cambria Math" panose="02040503050406030204" pitchFamily="18" charset="0"/>
                              <a:ea typeface="Cambria Math" panose="02040503050406030204" pitchFamily="18" charset="0"/>
                            </a:rPr>
                          </m:ctrlPr>
                        </m:naryPr>
                        <m:sub/>
                        <m:sup/>
                        <m:e>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e>
                              </m:d>
                            </m:e>
                          </m:func>
                        </m:e>
                      </m:nary>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f>
                        <m:fPr>
                          <m:ctrlPr>
                            <a:rPr lang="en-US" i="1">
                              <a:latin typeface="Cambria Math" panose="02040503050406030204" pitchFamily="18" charset="0"/>
                            </a:rPr>
                          </m:ctrlPr>
                        </m:fPr>
                        <m:num>
                          <m:r>
                            <a:rPr lang="en-US" i="1">
                              <a:latin typeface="Cambria Math" panose="02040503050406030204" pitchFamily="18" charset="0"/>
                            </a:rPr>
                            <m:t>𝑉</m:t>
                          </m:r>
                        </m:num>
                        <m:den>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𝜋</m:t>
                              </m:r>
                            </m:e>
                            <m:sup>
                              <m:r>
                                <a:rPr lang="en-US" i="1">
                                  <a:latin typeface="Cambria Math" panose="02040503050406030204" pitchFamily="18" charset="0"/>
                                </a:rPr>
                                <m:t>2</m:t>
                              </m:r>
                            </m:sup>
                          </m:sSup>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ea typeface="Cambria Math" panose="02040503050406030204" pitchFamily="18" charset="0"/>
                                    </a:rPr>
                                    <m:t>ℏ</m:t>
                                  </m:r>
                                  <m:r>
                                    <a:rPr lang="en-US" i="1">
                                      <a:latin typeface="Cambria Math" panose="02040503050406030204" pitchFamily="18" charset="0"/>
                                      <a:ea typeface="Cambria Math" panose="02040503050406030204" pitchFamily="18" charset="0"/>
                                    </a:rPr>
                                    <m:t>𝑐</m:t>
                                  </m:r>
                                </m:e>
                              </m:d>
                            </m:e>
                            <m:sup>
                              <m:r>
                                <a:rPr lang="en-US" i="1">
                                  <a:latin typeface="Cambria Math" panose="02040503050406030204" pitchFamily="18" charset="0"/>
                                </a:rPr>
                                <m:t>3</m:t>
                              </m:r>
                            </m:sup>
                          </m:sSup>
                        </m:den>
                      </m:f>
                      <m:nary>
                        <m:naryPr>
                          <m:limLoc m:val="undOvr"/>
                          <m:subHide m:val="on"/>
                          <m:supHide m:val="on"/>
                          <m:ctrlPr>
                            <a:rPr lang="en-US" i="1">
                              <a:latin typeface="Cambria Math" panose="02040503050406030204" pitchFamily="18" charset="0"/>
                            </a:rPr>
                          </m:ctrlPr>
                        </m:naryPr>
                        <m:sub/>
                        <m:sup/>
                        <m:e>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𝜀</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𝜏</m:t>
                                      </m:r>
                                    </m:sup>
                                  </m:sSup>
                                </m:e>
                              </m:d>
                            </m:e>
                          </m:func>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𝜀</m:t>
                              </m:r>
                            </m:e>
                            <m:sup>
                              <m:r>
                                <a:rPr lang="en-US" b="0" i="1" smtClean="0">
                                  <a:latin typeface="Cambria Math" panose="02040503050406030204" pitchFamily="18" charset="0"/>
                                  <a:ea typeface="Cambria Math" panose="02040503050406030204" pitchFamily="18" charset="0"/>
                                </a:rPr>
                                <m:t>2</m:t>
                              </m:r>
                            </m:sup>
                          </m:sSup>
                          <m:r>
                            <a:rPr lang="en-US" i="1">
                              <a:latin typeface="Cambria Math" panose="02040503050406030204" pitchFamily="18" charset="0"/>
                            </a:rPr>
                            <m:t>𝑑</m:t>
                          </m:r>
                          <m:r>
                            <a:rPr lang="en-US" i="1">
                              <a:latin typeface="Cambria Math" panose="02040503050406030204" pitchFamily="18" charset="0"/>
                              <a:ea typeface="Cambria Math" panose="02040503050406030204" pitchFamily="18" charset="0"/>
                            </a:rPr>
                            <m:t>𝜀</m:t>
                          </m:r>
                        </m:e>
                      </m:nary>
                    </m:oMath>
                  </m:oMathPara>
                </a14:m>
                <a:endParaRPr lang="en-CN" dirty="0"/>
              </a:p>
            </p:txBody>
          </p:sp>
        </mc:Choice>
        <mc:Fallback xmlns="">
          <p:sp>
            <p:nvSpPr>
              <p:cNvPr id="3" name="TextBox 2">
                <a:extLst>
                  <a:ext uri="{FF2B5EF4-FFF2-40B4-BE49-F238E27FC236}">
                    <a16:creationId xmlns:a16="http://schemas.microsoft.com/office/drawing/2014/main" id="{8730343A-9F13-E579-8C3E-C66FB4869CFB}"/>
                  </a:ext>
                </a:extLst>
              </p:cNvPr>
              <p:cNvSpPr txBox="1">
                <a:spLocks noRot="1" noChangeAspect="1" noMove="1" noResize="1" noEditPoints="1" noAdjustHandles="1" noChangeArrowheads="1" noChangeShapeType="1" noTextEdit="1"/>
              </p:cNvSpPr>
              <p:nvPr/>
            </p:nvSpPr>
            <p:spPr>
              <a:xfrm>
                <a:off x="2382982" y="36247"/>
                <a:ext cx="7204364" cy="818814"/>
              </a:xfrm>
              <a:prstGeom prst="rect">
                <a:avLst/>
              </a:prstGeom>
              <a:blipFill>
                <a:blip r:embed="rId2"/>
                <a:stretch>
                  <a:fillRect t="-130303" b="-186364"/>
                </a:stretch>
              </a:blipFill>
            </p:spPr>
            <p:txBody>
              <a:bodyPr/>
              <a:lstStyle/>
              <a:p>
                <a:r>
                  <a:rPr lang="en-CN">
                    <a:noFill/>
                  </a:rPr>
                  <a:t> </a:t>
                </a:r>
              </a:p>
            </p:txBody>
          </p:sp>
        </mc:Fallback>
      </mc:AlternateContent>
      <p:sp>
        <p:nvSpPr>
          <p:cNvPr id="4" name="Down Arrow 3">
            <a:extLst>
              <a:ext uri="{FF2B5EF4-FFF2-40B4-BE49-F238E27FC236}">
                <a16:creationId xmlns:a16="http://schemas.microsoft.com/office/drawing/2014/main" id="{E7433671-A22A-1F2B-6C17-07BACD5ADBFC}"/>
              </a:ext>
            </a:extLst>
          </p:cNvPr>
          <p:cNvSpPr/>
          <p:nvPr/>
        </p:nvSpPr>
        <p:spPr>
          <a:xfrm>
            <a:off x="5784273" y="942685"/>
            <a:ext cx="401781" cy="8693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43C3B57-1BA0-B65E-4A92-6AFC11874F0F}"/>
                  </a:ext>
                </a:extLst>
              </p:cNvPr>
              <p:cNvSpPr txBox="1"/>
              <p:nvPr/>
            </p:nvSpPr>
            <p:spPr>
              <a:xfrm>
                <a:off x="6248400" y="1066194"/>
                <a:ext cx="886691" cy="5648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𝜀</m:t>
                          </m:r>
                        </m:num>
                        <m:den>
                          <m:r>
                            <a:rPr lang="en-US" b="0" i="1" smtClean="0">
                              <a:latin typeface="Cambria Math" panose="02040503050406030204" pitchFamily="18" charset="0"/>
                              <a:ea typeface="Cambria Math" panose="02040503050406030204" pitchFamily="18" charset="0"/>
                            </a:rPr>
                            <m:t>𝜏</m:t>
                          </m:r>
                        </m:den>
                      </m:f>
                    </m:oMath>
                  </m:oMathPara>
                </a14:m>
                <a:endParaRPr lang="en-CN" dirty="0"/>
              </a:p>
            </p:txBody>
          </p:sp>
        </mc:Choice>
        <mc:Fallback xmlns="">
          <p:sp>
            <p:nvSpPr>
              <p:cNvPr id="5" name="TextBox 4">
                <a:extLst>
                  <a:ext uri="{FF2B5EF4-FFF2-40B4-BE49-F238E27FC236}">
                    <a16:creationId xmlns:a16="http://schemas.microsoft.com/office/drawing/2014/main" id="{643C3B57-1BA0-B65E-4A92-6AFC11874F0F}"/>
                  </a:ext>
                </a:extLst>
              </p:cNvPr>
              <p:cNvSpPr txBox="1">
                <a:spLocks noRot="1" noChangeAspect="1" noMove="1" noResize="1" noEditPoints="1" noAdjustHandles="1" noChangeArrowheads="1" noChangeShapeType="1" noTextEdit="1"/>
              </p:cNvSpPr>
              <p:nvPr/>
            </p:nvSpPr>
            <p:spPr>
              <a:xfrm>
                <a:off x="6248400" y="1066194"/>
                <a:ext cx="886691" cy="564898"/>
              </a:xfrm>
              <a:prstGeom prst="rect">
                <a:avLst/>
              </a:prstGeom>
              <a:blipFill>
                <a:blip r:embed="rId3"/>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0E6085F-9B42-0BC2-0412-08F624DAD8CF}"/>
                  </a:ext>
                </a:extLst>
              </p:cNvPr>
              <p:cNvSpPr txBox="1"/>
              <p:nvPr/>
            </p:nvSpPr>
            <p:spPr>
              <a:xfrm>
                <a:off x="2382981" y="1777517"/>
                <a:ext cx="7204364" cy="83856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l-GR" i="1" smtClean="0">
                          <a:latin typeface="Cambria Math" panose="02040503050406030204" pitchFamily="18" charset="0"/>
                          <a:ea typeface="Cambria Math" panose="02040503050406030204" pitchFamily="18" charset="0"/>
                        </a:rPr>
                        <m:t>Ω</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𝜏</m:t>
                          </m:r>
                        </m:e>
                        <m:sup>
                          <m:r>
                            <a:rPr lang="en-US" b="0" i="1" smtClean="0">
                              <a:latin typeface="Cambria Math" panose="02040503050406030204" pitchFamily="18" charset="0"/>
                              <a:ea typeface="Cambria Math" panose="02040503050406030204" pitchFamily="18" charset="0"/>
                            </a:rPr>
                            <m:t>4</m:t>
                          </m:r>
                        </m:sup>
                      </m:sSup>
                      <m:f>
                        <m:fPr>
                          <m:ctrlPr>
                            <a:rPr lang="en-US" i="1">
                              <a:latin typeface="Cambria Math" panose="02040503050406030204" pitchFamily="18" charset="0"/>
                            </a:rPr>
                          </m:ctrlPr>
                        </m:fPr>
                        <m:num>
                          <m:r>
                            <a:rPr lang="en-US" i="1">
                              <a:latin typeface="Cambria Math" panose="02040503050406030204" pitchFamily="18" charset="0"/>
                            </a:rPr>
                            <m:t>𝑉</m:t>
                          </m:r>
                        </m:num>
                        <m:den>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𝜋</m:t>
                              </m:r>
                            </m:e>
                            <m:sup>
                              <m:r>
                                <a:rPr lang="en-US" i="1">
                                  <a:latin typeface="Cambria Math" panose="02040503050406030204" pitchFamily="18" charset="0"/>
                                </a:rPr>
                                <m:t>2</m:t>
                              </m:r>
                            </m:sup>
                          </m:sSup>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ea typeface="Cambria Math" panose="02040503050406030204" pitchFamily="18" charset="0"/>
                                    </a:rPr>
                                    <m:t>ℏ</m:t>
                                  </m:r>
                                  <m:r>
                                    <a:rPr lang="en-US" i="1">
                                      <a:latin typeface="Cambria Math" panose="02040503050406030204" pitchFamily="18" charset="0"/>
                                      <a:ea typeface="Cambria Math" panose="02040503050406030204" pitchFamily="18" charset="0"/>
                                    </a:rPr>
                                    <m:t>𝑐</m:t>
                                  </m:r>
                                </m:e>
                              </m:d>
                            </m:e>
                            <m:sup>
                              <m:r>
                                <a:rPr lang="en-US" i="1">
                                  <a:latin typeface="Cambria Math" panose="02040503050406030204" pitchFamily="18" charset="0"/>
                                </a:rPr>
                                <m:t>3</m:t>
                              </m:r>
                            </m:sup>
                          </m:sSup>
                        </m:den>
                      </m:f>
                      <m:nary>
                        <m:naryPr>
                          <m:limLoc m:val="undOvr"/>
                          <m:subHide m:val="on"/>
                          <m:supHide m:val="on"/>
                          <m:ctrlPr>
                            <a:rPr lang="en-US" i="1">
                              <a:latin typeface="Cambria Math" panose="02040503050406030204" pitchFamily="18" charset="0"/>
                            </a:rPr>
                          </m:ctrlPr>
                        </m:naryPr>
                        <m:sub/>
                        <m:sup/>
                        <m:e>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sup>
                                  </m:sSup>
                                </m:e>
                              </m:d>
                            </m:e>
                          </m:func>
                          <m:sSup>
                            <m:sSupPr>
                              <m:ctrlPr>
                                <a:rPr lang="en-US" i="1">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2</m:t>
                              </m:r>
                            </m:sup>
                          </m:sSup>
                          <m:r>
                            <a:rPr lang="en-US" i="1">
                              <a:latin typeface="Cambria Math" panose="02040503050406030204" pitchFamily="18" charset="0"/>
                            </a:rPr>
                            <m:t>𝑑</m:t>
                          </m:r>
                          <m:r>
                            <a:rPr lang="en-US" b="0" i="1" smtClean="0">
                              <a:latin typeface="Cambria Math" panose="02040503050406030204" pitchFamily="18" charset="0"/>
                            </a:rPr>
                            <m:t>𝑥</m:t>
                          </m:r>
                        </m:e>
                      </m:nary>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𝑉</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𝜋</m:t>
                              </m:r>
                            </m:e>
                            <m:sup>
                              <m:r>
                                <a:rPr lang="en-US" b="0" i="1" smtClean="0">
                                  <a:latin typeface="Cambria Math" panose="02040503050406030204" pitchFamily="18" charset="0"/>
                                  <a:ea typeface="Cambria Math" panose="02040503050406030204" pitchFamily="18" charset="0"/>
                                </a:rPr>
                                <m:t>2</m:t>
                              </m:r>
                            </m:sup>
                          </m:sSup>
                        </m:num>
                        <m:den>
                          <m:r>
                            <a:rPr lang="en-US" b="0" i="1" smtClean="0">
                              <a:latin typeface="Cambria Math" panose="02040503050406030204" pitchFamily="18" charset="0"/>
                              <a:ea typeface="Cambria Math" panose="02040503050406030204" pitchFamily="18" charset="0"/>
                            </a:rPr>
                            <m:t>45</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ea typeface="Cambria Math" panose="02040503050406030204" pitchFamily="18" charset="0"/>
                                    </a:rPr>
                                    <m:t>ℏ</m:t>
                                  </m:r>
                                  <m:r>
                                    <a:rPr lang="en-US" i="1">
                                      <a:latin typeface="Cambria Math" panose="02040503050406030204" pitchFamily="18" charset="0"/>
                                      <a:ea typeface="Cambria Math" panose="02040503050406030204" pitchFamily="18" charset="0"/>
                                    </a:rPr>
                                    <m:t>𝑐</m:t>
                                  </m:r>
                                </m:e>
                              </m:d>
                            </m:e>
                            <m:sup>
                              <m:r>
                                <a:rPr lang="en-US" i="1">
                                  <a:latin typeface="Cambria Math" panose="02040503050406030204" pitchFamily="18" charset="0"/>
                                </a:rPr>
                                <m:t>3</m:t>
                              </m:r>
                            </m:sup>
                          </m:sSup>
                        </m:den>
                      </m:f>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𝜏</m:t>
                          </m:r>
                        </m:e>
                        <m:sup>
                          <m:r>
                            <a:rPr lang="en-US" b="0" i="1" smtClean="0">
                              <a:latin typeface="Cambria Math" panose="02040503050406030204" pitchFamily="18" charset="0"/>
                              <a:ea typeface="Cambria Math" panose="02040503050406030204" pitchFamily="18" charset="0"/>
                            </a:rPr>
                            <m:t>4</m:t>
                          </m:r>
                        </m:sup>
                      </m:sSup>
                    </m:oMath>
                  </m:oMathPara>
                </a14:m>
                <a:endParaRPr lang="en-CN" dirty="0"/>
              </a:p>
            </p:txBody>
          </p:sp>
        </mc:Choice>
        <mc:Fallback xmlns="">
          <p:sp>
            <p:nvSpPr>
              <p:cNvPr id="6" name="TextBox 5">
                <a:extLst>
                  <a:ext uri="{FF2B5EF4-FFF2-40B4-BE49-F238E27FC236}">
                    <a16:creationId xmlns:a16="http://schemas.microsoft.com/office/drawing/2014/main" id="{90E6085F-9B42-0BC2-0412-08F624DAD8CF}"/>
                  </a:ext>
                </a:extLst>
              </p:cNvPr>
              <p:cNvSpPr txBox="1">
                <a:spLocks noRot="1" noChangeAspect="1" noMove="1" noResize="1" noEditPoints="1" noAdjustHandles="1" noChangeArrowheads="1" noChangeShapeType="1" noTextEdit="1"/>
              </p:cNvSpPr>
              <p:nvPr/>
            </p:nvSpPr>
            <p:spPr>
              <a:xfrm>
                <a:off x="2382981" y="1777517"/>
                <a:ext cx="7204364" cy="838563"/>
              </a:xfrm>
              <a:prstGeom prst="rect">
                <a:avLst/>
              </a:prstGeom>
              <a:blipFill>
                <a:blip r:embed="rId4"/>
                <a:stretch>
                  <a:fillRect t="-130303" b="-184848"/>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77A66B1-F797-195B-B18C-98808102655F}"/>
                  </a:ext>
                </a:extLst>
              </p:cNvPr>
              <p:cNvSpPr txBox="1"/>
              <p:nvPr/>
            </p:nvSpPr>
            <p:spPr>
              <a:xfrm>
                <a:off x="332509" y="2375575"/>
                <a:ext cx="9989127" cy="964367"/>
              </a:xfrm>
              <a:prstGeom prst="rect">
                <a:avLst/>
              </a:prstGeom>
              <a:noFill/>
            </p:spPr>
            <p:txBody>
              <a:bodyPr wrap="square" rtlCol="0">
                <a:spAutoFit/>
              </a:bodyPr>
              <a:lstStyle/>
              <a:p>
                <a:r>
                  <a:rPr lang="en-CN" dirty="0"/>
                  <a:t>Entropy</a:t>
                </a: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m:rPr>
                              <m:sty m:val="p"/>
                            </m:rPr>
                            <a:rPr lang="el-GR" b="0" i="1" smtClean="0">
                              <a:latin typeface="Cambria Math" panose="02040503050406030204" pitchFamily="18" charset="0"/>
                              <a:ea typeface="Cambria Math" panose="02040503050406030204" pitchFamily="18" charset="0"/>
                            </a:rPr>
                            <m:t>Ω</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4 </m:t>
                          </m:r>
                          <m:r>
                            <a:rPr lang="en-US" i="1">
                              <a:latin typeface="Cambria Math" panose="02040503050406030204" pitchFamily="18" charset="0"/>
                              <a:ea typeface="Cambria Math" panose="02040503050406030204" pitchFamily="18" charset="0"/>
                            </a:rPr>
                            <m:t>𝑉</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𝜋</m:t>
                              </m:r>
                            </m:e>
                            <m:sup>
                              <m:r>
                                <a:rPr lang="en-US" i="1">
                                  <a:latin typeface="Cambria Math" panose="02040503050406030204" pitchFamily="18" charset="0"/>
                                  <a:ea typeface="Cambria Math" panose="02040503050406030204" pitchFamily="18" charset="0"/>
                                </a:rPr>
                                <m:t>2</m:t>
                              </m:r>
                            </m:sup>
                          </m:sSup>
                        </m:num>
                        <m:den>
                          <m:r>
                            <a:rPr lang="en-US" b="0" i="1" smtClean="0">
                              <a:latin typeface="Cambria Math" panose="02040503050406030204" pitchFamily="18" charset="0"/>
                              <a:ea typeface="Cambria Math" panose="02040503050406030204" pitchFamily="18" charset="0"/>
                            </a:rPr>
                            <m:t>45</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ea typeface="Cambria Math" panose="02040503050406030204" pitchFamily="18" charset="0"/>
                                    </a:rPr>
                                    <m:t>ℏ</m:t>
                                  </m:r>
                                  <m:r>
                                    <a:rPr lang="en-US" i="1">
                                      <a:latin typeface="Cambria Math" panose="02040503050406030204" pitchFamily="18" charset="0"/>
                                      <a:ea typeface="Cambria Math" panose="02040503050406030204" pitchFamily="18" charset="0"/>
                                    </a:rPr>
                                    <m:t>𝑐</m:t>
                                  </m:r>
                                </m:e>
                              </m:d>
                            </m:e>
                            <m:sup>
                              <m:r>
                                <a:rPr lang="en-US" i="1">
                                  <a:latin typeface="Cambria Math" panose="02040503050406030204" pitchFamily="18" charset="0"/>
                                </a:rPr>
                                <m:t>3</m:t>
                              </m:r>
                            </m:sup>
                          </m:sSup>
                        </m:den>
                      </m:f>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𝜏</m:t>
                          </m:r>
                        </m:e>
                        <m:sup>
                          <m:r>
                            <a:rPr lang="en-US" b="0" i="1" smtClean="0">
                              <a:latin typeface="Cambria Math" panose="02040503050406030204" pitchFamily="18" charset="0"/>
                              <a:ea typeface="Cambria Math" panose="02040503050406030204" pitchFamily="18" charset="0"/>
                            </a:rPr>
                            <m:t>3</m:t>
                          </m:r>
                        </m:sup>
                      </m:sSup>
                    </m:oMath>
                  </m:oMathPara>
                </a14:m>
                <a:endParaRPr lang="en-CN" dirty="0"/>
              </a:p>
            </p:txBody>
          </p:sp>
        </mc:Choice>
        <mc:Fallback xmlns="">
          <p:sp>
            <p:nvSpPr>
              <p:cNvPr id="7" name="TextBox 6">
                <a:extLst>
                  <a:ext uri="{FF2B5EF4-FFF2-40B4-BE49-F238E27FC236}">
                    <a16:creationId xmlns:a16="http://schemas.microsoft.com/office/drawing/2014/main" id="{D77A66B1-F797-195B-B18C-98808102655F}"/>
                  </a:ext>
                </a:extLst>
              </p:cNvPr>
              <p:cNvSpPr txBox="1">
                <a:spLocks noRot="1" noChangeAspect="1" noMove="1" noResize="1" noEditPoints="1" noAdjustHandles="1" noChangeArrowheads="1" noChangeShapeType="1" noTextEdit="1"/>
              </p:cNvSpPr>
              <p:nvPr/>
            </p:nvSpPr>
            <p:spPr>
              <a:xfrm>
                <a:off x="332509" y="2375575"/>
                <a:ext cx="9989127" cy="964367"/>
              </a:xfrm>
              <a:prstGeom prst="rect">
                <a:avLst/>
              </a:prstGeom>
              <a:blipFill>
                <a:blip r:embed="rId5"/>
                <a:stretch>
                  <a:fillRect l="-508" t="-3896" b="-649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3BDBD9B-9662-20EE-3DE4-2FC647856CA6}"/>
                  </a:ext>
                </a:extLst>
              </p:cNvPr>
              <p:cNvSpPr txBox="1"/>
              <p:nvPr/>
            </p:nvSpPr>
            <p:spPr>
              <a:xfrm>
                <a:off x="332509" y="3332535"/>
                <a:ext cx="9989127" cy="964367"/>
              </a:xfrm>
              <a:prstGeom prst="rect">
                <a:avLst/>
              </a:prstGeom>
              <a:noFill/>
            </p:spPr>
            <p:txBody>
              <a:bodyPr wrap="square" rtlCol="0">
                <a:spAutoFit/>
              </a:bodyPr>
              <a:lstStyle/>
              <a:p>
                <a:r>
                  <a:rPr lang="en-CN" dirty="0"/>
                  <a:t>Energy(比较上一页)</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Ω</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𝜎𝜏</m:t>
                      </m:r>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𝑉</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𝜋</m:t>
                              </m:r>
                            </m:e>
                            <m:sup>
                              <m:r>
                                <a:rPr lang="en-US" i="1">
                                  <a:latin typeface="Cambria Math" panose="02040503050406030204" pitchFamily="18" charset="0"/>
                                  <a:ea typeface="Cambria Math" panose="02040503050406030204" pitchFamily="18" charset="0"/>
                                </a:rPr>
                                <m:t>2</m:t>
                              </m:r>
                            </m:sup>
                          </m:sSup>
                        </m:num>
                        <m:den>
                          <m:r>
                            <a:rPr lang="en-US" i="1">
                              <a:latin typeface="Cambria Math" panose="02040503050406030204" pitchFamily="18" charset="0"/>
                              <a:ea typeface="Cambria Math" panose="02040503050406030204" pitchFamily="18" charset="0"/>
                            </a:rPr>
                            <m:t>45</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ea typeface="Cambria Math" panose="02040503050406030204" pitchFamily="18" charset="0"/>
                                    </a:rPr>
                                    <m:t>ℏ</m:t>
                                  </m:r>
                                  <m:r>
                                    <a:rPr lang="en-US" i="1">
                                      <a:latin typeface="Cambria Math" panose="02040503050406030204" pitchFamily="18" charset="0"/>
                                      <a:ea typeface="Cambria Math" panose="02040503050406030204" pitchFamily="18" charset="0"/>
                                    </a:rPr>
                                    <m:t>𝑐</m:t>
                                  </m:r>
                                </m:e>
                              </m:d>
                            </m:e>
                            <m:sup>
                              <m:r>
                                <a:rPr lang="en-US" i="1">
                                  <a:latin typeface="Cambria Math" panose="02040503050406030204" pitchFamily="18" charset="0"/>
                                </a:rPr>
                                <m:t>3</m:t>
                              </m:r>
                            </m:sup>
                          </m:sSup>
                        </m:den>
                      </m:f>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𝜏</m:t>
                          </m:r>
                        </m:e>
                        <m:sup>
                          <m:r>
                            <a:rPr lang="en-US" i="1">
                              <a:latin typeface="Cambria Math" panose="02040503050406030204" pitchFamily="18" charset="0"/>
                              <a:ea typeface="Cambria Math" panose="02040503050406030204" pitchFamily="18" charset="0"/>
                            </a:rPr>
                            <m:t>4</m:t>
                          </m:r>
                        </m:sup>
                      </m:sSup>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r>
                            <a:rPr lang="en-US" i="1">
                              <a:latin typeface="Cambria Math" panose="02040503050406030204" pitchFamily="18" charset="0"/>
                              <a:ea typeface="Cambria Math" panose="02040503050406030204" pitchFamily="18" charset="0"/>
                            </a:rPr>
                            <m:t>𝑉</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𝜋</m:t>
                              </m:r>
                            </m:e>
                            <m:sup>
                              <m:r>
                                <a:rPr lang="en-US" i="1">
                                  <a:latin typeface="Cambria Math" panose="02040503050406030204" pitchFamily="18" charset="0"/>
                                  <a:ea typeface="Cambria Math" panose="02040503050406030204" pitchFamily="18" charset="0"/>
                                </a:rPr>
                                <m:t>2</m:t>
                              </m:r>
                            </m:sup>
                          </m:sSup>
                        </m:num>
                        <m:den>
                          <m:r>
                            <a:rPr lang="en-US" b="0" i="1" smtClean="0">
                              <a:latin typeface="Cambria Math" panose="02040503050406030204" pitchFamily="18" charset="0"/>
                              <a:ea typeface="Cambria Math" panose="02040503050406030204" pitchFamily="18" charset="0"/>
                            </a:rPr>
                            <m:t>45</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ea typeface="Cambria Math" panose="02040503050406030204" pitchFamily="18" charset="0"/>
                                    </a:rPr>
                                    <m:t>ℏ</m:t>
                                  </m:r>
                                  <m:r>
                                    <a:rPr lang="en-US" i="1">
                                      <a:latin typeface="Cambria Math" panose="02040503050406030204" pitchFamily="18" charset="0"/>
                                      <a:ea typeface="Cambria Math" panose="02040503050406030204" pitchFamily="18" charset="0"/>
                                    </a:rPr>
                                    <m:t>𝑐</m:t>
                                  </m:r>
                                </m:e>
                              </m:d>
                            </m:e>
                            <m:sup>
                              <m:r>
                                <a:rPr lang="en-US" i="1">
                                  <a:latin typeface="Cambria Math" panose="02040503050406030204" pitchFamily="18" charset="0"/>
                                </a:rPr>
                                <m:t>3</m:t>
                              </m:r>
                            </m:sup>
                          </m:sSup>
                        </m:den>
                      </m:f>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𝜏</m:t>
                          </m:r>
                        </m:e>
                        <m:sup>
                          <m:r>
                            <a:rPr lang="en-US" b="0" i="1" smtClean="0">
                              <a:latin typeface="Cambria Math" panose="02040503050406030204" pitchFamily="18" charset="0"/>
                              <a:ea typeface="Cambria Math" panose="02040503050406030204" pitchFamily="18" charset="0"/>
                            </a:rPr>
                            <m:t>4</m:t>
                          </m:r>
                        </m:sup>
                      </m:sSup>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𝑉</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𝜋</m:t>
                              </m:r>
                            </m:e>
                            <m:sup>
                              <m:r>
                                <a:rPr lang="en-US" i="1">
                                  <a:latin typeface="Cambria Math" panose="02040503050406030204" pitchFamily="18" charset="0"/>
                                  <a:ea typeface="Cambria Math" panose="02040503050406030204" pitchFamily="18" charset="0"/>
                                </a:rPr>
                                <m:t>2</m:t>
                              </m:r>
                            </m:sup>
                          </m:sSup>
                        </m:num>
                        <m:den>
                          <m:r>
                            <a:rPr lang="en-US" b="0" i="1" smtClean="0">
                              <a:latin typeface="Cambria Math" panose="02040503050406030204" pitchFamily="18" charset="0"/>
                              <a:ea typeface="Cambria Math" panose="02040503050406030204" pitchFamily="18" charset="0"/>
                            </a:rPr>
                            <m:t>15</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ea typeface="Cambria Math" panose="02040503050406030204" pitchFamily="18" charset="0"/>
                                    </a:rPr>
                                    <m:t>ℏ</m:t>
                                  </m:r>
                                  <m:r>
                                    <a:rPr lang="en-US" i="1">
                                      <a:latin typeface="Cambria Math" panose="02040503050406030204" pitchFamily="18" charset="0"/>
                                      <a:ea typeface="Cambria Math" panose="02040503050406030204" pitchFamily="18" charset="0"/>
                                    </a:rPr>
                                    <m:t>𝑐</m:t>
                                  </m:r>
                                </m:e>
                              </m:d>
                            </m:e>
                            <m:sup>
                              <m:r>
                                <a:rPr lang="en-US" i="1">
                                  <a:latin typeface="Cambria Math" panose="02040503050406030204" pitchFamily="18" charset="0"/>
                                </a:rPr>
                                <m:t>3</m:t>
                              </m:r>
                            </m:sup>
                          </m:sSup>
                        </m:den>
                      </m:f>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𝜏</m:t>
                          </m:r>
                        </m:e>
                        <m:sup>
                          <m:r>
                            <a:rPr lang="en-US" i="1">
                              <a:latin typeface="Cambria Math" panose="02040503050406030204" pitchFamily="18" charset="0"/>
                              <a:ea typeface="Cambria Math" panose="02040503050406030204" pitchFamily="18" charset="0"/>
                            </a:rPr>
                            <m:t>4</m:t>
                          </m:r>
                        </m:sup>
                      </m:sSup>
                    </m:oMath>
                  </m:oMathPara>
                </a14:m>
                <a:endParaRPr lang="en-CN" dirty="0"/>
              </a:p>
            </p:txBody>
          </p:sp>
        </mc:Choice>
        <mc:Fallback xmlns="">
          <p:sp>
            <p:nvSpPr>
              <p:cNvPr id="8" name="TextBox 7">
                <a:extLst>
                  <a:ext uri="{FF2B5EF4-FFF2-40B4-BE49-F238E27FC236}">
                    <a16:creationId xmlns:a16="http://schemas.microsoft.com/office/drawing/2014/main" id="{F3BDBD9B-9662-20EE-3DE4-2FC647856CA6}"/>
                  </a:ext>
                </a:extLst>
              </p:cNvPr>
              <p:cNvSpPr txBox="1">
                <a:spLocks noRot="1" noChangeAspect="1" noMove="1" noResize="1" noEditPoints="1" noAdjustHandles="1" noChangeArrowheads="1" noChangeShapeType="1" noTextEdit="1"/>
              </p:cNvSpPr>
              <p:nvPr/>
            </p:nvSpPr>
            <p:spPr>
              <a:xfrm>
                <a:off x="332509" y="3332535"/>
                <a:ext cx="9989127" cy="964367"/>
              </a:xfrm>
              <a:prstGeom prst="rect">
                <a:avLst/>
              </a:prstGeom>
              <a:blipFill>
                <a:blip r:embed="rId6"/>
                <a:stretch>
                  <a:fillRect l="-508" t="-259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F1F02F8-3790-7A04-DB45-679BBEE62A0D}"/>
                  </a:ext>
                </a:extLst>
              </p:cNvPr>
              <p:cNvSpPr txBox="1"/>
              <p:nvPr/>
            </p:nvSpPr>
            <p:spPr>
              <a:xfrm>
                <a:off x="332509" y="4500372"/>
                <a:ext cx="9989127" cy="911788"/>
              </a:xfrm>
              <a:prstGeom prst="rect">
                <a:avLst/>
              </a:prstGeom>
              <a:noFill/>
            </p:spPr>
            <p:txBody>
              <a:bodyPr wrap="square" rtlCol="0">
                <a:spAutoFit/>
              </a:bodyPr>
              <a:lstStyle/>
              <a:p>
                <a:r>
                  <a:rPr lang="en-CN" dirty="0"/>
                  <a:t>Pressure</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𝑃𝑉</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 </m:t>
                      </m:r>
                      <m:r>
                        <a:rPr lang="en-US" b="0" i="1" smtClean="0">
                          <a:latin typeface="Cambria Math" panose="02040503050406030204" pitchFamily="18" charset="0"/>
                        </a:rPr>
                        <m:t>𝑈</m:t>
                      </m:r>
                    </m:oMath>
                  </m:oMathPara>
                </a14:m>
                <a:endParaRPr lang="en-CN" dirty="0"/>
              </a:p>
            </p:txBody>
          </p:sp>
        </mc:Choice>
        <mc:Fallback xmlns="">
          <p:sp>
            <p:nvSpPr>
              <p:cNvPr id="9" name="TextBox 8">
                <a:extLst>
                  <a:ext uri="{FF2B5EF4-FFF2-40B4-BE49-F238E27FC236}">
                    <a16:creationId xmlns:a16="http://schemas.microsoft.com/office/drawing/2014/main" id="{EF1F02F8-3790-7A04-DB45-679BBEE62A0D}"/>
                  </a:ext>
                </a:extLst>
              </p:cNvPr>
              <p:cNvSpPr txBox="1">
                <a:spLocks noRot="1" noChangeAspect="1" noMove="1" noResize="1" noEditPoints="1" noAdjustHandles="1" noChangeArrowheads="1" noChangeShapeType="1" noTextEdit="1"/>
              </p:cNvSpPr>
              <p:nvPr/>
            </p:nvSpPr>
            <p:spPr>
              <a:xfrm>
                <a:off x="332509" y="4500372"/>
                <a:ext cx="9989127" cy="911788"/>
              </a:xfrm>
              <a:prstGeom prst="rect">
                <a:avLst/>
              </a:prstGeom>
              <a:blipFill>
                <a:blip r:embed="rId7"/>
                <a:stretch>
                  <a:fillRect l="-508" t="-2740"/>
                </a:stretch>
              </a:blipFill>
            </p:spPr>
            <p:txBody>
              <a:bodyPr/>
              <a:lstStyle/>
              <a:p>
                <a:r>
                  <a:rPr lang="en-CN">
                    <a:noFill/>
                  </a:rPr>
                  <a:t> </a:t>
                </a:r>
              </a:p>
            </p:txBody>
          </p:sp>
        </mc:Fallback>
      </mc:AlternateContent>
      <p:pic>
        <p:nvPicPr>
          <p:cNvPr id="11" name="Picture 10">
            <a:extLst>
              <a:ext uri="{FF2B5EF4-FFF2-40B4-BE49-F238E27FC236}">
                <a16:creationId xmlns:a16="http://schemas.microsoft.com/office/drawing/2014/main" id="{F031BD56-EE26-C91E-DE2B-87B9B8ABA2C2}"/>
              </a:ext>
            </a:extLst>
          </p:cNvPr>
          <p:cNvPicPr>
            <a:picLocks noChangeAspect="1"/>
          </p:cNvPicPr>
          <p:nvPr/>
        </p:nvPicPr>
        <p:blipFill>
          <a:blip r:embed="rId8"/>
          <a:stretch>
            <a:fillRect/>
          </a:stretch>
        </p:blipFill>
        <p:spPr>
          <a:xfrm>
            <a:off x="8620479" y="3951928"/>
            <a:ext cx="3402314" cy="1217207"/>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1B03D6B-613B-E7E8-7A0E-26E2A8DF9B74}"/>
                  </a:ext>
                </a:extLst>
              </p:cNvPr>
              <p:cNvSpPr txBox="1"/>
              <p:nvPr/>
            </p:nvSpPr>
            <p:spPr>
              <a:xfrm>
                <a:off x="1416115" y="5563207"/>
                <a:ext cx="7204364" cy="12880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𝑉</m:t>
                          </m:r>
                        </m:num>
                        <m:den>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𝜋</m:t>
                              </m:r>
                            </m:e>
                            <m:sup>
                              <m:r>
                                <a:rPr lang="en-US" i="1">
                                  <a:latin typeface="Cambria Math" panose="02040503050406030204" pitchFamily="18" charset="0"/>
                                </a:rPr>
                                <m:t>2</m:t>
                              </m:r>
                            </m:sup>
                          </m:sSup>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ea typeface="Cambria Math" panose="02040503050406030204" pitchFamily="18" charset="0"/>
                                    </a:rPr>
                                    <m:t>ℏ</m:t>
                                  </m:r>
                                  <m:r>
                                    <a:rPr lang="en-US" i="1">
                                      <a:latin typeface="Cambria Math" panose="02040503050406030204" pitchFamily="18" charset="0"/>
                                      <a:ea typeface="Cambria Math" panose="02040503050406030204" pitchFamily="18" charset="0"/>
                                    </a:rPr>
                                    <m:t>𝑐</m:t>
                                  </m:r>
                                </m:e>
                              </m:d>
                            </m:e>
                            <m:sup>
                              <m:r>
                                <a:rPr lang="en-US" i="1">
                                  <a:latin typeface="Cambria Math" panose="02040503050406030204" pitchFamily="18" charset="0"/>
                                </a:rPr>
                                <m:t>3</m:t>
                              </m:r>
                            </m:sup>
                          </m:sSup>
                        </m:den>
                      </m:f>
                      <m:nary>
                        <m:naryPr>
                          <m:limLoc m:val="undOvr"/>
                          <m:subHide m:val="on"/>
                          <m:supHide m:val="on"/>
                          <m:ctrlPr>
                            <a:rPr lang="en-US" i="1">
                              <a:latin typeface="Cambria Math" panose="02040503050406030204" pitchFamily="18" charset="0"/>
                            </a:rPr>
                          </m:ctrlPr>
                        </m:naryPr>
                        <m:sub/>
                        <m:sup/>
                        <m:e>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i="1" smtClean="0">
                                      <a:latin typeface="Cambria Math" panose="02040503050406030204" pitchFamily="18" charset="0"/>
                                    </a:rPr>
                                  </m:ctrlPr>
                                </m:sSupPr>
                                <m:e>
                                  <m:r>
                                    <a:rPr lang="en-US" b="0" i="1" smtClean="0">
                                      <a:latin typeface="Cambria Math" panose="02040503050406030204" pitchFamily="18" charset="0"/>
                                    </a:rPr>
                                    <m:t>𝑒</m:t>
                                  </m:r>
                                </m:e>
                                <m:sup>
                                  <m:r>
                                    <a:rPr lang="en-US"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rPr>
                                <m:t>−1</m:t>
                              </m:r>
                            </m:den>
                          </m:f>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𝜀</m:t>
                              </m:r>
                            </m:e>
                            <m:sup>
                              <m:r>
                                <a:rPr lang="en-US" b="0" i="1" smtClean="0">
                                  <a:latin typeface="Cambria Math" panose="02040503050406030204" pitchFamily="18" charset="0"/>
                                  <a:ea typeface="Cambria Math" panose="02040503050406030204" pitchFamily="18" charset="0"/>
                                </a:rPr>
                                <m:t>2</m:t>
                              </m:r>
                            </m:sup>
                          </m:sSup>
                          <m:r>
                            <a:rPr lang="en-US" i="1">
                              <a:latin typeface="Cambria Math" panose="02040503050406030204" pitchFamily="18" charset="0"/>
                            </a:rPr>
                            <m:t>𝑑</m:t>
                          </m:r>
                          <m:r>
                            <a:rPr lang="en-US" i="1">
                              <a:latin typeface="Cambria Math" panose="02040503050406030204" pitchFamily="18" charset="0"/>
                              <a:ea typeface="Cambria Math" panose="02040503050406030204" pitchFamily="18" charset="0"/>
                            </a:rPr>
                            <m:t>𝜀</m:t>
                          </m:r>
                        </m:e>
                      </m:nary>
                    </m:oMath>
                  </m:oMathPara>
                </a14:m>
                <a:endParaRPr lang="en-CN" dirty="0"/>
              </a:p>
              <a:p>
                <a:pPr algn="ct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𝑉</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𝜋</m:t>
                            </m:r>
                          </m:e>
                          <m:sup>
                            <m:r>
                              <a:rPr lang="en-US" i="1">
                                <a:latin typeface="Cambria Math" panose="02040503050406030204" pitchFamily="18" charset="0"/>
                              </a:rPr>
                              <m:t>2</m:t>
                            </m:r>
                          </m:sup>
                        </m:sSup>
                      </m:den>
                    </m:f>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𝜏</m:t>
                                </m:r>
                              </m:num>
                              <m:den>
                                <m:r>
                                  <a:rPr lang="en-US" b="0" i="1" smtClean="0">
                                    <a:latin typeface="Cambria Math" panose="02040503050406030204" pitchFamily="18" charset="0"/>
                                    <a:ea typeface="Cambria Math" panose="02040503050406030204" pitchFamily="18" charset="0"/>
                                  </a:rPr>
                                  <m:t>ℏ</m:t>
                                </m:r>
                                <m:r>
                                  <a:rPr lang="en-US" b="0" i="1" smtClean="0">
                                    <a:latin typeface="Cambria Math" panose="02040503050406030204" pitchFamily="18" charset="0"/>
                                    <a:ea typeface="Cambria Math" panose="02040503050406030204" pitchFamily="18" charset="0"/>
                                  </a:rPr>
                                  <m:t>𝑐</m:t>
                                </m:r>
                              </m:den>
                            </m:f>
                          </m:e>
                        </m:d>
                      </m:e>
                      <m:sup>
                        <m:r>
                          <a:rPr lang="en-US" b="0" i="1" smtClean="0">
                            <a:latin typeface="Cambria Math" panose="02040503050406030204" pitchFamily="18" charset="0"/>
                          </a:rPr>
                          <m:t>3</m:t>
                        </m:r>
                      </m:sup>
                    </m:sSup>
                  </m:oMath>
                </a14:m>
                <a:r>
                  <a:rPr lang="en-US" dirty="0"/>
                  <a:t> </a:t>
                </a:r>
                <a14:m>
                  <m:oMath xmlns:m="http://schemas.openxmlformats.org/officeDocument/2006/math">
                    <m:nary>
                      <m:naryPr>
                        <m:limLoc m:val="undOvr"/>
                        <m:subHide m:val="on"/>
                        <m:supHide m:val="on"/>
                        <m:ctrlPr>
                          <a:rPr lang="en-US" i="1" smtClean="0">
                            <a:latin typeface="Cambria Math" panose="02040503050406030204" pitchFamily="18" charset="0"/>
                          </a:rPr>
                        </m:ctrlPr>
                      </m:naryPr>
                      <m:sub/>
                      <m:sup/>
                      <m:e>
                        <m:f>
                          <m:fPr>
                            <m:ctrlPr>
                              <a:rPr lang="en-US" i="1">
                                <a:latin typeface="Cambria Math" panose="02040503050406030204" pitchFamily="18" charset="0"/>
                              </a:rPr>
                            </m:ctrlPr>
                          </m:fPr>
                          <m:num>
                            <m:r>
                              <a:rPr lang="en-US" i="1">
                                <a:latin typeface="Cambria Math" panose="02040503050406030204" pitchFamily="18" charset="0"/>
                              </a:rPr>
                              <m:t>1</m:t>
                            </m:r>
                          </m:num>
                          <m:den>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b="0" i="1" smtClean="0">
                                    <a:latin typeface="Cambria Math" panose="02040503050406030204" pitchFamily="18" charset="0"/>
                                  </a:rPr>
                                  <m:t>𝑥</m:t>
                                </m:r>
                              </m:sup>
                            </m:sSup>
                            <m:r>
                              <a:rPr lang="en-US" i="1">
                                <a:latin typeface="Cambria Math" panose="02040503050406030204" pitchFamily="18" charset="0"/>
                              </a:rPr>
                              <m:t>−1</m:t>
                            </m:r>
                          </m:den>
                        </m:f>
                        <m:sSup>
                          <m:sSupPr>
                            <m:ctrlPr>
                              <a:rPr lang="en-US" i="1">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e>
                          <m:sup>
                            <m:r>
                              <a:rPr lang="en-US" i="1">
                                <a:latin typeface="Cambria Math" panose="02040503050406030204" pitchFamily="18" charset="0"/>
                                <a:ea typeface="Cambria Math" panose="02040503050406030204" pitchFamily="18" charset="0"/>
                              </a:rPr>
                              <m:t>2</m:t>
                            </m:r>
                          </m:sup>
                        </m:sSup>
                        <m:r>
                          <a:rPr lang="en-US" i="1">
                            <a:latin typeface="Cambria Math" panose="02040503050406030204" pitchFamily="18" charset="0"/>
                          </a:rPr>
                          <m:t>𝑑</m:t>
                        </m:r>
                        <m:r>
                          <a:rPr lang="en-US" b="0" i="1" smtClean="0">
                            <a:latin typeface="Cambria Math" panose="02040503050406030204" pitchFamily="18" charset="0"/>
                          </a:rPr>
                          <m:t>𝑥</m:t>
                        </m:r>
                      </m:e>
                    </m:nary>
                    <m:r>
                      <a:rPr lang="en-US" i="1" smtClean="0">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0.244</m:t>
                    </m:r>
                    <m:sSup>
                      <m:sSupPr>
                        <m:ctrlPr>
                          <a:rPr lang="en-US" i="1">
                            <a:solidFill>
                              <a:srgbClr val="FF0000"/>
                            </a:solidFill>
                            <a:latin typeface="Cambria Math" panose="02040503050406030204" pitchFamily="18" charset="0"/>
                          </a:rPr>
                        </m:ctrlPr>
                      </m:sSupPr>
                      <m:e>
                        <m:d>
                          <m:dPr>
                            <m:ctrlPr>
                              <a:rPr lang="en-US" i="1">
                                <a:solidFill>
                                  <a:srgbClr val="FF0000"/>
                                </a:solidFill>
                                <a:latin typeface="Cambria Math" panose="02040503050406030204" pitchFamily="18" charset="0"/>
                              </a:rPr>
                            </m:ctrlPr>
                          </m:dPr>
                          <m:e>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𝜏</m:t>
                                </m:r>
                              </m:num>
                              <m:den>
                                <m:r>
                                  <a:rPr lang="en-US" i="1">
                                    <a:solidFill>
                                      <a:srgbClr val="FF0000"/>
                                    </a:solidFill>
                                    <a:latin typeface="Cambria Math" panose="02040503050406030204" pitchFamily="18" charset="0"/>
                                    <a:ea typeface="Cambria Math" panose="02040503050406030204" pitchFamily="18" charset="0"/>
                                  </a:rPr>
                                  <m:t>ℏ</m:t>
                                </m:r>
                                <m:r>
                                  <a:rPr lang="en-US" i="1">
                                    <a:solidFill>
                                      <a:srgbClr val="FF0000"/>
                                    </a:solidFill>
                                    <a:latin typeface="Cambria Math" panose="02040503050406030204" pitchFamily="18" charset="0"/>
                                    <a:ea typeface="Cambria Math" panose="02040503050406030204" pitchFamily="18" charset="0"/>
                                  </a:rPr>
                                  <m:t>𝑐</m:t>
                                </m:r>
                              </m:den>
                            </m:f>
                          </m:e>
                        </m:d>
                      </m:e>
                      <m:sup>
                        <m:r>
                          <a:rPr lang="en-US" i="1">
                            <a:solidFill>
                              <a:srgbClr val="FF0000"/>
                            </a:solidFill>
                            <a:latin typeface="Cambria Math" panose="02040503050406030204" pitchFamily="18" charset="0"/>
                          </a:rPr>
                          <m:t>3</m:t>
                        </m:r>
                      </m:sup>
                    </m:sSup>
                  </m:oMath>
                </a14:m>
                <a:r>
                  <a:rPr lang="en-CN" dirty="0">
                    <a:solidFill>
                      <a:srgbClr val="FF0000"/>
                    </a:solidFill>
                  </a:rPr>
                  <a:t>V</a:t>
                </a:r>
                <a:endParaRPr lang="en-CN" dirty="0"/>
              </a:p>
            </p:txBody>
          </p:sp>
        </mc:Choice>
        <mc:Fallback xmlns="">
          <p:sp>
            <p:nvSpPr>
              <p:cNvPr id="12" name="TextBox 11">
                <a:extLst>
                  <a:ext uri="{FF2B5EF4-FFF2-40B4-BE49-F238E27FC236}">
                    <a16:creationId xmlns:a16="http://schemas.microsoft.com/office/drawing/2014/main" id="{91B03D6B-613B-E7E8-7A0E-26E2A8DF9B74}"/>
                  </a:ext>
                </a:extLst>
              </p:cNvPr>
              <p:cNvSpPr txBox="1">
                <a:spLocks noRot="1" noChangeAspect="1" noMove="1" noResize="1" noEditPoints="1" noAdjustHandles="1" noChangeArrowheads="1" noChangeShapeType="1" noTextEdit="1"/>
              </p:cNvSpPr>
              <p:nvPr/>
            </p:nvSpPr>
            <p:spPr>
              <a:xfrm>
                <a:off x="1416115" y="5563207"/>
                <a:ext cx="7204364" cy="1288045"/>
              </a:xfrm>
              <a:prstGeom prst="rect">
                <a:avLst/>
              </a:prstGeom>
              <a:blipFill>
                <a:blip r:embed="rId9"/>
                <a:stretch>
                  <a:fillRect t="-84314" b="-84314"/>
                </a:stretch>
              </a:blipFill>
            </p:spPr>
            <p:txBody>
              <a:bodyPr/>
              <a:lstStyle/>
              <a:p>
                <a:r>
                  <a:rPr lang="en-CN">
                    <a:noFill/>
                  </a:rPr>
                  <a:t> </a:t>
                </a:r>
              </a:p>
            </p:txBody>
          </p:sp>
        </mc:Fallback>
      </mc:AlternateContent>
      <p:sp>
        <p:nvSpPr>
          <p:cNvPr id="13" name="TextBox 12">
            <a:extLst>
              <a:ext uri="{FF2B5EF4-FFF2-40B4-BE49-F238E27FC236}">
                <a16:creationId xmlns:a16="http://schemas.microsoft.com/office/drawing/2014/main" id="{64E21E20-8EA3-14BF-8E6F-BFF97987A474}"/>
              </a:ext>
            </a:extLst>
          </p:cNvPr>
          <p:cNvSpPr txBox="1"/>
          <p:nvPr/>
        </p:nvSpPr>
        <p:spPr>
          <a:xfrm>
            <a:off x="332509" y="5169135"/>
            <a:ext cx="3380509" cy="369332"/>
          </a:xfrm>
          <a:prstGeom prst="rect">
            <a:avLst/>
          </a:prstGeom>
          <a:noFill/>
        </p:spPr>
        <p:txBody>
          <a:bodyPr wrap="square" rtlCol="0">
            <a:spAutoFit/>
          </a:bodyPr>
          <a:lstStyle/>
          <a:p>
            <a:r>
              <a:rPr lang="en-CN" dirty="0"/>
              <a:t>The total number of photons</a:t>
            </a:r>
          </a:p>
        </p:txBody>
      </p:sp>
    </p:spTree>
    <p:extLst>
      <p:ext uri="{BB962C8B-B14F-4D97-AF65-F5344CB8AC3E}">
        <p14:creationId xmlns:p14="http://schemas.microsoft.com/office/powerpoint/2010/main" val="11422492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5490E13-B4B3-2A75-A3F2-07C99B833284}"/>
                  </a:ext>
                </a:extLst>
              </p:cNvPr>
              <p:cNvSpPr txBox="1"/>
              <p:nvPr/>
            </p:nvSpPr>
            <p:spPr>
              <a:xfrm>
                <a:off x="2826160" y="475048"/>
                <a:ext cx="6094770" cy="81881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nary>
                        <m:naryPr>
                          <m:limLoc m:val="undOvr"/>
                          <m:subHide m:val="on"/>
                          <m:supHide m:val="on"/>
                          <m:ctrlPr>
                            <a:rPr lang="en-US" i="1" smtClean="0">
                              <a:latin typeface="Cambria Math" panose="02040503050406030204" pitchFamily="18" charset="0"/>
                            </a:rPr>
                          </m:ctrlPr>
                        </m:naryPr>
                        <m:sub/>
                        <m:sup/>
                        <m:e>
                          <m:f>
                            <m:fPr>
                              <m:ctrlPr>
                                <a:rPr lang="en-US" i="1">
                                  <a:latin typeface="Cambria Math" panose="02040503050406030204" pitchFamily="18" charset="0"/>
                                </a:rPr>
                              </m:ctrlPr>
                            </m:fPr>
                            <m:num>
                              <m:r>
                                <a:rPr lang="en-US" i="1">
                                  <a:latin typeface="Cambria Math" panose="02040503050406030204" pitchFamily="18" charset="0"/>
                                </a:rPr>
                                <m:t>1</m:t>
                              </m:r>
                            </m:num>
                            <m:den>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b="0" i="1" smtClean="0">
                                      <a:latin typeface="Cambria Math" panose="02040503050406030204" pitchFamily="18" charset="0"/>
                                    </a:rPr>
                                    <m:t>𝑥</m:t>
                                  </m:r>
                                </m:sup>
                              </m:sSup>
                              <m:r>
                                <a:rPr lang="en-US" i="1">
                                  <a:latin typeface="Cambria Math" panose="02040503050406030204" pitchFamily="18" charset="0"/>
                                </a:rPr>
                                <m:t>−1</m:t>
                              </m:r>
                            </m:den>
                          </m:f>
                          <m:sSup>
                            <m:sSupPr>
                              <m:ctrlPr>
                                <a:rPr lang="en-US" i="1">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e>
                            <m:sup>
                              <m:r>
                                <a:rPr lang="en-US" i="1">
                                  <a:latin typeface="Cambria Math" panose="02040503050406030204" pitchFamily="18" charset="0"/>
                                  <a:ea typeface="Cambria Math" panose="02040503050406030204" pitchFamily="18" charset="0"/>
                                </a:rPr>
                                <m:t>2</m:t>
                              </m:r>
                            </m:sup>
                          </m:sSup>
                          <m:r>
                            <a:rPr lang="en-US" i="1">
                              <a:latin typeface="Cambria Math" panose="02040503050406030204" pitchFamily="18" charset="0"/>
                            </a:rPr>
                            <m:t>𝑑</m:t>
                          </m:r>
                          <m:r>
                            <a:rPr lang="en-US" b="0" i="1" smtClean="0">
                              <a:latin typeface="Cambria Math" panose="02040503050406030204" pitchFamily="18" charset="0"/>
                            </a:rPr>
                            <m:t>𝑥</m:t>
                          </m:r>
                        </m:e>
                      </m:nary>
                      <m:r>
                        <a:rPr lang="en-US" b="0" i="1" smtClean="0">
                          <a:latin typeface="Cambria Math" panose="02040503050406030204" pitchFamily="18" charset="0"/>
                        </a:rPr>
                        <m:t>                                </m:t>
                      </m:r>
                      <m:r>
                        <a:rPr lang="en-US" b="0" i="1" smtClean="0">
                          <a:latin typeface="Cambria Math" panose="02040503050406030204" pitchFamily="18" charset="0"/>
                        </a:rPr>
                        <m:t>𝑈</m:t>
                      </m:r>
                      <m:r>
                        <a:rPr lang="en-US" i="1">
                          <a:latin typeface="Cambria Math" panose="02040503050406030204" pitchFamily="18" charset="0"/>
                          <a:ea typeface="Cambria Math" panose="02040503050406030204" pitchFamily="18" charset="0"/>
                        </a:rPr>
                        <m:t>~</m:t>
                      </m:r>
                      <m:nary>
                        <m:naryPr>
                          <m:limLoc m:val="undOvr"/>
                          <m:subHide m:val="on"/>
                          <m:supHide m:val="on"/>
                          <m:ctrlPr>
                            <a:rPr lang="en-US" i="1">
                              <a:latin typeface="Cambria Math" panose="02040503050406030204" pitchFamily="18" charset="0"/>
                            </a:rPr>
                          </m:ctrlPr>
                        </m:naryPr>
                        <m:sub/>
                        <m:sup/>
                        <m:e>
                          <m:f>
                            <m:fPr>
                              <m:ctrlPr>
                                <a:rPr lang="en-US" i="1">
                                  <a:latin typeface="Cambria Math" panose="02040503050406030204" pitchFamily="18" charset="0"/>
                                </a:rPr>
                              </m:ctrlPr>
                            </m:fPr>
                            <m:num>
                              <m:r>
                                <a:rPr lang="en-US" i="1">
                                  <a:latin typeface="Cambria Math" panose="02040503050406030204" pitchFamily="18" charset="0"/>
                                </a:rPr>
                                <m:t>1</m:t>
                              </m:r>
                            </m:num>
                            <m:den>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𝑥</m:t>
                                  </m:r>
                                </m:sup>
                              </m:sSup>
                              <m:r>
                                <a:rPr lang="en-US" i="1">
                                  <a:latin typeface="Cambria Math" panose="02040503050406030204" pitchFamily="18" charset="0"/>
                                </a:rPr>
                                <m:t>−1</m:t>
                              </m:r>
                            </m:den>
                          </m:f>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3</m:t>
                              </m:r>
                            </m:sup>
                          </m:sSup>
                          <m:r>
                            <a:rPr lang="en-US" i="1">
                              <a:latin typeface="Cambria Math" panose="02040503050406030204" pitchFamily="18" charset="0"/>
                            </a:rPr>
                            <m:t>𝑑𝑥</m:t>
                          </m:r>
                        </m:e>
                      </m:nary>
                    </m:oMath>
                  </m:oMathPara>
                </a14:m>
                <a:endParaRPr lang="en-CN" dirty="0"/>
              </a:p>
            </p:txBody>
          </p:sp>
        </mc:Choice>
        <mc:Fallback xmlns="">
          <p:sp>
            <p:nvSpPr>
              <p:cNvPr id="14" name="TextBox 13">
                <a:extLst>
                  <a:ext uri="{FF2B5EF4-FFF2-40B4-BE49-F238E27FC236}">
                    <a16:creationId xmlns:a16="http://schemas.microsoft.com/office/drawing/2014/main" id="{15490E13-B4B3-2A75-A3F2-07C99B833284}"/>
                  </a:ext>
                </a:extLst>
              </p:cNvPr>
              <p:cNvSpPr txBox="1">
                <a:spLocks noRot="1" noChangeAspect="1" noMove="1" noResize="1" noEditPoints="1" noAdjustHandles="1" noChangeArrowheads="1" noChangeShapeType="1" noTextEdit="1"/>
              </p:cNvSpPr>
              <p:nvPr/>
            </p:nvSpPr>
            <p:spPr>
              <a:xfrm>
                <a:off x="2826160" y="475048"/>
                <a:ext cx="6094770" cy="818814"/>
              </a:xfrm>
              <a:prstGeom prst="rect">
                <a:avLst/>
              </a:prstGeom>
              <a:blipFill>
                <a:blip r:embed="rId2"/>
                <a:stretch>
                  <a:fillRect l="-2911" t="-132308" b="-190769"/>
                </a:stretch>
              </a:blipFill>
            </p:spPr>
            <p:txBody>
              <a:bodyPr/>
              <a:lstStyle/>
              <a:p>
                <a:r>
                  <a:rPr lang="en-CN">
                    <a:noFill/>
                  </a:rPr>
                  <a:t> </a:t>
                </a:r>
              </a:p>
            </p:txBody>
          </p:sp>
        </mc:Fallback>
      </mc:AlternateContent>
      <p:pic>
        <p:nvPicPr>
          <p:cNvPr id="15" name="Picture 14">
            <a:extLst>
              <a:ext uri="{FF2B5EF4-FFF2-40B4-BE49-F238E27FC236}">
                <a16:creationId xmlns:a16="http://schemas.microsoft.com/office/drawing/2014/main" id="{BF78DC30-0EE5-CC96-3561-28AC7849455A}"/>
              </a:ext>
            </a:extLst>
          </p:cNvPr>
          <p:cNvPicPr>
            <a:picLocks noChangeAspect="1"/>
          </p:cNvPicPr>
          <p:nvPr/>
        </p:nvPicPr>
        <p:blipFill>
          <a:blip r:embed="rId3"/>
          <a:stretch>
            <a:fillRect/>
          </a:stretch>
        </p:blipFill>
        <p:spPr>
          <a:xfrm>
            <a:off x="1907998" y="1467186"/>
            <a:ext cx="8673355" cy="1585452"/>
          </a:xfrm>
          <a:prstGeom prst="rect">
            <a:avLst/>
          </a:prstGeom>
        </p:spPr>
      </p:pic>
      <p:sp>
        <p:nvSpPr>
          <p:cNvPr id="16" name="TextBox 15">
            <a:extLst>
              <a:ext uri="{FF2B5EF4-FFF2-40B4-BE49-F238E27FC236}">
                <a16:creationId xmlns:a16="http://schemas.microsoft.com/office/drawing/2014/main" id="{AD8EF8CF-C5CF-D852-8A94-D20B11AE0001}"/>
              </a:ext>
            </a:extLst>
          </p:cNvPr>
          <p:cNvSpPr txBox="1"/>
          <p:nvPr/>
        </p:nvSpPr>
        <p:spPr>
          <a:xfrm>
            <a:off x="776710" y="3225962"/>
            <a:ext cx="11486574" cy="2492990"/>
          </a:xfrm>
          <a:prstGeom prst="rect">
            <a:avLst/>
          </a:prstGeom>
          <a:noFill/>
        </p:spPr>
        <p:txBody>
          <a:bodyPr wrap="square" rtlCol="0">
            <a:spAutoFit/>
          </a:bodyPr>
          <a:lstStyle/>
          <a:p>
            <a:r>
              <a:rPr lang="en-CN" sz="6000" dirty="0">
                <a:solidFill>
                  <a:srgbClr val="7030A0"/>
                </a:solidFill>
                <a:latin typeface="Songti TC" panose="02010600040101010101" pitchFamily="2" charset="-120"/>
                <a:ea typeface="Songti TC" panose="02010600040101010101" pitchFamily="2" charset="-120"/>
              </a:rPr>
              <a:t>广告</a:t>
            </a:r>
            <a:r>
              <a:rPr lang="zh-CN" altLang="en-US" sz="6000" dirty="0">
                <a:solidFill>
                  <a:srgbClr val="7030A0"/>
                </a:solidFill>
                <a:latin typeface="Songti TC" panose="02010600040101010101" pitchFamily="2" charset="-120"/>
                <a:ea typeface="Songti TC" panose="02010600040101010101" pitchFamily="2" charset="-120"/>
              </a:rPr>
              <a:t>： </a:t>
            </a:r>
            <a:endParaRPr lang="en-US" altLang="zh-CN" sz="6000" dirty="0">
              <a:solidFill>
                <a:srgbClr val="7030A0"/>
              </a:solidFill>
              <a:latin typeface="Songti TC" panose="02010600040101010101" pitchFamily="2" charset="-120"/>
              <a:ea typeface="Songti TC" panose="02010600040101010101" pitchFamily="2" charset="-120"/>
            </a:endParaRPr>
          </a:p>
          <a:p>
            <a:r>
              <a:rPr lang="zh-CN" altLang="en-US" sz="4800" dirty="0">
                <a:solidFill>
                  <a:srgbClr val="7030A0"/>
                </a:solidFill>
                <a:latin typeface="Songti TC" panose="02010600040101010101" pitchFamily="2" charset="-120"/>
                <a:ea typeface="Songti TC" panose="02010600040101010101" pitchFamily="2" charset="-120"/>
              </a:rPr>
              <a:t>欧拉 </a:t>
            </a:r>
            <a:r>
              <a:rPr lang="el-GR" altLang="zh-CN" sz="4800" dirty="0">
                <a:solidFill>
                  <a:srgbClr val="7030A0"/>
                </a:solidFill>
                <a:latin typeface="Songti TC" panose="02010600040101010101" pitchFamily="2" charset="-120"/>
                <a:ea typeface="Songti TC" panose="02010600040101010101" pitchFamily="2" charset="-120"/>
              </a:rPr>
              <a:t>Γ</a:t>
            </a:r>
            <a:r>
              <a:rPr lang="zh-CN" altLang="en-US" sz="4800" dirty="0">
                <a:solidFill>
                  <a:srgbClr val="7030A0"/>
                </a:solidFill>
                <a:latin typeface="Songti TC" panose="02010600040101010101" pitchFamily="2" charset="-120"/>
                <a:ea typeface="Songti TC" panose="02010600040101010101" pitchFamily="2" charset="-120"/>
              </a:rPr>
              <a:t>函数和黎曼</a:t>
            </a:r>
            <a:r>
              <a:rPr lang="el-GR" altLang="zh-CN" sz="4800" dirty="0">
                <a:solidFill>
                  <a:srgbClr val="7030A0"/>
                </a:solidFill>
                <a:latin typeface="Songti TC" panose="02010600040101010101" pitchFamily="2" charset="-120"/>
                <a:ea typeface="Songti TC" panose="02010600040101010101" pitchFamily="2" charset="-120"/>
              </a:rPr>
              <a:t>ζ</a:t>
            </a:r>
            <a:r>
              <a:rPr lang="zh-CN" altLang="en-US" sz="4800" dirty="0">
                <a:solidFill>
                  <a:srgbClr val="7030A0"/>
                </a:solidFill>
                <a:latin typeface="Songti TC" panose="02010600040101010101" pitchFamily="2" charset="-120"/>
                <a:ea typeface="Songti TC" panose="02010600040101010101" pitchFamily="2" charset="-120"/>
              </a:rPr>
              <a:t>函数在物理里的应用</a:t>
            </a:r>
            <a:endParaRPr lang="en-US" altLang="zh-CN" sz="4800" dirty="0">
              <a:solidFill>
                <a:srgbClr val="7030A0"/>
              </a:solidFill>
              <a:latin typeface="Songti TC" panose="02010600040101010101" pitchFamily="2" charset="-120"/>
              <a:ea typeface="Songti TC" panose="02010600040101010101" pitchFamily="2" charset="-120"/>
            </a:endParaRPr>
          </a:p>
          <a:p>
            <a:r>
              <a:rPr lang="en-US" altLang="zh-CN" sz="4800" dirty="0">
                <a:solidFill>
                  <a:srgbClr val="7030A0"/>
                </a:solidFill>
                <a:latin typeface="Songti TC" panose="02010600040101010101" pitchFamily="2" charset="-120"/>
                <a:ea typeface="Songti TC" panose="02010600040101010101" pitchFamily="2" charset="-120"/>
              </a:rPr>
              <a:t>——</a:t>
            </a:r>
            <a:r>
              <a:rPr lang="zh-CN" altLang="en-US" sz="4800" dirty="0">
                <a:solidFill>
                  <a:srgbClr val="7030A0"/>
                </a:solidFill>
                <a:latin typeface="Songti TC" panose="02010600040101010101" pitchFamily="2" charset="-120"/>
                <a:ea typeface="Songti TC" panose="02010600040101010101" pitchFamily="2" charset="-120"/>
              </a:rPr>
              <a:t>董校，</a:t>
            </a:r>
            <a:r>
              <a:rPr lang="en-US" altLang="zh-CN" sz="4800" dirty="0">
                <a:solidFill>
                  <a:srgbClr val="7030A0"/>
                </a:solidFill>
                <a:latin typeface="Songti TC" panose="02010600040101010101" pitchFamily="2" charset="-120"/>
                <a:ea typeface="Songti TC" panose="02010600040101010101" pitchFamily="2" charset="-120"/>
              </a:rPr>
              <a:t>24</a:t>
            </a:r>
            <a:r>
              <a:rPr lang="zh-CN" altLang="en-US" sz="4800" dirty="0">
                <a:solidFill>
                  <a:srgbClr val="7030A0"/>
                </a:solidFill>
                <a:latin typeface="Songti TC" panose="02010600040101010101" pitchFamily="2" charset="-120"/>
                <a:ea typeface="Songti TC" panose="02010600040101010101" pitchFamily="2" charset="-120"/>
              </a:rPr>
              <a:t>号上午</a:t>
            </a:r>
            <a:r>
              <a:rPr lang="en-US" altLang="zh-CN" sz="4800" dirty="0">
                <a:solidFill>
                  <a:srgbClr val="7030A0"/>
                </a:solidFill>
                <a:latin typeface="Songti TC" panose="02010600040101010101" pitchFamily="2" charset="-120"/>
                <a:ea typeface="Songti TC" panose="02010600040101010101" pitchFamily="2" charset="-120"/>
              </a:rPr>
              <a:t>10</a:t>
            </a:r>
            <a:r>
              <a:rPr lang="zh-CN" altLang="en-US" sz="4800" dirty="0">
                <a:solidFill>
                  <a:srgbClr val="7030A0"/>
                </a:solidFill>
                <a:latin typeface="Songti TC" panose="02010600040101010101" pitchFamily="2" charset="-120"/>
                <a:ea typeface="Songti TC" panose="02010600040101010101" pitchFamily="2" charset="-120"/>
              </a:rPr>
              <a:t>点</a:t>
            </a:r>
            <a:endParaRPr lang="en-CN" sz="4800" dirty="0">
              <a:solidFill>
                <a:srgbClr val="7030A0"/>
              </a:solidFill>
              <a:latin typeface="Songti TC" panose="02010600040101010101" pitchFamily="2" charset="-120"/>
              <a:ea typeface="Songti TC" panose="02010600040101010101" pitchFamily="2" charset="-120"/>
            </a:endParaRPr>
          </a:p>
        </p:txBody>
      </p:sp>
    </p:spTree>
    <p:extLst>
      <p:ext uri="{BB962C8B-B14F-4D97-AF65-F5344CB8AC3E}">
        <p14:creationId xmlns:p14="http://schemas.microsoft.com/office/powerpoint/2010/main" val="3625392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3B2FAD2-F98B-4B02-257C-DF7B1236019A}"/>
              </a:ext>
            </a:extLst>
          </p:cNvPr>
          <p:cNvSpPr txBox="1"/>
          <p:nvPr/>
        </p:nvSpPr>
        <p:spPr>
          <a:xfrm>
            <a:off x="110848" y="329998"/>
            <a:ext cx="7059933" cy="1323439"/>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CN" sz="4000" b="1" dirty="0">
                <a:solidFill>
                  <a:srgbClr val="FF0000"/>
                </a:solidFill>
                <a:latin typeface="FangSong" panose="02010609060101010101" pitchFamily="49" charset="-122"/>
                <a:ea typeface="FangSong" panose="02010609060101010101" pitchFamily="49" charset="-122"/>
              </a:rPr>
              <a:t>约束在腔中的辐射场相当于一大群简偕振子组成的力学体系</a:t>
            </a:r>
          </a:p>
        </p:txBody>
      </p:sp>
      <p:sp>
        <p:nvSpPr>
          <p:cNvPr id="9" name="TextBox 8">
            <a:extLst>
              <a:ext uri="{FF2B5EF4-FFF2-40B4-BE49-F238E27FC236}">
                <a16:creationId xmlns:a16="http://schemas.microsoft.com/office/drawing/2014/main" id="{603E9BF9-660C-79A8-19EF-5EEBF06296A0}"/>
              </a:ext>
            </a:extLst>
          </p:cNvPr>
          <p:cNvSpPr txBox="1"/>
          <p:nvPr/>
        </p:nvSpPr>
        <p:spPr>
          <a:xfrm>
            <a:off x="4691543" y="3075057"/>
            <a:ext cx="4838351" cy="70788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r>
              <a:rPr lang="zh-CN" altLang="en-US" sz="4000" b="1" dirty="0">
                <a:solidFill>
                  <a:srgbClr val="FF0000"/>
                </a:solidFill>
                <a:latin typeface="FangSong" panose="02010609060101010101" pitchFamily="49" charset="-122"/>
                <a:ea typeface="FangSong" panose="02010609060101010101" pitchFamily="49" charset="-122"/>
              </a:rPr>
              <a:t>能量一份一份的买卖</a:t>
            </a:r>
            <a:endParaRPr lang="en-CN" sz="4000" b="1" dirty="0"/>
          </a:p>
        </p:txBody>
      </p:sp>
      <p:sp>
        <p:nvSpPr>
          <p:cNvPr id="12" name="TextBox 11">
            <a:extLst>
              <a:ext uri="{FF2B5EF4-FFF2-40B4-BE49-F238E27FC236}">
                <a16:creationId xmlns:a16="http://schemas.microsoft.com/office/drawing/2014/main" id="{6AA61A57-AFA8-8F22-8975-279A671E89FB}"/>
              </a:ext>
            </a:extLst>
          </p:cNvPr>
          <p:cNvSpPr txBox="1"/>
          <p:nvPr/>
        </p:nvSpPr>
        <p:spPr>
          <a:xfrm>
            <a:off x="9197829" y="5220746"/>
            <a:ext cx="1808527" cy="70788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r>
              <a:rPr lang="zh-CN" altLang="en-US" sz="4000" b="1" dirty="0">
                <a:solidFill>
                  <a:srgbClr val="FF0000"/>
                </a:solidFill>
                <a:latin typeface="FangSong" panose="02010609060101010101" pitchFamily="49" charset="-122"/>
                <a:ea typeface="FangSong" panose="02010609060101010101" pitchFamily="49" charset="-122"/>
              </a:rPr>
              <a:t>光量子</a:t>
            </a:r>
            <a:endParaRPr lang="en-CN" sz="4000" b="1" dirty="0"/>
          </a:p>
        </p:txBody>
      </p:sp>
      <p:sp>
        <p:nvSpPr>
          <p:cNvPr id="14" name="Up Arrow 13">
            <a:extLst>
              <a:ext uri="{FF2B5EF4-FFF2-40B4-BE49-F238E27FC236}">
                <a16:creationId xmlns:a16="http://schemas.microsoft.com/office/drawing/2014/main" id="{613F2A34-8E46-0872-44C2-B1EDFD3E9036}"/>
              </a:ext>
            </a:extLst>
          </p:cNvPr>
          <p:cNvSpPr/>
          <p:nvPr/>
        </p:nvSpPr>
        <p:spPr>
          <a:xfrm rot="7746988">
            <a:off x="5694771" y="1523535"/>
            <a:ext cx="100668" cy="153518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5" name="Up Arrow 14">
            <a:extLst>
              <a:ext uri="{FF2B5EF4-FFF2-40B4-BE49-F238E27FC236}">
                <a16:creationId xmlns:a16="http://schemas.microsoft.com/office/drawing/2014/main" id="{C9EA0E8F-521E-4EDD-5546-D78F02665B63}"/>
              </a:ext>
            </a:extLst>
          </p:cNvPr>
          <p:cNvSpPr/>
          <p:nvPr/>
        </p:nvSpPr>
        <p:spPr>
          <a:xfrm rot="7746988">
            <a:off x="8330313" y="3734252"/>
            <a:ext cx="100668" cy="153518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pic>
        <p:nvPicPr>
          <p:cNvPr id="4100" name="Picture 4" descr="Perspective-Taking: An Act of Imagination — Tune Into Leadership">
            <a:extLst>
              <a:ext uri="{FF2B5EF4-FFF2-40B4-BE49-F238E27FC236}">
                <a16:creationId xmlns:a16="http://schemas.microsoft.com/office/drawing/2014/main" id="{8D687320-855C-18E8-A8D6-000D87D2A4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87382" y="335774"/>
            <a:ext cx="4685024" cy="2635326"/>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B364C22D-9C2D-80A5-2552-CB3A6606A0C0}"/>
              </a:ext>
            </a:extLst>
          </p:cNvPr>
          <p:cNvSpPr txBox="1"/>
          <p:nvPr/>
        </p:nvSpPr>
        <p:spPr>
          <a:xfrm>
            <a:off x="998290" y="5559300"/>
            <a:ext cx="1120820" cy="369332"/>
          </a:xfrm>
          <a:prstGeom prst="rect">
            <a:avLst/>
          </a:prstGeom>
          <a:noFill/>
        </p:spPr>
        <p:txBody>
          <a:bodyPr wrap="none" rtlCol="0">
            <a:spAutoFit/>
          </a:bodyPr>
          <a:lstStyle/>
          <a:p>
            <a:r>
              <a:rPr lang="en-CN" dirty="0"/>
              <a:t>20230417</a:t>
            </a:r>
          </a:p>
        </p:txBody>
      </p:sp>
      <p:pic>
        <p:nvPicPr>
          <p:cNvPr id="2" name="Picture 4">
            <a:extLst>
              <a:ext uri="{FF2B5EF4-FFF2-40B4-BE49-F238E27FC236}">
                <a16:creationId xmlns:a16="http://schemas.microsoft.com/office/drawing/2014/main" id="{95632193-A20D-0DFB-784F-73BC964A27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3008" y="2682209"/>
            <a:ext cx="1458535" cy="193899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50 Albert Einstein Quotes - Parade: Entertainment, Recipes, Health, Life,  Holidays">
            <a:extLst>
              <a:ext uri="{FF2B5EF4-FFF2-40B4-BE49-F238E27FC236}">
                <a16:creationId xmlns:a16="http://schemas.microsoft.com/office/drawing/2014/main" id="{50AB1EEF-5DDC-72FB-6E85-C6D1D49644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82109" y="4965121"/>
            <a:ext cx="1515720" cy="19270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41542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A7E9A3F1-010D-D248-F588-BF88713832CC}"/>
              </a:ext>
            </a:extLst>
          </p:cNvPr>
          <p:cNvSpPr txBox="1">
            <a:spLocks/>
          </p:cNvSpPr>
          <p:nvPr/>
        </p:nvSpPr>
        <p:spPr>
          <a:xfrm>
            <a:off x="353025" y="1007013"/>
            <a:ext cx="4540515" cy="220724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CN" sz="4000" dirty="0">
                <a:solidFill>
                  <a:schemeClr val="tx1">
                    <a:lumMod val="50000"/>
                    <a:lumOff val="50000"/>
                  </a:schemeClr>
                </a:solidFill>
                <a:latin typeface="FangSong" panose="02010609060101010101" pitchFamily="49" charset="-122"/>
                <a:ea typeface="FangSong" panose="02010609060101010101" pitchFamily="49" charset="-122"/>
              </a:rPr>
              <a:t>黑体辐射</a:t>
            </a:r>
          </a:p>
          <a:p>
            <a:pPr marL="342900" indent="-342900"/>
            <a:r>
              <a:rPr lang="en-CN" sz="4000" dirty="0">
                <a:latin typeface="FangSong" panose="02010609060101010101" pitchFamily="49" charset="-122"/>
                <a:ea typeface="FangSong" panose="02010609060101010101" pitchFamily="49" charset="-122"/>
              </a:rPr>
              <a:t>Debye固体</a:t>
            </a:r>
          </a:p>
          <a:p>
            <a:pPr marL="342900" indent="-342900"/>
            <a:r>
              <a:rPr lang="en-CN" sz="4000" dirty="0">
                <a:solidFill>
                  <a:schemeClr val="tx1">
                    <a:lumMod val="50000"/>
                    <a:lumOff val="50000"/>
                  </a:schemeClr>
                </a:solidFill>
                <a:latin typeface="FangSong" panose="02010609060101010101" pitchFamily="49" charset="-122"/>
                <a:ea typeface="FangSong" panose="02010609060101010101" pitchFamily="49" charset="-122"/>
              </a:rPr>
              <a:t>BEC</a:t>
            </a:r>
          </a:p>
        </p:txBody>
      </p:sp>
    </p:spTree>
    <p:extLst>
      <p:ext uri="{BB962C8B-B14F-4D97-AF65-F5344CB8AC3E}">
        <p14:creationId xmlns:p14="http://schemas.microsoft.com/office/powerpoint/2010/main" val="7001669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CB23F7-41C4-E8D4-E472-3489122AF78C}"/>
              </a:ext>
            </a:extLst>
          </p:cNvPr>
          <p:cNvPicPr>
            <a:picLocks noChangeAspect="1"/>
          </p:cNvPicPr>
          <p:nvPr/>
        </p:nvPicPr>
        <p:blipFill>
          <a:blip r:embed="rId2"/>
          <a:stretch>
            <a:fillRect/>
          </a:stretch>
        </p:blipFill>
        <p:spPr>
          <a:xfrm>
            <a:off x="1267152" y="180108"/>
            <a:ext cx="10107430" cy="4660312"/>
          </a:xfrm>
          <a:prstGeom prst="rect">
            <a:avLst/>
          </a:prstGeom>
        </p:spPr>
      </p:pic>
      <p:pic>
        <p:nvPicPr>
          <p:cNvPr id="6" name="Picture 5">
            <a:extLst>
              <a:ext uri="{FF2B5EF4-FFF2-40B4-BE49-F238E27FC236}">
                <a16:creationId xmlns:a16="http://schemas.microsoft.com/office/drawing/2014/main" id="{51297B68-152D-62A9-F07A-8C1924D544C1}"/>
              </a:ext>
            </a:extLst>
          </p:cNvPr>
          <p:cNvPicPr>
            <a:picLocks noChangeAspect="1"/>
          </p:cNvPicPr>
          <p:nvPr/>
        </p:nvPicPr>
        <p:blipFill>
          <a:blip r:embed="rId3"/>
          <a:stretch>
            <a:fillRect/>
          </a:stretch>
        </p:blipFill>
        <p:spPr>
          <a:xfrm>
            <a:off x="2895600" y="4960783"/>
            <a:ext cx="7415645" cy="1717109"/>
          </a:xfrm>
          <a:prstGeom prst="rect">
            <a:avLst/>
          </a:prstGeom>
        </p:spPr>
      </p:pic>
    </p:spTree>
    <p:extLst>
      <p:ext uri="{BB962C8B-B14F-4D97-AF65-F5344CB8AC3E}">
        <p14:creationId xmlns:p14="http://schemas.microsoft.com/office/powerpoint/2010/main" val="24916020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75A1A9-E242-9DE7-CA1B-30B8A612D89C}"/>
              </a:ext>
            </a:extLst>
          </p:cNvPr>
          <p:cNvPicPr>
            <a:picLocks noChangeAspect="1"/>
          </p:cNvPicPr>
          <p:nvPr/>
        </p:nvPicPr>
        <p:blipFill>
          <a:blip r:embed="rId2"/>
          <a:stretch>
            <a:fillRect/>
          </a:stretch>
        </p:blipFill>
        <p:spPr>
          <a:xfrm>
            <a:off x="908050" y="203200"/>
            <a:ext cx="10375900" cy="6451600"/>
          </a:xfrm>
          <a:prstGeom prst="rect">
            <a:avLst/>
          </a:prstGeom>
        </p:spPr>
      </p:pic>
    </p:spTree>
    <p:extLst>
      <p:ext uri="{BB962C8B-B14F-4D97-AF65-F5344CB8AC3E}">
        <p14:creationId xmlns:p14="http://schemas.microsoft.com/office/powerpoint/2010/main" val="3341371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FFA6664-B317-B7BE-8994-33C5A10572E0}"/>
                  </a:ext>
                </a:extLst>
              </p:cNvPr>
              <p:cNvSpPr txBox="1"/>
              <p:nvPr/>
            </p:nvSpPr>
            <p:spPr>
              <a:xfrm>
                <a:off x="1801091" y="637309"/>
                <a:ext cx="8589818" cy="707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𝐶</m:t>
                      </m:r>
                      <m:r>
                        <a:rPr lang="en-US" sz="4000" b="0" i="1" smtClean="0">
                          <a:latin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𝛾𝜏</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𝛽</m:t>
                      </m:r>
                      <m:sSup>
                        <m:sSupPr>
                          <m:ctrlPr>
                            <a:rPr lang="en-US" sz="4000" b="0" i="1" smtClean="0">
                              <a:latin typeface="Cambria Math" panose="02040503050406030204" pitchFamily="18" charset="0"/>
                              <a:ea typeface="Cambria Math" panose="02040503050406030204" pitchFamily="18" charset="0"/>
                            </a:rPr>
                          </m:ctrlPr>
                        </m:sSupPr>
                        <m:e>
                          <m:r>
                            <a:rPr lang="en-US" sz="4000" b="0" i="1" smtClean="0">
                              <a:latin typeface="Cambria Math" panose="02040503050406030204" pitchFamily="18" charset="0"/>
                              <a:ea typeface="Cambria Math" panose="02040503050406030204" pitchFamily="18" charset="0"/>
                            </a:rPr>
                            <m:t>𝜏</m:t>
                          </m:r>
                        </m:e>
                        <m:sup>
                          <m:r>
                            <a:rPr lang="en-US" sz="4000" b="0" i="1" smtClean="0">
                              <a:latin typeface="Cambria Math" panose="02040503050406030204" pitchFamily="18" charset="0"/>
                              <a:ea typeface="Cambria Math" panose="02040503050406030204" pitchFamily="18" charset="0"/>
                            </a:rPr>
                            <m:t>3</m:t>
                          </m:r>
                        </m:sup>
                      </m:sSup>
                    </m:oMath>
                  </m:oMathPara>
                </a14:m>
                <a:endParaRPr lang="en-CN" sz="4000" dirty="0"/>
              </a:p>
            </p:txBody>
          </p:sp>
        </mc:Choice>
        <mc:Fallback xmlns="">
          <p:sp>
            <p:nvSpPr>
              <p:cNvPr id="2" name="TextBox 1">
                <a:extLst>
                  <a:ext uri="{FF2B5EF4-FFF2-40B4-BE49-F238E27FC236}">
                    <a16:creationId xmlns:a16="http://schemas.microsoft.com/office/drawing/2014/main" id="{9FFA6664-B317-B7BE-8994-33C5A10572E0}"/>
                  </a:ext>
                </a:extLst>
              </p:cNvPr>
              <p:cNvSpPr txBox="1">
                <a:spLocks noRot="1" noChangeAspect="1" noMove="1" noResize="1" noEditPoints="1" noAdjustHandles="1" noChangeArrowheads="1" noChangeShapeType="1" noTextEdit="1"/>
              </p:cNvSpPr>
              <p:nvPr/>
            </p:nvSpPr>
            <p:spPr>
              <a:xfrm>
                <a:off x="1801091" y="637309"/>
                <a:ext cx="8589818" cy="707886"/>
              </a:xfrm>
              <a:prstGeom prst="rect">
                <a:avLst/>
              </a:prstGeom>
              <a:blipFill>
                <a:blip r:embed="rId2"/>
                <a:stretch>
                  <a:fillRect b="-21053"/>
                </a:stretch>
              </a:blipFill>
            </p:spPr>
            <p:txBody>
              <a:bodyPr/>
              <a:lstStyle/>
              <a:p>
                <a:r>
                  <a:rPr lang="en-CN">
                    <a:noFill/>
                  </a:rPr>
                  <a:t> </a:t>
                </a:r>
              </a:p>
            </p:txBody>
          </p:sp>
        </mc:Fallback>
      </mc:AlternateContent>
      <p:pic>
        <p:nvPicPr>
          <p:cNvPr id="5" name="Picture 4">
            <a:extLst>
              <a:ext uri="{FF2B5EF4-FFF2-40B4-BE49-F238E27FC236}">
                <a16:creationId xmlns:a16="http://schemas.microsoft.com/office/drawing/2014/main" id="{802B0040-1BD4-1610-E9ED-10F314DBD356}"/>
              </a:ext>
            </a:extLst>
          </p:cNvPr>
          <p:cNvPicPr>
            <a:picLocks noChangeAspect="1"/>
          </p:cNvPicPr>
          <p:nvPr/>
        </p:nvPicPr>
        <p:blipFill>
          <a:blip r:embed="rId3"/>
          <a:stretch>
            <a:fillRect/>
          </a:stretch>
        </p:blipFill>
        <p:spPr>
          <a:xfrm>
            <a:off x="4142509" y="2321519"/>
            <a:ext cx="4473864" cy="3625068"/>
          </a:xfrm>
          <a:prstGeom prst="rect">
            <a:avLst/>
          </a:prstGeom>
        </p:spPr>
      </p:pic>
      <p:sp>
        <p:nvSpPr>
          <p:cNvPr id="6" name="TextBox 5">
            <a:extLst>
              <a:ext uri="{FF2B5EF4-FFF2-40B4-BE49-F238E27FC236}">
                <a16:creationId xmlns:a16="http://schemas.microsoft.com/office/drawing/2014/main" id="{4FEF5B93-1DA9-87D9-9D92-94CC74E43D58}"/>
              </a:ext>
            </a:extLst>
          </p:cNvPr>
          <p:cNvSpPr txBox="1"/>
          <p:nvPr/>
        </p:nvSpPr>
        <p:spPr>
          <a:xfrm>
            <a:off x="374073" y="1648691"/>
            <a:ext cx="6303818" cy="369332"/>
          </a:xfrm>
          <a:prstGeom prst="rect">
            <a:avLst/>
          </a:prstGeom>
          <a:noFill/>
        </p:spPr>
        <p:txBody>
          <a:bodyPr wrap="square" rtlCol="0">
            <a:spAutoFit/>
          </a:bodyPr>
          <a:lstStyle/>
          <a:p>
            <a:r>
              <a:rPr lang="en-CN" dirty="0"/>
              <a:t>Part-1, electrons</a:t>
            </a:r>
            <a:r>
              <a:rPr lang="zh-CN" altLang="en-US" dirty="0"/>
              <a:t> 查笔记</a:t>
            </a:r>
            <a:endParaRPr lang="en-CN" dirty="0"/>
          </a:p>
        </p:txBody>
      </p:sp>
    </p:spTree>
    <p:extLst>
      <p:ext uri="{BB962C8B-B14F-4D97-AF65-F5344CB8AC3E}">
        <p14:creationId xmlns:p14="http://schemas.microsoft.com/office/powerpoint/2010/main" val="19031770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FFA6664-B317-B7BE-8994-33C5A10572E0}"/>
                  </a:ext>
                </a:extLst>
              </p:cNvPr>
              <p:cNvSpPr txBox="1"/>
              <p:nvPr/>
            </p:nvSpPr>
            <p:spPr>
              <a:xfrm>
                <a:off x="1801091" y="637309"/>
                <a:ext cx="8589818" cy="707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𝐶</m:t>
                      </m:r>
                      <m:r>
                        <a:rPr lang="en-US" sz="4000" b="0" i="1" smtClean="0">
                          <a:latin typeface="Cambria Math" panose="02040503050406030204" pitchFamily="18" charset="0"/>
                        </a:rPr>
                        <m:t>=</m:t>
                      </m:r>
                      <m:r>
                        <a:rPr lang="en-US" sz="4000" b="0" i="1" smtClean="0">
                          <a:solidFill>
                            <a:schemeClr val="tx1"/>
                          </a:solidFill>
                          <a:latin typeface="Cambria Math" panose="02040503050406030204" pitchFamily="18" charset="0"/>
                          <a:ea typeface="Cambria Math" panose="02040503050406030204" pitchFamily="18" charset="0"/>
                        </a:rPr>
                        <m:t>𝛾𝜏</m:t>
                      </m:r>
                      <m:r>
                        <a:rPr lang="en-US" sz="4000" b="0" i="1" smtClean="0">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𝛽</m:t>
                      </m:r>
                      <m:sSup>
                        <m:sSupPr>
                          <m:ctrlPr>
                            <a:rPr lang="en-US" sz="4000" b="0" i="1" smtClean="0">
                              <a:solidFill>
                                <a:srgbClr val="FF0000"/>
                              </a:solidFill>
                              <a:latin typeface="Cambria Math" panose="02040503050406030204" pitchFamily="18" charset="0"/>
                              <a:ea typeface="Cambria Math" panose="02040503050406030204" pitchFamily="18" charset="0"/>
                            </a:rPr>
                          </m:ctrlPr>
                        </m:sSupPr>
                        <m:e>
                          <m:r>
                            <a:rPr lang="en-US" sz="4000" b="0" i="1" smtClean="0">
                              <a:solidFill>
                                <a:srgbClr val="FF0000"/>
                              </a:solidFill>
                              <a:latin typeface="Cambria Math" panose="02040503050406030204" pitchFamily="18" charset="0"/>
                              <a:ea typeface="Cambria Math" panose="02040503050406030204" pitchFamily="18" charset="0"/>
                            </a:rPr>
                            <m:t>𝜏</m:t>
                          </m:r>
                        </m:e>
                        <m:sup>
                          <m:r>
                            <a:rPr lang="en-US" sz="4000" b="0" i="1" smtClean="0">
                              <a:solidFill>
                                <a:srgbClr val="FF0000"/>
                              </a:solidFill>
                              <a:latin typeface="Cambria Math" panose="02040503050406030204" pitchFamily="18" charset="0"/>
                              <a:ea typeface="Cambria Math" panose="02040503050406030204" pitchFamily="18" charset="0"/>
                            </a:rPr>
                            <m:t>3</m:t>
                          </m:r>
                        </m:sup>
                      </m:sSup>
                    </m:oMath>
                  </m:oMathPara>
                </a14:m>
                <a:endParaRPr lang="en-CN" sz="4000" dirty="0"/>
              </a:p>
            </p:txBody>
          </p:sp>
        </mc:Choice>
        <mc:Fallback xmlns="">
          <p:sp>
            <p:nvSpPr>
              <p:cNvPr id="2" name="TextBox 1">
                <a:extLst>
                  <a:ext uri="{FF2B5EF4-FFF2-40B4-BE49-F238E27FC236}">
                    <a16:creationId xmlns:a16="http://schemas.microsoft.com/office/drawing/2014/main" id="{9FFA6664-B317-B7BE-8994-33C5A10572E0}"/>
                  </a:ext>
                </a:extLst>
              </p:cNvPr>
              <p:cNvSpPr txBox="1">
                <a:spLocks noRot="1" noChangeAspect="1" noMove="1" noResize="1" noEditPoints="1" noAdjustHandles="1" noChangeArrowheads="1" noChangeShapeType="1" noTextEdit="1"/>
              </p:cNvSpPr>
              <p:nvPr/>
            </p:nvSpPr>
            <p:spPr>
              <a:xfrm>
                <a:off x="1801091" y="637309"/>
                <a:ext cx="8589818" cy="707886"/>
              </a:xfrm>
              <a:prstGeom prst="rect">
                <a:avLst/>
              </a:prstGeom>
              <a:blipFill>
                <a:blip r:embed="rId2"/>
                <a:stretch>
                  <a:fillRect b="-21053"/>
                </a:stretch>
              </a:blipFill>
            </p:spPr>
            <p:txBody>
              <a:bodyPr/>
              <a:lstStyle/>
              <a:p>
                <a:r>
                  <a:rPr lang="en-CN">
                    <a:noFill/>
                  </a:rPr>
                  <a:t> </a:t>
                </a:r>
              </a:p>
            </p:txBody>
          </p:sp>
        </mc:Fallback>
      </mc:AlternateContent>
      <p:sp>
        <p:nvSpPr>
          <p:cNvPr id="6" name="TextBox 5">
            <a:extLst>
              <a:ext uri="{FF2B5EF4-FFF2-40B4-BE49-F238E27FC236}">
                <a16:creationId xmlns:a16="http://schemas.microsoft.com/office/drawing/2014/main" id="{4FEF5B93-1DA9-87D9-9D92-94CC74E43D58}"/>
              </a:ext>
            </a:extLst>
          </p:cNvPr>
          <p:cNvSpPr txBox="1"/>
          <p:nvPr/>
        </p:nvSpPr>
        <p:spPr>
          <a:xfrm>
            <a:off x="374073" y="1648691"/>
            <a:ext cx="6303818" cy="369332"/>
          </a:xfrm>
          <a:prstGeom prst="rect">
            <a:avLst/>
          </a:prstGeom>
          <a:noFill/>
        </p:spPr>
        <p:txBody>
          <a:bodyPr wrap="square" rtlCol="0">
            <a:spAutoFit/>
          </a:bodyPr>
          <a:lstStyle/>
          <a:p>
            <a:r>
              <a:rPr lang="en-CN" dirty="0"/>
              <a:t>Part-</a:t>
            </a:r>
            <a:r>
              <a:rPr lang="en-US" altLang="zh-CN" dirty="0"/>
              <a:t>2</a:t>
            </a:r>
            <a:r>
              <a:rPr lang="en-CN" dirty="0"/>
              <a:t>, 爱因斯坦solid</a:t>
            </a:r>
            <a:r>
              <a:rPr lang="zh-CN" altLang="en-US" dirty="0"/>
              <a:t> 查笔记</a:t>
            </a:r>
            <a:endParaRPr lang="en-CN" dirty="0"/>
          </a:p>
        </p:txBody>
      </p:sp>
      <p:sp>
        <p:nvSpPr>
          <p:cNvPr id="4" name="TextBox 3">
            <a:extLst>
              <a:ext uri="{FF2B5EF4-FFF2-40B4-BE49-F238E27FC236}">
                <a16:creationId xmlns:a16="http://schemas.microsoft.com/office/drawing/2014/main" id="{A53BA9C0-0624-BC8D-0F4B-B71C37BF814F}"/>
              </a:ext>
            </a:extLst>
          </p:cNvPr>
          <p:cNvSpPr txBox="1"/>
          <p:nvPr/>
        </p:nvSpPr>
        <p:spPr>
          <a:xfrm>
            <a:off x="6938911" y="3521825"/>
            <a:ext cx="5015345" cy="646331"/>
          </a:xfrm>
          <a:prstGeom prst="rect">
            <a:avLst/>
          </a:prstGeom>
          <a:noFill/>
        </p:spPr>
        <p:txBody>
          <a:bodyPr wrap="square" rtlCol="0">
            <a:spAutoFit/>
          </a:bodyPr>
          <a:lstStyle/>
          <a:p>
            <a:r>
              <a:rPr lang="en-US" dirty="0"/>
              <a:t>T</a:t>
            </a:r>
            <a:r>
              <a:rPr lang="en-CN" dirty="0"/>
              <a:t>he heat capacity goes to zero exponentially in the limit tau-&gt;0.</a:t>
            </a:r>
          </a:p>
        </p:txBody>
      </p:sp>
      <p:pic>
        <p:nvPicPr>
          <p:cNvPr id="7" name="Picture 6">
            <a:extLst>
              <a:ext uri="{FF2B5EF4-FFF2-40B4-BE49-F238E27FC236}">
                <a16:creationId xmlns:a16="http://schemas.microsoft.com/office/drawing/2014/main" id="{47DD617F-E840-7EB6-01B1-7067FE997041}"/>
              </a:ext>
            </a:extLst>
          </p:cNvPr>
          <p:cNvPicPr>
            <a:picLocks noChangeAspect="1"/>
          </p:cNvPicPr>
          <p:nvPr/>
        </p:nvPicPr>
        <p:blipFill>
          <a:blip r:embed="rId3"/>
          <a:stretch>
            <a:fillRect/>
          </a:stretch>
        </p:blipFill>
        <p:spPr>
          <a:xfrm>
            <a:off x="1389887" y="2018023"/>
            <a:ext cx="5208561" cy="4002058"/>
          </a:xfrm>
          <a:prstGeom prst="rect">
            <a:avLst/>
          </a:prstGeom>
        </p:spPr>
      </p:pic>
    </p:spTree>
    <p:extLst>
      <p:ext uri="{BB962C8B-B14F-4D97-AF65-F5344CB8AC3E}">
        <p14:creationId xmlns:p14="http://schemas.microsoft.com/office/powerpoint/2010/main" val="39351240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C43119-F83D-8E62-E380-C5C19536FF30}"/>
              </a:ext>
            </a:extLst>
          </p:cNvPr>
          <p:cNvSpPr txBox="1"/>
          <p:nvPr/>
        </p:nvSpPr>
        <p:spPr>
          <a:xfrm>
            <a:off x="1524000" y="595745"/>
            <a:ext cx="9642763" cy="707886"/>
          </a:xfrm>
          <a:prstGeom prst="rect">
            <a:avLst/>
          </a:prstGeom>
          <a:noFill/>
        </p:spPr>
        <p:txBody>
          <a:bodyPr wrap="square" rtlCol="0">
            <a:spAutoFit/>
          </a:bodyPr>
          <a:lstStyle/>
          <a:p>
            <a:pPr algn="ctr"/>
            <a:r>
              <a:rPr lang="en-CN" sz="4000" dirty="0">
                <a:latin typeface="FangSong" panose="02010609060101010101" pitchFamily="49" charset="-122"/>
                <a:ea typeface="FangSong" panose="02010609060101010101" pitchFamily="49" charset="-122"/>
              </a:rPr>
              <a:t>相互独立的谐振子图像</a:t>
            </a:r>
            <a:r>
              <a:rPr lang="en-US" sz="4000" dirty="0">
                <a:latin typeface="FangSong" panose="02010609060101010101" pitchFamily="49" charset="-122"/>
                <a:ea typeface="FangSong" panose="02010609060101010101" pitchFamily="49" charset="-122"/>
              </a:rPr>
              <a:t>!</a:t>
            </a:r>
            <a:r>
              <a:rPr lang="en-US" altLang="zh-CN" sz="4000" dirty="0">
                <a:latin typeface="FangSong" panose="02010609060101010101" pitchFamily="49" charset="-122"/>
                <a:ea typeface="FangSong" panose="02010609060101010101" pitchFamily="49" charset="-122"/>
              </a:rPr>
              <a:t>?</a:t>
            </a:r>
            <a:endParaRPr lang="en-CN" sz="4000" dirty="0">
              <a:latin typeface="FangSong" panose="02010609060101010101" pitchFamily="49" charset="-122"/>
              <a:ea typeface="FangSong" panose="02010609060101010101" pitchFamily="49" charset="-122"/>
            </a:endParaRPr>
          </a:p>
        </p:txBody>
      </p:sp>
      <p:pic>
        <p:nvPicPr>
          <p:cNvPr id="3074" name="Picture 2">
            <a:extLst>
              <a:ext uri="{FF2B5EF4-FFF2-40B4-BE49-F238E27FC236}">
                <a16:creationId xmlns:a16="http://schemas.microsoft.com/office/drawing/2014/main" id="{786FB7AF-6AA8-A586-6F24-A6EA430F2A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0782" y="2500745"/>
            <a:ext cx="2794000" cy="39624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B45E9886-9984-AC5C-F2CF-0D421353FF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5363" y="2500745"/>
            <a:ext cx="3045692" cy="4000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45040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4BDA2E-0D69-E7A5-7325-BBBC3A52ACF5}"/>
              </a:ext>
            </a:extLst>
          </p:cNvPr>
          <p:cNvPicPr>
            <a:picLocks noChangeAspect="1"/>
          </p:cNvPicPr>
          <p:nvPr/>
        </p:nvPicPr>
        <p:blipFill>
          <a:blip r:embed="rId2"/>
          <a:stretch>
            <a:fillRect/>
          </a:stretch>
        </p:blipFill>
        <p:spPr>
          <a:xfrm>
            <a:off x="2722418" y="1288887"/>
            <a:ext cx="6747164" cy="1362151"/>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9390C1E-62E6-56D3-DFFE-6A0A546BBFC2}"/>
                  </a:ext>
                </a:extLst>
              </p:cNvPr>
              <p:cNvSpPr txBox="1"/>
              <p:nvPr/>
            </p:nvSpPr>
            <p:spPr>
              <a:xfrm>
                <a:off x="692727" y="3259697"/>
                <a:ext cx="10806546" cy="2923749"/>
              </a:xfrm>
              <a:prstGeom prst="rect">
                <a:avLst/>
              </a:prstGeom>
              <a:noFill/>
            </p:spPr>
            <p:txBody>
              <a:bodyPr wrap="square" rtlCol="0">
                <a:spAutoFit/>
              </a:bodyPr>
              <a:lstStyle/>
              <a:p>
                <a:r>
                  <a:rPr lang="en-CN" dirty="0"/>
                  <a:t>利用牛二</a:t>
                </a:r>
                <a:r>
                  <a:rPr lang="zh-CN" altLang="en-US" dirty="0"/>
                  <a:t>，某谐振子偏离平衡点的位置满足</a:t>
                </a:r>
                <a:endParaRPr lang="en-US" altLang="zh-CN" dirty="0"/>
              </a:p>
              <a:p>
                <a:pPr algn="ct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0</m:t>
                          </m:r>
                        </m:sub>
                      </m:sSub>
                      <m:d>
                        <m:dPr>
                          <m:ctrlPr>
                            <a:rPr lang="en-CN" i="1" smtClean="0">
                              <a:latin typeface="Cambria Math" panose="02040503050406030204" pitchFamily="18" charset="0"/>
                            </a:rPr>
                          </m:ctrlPr>
                        </m:dPr>
                        <m:e>
                          <m:sSub>
                            <m:sSubPr>
                              <m:ctrlPr>
                                <a:rPr lang="en-CN"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sSub>
                        <m:sSubPr>
                          <m:ctrlPr>
                            <a:rPr lang="en-CN"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0</m:t>
                          </m:r>
                        </m:sub>
                      </m:sSub>
                      <m:d>
                        <m:dPr>
                          <m:ctrlPr>
                            <a:rPr lang="en-CN" i="1">
                              <a:latin typeface="Cambria Math" panose="02040503050406030204" pitchFamily="18" charset="0"/>
                            </a:rPr>
                          </m:ctrlPr>
                        </m:dPr>
                        <m:e>
                          <m:sSub>
                            <m:sSubPr>
                              <m:ctrlPr>
                                <a:rPr lang="en-CN"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𝑛</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𝑛</m:t>
                              </m:r>
                              <m:r>
                                <a:rPr lang="en-US" b="0" i="1" smtClean="0">
                                  <a:latin typeface="Cambria Math" panose="02040503050406030204" pitchFamily="18" charset="0"/>
                                </a:rPr>
                                <m:t>−1</m:t>
                              </m:r>
                            </m:sub>
                          </m:sSub>
                        </m:e>
                      </m:d>
                      <m:r>
                        <a:rPr lang="en-US" b="0" i="1" smtClean="0">
                          <a:latin typeface="Cambria Math" panose="02040503050406030204" pitchFamily="18" charset="0"/>
                        </a:rPr>
                        <m:t>=</m:t>
                      </m:r>
                      <m:r>
                        <a:rPr lang="en-US" b="0" i="1" smtClean="0">
                          <a:latin typeface="Cambria Math" panose="02040503050406030204" pitchFamily="18" charset="0"/>
                        </a:rPr>
                        <m:t>𝑚</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2</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𝑛</m:t>
                              </m:r>
                            </m:sub>
                          </m:sSub>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2</m:t>
                              </m:r>
                            </m:sup>
                          </m:sSup>
                          <m:r>
                            <a:rPr lang="en-US" b="0" i="1" smtClean="0">
                              <a:latin typeface="Cambria Math" panose="02040503050406030204" pitchFamily="18" charset="0"/>
                            </a:rPr>
                            <m:t>𝑡</m:t>
                          </m:r>
                        </m:den>
                      </m:f>
                    </m:oMath>
                  </m:oMathPara>
                </a14:m>
                <a:endParaRPr lang="en-CN" dirty="0"/>
              </a:p>
              <a:p>
                <a:r>
                  <a:rPr lang="en-CN" dirty="0"/>
                  <a:t>把弹簧系数</a:t>
                </a:r>
                <a:r>
                  <a:rPr lang="zh-CN" altLang="en-US" dirty="0"/>
                  <a:t>、质量重新整合成本征频率，上方程可以写成</a:t>
                </a:r>
                <a:endParaRPr lang="en-US" altLang="zh-CN" dirty="0"/>
              </a:p>
              <a:p>
                <a:pPr algn="ctr"/>
                <a14:m>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𝑛</m:t>
                        </m:r>
                      </m:sub>
                    </m:sSub>
                    <m:r>
                      <a:rPr lang="en-US" b="0" i="1" smtClean="0">
                        <a:latin typeface="Cambria Math" panose="02040503050406030204" pitchFamily="18" charset="0"/>
                      </a:rPr>
                      <m:t>=</m:t>
                    </m:r>
                  </m:oMath>
                </a14:m>
                <a:r>
                  <a:rPr lang="en-US" dirty="0"/>
                  <a:t>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sSubSup>
                          <m:sSubSupPr>
                            <m:ctrlPr>
                              <a:rPr lang="en-US" i="1" smtClean="0">
                                <a:latin typeface="Cambria Math" panose="02040503050406030204" pitchFamily="18" charset="0"/>
                              </a:rPr>
                            </m:ctrlPr>
                          </m:sSubSupPr>
                          <m:e>
                            <m:r>
                              <a:rPr lang="en-US"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0</m:t>
                            </m:r>
                          </m:sub>
                          <m:sup>
                            <m:r>
                              <a:rPr lang="en-US" b="0" i="1" smtClean="0">
                                <a:latin typeface="Cambria Math" panose="02040503050406030204" pitchFamily="18" charset="0"/>
                              </a:rPr>
                              <m:t>2</m:t>
                            </m:r>
                          </m:sup>
                        </m:sSubSup>
                      </m:den>
                    </m:f>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𝑑</m:t>
                            </m:r>
                          </m:e>
                          <m:sup>
                            <m:r>
                              <a:rPr lang="en-US" i="1">
                                <a:latin typeface="Cambria Math" panose="02040503050406030204" pitchFamily="18" charset="0"/>
                              </a:rPr>
                              <m:t>2</m:t>
                            </m:r>
                          </m:sup>
                        </m:sSup>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𝑛</m:t>
                            </m:r>
                          </m:sub>
                        </m:sSub>
                      </m:num>
                      <m:den>
                        <m:sSup>
                          <m:sSupPr>
                            <m:ctrlPr>
                              <a:rPr lang="en-US" i="1">
                                <a:latin typeface="Cambria Math" panose="02040503050406030204" pitchFamily="18" charset="0"/>
                              </a:rPr>
                            </m:ctrlPr>
                          </m:sSupPr>
                          <m:e>
                            <m:r>
                              <a:rPr lang="en-US" i="1">
                                <a:latin typeface="Cambria Math" panose="02040503050406030204" pitchFamily="18" charset="0"/>
                              </a:rPr>
                              <m:t>𝑑</m:t>
                            </m:r>
                          </m:e>
                          <m:sup>
                            <m:r>
                              <a:rPr lang="en-US" i="1">
                                <a:latin typeface="Cambria Math" panose="02040503050406030204" pitchFamily="18" charset="0"/>
                              </a:rPr>
                              <m:t>2</m:t>
                            </m:r>
                          </m:sup>
                        </m:sSup>
                        <m:r>
                          <a:rPr lang="en-US" i="1">
                            <a:latin typeface="Cambria Math" panose="02040503050406030204" pitchFamily="18" charset="0"/>
                          </a:rPr>
                          <m:t>𝑡</m:t>
                        </m:r>
                      </m:den>
                    </m:f>
                  </m:oMath>
                </a14:m>
                <a:endParaRPr lang="en-CN" dirty="0"/>
              </a:p>
              <a:p>
                <a:r>
                  <a:rPr lang="en-CN" dirty="0"/>
                  <a:t>假设所有的谐振子具有同一个频率</a:t>
                </a:r>
                <a:r>
                  <a:rPr lang="zh-CN" altLang="en-US" dirty="0"/>
                  <a:t>，上方程的解的形式可以写成</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𝑢</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𝑛</m:t>
                        </m:r>
                      </m:sub>
                    </m:sSub>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𝜔</m:t>
                        </m:r>
                        <m:r>
                          <a:rPr lang="en-US" altLang="zh-CN" b="0" i="1" smtClean="0">
                            <a:latin typeface="Cambria Math" panose="02040503050406030204" pitchFamily="18" charset="0"/>
                            <a:ea typeface="Cambria Math" panose="02040503050406030204" pitchFamily="18" charset="0"/>
                          </a:rPr>
                          <m:t>𝑡</m:t>
                        </m:r>
                      </m:sup>
                    </m:sSup>
                  </m:oMath>
                </a14:m>
                <a:r>
                  <a:rPr lang="zh-CN" altLang="en-US" dirty="0"/>
                  <a:t>，则可以给出振幅满足的方程</a:t>
                </a:r>
                <a:endParaRPr lang="en-US" altLang="zh-CN" dirty="0"/>
              </a:p>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2</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𝜔</m:t>
                              </m:r>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𝜔</m:t>
                              </m:r>
                            </m:e>
                            <m:sup>
                              <m:r>
                                <a:rPr lang="en-US" altLang="zh-CN" b="0" i="1" smtClean="0">
                                  <a:latin typeface="Cambria Math" panose="02040503050406030204" pitchFamily="18" charset="0"/>
                                </a:rPr>
                                <m:t>2</m:t>
                              </m:r>
                            </m:sup>
                          </m:sSup>
                        </m:num>
                        <m:den>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𝜔</m:t>
                              </m:r>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2</m:t>
                              </m:r>
                            </m:sup>
                          </m:sSubSup>
                        </m:den>
                      </m:f>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𝑛</m:t>
                          </m:r>
                        </m:sub>
                      </m:sSub>
                    </m:oMath>
                  </m:oMathPara>
                </a14:m>
                <a:endParaRPr lang="en-US" altLang="zh-CN" dirty="0"/>
              </a:p>
              <a:p>
                <a:r>
                  <a:rPr lang="en-CN" dirty="0"/>
                  <a:t>为一本征方程</a:t>
                </a:r>
                <a:r>
                  <a:rPr lang="zh-CN" altLang="en-US" dirty="0"/>
                  <a:t>，求解本征值和本征函数。</a:t>
                </a:r>
                <a:endParaRPr lang="en-CN" dirty="0"/>
              </a:p>
            </p:txBody>
          </p:sp>
        </mc:Choice>
        <mc:Fallback xmlns="">
          <p:sp>
            <p:nvSpPr>
              <p:cNvPr id="3" name="TextBox 2">
                <a:extLst>
                  <a:ext uri="{FF2B5EF4-FFF2-40B4-BE49-F238E27FC236}">
                    <a16:creationId xmlns:a16="http://schemas.microsoft.com/office/drawing/2014/main" id="{C9390C1E-62E6-56D3-DFFE-6A0A546BBFC2}"/>
                  </a:ext>
                </a:extLst>
              </p:cNvPr>
              <p:cNvSpPr txBox="1">
                <a:spLocks noRot="1" noChangeAspect="1" noMove="1" noResize="1" noEditPoints="1" noAdjustHandles="1" noChangeArrowheads="1" noChangeShapeType="1" noTextEdit="1"/>
              </p:cNvSpPr>
              <p:nvPr/>
            </p:nvSpPr>
            <p:spPr>
              <a:xfrm>
                <a:off x="692727" y="3259697"/>
                <a:ext cx="10806546" cy="2923749"/>
              </a:xfrm>
              <a:prstGeom prst="rect">
                <a:avLst/>
              </a:prstGeom>
              <a:blipFill>
                <a:blip r:embed="rId3"/>
                <a:stretch>
                  <a:fillRect l="-469" t="-866" r="-235" b="-866"/>
                </a:stretch>
              </a:blipFill>
            </p:spPr>
            <p:txBody>
              <a:bodyPr/>
              <a:lstStyle/>
              <a:p>
                <a:r>
                  <a:rPr lang="en-CN">
                    <a:noFill/>
                  </a:rPr>
                  <a:t> </a:t>
                </a:r>
              </a:p>
            </p:txBody>
          </p:sp>
        </mc:Fallback>
      </mc:AlternateContent>
      <p:sp>
        <p:nvSpPr>
          <p:cNvPr id="4" name="TextBox 3">
            <a:extLst>
              <a:ext uri="{FF2B5EF4-FFF2-40B4-BE49-F238E27FC236}">
                <a16:creationId xmlns:a16="http://schemas.microsoft.com/office/drawing/2014/main" id="{74803041-9D03-BD0A-2FAA-D82CB0F55E26}"/>
              </a:ext>
            </a:extLst>
          </p:cNvPr>
          <p:cNvSpPr txBox="1"/>
          <p:nvPr/>
        </p:nvSpPr>
        <p:spPr>
          <a:xfrm>
            <a:off x="512064" y="310896"/>
            <a:ext cx="4224528" cy="369332"/>
          </a:xfrm>
          <a:prstGeom prst="rect">
            <a:avLst/>
          </a:prstGeom>
          <a:noFill/>
        </p:spPr>
        <p:txBody>
          <a:bodyPr wrap="square" rtlCol="0">
            <a:spAutoFit/>
          </a:bodyPr>
          <a:lstStyle/>
          <a:p>
            <a:r>
              <a:rPr lang="en-CN" dirty="0"/>
              <a:t>从经典图像谈起</a:t>
            </a:r>
          </a:p>
        </p:txBody>
      </p:sp>
    </p:spTree>
    <p:extLst>
      <p:ext uri="{BB962C8B-B14F-4D97-AF65-F5344CB8AC3E}">
        <p14:creationId xmlns:p14="http://schemas.microsoft.com/office/powerpoint/2010/main" val="15473133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1E43055-4CA9-A6BE-0C71-2FDBB3030C0A}"/>
                  </a:ext>
                </a:extLst>
              </p:cNvPr>
              <p:cNvSpPr txBox="1"/>
              <p:nvPr/>
            </p:nvSpPr>
            <p:spPr>
              <a:xfrm>
                <a:off x="332509" y="586265"/>
                <a:ext cx="8825346" cy="6210226"/>
              </a:xfrm>
              <a:prstGeom prst="rect">
                <a:avLst/>
              </a:prstGeom>
              <a:noFill/>
            </p:spPr>
            <p:txBody>
              <a:bodyPr wrap="square" lIns="0" tIns="0" rIns="0" bIns="0" rtlCol="0">
                <a:spAutoFit/>
              </a:bodyPr>
              <a:lstStyle/>
              <a:p>
                <a14:m>
                  <m:oMath xmlns:m="http://schemas.openxmlformats.org/officeDocument/2006/math">
                    <m:d>
                      <m:dPr>
                        <m:ctrlPr>
                          <a:rPr lang="en-CN" sz="3600" i="1" smtClean="0">
                            <a:latin typeface="Cambria Math" panose="02040503050406030204" pitchFamily="18" charset="0"/>
                          </a:rPr>
                        </m:ctrlPr>
                      </m:dPr>
                      <m:e>
                        <m:eqArr>
                          <m:eqArrPr>
                            <m:ctrlPr>
                              <a:rPr lang="en-CN" sz="3600" i="1" smtClean="0">
                                <a:latin typeface="Cambria Math" panose="02040503050406030204" pitchFamily="18" charset="0"/>
                              </a:rPr>
                            </m:ctrlPr>
                          </m:eqArrPr>
                          <m:e>
                            <m:m>
                              <m:mPr>
                                <m:mcs>
                                  <m:mc>
                                    <m:mcPr>
                                      <m:count m:val="2"/>
                                      <m:mcJc m:val="center"/>
                                    </m:mcPr>
                                  </m:mc>
                                </m:mcs>
                                <m:ctrlPr>
                                  <a:rPr lang="en-CN" sz="3600" i="1" smtClean="0">
                                    <a:latin typeface="Cambria Math" panose="02040503050406030204" pitchFamily="18" charset="0"/>
                                  </a:rPr>
                                </m:ctrlPr>
                              </m:mPr>
                              <m:mr>
                                <m:e>
                                  <m:r>
                                    <m:rPr>
                                      <m:brk m:alnAt="7"/>
                                    </m:rPr>
                                    <a:rPr lang="en-US" sz="3600" b="0" i="1" smtClean="0">
                                      <a:latin typeface="Cambria Math" panose="02040503050406030204" pitchFamily="18" charset="0"/>
                                    </a:rPr>
                                    <m:t>−</m:t>
                                  </m:r>
                                  <m:f>
                                    <m:fPr>
                                      <m:ctrlPr>
                                        <a:rPr lang="en-US" altLang="zh-CN" sz="3600" i="1">
                                          <a:latin typeface="Cambria Math" panose="02040503050406030204" pitchFamily="18" charset="0"/>
                                        </a:rPr>
                                      </m:ctrlPr>
                                    </m:fPr>
                                    <m:num>
                                      <m:r>
                                        <a:rPr lang="en-US" altLang="zh-CN" sz="3600" i="1">
                                          <a:latin typeface="Cambria Math" panose="02040503050406030204" pitchFamily="18" charset="0"/>
                                        </a:rPr>
                                        <m:t>2</m:t>
                                      </m:r>
                                      <m:sSubSup>
                                        <m:sSubSupPr>
                                          <m:ctrlPr>
                                            <a:rPr lang="en-US" altLang="zh-CN" sz="3600" i="1">
                                              <a:latin typeface="Cambria Math" panose="02040503050406030204" pitchFamily="18" charset="0"/>
                                            </a:rPr>
                                          </m:ctrlPr>
                                        </m:sSubSupPr>
                                        <m:e>
                                          <m:r>
                                            <a:rPr lang="en-US" altLang="zh-CN" sz="3600" i="1">
                                              <a:latin typeface="Cambria Math" panose="02040503050406030204" pitchFamily="18" charset="0"/>
                                              <a:ea typeface="Cambria Math" panose="02040503050406030204" pitchFamily="18" charset="0"/>
                                            </a:rPr>
                                            <m:t>𝜔</m:t>
                                          </m:r>
                                        </m:e>
                                        <m:sub>
                                          <m:r>
                                            <a:rPr lang="en-US" altLang="zh-CN" sz="3600" i="1">
                                              <a:latin typeface="Cambria Math" panose="02040503050406030204" pitchFamily="18" charset="0"/>
                                            </a:rPr>
                                            <m:t>0</m:t>
                                          </m:r>
                                        </m:sub>
                                        <m:sup>
                                          <m:r>
                                            <a:rPr lang="en-US" altLang="zh-CN" sz="3600" i="1">
                                              <a:latin typeface="Cambria Math" panose="02040503050406030204" pitchFamily="18" charset="0"/>
                                            </a:rPr>
                                            <m:t>2</m:t>
                                          </m:r>
                                        </m:sup>
                                      </m:sSubSup>
                                      <m:r>
                                        <a:rPr lang="en-US" altLang="zh-CN" sz="3600" i="1">
                                          <a:latin typeface="Cambria Math" panose="02040503050406030204" pitchFamily="18" charset="0"/>
                                        </a:rPr>
                                        <m:t>−</m:t>
                                      </m:r>
                                      <m:sSup>
                                        <m:sSupPr>
                                          <m:ctrlPr>
                                            <a:rPr lang="en-US" altLang="zh-CN" sz="3600" i="1">
                                              <a:latin typeface="Cambria Math" panose="02040503050406030204" pitchFamily="18" charset="0"/>
                                            </a:rPr>
                                          </m:ctrlPr>
                                        </m:sSupPr>
                                        <m:e>
                                          <m:r>
                                            <a:rPr lang="en-US" altLang="zh-CN" sz="3600" i="1">
                                              <a:latin typeface="Cambria Math" panose="02040503050406030204" pitchFamily="18" charset="0"/>
                                              <a:ea typeface="Cambria Math" panose="02040503050406030204" pitchFamily="18" charset="0"/>
                                            </a:rPr>
                                            <m:t>𝜔</m:t>
                                          </m:r>
                                        </m:e>
                                        <m:sup>
                                          <m:r>
                                            <a:rPr lang="en-US" altLang="zh-CN" sz="3600" i="1">
                                              <a:latin typeface="Cambria Math" panose="02040503050406030204" pitchFamily="18" charset="0"/>
                                            </a:rPr>
                                            <m:t>2</m:t>
                                          </m:r>
                                        </m:sup>
                                      </m:sSup>
                                    </m:num>
                                    <m:den>
                                      <m:sSubSup>
                                        <m:sSubSupPr>
                                          <m:ctrlPr>
                                            <a:rPr lang="en-US" altLang="zh-CN" sz="3600" i="1">
                                              <a:latin typeface="Cambria Math" panose="02040503050406030204" pitchFamily="18" charset="0"/>
                                            </a:rPr>
                                          </m:ctrlPr>
                                        </m:sSubSupPr>
                                        <m:e>
                                          <m:r>
                                            <a:rPr lang="en-US" altLang="zh-CN" sz="3600" i="1">
                                              <a:latin typeface="Cambria Math" panose="02040503050406030204" pitchFamily="18" charset="0"/>
                                              <a:ea typeface="Cambria Math" panose="02040503050406030204" pitchFamily="18" charset="0"/>
                                            </a:rPr>
                                            <m:t>𝜔</m:t>
                                          </m:r>
                                        </m:e>
                                        <m:sub>
                                          <m:r>
                                            <a:rPr lang="en-US" altLang="zh-CN" sz="3600" i="1">
                                              <a:latin typeface="Cambria Math" panose="02040503050406030204" pitchFamily="18" charset="0"/>
                                            </a:rPr>
                                            <m:t>0</m:t>
                                          </m:r>
                                        </m:sub>
                                        <m:sup>
                                          <m:r>
                                            <a:rPr lang="en-US" altLang="zh-CN" sz="3600" i="1">
                                              <a:latin typeface="Cambria Math" panose="02040503050406030204" pitchFamily="18" charset="0"/>
                                            </a:rPr>
                                            <m:t>2</m:t>
                                          </m:r>
                                        </m:sup>
                                      </m:sSubSup>
                                    </m:den>
                                  </m:f>
                                </m:e>
                                <m:e>
                                  <m:r>
                                    <a:rPr lang="en-US" sz="3600" b="0" i="1" smtClean="0">
                                      <a:latin typeface="Cambria Math" panose="02040503050406030204" pitchFamily="18" charset="0"/>
                                    </a:rPr>
                                    <m:t>1</m:t>
                                  </m:r>
                                </m:e>
                              </m:mr>
                            </m:m>
                            <m:r>
                              <a:rPr lang="zh-CN" altLang="en-US" sz="3600" b="0" i="1" smtClean="0">
                                <a:latin typeface="Cambria Math" panose="02040503050406030204" pitchFamily="18" charset="0"/>
                              </a:rPr>
                              <m:t>    </m:t>
                            </m:r>
                            <m:m>
                              <m:mPr>
                                <m:mcs>
                                  <m:mc>
                                    <m:mcPr>
                                      <m:count m:val="2"/>
                                      <m:mcJc m:val="center"/>
                                    </m:mcPr>
                                  </m:mc>
                                </m:mcs>
                                <m:ctrlPr>
                                  <a:rPr lang="en-US" altLang="zh-CN" sz="3600" b="0" i="1" smtClean="0">
                                    <a:latin typeface="Cambria Math" panose="02040503050406030204" pitchFamily="18" charset="0"/>
                                  </a:rPr>
                                </m:ctrlPr>
                              </m:mPr>
                              <m:mr>
                                <m:e>
                                  <m:r>
                                    <m:rPr>
                                      <m:brk m:alnAt="7"/>
                                    </m:rPr>
                                    <a:rPr lang="en-US" altLang="zh-CN" sz="3600" b="0" i="1" smtClean="0">
                                      <a:latin typeface="Cambria Math" panose="02040503050406030204" pitchFamily="18" charset="0"/>
                                    </a:rPr>
                                    <m:t>0</m:t>
                                  </m:r>
                                </m:e>
                                <m:e>
                                  <m:r>
                                    <a:rPr lang="en-US" altLang="zh-CN" sz="3600" b="0" i="1" smtClean="0">
                                      <a:latin typeface="Cambria Math" panose="02040503050406030204" pitchFamily="18" charset="0"/>
                                    </a:rPr>
                                    <m:t>0</m:t>
                                  </m:r>
                                </m:e>
                              </m:mr>
                            </m:m>
                            <m:r>
                              <a:rPr lang="zh-CN" altLang="en-US" sz="3600" b="0" i="1" smtClean="0">
                                <a:latin typeface="Cambria Math" panose="02040503050406030204" pitchFamily="18" charset="0"/>
                              </a:rPr>
                              <m:t>    </m:t>
                            </m:r>
                            <m:m>
                              <m:mPr>
                                <m:mcs>
                                  <m:mc>
                                    <m:mcPr>
                                      <m:count m:val="2"/>
                                      <m:mcJc m:val="center"/>
                                    </m:mcPr>
                                  </m:mc>
                                </m:mcs>
                                <m:ctrlPr>
                                  <a:rPr lang="en-US" altLang="zh-CN" sz="3600" b="0" i="1" smtClean="0">
                                    <a:latin typeface="Cambria Math" panose="02040503050406030204" pitchFamily="18" charset="0"/>
                                  </a:rPr>
                                </m:ctrlPr>
                              </m:mPr>
                              <m:mr>
                                <m:e>
                                  <m:r>
                                    <m:rPr>
                                      <m:brk m:alnAt="7"/>
                                    </m:rPr>
                                    <a:rPr lang="en-US" altLang="zh-CN" sz="3600" b="0" i="1" smtClean="0">
                                      <a:latin typeface="Cambria Math" panose="02040503050406030204" pitchFamily="18" charset="0"/>
                                    </a:rPr>
                                    <m:t>0</m:t>
                                  </m:r>
                                </m:e>
                                <m:e>
                                  <m:r>
                                    <a:rPr lang="en-US" altLang="zh-CN" sz="3600" b="0" i="1" smtClean="0">
                                      <a:solidFill>
                                        <a:srgbClr val="FF0000"/>
                                      </a:solidFill>
                                      <a:latin typeface="Cambria Math" panose="02040503050406030204" pitchFamily="18" charset="0"/>
                                    </a:rPr>
                                    <m:t>1</m:t>
                                  </m:r>
                                </m:e>
                              </m:mr>
                            </m:m>
                          </m:e>
                          <m:e>
                            <m:m>
                              <m:mPr>
                                <m:mcs>
                                  <m:mc>
                                    <m:mcPr>
                                      <m:count m:val="2"/>
                                      <m:mcJc m:val="center"/>
                                    </m:mcPr>
                                  </m:mc>
                                </m:mcs>
                                <m:ctrlPr>
                                  <a:rPr lang="en-US" altLang="zh-CN" sz="3600" b="0" i="1" smtClean="0">
                                    <a:latin typeface="Cambria Math" panose="02040503050406030204" pitchFamily="18" charset="0"/>
                                  </a:rPr>
                                </m:ctrlPr>
                              </m:mPr>
                              <m:mr>
                                <m:e>
                                  <m:r>
                                    <m:rPr>
                                      <m:brk m:alnAt="7"/>
                                    </m:rPr>
                                    <a:rPr lang="en-US" altLang="zh-CN" sz="3600" b="0" i="1" smtClean="0">
                                      <a:latin typeface="Cambria Math" panose="02040503050406030204" pitchFamily="18" charset="0"/>
                                    </a:rPr>
                                    <m:t>1</m:t>
                                  </m:r>
                                </m:e>
                                <m:e>
                                  <m:r>
                                    <m:rPr>
                                      <m:brk m:alnAt="7"/>
                                    </m:rPr>
                                    <a:rPr lang="en-US" sz="3600" i="1">
                                      <a:latin typeface="Cambria Math" panose="02040503050406030204" pitchFamily="18" charset="0"/>
                                    </a:rPr>
                                    <m:t>−</m:t>
                                  </m:r>
                                  <m:f>
                                    <m:fPr>
                                      <m:ctrlPr>
                                        <a:rPr lang="en-US" altLang="zh-CN" sz="3600" i="1">
                                          <a:latin typeface="Cambria Math" panose="02040503050406030204" pitchFamily="18" charset="0"/>
                                        </a:rPr>
                                      </m:ctrlPr>
                                    </m:fPr>
                                    <m:num>
                                      <m:r>
                                        <a:rPr lang="en-US" altLang="zh-CN" sz="3600" i="1">
                                          <a:latin typeface="Cambria Math" panose="02040503050406030204" pitchFamily="18" charset="0"/>
                                        </a:rPr>
                                        <m:t>2</m:t>
                                      </m:r>
                                      <m:sSubSup>
                                        <m:sSubSupPr>
                                          <m:ctrlPr>
                                            <a:rPr lang="en-US" altLang="zh-CN" sz="3600" i="1">
                                              <a:latin typeface="Cambria Math" panose="02040503050406030204" pitchFamily="18" charset="0"/>
                                            </a:rPr>
                                          </m:ctrlPr>
                                        </m:sSubSupPr>
                                        <m:e>
                                          <m:r>
                                            <a:rPr lang="en-US" altLang="zh-CN" sz="3600" i="1">
                                              <a:latin typeface="Cambria Math" panose="02040503050406030204" pitchFamily="18" charset="0"/>
                                              <a:ea typeface="Cambria Math" panose="02040503050406030204" pitchFamily="18" charset="0"/>
                                            </a:rPr>
                                            <m:t>𝜔</m:t>
                                          </m:r>
                                        </m:e>
                                        <m:sub>
                                          <m:r>
                                            <a:rPr lang="en-US" altLang="zh-CN" sz="3600" i="1">
                                              <a:latin typeface="Cambria Math" panose="02040503050406030204" pitchFamily="18" charset="0"/>
                                            </a:rPr>
                                            <m:t>0</m:t>
                                          </m:r>
                                        </m:sub>
                                        <m:sup>
                                          <m:r>
                                            <a:rPr lang="en-US" altLang="zh-CN" sz="3600" i="1">
                                              <a:latin typeface="Cambria Math" panose="02040503050406030204" pitchFamily="18" charset="0"/>
                                            </a:rPr>
                                            <m:t>2</m:t>
                                          </m:r>
                                        </m:sup>
                                      </m:sSubSup>
                                      <m:r>
                                        <a:rPr lang="en-US" altLang="zh-CN" sz="3600" i="1">
                                          <a:latin typeface="Cambria Math" panose="02040503050406030204" pitchFamily="18" charset="0"/>
                                        </a:rPr>
                                        <m:t>−</m:t>
                                      </m:r>
                                      <m:sSup>
                                        <m:sSupPr>
                                          <m:ctrlPr>
                                            <a:rPr lang="en-US" altLang="zh-CN" sz="3600" i="1">
                                              <a:latin typeface="Cambria Math" panose="02040503050406030204" pitchFamily="18" charset="0"/>
                                            </a:rPr>
                                          </m:ctrlPr>
                                        </m:sSupPr>
                                        <m:e>
                                          <m:r>
                                            <a:rPr lang="en-US" altLang="zh-CN" sz="3600" i="1">
                                              <a:latin typeface="Cambria Math" panose="02040503050406030204" pitchFamily="18" charset="0"/>
                                              <a:ea typeface="Cambria Math" panose="02040503050406030204" pitchFamily="18" charset="0"/>
                                            </a:rPr>
                                            <m:t>𝜔</m:t>
                                          </m:r>
                                        </m:e>
                                        <m:sup>
                                          <m:r>
                                            <a:rPr lang="en-US" altLang="zh-CN" sz="3600" i="1">
                                              <a:latin typeface="Cambria Math" panose="02040503050406030204" pitchFamily="18" charset="0"/>
                                            </a:rPr>
                                            <m:t>2</m:t>
                                          </m:r>
                                        </m:sup>
                                      </m:sSup>
                                    </m:num>
                                    <m:den>
                                      <m:sSubSup>
                                        <m:sSubSupPr>
                                          <m:ctrlPr>
                                            <a:rPr lang="en-US" altLang="zh-CN" sz="3600" i="1">
                                              <a:latin typeface="Cambria Math" panose="02040503050406030204" pitchFamily="18" charset="0"/>
                                            </a:rPr>
                                          </m:ctrlPr>
                                        </m:sSubSupPr>
                                        <m:e>
                                          <m:r>
                                            <a:rPr lang="en-US" altLang="zh-CN" sz="3600" i="1">
                                              <a:latin typeface="Cambria Math" panose="02040503050406030204" pitchFamily="18" charset="0"/>
                                              <a:ea typeface="Cambria Math" panose="02040503050406030204" pitchFamily="18" charset="0"/>
                                            </a:rPr>
                                            <m:t>𝜔</m:t>
                                          </m:r>
                                        </m:e>
                                        <m:sub>
                                          <m:r>
                                            <a:rPr lang="en-US" altLang="zh-CN" sz="3600" i="1">
                                              <a:latin typeface="Cambria Math" panose="02040503050406030204" pitchFamily="18" charset="0"/>
                                            </a:rPr>
                                            <m:t>0</m:t>
                                          </m:r>
                                        </m:sub>
                                        <m:sup>
                                          <m:r>
                                            <a:rPr lang="en-US" altLang="zh-CN" sz="3600" i="1">
                                              <a:latin typeface="Cambria Math" panose="02040503050406030204" pitchFamily="18" charset="0"/>
                                            </a:rPr>
                                            <m:t>2</m:t>
                                          </m:r>
                                        </m:sup>
                                      </m:sSubSup>
                                    </m:den>
                                  </m:f>
                                </m:e>
                              </m:mr>
                            </m:m>
                            <m:r>
                              <a:rPr lang="zh-CN" altLang="en-US" sz="3600" b="0" i="1" smtClean="0">
                                <a:latin typeface="Cambria Math" panose="02040503050406030204" pitchFamily="18" charset="0"/>
                              </a:rPr>
                              <m:t>    </m:t>
                            </m:r>
                            <m:m>
                              <m:mPr>
                                <m:mcs>
                                  <m:mc>
                                    <m:mcPr>
                                      <m:count m:val="2"/>
                                      <m:mcJc m:val="center"/>
                                    </m:mcPr>
                                  </m:mc>
                                </m:mcs>
                                <m:ctrlPr>
                                  <a:rPr lang="en-US" altLang="zh-CN" sz="3600" b="0" i="1" smtClean="0">
                                    <a:latin typeface="Cambria Math" panose="02040503050406030204" pitchFamily="18" charset="0"/>
                                  </a:rPr>
                                </m:ctrlPr>
                              </m:mPr>
                              <m:mr>
                                <m:e>
                                  <m:r>
                                    <m:rPr>
                                      <m:brk m:alnAt="7"/>
                                    </m:rPr>
                                    <a:rPr lang="en-US" altLang="zh-CN" sz="3600" b="0" i="1" smtClean="0">
                                      <a:latin typeface="Cambria Math" panose="02040503050406030204" pitchFamily="18" charset="0"/>
                                    </a:rPr>
                                    <m:t>1</m:t>
                                  </m:r>
                                </m:e>
                                <m:e>
                                  <m:r>
                                    <a:rPr lang="en-US" altLang="zh-CN" sz="3600" b="0" i="1" smtClean="0">
                                      <a:latin typeface="Cambria Math" panose="02040503050406030204" pitchFamily="18" charset="0"/>
                                    </a:rPr>
                                    <m:t>0</m:t>
                                  </m:r>
                                </m:e>
                              </m:mr>
                            </m:m>
                            <m:r>
                              <a:rPr lang="zh-CN" altLang="en-US" sz="3600" b="0" i="1" smtClean="0">
                                <a:latin typeface="Cambria Math" panose="02040503050406030204" pitchFamily="18" charset="0"/>
                              </a:rPr>
                              <m:t>    </m:t>
                            </m:r>
                            <m:m>
                              <m:mPr>
                                <m:mcs>
                                  <m:mc>
                                    <m:mcPr>
                                      <m:count m:val="2"/>
                                      <m:mcJc m:val="center"/>
                                    </m:mcPr>
                                  </m:mc>
                                </m:mcs>
                                <m:ctrlPr>
                                  <a:rPr lang="en-US" altLang="zh-CN" sz="3600" b="0" i="1" smtClean="0">
                                    <a:latin typeface="Cambria Math" panose="02040503050406030204" pitchFamily="18" charset="0"/>
                                  </a:rPr>
                                </m:ctrlPr>
                              </m:mPr>
                              <m:mr>
                                <m:e>
                                  <m:r>
                                    <m:rPr>
                                      <m:brk m:alnAt="7"/>
                                    </m:rPr>
                                    <a:rPr lang="en-US" altLang="zh-CN" sz="3600" b="0" i="1" smtClean="0">
                                      <a:latin typeface="Cambria Math" panose="02040503050406030204" pitchFamily="18" charset="0"/>
                                    </a:rPr>
                                    <m:t>0</m:t>
                                  </m:r>
                                </m:e>
                                <m:e>
                                  <m:r>
                                    <a:rPr lang="en-US" altLang="zh-CN" sz="3600" b="0" i="1" smtClean="0">
                                      <a:latin typeface="Cambria Math" panose="02040503050406030204" pitchFamily="18" charset="0"/>
                                    </a:rPr>
                                    <m:t>0</m:t>
                                  </m:r>
                                </m:e>
                              </m:mr>
                            </m:m>
                          </m:e>
                          <m:e>
                            <m:m>
                              <m:mPr>
                                <m:mcs>
                                  <m:mc>
                                    <m:mcPr>
                                      <m:count m:val="2"/>
                                      <m:mcJc m:val="center"/>
                                    </m:mcPr>
                                  </m:mc>
                                </m:mcs>
                                <m:ctrlPr>
                                  <a:rPr lang="en-US" altLang="zh-CN" sz="3600" b="0" i="1" smtClean="0">
                                    <a:latin typeface="Cambria Math" panose="02040503050406030204" pitchFamily="18" charset="0"/>
                                  </a:rPr>
                                </m:ctrlPr>
                              </m:mPr>
                              <m:mr>
                                <m:e>
                                  <m:r>
                                    <m:rPr>
                                      <m:brk m:alnAt="7"/>
                                    </m:rPr>
                                    <a:rPr lang="en-US" altLang="zh-CN" sz="3600" b="0" i="1" smtClean="0">
                                      <a:latin typeface="Cambria Math" panose="02040503050406030204" pitchFamily="18" charset="0"/>
                                    </a:rPr>
                                    <m:t>0</m:t>
                                  </m:r>
                                </m:e>
                                <m:e>
                                  <m:r>
                                    <a:rPr lang="en-US" altLang="zh-CN" sz="3600" b="0" i="1" smtClean="0">
                                      <a:latin typeface="Cambria Math" panose="02040503050406030204" pitchFamily="18" charset="0"/>
                                    </a:rPr>
                                    <m:t>1</m:t>
                                  </m:r>
                                </m:e>
                              </m:mr>
                            </m:m>
                            <m:r>
                              <a:rPr lang="zh-CN" altLang="en-US" sz="3600" b="0" i="1" smtClean="0">
                                <a:latin typeface="Cambria Math" panose="02040503050406030204" pitchFamily="18" charset="0"/>
                              </a:rPr>
                              <m:t>    </m:t>
                            </m:r>
                            <m:m>
                              <m:mPr>
                                <m:mcs>
                                  <m:mc>
                                    <m:mcPr>
                                      <m:count m:val="2"/>
                                      <m:mcJc m:val="center"/>
                                    </m:mcPr>
                                  </m:mc>
                                </m:mcs>
                                <m:ctrlPr>
                                  <a:rPr lang="en-US" altLang="zh-CN" sz="3600" b="0" i="1" smtClean="0">
                                    <a:latin typeface="Cambria Math" panose="02040503050406030204" pitchFamily="18" charset="0"/>
                                  </a:rPr>
                                </m:ctrlPr>
                              </m:mPr>
                              <m:mr>
                                <m:e>
                                  <m:r>
                                    <m:rPr>
                                      <m:brk m:alnAt="7"/>
                                    </m:rPr>
                                    <a:rPr lang="en-US" sz="3600" i="1">
                                      <a:latin typeface="Cambria Math" panose="02040503050406030204" pitchFamily="18" charset="0"/>
                                    </a:rPr>
                                    <m:t>−</m:t>
                                  </m:r>
                                  <m:f>
                                    <m:fPr>
                                      <m:ctrlPr>
                                        <a:rPr lang="en-US" altLang="zh-CN" sz="3600" i="1">
                                          <a:latin typeface="Cambria Math" panose="02040503050406030204" pitchFamily="18" charset="0"/>
                                        </a:rPr>
                                      </m:ctrlPr>
                                    </m:fPr>
                                    <m:num>
                                      <m:r>
                                        <a:rPr lang="en-US" altLang="zh-CN" sz="3600" i="1">
                                          <a:latin typeface="Cambria Math" panose="02040503050406030204" pitchFamily="18" charset="0"/>
                                        </a:rPr>
                                        <m:t>2</m:t>
                                      </m:r>
                                      <m:sSubSup>
                                        <m:sSubSupPr>
                                          <m:ctrlPr>
                                            <a:rPr lang="en-US" altLang="zh-CN" sz="3600" i="1">
                                              <a:latin typeface="Cambria Math" panose="02040503050406030204" pitchFamily="18" charset="0"/>
                                            </a:rPr>
                                          </m:ctrlPr>
                                        </m:sSubSupPr>
                                        <m:e>
                                          <m:r>
                                            <a:rPr lang="en-US" altLang="zh-CN" sz="3600" i="1">
                                              <a:latin typeface="Cambria Math" panose="02040503050406030204" pitchFamily="18" charset="0"/>
                                              <a:ea typeface="Cambria Math" panose="02040503050406030204" pitchFamily="18" charset="0"/>
                                            </a:rPr>
                                            <m:t>𝜔</m:t>
                                          </m:r>
                                        </m:e>
                                        <m:sub>
                                          <m:r>
                                            <a:rPr lang="en-US" altLang="zh-CN" sz="3600" i="1">
                                              <a:latin typeface="Cambria Math" panose="02040503050406030204" pitchFamily="18" charset="0"/>
                                            </a:rPr>
                                            <m:t>0</m:t>
                                          </m:r>
                                        </m:sub>
                                        <m:sup>
                                          <m:r>
                                            <a:rPr lang="en-US" altLang="zh-CN" sz="3600" i="1">
                                              <a:latin typeface="Cambria Math" panose="02040503050406030204" pitchFamily="18" charset="0"/>
                                            </a:rPr>
                                            <m:t>2</m:t>
                                          </m:r>
                                        </m:sup>
                                      </m:sSubSup>
                                      <m:r>
                                        <a:rPr lang="en-US" altLang="zh-CN" sz="3600" i="1">
                                          <a:latin typeface="Cambria Math" panose="02040503050406030204" pitchFamily="18" charset="0"/>
                                        </a:rPr>
                                        <m:t>−</m:t>
                                      </m:r>
                                      <m:sSup>
                                        <m:sSupPr>
                                          <m:ctrlPr>
                                            <a:rPr lang="en-US" altLang="zh-CN" sz="3600" i="1">
                                              <a:latin typeface="Cambria Math" panose="02040503050406030204" pitchFamily="18" charset="0"/>
                                            </a:rPr>
                                          </m:ctrlPr>
                                        </m:sSupPr>
                                        <m:e>
                                          <m:r>
                                            <a:rPr lang="en-US" altLang="zh-CN" sz="3600" i="1">
                                              <a:latin typeface="Cambria Math" panose="02040503050406030204" pitchFamily="18" charset="0"/>
                                              <a:ea typeface="Cambria Math" panose="02040503050406030204" pitchFamily="18" charset="0"/>
                                            </a:rPr>
                                            <m:t>𝜔</m:t>
                                          </m:r>
                                        </m:e>
                                        <m:sup>
                                          <m:r>
                                            <a:rPr lang="en-US" altLang="zh-CN" sz="3600" i="1">
                                              <a:latin typeface="Cambria Math" panose="02040503050406030204" pitchFamily="18" charset="0"/>
                                            </a:rPr>
                                            <m:t>2</m:t>
                                          </m:r>
                                        </m:sup>
                                      </m:sSup>
                                    </m:num>
                                    <m:den>
                                      <m:sSubSup>
                                        <m:sSubSupPr>
                                          <m:ctrlPr>
                                            <a:rPr lang="en-US" altLang="zh-CN" sz="3600" i="1">
                                              <a:latin typeface="Cambria Math" panose="02040503050406030204" pitchFamily="18" charset="0"/>
                                            </a:rPr>
                                          </m:ctrlPr>
                                        </m:sSubSupPr>
                                        <m:e>
                                          <m:r>
                                            <a:rPr lang="en-US" altLang="zh-CN" sz="3600" i="1">
                                              <a:latin typeface="Cambria Math" panose="02040503050406030204" pitchFamily="18" charset="0"/>
                                              <a:ea typeface="Cambria Math" panose="02040503050406030204" pitchFamily="18" charset="0"/>
                                            </a:rPr>
                                            <m:t>𝜔</m:t>
                                          </m:r>
                                        </m:e>
                                        <m:sub>
                                          <m:r>
                                            <a:rPr lang="en-US" altLang="zh-CN" sz="3600" i="1">
                                              <a:latin typeface="Cambria Math" panose="02040503050406030204" pitchFamily="18" charset="0"/>
                                            </a:rPr>
                                            <m:t>0</m:t>
                                          </m:r>
                                        </m:sub>
                                        <m:sup>
                                          <m:r>
                                            <a:rPr lang="en-US" altLang="zh-CN" sz="3600" i="1">
                                              <a:latin typeface="Cambria Math" panose="02040503050406030204" pitchFamily="18" charset="0"/>
                                            </a:rPr>
                                            <m:t>2</m:t>
                                          </m:r>
                                        </m:sup>
                                      </m:sSubSup>
                                    </m:den>
                                  </m:f>
                                </m:e>
                                <m:e>
                                  <m:r>
                                    <a:rPr lang="en-US" altLang="zh-CN" sz="3600" b="0" i="1" smtClean="0">
                                      <a:latin typeface="Cambria Math" panose="02040503050406030204" pitchFamily="18" charset="0"/>
                                    </a:rPr>
                                    <m:t>1</m:t>
                                  </m:r>
                                </m:e>
                              </m:mr>
                            </m:m>
                            <m:r>
                              <a:rPr lang="zh-CN" altLang="en-US" sz="3600" b="0" i="1" smtClean="0">
                                <a:latin typeface="Cambria Math" panose="02040503050406030204" pitchFamily="18" charset="0"/>
                              </a:rPr>
                              <m:t>    </m:t>
                            </m:r>
                            <m:m>
                              <m:mPr>
                                <m:mcs>
                                  <m:mc>
                                    <m:mcPr>
                                      <m:count m:val="2"/>
                                      <m:mcJc m:val="center"/>
                                    </m:mcPr>
                                  </m:mc>
                                </m:mcs>
                                <m:ctrlPr>
                                  <a:rPr lang="en-US" altLang="zh-CN" sz="3600" b="0" i="1" smtClean="0">
                                    <a:latin typeface="Cambria Math" panose="02040503050406030204" pitchFamily="18" charset="0"/>
                                  </a:rPr>
                                </m:ctrlPr>
                              </m:mPr>
                              <m:mr>
                                <m:e>
                                  <m:r>
                                    <m:rPr>
                                      <m:brk m:alnAt="7"/>
                                    </m:rPr>
                                    <a:rPr lang="en-US" altLang="zh-CN" sz="3600" b="0" i="1" smtClean="0">
                                      <a:latin typeface="Cambria Math" panose="02040503050406030204" pitchFamily="18" charset="0"/>
                                    </a:rPr>
                                    <m:t>0</m:t>
                                  </m:r>
                                </m:e>
                                <m:e>
                                  <m:r>
                                    <a:rPr lang="en-US" altLang="zh-CN" sz="3600" b="0" i="1" smtClean="0">
                                      <a:latin typeface="Cambria Math" panose="02040503050406030204" pitchFamily="18" charset="0"/>
                                    </a:rPr>
                                    <m:t>0</m:t>
                                  </m:r>
                                </m:e>
                              </m:mr>
                            </m:m>
                          </m:e>
                          <m:e>
                            <m:m>
                              <m:mPr>
                                <m:mcs>
                                  <m:mc>
                                    <m:mcPr>
                                      <m:count m:val="2"/>
                                      <m:mcJc m:val="center"/>
                                    </m:mcPr>
                                  </m:mc>
                                </m:mcs>
                                <m:ctrlPr>
                                  <a:rPr lang="en-US" altLang="zh-CN" sz="3600" b="0" i="1" smtClean="0">
                                    <a:latin typeface="Cambria Math" panose="02040503050406030204" pitchFamily="18" charset="0"/>
                                  </a:rPr>
                                </m:ctrlPr>
                              </m:mPr>
                              <m:mr>
                                <m:e>
                                  <m:r>
                                    <m:rPr>
                                      <m:brk m:alnAt="7"/>
                                    </m:rPr>
                                    <a:rPr lang="en-US" altLang="zh-CN" sz="3600" b="0" i="1" smtClean="0">
                                      <a:latin typeface="Cambria Math" panose="02040503050406030204" pitchFamily="18" charset="0"/>
                                    </a:rPr>
                                    <m:t>0</m:t>
                                  </m:r>
                                </m:e>
                                <m:e>
                                  <m:r>
                                    <a:rPr lang="en-US" altLang="zh-CN" sz="3600" b="0" i="1" smtClean="0">
                                      <a:latin typeface="Cambria Math" panose="02040503050406030204" pitchFamily="18" charset="0"/>
                                    </a:rPr>
                                    <m:t>0</m:t>
                                  </m:r>
                                </m:e>
                              </m:mr>
                            </m:m>
                            <m:r>
                              <a:rPr lang="zh-CN" altLang="en-US" sz="3600" b="0" i="1" smtClean="0">
                                <a:latin typeface="Cambria Math" panose="02040503050406030204" pitchFamily="18" charset="0"/>
                              </a:rPr>
                              <m:t>    </m:t>
                            </m:r>
                            <m:m>
                              <m:mPr>
                                <m:mcs>
                                  <m:mc>
                                    <m:mcPr>
                                      <m:count m:val="2"/>
                                      <m:mcJc m:val="center"/>
                                    </m:mcPr>
                                  </m:mc>
                                </m:mcs>
                                <m:ctrlPr>
                                  <a:rPr lang="en-US" altLang="zh-CN" sz="3600" b="0" i="1" smtClean="0">
                                    <a:latin typeface="Cambria Math" panose="02040503050406030204" pitchFamily="18" charset="0"/>
                                  </a:rPr>
                                </m:ctrlPr>
                              </m:mPr>
                              <m:mr>
                                <m:e>
                                  <m:r>
                                    <m:rPr>
                                      <m:brk m:alnAt="7"/>
                                    </m:rPr>
                                    <a:rPr lang="en-US" altLang="zh-CN" sz="3600" b="0" i="1" smtClean="0">
                                      <a:latin typeface="Cambria Math" panose="02040503050406030204" pitchFamily="18" charset="0"/>
                                    </a:rPr>
                                    <m:t>1</m:t>
                                  </m:r>
                                </m:e>
                                <m:e>
                                  <m:r>
                                    <m:rPr>
                                      <m:brk m:alnAt="7"/>
                                    </m:rPr>
                                    <a:rPr lang="en-US" sz="3600" i="1">
                                      <a:latin typeface="Cambria Math" panose="02040503050406030204" pitchFamily="18" charset="0"/>
                                    </a:rPr>
                                    <m:t>−</m:t>
                                  </m:r>
                                  <m:f>
                                    <m:fPr>
                                      <m:ctrlPr>
                                        <a:rPr lang="en-US" altLang="zh-CN" sz="3600" i="1">
                                          <a:latin typeface="Cambria Math" panose="02040503050406030204" pitchFamily="18" charset="0"/>
                                        </a:rPr>
                                      </m:ctrlPr>
                                    </m:fPr>
                                    <m:num>
                                      <m:r>
                                        <a:rPr lang="en-US" altLang="zh-CN" sz="3600" i="1">
                                          <a:latin typeface="Cambria Math" panose="02040503050406030204" pitchFamily="18" charset="0"/>
                                        </a:rPr>
                                        <m:t>2</m:t>
                                      </m:r>
                                      <m:sSubSup>
                                        <m:sSubSupPr>
                                          <m:ctrlPr>
                                            <a:rPr lang="en-US" altLang="zh-CN" sz="3600" i="1">
                                              <a:latin typeface="Cambria Math" panose="02040503050406030204" pitchFamily="18" charset="0"/>
                                            </a:rPr>
                                          </m:ctrlPr>
                                        </m:sSubSupPr>
                                        <m:e>
                                          <m:r>
                                            <a:rPr lang="en-US" altLang="zh-CN" sz="3600" i="1">
                                              <a:latin typeface="Cambria Math" panose="02040503050406030204" pitchFamily="18" charset="0"/>
                                              <a:ea typeface="Cambria Math" panose="02040503050406030204" pitchFamily="18" charset="0"/>
                                            </a:rPr>
                                            <m:t>𝜔</m:t>
                                          </m:r>
                                        </m:e>
                                        <m:sub>
                                          <m:r>
                                            <a:rPr lang="en-US" altLang="zh-CN" sz="3600" i="1">
                                              <a:latin typeface="Cambria Math" panose="02040503050406030204" pitchFamily="18" charset="0"/>
                                            </a:rPr>
                                            <m:t>0</m:t>
                                          </m:r>
                                        </m:sub>
                                        <m:sup>
                                          <m:r>
                                            <a:rPr lang="en-US" altLang="zh-CN" sz="3600" i="1">
                                              <a:latin typeface="Cambria Math" panose="02040503050406030204" pitchFamily="18" charset="0"/>
                                            </a:rPr>
                                            <m:t>2</m:t>
                                          </m:r>
                                        </m:sup>
                                      </m:sSubSup>
                                      <m:r>
                                        <a:rPr lang="en-US" altLang="zh-CN" sz="3600" i="1">
                                          <a:latin typeface="Cambria Math" panose="02040503050406030204" pitchFamily="18" charset="0"/>
                                        </a:rPr>
                                        <m:t>−</m:t>
                                      </m:r>
                                      <m:sSup>
                                        <m:sSupPr>
                                          <m:ctrlPr>
                                            <a:rPr lang="en-US" altLang="zh-CN" sz="3600" i="1">
                                              <a:latin typeface="Cambria Math" panose="02040503050406030204" pitchFamily="18" charset="0"/>
                                            </a:rPr>
                                          </m:ctrlPr>
                                        </m:sSupPr>
                                        <m:e>
                                          <m:r>
                                            <a:rPr lang="en-US" altLang="zh-CN" sz="3600" i="1">
                                              <a:latin typeface="Cambria Math" panose="02040503050406030204" pitchFamily="18" charset="0"/>
                                              <a:ea typeface="Cambria Math" panose="02040503050406030204" pitchFamily="18" charset="0"/>
                                            </a:rPr>
                                            <m:t>𝜔</m:t>
                                          </m:r>
                                        </m:e>
                                        <m:sup>
                                          <m:r>
                                            <a:rPr lang="en-US" altLang="zh-CN" sz="3600" i="1">
                                              <a:latin typeface="Cambria Math" panose="02040503050406030204" pitchFamily="18" charset="0"/>
                                            </a:rPr>
                                            <m:t>2</m:t>
                                          </m:r>
                                        </m:sup>
                                      </m:sSup>
                                    </m:num>
                                    <m:den>
                                      <m:sSubSup>
                                        <m:sSubSupPr>
                                          <m:ctrlPr>
                                            <a:rPr lang="en-US" altLang="zh-CN" sz="3600" i="1">
                                              <a:latin typeface="Cambria Math" panose="02040503050406030204" pitchFamily="18" charset="0"/>
                                            </a:rPr>
                                          </m:ctrlPr>
                                        </m:sSubSupPr>
                                        <m:e>
                                          <m:r>
                                            <a:rPr lang="en-US" altLang="zh-CN" sz="3600" i="1">
                                              <a:latin typeface="Cambria Math" panose="02040503050406030204" pitchFamily="18" charset="0"/>
                                              <a:ea typeface="Cambria Math" panose="02040503050406030204" pitchFamily="18" charset="0"/>
                                            </a:rPr>
                                            <m:t>𝜔</m:t>
                                          </m:r>
                                        </m:e>
                                        <m:sub>
                                          <m:r>
                                            <a:rPr lang="en-US" altLang="zh-CN" sz="3600" i="1">
                                              <a:latin typeface="Cambria Math" panose="02040503050406030204" pitchFamily="18" charset="0"/>
                                            </a:rPr>
                                            <m:t>0</m:t>
                                          </m:r>
                                        </m:sub>
                                        <m:sup>
                                          <m:r>
                                            <a:rPr lang="en-US" altLang="zh-CN" sz="3600" i="1">
                                              <a:latin typeface="Cambria Math" panose="02040503050406030204" pitchFamily="18" charset="0"/>
                                            </a:rPr>
                                            <m:t>2</m:t>
                                          </m:r>
                                        </m:sup>
                                      </m:sSubSup>
                                    </m:den>
                                  </m:f>
                                </m:e>
                              </m:mr>
                            </m:m>
                            <m:r>
                              <a:rPr lang="zh-CN" altLang="en-US" sz="3600" b="0" i="1" smtClean="0">
                                <a:latin typeface="Cambria Math" panose="02040503050406030204" pitchFamily="18" charset="0"/>
                              </a:rPr>
                              <m:t>    </m:t>
                            </m:r>
                            <m:m>
                              <m:mPr>
                                <m:mcs>
                                  <m:mc>
                                    <m:mcPr>
                                      <m:count m:val="2"/>
                                      <m:mcJc m:val="center"/>
                                    </m:mcPr>
                                  </m:mc>
                                </m:mcs>
                                <m:ctrlPr>
                                  <a:rPr lang="en-US" altLang="zh-CN" sz="3600" b="0" i="1" smtClean="0">
                                    <a:latin typeface="Cambria Math" panose="02040503050406030204" pitchFamily="18" charset="0"/>
                                  </a:rPr>
                                </m:ctrlPr>
                              </m:mPr>
                              <m:mr>
                                <m:e>
                                  <m:r>
                                    <m:rPr>
                                      <m:brk m:alnAt="7"/>
                                    </m:rPr>
                                    <a:rPr lang="en-US" altLang="zh-CN" sz="3600" b="0" i="1" smtClean="0">
                                      <a:latin typeface="Cambria Math" panose="02040503050406030204" pitchFamily="18" charset="0"/>
                                    </a:rPr>
                                    <m:t>1</m:t>
                                  </m:r>
                                </m:e>
                                <m:e>
                                  <m:r>
                                    <a:rPr lang="en-US" altLang="zh-CN" sz="3600" b="0" i="1" smtClean="0">
                                      <a:latin typeface="Cambria Math" panose="02040503050406030204" pitchFamily="18" charset="0"/>
                                    </a:rPr>
                                    <m:t>0</m:t>
                                  </m:r>
                                </m:e>
                              </m:mr>
                            </m:m>
                          </m:e>
                          <m:e>
                            <m:m>
                              <m:mPr>
                                <m:mcs>
                                  <m:mc>
                                    <m:mcPr>
                                      <m:count m:val="2"/>
                                      <m:mcJc m:val="center"/>
                                    </m:mcPr>
                                  </m:mc>
                                </m:mcs>
                                <m:ctrlPr>
                                  <a:rPr lang="en-US" altLang="zh-CN" sz="3600" b="0" i="1" smtClean="0">
                                    <a:latin typeface="Cambria Math" panose="02040503050406030204" pitchFamily="18" charset="0"/>
                                  </a:rPr>
                                </m:ctrlPr>
                              </m:mPr>
                              <m:mr>
                                <m:e>
                                  <m:r>
                                    <m:rPr>
                                      <m:brk m:alnAt="7"/>
                                    </m:rPr>
                                    <a:rPr lang="en-US" altLang="zh-CN" sz="3600" b="0" i="1" smtClean="0">
                                      <a:latin typeface="Cambria Math" panose="02040503050406030204" pitchFamily="18" charset="0"/>
                                    </a:rPr>
                                    <m:t>0</m:t>
                                  </m:r>
                                </m:e>
                                <m:e>
                                  <m:r>
                                    <a:rPr lang="en-US" altLang="zh-CN" sz="3600" b="0" i="1" smtClean="0">
                                      <a:latin typeface="Cambria Math" panose="02040503050406030204" pitchFamily="18" charset="0"/>
                                    </a:rPr>
                                    <m:t>0</m:t>
                                  </m:r>
                                </m:e>
                              </m:mr>
                            </m:m>
                            <m:r>
                              <a:rPr lang="zh-CN" altLang="en-US" sz="3600" b="0" i="1" smtClean="0">
                                <a:latin typeface="Cambria Math" panose="02040503050406030204" pitchFamily="18" charset="0"/>
                              </a:rPr>
                              <m:t>    </m:t>
                            </m:r>
                            <m:m>
                              <m:mPr>
                                <m:mcs>
                                  <m:mc>
                                    <m:mcPr>
                                      <m:count m:val="2"/>
                                      <m:mcJc m:val="center"/>
                                    </m:mcPr>
                                  </m:mc>
                                </m:mcs>
                                <m:ctrlPr>
                                  <a:rPr lang="en-US" altLang="zh-CN" sz="3600" b="0" i="1" smtClean="0">
                                    <a:latin typeface="Cambria Math" panose="02040503050406030204" pitchFamily="18" charset="0"/>
                                  </a:rPr>
                                </m:ctrlPr>
                              </m:mPr>
                              <m:mr>
                                <m:e>
                                  <m:r>
                                    <m:rPr>
                                      <m:brk m:alnAt="7"/>
                                    </m:rPr>
                                    <a:rPr lang="en-US" altLang="zh-CN" sz="3600" b="0" i="1" smtClean="0">
                                      <a:latin typeface="Cambria Math" panose="02040503050406030204" pitchFamily="18" charset="0"/>
                                    </a:rPr>
                                    <m:t>0</m:t>
                                  </m:r>
                                </m:e>
                                <m:e>
                                  <m:r>
                                    <a:rPr lang="en-US" altLang="zh-CN" sz="3600" b="0" i="1" smtClean="0">
                                      <a:latin typeface="Cambria Math" panose="02040503050406030204" pitchFamily="18" charset="0"/>
                                    </a:rPr>
                                    <m:t>1</m:t>
                                  </m:r>
                                </m:e>
                              </m:mr>
                            </m:m>
                            <m:r>
                              <a:rPr lang="zh-CN" altLang="en-US" sz="3600" b="0" i="1" smtClean="0">
                                <a:latin typeface="Cambria Math" panose="02040503050406030204" pitchFamily="18" charset="0"/>
                              </a:rPr>
                              <m:t>    </m:t>
                            </m:r>
                            <m:m>
                              <m:mPr>
                                <m:mcs>
                                  <m:mc>
                                    <m:mcPr>
                                      <m:count m:val="2"/>
                                      <m:mcJc m:val="center"/>
                                    </m:mcPr>
                                  </m:mc>
                                </m:mcs>
                                <m:ctrlPr>
                                  <a:rPr lang="en-US" altLang="zh-CN" sz="3600" b="0" i="1" smtClean="0">
                                    <a:latin typeface="Cambria Math" panose="02040503050406030204" pitchFamily="18" charset="0"/>
                                  </a:rPr>
                                </m:ctrlPr>
                              </m:mPr>
                              <m:mr>
                                <m:e>
                                  <m:r>
                                    <m:rPr>
                                      <m:brk m:alnAt="7"/>
                                    </m:rPr>
                                    <a:rPr lang="en-US" sz="3600" i="1">
                                      <a:latin typeface="Cambria Math" panose="02040503050406030204" pitchFamily="18" charset="0"/>
                                    </a:rPr>
                                    <m:t>−</m:t>
                                  </m:r>
                                  <m:f>
                                    <m:fPr>
                                      <m:ctrlPr>
                                        <a:rPr lang="en-US" altLang="zh-CN" sz="3600" i="1">
                                          <a:latin typeface="Cambria Math" panose="02040503050406030204" pitchFamily="18" charset="0"/>
                                        </a:rPr>
                                      </m:ctrlPr>
                                    </m:fPr>
                                    <m:num>
                                      <m:r>
                                        <a:rPr lang="en-US" altLang="zh-CN" sz="3600" i="1">
                                          <a:latin typeface="Cambria Math" panose="02040503050406030204" pitchFamily="18" charset="0"/>
                                        </a:rPr>
                                        <m:t>2</m:t>
                                      </m:r>
                                      <m:sSubSup>
                                        <m:sSubSupPr>
                                          <m:ctrlPr>
                                            <a:rPr lang="en-US" altLang="zh-CN" sz="3600" i="1">
                                              <a:latin typeface="Cambria Math" panose="02040503050406030204" pitchFamily="18" charset="0"/>
                                            </a:rPr>
                                          </m:ctrlPr>
                                        </m:sSubSupPr>
                                        <m:e>
                                          <m:r>
                                            <a:rPr lang="en-US" altLang="zh-CN" sz="3600" i="1">
                                              <a:latin typeface="Cambria Math" panose="02040503050406030204" pitchFamily="18" charset="0"/>
                                              <a:ea typeface="Cambria Math" panose="02040503050406030204" pitchFamily="18" charset="0"/>
                                            </a:rPr>
                                            <m:t>𝜔</m:t>
                                          </m:r>
                                        </m:e>
                                        <m:sub>
                                          <m:r>
                                            <a:rPr lang="en-US" altLang="zh-CN" sz="3600" i="1">
                                              <a:latin typeface="Cambria Math" panose="02040503050406030204" pitchFamily="18" charset="0"/>
                                            </a:rPr>
                                            <m:t>0</m:t>
                                          </m:r>
                                        </m:sub>
                                        <m:sup>
                                          <m:r>
                                            <a:rPr lang="en-US" altLang="zh-CN" sz="3600" i="1">
                                              <a:latin typeface="Cambria Math" panose="02040503050406030204" pitchFamily="18" charset="0"/>
                                            </a:rPr>
                                            <m:t>2</m:t>
                                          </m:r>
                                        </m:sup>
                                      </m:sSubSup>
                                      <m:r>
                                        <a:rPr lang="en-US" altLang="zh-CN" sz="3600" i="1">
                                          <a:latin typeface="Cambria Math" panose="02040503050406030204" pitchFamily="18" charset="0"/>
                                        </a:rPr>
                                        <m:t>−</m:t>
                                      </m:r>
                                      <m:sSup>
                                        <m:sSupPr>
                                          <m:ctrlPr>
                                            <a:rPr lang="en-US" altLang="zh-CN" sz="3600" i="1">
                                              <a:latin typeface="Cambria Math" panose="02040503050406030204" pitchFamily="18" charset="0"/>
                                            </a:rPr>
                                          </m:ctrlPr>
                                        </m:sSupPr>
                                        <m:e>
                                          <m:r>
                                            <a:rPr lang="en-US" altLang="zh-CN" sz="3600" i="1">
                                              <a:latin typeface="Cambria Math" panose="02040503050406030204" pitchFamily="18" charset="0"/>
                                              <a:ea typeface="Cambria Math" panose="02040503050406030204" pitchFamily="18" charset="0"/>
                                            </a:rPr>
                                            <m:t>𝜔</m:t>
                                          </m:r>
                                        </m:e>
                                        <m:sup>
                                          <m:r>
                                            <a:rPr lang="en-US" altLang="zh-CN" sz="3600" i="1">
                                              <a:latin typeface="Cambria Math" panose="02040503050406030204" pitchFamily="18" charset="0"/>
                                            </a:rPr>
                                            <m:t>2</m:t>
                                          </m:r>
                                        </m:sup>
                                      </m:sSup>
                                    </m:num>
                                    <m:den>
                                      <m:sSubSup>
                                        <m:sSubSupPr>
                                          <m:ctrlPr>
                                            <a:rPr lang="en-US" altLang="zh-CN" sz="3600" i="1">
                                              <a:latin typeface="Cambria Math" panose="02040503050406030204" pitchFamily="18" charset="0"/>
                                            </a:rPr>
                                          </m:ctrlPr>
                                        </m:sSubSupPr>
                                        <m:e>
                                          <m:r>
                                            <a:rPr lang="en-US" altLang="zh-CN" sz="3600" i="1">
                                              <a:latin typeface="Cambria Math" panose="02040503050406030204" pitchFamily="18" charset="0"/>
                                              <a:ea typeface="Cambria Math" panose="02040503050406030204" pitchFamily="18" charset="0"/>
                                            </a:rPr>
                                            <m:t>𝜔</m:t>
                                          </m:r>
                                        </m:e>
                                        <m:sub>
                                          <m:r>
                                            <a:rPr lang="en-US" altLang="zh-CN" sz="3600" i="1">
                                              <a:latin typeface="Cambria Math" panose="02040503050406030204" pitchFamily="18" charset="0"/>
                                            </a:rPr>
                                            <m:t>0</m:t>
                                          </m:r>
                                        </m:sub>
                                        <m:sup>
                                          <m:r>
                                            <a:rPr lang="en-US" altLang="zh-CN" sz="3600" i="1">
                                              <a:latin typeface="Cambria Math" panose="02040503050406030204" pitchFamily="18" charset="0"/>
                                            </a:rPr>
                                            <m:t>2</m:t>
                                          </m:r>
                                        </m:sup>
                                      </m:sSubSup>
                                    </m:den>
                                  </m:f>
                                </m:e>
                                <m:e>
                                  <m:r>
                                    <a:rPr lang="en-US" altLang="zh-CN" sz="3600" b="0" i="1" smtClean="0">
                                      <a:latin typeface="Cambria Math" panose="02040503050406030204" pitchFamily="18" charset="0"/>
                                    </a:rPr>
                                    <m:t>1</m:t>
                                  </m:r>
                                </m:e>
                              </m:mr>
                            </m:m>
                          </m:e>
                          <m:e>
                            <m:m>
                              <m:mPr>
                                <m:mcs>
                                  <m:mc>
                                    <m:mcPr>
                                      <m:count m:val="2"/>
                                      <m:mcJc m:val="center"/>
                                    </m:mcPr>
                                  </m:mc>
                                </m:mcs>
                                <m:ctrlPr>
                                  <a:rPr lang="en-US" altLang="zh-CN" sz="3600" b="0" i="1" smtClean="0">
                                    <a:latin typeface="Cambria Math" panose="02040503050406030204" pitchFamily="18" charset="0"/>
                                  </a:rPr>
                                </m:ctrlPr>
                              </m:mPr>
                              <m:mr>
                                <m:e>
                                  <m:r>
                                    <m:rPr>
                                      <m:brk m:alnAt="7"/>
                                    </m:rPr>
                                    <a:rPr lang="en-US" altLang="zh-CN" sz="3600" b="0" i="1" smtClean="0">
                                      <a:solidFill>
                                        <a:srgbClr val="FF0000"/>
                                      </a:solidFill>
                                      <a:latin typeface="Cambria Math" panose="02040503050406030204" pitchFamily="18" charset="0"/>
                                    </a:rPr>
                                    <m:t>1</m:t>
                                  </m:r>
                                </m:e>
                                <m:e>
                                  <m:r>
                                    <a:rPr lang="en-US" altLang="zh-CN" sz="3600" b="0" i="1" smtClean="0">
                                      <a:latin typeface="Cambria Math" panose="02040503050406030204" pitchFamily="18" charset="0"/>
                                    </a:rPr>
                                    <m:t>0</m:t>
                                  </m:r>
                                </m:e>
                              </m:mr>
                            </m:m>
                            <m:r>
                              <a:rPr lang="zh-CN" altLang="en-US" sz="3600" b="0" i="1" smtClean="0">
                                <a:latin typeface="Cambria Math" panose="02040503050406030204" pitchFamily="18" charset="0"/>
                              </a:rPr>
                              <m:t>    </m:t>
                            </m:r>
                            <m:m>
                              <m:mPr>
                                <m:mcs>
                                  <m:mc>
                                    <m:mcPr>
                                      <m:count m:val="2"/>
                                      <m:mcJc m:val="center"/>
                                    </m:mcPr>
                                  </m:mc>
                                </m:mcs>
                                <m:ctrlPr>
                                  <a:rPr lang="en-US" altLang="zh-CN" sz="3600" b="0" i="1" smtClean="0">
                                    <a:latin typeface="Cambria Math" panose="02040503050406030204" pitchFamily="18" charset="0"/>
                                  </a:rPr>
                                </m:ctrlPr>
                              </m:mPr>
                              <m:mr>
                                <m:e>
                                  <m:r>
                                    <m:rPr>
                                      <m:brk m:alnAt="7"/>
                                    </m:rPr>
                                    <a:rPr lang="en-US" altLang="zh-CN" sz="3600" b="0" i="1" smtClean="0">
                                      <a:latin typeface="Cambria Math" panose="02040503050406030204" pitchFamily="18" charset="0"/>
                                    </a:rPr>
                                    <m:t>0</m:t>
                                  </m:r>
                                </m:e>
                                <m:e>
                                  <m:r>
                                    <a:rPr lang="en-US" altLang="zh-CN" sz="3600" b="0" i="1" smtClean="0">
                                      <a:latin typeface="Cambria Math" panose="02040503050406030204" pitchFamily="18" charset="0"/>
                                    </a:rPr>
                                    <m:t>0</m:t>
                                  </m:r>
                                </m:e>
                              </m:mr>
                            </m:m>
                            <m:r>
                              <a:rPr lang="zh-CN" altLang="en-US" sz="3600" b="0" i="1" smtClean="0">
                                <a:latin typeface="Cambria Math" panose="02040503050406030204" pitchFamily="18" charset="0"/>
                              </a:rPr>
                              <m:t>    </m:t>
                            </m:r>
                            <m:m>
                              <m:mPr>
                                <m:mcs>
                                  <m:mc>
                                    <m:mcPr>
                                      <m:count m:val="2"/>
                                      <m:mcJc m:val="center"/>
                                    </m:mcPr>
                                  </m:mc>
                                </m:mcs>
                                <m:ctrlPr>
                                  <a:rPr lang="en-US" altLang="zh-CN" sz="3600" b="0" i="1" smtClean="0">
                                    <a:latin typeface="Cambria Math" panose="02040503050406030204" pitchFamily="18" charset="0"/>
                                  </a:rPr>
                                </m:ctrlPr>
                              </m:mPr>
                              <m:mr>
                                <m:e>
                                  <m:r>
                                    <m:rPr>
                                      <m:brk m:alnAt="7"/>
                                    </m:rPr>
                                    <a:rPr lang="en-US" altLang="zh-CN" sz="3600" b="0" i="1" smtClean="0">
                                      <a:latin typeface="Cambria Math" panose="02040503050406030204" pitchFamily="18" charset="0"/>
                                    </a:rPr>
                                    <m:t>1</m:t>
                                  </m:r>
                                </m:e>
                                <m:e>
                                  <m:r>
                                    <m:rPr>
                                      <m:brk m:alnAt="7"/>
                                    </m:rPr>
                                    <a:rPr lang="en-US" sz="3600" i="1">
                                      <a:latin typeface="Cambria Math" panose="02040503050406030204" pitchFamily="18" charset="0"/>
                                    </a:rPr>
                                    <m:t>−</m:t>
                                  </m:r>
                                  <m:f>
                                    <m:fPr>
                                      <m:ctrlPr>
                                        <a:rPr lang="en-US" altLang="zh-CN" sz="3600" i="1">
                                          <a:latin typeface="Cambria Math" panose="02040503050406030204" pitchFamily="18" charset="0"/>
                                        </a:rPr>
                                      </m:ctrlPr>
                                    </m:fPr>
                                    <m:num>
                                      <m:r>
                                        <a:rPr lang="en-US" altLang="zh-CN" sz="3600" i="1">
                                          <a:latin typeface="Cambria Math" panose="02040503050406030204" pitchFamily="18" charset="0"/>
                                        </a:rPr>
                                        <m:t>2</m:t>
                                      </m:r>
                                      <m:sSubSup>
                                        <m:sSubSupPr>
                                          <m:ctrlPr>
                                            <a:rPr lang="en-US" altLang="zh-CN" sz="3600" i="1">
                                              <a:latin typeface="Cambria Math" panose="02040503050406030204" pitchFamily="18" charset="0"/>
                                            </a:rPr>
                                          </m:ctrlPr>
                                        </m:sSubSupPr>
                                        <m:e>
                                          <m:r>
                                            <a:rPr lang="en-US" altLang="zh-CN" sz="3600" i="1">
                                              <a:latin typeface="Cambria Math" panose="02040503050406030204" pitchFamily="18" charset="0"/>
                                              <a:ea typeface="Cambria Math" panose="02040503050406030204" pitchFamily="18" charset="0"/>
                                            </a:rPr>
                                            <m:t>𝜔</m:t>
                                          </m:r>
                                        </m:e>
                                        <m:sub>
                                          <m:r>
                                            <a:rPr lang="en-US" altLang="zh-CN" sz="3600" i="1">
                                              <a:latin typeface="Cambria Math" panose="02040503050406030204" pitchFamily="18" charset="0"/>
                                            </a:rPr>
                                            <m:t>0</m:t>
                                          </m:r>
                                        </m:sub>
                                        <m:sup>
                                          <m:r>
                                            <a:rPr lang="en-US" altLang="zh-CN" sz="3600" i="1">
                                              <a:latin typeface="Cambria Math" panose="02040503050406030204" pitchFamily="18" charset="0"/>
                                            </a:rPr>
                                            <m:t>2</m:t>
                                          </m:r>
                                        </m:sup>
                                      </m:sSubSup>
                                      <m:r>
                                        <a:rPr lang="en-US" altLang="zh-CN" sz="3600" i="1">
                                          <a:latin typeface="Cambria Math" panose="02040503050406030204" pitchFamily="18" charset="0"/>
                                        </a:rPr>
                                        <m:t>−</m:t>
                                      </m:r>
                                      <m:sSup>
                                        <m:sSupPr>
                                          <m:ctrlPr>
                                            <a:rPr lang="en-US" altLang="zh-CN" sz="3600" i="1">
                                              <a:latin typeface="Cambria Math" panose="02040503050406030204" pitchFamily="18" charset="0"/>
                                            </a:rPr>
                                          </m:ctrlPr>
                                        </m:sSupPr>
                                        <m:e>
                                          <m:r>
                                            <a:rPr lang="en-US" altLang="zh-CN" sz="3600" i="1">
                                              <a:latin typeface="Cambria Math" panose="02040503050406030204" pitchFamily="18" charset="0"/>
                                              <a:ea typeface="Cambria Math" panose="02040503050406030204" pitchFamily="18" charset="0"/>
                                            </a:rPr>
                                            <m:t>𝜔</m:t>
                                          </m:r>
                                        </m:e>
                                        <m:sup>
                                          <m:r>
                                            <a:rPr lang="en-US" altLang="zh-CN" sz="3600" i="1">
                                              <a:latin typeface="Cambria Math" panose="02040503050406030204" pitchFamily="18" charset="0"/>
                                            </a:rPr>
                                            <m:t>2</m:t>
                                          </m:r>
                                        </m:sup>
                                      </m:sSup>
                                    </m:num>
                                    <m:den>
                                      <m:sSubSup>
                                        <m:sSubSupPr>
                                          <m:ctrlPr>
                                            <a:rPr lang="en-US" altLang="zh-CN" sz="3600" i="1">
                                              <a:latin typeface="Cambria Math" panose="02040503050406030204" pitchFamily="18" charset="0"/>
                                            </a:rPr>
                                          </m:ctrlPr>
                                        </m:sSubSupPr>
                                        <m:e>
                                          <m:r>
                                            <a:rPr lang="en-US" altLang="zh-CN" sz="3600" i="1">
                                              <a:latin typeface="Cambria Math" panose="02040503050406030204" pitchFamily="18" charset="0"/>
                                              <a:ea typeface="Cambria Math" panose="02040503050406030204" pitchFamily="18" charset="0"/>
                                            </a:rPr>
                                            <m:t>𝜔</m:t>
                                          </m:r>
                                        </m:e>
                                        <m:sub>
                                          <m:r>
                                            <a:rPr lang="en-US" altLang="zh-CN" sz="3600" i="1">
                                              <a:latin typeface="Cambria Math" panose="02040503050406030204" pitchFamily="18" charset="0"/>
                                            </a:rPr>
                                            <m:t>0</m:t>
                                          </m:r>
                                        </m:sub>
                                        <m:sup>
                                          <m:r>
                                            <a:rPr lang="en-US" altLang="zh-CN" sz="3600" i="1">
                                              <a:latin typeface="Cambria Math" panose="02040503050406030204" pitchFamily="18" charset="0"/>
                                            </a:rPr>
                                            <m:t>2</m:t>
                                          </m:r>
                                        </m:sup>
                                      </m:sSubSup>
                                    </m:den>
                                  </m:f>
                                </m:e>
                              </m:mr>
                            </m:m>
                          </m:e>
                        </m:eqArr>
                      </m:e>
                    </m:d>
                    <m:d>
                      <m:dPr>
                        <m:ctrlPr>
                          <a:rPr lang="en-CN" sz="3600" i="1" smtClean="0">
                            <a:latin typeface="Cambria Math" panose="02040503050406030204" pitchFamily="18" charset="0"/>
                          </a:rPr>
                        </m:ctrlPr>
                      </m:dPr>
                      <m:e>
                        <m:eqArr>
                          <m:eqArrPr>
                            <m:ctrlPr>
                              <a:rPr lang="en-CN" sz="3600" i="1" smtClean="0">
                                <a:latin typeface="Cambria Math" panose="02040503050406030204" pitchFamily="18" charset="0"/>
                              </a:rPr>
                            </m:ctrlPr>
                          </m:eqArrPr>
                          <m:e>
                            <m:sSub>
                              <m:sSubPr>
                                <m:ctrlPr>
                                  <a:rPr lang="en-CN" sz="3600" i="1" smtClean="0">
                                    <a:latin typeface="Cambria Math" panose="02040503050406030204" pitchFamily="18" charset="0"/>
                                  </a:rPr>
                                </m:ctrlPr>
                              </m:sSubPr>
                              <m:e>
                                <m:r>
                                  <a:rPr lang="en-US" sz="3600" b="0" i="1" smtClean="0">
                                    <a:latin typeface="Cambria Math" panose="02040503050406030204" pitchFamily="18" charset="0"/>
                                  </a:rPr>
                                  <m:t>𝐴</m:t>
                                </m:r>
                              </m:e>
                              <m:sub>
                                <m:r>
                                  <a:rPr lang="en-US" sz="3600" b="0" i="1" smtClean="0">
                                    <a:latin typeface="Cambria Math" panose="02040503050406030204" pitchFamily="18" charset="0"/>
                                  </a:rPr>
                                  <m:t>1</m:t>
                                </m:r>
                              </m:sub>
                            </m:sSub>
                          </m:e>
                          <m:e>
                            <m:sSub>
                              <m:sSubPr>
                                <m:ctrlPr>
                                  <a:rPr lang="en-CN" sz="3600" i="1">
                                    <a:latin typeface="Cambria Math" panose="02040503050406030204" pitchFamily="18" charset="0"/>
                                  </a:rPr>
                                </m:ctrlPr>
                              </m:sSubPr>
                              <m:e>
                                <m:r>
                                  <a:rPr lang="en-US" sz="3600" i="1">
                                    <a:latin typeface="Cambria Math" panose="02040503050406030204" pitchFamily="18" charset="0"/>
                                  </a:rPr>
                                  <m:t>𝐴</m:t>
                                </m:r>
                              </m:e>
                              <m:sub>
                                <m:r>
                                  <a:rPr lang="en-US" sz="3600" b="0" i="1" smtClean="0">
                                    <a:latin typeface="Cambria Math" panose="02040503050406030204" pitchFamily="18" charset="0"/>
                                  </a:rPr>
                                  <m:t>2</m:t>
                                </m:r>
                              </m:sub>
                            </m:sSub>
                          </m:e>
                          <m:e>
                            <m:sSub>
                              <m:sSubPr>
                                <m:ctrlPr>
                                  <a:rPr lang="en-CN" sz="3600" i="1">
                                    <a:latin typeface="Cambria Math" panose="02040503050406030204" pitchFamily="18" charset="0"/>
                                  </a:rPr>
                                </m:ctrlPr>
                              </m:sSubPr>
                              <m:e>
                                <m:r>
                                  <a:rPr lang="en-US" sz="3600" i="1">
                                    <a:latin typeface="Cambria Math" panose="02040503050406030204" pitchFamily="18" charset="0"/>
                                  </a:rPr>
                                  <m:t>𝐴</m:t>
                                </m:r>
                              </m:e>
                              <m:sub>
                                <m:r>
                                  <a:rPr lang="en-US" sz="3600" b="0" i="1" smtClean="0">
                                    <a:latin typeface="Cambria Math" panose="02040503050406030204" pitchFamily="18" charset="0"/>
                                  </a:rPr>
                                  <m:t>3</m:t>
                                </m:r>
                              </m:sub>
                            </m:sSub>
                          </m:e>
                          <m:e>
                            <m:sSub>
                              <m:sSubPr>
                                <m:ctrlPr>
                                  <a:rPr lang="en-CN" sz="3600" i="1">
                                    <a:latin typeface="Cambria Math" panose="02040503050406030204" pitchFamily="18" charset="0"/>
                                  </a:rPr>
                                </m:ctrlPr>
                              </m:sSubPr>
                              <m:e>
                                <m:r>
                                  <a:rPr lang="en-US" sz="3600" i="1">
                                    <a:latin typeface="Cambria Math" panose="02040503050406030204" pitchFamily="18" charset="0"/>
                                  </a:rPr>
                                  <m:t>𝐴</m:t>
                                </m:r>
                              </m:e>
                              <m:sub>
                                <m:r>
                                  <a:rPr lang="en-US" sz="3600" b="0" i="1" smtClean="0">
                                    <a:latin typeface="Cambria Math" panose="02040503050406030204" pitchFamily="18" charset="0"/>
                                  </a:rPr>
                                  <m:t>4</m:t>
                                </m:r>
                              </m:sub>
                            </m:sSub>
                          </m:e>
                          <m:e>
                            <m:sSub>
                              <m:sSubPr>
                                <m:ctrlPr>
                                  <a:rPr lang="en-CN" sz="3600" i="1">
                                    <a:latin typeface="Cambria Math" panose="02040503050406030204" pitchFamily="18" charset="0"/>
                                  </a:rPr>
                                </m:ctrlPr>
                              </m:sSubPr>
                              <m:e>
                                <m:r>
                                  <a:rPr lang="en-US" sz="3600" i="1">
                                    <a:latin typeface="Cambria Math" panose="02040503050406030204" pitchFamily="18" charset="0"/>
                                  </a:rPr>
                                  <m:t>𝐴</m:t>
                                </m:r>
                              </m:e>
                              <m:sub>
                                <m:r>
                                  <a:rPr lang="en-US" sz="3600" b="0" i="1" smtClean="0">
                                    <a:latin typeface="Cambria Math" panose="02040503050406030204" pitchFamily="18" charset="0"/>
                                  </a:rPr>
                                  <m:t>5</m:t>
                                </m:r>
                              </m:sub>
                            </m:sSub>
                          </m:e>
                          <m:e>
                            <m:sSub>
                              <m:sSubPr>
                                <m:ctrlPr>
                                  <a:rPr lang="en-CN" sz="3600" i="1">
                                    <a:latin typeface="Cambria Math" panose="02040503050406030204" pitchFamily="18" charset="0"/>
                                  </a:rPr>
                                </m:ctrlPr>
                              </m:sSubPr>
                              <m:e>
                                <m:r>
                                  <a:rPr lang="en-US" sz="3600" i="1">
                                    <a:latin typeface="Cambria Math" panose="02040503050406030204" pitchFamily="18" charset="0"/>
                                  </a:rPr>
                                  <m:t>𝐴</m:t>
                                </m:r>
                              </m:e>
                              <m:sub>
                                <m:r>
                                  <a:rPr lang="en-US" sz="3600" b="0" i="1" smtClean="0">
                                    <a:latin typeface="Cambria Math" panose="02040503050406030204" pitchFamily="18" charset="0"/>
                                  </a:rPr>
                                  <m:t>6</m:t>
                                </m:r>
                              </m:sub>
                            </m:sSub>
                          </m:e>
                        </m:eqArr>
                      </m:e>
                    </m:d>
                    <m:r>
                      <a:rPr lang="en-US" altLang="zh-CN" sz="3600" b="0" i="1" smtClean="0">
                        <a:latin typeface="Cambria Math" panose="02040503050406030204" pitchFamily="18" charset="0"/>
                      </a:rPr>
                      <m:t>=0</m:t>
                    </m:r>
                  </m:oMath>
                </a14:m>
                <a:r>
                  <a:rPr lang="zh-CN" altLang="en-US" sz="3600" dirty="0"/>
                  <a:t> </a:t>
                </a:r>
                <a:endParaRPr lang="en-CN" sz="3600" dirty="0"/>
              </a:p>
            </p:txBody>
          </p:sp>
        </mc:Choice>
        <mc:Fallback xmlns="">
          <p:sp>
            <p:nvSpPr>
              <p:cNvPr id="3" name="TextBox 2">
                <a:extLst>
                  <a:ext uri="{FF2B5EF4-FFF2-40B4-BE49-F238E27FC236}">
                    <a16:creationId xmlns:a16="http://schemas.microsoft.com/office/drawing/2014/main" id="{81E43055-4CA9-A6BE-0C71-2FDBB3030C0A}"/>
                  </a:ext>
                </a:extLst>
              </p:cNvPr>
              <p:cNvSpPr txBox="1">
                <a:spLocks noRot="1" noChangeAspect="1" noMove="1" noResize="1" noEditPoints="1" noAdjustHandles="1" noChangeArrowheads="1" noChangeShapeType="1" noTextEdit="1"/>
              </p:cNvSpPr>
              <p:nvPr/>
            </p:nvSpPr>
            <p:spPr>
              <a:xfrm>
                <a:off x="332509" y="586265"/>
                <a:ext cx="8825346" cy="6210226"/>
              </a:xfrm>
              <a:prstGeom prst="rect">
                <a:avLst/>
              </a:prstGeom>
              <a:blipFill>
                <a:blip r:embed="rId2"/>
                <a:stretch>
                  <a:fillRect b="-204"/>
                </a:stretch>
              </a:blipFill>
            </p:spPr>
            <p:txBody>
              <a:bodyPr/>
              <a:lstStyle/>
              <a:p>
                <a:r>
                  <a:rPr lang="en-CN">
                    <a:noFill/>
                  </a:rPr>
                  <a:t> </a:t>
                </a:r>
              </a:p>
            </p:txBody>
          </p:sp>
        </mc:Fallback>
      </mc:AlternateContent>
      <p:sp>
        <p:nvSpPr>
          <p:cNvPr id="4" name="TextBox 3">
            <a:extLst>
              <a:ext uri="{FF2B5EF4-FFF2-40B4-BE49-F238E27FC236}">
                <a16:creationId xmlns:a16="http://schemas.microsoft.com/office/drawing/2014/main" id="{FCB31D24-782F-3F19-F6BC-1ED7A706459D}"/>
              </a:ext>
            </a:extLst>
          </p:cNvPr>
          <p:cNvSpPr txBox="1"/>
          <p:nvPr/>
        </p:nvSpPr>
        <p:spPr>
          <a:xfrm>
            <a:off x="207818" y="221673"/>
            <a:ext cx="4378037" cy="369332"/>
          </a:xfrm>
          <a:prstGeom prst="rect">
            <a:avLst/>
          </a:prstGeom>
          <a:noFill/>
        </p:spPr>
        <p:txBody>
          <a:bodyPr wrap="square" rtlCol="0">
            <a:spAutoFit/>
          </a:bodyPr>
          <a:lstStyle/>
          <a:p>
            <a:r>
              <a:rPr lang="en-CN" dirty="0"/>
              <a:t>以</a:t>
            </a:r>
            <a:r>
              <a:rPr lang="en-US" altLang="zh-CN" dirty="0"/>
              <a:t>6</a:t>
            </a:r>
            <a:r>
              <a:rPr lang="zh-CN" altLang="en-US" dirty="0"/>
              <a:t>个为例，注意边界条件（周期性）</a:t>
            </a:r>
            <a:endParaRPr lang="en-CN" dirty="0"/>
          </a:p>
        </p:txBody>
      </p:sp>
      <p:sp>
        <p:nvSpPr>
          <p:cNvPr id="5" name="Oval 4">
            <a:extLst>
              <a:ext uri="{FF2B5EF4-FFF2-40B4-BE49-F238E27FC236}">
                <a16:creationId xmlns:a16="http://schemas.microsoft.com/office/drawing/2014/main" id="{FC4949B9-5284-B18B-81EC-F7FE12851EE2}"/>
              </a:ext>
            </a:extLst>
          </p:cNvPr>
          <p:cNvSpPr/>
          <p:nvPr/>
        </p:nvSpPr>
        <p:spPr>
          <a:xfrm>
            <a:off x="8063345" y="586265"/>
            <a:ext cx="3560619" cy="207380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 name="Oval 5">
            <a:extLst>
              <a:ext uri="{FF2B5EF4-FFF2-40B4-BE49-F238E27FC236}">
                <a16:creationId xmlns:a16="http://schemas.microsoft.com/office/drawing/2014/main" id="{0959A688-085C-3F94-6372-7CD2ABEE8E34}"/>
              </a:ext>
            </a:extLst>
          </p:cNvPr>
          <p:cNvSpPr/>
          <p:nvPr/>
        </p:nvSpPr>
        <p:spPr>
          <a:xfrm>
            <a:off x="10543309" y="2452255"/>
            <a:ext cx="193964" cy="2078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Oval 6">
            <a:extLst>
              <a:ext uri="{FF2B5EF4-FFF2-40B4-BE49-F238E27FC236}">
                <a16:creationId xmlns:a16="http://schemas.microsoft.com/office/drawing/2014/main" id="{E1D44003-4078-BC67-3854-76369E389B11}"/>
              </a:ext>
            </a:extLst>
          </p:cNvPr>
          <p:cNvSpPr/>
          <p:nvPr/>
        </p:nvSpPr>
        <p:spPr>
          <a:xfrm>
            <a:off x="9843654" y="2556164"/>
            <a:ext cx="193964" cy="2078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EB73A6D-1A53-D527-331B-A42F9952E791}"/>
                  </a:ext>
                </a:extLst>
              </p:cNvPr>
              <p:cNvSpPr txBox="1"/>
              <p:nvPr/>
            </p:nvSpPr>
            <p:spPr>
              <a:xfrm>
                <a:off x="10709563" y="2660073"/>
                <a:ext cx="9836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sSub>
                            <m:sSubPr>
                              <m:ctrlPr>
                                <a:rPr lang="en-CN"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𝑁</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𝐴</m:t>
                          </m:r>
                        </m:e>
                        <m:sub>
                          <m:r>
                            <a:rPr lang="en-US" b="0" i="1" smtClean="0">
                              <a:latin typeface="Cambria Math" panose="02040503050406030204" pitchFamily="18" charset="0"/>
                            </a:rPr>
                            <m:t>1</m:t>
                          </m:r>
                        </m:sub>
                      </m:sSub>
                    </m:oMath>
                  </m:oMathPara>
                </a14:m>
                <a:endParaRPr lang="en-CN" dirty="0"/>
              </a:p>
            </p:txBody>
          </p:sp>
        </mc:Choice>
        <mc:Fallback xmlns="">
          <p:sp>
            <p:nvSpPr>
              <p:cNvPr id="8" name="TextBox 7">
                <a:extLst>
                  <a:ext uri="{FF2B5EF4-FFF2-40B4-BE49-F238E27FC236}">
                    <a16:creationId xmlns:a16="http://schemas.microsoft.com/office/drawing/2014/main" id="{7EB73A6D-1A53-D527-331B-A42F9952E791}"/>
                  </a:ext>
                </a:extLst>
              </p:cNvPr>
              <p:cNvSpPr txBox="1">
                <a:spLocks noRot="1" noChangeAspect="1" noMove="1" noResize="1" noEditPoints="1" noAdjustHandles="1" noChangeArrowheads="1" noChangeShapeType="1" noTextEdit="1"/>
              </p:cNvSpPr>
              <p:nvPr/>
            </p:nvSpPr>
            <p:spPr>
              <a:xfrm>
                <a:off x="10709563" y="2660073"/>
                <a:ext cx="983673" cy="369332"/>
              </a:xfrm>
              <a:prstGeom prst="rect">
                <a:avLst/>
              </a:prstGeom>
              <a:blipFill>
                <a:blip r:embed="rId3"/>
                <a:stretch>
                  <a:fillRect r="-2051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2603F66-6805-E5CD-16F3-8AEBB3233D0E}"/>
                  </a:ext>
                </a:extLst>
              </p:cNvPr>
              <p:cNvSpPr txBox="1"/>
              <p:nvPr/>
            </p:nvSpPr>
            <p:spPr>
              <a:xfrm>
                <a:off x="9358745" y="2763982"/>
                <a:ext cx="118456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oMath>
                  </m:oMathPara>
                </a14:m>
                <a:endParaRPr lang="en-CN" dirty="0"/>
              </a:p>
            </p:txBody>
          </p:sp>
        </mc:Choice>
        <mc:Fallback xmlns="">
          <p:sp>
            <p:nvSpPr>
              <p:cNvPr id="9" name="TextBox 8">
                <a:extLst>
                  <a:ext uri="{FF2B5EF4-FFF2-40B4-BE49-F238E27FC236}">
                    <a16:creationId xmlns:a16="http://schemas.microsoft.com/office/drawing/2014/main" id="{42603F66-6805-E5CD-16F3-8AEBB3233D0E}"/>
                  </a:ext>
                </a:extLst>
              </p:cNvPr>
              <p:cNvSpPr txBox="1">
                <a:spLocks noRot="1" noChangeAspect="1" noMove="1" noResize="1" noEditPoints="1" noAdjustHandles="1" noChangeArrowheads="1" noChangeShapeType="1" noTextEdit="1"/>
              </p:cNvSpPr>
              <p:nvPr/>
            </p:nvSpPr>
            <p:spPr>
              <a:xfrm>
                <a:off x="9358745" y="2763982"/>
                <a:ext cx="1184564" cy="369332"/>
              </a:xfrm>
              <a:prstGeom prst="rect">
                <a:avLst/>
              </a:prstGeom>
              <a:blipFill>
                <a:blip r:embed="rId4"/>
                <a:stretch>
                  <a:fillRect/>
                </a:stretch>
              </a:blipFill>
            </p:spPr>
            <p:txBody>
              <a:bodyPr/>
              <a:lstStyle/>
              <a:p>
                <a:r>
                  <a:rPr lang="en-CN">
                    <a:noFill/>
                  </a:rPr>
                  <a:t> </a:t>
                </a:r>
              </a:p>
            </p:txBody>
          </p:sp>
        </mc:Fallback>
      </mc:AlternateContent>
      <p:sp>
        <p:nvSpPr>
          <p:cNvPr id="10" name="Oval 9">
            <a:extLst>
              <a:ext uri="{FF2B5EF4-FFF2-40B4-BE49-F238E27FC236}">
                <a16:creationId xmlns:a16="http://schemas.microsoft.com/office/drawing/2014/main" id="{D8CE669C-5A34-8883-2B52-2803EB8DB03F}"/>
              </a:ext>
            </a:extLst>
          </p:cNvPr>
          <p:cNvSpPr/>
          <p:nvPr/>
        </p:nvSpPr>
        <p:spPr>
          <a:xfrm>
            <a:off x="11177153" y="2105892"/>
            <a:ext cx="193964" cy="2078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28244995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8373E9D-2812-98E1-2576-72EA031850B1}"/>
                  </a:ext>
                </a:extLst>
              </p:cNvPr>
              <p:cNvSpPr txBox="1"/>
              <p:nvPr/>
            </p:nvSpPr>
            <p:spPr>
              <a:xfrm>
                <a:off x="928255" y="166255"/>
                <a:ext cx="4239491" cy="28083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CN" sz="1800" i="1" smtClean="0">
                              <a:latin typeface="Cambria Math" panose="02040503050406030204" pitchFamily="18" charset="0"/>
                            </a:rPr>
                          </m:ctrlPr>
                        </m:dPr>
                        <m:e>
                          <m:eqArr>
                            <m:eqArrPr>
                              <m:ctrlPr>
                                <a:rPr lang="en-CN" sz="1800" i="1" smtClean="0">
                                  <a:latin typeface="Cambria Math" panose="02040503050406030204" pitchFamily="18" charset="0"/>
                                </a:rPr>
                              </m:ctrlPr>
                            </m:eqArrPr>
                            <m:e>
                              <m:sSub>
                                <m:sSubPr>
                                  <m:ctrlPr>
                                    <a:rPr lang="en-CN" sz="1800" i="1" smtClean="0">
                                      <a:latin typeface="Cambria Math" panose="02040503050406030204" pitchFamily="18" charset="0"/>
                                    </a:rPr>
                                  </m:ctrlPr>
                                </m:sSubPr>
                                <m:e>
                                  <m:r>
                                    <a:rPr lang="en-US" sz="1800" b="0" i="1" smtClean="0">
                                      <a:latin typeface="Cambria Math" panose="02040503050406030204" pitchFamily="18" charset="0"/>
                                    </a:rPr>
                                    <m:t>𝐴</m:t>
                                  </m:r>
                                </m:e>
                                <m:sub>
                                  <m:r>
                                    <a:rPr lang="en-US" sz="1800" b="0" i="1" smtClean="0">
                                      <a:latin typeface="Cambria Math" panose="02040503050406030204" pitchFamily="18" charset="0"/>
                                    </a:rPr>
                                    <m:t>1</m:t>
                                  </m:r>
                                </m:sub>
                              </m:sSub>
                            </m:e>
                            <m:e>
                              <m:sSub>
                                <m:sSubPr>
                                  <m:ctrlPr>
                                    <a:rPr lang="en-CN" sz="1800" i="1">
                                      <a:latin typeface="Cambria Math" panose="02040503050406030204" pitchFamily="18" charset="0"/>
                                    </a:rPr>
                                  </m:ctrlPr>
                                </m:sSubPr>
                                <m:e>
                                  <m:r>
                                    <a:rPr lang="en-US" sz="1800" i="1">
                                      <a:latin typeface="Cambria Math" panose="02040503050406030204" pitchFamily="18" charset="0"/>
                                    </a:rPr>
                                    <m:t>𝐴</m:t>
                                  </m:r>
                                </m:e>
                                <m:sub>
                                  <m:r>
                                    <a:rPr lang="en-US" sz="1800" b="0" i="1" smtClean="0">
                                      <a:latin typeface="Cambria Math" panose="02040503050406030204" pitchFamily="18" charset="0"/>
                                    </a:rPr>
                                    <m:t>2</m:t>
                                  </m:r>
                                </m:sub>
                              </m:sSub>
                            </m:e>
                            <m:e>
                              <m:sSub>
                                <m:sSubPr>
                                  <m:ctrlPr>
                                    <a:rPr lang="en-CN" sz="1800" i="1">
                                      <a:latin typeface="Cambria Math" panose="02040503050406030204" pitchFamily="18" charset="0"/>
                                    </a:rPr>
                                  </m:ctrlPr>
                                </m:sSubPr>
                                <m:e>
                                  <m:r>
                                    <a:rPr lang="en-US" sz="1800" i="1">
                                      <a:latin typeface="Cambria Math" panose="02040503050406030204" pitchFamily="18" charset="0"/>
                                    </a:rPr>
                                    <m:t>𝐴</m:t>
                                  </m:r>
                                </m:e>
                                <m:sub>
                                  <m:r>
                                    <a:rPr lang="en-US" sz="1800" b="0" i="1" smtClean="0">
                                      <a:latin typeface="Cambria Math" panose="02040503050406030204" pitchFamily="18" charset="0"/>
                                    </a:rPr>
                                    <m:t>3</m:t>
                                  </m:r>
                                </m:sub>
                              </m:sSub>
                            </m:e>
                            <m:e>
                              <m:sSub>
                                <m:sSubPr>
                                  <m:ctrlPr>
                                    <a:rPr lang="en-CN" sz="1800" i="1">
                                      <a:latin typeface="Cambria Math" panose="02040503050406030204" pitchFamily="18" charset="0"/>
                                    </a:rPr>
                                  </m:ctrlPr>
                                </m:sSubPr>
                                <m:e>
                                  <m:r>
                                    <a:rPr lang="en-US" sz="1800" i="1">
                                      <a:latin typeface="Cambria Math" panose="02040503050406030204" pitchFamily="18" charset="0"/>
                                    </a:rPr>
                                    <m:t>𝐴</m:t>
                                  </m:r>
                                </m:e>
                                <m:sub>
                                  <m:r>
                                    <a:rPr lang="en-US" sz="1800" b="0" i="1" smtClean="0">
                                      <a:latin typeface="Cambria Math" panose="02040503050406030204" pitchFamily="18" charset="0"/>
                                    </a:rPr>
                                    <m:t>4</m:t>
                                  </m:r>
                                </m:sub>
                              </m:sSub>
                            </m:e>
                            <m:e>
                              <m:sSub>
                                <m:sSubPr>
                                  <m:ctrlPr>
                                    <a:rPr lang="en-CN" sz="1800" i="1">
                                      <a:latin typeface="Cambria Math" panose="02040503050406030204" pitchFamily="18" charset="0"/>
                                    </a:rPr>
                                  </m:ctrlPr>
                                </m:sSubPr>
                                <m:e>
                                  <m:r>
                                    <a:rPr lang="en-US" sz="1800" i="1">
                                      <a:latin typeface="Cambria Math" panose="02040503050406030204" pitchFamily="18" charset="0"/>
                                    </a:rPr>
                                    <m:t>𝐴</m:t>
                                  </m:r>
                                </m:e>
                                <m:sub>
                                  <m:r>
                                    <a:rPr lang="en-US" sz="1800" b="0" i="1" smtClean="0">
                                      <a:latin typeface="Cambria Math" panose="02040503050406030204" pitchFamily="18" charset="0"/>
                                    </a:rPr>
                                    <m:t>5</m:t>
                                  </m:r>
                                </m:sub>
                              </m:sSub>
                            </m:e>
                            <m:e>
                              <m:sSub>
                                <m:sSubPr>
                                  <m:ctrlPr>
                                    <a:rPr lang="en-CN" sz="1800" i="1">
                                      <a:latin typeface="Cambria Math" panose="02040503050406030204" pitchFamily="18" charset="0"/>
                                    </a:rPr>
                                  </m:ctrlPr>
                                </m:sSubPr>
                                <m:e>
                                  <m:r>
                                    <a:rPr lang="en-US" sz="1800" i="1">
                                      <a:latin typeface="Cambria Math" panose="02040503050406030204" pitchFamily="18" charset="0"/>
                                    </a:rPr>
                                    <m:t>𝐴</m:t>
                                  </m:r>
                                </m:e>
                                <m:sub>
                                  <m:r>
                                    <a:rPr lang="en-US" sz="1800" b="0" i="1" smtClean="0">
                                      <a:latin typeface="Cambria Math" panose="02040503050406030204" pitchFamily="18" charset="0"/>
                                    </a:rPr>
                                    <m:t>6</m:t>
                                  </m:r>
                                </m:sub>
                              </m:sSub>
                            </m:e>
                            <m:e>
                              <m:r>
                                <a:rPr lang="en-US" sz="1800" b="0" i="1" smtClean="0">
                                  <a:latin typeface="Cambria Math" panose="02040503050406030204" pitchFamily="18" charset="0"/>
                                </a:rPr>
                                <m:t>.</m:t>
                              </m:r>
                            </m:e>
                            <m:e>
                              <m:r>
                                <a:rPr lang="en-US" sz="1800" b="0" i="1" smtClean="0">
                                  <a:latin typeface="Cambria Math" panose="02040503050406030204" pitchFamily="18" charset="0"/>
                                </a:rPr>
                                <m:t>.</m:t>
                              </m:r>
                            </m:e>
                            <m:e>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𝐴</m:t>
                                  </m:r>
                                </m:e>
                                <m:sub>
                                  <m:r>
                                    <a:rPr lang="en-US" sz="1800" b="0" i="1" smtClean="0">
                                      <a:latin typeface="Cambria Math" panose="02040503050406030204" pitchFamily="18" charset="0"/>
                                    </a:rPr>
                                    <m:t>𝑁</m:t>
                                  </m:r>
                                </m:sub>
                              </m:sSub>
                            </m:e>
                          </m:eqArr>
                        </m:e>
                      </m:d>
                      <m:r>
                        <a:rPr lang="en-US" sz="1800" b="0" i="1" smtClean="0">
                          <a:latin typeface="Cambria Math" panose="02040503050406030204" pitchFamily="18" charset="0"/>
                        </a:rPr>
                        <m:t>=</m:t>
                      </m:r>
                      <m:d>
                        <m:dPr>
                          <m:ctrlPr>
                            <a:rPr lang="en-US" sz="1800" b="0" i="1" smtClean="0">
                              <a:latin typeface="Cambria Math" panose="02040503050406030204" pitchFamily="18" charset="0"/>
                            </a:rPr>
                          </m:ctrlPr>
                        </m:dPr>
                        <m:e>
                          <m:eqArr>
                            <m:eqArrPr>
                              <m:ctrlPr>
                                <a:rPr lang="en-US" sz="1800" b="0" i="1" smtClean="0">
                                  <a:latin typeface="Cambria Math" panose="02040503050406030204" pitchFamily="18" charset="0"/>
                                </a:rPr>
                              </m:ctrlPr>
                            </m:eqArrPr>
                            <m:e>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𝑒</m:t>
                                  </m:r>
                                </m:e>
                                <m:sup>
                                  <m:r>
                                    <a:rPr lang="en-US" sz="1800" b="0" i="1" smtClean="0">
                                      <a:latin typeface="Cambria Math" panose="02040503050406030204" pitchFamily="18" charset="0"/>
                                    </a:rPr>
                                    <m:t>𝑖</m:t>
                                  </m:r>
                                  <m:r>
                                    <a:rPr lang="en-US" sz="1800" b="0" i="1" smtClean="0">
                                      <a:latin typeface="Cambria Math" panose="02040503050406030204" pitchFamily="18" charset="0"/>
                                      <a:ea typeface="Cambria Math" panose="02040503050406030204" pitchFamily="18" charset="0"/>
                                    </a:rPr>
                                    <m:t>𝜙</m:t>
                                  </m:r>
                                </m:sup>
                              </m:sSup>
                            </m:e>
                            <m:e>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𝑖</m:t>
                                  </m:r>
                                  <m:r>
                                    <a:rPr lang="en-US" b="0" i="1" smtClean="0">
                                      <a:latin typeface="Cambria Math" panose="02040503050406030204" pitchFamily="18" charset="0"/>
                                    </a:rPr>
                                    <m:t>2</m:t>
                                  </m:r>
                                  <m:r>
                                    <a:rPr lang="en-US" i="1">
                                      <a:latin typeface="Cambria Math" panose="02040503050406030204" pitchFamily="18" charset="0"/>
                                      <a:ea typeface="Cambria Math" panose="02040503050406030204" pitchFamily="18" charset="0"/>
                                    </a:rPr>
                                    <m:t>𝜙</m:t>
                                  </m:r>
                                </m:sup>
                              </m:sSup>
                            </m:e>
                            <m:e>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𝑖</m:t>
                                  </m:r>
                                  <m:r>
                                    <a:rPr lang="en-US" b="0" i="1" smtClean="0">
                                      <a:latin typeface="Cambria Math" panose="02040503050406030204" pitchFamily="18" charset="0"/>
                                    </a:rPr>
                                    <m:t>3</m:t>
                                  </m:r>
                                  <m:r>
                                    <a:rPr lang="en-US" i="1">
                                      <a:latin typeface="Cambria Math" panose="02040503050406030204" pitchFamily="18" charset="0"/>
                                      <a:ea typeface="Cambria Math" panose="02040503050406030204" pitchFamily="18" charset="0"/>
                                    </a:rPr>
                                    <m:t>𝜙</m:t>
                                  </m:r>
                                </m:sup>
                              </m:sSup>
                            </m:e>
                            <m:e>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𝑖</m:t>
                                  </m:r>
                                  <m:r>
                                    <a:rPr lang="en-US" b="0" i="1" smtClean="0">
                                      <a:latin typeface="Cambria Math" panose="02040503050406030204" pitchFamily="18" charset="0"/>
                                    </a:rPr>
                                    <m:t>4</m:t>
                                  </m:r>
                                  <m:r>
                                    <a:rPr lang="en-US" i="1">
                                      <a:latin typeface="Cambria Math" panose="02040503050406030204" pitchFamily="18" charset="0"/>
                                      <a:ea typeface="Cambria Math" panose="02040503050406030204" pitchFamily="18" charset="0"/>
                                    </a:rPr>
                                    <m:t>𝜙</m:t>
                                  </m:r>
                                </m:sup>
                              </m:sSup>
                            </m:e>
                            <m:e>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𝑖</m:t>
                                  </m:r>
                                  <m:r>
                                    <a:rPr lang="en-US" b="0" i="1" smtClean="0">
                                      <a:latin typeface="Cambria Math" panose="02040503050406030204" pitchFamily="18" charset="0"/>
                                    </a:rPr>
                                    <m:t>5</m:t>
                                  </m:r>
                                  <m:r>
                                    <a:rPr lang="en-US" i="1">
                                      <a:latin typeface="Cambria Math" panose="02040503050406030204" pitchFamily="18" charset="0"/>
                                      <a:ea typeface="Cambria Math" panose="02040503050406030204" pitchFamily="18" charset="0"/>
                                    </a:rPr>
                                    <m:t>𝜙</m:t>
                                  </m:r>
                                </m:sup>
                              </m:sSup>
                            </m:e>
                            <m:e>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𝑖</m:t>
                                  </m:r>
                                  <m:r>
                                    <a:rPr lang="en-US" b="0" i="1" smtClean="0">
                                      <a:latin typeface="Cambria Math" panose="02040503050406030204" pitchFamily="18" charset="0"/>
                                    </a:rPr>
                                    <m:t>6</m:t>
                                  </m:r>
                                  <m:r>
                                    <a:rPr lang="en-US" i="1">
                                      <a:latin typeface="Cambria Math" panose="02040503050406030204" pitchFamily="18" charset="0"/>
                                      <a:ea typeface="Cambria Math" panose="02040503050406030204" pitchFamily="18" charset="0"/>
                                    </a:rPr>
                                    <m:t>𝜙</m:t>
                                  </m:r>
                                </m:sup>
                              </m:sSup>
                            </m:e>
                            <m:e>
                              <m:r>
                                <a:rPr lang="en-US" b="0" i="1" smtClean="0">
                                  <a:latin typeface="Cambria Math" panose="02040503050406030204" pitchFamily="18" charset="0"/>
                                  <a:ea typeface="Cambria Math" panose="02040503050406030204" pitchFamily="18" charset="0"/>
                                </a:rPr>
                                <m:t>.</m:t>
                              </m:r>
                            </m:e>
                            <m:e>
                              <m:r>
                                <a:rPr lang="en-US" b="0" i="1" smtClean="0">
                                  <a:latin typeface="Cambria Math" panose="02040503050406030204" pitchFamily="18" charset="0"/>
                                  <a:ea typeface="Cambria Math" panose="02040503050406030204" pitchFamily="18" charset="0"/>
                                </a:rPr>
                                <m:t>.</m:t>
                              </m:r>
                            </m:e>
                            <m:e>
                              <m:r>
                                <a:rPr lang="en-US" b="0" i="1" smtClean="0">
                                  <a:latin typeface="Cambria Math" panose="02040503050406030204" pitchFamily="18" charset="0"/>
                                  <a:ea typeface="Cambria Math" panose="02040503050406030204" pitchFamily="18" charset="0"/>
                                </a:rPr>
                                <m:t>.</m:t>
                              </m:r>
                            </m:e>
                            <m:e>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𝑖𝑁</m:t>
                                  </m:r>
                                  <m:r>
                                    <a:rPr lang="en-US" b="0" i="1" smtClean="0">
                                      <a:latin typeface="Cambria Math" panose="02040503050406030204" pitchFamily="18" charset="0"/>
                                      <a:ea typeface="Cambria Math" panose="02040503050406030204" pitchFamily="18" charset="0"/>
                                    </a:rPr>
                                    <m:t>𝜙</m:t>
                                  </m:r>
                                </m:sup>
                              </m:sSup>
                            </m:e>
                          </m:eqArr>
                        </m:e>
                      </m:d>
                    </m:oMath>
                  </m:oMathPara>
                </a14:m>
                <a:endParaRPr lang="en-CN" dirty="0"/>
              </a:p>
            </p:txBody>
          </p:sp>
        </mc:Choice>
        <mc:Fallback xmlns="">
          <p:sp>
            <p:nvSpPr>
              <p:cNvPr id="3" name="TextBox 2">
                <a:extLst>
                  <a:ext uri="{FF2B5EF4-FFF2-40B4-BE49-F238E27FC236}">
                    <a16:creationId xmlns:a16="http://schemas.microsoft.com/office/drawing/2014/main" id="{18373E9D-2812-98E1-2576-72EA031850B1}"/>
                  </a:ext>
                </a:extLst>
              </p:cNvPr>
              <p:cNvSpPr txBox="1">
                <a:spLocks noRot="1" noChangeAspect="1" noMove="1" noResize="1" noEditPoints="1" noAdjustHandles="1" noChangeArrowheads="1" noChangeShapeType="1" noTextEdit="1"/>
              </p:cNvSpPr>
              <p:nvPr/>
            </p:nvSpPr>
            <p:spPr>
              <a:xfrm>
                <a:off x="928255" y="166255"/>
                <a:ext cx="4239491" cy="2808398"/>
              </a:xfrm>
              <a:prstGeom prst="rect">
                <a:avLst/>
              </a:prstGeom>
              <a:blipFill>
                <a:blip r:embed="rId2"/>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9B13B0F-629D-F7E6-5078-1F8084B627C6}"/>
                  </a:ext>
                </a:extLst>
              </p:cNvPr>
              <p:cNvSpPr txBox="1"/>
              <p:nvPr/>
            </p:nvSpPr>
            <p:spPr>
              <a:xfrm>
                <a:off x="3685309" y="1076312"/>
                <a:ext cx="8963891" cy="9882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CN" i="1" smtClean="0">
                              <a:latin typeface="Cambria Math" panose="02040503050406030204" pitchFamily="18" charset="0"/>
                            </a:rPr>
                          </m:ctrlPr>
                        </m:sSubSupPr>
                        <m:e>
                          <m:r>
                            <a:rPr lang="en-CN"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0</m:t>
                          </m:r>
                        </m:sub>
                        <m:sup>
                          <m:r>
                            <a:rPr lang="en-US" b="0" i="1" smtClean="0">
                              <a:latin typeface="Cambria Math" panose="02040503050406030204" pitchFamily="18" charset="0"/>
                            </a:rPr>
                            <m:t>2</m:t>
                          </m:r>
                        </m:sup>
                      </m:sSubSup>
                      <m:d>
                        <m:dPr>
                          <m:ctrlPr>
                            <a:rPr lang="en-CN" i="1" smtClean="0">
                              <a:latin typeface="Cambria Math" panose="02040503050406030204" pitchFamily="18" charset="0"/>
                            </a:rPr>
                          </m:ctrlPr>
                        </m:dPr>
                        <m:e>
                          <m:sSup>
                            <m:sSupPr>
                              <m:ctrlPr>
                                <a:rPr lang="en-CN"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𝜙</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𝜙</m:t>
                              </m:r>
                            </m:sup>
                          </m:sSup>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2</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0</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𝜔</m:t>
                              </m:r>
                            </m:e>
                            <m:sup>
                              <m:r>
                                <a:rPr lang="en-US" b="0" i="1" smtClean="0">
                                  <a:latin typeface="Cambria Math" panose="02040503050406030204" pitchFamily="18" charset="0"/>
                                </a:rPr>
                                <m:t>2</m:t>
                              </m:r>
                            </m:sup>
                          </m:sSup>
                        </m:e>
                      </m:d>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𝑖𝑛</m:t>
                          </m:r>
                          <m:r>
                            <a:rPr lang="en-US" b="0" i="1" smtClean="0">
                              <a:latin typeface="Cambria Math" panose="02040503050406030204" pitchFamily="18" charset="0"/>
                              <a:ea typeface="Cambria Math" panose="02040503050406030204" pitchFamily="18" charset="0"/>
                            </a:rPr>
                            <m:t>𝜙</m:t>
                          </m:r>
                        </m:sup>
                      </m:sSup>
                    </m:oMath>
                  </m:oMathPara>
                </a14:m>
                <a:endParaRPr lang="en-CN" dirty="0"/>
              </a:p>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m:t>
                      </m:r>
                      <m:sSup>
                        <m:sSupPr>
                          <m:ctrlPr>
                            <a:rPr lang="en-CN" i="1" smtClean="0">
                              <a:latin typeface="Cambria Math" panose="02040503050406030204" pitchFamily="18" charset="0"/>
                              <a:ea typeface="Cambria Math" panose="02040503050406030204" pitchFamily="18" charset="0"/>
                            </a:rPr>
                          </m:ctrlPr>
                        </m:sSupPr>
                        <m:e>
                          <m:r>
                            <a:rPr lang="en-CN" i="1" smtClean="0">
                              <a:latin typeface="Cambria Math" panose="02040503050406030204" pitchFamily="18" charset="0"/>
                              <a:ea typeface="Cambria Math" panose="02040503050406030204" pitchFamily="18" charset="0"/>
                            </a:rPr>
                            <m:t>𝜔</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=2</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2</m:t>
                          </m:r>
                        </m:sup>
                      </m:sSub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𝑐𝑜𝑠</m:t>
                          </m:r>
                          <m:r>
                            <a:rPr lang="en-US" b="0" i="1" smtClean="0">
                              <a:latin typeface="Cambria Math" panose="02040503050406030204" pitchFamily="18" charset="0"/>
                              <a:ea typeface="Cambria Math" panose="02040503050406030204" pitchFamily="18" charset="0"/>
                            </a:rPr>
                            <m:t>𝜙</m:t>
                          </m:r>
                        </m:e>
                      </m:d>
                      <m:r>
                        <a:rPr lang="en-US" i="1">
                          <a:latin typeface="Cambria Math" panose="02040503050406030204" pitchFamily="18" charset="0"/>
                          <a:ea typeface="Cambria Math" panose="02040503050406030204" pitchFamily="18" charset="0"/>
                        </a:rPr>
                        <m:t>⟹</m:t>
                      </m:r>
                      <m:sSup>
                        <m:sSupPr>
                          <m:ctrlPr>
                            <a:rPr lang="en-US" i="1" smtClean="0">
                              <a:latin typeface="Cambria Math" panose="02040503050406030204" pitchFamily="18" charset="0"/>
                              <a:ea typeface="Cambria Math" panose="02040503050406030204" pitchFamily="18" charset="0"/>
                            </a:rPr>
                          </m:ctrlPr>
                        </m:sSupPr>
                        <m:e>
                          <m:d>
                            <m:dPr>
                              <m:ctrlPr>
                                <a:rPr lang="en-US" i="1" smtClean="0">
                                  <a:latin typeface="Cambria Math" panose="02040503050406030204" pitchFamily="18" charset="0"/>
                                  <a:ea typeface="Cambria Math" panose="02040503050406030204" pitchFamily="18" charset="0"/>
                                </a:rPr>
                              </m:ctrlPr>
                            </m:dPr>
                            <m:e>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𝑠𝑖𝑛</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𝜙</m:t>
                                  </m:r>
                                </m:num>
                                <m:den>
                                  <m:r>
                                    <a:rPr lang="en-US" b="0" i="1" smtClean="0">
                                      <a:latin typeface="Cambria Math" panose="02040503050406030204" pitchFamily="18" charset="0"/>
                                      <a:ea typeface="Cambria Math" panose="02040503050406030204" pitchFamily="18" charset="0"/>
                                    </a:rPr>
                                    <m:t>2</m:t>
                                  </m:r>
                                </m:den>
                              </m:f>
                            </m:e>
                          </m:d>
                        </m:e>
                        <m:sup>
                          <m:r>
                            <a:rPr lang="en-US" b="0" i="1" smtClean="0">
                              <a:latin typeface="Cambria Math" panose="02040503050406030204" pitchFamily="18" charset="0"/>
                              <a:ea typeface="Cambria Math" panose="02040503050406030204" pitchFamily="18" charset="0"/>
                            </a:rPr>
                            <m:t>2</m:t>
                          </m:r>
                        </m:sup>
                      </m:sSup>
                    </m:oMath>
                  </m:oMathPara>
                </a14:m>
                <a:endParaRPr lang="en-CN" dirty="0"/>
              </a:p>
            </p:txBody>
          </p:sp>
        </mc:Choice>
        <mc:Fallback xmlns="">
          <p:sp>
            <p:nvSpPr>
              <p:cNvPr id="4" name="TextBox 3">
                <a:extLst>
                  <a:ext uri="{FF2B5EF4-FFF2-40B4-BE49-F238E27FC236}">
                    <a16:creationId xmlns:a16="http://schemas.microsoft.com/office/drawing/2014/main" id="{59B13B0F-629D-F7E6-5078-1F8084B627C6}"/>
                  </a:ext>
                </a:extLst>
              </p:cNvPr>
              <p:cNvSpPr txBox="1">
                <a:spLocks noRot="1" noChangeAspect="1" noMove="1" noResize="1" noEditPoints="1" noAdjustHandles="1" noChangeArrowheads="1" noChangeShapeType="1" noTextEdit="1"/>
              </p:cNvSpPr>
              <p:nvPr/>
            </p:nvSpPr>
            <p:spPr>
              <a:xfrm>
                <a:off x="3685309" y="1076312"/>
                <a:ext cx="8963891" cy="988284"/>
              </a:xfrm>
              <a:prstGeom prst="rect">
                <a:avLst/>
              </a:prstGeom>
              <a:blipFill>
                <a:blip r:embed="rId3"/>
                <a:stretch>
                  <a:fillRect b="-126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C130077-90C2-E390-16A6-8977A63A81E3}"/>
                  </a:ext>
                </a:extLst>
              </p:cNvPr>
              <p:cNvSpPr txBox="1"/>
              <p:nvPr/>
            </p:nvSpPr>
            <p:spPr>
              <a:xfrm>
                <a:off x="332509" y="2974653"/>
                <a:ext cx="10958945" cy="9232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CN"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𝜙</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𝜙</m:t>
                          </m:r>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𝑖𝑁</m:t>
                          </m:r>
                          <m:r>
                            <a:rPr lang="en-US" b="0" i="1" smtClean="0">
                              <a:latin typeface="Cambria Math" panose="02040503050406030204" pitchFamily="18" charset="0"/>
                              <a:ea typeface="Cambria Math" panose="02040503050406030204" pitchFamily="18" charset="0"/>
                            </a:rPr>
                            <m:t>𝜙</m:t>
                          </m:r>
                        </m:sup>
                      </m:sSup>
                      <m:r>
                        <a:rPr lang="en-US" b="0" i="1" smtClean="0">
                          <a:latin typeface="Cambria Math" panose="02040503050406030204" pitchFamily="18" charset="0"/>
                          <a:ea typeface="Cambria Math" panose="02040503050406030204" pitchFamily="18" charset="0"/>
                        </a:rPr>
                        <m:t>=1</m:t>
                      </m:r>
                    </m:oMath>
                  </m:oMathPara>
                </a14:m>
                <a:endParaRPr lang="en-CN" dirty="0"/>
              </a:p>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m:t>
                      </m:r>
                      <m:sSub>
                        <m:sSubPr>
                          <m:ctrlPr>
                            <a:rPr lang="en-CN" i="1" smtClean="0">
                              <a:latin typeface="Cambria Math" panose="02040503050406030204" pitchFamily="18" charset="0"/>
                              <a:ea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𝜙</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𝜋</m:t>
                          </m:r>
                        </m:num>
                        <m:den>
                          <m:r>
                            <a:rPr lang="en-US" b="0" i="1" smtClean="0">
                              <a:latin typeface="Cambria Math" panose="02040503050406030204" pitchFamily="18" charset="0"/>
                              <a:ea typeface="Cambria Math" panose="02040503050406030204" pitchFamily="18" charset="0"/>
                            </a:rPr>
                            <m:t>𝑁</m:t>
                          </m:r>
                        </m:den>
                      </m:f>
                      <m:r>
                        <a:rPr lang="en-US" b="0" i="1" smtClean="0">
                          <a:latin typeface="Cambria Math" panose="02040503050406030204" pitchFamily="18" charset="0"/>
                          <a:ea typeface="Cambria Math" panose="02040503050406030204" pitchFamily="18" charset="0"/>
                        </a:rPr>
                        <m:t>=0,±</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num>
                        <m:den>
                          <m:r>
                            <a:rPr lang="en-US" b="0" i="1" smtClean="0">
                              <a:latin typeface="Cambria Math" panose="02040503050406030204" pitchFamily="18" charset="0"/>
                              <a:ea typeface="Cambria Math" panose="02040503050406030204" pitchFamily="18" charset="0"/>
                            </a:rPr>
                            <m:t>𝑁</m:t>
                          </m:r>
                        </m:den>
                      </m:f>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r>
                            <a:rPr lang="en-US" b="0" i="1" smtClean="0">
                              <a:latin typeface="Cambria Math" panose="02040503050406030204" pitchFamily="18" charset="0"/>
                              <a:ea typeface="Cambria Math" panose="02040503050406030204" pitchFamily="18" charset="0"/>
                            </a:rPr>
                            <m:t>𝜋</m:t>
                          </m:r>
                        </m:num>
                        <m:den>
                          <m:r>
                            <a:rPr lang="en-US" b="0" i="1" smtClean="0">
                              <a:latin typeface="Cambria Math" panose="02040503050406030204" pitchFamily="18" charset="0"/>
                              <a:ea typeface="Cambria Math" panose="02040503050406030204" pitchFamily="18" charset="0"/>
                            </a:rPr>
                            <m:t>𝑁</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=0,±</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𝜋</m:t>
                          </m:r>
                        </m:num>
                        <m:den>
                          <m:r>
                            <a:rPr lang="en-US" i="1">
                              <a:latin typeface="Cambria Math" panose="02040503050406030204" pitchFamily="18" charset="0"/>
                              <a:ea typeface="Cambria Math" panose="02040503050406030204" pitchFamily="18" charset="0"/>
                            </a:rPr>
                            <m:t>𝑁</m:t>
                          </m:r>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4</m:t>
                          </m:r>
                          <m:r>
                            <a:rPr lang="en-US" i="1">
                              <a:latin typeface="Cambria Math" panose="02040503050406030204" pitchFamily="18" charset="0"/>
                              <a:ea typeface="Cambria Math" panose="02040503050406030204" pitchFamily="18" charset="0"/>
                            </a:rPr>
                            <m:t>𝜋</m:t>
                          </m:r>
                        </m:num>
                        <m:den>
                          <m:r>
                            <a:rPr lang="en-US" i="1">
                              <a:latin typeface="Cambria Math" panose="02040503050406030204" pitchFamily="18" charset="0"/>
                              <a:ea typeface="Cambria Math" panose="02040503050406030204" pitchFamily="18" charset="0"/>
                            </a:rPr>
                            <m:t>𝑁</m:t>
                          </m:r>
                        </m:den>
                      </m:f>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𝑛𝑜𝑡𝑒𝑑</m:t>
                      </m:r>
                      <m:r>
                        <a:rPr lang="en-US" b="0" i="1" smtClean="0">
                          <a:solidFill>
                            <a:srgbClr val="FF0000"/>
                          </a:solidFill>
                          <a:latin typeface="Cambria Math" panose="02040503050406030204" pitchFamily="18" charset="0"/>
                          <a:ea typeface="Cambria Math" panose="02040503050406030204" pitchFamily="18" charset="0"/>
                        </a:rPr>
                        <m:t> </m:t>
                      </m:r>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𝑒</m:t>
                          </m:r>
                        </m:e>
                        <m:sup>
                          <m:r>
                            <a:rPr lang="en-US" b="0" i="1" smtClean="0">
                              <a:solidFill>
                                <a:srgbClr val="FF0000"/>
                              </a:solidFill>
                              <a:latin typeface="Cambria Math" panose="02040503050406030204" pitchFamily="18" charset="0"/>
                              <a:ea typeface="Cambria Math" panose="02040503050406030204" pitchFamily="18" charset="0"/>
                            </a:rPr>
                            <m:t>𝑖𝑛</m:t>
                          </m:r>
                          <m:r>
                            <a:rPr lang="en-US" b="0" i="1" smtClean="0">
                              <a:solidFill>
                                <a:srgbClr val="FF0000"/>
                              </a:solidFill>
                              <a:latin typeface="Cambria Math" panose="02040503050406030204" pitchFamily="18" charset="0"/>
                              <a:ea typeface="Cambria Math" panose="02040503050406030204" pitchFamily="18" charset="0"/>
                            </a:rPr>
                            <m:t>𝜋</m:t>
                          </m:r>
                        </m:sup>
                      </m:sSup>
                      <m:r>
                        <a:rPr lang="en-US" b="0" i="1" smtClean="0">
                          <a:solidFill>
                            <a:srgbClr val="FF0000"/>
                          </a:solidFill>
                          <a:latin typeface="Cambria Math" panose="02040503050406030204" pitchFamily="18" charset="0"/>
                          <a:ea typeface="Cambria Math" panose="02040503050406030204" pitchFamily="18" charset="0"/>
                        </a:rPr>
                        <m:t>=</m:t>
                      </m:r>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𝑒</m:t>
                          </m:r>
                        </m:e>
                        <m:sup>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𝑖𝑛</m:t>
                          </m:r>
                          <m:r>
                            <a:rPr lang="en-US" b="0" i="1" smtClean="0">
                              <a:solidFill>
                                <a:srgbClr val="FF0000"/>
                              </a:solidFill>
                              <a:latin typeface="Cambria Math" panose="02040503050406030204" pitchFamily="18" charset="0"/>
                              <a:ea typeface="Cambria Math" panose="02040503050406030204" pitchFamily="18" charset="0"/>
                            </a:rPr>
                            <m:t>𝜋</m:t>
                          </m:r>
                        </m:sup>
                      </m:sSup>
                    </m:oMath>
                  </m:oMathPara>
                </a14:m>
                <a:endParaRPr lang="en-CN" dirty="0"/>
              </a:p>
            </p:txBody>
          </p:sp>
        </mc:Choice>
        <mc:Fallback xmlns="">
          <p:sp>
            <p:nvSpPr>
              <p:cNvPr id="5" name="TextBox 4">
                <a:extLst>
                  <a:ext uri="{FF2B5EF4-FFF2-40B4-BE49-F238E27FC236}">
                    <a16:creationId xmlns:a16="http://schemas.microsoft.com/office/drawing/2014/main" id="{2C130077-90C2-E390-16A6-8977A63A81E3}"/>
                  </a:ext>
                </a:extLst>
              </p:cNvPr>
              <p:cNvSpPr txBox="1">
                <a:spLocks noRot="1" noChangeAspect="1" noMove="1" noResize="1" noEditPoints="1" noAdjustHandles="1" noChangeArrowheads="1" noChangeShapeType="1" noTextEdit="1"/>
              </p:cNvSpPr>
              <p:nvPr/>
            </p:nvSpPr>
            <p:spPr>
              <a:xfrm>
                <a:off x="332509" y="2974653"/>
                <a:ext cx="10958945" cy="923266"/>
              </a:xfrm>
              <a:prstGeom prst="rect">
                <a:avLst/>
              </a:prstGeom>
              <a:blipFill>
                <a:blip r:embed="rId4"/>
                <a:stretch>
                  <a:fillRect b="-1370"/>
                </a:stretch>
              </a:blipFill>
            </p:spPr>
            <p:txBody>
              <a:bodyPr/>
              <a:lstStyle/>
              <a:p>
                <a:r>
                  <a:rPr lang="en-CN">
                    <a:noFill/>
                  </a:rPr>
                  <a:t> </a:t>
                </a:r>
              </a:p>
            </p:txBody>
          </p:sp>
        </mc:Fallback>
      </mc:AlternateContent>
      <p:sp>
        <p:nvSpPr>
          <p:cNvPr id="2" name="TextBox 1">
            <a:extLst>
              <a:ext uri="{FF2B5EF4-FFF2-40B4-BE49-F238E27FC236}">
                <a16:creationId xmlns:a16="http://schemas.microsoft.com/office/drawing/2014/main" id="{6FB372F2-7C89-EC09-BCE4-D0E2A38F9121}"/>
              </a:ext>
            </a:extLst>
          </p:cNvPr>
          <p:cNvSpPr txBox="1"/>
          <p:nvPr/>
        </p:nvSpPr>
        <p:spPr>
          <a:xfrm>
            <a:off x="10252364" y="3188792"/>
            <a:ext cx="1634836" cy="369332"/>
          </a:xfrm>
          <a:prstGeom prst="rect">
            <a:avLst/>
          </a:prstGeom>
          <a:noFill/>
        </p:spPr>
        <p:txBody>
          <a:bodyPr wrap="square" rtlCol="0">
            <a:spAutoFit/>
          </a:bodyPr>
          <a:lstStyle/>
          <a:p>
            <a:r>
              <a:rPr lang="en-CN" dirty="0"/>
              <a:t>共有N个mode</a:t>
            </a:r>
            <a:r>
              <a:rPr lang="zh-CN" altLang="en-US" dirty="0"/>
              <a:t>！</a:t>
            </a:r>
            <a:endParaRPr lang="en-CN" dirty="0"/>
          </a:p>
        </p:txBody>
      </p:sp>
      <p:sp>
        <p:nvSpPr>
          <p:cNvPr id="6" name="TextBox 5">
            <a:extLst>
              <a:ext uri="{FF2B5EF4-FFF2-40B4-BE49-F238E27FC236}">
                <a16:creationId xmlns:a16="http://schemas.microsoft.com/office/drawing/2014/main" id="{5D0E17CD-75D4-45C9-6401-7FDE16167CBD}"/>
              </a:ext>
            </a:extLst>
          </p:cNvPr>
          <p:cNvSpPr txBox="1"/>
          <p:nvPr/>
        </p:nvSpPr>
        <p:spPr>
          <a:xfrm>
            <a:off x="7925908" y="4524757"/>
            <a:ext cx="4135028" cy="646331"/>
          </a:xfrm>
          <a:prstGeom prst="rect">
            <a:avLst/>
          </a:prstGeom>
          <a:noFill/>
        </p:spPr>
        <p:txBody>
          <a:bodyPr wrap="square" rtlCol="0">
            <a:spAutoFit/>
          </a:bodyPr>
          <a:lstStyle/>
          <a:p>
            <a:r>
              <a:rPr lang="en-CN" dirty="0">
                <a:solidFill>
                  <a:srgbClr val="7030A0"/>
                </a:solidFill>
                <a:latin typeface="FangSong" panose="02010609060101010101" pitchFamily="49" charset="-122"/>
                <a:ea typeface="FangSong" panose="02010609060101010101" pitchFamily="49" charset="-122"/>
              </a:rPr>
              <a:t>色散关系</a:t>
            </a:r>
            <a:r>
              <a:rPr lang="zh-CN" altLang="en-US" dirty="0">
                <a:solidFill>
                  <a:srgbClr val="7030A0"/>
                </a:solidFill>
                <a:latin typeface="FangSong" panose="02010609060101010101" pitchFamily="49" charset="-122"/>
                <a:ea typeface="FangSong" panose="02010609060101010101" pitchFamily="49" charset="-122"/>
              </a:rPr>
              <a:t>！！！</a:t>
            </a:r>
            <a:r>
              <a:rPr lang="en-US" altLang="zh-CN" dirty="0">
                <a:solidFill>
                  <a:srgbClr val="7030A0"/>
                </a:solidFill>
                <a:latin typeface="FangSong" panose="02010609060101010101" pitchFamily="49" charset="-122"/>
                <a:ea typeface="FangSong" panose="02010609060101010101" pitchFamily="49" charset="-122"/>
              </a:rPr>
              <a:t>(between the angular frequency and the wavenumber)</a:t>
            </a:r>
            <a:endParaRPr lang="en-CN" dirty="0">
              <a:solidFill>
                <a:srgbClr val="7030A0"/>
              </a:solidFill>
              <a:latin typeface="FangSong" panose="02010609060101010101" pitchFamily="49" charset="-122"/>
              <a:ea typeface="FangSong" panose="02010609060101010101" pitchFamily="49" charset="-122"/>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45C6DC3-E1F3-CE3A-0A63-2E5906E567CF}"/>
                  </a:ext>
                </a:extLst>
              </p:cNvPr>
              <p:cNvSpPr txBox="1"/>
              <p:nvPr/>
            </p:nvSpPr>
            <p:spPr>
              <a:xfrm>
                <a:off x="3048000" y="4396549"/>
                <a:ext cx="6324600" cy="62574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0</m:t>
                          </m:r>
                        </m:sub>
                      </m:sSub>
                      <m:d>
                        <m:dPr>
                          <m:begChr m:val="|"/>
                          <m:endChr m:val="|"/>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𝑠𝑖𝑛</m:t>
                          </m:r>
                          <m:f>
                            <m:fPr>
                              <m:ctrlPr>
                                <a:rPr lang="en-US" i="1">
                                  <a:latin typeface="Cambria Math" panose="02040503050406030204" pitchFamily="18" charset="0"/>
                                  <a:ea typeface="Cambria Math" panose="02040503050406030204" pitchFamily="18" charset="0"/>
                                </a:rPr>
                              </m:ctrlPr>
                            </m:fPr>
                            <m:num>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𝜙</m:t>
                                  </m:r>
                                </m:e>
                                <m:sub>
                                  <m:r>
                                    <a:rPr lang="en-US" b="0" i="1" smtClean="0">
                                      <a:latin typeface="Cambria Math" panose="02040503050406030204" pitchFamily="18" charset="0"/>
                                      <a:ea typeface="Cambria Math" panose="02040503050406030204" pitchFamily="18" charset="0"/>
                                    </a:rPr>
                                    <m:t>𝑛</m:t>
                                  </m:r>
                                </m:sub>
                              </m:sSub>
                            </m:num>
                            <m:den>
                              <m:r>
                                <a:rPr lang="en-US" i="1">
                                  <a:latin typeface="Cambria Math" panose="02040503050406030204" pitchFamily="18" charset="0"/>
                                  <a:ea typeface="Cambria Math" panose="02040503050406030204" pitchFamily="18" charset="0"/>
                                </a:rPr>
                                <m:t>2</m:t>
                              </m:r>
                            </m:den>
                          </m:f>
                        </m:e>
                      </m:d>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0</m:t>
                          </m:r>
                        </m:sub>
                      </m:sSub>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𝑠𝑖𝑛</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𝑘</m:t>
                                  </m:r>
                                </m:e>
                                <m:sub>
                                  <m:r>
                                    <a:rPr lang="en-US" i="1">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𝑎</m:t>
                              </m:r>
                            </m:num>
                            <m:den>
                              <m:r>
                                <a:rPr lang="en-US" i="1">
                                  <a:latin typeface="Cambria Math" panose="02040503050406030204" pitchFamily="18" charset="0"/>
                                  <a:ea typeface="Cambria Math" panose="02040503050406030204" pitchFamily="18" charset="0"/>
                                </a:rPr>
                                <m:t>2</m:t>
                              </m:r>
                            </m:den>
                          </m:f>
                        </m:e>
                      </m:d>
                    </m:oMath>
                  </m:oMathPara>
                </a14:m>
                <a:endParaRPr lang="en-CN" dirty="0"/>
              </a:p>
            </p:txBody>
          </p:sp>
        </mc:Choice>
        <mc:Fallback xmlns="">
          <p:sp>
            <p:nvSpPr>
              <p:cNvPr id="8" name="TextBox 7">
                <a:extLst>
                  <a:ext uri="{FF2B5EF4-FFF2-40B4-BE49-F238E27FC236}">
                    <a16:creationId xmlns:a16="http://schemas.microsoft.com/office/drawing/2014/main" id="{945C6DC3-E1F3-CE3A-0A63-2E5906E567CF}"/>
                  </a:ext>
                </a:extLst>
              </p:cNvPr>
              <p:cNvSpPr txBox="1">
                <a:spLocks noRot="1" noChangeAspect="1" noMove="1" noResize="1" noEditPoints="1" noAdjustHandles="1" noChangeArrowheads="1" noChangeShapeType="1" noTextEdit="1"/>
              </p:cNvSpPr>
              <p:nvPr/>
            </p:nvSpPr>
            <p:spPr>
              <a:xfrm>
                <a:off x="3048000" y="4396549"/>
                <a:ext cx="6324600" cy="625749"/>
              </a:xfrm>
              <a:prstGeom prst="rect">
                <a:avLst/>
              </a:prstGeom>
              <a:blipFill>
                <a:blip r:embed="rId5"/>
                <a:stretch>
                  <a:fillRect b="-20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417AD28-CD23-468F-F07C-C22462FCCD0B}"/>
                  </a:ext>
                </a:extLst>
              </p:cNvPr>
              <p:cNvSpPr txBox="1"/>
              <p:nvPr/>
            </p:nvSpPr>
            <p:spPr>
              <a:xfrm>
                <a:off x="731520" y="5495544"/>
                <a:ext cx="10725912" cy="369332"/>
              </a:xfrm>
              <a:prstGeom prst="rect">
                <a:avLst/>
              </a:prstGeom>
              <a:noFill/>
            </p:spPr>
            <p:txBody>
              <a:bodyPr wrap="square" rtlCol="0">
                <a:spAutoFit/>
              </a:bodyPr>
              <a:lstStyle/>
              <a:p>
                <a:pPr marL="285750" indent="-285750">
                  <a:buFont typeface="Arial" panose="020B0604020202020204" pitchFamily="34" charset="0"/>
                  <a:buChar char="•"/>
                </a:pPr>
                <a:r>
                  <a:rPr lang="en-CN" dirty="0"/>
                  <a:t>In the continuum limit,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→0, </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oMath>
                </a14:m>
                <a:r>
                  <a:rPr lang="en-CN" dirty="0"/>
                  <a:t>, with Na held fixed, </a:t>
                </a:r>
                <a14:m>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𝑛</m:t>
                        </m:r>
                      </m:sub>
                    </m:sSub>
                    <m:r>
                      <a:rPr lang="en-CN" i="1" smtClean="0">
                        <a:latin typeface="Cambria Math" panose="02040503050406030204" pitchFamily="18" charset="0"/>
                        <a:ea typeface="Cambria Math" panose="02040503050406030204" pitchFamily="18" charset="0"/>
                      </a:rPr>
                      <m:t>→</m:t>
                    </m:r>
                    <m:r>
                      <a:rPr lang="en-CN" i="1" smtClean="0">
                        <a:latin typeface="Cambria Math" panose="02040503050406030204" pitchFamily="18" charset="0"/>
                        <a:ea typeface="Cambria Math" panose="02040503050406030204" pitchFamily="18" charset="0"/>
                      </a:rPr>
                      <m:t>𝜑</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oMath>
                </a14:m>
                <a:r>
                  <a:rPr lang="en-CN" dirty="0"/>
                  <a:t>, a scalar field, and </a:t>
                </a:r>
                <a14:m>
                  <m:oMath xmlns:m="http://schemas.openxmlformats.org/officeDocument/2006/math">
                    <m:r>
                      <a:rPr lang="en-CN" i="1" smtClean="0">
                        <a:latin typeface="Cambria Math" panose="02040503050406030204" pitchFamily="18" charset="0"/>
                        <a:ea typeface="Cambria Math" panose="02040503050406030204" pitchFamily="18" charset="0"/>
                      </a:rPr>
                      <m:t>𝜔</m:t>
                    </m:r>
                    <m:r>
                      <a:rPr lang="en-C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𝑘𝑎</m:t>
                    </m:r>
                  </m:oMath>
                </a14:m>
                <a:endParaRPr lang="en-CN" dirty="0"/>
              </a:p>
            </p:txBody>
          </p:sp>
        </mc:Choice>
        <mc:Fallback xmlns="">
          <p:sp>
            <p:nvSpPr>
              <p:cNvPr id="7" name="TextBox 6">
                <a:extLst>
                  <a:ext uri="{FF2B5EF4-FFF2-40B4-BE49-F238E27FC236}">
                    <a16:creationId xmlns:a16="http://schemas.microsoft.com/office/drawing/2014/main" id="{6417AD28-CD23-468F-F07C-C22462FCCD0B}"/>
                  </a:ext>
                </a:extLst>
              </p:cNvPr>
              <p:cNvSpPr txBox="1">
                <a:spLocks noRot="1" noChangeAspect="1" noMove="1" noResize="1" noEditPoints="1" noAdjustHandles="1" noChangeArrowheads="1" noChangeShapeType="1" noTextEdit="1"/>
              </p:cNvSpPr>
              <p:nvPr/>
            </p:nvSpPr>
            <p:spPr>
              <a:xfrm>
                <a:off x="731520" y="5495544"/>
                <a:ext cx="10725912" cy="369332"/>
              </a:xfrm>
              <a:prstGeom prst="rect">
                <a:avLst/>
              </a:prstGeom>
              <a:blipFill>
                <a:blip r:embed="rId6"/>
                <a:stretch>
                  <a:fillRect l="-355" t="-6667" b="-26667"/>
                </a:stretch>
              </a:blipFill>
            </p:spPr>
            <p:txBody>
              <a:bodyPr/>
              <a:lstStyle/>
              <a:p>
                <a:r>
                  <a:rPr lang="en-CN">
                    <a:noFill/>
                  </a:rPr>
                  <a:t> </a:t>
                </a:r>
              </a:p>
            </p:txBody>
          </p:sp>
        </mc:Fallback>
      </mc:AlternateContent>
    </p:spTree>
    <p:extLst>
      <p:ext uri="{BB962C8B-B14F-4D97-AF65-F5344CB8AC3E}">
        <p14:creationId xmlns:p14="http://schemas.microsoft.com/office/powerpoint/2010/main" val="39469574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E7C000-CA74-2030-D756-2AF60DD5441E}"/>
              </a:ext>
            </a:extLst>
          </p:cNvPr>
          <p:cNvPicPr>
            <a:picLocks noChangeAspect="1"/>
          </p:cNvPicPr>
          <p:nvPr/>
        </p:nvPicPr>
        <p:blipFill>
          <a:blip r:embed="rId2"/>
          <a:stretch>
            <a:fillRect/>
          </a:stretch>
        </p:blipFill>
        <p:spPr>
          <a:xfrm>
            <a:off x="416006" y="137159"/>
            <a:ext cx="5294142" cy="4615111"/>
          </a:xfrm>
          <a:prstGeom prst="rect">
            <a:avLst/>
          </a:prstGeom>
        </p:spPr>
      </p:pic>
      <p:pic>
        <p:nvPicPr>
          <p:cNvPr id="1026" name="Picture 2">
            <a:extLst>
              <a:ext uri="{FF2B5EF4-FFF2-40B4-BE49-F238E27FC236}">
                <a16:creationId xmlns:a16="http://schemas.microsoft.com/office/drawing/2014/main" id="{975A9798-8708-270F-DC1B-FAB99B85D9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762693"/>
            <a:ext cx="4968240" cy="496824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65ED602-4CD1-21EA-10F7-3F9F5A0A0FA0}"/>
                  </a:ext>
                </a:extLst>
              </p:cNvPr>
              <p:cNvSpPr txBox="1"/>
              <p:nvPr/>
            </p:nvSpPr>
            <p:spPr>
              <a:xfrm>
                <a:off x="541782" y="5343733"/>
                <a:ext cx="6094476" cy="1053430"/>
              </a:xfrm>
              <a:prstGeom prst="rect">
                <a:avLst/>
              </a:prstGeom>
              <a:noFill/>
            </p:spPr>
            <p:txBody>
              <a:bodyPr wrap="square">
                <a:spAutoFit/>
              </a:bodyPr>
              <a:lstStyle/>
              <a:p>
                <a:pPr marL="285750" indent="-285750">
                  <a:buFont typeface="Arial" panose="020B0604020202020204" pitchFamily="34" charset="0"/>
                  <a:buChar char="•"/>
                </a:pPr>
                <a:r>
                  <a:rPr lang="en-CN" dirty="0"/>
                  <a:t>The maximum mode number n</a:t>
                </a:r>
              </a:p>
              <a:p>
                <a:pPr algn="ctr"/>
                <a14:m>
                  <m:oMathPara xmlns:m="http://schemas.openxmlformats.org/officeDocument/2006/math">
                    <m:oMathParaPr>
                      <m:jc m:val="centerGroup"/>
                    </m:oMathParaPr>
                    <m:oMath xmlns:m="http://schemas.openxmlformats.org/officeDocument/2006/math">
                      <m:sSub>
                        <m:sSubPr>
                          <m:ctrlPr>
                            <a:rPr lang="en-CN" sz="4000" i="1" smtClean="0">
                              <a:solidFill>
                                <a:srgbClr val="FF0000"/>
                              </a:solidFill>
                              <a:latin typeface="Cambria Math" panose="02040503050406030204" pitchFamily="18" charset="0"/>
                            </a:rPr>
                          </m:ctrlPr>
                        </m:sSubPr>
                        <m:e>
                          <m:r>
                            <a:rPr lang="en-US" sz="4000" b="0" i="1" smtClean="0">
                              <a:solidFill>
                                <a:srgbClr val="FF0000"/>
                              </a:solidFill>
                              <a:latin typeface="Cambria Math" panose="02040503050406030204" pitchFamily="18" charset="0"/>
                            </a:rPr>
                            <m:t>𝑛</m:t>
                          </m:r>
                        </m:e>
                        <m:sub>
                          <m:r>
                            <a:rPr lang="en-US" sz="4000" b="0" i="1" smtClean="0">
                              <a:solidFill>
                                <a:srgbClr val="FF0000"/>
                              </a:solidFill>
                              <a:latin typeface="Cambria Math" panose="02040503050406030204" pitchFamily="18" charset="0"/>
                            </a:rPr>
                            <m:t>𝑚𝑎𝑥</m:t>
                          </m:r>
                        </m:sub>
                      </m:sSub>
                      <m:r>
                        <a:rPr lang="en-US" sz="4000" b="0" i="1" smtClean="0">
                          <a:solidFill>
                            <a:srgbClr val="FF0000"/>
                          </a:solidFill>
                          <a:latin typeface="Cambria Math" panose="02040503050406030204" pitchFamily="18" charset="0"/>
                        </a:rPr>
                        <m:t>=</m:t>
                      </m:r>
                      <m:rad>
                        <m:radPr>
                          <m:ctrlPr>
                            <a:rPr lang="en-US" sz="4000" b="0" i="1" smtClean="0">
                              <a:solidFill>
                                <a:srgbClr val="FF0000"/>
                              </a:solidFill>
                              <a:latin typeface="Cambria Math" panose="02040503050406030204" pitchFamily="18" charset="0"/>
                            </a:rPr>
                          </m:ctrlPr>
                        </m:radPr>
                        <m:deg>
                          <m:r>
                            <a:rPr lang="en-US" sz="4000" b="0" i="1" smtClean="0">
                              <a:solidFill>
                                <a:srgbClr val="FF0000"/>
                              </a:solidFill>
                              <a:latin typeface="Cambria Math" panose="02040503050406030204" pitchFamily="18" charset="0"/>
                            </a:rPr>
                            <m:t>3</m:t>
                          </m:r>
                        </m:deg>
                        <m:e>
                          <m:r>
                            <a:rPr lang="en-US" sz="4000" b="0" i="1" smtClean="0">
                              <a:solidFill>
                                <a:srgbClr val="FF0000"/>
                              </a:solidFill>
                              <a:latin typeface="Cambria Math" panose="02040503050406030204" pitchFamily="18" charset="0"/>
                            </a:rPr>
                            <m:t>𝑁</m:t>
                          </m:r>
                        </m:e>
                      </m:rad>
                    </m:oMath>
                  </m:oMathPara>
                </a14:m>
                <a:endParaRPr lang="en-CN" sz="4000" dirty="0">
                  <a:solidFill>
                    <a:srgbClr val="FF0000"/>
                  </a:solidFill>
                </a:endParaRPr>
              </a:p>
            </p:txBody>
          </p:sp>
        </mc:Choice>
        <mc:Fallback xmlns="">
          <p:sp>
            <p:nvSpPr>
              <p:cNvPr id="5" name="TextBox 4">
                <a:extLst>
                  <a:ext uri="{FF2B5EF4-FFF2-40B4-BE49-F238E27FC236}">
                    <a16:creationId xmlns:a16="http://schemas.microsoft.com/office/drawing/2014/main" id="{465ED602-4CD1-21EA-10F7-3F9F5A0A0FA0}"/>
                  </a:ext>
                </a:extLst>
              </p:cNvPr>
              <p:cNvSpPr txBox="1">
                <a:spLocks noRot="1" noChangeAspect="1" noMove="1" noResize="1" noEditPoints="1" noAdjustHandles="1" noChangeArrowheads="1" noChangeShapeType="1" noTextEdit="1"/>
              </p:cNvSpPr>
              <p:nvPr/>
            </p:nvSpPr>
            <p:spPr>
              <a:xfrm>
                <a:off x="541782" y="5343733"/>
                <a:ext cx="6094476" cy="1053430"/>
              </a:xfrm>
              <a:prstGeom prst="rect">
                <a:avLst/>
              </a:prstGeom>
              <a:blipFill>
                <a:blip r:embed="rId4"/>
                <a:stretch>
                  <a:fillRect l="-624" t="-2381" b="-2381"/>
                </a:stretch>
              </a:blipFill>
            </p:spPr>
            <p:txBody>
              <a:bodyPr/>
              <a:lstStyle/>
              <a:p>
                <a:r>
                  <a:rPr lang="en-CN">
                    <a:noFill/>
                  </a:rPr>
                  <a:t> </a:t>
                </a:r>
              </a:p>
            </p:txBody>
          </p:sp>
        </mc:Fallback>
      </mc:AlternateContent>
    </p:spTree>
    <p:extLst>
      <p:ext uri="{BB962C8B-B14F-4D97-AF65-F5344CB8AC3E}">
        <p14:creationId xmlns:p14="http://schemas.microsoft.com/office/powerpoint/2010/main" val="11671063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9F44C27-9006-EB8A-4359-553C0834D4F8}"/>
              </a:ext>
            </a:extLst>
          </p:cNvPr>
          <p:cNvSpPr txBox="1"/>
          <p:nvPr/>
        </p:nvSpPr>
        <p:spPr>
          <a:xfrm>
            <a:off x="512064" y="310896"/>
            <a:ext cx="4224528" cy="369332"/>
          </a:xfrm>
          <a:prstGeom prst="rect">
            <a:avLst/>
          </a:prstGeom>
          <a:noFill/>
        </p:spPr>
        <p:txBody>
          <a:bodyPr wrap="square" rtlCol="0">
            <a:spAutoFit/>
          </a:bodyPr>
          <a:lstStyle/>
          <a:p>
            <a:r>
              <a:rPr lang="en-CN" dirty="0"/>
              <a:t>量子图像</a:t>
            </a:r>
          </a:p>
        </p:txBody>
      </p:sp>
      <p:pic>
        <p:nvPicPr>
          <p:cNvPr id="9" name="Picture 8">
            <a:extLst>
              <a:ext uri="{FF2B5EF4-FFF2-40B4-BE49-F238E27FC236}">
                <a16:creationId xmlns:a16="http://schemas.microsoft.com/office/drawing/2014/main" id="{66BA63BA-83A6-8AE0-0A2B-F60A57F6F1F1}"/>
              </a:ext>
            </a:extLst>
          </p:cNvPr>
          <p:cNvPicPr>
            <a:picLocks noChangeAspect="1"/>
          </p:cNvPicPr>
          <p:nvPr/>
        </p:nvPicPr>
        <p:blipFill>
          <a:blip r:embed="rId2"/>
          <a:stretch>
            <a:fillRect/>
          </a:stretch>
        </p:blipFill>
        <p:spPr>
          <a:xfrm>
            <a:off x="3099816" y="440053"/>
            <a:ext cx="5282946" cy="1155294"/>
          </a:xfrm>
          <a:prstGeom prst="rect">
            <a:avLst/>
          </a:prstGeom>
        </p:spPr>
      </p:pic>
      <p:pic>
        <p:nvPicPr>
          <p:cNvPr id="11" name="Picture 10">
            <a:extLst>
              <a:ext uri="{FF2B5EF4-FFF2-40B4-BE49-F238E27FC236}">
                <a16:creationId xmlns:a16="http://schemas.microsoft.com/office/drawing/2014/main" id="{B886BA61-C7D6-CA9D-4B0A-3F4315135CDB}"/>
              </a:ext>
            </a:extLst>
          </p:cNvPr>
          <p:cNvPicPr>
            <a:picLocks noChangeAspect="1"/>
          </p:cNvPicPr>
          <p:nvPr/>
        </p:nvPicPr>
        <p:blipFill>
          <a:blip r:embed="rId3"/>
          <a:stretch>
            <a:fillRect/>
          </a:stretch>
        </p:blipFill>
        <p:spPr>
          <a:xfrm>
            <a:off x="2423160" y="1724504"/>
            <a:ext cx="2495296" cy="1353083"/>
          </a:xfrm>
          <a:prstGeom prst="rect">
            <a:avLst/>
          </a:prstGeom>
        </p:spPr>
      </p:pic>
      <p:pic>
        <p:nvPicPr>
          <p:cNvPr id="13" name="Picture 12">
            <a:extLst>
              <a:ext uri="{FF2B5EF4-FFF2-40B4-BE49-F238E27FC236}">
                <a16:creationId xmlns:a16="http://schemas.microsoft.com/office/drawing/2014/main" id="{1684374A-22FF-5FDF-2F9F-684D97E5B194}"/>
              </a:ext>
            </a:extLst>
          </p:cNvPr>
          <p:cNvPicPr>
            <a:picLocks noChangeAspect="1"/>
          </p:cNvPicPr>
          <p:nvPr/>
        </p:nvPicPr>
        <p:blipFill>
          <a:blip r:embed="rId4"/>
          <a:stretch>
            <a:fillRect/>
          </a:stretch>
        </p:blipFill>
        <p:spPr>
          <a:xfrm>
            <a:off x="3099816" y="3206744"/>
            <a:ext cx="5892800" cy="1181100"/>
          </a:xfrm>
          <a:prstGeom prst="rect">
            <a:avLst/>
          </a:prstGeom>
        </p:spPr>
      </p:pic>
      <p:pic>
        <p:nvPicPr>
          <p:cNvPr id="15" name="Picture 14">
            <a:extLst>
              <a:ext uri="{FF2B5EF4-FFF2-40B4-BE49-F238E27FC236}">
                <a16:creationId xmlns:a16="http://schemas.microsoft.com/office/drawing/2014/main" id="{F6A1E506-D20F-1950-7E1F-0D26609B60B8}"/>
              </a:ext>
            </a:extLst>
          </p:cNvPr>
          <p:cNvPicPr>
            <a:picLocks noChangeAspect="1"/>
          </p:cNvPicPr>
          <p:nvPr/>
        </p:nvPicPr>
        <p:blipFill>
          <a:blip r:embed="rId5"/>
          <a:stretch>
            <a:fillRect/>
          </a:stretch>
        </p:blipFill>
        <p:spPr>
          <a:xfrm>
            <a:off x="2423160" y="4688984"/>
            <a:ext cx="7433056" cy="2145286"/>
          </a:xfrm>
          <a:prstGeom prst="rect">
            <a:avLst/>
          </a:prstGeom>
        </p:spPr>
      </p:pic>
      <p:sp>
        <p:nvSpPr>
          <p:cNvPr id="16" name="Down Arrow 15">
            <a:extLst>
              <a:ext uri="{FF2B5EF4-FFF2-40B4-BE49-F238E27FC236}">
                <a16:creationId xmlns:a16="http://schemas.microsoft.com/office/drawing/2014/main" id="{FA751C62-15AF-299D-9ECE-141056842FE6}"/>
              </a:ext>
            </a:extLst>
          </p:cNvPr>
          <p:cNvSpPr/>
          <p:nvPr/>
        </p:nvSpPr>
        <p:spPr>
          <a:xfrm>
            <a:off x="5498973" y="1484219"/>
            <a:ext cx="484632" cy="183365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15404313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233D18-E430-B57A-B1C6-8BEDBA4736E5}"/>
              </a:ext>
            </a:extLst>
          </p:cNvPr>
          <p:cNvSpPr txBox="1"/>
          <p:nvPr/>
        </p:nvSpPr>
        <p:spPr>
          <a:xfrm>
            <a:off x="2770632" y="2139696"/>
            <a:ext cx="6254496" cy="707886"/>
          </a:xfrm>
          <a:prstGeom prst="rect">
            <a:avLst/>
          </a:prstGeom>
          <a:noFill/>
        </p:spPr>
        <p:txBody>
          <a:bodyPr wrap="square" rtlCol="0">
            <a:spAutoFit/>
          </a:bodyPr>
          <a:lstStyle/>
          <a:p>
            <a:pPr algn="ctr"/>
            <a:r>
              <a:rPr lang="en-CN" sz="4000" dirty="0"/>
              <a:t>声子</a:t>
            </a:r>
            <a:r>
              <a:rPr lang="zh-CN" altLang="en-US" sz="4000" dirty="0"/>
              <a:t> </a:t>
            </a:r>
            <a:r>
              <a:rPr lang="en-US" altLang="zh-CN" sz="4000" dirty="0"/>
              <a:t>Phonon</a:t>
            </a:r>
            <a:endParaRPr lang="en-CN" sz="4000" dirty="0"/>
          </a:p>
        </p:txBody>
      </p:sp>
      <p:pic>
        <p:nvPicPr>
          <p:cNvPr id="4" name="Picture 3">
            <a:extLst>
              <a:ext uri="{FF2B5EF4-FFF2-40B4-BE49-F238E27FC236}">
                <a16:creationId xmlns:a16="http://schemas.microsoft.com/office/drawing/2014/main" id="{7DB97A3B-8DFA-37F3-833F-EA673ED3A72B}"/>
              </a:ext>
            </a:extLst>
          </p:cNvPr>
          <p:cNvPicPr>
            <a:picLocks noChangeAspect="1"/>
          </p:cNvPicPr>
          <p:nvPr/>
        </p:nvPicPr>
        <p:blipFill>
          <a:blip r:embed="rId2"/>
          <a:stretch>
            <a:fillRect/>
          </a:stretch>
        </p:blipFill>
        <p:spPr>
          <a:xfrm>
            <a:off x="2209800" y="4266640"/>
            <a:ext cx="7772400" cy="774067"/>
          </a:xfrm>
          <a:prstGeom prst="rect">
            <a:avLst/>
          </a:prstGeom>
        </p:spPr>
      </p:pic>
    </p:spTree>
    <p:extLst>
      <p:ext uri="{BB962C8B-B14F-4D97-AF65-F5344CB8AC3E}">
        <p14:creationId xmlns:p14="http://schemas.microsoft.com/office/powerpoint/2010/main" val="26787712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8F069C0-FAA6-59EA-A314-B7B81B04003F}"/>
                  </a:ext>
                </a:extLst>
              </p:cNvPr>
              <p:cNvSpPr txBox="1"/>
              <p:nvPr/>
            </p:nvSpPr>
            <p:spPr>
              <a:xfrm>
                <a:off x="238206" y="573414"/>
                <a:ext cx="5225473" cy="4765920"/>
              </a:xfrm>
              <a:prstGeom prst="rect">
                <a:avLst/>
              </a:prstGeom>
              <a:noFill/>
            </p:spPr>
            <p:txBody>
              <a:bodyPr wrap="square" rtlCol="0">
                <a:spAutoFit/>
              </a:bodyPr>
              <a:lstStyle/>
              <a:p>
                <a:r>
                  <a:rPr lang="en-US" dirty="0">
                    <a:solidFill>
                      <a:srgbClr val="FF0000"/>
                    </a:solidFill>
                  </a:rPr>
                  <a:t>P</a:t>
                </a:r>
                <a:r>
                  <a:rPr lang="en-CN" dirty="0">
                    <a:solidFill>
                      <a:srgbClr val="FF0000"/>
                    </a:solidFill>
                  </a:rPr>
                  <a:t>honons </a:t>
                </a:r>
                <a:r>
                  <a:rPr lang="en-CN" dirty="0"/>
                  <a:t>in a box</a:t>
                </a:r>
              </a:p>
              <a:p>
                <a:pPr marL="285750" indent="-285750">
                  <a:buFont typeface="Arial" panose="020B0604020202020204" pitchFamily="34" charset="0"/>
                  <a:buChar char="•"/>
                </a:pPr>
                <a:r>
                  <a:rPr lang="en-CN" dirty="0"/>
                  <a:t>Consider a cube of side L, the wavelengths </a:t>
                </a:r>
              </a:p>
              <a:p>
                <a:pPr algn="ct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𝑛</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num>
                        <m:den>
                          <m:r>
                            <a:rPr lang="en-US" b="0" i="1" smtClean="0">
                              <a:latin typeface="Cambria Math" panose="02040503050406030204" pitchFamily="18" charset="0"/>
                            </a:rPr>
                            <m:t>𝐿</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𝑦</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𝑧</m:t>
                          </m:r>
                        </m:sub>
                      </m:sSub>
                      <m:r>
                        <a:rPr lang="en-US" b="0" i="1" smtClean="0">
                          <a:latin typeface="Cambria Math" panose="02040503050406030204" pitchFamily="18" charset="0"/>
                        </a:rPr>
                        <m:t>)</m:t>
                      </m:r>
                    </m:oMath>
                  </m:oMathPara>
                </a14:m>
                <a:endParaRPr lang="en-CN" dirty="0"/>
              </a:p>
              <a:p>
                <a:pPr algn="ctr"/>
                <a:endParaRPr lang="en-CN" dirty="0"/>
              </a:p>
              <a:p>
                <a:pPr algn="ctr"/>
                <a:endParaRPr lang="en-CN" dirty="0"/>
              </a:p>
              <a:p>
                <a:pPr algn="ctr"/>
                <a:endParaRPr lang="en-CN" dirty="0"/>
              </a:p>
              <a:p>
                <a:pPr algn="ctr"/>
                <a:endParaRPr lang="en-CN" dirty="0"/>
              </a:p>
              <a:p>
                <a:pPr algn="ctr"/>
                <a:endParaRPr lang="en-CN" dirty="0"/>
              </a:p>
              <a:p>
                <a:pPr algn="ctr"/>
                <a:endParaRPr lang="en-CN" dirty="0"/>
              </a:p>
              <a:p>
                <a:pPr algn="ctr"/>
                <a:endParaRPr lang="en-CN" dirty="0"/>
              </a:p>
              <a:p>
                <a:pPr algn="ctr"/>
                <a:endParaRPr lang="en-CN" dirty="0"/>
              </a:p>
              <a:p>
                <a:pPr algn="ctr"/>
                <a:endParaRPr lang="en-CN" dirty="0"/>
              </a:p>
              <a:p>
                <a:pPr algn="ctr"/>
                <a:endParaRPr lang="en-CN" dirty="0"/>
              </a:p>
              <a:p>
                <a:pPr marL="285750" indent="-285750">
                  <a:buFont typeface="Arial" panose="020B0604020202020204" pitchFamily="34" charset="0"/>
                  <a:buChar char="•"/>
                </a:pPr>
                <a:r>
                  <a:rPr lang="en-US" dirty="0"/>
                  <a:t>D</a:t>
                </a:r>
                <a:r>
                  <a:rPr lang="en-CN" dirty="0"/>
                  <a:t>ispersion relation </a:t>
                </a:r>
                <a14:m>
                  <m:oMath xmlns:m="http://schemas.openxmlformats.org/officeDocument/2006/math">
                    <m:r>
                      <a:rPr lang="en-CN"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𝑐</m:t>
                        </m:r>
                      </m:e>
                      <m:sub>
                        <m:r>
                          <a:rPr lang="en-US" b="0" i="1" smtClean="0">
                            <a:latin typeface="Cambria Math" panose="02040503050406030204" pitchFamily="18" charset="0"/>
                            <a:ea typeface="Cambria Math" panose="02040503050406030204" pitchFamily="18" charset="0"/>
                          </a:rPr>
                          <m:t>𝑠</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oMath>
                </a14:m>
                <a:endParaRPr lang="en-CN" dirty="0"/>
              </a:p>
              <a:p>
                <a:pPr marL="285750" indent="-285750">
                  <a:buFont typeface="Arial" panose="020B0604020202020204" pitchFamily="34" charset="0"/>
                  <a:buChar char="•"/>
                </a:pPr>
                <a:r>
                  <a:rPr lang="en-CN" dirty="0"/>
                  <a:t>The energy of phonon is</a:t>
                </a:r>
              </a:p>
              <a:p>
                <a:pPr algn="ct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𝑛</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ℏ</m:t>
                      </m:r>
                      <m:r>
                        <a:rPr lang="en-US" b="0" i="1" smtClean="0">
                          <a:latin typeface="Cambria Math" panose="02040503050406030204" pitchFamily="18" charset="0"/>
                          <a:ea typeface="Cambria Math" panose="02040503050406030204" pitchFamily="18" charset="0"/>
                        </a:rPr>
                        <m:t>𝜔</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𝑘</m:t>
                              </m:r>
                            </m:e>
                            <m:sub>
                              <m:r>
                                <a:rPr lang="en-US" b="0" i="1" smtClean="0">
                                  <a:latin typeface="Cambria Math" panose="02040503050406030204" pitchFamily="18" charset="0"/>
                                  <a:ea typeface="Cambria Math" panose="02040503050406030204" pitchFamily="18" charset="0"/>
                                </a:rPr>
                                <m:t>𝑛</m:t>
                              </m:r>
                            </m:sub>
                          </m:sSub>
                        </m:e>
                      </m:d>
                      <m:r>
                        <a:rPr lang="en-US" b="0" i="1" smtClean="0">
                          <a:latin typeface="Cambria Math" panose="02040503050406030204" pitchFamily="18" charset="0"/>
                          <a:ea typeface="Cambria Math" panose="02040503050406030204" pitchFamily="18" charset="0"/>
                        </a:rPr>
                        <m:t>=ℏ</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𝑐</m:t>
                          </m:r>
                        </m:e>
                        <m:sub>
                          <m:r>
                            <a:rPr lang="en-US" b="0" i="1" smtClean="0">
                              <a:latin typeface="Cambria Math" panose="02040503050406030204" pitchFamily="18" charset="0"/>
                              <a:ea typeface="Cambria Math" panose="02040503050406030204" pitchFamily="18" charset="0"/>
                            </a:rPr>
                            <m:t>𝑠</m:t>
                          </m:r>
                        </m:sub>
                      </m:s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𝑘</m:t>
                          </m:r>
                        </m:e>
                        <m:sub>
                          <m:r>
                            <a:rPr lang="en-US" b="0" i="1" smtClean="0">
                              <a:latin typeface="Cambria Math" panose="02040503050406030204" pitchFamily="18" charset="0"/>
                              <a:ea typeface="Cambria Math" panose="02040503050406030204" pitchFamily="18" charset="0"/>
                            </a:rPr>
                            <m:t>𝑛</m:t>
                          </m:r>
                        </m:sub>
                      </m:sSub>
                    </m:oMath>
                  </m:oMathPara>
                </a14:m>
                <a:endParaRPr lang="en-CN" dirty="0"/>
              </a:p>
            </p:txBody>
          </p:sp>
        </mc:Choice>
        <mc:Fallback xmlns="">
          <p:sp>
            <p:nvSpPr>
              <p:cNvPr id="3" name="TextBox 2">
                <a:extLst>
                  <a:ext uri="{FF2B5EF4-FFF2-40B4-BE49-F238E27FC236}">
                    <a16:creationId xmlns:a16="http://schemas.microsoft.com/office/drawing/2014/main" id="{F8F069C0-FAA6-59EA-A314-B7B81B04003F}"/>
                  </a:ext>
                </a:extLst>
              </p:cNvPr>
              <p:cNvSpPr txBox="1">
                <a:spLocks noRot="1" noChangeAspect="1" noMove="1" noResize="1" noEditPoints="1" noAdjustHandles="1" noChangeArrowheads="1" noChangeShapeType="1" noTextEdit="1"/>
              </p:cNvSpPr>
              <p:nvPr/>
            </p:nvSpPr>
            <p:spPr>
              <a:xfrm>
                <a:off x="238206" y="573414"/>
                <a:ext cx="5225473" cy="4765920"/>
              </a:xfrm>
              <a:prstGeom prst="rect">
                <a:avLst/>
              </a:prstGeom>
              <a:blipFill>
                <a:blip r:embed="rId2"/>
                <a:stretch>
                  <a:fillRect l="-969" t="-532"/>
                </a:stretch>
              </a:blipFill>
            </p:spPr>
            <p:txBody>
              <a:bodyPr/>
              <a:lstStyle/>
              <a:p>
                <a:r>
                  <a:rPr lang="en-CN">
                    <a:noFill/>
                  </a:rPr>
                  <a:t> </a:t>
                </a:r>
              </a:p>
            </p:txBody>
          </p:sp>
        </mc:Fallback>
      </mc:AlternateContent>
      <p:pic>
        <p:nvPicPr>
          <p:cNvPr id="4" name="Picture 3">
            <a:extLst>
              <a:ext uri="{FF2B5EF4-FFF2-40B4-BE49-F238E27FC236}">
                <a16:creationId xmlns:a16="http://schemas.microsoft.com/office/drawing/2014/main" id="{5750E1D1-0972-807C-AC40-3EB6188D6E1B}"/>
              </a:ext>
            </a:extLst>
          </p:cNvPr>
          <p:cNvPicPr>
            <a:picLocks noChangeAspect="1"/>
          </p:cNvPicPr>
          <p:nvPr/>
        </p:nvPicPr>
        <p:blipFill>
          <a:blip r:embed="rId3"/>
          <a:stretch>
            <a:fillRect/>
          </a:stretch>
        </p:blipFill>
        <p:spPr>
          <a:xfrm>
            <a:off x="727756" y="1832424"/>
            <a:ext cx="3441700" cy="2247900"/>
          </a:xfrm>
          <a:prstGeom prst="rect">
            <a:avLst/>
          </a:prstGeom>
        </p:spPr>
      </p:pic>
      <p:cxnSp>
        <p:nvCxnSpPr>
          <p:cNvPr id="6" name="Straight Connector 5">
            <a:extLst>
              <a:ext uri="{FF2B5EF4-FFF2-40B4-BE49-F238E27FC236}">
                <a16:creationId xmlns:a16="http://schemas.microsoft.com/office/drawing/2014/main" id="{B4E039E6-C6AD-2A47-BCE7-133C84BCEDB0}"/>
              </a:ext>
            </a:extLst>
          </p:cNvPr>
          <p:cNvCxnSpPr/>
          <p:nvPr/>
        </p:nvCxnSpPr>
        <p:spPr>
          <a:xfrm>
            <a:off x="5806440" y="329184"/>
            <a:ext cx="0" cy="6144768"/>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0CB2C7F-418F-0296-569B-5237C73C4755}"/>
                  </a:ext>
                </a:extLst>
              </p:cNvPr>
              <p:cNvSpPr txBox="1"/>
              <p:nvPr/>
            </p:nvSpPr>
            <p:spPr>
              <a:xfrm>
                <a:off x="6821424" y="573414"/>
                <a:ext cx="4142232" cy="8188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CN" i="1" smtClean="0">
                              <a:latin typeface="Cambria Math" panose="02040503050406030204" pitchFamily="18" charset="0"/>
                            </a:rPr>
                          </m:ctrlPr>
                        </m:naryPr>
                        <m:sub>
                          <m:r>
                            <m:rPr>
                              <m:brk m:alnAt="7"/>
                            </m:rPr>
                            <a:rPr lang="en-US" b="0" i="1" smtClean="0">
                              <a:latin typeface="Cambria Math" panose="02040503050406030204" pitchFamily="18" charset="0"/>
                            </a:rPr>
                            <m:t>𝑛</m:t>
                          </m:r>
                        </m:sub>
                        <m:sup/>
                        <m:e/>
                      </m:nary>
                      <m:r>
                        <a:rPr lang="en-CN" i="1" smtClean="0">
                          <a:latin typeface="Cambria Math" panose="02040503050406030204" pitchFamily="18" charset="0"/>
                          <a:ea typeface="Cambria Math" panose="02040503050406030204" pitchFamily="18" charset="0"/>
                        </a:rPr>
                        <m:t>→</m:t>
                      </m:r>
                      <m:nary>
                        <m:naryPr>
                          <m:chr m:val="∑"/>
                          <m:supHide m:val="on"/>
                          <m:ctrlPr>
                            <a:rPr lang="en-CN" i="1" smtClean="0">
                              <a:latin typeface="Cambria Math" panose="02040503050406030204" pitchFamily="18" charset="0"/>
                              <a:ea typeface="Cambria Math" panose="02040503050406030204" pitchFamily="18" charset="0"/>
                            </a:rPr>
                          </m:ctrlPr>
                        </m:naryPr>
                        <m:sub>
                          <m:r>
                            <m:rPr>
                              <m:brk m:alnAt="7"/>
                            </m:rPr>
                            <a:rPr lang="en-US" b="0" i="1" smtClean="0">
                              <a:latin typeface="Cambria Math" panose="02040503050406030204" pitchFamily="18" charset="0"/>
                              <a:ea typeface="Cambria Math" panose="02040503050406030204" pitchFamily="18" charset="0"/>
                            </a:rPr>
                            <m:t>𝑘</m:t>
                          </m:r>
                        </m:sub>
                        <m:sup/>
                        <m:e/>
                      </m:nary>
                      <m:groupChr>
                        <m:groupChrPr>
                          <m:chr m:val="→"/>
                          <m:vertJc m:val="bot"/>
                          <m:ctrlPr>
                            <a:rPr lang="en-CN" i="1" smtClean="0">
                              <a:latin typeface="Cambria Math" panose="02040503050406030204" pitchFamily="18" charset="0"/>
                              <a:ea typeface="Cambria Math" panose="02040503050406030204" pitchFamily="18" charset="0"/>
                            </a:rPr>
                          </m:ctrlPr>
                        </m:groupChrPr>
                        <m:e>
                          <m:r>
                            <m:rPr>
                              <m:brk m:alnAt="2"/>
                            </m:rP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m:t>
                          </m:r>
                        </m:e>
                      </m:groupChr>
                      <m:f>
                        <m:fPr>
                          <m:ctrlPr>
                            <a:rPr lang="en-CN" i="1" smtClean="0">
                              <a:latin typeface="Cambria Math" panose="02040503050406030204" pitchFamily="18" charset="0"/>
                            </a:rPr>
                          </m:ctrlPr>
                        </m:fPr>
                        <m:num>
                          <m:sSup>
                            <m:sSupPr>
                              <m:ctrlPr>
                                <a:rPr lang="en-CN"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3</m:t>
                              </m:r>
                            </m:sup>
                          </m:sSup>
                        </m:num>
                        <m:den>
                          <m:sSup>
                            <m:sSupPr>
                              <m:ctrlPr>
                                <a:rPr lang="en-CN" i="1" smtClean="0">
                                  <a:latin typeface="Cambria Math" panose="02040503050406030204" pitchFamily="18" charset="0"/>
                                </a:rPr>
                              </m:ctrlPr>
                            </m:sSupPr>
                            <m:e>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rPr>
                                <m:t>)</m:t>
                              </m:r>
                            </m:e>
                            <m:sup>
                              <m:r>
                                <a:rPr lang="en-US" b="0" i="1" smtClean="0">
                                  <a:latin typeface="Cambria Math" panose="02040503050406030204" pitchFamily="18" charset="0"/>
                                </a:rPr>
                                <m:t>3</m:t>
                              </m:r>
                            </m:sup>
                          </m:sSup>
                        </m:den>
                      </m:f>
                      <m:nary>
                        <m:naryPr>
                          <m:limLoc m:val="undOvr"/>
                          <m:subHide m:val="on"/>
                          <m:supHide m:val="on"/>
                          <m:ctrlPr>
                            <a:rPr lang="en-CN" i="1" smtClean="0">
                              <a:latin typeface="Cambria Math" panose="02040503050406030204" pitchFamily="18" charset="0"/>
                            </a:rPr>
                          </m:ctrlPr>
                        </m:naryPr>
                        <m:sub/>
                        <m:sup/>
                        <m:e>
                          <m:sSup>
                            <m:sSupPr>
                              <m:ctrlPr>
                                <a:rPr lang="en-CN"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3</m:t>
                              </m:r>
                            </m:sup>
                          </m:sSup>
                          <m:r>
                            <a:rPr lang="en-US" b="0" i="1" smtClean="0">
                              <a:latin typeface="Cambria Math" panose="02040503050406030204" pitchFamily="18" charset="0"/>
                            </a:rPr>
                            <m:t>𝑘</m:t>
                          </m:r>
                        </m:e>
                      </m:nary>
                    </m:oMath>
                  </m:oMathPara>
                </a14:m>
                <a:endParaRPr lang="en-CN" dirty="0"/>
              </a:p>
            </p:txBody>
          </p:sp>
        </mc:Choice>
        <mc:Fallback xmlns="">
          <p:sp>
            <p:nvSpPr>
              <p:cNvPr id="7" name="TextBox 6">
                <a:extLst>
                  <a:ext uri="{FF2B5EF4-FFF2-40B4-BE49-F238E27FC236}">
                    <a16:creationId xmlns:a16="http://schemas.microsoft.com/office/drawing/2014/main" id="{20CB2C7F-418F-0296-569B-5237C73C4755}"/>
                  </a:ext>
                </a:extLst>
              </p:cNvPr>
              <p:cNvSpPr txBox="1">
                <a:spLocks noRot="1" noChangeAspect="1" noMove="1" noResize="1" noEditPoints="1" noAdjustHandles="1" noChangeArrowheads="1" noChangeShapeType="1" noTextEdit="1"/>
              </p:cNvSpPr>
              <p:nvPr/>
            </p:nvSpPr>
            <p:spPr>
              <a:xfrm>
                <a:off x="6821424" y="573414"/>
                <a:ext cx="4142232" cy="818814"/>
              </a:xfrm>
              <a:prstGeom prst="rect">
                <a:avLst/>
              </a:prstGeom>
              <a:blipFill>
                <a:blip r:embed="rId4"/>
                <a:stretch>
                  <a:fillRect l="-8563" t="-132308" b="-18923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1757134-FE10-7E73-DC86-1129FC45FB51}"/>
                  </a:ext>
                </a:extLst>
              </p:cNvPr>
              <p:cNvSpPr txBox="1"/>
              <p:nvPr/>
            </p:nvSpPr>
            <p:spPr>
              <a:xfrm>
                <a:off x="6096000" y="1636776"/>
                <a:ext cx="5526024" cy="8188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=3</m:t>
                      </m:r>
                      <m:f>
                        <m:fPr>
                          <m:ctrlPr>
                            <a:rPr lang="en-CN" i="1">
                              <a:latin typeface="Cambria Math" panose="02040503050406030204" pitchFamily="18" charset="0"/>
                            </a:rPr>
                          </m:ctrlPr>
                        </m:fPr>
                        <m:num>
                          <m:sSup>
                            <m:sSupPr>
                              <m:ctrlPr>
                                <a:rPr lang="en-CN"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3</m:t>
                              </m:r>
                            </m:sup>
                          </m:sSup>
                        </m:num>
                        <m:den>
                          <m:sSup>
                            <m:sSupPr>
                              <m:ctrlPr>
                                <a:rPr lang="en-CN" i="1">
                                  <a:latin typeface="Cambria Math" panose="02040503050406030204" pitchFamily="18" charset="0"/>
                                </a:rPr>
                              </m:ctrlPr>
                            </m:sSupPr>
                            <m:e>
                              <m:r>
                                <a:rPr lang="en-US" i="1">
                                  <a:latin typeface="Cambria Math" panose="02040503050406030204" pitchFamily="18" charset="0"/>
                                </a:rPr>
                                <m:t>(2</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rPr>
                                <m:t>)</m:t>
                              </m:r>
                            </m:e>
                            <m:sup>
                              <m:r>
                                <a:rPr lang="en-US" i="1">
                                  <a:latin typeface="Cambria Math" panose="02040503050406030204" pitchFamily="18" charset="0"/>
                                </a:rPr>
                                <m:t>3</m:t>
                              </m:r>
                            </m:sup>
                          </m:sSup>
                        </m:den>
                      </m:f>
                      <m:nary>
                        <m:naryPr>
                          <m:limLoc m:val="undOvr"/>
                          <m:subHide m:val="on"/>
                          <m:supHide m:val="on"/>
                          <m:ctrlPr>
                            <a:rPr lang="en-CN" i="1">
                              <a:latin typeface="Cambria Math" panose="02040503050406030204" pitchFamily="18" charset="0"/>
                            </a:rPr>
                          </m:ctrlPr>
                        </m:naryPr>
                        <m:sub/>
                        <m:sup/>
                        <m:e>
                          <m:sSup>
                            <m:sSupPr>
                              <m:ctrlPr>
                                <a:rPr lang="en-CN" i="1">
                                  <a:latin typeface="Cambria Math" panose="02040503050406030204" pitchFamily="18" charset="0"/>
                                </a:rPr>
                              </m:ctrlPr>
                            </m:sSupPr>
                            <m:e>
                              <m:r>
                                <a:rPr lang="en-US" i="1">
                                  <a:latin typeface="Cambria Math" panose="02040503050406030204" pitchFamily="18" charset="0"/>
                                </a:rPr>
                                <m:t>𝑑</m:t>
                              </m:r>
                            </m:e>
                            <m:sup>
                              <m:r>
                                <a:rPr lang="en-US" i="1">
                                  <a:latin typeface="Cambria Math" panose="02040503050406030204" pitchFamily="18" charset="0"/>
                                </a:rPr>
                                <m:t>3</m:t>
                              </m:r>
                            </m:sup>
                          </m:sSup>
                          <m:r>
                            <a:rPr lang="en-US" i="1">
                              <a:latin typeface="Cambria Math" panose="02040503050406030204" pitchFamily="18" charset="0"/>
                            </a:rPr>
                            <m:t>𝑘</m:t>
                          </m:r>
                        </m:e>
                      </m:nary>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ℏ</m:t>
                          </m:r>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i="1">
                                  <a:latin typeface="Cambria Math" panose="02040503050406030204" pitchFamily="18" charset="0"/>
                                  <a:ea typeface="Cambria Math" panose="02040503050406030204" pitchFamily="18" charset="0"/>
                                </a:rPr>
                                <m:t>ℏ</m:t>
                              </m:r>
                              <m:r>
                                <a:rPr lang="en-US" i="1">
                                  <a:latin typeface="Cambria Math" panose="02040503050406030204" pitchFamily="18" charset="0"/>
                                  <a:ea typeface="Cambria Math" panose="02040503050406030204" pitchFamily="18" charset="0"/>
                                </a:rPr>
                                <m:t>𝜔</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rPr>
                            <m:t>−1</m:t>
                          </m:r>
                        </m:den>
                      </m:f>
                    </m:oMath>
                  </m:oMathPara>
                </a14:m>
                <a:endParaRPr lang="en-CN" dirty="0"/>
              </a:p>
            </p:txBody>
          </p:sp>
        </mc:Choice>
        <mc:Fallback xmlns="">
          <p:sp>
            <p:nvSpPr>
              <p:cNvPr id="8" name="TextBox 7">
                <a:extLst>
                  <a:ext uri="{FF2B5EF4-FFF2-40B4-BE49-F238E27FC236}">
                    <a16:creationId xmlns:a16="http://schemas.microsoft.com/office/drawing/2014/main" id="{11757134-FE10-7E73-DC86-1129FC45FB51}"/>
                  </a:ext>
                </a:extLst>
              </p:cNvPr>
              <p:cNvSpPr txBox="1">
                <a:spLocks noRot="1" noChangeAspect="1" noMove="1" noResize="1" noEditPoints="1" noAdjustHandles="1" noChangeArrowheads="1" noChangeShapeType="1" noTextEdit="1"/>
              </p:cNvSpPr>
              <p:nvPr/>
            </p:nvSpPr>
            <p:spPr>
              <a:xfrm>
                <a:off x="6096000" y="1636776"/>
                <a:ext cx="5526024" cy="818814"/>
              </a:xfrm>
              <a:prstGeom prst="rect">
                <a:avLst/>
              </a:prstGeom>
              <a:blipFill>
                <a:blip r:embed="rId5"/>
                <a:stretch>
                  <a:fillRect t="-132308" b="-18923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1C374AB-BD73-739D-D015-72D57324E153}"/>
                  </a:ext>
                </a:extLst>
              </p:cNvPr>
              <p:cNvSpPr txBox="1"/>
              <p:nvPr/>
            </p:nvSpPr>
            <p:spPr>
              <a:xfrm>
                <a:off x="6385561" y="2777676"/>
                <a:ext cx="5526024" cy="8188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nary>
                        <m:naryPr>
                          <m:limLoc m:val="undOvr"/>
                          <m:subHide m:val="on"/>
                          <m:supHide m:val="on"/>
                          <m:ctrlPr>
                            <a:rPr lang="en-CN" i="1">
                              <a:latin typeface="Cambria Math" panose="02040503050406030204" pitchFamily="18" charset="0"/>
                            </a:rPr>
                          </m:ctrlPr>
                        </m:naryPr>
                        <m:sub/>
                        <m:sup/>
                        <m:e>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𝜔</m:t>
                          </m:r>
                        </m:e>
                      </m:nary>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ℏ</m:t>
                          </m:r>
                          <m:r>
                            <a:rPr lang="en-US" b="0" i="1" smtClean="0">
                              <a:latin typeface="Cambria Math" panose="02040503050406030204" pitchFamily="18" charset="0"/>
                              <a:ea typeface="Cambria Math" panose="02040503050406030204" pitchFamily="18" charset="0"/>
                            </a:rPr>
                            <m:t>𝜔</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f>
                                <m:fPr>
                                  <m:ctrlPr>
                                    <a:rPr lang="en-US" b="0" i="1" smtClean="0">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ℏ</m:t>
                                  </m:r>
                                  <m:r>
                                    <a:rPr lang="en-US" i="1">
                                      <a:latin typeface="Cambria Math" panose="02040503050406030204" pitchFamily="18" charset="0"/>
                                      <a:ea typeface="Cambria Math" panose="02040503050406030204" pitchFamily="18" charset="0"/>
                                    </a:rPr>
                                    <m:t>𝜔</m:t>
                                  </m:r>
                                </m:num>
                                <m:den>
                                  <m:r>
                                    <a:rPr lang="en-US" b="0" i="1" smtClean="0">
                                      <a:latin typeface="Cambria Math" panose="02040503050406030204" pitchFamily="18" charset="0"/>
                                      <a:ea typeface="Cambria Math" panose="02040503050406030204" pitchFamily="18" charset="0"/>
                                    </a:rPr>
                                    <m:t>𝜏</m:t>
                                  </m:r>
                                </m:den>
                              </m:f>
                            </m:sup>
                          </m:sSup>
                          <m:r>
                            <a:rPr lang="en-US" b="0" i="1" smtClean="0">
                              <a:latin typeface="Cambria Math" panose="02040503050406030204" pitchFamily="18" charset="0"/>
                            </a:rPr>
                            <m:t>−1</m:t>
                          </m:r>
                        </m:den>
                      </m:f>
                      <m:r>
                        <a:rPr lang="en-US" b="0" i="1" smtClean="0">
                          <a:solidFill>
                            <a:srgbClr val="FF0000"/>
                          </a:solidFill>
                          <a:latin typeface="Cambria Math" panose="02040503050406030204" pitchFamily="18" charset="0"/>
                        </a:rPr>
                        <m:t>𝑔</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𝜔</m:t>
                      </m:r>
                      <m:r>
                        <a:rPr lang="en-US" b="0" i="1" smtClean="0">
                          <a:solidFill>
                            <a:srgbClr val="FF0000"/>
                          </a:solidFill>
                          <a:latin typeface="Cambria Math" panose="02040503050406030204" pitchFamily="18" charset="0"/>
                        </a:rPr>
                        <m:t>)</m:t>
                      </m:r>
                    </m:oMath>
                  </m:oMathPara>
                </a14:m>
                <a:endParaRPr lang="en-CN" dirty="0"/>
              </a:p>
            </p:txBody>
          </p:sp>
        </mc:Choice>
        <mc:Fallback xmlns="">
          <p:sp>
            <p:nvSpPr>
              <p:cNvPr id="9" name="TextBox 8">
                <a:extLst>
                  <a:ext uri="{FF2B5EF4-FFF2-40B4-BE49-F238E27FC236}">
                    <a16:creationId xmlns:a16="http://schemas.microsoft.com/office/drawing/2014/main" id="{91C374AB-BD73-739D-D015-72D57324E153}"/>
                  </a:ext>
                </a:extLst>
              </p:cNvPr>
              <p:cNvSpPr txBox="1">
                <a:spLocks noRot="1" noChangeAspect="1" noMove="1" noResize="1" noEditPoints="1" noAdjustHandles="1" noChangeArrowheads="1" noChangeShapeType="1" noTextEdit="1"/>
              </p:cNvSpPr>
              <p:nvPr/>
            </p:nvSpPr>
            <p:spPr>
              <a:xfrm>
                <a:off x="6385561" y="2777676"/>
                <a:ext cx="5526024" cy="818814"/>
              </a:xfrm>
              <a:prstGeom prst="rect">
                <a:avLst/>
              </a:prstGeom>
              <a:blipFill>
                <a:blip r:embed="rId6"/>
                <a:stretch>
                  <a:fillRect t="-130303" b="-18636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21AE74F-AAEA-621D-0C55-86FB70FB78E2}"/>
                  </a:ext>
                </a:extLst>
              </p:cNvPr>
              <p:cNvSpPr txBox="1"/>
              <p:nvPr/>
            </p:nvSpPr>
            <p:spPr>
              <a:xfrm>
                <a:off x="5870448" y="3490724"/>
                <a:ext cx="2459248" cy="7294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𝑔</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𝜔</m:t>
                          </m:r>
                        </m:e>
                      </m:d>
                      <m:r>
                        <a:rPr lang="en-US" b="0" i="1" smtClean="0">
                          <a:solidFill>
                            <a:srgbClr val="FF0000"/>
                          </a:solidFill>
                          <a:latin typeface="Cambria Math" panose="02040503050406030204" pitchFamily="18" charset="0"/>
                        </a:rPr>
                        <m:t>=3</m:t>
                      </m:r>
                      <m:f>
                        <m:fPr>
                          <m:ctrlPr>
                            <a:rPr lang="en-CN" i="1">
                              <a:solidFill>
                                <a:srgbClr val="FF0000"/>
                              </a:solidFill>
                              <a:latin typeface="Cambria Math" panose="02040503050406030204" pitchFamily="18" charset="0"/>
                            </a:rPr>
                          </m:ctrlPr>
                        </m:fPr>
                        <m:num>
                          <m:sSup>
                            <m:sSupPr>
                              <m:ctrlPr>
                                <a:rPr lang="en-CN"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𝐿</m:t>
                              </m:r>
                            </m:e>
                            <m:sup>
                              <m:r>
                                <a:rPr lang="en-US" i="1">
                                  <a:solidFill>
                                    <a:srgbClr val="FF0000"/>
                                  </a:solidFill>
                                  <a:latin typeface="Cambria Math" panose="02040503050406030204" pitchFamily="18" charset="0"/>
                                </a:rPr>
                                <m:t>3</m:t>
                              </m:r>
                            </m:sup>
                          </m:sSup>
                        </m:num>
                        <m:den>
                          <m:sSup>
                            <m:sSupPr>
                              <m:ctrlPr>
                                <a:rPr lang="en-CN"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(2</m:t>
                              </m:r>
                              <m:r>
                                <a:rPr lang="en-US" i="1">
                                  <a:solidFill>
                                    <a:srgbClr val="FF0000"/>
                                  </a:solidFill>
                                  <a:latin typeface="Cambria Math" panose="02040503050406030204" pitchFamily="18" charset="0"/>
                                  <a:ea typeface="Cambria Math" panose="02040503050406030204" pitchFamily="18" charset="0"/>
                                </a:rPr>
                                <m:t>𝜋</m:t>
                              </m:r>
                              <m:r>
                                <a:rPr lang="en-US" i="1">
                                  <a:solidFill>
                                    <a:srgbClr val="FF0000"/>
                                  </a:solidFill>
                                  <a:latin typeface="Cambria Math" panose="02040503050406030204" pitchFamily="18" charset="0"/>
                                </a:rPr>
                                <m:t>)</m:t>
                              </m:r>
                            </m:e>
                            <m:sup>
                              <m:r>
                                <a:rPr lang="en-US" i="1">
                                  <a:solidFill>
                                    <a:srgbClr val="FF0000"/>
                                  </a:solidFill>
                                  <a:latin typeface="Cambria Math" panose="02040503050406030204" pitchFamily="18" charset="0"/>
                                </a:rPr>
                                <m:t>3</m:t>
                              </m:r>
                            </m:sup>
                          </m:sSup>
                        </m:den>
                      </m:f>
                      <m:f>
                        <m:fPr>
                          <m:ctrlPr>
                            <a:rPr lang="en-US"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4</m:t>
                          </m:r>
                          <m:r>
                            <a:rPr lang="en-US" b="0" i="1" smtClean="0">
                              <a:solidFill>
                                <a:srgbClr val="FF0000"/>
                              </a:solidFill>
                              <a:latin typeface="Cambria Math" panose="02040503050406030204" pitchFamily="18" charset="0"/>
                              <a:ea typeface="Cambria Math" panose="02040503050406030204" pitchFamily="18" charset="0"/>
                            </a:rPr>
                            <m:t>𝜋</m:t>
                          </m:r>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𝜔</m:t>
                              </m:r>
                            </m:e>
                            <m:sup>
                              <m:r>
                                <a:rPr lang="en-US" b="0" i="1" smtClean="0">
                                  <a:solidFill>
                                    <a:srgbClr val="FF0000"/>
                                  </a:solidFill>
                                  <a:latin typeface="Cambria Math" panose="02040503050406030204" pitchFamily="18" charset="0"/>
                                  <a:ea typeface="Cambria Math" panose="02040503050406030204" pitchFamily="18" charset="0"/>
                                </a:rPr>
                                <m:t>2</m:t>
                              </m:r>
                            </m:sup>
                          </m:sSup>
                        </m:num>
                        <m:den>
                          <m:sSubSup>
                            <m:sSubSupPr>
                              <m:ctrlPr>
                                <a:rPr lang="en-US"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𝑐</m:t>
                              </m:r>
                            </m:e>
                            <m:sub>
                              <m:r>
                                <a:rPr lang="en-US" b="0" i="1" smtClean="0">
                                  <a:solidFill>
                                    <a:srgbClr val="FF0000"/>
                                  </a:solidFill>
                                  <a:latin typeface="Cambria Math" panose="02040503050406030204" pitchFamily="18" charset="0"/>
                                </a:rPr>
                                <m:t>𝑠</m:t>
                              </m:r>
                            </m:sub>
                            <m:sup>
                              <m:r>
                                <a:rPr lang="en-US" b="0" i="1" smtClean="0">
                                  <a:solidFill>
                                    <a:srgbClr val="FF0000"/>
                                  </a:solidFill>
                                  <a:latin typeface="Cambria Math" panose="02040503050406030204" pitchFamily="18" charset="0"/>
                                </a:rPr>
                                <m:t>3</m:t>
                              </m:r>
                            </m:sup>
                          </m:sSubSup>
                        </m:den>
                      </m:f>
                    </m:oMath>
                  </m:oMathPara>
                </a14:m>
                <a:endParaRPr lang="en-CN" dirty="0"/>
              </a:p>
            </p:txBody>
          </p:sp>
        </mc:Choice>
        <mc:Fallback xmlns="">
          <p:sp>
            <p:nvSpPr>
              <p:cNvPr id="11" name="TextBox 10">
                <a:extLst>
                  <a:ext uri="{FF2B5EF4-FFF2-40B4-BE49-F238E27FC236}">
                    <a16:creationId xmlns:a16="http://schemas.microsoft.com/office/drawing/2014/main" id="{521AE74F-AAEA-621D-0C55-86FB70FB78E2}"/>
                  </a:ext>
                </a:extLst>
              </p:cNvPr>
              <p:cNvSpPr txBox="1">
                <a:spLocks noRot="1" noChangeAspect="1" noMove="1" noResize="1" noEditPoints="1" noAdjustHandles="1" noChangeArrowheads="1" noChangeShapeType="1" noTextEdit="1"/>
              </p:cNvSpPr>
              <p:nvPr/>
            </p:nvSpPr>
            <p:spPr>
              <a:xfrm>
                <a:off x="5870448" y="3490724"/>
                <a:ext cx="2459248" cy="729430"/>
              </a:xfrm>
              <a:prstGeom prst="rect">
                <a:avLst/>
              </a:prstGeom>
              <a:blipFill>
                <a:blip r:embed="rId7"/>
                <a:stretch>
                  <a:fillRect b="-3448"/>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33D90C7-D668-7AB4-8D10-551C684F879A}"/>
                  </a:ext>
                </a:extLst>
              </p:cNvPr>
              <p:cNvSpPr txBox="1"/>
              <p:nvPr/>
            </p:nvSpPr>
            <p:spPr>
              <a:xfrm>
                <a:off x="5870448" y="4502489"/>
                <a:ext cx="2071602" cy="69256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3</m:t>
                      </m:r>
                      <m:r>
                        <a:rPr lang="en-US" b="0" i="1" smtClean="0">
                          <a:solidFill>
                            <a:srgbClr val="FF0000"/>
                          </a:solidFill>
                          <a:latin typeface="Cambria Math" panose="02040503050406030204" pitchFamily="18" charset="0"/>
                        </a:rPr>
                        <m:t>𝑁</m:t>
                      </m:r>
                      <m:r>
                        <a:rPr lang="en-US" b="0" i="1" smtClean="0">
                          <a:latin typeface="Cambria Math" panose="02040503050406030204" pitchFamily="18" charset="0"/>
                        </a:rPr>
                        <m:t>=</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0</m:t>
                          </m:r>
                        </m:sub>
                        <m:sup>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𝐷</m:t>
                              </m:r>
                            </m:sub>
                          </m:sSub>
                        </m:sup>
                        <m:e>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𝜔</m:t>
                              </m:r>
                            </m:e>
                          </m:d>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𝜔</m:t>
                          </m:r>
                        </m:e>
                      </m:nary>
                    </m:oMath>
                  </m:oMathPara>
                </a14:m>
                <a:endParaRPr lang="en-CN" dirty="0"/>
              </a:p>
            </p:txBody>
          </p:sp>
        </mc:Choice>
        <mc:Fallback xmlns="">
          <p:sp>
            <p:nvSpPr>
              <p:cNvPr id="12" name="TextBox 11">
                <a:extLst>
                  <a:ext uri="{FF2B5EF4-FFF2-40B4-BE49-F238E27FC236}">
                    <a16:creationId xmlns:a16="http://schemas.microsoft.com/office/drawing/2014/main" id="{433D90C7-D668-7AB4-8D10-551C684F879A}"/>
                  </a:ext>
                </a:extLst>
              </p:cNvPr>
              <p:cNvSpPr txBox="1">
                <a:spLocks noRot="1" noChangeAspect="1" noMove="1" noResize="1" noEditPoints="1" noAdjustHandles="1" noChangeArrowheads="1" noChangeShapeType="1" noTextEdit="1"/>
              </p:cNvSpPr>
              <p:nvPr/>
            </p:nvSpPr>
            <p:spPr>
              <a:xfrm>
                <a:off x="5870448" y="4502489"/>
                <a:ext cx="2071602" cy="692562"/>
              </a:xfrm>
              <a:prstGeom prst="rect">
                <a:avLst/>
              </a:prstGeom>
              <a:blipFill>
                <a:blip r:embed="rId8"/>
                <a:stretch>
                  <a:fillRect l="-13415" t="-160000" b="-2400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21CF514-EF2D-41ED-28E4-F1669DEB9E74}"/>
                  </a:ext>
                </a:extLst>
              </p:cNvPr>
              <p:cNvSpPr txBox="1"/>
              <p:nvPr/>
            </p:nvSpPr>
            <p:spPr>
              <a:xfrm>
                <a:off x="8479259" y="4309538"/>
                <a:ext cx="2324100" cy="86722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𝐷</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𝑠</m:t>
                          </m:r>
                        </m:sub>
                      </m:sSub>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6</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𝜋</m:t>
                                      </m:r>
                                    </m:e>
                                    <m:sup>
                                      <m:r>
                                        <a:rPr lang="en-US" b="0" i="1" smtClean="0">
                                          <a:latin typeface="Cambria Math" panose="02040503050406030204" pitchFamily="18" charset="0"/>
                                        </a:rPr>
                                        <m:t>2</m:t>
                                      </m:r>
                                    </m:sup>
                                  </m:sSup>
                                  <m:r>
                                    <a:rPr lang="en-US" b="0" i="1" smtClean="0">
                                      <a:latin typeface="Cambria Math" panose="02040503050406030204" pitchFamily="18" charset="0"/>
                                    </a:rPr>
                                    <m:t>𝑁</m:t>
                                  </m:r>
                                </m:num>
                                <m:den>
                                  <m:r>
                                    <a:rPr lang="en-US" b="0" i="1" smtClean="0">
                                      <a:latin typeface="Cambria Math" panose="02040503050406030204" pitchFamily="18" charset="0"/>
                                    </a:rPr>
                                    <m:t>𝑉</m:t>
                                  </m:r>
                                </m:den>
                              </m:f>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sup>
                      </m:sSup>
                    </m:oMath>
                  </m:oMathPara>
                </a14:m>
                <a:endParaRPr lang="en-CN" dirty="0"/>
              </a:p>
            </p:txBody>
          </p:sp>
        </mc:Choice>
        <mc:Fallback xmlns="">
          <p:sp>
            <p:nvSpPr>
              <p:cNvPr id="13" name="TextBox 12">
                <a:extLst>
                  <a:ext uri="{FF2B5EF4-FFF2-40B4-BE49-F238E27FC236}">
                    <a16:creationId xmlns:a16="http://schemas.microsoft.com/office/drawing/2014/main" id="{321CF514-EF2D-41ED-28E4-F1669DEB9E74}"/>
                  </a:ext>
                </a:extLst>
              </p:cNvPr>
              <p:cNvSpPr txBox="1">
                <a:spLocks noRot="1" noChangeAspect="1" noMove="1" noResize="1" noEditPoints="1" noAdjustHandles="1" noChangeArrowheads="1" noChangeShapeType="1" noTextEdit="1"/>
              </p:cNvSpPr>
              <p:nvPr/>
            </p:nvSpPr>
            <p:spPr>
              <a:xfrm>
                <a:off x="8479259" y="4309538"/>
                <a:ext cx="2324100" cy="867225"/>
              </a:xfrm>
              <a:prstGeom prst="rect">
                <a:avLst/>
              </a:prstGeom>
              <a:blipFill>
                <a:blip r:embed="rId9"/>
                <a:stretch>
                  <a:fillRect/>
                </a:stretch>
              </a:blipFill>
            </p:spPr>
            <p:txBody>
              <a:bodyPr/>
              <a:lstStyle/>
              <a:p>
                <a:r>
                  <a:rPr lang="en-CN">
                    <a:noFill/>
                  </a:rPr>
                  <a:t> </a:t>
                </a:r>
              </a:p>
            </p:txBody>
          </p:sp>
        </mc:Fallback>
      </mc:AlternateContent>
      <p:sp>
        <p:nvSpPr>
          <p:cNvPr id="14" name="Right Arrow 13">
            <a:extLst>
              <a:ext uri="{FF2B5EF4-FFF2-40B4-BE49-F238E27FC236}">
                <a16:creationId xmlns:a16="http://schemas.microsoft.com/office/drawing/2014/main" id="{D97BDC9D-A3A9-8CF5-C1BF-9E38ED099B2F}"/>
              </a:ext>
            </a:extLst>
          </p:cNvPr>
          <p:cNvSpPr/>
          <p:nvPr/>
        </p:nvSpPr>
        <p:spPr>
          <a:xfrm>
            <a:off x="7942050" y="4761438"/>
            <a:ext cx="653310" cy="1807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A2569E9-3E4C-0644-ED23-ABCD38E5AFD3}"/>
                  </a:ext>
                </a:extLst>
              </p:cNvPr>
              <p:cNvSpPr txBox="1"/>
              <p:nvPr/>
            </p:nvSpPr>
            <p:spPr>
              <a:xfrm>
                <a:off x="6568440" y="5736335"/>
                <a:ext cx="23241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𝜏</m:t>
                          </m:r>
                        </m:e>
                        <m:sub>
                          <m:r>
                            <a:rPr lang="en-US" b="0" i="1" smtClean="0">
                              <a:latin typeface="Cambria Math" panose="02040503050406030204" pitchFamily="18" charset="0"/>
                            </a:rPr>
                            <m:t>𝐷</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ℏ</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𝐷</m:t>
                          </m:r>
                        </m:sub>
                      </m:sSub>
                    </m:oMath>
                  </m:oMathPara>
                </a14:m>
                <a:endParaRPr lang="en-CN" dirty="0"/>
              </a:p>
            </p:txBody>
          </p:sp>
        </mc:Choice>
        <mc:Fallback xmlns="">
          <p:sp>
            <p:nvSpPr>
              <p:cNvPr id="15" name="TextBox 14">
                <a:extLst>
                  <a:ext uri="{FF2B5EF4-FFF2-40B4-BE49-F238E27FC236}">
                    <a16:creationId xmlns:a16="http://schemas.microsoft.com/office/drawing/2014/main" id="{7A2569E9-3E4C-0644-ED23-ABCD38E5AFD3}"/>
                  </a:ext>
                </a:extLst>
              </p:cNvPr>
              <p:cNvSpPr txBox="1">
                <a:spLocks noRot="1" noChangeAspect="1" noMove="1" noResize="1" noEditPoints="1" noAdjustHandles="1" noChangeArrowheads="1" noChangeShapeType="1" noTextEdit="1"/>
              </p:cNvSpPr>
              <p:nvPr/>
            </p:nvSpPr>
            <p:spPr>
              <a:xfrm>
                <a:off x="6568440" y="5736335"/>
                <a:ext cx="2324100" cy="369332"/>
              </a:xfrm>
              <a:prstGeom prst="rect">
                <a:avLst/>
              </a:prstGeom>
              <a:blipFill>
                <a:blip r:embed="rId10"/>
                <a:stretch>
                  <a:fillRect/>
                </a:stretch>
              </a:blipFill>
            </p:spPr>
            <p:txBody>
              <a:bodyPr/>
              <a:lstStyle/>
              <a:p>
                <a:r>
                  <a:rPr lang="en-CN">
                    <a:noFill/>
                  </a:rPr>
                  <a:t> </a:t>
                </a:r>
              </a:p>
            </p:txBody>
          </p:sp>
        </mc:Fallback>
      </mc:AlternateContent>
      <p:sp>
        <p:nvSpPr>
          <p:cNvPr id="16" name="Down Arrow 15">
            <a:extLst>
              <a:ext uri="{FF2B5EF4-FFF2-40B4-BE49-F238E27FC236}">
                <a16:creationId xmlns:a16="http://schemas.microsoft.com/office/drawing/2014/main" id="{C1974DC8-C1FC-0B7D-5BD8-8C25C81850D4}"/>
              </a:ext>
            </a:extLst>
          </p:cNvPr>
          <p:cNvSpPr/>
          <p:nvPr/>
        </p:nvSpPr>
        <p:spPr>
          <a:xfrm rot="2413859">
            <a:off x="8451556" y="4981585"/>
            <a:ext cx="226658" cy="89566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7" name="Curved Left Arrow 16">
            <a:extLst>
              <a:ext uri="{FF2B5EF4-FFF2-40B4-BE49-F238E27FC236}">
                <a16:creationId xmlns:a16="http://schemas.microsoft.com/office/drawing/2014/main" id="{DC87552C-603B-9EB2-2116-B89E8253FEC5}"/>
              </a:ext>
            </a:extLst>
          </p:cNvPr>
          <p:cNvSpPr/>
          <p:nvPr/>
        </p:nvSpPr>
        <p:spPr>
          <a:xfrm>
            <a:off x="10702830" y="2989987"/>
            <a:ext cx="1399032" cy="3506325"/>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32E13CF-874A-3D0D-8815-AA5ED9569F90}"/>
                  </a:ext>
                </a:extLst>
              </p:cNvPr>
              <p:cNvSpPr txBox="1"/>
              <p:nvPr/>
            </p:nvSpPr>
            <p:spPr>
              <a:xfrm>
                <a:off x="7730490" y="5776815"/>
                <a:ext cx="5526024" cy="7740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0</m:t>
                          </m:r>
                        </m:sub>
                        <m:sup>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𝐷</m:t>
                              </m:r>
                            </m:sub>
                          </m:sSub>
                        </m:sup>
                        <m:e>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𝜔</m:t>
                          </m:r>
                        </m:e>
                      </m:nary>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ℏ</m:t>
                          </m:r>
                          <m:r>
                            <a:rPr lang="en-US" b="0" i="1" smtClean="0">
                              <a:latin typeface="Cambria Math" panose="02040503050406030204" pitchFamily="18" charset="0"/>
                              <a:ea typeface="Cambria Math" panose="02040503050406030204" pitchFamily="18" charset="0"/>
                            </a:rPr>
                            <m:t>𝜔</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f>
                                <m:fPr>
                                  <m:ctrlPr>
                                    <a:rPr lang="en-US" b="0" i="1" smtClean="0">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ℏ</m:t>
                                  </m:r>
                                  <m:r>
                                    <a:rPr lang="en-US" i="1">
                                      <a:latin typeface="Cambria Math" panose="02040503050406030204" pitchFamily="18" charset="0"/>
                                      <a:ea typeface="Cambria Math" panose="02040503050406030204" pitchFamily="18" charset="0"/>
                                    </a:rPr>
                                    <m:t>𝜔</m:t>
                                  </m:r>
                                </m:num>
                                <m:den>
                                  <m:r>
                                    <a:rPr lang="en-US" b="0" i="1" smtClean="0">
                                      <a:latin typeface="Cambria Math" panose="02040503050406030204" pitchFamily="18" charset="0"/>
                                      <a:ea typeface="Cambria Math" panose="02040503050406030204" pitchFamily="18" charset="0"/>
                                    </a:rPr>
                                    <m:t>𝜏</m:t>
                                  </m:r>
                                </m:den>
                              </m:f>
                            </m:sup>
                          </m:sSup>
                          <m:r>
                            <a:rPr lang="en-US" b="0" i="1" smtClean="0">
                              <a:latin typeface="Cambria Math" panose="02040503050406030204" pitchFamily="18" charset="0"/>
                            </a:rPr>
                            <m:t>−1</m:t>
                          </m:r>
                        </m:den>
                      </m:f>
                      <m:r>
                        <a:rPr lang="en-US" b="0" i="1" smtClean="0">
                          <a:solidFill>
                            <a:srgbClr val="FF0000"/>
                          </a:solidFill>
                          <a:latin typeface="Cambria Math" panose="02040503050406030204" pitchFamily="18" charset="0"/>
                        </a:rPr>
                        <m:t>𝑔</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𝜔</m:t>
                      </m:r>
                      <m:r>
                        <a:rPr lang="en-US" b="0" i="1" smtClean="0">
                          <a:solidFill>
                            <a:srgbClr val="FF0000"/>
                          </a:solidFill>
                          <a:latin typeface="Cambria Math" panose="02040503050406030204" pitchFamily="18" charset="0"/>
                        </a:rPr>
                        <m:t>)</m:t>
                      </m:r>
                    </m:oMath>
                  </m:oMathPara>
                </a14:m>
                <a:endParaRPr lang="en-CN" dirty="0"/>
              </a:p>
            </p:txBody>
          </p:sp>
        </mc:Choice>
        <mc:Fallback xmlns="">
          <p:sp>
            <p:nvSpPr>
              <p:cNvPr id="18" name="TextBox 17">
                <a:extLst>
                  <a:ext uri="{FF2B5EF4-FFF2-40B4-BE49-F238E27FC236}">
                    <a16:creationId xmlns:a16="http://schemas.microsoft.com/office/drawing/2014/main" id="{E32E13CF-874A-3D0D-8815-AA5ED9569F90}"/>
                  </a:ext>
                </a:extLst>
              </p:cNvPr>
              <p:cNvSpPr txBox="1">
                <a:spLocks noRot="1" noChangeAspect="1" noMove="1" noResize="1" noEditPoints="1" noAdjustHandles="1" noChangeArrowheads="1" noChangeShapeType="1" noTextEdit="1"/>
              </p:cNvSpPr>
              <p:nvPr/>
            </p:nvSpPr>
            <p:spPr>
              <a:xfrm>
                <a:off x="7730490" y="5776815"/>
                <a:ext cx="5526024" cy="774058"/>
              </a:xfrm>
              <a:prstGeom prst="rect">
                <a:avLst/>
              </a:prstGeom>
              <a:blipFill>
                <a:blip r:embed="rId11"/>
                <a:stretch>
                  <a:fillRect t="-144262" b="-204918"/>
                </a:stretch>
              </a:blipFill>
            </p:spPr>
            <p:txBody>
              <a:bodyPr/>
              <a:lstStyle/>
              <a:p>
                <a:r>
                  <a:rPr lang="en-CN">
                    <a:noFill/>
                  </a:rPr>
                  <a:t> </a:t>
                </a:r>
              </a:p>
            </p:txBody>
          </p:sp>
        </mc:Fallback>
      </mc:AlternateContent>
      <p:sp>
        <p:nvSpPr>
          <p:cNvPr id="20" name="TextBox 19">
            <a:extLst>
              <a:ext uri="{FF2B5EF4-FFF2-40B4-BE49-F238E27FC236}">
                <a16:creationId xmlns:a16="http://schemas.microsoft.com/office/drawing/2014/main" id="{9B3B1609-06EA-BAFE-E676-3FCCE785F8A6}"/>
              </a:ext>
            </a:extLst>
          </p:cNvPr>
          <p:cNvSpPr txBox="1"/>
          <p:nvPr/>
        </p:nvSpPr>
        <p:spPr>
          <a:xfrm>
            <a:off x="5746935" y="5561759"/>
            <a:ext cx="2148978" cy="369332"/>
          </a:xfrm>
          <a:prstGeom prst="rect">
            <a:avLst/>
          </a:prstGeom>
          <a:noFill/>
        </p:spPr>
        <p:txBody>
          <a:bodyPr wrap="square">
            <a:spAutoFit/>
          </a:bodyPr>
          <a:lstStyle/>
          <a:p>
            <a:r>
              <a:rPr lang="en-CN" dirty="0"/>
              <a:t>Debye temperature:</a:t>
            </a:r>
          </a:p>
        </p:txBody>
      </p:sp>
    </p:spTree>
    <p:extLst>
      <p:ext uri="{BB962C8B-B14F-4D97-AF65-F5344CB8AC3E}">
        <p14:creationId xmlns:p14="http://schemas.microsoft.com/office/powerpoint/2010/main" val="33764295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0949F0D-570C-A40D-05D7-4DC364D05DD2}"/>
                  </a:ext>
                </a:extLst>
              </p:cNvPr>
              <p:cNvSpPr txBox="1"/>
              <p:nvPr/>
            </p:nvSpPr>
            <p:spPr>
              <a:xfrm>
                <a:off x="1380466" y="283187"/>
                <a:ext cx="8312728" cy="151663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𝑈</m:t>
                      </m:r>
                      <m:r>
                        <a:rPr lang="en-US" sz="4000" b="0" i="1" smtClean="0">
                          <a:latin typeface="Cambria Math" panose="02040503050406030204" pitchFamily="18" charset="0"/>
                        </a:rPr>
                        <m:t>=9</m:t>
                      </m:r>
                      <m:r>
                        <a:rPr lang="en-US" sz="4000" b="0" i="1" smtClean="0">
                          <a:latin typeface="Cambria Math" panose="02040503050406030204" pitchFamily="18" charset="0"/>
                        </a:rPr>
                        <m:t>𝑁</m:t>
                      </m:r>
                      <m:r>
                        <a:rPr lang="en-US" sz="4000" b="0" i="1" smtClean="0">
                          <a:solidFill>
                            <a:srgbClr val="FF0000"/>
                          </a:solidFill>
                          <a:latin typeface="Cambria Math" panose="02040503050406030204" pitchFamily="18" charset="0"/>
                          <a:ea typeface="Cambria Math" panose="02040503050406030204" pitchFamily="18" charset="0"/>
                        </a:rPr>
                        <m:t>𝜏</m:t>
                      </m:r>
                      <m:sSup>
                        <m:sSupPr>
                          <m:ctrlPr>
                            <a:rPr lang="en-US" sz="4000" b="0" i="1" smtClean="0">
                              <a:latin typeface="Cambria Math" panose="02040503050406030204" pitchFamily="18" charset="0"/>
                              <a:ea typeface="Cambria Math" panose="02040503050406030204" pitchFamily="18" charset="0"/>
                            </a:rPr>
                          </m:ctrlPr>
                        </m:sSupPr>
                        <m:e>
                          <m:d>
                            <m:dPr>
                              <m:ctrlPr>
                                <a:rPr lang="en-US" sz="4000" i="1">
                                  <a:latin typeface="Cambria Math" panose="02040503050406030204" pitchFamily="18" charset="0"/>
                                  <a:ea typeface="Cambria Math" panose="02040503050406030204" pitchFamily="18" charset="0"/>
                                </a:rPr>
                              </m:ctrlPr>
                            </m:dPr>
                            <m:e>
                              <m:f>
                                <m:fPr>
                                  <m:ctrlPr>
                                    <a:rPr lang="en-US" sz="4000" i="1">
                                      <a:latin typeface="Cambria Math" panose="02040503050406030204" pitchFamily="18" charset="0"/>
                                      <a:ea typeface="Cambria Math" panose="02040503050406030204" pitchFamily="18" charset="0"/>
                                    </a:rPr>
                                  </m:ctrlPr>
                                </m:fPr>
                                <m:num>
                                  <m:r>
                                    <a:rPr lang="en-US" sz="4000" i="1" smtClean="0">
                                      <a:solidFill>
                                        <a:srgbClr val="FF0000"/>
                                      </a:solidFill>
                                      <a:latin typeface="Cambria Math" panose="02040503050406030204" pitchFamily="18" charset="0"/>
                                      <a:ea typeface="Cambria Math" panose="02040503050406030204" pitchFamily="18" charset="0"/>
                                    </a:rPr>
                                    <m:t>𝜏</m:t>
                                  </m:r>
                                </m:num>
                                <m:den>
                                  <m:sSub>
                                    <m:sSubPr>
                                      <m:ctrlPr>
                                        <a:rPr lang="en-US" sz="4000" i="1">
                                          <a:latin typeface="Cambria Math" panose="02040503050406030204" pitchFamily="18" charset="0"/>
                                          <a:ea typeface="Cambria Math" panose="02040503050406030204" pitchFamily="18" charset="0"/>
                                        </a:rPr>
                                      </m:ctrlPr>
                                    </m:sSubPr>
                                    <m:e>
                                      <m:r>
                                        <a:rPr lang="en-US" sz="4000" i="1">
                                          <a:latin typeface="Cambria Math" panose="02040503050406030204" pitchFamily="18" charset="0"/>
                                          <a:ea typeface="Cambria Math" panose="02040503050406030204" pitchFamily="18" charset="0"/>
                                        </a:rPr>
                                        <m:t>𝜏</m:t>
                                      </m:r>
                                    </m:e>
                                    <m:sub>
                                      <m:r>
                                        <a:rPr lang="en-US" sz="4000" i="1">
                                          <a:latin typeface="Cambria Math" panose="02040503050406030204" pitchFamily="18" charset="0"/>
                                          <a:ea typeface="Cambria Math" panose="02040503050406030204" pitchFamily="18" charset="0"/>
                                        </a:rPr>
                                        <m:t>𝐷</m:t>
                                      </m:r>
                                    </m:sub>
                                  </m:sSub>
                                </m:den>
                              </m:f>
                            </m:e>
                          </m:d>
                        </m:e>
                        <m:sup>
                          <m:r>
                            <a:rPr lang="en-US" sz="4000" b="0" i="1" smtClean="0">
                              <a:latin typeface="Cambria Math" panose="02040503050406030204" pitchFamily="18" charset="0"/>
                              <a:ea typeface="Cambria Math" panose="02040503050406030204" pitchFamily="18" charset="0"/>
                            </a:rPr>
                            <m:t>3</m:t>
                          </m:r>
                        </m:sup>
                      </m:sSup>
                      <m:nary>
                        <m:naryPr>
                          <m:ctrlPr>
                            <a:rPr lang="en-US" sz="4000" b="0" i="1" smtClean="0">
                              <a:latin typeface="Cambria Math" panose="02040503050406030204" pitchFamily="18" charset="0"/>
                              <a:ea typeface="Cambria Math" panose="02040503050406030204" pitchFamily="18" charset="0"/>
                            </a:rPr>
                          </m:ctrlPr>
                        </m:naryPr>
                        <m:sub>
                          <m:r>
                            <m:rPr>
                              <m:brk m:alnAt="23"/>
                            </m:rPr>
                            <a:rPr lang="en-US" sz="4000" b="0" i="1" smtClean="0">
                              <a:latin typeface="Cambria Math" panose="02040503050406030204" pitchFamily="18" charset="0"/>
                              <a:ea typeface="Cambria Math" panose="02040503050406030204" pitchFamily="18" charset="0"/>
                            </a:rPr>
                            <m:t>0</m:t>
                          </m:r>
                        </m:sub>
                        <m:sup>
                          <m:f>
                            <m:fPr>
                              <m:type m:val="lin"/>
                              <m:ctrlPr>
                                <a:rPr lang="en-US" sz="4000" b="0" i="1" smtClean="0">
                                  <a:latin typeface="Cambria Math" panose="02040503050406030204" pitchFamily="18" charset="0"/>
                                  <a:ea typeface="Cambria Math" panose="02040503050406030204" pitchFamily="18" charset="0"/>
                                </a:rPr>
                              </m:ctrlPr>
                            </m:fPr>
                            <m:num>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𝜏</m:t>
                                  </m:r>
                                </m:e>
                                <m:sub>
                                  <m:r>
                                    <a:rPr lang="en-US" sz="4000" b="0" i="1" smtClean="0">
                                      <a:latin typeface="Cambria Math" panose="02040503050406030204" pitchFamily="18" charset="0"/>
                                      <a:ea typeface="Cambria Math" panose="02040503050406030204" pitchFamily="18" charset="0"/>
                                    </a:rPr>
                                    <m:t>𝐷</m:t>
                                  </m:r>
                                </m:sub>
                              </m:sSub>
                            </m:num>
                            <m:den>
                              <m:r>
                                <a:rPr lang="en-US" sz="4000" b="0" i="1" smtClean="0">
                                  <a:latin typeface="Cambria Math" panose="02040503050406030204" pitchFamily="18" charset="0"/>
                                  <a:ea typeface="Cambria Math" panose="02040503050406030204" pitchFamily="18" charset="0"/>
                                </a:rPr>
                                <m:t>𝜏</m:t>
                              </m:r>
                            </m:den>
                          </m:f>
                        </m:sup>
                        <m:e>
                          <m:f>
                            <m:fPr>
                              <m:ctrlPr>
                                <a:rPr lang="en-US" sz="4000" b="0" i="1" smtClean="0">
                                  <a:latin typeface="Cambria Math" panose="02040503050406030204" pitchFamily="18" charset="0"/>
                                  <a:ea typeface="Cambria Math" panose="02040503050406030204" pitchFamily="18" charset="0"/>
                                </a:rPr>
                              </m:ctrlPr>
                            </m:fPr>
                            <m:num>
                              <m:sSup>
                                <m:sSupPr>
                                  <m:ctrlPr>
                                    <a:rPr lang="en-US" sz="4000" b="0" i="1" smtClean="0">
                                      <a:latin typeface="Cambria Math" panose="02040503050406030204" pitchFamily="18" charset="0"/>
                                      <a:ea typeface="Cambria Math" panose="02040503050406030204" pitchFamily="18" charset="0"/>
                                    </a:rPr>
                                  </m:ctrlPr>
                                </m:sSupPr>
                                <m:e>
                                  <m:r>
                                    <a:rPr lang="en-US" sz="4000" b="0" i="1" smtClean="0">
                                      <a:latin typeface="Cambria Math" panose="02040503050406030204" pitchFamily="18" charset="0"/>
                                      <a:ea typeface="Cambria Math" panose="02040503050406030204" pitchFamily="18" charset="0"/>
                                    </a:rPr>
                                    <m:t>𝑥</m:t>
                                  </m:r>
                                </m:e>
                                <m:sup>
                                  <m:r>
                                    <a:rPr lang="en-US" sz="4000" b="0" i="1" smtClean="0">
                                      <a:latin typeface="Cambria Math" panose="02040503050406030204" pitchFamily="18" charset="0"/>
                                      <a:ea typeface="Cambria Math" panose="02040503050406030204" pitchFamily="18" charset="0"/>
                                    </a:rPr>
                                    <m:t>3</m:t>
                                  </m:r>
                                </m:sup>
                              </m:sSup>
                            </m:num>
                            <m:den>
                              <m:sSup>
                                <m:sSupPr>
                                  <m:ctrlPr>
                                    <a:rPr lang="en-US" sz="4000" b="0" i="1" smtClean="0">
                                      <a:latin typeface="Cambria Math" panose="02040503050406030204" pitchFamily="18" charset="0"/>
                                      <a:ea typeface="Cambria Math" panose="02040503050406030204" pitchFamily="18" charset="0"/>
                                    </a:rPr>
                                  </m:ctrlPr>
                                </m:sSupPr>
                                <m:e>
                                  <m:r>
                                    <a:rPr lang="en-US" sz="4000" b="0" i="1" smtClean="0">
                                      <a:latin typeface="Cambria Math" panose="02040503050406030204" pitchFamily="18" charset="0"/>
                                      <a:ea typeface="Cambria Math" panose="02040503050406030204" pitchFamily="18" charset="0"/>
                                    </a:rPr>
                                    <m:t>𝑒</m:t>
                                  </m:r>
                                </m:e>
                                <m:sup>
                                  <m:r>
                                    <a:rPr lang="en-US" sz="4000" b="0" i="1" smtClean="0">
                                      <a:latin typeface="Cambria Math" panose="02040503050406030204" pitchFamily="18" charset="0"/>
                                      <a:ea typeface="Cambria Math" panose="02040503050406030204" pitchFamily="18" charset="0"/>
                                    </a:rPr>
                                    <m:t>𝑥</m:t>
                                  </m:r>
                                </m:sup>
                              </m:sSup>
                              <m:r>
                                <a:rPr lang="en-US" sz="4000" b="0" i="1" smtClean="0">
                                  <a:latin typeface="Cambria Math" panose="02040503050406030204" pitchFamily="18" charset="0"/>
                                  <a:ea typeface="Cambria Math" panose="02040503050406030204" pitchFamily="18" charset="0"/>
                                </a:rPr>
                                <m:t>−1</m:t>
                              </m:r>
                            </m:den>
                          </m:f>
                          <m:r>
                            <a:rPr lang="en-US" sz="4000" b="0" i="1" smtClean="0">
                              <a:latin typeface="Cambria Math" panose="02040503050406030204" pitchFamily="18" charset="0"/>
                              <a:ea typeface="Cambria Math" panose="02040503050406030204" pitchFamily="18" charset="0"/>
                            </a:rPr>
                            <m:t>𝑑𝑥</m:t>
                          </m:r>
                        </m:e>
                      </m:nary>
                    </m:oMath>
                  </m:oMathPara>
                </a14:m>
                <a:endParaRPr lang="en-CN" sz="4000" dirty="0"/>
              </a:p>
            </p:txBody>
          </p:sp>
        </mc:Choice>
        <mc:Fallback xmlns="">
          <p:sp>
            <p:nvSpPr>
              <p:cNvPr id="2" name="TextBox 1">
                <a:extLst>
                  <a:ext uri="{FF2B5EF4-FFF2-40B4-BE49-F238E27FC236}">
                    <a16:creationId xmlns:a16="http://schemas.microsoft.com/office/drawing/2014/main" id="{80949F0D-570C-A40D-05D7-4DC364D05DD2}"/>
                  </a:ext>
                </a:extLst>
              </p:cNvPr>
              <p:cNvSpPr txBox="1">
                <a:spLocks noRot="1" noChangeAspect="1" noMove="1" noResize="1" noEditPoints="1" noAdjustHandles="1" noChangeArrowheads="1" noChangeShapeType="1" noTextEdit="1"/>
              </p:cNvSpPr>
              <p:nvPr/>
            </p:nvSpPr>
            <p:spPr>
              <a:xfrm>
                <a:off x="1380466" y="283187"/>
                <a:ext cx="8312728" cy="1516634"/>
              </a:xfrm>
              <a:prstGeom prst="rect">
                <a:avLst/>
              </a:prstGeom>
              <a:blipFill>
                <a:blip r:embed="rId2"/>
                <a:stretch>
                  <a:fillRect t="-160833" b="-2425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996EAC1-D792-B715-E15C-99B2CCDBDAA3}"/>
                  </a:ext>
                </a:extLst>
              </p:cNvPr>
              <p:cNvSpPr txBox="1"/>
              <p:nvPr/>
            </p:nvSpPr>
            <p:spPr>
              <a:xfrm>
                <a:off x="430599" y="2141972"/>
                <a:ext cx="10931237" cy="995914"/>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r>
                      <a:rPr lang="en-CN" i="1" smtClean="0">
                        <a:latin typeface="Cambria Math" panose="02040503050406030204" pitchFamily="18" charset="0"/>
                        <a:ea typeface="Cambria Math" panose="02040503050406030204" pitchFamily="18" charset="0"/>
                      </a:rPr>
                      <m:t>𝜏</m:t>
                    </m:r>
                    <m:r>
                      <a:rPr lang="en-CN" i="1" smtClean="0">
                        <a:latin typeface="Cambria Math" panose="02040503050406030204" pitchFamily="18" charset="0"/>
                        <a:ea typeface="Cambria Math" panose="02040503050406030204" pitchFamily="18" charset="0"/>
                      </a:rPr>
                      <m:t>≫</m:t>
                    </m:r>
                    <m:sSub>
                      <m:sSubPr>
                        <m:ctrlPr>
                          <a:rPr lang="en-CN" i="1" smtClean="0">
                            <a:latin typeface="Cambria Math" panose="02040503050406030204" pitchFamily="18" charset="0"/>
                            <a:ea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𝜏</m:t>
                        </m:r>
                      </m:e>
                      <m:sub>
                        <m:r>
                          <a:rPr lang="en-US" b="0" i="1" smtClean="0">
                            <a:latin typeface="Cambria Math" panose="02040503050406030204" pitchFamily="18" charset="0"/>
                            <a:ea typeface="Cambria Math" panose="02040503050406030204" pitchFamily="18" charset="0"/>
                          </a:rPr>
                          <m:t>𝐷</m:t>
                        </m:r>
                      </m:sub>
                    </m:sSub>
                  </m:oMath>
                </a14:m>
                <a:r>
                  <a:rPr lang="en-CN" dirty="0"/>
                  <a:t>, </a:t>
                </a:r>
                <a14:m>
                  <m:oMath xmlns:m="http://schemas.openxmlformats.org/officeDocument/2006/math">
                    <m:nary>
                      <m:naryPr>
                        <m:ctrlPr>
                          <a:rPr lang="en-CN" i="1" smtClean="0">
                            <a:latin typeface="Cambria Math" panose="02040503050406030204" pitchFamily="18" charset="0"/>
                          </a:rPr>
                        </m:ctrlPr>
                      </m:naryPr>
                      <m:sub>
                        <m:r>
                          <m:rPr>
                            <m:brk m:alnAt="23"/>
                          </m:rPr>
                          <a:rPr lang="en-US" b="0" i="1" smtClean="0">
                            <a:latin typeface="Cambria Math" panose="02040503050406030204" pitchFamily="18" charset="0"/>
                          </a:rPr>
                          <m:t>0</m:t>
                        </m:r>
                      </m:sub>
                      <m:sup>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𝜏</m:t>
                            </m:r>
                          </m:e>
                          <m:sub>
                            <m:r>
                              <a:rPr lang="en-US" b="0" i="1" smtClean="0">
                                <a:latin typeface="Cambria Math" panose="02040503050406030204" pitchFamily="18" charset="0"/>
                              </a:rPr>
                              <m:t>𝐷</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→0</m:t>
                        </m:r>
                      </m:sup>
                      <m:e>
                        <m:d>
                          <m:dPr>
                            <m:ctrlPr>
                              <a:rPr lang="en-US" b="0" i="1" smtClean="0">
                                <a:latin typeface="Cambria Math" panose="02040503050406030204" pitchFamily="18" charset="0"/>
                              </a:rPr>
                            </m:ctrlPr>
                          </m:dPr>
                          <m:e>
                            <m:r>
                              <a:rPr lang="en-US" b="0" i="1" smtClean="0">
                                <a:latin typeface="Cambria Math" panose="02040503050406030204" pitchFamily="18" charset="0"/>
                              </a:rPr>
                              <m:t>…</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𝑥</m:t>
                                </m:r>
                              </m:sup>
                            </m:sSup>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𝑥</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𝜏</m:t>
                        </m:r>
                      </m:e>
                    </m:nary>
                  </m:oMath>
                </a14:m>
                <a:endParaRPr lang="en-CN" dirty="0"/>
              </a:p>
              <a:p>
                <a:pPr marL="285750" indent="-285750">
                  <a:buFont typeface="Arial" panose="020B0604020202020204" pitchFamily="34" charset="0"/>
                  <a:buChar char="•"/>
                </a:pPr>
                <a14:m>
                  <m:oMath xmlns:m="http://schemas.openxmlformats.org/officeDocument/2006/math">
                    <m:r>
                      <a:rPr lang="en-CN" i="1">
                        <a:latin typeface="Cambria Math" panose="02040503050406030204" pitchFamily="18" charset="0"/>
                        <a:ea typeface="Cambria Math" panose="02040503050406030204" pitchFamily="18" charset="0"/>
                      </a:rPr>
                      <m:t>𝜏</m:t>
                    </m:r>
                    <m:r>
                      <a:rPr lang="en-CN" i="1" smtClean="0">
                        <a:latin typeface="Cambria Math" panose="02040503050406030204" pitchFamily="18" charset="0"/>
                        <a:ea typeface="Cambria Math" panose="02040503050406030204" pitchFamily="18" charset="0"/>
                      </a:rPr>
                      <m:t>≪</m:t>
                    </m:r>
                    <m:sSub>
                      <m:sSubPr>
                        <m:ctrlPr>
                          <a:rPr lang="en-CN" i="1">
                            <a:latin typeface="Cambria Math" panose="02040503050406030204" pitchFamily="18" charset="0"/>
                            <a:ea typeface="Cambria Math" panose="02040503050406030204" pitchFamily="18" charset="0"/>
                          </a:rPr>
                        </m:ctrlPr>
                      </m:sSubPr>
                      <m:e>
                        <m:r>
                          <a:rPr lang="en-CN" i="1">
                            <a:latin typeface="Cambria Math" panose="02040503050406030204" pitchFamily="18" charset="0"/>
                            <a:ea typeface="Cambria Math" panose="02040503050406030204" pitchFamily="18" charset="0"/>
                          </a:rPr>
                          <m:t>𝜏</m:t>
                        </m:r>
                      </m:e>
                      <m:sub>
                        <m:r>
                          <a:rPr lang="en-US" i="1">
                            <a:latin typeface="Cambria Math" panose="02040503050406030204" pitchFamily="18" charset="0"/>
                            <a:ea typeface="Cambria Math" panose="02040503050406030204" pitchFamily="18" charset="0"/>
                          </a:rPr>
                          <m:t>𝐷</m:t>
                        </m:r>
                      </m:sub>
                    </m:sSub>
                    <m:r>
                      <a:rPr lang="en-US" b="0" i="1" smtClean="0">
                        <a:latin typeface="Cambria Math" panose="02040503050406030204" pitchFamily="18" charset="0"/>
                        <a:ea typeface="Cambria Math" panose="02040503050406030204" pitchFamily="18" charset="0"/>
                      </a:rPr>
                      <m:t>,</m:t>
                    </m:r>
                  </m:oMath>
                </a14:m>
                <a:r>
                  <a:rPr lang="en-CN" dirty="0"/>
                  <a:t> </a:t>
                </a:r>
                <a14:m>
                  <m:oMath xmlns:m="http://schemas.openxmlformats.org/officeDocument/2006/math">
                    <m:nary>
                      <m:naryPr>
                        <m:ctrlPr>
                          <a:rPr lang="en-CN" i="1" dirty="0" smtClean="0">
                            <a:latin typeface="Cambria Math" panose="02040503050406030204" pitchFamily="18" charset="0"/>
                          </a:rPr>
                        </m:ctrlPr>
                      </m:naryPr>
                      <m:sub>
                        <m:r>
                          <m:rPr>
                            <m:brk m:alnAt="23"/>
                          </m:rPr>
                          <a:rPr lang="en-US" b="0" i="1" dirty="0" smtClean="0">
                            <a:latin typeface="Cambria Math" panose="02040503050406030204" pitchFamily="18" charset="0"/>
                          </a:rPr>
                          <m:t>0</m:t>
                        </m:r>
                      </m:sub>
                      <m:sup>
                        <m:r>
                          <a:rPr lang="en-CN" i="1" dirty="0" smtClean="0">
                            <a:latin typeface="Cambria Math" panose="02040503050406030204" pitchFamily="18" charset="0"/>
                            <a:ea typeface="Cambria Math" panose="02040503050406030204" pitchFamily="18" charset="0"/>
                          </a:rPr>
                          <m:t>∞</m:t>
                        </m:r>
                      </m:sup>
                      <m:e>
                        <m:d>
                          <m:dPr>
                            <m:ctrlPr>
                              <a:rPr lang="en-US" b="0" i="1" dirty="0" smtClean="0">
                                <a:latin typeface="Cambria Math" panose="02040503050406030204" pitchFamily="18" charset="0"/>
                              </a:rPr>
                            </m:ctrlPr>
                          </m:dPr>
                          <m:e>
                            <m:r>
                              <a:rPr lang="en-US" b="0" i="1" dirty="0" smtClean="0">
                                <a:latin typeface="Cambria Math" panose="02040503050406030204" pitchFamily="18" charset="0"/>
                              </a:rPr>
                              <m:t>…</m:t>
                            </m:r>
                          </m:e>
                        </m:d>
                        <m:r>
                          <a:rPr lang="en-US" b="0" i="1" dirty="0" smtClean="0">
                            <a:latin typeface="Cambria Math" panose="02040503050406030204" pitchFamily="18" charset="0"/>
                            <a:ea typeface="Cambria Math" panose="02040503050406030204" pitchFamily="18" charset="0"/>
                          </a:rPr>
                          <m:t>→</m:t>
                        </m:r>
                        <m:r>
                          <a:rPr lang="en-US" b="0" i="1" dirty="0" smtClean="0">
                            <a:solidFill>
                              <a:srgbClr val="FF0000"/>
                            </a:solidFill>
                            <a:latin typeface="Cambria Math" panose="02040503050406030204" pitchFamily="18" charset="0"/>
                            <a:ea typeface="Cambria Math" panose="02040503050406030204" pitchFamily="18" charset="0"/>
                          </a:rPr>
                          <m:t>𝑈</m:t>
                        </m:r>
                        <m:r>
                          <a:rPr lang="en-US" b="0" i="1" dirty="0" smtClean="0">
                            <a:solidFill>
                              <a:srgbClr val="FF0000"/>
                            </a:solidFill>
                            <a:latin typeface="Cambria Math" panose="02040503050406030204" pitchFamily="18" charset="0"/>
                            <a:ea typeface="Cambria Math" panose="02040503050406030204" pitchFamily="18" charset="0"/>
                          </a:rPr>
                          <m:t>=</m:t>
                        </m:r>
                        <m:f>
                          <m:fPr>
                            <m:ctrlPr>
                              <a:rPr lang="en-US" b="0" i="1" dirty="0" smtClean="0">
                                <a:solidFill>
                                  <a:srgbClr val="FF0000"/>
                                </a:solidFill>
                                <a:latin typeface="Cambria Math" panose="02040503050406030204" pitchFamily="18" charset="0"/>
                                <a:ea typeface="Cambria Math" panose="02040503050406030204" pitchFamily="18" charset="0"/>
                              </a:rPr>
                            </m:ctrlPr>
                          </m:fPr>
                          <m:num>
                            <m:r>
                              <a:rPr lang="en-US" b="0" i="1" dirty="0" smtClean="0">
                                <a:solidFill>
                                  <a:srgbClr val="FF0000"/>
                                </a:solidFill>
                                <a:latin typeface="Cambria Math" panose="02040503050406030204" pitchFamily="18" charset="0"/>
                                <a:ea typeface="Cambria Math" panose="02040503050406030204" pitchFamily="18" charset="0"/>
                              </a:rPr>
                              <m:t>3</m:t>
                            </m:r>
                            <m:sSup>
                              <m:sSupPr>
                                <m:ctrlPr>
                                  <a:rPr lang="en-US" b="0" i="1" dirty="0" smtClean="0">
                                    <a:solidFill>
                                      <a:srgbClr val="FF0000"/>
                                    </a:solidFill>
                                    <a:latin typeface="Cambria Math" panose="02040503050406030204" pitchFamily="18" charset="0"/>
                                    <a:ea typeface="Cambria Math" panose="02040503050406030204" pitchFamily="18" charset="0"/>
                                  </a:rPr>
                                </m:ctrlPr>
                              </m:sSupPr>
                              <m:e>
                                <m:r>
                                  <a:rPr lang="en-US" b="0" i="1" dirty="0" smtClean="0">
                                    <a:solidFill>
                                      <a:srgbClr val="FF0000"/>
                                    </a:solidFill>
                                    <a:latin typeface="Cambria Math" panose="02040503050406030204" pitchFamily="18" charset="0"/>
                                    <a:ea typeface="Cambria Math" panose="02040503050406030204" pitchFamily="18" charset="0"/>
                                  </a:rPr>
                                  <m:t>𝜋</m:t>
                                </m:r>
                              </m:e>
                              <m:sup>
                                <m:r>
                                  <a:rPr lang="en-US" b="0" i="1" dirty="0" smtClean="0">
                                    <a:solidFill>
                                      <a:srgbClr val="FF0000"/>
                                    </a:solidFill>
                                    <a:latin typeface="Cambria Math" panose="02040503050406030204" pitchFamily="18" charset="0"/>
                                    <a:ea typeface="Cambria Math" panose="02040503050406030204" pitchFamily="18" charset="0"/>
                                  </a:rPr>
                                  <m:t>4</m:t>
                                </m:r>
                              </m:sup>
                            </m:sSup>
                          </m:num>
                          <m:den>
                            <m:r>
                              <a:rPr lang="en-US" b="0" i="1" dirty="0" smtClean="0">
                                <a:solidFill>
                                  <a:srgbClr val="FF0000"/>
                                </a:solidFill>
                                <a:latin typeface="Cambria Math" panose="02040503050406030204" pitchFamily="18" charset="0"/>
                                <a:ea typeface="Cambria Math" panose="02040503050406030204" pitchFamily="18" charset="0"/>
                              </a:rPr>
                              <m:t>5</m:t>
                            </m:r>
                          </m:den>
                        </m:f>
                        <m:f>
                          <m:fPr>
                            <m:ctrlPr>
                              <a:rPr lang="en-US" b="0" i="1" dirty="0" smtClean="0">
                                <a:solidFill>
                                  <a:srgbClr val="FF0000"/>
                                </a:solidFill>
                                <a:latin typeface="Cambria Math" panose="02040503050406030204" pitchFamily="18" charset="0"/>
                                <a:ea typeface="Cambria Math" panose="02040503050406030204" pitchFamily="18" charset="0"/>
                              </a:rPr>
                            </m:ctrlPr>
                          </m:fPr>
                          <m:num>
                            <m:r>
                              <a:rPr lang="en-US" b="0" i="1" dirty="0" smtClean="0">
                                <a:solidFill>
                                  <a:srgbClr val="FF0000"/>
                                </a:solidFill>
                                <a:latin typeface="Cambria Math" panose="02040503050406030204" pitchFamily="18" charset="0"/>
                                <a:ea typeface="Cambria Math" panose="02040503050406030204" pitchFamily="18" charset="0"/>
                              </a:rPr>
                              <m:t>𝑁</m:t>
                            </m:r>
                            <m:sSup>
                              <m:sSupPr>
                                <m:ctrlPr>
                                  <a:rPr lang="en-US" b="0" i="1" dirty="0" smtClean="0">
                                    <a:solidFill>
                                      <a:srgbClr val="FF0000"/>
                                    </a:solidFill>
                                    <a:latin typeface="Cambria Math" panose="02040503050406030204" pitchFamily="18" charset="0"/>
                                    <a:ea typeface="Cambria Math" panose="02040503050406030204" pitchFamily="18" charset="0"/>
                                  </a:rPr>
                                </m:ctrlPr>
                              </m:sSupPr>
                              <m:e>
                                <m:r>
                                  <a:rPr lang="en-US" b="0" i="1" dirty="0" smtClean="0">
                                    <a:solidFill>
                                      <a:srgbClr val="FF0000"/>
                                    </a:solidFill>
                                    <a:latin typeface="Cambria Math" panose="02040503050406030204" pitchFamily="18" charset="0"/>
                                    <a:ea typeface="Cambria Math" panose="02040503050406030204" pitchFamily="18" charset="0"/>
                                  </a:rPr>
                                  <m:t>𝜏</m:t>
                                </m:r>
                              </m:e>
                              <m:sup>
                                <m:r>
                                  <a:rPr lang="en-US" b="0" i="1" dirty="0" smtClean="0">
                                    <a:solidFill>
                                      <a:srgbClr val="FF0000"/>
                                    </a:solidFill>
                                    <a:latin typeface="Cambria Math" panose="02040503050406030204" pitchFamily="18" charset="0"/>
                                    <a:ea typeface="Cambria Math" panose="02040503050406030204" pitchFamily="18" charset="0"/>
                                  </a:rPr>
                                  <m:t>4</m:t>
                                </m:r>
                              </m:sup>
                            </m:sSup>
                          </m:num>
                          <m:den>
                            <m:sSubSup>
                              <m:sSubSupPr>
                                <m:ctrlPr>
                                  <a:rPr lang="en-US" b="0" i="1" dirty="0" smtClean="0">
                                    <a:solidFill>
                                      <a:srgbClr val="FF0000"/>
                                    </a:solidFill>
                                    <a:latin typeface="Cambria Math" panose="02040503050406030204" pitchFamily="18" charset="0"/>
                                    <a:ea typeface="Cambria Math" panose="02040503050406030204" pitchFamily="18" charset="0"/>
                                  </a:rPr>
                                </m:ctrlPr>
                              </m:sSubSupPr>
                              <m:e>
                                <m:r>
                                  <a:rPr lang="en-US" b="0" i="1" dirty="0" smtClean="0">
                                    <a:solidFill>
                                      <a:srgbClr val="FF0000"/>
                                    </a:solidFill>
                                    <a:latin typeface="Cambria Math" panose="02040503050406030204" pitchFamily="18" charset="0"/>
                                    <a:ea typeface="Cambria Math" panose="02040503050406030204" pitchFamily="18" charset="0"/>
                                  </a:rPr>
                                  <m:t>𝜏</m:t>
                                </m:r>
                              </m:e>
                              <m:sub>
                                <m:r>
                                  <a:rPr lang="en-US" b="0" i="1" dirty="0" smtClean="0">
                                    <a:solidFill>
                                      <a:srgbClr val="FF0000"/>
                                    </a:solidFill>
                                    <a:latin typeface="Cambria Math" panose="02040503050406030204" pitchFamily="18" charset="0"/>
                                    <a:ea typeface="Cambria Math" panose="02040503050406030204" pitchFamily="18" charset="0"/>
                                  </a:rPr>
                                  <m:t>𝐷</m:t>
                                </m:r>
                              </m:sub>
                              <m:sup>
                                <m:r>
                                  <a:rPr lang="en-US" b="0" i="1" dirty="0" smtClean="0">
                                    <a:solidFill>
                                      <a:srgbClr val="FF0000"/>
                                    </a:solidFill>
                                    <a:latin typeface="Cambria Math" panose="02040503050406030204" pitchFamily="18" charset="0"/>
                                    <a:ea typeface="Cambria Math" panose="02040503050406030204" pitchFamily="18" charset="0"/>
                                  </a:rPr>
                                  <m:t>3</m:t>
                                </m:r>
                              </m:sup>
                            </m:sSubSup>
                          </m:den>
                        </m:f>
                      </m:e>
                    </m:nary>
                  </m:oMath>
                </a14:m>
                <a:endParaRPr lang="en-CN" dirty="0"/>
              </a:p>
            </p:txBody>
          </p:sp>
        </mc:Choice>
        <mc:Fallback xmlns="">
          <p:sp>
            <p:nvSpPr>
              <p:cNvPr id="4" name="TextBox 3">
                <a:extLst>
                  <a:ext uri="{FF2B5EF4-FFF2-40B4-BE49-F238E27FC236}">
                    <a16:creationId xmlns:a16="http://schemas.microsoft.com/office/drawing/2014/main" id="{7996EAC1-D792-B715-E15C-99B2CCDBDAA3}"/>
                  </a:ext>
                </a:extLst>
              </p:cNvPr>
              <p:cNvSpPr txBox="1">
                <a:spLocks noRot="1" noChangeAspect="1" noMove="1" noResize="1" noEditPoints="1" noAdjustHandles="1" noChangeArrowheads="1" noChangeShapeType="1" noTextEdit="1"/>
              </p:cNvSpPr>
              <p:nvPr/>
            </p:nvSpPr>
            <p:spPr>
              <a:xfrm>
                <a:off x="430599" y="2141972"/>
                <a:ext cx="10931237" cy="995914"/>
              </a:xfrm>
              <a:prstGeom prst="rect">
                <a:avLst/>
              </a:prstGeom>
              <a:blipFill>
                <a:blip r:embed="rId3"/>
                <a:stretch>
                  <a:fillRect l="-465" t="-45000" b="-6375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D69B884-3032-F4CE-7E9A-CD888D7A8197}"/>
                  </a:ext>
                </a:extLst>
              </p:cNvPr>
              <p:cNvSpPr txBox="1"/>
              <p:nvPr/>
            </p:nvSpPr>
            <p:spPr>
              <a:xfrm>
                <a:off x="2496312" y="3429000"/>
                <a:ext cx="7516368" cy="2636106"/>
              </a:xfrm>
              <a:prstGeom prst="rect">
                <a:avLst/>
              </a:prstGeom>
              <a:noFill/>
            </p:spPr>
            <p:txBody>
              <a:bodyPr wrap="square" rtlCol="0">
                <a:spAutoFit/>
              </a:bodyPr>
              <a:lstStyle/>
              <a:p>
                <a:pPr marL="285750" indent="-285750">
                  <a:buFont typeface="Wingdings" pitchFamily="2" charset="2"/>
                  <a:buChar char="ü"/>
                </a:pPr>
                <a:r>
                  <a:rPr lang="en-CN" dirty="0"/>
                  <a:t>At temprature </a:t>
                </a:r>
                <a14:m>
                  <m:oMath xmlns:m="http://schemas.openxmlformats.org/officeDocument/2006/math">
                    <m:r>
                      <a:rPr lang="en-CN" i="1" smtClean="0">
                        <a:latin typeface="Cambria Math" panose="02040503050406030204" pitchFamily="18" charset="0"/>
                        <a:ea typeface="Cambria Math" panose="02040503050406030204" pitchFamily="18" charset="0"/>
                      </a:rPr>
                      <m:t>𝜏</m:t>
                    </m:r>
                  </m:oMath>
                </a14:m>
                <a:r>
                  <a:rPr lang="en-CN" dirty="0"/>
                  <a:t>, only phonon modes with an energy betlow the thermal energy </a:t>
                </a:r>
                <a14:m>
                  <m:oMath xmlns:m="http://schemas.openxmlformats.org/officeDocument/2006/math">
                    <m:r>
                      <a:rPr lang="en-CN" i="1">
                        <a:latin typeface="Cambria Math" panose="02040503050406030204" pitchFamily="18" charset="0"/>
                        <a:ea typeface="Cambria Math" panose="02040503050406030204" pitchFamily="18" charset="0"/>
                      </a:rPr>
                      <m:t>𝜏</m:t>
                    </m:r>
                  </m:oMath>
                </a14:m>
                <a:r>
                  <a:rPr lang="en-CN" dirty="0"/>
                  <a:t> become thermally excited. These modes have </a:t>
                </a:r>
                <a14:m>
                  <m:oMath xmlns:m="http://schemas.openxmlformats.org/officeDocument/2006/math">
                    <m:r>
                      <a:rPr lang="en-CN" i="1" smtClean="0">
                        <a:latin typeface="Cambria Math" panose="02040503050406030204" pitchFamily="18" charset="0"/>
                        <a:ea typeface="Cambria Math" panose="02040503050406030204" pitchFamily="18" charset="0"/>
                      </a:rPr>
                      <m:t>ℏ</m:t>
                    </m:r>
                    <m:r>
                      <a:rPr lang="en-CN"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oMath>
                </a14:m>
                <a:r>
                  <a:rPr lang="en-CN" dirty="0"/>
                  <a:t>.</a:t>
                </a:r>
              </a:p>
              <a:p>
                <a:pPr marL="285750" indent="-285750">
                  <a:buFont typeface="Wingdings" pitchFamily="2" charset="2"/>
                  <a:buChar char="ü"/>
                </a:pPr>
                <a:r>
                  <a:rPr lang="en-CN" dirty="0"/>
                  <a:t>By substituting the dispersion relation intro the above inequality, we conclude that these modes have wave vectors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𝜏</m:t>
                        </m:r>
                      </m:num>
                      <m:den>
                        <m:r>
                          <a:rPr lang="en-US" b="0" i="1" smtClean="0">
                            <a:latin typeface="Cambria Math" panose="02040503050406030204" pitchFamily="18" charset="0"/>
                            <a:ea typeface="Cambria Math" panose="02040503050406030204" pitchFamily="18" charset="0"/>
                          </a:rPr>
                          <m:t>ℏ</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𝑐</m:t>
                            </m:r>
                          </m:e>
                          <m:sub>
                            <m:r>
                              <a:rPr lang="en-US" b="0" i="1" smtClean="0">
                                <a:latin typeface="Cambria Math" panose="02040503050406030204" pitchFamily="18" charset="0"/>
                                <a:ea typeface="Cambria Math" panose="02040503050406030204" pitchFamily="18" charset="0"/>
                              </a:rPr>
                              <m:t>𝑠</m:t>
                            </m:r>
                          </m:sub>
                        </m:sSub>
                      </m:den>
                    </m:f>
                  </m:oMath>
                </a14:m>
                <a:r>
                  <a:rPr lang="en-CN" dirty="0"/>
                  <a:t>, mutiplied by the density of modes in k-space, </a:t>
                </a:r>
                <a14:m>
                  <m:oMath xmlns:m="http://schemas.openxmlformats.org/officeDocument/2006/math">
                    <m:sSup>
                      <m:sSupPr>
                        <m:ctrlPr>
                          <a:rPr lang="en-CN" i="1" smtClean="0">
                            <a:latin typeface="Cambria Math" panose="02040503050406030204" pitchFamily="18" charset="0"/>
                          </a:rPr>
                        </m:ctrlPr>
                      </m:sSupPr>
                      <m:e>
                        <m:d>
                          <m:dPr>
                            <m:ctrlPr>
                              <a:rPr lang="en-CN" i="1" smtClean="0">
                                <a:latin typeface="Cambria Math" panose="02040503050406030204" pitchFamily="18" charset="0"/>
                              </a:rPr>
                            </m:ctrlPr>
                          </m:dPr>
                          <m:e>
                            <m:f>
                              <m:fPr>
                                <m:ctrlPr>
                                  <a:rPr lang="en-CN" i="1" smtClean="0">
                                    <a:latin typeface="Cambria Math" panose="02040503050406030204" pitchFamily="18" charset="0"/>
                                  </a:rPr>
                                </m:ctrlPr>
                              </m:fPr>
                              <m:num>
                                <m:r>
                                  <a:rPr lang="en-US" b="0" i="1" smtClean="0">
                                    <a:latin typeface="Cambria Math" panose="02040503050406030204" pitchFamily="18" charset="0"/>
                                  </a:rPr>
                                  <m:t>𝐿</m:t>
                                </m:r>
                              </m:num>
                              <m:den>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den>
                            </m:f>
                          </m:e>
                        </m:d>
                      </m:e>
                      <m:sup>
                        <m:r>
                          <a:rPr lang="en-US" b="0" i="1" smtClean="0">
                            <a:latin typeface="Cambria Math" panose="02040503050406030204" pitchFamily="18" charset="0"/>
                          </a:rPr>
                          <m:t>3</m:t>
                        </m:r>
                      </m:sup>
                    </m:sSup>
                    <m:r>
                      <a:rPr lang="en-US" b="0" i="0" smtClean="0">
                        <a:latin typeface="Cambria Math" panose="02040503050406030204" pitchFamily="18" charset="0"/>
                      </a:rPr>
                      <m:t>.</m:t>
                    </m:r>
                  </m:oMath>
                </a14:m>
                <a:r>
                  <a:rPr lang="en-CN" dirty="0"/>
                  <a:t> Thus the total numer of excited modes is </a:t>
                </a:r>
                <a14:m>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𝑚𝑜𝑑𝑒𝑠</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4</m:t>
                        </m:r>
                      </m:num>
                      <m:den>
                        <m:r>
                          <a:rPr lang="en-US" b="0" i="1" smtClean="0">
                            <a:latin typeface="Cambria Math" panose="02040503050406030204" pitchFamily="18" charset="0"/>
                          </a:rPr>
                          <m:t>3</m:t>
                        </m:r>
                      </m:den>
                    </m:f>
                    <m:r>
                      <a:rPr lang="en-US" b="0" i="1" smtClean="0">
                        <a:latin typeface="Cambria Math" panose="02040503050406030204" pitchFamily="18" charset="0"/>
                        <a:ea typeface="Cambria Math" panose="02040503050406030204" pitchFamily="18" charset="0"/>
                      </a:rPr>
                      <m:t>𝜋</m:t>
                    </m:r>
                    <m:sSup>
                      <m:sSupPr>
                        <m:ctrlPr>
                          <a:rPr lang="en-US" b="0"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3</m:t>
                        </m:r>
                      </m:sup>
                    </m:sSup>
                  </m:oMath>
                </a14:m>
                <a:r>
                  <a:rPr lang="en-CN" dirty="0"/>
                  <a:t> </a:t>
                </a:r>
                <a14:m>
                  <m:oMath xmlns:m="http://schemas.openxmlformats.org/officeDocument/2006/math">
                    <m:sSup>
                      <m:sSupPr>
                        <m:ctrlPr>
                          <a:rPr lang="en-CN" i="1">
                            <a:latin typeface="Cambria Math" panose="02040503050406030204" pitchFamily="18" charset="0"/>
                          </a:rPr>
                        </m:ctrlPr>
                      </m:sSupPr>
                      <m:e>
                        <m:d>
                          <m:dPr>
                            <m:ctrlPr>
                              <a:rPr lang="en-CN" i="1">
                                <a:latin typeface="Cambria Math" panose="02040503050406030204" pitchFamily="18" charset="0"/>
                              </a:rPr>
                            </m:ctrlPr>
                          </m:dPr>
                          <m:e>
                            <m:f>
                              <m:fPr>
                                <m:ctrlPr>
                                  <a:rPr lang="en-CN" i="1">
                                    <a:latin typeface="Cambria Math" panose="02040503050406030204" pitchFamily="18" charset="0"/>
                                  </a:rPr>
                                </m:ctrlPr>
                              </m:fPr>
                              <m:num>
                                <m:r>
                                  <a:rPr lang="en-US" i="1">
                                    <a:latin typeface="Cambria Math" panose="02040503050406030204" pitchFamily="18" charset="0"/>
                                  </a:rPr>
                                  <m:t>𝐿</m:t>
                                </m:r>
                              </m:num>
                              <m:den>
                                <m:r>
                                  <a:rPr lang="en-US" i="1">
                                    <a:latin typeface="Cambria Math" panose="02040503050406030204" pitchFamily="18" charset="0"/>
                                  </a:rPr>
                                  <m:t>2</m:t>
                                </m:r>
                                <m:r>
                                  <a:rPr lang="en-US" i="1">
                                    <a:latin typeface="Cambria Math" panose="02040503050406030204" pitchFamily="18" charset="0"/>
                                    <a:ea typeface="Cambria Math" panose="02040503050406030204" pitchFamily="18" charset="0"/>
                                  </a:rPr>
                                  <m:t>𝜋</m:t>
                                </m:r>
                              </m:den>
                            </m:f>
                          </m:e>
                        </m:d>
                      </m:e>
                      <m:sup>
                        <m:r>
                          <a:rPr lang="en-US" i="1">
                            <a:latin typeface="Cambria Math" panose="02040503050406030204" pitchFamily="18" charset="0"/>
                          </a:rPr>
                          <m:t>3</m:t>
                        </m:r>
                      </m:sup>
                    </m:sSup>
                    <m:r>
                      <a:rPr lang="en-US" i="1" smtClean="0">
                        <a:latin typeface="Cambria Math" panose="02040503050406030204" pitchFamily="18" charset="0"/>
                        <a:ea typeface="Cambria Math" panose="02040503050406030204" pitchFamily="18" charset="0"/>
                      </a:rPr>
                      <m:t>~</m:t>
                    </m:r>
                    <m:sSup>
                      <m:sSupPr>
                        <m:ctrlPr>
                          <a:rPr lang="en-US" i="1" smtClean="0">
                            <a:latin typeface="Cambria Math" panose="02040503050406030204" pitchFamily="18" charset="0"/>
                            <a:ea typeface="Cambria Math" panose="02040503050406030204" pitchFamily="18" charset="0"/>
                          </a:rPr>
                        </m:ctrlPr>
                      </m:sSupPr>
                      <m:e>
                        <m:d>
                          <m:dPr>
                            <m:ctrlPr>
                              <a:rPr lang="en-US" i="1" smtClean="0">
                                <a:latin typeface="Cambria Math" panose="02040503050406030204" pitchFamily="18" charset="0"/>
                                <a:ea typeface="Cambria Math" panose="02040503050406030204" pitchFamily="18" charset="0"/>
                              </a:rPr>
                            </m:ctrlPr>
                          </m:dPr>
                          <m:e>
                            <m:f>
                              <m:fPr>
                                <m:ctrlPr>
                                  <a:rPr lang="en-US" i="1" smtClean="0">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𝐿</m:t>
                                </m:r>
                              </m:num>
                              <m:den>
                                <m:r>
                                  <a:rPr lang="en-US" i="1">
                                    <a:latin typeface="Cambria Math" panose="02040503050406030204" pitchFamily="18" charset="0"/>
                                    <a:ea typeface="Cambria Math" panose="02040503050406030204" pitchFamily="18" charset="0"/>
                                  </a:rPr>
                                  <m:t>ℏ</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𝑐</m:t>
                                    </m:r>
                                  </m:e>
                                  <m:sub>
                                    <m:r>
                                      <a:rPr lang="en-US" i="1">
                                        <a:latin typeface="Cambria Math" panose="02040503050406030204" pitchFamily="18" charset="0"/>
                                        <a:ea typeface="Cambria Math" panose="02040503050406030204" pitchFamily="18" charset="0"/>
                                      </a:rPr>
                                      <m:t>𝑠</m:t>
                                    </m:r>
                                  </m:sub>
                                </m:sSub>
                              </m:den>
                            </m:f>
                          </m:e>
                        </m:d>
                      </m:e>
                      <m:sup>
                        <m:r>
                          <a:rPr lang="en-US" b="0" i="1" smtClean="0">
                            <a:latin typeface="Cambria Math" panose="02040503050406030204" pitchFamily="18" charset="0"/>
                            <a:ea typeface="Cambria Math" panose="02040503050406030204" pitchFamily="18" charset="0"/>
                          </a:rPr>
                          <m:t>3</m:t>
                        </m:r>
                      </m:sup>
                    </m:sSup>
                  </m:oMath>
                </a14:m>
                <a:r>
                  <a:rPr lang="en-CN" dirty="0"/>
                  <a:t>.</a:t>
                </a:r>
              </a:p>
              <a:p>
                <a:pPr marL="285750" indent="-285750">
                  <a:buFont typeface="Wingdings" pitchFamily="2" charset="2"/>
                  <a:buChar char="ü"/>
                </a:pPr>
                <a:r>
                  <a:rPr lang="en-CN" dirty="0"/>
                  <a:t>The total thermal energy </a:t>
                </a:r>
                <a14:m>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𝑚𝑜𝑑𝑒𝑠</m:t>
                        </m:r>
                      </m:sub>
                    </m:sSub>
                    <m:r>
                      <a:rPr lang="en-CN" i="1" smtClean="0">
                        <a:latin typeface="Cambria Math" panose="02040503050406030204" pitchFamily="18" charset="0"/>
                        <a:ea typeface="Cambria Math" panose="02040503050406030204" pitchFamily="18" charset="0"/>
                      </a:rPr>
                      <m:t>𝜏</m:t>
                    </m:r>
                    <m:r>
                      <a:rPr lang="en-CN" i="1" smtClean="0">
                        <a:latin typeface="Cambria Math" panose="02040503050406030204" pitchFamily="18" charset="0"/>
                        <a:ea typeface="Cambria Math" panose="02040503050406030204" pitchFamily="18" charset="0"/>
                      </a:rPr>
                      <m:t>∝</m:t>
                    </m:r>
                    <m:sSup>
                      <m:sSupPr>
                        <m:ctrlPr>
                          <a:rPr lang="en-CN" i="1" smtClean="0">
                            <a:latin typeface="Cambria Math" panose="02040503050406030204" pitchFamily="18" charset="0"/>
                            <a:ea typeface="Cambria Math" panose="02040503050406030204" pitchFamily="18" charset="0"/>
                          </a:rPr>
                        </m:ctrlPr>
                      </m:sSupPr>
                      <m:e>
                        <m:r>
                          <a:rPr lang="en-CN" i="1" smtClean="0">
                            <a:latin typeface="Cambria Math" panose="02040503050406030204" pitchFamily="18" charset="0"/>
                            <a:ea typeface="Cambria Math" panose="02040503050406030204" pitchFamily="18" charset="0"/>
                          </a:rPr>
                          <m:t>𝜏</m:t>
                        </m:r>
                      </m:e>
                      <m:sup>
                        <m:r>
                          <a:rPr lang="en-US" b="0" i="1" smtClean="0">
                            <a:latin typeface="Cambria Math" panose="02040503050406030204" pitchFamily="18" charset="0"/>
                            <a:ea typeface="Cambria Math" panose="02040503050406030204" pitchFamily="18" charset="0"/>
                          </a:rPr>
                          <m:t>4</m:t>
                        </m:r>
                      </m:sup>
                    </m:sSup>
                  </m:oMath>
                </a14:m>
                <a:r>
                  <a:rPr lang="en-CN" dirty="0"/>
                  <a:t>.</a:t>
                </a:r>
              </a:p>
            </p:txBody>
          </p:sp>
        </mc:Choice>
        <mc:Fallback xmlns="">
          <p:sp>
            <p:nvSpPr>
              <p:cNvPr id="7" name="TextBox 6">
                <a:extLst>
                  <a:ext uri="{FF2B5EF4-FFF2-40B4-BE49-F238E27FC236}">
                    <a16:creationId xmlns:a16="http://schemas.microsoft.com/office/drawing/2014/main" id="{AD69B884-3032-F4CE-7E9A-CD888D7A8197}"/>
                  </a:ext>
                </a:extLst>
              </p:cNvPr>
              <p:cNvSpPr txBox="1">
                <a:spLocks noRot="1" noChangeAspect="1" noMove="1" noResize="1" noEditPoints="1" noAdjustHandles="1" noChangeArrowheads="1" noChangeShapeType="1" noTextEdit="1"/>
              </p:cNvSpPr>
              <p:nvPr/>
            </p:nvSpPr>
            <p:spPr>
              <a:xfrm>
                <a:off x="2496312" y="3429000"/>
                <a:ext cx="7516368" cy="2636106"/>
              </a:xfrm>
              <a:prstGeom prst="rect">
                <a:avLst/>
              </a:prstGeom>
              <a:blipFill>
                <a:blip r:embed="rId4"/>
                <a:stretch>
                  <a:fillRect l="-506" t="-1442" r="-169" b="-962"/>
                </a:stretch>
              </a:blipFill>
            </p:spPr>
            <p:txBody>
              <a:bodyPr/>
              <a:lstStyle/>
              <a:p>
                <a:r>
                  <a:rPr lang="en-CN">
                    <a:noFill/>
                  </a:rPr>
                  <a:t> </a:t>
                </a:r>
              </a:p>
            </p:txBody>
          </p:sp>
        </mc:Fallback>
      </mc:AlternateContent>
    </p:spTree>
    <p:extLst>
      <p:ext uri="{BB962C8B-B14F-4D97-AF65-F5344CB8AC3E}">
        <p14:creationId xmlns:p14="http://schemas.microsoft.com/office/powerpoint/2010/main" val="42510368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CC8950EA-5295-32E2-0E53-814535A592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975" y="1067047"/>
            <a:ext cx="5202382" cy="445670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BA7C7A6-9F91-C7CF-0793-1EC16C6E692E}"/>
              </a:ext>
            </a:extLst>
          </p:cNvPr>
          <p:cNvSpPr txBox="1"/>
          <p:nvPr/>
        </p:nvSpPr>
        <p:spPr>
          <a:xfrm>
            <a:off x="318655" y="277091"/>
            <a:ext cx="5032663" cy="369332"/>
          </a:xfrm>
          <a:prstGeom prst="rect">
            <a:avLst/>
          </a:prstGeom>
          <a:noFill/>
        </p:spPr>
        <p:txBody>
          <a:bodyPr wrap="square" rtlCol="0">
            <a:spAutoFit/>
          </a:bodyPr>
          <a:lstStyle/>
          <a:p>
            <a:r>
              <a:rPr lang="en-CN" dirty="0"/>
              <a:t>Debye versus Einstein</a:t>
            </a:r>
          </a:p>
        </p:txBody>
      </p:sp>
      <p:pic>
        <p:nvPicPr>
          <p:cNvPr id="3" name="Picture 2">
            <a:extLst>
              <a:ext uri="{FF2B5EF4-FFF2-40B4-BE49-F238E27FC236}">
                <a16:creationId xmlns:a16="http://schemas.microsoft.com/office/drawing/2014/main" id="{8DE4AA8C-5199-E9B6-2E21-B5E81898BB90}"/>
              </a:ext>
            </a:extLst>
          </p:cNvPr>
          <p:cNvPicPr>
            <a:picLocks noChangeAspect="1"/>
          </p:cNvPicPr>
          <p:nvPr/>
        </p:nvPicPr>
        <p:blipFill>
          <a:blip r:embed="rId3"/>
          <a:stretch>
            <a:fillRect/>
          </a:stretch>
        </p:blipFill>
        <p:spPr>
          <a:xfrm>
            <a:off x="6096000" y="1067047"/>
            <a:ext cx="5837595" cy="4475767"/>
          </a:xfrm>
          <a:prstGeom prst="rect">
            <a:avLst/>
          </a:prstGeom>
        </p:spPr>
      </p:pic>
      <p:sp>
        <p:nvSpPr>
          <p:cNvPr id="4" name="TextBox 3">
            <a:extLst>
              <a:ext uri="{FF2B5EF4-FFF2-40B4-BE49-F238E27FC236}">
                <a16:creationId xmlns:a16="http://schemas.microsoft.com/office/drawing/2014/main" id="{DD6D0AAB-4E61-FB4E-8218-76EC03162D60}"/>
              </a:ext>
            </a:extLst>
          </p:cNvPr>
          <p:cNvSpPr txBox="1"/>
          <p:nvPr/>
        </p:nvSpPr>
        <p:spPr>
          <a:xfrm>
            <a:off x="725445" y="6016500"/>
            <a:ext cx="1120820" cy="369332"/>
          </a:xfrm>
          <a:prstGeom prst="rect">
            <a:avLst/>
          </a:prstGeom>
          <a:noFill/>
        </p:spPr>
        <p:txBody>
          <a:bodyPr wrap="none" rtlCol="0">
            <a:spAutoFit/>
          </a:bodyPr>
          <a:lstStyle/>
          <a:p>
            <a:r>
              <a:rPr lang="en-CN" dirty="0"/>
              <a:t>2023041</a:t>
            </a:r>
            <a:r>
              <a:rPr lang="en-US" altLang="zh-CN" dirty="0"/>
              <a:t>9</a:t>
            </a:r>
            <a:endParaRPr lang="en-CN" dirty="0"/>
          </a:p>
        </p:txBody>
      </p:sp>
    </p:spTree>
    <p:extLst>
      <p:ext uri="{BB962C8B-B14F-4D97-AF65-F5344CB8AC3E}">
        <p14:creationId xmlns:p14="http://schemas.microsoft.com/office/powerpoint/2010/main" val="3136284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AB130D3F-3141-16AA-1323-A29CA7BD74BD}"/>
              </a:ext>
            </a:extLst>
          </p:cNvPr>
          <p:cNvSpPr txBox="1">
            <a:spLocks/>
          </p:cNvSpPr>
          <p:nvPr/>
        </p:nvSpPr>
        <p:spPr>
          <a:xfrm>
            <a:off x="353025" y="1007013"/>
            <a:ext cx="7821157" cy="220724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CN" sz="4000" dirty="0">
                <a:solidFill>
                  <a:schemeClr val="tx1">
                    <a:lumMod val="50000"/>
                    <a:lumOff val="50000"/>
                  </a:schemeClr>
                </a:solidFill>
                <a:latin typeface="FangSong" panose="02010609060101010101" pitchFamily="49" charset="-122"/>
                <a:ea typeface="FangSong" panose="02010609060101010101" pitchFamily="49" charset="-122"/>
              </a:rPr>
              <a:t>黑体辐射</a:t>
            </a:r>
          </a:p>
          <a:p>
            <a:pPr marL="342900" indent="-342900"/>
            <a:r>
              <a:rPr lang="en-CN" sz="4000" dirty="0">
                <a:solidFill>
                  <a:schemeClr val="tx1">
                    <a:lumMod val="50000"/>
                    <a:lumOff val="50000"/>
                  </a:schemeClr>
                </a:solidFill>
                <a:latin typeface="FangSong" panose="02010609060101010101" pitchFamily="49" charset="-122"/>
                <a:ea typeface="FangSong" panose="02010609060101010101" pitchFamily="49" charset="-122"/>
              </a:rPr>
              <a:t>Debye固体</a:t>
            </a:r>
          </a:p>
          <a:p>
            <a:pPr marL="342900" indent="-342900"/>
            <a:r>
              <a:rPr lang="en-CN" sz="4000" dirty="0">
                <a:latin typeface="FangSong" panose="02010609060101010101" pitchFamily="49" charset="-122"/>
                <a:ea typeface="FangSong" panose="02010609060101010101" pitchFamily="49" charset="-122"/>
              </a:rPr>
              <a:t>BEC</a:t>
            </a:r>
          </a:p>
        </p:txBody>
      </p:sp>
      <p:sp>
        <p:nvSpPr>
          <p:cNvPr id="2" name="TextBox 1">
            <a:extLst>
              <a:ext uri="{FF2B5EF4-FFF2-40B4-BE49-F238E27FC236}">
                <a16:creationId xmlns:a16="http://schemas.microsoft.com/office/drawing/2014/main" id="{2F93A5DC-EAD0-CF61-5768-E73E1E4A257C}"/>
              </a:ext>
            </a:extLst>
          </p:cNvPr>
          <p:cNvSpPr txBox="1"/>
          <p:nvPr/>
        </p:nvSpPr>
        <p:spPr>
          <a:xfrm>
            <a:off x="2978727" y="4156364"/>
            <a:ext cx="6733309" cy="369332"/>
          </a:xfrm>
          <a:prstGeom prst="rect">
            <a:avLst/>
          </a:prstGeom>
          <a:noFill/>
        </p:spPr>
        <p:txBody>
          <a:bodyPr wrap="square" rtlCol="0">
            <a:spAutoFit/>
          </a:bodyPr>
          <a:lstStyle/>
          <a:p>
            <a:pPr algn="ctr"/>
            <a:r>
              <a:rPr lang="en-US" dirty="0">
                <a:solidFill>
                  <a:srgbClr val="FF0000"/>
                </a:solidFill>
              </a:rPr>
              <a:t>C</a:t>
            </a:r>
            <a:r>
              <a:rPr lang="en-CN" dirty="0">
                <a:solidFill>
                  <a:srgbClr val="FF0000"/>
                </a:solidFill>
              </a:rPr>
              <a:t>ondensate</a:t>
            </a:r>
            <a:r>
              <a:rPr lang="en-US" altLang="zh-CN" dirty="0">
                <a:solidFill>
                  <a:srgbClr val="FF0000"/>
                </a:solidFill>
              </a:rPr>
              <a:t>=</a:t>
            </a:r>
            <a:r>
              <a:rPr lang="zh-CN" altLang="en-US" dirty="0">
                <a:solidFill>
                  <a:srgbClr val="FF0000"/>
                </a:solidFill>
              </a:rPr>
              <a:t>凝聚</a:t>
            </a:r>
            <a:endParaRPr lang="en-CN" dirty="0">
              <a:solidFill>
                <a:srgbClr val="FF0000"/>
              </a:solidFill>
            </a:endParaRPr>
          </a:p>
        </p:txBody>
      </p:sp>
    </p:spTree>
    <p:extLst>
      <p:ext uri="{BB962C8B-B14F-4D97-AF65-F5344CB8AC3E}">
        <p14:creationId xmlns:p14="http://schemas.microsoft.com/office/powerpoint/2010/main" val="31266787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93A5DC-EAD0-CF61-5768-E73E1E4A257C}"/>
              </a:ext>
            </a:extLst>
          </p:cNvPr>
          <p:cNvSpPr txBox="1"/>
          <p:nvPr/>
        </p:nvSpPr>
        <p:spPr>
          <a:xfrm>
            <a:off x="2978727" y="4156364"/>
            <a:ext cx="6733309" cy="369332"/>
          </a:xfrm>
          <a:prstGeom prst="rect">
            <a:avLst/>
          </a:prstGeom>
          <a:noFill/>
        </p:spPr>
        <p:txBody>
          <a:bodyPr wrap="square" rtlCol="0">
            <a:spAutoFit/>
          </a:bodyPr>
          <a:lstStyle/>
          <a:p>
            <a:pPr algn="ctr"/>
            <a:r>
              <a:rPr lang="en-US" dirty="0"/>
              <a:t>C</a:t>
            </a:r>
            <a:r>
              <a:rPr lang="en-CN" dirty="0"/>
              <a:t>ondensate</a:t>
            </a:r>
            <a:r>
              <a:rPr lang="en-US" altLang="zh-CN" dirty="0"/>
              <a:t>=</a:t>
            </a:r>
            <a:r>
              <a:rPr lang="zh-CN" altLang="en-US" dirty="0"/>
              <a:t>凝聚</a:t>
            </a:r>
            <a:endParaRPr lang="en-CN" dirty="0"/>
          </a:p>
        </p:txBody>
      </p:sp>
      <p:pic>
        <p:nvPicPr>
          <p:cNvPr id="5" name="Picture 4">
            <a:extLst>
              <a:ext uri="{FF2B5EF4-FFF2-40B4-BE49-F238E27FC236}">
                <a16:creationId xmlns:a16="http://schemas.microsoft.com/office/drawing/2014/main" id="{0286F6C3-305B-E66F-A0AE-B5827D6FBF82}"/>
              </a:ext>
            </a:extLst>
          </p:cNvPr>
          <p:cNvPicPr>
            <a:picLocks noChangeAspect="1"/>
          </p:cNvPicPr>
          <p:nvPr/>
        </p:nvPicPr>
        <p:blipFill>
          <a:blip r:embed="rId2"/>
          <a:stretch>
            <a:fillRect/>
          </a:stretch>
        </p:blipFill>
        <p:spPr>
          <a:xfrm>
            <a:off x="3090535" y="415636"/>
            <a:ext cx="9101465" cy="6289964"/>
          </a:xfrm>
          <a:prstGeom prst="rect">
            <a:avLst/>
          </a:prstGeom>
        </p:spPr>
      </p:pic>
      <p:pic>
        <p:nvPicPr>
          <p:cNvPr id="6" name="Picture 5">
            <a:extLst>
              <a:ext uri="{FF2B5EF4-FFF2-40B4-BE49-F238E27FC236}">
                <a16:creationId xmlns:a16="http://schemas.microsoft.com/office/drawing/2014/main" id="{01D08A2B-502F-89C9-C30D-339CBD78CCEB}"/>
              </a:ext>
            </a:extLst>
          </p:cNvPr>
          <p:cNvPicPr>
            <a:picLocks noChangeAspect="1"/>
          </p:cNvPicPr>
          <p:nvPr/>
        </p:nvPicPr>
        <p:blipFill>
          <a:blip r:embed="rId3"/>
          <a:stretch>
            <a:fillRect/>
          </a:stretch>
        </p:blipFill>
        <p:spPr>
          <a:xfrm>
            <a:off x="882650" y="5435600"/>
            <a:ext cx="10426700" cy="1422400"/>
          </a:xfrm>
          <a:prstGeom prst="rect">
            <a:avLst/>
          </a:prstGeom>
        </p:spPr>
      </p:pic>
      <p:sp>
        <p:nvSpPr>
          <p:cNvPr id="7" name="TextBox 6">
            <a:extLst>
              <a:ext uri="{FF2B5EF4-FFF2-40B4-BE49-F238E27FC236}">
                <a16:creationId xmlns:a16="http://schemas.microsoft.com/office/drawing/2014/main" id="{50B20D09-ED5A-A9C3-6A79-C92EBAE1993F}"/>
              </a:ext>
            </a:extLst>
          </p:cNvPr>
          <p:cNvSpPr txBox="1"/>
          <p:nvPr/>
        </p:nvSpPr>
        <p:spPr>
          <a:xfrm>
            <a:off x="319626" y="747554"/>
            <a:ext cx="2770909" cy="4801314"/>
          </a:xfrm>
          <a:prstGeom prst="rect">
            <a:avLst/>
          </a:prstGeom>
          <a:noFill/>
        </p:spPr>
        <p:txBody>
          <a:bodyPr wrap="square" rtlCol="0">
            <a:spAutoFit/>
          </a:bodyPr>
          <a:lstStyle/>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我第一次接触所谓的</a:t>
            </a:r>
            <a:r>
              <a:rPr lang="zh-CN" altLang="en-US" dirty="0">
                <a:latin typeface="FangSong" panose="02010609060101010101" pitchFamily="49" charset="-122"/>
                <a:ea typeface="FangSong" panose="02010609060101010101" pitchFamily="49" charset="-122"/>
              </a:rPr>
              <a:t>“</a:t>
            </a:r>
            <a:r>
              <a:rPr lang="en-CN" dirty="0">
                <a:latin typeface="FangSong" panose="02010609060101010101" pitchFamily="49" charset="-122"/>
                <a:ea typeface="FangSong" panose="02010609060101010101" pitchFamily="49" charset="-122"/>
              </a:rPr>
              <a:t>凝聚</a:t>
            </a:r>
            <a:r>
              <a:rPr lang="zh-CN" altLang="en-US" dirty="0">
                <a:latin typeface="FangSong" panose="02010609060101010101" pitchFamily="49" charset="-122"/>
                <a:ea typeface="FangSong" panose="02010609060101010101" pitchFamily="49" charset="-122"/>
              </a:rPr>
              <a:t>”</a:t>
            </a:r>
            <a:endParaRPr lang="en-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两个费米子可以结合成玻色子</a:t>
            </a:r>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形成凝聚</a:t>
            </a:r>
            <a:r>
              <a:rPr lang="zh-CN" altLang="en-US" dirty="0">
                <a:latin typeface="FangSong" panose="02010609060101010101" pitchFamily="49" charset="-122"/>
                <a:ea typeface="FangSong" panose="02010609060101010101" pitchFamily="49" charset="-122"/>
              </a:rPr>
              <a:t>，作为一个序参量，该凝聚表征</a:t>
            </a:r>
            <a:r>
              <a:rPr lang="zh-CN" altLang="en-CN" dirty="0">
                <a:latin typeface="FangSong" panose="02010609060101010101" pitchFamily="49" charset="-122"/>
                <a:ea typeface="FangSong" panose="02010609060101010101" pitchFamily="49" charset="-122"/>
              </a:rPr>
              <a:t>手征</a:t>
            </a:r>
            <a:r>
              <a:rPr lang="zh-CN" altLang="en-US" dirty="0">
                <a:latin typeface="FangSong" panose="02010609060101010101" pitchFamily="49" charset="-122"/>
                <a:ea typeface="FangSong" panose="02010609060101010101" pitchFamily="49" charset="-122"/>
              </a:rPr>
              <a:t>对称性破缺</a:t>
            </a:r>
            <a:endParaRPr lang="en-US" altLang="zh-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zh-CN" altLang="en-US" dirty="0">
                <a:latin typeface="FangSong" panose="02010609060101010101" pitchFamily="49" charset="-122"/>
                <a:ea typeface="FangSong" panose="02010609060101010101" pitchFamily="49" charset="-122"/>
              </a:rPr>
              <a:t>在手征极限下可以严格定义，如何“定义”超越手征极限下的凝聚，一直是一个问题</a:t>
            </a:r>
            <a:endParaRPr lang="en-US" altLang="zh-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zh-CN" altLang="en-US" dirty="0">
                <a:latin typeface="FangSong" panose="02010609060101010101" pitchFamily="49" charset="-122"/>
                <a:ea typeface="FangSong" panose="02010609060101010101" pitchFamily="49" charset="-122"/>
              </a:rPr>
              <a:t>希望你们能够从今天开始能记住凝聚这个概念</a:t>
            </a:r>
            <a:endParaRPr lang="en-US" altLang="zh-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zh-CN" altLang="en-US" dirty="0">
                <a:latin typeface="FangSong" panose="02010609060101010101" pitchFamily="49" charset="-122"/>
                <a:ea typeface="FangSong" panose="02010609060101010101" pitchFamily="49" charset="-122"/>
              </a:rPr>
              <a:t>课程后面讲相变的时候，我们会重温凝聚这个概念</a:t>
            </a:r>
            <a:endParaRPr lang="en-US" dirty="0">
              <a:latin typeface="FangSong" panose="02010609060101010101" pitchFamily="49" charset="-122"/>
              <a:ea typeface="FangSong" panose="02010609060101010101" pitchFamily="49" charset="-122"/>
            </a:endParaRPr>
          </a:p>
          <a:p>
            <a:endParaRPr lang="en-CN" dirty="0"/>
          </a:p>
        </p:txBody>
      </p:sp>
    </p:spTree>
    <p:extLst>
      <p:ext uri="{BB962C8B-B14F-4D97-AF65-F5344CB8AC3E}">
        <p14:creationId xmlns:p14="http://schemas.microsoft.com/office/powerpoint/2010/main" val="24554233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AB130D3F-3141-16AA-1323-A29CA7BD74BD}"/>
              </a:ext>
            </a:extLst>
          </p:cNvPr>
          <p:cNvSpPr txBox="1">
            <a:spLocks/>
          </p:cNvSpPr>
          <p:nvPr/>
        </p:nvSpPr>
        <p:spPr>
          <a:xfrm>
            <a:off x="353025" y="1007013"/>
            <a:ext cx="7821157" cy="220724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CN" sz="4000" dirty="0">
                <a:solidFill>
                  <a:schemeClr val="tx1">
                    <a:lumMod val="50000"/>
                    <a:lumOff val="50000"/>
                  </a:schemeClr>
                </a:solidFill>
                <a:latin typeface="FangSong" panose="02010609060101010101" pitchFamily="49" charset="-122"/>
                <a:ea typeface="FangSong" panose="02010609060101010101" pitchFamily="49" charset="-122"/>
              </a:rPr>
              <a:t>黑体辐射</a:t>
            </a:r>
          </a:p>
          <a:p>
            <a:pPr marL="342900" indent="-342900"/>
            <a:r>
              <a:rPr lang="en-CN" sz="4000" dirty="0">
                <a:solidFill>
                  <a:schemeClr val="tx1">
                    <a:lumMod val="50000"/>
                    <a:lumOff val="50000"/>
                  </a:schemeClr>
                </a:solidFill>
                <a:latin typeface="FangSong" panose="02010609060101010101" pitchFamily="49" charset="-122"/>
                <a:ea typeface="FangSong" panose="02010609060101010101" pitchFamily="49" charset="-122"/>
              </a:rPr>
              <a:t>Debye固体</a:t>
            </a:r>
          </a:p>
          <a:p>
            <a:pPr marL="342900" indent="-342900"/>
            <a:r>
              <a:rPr lang="en-CN" sz="4000" dirty="0">
                <a:latin typeface="FangSong" panose="02010609060101010101" pitchFamily="49" charset="-122"/>
                <a:ea typeface="FangSong" panose="02010609060101010101" pitchFamily="49" charset="-122"/>
              </a:rPr>
              <a:t>BEC</a:t>
            </a:r>
          </a:p>
        </p:txBody>
      </p:sp>
      <p:pic>
        <p:nvPicPr>
          <p:cNvPr id="3" name="Picture 2">
            <a:extLst>
              <a:ext uri="{FF2B5EF4-FFF2-40B4-BE49-F238E27FC236}">
                <a16:creationId xmlns:a16="http://schemas.microsoft.com/office/drawing/2014/main" id="{B1504589-A246-7B25-2133-39CC74ED7B67}"/>
              </a:ext>
            </a:extLst>
          </p:cNvPr>
          <p:cNvPicPr>
            <a:picLocks noChangeAspect="1"/>
          </p:cNvPicPr>
          <p:nvPr/>
        </p:nvPicPr>
        <p:blipFill>
          <a:blip r:embed="rId2"/>
          <a:stretch>
            <a:fillRect/>
          </a:stretch>
        </p:blipFill>
        <p:spPr>
          <a:xfrm>
            <a:off x="3408220" y="111415"/>
            <a:ext cx="8631382" cy="6624537"/>
          </a:xfrm>
          <a:prstGeom prst="rect">
            <a:avLst/>
          </a:prstGeom>
        </p:spPr>
      </p:pic>
      <p:sp>
        <p:nvSpPr>
          <p:cNvPr id="6" name="TextBox 5">
            <a:extLst>
              <a:ext uri="{FF2B5EF4-FFF2-40B4-BE49-F238E27FC236}">
                <a16:creationId xmlns:a16="http://schemas.microsoft.com/office/drawing/2014/main" id="{364C5FCE-DE50-7E10-2DE6-01EB90955EEC}"/>
              </a:ext>
            </a:extLst>
          </p:cNvPr>
          <p:cNvSpPr txBox="1"/>
          <p:nvPr/>
        </p:nvSpPr>
        <p:spPr>
          <a:xfrm>
            <a:off x="6871857" y="6269639"/>
            <a:ext cx="2757054" cy="369332"/>
          </a:xfrm>
          <a:prstGeom prst="rect">
            <a:avLst/>
          </a:prstGeom>
          <a:noFill/>
        </p:spPr>
        <p:txBody>
          <a:bodyPr wrap="square">
            <a:spAutoFit/>
          </a:bodyPr>
          <a:lstStyle/>
          <a:p>
            <a:r>
              <a:rPr lang="zh-CN" altLang="en-US" b="0" i="0" u="none" strike="noStrike" dirty="0">
                <a:solidFill>
                  <a:srgbClr val="636363"/>
                </a:solidFill>
                <a:effectLst/>
                <a:latin typeface="-apple-system"/>
              </a:rPr>
              <a:t>广东工业大学的庞玮老师</a:t>
            </a:r>
            <a:endParaRPr lang="en-CN" dirty="0"/>
          </a:p>
        </p:txBody>
      </p:sp>
    </p:spTree>
    <p:extLst>
      <p:ext uri="{BB962C8B-B14F-4D97-AF65-F5344CB8AC3E}">
        <p14:creationId xmlns:p14="http://schemas.microsoft.com/office/powerpoint/2010/main" val="20974996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249099-47CF-E2EB-E2B4-CF5F19EEBE0F}"/>
              </a:ext>
            </a:extLst>
          </p:cNvPr>
          <p:cNvSpPr txBox="1"/>
          <p:nvPr/>
        </p:nvSpPr>
        <p:spPr>
          <a:xfrm>
            <a:off x="2770909" y="115393"/>
            <a:ext cx="5694218" cy="369332"/>
          </a:xfrm>
          <a:prstGeom prst="rect">
            <a:avLst/>
          </a:prstGeom>
          <a:noFill/>
        </p:spPr>
        <p:txBody>
          <a:bodyPr wrap="square" rtlCol="0">
            <a:spAutoFit/>
          </a:bodyPr>
          <a:lstStyle/>
          <a:p>
            <a:pPr algn="ctr"/>
            <a:r>
              <a:rPr lang="en-CN" dirty="0"/>
              <a:t>Ordinary Bosons</a:t>
            </a:r>
          </a:p>
        </p:txBody>
      </p:sp>
      <p:sp>
        <p:nvSpPr>
          <p:cNvPr id="6" name="TextBox 5">
            <a:extLst>
              <a:ext uri="{FF2B5EF4-FFF2-40B4-BE49-F238E27FC236}">
                <a16:creationId xmlns:a16="http://schemas.microsoft.com/office/drawing/2014/main" id="{F12E4D69-AB93-6A0A-FF0B-350667F63270}"/>
              </a:ext>
            </a:extLst>
          </p:cNvPr>
          <p:cNvSpPr txBox="1"/>
          <p:nvPr/>
        </p:nvSpPr>
        <p:spPr>
          <a:xfrm>
            <a:off x="540326" y="655858"/>
            <a:ext cx="10487891" cy="2031325"/>
          </a:xfrm>
          <a:prstGeom prst="rect">
            <a:avLst/>
          </a:prstGeom>
          <a:noFill/>
        </p:spPr>
        <p:txBody>
          <a:bodyPr wrap="square" rtlCol="0">
            <a:spAutoFit/>
          </a:bodyPr>
          <a:lstStyle/>
          <a:p>
            <a:r>
              <a:rPr lang="en-CN" dirty="0">
                <a:solidFill>
                  <a:srgbClr val="FF0000"/>
                </a:solidFill>
              </a:rPr>
              <a:t>BEC</a:t>
            </a:r>
            <a:r>
              <a:rPr lang="en-CN" dirty="0"/>
              <a:t> is a quantum phenomenon in Bose gases in which a large number of bosons simultaneously occupy the ground state of a system.</a:t>
            </a:r>
          </a:p>
          <a:p>
            <a:endParaRPr lang="en-CN" dirty="0"/>
          </a:p>
          <a:p>
            <a:r>
              <a:rPr lang="en-CN" dirty="0"/>
              <a:t>BEC state was first predicted, generally, in 1924-1925 by A. </a:t>
            </a:r>
            <a:r>
              <a:rPr lang="en-CN" dirty="0">
                <a:solidFill>
                  <a:srgbClr val="FF0000"/>
                </a:solidFill>
              </a:rPr>
              <a:t>Einstein</a:t>
            </a:r>
            <a:r>
              <a:rPr lang="en-CN" dirty="0"/>
              <a:t> following and crediting a pioneering papery by Bose on the new filed now known as quantum statistics.</a:t>
            </a:r>
          </a:p>
          <a:p>
            <a:endParaRPr lang="en-CN" dirty="0"/>
          </a:p>
          <a:p>
            <a:r>
              <a:rPr lang="en-CN" dirty="0"/>
              <a:t>On 5 June 1995, the first gaseous condensate was produced.</a:t>
            </a:r>
          </a:p>
        </p:txBody>
      </p:sp>
      <p:pic>
        <p:nvPicPr>
          <p:cNvPr id="8" name="Picture 7">
            <a:extLst>
              <a:ext uri="{FF2B5EF4-FFF2-40B4-BE49-F238E27FC236}">
                <a16:creationId xmlns:a16="http://schemas.microsoft.com/office/drawing/2014/main" id="{21E5C342-8CD7-2051-2A5D-4BDF60B78CF7}"/>
              </a:ext>
            </a:extLst>
          </p:cNvPr>
          <p:cNvPicPr>
            <a:picLocks noChangeAspect="1"/>
          </p:cNvPicPr>
          <p:nvPr/>
        </p:nvPicPr>
        <p:blipFill>
          <a:blip r:embed="rId2"/>
          <a:stretch>
            <a:fillRect/>
          </a:stretch>
        </p:blipFill>
        <p:spPr>
          <a:xfrm>
            <a:off x="7315199" y="2096253"/>
            <a:ext cx="3861054" cy="4761747"/>
          </a:xfrm>
          <a:prstGeom prst="rect">
            <a:avLst/>
          </a:prstGeom>
        </p:spPr>
      </p:pic>
      <p:pic>
        <p:nvPicPr>
          <p:cNvPr id="1026" name="Picture 2">
            <a:extLst>
              <a:ext uri="{FF2B5EF4-FFF2-40B4-BE49-F238E27FC236}">
                <a16:creationId xmlns:a16="http://schemas.microsoft.com/office/drawing/2014/main" id="{C08ACFBD-07C7-B4D1-438C-C766B26F9F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627" y="3269672"/>
            <a:ext cx="4836391" cy="3170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84679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74CDEA-3911-E5F5-C275-E8CC8997D2D6}"/>
              </a:ext>
            </a:extLst>
          </p:cNvPr>
          <p:cNvSpPr txBox="1"/>
          <p:nvPr/>
        </p:nvSpPr>
        <p:spPr>
          <a:xfrm>
            <a:off x="2521528" y="2189018"/>
            <a:ext cx="6082145" cy="707886"/>
          </a:xfrm>
          <a:prstGeom prst="rect">
            <a:avLst/>
          </a:prstGeom>
          <a:noFill/>
        </p:spPr>
        <p:txBody>
          <a:bodyPr wrap="square" rtlCol="0">
            <a:spAutoFit/>
          </a:bodyPr>
          <a:lstStyle/>
          <a:p>
            <a:pPr algn="ctr"/>
            <a:r>
              <a:rPr lang="en-CN" sz="4000" dirty="0">
                <a:latin typeface="FangSong" panose="02010609060101010101" pitchFamily="49" charset="-122"/>
                <a:ea typeface="FangSong" panose="02010609060101010101" pitchFamily="49" charset="-122"/>
              </a:rPr>
              <a:t>简单</a:t>
            </a:r>
            <a:r>
              <a:rPr lang="zh-CN" altLang="en-US" sz="4000" dirty="0">
                <a:latin typeface="FangSong" panose="02010609060101010101" pitchFamily="49" charset="-122"/>
                <a:ea typeface="FangSong" panose="02010609060101010101" pitchFamily="49" charset="-122"/>
              </a:rPr>
              <a:t>？</a:t>
            </a:r>
            <a:endParaRPr lang="en-US" altLang="zh-CN" sz="4000" dirty="0">
              <a:latin typeface="FangSong" panose="02010609060101010101" pitchFamily="49" charset="-122"/>
              <a:ea typeface="FangSong" panose="02010609060101010101" pitchFamily="49" charset="-122"/>
            </a:endParaRPr>
          </a:p>
        </p:txBody>
      </p:sp>
    </p:spTree>
    <p:extLst>
      <p:ext uri="{BB962C8B-B14F-4D97-AF65-F5344CB8AC3E}">
        <p14:creationId xmlns:p14="http://schemas.microsoft.com/office/powerpoint/2010/main" val="22173247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DF3656-3EAC-5044-42E9-6F5938BCED4D}"/>
              </a:ext>
            </a:extLst>
          </p:cNvPr>
          <p:cNvSpPr txBox="1"/>
          <p:nvPr/>
        </p:nvSpPr>
        <p:spPr>
          <a:xfrm>
            <a:off x="526473" y="277091"/>
            <a:ext cx="5347854" cy="369332"/>
          </a:xfrm>
          <a:prstGeom prst="rect">
            <a:avLst/>
          </a:prstGeom>
          <a:noFill/>
        </p:spPr>
        <p:txBody>
          <a:bodyPr wrap="square" rtlCol="0">
            <a:spAutoFit/>
          </a:bodyPr>
          <a:lstStyle/>
          <a:p>
            <a:r>
              <a:rPr lang="en-CN" dirty="0"/>
              <a:t>Two-state system(canonical ensemble)</a:t>
            </a:r>
          </a:p>
        </p:txBody>
      </p:sp>
      <p:cxnSp>
        <p:nvCxnSpPr>
          <p:cNvPr id="6" name="Straight Connector 5">
            <a:extLst>
              <a:ext uri="{FF2B5EF4-FFF2-40B4-BE49-F238E27FC236}">
                <a16:creationId xmlns:a16="http://schemas.microsoft.com/office/drawing/2014/main" id="{9755F12D-AA79-D64B-95E1-D7F61DC8C608}"/>
              </a:ext>
            </a:extLst>
          </p:cNvPr>
          <p:cNvCxnSpPr/>
          <p:nvPr/>
        </p:nvCxnSpPr>
        <p:spPr>
          <a:xfrm>
            <a:off x="4391891" y="928255"/>
            <a:ext cx="30895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41390A1-3E86-FC4E-7483-D574B14D52E7}"/>
              </a:ext>
            </a:extLst>
          </p:cNvPr>
          <p:cNvCxnSpPr/>
          <p:nvPr/>
        </p:nvCxnSpPr>
        <p:spPr>
          <a:xfrm>
            <a:off x="4447309" y="1911927"/>
            <a:ext cx="3089564"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455D9AC-55F0-A6BC-FA51-2E0541A3D876}"/>
                  </a:ext>
                </a:extLst>
              </p:cNvPr>
              <p:cNvSpPr txBox="1"/>
              <p:nvPr/>
            </p:nvSpPr>
            <p:spPr>
              <a:xfrm>
                <a:off x="7827818" y="1731818"/>
                <a:ext cx="103909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0</m:t>
                          </m:r>
                        </m:sub>
                      </m:sSub>
                      <m:r>
                        <a:rPr lang="en-US" b="0" i="1" smtClean="0">
                          <a:latin typeface="Cambria Math" panose="02040503050406030204" pitchFamily="18" charset="0"/>
                        </a:rPr>
                        <m:t>=0</m:t>
                      </m:r>
                    </m:oMath>
                  </m:oMathPara>
                </a14:m>
                <a:endParaRPr lang="en-CN" dirty="0"/>
              </a:p>
            </p:txBody>
          </p:sp>
        </mc:Choice>
        <mc:Fallback xmlns="">
          <p:sp>
            <p:nvSpPr>
              <p:cNvPr id="8" name="TextBox 7">
                <a:extLst>
                  <a:ext uri="{FF2B5EF4-FFF2-40B4-BE49-F238E27FC236}">
                    <a16:creationId xmlns:a16="http://schemas.microsoft.com/office/drawing/2014/main" id="{D455D9AC-55F0-A6BC-FA51-2E0541A3D876}"/>
                  </a:ext>
                </a:extLst>
              </p:cNvPr>
              <p:cNvSpPr txBox="1">
                <a:spLocks noRot="1" noChangeAspect="1" noMove="1" noResize="1" noEditPoints="1" noAdjustHandles="1" noChangeArrowheads="1" noChangeShapeType="1" noTextEdit="1"/>
              </p:cNvSpPr>
              <p:nvPr/>
            </p:nvSpPr>
            <p:spPr>
              <a:xfrm>
                <a:off x="7827818" y="1731818"/>
                <a:ext cx="1039091" cy="369332"/>
              </a:xfrm>
              <a:prstGeom prst="rect">
                <a:avLst/>
              </a:prstGeom>
              <a:blipFill>
                <a:blip r:embed="rId2"/>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065D633-E9ED-083E-DA9B-22645C148A7D}"/>
                  </a:ext>
                </a:extLst>
              </p:cNvPr>
              <p:cNvSpPr txBox="1"/>
              <p:nvPr/>
            </p:nvSpPr>
            <p:spPr>
              <a:xfrm>
                <a:off x="7758547" y="701841"/>
                <a:ext cx="103909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oMath>
                  </m:oMathPara>
                </a14:m>
                <a:endParaRPr lang="en-CN" dirty="0"/>
              </a:p>
            </p:txBody>
          </p:sp>
        </mc:Choice>
        <mc:Fallback xmlns="">
          <p:sp>
            <p:nvSpPr>
              <p:cNvPr id="9" name="TextBox 8">
                <a:extLst>
                  <a:ext uri="{FF2B5EF4-FFF2-40B4-BE49-F238E27FC236}">
                    <a16:creationId xmlns:a16="http://schemas.microsoft.com/office/drawing/2014/main" id="{D065D633-E9ED-083E-DA9B-22645C148A7D}"/>
                  </a:ext>
                </a:extLst>
              </p:cNvPr>
              <p:cNvSpPr txBox="1">
                <a:spLocks noRot="1" noChangeAspect="1" noMove="1" noResize="1" noEditPoints="1" noAdjustHandles="1" noChangeArrowheads="1" noChangeShapeType="1" noTextEdit="1"/>
              </p:cNvSpPr>
              <p:nvPr/>
            </p:nvSpPr>
            <p:spPr>
              <a:xfrm>
                <a:off x="7758547" y="701841"/>
                <a:ext cx="1039091" cy="369332"/>
              </a:xfrm>
              <a:prstGeom prst="rect">
                <a:avLst/>
              </a:prstGeom>
              <a:blipFill>
                <a:blip r:embed="rId3"/>
                <a:stretch>
                  <a:fillRect/>
                </a:stretch>
              </a:blipFill>
            </p:spPr>
            <p:txBody>
              <a:bodyPr/>
              <a:lstStyle/>
              <a:p>
                <a:r>
                  <a:rPr lang="en-CN">
                    <a:noFill/>
                  </a:rPr>
                  <a:t> </a:t>
                </a:r>
              </a:p>
            </p:txBody>
          </p:sp>
        </mc:Fallback>
      </mc:AlternateContent>
      <p:sp>
        <p:nvSpPr>
          <p:cNvPr id="10" name="TextBox 9">
            <a:extLst>
              <a:ext uri="{FF2B5EF4-FFF2-40B4-BE49-F238E27FC236}">
                <a16:creationId xmlns:a16="http://schemas.microsoft.com/office/drawing/2014/main" id="{1DD3295D-A096-B410-D24C-40C2C2976C5F}"/>
              </a:ext>
            </a:extLst>
          </p:cNvPr>
          <p:cNvSpPr txBox="1"/>
          <p:nvPr/>
        </p:nvSpPr>
        <p:spPr>
          <a:xfrm>
            <a:off x="637309" y="2660073"/>
            <a:ext cx="5001491" cy="369332"/>
          </a:xfrm>
          <a:prstGeom prst="rect">
            <a:avLst/>
          </a:prstGeom>
          <a:noFill/>
        </p:spPr>
        <p:txBody>
          <a:bodyPr wrap="square" rtlCol="0">
            <a:spAutoFit/>
          </a:bodyPr>
          <a:lstStyle/>
          <a:p>
            <a:r>
              <a:rPr lang="en-CN" dirty="0"/>
              <a:t>One particle</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FC278F1-BE08-4554-36C1-0B7BE3D642E4}"/>
                  </a:ext>
                </a:extLst>
              </p:cNvPr>
              <p:cNvSpPr txBox="1"/>
              <p:nvPr/>
            </p:nvSpPr>
            <p:spPr>
              <a:xfrm>
                <a:off x="2078181" y="3214255"/>
                <a:ext cx="9213273" cy="1313436"/>
              </a:xfrm>
              <a:prstGeom prst="rect">
                <a:avLst/>
              </a:prstGeom>
              <a:noFill/>
            </p:spPr>
            <p:txBody>
              <a:bodyPr wrap="square" rtlCol="0">
                <a:spAutoFit/>
              </a:bodyPr>
              <a:lstStyle/>
              <a:p>
                <a:r>
                  <a:rPr lang="en-CN" dirty="0"/>
                  <a:t>Partition Function      </a:t>
                </a:r>
                <a14:m>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1</m:t>
                        </m:r>
                      </m:sub>
                    </m:sSub>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oMath>
                </a14:m>
                <a:endParaRPr lang="en-CN" dirty="0"/>
              </a:p>
              <a:p>
                <a:r>
                  <a:rPr lang="en-CN" dirty="0"/>
                  <a:t>The fraction of particles in the ground state(hold for any statistics)</a:t>
                </a:r>
              </a:p>
              <a:p>
                <a:pPr algn="ct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d>
                            <m:dPr>
                              <m:begChr m:val="⟨"/>
                              <m:endChr m:val="⟩"/>
                              <m:ctrlPr>
                                <a:rPr lang="en-CN" i="1" smtClean="0">
                                  <a:latin typeface="Cambria Math" panose="02040503050406030204" pitchFamily="18" charset="0"/>
                                </a:rPr>
                              </m:ctrlPr>
                            </m:dPr>
                            <m:e>
                              <m:sSub>
                                <m:sSubPr>
                                  <m:ctrlPr>
                                    <a:rPr lang="en-CN"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𝑔𝑟𝑜𝑢𝑛𝑑</m:t>
                                  </m:r>
                                </m:sub>
                              </m:sSub>
                            </m:e>
                          </m:d>
                        </m:num>
                        <m:den>
                          <m:r>
                            <a:rPr lang="en-US" b="0" i="1" smtClean="0">
                              <a:latin typeface="Cambria Math" panose="02040503050406030204" pitchFamily="18" charset="0"/>
                            </a:rPr>
                            <m:t>𝑁</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1</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den>
                      </m:f>
                    </m:oMath>
                  </m:oMathPara>
                </a14:m>
                <a:endParaRPr lang="en-CN" dirty="0"/>
              </a:p>
            </p:txBody>
          </p:sp>
        </mc:Choice>
        <mc:Fallback xmlns="">
          <p:sp>
            <p:nvSpPr>
              <p:cNvPr id="11" name="TextBox 10">
                <a:extLst>
                  <a:ext uri="{FF2B5EF4-FFF2-40B4-BE49-F238E27FC236}">
                    <a16:creationId xmlns:a16="http://schemas.microsoft.com/office/drawing/2014/main" id="{DFC278F1-BE08-4554-36C1-0B7BE3D642E4}"/>
                  </a:ext>
                </a:extLst>
              </p:cNvPr>
              <p:cNvSpPr txBox="1">
                <a:spLocks noRot="1" noChangeAspect="1" noMove="1" noResize="1" noEditPoints="1" noAdjustHandles="1" noChangeArrowheads="1" noChangeShapeType="1" noTextEdit="1"/>
              </p:cNvSpPr>
              <p:nvPr/>
            </p:nvSpPr>
            <p:spPr>
              <a:xfrm>
                <a:off x="2078181" y="3214255"/>
                <a:ext cx="9213273" cy="1313436"/>
              </a:xfrm>
              <a:prstGeom prst="rect">
                <a:avLst/>
              </a:prstGeom>
              <a:blipFill>
                <a:blip r:embed="rId4"/>
                <a:stretch>
                  <a:fillRect l="-551"/>
                </a:stretch>
              </a:blipFill>
            </p:spPr>
            <p:txBody>
              <a:bodyPr/>
              <a:lstStyle/>
              <a:p>
                <a:r>
                  <a:rPr lang="en-CN">
                    <a:noFill/>
                  </a:rPr>
                  <a:t> </a:t>
                </a:r>
              </a:p>
            </p:txBody>
          </p:sp>
        </mc:Fallback>
      </mc:AlternateContent>
    </p:spTree>
    <p:extLst>
      <p:ext uri="{BB962C8B-B14F-4D97-AF65-F5344CB8AC3E}">
        <p14:creationId xmlns:p14="http://schemas.microsoft.com/office/powerpoint/2010/main" val="26800913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1DD3295D-A096-B410-D24C-40C2C2976C5F}"/>
              </a:ext>
            </a:extLst>
          </p:cNvPr>
          <p:cNvSpPr txBox="1"/>
          <p:nvPr/>
        </p:nvSpPr>
        <p:spPr>
          <a:xfrm>
            <a:off x="5167746" y="180109"/>
            <a:ext cx="1676399" cy="369332"/>
          </a:xfrm>
          <a:prstGeom prst="rect">
            <a:avLst/>
          </a:prstGeom>
          <a:noFill/>
        </p:spPr>
        <p:txBody>
          <a:bodyPr wrap="square" rtlCol="0">
            <a:spAutoFit/>
          </a:bodyPr>
          <a:lstStyle/>
          <a:p>
            <a:r>
              <a:rPr lang="en-CN" dirty="0"/>
              <a:t>N个全同粒子</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FC278F1-BE08-4554-36C1-0B7BE3D642E4}"/>
                  </a:ext>
                </a:extLst>
              </p:cNvPr>
              <p:cNvSpPr txBox="1"/>
              <p:nvPr/>
            </p:nvSpPr>
            <p:spPr>
              <a:xfrm>
                <a:off x="415636" y="967019"/>
                <a:ext cx="4558146" cy="2304029"/>
              </a:xfrm>
              <a:prstGeom prst="rect">
                <a:avLst/>
              </a:prstGeom>
              <a:noFill/>
            </p:spPr>
            <p:txBody>
              <a:bodyPr wrap="square" rtlCol="0">
                <a:spAutoFit/>
              </a:bodyPr>
              <a:lstStyle/>
              <a:p>
                <a:r>
                  <a:rPr lang="en-CN" dirty="0"/>
                  <a:t>Partition Function   </a:t>
                </a:r>
              </a:p>
              <a:p>
                <a:pPr/>
                <a14:m>
                  <m:oMathPara xmlns:m="http://schemas.openxmlformats.org/officeDocument/2006/math">
                    <m:oMathParaPr>
                      <m:jc m:val="left"/>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𝑍</m:t>
                          </m:r>
                        </m:e>
                        <m:sub>
                          <m:r>
                            <a:rPr lang="en-US" b="0" i="1" smtClean="0">
                              <a:latin typeface="Cambria Math" panose="02040503050406030204" pitchFamily="18" charset="0"/>
                            </a:rPr>
                            <m:t>𝑁</m:t>
                          </m:r>
                        </m:sub>
                        <m:sup>
                          <m:r>
                            <a:rPr lang="en-US" b="0" i="1" smtClean="0">
                              <a:latin typeface="Cambria Math" panose="02040503050406030204" pitchFamily="18" charset="0"/>
                            </a:rPr>
                            <m:t>𝐵</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𝑁</m:t>
                          </m:r>
                          <m:r>
                            <a:rPr lang="en-US" b="0" i="1" smtClean="0">
                              <a:latin typeface="Cambria Math" panose="02040503050406030204" pitchFamily="18" charset="0"/>
                            </a:rPr>
                            <m:t>!</m:t>
                          </m:r>
                        </m:den>
                      </m:f>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1</m:t>
                                  </m:r>
                                </m:sub>
                              </m:sSub>
                            </m:e>
                          </m:d>
                        </m:e>
                        <m:sup>
                          <m:r>
                            <a:rPr lang="en-US" b="0" i="1" smtClean="0">
                              <a:latin typeface="Cambria Math" panose="02040503050406030204" pitchFamily="18" charset="0"/>
                            </a:rPr>
                            <m:t>𝑁</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𝑁</m:t>
                          </m:r>
                          <m:r>
                            <a:rPr lang="en-US" b="0" i="1" smtClean="0">
                              <a:latin typeface="Cambria Math" panose="02040503050406030204" pitchFamily="18" charset="0"/>
                            </a:rPr>
                            <m:t>!</m:t>
                          </m:r>
                        </m:den>
                      </m:f>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i="1">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𝜀</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𝜏</m:t>
                                  </m:r>
                                </m:sup>
                              </m:sSup>
                            </m:e>
                          </m:d>
                        </m:e>
                        <m:sup>
                          <m:r>
                            <a:rPr lang="en-US" b="0" i="1" smtClean="0">
                              <a:latin typeface="Cambria Math" panose="02040503050406030204" pitchFamily="18" charset="0"/>
                            </a:rPr>
                            <m:t>𝑁</m:t>
                          </m:r>
                        </m:sup>
                      </m:sSup>
                    </m:oMath>
                  </m:oMathPara>
                </a14:m>
                <a:endParaRPr lang="en-CN" dirty="0"/>
              </a:p>
              <a:p>
                <a:r>
                  <a:rPr lang="en-CN" dirty="0"/>
                  <a:t>The fraction of particles in the ground state</a:t>
                </a:r>
              </a:p>
              <a:p>
                <a:pPr/>
                <a14:m>
                  <m:oMathPara xmlns:m="http://schemas.openxmlformats.org/officeDocument/2006/math">
                    <m:oMathParaPr>
                      <m:jc m:val="left"/>
                    </m:oMathParaPr>
                    <m:oMath xmlns:m="http://schemas.openxmlformats.org/officeDocument/2006/math">
                      <m:f>
                        <m:fPr>
                          <m:ctrlPr>
                            <a:rPr lang="en-CN" i="1" smtClean="0">
                              <a:latin typeface="Cambria Math" panose="02040503050406030204" pitchFamily="18" charset="0"/>
                            </a:rPr>
                          </m:ctrlPr>
                        </m:fPr>
                        <m:num>
                          <m:d>
                            <m:dPr>
                              <m:begChr m:val="⟨"/>
                              <m:endChr m:val="⟩"/>
                              <m:ctrlPr>
                                <a:rPr lang="en-CN" i="1" smtClean="0">
                                  <a:latin typeface="Cambria Math" panose="02040503050406030204" pitchFamily="18" charset="0"/>
                                </a:rPr>
                              </m:ctrlPr>
                            </m:dPr>
                            <m:e>
                              <m:sSub>
                                <m:sSubPr>
                                  <m:ctrlPr>
                                    <a:rPr lang="en-CN"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𝑔𝑟𝑜𝑢𝑛𝑑</m:t>
                                  </m:r>
                                </m:sub>
                              </m:sSub>
                            </m:e>
                          </m:d>
                        </m:num>
                        <m:den>
                          <m:r>
                            <a:rPr lang="en-US" b="0" i="1" smtClean="0">
                              <a:latin typeface="Cambria Math" panose="02040503050406030204" pitchFamily="18" charset="0"/>
                            </a:rPr>
                            <m:t>𝑁</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den>
                      </m:f>
                    </m:oMath>
                  </m:oMathPara>
                </a14:m>
                <a:endParaRPr lang="en-US" altLang="zh-CN" dirty="0"/>
              </a:p>
              <a:p>
                <a:r>
                  <a:rPr lang="en-CN" dirty="0"/>
                  <a:t>At large temperature half the particles are in the gound states, half in </a:t>
                </a:r>
                <a:r>
                  <a:rPr lang="en-US" dirty="0" err="1"/>
                  <a:t>th</a:t>
                </a:r>
                <a:r>
                  <a:rPr lang="en-CN" dirty="0"/>
                  <a:t>e excited state.</a:t>
                </a:r>
              </a:p>
            </p:txBody>
          </p:sp>
        </mc:Choice>
        <mc:Fallback xmlns="">
          <p:sp>
            <p:nvSpPr>
              <p:cNvPr id="11" name="TextBox 10">
                <a:extLst>
                  <a:ext uri="{FF2B5EF4-FFF2-40B4-BE49-F238E27FC236}">
                    <a16:creationId xmlns:a16="http://schemas.microsoft.com/office/drawing/2014/main" id="{DFC278F1-BE08-4554-36C1-0B7BE3D642E4}"/>
                  </a:ext>
                </a:extLst>
              </p:cNvPr>
              <p:cNvSpPr txBox="1">
                <a:spLocks noRot="1" noChangeAspect="1" noMove="1" noResize="1" noEditPoints="1" noAdjustHandles="1" noChangeArrowheads="1" noChangeShapeType="1" noTextEdit="1"/>
              </p:cNvSpPr>
              <p:nvPr/>
            </p:nvSpPr>
            <p:spPr>
              <a:xfrm>
                <a:off x="415636" y="967019"/>
                <a:ext cx="4558146" cy="2304029"/>
              </a:xfrm>
              <a:prstGeom prst="rect">
                <a:avLst/>
              </a:prstGeom>
              <a:blipFill>
                <a:blip r:embed="rId2"/>
                <a:stretch>
                  <a:fillRect l="-1111" t="-1648" b="-3297"/>
                </a:stretch>
              </a:blipFill>
            </p:spPr>
            <p:txBody>
              <a:bodyPr/>
              <a:lstStyle/>
              <a:p>
                <a:r>
                  <a:rPr lang="en-CN">
                    <a:noFill/>
                  </a:rPr>
                  <a:t> </a:t>
                </a:r>
              </a:p>
            </p:txBody>
          </p:sp>
        </mc:Fallback>
      </mc:AlternateContent>
      <p:sp>
        <p:nvSpPr>
          <p:cNvPr id="2" name="TextBox 1">
            <a:extLst>
              <a:ext uri="{FF2B5EF4-FFF2-40B4-BE49-F238E27FC236}">
                <a16:creationId xmlns:a16="http://schemas.microsoft.com/office/drawing/2014/main" id="{328BB9BA-9DA1-443A-8373-476D7CC6D29D}"/>
              </a:ext>
            </a:extLst>
          </p:cNvPr>
          <p:cNvSpPr txBox="1"/>
          <p:nvPr/>
        </p:nvSpPr>
        <p:spPr>
          <a:xfrm>
            <a:off x="2078182" y="484902"/>
            <a:ext cx="1233055" cy="369332"/>
          </a:xfrm>
          <a:prstGeom prst="rect">
            <a:avLst/>
          </a:prstGeom>
          <a:noFill/>
        </p:spPr>
        <p:txBody>
          <a:bodyPr wrap="square" rtlCol="0">
            <a:spAutoFit/>
          </a:bodyPr>
          <a:lstStyle/>
          <a:p>
            <a:r>
              <a:rPr lang="en-CN" dirty="0">
                <a:highlight>
                  <a:srgbClr val="008000"/>
                </a:highlight>
              </a:rPr>
              <a:t>Boltzmann</a:t>
            </a:r>
          </a:p>
        </p:txBody>
      </p:sp>
      <p:sp>
        <p:nvSpPr>
          <p:cNvPr id="12" name="TextBox 11">
            <a:extLst>
              <a:ext uri="{FF2B5EF4-FFF2-40B4-BE49-F238E27FC236}">
                <a16:creationId xmlns:a16="http://schemas.microsoft.com/office/drawing/2014/main" id="{F6AFD950-F875-59C0-5C98-14D048A95074}"/>
              </a:ext>
            </a:extLst>
          </p:cNvPr>
          <p:cNvSpPr txBox="1"/>
          <p:nvPr/>
        </p:nvSpPr>
        <p:spPr>
          <a:xfrm>
            <a:off x="8146473" y="503314"/>
            <a:ext cx="1801091" cy="369332"/>
          </a:xfrm>
          <a:prstGeom prst="rect">
            <a:avLst/>
          </a:prstGeom>
          <a:noFill/>
        </p:spPr>
        <p:txBody>
          <a:bodyPr wrap="square" rtlCol="0">
            <a:spAutoFit/>
          </a:bodyPr>
          <a:lstStyle/>
          <a:p>
            <a:r>
              <a:rPr lang="en-CN" dirty="0">
                <a:highlight>
                  <a:srgbClr val="008000"/>
                </a:highlight>
              </a:rPr>
              <a:t>Bose-Einstein</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E0E53CB-3DFA-6F9D-3AA3-FCD1E3865644}"/>
                  </a:ext>
                </a:extLst>
              </p:cNvPr>
              <p:cNvSpPr txBox="1"/>
              <p:nvPr/>
            </p:nvSpPr>
            <p:spPr>
              <a:xfrm>
                <a:off x="6629399" y="967019"/>
                <a:ext cx="5271655" cy="2908040"/>
              </a:xfrm>
              <a:prstGeom prst="rect">
                <a:avLst/>
              </a:prstGeom>
              <a:noFill/>
            </p:spPr>
            <p:txBody>
              <a:bodyPr wrap="square" rtlCol="0">
                <a:spAutoFit/>
              </a:bodyPr>
              <a:lstStyle/>
              <a:p>
                <a:r>
                  <a:rPr lang="en-CN" dirty="0"/>
                  <a:t>Partition Function   </a:t>
                </a:r>
              </a:p>
              <a:p>
                <a:pPr/>
                <a14:m>
                  <m:oMathPara xmlns:m="http://schemas.openxmlformats.org/officeDocument/2006/math">
                    <m:oMathParaPr>
                      <m:jc m:val="left"/>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𝑍</m:t>
                          </m:r>
                        </m:e>
                        <m:sub>
                          <m:r>
                            <a:rPr lang="en-US" b="0" i="1" smtClean="0">
                              <a:latin typeface="Cambria Math" panose="02040503050406030204" pitchFamily="18" charset="0"/>
                            </a:rPr>
                            <m:t>𝑁</m:t>
                          </m:r>
                        </m:sub>
                        <m:sup>
                          <m:r>
                            <a:rPr lang="en-US" b="0" i="1" smtClean="0">
                              <a:latin typeface="Cambria Math" panose="02040503050406030204" pitchFamily="18" charset="0"/>
                            </a:rPr>
                            <m:t>𝐵𝐸</m:t>
                          </m:r>
                        </m:sup>
                      </m:sSubSup>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𝜀</m:t>
                              </m:r>
                            </m:num>
                            <m:den>
                              <m:r>
                                <a:rPr lang="en-US" b="0" i="1" smtClean="0">
                                  <a:latin typeface="Cambria Math" panose="02040503050406030204" pitchFamily="18" charset="0"/>
                                  <a:ea typeface="Cambria Math" panose="02040503050406030204" pitchFamily="18" charset="0"/>
                                </a:rPr>
                                <m:t>𝜏</m:t>
                              </m:r>
                            </m:den>
                          </m:f>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𝑁</m:t>
                              </m:r>
                              <m:r>
                                <a:rPr lang="en-US" altLang="zh-CN"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den>
                      </m:f>
                    </m:oMath>
                  </m:oMathPara>
                </a14:m>
                <a:endParaRPr lang="en-CN" dirty="0"/>
              </a:p>
              <a:p>
                <a:r>
                  <a:rPr lang="en-CN" dirty="0"/>
                  <a:t>The fraction of particles in the ground state</a:t>
                </a:r>
              </a:p>
              <a:p>
                <a:pPr/>
                <a14:m>
                  <m:oMathPara xmlns:m="http://schemas.openxmlformats.org/officeDocument/2006/math">
                    <m:oMathParaPr>
                      <m:jc m:val="left"/>
                    </m:oMathParaPr>
                    <m:oMath xmlns:m="http://schemas.openxmlformats.org/officeDocument/2006/math">
                      <m:f>
                        <m:fPr>
                          <m:ctrlPr>
                            <a:rPr lang="en-CN" i="1" smtClean="0">
                              <a:latin typeface="Cambria Math" panose="02040503050406030204" pitchFamily="18" charset="0"/>
                            </a:rPr>
                          </m:ctrlPr>
                        </m:fPr>
                        <m:num>
                          <m:d>
                            <m:dPr>
                              <m:begChr m:val="⟨"/>
                              <m:endChr m:val="⟩"/>
                              <m:ctrlPr>
                                <a:rPr lang="en-CN" i="1" smtClean="0">
                                  <a:latin typeface="Cambria Math" panose="02040503050406030204" pitchFamily="18" charset="0"/>
                                </a:rPr>
                              </m:ctrlPr>
                            </m:dPr>
                            <m:e>
                              <m:sSub>
                                <m:sSubPr>
                                  <m:ctrlPr>
                                    <a:rPr lang="en-CN"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𝑔𝑟𝑜𝑢𝑛𝑑</m:t>
                                  </m:r>
                                </m:sub>
                              </m:sSub>
                            </m:e>
                          </m:d>
                        </m:num>
                        <m:den>
                          <m:r>
                            <a:rPr lang="en-US" b="0" i="1" smtClean="0">
                              <a:latin typeface="Cambria Math" panose="02040503050406030204" pitchFamily="18" charset="0"/>
                            </a:rPr>
                            <m:t>𝑁</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𝑁</m:t>
                          </m:r>
                        </m:den>
                      </m:f>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𝑁</m:t>
                              </m:r>
                            </m:sub>
                            <m:sup>
                              <m:r>
                                <a:rPr lang="en-US" i="1">
                                  <a:latin typeface="Cambria Math" panose="02040503050406030204" pitchFamily="18" charset="0"/>
                                </a:rPr>
                                <m:t>𝐵𝐸</m:t>
                              </m:r>
                            </m:sup>
                          </m:sSubSup>
                        </m:den>
                      </m:f>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.1+</m:t>
                          </m:r>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−1</m:t>
                              </m:r>
                            </m:e>
                          </m:d>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𝜀</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ea typeface="Cambria Math" panose="02040503050406030204" pitchFamily="18" charset="0"/>
                            </a:rPr>
                            <m:t>+…0.</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rPr>
                                    <m:t>𝑁</m:t>
                                  </m:r>
                                  <m:r>
                                    <a:rPr lang="en-US" i="1">
                                      <a:latin typeface="Cambria Math" panose="02040503050406030204" pitchFamily="18" charset="0"/>
                                      <a:ea typeface="Cambria Math" panose="02040503050406030204" pitchFamily="18" charset="0"/>
                                    </a:rPr>
                                    <m:t>𝜀</m:t>
                                  </m:r>
                                </m:num>
                                <m:den>
                                  <m:r>
                                    <a:rPr lang="en-US" i="1">
                                      <a:latin typeface="Cambria Math" panose="02040503050406030204" pitchFamily="18" charset="0"/>
                                      <a:ea typeface="Cambria Math" panose="02040503050406030204" pitchFamily="18" charset="0"/>
                                    </a:rPr>
                                    <m:t>𝜏</m:t>
                                  </m:r>
                                </m:den>
                              </m:f>
                            </m:sup>
                          </m:sSup>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𝑁</m:t>
                          </m:r>
                        </m:den>
                      </m:f>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rPr>
                                <m:t>−1</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r>
                                <a:rPr lang="en-US" b="0" i="1" smtClean="0">
                                  <a:latin typeface="Cambria Math" panose="02040503050406030204" pitchFamily="18" charset="0"/>
                                </a:rPr>
                                <m:t>+1</m:t>
                              </m:r>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den>
                          </m:f>
                        </m:e>
                      </m:d>
                    </m:oMath>
                  </m:oMathPara>
                </a14:m>
                <a:endParaRPr lang="en-US" altLang="zh-CN" dirty="0"/>
              </a:p>
            </p:txBody>
          </p:sp>
        </mc:Choice>
        <mc:Fallback xmlns="">
          <p:sp>
            <p:nvSpPr>
              <p:cNvPr id="13" name="TextBox 12">
                <a:extLst>
                  <a:ext uri="{FF2B5EF4-FFF2-40B4-BE49-F238E27FC236}">
                    <a16:creationId xmlns:a16="http://schemas.microsoft.com/office/drawing/2014/main" id="{BE0E53CB-3DFA-6F9D-3AA3-FCD1E3865644}"/>
                  </a:ext>
                </a:extLst>
              </p:cNvPr>
              <p:cNvSpPr txBox="1">
                <a:spLocks noRot="1" noChangeAspect="1" noMove="1" noResize="1" noEditPoints="1" noAdjustHandles="1" noChangeArrowheads="1" noChangeShapeType="1" noTextEdit="1"/>
              </p:cNvSpPr>
              <p:nvPr/>
            </p:nvSpPr>
            <p:spPr>
              <a:xfrm>
                <a:off x="6629399" y="967019"/>
                <a:ext cx="5271655" cy="2908040"/>
              </a:xfrm>
              <a:prstGeom prst="rect">
                <a:avLst/>
              </a:prstGeom>
              <a:blipFill>
                <a:blip r:embed="rId3"/>
                <a:stretch>
                  <a:fillRect l="-962" t="-1304"/>
                </a:stretch>
              </a:blipFill>
            </p:spPr>
            <p:txBody>
              <a:bodyPr/>
              <a:lstStyle/>
              <a:p>
                <a:r>
                  <a:rPr lang="en-CN">
                    <a:noFill/>
                  </a:rPr>
                  <a:t> </a:t>
                </a:r>
              </a:p>
            </p:txBody>
          </p:sp>
        </mc:Fallback>
      </mc:AlternateContent>
      <p:pic>
        <p:nvPicPr>
          <p:cNvPr id="4" name="Picture 3">
            <a:extLst>
              <a:ext uri="{FF2B5EF4-FFF2-40B4-BE49-F238E27FC236}">
                <a16:creationId xmlns:a16="http://schemas.microsoft.com/office/drawing/2014/main" id="{A0582B86-FC6C-4EA1-7BDF-B5673462F778}"/>
              </a:ext>
            </a:extLst>
          </p:cNvPr>
          <p:cNvPicPr>
            <a:picLocks noChangeAspect="1"/>
          </p:cNvPicPr>
          <p:nvPr/>
        </p:nvPicPr>
        <p:blipFill>
          <a:blip r:embed="rId4"/>
          <a:stretch>
            <a:fillRect/>
          </a:stretch>
        </p:blipFill>
        <p:spPr>
          <a:xfrm>
            <a:off x="3543300" y="3990214"/>
            <a:ext cx="4099846" cy="2687677"/>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FBF167B-CAC6-CA64-4E67-57930E63EEBC}"/>
                  </a:ext>
                </a:extLst>
              </p:cNvPr>
              <p:cNvSpPr txBox="1"/>
              <p:nvPr/>
            </p:nvSpPr>
            <p:spPr>
              <a:xfrm>
                <a:off x="1513609" y="3829282"/>
                <a:ext cx="2029691" cy="6674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d>
                            <m:dPr>
                              <m:begChr m:val="⟨"/>
                              <m:endChr m:val="⟩"/>
                              <m:ctrlPr>
                                <a:rPr lang="en-CN" i="1" smtClean="0">
                                  <a:latin typeface="Cambria Math" panose="02040503050406030204" pitchFamily="18" charset="0"/>
                                </a:rPr>
                              </m:ctrlPr>
                            </m:dPr>
                            <m:e>
                              <m:sSub>
                                <m:sSubPr>
                                  <m:ctrlPr>
                                    <a:rPr lang="en-CN"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𝑔𝑟𝑜𝑢𝑛𝑑</m:t>
                                  </m:r>
                                </m:sub>
                              </m:sSub>
                            </m:e>
                          </m:d>
                        </m:num>
                        <m:den>
                          <m:r>
                            <a:rPr lang="en-US" b="0" i="1" smtClean="0">
                              <a:latin typeface="Cambria Math" panose="02040503050406030204" pitchFamily="18" charset="0"/>
                            </a:rPr>
                            <m:t>𝑁</m:t>
                          </m:r>
                          <m:r>
                            <a:rPr lang="en-US" b="0" i="1" smtClean="0">
                              <a:latin typeface="Cambria Math" panose="02040503050406030204" pitchFamily="18" charset="0"/>
                            </a:rPr>
                            <m:t>=100</m:t>
                          </m:r>
                        </m:den>
                      </m:f>
                    </m:oMath>
                  </m:oMathPara>
                </a14:m>
                <a:endParaRPr lang="en-CN" dirty="0"/>
              </a:p>
            </p:txBody>
          </p:sp>
        </mc:Choice>
        <mc:Fallback xmlns="">
          <p:sp>
            <p:nvSpPr>
              <p:cNvPr id="14" name="TextBox 13">
                <a:extLst>
                  <a:ext uri="{FF2B5EF4-FFF2-40B4-BE49-F238E27FC236}">
                    <a16:creationId xmlns:a16="http://schemas.microsoft.com/office/drawing/2014/main" id="{FFBF167B-CAC6-CA64-4E67-57930E63EEBC}"/>
                  </a:ext>
                </a:extLst>
              </p:cNvPr>
              <p:cNvSpPr txBox="1">
                <a:spLocks noRot="1" noChangeAspect="1" noMove="1" noResize="1" noEditPoints="1" noAdjustHandles="1" noChangeArrowheads="1" noChangeShapeType="1" noTextEdit="1"/>
              </p:cNvSpPr>
              <p:nvPr/>
            </p:nvSpPr>
            <p:spPr>
              <a:xfrm>
                <a:off x="1513609" y="3829282"/>
                <a:ext cx="2029691" cy="667490"/>
              </a:xfrm>
              <a:prstGeom prst="rect">
                <a:avLst/>
              </a:prstGeom>
              <a:blipFill>
                <a:blip r:embed="rId5"/>
                <a:stretch>
                  <a:fillRect b="-370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F46968D-2447-B4CF-49F7-3DDA3CE3FD71}"/>
                  </a:ext>
                </a:extLst>
              </p:cNvPr>
              <p:cNvSpPr txBox="1"/>
              <p:nvPr/>
            </p:nvSpPr>
            <p:spPr>
              <a:xfrm>
                <a:off x="7813964" y="6206836"/>
                <a:ext cx="99752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oMath>
                  </m:oMathPara>
                </a14:m>
                <a:endParaRPr lang="en-CN" dirty="0"/>
              </a:p>
            </p:txBody>
          </p:sp>
        </mc:Choice>
        <mc:Fallback xmlns="">
          <p:sp>
            <p:nvSpPr>
              <p:cNvPr id="15" name="TextBox 14">
                <a:extLst>
                  <a:ext uri="{FF2B5EF4-FFF2-40B4-BE49-F238E27FC236}">
                    <a16:creationId xmlns:a16="http://schemas.microsoft.com/office/drawing/2014/main" id="{1F46968D-2447-B4CF-49F7-3DDA3CE3FD71}"/>
                  </a:ext>
                </a:extLst>
              </p:cNvPr>
              <p:cNvSpPr txBox="1">
                <a:spLocks noRot="1" noChangeAspect="1" noMove="1" noResize="1" noEditPoints="1" noAdjustHandles="1" noChangeArrowheads="1" noChangeShapeType="1" noTextEdit="1"/>
              </p:cNvSpPr>
              <p:nvPr/>
            </p:nvSpPr>
            <p:spPr>
              <a:xfrm>
                <a:off x="7813964" y="6206836"/>
                <a:ext cx="997527" cy="369332"/>
              </a:xfrm>
              <a:prstGeom prst="rect">
                <a:avLst/>
              </a:prstGeom>
              <a:blipFill>
                <a:blip r:embed="rId6"/>
                <a:stretch>
                  <a:fillRect b="-16667"/>
                </a:stretch>
              </a:blipFill>
            </p:spPr>
            <p:txBody>
              <a:bodyPr/>
              <a:lstStyle/>
              <a:p>
                <a:r>
                  <a:rPr lang="en-CN">
                    <a:noFill/>
                  </a:rPr>
                  <a:t> </a:t>
                </a:r>
              </a:p>
            </p:txBody>
          </p:sp>
        </mc:Fallback>
      </mc:AlternateContent>
      <p:sp>
        <p:nvSpPr>
          <p:cNvPr id="16" name="TextBox 15">
            <a:extLst>
              <a:ext uri="{FF2B5EF4-FFF2-40B4-BE49-F238E27FC236}">
                <a16:creationId xmlns:a16="http://schemas.microsoft.com/office/drawing/2014/main" id="{910C4DA6-3F3F-B2FD-7F32-4F258D3BAACD}"/>
              </a:ext>
            </a:extLst>
          </p:cNvPr>
          <p:cNvSpPr txBox="1"/>
          <p:nvPr/>
        </p:nvSpPr>
        <p:spPr>
          <a:xfrm>
            <a:off x="4087091" y="5334052"/>
            <a:ext cx="1316182" cy="369332"/>
          </a:xfrm>
          <a:prstGeom prst="rect">
            <a:avLst/>
          </a:prstGeom>
          <a:noFill/>
        </p:spPr>
        <p:txBody>
          <a:bodyPr wrap="square" rtlCol="0">
            <a:spAutoFit/>
          </a:bodyPr>
          <a:lstStyle/>
          <a:p>
            <a:r>
              <a:rPr lang="en-CN" dirty="0"/>
              <a:t>Boltzmann</a:t>
            </a:r>
          </a:p>
        </p:txBody>
      </p:sp>
      <p:sp>
        <p:nvSpPr>
          <p:cNvPr id="17" name="TextBox 16">
            <a:extLst>
              <a:ext uri="{FF2B5EF4-FFF2-40B4-BE49-F238E27FC236}">
                <a16:creationId xmlns:a16="http://schemas.microsoft.com/office/drawing/2014/main" id="{CBF8D409-5858-FADB-2EBC-F9D381B9A1D5}"/>
              </a:ext>
            </a:extLst>
          </p:cNvPr>
          <p:cNvSpPr txBox="1"/>
          <p:nvPr/>
        </p:nvSpPr>
        <p:spPr>
          <a:xfrm>
            <a:off x="4087091" y="4190788"/>
            <a:ext cx="1485900" cy="369332"/>
          </a:xfrm>
          <a:prstGeom prst="rect">
            <a:avLst/>
          </a:prstGeom>
          <a:noFill/>
        </p:spPr>
        <p:txBody>
          <a:bodyPr wrap="square" rtlCol="0">
            <a:spAutoFit/>
          </a:bodyPr>
          <a:lstStyle/>
          <a:p>
            <a:r>
              <a:rPr lang="en-CN" dirty="0"/>
              <a:t>Bose-Einstein</a:t>
            </a:r>
          </a:p>
        </p:txBody>
      </p:sp>
    </p:spTree>
    <p:extLst>
      <p:ext uri="{BB962C8B-B14F-4D97-AF65-F5344CB8AC3E}">
        <p14:creationId xmlns:p14="http://schemas.microsoft.com/office/powerpoint/2010/main" val="9698445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0E19B6-828D-F9D3-1BD2-5CBCC870A94A}"/>
              </a:ext>
            </a:extLst>
          </p:cNvPr>
          <p:cNvPicPr>
            <a:picLocks noChangeAspect="1"/>
          </p:cNvPicPr>
          <p:nvPr/>
        </p:nvPicPr>
        <p:blipFill>
          <a:blip r:embed="rId2"/>
          <a:stretch>
            <a:fillRect/>
          </a:stretch>
        </p:blipFill>
        <p:spPr>
          <a:xfrm>
            <a:off x="1659082" y="304895"/>
            <a:ext cx="4099846" cy="2687677"/>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3905169-7748-67C9-9409-7430D47F6826}"/>
                  </a:ext>
                </a:extLst>
              </p:cNvPr>
              <p:cNvSpPr txBox="1"/>
              <p:nvPr/>
            </p:nvSpPr>
            <p:spPr>
              <a:xfrm>
                <a:off x="-370609" y="143963"/>
                <a:ext cx="2029691" cy="6674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d>
                            <m:dPr>
                              <m:begChr m:val="⟨"/>
                              <m:endChr m:val="⟩"/>
                              <m:ctrlPr>
                                <a:rPr lang="en-CN" i="1" smtClean="0">
                                  <a:latin typeface="Cambria Math" panose="02040503050406030204" pitchFamily="18" charset="0"/>
                                </a:rPr>
                              </m:ctrlPr>
                            </m:dPr>
                            <m:e>
                              <m:sSub>
                                <m:sSubPr>
                                  <m:ctrlPr>
                                    <a:rPr lang="en-CN"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𝑔𝑟𝑜𝑢𝑛𝑑</m:t>
                                  </m:r>
                                </m:sub>
                              </m:sSub>
                            </m:e>
                          </m:d>
                        </m:num>
                        <m:den>
                          <m:r>
                            <a:rPr lang="en-US" b="0" i="1" smtClean="0">
                              <a:latin typeface="Cambria Math" panose="02040503050406030204" pitchFamily="18" charset="0"/>
                            </a:rPr>
                            <m:t>𝑁</m:t>
                          </m:r>
                          <m:r>
                            <a:rPr lang="en-US" b="0" i="1" smtClean="0">
                              <a:latin typeface="Cambria Math" panose="02040503050406030204" pitchFamily="18" charset="0"/>
                            </a:rPr>
                            <m:t>=100</m:t>
                          </m:r>
                        </m:den>
                      </m:f>
                    </m:oMath>
                  </m:oMathPara>
                </a14:m>
                <a:endParaRPr lang="en-CN" dirty="0"/>
              </a:p>
            </p:txBody>
          </p:sp>
        </mc:Choice>
        <mc:Fallback xmlns="">
          <p:sp>
            <p:nvSpPr>
              <p:cNvPr id="5" name="TextBox 4">
                <a:extLst>
                  <a:ext uri="{FF2B5EF4-FFF2-40B4-BE49-F238E27FC236}">
                    <a16:creationId xmlns:a16="http://schemas.microsoft.com/office/drawing/2014/main" id="{63905169-7748-67C9-9409-7430D47F6826}"/>
                  </a:ext>
                </a:extLst>
              </p:cNvPr>
              <p:cNvSpPr txBox="1">
                <a:spLocks noRot="1" noChangeAspect="1" noMove="1" noResize="1" noEditPoints="1" noAdjustHandles="1" noChangeArrowheads="1" noChangeShapeType="1" noTextEdit="1"/>
              </p:cNvSpPr>
              <p:nvPr/>
            </p:nvSpPr>
            <p:spPr>
              <a:xfrm>
                <a:off x="-370609" y="143963"/>
                <a:ext cx="2029691" cy="667490"/>
              </a:xfrm>
              <a:prstGeom prst="rect">
                <a:avLst/>
              </a:prstGeom>
              <a:blipFill>
                <a:blip r:embed="rId3"/>
                <a:stretch>
                  <a:fillRect b="-566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5220F87-8782-AF69-3C84-2B7499553BE7}"/>
                  </a:ext>
                </a:extLst>
              </p:cNvPr>
              <p:cNvSpPr txBox="1"/>
              <p:nvPr/>
            </p:nvSpPr>
            <p:spPr>
              <a:xfrm>
                <a:off x="5929746" y="2521517"/>
                <a:ext cx="99752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oMath>
                  </m:oMathPara>
                </a14:m>
                <a:endParaRPr lang="en-CN" dirty="0"/>
              </a:p>
            </p:txBody>
          </p:sp>
        </mc:Choice>
        <mc:Fallback xmlns="">
          <p:sp>
            <p:nvSpPr>
              <p:cNvPr id="6" name="TextBox 5">
                <a:extLst>
                  <a:ext uri="{FF2B5EF4-FFF2-40B4-BE49-F238E27FC236}">
                    <a16:creationId xmlns:a16="http://schemas.microsoft.com/office/drawing/2014/main" id="{85220F87-8782-AF69-3C84-2B7499553BE7}"/>
                  </a:ext>
                </a:extLst>
              </p:cNvPr>
              <p:cNvSpPr txBox="1">
                <a:spLocks noRot="1" noChangeAspect="1" noMove="1" noResize="1" noEditPoints="1" noAdjustHandles="1" noChangeArrowheads="1" noChangeShapeType="1" noTextEdit="1"/>
              </p:cNvSpPr>
              <p:nvPr/>
            </p:nvSpPr>
            <p:spPr>
              <a:xfrm>
                <a:off x="5929746" y="2521517"/>
                <a:ext cx="997527" cy="369332"/>
              </a:xfrm>
              <a:prstGeom prst="rect">
                <a:avLst/>
              </a:prstGeom>
              <a:blipFill>
                <a:blip r:embed="rId4"/>
                <a:stretch>
                  <a:fillRect b="-13333"/>
                </a:stretch>
              </a:blipFill>
            </p:spPr>
            <p:txBody>
              <a:bodyPr/>
              <a:lstStyle/>
              <a:p>
                <a:r>
                  <a:rPr lang="en-CN">
                    <a:noFill/>
                  </a:rPr>
                  <a:t> </a:t>
                </a:r>
              </a:p>
            </p:txBody>
          </p:sp>
        </mc:Fallback>
      </mc:AlternateContent>
      <p:sp>
        <p:nvSpPr>
          <p:cNvPr id="7" name="TextBox 6">
            <a:extLst>
              <a:ext uri="{FF2B5EF4-FFF2-40B4-BE49-F238E27FC236}">
                <a16:creationId xmlns:a16="http://schemas.microsoft.com/office/drawing/2014/main" id="{3E348C74-CFE2-B72F-47B5-F56DFF766B62}"/>
              </a:ext>
            </a:extLst>
          </p:cNvPr>
          <p:cNvSpPr txBox="1"/>
          <p:nvPr/>
        </p:nvSpPr>
        <p:spPr>
          <a:xfrm>
            <a:off x="2202873" y="1648733"/>
            <a:ext cx="1316182" cy="369332"/>
          </a:xfrm>
          <a:prstGeom prst="rect">
            <a:avLst/>
          </a:prstGeom>
          <a:noFill/>
        </p:spPr>
        <p:txBody>
          <a:bodyPr wrap="square" rtlCol="0">
            <a:spAutoFit/>
          </a:bodyPr>
          <a:lstStyle/>
          <a:p>
            <a:r>
              <a:rPr lang="en-CN" dirty="0"/>
              <a:t>Boltzmann</a:t>
            </a:r>
          </a:p>
        </p:txBody>
      </p:sp>
      <p:sp>
        <p:nvSpPr>
          <p:cNvPr id="8" name="TextBox 7">
            <a:extLst>
              <a:ext uri="{FF2B5EF4-FFF2-40B4-BE49-F238E27FC236}">
                <a16:creationId xmlns:a16="http://schemas.microsoft.com/office/drawing/2014/main" id="{B5676F62-4E26-D4ED-DA80-E933F630E476}"/>
              </a:ext>
            </a:extLst>
          </p:cNvPr>
          <p:cNvSpPr txBox="1"/>
          <p:nvPr/>
        </p:nvSpPr>
        <p:spPr>
          <a:xfrm>
            <a:off x="2202873" y="505469"/>
            <a:ext cx="1485900" cy="369332"/>
          </a:xfrm>
          <a:prstGeom prst="rect">
            <a:avLst/>
          </a:prstGeom>
          <a:noFill/>
        </p:spPr>
        <p:txBody>
          <a:bodyPr wrap="square" rtlCol="0">
            <a:spAutoFit/>
          </a:bodyPr>
          <a:lstStyle/>
          <a:p>
            <a:r>
              <a:rPr lang="en-CN" dirty="0"/>
              <a:t>Bose-Einstein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D780D26-E9D0-A9A3-6BE2-FBDDBDC249AB}"/>
                  </a:ext>
                </a:extLst>
              </p:cNvPr>
              <p:cNvSpPr txBox="1"/>
              <p:nvPr/>
            </p:nvSpPr>
            <p:spPr>
              <a:xfrm>
                <a:off x="6927273" y="355025"/>
                <a:ext cx="4876800" cy="2147896"/>
              </a:xfrm>
              <a:prstGeom prst="rect">
                <a:avLst/>
              </a:prstGeom>
              <a:noFill/>
            </p:spPr>
            <p:txBody>
              <a:bodyPr wrap="square" rtlCol="0">
                <a:spAutoFit/>
              </a:bodyPr>
              <a:lstStyle/>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高温极限下</a:t>
                </a:r>
                <a:r>
                  <a:rPr lang="zh-CN" altLang="en-US" dirty="0">
                    <a:latin typeface="FangSong" panose="02010609060101010101" pitchFamily="49" charset="-122"/>
                    <a:ea typeface="FangSong" panose="02010609060101010101" pitchFamily="49" charset="-122"/>
                  </a:rPr>
                  <a:t>，两种统计都给出平均分布特点；</a:t>
                </a:r>
                <a:endParaRPr lang="en-US" altLang="zh-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zh-CN" altLang="en-US" dirty="0">
                    <a:latin typeface="FangSong" panose="02010609060101010101" pitchFamily="49" charset="-122"/>
                    <a:ea typeface="FangSong" panose="02010609060101010101" pitchFamily="49" charset="-122"/>
                  </a:rPr>
                  <a:t>对于不考虑量子特征的</a:t>
                </a:r>
                <a:r>
                  <a:rPr lang="en-US" altLang="zh-CN" dirty="0">
                    <a:latin typeface="FangSong" panose="02010609060101010101" pitchFamily="49" charset="-122"/>
                    <a:ea typeface="FangSong" panose="02010609060101010101" pitchFamily="49" charset="-122"/>
                  </a:rPr>
                  <a:t>B</a:t>
                </a:r>
                <a:r>
                  <a:rPr lang="zh-CN" altLang="en-US" dirty="0">
                    <a:latin typeface="FangSong" panose="02010609060101010101" pitchFamily="49" charset="-122"/>
                    <a:ea typeface="FangSong" panose="02010609060101010101" pitchFamily="49" charset="-122"/>
                  </a:rPr>
                  <a:t>统计，只有在温度极度低的时候，基态才会体现出可观的</a:t>
                </a:r>
                <a:r>
                  <a:rPr lang="zh-CN" altLang="en-CN" dirty="0">
                    <a:latin typeface="FangSong" panose="02010609060101010101" pitchFamily="49" charset="-122"/>
                    <a:ea typeface="FangSong" panose="02010609060101010101" pitchFamily="49" charset="-122"/>
                  </a:rPr>
                  <a:t>布局数</a:t>
                </a:r>
                <a:endParaRPr lang="en-US" altLang="zh-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zh-CN" altLang="en-US" dirty="0">
                    <a:latin typeface="FangSong" panose="02010609060101010101" pitchFamily="49" charset="-122"/>
                    <a:ea typeface="FangSong" panose="02010609060101010101" pitchFamily="49" charset="-122"/>
                  </a:rPr>
                  <a:t>但是对于考虑量子特征的</a:t>
                </a:r>
                <a:r>
                  <a:rPr lang="en-US" altLang="zh-CN" dirty="0">
                    <a:latin typeface="FangSong" panose="02010609060101010101" pitchFamily="49" charset="-122"/>
                    <a:ea typeface="FangSong" panose="02010609060101010101" pitchFamily="49" charset="-122"/>
                  </a:rPr>
                  <a:t>BE</a:t>
                </a:r>
                <a:r>
                  <a:rPr lang="zh-CN" altLang="en-US" dirty="0">
                    <a:latin typeface="FangSong" panose="02010609060101010101" pitchFamily="49" charset="-122"/>
                    <a:ea typeface="FangSong" panose="02010609060101010101" pitchFamily="49" charset="-122"/>
                  </a:rPr>
                  <a:t>统计，基态布局数即使在温度高于</a:t>
                </a:r>
                <a14:m>
                  <m:oMath xmlns:m="http://schemas.openxmlformats.org/officeDocument/2006/math">
                    <m:r>
                      <a:rPr lang="zh-CN" altLang="en-US" i="1" smtClean="0">
                        <a:latin typeface="Cambria Math" panose="02040503050406030204" pitchFamily="18" charset="0"/>
                      </a:rPr>
                      <m:t>𝜀</m:t>
                    </m:r>
                  </m:oMath>
                </a14:m>
                <a:r>
                  <a:rPr lang="en-CN" dirty="0">
                    <a:latin typeface="FangSong" panose="02010609060101010101" pitchFamily="49" charset="-122"/>
                    <a:ea typeface="FangSong" panose="02010609060101010101" pitchFamily="49" charset="-122"/>
                  </a:rPr>
                  <a:t>时</a:t>
                </a:r>
                <a:r>
                  <a:rPr lang="zh-CN" altLang="en-US" dirty="0">
                    <a:latin typeface="FangSong" panose="02010609060101010101" pitchFamily="49" charset="-122"/>
                    <a:ea typeface="FangSong" panose="02010609060101010101" pitchFamily="49" charset="-122"/>
                  </a:rPr>
                  <a:t>，也是可观的，比如</a:t>
                </a:r>
                <a14:m>
                  <m:oMath xmlns:m="http://schemas.openxmlformats.org/officeDocument/2006/math">
                    <m:f>
                      <m:fPr>
                        <m:ctrlPr>
                          <a:rPr lang="en-US" altLang="zh-CN" b="0" i="1" smtClean="0">
                            <a:latin typeface="Cambria Math" panose="02040503050406030204" pitchFamily="18" charset="0"/>
                          </a:rPr>
                        </m:ctrlPr>
                      </m:fPr>
                      <m:num>
                        <m:r>
                          <a:rPr lang="zh-CN" altLang="en-US" i="1" smtClean="0">
                            <a:latin typeface="Cambria Math" panose="02040503050406030204" pitchFamily="18" charset="0"/>
                          </a:rPr>
                          <m:t>𝜏</m:t>
                        </m:r>
                      </m:num>
                      <m:den>
                        <m:r>
                          <a:rPr lang="en-US" altLang="zh-CN" b="0" i="1" smtClean="0">
                            <a:latin typeface="Cambria Math" panose="02040503050406030204" pitchFamily="18" charset="0"/>
                            <a:ea typeface="Cambria Math" panose="02040503050406030204" pitchFamily="18" charset="0"/>
                          </a:rPr>
                          <m:t>𝜀</m:t>
                        </m:r>
                      </m:den>
                    </m:f>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𝑁</m:t>
                        </m:r>
                      </m:num>
                      <m:den>
                        <m:r>
                          <a:rPr lang="en-US" altLang="zh-CN" b="0" i="1" smtClean="0">
                            <a:latin typeface="Cambria Math" panose="02040503050406030204" pitchFamily="18" charset="0"/>
                            <a:ea typeface="Cambria Math" panose="02040503050406030204" pitchFamily="18" charset="0"/>
                          </a:rPr>
                          <m:t>10</m:t>
                        </m:r>
                      </m:den>
                    </m:f>
                    <m:r>
                      <a:rPr lang="zh-CN" altLang="en-CN" i="1">
                        <a:latin typeface="Cambria Math" panose="02040503050406030204" pitchFamily="18" charset="0"/>
                        <a:ea typeface="Cambria Math" panose="02040503050406030204" pitchFamily="18" charset="0"/>
                      </a:rPr>
                      <m:t>处</m:t>
                    </m:r>
                    <m:r>
                      <a:rPr lang="zh-CN" altLang="en-US" b="0" i="1" smtClean="0">
                        <a:latin typeface="Cambria Math" panose="02040503050406030204" pitchFamily="18" charset="0"/>
                        <a:ea typeface="Cambria Math" panose="02040503050406030204" pitchFamily="18" charset="0"/>
                      </a:rPr>
                      <m:t>，</m:t>
                    </m:r>
                    <m:r>
                      <a:rPr lang="zh-CN" altLang="en-US" i="1">
                        <a:latin typeface="Cambria Math" panose="02040503050406030204" pitchFamily="18" charset="0"/>
                        <a:ea typeface="Cambria Math" panose="02040503050406030204" pitchFamily="18" charset="0"/>
                      </a:rPr>
                      <m:t>我们</m:t>
                    </m:r>
                    <m:r>
                      <a:rPr lang="zh-CN" altLang="en-US" i="1" smtClean="0">
                        <a:latin typeface="Cambria Math" panose="02040503050406030204" pitchFamily="18" charset="0"/>
                        <a:ea typeface="Cambria Math" panose="02040503050406030204" pitchFamily="18" charset="0"/>
                      </a:rPr>
                      <m:t>发现</m:t>
                    </m:r>
                    <m:r>
                      <a:rPr lang="zh-CN" altLang="en-US" i="1">
                        <a:latin typeface="Cambria Math" panose="02040503050406030204" pitchFamily="18" charset="0"/>
                        <a:ea typeface="Cambria Math" panose="02040503050406030204" pitchFamily="18" charset="0"/>
                      </a:rPr>
                      <m:t>其</m:t>
                    </m:r>
                    <m:r>
                      <a:rPr lang="zh-CN" altLang="en-US" i="1" smtClean="0">
                        <a:latin typeface="Cambria Math" panose="02040503050406030204" pitchFamily="18" charset="0"/>
                        <a:ea typeface="Cambria Math" panose="02040503050406030204" pitchFamily="18" charset="0"/>
                      </a:rPr>
                      <m:t>基态</m:t>
                    </m:r>
                    <m:r>
                      <a:rPr lang="zh-CN" altLang="en-US" i="1">
                        <a:latin typeface="Cambria Math" panose="02040503050406030204" pitchFamily="18" charset="0"/>
                        <a:ea typeface="Cambria Math" panose="02040503050406030204" pitchFamily="18" charset="0"/>
                      </a:rPr>
                      <m:t>占据</m:t>
                    </m:r>
                    <m:r>
                      <a:rPr lang="zh-CN" altLang="en-US" i="1" smtClean="0">
                        <a:latin typeface="Cambria Math" panose="02040503050406030204" pitchFamily="18" charset="0"/>
                        <a:ea typeface="Cambria Math" panose="02040503050406030204" pitchFamily="18" charset="0"/>
                      </a:rPr>
                      <m:t>份额</m:t>
                    </m:r>
                    <m:r>
                      <a:rPr lang="zh-CN" altLang="en-US" i="1">
                        <a:latin typeface="Cambria Math" panose="02040503050406030204" pitchFamily="18" charset="0"/>
                        <a:ea typeface="Cambria Math" panose="02040503050406030204" pitchFamily="18" charset="0"/>
                      </a:rPr>
                      <m:t>为</m:t>
                    </m:r>
                    <m:r>
                      <a:rPr lang="en-US" altLang="zh-CN" b="0" i="1" smtClean="0">
                        <a:latin typeface="Cambria Math" panose="02040503050406030204" pitchFamily="18" charset="0"/>
                        <a:ea typeface="Cambria Math" panose="02040503050406030204" pitchFamily="18" charset="0"/>
                      </a:rPr>
                      <m:t>90%</m:t>
                    </m:r>
                  </m:oMath>
                </a14:m>
                <a:endParaRPr lang="en-CN" dirty="0">
                  <a:latin typeface="FangSong" panose="02010609060101010101" pitchFamily="49" charset="-122"/>
                  <a:ea typeface="FangSong" panose="02010609060101010101" pitchFamily="49" charset="-122"/>
                </a:endParaRPr>
              </a:p>
            </p:txBody>
          </p:sp>
        </mc:Choice>
        <mc:Fallback xmlns="">
          <p:sp>
            <p:nvSpPr>
              <p:cNvPr id="2" name="TextBox 1">
                <a:extLst>
                  <a:ext uri="{FF2B5EF4-FFF2-40B4-BE49-F238E27FC236}">
                    <a16:creationId xmlns:a16="http://schemas.microsoft.com/office/drawing/2014/main" id="{FD780D26-E9D0-A9A3-6BE2-FBDDBDC249AB}"/>
                  </a:ext>
                </a:extLst>
              </p:cNvPr>
              <p:cNvSpPr txBox="1">
                <a:spLocks noRot="1" noChangeAspect="1" noMove="1" noResize="1" noEditPoints="1" noAdjustHandles="1" noChangeArrowheads="1" noChangeShapeType="1" noTextEdit="1"/>
              </p:cNvSpPr>
              <p:nvPr/>
            </p:nvSpPr>
            <p:spPr>
              <a:xfrm>
                <a:off x="6927273" y="355025"/>
                <a:ext cx="4876800" cy="2147896"/>
              </a:xfrm>
              <a:prstGeom prst="rect">
                <a:avLst/>
              </a:prstGeom>
              <a:blipFill>
                <a:blip r:embed="rId5"/>
                <a:stretch>
                  <a:fillRect l="-779" t="-1170" r="-441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D719516-B62D-9654-11CC-A38CA893A94B}"/>
                  </a:ext>
                </a:extLst>
              </p:cNvPr>
              <p:cNvSpPr txBox="1"/>
              <p:nvPr/>
            </p:nvSpPr>
            <p:spPr>
              <a:xfrm>
                <a:off x="1289023" y="3333839"/>
                <a:ext cx="4099846" cy="6186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1</m:t>
                          </m:r>
                        </m:num>
                        <m:den>
                          <m:r>
                            <a:rPr lang="en-US" b="0" i="1" smtClean="0">
                              <a:solidFill>
                                <a:srgbClr val="FF0000"/>
                              </a:solidFill>
                              <a:latin typeface="Cambria Math" panose="02040503050406030204" pitchFamily="18" charset="0"/>
                            </a:rPr>
                            <m:t>𝑁</m:t>
                          </m:r>
                        </m:den>
                      </m:f>
                      <m:d>
                        <m:dPr>
                          <m:ctrlPr>
                            <a:rPr lang="en-US" b="0" i="1" smtClean="0">
                              <a:solidFill>
                                <a:srgbClr val="FF0000"/>
                              </a:solidFill>
                              <a:latin typeface="Cambria Math" panose="02040503050406030204" pitchFamily="18" charset="0"/>
                            </a:rPr>
                          </m:ctrlPr>
                        </m:dPr>
                        <m:e>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1</m:t>
                              </m:r>
                            </m:num>
                            <m:den>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𝜀</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𝜏</m:t>
                                  </m:r>
                                </m:sup>
                              </m:sSup>
                              <m:r>
                                <a:rPr lang="en-US" b="0" i="1" smtClean="0">
                                  <a:solidFill>
                                    <a:srgbClr val="FF0000"/>
                                  </a:solidFill>
                                  <a:latin typeface="Cambria Math" panose="02040503050406030204" pitchFamily="18" charset="0"/>
                                </a:rPr>
                                <m:t>−1</m:t>
                              </m:r>
                            </m:den>
                          </m:f>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𝑁</m:t>
                              </m:r>
                              <m:r>
                                <a:rPr lang="en-US" b="0" i="1" smtClean="0">
                                  <a:solidFill>
                                    <a:srgbClr val="FF0000"/>
                                  </a:solidFill>
                                  <a:latin typeface="Cambria Math" panose="02040503050406030204" pitchFamily="18" charset="0"/>
                                </a:rPr>
                                <m:t>+1</m:t>
                              </m:r>
                            </m:num>
                            <m:den>
                              <m:r>
                                <a:rPr lang="en-US" b="0" i="1" smtClean="0">
                                  <a:solidFill>
                                    <a:srgbClr val="FF0000"/>
                                  </a:solidFill>
                                  <a:latin typeface="Cambria Math" panose="02040503050406030204" pitchFamily="18" charset="0"/>
                                </a:rPr>
                                <m:t>1−</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𝑁</m:t>
                                  </m:r>
                                  <m:r>
                                    <a:rPr lang="en-US" b="0" i="1" smtClean="0">
                                      <a:solidFill>
                                        <a:srgbClr val="FF0000"/>
                                      </a:solidFill>
                                      <a:latin typeface="Cambria Math" panose="02040503050406030204" pitchFamily="18" charset="0"/>
                                    </a:rPr>
                                    <m:t>+1)</m:t>
                                  </m:r>
                                  <m:r>
                                    <a:rPr lang="en-US" b="0" i="1" smtClean="0">
                                      <a:solidFill>
                                        <a:srgbClr val="FF0000"/>
                                      </a:solidFill>
                                      <a:latin typeface="Cambria Math" panose="02040503050406030204" pitchFamily="18" charset="0"/>
                                      <a:ea typeface="Cambria Math" panose="02040503050406030204" pitchFamily="18" charset="0"/>
                                    </a:rPr>
                                    <m:t>𝜀</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𝜏</m:t>
                                  </m:r>
                                </m:sup>
                              </m:sSup>
                            </m:den>
                          </m:f>
                        </m:e>
                      </m:d>
                    </m:oMath>
                  </m:oMathPara>
                </a14:m>
                <a:endParaRPr lang="en-CN" dirty="0"/>
              </a:p>
            </p:txBody>
          </p:sp>
        </mc:Choice>
        <mc:Fallback xmlns="">
          <p:sp>
            <p:nvSpPr>
              <p:cNvPr id="10" name="TextBox 9">
                <a:extLst>
                  <a:ext uri="{FF2B5EF4-FFF2-40B4-BE49-F238E27FC236}">
                    <a16:creationId xmlns:a16="http://schemas.microsoft.com/office/drawing/2014/main" id="{0D719516-B62D-9654-11CC-A38CA893A94B}"/>
                  </a:ext>
                </a:extLst>
              </p:cNvPr>
              <p:cNvSpPr txBox="1">
                <a:spLocks noRot="1" noChangeAspect="1" noMove="1" noResize="1" noEditPoints="1" noAdjustHandles="1" noChangeArrowheads="1" noChangeShapeType="1" noTextEdit="1"/>
              </p:cNvSpPr>
              <p:nvPr/>
            </p:nvSpPr>
            <p:spPr>
              <a:xfrm>
                <a:off x="1289023" y="3333839"/>
                <a:ext cx="4099846" cy="618631"/>
              </a:xfrm>
              <a:prstGeom prst="rect">
                <a:avLst/>
              </a:prstGeom>
              <a:blipFill>
                <a:blip r:embed="rId6"/>
                <a:stretch>
                  <a:fillRect b="-4000"/>
                </a:stretch>
              </a:blipFill>
            </p:spPr>
            <p:txBody>
              <a:bodyPr/>
              <a:lstStyle/>
              <a:p>
                <a:r>
                  <a:rPr lang="en-CN">
                    <a:noFill/>
                  </a:rPr>
                  <a:t> </a:t>
                </a:r>
              </a:p>
            </p:txBody>
          </p:sp>
        </mc:Fallback>
      </mc:AlternateContent>
      <p:cxnSp>
        <p:nvCxnSpPr>
          <p:cNvPr id="12" name="Straight Connector 11">
            <a:extLst>
              <a:ext uri="{FF2B5EF4-FFF2-40B4-BE49-F238E27FC236}">
                <a16:creationId xmlns:a16="http://schemas.microsoft.com/office/drawing/2014/main" id="{1EAEDB02-7814-170E-303E-4614F544E1DC}"/>
              </a:ext>
            </a:extLst>
          </p:cNvPr>
          <p:cNvCxnSpPr/>
          <p:nvPr/>
        </p:nvCxnSpPr>
        <p:spPr>
          <a:xfrm>
            <a:off x="1066800" y="3153504"/>
            <a:ext cx="95873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758D4CE-4C4C-1CAC-10E5-E8BA13B2526E}"/>
              </a:ext>
            </a:extLst>
          </p:cNvPr>
          <p:cNvCxnSpPr/>
          <p:nvPr/>
        </p:nvCxnSpPr>
        <p:spPr>
          <a:xfrm flipH="1">
            <a:off x="1828800" y="4184073"/>
            <a:ext cx="1117023" cy="789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CA2AF39-0C7A-8BFA-8FBA-776EAD02B90F}"/>
              </a:ext>
            </a:extLst>
          </p:cNvPr>
          <p:cNvCxnSpPr>
            <a:cxnSpLocks/>
          </p:cNvCxnSpPr>
          <p:nvPr/>
        </p:nvCxnSpPr>
        <p:spPr>
          <a:xfrm>
            <a:off x="3251806" y="4239491"/>
            <a:ext cx="1016577" cy="7342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585D3AB-7B9A-1766-B234-A7362380FAA2}"/>
                  </a:ext>
                </a:extLst>
              </p:cNvPr>
              <p:cNvSpPr txBox="1"/>
              <p:nvPr/>
            </p:nvSpPr>
            <p:spPr>
              <a:xfrm>
                <a:off x="429491" y="5278582"/>
                <a:ext cx="2313709"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𝜀</m:t>
                          </m:r>
                        </m:num>
                        <m:den>
                          <m:r>
                            <a:rPr lang="en-US" b="0" i="1" smtClean="0">
                              <a:latin typeface="Cambria Math" panose="02040503050406030204" pitchFamily="18" charset="0"/>
                            </a:rPr>
                            <m:t>12</m:t>
                          </m:r>
                          <m:r>
                            <a:rPr lang="en-US" b="0" i="1" smtClean="0">
                              <a:latin typeface="Cambria Math" panose="02040503050406030204" pitchFamily="18" charset="0"/>
                              <a:ea typeface="Cambria Math" panose="02040503050406030204" pitchFamily="18" charset="0"/>
                            </a:rPr>
                            <m:t>𝜏</m:t>
                          </m:r>
                        </m:den>
                      </m:f>
                    </m:oMath>
                  </m:oMathPara>
                </a14:m>
                <a:endParaRPr lang="en-CN" dirty="0"/>
              </a:p>
            </p:txBody>
          </p:sp>
        </mc:Choice>
        <mc:Fallback xmlns="">
          <p:sp>
            <p:nvSpPr>
              <p:cNvPr id="17" name="TextBox 16">
                <a:extLst>
                  <a:ext uri="{FF2B5EF4-FFF2-40B4-BE49-F238E27FC236}">
                    <a16:creationId xmlns:a16="http://schemas.microsoft.com/office/drawing/2014/main" id="{9585D3AB-7B9A-1766-B234-A7362380FAA2}"/>
                  </a:ext>
                </a:extLst>
              </p:cNvPr>
              <p:cNvSpPr txBox="1">
                <a:spLocks noRot="1" noChangeAspect="1" noMove="1" noResize="1" noEditPoints="1" noAdjustHandles="1" noChangeArrowheads="1" noChangeShapeType="1" noTextEdit="1"/>
              </p:cNvSpPr>
              <p:nvPr/>
            </p:nvSpPr>
            <p:spPr>
              <a:xfrm>
                <a:off x="429491" y="5278582"/>
                <a:ext cx="2313709" cy="634789"/>
              </a:xfrm>
              <a:prstGeom prst="rect">
                <a:avLst/>
              </a:prstGeom>
              <a:blipFill>
                <a:blip r:embed="rId7"/>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AC553DA-7266-D239-F484-F6D1E7AD9630}"/>
                  </a:ext>
                </a:extLst>
              </p:cNvPr>
              <p:cNvSpPr txBox="1"/>
              <p:nvPr/>
            </p:nvSpPr>
            <p:spPr>
              <a:xfrm>
                <a:off x="3111528" y="5278582"/>
                <a:ext cx="2313709" cy="5629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1</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𝜏</m:t>
                          </m:r>
                        </m:num>
                        <m:den>
                          <m:r>
                            <a:rPr lang="en-US" b="0" i="1" smtClean="0">
                              <a:latin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𝜀</m:t>
                          </m:r>
                        </m:den>
                      </m:f>
                    </m:oMath>
                  </m:oMathPara>
                </a14:m>
                <a:endParaRPr lang="en-CN" dirty="0"/>
              </a:p>
            </p:txBody>
          </p:sp>
        </mc:Choice>
        <mc:Fallback xmlns="">
          <p:sp>
            <p:nvSpPr>
              <p:cNvPr id="18" name="TextBox 17">
                <a:extLst>
                  <a:ext uri="{FF2B5EF4-FFF2-40B4-BE49-F238E27FC236}">
                    <a16:creationId xmlns:a16="http://schemas.microsoft.com/office/drawing/2014/main" id="{3AC553DA-7266-D239-F484-F6D1E7AD9630}"/>
                  </a:ext>
                </a:extLst>
              </p:cNvPr>
              <p:cNvSpPr txBox="1">
                <a:spLocks noRot="1" noChangeAspect="1" noMove="1" noResize="1" noEditPoints="1" noAdjustHandles="1" noChangeArrowheads="1" noChangeShapeType="1" noTextEdit="1"/>
              </p:cNvSpPr>
              <p:nvPr/>
            </p:nvSpPr>
            <p:spPr>
              <a:xfrm>
                <a:off x="3111528" y="5278582"/>
                <a:ext cx="2313709" cy="562975"/>
              </a:xfrm>
              <a:prstGeom prst="rect">
                <a:avLst/>
              </a:prstGeom>
              <a:blipFill>
                <a:blip r:embed="rId8"/>
                <a:stretch>
                  <a:fillRect b="-6667"/>
                </a:stretch>
              </a:blipFill>
            </p:spPr>
            <p:txBody>
              <a:bodyPr/>
              <a:lstStyle/>
              <a:p>
                <a:r>
                  <a:rPr lang="en-CN">
                    <a:noFill/>
                  </a:rPr>
                  <a:t> </a:t>
                </a:r>
              </a:p>
            </p:txBody>
          </p:sp>
        </mc:Fallback>
      </mc:AlternateContent>
      <p:pic>
        <p:nvPicPr>
          <p:cNvPr id="19" name="Picture 18">
            <a:extLst>
              <a:ext uri="{FF2B5EF4-FFF2-40B4-BE49-F238E27FC236}">
                <a16:creationId xmlns:a16="http://schemas.microsoft.com/office/drawing/2014/main" id="{81EAC283-47AE-DC5E-3466-BE6CD5B362D3}"/>
              </a:ext>
            </a:extLst>
          </p:cNvPr>
          <p:cNvPicPr>
            <a:picLocks noChangeAspect="1"/>
          </p:cNvPicPr>
          <p:nvPr/>
        </p:nvPicPr>
        <p:blipFill>
          <a:blip r:embed="rId9"/>
          <a:stretch>
            <a:fillRect/>
          </a:stretch>
        </p:blipFill>
        <p:spPr>
          <a:xfrm>
            <a:off x="6243433" y="3342361"/>
            <a:ext cx="5020311" cy="3222739"/>
          </a:xfrm>
          <a:prstGeom prst="rect">
            <a:avLst/>
          </a:prstGeom>
        </p:spPr>
      </p:pic>
    </p:spTree>
    <p:extLst>
      <p:ext uri="{BB962C8B-B14F-4D97-AF65-F5344CB8AC3E}">
        <p14:creationId xmlns:p14="http://schemas.microsoft.com/office/powerpoint/2010/main" val="16696352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7E65FAB-D3DC-02FE-ED38-B8B91D1D3E40}"/>
                  </a:ext>
                </a:extLst>
              </p:cNvPr>
              <p:cNvSpPr txBox="1"/>
              <p:nvPr/>
            </p:nvSpPr>
            <p:spPr>
              <a:xfrm>
                <a:off x="2992583" y="558038"/>
                <a:ext cx="5666509" cy="6295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f>
                        <m:fPr>
                          <m:ctrlPr>
                            <a:rPr lang="en-CN"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CN" i="1" smtClean="0">
                                  <a:latin typeface="Cambria Math" panose="02040503050406030204" pitchFamily="18" charset="0"/>
                                </a:rPr>
                              </m:ctrlPr>
                            </m:sSupPr>
                            <m:e>
                              <m:r>
                                <a:rPr lang="en-US" b="0" i="1" smtClean="0">
                                  <a:latin typeface="Cambria Math" panose="02040503050406030204" pitchFamily="18" charset="0"/>
                                </a:rPr>
                                <m:t>𝑒</m:t>
                              </m:r>
                            </m:e>
                            <m:sup>
                              <m:d>
                                <m:dPr>
                                  <m:ctrlPr>
                                    <a:rPr lang="en-CN" i="1" smtClean="0">
                                      <a:latin typeface="Cambria Math" panose="02040503050406030204" pitchFamily="18" charset="0"/>
                                    </a:rPr>
                                  </m:ctrlPr>
                                </m:dPr>
                                <m:e>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rPr>
                            <m:t>−1</m:t>
                          </m:r>
                        </m:den>
                      </m:f>
                    </m:oMath>
                  </m:oMathPara>
                </a14:m>
                <a:endParaRPr lang="en-CN" dirty="0"/>
              </a:p>
            </p:txBody>
          </p:sp>
        </mc:Choice>
        <mc:Fallback xmlns="">
          <p:sp>
            <p:nvSpPr>
              <p:cNvPr id="9" name="TextBox 8">
                <a:extLst>
                  <a:ext uri="{FF2B5EF4-FFF2-40B4-BE49-F238E27FC236}">
                    <a16:creationId xmlns:a16="http://schemas.microsoft.com/office/drawing/2014/main" id="{37E65FAB-D3DC-02FE-ED38-B8B91D1D3E40}"/>
                  </a:ext>
                </a:extLst>
              </p:cNvPr>
              <p:cNvSpPr txBox="1">
                <a:spLocks noRot="1" noChangeAspect="1" noMove="1" noResize="1" noEditPoints="1" noAdjustHandles="1" noChangeArrowheads="1" noChangeShapeType="1" noTextEdit="1"/>
              </p:cNvSpPr>
              <p:nvPr/>
            </p:nvSpPr>
            <p:spPr>
              <a:xfrm>
                <a:off x="2992583" y="558038"/>
                <a:ext cx="5666509" cy="629596"/>
              </a:xfrm>
              <a:prstGeom prst="rect">
                <a:avLst/>
              </a:prstGeom>
              <a:blipFill>
                <a:blip r:embed="rId2"/>
                <a:stretch>
                  <a:fillRect b="-2000"/>
                </a:stretch>
              </a:blipFill>
            </p:spPr>
            <p:txBody>
              <a:bodyPr/>
              <a:lstStyle/>
              <a:p>
                <a:r>
                  <a:rPr lang="en-CN">
                    <a:noFill/>
                  </a:rPr>
                  <a:t> </a:t>
                </a:r>
              </a:p>
            </p:txBody>
          </p:sp>
        </mc:Fallback>
      </mc:AlternateContent>
      <p:sp>
        <p:nvSpPr>
          <p:cNvPr id="4" name="TextBox 3">
            <a:extLst>
              <a:ext uri="{FF2B5EF4-FFF2-40B4-BE49-F238E27FC236}">
                <a16:creationId xmlns:a16="http://schemas.microsoft.com/office/drawing/2014/main" id="{52682F02-6503-1AF0-BC27-526CAC7C415B}"/>
              </a:ext>
            </a:extLst>
          </p:cNvPr>
          <p:cNvSpPr txBox="1"/>
          <p:nvPr/>
        </p:nvSpPr>
        <p:spPr>
          <a:xfrm>
            <a:off x="290944" y="193964"/>
            <a:ext cx="7426037"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让我们从玻色爱因斯坦分布出发</a:t>
            </a:r>
            <a:r>
              <a:rPr lang="zh-CN" altLang="en-US" dirty="0">
                <a:latin typeface="FangSong" panose="02010609060101010101" pitchFamily="49" charset="-122"/>
                <a:ea typeface="FangSong" panose="02010609060101010101" pitchFamily="49" charset="-122"/>
              </a:rPr>
              <a:t>，计算基态（定义为零）布局数</a:t>
            </a:r>
            <a:endParaRPr lang="en-CN" dirty="0">
              <a:latin typeface="FangSong" panose="02010609060101010101" pitchFamily="49" charset="-122"/>
              <a:ea typeface="FangSong" panose="02010609060101010101" pitchFamily="49" charset="-122"/>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4C723DD-4AD3-C290-A950-B144904BF81D}"/>
                  </a:ext>
                </a:extLst>
              </p:cNvPr>
              <p:cNvSpPr txBox="1"/>
              <p:nvPr/>
            </p:nvSpPr>
            <p:spPr>
              <a:xfrm>
                <a:off x="290944" y="1367042"/>
                <a:ext cx="11333020"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由此可得基态布局数只是依赖于化学势和温度(注意bose气体的化学势小于任何能级</a:t>
                </a:r>
                <a:r>
                  <a:rPr lang="zh-CN" altLang="en-US" dirty="0">
                    <a:latin typeface="FangSong" panose="02010609060101010101" pitchFamily="49" charset="-122"/>
                    <a:ea typeface="FangSong" panose="02010609060101010101" pitchFamily="49" charset="-122"/>
                  </a:rPr>
                  <a:t>，即</a:t>
                </a:r>
                <a14:m>
                  <m:oMath xmlns:m="http://schemas.openxmlformats.org/officeDocument/2006/math">
                    <m:r>
                      <a:rPr lang="zh-CN" altLang="en-US" i="1" smtClean="0">
                        <a:latin typeface="Cambria Math" panose="02040503050406030204" pitchFamily="18" charset="0"/>
                        <a:ea typeface="FangSong" panose="02010609060101010101" pitchFamily="49" charset="-122"/>
                      </a:rPr>
                      <m:t>𝜇</m:t>
                    </m:r>
                    <m:r>
                      <a:rPr lang="en-US" altLang="zh-CN" b="0" i="1" smtClean="0">
                        <a:latin typeface="Cambria Math" panose="02040503050406030204" pitchFamily="18" charset="0"/>
                        <a:ea typeface="FangSong" panose="02010609060101010101" pitchFamily="49" charset="-122"/>
                      </a:rPr>
                      <m:t>&lt;0 </m:t>
                    </m:r>
                    <m:r>
                      <a:rPr lang="en-US" altLang="zh-CN" b="0" i="1" smtClean="0">
                        <a:latin typeface="Cambria Math" panose="02040503050406030204" pitchFamily="18" charset="0"/>
                        <a:ea typeface="FangSong" panose="02010609060101010101" pitchFamily="49" charset="-122"/>
                      </a:rPr>
                      <m:t>𝑤h𝑒𝑛</m:t>
                    </m:r>
                    <m:r>
                      <a:rPr lang="en-US" altLang="zh-CN" b="0" i="1" smtClean="0">
                        <a:latin typeface="Cambria Math" panose="02040503050406030204" pitchFamily="18" charset="0"/>
                        <a:ea typeface="FangSong" panose="02010609060101010101" pitchFamily="49" charset="-122"/>
                      </a:rPr>
                      <m:t> </m:t>
                    </m:r>
                    <m:sSub>
                      <m:sSubPr>
                        <m:ctrlPr>
                          <a:rPr lang="en-US" altLang="zh-CN" b="0" i="1" smtClean="0">
                            <a:latin typeface="Cambria Math" panose="02040503050406030204" pitchFamily="18" charset="0"/>
                            <a:ea typeface="FangSong" panose="02010609060101010101" pitchFamily="49" charset="-122"/>
                          </a:rPr>
                        </m:ctrlPr>
                      </m:sSubPr>
                      <m:e>
                        <m:r>
                          <a:rPr lang="en-US" altLang="zh-CN" b="0"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ea typeface="FangSong" panose="02010609060101010101" pitchFamily="49" charset="-122"/>
                          </a:rPr>
                          <m:t>0</m:t>
                        </m:r>
                      </m:sub>
                    </m:sSub>
                    <m:r>
                      <a:rPr lang="en-US" altLang="zh-CN" b="0" i="1" smtClean="0">
                        <a:latin typeface="Cambria Math" panose="02040503050406030204" pitchFamily="18" charset="0"/>
                        <a:ea typeface="FangSong" panose="02010609060101010101" pitchFamily="49" charset="-122"/>
                      </a:rPr>
                      <m:t>=0</m:t>
                    </m:r>
                  </m:oMath>
                </a14:m>
                <a:r>
                  <a:rPr lang="en-CN" dirty="0">
                    <a:latin typeface="FangSong" panose="02010609060101010101" pitchFamily="49" charset="-122"/>
                    <a:ea typeface="FangSong" panose="02010609060101010101" pitchFamily="49" charset="-122"/>
                  </a:rPr>
                  <a:t>)</a:t>
                </a:r>
              </a:p>
            </p:txBody>
          </p:sp>
        </mc:Choice>
        <mc:Fallback xmlns="">
          <p:sp>
            <p:nvSpPr>
              <p:cNvPr id="10" name="TextBox 9">
                <a:extLst>
                  <a:ext uri="{FF2B5EF4-FFF2-40B4-BE49-F238E27FC236}">
                    <a16:creationId xmlns:a16="http://schemas.microsoft.com/office/drawing/2014/main" id="{A4C723DD-4AD3-C290-A950-B144904BF81D}"/>
                  </a:ext>
                </a:extLst>
              </p:cNvPr>
              <p:cNvSpPr txBox="1">
                <a:spLocks noRot="1" noChangeAspect="1" noMove="1" noResize="1" noEditPoints="1" noAdjustHandles="1" noChangeArrowheads="1" noChangeShapeType="1" noTextEdit="1"/>
              </p:cNvSpPr>
              <p:nvPr/>
            </p:nvSpPr>
            <p:spPr>
              <a:xfrm>
                <a:off x="290944" y="1367042"/>
                <a:ext cx="11333020" cy="369332"/>
              </a:xfrm>
              <a:prstGeom prst="rect">
                <a:avLst/>
              </a:prstGeom>
              <a:blipFill>
                <a:blip r:embed="rId3"/>
                <a:stretch>
                  <a:fillRect l="-560" t="-10000" b="-2333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FB167C4-94CA-878A-1678-CE135975DD62}"/>
                  </a:ext>
                </a:extLst>
              </p:cNvPr>
              <p:cNvSpPr txBox="1"/>
              <p:nvPr/>
            </p:nvSpPr>
            <p:spPr>
              <a:xfrm>
                <a:off x="2992583" y="1789683"/>
                <a:ext cx="5666509" cy="6295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𝑔𝑟𝑜𝑢𝑛𝑑</m:t>
                              </m:r>
                            </m:sub>
                          </m:sSub>
                        </m:e>
                      </m:d>
                      <m:r>
                        <a:rPr lang="en-US" b="0" i="1" smtClean="0">
                          <a:latin typeface="Cambria Math" panose="02040503050406030204" pitchFamily="18" charset="0"/>
                        </a:rPr>
                        <m:t>=</m:t>
                      </m:r>
                      <m:f>
                        <m:fPr>
                          <m:ctrlPr>
                            <a:rPr lang="en-CN"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CN"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rPr>
                            <m:t>−1</m:t>
                          </m:r>
                        </m:den>
                      </m:f>
                    </m:oMath>
                  </m:oMathPara>
                </a14:m>
                <a:endParaRPr lang="en-CN" dirty="0"/>
              </a:p>
            </p:txBody>
          </p:sp>
        </mc:Choice>
        <mc:Fallback xmlns="">
          <p:sp>
            <p:nvSpPr>
              <p:cNvPr id="11" name="TextBox 10">
                <a:extLst>
                  <a:ext uri="{FF2B5EF4-FFF2-40B4-BE49-F238E27FC236}">
                    <a16:creationId xmlns:a16="http://schemas.microsoft.com/office/drawing/2014/main" id="{5FB167C4-94CA-878A-1678-CE135975DD62}"/>
                  </a:ext>
                </a:extLst>
              </p:cNvPr>
              <p:cNvSpPr txBox="1">
                <a:spLocks noRot="1" noChangeAspect="1" noMove="1" noResize="1" noEditPoints="1" noAdjustHandles="1" noChangeArrowheads="1" noChangeShapeType="1" noTextEdit="1"/>
              </p:cNvSpPr>
              <p:nvPr/>
            </p:nvSpPr>
            <p:spPr>
              <a:xfrm>
                <a:off x="2992583" y="1789683"/>
                <a:ext cx="5666509" cy="629596"/>
              </a:xfrm>
              <a:prstGeom prst="rect">
                <a:avLst/>
              </a:prstGeom>
              <a:blipFill>
                <a:blip r:embed="rId4"/>
                <a:stretch>
                  <a:fillRect b="-20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20D73C3-7AC9-E000-EBBD-56401FF35E3B}"/>
                  </a:ext>
                </a:extLst>
              </p:cNvPr>
              <p:cNvSpPr txBox="1"/>
              <p:nvPr/>
            </p:nvSpPr>
            <p:spPr>
              <a:xfrm>
                <a:off x="290944" y="2540120"/>
                <a:ext cx="11333020" cy="548483"/>
              </a:xfrm>
              <a:prstGeom prst="rect">
                <a:avLst/>
              </a:prstGeom>
              <a:noFill/>
            </p:spPr>
            <p:txBody>
              <a:bodyPr wrap="square" rtlCol="0">
                <a:spAutoFit/>
              </a:bodyPr>
              <a:lstStyle/>
              <a:p>
                <a:r>
                  <a:rPr lang="en-US" dirty="0">
                    <a:latin typeface="FangSong" panose="02010609060101010101" pitchFamily="49" charset="-122"/>
                    <a:ea typeface="FangSong" panose="02010609060101010101" pitchFamily="49" charset="-122"/>
                  </a:rPr>
                  <a:t>从而可以把化学势用N</a:t>
                </a:r>
                <a:r>
                  <a:rPr lang="en-US" baseline="-25000" dirty="0" err="1">
                    <a:latin typeface="FangSong" panose="02010609060101010101" pitchFamily="49" charset="-122"/>
                    <a:ea typeface="FangSong" panose="02010609060101010101" pitchFamily="49" charset="-122"/>
                  </a:rPr>
                  <a:t>ground</a:t>
                </a:r>
                <a:r>
                  <a:rPr lang="en-CN" dirty="0">
                    <a:latin typeface="FangSong" panose="02010609060101010101" pitchFamily="49" charset="-122"/>
                    <a:ea typeface="FangSong" panose="02010609060101010101" pitchFamily="49" charset="-122"/>
                  </a:rPr>
                  <a:t>来表达</a:t>
                </a:r>
                <a:r>
                  <a:rPr lang="zh-CN" altLang="en-US" dirty="0">
                    <a:latin typeface="FangSong" panose="02010609060101010101" pitchFamily="49" charset="-122"/>
                    <a:ea typeface="FangSong" panose="02010609060101010101" pitchFamily="49" charset="-122"/>
                  </a:rPr>
                  <a:t>，</a:t>
                </a:r>
                <a14:m>
                  <m:oMath xmlns:m="http://schemas.openxmlformats.org/officeDocument/2006/math">
                    <m:sSup>
                      <m:sSupPr>
                        <m:ctrlPr>
                          <a:rPr lang="en-US" altLang="zh-CN" i="1" smtClean="0">
                            <a:latin typeface="Cambria Math" panose="02040503050406030204" pitchFamily="18" charset="0"/>
                            <a:ea typeface="FangSong" panose="02010609060101010101" pitchFamily="49" charset="-122"/>
                          </a:rPr>
                        </m:ctrlPr>
                      </m:sSupPr>
                      <m:e>
                        <m:r>
                          <a:rPr lang="en-US" altLang="zh-CN" b="0" i="1" smtClean="0">
                            <a:latin typeface="Cambria Math" panose="02040503050406030204" pitchFamily="18" charset="0"/>
                            <a:ea typeface="FangSong" panose="02010609060101010101" pitchFamily="49" charset="-122"/>
                          </a:rPr>
                          <m:t>𝑒</m:t>
                        </m:r>
                      </m:e>
                      <m:sup>
                        <m:r>
                          <a:rPr lang="en-US" altLang="zh-CN" b="0" i="1" smtClean="0">
                            <a:latin typeface="Cambria Math" panose="02040503050406030204" pitchFamily="18" charset="0"/>
                            <a:ea typeface="FangSong" panose="02010609060101010101" pitchFamily="49" charset="-122"/>
                          </a:rPr>
                          <m:t>−</m:t>
                        </m:r>
                        <m:r>
                          <a:rPr lang="en-US" altLang="zh-CN" b="0" i="1" smtClean="0">
                            <a:latin typeface="Cambria Math" panose="02040503050406030204" pitchFamily="18" charset="0"/>
                            <a:ea typeface="Cambria Math" panose="02040503050406030204" pitchFamily="18" charset="0"/>
                          </a:rPr>
                          <m:t>𝜇</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𝜏</m:t>
                        </m:r>
                      </m:sup>
                    </m:sSup>
                    <m:r>
                      <a:rPr lang="en-US" altLang="zh-CN" b="0" i="1" smtClean="0">
                        <a:latin typeface="Cambria Math" panose="02040503050406030204" pitchFamily="18" charset="0"/>
                        <a:ea typeface="FangSong" panose="02010609060101010101" pitchFamily="49" charset="-122"/>
                      </a:rPr>
                      <m:t>=</m:t>
                    </m:r>
                    <m:f>
                      <m:fPr>
                        <m:ctrlPr>
                          <a:rPr lang="en-US" altLang="zh-CN" b="0" i="1" smtClean="0">
                            <a:latin typeface="Cambria Math" panose="02040503050406030204" pitchFamily="18" charset="0"/>
                            <a:ea typeface="FangSong" panose="02010609060101010101" pitchFamily="49" charset="-122"/>
                          </a:rPr>
                        </m:ctrlPr>
                      </m:fPr>
                      <m:num>
                        <m:r>
                          <a:rPr lang="en-US" altLang="zh-CN" b="0" i="1" smtClean="0">
                            <a:latin typeface="Cambria Math" panose="02040503050406030204" pitchFamily="18" charset="0"/>
                            <a:ea typeface="FangSong" panose="02010609060101010101" pitchFamily="49" charset="-122"/>
                          </a:rPr>
                          <m:t>1</m:t>
                        </m:r>
                      </m:num>
                      <m:den>
                        <m:d>
                          <m:dPr>
                            <m:begChr m:val="⟨"/>
                            <m:endChr m:val="⟩"/>
                            <m:ctrlPr>
                              <a:rPr lang="en-US" altLang="zh-CN" b="0" i="1" smtClean="0">
                                <a:latin typeface="Cambria Math" panose="02040503050406030204" pitchFamily="18" charset="0"/>
                                <a:ea typeface="FangSong" panose="02010609060101010101" pitchFamily="49" charset="-122"/>
                              </a:rPr>
                            </m:ctrlPr>
                          </m:dPr>
                          <m:e>
                            <m:sSub>
                              <m:sSubPr>
                                <m:ctrlPr>
                                  <a:rPr lang="en-US" altLang="zh-CN" b="0" i="1" smtClean="0">
                                    <a:latin typeface="Cambria Math" panose="02040503050406030204" pitchFamily="18" charset="0"/>
                                    <a:ea typeface="FangSong" panose="02010609060101010101" pitchFamily="49" charset="-122"/>
                                  </a:rPr>
                                </m:ctrlPr>
                              </m:sSubPr>
                              <m:e>
                                <m:r>
                                  <a:rPr lang="en-US" altLang="zh-CN" b="0" i="1" smtClean="0">
                                    <a:latin typeface="Cambria Math" panose="02040503050406030204" pitchFamily="18" charset="0"/>
                                    <a:ea typeface="FangSong" panose="02010609060101010101" pitchFamily="49" charset="-122"/>
                                  </a:rPr>
                                  <m:t>𝑁</m:t>
                                </m:r>
                              </m:e>
                              <m:sub>
                                <m:r>
                                  <a:rPr lang="en-US" altLang="zh-CN" b="0" i="1" smtClean="0">
                                    <a:latin typeface="Cambria Math" panose="02040503050406030204" pitchFamily="18" charset="0"/>
                                    <a:ea typeface="FangSong" panose="02010609060101010101" pitchFamily="49" charset="-122"/>
                                  </a:rPr>
                                  <m:t>𝑔𝑟𝑜𝑢𝑛𝑑</m:t>
                                </m:r>
                              </m:sub>
                            </m:sSub>
                          </m:e>
                        </m:d>
                      </m:den>
                    </m:f>
                    <m:r>
                      <a:rPr lang="en-US" altLang="zh-CN" b="0" i="1" smtClean="0">
                        <a:latin typeface="Cambria Math" panose="02040503050406030204" pitchFamily="18" charset="0"/>
                        <a:ea typeface="FangSong" panose="02010609060101010101" pitchFamily="49" charset="-122"/>
                      </a:rPr>
                      <m:t>+1</m:t>
                    </m:r>
                  </m:oMath>
                </a14:m>
                <a:endParaRPr lang="en-CN" dirty="0">
                  <a:latin typeface="FangSong" panose="02010609060101010101" pitchFamily="49" charset="-122"/>
                  <a:ea typeface="FangSong" panose="02010609060101010101" pitchFamily="49" charset="-122"/>
                </a:endParaRPr>
              </a:p>
            </p:txBody>
          </p:sp>
        </mc:Choice>
        <mc:Fallback xmlns="">
          <p:sp>
            <p:nvSpPr>
              <p:cNvPr id="12" name="TextBox 11">
                <a:extLst>
                  <a:ext uri="{FF2B5EF4-FFF2-40B4-BE49-F238E27FC236}">
                    <a16:creationId xmlns:a16="http://schemas.microsoft.com/office/drawing/2014/main" id="{420D73C3-7AC9-E000-EBBD-56401FF35E3B}"/>
                  </a:ext>
                </a:extLst>
              </p:cNvPr>
              <p:cNvSpPr txBox="1">
                <a:spLocks noRot="1" noChangeAspect="1" noMove="1" noResize="1" noEditPoints="1" noAdjustHandles="1" noChangeArrowheads="1" noChangeShapeType="1" noTextEdit="1"/>
              </p:cNvSpPr>
              <p:nvPr/>
            </p:nvSpPr>
            <p:spPr>
              <a:xfrm>
                <a:off x="290944" y="2540120"/>
                <a:ext cx="11333020" cy="548483"/>
              </a:xfrm>
              <a:prstGeom prst="rect">
                <a:avLst/>
              </a:prstGeom>
              <a:blipFill>
                <a:blip r:embed="rId5"/>
                <a:stretch>
                  <a:fillRect l="-560" t="-2273" b="-227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E811477-203A-9565-D439-F5ECFE34650B}"/>
                  </a:ext>
                </a:extLst>
              </p:cNvPr>
              <p:cNvSpPr txBox="1"/>
              <p:nvPr/>
            </p:nvSpPr>
            <p:spPr>
              <a:xfrm>
                <a:off x="290944" y="3400066"/>
                <a:ext cx="11333020" cy="1317668"/>
              </a:xfrm>
              <a:prstGeom prst="rect">
                <a:avLst/>
              </a:prstGeom>
              <a:noFill/>
            </p:spPr>
            <p:txBody>
              <a:bodyPr wrap="square" rtlCol="0">
                <a:spAutoFit/>
              </a:bodyPr>
              <a:lstStyle/>
              <a:p>
                <a:r>
                  <a:rPr lang="en-US" dirty="0">
                    <a:latin typeface="FangSong" panose="02010609060101010101" pitchFamily="49" charset="-122"/>
                    <a:ea typeface="FangSong" panose="02010609060101010101" pitchFamily="49" charset="-122"/>
                  </a:rPr>
                  <a:t>系统总粒子数可以表示为</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FangSong" panose="02010609060101010101" pitchFamily="49" charset="-122"/>
                        </a:rPr>
                        <m:t>𝑁</m:t>
                      </m:r>
                      <m:r>
                        <a:rPr lang="en-US" b="0" i="1" smtClean="0">
                          <a:latin typeface="Cambria Math" panose="02040503050406030204" pitchFamily="18" charset="0"/>
                          <a:ea typeface="FangSong" panose="02010609060101010101" pitchFamily="49" charset="-122"/>
                        </a:rPr>
                        <m:t>=</m:t>
                      </m:r>
                      <m:nary>
                        <m:naryPr>
                          <m:chr m:val="∑"/>
                          <m:supHide m:val="on"/>
                          <m:ctrlPr>
                            <a:rPr lang="en-US" b="0" i="1" smtClean="0">
                              <a:latin typeface="Cambria Math" panose="02040503050406030204" pitchFamily="18" charset="0"/>
                              <a:ea typeface="FangSong" panose="02010609060101010101" pitchFamily="49" charset="-122"/>
                            </a:rPr>
                          </m:ctrlPr>
                        </m:naryPr>
                        <m:sub>
                          <m:r>
                            <m:rPr>
                              <m:brk m:alnAt="7"/>
                            </m:rPr>
                            <a:rPr lang="en-US" b="0" i="1" smtClean="0">
                              <a:latin typeface="Cambria Math" panose="02040503050406030204" pitchFamily="18" charset="0"/>
                              <a:ea typeface="FangSong" panose="02010609060101010101" pitchFamily="49" charset="-122"/>
                            </a:rPr>
                            <m:t>𝑖</m:t>
                          </m:r>
                        </m:sub>
                        <m:sup/>
                        <m:e>
                          <m:f>
                            <m:fPr>
                              <m:ctrlPr>
                                <a:rPr lang="en-US" b="0" i="1" smtClean="0">
                                  <a:latin typeface="Cambria Math" panose="02040503050406030204" pitchFamily="18" charset="0"/>
                                  <a:ea typeface="FangSong" panose="02010609060101010101" pitchFamily="49" charset="-122"/>
                                </a:rPr>
                              </m:ctrlPr>
                            </m:fPr>
                            <m:num>
                              <m:r>
                                <a:rPr lang="en-US" b="0" i="1" smtClean="0">
                                  <a:latin typeface="Cambria Math" panose="02040503050406030204" pitchFamily="18" charset="0"/>
                                  <a:ea typeface="FangSong" panose="02010609060101010101" pitchFamily="49" charset="-122"/>
                                </a:rPr>
                                <m:t>1</m:t>
                              </m:r>
                            </m:num>
                            <m:den>
                              <m:sSup>
                                <m:sSupPr>
                                  <m:ctrlPr>
                                    <a:rPr lang="en-CN" i="1">
                                      <a:latin typeface="Cambria Math" panose="02040503050406030204" pitchFamily="18" charset="0"/>
                                    </a:rPr>
                                  </m:ctrlPr>
                                </m:sSupPr>
                                <m:e>
                                  <m:r>
                                    <a:rPr lang="en-US" i="1">
                                      <a:latin typeface="Cambria Math" panose="02040503050406030204" pitchFamily="18" charset="0"/>
                                    </a:rPr>
                                    <m:t>𝑒</m:t>
                                  </m:r>
                                </m:e>
                                <m:sup>
                                  <m:d>
                                    <m:dPr>
                                      <m:ctrlPr>
                                        <a:rPr lang="en-CN" i="1">
                                          <a:latin typeface="Cambria Math" panose="02040503050406030204" pitchFamily="18" charset="0"/>
                                        </a:rPr>
                                      </m:ctrlPr>
                                    </m:dPr>
                                    <m:e>
                                      <m:sSub>
                                        <m:sSubPr>
                                          <m:ctrlPr>
                                            <a:rPr lang="en-CN" i="1">
                                              <a:latin typeface="Cambria Math" panose="02040503050406030204" pitchFamily="18" charset="0"/>
                                            </a:rPr>
                                          </m:ctrlPr>
                                        </m:sSubPr>
                                        <m:e>
                                          <m:r>
                                            <a:rPr lang="en-CN"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𝜇</m:t>
                                      </m:r>
                                    </m:e>
                                  </m:d>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𝜏</m:t>
                                  </m:r>
                                </m:sup>
                              </m:sSup>
                              <m:r>
                                <a:rPr lang="en-US" i="1">
                                  <a:latin typeface="Cambria Math" panose="02040503050406030204" pitchFamily="18" charset="0"/>
                                </a:rPr>
                                <m:t>−1</m:t>
                              </m:r>
                            </m:den>
                          </m:f>
                          <m:r>
                            <a:rPr lang="en-US" b="0" i="1" smtClean="0">
                              <a:latin typeface="Cambria Math" panose="02040503050406030204" pitchFamily="18" charset="0"/>
                              <a:ea typeface="FangSong" panose="02010609060101010101" pitchFamily="49" charset="-122"/>
                            </a:rPr>
                            <m:t>=</m:t>
                          </m:r>
                          <m:nary>
                            <m:naryPr>
                              <m:chr m:val="∑"/>
                              <m:supHide m:val="on"/>
                              <m:ctrlPr>
                                <a:rPr lang="en-US" b="0" i="1" smtClean="0">
                                  <a:latin typeface="Cambria Math" panose="02040503050406030204" pitchFamily="18" charset="0"/>
                                  <a:ea typeface="FangSong" panose="02010609060101010101" pitchFamily="49" charset="-122"/>
                                </a:rPr>
                              </m:ctrlPr>
                            </m:naryPr>
                            <m:sub>
                              <m:r>
                                <m:rPr>
                                  <m:brk m:alnAt="7"/>
                                </m:rPr>
                                <a:rPr lang="en-US" b="0" i="1" smtClean="0">
                                  <a:latin typeface="Cambria Math" panose="02040503050406030204" pitchFamily="18" charset="0"/>
                                  <a:ea typeface="FangSong" panose="02010609060101010101" pitchFamily="49" charset="-122"/>
                                </a:rPr>
                                <m:t>𝑖</m:t>
                              </m:r>
                            </m:sub>
                            <m:sup/>
                            <m:e>
                              <m:f>
                                <m:fPr>
                                  <m:ctrlPr>
                                    <a:rPr lang="en-US" b="0" i="1" smtClean="0">
                                      <a:latin typeface="Cambria Math" panose="02040503050406030204" pitchFamily="18" charset="0"/>
                                      <a:ea typeface="FangSong" panose="02010609060101010101" pitchFamily="49" charset="-122"/>
                                    </a:rPr>
                                  </m:ctrlPr>
                                </m:fPr>
                                <m:num>
                                  <m:r>
                                    <a:rPr lang="en-US" b="0" i="1" smtClean="0">
                                      <a:latin typeface="Cambria Math" panose="02040503050406030204" pitchFamily="18" charset="0"/>
                                      <a:ea typeface="FangSong" panose="02010609060101010101" pitchFamily="49" charset="-122"/>
                                    </a:rPr>
                                    <m:t>1</m:t>
                                  </m:r>
                                </m:num>
                                <m:den>
                                  <m:sSup>
                                    <m:sSupPr>
                                      <m:ctrlPr>
                                        <a:rPr lang="en-US" b="0" i="1" smtClean="0">
                                          <a:latin typeface="Cambria Math" panose="02040503050406030204" pitchFamily="18" charset="0"/>
                                          <a:ea typeface="FangSong" panose="02010609060101010101" pitchFamily="49" charset="-122"/>
                                        </a:rPr>
                                      </m:ctrlPr>
                                    </m:sSupPr>
                                    <m:e>
                                      <m:r>
                                        <a:rPr lang="en-US" b="0" i="1" smtClean="0">
                                          <a:latin typeface="Cambria Math" panose="02040503050406030204" pitchFamily="18" charset="0"/>
                                          <a:ea typeface="FangSong" panose="02010609060101010101" pitchFamily="49" charset="-122"/>
                                        </a:rPr>
                                        <m:t>𝑒</m:t>
                                      </m:r>
                                    </m:e>
                                    <m:sup>
                                      <m:sSub>
                                        <m:sSubPr>
                                          <m:ctrlPr>
                                            <a:rPr lang="en-US" b="0" i="1" smtClean="0">
                                              <a:latin typeface="Cambria Math" panose="02040503050406030204" pitchFamily="18" charset="0"/>
                                              <a:ea typeface="FangSong" panose="02010609060101010101" pitchFamily="49" charset="-122"/>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ea typeface="FangSong" panose="02010609060101010101" pitchFamily="49" charset="-122"/>
                                            </a:rPr>
                                            <m:t>𝑖</m:t>
                                          </m:r>
                                        </m:sub>
                                      </m:sSub>
                                      <m:r>
                                        <a:rPr lang="en-US" b="0" i="1" smtClean="0">
                                          <a:latin typeface="Cambria Math" panose="02040503050406030204" pitchFamily="18" charset="0"/>
                                          <a:ea typeface="FangSong" panose="02010609060101010101" pitchFamily="49" charset="-122"/>
                                        </a:rPr>
                                        <m:t>/</m:t>
                                      </m:r>
                                      <m:r>
                                        <a:rPr lang="en-US" b="0" i="1" smtClean="0">
                                          <a:latin typeface="Cambria Math" panose="02040503050406030204" pitchFamily="18" charset="0"/>
                                          <a:ea typeface="Cambria Math" panose="02040503050406030204" pitchFamily="18" charset="0"/>
                                        </a:rPr>
                                        <m:t>𝜏</m:t>
                                      </m:r>
                                    </m:sup>
                                  </m:sSup>
                                  <m:d>
                                    <m:dPr>
                                      <m:ctrlPr>
                                        <a:rPr lang="en-US" b="0" i="1" smtClean="0">
                                          <a:latin typeface="Cambria Math" panose="02040503050406030204" pitchFamily="18" charset="0"/>
                                          <a:ea typeface="FangSong" panose="02010609060101010101" pitchFamily="49" charset="-122"/>
                                        </a:rPr>
                                      </m:ctrlPr>
                                    </m:dPr>
                                    <m:e>
                                      <m:f>
                                        <m:fPr>
                                          <m:ctrlPr>
                                            <a:rPr lang="en-US" altLang="zh-CN" i="1">
                                              <a:latin typeface="Cambria Math" panose="02040503050406030204" pitchFamily="18" charset="0"/>
                                              <a:ea typeface="FangSong" panose="02010609060101010101" pitchFamily="49" charset="-122"/>
                                            </a:rPr>
                                          </m:ctrlPr>
                                        </m:fPr>
                                        <m:num>
                                          <m:r>
                                            <a:rPr lang="en-US" altLang="zh-CN" i="1">
                                              <a:latin typeface="Cambria Math" panose="02040503050406030204" pitchFamily="18" charset="0"/>
                                              <a:ea typeface="FangSong" panose="02010609060101010101" pitchFamily="49" charset="-122"/>
                                            </a:rPr>
                                            <m:t>1</m:t>
                                          </m:r>
                                        </m:num>
                                        <m:den>
                                          <m:d>
                                            <m:dPr>
                                              <m:begChr m:val="⟨"/>
                                              <m:endChr m:val="⟩"/>
                                              <m:ctrlPr>
                                                <a:rPr lang="en-US" altLang="zh-CN" i="1">
                                                  <a:latin typeface="Cambria Math" panose="02040503050406030204" pitchFamily="18" charset="0"/>
                                                  <a:ea typeface="FangSong" panose="02010609060101010101" pitchFamily="49" charset="-122"/>
                                                </a:rPr>
                                              </m:ctrlPr>
                                            </m:dPr>
                                            <m:e>
                                              <m:sSub>
                                                <m:sSubPr>
                                                  <m:ctrlPr>
                                                    <a:rPr lang="en-US" altLang="zh-CN" i="1">
                                                      <a:latin typeface="Cambria Math" panose="02040503050406030204" pitchFamily="18" charset="0"/>
                                                      <a:ea typeface="FangSong" panose="02010609060101010101" pitchFamily="49" charset="-122"/>
                                                    </a:rPr>
                                                  </m:ctrlPr>
                                                </m:sSubPr>
                                                <m:e>
                                                  <m:r>
                                                    <a:rPr lang="en-US" altLang="zh-CN" i="1">
                                                      <a:latin typeface="Cambria Math" panose="02040503050406030204" pitchFamily="18" charset="0"/>
                                                      <a:ea typeface="FangSong" panose="02010609060101010101" pitchFamily="49" charset="-122"/>
                                                    </a:rPr>
                                                    <m:t>𝑁</m:t>
                                                  </m:r>
                                                </m:e>
                                                <m:sub>
                                                  <m:r>
                                                    <a:rPr lang="en-US" altLang="zh-CN" i="1">
                                                      <a:latin typeface="Cambria Math" panose="02040503050406030204" pitchFamily="18" charset="0"/>
                                                      <a:ea typeface="FangSong" panose="02010609060101010101" pitchFamily="49" charset="-122"/>
                                                    </a:rPr>
                                                    <m:t>𝑔𝑟𝑜𝑢𝑛𝑑</m:t>
                                                  </m:r>
                                                </m:sub>
                                              </m:sSub>
                                            </m:e>
                                          </m:d>
                                        </m:den>
                                      </m:f>
                                      <m:r>
                                        <a:rPr lang="en-US" altLang="zh-CN" i="1">
                                          <a:latin typeface="Cambria Math" panose="02040503050406030204" pitchFamily="18" charset="0"/>
                                          <a:ea typeface="FangSong" panose="02010609060101010101" pitchFamily="49" charset="-122"/>
                                        </a:rPr>
                                        <m:t>+1</m:t>
                                      </m:r>
                                    </m:e>
                                  </m:d>
                                  <m:r>
                                    <a:rPr lang="en-US" b="0" i="1" smtClean="0">
                                      <a:latin typeface="Cambria Math" panose="02040503050406030204" pitchFamily="18" charset="0"/>
                                      <a:ea typeface="FangSong" panose="02010609060101010101" pitchFamily="49" charset="-122"/>
                                    </a:rPr>
                                    <m:t>−1</m:t>
                                  </m:r>
                                </m:den>
                              </m:f>
                            </m:e>
                          </m:nary>
                        </m:e>
                      </m:nary>
                    </m:oMath>
                  </m:oMathPara>
                </a14:m>
                <a:endParaRPr lang="en-CN" dirty="0">
                  <a:latin typeface="FangSong" panose="02010609060101010101" pitchFamily="49" charset="-122"/>
                  <a:ea typeface="FangSong" panose="02010609060101010101" pitchFamily="49" charset="-122"/>
                </a:endParaRPr>
              </a:p>
            </p:txBody>
          </p:sp>
        </mc:Choice>
        <mc:Fallback xmlns="">
          <p:sp>
            <p:nvSpPr>
              <p:cNvPr id="13" name="TextBox 12">
                <a:extLst>
                  <a:ext uri="{FF2B5EF4-FFF2-40B4-BE49-F238E27FC236}">
                    <a16:creationId xmlns:a16="http://schemas.microsoft.com/office/drawing/2014/main" id="{CE811477-203A-9565-D439-F5ECFE34650B}"/>
                  </a:ext>
                </a:extLst>
              </p:cNvPr>
              <p:cNvSpPr txBox="1">
                <a:spLocks noRot="1" noChangeAspect="1" noMove="1" noResize="1" noEditPoints="1" noAdjustHandles="1" noChangeArrowheads="1" noChangeShapeType="1" noTextEdit="1"/>
              </p:cNvSpPr>
              <p:nvPr/>
            </p:nvSpPr>
            <p:spPr>
              <a:xfrm>
                <a:off x="290944" y="3400066"/>
                <a:ext cx="11333020" cy="1317668"/>
              </a:xfrm>
              <a:prstGeom prst="rect">
                <a:avLst/>
              </a:prstGeom>
              <a:blipFill>
                <a:blip r:embed="rId6"/>
                <a:stretch>
                  <a:fillRect l="-560" t="-49524" b="-7809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A822240-B55F-65C2-1477-F057972AC0C2}"/>
                  </a:ext>
                </a:extLst>
              </p:cNvPr>
              <p:cNvSpPr txBox="1"/>
              <p:nvPr/>
            </p:nvSpPr>
            <p:spPr>
              <a:xfrm>
                <a:off x="290944" y="4957726"/>
                <a:ext cx="11333020" cy="410369"/>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只要能搞定求和</a:t>
                </a:r>
                <a:r>
                  <a:rPr lang="zh-CN" altLang="en-US" dirty="0">
                    <a:latin typeface="FangSong" panose="02010609060101010101" pitchFamily="49" charset="-122"/>
                    <a:ea typeface="FangSong" panose="02010609060101010101" pitchFamily="49" charset="-122"/>
                  </a:rPr>
                  <a:t>，根据上方程可以得到</a:t>
                </a:r>
                <a14:m>
                  <m:oMath xmlns:m="http://schemas.openxmlformats.org/officeDocument/2006/math">
                    <m:d>
                      <m:dPr>
                        <m:begChr m:val="⟨"/>
                        <m:endChr m:val="⟩"/>
                        <m:ctrlPr>
                          <a:rPr lang="zh-CN" altLang="en-US" i="1" smtClean="0">
                            <a:latin typeface="Cambria Math" panose="02040503050406030204" pitchFamily="18" charset="0"/>
                            <a:ea typeface="FangSong" panose="02010609060101010101" pitchFamily="49" charset="-122"/>
                          </a:rPr>
                        </m:ctrlPr>
                      </m:dPr>
                      <m:e>
                        <m:sSub>
                          <m:sSubPr>
                            <m:ctrlPr>
                              <a:rPr lang="en-US" altLang="zh-CN" i="1" smtClean="0">
                                <a:latin typeface="Cambria Math" panose="02040503050406030204" pitchFamily="18" charset="0"/>
                                <a:ea typeface="FangSong" panose="02010609060101010101" pitchFamily="49" charset="-122"/>
                              </a:rPr>
                            </m:ctrlPr>
                          </m:sSubPr>
                          <m:e>
                            <m:r>
                              <a:rPr lang="en-US" altLang="zh-CN" b="0" i="1" smtClean="0">
                                <a:latin typeface="Cambria Math" panose="02040503050406030204" pitchFamily="18" charset="0"/>
                                <a:ea typeface="FangSong" panose="02010609060101010101" pitchFamily="49" charset="-122"/>
                              </a:rPr>
                              <m:t>𝑁</m:t>
                            </m:r>
                          </m:e>
                          <m:sub>
                            <m:r>
                              <a:rPr lang="en-US" altLang="zh-CN" b="0" i="1" smtClean="0">
                                <a:latin typeface="Cambria Math" panose="02040503050406030204" pitchFamily="18" charset="0"/>
                                <a:ea typeface="FangSong" panose="02010609060101010101" pitchFamily="49" charset="-122"/>
                              </a:rPr>
                              <m:t>𝑔𝑟𝑜𝑢𝑛𝑑</m:t>
                            </m:r>
                          </m:sub>
                        </m:sSub>
                      </m:e>
                    </m:d>
                    <m:r>
                      <a:rPr lang="en-US" altLang="zh-CN" b="0" i="1" smtClean="0">
                        <a:latin typeface="Cambria Math" panose="02040503050406030204" pitchFamily="18" charset="0"/>
                        <a:ea typeface="FangSong" panose="02010609060101010101" pitchFamily="49" charset="-122"/>
                      </a:rPr>
                      <m:t>/</m:t>
                    </m:r>
                    <m:r>
                      <a:rPr lang="en-US" altLang="zh-CN" b="0" i="1" smtClean="0">
                        <a:latin typeface="Cambria Math" panose="02040503050406030204" pitchFamily="18" charset="0"/>
                        <a:ea typeface="FangSong" panose="02010609060101010101" pitchFamily="49" charset="-122"/>
                      </a:rPr>
                      <m:t>𝑁</m:t>
                    </m:r>
                  </m:oMath>
                </a14:m>
                <a:r>
                  <a:rPr lang="en-CN" dirty="0">
                    <a:latin typeface="FangSong" panose="02010609060101010101" pitchFamily="49" charset="-122"/>
                    <a:ea typeface="FangSong" panose="02010609060101010101" pitchFamily="49" charset="-122"/>
                  </a:rPr>
                  <a:t>!!!</a:t>
                </a:r>
              </a:p>
            </p:txBody>
          </p:sp>
        </mc:Choice>
        <mc:Fallback xmlns="">
          <p:sp>
            <p:nvSpPr>
              <p:cNvPr id="14" name="TextBox 13">
                <a:extLst>
                  <a:ext uri="{FF2B5EF4-FFF2-40B4-BE49-F238E27FC236}">
                    <a16:creationId xmlns:a16="http://schemas.microsoft.com/office/drawing/2014/main" id="{9A822240-B55F-65C2-1477-F057972AC0C2}"/>
                  </a:ext>
                </a:extLst>
              </p:cNvPr>
              <p:cNvSpPr txBox="1">
                <a:spLocks noRot="1" noChangeAspect="1" noMove="1" noResize="1" noEditPoints="1" noAdjustHandles="1" noChangeArrowheads="1" noChangeShapeType="1" noTextEdit="1"/>
              </p:cNvSpPr>
              <p:nvPr/>
            </p:nvSpPr>
            <p:spPr>
              <a:xfrm>
                <a:off x="290944" y="4957726"/>
                <a:ext cx="11333020" cy="410369"/>
              </a:xfrm>
              <a:prstGeom prst="rect">
                <a:avLst/>
              </a:prstGeom>
              <a:blipFill>
                <a:blip r:embed="rId7"/>
                <a:stretch>
                  <a:fillRect l="-560" t="-6061" b="-15152"/>
                </a:stretch>
              </a:blipFill>
            </p:spPr>
            <p:txBody>
              <a:bodyPr/>
              <a:lstStyle/>
              <a:p>
                <a:r>
                  <a:rPr lang="en-CN">
                    <a:noFill/>
                  </a:rPr>
                  <a:t> </a:t>
                </a:r>
              </a:p>
            </p:txBody>
          </p:sp>
        </mc:Fallback>
      </mc:AlternateContent>
    </p:spTree>
    <p:extLst>
      <p:ext uri="{BB962C8B-B14F-4D97-AF65-F5344CB8AC3E}">
        <p14:creationId xmlns:p14="http://schemas.microsoft.com/office/powerpoint/2010/main" val="17160602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2312208-B631-FABE-D857-D08C4084C39B}"/>
                  </a:ext>
                </a:extLst>
              </p:cNvPr>
              <p:cNvSpPr txBox="1"/>
              <p:nvPr/>
            </p:nvSpPr>
            <p:spPr>
              <a:xfrm>
                <a:off x="665018" y="401782"/>
                <a:ext cx="10834255" cy="1977786"/>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考虑约束在边长为L的方盒子中的玻色子</a:t>
                </a:r>
                <a:r>
                  <a:rPr lang="zh-CN" altLang="en-US" dirty="0">
                    <a:latin typeface="FangSong" panose="02010609060101010101" pitchFamily="49" charset="-122"/>
                    <a:ea typeface="FangSong" panose="02010609060101010101" pitchFamily="49" charset="-122"/>
                  </a:rPr>
                  <a:t>，由于我们关心的是低温情形，故玻色子是非相对论性的。单粒子能级为</a:t>
                </a:r>
                <a:endParaRPr lang="en-US" altLang="zh-CN" dirty="0">
                  <a:latin typeface="FangSong" panose="02010609060101010101" pitchFamily="49" charset="-122"/>
                  <a:ea typeface="FangSong" panose="02010609060101010101" pitchFamily="49" charset="-122"/>
                </a:endParaRPr>
              </a:p>
              <a:p>
                <a:pPr algn="ct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𝑛</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ℏ</m:t>
                              </m:r>
                            </m:e>
                            <m:sup>
                              <m:r>
                                <a:rPr lang="en-US" b="0" i="1" smtClean="0">
                                  <a:latin typeface="Cambria Math" panose="02040503050406030204" pitchFamily="18" charset="0"/>
                                </a:rPr>
                                <m:t>2</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𝜋</m:t>
                              </m:r>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r>
                            <a:rPr lang="en-US" b="0" i="1" smtClean="0">
                              <a:latin typeface="Cambria Math" panose="02040503050406030204" pitchFamily="18" charset="0"/>
                            </a:rPr>
                            <m:t>𝑚</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2</m:t>
                              </m:r>
                            </m:sup>
                          </m:sSup>
                        </m:den>
                      </m:f>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𝑛</m:t>
                              </m:r>
                            </m:e>
                          </m:acc>
                        </m:e>
                        <m:sup>
                          <m:r>
                            <a:rPr lang="en-US" b="0" i="1" smtClean="0">
                              <a:latin typeface="Cambria Math" panose="02040503050406030204" pitchFamily="18" charset="0"/>
                            </a:rPr>
                            <m:t>2</m:t>
                          </m:r>
                        </m:sup>
                      </m:sSup>
                    </m:oMath>
                  </m:oMathPara>
                </a14:m>
                <a:endParaRPr lang="en-CN" dirty="0">
                  <a:latin typeface="FangSong" panose="02010609060101010101" pitchFamily="49" charset="-122"/>
                  <a:ea typeface="FangSong" panose="02010609060101010101" pitchFamily="49" charset="-122"/>
                </a:endParaRPr>
              </a:p>
              <a:p>
                <a:r>
                  <a:rPr lang="en-CN" dirty="0">
                    <a:latin typeface="FangSong" panose="02010609060101010101" pitchFamily="49" charset="-122"/>
                    <a:ea typeface="FangSong" panose="02010609060101010101" pitchFamily="49" charset="-122"/>
                  </a:rPr>
                  <a:t>我们移基态能量为零</a:t>
                </a:r>
                <a:r>
                  <a:rPr lang="zh-CN" altLang="en-US" dirty="0">
                    <a:latin typeface="FangSong" panose="02010609060101010101" pitchFamily="49" charset="-122"/>
                    <a:ea typeface="FangSong" panose="02010609060101010101" pitchFamily="49" charset="-122"/>
                  </a:rPr>
                  <a:t>，且不考虑</a:t>
                </a:r>
                <a:r>
                  <a:rPr lang="zh-CN" altLang="en-CN" dirty="0">
                    <a:latin typeface="FangSong" panose="02010609060101010101" pitchFamily="49" charset="-122"/>
                    <a:ea typeface="FangSong" panose="02010609060101010101" pitchFamily="49" charset="-122"/>
                  </a:rPr>
                  <a:t>自能</a:t>
                </a:r>
                <a:r>
                  <a:rPr lang="zh-CN" altLang="en-US" dirty="0">
                    <a:latin typeface="FangSong" panose="02010609060101010101" pitchFamily="49" charset="-122"/>
                    <a:ea typeface="FangSong" panose="02010609060101010101" pitchFamily="49" charset="-122"/>
                  </a:rPr>
                  <a:t>，第一激发态能量</a:t>
                </a:r>
                <a14:m>
                  <m:oMath xmlns:m="http://schemas.openxmlformats.org/officeDocument/2006/math">
                    <m:sSub>
                      <m:sSubPr>
                        <m:ctrlPr>
                          <a:rPr lang="en-CN" i="1">
                            <a:latin typeface="Cambria Math" panose="02040503050406030204" pitchFamily="18" charset="0"/>
                          </a:rPr>
                        </m:ctrlPr>
                      </m:sSubPr>
                      <m:e>
                        <m:r>
                          <a:rPr lang="en-CN" i="1">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ea typeface="Cambria Math" panose="02040503050406030204" pitchFamily="18" charset="0"/>
                          </a:rPr>
                          <m:t>1</m:t>
                        </m:r>
                      </m:sub>
                    </m:sSub>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ℏ</m:t>
                            </m:r>
                          </m:e>
                          <m:sup>
                            <m:r>
                              <a:rPr lang="en-US" i="1">
                                <a:latin typeface="Cambria Math" panose="02040503050406030204" pitchFamily="18" charset="0"/>
                              </a:rPr>
                              <m:t>2</m:t>
                            </m:r>
                          </m:sup>
                        </m:sSup>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𝜋</m:t>
                            </m:r>
                          </m:e>
                          <m:sup>
                            <m:r>
                              <a:rPr lang="en-US" i="1">
                                <a:latin typeface="Cambria Math" panose="02040503050406030204" pitchFamily="18" charset="0"/>
                              </a:rPr>
                              <m:t>2</m:t>
                            </m:r>
                          </m:sup>
                        </m:sSup>
                      </m:num>
                      <m:den>
                        <m:r>
                          <a:rPr lang="en-US" i="1">
                            <a:latin typeface="Cambria Math" panose="02040503050406030204" pitchFamily="18" charset="0"/>
                          </a:rPr>
                          <m:t>2</m:t>
                        </m:r>
                        <m:r>
                          <a:rPr lang="en-US" i="1">
                            <a:latin typeface="Cambria Math" panose="02040503050406030204" pitchFamily="18" charset="0"/>
                          </a:rPr>
                          <m:t>𝑚</m:t>
                        </m:r>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2</m:t>
                            </m:r>
                          </m:sup>
                        </m:sSup>
                      </m:den>
                    </m:f>
                  </m:oMath>
                </a14:m>
                <a:r>
                  <a:rPr lang="zh-CN" altLang="en-US" dirty="0">
                    <a:latin typeface="FangSong" panose="02010609060101010101" pitchFamily="49" charset="-122"/>
                    <a:ea typeface="FangSong" panose="02010609060101010101" pitchFamily="49" charset="-122"/>
                  </a:rPr>
                  <a:t>，所有其他能级能量可以表示成</a:t>
                </a:r>
                <a:endParaRPr lang="en-US" altLang="zh-CN" dirty="0">
                  <a:latin typeface="FangSong" panose="02010609060101010101" pitchFamily="49" charset="-122"/>
                  <a:ea typeface="FangSong" panose="02010609060101010101" pitchFamily="49" charset="-122"/>
                </a:endParaRPr>
              </a:p>
              <a:p>
                <a:pPr algn="ctr"/>
                <a14:m>
                  <m:oMathPara xmlns:m="http://schemas.openxmlformats.org/officeDocument/2006/math">
                    <m:oMathParaPr>
                      <m:jc m:val="centerGroup"/>
                    </m:oMathParaPr>
                    <m:oMath xmlns:m="http://schemas.openxmlformats.org/officeDocument/2006/math">
                      <m:sSub>
                        <m:sSubPr>
                          <m:ctrlPr>
                            <a:rPr lang="en-CN" i="1">
                              <a:latin typeface="Cambria Math" panose="02040503050406030204" pitchFamily="18" charset="0"/>
                            </a:rPr>
                          </m:ctrlPr>
                        </m:sSubPr>
                        <m:e>
                          <m:r>
                            <a:rPr lang="en-CN"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rPr>
                            <m:t>𝑛</m:t>
                          </m:r>
                        </m:sub>
                      </m:sSub>
                      <m:r>
                        <a:rPr lang="en-US" i="1">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rPr>
                            <m:t>1</m:t>
                          </m:r>
                        </m:sub>
                      </m:sSub>
                      <m:sSup>
                        <m:sSupPr>
                          <m:ctrlPr>
                            <a:rPr lang="en-US" i="1" smtClean="0">
                              <a:latin typeface="Cambria Math" panose="02040503050406030204" pitchFamily="18" charset="0"/>
                            </a:rPr>
                          </m:ctrlPr>
                        </m:sSupPr>
                        <m:e>
                          <m:r>
                            <a:rPr lang="en-US" b="0" i="1" smtClean="0">
                              <a:latin typeface="Cambria Math" panose="02040503050406030204" pitchFamily="18" charset="0"/>
                            </a:rPr>
                            <m:t>𝑛</m:t>
                          </m:r>
                        </m:e>
                        <m:sup>
                          <m:r>
                            <a:rPr lang="en-US" altLang="zh-CN" b="0" i="1" smtClean="0">
                              <a:latin typeface="Cambria Math" panose="02040503050406030204" pitchFamily="18" charset="0"/>
                            </a:rPr>
                            <m:t>2</m:t>
                          </m:r>
                        </m:sup>
                      </m:sSup>
                    </m:oMath>
                  </m:oMathPara>
                </a14:m>
                <a:endParaRPr lang="en-CN" dirty="0">
                  <a:latin typeface="FangSong" panose="02010609060101010101" pitchFamily="49" charset="-122"/>
                  <a:ea typeface="FangSong" panose="02010609060101010101" pitchFamily="49" charset="-122"/>
                </a:endParaRPr>
              </a:p>
            </p:txBody>
          </p:sp>
        </mc:Choice>
        <mc:Fallback xmlns="">
          <p:sp>
            <p:nvSpPr>
              <p:cNvPr id="2" name="TextBox 1">
                <a:extLst>
                  <a:ext uri="{FF2B5EF4-FFF2-40B4-BE49-F238E27FC236}">
                    <a16:creationId xmlns:a16="http://schemas.microsoft.com/office/drawing/2014/main" id="{D2312208-B631-FABE-D857-D08C4084C39B}"/>
                  </a:ext>
                </a:extLst>
              </p:cNvPr>
              <p:cNvSpPr txBox="1">
                <a:spLocks noRot="1" noChangeAspect="1" noMove="1" noResize="1" noEditPoints="1" noAdjustHandles="1" noChangeArrowheads="1" noChangeShapeType="1" noTextEdit="1"/>
              </p:cNvSpPr>
              <p:nvPr/>
            </p:nvSpPr>
            <p:spPr>
              <a:xfrm>
                <a:off x="665018" y="401782"/>
                <a:ext cx="10834255" cy="1977786"/>
              </a:xfrm>
              <a:prstGeom prst="rect">
                <a:avLst/>
              </a:prstGeom>
              <a:blipFill>
                <a:blip r:embed="rId2"/>
                <a:stretch>
                  <a:fillRect l="-468" t="-1274" r="-23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EBE75B2-59D4-8050-DA02-34A5C1D8ED63}"/>
                  </a:ext>
                </a:extLst>
              </p:cNvPr>
              <p:cNvSpPr txBox="1"/>
              <p:nvPr/>
            </p:nvSpPr>
            <p:spPr>
              <a:xfrm>
                <a:off x="429490" y="3630027"/>
                <a:ext cx="11333020" cy="169681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800" b="0" i="1" smtClean="0">
                          <a:solidFill>
                            <a:srgbClr val="FF0000"/>
                          </a:solidFill>
                          <a:latin typeface="Cambria Math" panose="02040503050406030204" pitchFamily="18" charset="0"/>
                          <a:ea typeface="FangSong" panose="02010609060101010101" pitchFamily="49" charset="-122"/>
                        </a:rPr>
                        <m:t>𝑁</m:t>
                      </m:r>
                      <m:r>
                        <a:rPr lang="en-US" sz="2800" b="0" i="1" smtClean="0">
                          <a:solidFill>
                            <a:srgbClr val="FF0000"/>
                          </a:solidFill>
                          <a:latin typeface="Cambria Math" panose="02040503050406030204" pitchFamily="18" charset="0"/>
                          <a:ea typeface="FangSong" panose="02010609060101010101" pitchFamily="49" charset="-122"/>
                        </a:rPr>
                        <m:t>=</m:t>
                      </m:r>
                      <m:nary>
                        <m:naryPr>
                          <m:chr m:val="∑"/>
                          <m:ctrlPr>
                            <a:rPr lang="en-US" sz="2800" b="0" i="1" smtClean="0">
                              <a:solidFill>
                                <a:srgbClr val="FF0000"/>
                              </a:solidFill>
                              <a:latin typeface="Cambria Math" panose="02040503050406030204" pitchFamily="18" charset="0"/>
                              <a:ea typeface="FangSong" panose="02010609060101010101" pitchFamily="49" charset="-122"/>
                            </a:rPr>
                          </m:ctrlPr>
                        </m:naryPr>
                        <m:sub>
                          <m:sSub>
                            <m:sSubPr>
                              <m:ctrlPr>
                                <a:rPr lang="en-US" sz="2800" b="0" i="1" smtClean="0">
                                  <a:solidFill>
                                    <a:srgbClr val="FF0000"/>
                                  </a:solidFill>
                                  <a:latin typeface="Cambria Math" panose="02040503050406030204" pitchFamily="18" charset="0"/>
                                  <a:ea typeface="FangSong" panose="02010609060101010101" pitchFamily="49" charset="-122"/>
                                </a:rPr>
                              </m:ctrlPr>
                            </m:sSubPr>
                            <m:e>
                              <m:r>
                                <a:rPr lang="en-US" sz="2800" b="0" i="1" smtClean="0">
                                  <a:solidFill>
                                    <a:srgbClr val="FF0000"/>
                                  </a:solidFill>
                                  <a:latin typeface="Cambria Math" panose="02040503050406030204" pitchFamily="18" charset="0"/>
                                  <a:ea typeface="FangSong" panose="02010609060101010101" pitchFamily="49" charset="-122"/>
                                </a:rPr>
                                <m:t>𝑛</m:t>
                              </m:r>
                            </m:e>
                            <m:sub>
                              <m:r>
                                <a:rPr lang="en-US" sz="2800" b="0" i="1" smtClean="0">
                                  <a:solidFill>
                                    <a:srgbClr val="FF0000"/>
                                  </a:solidFill>
                                  <a:latin typeface="Cambria Math" panose="02040503050406030204" pitchFamily="18" charset="0"/>
                                  <a:ea typeface="FangSong" panose="02010609060101010101" pitchFamily="49" charset="-122"/>
                                </a:rPr>
                                <m:t>𝑥</m:t>
                              </m:r>
                            </m:sub>
                          </m:sSub>
                          <m:r>
                            <m:rPr>
                              <m:brk m:alnAt="23"/>
                            </m:rPr>
                            <a:rPr lang="en-US" sz="2800" b="0" i="1" smtClean="0">
                              <a:solidFill>
                                <a:srgbClr val="FF0000"/>
                              </a:solidFill>
                              <a:latin typeface="Cambria Math" panose="02040503050406030204" pitchFamily="18" charset="0"/>
                              <a:ea typeface="FangSong" panose="02010609060101010101" pitchFamily="49" charset="-122"/>
                            </a:rPr>
                            <m:t>,</m:t>
                          </m:r>
                          <m:sSub>
                            <m:sSubPr>
                              <m:ctrlPr>
                                <a:rPr lang="en-US" sz="2800" b="0" i="1" smtClean="0">
                                  <a:solidFill>
                                    <a:srgbClr val="FF0000"/>
                                  </a:solidFill>
                                  <a:latin typeface="Cambria Math" panose="02040503050406030204" pitchFamily="18" charset="0"/>
                                  <a:ea typeface="FangSong" panose="02010609060101010101" pitchFamily="49" charset="-122"/>
                                </a:rPr>
                              </m:ctrlPr>
                            </m:sSubPr>
                            <m:e>
                              <m:r>
                                <a:rPr lang="en-US" sz="2800" b="0" i="1" smtClean="0">
                                  <a:solidFill>
                                    <a:srgbClr val="FF0000"/>
                                  </a:solidFill>
                                  <a:latin typeface="Cambria Math" panose="02040503050406030204" pitchFamily="18" charset="0"/>
                                  <a:ea typeface="FangSong" panose="02010609060101010101" pitchFamily="49" charset="-122"/>
                                </a:rPr>
                                <m:t>𝑛</m:t>
                              </m:r>
                            </m:e>
                            <m:sub>
                              <m:r>
                                <a:rPr lang="en-US" sz="2800" b="0" i="1" smtClean="0">
                                  <a:solidFill>
                                    <a:srgbClr val="FF0000"/>
                                  </a:solidFill>
                                  <a:latin typeface="Cambria Math" panose="02040503050406030204" pitchFamily="18" charset="0"/>
                                  <a:ea typeface="FangSong" panose="02010609060101010101" pitchFamily="49" charset="-122"/>
                                </a:rPr>
                                <m:t>𝑦</m:t>
                              </m:r>
                            </m:sub>
                          </m:sSub>
                          <m:r>
                            <m:rPr>
                              <m:brk m:alnAt="23"/>
                            </m:rPr>
                            <a:rPr lang="en-US" sz="2800" b="0" i="1" smtClean="0">
                              <a:solidFill>
                                <a:srgbClr val="FF0000"/>
                              </a:solidFill>
                              <a:latin typeface="Cambria Math" panose="02040503050406030204" pitchFamily="18" charset="0"/>
                              <a:ea typeface="FangSong" panose="02010609060101010101" pitchFamily="49" charset="-122"/>
                            </a:rPr>
                            <m:t>,</m:t>
                          </m:r>
                          <m:sSub>
                            <m:sSubPr>
                              <m:ctrlPr>
                                <a:rPr lang="en-US" sz="2800" b="0" i="1" smtClean="0">
                                  <a:solidFill>
                                    <a:srgbClr val="FF0000"/>
                                  </a:solidFill>
                                  <a:latin typeface="Cambria Math" panose="02040503050406030204" pitchFamily="18" charset="0"/>
                                  <a:ea typeface="FangSong" panose="02010609060101010101" pitchFamily="49" charset="-122"/>
                                </a:rPr>
                              </m:ctrlPr>
                            </m:sSubPr>
                            <m:e>
                              <m:r>
                                <a:rPr lang="en-US" sz="2800" b="0" i="1" smtClean="0">
                                  <a:solidFill>
                                    <a:srgbClr val="FF0000"/>
                                  </a:solidFill>
                                  <a:latin typeface="Cambria Math" panose="02040503050406030204" pitchFamily="18" charset="0"/>
                                  <a:ea typeface="FangSong" panose="02010609060101010101" pitchFamily="49" charset="-122"/>
                                </a:rPr>
                                <m:t>𝑛</m:t>
                              </m:r>
                            </m:e>
                            <m:sub>
                              <m:r>
                                <a:rPr lang="en-US" sz="2800" b="0" i="1" smtClean="0">
                                  <a:solidFill>
                                    <a:srgbClr val="FF0000"/>
                                  </a:solidFill>
                                  <a:latin typeface="Cambria Math" panose="02040503050406030204" pitchFamily="18" charset="0"/>
                                  <a:ea typeface="FangSong" panose="02010609060101010101" pitchFamily="49" charset="-122"/>
                                </a:rPr>
                                <m:t>𝑧</m:t>
                              </m:r>
                            </m:sub>
                          </m:sSub>
                          <m:r>
                            <m:rPr>
                              <m:brk m:alnAt="23"/>
                            </m:rPr>
                            <a:rPr lang="en-US" sz="2800" b="0" i="1" smtClean="0">
                              <a:solidFill>
                                <a:srgbClr val="FF0000"/>
                              </a:solidFill>
                              <a:latin typeface="Cambria Math" panose="02040503050406030204" pitchFamily="18" charset="0"/>
                              <a:ea typeface="FangSong" panose="02010609060101010101" pitchFamily="49" charset="-122"/>
                            </a:rPr>
                            <m:t>=</m:t>
                          </m:r>
                          <m:r>
                            <a:rPr lang="en-US" sz="2800" b="0" i="1" smtClean="0">
                              <a:solidFill>
                                <a:srgbClr val="FF0000"/>
                              </a:solidFill>
                              <a:latin typeface="Cambria Math" panose="02040503050406030204" pitchFamily="18" charset="0"/>
                              <a:ea typeface="FangSong" panose="02010609060101010101" pitchFamily="49" charset="-122"/>
                            </a:rPr>
                            <m:t>0</m:t>
                          </m:r>
                        </m:sub>
                        <m:sup>
                          <m:r>
                            <a:rPr lang="en-US" sz="2800" b="0" i="1" smtClean="0">
                              <a:solidFill>
                                <a:srgbClr val="FF0000"/>
                              </a:solidFill>
                              <a:latin typeface="Cambria Math" panose="02040503050406030204" pitchFamily="18" charset="0"/>
                              <a:ea typeface="Cambria Math" panose="02040503050406030204" pitchFamily="18" charset="0"/>
                            </a:rPr>
                            <m:t>∞</m:t>
                          </m:r>
                        </m:sup>
                        <m:e>
                          <m:f>
                            <m:fPr>
                              <m:ctrlPr>
                                <a:rPr lang="en-US" sz="2800" b="0" i="1" smtClean="0">
                                  <a:solidFill>
                                    <a:srgbClr val="FF0000"/>
                                  </a:solidFill>
                                  <a:latin typeface="Cambria Math" panose="02040503050406030204" pitchFamily="18" charset="0"/>
                                  <a:ea typeface="FangSong" panose="02010609060101010101" pitchFamily="49" charset="-122"/>
                                </a:rPr>
                              </m:ctrlPr>
                            </m:fPr>
                            <m:num>
                              <m:r>
                                <a:rPr lang="en-US" sz="2800" b="0" i="1" smtClean="0">
                                  <a:solidFill>
                                    <a:srgbClr val="FF0000"/>
                                  </a:solidFill>
                                  <a:latin typeface="Cambria Math" panose="02040503050406030204" pitchFamily="18" charset="0"/>
                                  <a:ea typeface="FangSong" panose="02010609060101010101" pitchFamily="49" charset="-122"/>
                                </a:rPr>
                                <m:t>1</m:t>
                              </m:r>
                            </m:num>
                            <m:den>
                              <m:sSup>
                                <m:sSupPr>
                                  <m:ctrlPr>
                                    <a:rPr lang="en-US" sz="2800" b="0" i="1" smtClean="0">
                                      <a:solidFill>
                                        <a:srgbClr val="FF0000"/>
                                      </a:solidFill>
                                      <a:latin typeface="Cambria Math" panose="02040503050406030204" pitchFamily="18" charset="0"/>
                                      <a:ea typeface="FangSong" panose="02010609060101010101" pitchFamily="49" charset="-122"/>
                                    </a:rPr>
                                  </m:ctrlPr>
                                </m:sSupPr>
                                <m:e>
                                  <m:r>
                                    <a:rPr lang="en-US" sz="2800" b="0" i="1" smtClean="0">
                                      <a:solidFill>
                                        <a:srgbClr val="FF0000"/>
                                      </a:solidFill>
                                      <a:latin typeface="Cambria Math" panose="02040503050406030204" pitchFamily="18" charset="0"/>
                                      <a:ea typeface="FangSong" panose="02010609060101010101" pitchFamily="49" charset="-122"/>
                                    </a:rPr>
                                    <m:t>𝑒</m:t>
                                  </m:r>
                                </m:e>
                                <m:sup>
                                  <m:d>
                                    <m:dPr>
                                      <m:ctrlPr>
                                        <a:rPr lang="en-US" sz="2800" b="0" i="1" smtClean="0">
                                          <a:solidFill>
                                            <a:srgbClr val="FF0000"/>
                                          </a:solidFill>
                                          <a:latin typeface="Cambria Math" panose="02040503050406030204" pitchFamily="18" charset="0"/>
                                          <a:ea typeface="FangSong" panose="02010609060101010101" pitchFamily="49" charset="-122"/>
                                        </a:rPr>
                                      </m:ctrlPr>
                                    </m:dPr>
                                    <m:e>
                                      <m:sSubSup>
                                        <m:sSubSupPr>
                                          <m:ctrlPr>
                                            <a:rPr lang="en-US" sz="2800" b="0" i="1" smtClean="0">
                                              <a:solidFill>
                                                <a:srgbClr val="FF0000"/>
                                              </a:solidFill>
                                              <a:latin typeface="Cambria Math" panose="02040503050406030204" pitchFamily="18" charset="0"/>
                                              <a:ea typeface="FangSong" panose="02010609060101010101" pitchFamily="49" charset="-122"/>
                                            </a:rPr>
                                          </m:ctrlPr>
                                        </m:sSubSupPr>
                                        <m:e>
                                          <m:r>
                                            <a:rPr lang="en-US" sz="2800" b="0" i="1" smtClean="0">
                                              <a:solidFill>
                                                <a:srgbClr val="FF0000"/>
                                              </a:solidFill>
                                              <a:latin typeface="Cambria Math" panose="02040503050406030204" pitchFamily="18" charset="0"/>
                                              <a:ea typeface="FangSong" panose="02010609060101010101" pitchFamily="49" charset="-122"/>
                                            </a:rPr>
                                            <m:t>𝑛</m:t>
                                          </m:r>
                                        </m:e>
                                        <m:sub>
                                          <m:r>
                                            <a:rPr lang="en-US" sz="2800" b="0" i="1" smtClean="0">
                                              <a:solidFill>
                                                <a:srgbClr val="FF0000"/>
                                              </a:solidFill>
                                              <a:latin typeface="Cambria Math" panose="02040503050406030204" pitchFamily="18" charset="0"/>
                                              <a:ea typeface="FangSong" panose="02010609060101010101" pitchFamily="49" charset="-122"/>
                                            </a:rPr>
                                            <m:t>𝑥</m:t>
                                          </m:r>
                                        </m:sub>
                                        <m:sup>
                                          <m:r>
                                            <a:rPr lang="en-US" sz="2800" b="0" i="1" smtClean="0">
                                              <a:solidFill>
                                                <a:srgbClr val="FF0000"/>
                                              </a:solidFill>
                                              <a:latin typeface="Cambria Math" panose="02040503050406030204" pitchFamily="18" charset="0"/>
                                              <a:ea typeface="FangSong" panose="02010609060101010101" pitchFamily="49" charset="-122"/>
                                            </a:rPr>
                                            <m:t>2</m:t>
                                          </m:r>
                                        </m:sup>
                                      </m:sSubSup>
                                      <m:r>
                                        <a:rPr lang="en-US" sz="2800" b="0" i="1" smtClean="0">
                                          <a:solidFill>
                                            <a:srgbClr val="FF0000"/>
                                          </a:solidFill>
                                          <a:latin typeface="Cambria Math" panose="02040503050406030204" pitchFamily="18" charset="0"/>
                                          <a:ea typeface="FangSong" panose="02010609060101010101" pitchFamily="49" charset="-122"/>
                                        </a:rPr>
                                        <m:t>+</m:t>
                                      </m:r>
                                      <m:sSubSup>
                                        <m:sSubSupPr>
                                          <m:ctrlPr>
                                            <a:rPr lang="en-US" sz="2800" b="0" i="1" smtClean="0">
                                              <a:solidFill>
                                                <a:srgbClr val="FF0000"/>
                                              </a:solidFill>
                                              <a:latin typeface="Cambria Math" panose="02040503050406030204" pitchFamily="18" charset="0"/>
                                              <a:ea typeface="FangSong" panose="02010609060101010101" pitchFamily="49" charset="-122"/>
                                            </a:rPr>
                                          </m:ctrlPr>
                                        </m:sSubSupPr>
                                        <m:e>
                                          <m:r>
                                            <a:rPr lang="en-US" sz="2800" b="0" i="1" smtClean="0">
                                              <a:solidFill>
                                                <a:srgbClr val="FF0000"/>
                                              </a:solidFill>
                                              <a:latin typeface="Cambria Math" panose="02040503050406030204" pitchFamily="18" charset="0"/>
                                              <a:ea typeface="FangSong" panose="02010609060101010101" pitchFamily="49" charset="-122"/>
                                            </a:rPr>
                                            <m:t>𝑛</m:t>
                                          </m:r>
                                        </m:e>
                                        <m:sub>
                                          <m:r>
                                            <a:rPr lang="en-US" sz="2800" b="0" i="1" smtClean="0">
                                              <a:solidFill>
                                                <a:srgbClr val="FF0000"/>
                                              </a:solidFill>
                                              <a:latin typeface="Cambria Math" panose="02040503050406030204" pitchFamily="18" charset="0"/>
                                              <a:ea typeface="FangSong" panose="02010609060101010101" pitchFamily="49" charset="-122"/>
                                            </a:rPr>
                                            <m:t>𝑦</m:t>
                                          </m:r>
                                        </m:sub>
                                        <m:sup>
                                          <m:r>
                                            <a:rPr lang="en-US" sz="2800" b="0" i="1" smtClean="0">
                                              <a:solidFill>
                                                <a:srgbClr val="FF0000"/>
                                              </a:solidFill>
                                              <a:latin typeface="Cambria Math" panose="02040503050406030204" pitchFamily="18" charset="0"/>
                                              <a:ea typeface="FangSong" panose="02010609060101010101" pitchFamily="49" charset="-122"/>
                                            </a:rPr>
                                            <m:t>2</m:t>
                                          </m:r>
                                        </m:sup>
                                      </m:sSubSup>
                                      <m:r>
                                        <a:rPr lang="en-US" sz="2800" b="0" i="1" smtClean="0">
                                          <a:solidFill>
                                            <a:srgbClr val="FF0000"/>
                                          </a:solidFill>
                                          <a:latin typeface="Cambria Math" panose="02040503050406030204" pitchFamily="18" charset="0"/>
                                          <a:ea typeface="FangSong" panose="02010609060101010101" pitchFamily="49" charset="-122"/>
                                        </a:rPr>
                                        <m:t>+</m:t>
                                      </m:r>
                                      <m:sSubSup>
                                        <m:sSubSupPr>
                                          <m:ctrlPr>
                                            <a:rPr lang="en-US" sz="2800" b="0" i="1" smtClean="0">
                                              <a:solidFill>
                                                <a:srgbClr val="FF0000"/>
                                              </a:solidFill>
                                              <a:latin typeface="Cambria Math" panose="02040503050406030204" pitchFamily="18" charset="0"/>
                                              <a:ea typeface="FangSong" panose="02010609060101010101" pitchFamily="49" charset="-122"/>
                                            </a:rPr>
                                          </m:ctrlPr>
                                        </m:sSubSupPr>
                                        <m:e>
                                          <m:r>
                                            <a:rPr lang="en-US" sz="2800" b="0" i="1" smtClean="0">
                                              <a:solidFill>
                                                <a:srgbClr val="FF0000"/>
                                              </a:solidFill>
                                              <a:latin typeface="Cambria Math" panose="02040503050406030204" pitchFamily="18" charset="0"/>
                                              <a:ea typeface="FangSong" panose="02010609060101010101" pitchFamily="49" charset="-122"/>
                                            </a:rPr>
                                            <m:t>𝑛</m:t>
                                          </m:r>
                                        </m:e>
                                        <m:sub>
                                          <m:r>
                                            <a:rPr lang="en-US" sz="2800" b="0" i="1" smtClean="0">
                                              <a:solidFill>
                                                <a:srgbClr val="FF0000"/>
                                              </a:solidFill>
                                              <a:latin typeface="Cambria Math" panose="02040503050406030204" pitchFamily="18" charset="0"/>
                                              <a:ea typeface="FangSong" panose="02010609060101010101" pitchFamily="49" charset="-122"/>
                                            </a:rPr>
                                            <m:t>𝑧</m:t>
                                          </m:r>
                                        </m:sub>
                                        <m:sup>
                                          <m:r>
                                            <a:rPr lang="en-US" sz="2800" b="0" i="1" smtClean="0">
                                              <a:solidFill>
                                                <a:srgbClr val="FF0000"/>
                                              </a:solidFill>
                                              <a:latin typeface="Cambria Math" panose="02040503050406030204" pitchFamily="18" charset="0"/>
                                              <a:ea typeface="FangSong" panose="02010609060101010101" pitchFamily="49" charset="-122"/>
                                            </a:rPr>
                                            <m:t>2</m:t>
                                          </m:r>
                                        </m:sup>
                                      </m:sSubSup>
                                    </m:e>
                                  </m:d>
                                  <m:sSub>
                                    <m:sSubPr>
                                      <m:ctrlPr>
                                        <a:rPr lang="en-US" sz="2800" b="0" i="1" smtClean="0">
                                          <a:solidFill>
                                            <a:srgbClr val="FF0000"/>
                                          </a:solidFill>
                                          <a:latin typeface="Cambria Math" panose="02040503050406030204" pitchFamily="18" charset="0"/>
                                          <a:ea typeface="FangSong" panose="02010609060101010101" pitchFamily="49" charset="-122"/>
                                        </a:rPr>
                                      </m:ctrlPr>
                                    </m:sSubPr>
                                    <m:e>
                                      <m:r>
                                        <a:rPr lang="en-US" sz="2800" b="0" i="1" smtClean="0">
                                          <a:solidFill>
                                            <a:srgbClr val="FF0000"/>
                                          </a:solidFill>
                                          <a:latin typeface="Cambria Math" panose="02040503050406030204" pitchFamily="18" charset="0"/>
                                          <a:ea typeface="Cambria Math" panose="02040503050406030204" pitchFamily="18" charset="0"/>
                                        </a:rPr>
                                        <m:t>𝜀</m:t>
                                      </m:r>
                                    </m:e>
                                    <m:sub>
                                      <m:r>
                                        <a:rPr lang="en-US" sz="2800" b="0" i="1" smtClean="0">
                                          <a:solidFill>
                                            <a:srgbClr val="FF0000"/>
                                          </a:solidFill>
                                          <a:latin typeface="Cambria Math" panose="02040503050406030204" pitchFamily="18" charset="0"/>
                                          <a:ea typeface="FangSong" panose="02010609060101010101" pitchFamily="49" charset="-122"/>
                                        </a:rPr>
                                        <m:t>1</m:t>
                                      </m:r>
                                    </m:sub>
                                  </m:sSub>
                                  <m:r>
                                    <a:rPr lang="en-US" sz="2800" b="0" i="1" smtClean="0">
                                      <a:solidFill>
                                        <a:srgbClr val="FF0000"/>
                                      </a:solidFill>
                                      <a:latin typeface="Cambria Math" panose="02040503050406030204" pitchFamily="18" charset="0"/>
                                      <a:ea typeface="FangSong" panose="02010609060101010101" pitchFamily="49" charset="-122"/>
                                    </a:rPr>
                                    <m:t>/</m:t>
                                  </m:r>
                                  <m:r>
                                    <a:rPr lang="en-US" sz="2800" b="0" i="1" smtClean="0">
                                      <a:solidFill>
                                        <a:srgbClr val="FF0000"/>
                                      </a:solidFill>
                                      <a:latin typeface="Cambria Math" panose="02040503050406030204" pitchFamily="18" charset="0"/>
                                      <a:ea typeface="Cambria Math" panose="02040503050406030204" pitchFamily="18" charset="0"/>
                                    </a:rPr>
                                    <m:t>𝜏</m:t>
                                  </m:r>
                                </m:sup>
                              </m:sSup>
                              <m:d>
                                <m:dPr>
                                  <m:ctrlPr>
                                    <a:rPr lang="en-US" sz="2800" b="0" i="1" smtClean="0">
                                      <a:solidFill>
                                        <a:srgbClr val="FF0000"/>
                                      </a:solidFill>
                                      <a:latin typeface="Cambria Math" panose="02040503050406030204" pitchFamily="18" charset="0"/>
                                      <a:ea typeface="FangSong" panose="02010609060101010101" pitchFamily="49" charset="-122"/>
                                    </a:rPr>
                                  </m:ctrlPr>
                                </m:dPr>
                                <m:e>
                                  <m:f>
                                    <m:fPr>
                                      <m:ctrlPr>
                                        <a:rPr lang="en-US" sz="2800" b="0" i="1" smtClean="0">
                                          <a:solidFill>
                                            <a:srgbClr val="FF0000"/>
                                          </a:solidFill>
                                          <a:latin typeface="Cambria Math" panose="02040503050406030204" pitchFamily="18" charset="0"/>
                                          <a:ea typeface="FangSong" panose="02010609060101010101" pitchFamily="49" charset="-122"/>
                                        </a:rPr>
                                      </m:ctrlPr>
                                    </m:fPr>
                                    <m:num>
                                      <m:r>
                                        <a:rPr lang="en-US" sz="2800" b="0" i="1" smtClean="0">
                                          <a:solidFill>
                                            <a:srgbClr val="FF0000"/>
                                          </a:solidFill>
                                          <a:latin typeface="Cambria Math" panose="02040503050406030204" pitchFamily="18" charset="0"/>
                                          <a:ea typeface="FangSong" panose="02010609060101010101" pitchFamily="49" charset="-122"/>
                                        </a:rPr>
                                        <m:t>1</m:t>
                                      </m:r>
                                    </m:num>
                                    <m:den>
                                      <m:d>
                                        <m:dPr>
                                          <m:begChr m:val="⟨"/>
                                          <m:endChr m:val="⟩"/>
                                          <m:ctrlPr>
                                            <a:rPr lang="en-US" sz="2800" b="0" i="1" smtClean="0">
                                              <a:solidFill>
                                                <a:srgbClr val="FF0000"/>
                                              </a:solidFill>
                                              <a:latin typeface="Cambria Math" panose="02040503050406030204" pitchFamily="18" charset="0"/>
                                              <a:ea typeface="FangSong" panose="02010609060101010101" pitchFamily="49" charset="-122"/>
                                            </a:rPr>
                                          </m:ctrlPr>
                                        </m:dPr>
                                        <m:e>
                                          <m:sSub>
                                            <m:sSubPr>
                                              <m:ctrlPr>
                                                <a:rPr lang="en-US" sz="2800" b="0" i="1" smtClean="0">
                                                  <a:solidFill>
                                                    <a:srgbClr val="FF0000"/>
                                                  </a:solidFill>
                                                  <a:latin typeface="Cambria Math" panose="02040503050406030204" pitchFamily="18" charset="0"/>
                                                  <a:ea typeface="FangSong" panose="02010609060101010101" pitchFamily="49" charset="-122"/>
                                                </a:rPr>
                                              </m:ctrlPr>
                                            </m:sSubPr>
                                            <m:e>
                                              <m:r>
                                                <a:rPr lang="en-US" sz="2800" b="0" i="1" smtClean="0">
                                                  <a:solidFill>
                                                    <a:srgbClr val="FF0000"/>
                                                  </a:solidFill>
                                                  <a:latin typeface="Cambria Math" panose="02040503050406030204" pitchFamily="18" charset="0"/>
                                                  <a:ea typeface="FangSong" panose="02010609060101010101" pitchFamily="49" charset="-122"/>
                                                </a:rPr>
                                                <m:t>𝑁</m:t>
                                              </m:r>
                                            </m:e>
                                            <m:sub>
                                              <m:r>
                                                <a:rPr lang="en-US" sz="2800" b="0" i="1" smtClean="0">
                                                  <a:solidFill>
                                                    <a:srgbClr val="FF0000"/>
                                                  </a:solidFill>
                                                  <a:latin typeface="Cambria Math" panose="02040503050406030204" pitchFamily="18" charset="0"/>
                                                  <a:ea typeface="FangSong" panose="02010609060101010101" pitchFamily="49" charset="-122"/>
                                                </a:rPr>
                                                <m:t>𝑔𝑟𝑜𝑢𝑛𝑑</m:t>
                                              </m:r>
                                            </m:sub>
                                          </m:sSub>
                                        </m:e>
                                      </m:d>
                                    </m:den>
                                  </m:f>
                                  <m:r>
                                    <a:rPr lang="en-US" sz="2800" b="0" i="1" smtClean="0">
                                      <a:solidFill>
                                        <a:srgbClr val="FF0000"/>
                                      </a:solidFill>
                                      <a:latin typeface="Cambria Math" panose="02040503050406030204" pitchFamily="18" charset="0"/>
                                      <a:ea typeface="FangSong" panose="02010609060101010101" pitchFamily="49" charset="-122"/>
                                    </a:rPr>
                                    <m:t>+1</m:t>
                                  </m:r>
                                </m:e>
                              </m:d>
                              <m:r>
                                <a:rPr lang="en-US" sz="2800" b="0" i="1" smtClean="0">
                                  <a:solidFill>
                                    <a:srgbClr val="FF0000"/>
                                  </a:solidFill>
                                  <a:latin typeface="Cambria Math" panose="02040503050406030204" pitchFamily="18" charset="0"/>
                                  <a:ea typeface="FangSong" panose="02010609060101010101" pitchFamily="49" charset="-122"/>
                                </a:rPr>
                                <m:t>−1</m:t>
                              </m:r>
                            </m:den>
                          </m:f>
                        </m:e>
                      </m:nary>
                    </m:oMath>
                  </m:oMathPara>
                </a14:m>
                <a:endParaRPr lang="en-CN" sz="2800" dirty="0">
                  <a:latin typeface="FangSong" panose="02010609060101010101" pitchFamily="49" charset="-122"/>
                  <a:ea typeface="FangSong" panose="02010609060101010101" pitchFamily="49" charset="-122"/>
                </a:endParaRPr>
              </a:p>
            </p:txBody>
          </p:sp>
        </mc:Choice>
        <mc:Fallback xmlns="">
          <p:sp>
            <p:nvSpPr>
              <p:cNvPr id="15" name="TextBox 14">
                <a:extLst>
                  <a:ext uri="{FF2B5EF4-FFF2-40B4-BE49-F238E27FC236}">
                    <a16:creationId xmlns:a16="http://schemas.microsoft.com/office/drawing/2014/main" id="{6EBE75B2-59D4-8050-DA02-34A5C1D8ED63}"/>
                  </a:ext>
                </a:extLst>
              </p:cNvPr>
              <p:cNvSpPr txBox="1">
                <a:spLocks noRot="1" noChangeAspect="1" noMove="1" noResize="1" noEditPoints="1" noAdjustHandles="1" noChangeArrowheads="1" noChangeShapeType="1" noTextEdit="1"/>
              </p:cNvSpPr>
              <p:nvPr/>
            </p:nvSpPr>
            <p:spPr>
              <a:xfrm>
                <a:off x="429490" y="3630027"/>
                <a:ext cx="11333020" cy="1696811"/>
              </a:xfrm>
              <a:prstGeom prst="rect">
                <a:avLst/>
              </a:prstGeom>
              <a:blipFill>
                <a:blip r:embed="rId3"/>
                <a:stretch>
                  <a:fillRect t="-79259" b="-96296"/>
                </a:stretch>
              </a:blipFill>
            </p:spPr>
            <p:txBody>
              <a:bodyPr/>
              <a:lstStyle/>
              <a:p>
                <a:r>
                  <a:rPr lang="en-CN">
                    <a:noFill/>
                  </a:rPr>
                  <a:t> </a:t>
                </a:r>
              </a:p>
            </p:txBody>
          </p:sp>
        </mc:Fallback>
      </mc:AlternateContent>
      <p:cxnSp>
        <p:nvCxnSpPr>
          <p:cNvPr id="5" name="Straight Connector 4">
            <a:extLst>
              <a:ext uri="{FF2B5EF4-FFF2-40B4-BE49-F238E27FC236}">
                <a16:creationId xmlns:a16="http://schemas.microsoft.com/office/drawing/2014/main" id="{56E76044-FDB1-1430-BA74-ECFFE3AA525E}"/>
              </a:ext>
            </a:extLst>
          </p:cNvPr>
          <p:cNvCxnSpPr/>
          <p:nvPr/>
        </p:nvCxnSpPr>
        <p:spPr>
          <a:xfrm>
            <a:off x="1537855" y="2521527"/>
            <a:ext cx="8977745"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3184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334F5AA-EE74-BD62-64B2-9AF05EDEBE74}"/>
              </a:ext>
            </a:extLst>
          </p:cNvPr>
          <p:cNvSpPr txBox="1"/>
          <p:nvPr/>
        </p:nvSpPr>
        <p:spPr>
          <a:xfrm>
            <a:off x="263237" y="263236"/>
            <a:ext cx="6691745"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数值计算</a:t>
            </a:r>
          </a:p>
        </p:txBody>
      </p:sp>
      <p:pic>
        <p:nvPicPr>
          <p:cNvPr id="4" name="Picture 3">
            <a:extLst>
              <a:ext uri="{FF2B5EF4-FFF2-40B4-BE49-F238E27FC236}">
                <a16:creationId xmlns:a16="http://schemas.microsoft.com/office/drawing/2014/main" id="{21A18388-EAF1-3992-AC21-13FBA09B6ED6}"/>
              </a:ext>
            </a:extLst>
          </p:cNvPr>
          <p:cNvPicPr>
            <a:picLocks noChangeAspect="1"/>
          </p:cNvPicPr>
          <p:nvPr/>
        </p:nvPicPr>
        <p:blipFill>
          <a:blip r:embed="rId2"/>
          <a:stretch>
            <a:fillRect/>
          </a:stretch>
        </p:blipFill>
        <p:spPr>
          <a:xfrm>
            <a:off x="2850962" y="76873"/>
            <a:ext cx="6490076" cy="6517891"/>
          </a:xfrm>
          <a:prstGeom prst="rect">
            <a:avLst/>
          </a:prstGeom>
        </p:spPr>
      </p:pic>
      <p:pic>
        <p:nvPicPr>
          <p:cNvPr id="8" name="Picture 7">
            <a:extLst>
              <a:ext uri="{FF2B5EF4-FFF2-40B4-BE49-F238E27FC236}">
                <a16:creationId xmlns:a16="http://schemas.microsoft.com/office/drawing/2014/main" id="{030BF24B-15F5-ED5F-2CDF-6FB457C9037F}"/>
              </a:ext>
            </a:extLst>
          </p:cNvPr>
          <p:cNvPicPr>
            <a:picLocks noChangeAspect="1"/>
          </p:cNvPicPr>
          <p:nvPr/>
        </p:nvPicPr>
        <p:blipFill>
          <a:blip r:embed="rId3"/>
          <a:stretch>
            <a:fillRect/>
          </a:stretch>
        </p:blipFill>
        <p:spPr>
          <a:xfrm>
            <a:off x="8645236" y="4399972"/>
            <a:ext cx="3283527" cy="2097809"/>
          </a:xfrm>
          <a:prstGeom prst="rect">
            <a:avLst/>
          </a:prstGeom>
        </p:spPr>
      </p:pic>
    </p:spTree>
    <p:extLst>
      <p:ext uri="{BB962C8B-B14F-4D97-AF65-F5344CB8AC3E}">
        <p14:creationId xmlns:p14="http://schemas.microsoft.com/office/powerpoint/2010/main" val="33639246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3372734-56A3-4E82-8F5A-E1C209E4EB37}"/>
              </a:ext>
            </a:extLst>
          </p:cNvPr>
          <p:cNvSpPr txBox="1"/>
          <p:nvPr/>
        </p:nvSpPr>
        <p:spPr>
          <a:xfrm>
            <a:off x="263237" y="263236"/>
            <a:ext cx="6691745"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解析</a:t>
            </a:r>
            <a:r>
              <a:rPr lang="zh-CN" altLang="en-US" dirty="0">
                <a:latin typeface="FangSong" panose="02010609060101010101" pitchFamily="49" charset="-122"/>
                <a:ea typeface="FangSong" panose="02010609060101010101" pitchFamily="49" charset="-122"/>
              </a:rPr>
              <a:t>（近似）</a:t>
            </a:r>
            <a:endParaRPr lang="en-CN" dirty="0">
              <a:latin typeface="FangSong" panose="02010609060101010101" pitchFamily="49" charset="-122"/>
              <a:ea typeface="FangSong" panose="02010609060101010101" pitchFamily="49" charset="-122"/>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E1219A8-EC2F-4E6A-630A-01E713A92026}"/>
                  </a:ext>
                </a:extLst>
              </p:cNvPr>
              <p:cNvSpPr txBox="1"/>
              <p:nvPr/>
            </p:nvSpPr>
            <p:spPr>
              <a:xfrm>
                <a:off x="3851563" y="789709"/>
                <a:ext cx="4488873" cy="485326"/>
              </a:xfrm>
              <a:prstGeom prst="rect">
                <a:avLst/>
              </a:prstGeom>
              <a:noFill/>
            </p:spPr>
            <p:txBody>
              <a:bodyPr wrap="square" rtlCol="0">
                <a:spAutoFit/>
              </a:bodyPr>
              <a:lstStyle/>
              <a:p>
                <a14:m>
                  <m:oMath xmlns:m="http://schemas.openxmlformats.org/officeDocument/2006/math">
                    <m:nary>
                      <m:naryPr>
                        <m:chr m:val="∑"/>
                        <m:supHide m:val="on"/>
                        <m:ctrlPr>
                          <a:rPr lang="en-CN" i="1" smtClean="0">
                            <a:latin typeface="Cambria Math" panose="02040503050406030204" pitchFamily="18" charset="0"/>
                          </a:rPr>
                        </m:ctrlPr>
                      </m:naryPr>
                      <m:sub>
                        <m:r>
                          <m:rPr>
                            <m:sty m:val="p"/>
                            <m:brk m:alnAt="7"/>
                          </m:rPr>
                          <a:rPr lang="en-CN" i="1">
                            <a:latin typeface="Cambria Math" panose="02040503050406030204" pitchFamily="18" charset="0"/>
                          </a:rPr>
                          <m:t>n</m:t>
                        </m:r>
                      </m:sub>
                      <m:sup/>
                      <m:e>
                        <m:r>
                          <a:rPr lang="en-CN" i="1" smtClean="0">
                            <a:latin typeface="Cambria Math" panose="02040503050406030204" pitchFamily="18" charset="0"/>
                            <a:ea typeface="Cambria Math" panose="02040503050406030204" pitchFamily="18" charset="0"/>
                          </a:rPr>
                          <m:t>→</m:t>
                        </m:r>
                      </m:e>
                    </m:nary>
                    <m:f>
                      <m:fPr>
                        <m:ctrlPr>
                          <a:rPr lang="en-CN"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1</m:t>
                        </m:r>
                      </m:num>
                      <m:den>
                        <m:r>
                          <a:rPr lang="en-US" b="0" i="1" smtClean="0">
                            <a:solidFill>
                              <a:srgbClr val="FF0000"/>
                            </a:solidFill>
                            <a:latin typeface="Cambria Math" panose="02040503050406030204" pitchFamily="18" charset="0"/>
                          </a:rPr>
                          <m:t>8</m:t>
                        </m:r>
                      </m:den>
                    </m:f>
                    <m:nary>
                      <m:naryPr>
                        <m:ctrlPr>
                          <a:rPr lang="en-CN" i="1" smtClean="0">
                            <a:solidFill>
                              <a:srgbClr val="FF0000"/>
                            </a:solidFill>
                            <a:latin typeface="Cambria Math" panose="02040503050406030204" pitchFamily="18" charset="0"/>
                          </a:rPr>
                        </m:ctrlPr>
                      </m:naryPr>
                      <m:sub>
                        <m:r>
                          <m:rPr>
                            <m:brk m:alnAt="23"/>
                          </m:rPr>
                          <a:rPr lang="en-US" b="0" i="1" smtClean="0">
                            <a:solidFill>
                              <a:srgbClr val="FF0000"/>
                            </a:solidFill>
                            <a:latin typeface="Cambria Math" panose="02040503050406030204" pitchFamily="18" charset="0"/>
                          </a:rPr>
                          <m:t>0</m:t>
                        </m:r>
                      </m:sub>
                      <m:sup>
                        <m:r>
                          <a:rPr lang="en-CN" i="1" smtClean="0">
                            <a:solidFill>
                              <a:srgbClr val="FF0000"/>
                            </a:solidFill>
                            <a:latin typeface="Cambria Math" panose="02040503050406030204" pitchFamily="18" charset="0"/>
                            <a:ea typeface="Cambria Math" panose="02040503050406030204" pitchFamily="18" charset="0"/>
                          </a:rPr>
                          <m:t>∞</m:t>
                        </m:r>
                      </m:sup>
                      <m:e>
                        <m:r>
                          <a:rPr lang="en-US" b="0" i="1" smtClean="0">
                            <a:solidFill>
                              <a:srgbClr val="FF0000"/>
                            </a:solidFill>
                            <a:latin typeface="Cambria Math" panose="02040503050406030204" pitchFamily="18" charset="0"/>
                          </a:rPr>
                          <m:t>4</m:t>
                        </m:r>
                        <m:r>
                          <a:rPr lang="en-US" b="0" i="1" smtClean="0">
                            <a:solidFill>
                              <a:srgbClr val="FF0000"/>
                            </a:solidFill>
                            <a:latin typeface="Cambria Math" panose="02040503050406030204" pitchFamily="18" charset="0"/>
                            <a:ea typeface="Cambria Math" panose="02040503050406030204" pitchFamily="18" charset="0"/>
                          </a:rPr>
                          <m:t>𝜋</m:t>
                        </m:r>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𝑛</m:t>
                            </m:r>
                          </m:e>
                          <m:sup>
                            <m:r>
                              <a:rPr lang="en-US" b="0" i="1" smtClean="0">
                                <a:solidFill>
                                  <a:srgbClr val="FF0000"/>
                                </a:solidFill>
                                <a:latin typeface="Cambria Math" panose="02040503050406030204" pitchFamily="18" charset="0"/>
                                <a:ea typeface="Cambria Math" panose="02040503050406030204" pitchFamily="18" charset="0"/>
                              </a:rPr>
                              <m:t>2</m:t>
                            </m:r>
                          </m:sup>
                        </m:sSup>
                        <m:r>
                          <a:rPr lang="en-US" b="0" i="1" smtClean="0">
                            <a:solidFill>
                              <a:srgbClr val="FF0000"/>
                            </a:solidFill>
                            <a:latin typeface="Cambria Math" panose="02040503050406030204" pitchFamily="18" charset="0"/>
                            <a:ea typeface="Cambria Math" panose="02040503050406030204" pitchFamily="18" charset="0"/>
                          </a:rPr>
                          <m:t>𝑑𝑛</m:t>
                        </m:r>
                      </m:e>
                    </m:nary>
                  </m:oMath>
                </a14:m>
                <a:r>
                  <a:rPr lang="en-CN" dirty="0"/>
                  <a:t>            </a:t>
                </a:r>
                <a14:m>
                  <m:oMath xmlns:m="http://schemas.openxmlformats.org/officeDocument/2006/math">
                    <m:r>
                      <a:rPr lang="en-US" b="0" i="1" dirty="0" smtClean="0">
                        <a:latin typeface="Cambria Math" panose="02040503050406030204" pitchFamily="18" charset="0"/>
                      </a:rPr>
                      <m:t>𝑑</m:t>
                    </m:r>
                    <m:r>
                      <a:rPr lang="en-US" b="0" i="1" dirty="0" smtClean="0">
                        <a:latin typeface="Cambria Math" panose="02040503050406030204" pitchFamily="18" charset="0"/>
                        <a:ea typeface="Cambria Math" panose="02040503050406030204" pitchFamily="18" charset="0"/>
                      </a:rPr>
                      <m:t>𝜀</m:t>
                    </m:r>
                    <m:r>
                      <a:rPr lang="en-US" b="0" i="1" dirty="0" smtClean="0">
                        <a:latin typeface="Cambria Math" panose="02040503050406030204" pitchFamily="18" charset="0"/>
                        <a:ea typeface="Cambria Math" panose="02040503050406030204" pitchFamily="18" charset="0"/>
                      </a:rPr>
                      <m:t>=2</m:t>
                    </m:r>
                    <m:sSub>
                      <m:sSubPr>
                        <m:ctrlPr>
                          <a:rPr lang="en-US" b="0"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𝜀</m:t>
                        </m:r>
                      </m:e>
                      <m:sub>
                        <m:r>
                          <a:rPr lang="en-US" b="0" i="1" dirty="0" smtClean="0">
                            <a:latin typeface="Cambria Math" panose="02040503050406030204" pitchFamily="18" charset="0"/>
                            <a:ea typeface="Cambria Math" panose="02040503050406030204" pitchFamily="18" charset="0"/>
                          </a:rPr>
                          <m:t>1</m:t>
                        </m:r>
                      </m:sub>
                    </m:sSub>
                    <m:r>
                      <a:rPr lang="en-US" b="0" i="1" dirty="0" smtClean="0">
                        <a:latin typeface="Cambria Math" panose="02040503050406030204" pitchFamily="18" charset="0"/>
                        <a:ea typeface="Cambria Math" panose="02040503050406030204" pitchFamily="18" charset="0"/>
                      </a:rPr>
                      <m:t> </m:t>
                    </m:r>
                    <m:r>
                      <a:rPr lang="en-US" b="0" i="1" dirty="0" smtClean="0">
                        <a:latin typeface="Cambria Math" panose="02040503050406030204" pitchFamily="18" charset="0"/>
                        <a:ea typeface="Cambria Math" panose="02040503050406030204" pitchFamily="18" charset="0"/>
                      </a:rPr>
                      <m:t>𝑛</m:t>
                    </m:r>
                    <m:r>
                      <a:rPr lang="en-US" b="0" i="1" dirty="0" smtClean="0">
                        <a:latin typeface="Cambria Math" panose="02040503050406030204" pitchFamily="18" charset="0"/>
                        <a:ea typeface="Cambria Math" panose="02040503050406030204" pitchFamily="18" charset="0"/>
                      </a:rPr>
                      <m:t> </m:t>
                    </m:r>
                    <m:r>
                      <a:rPr lang="en-US" b="0" i="1" dirty="0" smtClean="0">
                        <a:latin typeface="Cambria Math" panose="02040503050406030204" pitchFamily="18" charset="0"/>
                        <a:ea typeface="Cambria Math" panose="02040503050406030204" pitchFamily="18" charset="0"/>
                      </a:rPr>
                      <m:t>𝑑𝑛</m:t>
                    </m:r>
                    <m:r>
                      <a:rPr lang="en-US" b="0" i="1" dirty="0" smtClean="0">
                        <a:latin typeface="Cambria Math" panose="02040503050406030204" pitchFamily="18" charset="0"/>
                        <a:ea typeface="Cambria Math" panose="02040503050406030204" pitchFamily="18" charset="0"/>
                      </a:rPr>
                      <m:t> </m:t>
                    </m:r>
                  </m:oMath>
                </a14:m>
                <a:r>
                  <a:rPr lang="en-CN" dirty="0"/>
                  <a:t>        </a:t>
                </a:r>
              </a:p>
            </p:txBody>
          </p:sp>
        </mc:Choice>
        <mc:Fallback xmlns="">
          <p:sp>
            <p:nvSpPr>
              <p:cNvPr id="3" name="TextBox 2">
                <a:extLst>
                  <a:ext uri="{FF2B5EF4-FFF2-40B4-BE49-F238E27FC236}">
                    <a16:creationId xmlns:a16="http://schemas.microsoft.com/office/drawing/2014/main" id="{DE1219A8-EC2F-4E6A-630A-01E713A92026}"/>
                  </a:ext>
                </a:extLst>
              </p:cNvPr>
              <p:cNvSpPr txBox="1">
                <a:spLocks noRot="1" noChangeAspect="1" noMove="1" noResize="1" noEditPoints="1" noAdjustHandles="1" noChangeArrowheads="1" noChangeShapeType="1" noTextEdit="1"/>
              </p:cNvSpPr>
              <p:nvPr/>
            </p:nvSpPr>
            <p:spPr>
              <a:xfrm>
                <a:off x="3851563" y="789709"/>
                <a:ext cx="4488873" cy="485326"/>
              </a:xfrm>
              <a:prstGeom prst="rect">
                <a:avLst/>
              </a:prstGeom>
              <a:blipFill>
                <a:blip r:embed="rId2"/>
                <a:stretch>
                  <a:fillRect l="-7062" t="-97436" b="-146154"/>
                </a:stretch>
              </a:blipFill>
            </p:spPr>
            <p:txBody>
              <a:bodyPr/>
              <a:lstStyle/>
              <a:p>
                <a:r>
                  <a:rPr lang="en-CN">
                    <a:noFill/>
                  </a:rPr>
                  <a:t> </a:t>
                </a:r>
              </a:p>
            </p:txBody>
          </p:sp>
        </mc:Fallback>
      </mc:AlternateContent>
      <p:sp>
        <p:nvSpPr>
          <p:cNvPr id="7" name="Down Arrow 6">
            <a:extLst>
              <a:ext uri="{FF2B5EF4-FFF2-40B4-BE49-F238E27FC236}">
                <a16:creationId xmlns:a16="http://schemas.microsoft.com/office/drawing/2014/main" id="{F06738A1-9F14-8559-AAAE-1E995160D7E3}"/>
              </a:ext>
            </a:extLst>
          </p:cNvPr>
          <p:cNvSpPr/>
          <p:nvPr/>
        </p:nvSpPr>
        <p:spPr>
          <a:xfrm>
            <a:off x="5846618" y="1440873"/>
            <a:ext cx="387927" cy="62345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61184F7-EEB5-EE5F-C65E-2FD73026DF78}"/>
                  </a:ext>
                </a:extLst>
              </p:cNvPr>
              <p:cNvSpPr txBox="1"/>
              <p:nvPr/>
            </p:nvSpPr>
            <p:spPr>
              <a:xfrm>
                <a:off x="1939636" y="2396420"/>
                <a:ext cx="8880764" cy="9106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CN" i="1" smtClean="0">
                              <a:latin typeface="Cambria Math" panose="02040503050406030204" pitchFamily="18" charset="0"/>
                            </a:rPr>
                          </m:ctrlPr>
                        </m:naryPr>
                        <m:sub>
                          <m:r>
                            <m:rPr>
                              <m:sty m:val="p"/>
                              <m:brk m:alnAt="7"/>
                            </m:rPr>
                            <a:rPr lang="en-CN" i="1">
                              <a:latin typeface="Cambria Math" panose="02040503050406030204" pitchFamily="18" charset="0"/>
                            </a:rPr>
                            <m:t>n</m:t>
                          </m:r>
                        </m:sub>
                        <m:sup/>
                        <m:e>
                          <m:r>
                            <a:rPr lang="en-CN" i="1" smtClean="0">
                              <a:latin typeface="Cambria Math" panose="02040503050406030204" pitchFamily="18" charset="0"/>
                              <a:ea typeface="Cambria Math" panose="02040503050406030204" pitchFamily="18" charset="0"/>
                            </a:rPr>
                            <m:t>→</m:t>
                          </m:r>
                        </m:e>
                      </m:nary>
                      <m:f>
                        <m:fPr>
                          <m:ctrlPr>
                            <a:rPr lang="en-CN"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m:t>
                          </m:r>
                        </m:num>
                        <m:den>
                          <m:r>
                            <a:rPr lang="en-US" b="0" i="1" smtClean="0">
                              <a:solidFill>
                                <a:schemeClr val="tx1"/>
                              </a:solidFill>
                              <a:latin typeface="Cambria Math" panose="02040503050406030204" pitchFamily="18" charset="0"/>
                            </a:rPr>
                            <m:t>8</m:t>
                          </m:r>
                        </m:den>
                      </m:f>
                      <m:nary>
                        <m:naryPr>
                          <m:ctrlPr>
                            <a:rPr lang="en-CN" i="1" smtClean="0">
                              <a:solidFill>
                                <a:schemeClr val="tx1"/>
                              </a:solidFill>
                              <a:latin typeface="Cambria Math" panose="02040503050406030204" pitchFamily="18" charset="0"/>
                            </a:rPr>
                          </m:ctrlPr>
                        </m:naryPr>
                        <m:sub>
                          <m:r>
                            <m:rPr>
                              <m:brk m:alnAt="23"/>
                            </m:rPr>
                            <a:rPr lang="en-US" b="0" i="1" smtClean="0">
                              <a:solidFill>
                                <a:schemeClr val="tx1"/>
                              </a:solidFill>
                              <a:latin typeface="Cambria Math" panose="02040503050406030204" pitchFamily="18" charset="0"/>
                            </a:rPr>
                            <m:t>0</m:t>
                          </m:r>
                        </m:sub>
                        <m:sup>
                          <m:r>
                            <a:rPr lang="en-CN" i="1" smtClean="0">
                              <a:solidFill>
                                <a:schemeClr val="tx1"/>
                              </a:solidFill>
                              <a:latin typeface="Cambria Math" panose="02040503050406030204" pitchFamily="18" charset="0"/>
                              <a:ea typeface="Cambria Math" panose="02040503050406030204" pitchFamily="18" charset="0"/>
                            </a:rPr>
                            <m:t>∞</m:t>
                          </m:r>
                        </m:sup>
                        <m:e>
                          <m:r>
                            <a:rPr lang="en-US" b="0" i="1" smtClean="0">
                              <a:solidFill>
                                <a:schemeClr val="tx1"/>
                              </a:solidFill>
                              <a:latin typeface="Cambria Math" panose="02040503050406030204" pitchFamily="18" charset="0"/>
                            </a:rPr>
                            <m:t>4</m:t>
                          </m:r>
                          <m:r>
                            <a:rPr lang="en-US" b="0" i="1" smtClean="0">
                              <a:solidFill>
                                <a:schemeClr val="tx1"/>
                              </a:solidFill>
                              <a:latin typeface="Cambria Math" panose="02040503050406030204" pitchFamily="18" charset="0"/>
                              <a:ea typeface="Cambria Math" panose="02040503050406030204" pitchFamily="18" charset="0"/>
                            </a:rPr>
                            <m:t>𝜋</m:t>
                          </m:r>
                          <m:sSup>
                            <m:sSupPr>
                              <m:ctrlPr>
                                <a:rPr lang="en-US" b="0" i="1" smtClean="0">
                                  <a:solidFill>
                                    <a:schemeClr val="tx1"/>
                                  </a:solidFill>
                                  <a:latin typeface="Cambria Math" panose="02040503050406030204" pitchFamily="18" charset="0"/>
                                  <a:ea typeface="Cambria Math" panose="02040503050406030204" pitchFamily="18" charset="0"/>
                                </a:rPr>
                              </m:ctrlPr>
                            </m:sSupPr>
                            <m:e>
                              <m:r>
                                <a:rPr lang="en-US" b="0" i="1" smtClean="0">
                                  <a:solidFill>
                                    <a:schemeClr val="tx1"/>
                                  </a:solidFill>
                                  <a:latin typeface="Cambria Math" panose="02040503050406030204" pitchFamily="18" charset="0"/>
                                  <a:ea typeface="Cambria Math" panose="02040503050406030204" pitchFamily="18" charset="0"/>
                                </a:rPr>
                                <m:t>𝑛</m:t>
                              </m:r>
                            </m:e>
                            <m:sup>
                              <m:r>
                                <a:rPr lang="en-US" b="0" i="1" smtClean="0">
                                  <a:solidFill>
                                    <a:schemeClr val="tx1"/>
                                  </a:solidFill>
                                  <a:latin typeface="Cambria Math" panose="02040503050406030204" pitchFamily="18" charset="0"/>
                                  <a:ea typeface="Cambria Math" panose="02040503050406030204" pitchFamily="18" charset="0"/>
                                </a:rPr>
                                <m:t>2</m:t>
                              </m:r>
                            </m:sup>
                          </m:sSup>
                          <m:r>
                            <a:rPr lang="en-US" b="0" i="1" smtClean="0">
                              <a:solidFill>
                                <a:schemeClr val="tx1"/>
                              </a:solidFill>
                              <a:latin typeface="Cambria Math" panose="02040503050406030204" pitchFamily="18" charset="0"/>
                              <a:ea typeface="Cambria Math" panose="02040503050406030204" pitchFamily="18" charset="0"/>
                            </a:rPr>
                            <m:t>𝑑𝑛</m:t>
                          </m:r>
                        </m:e>
                      </m:nary>
                      <m:r>
                        <a:rPr lang="en-US" altLang="zh-CN" b="0" i="1" smtClean="0">
                          <a:solidFill>
                            <a:schemeClr val="tx1"/>
                          </a:solidFill>
                          <a:latin typeface="Cambria Math" panose="02040503050406030204" pitchFamily="18" charset="0"/>
                          <a:ea typeface="Cambria Math" panose="02040503050406030204" pitchFamily="18" charset="0"/>
                        </a:rPr>
                        <m:t>=</m:t>
                      </m:r>
                      <m:f>
                        <m:fPr>
                          <m:ctrlPr>
                            <a:rPr lang="en-US" altLang="zh-CN" b="0" i="1" smtClean="0">
                              <a:solidFill>
                                <a:schemeClr val="tx1"/>
                              </a:solidFill>
                              <a:latin typeface="Cambria Math" panose="02040503050406030204" pitchFamily="18" charset="0"/>
                              <a:ea typeface="Cambria Math" panose="02040503050406030204" pitchFamily="18" charset="0"/>
                            </a:rPr>
                          </m:ctrlPr>
                        </m:fPr>
                        <m:num>
                          <m:r>
                            <a:rPr lang="en-US" altLang="zh-CN" b="0" i="1" smtClean="0">
                              <a:solidFill>
                                <a:schemeClr val="tx1"/>
                              </a:solidFill>
                              <a:latin typeface="Cambria Math" panose="02040503050406030204" pitchFamily="18" charset="0"/>
                              <a:ea typeface="Cambria Math" panose="02040503050406030204" pitchFamily="18" charset="0"/>
                            </a:rPr>
                            <m:t>𝜋</m:t>
                          </m:r>
                        </m:num>
                        <m:den>
                          <m:r>
                            <a:rPr lang="en-US" altLang="zh-CN" b="0" i="1" smtClean="0">
                              <a:solidFill>
                                <a:schemeClr val="tx1"/>
                              </a:solidFill>
                              <a:latin typeface="Cambria Math" panose="02040503050406030204" pitchFamily="18" charset="0"/>
                              <a:ea typeface="Cambria Math" panose="02040503050406030204" pitchFamily="18" charset="0"/>
                            </a:rPr>
                            <m:t>2</m:t>
                          </m:r>
                        </m:den>
                      </m:f>
                      <m:r>
                        <a:rPr lang="zh-CN" altLang="en-US" b="0" i="1" smtClean="0">
                          <a:solidFill>
                            <a:schemeClr val="tx1"/>
                          </a:solidFill>
                          <a:latin typeface="Cambria Math" panose="02040503050406030204" pitchFamily="18" charset="0"/>
                          <a:ea typeface="Cambria Math" panose="02040503050406030204" pitchFamily="18" charset="0"/>
                        </a:rPr>
                        <m:t> </m:t>
                      </m:r>
                      <m:nary>
                        <m:naryPr>
                          <m:ctrlPr>
                            <a:rPr lang="zh-CN" altLang="en-US" b="0" i="1" smtClean="0">
                              <a:solidFill>
                                <a:schemeClr val="tx1"/>
                              </a:solidFill>
                              <a:latin typeface="Cambria Math" panose="02040503050406030204" pitchFamily="18" charset="0"/>
                              <a:ea typeface="Cambria Math" panose="02040503050406030204" pitchFamily="18" charset="0"/>
                            </a:rPr>
                          </m:ctrlPr>
                        </m:naryPr>
                        <m:sub>
                          <m:r>
                            <m:rPr>
                              <m:brk m:alnAt="23"/>
                            </m:rPr>
                            <a:rPr lang="en-US" altLang="zh-CN" b="0" i="1" smtClean="0">
                              <a:solidFill>
                                <a:schemeClr val="tx1"/>
                              </a:solidFill>
                              <a:latin typeface="Cambria Math" panose="02040503050406030204" pitchFamily="18" charset="0"/>
                              <a:ea typeface="Cambria Math" panose="02040503050406030204" pitchFamily="18" charset="0"/>
                            </a:rPr>
                            <m:t>0</m:t>
                          </m:r>
                        </m:sub>
                        <m:sup>
                          <m:r>
                            <a:rPr lang="en-US" altLang="zh-CN" b="0" i="1" smtClean="0">
                              <a:solidFill>
                                <a:schemeClr val="tx1"/>
                              </a:solidFill>
                              <a:latin typeface="Cambria Math" panose="02040503050406030204" pitchFamily="18" charset="0"/>
                              <a:ea typeface="Cambria Math" panose="02040503050406030204" pitchFamily="18" charset="0"/>
                            </a:rPr>
                            <m:t>∞</m:t>
                          </m:r>
                        </m:sup>
                        <m:e>
                          <m:r>
                            <a:rPr lang="en-US" altLang="zh-CN" b="0" i="1" smtClean="0">
                              <a:solidFill>
                                <a:schemeClr val="tx1"/>
                              </a:solidFill>
                              <a:latin typeface="Cambria Math" panose="02040503050406030204" pitchFamily="18" charset="0"/>
                              <a:ea typeface="Cambria Math" panose="02040503050406030204" pitchFamily="18" charset="0"/>
                            </a:rPr>
                            <m:t>𝑛</m:t>
                          </m:r>
                          <m:r>
                            <a:rPr lang="en-US" altLang="zh-CN" b="0" i="1" smtClean="0">
                              <a:solidFill>
                                <a:schemeClr val="tx1"/>
                              </a:solidFill>
                              <a:latin typeface="Cambria Math" panose="02040503050406030204" pitchFamily="18" charset="0"/>
                              <a:ea typeface="Cambria Math" panose="02040503050406030204" pitchFamily="18" charset="0"/>
                            </a:rPr>
                            <m:t> </m:t>
                          </m:r>
                          <m:r>
                            <a:rPr lang="en-US" altLang="zh-CN" b="0" i="1" smtClean="0">
                              <a:solidFill>
                                <a:schemeClr val="tx1"/>
                              </a:solidFill>
                              <a:latin typeface="Cambria Math" panose="02040503050406030204" pitchFamily="18" charset="0"/>
                              <a:ea typeface="Cambria Math" panose="02040503050406030204" pitchFamily="18" charset="0"/>
                            </a:rPr>
                            <m:t>𝑛</m:t>
                          </m:r>
                          <m:r>
                            <a:rPr lang="en-US" altLang="zh-CN" b="0" i="1" smtClean="0">
                              <a:solidFill>
                                <a:schemeClr val="tx1"/>
                              </a:solidFill>
                              <a:latin typeface="Cambria Math" panose="02040503050406030204" pitchFamily="18" charset="0"/>
                              <a:ea typeface="Cambria Math" panose="02040503050406030204" pitchFamily="18" charset="0"/>
                            </a:rPr>
                            <m:t> </m:t>
                          </m:r>
                          <m:r>
                            <a:rPr lang="en-US" altLang="zh-CN" b="0" i="1" smtClean="0">
                              <a:solidFill>
                                <a:schemeClr val="tx1"/>
                              </a:solidFill>
                              <a:latin typeface="Cambria Math" panose="02040503050406030204" pitchFamily="18" charset="0"/>
                              <a:ea typeface="Cambria Math" panose="02040503050406030204" pitchFamily="18" charset="0"/>
                            </a:rPr>
                            <m:t>𝑑𝑛</m:t>
                          </m:r>
                          <m:r>
                            <a:rPr lang="en-US" altLang="zh-CN" b="0" i="1" smtClean="0">
                              <a:solidFill>
                                <a:schemeClr val="tx1"/>
                              </a:solidFill>
                              <a:latin typeface="Cambria Math" panose="02040503050406030204" pitchFamily="18" charset="0"/>
                              <a:ea typeface="Cambria Math" panose="02040503050406030204" pitchFamily="18" charset="0"/>
                            </a:rPr>
                            <m:t>=</m:t>
                          </m:r>
                        </m:e>
                      </m:nary>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𝜋</m:t>
                          </m:r>
                        </m:num>
                        <m:den>
                          <m:r>
                            <a:rPr lang="en-US" altLang="zh-CN" i="1">
                              <a:latin typeface="Cambria Math" panose="02040503050406030204" pitchFamily="18" charset="0"/>
                              <a:ea typeface="Cambria Math" panose="02040503050406030204" pitchFamily="18" charset="0"/>
                            </a:rPr>
                            <m:t>2</m:t>
                          </m:r>
                        </m:den>
                      </m:f>
                      <m:r>
                        <a:rPr lang="zh-CN" altLang="en-US" i="1">
                          <a:latin typeface="Cambria Math" panose="02040503050406030204" pitchFamily="18" charset="0"/>
                          <a:ea typeface="Cambria Math" panose="02040503050406030204" pitchFamily="18" charset="0"/>
                        </a:rPr>
                        <m:t> </m:t>
                      </m:r>
                      <m:nary>
                        <m:naryPr>
                          <m:ctrlPr>
                            <a:rPr lang="zh-CN" altLang="en-US" i="1">
                              <a:latin typeface="Cambria Math" panose="02040503050406030204" pitchFamily="18" charset="0"/>
                              <a:ea typeface="Cambria Math" panose="02040503050406030204" pitchFamily="18" charset="0"/>
                            </a:rPr>
                          </m:ctrlPr>
                        </m:naryPr>
                        <m:sub>
                          <m:r>
                            <m:rPr>
                              <m:brk m:alnAt="23"/>
                            </m:rPr>
                            <a:rPr lang="en-US" altLang="zh-CN" i="1">
                              <a:latin typeface="Cambria Math" panose="02040503050406030204" pitchFamily="18" charset="0"/>
                              <a:ea typeface="Cambria Math" panose="02040503050406030204" pitchFamily="18" charset="0"/>
                            </a:rPr>
                            <m:t>0</m:t>
                          </m:r>
                        </m:sub>
                        <m:sup>
                          <m:r>
                            <a:rPr lang="en-US" altLang="zh-CN" i="1">
                              <a:latin typeface="Cambria Math" panose="02040503050406030204" pitchFamily="18" charset="0"/>
                              <a:ea typeface="Cambria Math" panose="02040503050406030204" pitchFamily="18" charset="0"/>
                            </a:rPr>
                            <m:t>∞</m:t>
                          </m:r>
                        </m:sup>
                        <m:e>
                          <m:rad>
                            <m:radPr>
                              <m:degHide m:val="on"/>
                              <m:ctrlPr>
                                <a:rPr lang="en-US" altLang="zh-CN" i="1" smtClean="0">
                                  <a:latin typeface="Cambria Math" panose="02040503050406030204" pitchFamily="18" charset="0"/>
                                  <a:ea typeface="Cambria Math" panose="02040503050406030204" pitchFamily="18" charset="0"/>
                                </a:rPr>
                              </m:ctrlPr>
                            </m:radPr>
                            <m:deg/>
                            <m:e>
                              <m:f>
                                <m:fPr>
                                  <m:ctrlPr>
                                    <a:rPr lang="en-US" altLang="zh-CN" i="1" smtClean="0">
                                      <a:latin typeface="Cambria Math" panose="02040503050406030204" pitchFamily="18" charset="0"/>
                                      <a:ea typeface="Cambria Math" panose="02040503050406030204" pitchFamily="18" charset="0"/>
                                    </a:rPr>
                                  </m:ctrlPr>
                                </m:fPr>
                                <m:num>
                                  <m:r>
                                    <a:rPr lang="en-US" altLang="zh-CN" i="1" smtClean="0">
                                      <a:latin typeface="Cambria Math" panose="02040503050406030204" pitchFamily="18" charset="0"/>
                                      <a:ea typeface="Cambria Math" panose="02040503050406030204" pitchFamily="18" charset="0"/>
                                    </a:rPr>
                                    <m:t>𝜀</m:t>
                                  </m:r>
                                </m:num>
                                <m:den>
                                  <m:sSub>
                                    <m:sSubPr>
                                      <m:ctrlPr>
                                        <a:rPr lang="en-US" altLang="zh-CN" i="1" smtClean="0">
                                          <a:latin typeface="Cambria Math" panose="02040503050406030204" pitchFamily="18" charset="0"/>
                                          <a:ea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ea typeface="Cambria Math" panose="02040503050406030204" pitchFamily="18" charset="0"/>
                                        </a:rPr>
                                        <m:t>1</m:t>
                                      </m:r>
                                    </m:sub>
                                  </m:sSub>
                                </m:den>
                              </m:f>
                            </m:e>
                          </m:rad>
                          <m:r>
                            <a:rPr lang="en-US" altLang="zh-CN" i="1">
                              <a:latin typeface="Cambria Math" panose="02040503050406030204" pitchFamily="18" charset="0"/>
                              <a:ea typeface="Cambria Math" panose="02040503050406030204" pitchFamily="18" charset="0"/>
                            </a:rPr>
                            <m:t> </m:t>
                          </m:r>
                          <m:f>
                            <m:fPr>
                              <m:ctrlPr>
                                <a:rPr lang="en-US" altLang="zh-CN"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𝑑</m:t>
                              </m:r>
                              <m:r>
                                <a:rPr lang="en-US" altLang="zh-CN" b="0" i="1" smtClean="0">
                                  <a:latin typeface="Cambria Math" panose="02040503050406030204" pitchFamily="18" charset="0"/>
                                  <a:ea typeface="Cambria Math" panose="02040503050406030204" pitchFamily="18" charset="0"/>
                                </a:rPr>
                                <m:t>𝜀</m:t>
                              </m:r>
                            </m:num>
                            <m:den>
                              <m:r>
                                <a:rPr lang="en-US" altLang="zh-CN" b="0" i="1" smtClean="0">
                                  <a:latin typeface="Cambria Math" panose="02040503050406030204" pitchFamily="18" charset="0"/>
                                  <a:ea typeface="Cambria Math" panose="02040503050406030204" pitchFamily="18" charset="0"/>
                                </a:rPr>
                                <m:t>2</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ea typeface="Cambria Math" panose="02040503050406030204" pitchFamily="18" charset="0"/>
                                    </a:rPr>
                                    <m:t>1</m:t>
                                  </m:r>
                                </m:sub>
                              </m:sSub>
                            </m:den>
                          </m:f>
                          <m:r>
                            <a:rPr lang="en-US" altLang="zh-CN" i="1">
                              <a:latin typeface="Cambria Math" panose="02040503050406030204" pitchFamily="18" charset="0"/>
                              <a:ea typeface="Cambria Math" panose="02040503050406030204" pitchFamily="18" charset="0"/>
                            </a:rPr>
                            <m:t>=</m:t>
                          </m:r>
                          <m:f>
                            <m:fPr>
                              <m:ctrlPr>
                                <a:rPr lang="en-US" altLang="zh-CN" i="1" smtClean="0">
                                  <a:solidFill>
                                    <a:srgbClr val="C00000"/>
                                  </a:solidFill>
                                  <a:latin typeface="Cambria Math" panose="02040503050406030204" pitchFamily="18" charset="0"/>
                                  <a:ea typeface="Cambria Math" panose="02040503050406030204" pitchFamily="18" charset="0"/>
                                </a:rPr>
                              </m:ctrlPr>
                            </m:fPr>
                            <m:num>
                              <m:r>
                                <a:rPr lang="en-US" altLang="zh-CN" i="1" smtClean="0">
                                  <a:solidFill>
                                    <a:srgbClr val="C00000"/>
                                  </a:solidFill>
                                  <a:latin typeface="Cambria Math" panose="02040503050406030204" pitchFamily="18" charset="0"/>
                                  <a:ea typeface="Cambria Math" panose="02040503050406030204" pitchFamily="18" charset="0"/>
                                </a:rPr>
                                <m:t>𝜋</m:t>
                              </m:r>
                            </m:num>
                            <m:den>
                              <m:r>
                                <a:rPr lang="en-US" altLang="zh-CN" b="0" i="1" smtClean="0">
                                  <a:solidFill>
                                    <a:srgbClr val="C00000"/>
                                  </a:solidFill>
                                  <a:latin typeface="Cambria Math" panose="02040503050406030204" pitchFamily="18" charset="0"/>
                                  <a:ea typeface="Cambria Math" panose="02040503050406030204" pitchFamily="18" charset="0"/>
                                </a:rPr>
                                <m:t>4</m:t>
                              </m:r>
                              <m:sSubSup>
                                <m:sSubSupPr>
                                  <m:ctrlPr>
                                    <a:rPr lang="en-US" altLang="zh-CN" b="0" i="1" smtClean="0">
                                      <a:solidFill>
                                        <a:srgbClr val="C00000"/>
                                      </a:solidFill>
                                      <a:latin typeface="Cambria Math" panose="02040503050406030204" pitchFamily="18" charset="0"/>
                                      <a:ea typeface="Cambria Math" panose="02040503050406030204" pitchFamily="18" charset="0"/>
                                    </a:rPr>
                                  </m:ctrlPr>
                                </m:sSubSupPr>
                                <m:e>
                                  <m:r>
                                    <a:rPr lang="en-US" altLang="zh-CN" b="0" i="1" smtClean="0">
                                      <a:solidFill>
                                        <a:srgbClr val="C00000"/>
                                      </a:solidFill>
                                      <a:latin typeface="Cambria Math" panose="02040503050406030204" pitchFamily="18" charset="0"/>
                                      <a:ea typeface="Cambria Math" panose="02040503050406030204" pitchFamily="18" charset="0"/>
                                    </a:rPr>
                                    <m:t>𝜀</m:t>
                                  </m:r>
                                </m:e>
                                <m:sub>
                                  <m:r>
                                    <a:rPr lang="en-US" altLang="zh-CN" b="0" i="1" smtClean="0">
                                      <a:solidFill>
                                        <a:srgbClr val="C00000"/>
                                      </a:solidFill>
                                      <a:latin typeface="Cambria Math" panose="02040503050406030204" pitchFamily="18" charset="0"/>
                                      <a:ea typeface="Cambria Math" panose="02040503050406030204" pitchFamily="18" charset="0"/>
                                    </a:rPr>
                                    <m:t>1</m:t>
                                  </m:r>
                                </m:sub>
                                <m:sup>
                                  <m:r>
                                    <a:rPr lang="en-US" altLang="zh-CN" b="0" i="1" smtClean="0">
                                      <a:solidFill>
                                        <a:srgbClr val="C00000"/>
                                      </a:solidFill>
                                      <a:latin typeface="Cambria Math" panose="02040503050406030204" pitchFamily="18" charset="0"/>
                                      <a:ea typeface="Cambria Math" panose="02040503050406030204" pitchFamily="18" charset="0"/>
                                    </a:rPr>
                                    <m:t>3/2</m:t>
                                  </m:r>
                                </m:sup>
                              </m:sSubSup>
                            </m:den>
                          </m:f>
                          <m:r>
                            <a:rPr lang="en-US" altLang="zh-CN" b="0" i="1" smtClean="0">
                              <a:latin typeface="Cambria Math" panose="02040503050406030204" pitchFamily="18" charset="0"/>
                              <a:ea typeface="Cambria Math" panose="02040503050406030204" pitchFamily="18" charset="0"/>
                            </a:rPr>
                            <m:t> </m:t>
                          </m:r>
                          <m:nary>
                            <m:naryPr>
                              <m:ctrlPr>
                                <a:rPr lang="en-US" altLang="zh-CN" b="0" i="1" smtClean="0">
                                  <a:latin typeface="Cambria Math" panose="02040503050406030204" pitchFamily="18" charset="0"/>
                                  <a:ea typeface="Cambria Math" panose="02040503050406030204" pitchFamily="18" charset="0"/>
                                </a:rPr>
                              </m:ctrlPr>
                            </m:naryPr>
                            <m:sub>
                              <m:r>
                                <m:rPr>
                                  <m:brk m:alnAt="23"/>
                                </m:rPr>
                                <a:rPr lang="en-US" altLang="zh-CN" b="0" i="1" smtClean="0">
                                  <a:latin typeface="Cambria Math" panose="02040503050406030204" pitchFamily="18" charset="0"/>
                                  <a:ea typeface="Cambria Math" panose="02040503050406030204" pitchFamily="18" charset="0"/>
                                </a:rPr>
                                <m:t>0</m:t>
                              </m:r>
                            </m:sub>
                            <m:sup>
                              <m:r>
                                <a:rPr lang="en-US" altLang="zh-CN" b="0" i="1" smtClean="0">
                                  <a:latin typeface="Cambria Math" panose="02040503050406030204" pitchFamily="18" charset="0"/>
                                  <a:ea typeface="Cambria Math" panose="02040503050406030204" pitchFamily="18" charset="0"/>
                                </a:rPr>
                                <m:t>∞</m:t>
                              </m:r>
                            </m:sup>
                            <m:e>
                              <m:rad>
                                <m:radPr>
                                  <m:degHide m:val="on"/>
                                  <m:ctrlPr>
                                    <a:rPr lang="en-US" altLang="zh-CN" b="0" i="1" smtClean="0">
                                      <a:solidFill>
                                        <a:srgbClr val="C00000"/>
                                      </a:solidFill>
                                      <a:latin typeface="Cambria Math" panose="02040503050406030204" pitchFamily="18" charset="0"/>
                                      <a:ea typeface="Cambria Math" panose="02040503050406030204" pitchFamily="18" charset="0"/>
                                    </a:rPr>
                                  </m:ctrlPr>
                                </m:radPr>
                                <m:deg/>
                                <m:e>
                                  <m:r>
                                    <a:rPr lang="en-US" altLang="zh-CN" b="0" i="1" smtClean="0">
                                      <a:solidFill>
                                        <a:srgbClr val="C00000"/>
                                      </a:solidFill>
                                      <a:latin typeface="Cambria Math" panose="02040503050406030204" pitchFamily="18" charset="0"/>
                                      <a:ea typeface="Cambria Math" panose="02040503050406030204" pitchFamily="18" charset="0"/>
                                    </a:rPr>
                                    <m:t>𝜀</m:t>
                                  </m:r>
                                </m:e>
                              </m:rad>
                              <m:r>
                                <a:rPr lang="en-US" altLang="zh-CN" b="0" i="1" smtClean="0">
                                  <a:latin typeface="Cambria Math" panose="02040503050406030204" pitchFamily="18" charset="0"/>
                                  <a:ea typeface="Cambria Math" panose="02040503050406030204" pitchFamily="18" charset="0"/>
                                </a:rPr>
                                <m:t>𝑑</m:t>
                              </m:r>
                              <m:r>
                                <a:rPr lang="en-US" altLang="zh-CN" b="0" i="1" smtClean="0">
                                  <a:latin typeface="Cambria Math" panose="02040503050406030204" pitchFamily="18" charset="0"/>
                                  <a:ea typeface="Cambria Math" panose="02040503050406030204" pitchFamily="18" charset="0"/>
                                </a:rPr>
                                <m:t>𝜀</m:t>
                              </m:r>
                            </m:e>
                          </m:nary>
                        </m:e>
                      </m:nary>
                      <m:r>
                        <a:rPr lang="en-US" altLang="zh-CN" b="0" i="1" smtClean="0">
                          <a:latin typeface="Cambria Math" panose="02040503050406030204" pitchFamily="18" charset="0"/>
                          <a:ea typeface="Cambria Math" panose="02040503050406030204" pitchFamily="18" charset="0"/>
                        </a:rPr>
                        <m:t>=</m:t>
                      </m:r>
                      <m:nary>
                        <m:naryPr>
                          <m:ctrlPr>
                            <a:rPr lang="en-US" altLang="zh-CN" b="0" i="1" smtClean="0">
                              <a:latin typeface="Cambria Math" panose="02040503050406030204" pitchFamily="18" charset="0"/>
                              <a:ea typeface="Cambria Math" panose="02040503050406030204" pitchFamily="18" charset="0"/>
                            </a:rPr>
                          </m:ctrlPr>
                        </m:naryPr>
                        <m:sub>
                          <m:r>
                            <m:rPr>
                              <m:brk m:alnAt="23"/>
                            </m:rPr>
                            <a:rPr lang="en-US" altLang="zh-CN" b="0" i="1" smtClean="0">
                              <a:latin typeface="Cambria Math" panose="02040503050406030204" pitchFamily="18" charset="0"/>
                              <a:ea typeface="Cambria Math" panose="02040503050406030204" pitchFamily="18" charset="0"/>
                            </a:rPr>
                            <m:t>0</m:t>
                          </m:r>
                        </m:sub>
                        <m:sup>
                          <m:r>
                            <a:rPr lang="en-US" altLang="zh-CN" b="0" i="1" smtClean="0">
                              <a:latin typeface="Cambria Math" panose="02040503050406030204" pitchFamily="18" charset="0"/>
                              <a:ea typeface="Cambria Math" panose="02040503050406030204" pitchFamily="18" charset="0"/>
                            </a:rPr>
                            <m:t>∞</m:t>
                          </m:r>
                        </m:sup>
                        <m:e>
                          <m:r>
                            <a:rPr lang="en-US" altLang="zh-CN" b="0" i="1" smtClean="0">
                              <a:solidFill>
                                <a:srgbClr val="C00000"/>
                              </a:solidFill>
                              <a:latin typeface="Cambria Math" panose="02040503050406030204" pitchFamily="18" charset="0"/>
                              <a:ea typeface="Cambria Math" panose="02040503050406030204" pitchFamily="18" charset="0"/>
                            </a:rPr>
                            <m:t>𝑔</m:t>
                          </m:r>
                          <m:d>
                            <m:dPr>
                              <m:ctrlPr>
                                <a:rPr lang="en-US" altLang="zh-CN" b="0" i="1" smtClean="0">
                                  <a:solidFill>
                                    <a:srgbClr val="C00000"/>
                                  </a:solidFill>
                                  <a:latin typeface="Cambria Math" panose="02040503050406030204" pitchFamily="18" charset="0"/>
                                  <a:ea typeface="Cambria Math" panose="02040503050406030204" pitchFamily="18" charset="0"/>
                                </a:rPr>
                              </m:ctrlPr>
                            </m:dPr>
                            <m:e>
                              <m:r>
                                <a:rPr lang="en-US" altLang="zh-CN" b="0" i="1" smtClean="0">
                                  <a:solidFill>
                                    <a:srgbClr val="C00000"/>
                                  </a:solidFill>
                                  <a:latin typeface="Cambria Math" panose="02040503050406030204" pitchFamily="18" charset="0"/>
                                  <a:ea typeface="Cambria Math" panose="02040503050406030204" pitchFamily="18" charset="0"/>
                                </a:rPr>
                                <m:t>𝜀</m:t>
                              </m:r>
                            </m:e>
                          </m:d>
                          <m:r>
                            <a:rPr lang="en-US" altLang="zh-CN" b="0" i="1" smtClean="0">
                              <a:latin typeface="Cambria Math" panose="02040503050406030204" pitchFamily="18" charset="0"/>
                              <a:ea typeface="Cambria Math" panose="02040503050406030204" pitchFamily="18" charset="0"/>
                            </a:rPr>
                            <m:t>𝑑</m:t>
                          </m:r>
                          <m:r>
                            <a:rPr lang="en-US" altLang="zh-CN" b="0" i="1" smtClean="0">
                              <a:latin typeface="Cambria Math" panose="02040503050406030204" pitchFamily="18" charset="0"/>
                              <a:ea typeface="Cambria Math" panose="02040503050406030204" pitchFamily="18" charset="0"/>
                            </a:rPr>
                            <m:t>𝜀</m:t>
                          </m:r>
                        </m:e>
                      </m:nary>
                    </m:oMath>
                  </m:oMathPara>
                </a14:m>
                <a:endParaRPr lang="en-CN" dirty="0"/>
              </a:p>
            </p:txBody>
          </p:sp>
        </mc:Choice>
        <mc:Fallback xmlns="">
          <p:sp>
            <p:nvSpPr>
              <p:cNvPr id="9" name="TextBox 8">
                <a:extLst>
                  <a:ext uri="{FF2B5EF4-FFF2-40B4-BE49-F238E27FC236}">
                    <a16:creationId xmlns:a16="http://schemas.microsoft.com/office/drawing/2014/main" id="{C61184F7-EEB5-EE5F-C65E-2FD73026DF78}"/>
                  </a:ext>
                </a:extLst>
              </p:cNvPr>
              <p:cNvSpPr txBox="1">
                <a:spLocks noRot="1" noChangeAspect="1" noMove="1" noResize="1" noEditPoints="1" noAdjustHandles="1" noChangeArrowheads="1" noChangeShapeType="1" noTextEdit="1"/>
              </p:cNvSpPr>
              <p:nvPr/>
            </p:nvSpPr>
            <p:spPr>
              <a:xfrm>
                <a:off x="1939636" y="2396420"/>
                <a:ext cx="8880764" cy="910699"/>
              </a:xfrm>
              <a:prstGeom prst="rect">
                <a:avLst/>
              </a:prstGeom>
              <a:blipFill>
                <a:blip r:embed="rId3"/>
                <a:stretch>
                  <a:fillRect l="-5563" t="-109589" b="-167123"/>
                </a:stretch>
              </a:blipFill>
            </p:spPr>
            <p:txBody>
              <a:bodyPr/>
              <a:lstStyle/>
              <a:p>
                <a:r>
                  <a:rPr lang="en-CN">
                    <a:noFill/>
                  </a:rPr>
                  <a:t> </a:t>
                </a:r>
              </a:p>
            </p:txBody>
          </p:sp>
        </mc:Fallback>
      </mc:AlternateContent>
      <p:sp>
        <p:nvSpPr>
          <p:cNvPr id="10" name="Down Arrow 9">
            <a:extLst>
              <a:ext uri="{FF2B5EF4-FFF2-40B4-BE49-F238E27FC236}">
                <a16:creationId xmlns:a16="http://schemas.microsoft.com/office/drawing/2014/main" id="{5EE780F0-653A-3431-E505-DC6F9F1F0CF4}"/>
              </a:ext>
            </a:extLst>
          </p:cNvPr>
          <p:cNvSpPr/>
          <p:nvPr/>
        </p:nvSpPr>
        <p:spPr>
          <a:xfrm>
            <a:off x="5902035" y="3735360"/>
            <a:ext cx="387927" cy="62345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96F11ED-F70A-D8BA-80D0-B8EA67C03448}"/>
                  </a:ext>
                </a:extLst>
              </p:cNvPr>
              <p:cNvSpPr txBox="1"/>
              <p:nvPr/>
            </p:nvSpPr>
            <p:spPr>
              <a:xfrm>
                <a:off x="3851563" y="4710545"/>
                <a:ext cx="4488873" cy="767133"/>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f>
                        <m:fPr>
                          <m:ctrlPr>
                            <a:rPr lang="en-US" altLang="zh-CN" i="1" smtClean="0">
                              <a:solidFill>
                                <a:schemeClr val="tx1"/>
                              </a:solidFill>
                              <a:latin typeface="Cambria Math" panose="02040503050406030204" pitchFamily="18" charset="0"/>
                              <a:ea typeface="Cambria Math" panose="02040503050406030204" pitchFamily="18" charset="0"/>
                            </a:rPr>
                          </m:ctrlPr>
                        </m:fPr>
                        <m:num>
                          <m:r>
                            <a:rPr lang="en-US" altLang="zh-CN" i="1">
                              <a:solidFill>
                                <a:schemeClr val="tx1"/>
                              </a:solidFill>
                              <a:latin typeface="Cambria Math" panose="02040503050406030204" pitchFamily="18" charset="0"/>
                              <a:ea typeface="Cambria Math" panose="02040503050406030204" pitchFamily="18" charset="0"/>
                            </a:rPr>
                            <m:t>𝜋</m:t>
                          </m:r>
                        </m:num>
                        <m:den>
                          <m:r>
                            <a:rPr lang="en-US" altLang="zh-CN" i="1">
                              <a:solidFill>
                                <a:schemeClr val="tx1"/>
                              </a:solidFill>
                              <a:latin typeface="Cambria Math" panose="02040503050406030204" pitchFamily="18" charset="0"/>
                              <a:ea typeface="Cambria Math" panose="02040503050406030204" pitchFamily="18" charset="0"/>
                            </a:rPr>
                            <m:t>4</m:t>
                          </m:r>
                          <m:sSubSup>
                            <m:sSubSupPr>
                              <m:ctrlPr>
                                <a:rPr lang="en-US" altLang="zh-CN" i="1">
                                  <a:solidFill>
                                    <a:schemeClr val="tx1"/>
                                  </a:solidFill>
                                  <a:latin typeface="Cambria Math" panose="02040503050406030204" pitchFamily="18" charset="0"/>
                                  <a:ea typeface="Cambria Math" panose="02040503050406030204" pitchFamily="18" charset="0"/>
                                </a:rPr>
                              </m:ctrlPr>
                            </m:sSubSupPr>
                            <m:e>
                              <m:r>
                                <a:rPr lang="en-US" altLang="zh-CN" i="1">
                                  <a:solidFill>
                                    <a:schemeClr val="tx1"/>
                                  </a:solidFill>
                                  <a:latin typeface="Cambria Math" panose="02040503050406030204" pitchFamily="18" charset="0"/>
                                  <a:ea typeface="Cambria Math" panose="02040503050406030204" pitchFamily="18" charset="0"/>
                                </a:rPr>
                                <m:t>𝜀</m:t>
                              </m:r>
                            </m:e>
                            <m:sub>
                              <m:r>
                                <a:rPr lang="en-US" altLang="zh-CN" i="1">
                                  <a:solidFill>
                                    <a:schemeClr val="tx1"/>
                                  </a:solidFill>
                                  <a:latin typeface="Cambria Math" panose="02040503050406030204" pitchFamily="18" charset="0"/>
                                  <a:ea typeface="Cambria Math" panose="02040503050406030204" pitchFamily="18" charset="0"/>
                                </a:rPr>
                                <m:t>1</m:t>
                              </m:r>
                            </m:sub>
                            <m:sup>
                              <m:r>
                                <a:rPr lang="en-US" altLang="zh-CN" i="1">
                                  <a:solidFill>
                                    <a:schemeClr val="tx1"/>
                                  </a:solidFill>
                                  <a:latin typeface="Cambria Math" panose="02040503050406030204" pitchFamily="18" charset="0"/>
                                  <a:ea typeface="Cambria Math" panose="02040503050406030204" pitchFamily="18" charset="0"/>
                                </a:rPr>
                                <m:t>3/2</m:t>
                              </m:r>
                            </m:sup>
                          </m:sSubSup>
                        </m:den>
                      </m:f>
                      <m:r>
                        <a:rPr lang="en-US" altLang="zh-CN" i="1">
                          <a:latin typeface="Cambria Math" panose="02040503050406030204" pitchFamily="18" charset="0"/>
                          <a:ea typeface="Cambria Math" panose="02040503050406030204" pitchFamily="18" charset="0"/>
                        </a:rPr>
                        <m:t> </m:t>
                      </m:r>
                      <m:nary>
                        <m:naryPr>
                          <m:ctrlPr>
                            <a:rPr lang="en-US" altLang="zh-CN" i="1">
                              <a:latin typeface="Cambria Math" panose="02040503050406030204" pitchFamily="18" charset="0"/>
                              <a:ea typeface="Cambria Math" panose="02040503050406030204" pitchFamily="18" charset="0"/>
                            </a:rPr>
                          </m:ctrlPr>
                        </m:naryPr>
                        <m:sub>
                          <m:r>
                            <m:rPr>
                              <m:brk m:alnAt="23"/>
                            </m:rPr>
                            <a:rPr lang="en-US" altLang="zh-CN" i="1">
                              <a:latin typeface="Cambria Math" panose="02040503050406030204" pitchFamily="18" charset="0"/>
                              <a:ea typeface="Cambria Math" panose="02040503050406030204" pitchFamily="18" charset="0"/>
                            </a:rPr>
                            <m:t>0</m:t>
                          </m:r>
                        </m:sub>
                        <m:sup>
                          <m:r>
                            <a:rPr lang="en-US" altLang="zh-CN" i="1">
                              <a:latin typeface="Cambria Math" panose="02040503050406030204" pitchFamily="18" charset="0"/>
                              <a:ea typeface="Cambria Math" panose="02040503050406030204" pitchFamily="18" charset="0"/>
                            </a:rPr>
                            <m:t>∞</m:t>
                          </m:r>
                        </m:sup>
                        <m:e>
                          <m:rad>
                            <m:radPr>
                              <m:degHide m:val="on"/>
                              <m:ctrlPr>
                                <a:rPr lang="en-US" altLang="zh-CN" i="1" smtClean="0">
                                  <a:solidFill>
                                    <a:schemeClr val="tx1"/>
                                  </a:solidFill>
                                  <a:latin typeface="Cambria Math" panose="02040503050406030204" pitchFamily="18" charset="0"/>
                                  <a:ea typeface="Cambria Math" panose="02040503050406030204" pitchFamily="18" charset="0"/>
                                </a:rPr>
                              </m:ctrlPr>
                            </m:radPr>
                            <m:deg/>
                            <m:e>
                              <m:r>
                                <a:rPr lang="en-US" altLang="zh-CN" i="1">
                                  <a:solidFill>
                                    <a:schemeClr val="tx1"/>
                                  </a:solidFill>
                                  <a:latin typeface="Cambria Math" panose="02040503050406030204" pitchFamily="18" charset="0"/>
                                  <a:ea typeface="Cambria Math" panose="02040503050406030204" pitchFamily="18" charset="0"/>
                                </a:rPr>
                                <m:t>𝜀</m:t>
                              </m:r>
                            </m:e>
                          </m:rad>
                          <m:r>
                            <a:rPr lang="en-US" altLang="zh-CN" b="0" i="1" smtClean="0">
                              <a:solidFill>
                                <a:schemeClr val="tx1"/>
                              </a:solidFill>
                              <a:latin typeface="Cambria Math" panose="02040503050406030204" pitchFamily="18" charset="0"/>
                              <a:ea typeface="Cambria Math" panose="02040503050406030204" pitchFamily="18" charset="0"/>
                            </a:rPr>
                            <m:t> </m:t>
                          </m:r>
                          <m:f>
                            <m:fPr>
                              <m:ctrlPr>
                                <a:rPr lang="en-US" altLang="zh-CN" b="0" i="1" smtClean="0">
                                  <a:solidFill>
                                    <a:schemeClr val="tx1"/>
                                  </a:solidFill>
                                  <a:latin typeface="Cambria Math" panose="02040503050406030204" pitchFamily="18" charset="0"/>
                                  <a:ea typeface="Cambria Math" panose="02040503050406030204" pitchFamily="18" charset="0"/>
                                </a:rPr>
                              </m:ctrlPr>
                            </m:fPr>
                            <m:num>
                              <m:r>
                                <a:rPr lang="en-US" altLang="zh-CN" b="0" i="1" smtClean="0">
                                  <a:solidFill>
                                    <a:schemeClr val="tx1"/>
                                  </a:solidFill>
                                  <a:latin typeface="Cambria Math" panose="02040503050406030204" pitchFamily="18" charset="0"/>
                                  <a:ea typeface="Cambria Math" panose="02040503050406030204" pitchFamily="18" charset="0"/>
                                </a:rPr>
                                <m:t>1</m:t>
                              </m:r>
                            </m:num>
                            <m:den>
                              <m:sSup>
                                <m:sSupPr>
                                  <m:ctrlPr>
                                    <a:rPr lang="en-US" altLang="zh-CN" b="0" i="1" smtClean="0">
                                      <a:solidFill>
                                        <a:schemeClr val="tx1"/>
                                      </a:solidFill>
                                      <a:latin typeface="Cambria Math" panose="02040503050406030204" pitchFamily="18" charset="0"/>
                                      <a:ea typeface="Cambria Math" panose="02040503050406030204" pitchFamily="18" charset="0"/>
                                    </a:rPr>
                                  </m:ctrlPr>
                                </m:sSupPr>
                                <m:e>
                                  <m:r>
                                    <a:rPr lang="en-US" altLang="zh-CN" b="0" i="1" smtClean="0">
                                      <a:solidFill>
                                        <a:schemeClr val="tx1"/>
                                      </a:solidFill>
                                      <a:latin typeface="Cambria Math" panose="02040503050406030204" pitchFamily="18" charset="0"/>
                                      <a:ea typeface="Cambria Math" panose="02040503050406030204" pitchFamily="18" charset="0"/>
                                    </a:rPr>
                                    <m:t>𝑒</m:t>
                                  </m:r>
                                </m:e>
                                <m:sup>
                                  <m:r>
                                    <a:rPr lang="en-US" altLang="zh-CN" b="0" i="1" smtClean="0">
                                      <a:solidFill>
                                        <a:schemeClr val="tx1"/>
                                      </a:solidFill>
                                      <a:latin typeface="Cambria Math" panose="02040503050406030204" pitchFamily="18" charset="0"/>
                                      <a:ea typeface="Cambria Math" panose="02040503050406030204" pitchFamily="18" charset="0"/>
                                    </a:rPr>
                                    <m:t>(</m:t>
                                  </m:r>
                                  <m:r>
                                    <a:rPr lang="en-US" altLang="zh-CN" b="0" i="1" smtClean="0">
                                      <a:solidFill>
                                        <a:schemeClr val="tx1"/>
                                      </a:solidFill>
                                      <a:latin typeface="Cambria Math" panose="02040503050406030204" pitchFamily="18" charset="0"/>
                                      <a:ea typeface="Cambria Math" panose="02040503050406030204" pitchFamily="18" charset="0"/>
                                    </a:rPr>
                                    <m:t>𝜀</m:t>
                                  </m:r>
                                  <m:r>
                                    <a:rPr lang="en-US" altLang="zh-CN" b="0" i="1" smtClean="0">
                                      <a:solidFill>
                                        <a:schemeClr val="tx1"/>
                                      </a:solidFill>
                                      <a:latin typeface="Cambria Math" panose="02040503050406030204" pitchFamily="18" charset="0"/>
                                      <a:ea typeface="Cambria Math" panose="02040503050406030204" pitchFamily="18" charset="0"/>
                                    </a:rPr>
                                    <m:t>−</m:t>
                                  </m:r>
                                  <m:r>
                                    <a:rPr lang="en-US" altLang="zh-CN" b="0" i="1" smtClean="0">
                                      <a:solidFill>
                                        <a:schemeClr val="tx1"/>
                                      </a:solidFill>
                                      <a:latin typeface="Cambria Math" panose="02040503050406030204" pitchFamily="18" charset="0"/>
                                      <a:ea typeface="Cambria Math" panose="02040503050406030204" pitchFamily="18" charset="0"/>
                                    </a:rPr>
                                    <m:t>𝜇</m:t>
                                  </m:r>
                                  <m:r>
                                    <a:rPr lang="en-US" altLang="zh-CN" b="0" i="1" smtClean="0">
                                      <a:solidFill>
                                        <a:schemeClr val="tx1"/>
                                      </a:solidFill>
                                      <a:latin typeface="Cambria Math" panose="02040503050406030204" pitchFamily="18" charset="0"/>
                                      <a:ea typeface="Cambria Math" panose="02040503050406030204" pitchFamily="18" charset="0"/>
                                    </a:rPr>
                                    <m:t>)/</m:t>
                                  </m:r>
                                  <m:r>
                                    <a:rPr lang="en-US" altLang="zh-CN" b="0" i="1" smtClean="0">
                                      <a:solidFill>
                                        <a:schemeClr val="tx1"/>
                                      </a:solidFill>
                                      <a:latin typeface="Cambria Math" panose="02040503050406030204" pitchFamily="18" charset="0"/>
                                      <a:ea typeface="Cambria Math" panose="02040503050406030204" pitchFamily="18" charset="0"/>
                                    </a:rPr>
                                    <m:t>𝜏</m:t>
                                  </m:r>
                                </m:sup>
                              </m:sSup>
                              <m:r>
                                <a:rPr lang="en-US" altLang="zh-CN" b="0" i="1" smtClean="0">
                                  <a:solidFill>
                                    <a:schemeClr val="tx1"/>
                                  </a:solidFill>
                                  <a:latin typeface="Cambria Math" panose="02040503050406030204" pitchFamily="18" charset="0"/>
                                  <a:ea typeface="Cambria Math" panose="02040503050406030204" pitchFamily="18" charset="0"/>
                                </a:rPr>
                                <m:t>−1</m:t>
                              </m:r>
                            </m:den>
                          </m:f>
                          <m:r>
                            <a:rPr lang="en-US" altLang="zh-CN" i="1">
                              <a:latin typeface="Cambria Math" panose="02040503050406030204" pitchFamily="18" charset="0"/>
                              <a:ea typeface="Cambria Math" panose="02040503050406030204" pitchFamily="18" charset="0"/>
                            </a:rPr>
                            <m:t>𝑑</m:t>
                          </m:r>
                          <m:r>
                            <a:rPr lang="en-US" altLang="zh-CN" i="1">
                              <a:latin typeface="Cambria Math" panose="02040503050406030204" pitchFamily="18" charset="0"/>
                              <a:ea typeface="Cambria Math" panose="02040503050406030204" pitchFamily="18" charset="0"/>
                            </a:rPr>
                            <m:t>𝜀</m:t>
                          </m:r>
                        </m:e>
                      </m:nary>
                    </m:oMath>
                  </m:oMathPara>
                </a14:m>
                <a:endParaRPr lang="en-CN" dirty="0"/>
              </a:p>
            </p:txBody>
          </p:sp>
        </mc:Choice>
        <mc:Fallback xmlns="">
          <p:sp>
            <p:nvSpPr>
              <p:cNvPr id="11" name="TextBox 10">
                <a:extLst>
                  <a:ext uri="{FF2B5EF4-FFF2-40B4-BE49-F238E27FC236}">
                    <a16:creationId xmlns:a16="http://schemas.microsoft.com/office/drawing/2014/main" id="{296F11ED-F70A-D8BA-80D0-B8EA67C03448}"/>
                  </a:ext>
                </a:extLst>
              </p:cNvPr>
              <p:cNvSpPr txBox="1">
                <a:spLocks noRot="1" noChangeAspect="1" noMove="1" noResize="1" noEditPoints="1" noAdjustHandles="1" noChangeArrowheads="1" noChangeShapeType="1" noTextEdit="1"/>
              </p:cNvSpPr>
              <p:nvPr/>
            </p:nvSpPr>
            <p:spPr>
              <a:xfrm>
                <a:off x="3851563" y="4710545"/>
                <a:ext cx="4488873" cy="767133"/>
              </a:xfrm>
              <a:prstGeom prst="rect">
                <a:avLst/>
              </a:prstGeom>
              <a:blipFill>
                <a:blip r:embed="rId4"/>
                <a:stretch>
                  <a:fillRect t="-144262" b="-204918"/>
                </a:stretch>
              </a:blipFill>
            </p:spPr>
            <p:txBody>
              <a:bodyPr/>
              <a:lstStyle/>
              <a:p>
                <a:r>
                  <a:rPr lang="en-CN">
                    <a:noFill/>
                  </a:rPr>
                  <a:t> </a:t>
                </a:r>
              </a:p>
            </p:txBody>
          </p:sp>
        </mc:Fallback>
      </mc:AlternateContent>
    </p:spTree>
    <p:extLst>
      <p:ext uri="{BB962C8B-B14F-4D97-AF65-F5344CB8AC3E}">
        <p14:creationId xmlns:p14="http://schemas.microsoft.com/office/powerpoint/2010/main" val="33043316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96F11ED-F70A-D8BA-80D0-B8EA67C03448}"/>
                  </a:ext>
                </a:extLst>
              </p:cNvPr>
              <p:cNvSpPr txBox="1"/>
              <p:nvPr/>
            </p:nvSpPr>
            <p:spPr>
              <a:xfrm>
                <a:off x="3685308" y="152400"/>
                <a:ext cx="4488873" cy="767133"/>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f>
                        <m:fPr>
                          <m:ctrlPr>
                            <a:rPr lang="en-US" altLang="zh-CN" i="1" smtClean="0">
                              <a:solidFill>
                                <a:schemeClr val="tx1"/>
                              </a:solidFill>
                              <a:latin typeface="Cambria Math" panose="02040503050406030204" pitchFamily="18" charset="0"/>
                              <a:ea typeface="Cambria Math" panose="02040503050406030204" pitchFamily="18" charset="0"/>
                            </a:rPr>
                          </m:ctrlPr>
                        </m:fPr>
                        <m:num>
                          <m:r>
                            <a:rPr lang="en-US" altLang="zh-CN" i="1">
                              <a:solidFill>
                                <a:schemeClr val="tx1"/>
                              </a:solidFill>
                              <a:latin typeface="Cambria Math" panose="02040503050406030204" pitchFamily="18" charset="0"/>
                              <a:ea typeface="Cambria Math" panose="02040503050406030204" pitchFamily="18" charset="0"/>
                            </a:rPr>
                            <m:t>𝜋</m:t>
                          </m:r>
                        </m:num>
                        <m:den>
                          <m:r>
                            <a:rPr lang="en-US" altLang="zh-CN" i="1">
                              <a:solidFill>
                                <a:schemeClr val="tx1"/>
                              </a:solidFill>
                              <a:latin typeface="Cambria Math" panose="02040503050406030204" pitchFamily="18" charset="0"/>
                              <a:ea typeface="Cambria Math" panose="02040503050406030204" pitchFamily="18" charset="0"/>
                            </a:rPr>
                            <m:t>4</m:t>
                          </m:r>
                          <m:sSubSup>
                            <m:sSubSupPr>
                              <m:ctrlPr>
                                <a:rPr lang="en-US" altLang="zh-CN" i="1">
                                  <a:solidFill>
                                    <a:schemeClr val="tx1"/>
                                  </a:solidFill>
                                  <a:latin typeface="Cambria Math" panose="02040503050406030204" pitchFamily="18" charset="0"/>
                                  <a:ea typeface="Cambria Math" panose="02040503050406030204" pitchFamily="18" charset="0"/>
                                </a:rPr>
                              </m:ctrlPr>
                            </m:sSubSupPr>
                            <m:e>
                              <m:r>
                                <a:rPr lang="en-US" altLang="zh-CN" i="1">
                                  <a:solidFill>
                                    <a:schemeClr val="tx1"/>
                                  </a:solidFill>
                                  <a:latin typeface="Cambria Math" panose="02040503050406030204" pitchFamily="18" charset="0"/>
                                  <a:ea typeface="Cambria Math" panose="02040503050406030204" pitchFamily="18" charset="0"/>
                                </a:rPr>
                                <m:t>𝜀</m:t>
                              </m:r>
                            </m:e>
                            <m:sub>
                              <m:r>
                                <a:rPr lang="en-US" altLang="zh-CN" i="1">
                                  <a:solidFill>
                                    <a:schemeClr val="tx1"/>
                                  </a:solidFill>
                                  <a:latin typeface="Cambria Math" panose="02040503050406030204" pitchFamily="18" charset="0"/>
                                  <a:ea typeface="Cambria Math" panose="02040503050406030204" pitchFamily="18" charset="0"/>
                                </a:rPr>
                                <m:t>1</m:t>
                              </m:r>
                            </m:sub>
                            <m:sup>
                              <m:r>
                                <a:rPr lang="en-US" altLang="zh-CN" i="1">
                                  <a:solidFill>
                                    <a:schemeClr val="tx1"/>
                                  </a:solidFill>
                                  <a:latin typeface="Cambria Math" panose="02040503050406030204" pitchFamily="18" charset="0"/>
                                  <a:ea typeface="Cambria Math" panose="02040503050406030204" pitchFamily="18" charset="0"/>
                                </a:rPr>
                                <m:t>3/2</m:t>
                              </m:r>
                            </m:sup>
                          </m:sSubSup>
                        </m:den>
                      </m:f>
                      <m:r>
                        <a:rPr lang="en-US" altLang="zh-CN" i="1">
                          <a:latin typeface="Cambria Math" panose="02040503050406030204" pitchFamily="18" charset="0"/>
                          <a:ea typeface="Cambria Math" panose="02040503050406030204" pitchFamily="18" charset="0"/>
                        </a:rPr>
                        <m:t> </m:t>
                      </m:r>
                      <m:nary>
                        <m:naryPr>
                          <m:ctrlPr>
                            <a:rPr lang="en-US" altLang="zh-CN" i="1">
                              <a:latin typeface="Cambria Math" panose="02040503050406030204" pitchFamily="18" charset="0"/>
                              <a:ea typeface="Cambria Math" panose="02040503050406030204" pitchFamily="18" charset="0"/>
                            </a:rPr>
                          </m:ctrlPr>
                        </m:naryPr>
                        <m:sub>
                          <m:r>
                            <m:rPr>
                              <m:brk m:alnAt="23"/>
                            </m:rPr>
                            <a:rPr lang="en-US" altLang="zh-CN" i="1">
                              <a:latin typeface="Cambria Math" panose="02040503050406030204" pitchFamily="18" charset="0"/>
                              <a:ea typeface="Cambria Math" panose="02040503050406030204" pitchFamily="18" charset="0"/>
                            </a:rPr>
                            <m:t>0</m:t>
                          </m:r>
                        </m:sub>
                        <m:sup>
                          <m:r>
                            <a:rPr lang="en-US" altLang="zh-CN" i="1">
                              <a:latin typeface="Cambria Math" panose="02040503050406030204" pitchFamily="18" charset="0"/>
                              <a:ea typeface="Cambria Math" panose="02040503050406030204" pitchFamily="18" charset="0"/>
                            </a:rPr>
                            <m:t>∞</m:t>
                          </m:r>
                        </m:sup>
                        <m:e>
                          <m:rad>
                            <m:radPr>
                              <m:degHide m:val="on"/>
                              <m:ctrlPr>
                                <a:rPr lang="en-US" altLang="zh-CN" i="1" smtClean="0">
                                  <a:solidFill>
                                    <a:schemeClr val="tx1"/>
                                  </a:solidFill>
                                  <a:latin typeface="Cambria Math" panose="02040503050406030204" pitchFamily="18" charset="0"/>
                                  <a:ea typeface="Cambria Math" panose="02040503050406030204" pitchFamily="18" charset="0"/>
                                </a:rPr>
                              </m:ctrlPr>
                            </m:radPr>
                            <m:deg/>
                            <m:e>
                              <m:r>
                                <a:rPr lang="en-US" altLang="zh-CN" i="1">
                                  <a:solidFill>
                                    <a:schemeClr val="tx1"/>
                                  </a:solidFill>
                                  <a:latin typeface="Cambria Math" panose="02040503050406030204" pitchFamily="18" charset="0"/>
                                  <a:ea typeface="Cambria Math" panose="02040503050406030204" pitchFamily="18" charset="0"/>
                                </a:rPr>
                                <m:t>𝜀</m:t>
                              </m:r>
                            </m:e>
                          </m:rad>
                          <m:r>
                            <a:rPr lang="en-US" altLang="zh-CN" b="0" i="1" smtClean="0">
                              <a:solidFill>
                                <a:schemeClr val="tx1"/>
                              </a:solidFill>
                              <a:latin typeface="Cambria Math" panose="02040503050406030204" pitchFamily="18" charset="0"/>
                              <a:ea typeface="Cambria Math" panose="02040503050406030204" pitchFamily="18" charset="0"/>
                            </a:rPr>
                            <m:t> </m:t>
                          </m:r>
                          <m:f>
                            <m:fPr>
                              <m:ctrlPr>
                                <a:rPr lang="en-US" altLang="zh-CN" b="0" i="1" smtClean="0">
                                  <a:solidFill>
                                    <a:schemeClr val="tx1"/>
                                  </a:solidFill>
                                  <a:latin typeface="Cambria Math" panose="02040503050406030204" pitchFamily="18" charset="0"/>
                                  <a:ea typeface="Cambria Math" panose="02040503050406030204" pitchFamily="18" charset="0"/>
                                </a:rPr>
                              </m:ctrlPr>
                            </m:fPr>
                            <m:num>
                              <m:r>
                                <a:rPr lang="en-US" altLang="zh-CN" b="0" i="1" smtClean="0">
                                  <a:solidFill>
                                    <a:schemeClr val="tx1"/>
                                  </a:solidFill>
                                  <a:latin typeface="Cambria Math" panose="02040503050406030204" pitchFamily="18" charset="0"/>
                                  <a:ea typeface="Cambria Math" panose="02040503050406030204" pitchFamily="18" charset="0"/>
                                </a:rPr>
                                <m:t>1</m:t>
                              </m:r>
                            </m:num>
                            <m:den>
                              <m:sSup>
                                <m:sSupPr>
                                  <m:ctrlPr>
                                    <a:rPr lang="en-US" altLang="zh-CN" b="0" i="1" smtClean="0">
                                      <a:solidFill>
                                        <a:schemeClr val="tx1"/>
                                      </a:solidFill>
                                      <a:latin typeface="Cambria Math" panose="02040503050406030204" pitchFamily="18" charset="0"/>
                                      <a:ea typeface="Cambria Math" panose="02040503050406030204" pitchFamily="18" charset="0"/>
                                    </a:rPr>
                                  </m:ctrlPr>
                                </m:sSupPr>
                                <m:e>
                                  <m:r>
                                    <a:rPr lang="en-US" altLang="zh-CN" b="0" i="1" smtClean="0">
                                      <a:solidFill>
                                        <a:schemeClr val="tx1"/>
                                      </a:solidFill>
                                      <a:latin typeface="Cambria Math" panose="02040503050406030204" pitchFamily="18" charset="0"/>
                                      <a:ea typeface="Cambria Math" panose="02040503050406030204" pitchFamily="18" charset="0"/>
                                    </a:rPr>
                                    <m:t>𝑒</m:t>
                                  </m:r>
                                </m:e>
                                <m:sup>
                                  <m:r>
                                    <a:rPr lang="en-US" altLang="zh-CN" b="0" i="1" smtClean="0">
                                      <a:solidFill>
                                        <a:schemeClr val="tx1"/>
                                      </a:solidFill>
                                      <a:latin typeface="Cambria Math" panose="02040503050406030204" pitchFamily="18" charset="0"/>
                                      <a:ea typeface="Cambria Math" panose="02040503050406030204" pitchFamily="18" charset="0"/>
                                    </a:rPr>
                                    <m:t>(</m:t>
                                  </m:r>
                                  <m:r>
                                    <a:rPr lang="en-US" altLang="zh-CN" b="0" i="1" smtClean="0">
                                      <a:solidFill>
                                        <a:schemeClr val="tx1"/>
                                      </a:solidFill>
                                      <a:latin typeface="Cambria Math" panose="02040503050406030204" pitchFamily="18" charset="0"/>
                                      <a:ea typeface="Cambria Math" panose="02040503050406030204" pitchFamily="18" charset="0"/>
                                    </a:rPr>
                                    <m:t>𝜀</m:t>
                                  </m:r>
                                  <m:r>
                                    <a:rPr lang="en-US" altLang="zh-CN" b="0" i="1" smtClean="0">
                                      <a:solidFill>
                                        <a:schemeClr val="tx1"/>
                                      </a:solidFill>
                                      <a:latin typeface="Cambria Math" panose="02040503050406030204" pitchFamily="18" charset="0"/>
                                      <a:ea typeface="Cambria Math" panose="02040503050406030204" pitchFamily="18" charset="0"/>
                                    </a:rPr>
                                    <m:t>−</m:t>
                                  </m:r>
                                  <m:r>
                                    <a:rPr lang="en-US" altLang="zh-CN" b="0" i="1" smtClean="0">
                                      <a:solidFill>
                                        <a:schemeClr val="tx1"/>
                                      </a:solidFill>
                                      <a:latin typeface="Cambria Math" panose="02040503050406030204" pitchFamily="18" charset="0"/>
                                      <a:ea typeface="Cambria Math" panose="02040503050406030204" pitchFamily="18" charset="0"/>
                                    </a:rPr>
                                    <m:t>𝜇</m:t>
                                  </m:r>
                                  <m:r>
                                    <a:rPr lang="en-US" altLang="zh-CN" b="0" i="1" smtClean="0">
                                      <a:solidFill>
                                        <a:schemeClr val="tx1"/>
                                      </a:solidFill>
                                      <a:latin typeface="Cambria Math" panose="02040503050406030204" pitchFamily="18" charset="0"/>
                                      <a:ea typeface="Cambria Math" panose="02040503050406030204" pitchFamily="18" charset="0"/>
                                    </a:rPr>
                                    <m:t>)/</m:t>
                                  </m:r>
                                  <m:r>
                                    <a:rPr lang="en-US" altLang="zh-CN" b="0" i="1" smtClean="0">
                                      <a:solidFill>
                                        <a:schemeClr val="tx1"/>
                                      </a:solidFill>
                                      <a:latin typeface="Cambria Math" panose="02040503050406030204" pitchFamily="18" charset="0"/>
                                      <a:ea typeface="Cambria Math" panose="02040503050406030204" pitchFamily="18" charset="0"/>
                                    </a:rPr>
                                    <m:t>𝜏</m:t>
                                  </m:r>
                                </m:sup>
                              </m:sSup>
                              <m:r>
                                <a:rPr lang="en-US" altLang="zh-CN" b="0" i="1" smtClean="0">
                                  <a:solidFill>
                                    <a:schemeClr val="tx1"/>
                                  </a:solidFill>
                                  <a:latin typeface="Cambria Math" panose="02040503050406030204" pitchFamily="18" charset="0"/>
                                  <a:ea typeface="Cambria Math" panose="02040503050406030204" pitchFamily="18" charset="0"/>
                                </a:rPr>
                                <m:t>−1</m:t>
                              </m:r>
                            </m:den>
                          </m:f>
                          <m:r>
                            <a:rPr lang="en-US" altLang="zh-CN" i="1">
                              <a:latin typeface="Cambria Math" panose="02040503050406030204" pitchFamily="18" charset="0"/>
                              <a:ea typeface="Cambria Math" panose="02040503050406030204" pitchFamily="18" charset="0"/>
                            </a:rPr>
                            <m:t>𝑑</m:t>
                          </m:r>
                          <m:r>
                            <a:rPr lang="en-US" altLang="zh-CN" i="1">
                              <a:latin typeface="Cambria Math" panose="02040503050406030204" pitchFamily="18" charset="0"/>
                              <a:ea typeface="Cambria Math" panose="02040503050406030204" pitchFamily="18" charset="0"/>
                            </a:rPr>
                            <m:t>𝜀</m:t>
                          </m:r>
                        </m:e>
                      </m:nary>
                    </m:oMath>
                  </m:oMathPara>
                </a14:m>
                <a:endParaRPr lang="en-CN" dirty="0"/>
              </a:p>
            </p:txBody>
          </p:sp>
        </mc:Choice>
        <mc:Fallback xmlns="">
          <p:sp>
            <p:nvSpPr>
              <p:cNvPr id="11" name="TextBox 10">
                <a:extLst>
                  <a:ext uri="{FF2B5EF4-FFF2-40B4-BE49-F238E27FC236}">
                    <a16:creationId xmlns:a16="http://schemas.microsoft.com/office/drawing/2014/main" id="{296F11ED-F70A-D8BA-80D0-B8EA67C03448}"/>
                  </a:ext>
                </a:extLst>
              </p:cNvPr>
              <p:cNvSpPr txBox="1">
                <a:spLocks noRot="1" noChangeAspect="1" noMove="1" noResize="1" noEditPoints="1" noAdjustHandles="1" noChangeArrowheads="1" noChangeShapeType="1" noTextEdit="1"/>
              </p:cNvSpPr>
              <p:nvPr/>
            </p:nvSpPr>
            <p:spPr>
              <a:xfrm>
                <a:off x="3685308" y="152400"/>
                <a:ext cx="4488873" cy="767133"/>
              </a:xfrm>
              <a:prstGeom prst="rect">
                <a:avLst/>
              </a:prstGeom>
              <a:blipFill>
                <a:blip r:embed="rId2"/>
                <a:stretch>
                  <a:fillRect t="-144262" b="-204918"/>
                </a:stretch>
              </a:blipFill>
            </p:spPr>
            <p:txBody>
              <a:bodyPr/>
              <a:lstStyle/>
              <a:p>
                <a:r>
                  <a:rPr lang="en-CN">
                    <a:noFill/>
                  </a:rPr>
                  <a:t> </a:t>
                </a:r>
              </a:p>
            </p:txBody>
          </p:sp>
        </mc:Fallback>
      </mc:AlternateContent>
      <p:sp>
        <p:nvSpPr>
          <p:cNvPr id="4" name="TextBox 3">
            <a:extLst>
              <a:ext uri="{FF2B5EF4-FFF2-40B4-BE49-F238E27FC236}">
                <a16:creationId xmlns:a16="http://schemas.microsoft.com/office/drawing/2014/main" id="{61F2EC83-F92D-1509-94FE-2E75B4720067}"/>
              </a:ext>
            </a:extLst>
          </p:cNvPr>
          <p:cNvSpPr txBox="1"/>
          <p:nvPr/>
        </p:nvSpPr>
        <p:spPr>
          <a:xfrm>
            <a:off x="609600" y="1233055"/>
            <a:ext cx="4294909" cy="646331"/>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注意化学势</a:t>
            </a:r>
            <a:r>
              <a:rPr lang="zh-CN" altLang="en-US" dirty="0">
                <a:latin typeface="FangSong" panose="02010609060101010101" pitchFamily="49" charset="-122"/>
                <a:ea typeface="FangSong" panose="02010609060101010101" pitchFamily="49" charset="-122"/>
              </a:rPr>
              <a:t>（记住是温度依赖地）</a:t>
            </a:r>
            <a:endParaRPr lang="en-CN" dirty="0">
              <a:latin typeface="FangSong" panose="02010609060101010101" pitchFamily="49" charset="-122"/>
              <a:ea typeface="FangSong" panose="02010609060101010101" pitchFamily="49" charset="-122"/>
            </a:endParaRPr>
          </a:p>
          <a:p>
            <a:r>
              <a:rPr lang="en-CN" dirty="0">
                <a:latin typeface="FangSong" panose="02010609060101010101" pitchFamily="49" charset="-122"/>
                <a:ea typeface="FangSong" panose="02010609060101010101" pitchFamily="49" charset="-122"/>
              </a:rPr>
              <a:t>假设化学势为零</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E6BBC11-9A62-09C7-A7B2-FAE880A0CC19}"/>
                  </a:ext>
                </a:extLst>
              </p:cNvPr>
              <p:cNvSpPr txBox="1"/>
              <p:nvPr/>
            </p:nvSpPr>
            <p:spPr>
              <a:xfrm>
                <a:off x="3671453" y="1879386"/>
                <a:ext cx="4488873" cy="3942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𝜁</m:t>
                          </m:r>
                        </m:e>
                        <m:sub>
                          <m:r>
                            <a:rPr lang="en-US" b="0" i="1" smtClean="0">
                              <a:latin typeface="Cambria Math" panose="02040503050406030204" pitchFamily="18" charset="0"/>
                            </a:rPr>
                            <m:t>3/2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𝑄</m:t>
                          </m:r>
                        </m:sub>
                      </m:sSub>
                      <m:r>
                        <a:rPr lang="en-US" b="0" i="1" smtClean="0">
                          <a:latin typeface="Cambria Math" panose="02040503050406030204" pitchFamily="18" charset="0"/>
                        </a:rPr>
                        <m:t> </m:t>
                      </m:r>
                      <m:r>
                        <a:rPr lang="en-US" b="0" i="1" smtClean="0">
                          <a:latin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≈2.612</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𝑄</m:t>
                          </m:r>
                        </m:sub>
                      </m:sSub>
                      <m:r>
                        <a:rPr lang="en-US" i="1">
                          <a:latin typeface="Cambria Math" panose="02040503050406030204" pitchFamily="18" charset="0"/>
                        </a:rPr>
                        <m:t> </m:t>
                      </m:r>
                      <m:r>
                        <a:rPr lang="en-US" i="1">
                          <a:latin typeface="Cambria Math" panose="02040503050406030204" pitchFamily="18" charset="0"/>
                        </a:rPr>
                        <m:t>𝑉</m:t>
                      </m:r>
                    </m:oMath>
                  </m:oMathPara>
                </a14:m>
                <a:endParaRPr lang="en-CN" dirty="0"/>
              </a:p>
            </p:txBody>
          </p:sp>
        </mc:Choice>
        <mc:Fallback xmlns="">
          <p:sp>
            <p:nvSpPr>
              <p:cNvPr id="12" name="TextBox 11">
                <a:extLst>
                  <a:ext uri="{FF2B5EF4-FFF2-40B4-BE49-F238E27FC236}">
                    <a16:creationId xmlns:a16="http://schemas.microsoft.com/office/drawing/2014/main" id="{9E6BBC11-9A62-09C7-A7B2-FAE880A0CC19}"/>
                  </a:ext>
                </a:extLst>
              </p:cNvPr>
              <p:cNvSpPr txBox="1">
                <a:spLocks noRot="1" noChangeAspect="1" noMove="1" noResize="1" noEditPoints="1" noAdjustHandles="1" noChangeArrowheads="1" noChangeShapeType="1" noTextEdit="1"/>
              </p:cNvSpPr>
              <p:nvPr/>
            </p:nvSpPr>
            <p:spPr>
              <a:xfrm>
                <a:off x="3671453" y="1879386"/>
                <a:ext cx="4488873" cy="394210"/>
              </a:xfrm>
              <a:prstGeom prst="rect">
                <a:avLst/>
              </a:prstGeom>
              <a:blipFill>
                <a:blip r:embed="rId3"/>
                <a:stretch>
                  <a:fillRect b="-6061"/>
                </a:stretch>
              </a:blipFill>
            </p:spPr>
            <p:txBody>
              <a:bodyPr/>
              <a:lstStyle/>
              <a:p>
                <a:r>
                  <a:rPr lang="en-CN">
                    <a:noFill/>
                  </a:rPr>
                  <a:t> </a:t>
                </a:r>
              </a:p>
            </p:txBody>
          </p:sp>
        </mc:Fallback>
      </mc:AlternateContent>
      <p:sp>
        <p:nvSpPr>
          <p:cNvPr id="6" name="Down Arrow 5">
            <a:extLst>
              <a:ext uri="{FF2B5EF4-FFF2-40B4-BE49-F238E27FC236}">
                <a16:creationId xmlns:a16="http://schemas.microsoft.com/office/drawing/2014/main" id="{A6EE4CB1-1911-DEB4-EDB2-FFF020D8898F}"/>
              </a:ext>
            </a:extLst>
          </p:cNvPr>
          <p:cNvSpPr/>
          <p:nvPr/>
        </p:nvSpPr>
        <p:spPr>
          <a:xfrm>
            <a:off x="5652655" y="1025236"/>
            <a:ext cx="263234" cy="7342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D44BEFC-B4B2-12A8-D9E3-970392DE1FE2}"/>
                  </a:ext>
                </a:extLst>
              </p:cNvPr>
              <p:cNvSpPr txBox="1"/>
              <p:nvPr/>
            </p:nvSpPr>
            <p:spPr>
              <a:xfrm>
                <a:off x="609600" y="2516073"/>
                <a:ext cx="10972800" cy="923330"/>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注意</a:t>
                </a:r>
                <a:r>
                  <a:rPr lang="zh-CN" altLang="en-US" dirty="0">
                    <a:latin typeface="FangSong" panose="02010609060101010101" pitchFamily="49" charset="-122"/>
                    <a:ea typeface="FangSong" panose="02010609060101010101" pitchFamily="49" charset="-122"/>
                  </a:rPr>
                  <a:t>，方程左边</a:t>
                </a:r>
                <a:r>
                  <a:rPr lang="en-US" altLang="zh-CN" dirty="0">
                    <a:latin typeface="FangSong" panose="02010609060101010101" pitchFamily="49" charset="-122"/>
                    <a:ea typeface="FangSong" panose="02010609060101010101" pitchFamily="49" charset="-122"/>
                  </a:rPr>
                  <a:t>N</a:t>
                </a:r>
                <a:r>
                  <a:rPr lang="zh-CN" altLang="en-US" dirty="0">
                    <a:latin typeface="FangSong" panose="02010609060101010101" pitchFamily="49" charset="-122"/>
                    <a:ea typeface="FangSong" panose="02010609060101010101" pitchFamily="49" charset="-122"/>
                  </a:rPr>
                  <a:t>与温度无关，方程右边出现量子浓度，与温度有关，不可能成立；但可以想象该关系在特定的温度下是成立的，引入由此式所确定的温度</a:t>
                </a:r>
                <a14:m>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𝜏</m:t>
                        </m:r>
                      </m:e>
                      <m:sub>
                        <m:r>
                          <a:rPr lang="en-US" altLang="zh-CN" b="0" i="1" smtClean="0">
                            <a:latin typeface="Cambria Math" panose="02040503050406030204" pitchFamily="18" charset="0"/>
                          </a:rPr>
                          <m:t>𝑐</m:t>
                        </m:r>
                      </m:sub>
                    </m:sSub>
                    <m:r>
                      <a:rPr lang="zh-CN" altLang="en-US" b="0" i="0" smtClean="0">
                        <a:latin typeface="Cambria Math" panose="02040503050406030204" pitchFamily="18" charset="0"/>
                      </a:rPr>
                      <m:t>，</m:t>
                    </m:r>
                    <m:r>
                      <a:rPr lang="zh-CN" altLang="en-US" i="1">
                        <a:latin typeface="Cambria Math" panose="02040503050406030204" pitchFamily="18" charset="0"/>
                      </a:rPr>
                      <m:t>即</m:t>
                    </m:r>
                  </m:oMath>
                </a14:m>
                <a:endParaRPr lang="en-US" altLang="zh-CN" dirty="0">
                  <a:latin typeface="FangSong" panose="02010609060101010101" pitchFamily="49" charset="-122"/>
                  <a:ea typeface="FangSong" panose="02010609060101010101" pitchFamily="49" charset="-122"/>
                </a:endParaRP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𝜇</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𝜏</m:t>
                              </m:r>
                            </m:e>
                            <m:sub>
                              <m:r>
                                <a:rPr lang="en-US" b="0" i="1" smtClean="0">
                                  <a:latin typeface="Cambria Math" panose="02040503050406030204" pitchFamily="18" charset="0"/>
                                  <a:ea typeface="Cambria Math" panose="02040503050406030204" pitchFamily="18" charset="0"/>
                                </a:rPr>
                                <m:t>𝑐</m:t>
                              </m:r>
                            </m:sub>
                          </m:sSub>
                        </m:e>
                      </m:d>
                      <m:r>
                        <a:rPr lang="en-US" b="0" i="1" smtClean="0">
                          <a:latin typeface="Cambria Math" panose="02040503050406030204" pitchFamily="18" charset="0"/>
                          <a:ea typeface="Cambria Math" panose="02040503050406030204" pitchFamily="18" charset="0"/>
                        </a:rPr>
                        <m:t>=0</m:t>
                      </m:r>
                    </m:oMath>
                  </m:oMathPara>
                </a14:m>
                <a:endParaRPr lang="en-CN" dirty="0"/>
              </a:p>
            </p:txBody>
          </p:sp>
        </mc:Choice>
        <mc:Fallback xmlns="">
          <p:sp>
            <p:nvSpPr>
              <p:cNvPr id="13" name="TextBox 12">
                <a:extLst>
                  <a:ext uri="{FF2B5EF4-FFF2-40B4-BE49-F238E27FC236}">
                    <a16:creationId xmlns:a16="http://schemas.microsoft.com/office/drawing/2014/main" id="{3D44BEFC-B4B2-12A8-D9E3-970392DE1FE2}"/>
                  </a:ext>
                </a:extLst>
              </p:cNvPr>
              <p:cNvSpPr txBox="1">
                <a:spLocks noRot="1" noChangeAspect="1" noMove="1" noResize="1" noEditPoints="1" noAdjustHandles="1" noChangeArrowheads="1" noChangeShapeType="1" noTextEdit="1"/>
              </p:cNvSpPr>
              <p:nvPr/>
            </p:nvSpPr>
            <p:spPr>
              <a:xfrm>
                <a:off x="609600" y="2516073"/>
                <a:ext cx="10972800" cy="923330"/>
              </a:xfrm>
              <a:prstGeom prst="rect">
                <a:avLst/>
              </a:prstGeom>
              <a:blipFill>
                <a:blip r:embed="rId4"/>
                <a:stretch>
                  <a:fillRect l="-462" t="-4110" b="-2740"/>
                </a:stretch>
              </a:blipFill>
            </p:spPr>
            <p:txBody>
              <a:bodyPr/>
              <a:lstStyle/>
              <a:p>
                <a:r>
                  <a:rPr lang="en-CN">
                    <a:noFill/>
                  </a:rPr>
                  <a:t> </a:t>
                </a:r>
              </a:p>
            </p:txBody>
          </p:sp>
        </mc:Fallback>
      </mc:AlternateContent>
      <p:pic>
        <p:nvPicPr>
          <p:cNvPr id="8" name="Picture 7">
            <a:extLst>
              <a:ext uri="{FF2B5EF4-FFF2-40B4-BE49-F238E27FC236}">
                <a16:creationId xmlns:a16="http://schemas.microsoft.com/office/drawing/2014/main" id="{9E148A2B-3934-B05C-673A-F2B15837DC1F}"/>
              </a:ext>
            </a:extLst>
          </p:cNvPr>
          <p:cNvPicPr>
            <a:picLocks noChangeAspect="1"/>
          </p:cNvPicPr>
          <p:nvPr/>
        </p:nvPicPr>
        <p:blipFill>
          <a:blip r:embed="rId5"/>
          <a:stretch>
            <a:fillRect/>
          </a:stretch>
        </p:blipFill>
        <p:spPr>
          <a:xfrm>
            <a:off x="1481281" y="3870136"/>
            <a:ext cx="4302991" cy="2728603"/>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EDDF745-27D8-4993-A30B-C7E7317FB2CA}"/>
                  </a:ext>
                </a:extLst>
              </p:cNvPr>
              <p:cNvSpPr txBox="1"/>
              <p:nvPr/>
            </p:nvSpPr>
            <p:spPr>
              <a:xfrm>
                <a:off x="6483927" y="3870136"/>
                <a:ext cx="5223164" cy="2031325"/>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看其他的温度区域</a:t>
                </a:r>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当温度大于</a:t>
                </a:r>
                <a:r>
                  <a:rPr lang="en-US" altLang="zh-CN" dirty="0">
                    <a:latin typeface="FangSong" panose="02010609060101010101" pitchFamily="49" charset="-122"/>
                    <a:ea typeface="FangSong" panose="02010609060101010101" pitchFamily="49" charset="-122"/>
                  </a:rPr>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𝜏</m:t>
                        </m:r>
                      </m:e>
                      <m:sub>
                        <m:r>
                          <a:rPr lang="en-US" altLang="zh-CN" i="1">
                            <a:latin typeface="Cambria Math" panose="02040503050406030204" pitchFamily="18" charset="0"/>
                          </a:rPr>
                          <m:t>𝑐</m:t>
                        </m:r>
                      </m:sub>
                    </m:sSub>
                  </m:oMath>
                </a14:m>
                <a:r>
                  <a:rPr lang="zh-CN" altLang="en-US" dirty="0">
                    <a:latin typeface="FangSong" panose="02010609060101010101" pitchFamily="49" charset="-122"/>
                    <a:ea typeface="FangSong" panose="02010609060101010101" pitchFamily="49" charset="-122"/>
                  </a:rPr>
                  <a:t>，要使化学势</a:t>
                </a:r>
                <a:r>
                  <a:rPr lang="zh-CN" altLang="en-CN" dirty="0">
                    <a:latin typeface="FangSong" panose="02010609060101010101" pitchFamily="49" charset="-122"/>
                    <a:ea typeface="FangSong" panose="02010609060101010101" pitchFamily="49" charset="-122"/>
                  </a:rPr>
                  <a:t>小于零</a:t>
                </a:r>
                <a:r>
                  <a:rPr lang="zh-CN" altLang="en-US" dirty="0">
                    <a:latin typeface="FangSong" panose="02010609060101010101" pitchFamily="49" charset="-122"/>
                    <a:ea typeface="FangSong" panose="02010609060101010101" pitchFamily="49" charset="-122"/>
                  </a:rPr>
                  <a:t>，可以压低右边的积分值，使方程满足，即</a:t>
                </a:r>
                <a:endParaRPr lang="en-US" altLang="zh-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该区域的化学势小于零</a:t>
                </a:r>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那么温度小于</a:t>
                </a:r>
                <a:r>
                  <a:rPr lang="en-US" altLang="zh-CN" dirty="0">
                    <a:latin typeface="FangSong" panose="02010609060101010101" pitchFamily="49" charset="-122"/>
                    <a:ea typeface="FangSong" panose="02010609060101010101" pitchFamily="49" charset="-122"/>
                  </a:rPr>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𝜏</m:t>
                        </m:r>
                      </m:e>
                      <m:sub>
                        <m:r>
                          <a:rPr lang="en-US" altLang="zh-CN" i="1">
                            <a:latin typeface="Cambria Math" panose="02040503050406030204" pitchFamily="18" charset="0"/>
                          </a:rPr>
                          <m:t>𝑐</m:t>
                        </m:r>
                      </m:sub>
                    </m:sSub>
                  </m:oMath>
                </a14:m>
                <a:r>
                  <a:rPr lang="en-CN" dirty="0">
                    <a:latin typeface="FangSong" panose="02010609060101010101" pitchFamily="49" charset="-122"/>
                    <a:ea typeface="FangSong" panose="02010609060101010101" pitchFamily="49" charset="-122"/>
                  </a:rPr>
                  <a:t>的区域呢</a:t>
                </a:r>
                <a:r>
                  <a:rPr lang="zh-CN" altLang="en-US" dirty="0">
                    <a:latin typeface="FangSong" panose="02010609060101010101" pitchFamily="49" charset="-122"/>
                    <a:ea typeface="FangSong" panose="02010609060101010101" pitchFamily="49" charset="-122"/>
                  </a:rPr>
                  <a:t>？你不可能使化学势大于零，左边那根曲线已经对应最多的粒子数了，不够啊</a:t>
                </a:r>
                <a:endParaRPr lang="en-CN" dirty="0">
                  <a:latin typeface="FangSong" panose="02010609060101010101" pitchFamily="49" charset="-122"/>
                  <a:ea typeface="FangSong" panose="02010609060101010101" pitchFamily="49" charset="-122"/>
                </a:endParaRPr>
              </a:p>
            </p:txBody>
          </p:sp>
        </mc:Choice>
        <mc:Fallback xmlns="">
          <p:sp>
            <p:nvSpPr>
              <p:cNvPr id="14" name="TextBox 13">
                <a:extLst>
                  <a:ext uri="{FF2B5EF4-FFF2-40B4-BE49-F238E27FC236}">
                    <a16:creationId xmlns:a16="http://schemas.microsoft.com/office/drawing/2014/main" id="{BEDDF745-27D8-4993-A30B-C7E7317FB2CA}"/>
                  </a:ext>
                </a:extLst>
              </p:cNvPr>
              <p:cNvSpPr txBox="1">
                <a:spLocks noRot="1" noChangeAspect="1" noMove="1" noResize="1" noEditPoints="1" noAdjustHandles="1" noChangeArrowheads="1" noChangeShapeType="1" noTextEdit="1"/>
              </p:cNvSpPr>
              <p:nvPr/>
            </p:nvSpPr>
            <p:spPr>
              <a:xfrm>
                <a:off x="6483927" y="3870136"/>
                <a:ext cx="5223164" cy="2031325"/>
              </a:xfrm>
              <a:prstGeom prst="rect">
                <a:avLst/>
              </a:prstGeom>
              <a:blipFill>
                <a:blip r:embed="rId6"/>
                <a:stretch>
                  <a:fillRect l="-971" t="-1242" b="-3727"/>
                </a:stretch>
              </a:blipFill>
            </p:spPr>
            <p:txBody>
              <a:bodyPr/>
              <a:lstStyle/>
              <a:p>
                <a:r>
                  <a:rPr lang="en-CN">
                    <a:noFill/>
                  </a:rPr>
                  <a:t> </a:t>
                </a:r>
              </a:p>
            </p:txBody>
          </p:sp>
        </mc:Fallback>
      </mc:AlternateContent>
    </p:spTree>
    <p:extLst>
      <p:ext uri="{BB962C8B-B14F-4D97-AF65-F5344CB8AC3E}">
        <p14:creationId xmlns:p14="http://schemas.microsoft.com/office/powerpoint/2010/main" val="22760283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96F11ED-F70A-D8BA-80D0-B8EA67C03448}"/>
                  </a:ext>
                </a:extLst>
              </p:cNvPr>
              <p:cNvSpPr txBox="1"/>
              <p:nvPr/>
            </p:nvSpPr>
            <p:spPr>
              <a:xfrm>
                <a:off x="3685308" y="152400"/>
                <a:ext cx="4488873" cy="767133"/>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f>
                        <m:fPr>
                          <m:ctrlPr>
                            <a:rPr lang="en-US" altLang="zh-CN" i="1" smtClean="0">
                              <a:solidFill>
                                <a:schemeClr val="tx1"/>
                              </a:solidFill>
                              <a:latin typeface="Cambria Math" panose="02040503050406030204" pitchFamily="18" charset="0"/>
                              <a:ea typeface="Cambria Math" panose="02040503050406030204" pitchFamily="18" charset="0"/>
                            </a:rPr>
                          </m:ctrlPr>
                        </m:fPr>
                        <m:num>
                          <m:r>
                            <a:rPr lang="en-US" altLang="zh-CN" i="1">
                              <a:solidFill>
                                <a:schemeClr val="tx1"/>
                              </a:solidFill>
                              <a:latin typeface="Cambria Math" panose="02040503050406030204" pitchFamily="18" charset="0"/>
                              <a:ea typeface="Cambria Math" panose="02040503050406030204" pitchFamily="18" charset="0"/>
                            </a:rPr>
                            <m:t>𝜋</m:t>
                          </m:r>
                        </m:num>
                        <m:den>
                          <m:r>
                            <a:rPr lang="en-US" altLang="zh-CN" i="1">
                              <a:solidFill>
                                <a:schemeClr val="tx1"/>
                              </a:solidFill>
                              <a:latin typeface="Cambria Math" panose="02040503050406030204" pitchFamily="18" charset="0"/>
                              <a:ea typeface="Cambria Math" panose="02040503050406030204" pitchFamily="18" charset="0"/>
                            </a:rPr>
                            <m:t>4</m:t>
                          </m:r>
                          <m:sSubSup>
                            <m:sSubSupPr>
                              <m:ctrlPr>
                                <a:rPr lang="en-US" altLang="zh-CN" i="1">
                                  <a:solidFill>
                                    <a:schemeClr val="tx1"/>
                                  </a:solidFill>
                                  <a:latin typeface="Cambria Math" panose="02040503050406030204" pitchFamily="18" charset="0"/>
                                  <a:ea typeface="Cambria Math" panose="02040503050406030204" pitchFamily="18" charset="0"/>
                                </a:rPr>
                              </m:ctrlPr>
                            </m:sSubSupPr>
                            <m:e>
                              <m:r>
                                <a:rPr lang="en-US" altLang="zh-CN" i="1">
                                  <a:solidFill>
                                    <a:schemeClr val="tx1"/>
                                  </a:solidFill>
                                  <a:latin typeface="Cambria Math" panose="02040503050406030204" pitchFamily="18" charset="0"/>
                                  <a:ea typeface="Cambria Math" panose="02040503050406030204" pitchFamily="18" charset="0"/>
                                </a:rPr>
                                <m:t>𝜀</m:t>
                              </m:r>
                            </m:e>
                            <m:sub>
                              <m:r>
                                <a:rPr lang="en-US" altLang="zh-CN" i="1">
                                  <a:solidFill>
                                    <a:schemeClr val="tx1"/>
                                  </a:solidFill>
                                  <a:latin typeface="Cambria Math" panose="02040503050406030204" pitchFamily="18" charset="0"/>
                                  <a:ea typeface="Cambria Math" panose="02040503050406030204" pitchFamily="18" charset="0"/>
                                </a:rPr>
                                <m:t>1</m:t>
                              </m:r>
                            </m:sub>
                            <m:sup>
                              <m:r>
                                <a:rPr lang="en-US" altLang="zh-CN" i="1">
                                  <a:solidFill>
                                    <a:schemeClr val="tx1"/>
                                  </a:solidFill>
                                  <a:latin typeface="Cambria Math" panose="02040503050406030204" pitchFamily="18" charset="0"/>
                                  <a:ea typeface="Cambria Math" panose="02040503050406030204" pitchFamily="18" charset="0"/>
                                </a:rPr>
                                <m:t>3/2</m:t>
                              </m:r>
                            </m:sup>
                          </m:sSubSup>
                        </m:den>
                      </m:f>
                      <m:r>
                        <a:rPr lang="en-US" altLang="zh-CN" i="1">
                          <a:latin typeface="Cambria Math" panose="02040503050406030204" pitchFamily="18" charset="0"/>
                          <a:ea typeface="Cambria Math" panose="02040503050406030204" pitchFamily="18" charset="0"/>
                        </a:rPr>
                        <m:t> </m:t>
                      </m:r>
                      <m:nary>
                        <m:naryPr>
                          <m:ctrlPr>
                            <a:rPr lang="en-US" altLang="zh-CN" i="1">
                              <a:latin typeface="Cambria Math" panose="02040503050406030204" pitchFamily="18" charset="0"/>
                              <a:ea typeface="Cambria Math" panose="02040503050406030204" pitchFamily="18" charset="0"/>
                            </a:rPr>
                          </m:ctrlPr>
                        </m:naryPr>
                        <m:sub>
                          <m:r>
                            <m:rPr>
                              <m:brk m:alnAt="23"/>
                            </m:rPr>
                            <a:rPr lang="en-US" altLang="zh-CN" i="1">
                              <a:latin typeface="Cambria Math" panose="02040503050406030204" pitchFamily="18" charset="0"/>
                              <a:ea typeface="Cambria Math" panose="02040503050406030204" pitchFamily="18" charset="0"/>
                            </a:rPr>
                            <m:t>0</m:t>
                          </m:r>
                        </m:sub>
                        <m:sup>
                          <m:r>
                            <a:rPr lang="en-US" altLang="zh-CN" i="1">
                              <a:latin typeface="Cambria Math" panose="02040503050406030204" pitchFamily="18" charset="0"/>
                              <a:ea typeface="Cambria Math" panose="02040503050406030204" pitchFamily="18" charset="0"/>
                            </a:rPr>
                            <m:t>∞</m:t>
                          </m:r>
                        </m:sup>
                        <m:e>
                          <m:rad>
                            <m:radPr>
                              <m:degHide m:val="on"/>
                              <m:ctrlPr>
                                <a:rPr lang="en-US" altLang="zh-CN" i="1" smtClean="0">
                                  <a:solidFill>
                                    <a:srgbClr val="FF0000"/>
                                  </a:solidFill>
                                  <a:latin typeface="Cambria Math" panose="02040503050406030204" pitchFamily="18" charset="0"/>
                                  <a:ea typeface="Cambria Math" panose="02040503050406030204" pitchFamily="18" charset="0"/>
                                </a:rPr>
                              </m:ctrlPr>
                            </m:radPr>
                            <m:deg/>
                            <m:e>
                              <m:r>
                                <a:rPr lang="en-US" altLang="zh-CN" i="1">
                                  <a:solidFill>
                                    <a:srgbClr val="FF0000"/>
                                  </a:solidFill>
                                  <a:latin typeface="Cambria Math" panose="02040503050406030204" pitchFamily="18" charset="0"/>
                                  <a:ea typeface="Cambria Math" panose="02040503050406030204" pitchFamily="18" charset="0"/>
                                </a:rPr>
                                <m:t>𝜀</m:t>
                              </m:r>
                            </m:e>
                          </m:rad>
                          <m:r>
                            <a:rPr lang="en-US" altLang="zh-CN" b="0" i="1" smtClean="0">
                              <a:solidFill>
                                <a:srgbClr val="FF0000"/>
                              </a:solidFill>
                              <a:latin typeface="Cambria Math" panose="02040503050406030204" pitchFamily="18" charset="0"/>
                              <a:ea typeface="Cambria Math" panose="02040503050406030204" pitchFamily="18" charset="0"/>
                            </a:rPr>
                            <m:t> </m:t>
                          </m:r>
                          <m:f>
                            <m:fPr>
                              <m:ctrlPr>
                                <a:rPr lang="en-US" altLang="zh-CN" b="0" i="1" smtClean="0">
                                  <a:solidFill>
                                    <a:srgbClr val="FF0000"/>
                                  </a:solidFill>
                                  <a:latin typeface="Cambria Math" panose="02040503050406030204" pitchFamily="18" charset="0"/>
                                  <a:ea typeface="Cambria Math" panose="02040503050406030204" pitchFamily="18" charset="0"/>
                                </a:rPr>
                              </m:ctrlPr>
                            </m:fPr>
                            <m:num>
                              <m:r>
                                <a:rPr lang="en-US" altLang="zh-CN" b="0" i="1" smtClean="0">
                                  <a:solidFill>
                                    <a:srgbClr val="FF0000"/>
                                  </a:solidFill>
                                  <a:latin typeface="Cambria Math" panose="02040503050406030204" pitchFamily="18" charset="0"/>
                                  <a:ea typeface="Cambria Math" panose="02040503050406030204" pitchFamily="18" charset="0"/>
                                </a:rPr>
                                <m:t>1</m:t>
                              </m:r>
                            </m:num>
                            <m:den>
                              <m:sSup>
                                <m:sSupPr>
                                  <m:ctrlPr>
                                    <a:rPr lang="en-US" altLang="zh-CN" b="0" i="1" smtClean="0">
                                      <a:solidFill>
                                        <a:srgbClr val="FF0000"/>
                                      </a:solidFill>
                                      <a:latin typeface="Cambria Math" panose="02040503050406030204" pitchFamily="18" charset="0"/>
                                      <a:ea typeface="Cambria Math" panose="02040503050406030204" pitchFamily="18" charset="0"/>
                                    </a:rPr>
                                  </m:ctrlPr>
                                </m:sSupPr>
                                <m:e>
                                  <m:r>
                                    <a:rPr lang="en-US" altLang="zh-CN" b="0" i="1" smtClean="0">
                                      <a:solidFill>
                                        <a:srgbClr val="FF0000"/>
                                      </a:solidFill>
                                      <a:latin typeface="Cambria Math" panose="02040503050406030204" pitchFamily="18" charset="0"/>
                                      <a:ea typeface="Cambria Math" panose="02040503050406030204" pitchFamily="18" charset="0"/>
                                    </a:rPr>
                                    <m:t>𝑒</m:t>
                                  </m:r>
                                </m:e>
                                <m:sup>
                                  <m:r>
                                    <a:rPr lang="en-US" altLang="zh-CN" b="0" i="1" smtClean="0">
                                      <a:solidFill>
                                        <a:srgbClr val="FF0000"/>
                                      </a:solidFill>
                                      <a:latin typeface="Cambria Math" panose="02040503050406030204" pitchFamily="18" charset="0"/>
                                      <a:ea typeface="Cambria Math" panose="02040503050406030204" pitchFamily="18" charset="0"/>
                                    </a:rPr>
                                    <m:t>(</m:t>
                                  </m:r>
                                  <m:r>
                                    <a:rPr lang="en-US" altLang="zh-CN" b="0" i="1" smtClean="0">
                                      <a:solidFill>
                                        <a:srgbClr val="FF0000"/>
                                      </a:solidFill>
                                      <a:latin typeface="Cambria Math" panose="02040503050406030204" pitchFamily="18" charset="0"/>
                                      <a:ea typeface="Cambria Math" panose="02040503050406030204" pitchFamily="18" charset="0"/>
                                    </a:rPr>
                                    <m:t>𝜀</m:t>
                                  </m:r>
                                  <m:r>
                                    <a:rPr lang="en-US" altLang="zh-CN" b="0" i="1" smtClean="0">
                                      <a:solidFill>
                                        <a:srgbClr val="FF0000"/>
                                      </a:solidFill>
                                      <a:latin typeface="Cambria Math" panose="02040503050406030204" pitchFamily="18" charset="0"/>
                                      <a:ea typeface="Cambria Math" panose="02040503050406030204" pitchFamily="18" charset="0"/>
                                    </a:rPr>
                                    <m:t>−</m:t>
                                  </m:r>
                                  <m:r>
                                    <a:rPr lang="en-US" altLang="zh-CN" b="0" i="1" smtClean="0">
                                      <a:solidFill>
                                        <a:srgbClr val="FF0000"/>
                                      </a:solidFill>
                                      <a:latin typeface="Cambria Math" panose="02040503050406030204" pitchFamily="18" charset="0"/>
                                      <a:ea typeface="Cambria Math" panose="02040503050406030204" pitchFamily="18" charset="0"/>
                                    </a:rPr>
                                    <m:t>𝜇</m:t>
                                  </m:r>
                                  <m:r>
                                    <a:rPr lang="en-US" altLang="zh-CN" b="0" i="1" smtClean="0">
                                      <a:solidFill>
                                        <a:srgbClr val="FF0000"/>
                                      </a:solidFill>
                                      <a:latin typeface="Cambria Math" panose="02040503050406030204" pitchFamily="18" charset="0"/>
                                      <a:ea typeface="Cambria Math" panose="02040503050406030204" pitchFamily="18" charset="0"/>
                                    </a:rPr>
                                    <m:t>)/</m:t>
                                  </m:r>
                                  <m:r>
                                    <a:rPr lang="en-US" altLang="zh-CN" b="0" i="1" smtClean="0">
                                      <a:solidFill>
                                        <a:srgbClr val="FF0000"/>
                                      </a:solidFill>
                                      <a:latin typeface="Cambria Math" panose="02040503050406030204" pitchFamily="18" charset="0"/>
                                      <a:ea typeface="Cambria Math" panose="02040503050406030204" pitchFamily="18" charset="0"/>
                                    </a:rPr>
                                    <m:t>𝜏</m:t>
                                  </m:r>
                                </m:sup>
                              </m:sSup>
                              <m:r>
                                <a:rPr lang="en-US" altLang="zh-CN" b="0" i="1" smtClean="0">
                                  <a:solidFill>
                                    <a:srgbClr val="FF0000"/>
                                  </a:solidFill>
                                  <a:latin typeface="Cambria Math" panose="02040503050406030204" pitchFamily="18" charset="0"/>
                                  <a:ea typeface="Cambria Math" panose="02040503050406030204" pitchFamily="18" charset="0"/>
                                </a:rPr>
                                <m:t>−1</m:t>
                              </m:r>
                            </m:den>
                          </m:f>
                          <m:r>
                            <a:rPr lang="en-US" altLang="zh-CN" i="1">
                              <a:latin typeface="Cambria Math" panose="02040503050406030204" pitchFamily="18" charset="0"/>
                              <a:ea typeface="Cambria Math" panose="02040503050406030204" pitchFamily="18" charset="0"/>
                            </a:rPr>
                            <m:t>𝑑</m:t>
                          </m:r>
                          <m:r>
                            <a:rPr lang="en-US" altLang="zh-CN" i="1">
                              <a:latin typeface="Cambria Math" panose="02040503050406030204" pitchFamily="18" charset="0"/>
                              <a:ea typeface="Cambria Math" panose="02040503050406030204" pitchFamily="18" charset="0"/>
                            </a:rPr>
                            <m:t>𝜀</m:t>
                          </m:r>
                        </m:e>
                      </m:nary>
                    </m:oMath>
                  </m:oMathPara>
                </a14:m>
                <a:endParaRPr lang="en-CN" dirty="0"/>
              </a:p>
            </p:txBody>
          </p:sp>
        </mc:Choice>
        <mc:Fallback xmlns="">
          <p:sp>
            <p:nvSpPr>
              <p:cNvPr id="11" name="TextBox 10">
                <a:extLst>
                  <a:ext uri="{FF2B5EF4-FFF2-40B4-BE49-F238E27FC236}">
                    <a16:creationId xmlns:a16="http://schemas.microsoft.com/office/drawing/2014/main" id="{296F11ED-F70A-D8BA-80D0-B8EA67C03448}"/>
                  </a:ext>
                </a:extLst>
              </p:cNvPr>
              <p:cNvSpPr txBox="1">
                <a:spLocks noRot="1" noChangeAspect="1" noMove="1" noResize="1" noEditPoints="1" noAdjustHandles="1" noChangeArrowheads="1" noChangeShapeType="1" noTextEdit="1"/>
              </p:cNvSpPr>
              <p:nvPr/>
            </p:nvSpPr>
            <p:spPr>
              <a:xfrm>
                <a:off x="3685308" y="152400"/>
                <a:ext cx="4488873" cy="767133"/>
              </a:xfrm>
              <a:prstGeom prst="rect">
                <a:avLst/>
              </a:prstGeom>
              <a:blipFill>
                <a:blip r:embed="rId2"/>
                <a:stretch>
                  <a:fillRect t="-144262" b="-204918"/>
                </a:stretch>
              </a:blipFill>
            </p:spPr>
            <p:txBody>
              <a:bodyPr/>
              <a:lstStyle/>
              <a:p>
                <a:r>
                  <a:rPr lang="en-CN">
                    <a:noFill/>
                  </a:rPr>
                  <a:t> </a:t>
                </a:r>
              </a:p>
            </p:txBody>
          </p:sp>
        </mc:Fallback>
      </mc:AlternateContent>
      <p:sp>
        <p:nvSpPr>
          <p:cNvPr id="2" name="Down Arrow 1">
            <a:extLst>
              <a:ext uri="{FF2B5EF4-FFF2-40B4-BE49-F238E27FC236}">
                <a16:creationId xmlns:a16="http://schemas.microsoft.com/office/drawing/2014/main" id="{03E22A26-0C78-3198-66B4-79A65534D98C}"/>
              </a:ext>
            </a:extLst>
          </p:cNvPr>
          <p:cNvSpPr/>
          <p:nvPr/>
        </p:nvSpPr>
        <p:spPr>
          <a:xfrm>
            <a:off x="6414655" y="919533"/>
            <a:ext cx="180109" cy="90926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6C02658-CB7A-05C0-8CDA-FCCBB693AD2A}"/>
                  </a:ext>
                </a:extLst>
              </p:cNvPr>
              <p:cNvSpPr txBox="1"/>
              <p:nvPr/>
            </p:nvSpPr>
            <p:spPr>
              <a:xfrm>
                <a:off x="6719455" y="1136073"/>
                <a:ext cx="145472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𝜀</m:t>
                      </m:r>
                      <m:r>
                        <a:rPr lang="en-C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oMath>
                  </m:oMathPara>
                </a14:m>
                <a:endParaRPr lang="en-CN" dirty="0"/>
              </a:p>
            </p:txBody>
          </p:sp>
        </mc:Choice>
        <mc:Fallback xmlns="">
          <p:sp>
            <p:nvSpPr>
              <p:cNvPr id="3" name="TextBox 2">
                <a:extLst>
                  <a:ext uri="{FF2B5EF4-FFF2-40B4-BE49-F238E27FC236}">
                    <a16:creationId xmlns:a16="http://schemas.microsoft.com/office/drawing/2014/main" id="{46C02658-CB7A-05C0-8CDA-FCCBB693AD2A}"/>
                  </a:ext>
                </a:extLst>
              </p:cNvPr>
              <p:cNvSpPr txBox="1">
                <a:spLocks noRot="1" noChangeAspect="1" noMove="1" noResize="1" noEditPoints="1" noAdjustHandles="1" noChangeArrowheads="1" noChangeShapeType="1" noTextEdit="1"/>
              </p:cNvSpPr>
              <p:nvPr/>
            </p:nvSpPr>
            <p:spPr>
              <a:xfrm>
                <a:off x="6719455" y="1136073"/>
                <a:ext cx="1454726" cy="369332"/>
              </a:xfrm>
              <a:prstGeom prst="rect">
                <a:avLst/>
              </a:prstGeom>
              <a:blipFill>
                <a:blip r:embed="rId3"/>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D9773A2-400A-5EC5-663E-22981A215DCC}"/>
                  </a:ext>
                </a:extLst>
              </p:cNvPr>
              <p:cNvSpPr txBox="1"/>
              <p:nvPr/>
            </p:nvSpPr>
            <p:spPr>
              <a:xfrm>
                <a:off x="5777346" y="2045340"/>
                <a:ext cx="1454726" cy="6646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i="1" smtClean="0">
                              <a:solidFill>
                                <a:srgbClr val="FF0000"/>
                              </a:solidFill>
                              <a:latin typeface="Cambria Math" panose="02040503050406030204" pitchFamily="18" charset="0"/>
                              <a:ea typeface="Cambria Math" panose="02040503050406030204" pitchFamily="18" charset="0"/>
                            </a:rPr>
                          </m:ctrlPr>
                        </m:fPr>
                        <m:num>
                          <m:r>
                            <a:rPr lang="en-US" b="0" i="1" smtClean="0">
                              <a:solidFill>
                                <a:srgbClr val="FF0000"/>
                              </a:solidFill>
                              <a:latin typeface="Cambria Math" panose="02040503050406030204" pitchFamily="18" charset="0"/>
                              <a:ea typeface="Cambria Math" panose="02040503050406030204" pitchFamily="18" charset="0"/>
                            </a:rPr>
                            <m:t>1</m:t>
                          </m:r>
                        </m:num>
                        <m:den>
                          <m:rad>
                            <m:radPr>
                              <m:degHide m:val="on"/>
                              <m:ctrlPr>
                                <a:rPr lang="en-CN" i="1" smtClean="0">
                                  <a:solidFill>
                                    <a:srgbClr val="FF0000"/>
                                  </a:solidFill>
                                  <a:latin typeface="Cambria Math" panose="02040503050406030204" pitchFamily="18" charset="0"/>
                                  <a:ea typeface="Cambria Math" panose="02040503050406030204" pitchFamily="18" charset="0"/>
                                </a:rPr>
                              </m:ctrlPr>
                            </m:radPr>
                            <m:deg/>
                            <m:e>
                              <m:r>
                                <a:rPr lang="en-CN" i="1" smtClean="0">
                                  <a:solidFill>
                                    <a:srgbClr val="FF0000"/>
                                  </a:solidFill>
                                  <a:latin typeface="Cambria Math" panose="02040503050406030204" pitchFamily="18" charset="0"/>
                                  <a:ea typeface="Cambria Math" panose="02040503050406030204" pitchFamily="18" charset="0"/>
                                </a:rPr>
                                <m:t>𝜀</m:t>
                              </m:r>
                            </m:e>
                          </m:rad>
                        </m:den>
                      </m:f>
                    </m:oMath>
                  </m:oMathPara>
                </a14:m>
                <a:endParaRPr lang="en-CN" dirty="0"/>
              </a:p>
            </p:txBody>
          </p:sp>
        </mc:Choice>
        <mc:Fallback xmlns="">
          <p:sp>
            <p:nvSpPr>
              <p:cNvPr id="15" name="TextBox 14">
                <a:extLst>
                  <a:ext uri="{FF2B5EF4-FFF2-40B4-BE49-F238E27FC236}">
                    <a16:creationId xmlns:a16="http://schemas.microsoft.com/office/drawing/2014/main" id="{5D9773A2-400A-5EC5-663E-22981A215DCC}"/>
                  </a:ext>
                </a:extLst>
              </p:cNvPr>
              <p:cNvSpPr txBox="1">
                <a:spLocks noRot="1" noChangeAspect="1" noMove="1" noResize="1" noEditPoints="1" noAdjustHandles="1" noChangeArrowheads="1" noChangeShapeType="1" noTextEdit="1"/>
              </p:cNvSpPr>
              <p:nvPr/>
            </p:nvSpPr>
            <p:spPr>
              <a:xfrm>
                <a:off x="5777346" y="2045340"/>
                <a:ext cx="1454726" cy="664606"/>
              </a:xfrm>
              <a:prstGeom prst="rect">
                <a:avLst/>
              </a:prstGeom>
              <a:blipFill>
                <a:blip r:embed="rId4"/>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4D2BE60-54C6-0A9F-0F4A-32FC4AD1BE43}"/>
                  </a:ext>
                </a:extLst>
              </p:cNvPr>
              <p:cNvSpPr txBox="1"/>
              <p:nvPr/>
            </p:nvSpPr>
            <p:spPr>
              <a:xfrm>
                <a:off x="810491" y="2713123"/>
                <a:ext cx="10571018" cy="3653629"/>
              </a:xfrm>
              <a:prstGeom prst="rect">
                <a:avLst/>
              </a:prstGeom>
              <a:noFill/>
            </p:spPr>
            <p:txBody>
              <a:bodyPr wrap="square" rtlCol="0">
                <a:spAutoFit/>
              </a:bodyPr>
              <a:lstStyle/>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当 </a:t>
                </a:r>
                <a14:m>
                  <m:oMath xmlns:m="http://schemas.openxmlformats.org/officeDocument/2006/math">
                    <m:r>
                      <a:rPr lang="en-CN" i="1">
                        <a:latin typeface="Cambria Math" panose="02040503050406030204" pitchFamily="18" charset="0"/>
                        <a:ea typeface="Cambria Math" panose="02040503050406030204" pitchFamily="18" charset="0"/>
                      </a:rPr>
                      <m:t>𝜀</m:t>
                    </m:r>
                  </m:oMath>
                </a14:m>
                <a:r>
                  <a:rPr lang="en-CN" dirty="0">
                    <a:latin typeface="FangSong" panose="02010609060101010101" pitchFamily="49" charset="-122"/>
                    <a:ea typeface="FangSong" panose="02010609060101010101" pitchFamily="49" charset="-122"/>
                  </a:rPr>
                  <a:t>趋于零的时候</a:t>
                </a:r>
                <a:r>
                  <a:rPr lang="zh-CN" altLang="en-US" dirty="0">
                    <a:latin typeface="FangSong" panose="02010609060101010101" pitchFamily="49" charset="-122"/>
                    <a:ea typeface="FangSong" panose="02010609060101010101" pitchFamily="49" charset="-122"/>
                  </a:rPr>
                  <a:t>，</a:t>
                </a:r>
                <a:r>
                  <a:rPr lang="zh-CN" altLang="en-CN" dirty="0">
                    <a:latin typeface="FangSong" panose="02010609060101010101" pitchFamily="49" charset="-122"/>
                    <a:ea typeface="FangSong" panose="02010609060101010101" pitchFamily="49" charset="-122"/>
                  </a:rPr>
                  <a:t>几分核</a:t>
                </a:r>
                <a:r>
                  <a:rPr lang="zh-CN" altLang="en-US" dirty="0">
                    <a:latin typeface="FangSong" panose="02010609060101010101" pitchFamily="49" charset="-122"/>
                    <a:ea typeface="FangSong" panose="02010609060101010101" pitchFamily="49" charset="-122"/>
                  </a:rPr>
                  <a:t>根号发散，好消息，积分收敛，没问题</a:t>
                </a:r>
                <a:endParaRPr lang="en-US" altLang="zh-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那我们在离散求和变积分的时候</a:t>
                </a:r>
                <a:r>
                  <a:rPr lang="zh-CN" altLang="en-US" dirty="0">
                    <a:latin typeface="FangSong" panose="02010609060101010101" pitchFamily="49" charset="-122"/>
                    <a:ea typeface="FangSong" panose="02010609060101010101" pitchFamily="49" charset="-122"/>
                  </a:rPr>
                  <a:t>，是否做了严格表示呢？</a:t>
                </a:r>
                <a:endParaRPr lang="en-US" altLang="zh-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zh-CN" altLang="en-US" dirty="0">
                    <a:latin typeface="FangSong" panose="02010609060101010101" pitchFamily="49" charset="-122"/>
                    <a:ea typeface="FangSong" panose="02010609060101010101" pitchFamily="49" charset="-122"/>
                  </a:rPr>
                  <a:t>回答当然是否定的，因为我们知道粒子数可以任意的多！</a:t>
                </a:r>
                <a:endParaRPr lang="en-US" altLang="zh-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zh-CN" altLang="en-US" dirty="0">
                    <a:latin typeface="FangSong" panose="02010609060101010101" pitchFamily="49" charset="-122"/>
                    <a:ea typeface="FangSong" panose="02010609060101010101" pitchFamily="49" charset="-122"/>
                  </a:rPr>
                  <a:t>那么上面这个积分表示的是什么意思？</a:t>
                </a:r>
                <a:endParaRPr lang="en-US" altLang="zh-CN" dirty="0">
                  <a:latin typeface="FangSong" panose="02010609060101010101" pitchFamily="49" charset="-122"/>
                  <a:ea typeface="FangSong" panose="02010609060101010101" pitchFamily="49" charset="-122"/>
                </a:endParaRPr>
              </a:p>
              <a:p>
                <a:pPr algn="ctr"/>
                <a14:m>
                  <m:oMathPara xmlns:m="http://schemas.openxmlformats.org/officeDocument/2006/math">
                    <m:oMathParaPr>
                      <m:jc m:val="centerGroup"/>
                    </m:oMathParaPr>
                    <m:oMath xmlns:m="http://schemas.openxmlformats.org/officeDocument/2006/math">
                      <m:nary>
                        <m:naryPr>
                          <m:ctrlPr>
                            <a:rPr lang="en-CN" i="1" smtClean="0">
                              <a:latin typeface="Cambria Math" panose="02040503050406030204" pitchFamily="18" charset="0"/>
                              <a:ea typeface="FangSong" panose="02010609060101010101" pitchFamily="49" charset="-122"/>
                            </a:rPr>
                          </m:ctrlPr>
                        </m:naryPr>
                        <m:sub>
                          <m:r>
                            <m:rPr>
                              <m:brk m:alnAt="23"/>
                            </m:rPr>
                            <a:rPr lang="en-US" b="0" i="1" smtClean="0">
                              <a:latin typeface="Cambria Math" panose="02040503050406030204" pitchFamily="18" charset="0"/>
                              <a:ea typeface="FangSong" panose="02010609060101010101" pitchFamily="49" charset="-122"/>
                            </a:rPr>
                            <m:t>0</m:t>
                          </m:r>
                        </m:sub>
                        <m:sup>
                          <m:r>
                            <a:rPr lang="en-CN" i="1" smtClean="0">
                              <a:latin typeface="Cambria Math" panose="02040503050406030204" pitchFamily="18" charset="0"/>
                              <a:ea typeface="Cambria Math" panose="02040503050406030204" pitchFamily="18" charset="0"/>
                            </a:rPr>
                            <m:t>∞</m:t>
                          </m:r>
                        </m:sup>
                        <m:e/>
                      </m:nary>
                      <m:r>
                        <a:rPr lang="en-CN" i="1" smtClean="0">
                          <a:latin typeface="Cambria Math" panose="02040503050406030204" pitchFamily="18" charset="0"/>
                          <a:ea typeface="Cambria Math" panose="02040503050406030204" pitchFamily="18" charset="0"/>
                        </a:rPr>
                        <m:t>≈</m:t>
                      </m:r>
                      <m:nary>
                        <m:naryPr>
                          <m:ctrlPr>
                            <a:rPr lang="en-CN" i="1" smtClean="0">
                              <a:latin typeface="Cambria Math" panose="02040503050406030204" pitchFamily="18" charset="0"/>
                              <a:ea typeface="Cambria Math" panose="02040503050406030204" pitchFamily="18" charset="0"/>
                            </a:rPr>
                          </m:ctrlPr>
                        </m:naryPr>
                        <m:sub>
                          <m:r>
                            <m:rPr>
                              <m:brk m:alnAt="23"/>
                            </m:rPr>
                            <a:rPr lang="en-CN" i="1" smtClean="0">
                              <a:solidFill>
                                <a:srgbClr val="FF0000"/>
                              </a:solidFill>
                              <a:latin typeface="Cambria Math" panose="02040503050406030204" pitchFamily="18" charset="0"/>
                              <a:ea typeface="Cambria Math" panose="02040503050406030204" pitchFamily="18" charset="0"/>
                            </a:rPr>
                            <m:t>𝛿</m:t>
                          </m:r>
                        </m:sub>
                        <m:sup>
                          <m:r>
                            <a:rPr lang="en-CN" i="1" smtClean="0">
                              <a:latin typeface="Cambria Math" panose="02040503050406030204" pitchFamily="18" charset="0"/>
                              <a:ea typeface="Cambria Math" panose="02040503050406030204" pitchFamily="18" charset="0"/>
                            </a:rPr>
                            <m:t>∞</m:t>
                          </m:r>
                        </m:sup>
                        <m:e/>
                      </m:nary>
                    </m:oMath>
                  </m:oMathPara>
                </a14:m>
                <a:endParaRPr lang="en-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除了基态外所有激发态粒子的数目</a:t>
                </a:r>
              </a:p>
              <a:p>
                <a:pPr marL="285750" indent="-285750">
                  <a:buFont typeface="Arial" panose="020B0604020202020204" pitchFamily="34" charset="0"/>
                  <a:buChar char="•"/>
                </a:pPr>
                <a:endParaRPr lang="en-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endParaRPr lang="en-CN" dirty="0">
                  <a:latin typeface="FangSong" panose="02010609060101010101" pitchFamily="49" charset="-122"/>
                  <a:ea typeface="FangSong" panose="02010609060101010101" pitchFamily="49" charset="-122"/>
                </a:endParaRPr>
              </a:p>
              <a:p>
                <a:endParaRPr lang="en-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基态粒子数</a:t>
                </a:r>
                <a:r>
                  <a:rPr lang="zh-CN" altLang="en-US" dirty="0">
                    <a:latin typeface="FangSong" panose="02010609060101010101" pitchFamily="49" charset="-122"/>
                    <a:ea typeface="FangSong" panose="02010609060101010101" pitchFamily="49" charset="-122"/>
                  </a:rPr>
                  <a:t> </a:t>
                </a:r>
                <a14:m>
                  <m:oMath xmlns:m="http://schemas.openxmlformats.org/officeDocument/2006/math">
                    <m:sSub>
                      <m:sSubPr>
                        <m:ctrlPr>
                          <a:rPr lang="en-US" altLang="zh-CN" i="1" smtClean="0">
                            <a:latin typeface="Cambria Math" panose="02040503050406030204" pitchFamily="18" charset="0"/>
                            <a:ea typeface="FangSong" panose="02010609060101010101" pitchFamily="49" charset="-122"/>
                          </a:rPr>
                        </m:ctrlPr>
                      </m:sSubPr>
                      <m:e>
                        <m:r>
                          <a:rPr lang="en-US" altLang="zh-CN" b="0" i="1" smtClean="0">
                            <a:latin typeface="Cambria Math" panose="02040503050406030204" pitchFamily="18" charset="0"/>
                            <a:ea typeface="FangSong" panose="02010609060101010101" pitchFamily="49" charset="-122"/>
                          </a:rPr>
                          <m:t>𝑁</m:t>
                        </m:r>
                      </m:e>
                      <m:sub>
                        <m:r>
                          <a:rPr lang="en-US" altLang="zh-CN" b="0" i="1" smtClean="0">
                            <a:latin typeface="Cambria Math" panose="02040503050406030204" pitchFamily="18" charset="0"/>
                            <a:ea typeface="FangSong" panose="02010609060101010101" pitchFamily="49" charset="-122"/>
                          </a:rPr>
                          <m:t>𝑔𝑟𝑜𝑢𝑛𝑑</m:t>
                        </m:r>
                      </m:sub>
                    </m:sSub>
                    <m:r>
                      <a:rPr lang="en-US" altLang="zh-CN" b="0" i="1" smtClean="0">
                        <a:latin typeface="Cambria Math" panose="02040503050406030204" pitchFamily="18" charset="0"/>
                        <a:ea typeface="FangSong" panose="02010609060101010101" pitchFamily="49" charset="-122"/>
                      </a:rPr>
                      <m:t>=</m:t>
                    </m:r>
                    <m:r>
                      <a:rPr lang="en-US" altLang="zh-CN" b="0" i="1" smtClean="0">
                        <a:latin typeface="Cambria Math" panose="02040503050406030204" pitchFamily="18" charset="0"/>
                        <a:ea typeface="FangSong" panose="02010609060101010101" pitchFamily="49" charset="-122"/>
                      </a:rPr>
                      <m:t>𝑁</m:t>
                    </m:r>
                    <m:r>
                      <a:rPr lang="en-US" altLang="zh-CN" b="0" i="1" smtClean="0">
                        <a:latin typeface="Cambria Math" panose="02040503050406030204" pitchFamily="18" charset="0"/>
                        <a:ea typeface="FangSong" panose="02010609060101010101" pitchFamily="49" charset="-122"/>
                      </a:rPr>
                      <m:t>−</m:t>
                    </m:r>
                    <m:sSub>
                      <m:sSubPr>
                        <m:ctrlPr>
                          <a:rPr lang="en-US" altLang="zh-CN" b="0" i="1" smtClean="0">
                            <a:latin typeface="Cambria Math" panose="02040503050406030204" pitchFamily="18" charset="0"/>
                            <a:ea typeface="FangSong" panose="02010609060101010101" pitchFamily="49" charset="-122"/>
                          </a:rPr>
                        </m:ctrlPr>
                      </m:sSubPr>
                      <m:e>
                        <m:r>
                          <a:rPr lang="en-US" altLang="zh-CN" b="0" i="1" smtClean="0">
                            <a:latin typeface="Cambria Math" panose="02040503050406030204" pitchFamily="18" charset="0"/>
                            <a:ea typeface="FangSong" panose="02010609060101010101" pitchFamily="49" charset="-122"/>
                          </a:rPr>
                          <m:t>𝑁</m:t>
                        </m:r>
                      </m:e>
                      <m:sub>
                        <m:r>
                          <a:rPr lang="en-US" altLang="zh-CN" b="0" i="1" smtClean="0">
                            <a:latin typeface="Cambria Math" panose="02040503050406030204" pitchFamily="18" charset="0"/>
                            <a:ea typeface="FangSong" panose="02010609060101010101" pitchFamily="49" charset="-122"/>
                          </a:rPr>
                          <m:t>𝑒𝑥𝑐𝑖𝑡𝑒𝑑</m:t>
                        </m:r>
                      </m:sub>
                    </m:sSub>
                    <m:r>
                      <a:rPr lang="en-US" altLang="zh-CN" b="0" i="1" smtClean="0">
                        <a:latin typeface="Cambria Math" panose="02040503050406030204" pitchFamily="18" charset="0"/>
                        <a:ea typeface="FangSong" panose="02010609060101010101" pitchFamily="49" charset="-122"/>
                      </a:rPr>
                      <m:t>=</m:t>
                    </m:r>
                    <m:d>
                      <m:dPr>
                        <m:ctrlPr>
                          <a:rPr lang="en-US" altLang="zh-CN" b="0" i="1" smtClean="0">
                            <a:latin typeface="Cambria Math" panose="02040503050406030204" pitchFamily="18" charset="0"/>
                            <a:ea typeface="FangSong" panose="02010609060101010101" pitchFamily="49" charset="-122"/>
                          </a:rPr>
                        </m:ctrlPr>
                      </m:dPr>
                      <m:e>
                        <m:r>
                          <a:rPr lang="en-US" altLang="zh-CN" b="0" i="1" smtClean="0">
                            <a:latin typeface="Cambria Math" panose="02040503050406030204" pitchFamily="18" charset="0"/>
                            <a:ea typeface="FangSong" panose="02010609060101010101" pitchFamily="49" charset="-122"/>
                          </a:rPr>
                          <m:t>1−</m:t>
                        </m:r>
                        <m:sSup>
                          <m:sSupPr>
                            <m:ctrlPr>
                              <a:rPr lang="en-US" altLang="zh-CN" b="0" i="1" smtClean="0">
                                <a:latin typeface="Cambria Math" panose="02040503050406030204" pitchFamily="18" charset="0"/>
                                <a:ea typeface="FangSong" panose="02010609060101010101" pitchFamily="49" charset="-122"/>
                              </a:rPr>
                            </m:ctrlPr>
                          </m:sSupPr>
                          <m:e>
                            <m:f>
                              <m:fPr>
                                <m:ctrlPr>
                                  <a:rPr lang="en-US" altLang="zh-CN" b="0" i="1" smtClean="0">
                                    <a:latin typeface="Cambria Math" panose="02040503050406030204" pitchFamily="18" charset="0"/>
                                    <a:ea typeface="FangSong" panose="02010609060101010101" pitchFamily="49" charset="-122"/>
                                  </a:rPr>
                                </m:ctrlPr>
                              </m:fPr>
                              <m:num>
                                <m:r>
                                  <a:rPr lang="en-US" altLang="zh-CN" b="0" i="1" smtClean="0">
                                    <a:latin typeface="Cambria Math" panose="02040503050406030204" pitchFamily="18" charset="0"/>
                                    <a:ea typeface="Cambria Math" panose="02040503050406030204" pitchFamily="18" charset="0"/>
                                  </a:rPr>
                                  <m:t>𝜏</m:t>
                                </m:r>
                              </m:num>
                              <m:den>
                                <m:sSub>
                                  <m:sSubPr>
                                    <m:ctrlPr>
                                      <a:rPr lang="en-US" altLang="zh-CN" b="0" i="1" smtClean="0">
                                        <a:latin typeface="Cambria Math" panose="02040503050406030204" pitchFamily="18" charset="0"/>
                                        <a:ea typeface="FangSong" panose="02010609060101010101" pitchFamily="49" charset="-122"/>
                                      </a:rPr>
                                    </m:ctrlPr>
                                  </m:sSubPr>
                                  <m:e>
                                    <m:r>
                                      <a:rPr lang="en-US" altLang="zh-CN" b="0" i="1" smtClean="0">
                                        <a:latin typeface="Cambria Math" panose="02040503050406030204" pitchFamily="18" charset="0"/>
                                        <a:ea typeface="Cambria Math" panose="02040503050406030204" pitchFamily="18" charset="0"/>
                                      </a:rPr>
                                      <m:t>𝜏</m:t>
                                    </m:r>
                                  </m:e>
                                  <m:sub>
                                    <m:r>
                                      <a:rPr lang="en-US" altLang="zh-CN" b="0" i="1" smtClean="0">
                                        <a:latin typeface="Cambria Math" panose="02040503050406030204" pitchFamily="18" charset="0"/>
                                        <a:ea typeface="FangSong" panose="02010609060101010101" pitchFamily="49" charset="-122"/>
                                      </a:rPr>
                                      <m:t>𝑐</m:t>
                                    </m:r>
                                  </m:sub>
                                </m:sSub>
                              </m:den>
                            </m:f>
                          </m:e>
                          <m:sup>
                            <m:r>
                              <a:rPr lang="en-US" altLang="zh-CN" b="0" i="1" smtClean="0">
                                <a:latin typeface="Cambria Math" panose="02040503050406030204" pitchFamily="18" charset="0"/>
                                <a:ea typeface="FangSong" panose="02010609060101010101" pitchFamily="49" charset="-122"/>
                              </a:rPr>
                              <m:t>3/2</m:t>
                            </m:r>
                          </m:sup>
                        </m:sSup>
                      </m:e>
                    </m:d>
                    <m:r>
                      <a:rPr lang="en-US" altLang="zh-CN" b="0" i="1" smtClean="0">
                        <a:latin typeface="Cambria Math" panose="02040503050406030204" pitchFamily="18" charset="0"/>
                        <a:ea typeface="FangSong" panose="02010609060101010101" pitchFamily="49" charset="-122"/>
                      </a:rPr>
                      <m:t>𝑁</m:t>
                    </m:r>
                  </m:oMath>
                </a14:m>
                <a:endParaRPr lang="en-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当温度小于临界温度时</a:t>
                </a:r>
                <a:r>
                  <a:rPr lang="zh-CN" altLang="en-US" dirty="0">
                    <a:latin typeface="FangSong" panose="02010609060101010101" pitchFamily="49" charset="-122"/>
                    <a:ea typeface="FangSong" panose="02010609060101010101" pitchFamily="49" charset="-122"/>
                  </a:rPr>
                  <a:t>，化学势为零</a:t>
                </a:r>
                <a:endParaRPr lang="en-CN" dirty="0">
                  <a:latin typeface="FangSong" panose="02010609060101010101" pitchFamily="49" charset="-122"/>
                  <a:ea typeface="FangSong" panose="02010609060101010101" pitchFamily="49" charset="-122"/>
                </a:endParaRPr>
              </a:p>
            </p:txBody>
          </p:sp>
        </mc:Choice>
        <mc:Fallback xmlns="">
          <p:sp>
            <p:nvSpPr>
              <p:cNvPr id="5" name="TextBox 4">
                <a:extLst>
                  <a:ext uri="{FF2B5EF4-FFF2-40B4-BE49-F238E27FC236}">
                    <a16:creationId xmlns:a16="http://schemas.microsoft.com/office/drawing/2014/main" id="{44D2BE60-54C6-0A9F-0F4A-32FC4AD1BE43}"/>
                  </a:ext>
                </a:extLst>
              </p:cNvPr>
              <p:cNvSpPr txBox="1">
                <a:spLocks noRot="1" noChangeAspect="1" noMove="1" noResize="1" noEditPoints="1" noAdjustHandles="1" noChangeArrowheads="1" noChangeShapeType="1" noTextEdit="1"/>
              </p:cNvSpPr>
              <p:nvPr/>
            </p:nvSpPr>
            <p:spPr>
              <a:xfrm>
                <a:off x="810491" y="2713123"/>
                <a:ext cx="10571018" cy="3653629"/>
              </a:xfrm>
              <a:prstGeom prst="rect">
                <a:avLst/>
              </a:prstGeom>
              <a:blipFill>
                <a:blip r:embed="rId5"/>
                <a:stretch>
                  <a:fillRect l="-360" t="-1038" b="-173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86FEF63-712D-F36E-2484-F47E8FE4638F}"/>
                  </a:ext>
                </a:extLst>
              </p:cNvPr>
              <p:cNvSpPr txBox="1"/>
              <p:nvPr/>
            </p:nvSpPr>
            <p:spPr>
              <a:xfrm>
                <a:off x="3685308" y="4792058"/>
                <a:ext cx="4488873" cy="6874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𝑒𝑥𝑐𝑖𝑡𝑒𝑑</m:t>
                          </m:r>
                        </m:sub>
                      </m:sSub>
                      <m:r>
                        <a:rPr lang="en-US" b="0" i="1" smtClean="0">
                          <a:latin typeface="Cambria Math" panose="02040503050406030204" pitchFamily="18" charset="0"/>
                          <a:ea typeface="Cambria Math" panose="02040503050406030204" pitchFamily="18" charset="0"/>
                        </a:rPr>
                        <m:t>≈2.612</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𝑄</m:t>
                          </m:r>
                        </m:sub>
                      </m:sSub>
                      <m:r>
                        <a:rPr lang="en-US" i="1">
                          <a:latin typeface="Cambria Math" panose="02040503050406030204" pitchFamily="18" charset="0"/>
                        </a:rPr>
                        <m:t> </m:t>
                      </m:r>
                      <m:r>
                        <a:rPr lang="en-US" i="1">
                          <a:latin typeface="Cambria Math" panose="02040503050406030204" pitchFamily="18" charset="0"/>
                        </a:rPr>
                        <m:t>𝑉</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𝜏</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𝜏</m:t>
                                      </m:r>
                                    </m:e>
                                    <m:sub>
                                      <m:r>
                                        <a:rPr lang="en-US" b="0" i="1" smtClean="0">
                                          <a:latin typeface="Cambria Math" panose="02040503050406030204" pitchFamily="18" charset="0"/>
                                        </a:rPr>
                                        <m:t>𝑐</m:t>
                                      </m:r>
                                    </m:sub>
                                  </m:sSub>
                                </m:den>
                              </m:f>
                            </m:e>
                          </m:d>
                        </m:e>
                        <m:sup>
                          <m:r>
                            <a:rPr lang="en-US" b="0" i="1" smtClean="0">
                              <a:latin typeface="Cambria Math" panose="02040503050406030204" pitchFamily="18" charset="0"/>
                            </a:rPr>
                            <m:t>3/2</m:t>
                          </m:r>
                        </m:sup>
                      </m:sSup>
                      <m:r>
                        <a:rPr lang="en-US" b="0" i="1" smtClean="0">
                          <a:latin typeface="Cambria Math" panose="02040503050406030204" pitchFamily="18" charset="0"/>
                        </a:rPr>
                        <m:t>𝑁</m:t>
                      </m:r>
                    </m:oMath>
                  </m:oMathPara>
                </a14:m>
                <a:endParaRPr lang="en-CN" dirty="0"/>
              </a:p>
            </p:txBody>
          </p:sp>
        </mc:Choice>
        <mc:Fallback xmlns="">
          <p:sp>
            <p:nvSpPr>
              <p:cNvPr id="17" name="TextBox 16">
                <a:extLst>
                  <a:ext uri="{FF2B5EF4-FFF2-40B4-BE49-F238E27FC236}">
                    <a16:creationId xmlns:a16="http://schemas.microsoft.com/office/drawing/2014/main" id="{F86FEF63-712D-F36E-2484-F47E8FE4638F}"/>
                  </a:ext>
                </a:extLst>
              </p:cNvPr>
              <p:cNvSpPr txBox="1">
                <a:spLocks noRot="1" noChangeAspect="1" noMove="1" noResize="1" noEditPoints="1" noAdjustHandles="1" noChangeArrowheads="1" noChangeShapeType="1" noTextEdit="1"/>
              </p:cNvSpPr>
              <p:nvPr/>
            </p:nvSpPr>
            <p:spPr>
              <a:xfrm>
                <a:off x="3685308" y="4792058"/>
                <a:ext cx="4488873" cy="687432"/>
              </a:xfrm>
              <a:prstGeom prst="rect">
                <a:avLst/>
              </a:prstGeom>
              <a:blipFill>
                <a:blip r:embed="rId6"/>
                <a:stretch>
                  <a:fillRect/>
                </a:stretch>
              </a:blipFill>
            </p:spPr>
            <p:txBody>
              <a:bodyPr/>
              <a:lstStyle/>
              <a:p>
                <a:r>
                  <a:rPr lang="en-CN">
                    <a:noFill/>
                  </a:rPr>
                  <a:t> </a:t>
                </a:r>
              </a:p>
            </p:txBody>
          </p:sp>
        </mc:Fallback>
      </mc:AlternateContent>
    </p:spTree>
    <p:extLst>
      <p:ext uri="{BB962C8B-B14F-4D97-AF65-F5344CB8AC3E}">
        <p14:creationId xmlns:p14="http://schemas.microsoft.com/office/powerpoint/2010/main" val="4109162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BA5D716-DFBB-C1AB-D767-1DA939ECE72C}"/>
              </a:ext>
            </a:extLst>
          </p:cNvPr>
          <p:cNvPicPr>
            <a:picLocks noChangeAspect="1"/>
          </p:cNvPicPr>
          <p:nvPr/>
        </p:nvPicPr>
        <p:blipFill>
          <a:blip r:embed="rId2"/>
          <a:stretch>
            <a:fillRect/>
          </a:stretch>
        </p:blipFill>
        <p:spPr>
          <a:xfrm>
            <a:off x="133591" y="587498"/>
            <a:ext cx="11924818" cy="5683003"/>
          </a:xfrm>
          <a:prstGeom prst="rect">
            <a:avLst/>
          </a:prstGeom>
        </p:spPr>
      </p:pic>
    </p:spTree>
    <p:extLst>
      <p:ext uri="{BB962C8B-B14F-4D97-AF65-F5344CB8AC3E}">
        <p14:creationId xmlns:p14="http://schemas.microsoft.com/office/powerpoint/2010/main" val="15655768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25A08F5-6402-442B-E776-2729ADF99EE4}"/>
                  </a:ext>
                </a:extLst>
              </p:cNvPr>
              <p:cNvSpPr txBox="1"/>
              <p:nvPr/>
            </p:nvSpPr>
            <p:spPr>
              <a:xfrm>
                <a:off x="2119746" y="1233055"/>
                <a:ext cx="7689272" cy="78906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𝜏</m:t>
                          </m:r>
                        </m:e>
                        <m:sub>
                          <m:r>
                            <a:rPr lang="en-US" b="0" i="1" smtClean="0">
                              <a:latin typeface="Cambria Math" panose="02040503050406030204" pitchFamily="18" charset="0"/>
                            </a:rPr>
                            <m:t>𝑐</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4</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1</m:t>
                              </m:r>
                            </m:sub>
                          </m:sSub>
                        </m:num>
                        <m:den>
                          <m:r>
                            <a:rPr lang="en-US" b="0" i="1" smtClean="0">
                              <a:latin typeface="Cambria Math" panose="02040503050406030204" pitchFamily="18" charset="0"/>
                              <a:ea typeface="Cambria Math" panose="02040503050406030204" pitchFamily="18" charset="0"/>
                            </a:rPr>
                            <m:t>𝜋</m:t>
                          </m:r>
                        </m:den>
                      </m:f>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𝑁</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𝜁</m:t>
                                      </m:r>
                                    </m:e>
                                    <m:sub>
                                      <m:r>
                                        <a:rPr lang="en-US" b="0" i="1" smtClean="0">
                                          <a:latin typeface="Cambria Math" panose="02040503050406030204" pitchFamily="18" charset="0"/>
                                        </a:rPr>
                                        <m:t>3/2</m:t>
                                      </m:r>
                                    </m:sub>
                                  </m:sSub>
                                </m:den>
                              </m:f>
                            </m:e>
                          </m:d>
                        </m:e>
                        <m:sup>
                          <m:r>
                            <a:rPr lang="en-US" b="0" i="1" smtClean="0">
                              <a:latin typeface="Cambria Math" panose="02040503050406030204" pitchFamily="18" charset="0"/>
                            </a:rPr>
                            <m:t>2/3</m:t>
                          </m:r>
                        </m:sup>
                      </m:sSup>
                      <m:r>
                        <a:rPr lang="en-US" b="0" i="1" smtClean="0">
                          <a:latin typeface="Cambria Math" panose="02040503050406030204" pitchFamily="18" charset="0"/>
                        </a:rPr>
                        <m:t>=3.31</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ℏ</m:t>
                              </m:r>
                            </m:e>
                            <m:sup>
                              <m:r>
                                <a:rPr lang="en-US" b="0" i="1" smtClean="0">
                                  <a:latin typeface="Cambria Math" panose="02040503050406030204" pitchFamily="18" charset="0"/>
                                </a:rPr>
                                <m:t>2</m:t>
                              </m:r>
                            </m:sup>
                          </m:sSup>
                        </m:num>
                        <m:den>
                          <m:r>
                            <a:rPr lang="en-US" b="0" i="1" smtClean="0">
                              <a:latin typeface="Cambria Math" panose="02040503050406030204" pitchFamily="18" charset="0"/>
                            </a:rPr>
                            <m:t>𝑚</m:t>
                          </m:r>
                        </m:den>
                      </m:f>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𝑁</m:t>
                                  </m:r>
                                </m:num>
                                <m:den>
                                  <m:r>
                                    <a:rPr lang="en-US" b="0" i="1" smtClean="0">
                                      <a:latin typeface="Cambria Math" panose="02040503050406030204" pitchFamily="18" charset="0"/>
                                    </a:rPr>
                                    <m:t>𝑉</m:t>
                                  </m:r>
                                </m:den>
                              </m:f>
                            </m:e>
                          </m:d>
                        </m:e>
                        <m:sup>
                          <m:r>
                            <a:rPr lang="en-US" b="0" i="1" smtClean="0">
                              <a:latin typeface="Cambria Math" panose="02040503050406030204" pitchFamily="18" charset="0"/>
                            </a:rPr>
                            <m:t>2/3</m:t>
                          </m:r>
                        </m:sup>
                      </m:sSup>
                    </m:oMath>
                  </m:oMathPara>
                </a14:m>
                <a:endParaRPr lang="en-CN" dirty="0"/>
              </a:p>
            </p:txBody>
          </p:sp>
        </mc:Choice>
        <mc:Fallback xmlns="">
          <p:sp>
            <p:nvSpPr>
              <p:cNvPr id="2" name="TextBox 1">
                <a:extLst>
                  <a:ext uri="{FF2B5EF4-FFF2-40B4-BE49-F238E27FC236}">
                    <a16:creationId xmlns:a16="http://schemas.microsoft.com/office/drawing/2014/main" id="{825A08F5-6402-442B-E776-2729ADF99EE4}"/>
                  </a:ext>
                </a:extLst>
              </p:cNvPr>
              <p:cNvSpPr txBox="1">
                <a:spLocks noRot="1" noChangeAspect="1" noMove="1" noResize="1" noEditPoints="1" noAdjustHandles="1" noChangeArrowheads="1" noChangeShapeType="1" noTextEdit="1"/>
              </p:cNvSpPr>
              <p:nvPr/>
            </p:nvSpPr>
            <p:spPr>
              <a:xfrm>
                <a:off x="2119746" y="1233055"/>
                <a:ext cx="7689272" cy="789062"/>
              </a:xfrm>
              <a:prstGeom prst="rect">
                <a:avLst/>
              </a:prstGeom>
              <a:blipFill>
                <a:blip r:embed="rId2"/>
                <a:stretch>
                  <a:fillRect b="-3125"/>
                </a:stretch>
              </a:blipFill>
            </p:spPr>
            <p:txBody>
              <a:bodyPr/>
              <a:lstStyle/>
              <a:p>
                <a:r>
                  <a:rPr lang="en-CN">
                    <a:noFill/>
                  </a:rPr>
                  <a:t> </a:t>
                </a:r>
              </a:p>
            </p:txBody>
          </p:sp>
        </mc:Fallback>
      </mc:AlternateContent>
      <p:sp>
        <p:nvSpPr>
          <p:cNvPr id="3" name="TextBox 2">
            <a:extLst>
              <a:ext uri="{FF2B5EF4-FFF2-40B4-BE49-F238E27FC236}">
                <a16:creationId xmlns:a16="http://schemas.microsoft.com/office/drawing/2014/main" id="{6D64C631-1939-7EB2-E823-BAAD76B12838}"/>
              </a:ext>
            </a:extLst>
          </p:cNvPr>
          <p:cNvSpPr txBox="1"/>
          <p:nvPr/>
        </p:nvSpPr>
        <p:spPr>
          <a:xfrm>
            <a:off x="1039091" y="401782"/>
            <a:ext cx="9047018"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从理论预言</a:t>
            </a:r>
            <a:r>
              <a:rPr lang="zh-CN" altLang="en-US" dirty="0">
                <a:latin typeface="FangSong" panose="02010609060101010101" pitchFamily="49" charset="-122"/>
                <a:ea typeface="FangSong" panose="02010609060101010101" pitchFamily="49" charset="-122"/>
              </a:rPr>
              <a:t>，到实验发现，走了</a:t>
            </a:r>
            <a:r>
              <a:rPr lang="en-US" altLang="zh-CN" dirty="0">
                <a:latin typeface="FangSong" panose="02010609060101010101" pitchFamily="49" charset="-122"/>
                <a:ea typeface="FangSong" panose="02010609060101010101" pitchFamily="49" charset="-122"/>
              </a:rPr>
              <a:t>70</a:t>
            </a:r>
            <a:r>
              <a:rPr lang="zh-CN" altLang="en-US" dirty="0">
                <a:latin typeface="FangSong" panose="02010609060101010101" pitchFamily="49" charset="-122"/>
                <a:ea typeface="FangSong" panose="02010609060101010101" pitchFamily="49" charset="-122"/>
              </a:rPr>
              <a:t>年</a:t>
            </a:r>
            <a:endParaRPr lang="en-CN" dirty="0">
              <a:latin typeface="FangSong" panose="02010609060101010101" pitchFamily="49" charset="-122"/>
              <a:ea typeface="FangSong" panose="02010609060101010101" pitchFamily="49" charset="-122"/>
            </a:endParaRPr>
          </a:p>
        </p:txBody>
      </p:sp>
      <p:sp>
        <p:nvSpPr>
          <p:cNvPr id="4" name="TextBox 3">
            <a:extLst>
              <a:ext uri="{FF2B5EF4-FFF2-40B4-BE49-F238E27FC236}">
                <a16:creationId xmlns:a16="http://schemas.microsoft.com/office/drawing/2014/main" id="{48F56A86-3243-4EFC-0768-00BFE1D89150}"/>
              </a:ext>
            </a:extLst>
          </p:cNvPr>
          <p:cNvSpPr txBox="1"/>
          <p:nvPr/>
        </p:nvSpPr>
        <p:spPr>
          <a:xfrm>
            <a:off x="1163782" y="2466109"/>
            <a:ext cx="9448800" cy="2585323"/>
          </a:xfrm>
          <a:prstGeom prst="rect">
            <a:avLst/>
          </a:prstGeom>
          <a:noFill/>
        </p:spPr>
        <p:txBody>
          <a:bodyPr wrap="square" rtlCol="0">
            <a:spAutoFit/>
          </a:bodyPr>
          <a:lstStyle/>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从临界温度看</a:t>
            </a:r>
            <a:r>
              <a:rPr lang="zh-CN" altLang="en-US" dirty="0">
                <a:latin typeface="FangSong" panose="02010609060101010101" pitchFamily="49" charset="-122"/>
                <a:ea typeface="FangSong" panose="02010609060101010101" pitchFamily="49" charset="-122"/>
              </a:rPr>
              <a:t>，更多的粒子、更小的体积、更轻的质量，都可以使临界温度变高。</a:t>
            </a:r>
            <a:endParaRPr lang="en-US" altLang="zh-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en-US" dirty="0">
                <a:latin typeface="FangSong" panose="02010609060101010101" pitchFamily="49" charset="-122"/>
                <a:ea typeface="FangSong" panose="02010609060101010101" pitchFamily="49" charset="-122"/>
              </a:rPr>
              <a:t>Cornell and </a:t>
            </a:r>
            <a:r>
              <a:rPr lang="en-US" dirty="0" err="1">
                <a:latin typeface="FangSong" panose="02010609060101010101" pitchFamily="49" charset="-122"/>
                <a:ea typeface="FangSong" panose="02010609060101010101" pitchFamily="49" charset="-122"/>
              </a:rPr>
              <a:t>Weimann</a:t>
            </a:r>
            <a:r>
              <a:rPr lang="en-US" dirty="0">
                <a:latin typeface="FangSong" panose="02010609060101010101" pitchFamily="49" charset="-122"/>
                <a:ea typeface="FangSong" panose="02010609060101010101" pitchFamily="49" charset="-122"/>
              </a:rPr>
              <a:t>, and </a:t>
            </a:r>
            <a:r>
              <a:rPr lang="en-US" dirty="0" err="1">
                <a:latin typeface="FangSong" panose="02010609060101010101" pitchFamily="49" charset="-122"/>
                <a:ea typeface="FangSong" panose="02010609060101010101" pitchFamily="49" charset="-122"/>
              </a:rPr>
              <a:t>Ketterle</a:t>
            </a:r>
            <a:r>
              <a:rPr lang="en-US" dirty="0">
                <a:latin typeface="FangSong" panose="02010609060101010101" pitchFamily="49" charset="-122"/>
                <a:ea typeface="FangSong" panose="02010609060101010101" pitchFamily="49" charset="-122"/>
              </a:rPr>
              <a:t>, used Rubidium atoms,</a:t>
            </a:r>
            <a:r>
              <a:rPr lang="zh-CN" altLang="en-US" dirty="0">
                <a:latin typeface="FangSong" panose="02010609060101010101" pitchFamily="49" charset="-122"/>
                <a:ea typeface="FangSong" panose="02010609060101010101" pitchFamily="49" charset="-122"/>
              </a:rPr>
              <a:t> 铷原子，序号</a:t>
            </a:r>
            <a:r>
              <a:rPr lang="en-US" altLang="zh-CN" dirty="0">
                <a:latin typeface="FangSong" panose="02010609060101010101" pitchFamily="49" charset="-122"/>
                <a:ea typeface="FangSong" panose="02010609060101010101" pitchFamily="49" charset="-122"/>
              </a:rPr>
              <a:t>87</a:t>
            </a:r>
          </a:p>
          <a:p>
            <a:pPr marL="285750" indent="-285750">
              <a:buFont typeface="Arial" panose="020B0604020202020204" pitchFamily="34" charset="0"/>
              <a:buChar char="•"/>
            </a:pPr>
            <a:r>
              <a:rPr lang="en-US" dirty="0" err="1">
                <a:latin typeface="FangSong" panose="02010609060101010101" pitchFamily="49" charset="-122"/>
                <a:ea typeface="FangSong" panose="02010609060101010101" pitchFamily="49" charset="-122"/>
              </a:rPr>
              <a:t>利用激光冷却技术</a:t>
            </a:r>
            <a:r>
              <a:rPr lang="zh-CN" altLang="en-US" dirty="0">
                <a:latin typeface="FangSong" panose="02010609060101010101" pitchFamily="49" charset="-122"/>
                <a:ea typeface="FangSong" panose="02010609060101010101" pitchFamily="49" charset="-122"/>
              </a:rPr>
              <a:t>，实现低温，发现</a:t>
            </a:r>
            <a:r>
              <a:rPr lang="zh-CN" altLang="en-CN" dirty="0">
                <a:latin typeface="FangSong" panose="02010609060101010101" pitchFamily="49" charset="-122"/>
                <a:ea typeface="FangSong" panose="02010609060101010101" pitchFamily="49" charset="-122"/>
              </a:rPr>
              <a:t>相变</a:t>
            </a:r>
            <a:r>
              <a:rPr lang="zh-CN" altLang="en-US" dirty="0">
                <a:latin typeface="FangSong" panose="02010609060101010101" pitchFamily="49" charset="-122"/>
                <a:ea typeface="FangSong" panose="02010609060101010101" pitchFamily="49" charset="-122"/>
              </a:rPr>
              <a:t>温度为</a:t>
            </a:r>
            <a:r>
              <a:rPr lang="en-US" altLang="zh-CN" dirty="0">
                <a:latin typeface="FangSong" panose="02010609060101010101" pitchFamily="49" charset="-122"/>
                <a:ea typeface="FangSong" panose="02010609060101010101" pitchFamily="49" charset="-122"/>
              </a:rPr>
              <a:t>170nK</a:t>
            </a:r>
            <a:r>
              <a:rPr lang="zh-CN" altLang="en-US" dirty="0">
                <a:latin typeface="FangSong" panose="02010609060101010101" pitchFamily="49" charset="-122"/>
                <a:ea typeface="FangSong" panose="02010609060101010101" pitchFamily="49" charset="-122"/>
              </a:rPr>
              <a:t>，和上公式吻合的很好</a:t>
            </a:r>
            <a:endParaRPr lang="en-US" altLang="zh-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 order to see the BEC, one needs to be able to distinguish atoms in the ground state from atoms in the excited states. The basic feature that makes this possible is that the ground state atoms all have smaller wavenumbers and hence slower velocities than the other states. So if you remove the magnetic trap, the atoms will start to spread, with the ground state atoms spreading more slowly. Thus the atoms' positions after a short time indicate their initial velocities. </a:t>
            </a:r>
          </a:p>
        </p:txBody>
      </p:sp>
    </p:spTree>
    <p:extLst>
      <p:ext uri="{BB962C8B-B14F-4D97-AF65-F5344CB8AC3E}">
        <p14:creationId xmlns:p14="http://schemas.microsoft.com/office/powerpoint/2010/main" val="2287950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FA1207A-0673-02DA-2AF8-DBCC3BF88BC8}"/>
              </a:ext>
            </a:extLst>
          </p:cNvPr>
          <p:cNvPicPr>
            <a:picLocks noChangeAspect="1"/>
          </p:cNvPicPr>
          <p:nvPr/>
        </p:nvPicPr>
        <p:blipFill>
          <a:blip r:embed="rId2"/>
          <a:stretch>
            <a:fillRect/>
          </a:stretch>
        </p:blipFill>
        <p:spPr>
          <a:xfrm>
            <a:off x="0" y="745259"/>
            <a:ext cx="7251700" cy="4813300"/>
          </a:xfrm>
          <a:prstGeom prst="rect">
            <a:avLst/>
          </a:prstGeom>
        </p:spPr>
      </p:pic>
      <p:sp>
        <p:nvSpPr>
          <p:cNvPr id="3" name="TextBox 2">
            <a:extLst>
              <a:ext uri="{FF2B5EF4-FFF2-40B4-BE49-F238E27FC236}">
                <a16:creationId xmlns:a16="http://schemas.microsoft.com/office/drawing/2014/main" id="{CF9FA2A0-05BA-C2BB-2A21-AC52F33760E8}"/>
              </a:ext>
            </a:extLst>
          </p:cNvPr>
          <p:cNvSpPr txBox="1"/>
          <p:nvPr/>
        </p:nvSpPr>
        <p:spPr>
          <a:xfrm>
            <a:off x="7426036" y="637309"/>
            <a:ext cx="4267200" cy="5632311"/>
          </a:xfrm>
          <a:prstGeom prst="rect">
            <a:avLst/>
          </a:prstGeom>
          <a:noFill/>
        </p:spPr>
        <p:txBody>
          <a:bodyPr wrap="square" rtlCol="0">
            <a:spAutoFit/>
          </a:bodyPr>
          <a:lstStyle/>
          <a:p>
            <a:r>
              <a:rPr lang="en-US" dirty="0"/>
              <a:t>In this </a:t>
            </a:r>
            <a:r>
              <a:rPr lang="en-US" dirty="0" err="1"/>
              <a:t>fgure</a:t>
            </a:r>
            <a:r>
              <a:rPr lang="en-US" dirty="0"/>
              <a:t>, from </a:t>
            </a:r>
            <a:r>
              <a:rPr lang="en-US" dirty="0" err="1"/>
              <a:t>Weimann</a:t>
            </a:r>
            <a:r>
              <a:rPr lang="en-US" dirty="0"/>
              <a:t> and Cornell's group at the JILA laboratory in Boulder, we see the distribution of atoms in the BEC at </a:t>
            </a:r>
            <a:r>
              <a:rPr lang="en-US" dirty="0" err="1"/>
              <a:t>dierent</a:t>
            </a:r>
            <a:r>
              <a:rPr lang="en-US" dirty="0"/>
              <a:t> temperatures. The critical temperature is Tc 170nK. Above this temperature (left), the distribution is pretty smooth, consistent with a Maxwell-Boltzmann velocity distribution. Below the critical temperature you can clearly see the higher density corresponding at an anomalously large occupancy of the ground state, consistent with expectations from a BEC. The right image shows the BEC at even lower temperature, where the occupancy is even higher. Direct observation of thermodynamic properties of the system, such as the energy density and heat capacity (particularly by </a:t>
            </a:r>
            <a:r>
              <a:rPr lang="en-US" dirty="0" err="1"/>
              <a:t>Ketterle's</a:t>
            </a:r>
            <a:r>
              <a:rPr lang="en-US" dirty="0"/>
              <a:t> group at MIT), further </a:t>
            </a:r>
            <a:r>
              <a:rPr lang="en-US" dirty="0" err="1"/>
              <a:t>conrmed</a:t>
            </a:r>
            <a:r>
              <a:rPr lang="en-US" dirty="0"/>
              <a:t> that this system was a BEC. </a:t>
            </a:r>
          </a:p>
        </p:txBody>
      </p:sp>
    </p:spTree>
    <p:extLst>
      <p:ext uri="{BB962C8B-B14F-4D97-AF65-F5344CB8AC3E}">
        <p14:creationId xmlns:p14="http://schemas.microsoft.com/office/powerpoint/2010/main" val="32306223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3160EE-BE51-E707-FCC6-58E291A0622E}"/>
              </a:ext>
            </a:extLst>
          </p:cNvPr>
          <p:cNvSpPr txBox="1"/>
          <p:nvPr/>
        </p:nvSpPr>
        <p:spPr>
          <a:xfrm>
            <a:off x="9033164" y="5902036"/>
            <a:ext cx="2840181" cy="369332"/>
          </a:xfrm>
          <a:prstGeom prst="rect">
            <a:avLst/>
          </a:prstGeom>
          <a:noFill/>
        </p:spPr>
        <p:txBody>
          <a:bodyPr wrap="square" rtlCol="0">
            <a:spAutoFit/>
          </a:bodyPr>
          <a:lstStyle/>
          <a:p>
            <a:r>
              <a:rPr lang="en-CN" dirty="0"/>
              <a:t>2022.05.03</a:t>
            </a:r>
          </a:p>
        </p:txBody>
      </p:sp>
      <p:sp>
        <p:nvSpPr>
          <p:cNvPr id="3" name="TextBox 2">
            <a:extLst>
              <a:ext uri="{FF2B5EF4-FFF2-40B4-BE49-F238E27FC236}">
                <a16:creationId xmlns:a16="http://schemas.microsoft.com/office/drawing/2014/main" id="{6B501F00-6E73-BCB8-D420-9EDE48885385}"/>
              </a:ext>
            </a:extLst>
          </p:cNvPr>
          <p:cNvSpPr txBox="1"/>
          <p:nvPr/>
        </p:nvSpPr>
        <p:spPr>
          <a:xfrm>
            <a:off x="2826328" y="2119745"/>
            <a:ext cx="6206836" cy="707886"/>
          </a:xfrm>
          <a:prstGeom prst="rect">
            <a:avLst/>
          </a:prstGeom>
          <a:noFill/>
        </p:spPr>
        <p:txBody>
          <a:bodyPr wrap="square" rtlCol="0">
            <a:spAutoFit/>
          </a:bodyPr>
          <a:lstStyle/>
          <a:p>
            <a:pPr algn="ctr"/>
            <a:r>
              <a:rPr lang="en-CN" sz="4000" dirty="0">
                <a:latin typeface="FangSong" panose="02010609060101010101" pitchFamily="49" charset="-122"/>
                <a:ea typeface="FangSong" panose="02010609060101010101" pitchFamily="49" charset="-122"/>
              </a:rPr>
              <a:t>总结</a:t>
            </a:r>
          </a:p>
        </p:txBody>
      </p:sp>
    </p:spTree>
    <p:extLst>
      <p:ext uri="{BB962C8B-B14F-4D97-AF65-F5344CB8AC3E}">
        <p14:creationId xmlns:p14="http://schemas.microsoft.com/office/powerpoint/2010/main" val="15000363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3C3FE1-129C-4D55-3A23-D5384969E717}"/>
              </a:ext>
            </a:extLst>
          </p:cNvPr>
          <p:cNvSpPr txBox="1"/>
          <p:nvPr/>
        </p:nvSpPr>
        <p:spPr>
          <a:xfrm>
            <a:off x="665018" y="429491"/>
            <a:ext cx="5832764" cy="369332"/>
          </a:xfrm>
          <a:prstGeom prst="rect">
            <a:avLst/>
          </a:prstGeom>
          <a:noFill/>
        </p:spPr>
        <p:txBody>
          <a:bodyPr wrap="square" rtlCol="0">
            <a:spAutoFit/>
          </a:bodyPr>
          <a:lstStyle/>
          <a:p>
            <a:r>
              <a:rPr lang="en-US" dirty="0" err="1">
                <a:latin typeface="FangSong" panose="02010609060101010101" pitchFamily="49" charset="-122"/>
                <a:ea typeface="FangSong" panose="02010609060101010101" pitchFamily="49" charset="-122"/>
              </a:rPr>
              <a:t>第一页补充</a:t>
            </a:r>
            <a:endParaRPr lang="en-CN" dirty="0">
              <a:latin typeface="FangSong" panose="02010609060101010101" pitchFamily="49" charset="-122"/>
              <a:ea typeface="FangSong" panose="02010609060101010101" pitchFamily="49" charset="-122"/>
            </a:endParaRPr>
          </a:p>
        </p:txBody>
      </p:sp>
      <p:sp>
        <p:nvSpPr>
          <p:cNvPr id="3" name="Cube 2">
            <a:extLst>
              <a:ext uri="{FF2B5EF4-FFF2-40B4-BE49-F238E27FC236}">
                <a16:creationId xmlns:a16="http://schemas.microsoft.com/office/drawing/2014/main" id="{0FDBE4EE-1A62-E7E4-F429-5C0A5A17F0F3}"/>
              </a:ext>
            </a:extLst>
          </p:cNvPr>
          <p:cNvSpPr/>
          <p:nvPr/>
        </p:nvSpPr>
        <p:spPr>
          <a:xfrm>
            <a:off x="1814945" y="1385455"/>
            <a:ext cx="3532909" cy="2964873"/>
          </a:xfrm>
          <a:prstGeom prst="cub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5" name="Straight Connector 4">
            <a:extLst>
              <a:ext uri="{FF2B5EF4-FFF2-40B4-BE49-F238E27FC236}">
                <a16:creationId xmlns:a16="http://schemas.microsoft.com/office/drawing/2014/main" id="{261FCB19-987F-8797-8B25-082A1393F570}"/>
              </a:ext>
            </a:extLst>
          </p:cNvPr>
          <p:cNvCxnSpPr/>
          <p:nvPr/>
        </p:nvCxnSpPr>
        <p:spPr>
          <a:xfrm>
            <a:off x="304800" y="4350328"/>
            <a:ext cx="6317673"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D507737-5A7F-C605-0825-918577DFACC5}"/>
                  </a:ext>
                </a:extLst>
              </p:cNvPr>
              <p:cNvSpPr txBox="1"/>
              <p:nvPr/>
            </p:nvSpPr>
            <p:spPr>
              <a:xfrm>
                <a:off x="304800" y="4516582"/>
                <a:ext cx="95596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𝑥</m:t>
                      </m:r>
                    </m:oMath>
                  </m:oMathPara>
                </a14:m>
                <a:endParaRPr lang="en-CN" dirty="0"/>
              </a:p>
            </p:txBody>
          </p:sp>
        </mc:Choice>
        <mc:Fallback xmlns="">
          <p:sp>
            <p:nvSpPr>
              <p:cNvPr id="6" name="TextBox 5">
                <a:extLst>
                  <a:ext uri="{FF2B5EF4-FFF2-40B4-BE49-F238E27FC236}">
                    <a16:creationId xmlns:a16="http://schemas.microsoft.com/office/drawing/2014/main" id="{ED507737-5A7F-C605-0825-918577DFACC5}"/>
                  </a:ext>
                </a:extLst>
              </p:cNvPr>
              <p:cNvSpPr txBox="1">
                <a:spLocks noRot="1" noChangeAspect="1" noMove="1" noResize="1" noEditPoints="1" noAdjustHandles="1" noChangeArrowheads="1" noChangeShapeType="1" noTextEdit="1"/>
              </p:cNvSpPr>
              <p:nvPr/>
            </p:nvSpPr>
            <p:spPr>
              <a:xfrm>
                <a:off x="304800" y="4516582"/>
                <a:ext cx="955964" cy="369332"/>
              </a:xfrm>
              <a:prstGeom prst="rect">
                <a:avLst/>
              </a:prstGeom>
              <a:blipFill>
                <a:blip r:embed="rId2"/>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4C01941-B036-FE3D-02BB-77745179B083}"/>
                  </a:ext>
                </a:extLst>
              </p:cNvPr>
              <p:cNvSpPr txBox="1"/>
              <p:nvPr/>
            </p:nvSpPr>
            <p:spPr>
              <a:xfrm>
                <a:off x="6234546" y="295502"/>
                <a:ext cx="5126182" cy="4791248"/>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sSup>
                      <m:sSupPr>
                        <m:ctrlPr>
                          <a:rPr lang="en-CN" i="1" smtClean="0">
                            <a:latin typeface="Cambria Math" panose="02040503050406030204" pitchFamily="18" charset="0"/>
                          </a:rPr>
                        </m:ctrlPr>
                      </m:sSupPr>
                      <m:e>
                        <m:r>
                          <m:rPr>
                            <m:sty m:val="p"/>
                          </m:rPr>
                          <a:rPr lang="en-CN"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𝐴</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𝐴</m:t>
                        </m:r>
                      </m:num>
                      <m:den>
                        <m: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𝑡</m:t>
                        </m:r>
                      </m:den>
                    </m:f>
                    <m:r>
                      <a:rPr lang="en-US" b="0" i="1" smtClean="0">
                        <a:latin typeface="Cambria Math" panose="02040503050406030204" pitchFamily="18" charset="0"/>
                      </a:rPr>
                      <m:t>=0</m:t>
                    </m:r>
                  </m:oMath>
                </a14:m>
                <a:endParaRPr lang="en-CN" dirty="0"/>
              </a:p>
              <a:p>
                <a:pPr marL="285750" indent="-285750">
                  <a:buFont typeface="Arial" panose="020B0604020202020204" pitchFamily="34" charset="0"/>
                  <a:buChar char="•"/>
                </a:pPr>
                <a:r>
                  <a:rPr lang="en-CN" dirty="0"/>
                  <a:t>考虑某个方向的A</a:t>
                </a:r>
                <a:r>
                  <a:rPr lang="zh-CN" altLang="en-US" dirty="0"/>
                  <a:t>，比如</a:t>
                </a:r>
                <a:r>
                  <a:rPr lang="en-US" altLang="zh-CN" dirty="0"/>
                  <a:t>Ax</a:t>
                </a:r>
                <a:r>
                  <a:rPr lang="zh-CN" altLang="en-US" dirty="0"/>
                  <a:t>，一般解可以写成</a:t>
                </a:r>
                <a:endParaRPr lang="en-CN" dirty="0"/>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𝜑</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𝑡</m:t>
                          </m:r>
                        </m:e>
                      </m:d>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oMath>
                  </m:oMathPara>
                </a14:m>
                <a:endParaRPr lang="en-CN" dirty="0"/>
              </a:p>
              <a:p>
                <a:pPr marL="285750" indent="-285750">
                  <a:buFont typeface="Arial" panose="020B0604020202020204" pitchFamily="34" charset="0"/>
                  <a:buChar char="•"/>
                </a:pPr>
                <a:r>
                  <a:rPr lang="en-CN" dirty="0"/>
                  <a:t>满足方程</a:t>
                </a:r>
              </a:p>
              <a:p>
                <a:pP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𝑋</m:t>
                          </m:r>
                        </m:den>
                      </m:f>
                      <m:f>
                        <m:fPr>
                          <m:ctrlPr>
                            <a:rPr lang="en-CN" i="1" smtClean="0">
                              <a:latin typeface="Cambria Math" panose="02040503050406030204" pitchFamily="18" charset="0"/>
                            </a:rPr>
                          </m:ctrlPr>
                        </m:fPr>
                        <m:num>
                          <m:sSup>
                            <m:sSupPr>
                              <m:ctrlPr>
                                <a:rPr lang="en-CN" i="1" smtClean="0">
                                  <a:latin typeface="Cambria Math" panose="02040503050406030204" pitchFamily="18" charset="0"/>
                                </a:rPr>
                              </m:ctrlPr>
                            </m:sSupPr>
                            <m:e>
                              <m:r>
                                <a:rPr lang="en-CN"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𝑋</m:t>
                          </m:r>
                        </m:num>
                        <m:den>
                          <m:r>
                            <a:rPr lang="en-CN" i="1" smtClean="0">
                              <a:latin typeface="Cambria Math" panose="02040503050406030204" pitchFamily="18" charset="0"/>
                              <a:ea typeface="Cambria Math" panose="02040503050406030204" pitchFamily="18" charset="0"/>
                            </a:rPr>
                            <m:t>𝜕</m:t>
                          </m:r>
                          <m:sSup>
                            <m:sSupPr>
                              <m:ctrlPr>
                                <a:rPr lang="en-CN"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rPr>
                        <m:t>+</m:t>
                      </m:r>
                      <m:f>
                        <m:fPr>
                          <m:ctrlPr>
                            <a:rPr lang="en-CN" i="1">
                              <a:latin typeface="Cambria Math" panose="02040503050406030204" pitchFamily="18" charset="0"/>
                            </a:rPr>
                          </m:ctrlPr>
                        </m:fPr>
                        <m:num>
                          <m:r>
                            <a:rPr lang="en-US" i="1">
                              <a:latin typeface="Cambria Math" panose="02040503050406030204" pitchFamily="18" charset="0"/>
                            </a:rPr>
                            <m:t>1</m:t>
                          </m:r>
                        </m:num>
                        <m:den>
                          <m:r>
                            <a:rPr lang="en-US" b="0" i="1" smtClean="0">
                              <a:latin typeface="Cambria Math" panose="02040503050406030204" pitchFamily="18" charset="0"/>
                            </a:rPr>
                            <m:t>𝑌</m:t>
                          </m:r>
                        </m:den>
                      </m:f>
                      <m:f>
                        <m:fPr>
                          <m:ctrlPr>
                            <a:rPr lang="en-CN" i="1">
                              <a:latin typeface="Cambria Math" panose="02040503050406030204" pitchFamily="18" charset="0"/>
                            </a:rPr>
                          </m:ctrlPr>
                        </m:fPr>
                        <m:num>
                          <m:sSup>
                            <m:sSupPr>
                              <m:ctrlPr>
                                <a:rPr lang="en-CN" i="1">
                                  <a:latin typeface="Cambria Math" panose="02040503050406030204" pitchFamily="18" charset="0"/>
                                </a:rPr>
                              </m:ctrlPr>
                            </m:sSupPr>
                            <m:e>
                              <m:r>
                                <a:rPr lang="en-CN" i="1">
                                  <a:latin typeface="Cambria Math" panose="02040503050406030204" pitchFamily="18" charset="0"/>
                                  <a:ea typeface="Cambria Math" panose="02040503050406030204" pitchFamily="18" charset="0"/>
                                </a:rPr>
                                <m:t>𝜕</m:t>
                              </m:r>
                            </m:e>
                            <m:sup>
                              <m:r>
                                <a:rPr lang="en-US" i="1">
                                  <a:latin typeface="Cambria Math" panose="02040503050406030204" pitchFamily="18" charset="0"/>
                                </a:rPr>
                                <m:t>2</m:t>
                              </m:r>
                            </m:sup>
                          </m:sSup>
                          <m:r>
                            <a:rPr lang="en-US" b="0" i="1" smtClean="0">
                              <a:latin typeface="Cambria Math" panose="02040503050406030204" pitchFamily="18" charset="0"/>
                            </a:rPr>
                            <m:t>𝑌</m:t>
                          </m:r>
                        </m:num>
                        <m:den>
                          <m:r>
                            <a:rPr lang="en-CN" i="1">
                              <a:latin typeface="Cambria Math" panose="02040503050406030204" pitchFamily="18" charset="0"/>
                              <a:ea typeface="Cambria Math" panose="02040503050406030204" pitchFamily="18" charset="0"/>
                            </a:rPr>
                            <m:t>𝜕</m:t>
                          </m:r>
                          <m:sSup>
                            <m:sSupPr>
                              <m:ctrlPr>
                                <a:rPr lang="en-CN" i="1">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𝑦</m:t>
                              </m:r>
                            </m:e>
                            <m:sup>
                              <m:r>
                                <a:rPr lang="en-US" i="1">
                                  <a:latin typeface="Cambria Math" panose="02040503050406030204" pitchFamily="18" charset="0"/>
                                  <a:ea typeface="Cambria Math" panose="02040503050406030204" pitchFamily="18" charset="0"/>
                                </a:rPr>
                                <m:t>2</m:t>
                              </m:r>
                            </m:sup>
                          </m:sSup>
                        </m:den>
                      </m:f>
                      <m:r>
                        <a:rPr lang="en-US" b="0" i="0" smtClean="0">
                          <a:latin typeface="Cambria Math" panose="02040503050406030204" pitchFamily="18" charset="0"/>
                          <a:ea typeface="Cambria Math" panose="02040503050406030204" pitchFamily="18" charset="0"/>
                        </a:rPr>
                        <m:t>+</m:t>
                      </m:r>
                      <m:f>
                        <m:fPr>
                          <m:ctrlPr>
                            <a:rPr lang="en-CN" i="1">
                              <a:latin typeface="Cambria Math" panose="02040503050406030204" pitchFamily="18" charset="0"/>
                            </a:rPr>
                          </m:ctrlPr>
                        </m:fPr>
                        <m:num>
                          <m:r>
                            <a:rPr lang="en-US" i="1">
                              <a:latin typeface="Cambria Math" panose="02040503050406030204" pitchFamily="18" charset="0"/>
                            </a:rPr>
                            <m:t>1</m:t>
                          </m:r>
                        </m:num>
                        <m:den>
                          <m:r>
                            <a:rPr lang="en-US" b="0" i="1" smtClean="0">
                              <a:latin typeface="Cambria Math" panose="02040503050406030204" pitchFamily="18" charset="0"/>
                            </a:rPr>
                            <m:t>𝑍</m:t>
                          </m:r>
                        </m:den>
                      </m:f>
                      <m:f>
                        <m:fPr>
                          <m:ctrlPr>
                            <a:rPr lang="en-CN" i="1">
                              <a:latin typeface="Cambria Math" panose="02040503050406030204" pitchFamily="18" charset="0"/>
                            </a:rPr>
                          </m:ctrlPr>
                        </m:fPr>
                        <m:num>
                          <m:sSup>
                            <m:sSupPr>
                              <m:ctrlPr>
                                <a:rPr lang="en-CN" i="1">
                                  <a:latin typeface="Cambria Math" panose="02040503050406030204" pitchFamily="18" charset="0"/>
                                </a:rPr>
                              </m:ctrlPr>
                            </m:sSupPr>
                            <m:e>
                              <m:r>
                                <a:rPr lang="en-CN" i="1">
                                  <a:latin typeface="Cambria Math" panose="02040503050406030204" pitchFamily="18" charset="0"/>
                                  <a:ea typeface="Cambria Math" panose="02040503050406030204" pitchFamily="18" charset="0"/>
                                </a:rPr>
                                <m:t>𝜕</m:t>
                              </m:r>
                            </m:e>
                            <m:sup>
                              <m:r>
                                <a:rPr lang="en-US" i="1">
                                  <a:latin typeface="Cambria Math" panose="02040503050406030204" pitchFamily="18" charset="0"/>
                                </a:rPr>
                                <m:t>2</m:t>
                              </m:r>
                            </m:sup>
                          </m:sSup>
                          <m:r>
                            <a:rPr lang="en-US" b="0" i="1" smtClean="0">
                              <a:latin typeface="Cambria Math" panose="02040503050406030204" pitchFamily="18" charset="0"/>
                            </a:rPr>
                            <m:t>𝑍</m:t>
                          </m:r>
                        </m:num>
                        <m:den>
                          <m:r>
                            <a:rPr lang="en-CN" i="1">
                              <a:latin typeface="Cambria Math" panose="02040503050406030204" pitchFamily="18" charset="0"/>
                              <a:ea typeface="Cambria Math" panose="02040503050406030204" pitchFamily="18" charset="0"/>
                            </a:rPr>
                            <m:t>𝜕</m:t>
                          </m:r>
                          <m:sSup>
                            <m:sSupPr>
                              <m:ctrlPr>
                                <a:rPr lang="en-CN" i="1">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𝑧</m:t>
                              </m:r>
                            </m:e>
                            <m:sup>
                              <m:r>
                                <a:rPr lang="en-US" i="1">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m:t>
                      </m:r>
                      <m:f>
                        <m:fPr>
                          <m:ctrlPr>
                            <a:rPr lang="en-CN" i="1">
                              <a:latin typeface="Cambria Math" panose="02040503050406030204" pitchFamily="18" charset="0"/>
                            </a:rPr>
                          </m:ctrlPr>
                        </m:fPr>
                        <m:num>
                          <m:r>
                            <a:rPr lang="en-US" i="1">
                              <a:latin typeface="Cambria Math" panose="02040503050406030204" pitchFamily="18" charset="0"/>
                            </a:rPr>
                            <m:t>1</m:t>
                          </m:r>
                        </m:num>
                        <m:den>
                          <m:sSup>
                            <m:sSupPr>
                              <m:ctrlPr>
                                <a:rPr lang="en-US"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r>
                            <a:rPr lang="en-US" b="0" i="1" smtClean="0">
                              <a:latin typeface="Cambria Math" panose="02040503050406030204" pitchFamily="18" charset="0"/>
                            </a:rPr>
                            <m:t>𝑓</m:t>
                          </m:r>
                        </m:den>
                      </m:f>
                      <m:f>
                        <m:fPr>
                          <m:ctrlPr>
                            <a:rPr lang="en-CN" i="1">
                              <a:latin typeface="Cambria Math" panose="02040503050406030204" pitchFamily="18" charset="0"/>
                            </a:rPr>
                          </m:ctrlPr>
                        </m:fPr>
                        <m:num>
                          <m:sSup>
                            <m:sSupPr>
                              <m:ctrlPr>
                                <a:rPr lang="en-CN" i="1">
                                  <a:latin typeface="Cambria Math" panose="02040503050406030204" pitchFamily="18" charset="0"/>
                                </a:rPr>
                              </m:ctrlPr>
                            </m:sSupPr>
                            <m:e>
                              <m:r>
                                <a:rPr lang="en-CN" i="1">
                                  <a:latin typeface="Cambria Math" panose="02040503050406030204" pitchFamily="18" charset="0"/>
                                  <a:ea typeface="Cambria Math" panose="02040503050406030204" pitchFamily="18" charset="0"/>
                                </a:rPr>
                                <m:t>𝜕</m:t>
                              </m:r>
                            </m:e>
                            <m:sup>
                              <m:r>
                                <a:rPr lang="en-US" i="1">
                                  <a:latin typeface="Cambria Math" panose="02040503050406030204" pitchFamily="18" charset="0"/>
                                </a:rPr>
                                <m:t>2</m:t>
                              </m:r>
                            </m:sup>
                          </m:sSup>
                          <m:r>
                            <a:rPr lang="en-US" b="0" i="1" smtClean="0">
                              <a:latin typeface="Cambria Math" panose="02040503050406030204" pitchFamily="18" charset="0"/>
                            </a:rPr>
                            <m:t>𝑓</m:t>
                          </m:r>
                        </m:num>
                        <m:den>
                          <m:r>
                            <a:rPr lang="en-CN" i="1">
                              <a:latin typeface="Cambria Math" panose="02040503050406030204" pitchFamily="18" charset="0"/>
                              <a:ea typeface="Cambria Math" panose="02040503050406030204" pitchFamily="18" charset="0"/>
                            </a:rPr>
                            <m:t>𝜕</m:t>
                          </m:r>
                          <m:sSup>
                            <m:sSupPr>
                              <m:ctrlPr>
                                <a:rPr lang="en-CN" i="1">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𝑡</m:t>
                              </m:r>
                            </m:e>
                            <m:sup>
                              <m:r>
                                <a:rPr lang="en-US" i="1">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=0</m:t>
                      </m:r>
                    </m:oMath>
                  </m:oMathPara>
                </a14:m>
                <a:endParaRPr lang="en-CN" dirty="0"/>
              </a:p>
              <a:p>
                <a:pPr marL="285750" indent="-28575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𝐴</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𝑝𝑥</m:t>
                            </m:r>
                          </m:e>
                        </m:d>
                      </m:e>
                    </m:func>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𝑝𝑥</m:t>
                            </m:r>
                          </m:e>
                        </m:d>
                      </m:e>
                    </m:func>
                  </m:oMath>
                </a14:m>
                <a:endParaRPr lang="en-US" b="0" dirty="0"/>
              </a:p>
              <a:p>
                <a:pPr marL="285750" indent="-285750">
                  <a:buFont typeface="Arial" panose="020B0604020202020204" pitchFamily="34" charset="0"/>
                  <a:buChar char="•"/>
                </a:pPr>
                <a14:m>
                  <m:oMath xmlns:m="http://schemas.openxmlformats.org/officeDocument/2006/math">
                    <m:r>
                      <m:rPr>
                        <m:sty m:val="p"/>
                      </m:rPr>
                      <a:rPr lang="en-US" b="0" i="0" smtClean="0">
                        <a:latin typeface="Cambria Math" panose="02040503050406030204" pitchFamily="18" charset="0"/>
                      </a:rPr>
                      <m:t>Y</m:t>
                    </m:r>
                    <m:r>
                      <a:rPr lang="en-US" i="1">
                        <a:latin typeface="Cambria Math" panose="02040503050406030204" pitchFamily="18" charset="0"/>
                      </a:rPr>
                      <m:t>=</m:t>
                    </m:r>
                    <m:r>
                      <a:rPr lang="en-US" b="0" i="1" smtClean="0">
                        <a:latin typeface="Cambria Math" panose="02040503050406030204" pitchFamily="18" charset="0"/>
                      </a:rPr>
                      <m:t>𝐵</m:t>
                    </m:r>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𝑞𝑦</m:t>
                            </m:r>
                          </m:e>
                        </m:d>
                      </m:e>
                    </m:func>
                    <m:r>
                      <a:rPr lang="en-US" i="1">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𝐵</m:t>
                        </m:r>
                      </m:e>
                      <m:sup>
                        <m:r>
                          <a:rPr lang="en-US" i="1">
                            <a:latin typeface="Cambria Math" panose="02040503050406030204" pitchFamily="18" charset="0"/>
                          </a:rPr>
                          <m:t>′</m:t>
                        </m:r>
                      </m:sup>
                    </m:sSup>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𝑞𝑦</m:t>
                            </m:r>
                          </m:e>
                        </m:d>
                      </m:e>
                    </m:func>
                  </m:oMath>
                </a14:m>
                <a:endParaRPr lang="en-CN" dirty="0"/>
              </a:p>
              <a:p>
                <a:pPr marL="285750" indent="-28575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𝑍</m:t>
                    </m:r>
                    <m:r>
                      <a:rPr lang="en-US" i="1">
                        <a:latin typeface="Cambria Math" panose="02040503050406030204" pitchFamily="18" charset="0"/>
                      </a:rPr>
                      <m:t>=</m:t>
                    </m:r>
                    <m:r>
                      <a:rPr lang="en-US" b="0" i="1" smtClean="0">
                        <a:latin typeface="Cambria Math" panose="02040503050406030204" pitchFamily="18" charset="0"/>
                      </a:rPr>
                      <m:t>𝐶</m:t>
                    </m:r>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𝑟𝑧</m:t>
                            </m:r>
                          </m:e>
                        </m:d>
                      </m:e>
                    </m:func>
                    <m:r>
                      <a:rPr lang="en-US" i="1">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𝐶</m:t>
                        </m:r>
                      </m:e>
                      <m:sup>
                        <m:r>
                          <a:rPr lang="en-US" i="1">
                            <a:latin typeface="Cambria Math" panose="02040503050406030204" pitchFamily="18" charset="0"/>
                          </a:rPr>
                          <m:t>′</m:t>
                        </m:r>
                      </m:sup>
                    </m:sSup>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𝑟𝑧</m:t>
                            </m:r>
                          </m:e>
                        </m:d>
                      </m:e>
                    </m:func>
                  </m:oMath>
                </a14:m>
                <a:endParaRPr lang="en-CN" dirty="0"/>
              </a:p>
              <a:p>
                <a:pPr algn="ctr"/>
                <a14:m>
                  <m:oMathPara xmlns:m="http://schemas.openxmlformats.org/officeDocument/2006/math">
                    <m:oMathParaPr>
                      <m:jc m:val="centerGroup"/>
                    </m:oMathParaPr>
                    <m:oMath xmlns:m="http://schemas.openxmlformats.org/officeDocument/2006/math">
                      <m:sSup>
                        <m:sSupPr>
                          <m:ctrlPr>
                            <a:rPr lang="en-CN"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𝑞</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𝑟</m:t>
                          </m:r>
                        </m:e>
                        <m:sup>
                          <m:r>
                            <a:rPr lang="en-US" b="0" i="1" smtClean="0">
                              <a:latin typeface="Cambria Math" panose="02040503050406030204" pitchFamily="18" charset="0"/>
                            </a:rPr>
                            <m:t>2</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𝜔</m:t>
                              </m:r>
                            </m:e>
                            <m:sup>
                              <m:r>
                                <a:rPr lang="en-US" b="0" i="1" smtClean="0">
                                  <a:latin typeface="Cambria Math" panose="02040503050406030204" pitchFamily="18" charset="0"/>
                                </a:rPr>
                                <m:t>2</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oMath>
                  </m:oMathPara>
                </a14:m>
                <a:endParaRPr lang="en-CN" dirty="0"/>
              </a:p>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边界条件</a:t>
                </a:r>
                <a:r>
                  <a:rPr lang="zh-CN" altLang="en-US" dirty="0">
                    <a:latin typeface="FangSong" panose="02010609060101010101" pitchFamily="49" charset="-122"/>
                    <a:ea typeface="FangSong" panose="02010609060101010101" pitchFamily="49" charset="-122"/>
                  </a:rPr>
                  <a:t>、规范</a:t>
                </a:r>
                <a:endParaRPr lang="en-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14:m>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𝑥</m:t>
                        </m:r>
                      </m:sub>
                    </m:sSub>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𝑙</m:t>
                        </m:r>
                        <m:r>
                          <a:rPr lang="en-US" b="0" i="1" smtClean="0">
                            <a:latin typeface="Cambria Math" panose="02040503050406030204" pitchFamily="18" charset="0"/>
                          </a:rPr>
                          <m:t>𝑚𝑛</m:t>
                        </m:r>
                      </m:sub>
                      <m:sup/>
                      <m:e>
                        <m:r>
                          <a:rPr lang="en-US" b="0" i="1" smtClean="0">
                            <a:latin typeface="Cambria Math" panose="02040503050406030204" pitchFamily="18" charset="0"/>
                          </a:rPr>
                          <m:t>𝐴𝑓</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𝑐𝑜𝑠</m:t>
                        </m:r>
                        <m:f>
                          <m:fPr>
                            <m:ctrlPr>
                              <a:rPr lang="en-US" b="0" i="1" smtClean="0">
                                <a:latin typeface="Cambria Math" panose="02040503050406030204" pitchFamily="18" charset="0"/>
                              </a:rPr>
                            </m:ctrlPr>
                          </m:fPr>
                          <m:num>
                            <m:r>
                              <a:rPr lang="en-US" b="0" i="1" smtClean="0">
                                <a:latin typeface="Cambria Math" panose="02040503050406030204" pitchFamily="18" charset="0"/>
                              </a:rPr>
                              <m:t>𝑙</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𝑥</m:t>
                            </m:r>
                          </m:num>
                          <m:den>
                            <m:r>
                              <a:rPr lang="en-US" b="0" i="1" smtClean="0">
                                <a:latin typeface="Cambria Math" panose="02040503050406030204" pitchFamily="18" charset="0"/>
                              </a:rPr>
                              <m:t>𝐿</m:t>
                            </m:r>
                          </m:den>
                        </m:f>
                        <m:r>
                          <a:rPr lang="en-US" b="0" i="1" smtClean="0">
                            <a:latin typeface="Cambria Math" panose="02040503050406030204" pitchFamily="18" charset="0"/>
                          </a:rPr>
                          <m:t>𝑠𝑖𝑛</m:t>
                        </m:r>
                        <m:f>
                          <m:fPr>
                            <m:ctrlPr>
                              <a:rPr lang="en-US" b="0" i="1" smtClean="0">
                                <a:latin typeface="Cambria Math" panose="02040503050406030204" pitchFamily="18" charset="0"/>
                              </a:rPr>
                            </m:ctrlPr>
                          </m:fPr>
                          <m:num>
                            <m:r>
                              <a:rPr lang="en-US" b="0" i="1" smtClean="0">
                                <a:latin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𝑦</m:t>
                            </m:r>
                          </m:num>
                          <m:den>
                            <m:r>
                              <a:rPr lang="en-US" b="0" i="1" smtClean="0">
                                <a:latin typeface="Cambria Math" panose="02040503050406030204" pitchFamily="18" charset="0"/>
                              </a:rPr>
                              <m:t>𝐿</m:t>
                            </m:r>
                          </m:den>
                        </m:f>
                        <m:r>
                          <a:rPr lang="en-US" b="0" i="1" smtClean="0">
                            <a:latin typeface="Cambria Math" panose="02040503050406030204" pitchFamily="18" charset="0"/>
                          </a:rPr>
                          <m:t>𝑠𝑖𝑛</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𝑧</m:t>
                            </m:r>
                          </m:num>
                          <m:den>
                            <m:r>
                              <a:rPr lang="en-US" b="0" i="1" smtClean="0">
                                <a:latin typeface="Cambria Math" panose="02040503050406030204" pitchFamily="18" charset="0"/>
                              </a:rPr>
                              <m:t>𝐿</m:t>
                            </m:r>
                          </m:den>
                        </m:f>
                      </m:e>
                    </m:nary>
                  </m:oMath>
                </a14:m>
                <a:endParaRPr lang="en-CN" dirty="0"/>
              </a:p>
              <a:p>
                <a:pPr marL="285750" indent="-285750">
                  <a:buFont typeface="Arial" panose="020B0604020202020204" pitchFamily="34" charset="0"/>
                  <a:buChar char="•"/>
                </a:pPr>
                <a14:m>
                  <m:oMath xmlns:m="http://schemas.openxmlformats.org/officeDocument/2006/math">
                    <m:sSub>
                      <m:sSubPr>
                        <m:ctrlPr>
                          <a:rPr lang="en-CN" i="1">
                            <a:latin typeface="Cambria Math" panose="02040503050406030204" pitchFamily="18" charset="0"/>
                          </a:rPr>
                        </m:ctrlPr>
                      </m:sSubPr>
                      <m:e>
                        <m:r>
                          <a:rPr lang="en-US" i="1">
                            <a:latin typeface="Cambria Math" panose="02040503050406030204" pitchFamily="18" charset="0"/>
                          </a:rPr>
                          <m:t>𝐴</m:t>
                        </m:r>
                      </m:e>
                      <m:sub>
                        <m:r>
                          <a:rPr lang="en-US" b="0" i="1" smtClean="0">
                            <a:latin typeface="Cambria Math" panose="02040503050406030204" pitchFamily="18" charset="0"/>
                          </a:rPr>
                          <m:t>𝑦</m:t>
                        </m:r>
                      </m:sub>
                    </m:sSub>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𝑙</m:t>
                        </m:r>
                        <m:r>
                          <a:rPr lang="en-US" i="1">
                            <a:latin typeface="Cambria Math" panose="02040503050406030204" pitchFamily="18" charset="0"/>
                          </a:rPr>
                          <m:t>𝑚𝑛</m:t>
                        </m:r>
                      </m:sub>
                      <m:sup/>
                      <m:e>
                        <m:r>
                          <a:rPr lang="en-US" b="0" i="1" smtClean="0">
                            <a:latin typeface="Cambria Math" panose="02040503050406030204" pitchFamily="18" charset="0"/>
                          </a:rPr>
                          <m:t>𝐵</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𝑡</m:t>
                            </m:r>
                          </m:e>
                        </m:d>
                        <m:r>
                          <a:rPr lang="en-US" b="0" i="1" smtClean="0">
                            <a:latin typeface="Cambria Math" panose="02040503050406030204" pitchFamily="18" charset="0"/>
                          </a:rPr>
                          <m:t>𝑠𝑖𝑛</m:t>
                        </m:r>
                        <m:f>
                          <m:fPr>
                            <m:ctrlPr>
                              <a:rPr lang="en-US" i="1">
                                <a:latin typeface="Cambria Math" panose="02040503050406030204" pitchFamily="18" charset="0"/>
                              </a:rPr>
                            </m:ctrlPr>
                          </m:fPr>
                          <m:num>
                            <m:r>
                              <a:rPr lang="en-US" i="1">
                                <a:latin typeface="Cambria Math" panose="02040503050406030204" pitchFamily="18" charset="0"/>
                              </a:rPr>
                              <m:t>𝑙</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𝑥</m:t>
                            </m:r>
                          </m:num>
                          <m:den>
                            <m:r>
                              <a:rPr lang="en-US" i="1">
                                <a:latin typeface="Cambria Math" panose="02040503050406030204" pitchFamily="18" charset="0"/>
                              </a:rPr>
                              <m:t>𝐿</m:t>
                            </m:r>
                          </m:den>
                        </m:f>
                        <m:r>
                          <a:rPr lang="en-US" b="0" i="1" smtClean="0">
                            <a:latin typeface="Cambria Math" panose="02040503050406030204" pitchFamily="18" charset="0"/>
                          </a:rPr>
                          <m:t>𝑐𝑜𝑠</m:t>
                        </m:r>
                        <m:f>
                          <m:fPr>
                            <m:ctrlPr>
                              <a:rPr lang="en-US" i="1">
                                <a:latin typeface="Cambria Math" panose="02040503050406030204" pitchFamily="18" charset="0"/>
                              </a:rPr>
                            </m:ctrlPr>
                          </m:fPr>
                          <m:num>
                            <m:r>
                              <a:rPr lang="en-US" i="1">
                                <a:latin typeface="Cambria Math" panose="02040503050406030204" pitchFamily="18" charset="0"/>
                              </a:rPr>
                              <m:t>𝑚</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𝑦</m:t>
                            </m:r>
                          </m:num>
                          <m:den>
                            <m:r>
                              <a:rPr lang="en-US" i="1">
                                <a:latin typeface="Cambria Math" panose="02040503050406030204" pitchFamily="18" charset="0"/>
                              </a:rPr>
                              <m:t>𝐿</m:t>
                            </m:r>
                          </m:den>
                        </m:f>
                        <m:r>
                          <a:rPr lang="en-US" b="0" i="1" smtClean="0">
                            <a:latin typeface="Cambria Math" panose="02040503050406030204" pitchFamily="18" charset="0"/>
                          </a:rPr>
                          <m:t>𝑠𝑖𝑛</m:t>
                        </m:r>
                        <m:f>
                          <m:fPr>
                            <m:ctrlPr>
                              <a:rPr lang="en-US" i="1">
                                <a:latin typeface="Cambria Math" panose="02040503050406030204" pitchFamily="18" charset="0"/>
                              </a:rPr>
                            </m:ctrlPr>
                          </m:fPr>
                          <m:num>
                            <m:r>
                              <a:rPr lang="en-US" i="1">
                                <a:latin typeface="Cambria Math" panose="02040503050406030204" pitchFamily="18" charset="0"/>
                              </a:rPr>
                              <m:t>𝑛</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𝑧</m:t>
                            </m:r>
                          </m:num>
                          <m:den>
                            <m:r>
                              <a:rPr lang="en-US" i="1">
                                <a:latin typeface="Cambria Math" panose="02040503050406030204" pitchFamily="18" charset="0"/>
                              </a:rPr>
                              <m:t>𝐿</m:t>
                            </m:r>
                          </m:den>
                        </m:f>
                      </m:e>
                    </m:nary>
                  </m:oMath>
                </a14:m>
                <a:endParaRPr lang="en-CN" dirty="0"/>
              </a:p>
              <a:p>
                <a:pPr marL="285750" indent="-285750">
                  <a:buFont typeface="Arial" panose="020B0604020202020204" pitchFamily="34" charset="0"/>
                  <a:buChar char="•"/>
                </a:pPr>
                <a14:m>
                  <m:oMath xmlns:m="http://schemas.openxmlformats.org/officeDocument/2006/math">
                    <m:sSub>
                      <m:sSubPr>
                        <m:ctrlPr>
                          <a:rPr lang="en-CN" i="1">
                            <a:latin typeface="Cambria Math" panose="02040503050406030204" pitchFamily="18" charset="0"/>
                          </a:rPr>
                        </m:ctrlPr>
                      </m:sSubPr>
                      <m:e>
                        <m:r>
                          <a:rPr lang="en-US" i="1">
                            <a:latin typeface="Cambria Math" panose="02040503050406030204" pitchFamily="18" charset="0"/>
                          </a:rPr>
                          <m:t>𝐴</m:t>
                        </m:r>
                      </m:e>
                      <m:sub>
                        <m:r>
                          <a:rPr lang="en-US" b="0" i="1" smtClean="0">
                            <a:latin typeface="Cambria Math" panose="02040503050406030204" pitchFamily="18" charset="0"/>
                          </a:rPr>
                          <m:t>𝑧</m:t>
                        </m:r>
                      </m:sub>
                    </m:sSub>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𝑙</m:t>
                        </m:r>
                        <m:r>
                          <a:rPr lang="en-US" i="1">
                            <a:latin typeface="Cambria Math" panose="02040503050406030204" pitchFamily="18" charset="0"/>
                          </a:rPr>
                          <m:t>𝑚𝑛</m:t>
                        </m:r>
                      </m:sub>
                      <m:sup/>
                      <m:e>
                        <m:r>
                          <a:rPr lang="en-US" b="0" i="1" smtClean="0">
                            <a:latin typeface="Cambria Math" panose="02040503050406030204" pitchFamily="18" charset="0"/>
                          </a:rPr>
                          <m:t>𝐶</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𝑡</m:t>
                            </m:r>
                          </m:e>
                        </m:d>
                        <m:r>
                          <a:rPr lang="en-US" b="0" i="1" smtClean="0">
                            <a:latin typeface="Cambria Math" panose="02040503050406030204" pitchFamily="18" charset="0"/>
                          </a:rPr>
                          <m:t>𝑠𝑖𝑛</m:t>
                        </m:r>
                        <m:f>
                          <m:fPr>
                            <m:ctrlPr>
                              <a:rPr lang="en-US" i="1">
                                <a:latin typeface="Cambria Math" panose="02040503050406030204" pitchFamily="18" charset="0"/>
                              </a:rPr>
                            </m:ctrlPr>
                          </m:fPr>
                          <m:num>
                            <m:r>
                              <a:rPr lang="en-US" i="1">
                                <a:latin typeface="Cambria Math" panose="02040503050406030204" pitchFamily="18" charset="0"/>
                              </a:rPr>
                              <m:t>𝑙</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𝑥</m:t>
                            </m:r>
                          </m:num>
                          <m:den>
                            <m:r>
                              <a:rPr lang="en-US" i="1">
                                <a:latin typeface="Cambria Math" panose="02040503050406030204" pitchFamily="18" charset="0"/>
                              </a:rPr>
                              <m:t>𝐿</m:t>
                            </m:r>
                          </m:den>
                        </m:f>
                        <m:r>
                          <a:rPr lang="en-US" b="0" i="1" smtClean="0">
                            <a:latin typeface="Cambria Math" panose="02040503050406030204" pitchFamily="18" charset="0"/>
                          </a:rPr>
                          <m:t>𝑐𝑜𝑠</m:t>
                        </m:r>
                        <m:f>
                          <m:fPr>
                            <m:ctrlPr>
                              <a:rPr lang="en-US" i="1">
                                <a:latin typeface="Cambria Math" panose="02040503050406030204" pitchFamily="18" charset="0"/>
                              </a:rPr>
                            </m:ctrlPr>
                          </m:fPr>
                          <m:num>
                            <m:r>
                              <a:rPr lang="en-US" i="1">
                                <a:latin typeface="Cambria Math" panose="02040503050406030204" pitchFamily="18" charset="0"/>
                              </a:rPr>
                              <m:t>𝑚</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𝑦</m:t>
                            </m:r>
                          </m:num>
                          <m:den>
                            <m:r>
                              <a:rPr lang="en-US" i="1">
                                <a:latin typeface="Cambria Math" panose="02040503050406030204" pitchFamily="18" charset="0"/>
                              </a:rPr>
                              <m:t>𝐿</m:t>
                            </m:r>
                          </m:den>
                        </m:f>
                        <m:r>
                          <a:rPr lang="en-US" b="0" i="1" smtClean="0">
                            <a:latin typeface="Cambria Math" panose="02040503050406030204" pitchFamily="18" charset="0"/>
                          </a:rPr>
                          <m:t>𝑐𝑜𝑠</m:t>
                        </m:r>
                        <m:f>
                          <m:fPr>
                            <m:ctrlPr>
                              <a:rPr lang="en-US" i="1">
                                <a:latin typeface="Cambria Math" panose="02040503050406030204" pitchFamily="18" charset="0"/>
                              </a:rPr>
                            </m:ctrlPr>
                          </m:fPr>
                          <m:num>
                            <m:r>
                              <a:rPr lang="en-US" i="1">
                                <a:latin typeface="Cambria Math" panose="02040503050406030204" pitchFamily="18" charset="0"/>
                              </a:rPr>
                              <m:t>𝑛</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𝑧</m:t>
                            </m:r>
                          </m:num>
                          <m:den>
                            <m:r>
                              <a:rPr lang="en-US" i="1">
                                <a:latin typeface="Cambria Math" panose="02040503050406030204" pitchFamily="18" charset="0"/>
                              </a:rPr>
                              <m:t>𝐿</m:t>
                            </m:r>
                          </m:den>
                        </m:f>
                      </m:e>
                    </m:nary>
                  </m:oMath>
                </a14:m>
                <a:endParaRPr lang="en-CN" dirty="0"/>
              </a:p>
            </p:txBody>
          </p:sp>
        </mc:Choice>
        <mc:Fallback xmlns="">
          <p:sp>
            <p:nvSpPr>
              <p:cNvPr id="7" name="TextBox 6">
                <a:extLst>
                  <a:ext uri="{FF2B5EF4-FFF2-40B4-BE49-F238E27FC236}">
                    <a16:creationId xmlns:a16="http://schemas.microsoft.com/office/drawing/2014/main" id="{94C01941-B036-FE3D-02BB-77745179B083}"/>
                  </a:ext>
                </a:extLst>
              </p:cNvPr>
              <p:cNvSpPr txBox="1">
                <a:spLocks noRot="1" noChangeAspect="1" noMove="1" noResize="1" noEditPoints="1" noAdjustHandles="1" noChangeArrowheads="1" noChangeShapeType="1" noTextEdit="1"/>
              </p:cNvSpPr>
              <p:nvPr/>
            </p:nvSpPr>
            <p:spPr>
              <a:xfrm>
                <a:off x="6234546" y="295502"/>
                <a:ext cx="5126182" cy="4791248"/>
              </a:xfrm>
              <a:prstGeom prst="rect">
                <a:avLst/>
              </a:prstGeom>
              <a:blipFill>
                <a:blip r:embed="rId3"/>
                <a:stretch>
                  <a:fillRect l="-990" b="-11111"/>
                </a:stretch>
              </a:blipFill>
            </p:spPr>
            <p:txBody>
              <a:bodyPr/>
              <a:lstStyle/>
              <a:p>
                <a:r>
                  <a:rPr lang="en-CN">
                    <a:noFill/>
                  </a:rPr>
                  <a:t> </a:t>
                </a:r>
              </a:p>
            </p:txBody>
          </p:sp>
        </mc:Fallback>
      </mc:AlternateContent>
      <p:sp>
        <p:nvSpPr>
          <p:cNvPr id="4" name="Up Arrow 3">
            <a:extLst>
              <a:ext uri="{FF2B5EF4-FFF2-40B4-BE49-F238E27FC236}">
                <a16:creationId xmlns:a16="http://schemas.microsoft.com/office/drawing/2014/main" id="{16A515A9-22E9-132E-CF01-912C65AADAC4}"/>
              </a:ext>
            </a:extLst>
          </p:cNvPr>
          <p:cNvSpPr/>
          <p:nvPr/>
        </p:nvSpPr>
        <p:spPr>
          <a:xfrm>
            <a:off x="3616036" y="798823"/>
            <a:ext cx="96982" cy="822159"/>
          </a:xfrm>
          <a:prstGeom prst="up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0" name="Straight Arrow Connector 9">
            <a:extLst>
              <a:ext uri="{FF2B5EF4-FFF2-40B4-BE49-F238E27FC236}">
                <a16:creationId xmlns:a16="http://schemas.microsoft.com/office/drawing/2014/main" id="{44A0AAA2-1BF0-E82E-A9A5-C60809DE34CC}"/>
              </a:ext>
            </a:extLst>
          </p:cNvPr>
          <p:cNvCxnSpPr>
            <a:cxnSpLocks/>
          </p:cNvCxnSpPr>
          <p:nvPr/>
        </p:nvCxnSpPr>
        <p:spPr>
          <a:xfrm flipV="1">
            <a:off x="2576946" y="1025237"/>
            <a:ext cx="0" cy="25907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C2D0413-8338-A6C4-FEEC-AD6D3D2FCB1C}"/>
              </a:ext>
            </a:extLst>
          </p:cNvPr>
          <p:cNvCxnSpPr>
            <a:cxnSpLocks/>
          </p:cNvCxnSpPr>
          <p:nvPr/>
        </p:nvCxnSpPr>
        <p:spPr>
          <a:xfrm>
            <a:off x="2576946" y="3616036"/>
            <a:ext cx="32419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FA5E342-5D70-593C-09B1-212CC7D84FB3}"/>
              </a:ext>
            </a:extLst>
          </p:cNvPr>
          <p:cNvCxnSpPr>
            <a:cxnSpLocks/>
          </p:cNvCxnSpPr>
          <p:nvPr/>
        </p:nvCxnSpPr>
        <p:spPr>
          <a:xfrm flipH="1">
            <a:off x="817417" y="3616036"/>
            <a:ext cx="1801093" cy="15101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70D7FD9-67EC-13B9-C2F0-6A7E91FF1185}"/>
                  </a:ext>
                </a:extLst>
              </p:cNvPr>
              <p:cNvSpPr txBox="1"/>
              <p:nvPr/>
            </p:nvSpPr>
            <p:spPr>
              <a:xfrm>
                <a:off x="5209309" y="3772994"/>
                <a:ext cx="95596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𝑦</m:t>
                      </m:r>
                    </m:oMath>
                  </m:oMathPara>
                </a14:m>
                <a:endParaRPr lang="en-CN" dirty="0"/>
              </a:p>
            </p:txBody>
          </p:sp>
        </mc:Choice>
        <mc:Fallback xmlns="">
          <p:sp>
            <p:nvSpPr>
              <p:cNvPr id="16" name="TextBox 15">
                <a:extLst>
                  <a:ext uri="{FF2B5EF4-FFF2-40B4-BE49-F238E27FC236}">
                    <a16:creationId xmlns:a16="http://schemas.microsoft.com/office/drawing/2014/main" id="{970D7FD9-67EC-13B9-C2F0-6A7E91FF1185}"/>
                  </a:ext>
                </a:extLst>
              </p:cNvPr>
              <p:cNvSpPr txBox="1">
                <a:spLocks noRot="1" noChangeAspect="1" noMove="1" noResize="1" noEditPoints="1" noAdjustHandles="1" noChangeArrowheads="1" noChangeShapeType="1" noTextEdit="1"/>
              </p:cNvSpPr>
              <p:nvPr/>
            </p:nvSpPr>
            <p:spPr>
              <a:xfrm>
                <a:off x="5209309" y="3772994"/>
                <a:ext cx="955964" cy="369332"/>
              </a:xfrm>
              <a:prstGeom prst="rect">
                <a:avLst/>
              </a:prstGeom>
              <a:blipFill>
                <a:blip r:embed="rId4"/>
                <a:stretch>
                  <a:fillRect b="-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5B378BC-957B-21A3-8822-9557DF6E03EF}"/>
                  </a:ext>
                </a:extLst>
              </p:cNvPr>
              <p:cNvSpPr txBox="1"/>
              <p:nvPr/>
            </p:nvSpPr>
            <p:spPr>
              <a:xfrm>
                <a:off x="1399308" y="965078"/>
                <a:ext cx="95596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𝑧</m:t>
                      </m:r>
                    </m:oMath>
                  </m:oMathPara>
                </a14:m>
                <a:endParaRPr lang="en-CN" dirty="0"/>
              </a:p>
            </p:txBody>
          </p:sp>
        </mc:Choice>
        <mc:Fallback xmlns="">
          <p:sp>
            <p:nvSpPr>
              <p:cNvPr id="17" name="TextBox 16">
                <a:extLst>
                  <a:ext uri="{FF2B5EF4-FFF2-40B4-BE49-F238E27FC236}">
                    <a16:creationId xmlns:a16="http://schemas.microsoft.com/office/drawing/2014/main" id="{D5B378BC-957B-21A3-8822-9557DF6E03EF}"/>
                  </a:ext>
                </a:extLst>
              </p:cNvPr>
              <p:cNvSpPr txBox="1">
                <a:spLocks noRot="1" noChangeAspect="1" noMove="1" noResize="1" noEditPoints="1" noAdjustHandles="1" noChangeArrowheads="1" noChangeShapeType="1" noTextEdit="1"/>
              </p:cNvSpPr>
              <p:nvPr/>
            </p:nvSpPr>
            <p:spPr>
              <a:xfrm>
                <a:off x="1399308" y="965078"/>
                <a:ext cx="955964" cy="369332"/>
              </a:xfrm>
              <a:prstGeom prst="rect">
                <a:avLst/>
              </a:prstGeom>
              <a:blipFill>
                <a:blip r:embed="rId5"/>
                <a:stretch>
                  <a:fillRect/>
                </a:stretch>
              </a:blipFill>
            </p:spPr>
            <p:txBody>
              <a:bodyPr/>
              <a:lstStyle/>
              <a:p>
                <a:r>
                  <a:rPr lang="en-CN">
                    <a:noFill/>
                  </a:rPr>
                  <a:t> </a:t>
                </a:r>
              </a:p>
            </p:txBody>
          </p:sp>
        </mc:Fallback>
      </mc:AlternateContent>
    </p:spTree>
    <p:extLst>
      <p:ext uri="{BB962C8B-B14F-4D97-AF65-F5344CB8AC3E}">
        <p14:creationId xmlns:p14="http://schemas.microsoft.com/office/powerpoint/2010/main" val="22254952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58DEAF-6034-6A48-9868-0AAFCB33042E}"/>
              </a:ext>
            </a:extLst>
          </p:cNvPr>
          <p:cNvSpPr txBox="1"/>
          <p:nvPr/>
        </p:nvSpPr>
        <p:spPr>
          <a:xfrm>
            <a:off x="415636" y="401782"/>
            <a:ext cx="10487891" cy="36933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计算一下能量</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6C54922-13EE-62DB-1F6A-CBED45FCFAE7}"/>
                  </a:ext>
                </a:extLst>
              </p:cNvPr>
              <p:cNvSpPr txBox="1"/>
              <p:nvPr/>
            </p:nvSpPr>
            <p:spPr>
              <a:xfrm>
                <a:off x="2390740" y="69274"/>
                <a:ext cx="8257309" cy="10122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𝑥</m:t>
                              </m:r>
                            </m:sub>
                          </m:sSub>
                        </m:sub>
                        <m:sup>
                          <m:rad>
                            <m:radPr>
                              <m:ctrlPr>
                                <a:rPr lang="en-US" b="0" i="1" smtClean="0">
                                  <a:latin typeface="Cambria Math" panose="02040503050406030204" pitchFamily="18" charset="0"/>
                                </a:rPr>
                              </m:ctrlPr>
                            </m:radPr>
                            <m:deg>
                              <m:r>
                                <a:rPr lang="en-US" b="0" i="1" smtClean="0">
                                  <a:latin typeface="Cambria Math" panose="02040503050406030204" pitchFamily="18" charset="0"/>
                                </a:rPr>
                                <m:t>3</m:t>
                              </m:r>
                            </m:deg>
                            <m:e>
                              <m:r>
                                <a:rPr lang="en-US" b="0" i="1" smtClean="0">
                                  <a:latin typeface="Cambria Math" panose="02040503050406030204" pitchFamily="18" charset="0"/>
                                </a:rPr>
                                <m:t>𝑁</m:t>
                              </m:r>
                            </m:e>
                          </m:rad>
                        </m:sup>
                        <m:e>
                          <m:nary>
                            <m:naryPr>
                              <m:chr m:val="∑"/>
                              <m:ctrlPr>
                                <a:rPr lang="en-US" b="0" i="1" smtClean="0">
                                  <a:latin typeface="Cambria Math" panose="02040503050406030204" pitchFamily="18" charset="0"/>
                                </a:rPr>
                              </m:ctrlPr>
                            </m:naryPr>
                            <m:sub>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𝑦</m:t>
                                  </m:r>
                                </m:sub>
                              </m:sSub>
                            </m:sub>
                            <m:sup>
                              <m:rad>
                                <m:radPr>
                                  <m:ctrlPr>
                                    <a:rPr lang="en-US" i="1">
                                      <a:latin typeface="Cambria Math" panose="02040503050406030204" pitchFamily="18" charset="0"/>
                                    </a:rPr>
                                  </m:ctrlPr>
                                </m:radPr>
                                <m:deg>
                                  <m:r>
                                    <a:rPr lang="en-US" i="1">
                                      <a:latin typeface="Cambria Math" panose="02040503050406030204" pitchFamily="18" charset="0"/>
                                    </a:rPr>
                                    <m:t>3</m:t>
                                  </m:r>
                                </m:deg>
                                <m:e>
                                  <m:r>
                                    <a:rPr lang="en-US" i="1">
                                      <a:latin typeface="Cambria Math" panose="02040503050406030204" pitchFamily="18" charset="0"/>
                                    </a:rPr>
                                    <m:t>𝑁</m:t>
                                  </m:r>
                                </m:e>
                              </m:rad>
                            </m:sup>
                            <m:e>
                              <m:nary>
                                <m:naryPr>
                                  <m:chr m:val="∑"/>
                                  <m:ctrlPr>
                                    <a:rPr lang="en-US" b="0" i="1" smtClean="0">
                                      <a:latin typeface="Cambria Math" panose="02040503050406030204" pitchFamily="18" charset="0"/>
                                    </a:rPr>
                                  </m:ctrlPr>
                                </m:naryPr>
                                <m:sub>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𝑧</m:t>
                                      </m:r>
                                    </m:sub>
                                  </m:sSub>
                                </m:sub>
                                <m:sup>
                                  <m:rad>
                                    <m:radPr>
                                      <m:ctrlPr>
                                        <a:rPr lang="en-US" i="1">
                                          <a:latin typeface="Cambria Math" panose="02040503050406030204" pitchFamily="18" charset="0"/>
                                        </a:rPr>
                                      </m:ctrlPr>
                                    </m:radPr>
                                    <m:deg>
                                      <m:r>
                                        <a:rPr lang="en-US" i="1">
                                          <a:latin typeface="Cambria Math" panose="02040503050406030204" pitchFamily="18" charset="0"/>
                                        </a:rPr>
                                        <m:t>3</m:t>
                                      </m:r>
                                    </m:deg>
                                    <m:e>
                                      <m:r>
                                        <a:rPr lang="en-US" i="1">
                                          <a:latin typeface="Cambria Math" panose="02040503050406030204" pitchFamily="18" charset="0"/>
                                        </a:rPr>
                                        <m:t>𝑁</m:t>
                                      </m:r>
                                    </m:e>
                                  </m:rad>
                                </m:sup>
                                <m:e>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 </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𝑁</m:t>
                                      </m:r>
                                    </m:e>
                                  </m:acc>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rPr>
                                    <m:t>)</m:t>
                                  </m:r>
                                </m:e>
                              </m:nary>
                            </m:e>
                          </m:nary>
                        </m:e>
                      </m:nary>
                    </m:oMath>
                  </m:oMathPara>
                </a14:m>
                <a:endParaRPr lang="en-CN" dirty="0"/>
              </a:p>
            </p:txBody>
          </p:sp>
        </mc:Choice>
        <mc:Fallback xmlns="">
          <p:sp>
            <p:nvSpPr>
              <p:cNvPr id="3" name="TextBox 2">
                <a:extLst>
                  <a:ext uri="{FF2B5EF4-FFF2-40B4-BE49-F238E27FC236}">
                    <a16:creationId xmlns:a16="http://schemas.microsoft.com/office/drawing/2014/main" id="{46C54922-13EE-62DB-1F6A-CBED45FCFAE7}"/>
                  </a:ext>
                </a:extLst>
              </p:cNvPr>
              <p:cNvSpPr txBox="1">
                <a:spLocks noRot="1" noChangeAspect="1" noMove="1" noResize="1" noEditPoints="1" noAdjustHandles="1" noChangeArrowheads="1" noChangeShapeType="1" noTextEdit="1"/>
              </p:cNvSpPr>
              <p:nvPr/>
            </p:nvSpPr>
            <p:spPr>
              <a:xfrm>
                <a:off x="2390740" y="69274"/>
                <a:ext cx="8257309" cy="1012265"/>
              </a:xfrm>
              <a:prstGeom prst="rect">
                <a:avLst/>
              </a:prstGeom>
              <a:blipFill>
                <a:blip r:embed="rId3"/>
                <a:stretch>
                  <a:fillRect t="-76250" b="-123750"/>
                </a:stretch>
              </a:blipFill>
            </p:spPr>
            <p:txBody>
              <a:bodyPr/>
              <a:lstStyle/>
              <a:p>
                <a:r>
                  <a:rPr lang="en-CN">
                    <a:noFill/>
                  </a:rPr>
                  <a:t> </a:t>
                </a:r>
              </a:p>
            </p:txBody>
          </p:sp>
        </mc:Fallback>
      </mc:AlternateContent>
      <p:sp>
        <p:nvSpPr>
          <p:cNvPr id="4" name="Down Arrow 3">
            <a:extLst>
              <a:ext uri="{FF2B5EF4-FFF2-40B4-BE49-F238E27FC236}">
                <a16:creationId xmlns:a16="http://schemas.microsoft.com/office/drawing/2014/main" id="{F28E8986-A557-028A-2CD2-A689DB67932E}"/>
              </a:ext>
            </a:extLst>
          </p:cNvPr>
          <p:cNvSpPr/>
          <p:nvPr/>
        </p:nvSpPr>
        <p:spPr>
          <a:xfrm>
            <a:off x="5340927" y="1081539"/>
            <a:ext cx="235526" cy="13014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5" name="TextBox 4">
            <a:extLst>
              <a:ext uri="{FF2B5EF4-FFF2-40B4-BE49-F238E27FC236}">
                <a16:creationId xmlns:a16="http://schemas.microsoft.com/office/drawing/2014/main" id="{10B7F7C8-2007-2CF6-56A6-EC1FD09A5FCF}"/>
              </a:ext>
            </a:extLst>
          </p:cNvPr>
          <p:cNvSpPr txBox="1"/>
          <p:nvPr/>
        </p:nvSpPr>
        <p:spPr>
          <a:xfrm>
            <a:off x="5659581" y="1399310"/>
            <a:ext cx="4786746" cy="369332"/>
          </a:xfrm>
          <a:prstGeom prst="rect">
            <a:avLst/>
          </a:prstGeom>
          <a:noFill/>
        </p:spPr>
        <p:txBody>
          <a:bodyPr wrap="square" rtlCol="0">
            <a:spAutoFit/>
          </a:bodyPr>
          <a:lstStyle/>
          <a:p>
            <a:r>
              <a:rPr lang="en-CN" dirty="0"/>
              <a:t>近似</a:t>
            </a:r>
            <a:r>
              <a:rPr lang="zh-CN" altLang="en-US" dirty="0"/>
              <a:t>：</a:t>
            </a:r>
            <a:r>
              <a:rPr lang="en-CN" dirty="0"/>
              <a:t>高温</a:t>
            </a:r>
            <a:r>
              <a:rPr lang="zh-CN" altLang="en-US" dirty="0"/>
              <a:t>、低温、不高不低温</a:t>
            </a:r>
            <a:endParaRPr lang="en-CN"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AE7922A-7EA1-3081-273B-996E51BE1D81}"/>
                  </a:ext>
                </a:extLst>
              </p:cNvPr>
              <p:cNvSpPr txBox="1"/>
              <p:nvPr/>
            </p:nvSpPr>
            <p:spPr>
              <a:xfrm>
                <a:off x="3393809" y="2552190"/>
                <a:ext cx="8257309" cy="79149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rad>
                            <m:radPr>
                              <m:ctrlPr>
                                <a:rPr lang="en-US" i="1">
                                  <a:latin typeface="Cambria Math" panose="02040503050406030204" pitchFamily="18" charset="0"/>
                                </a:rPr>
                              </m:ctrlPr>
                            </m:radPr>
                            <m:deg>
                              <m:r>
                                <a:rPr lang="en-US" i="1">
                                  <a:latin typeface="Cambria Math" panose="02040503050406030204" pitchFamily="18" charset="0"/>
                                </a:rPr>
                                <m:t>3</m:t>
                              </m:r>
                            </m:deg>
                            <m:e>
                              <m:r>
                                <a:rPr lang="en-US" i="1">
                                  <a:latin typeface="Cambria Math" panose="02040503050406030204" pitchFamily="18" charset="0"/>
                                </a:rPr>
                                <m:t>𝑁</m:t>
                              </m:r>
                            </m:e>
                          </m:rad>
                        </m:sup>
                        <m:e>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rad>
                                <m:radPr>
                                  <m:ctrlPr>
                                    <a:rPr lang="en-US" i="1">
                                      <a:latin typeface="Cambria Math" panose="02040503050406030204" pitchFamily="18" charset="0"/>
                                    </a:rPr>
                                  </m:ctrlPr>
                                </m:radPr>
                                <m:deg>
                                  <m:r>
                                    <a:rPr lang="en-US" i="1">
                                      <a:latin typeface="Cambria Math" panose="02040503050406030204" pitchFamily="18" charset="0"/>
                                    </a:rPr>
                                    <m:t>3</m:t>
                                  </m:r>
                                </m:deg>
                                <m:e>
                                  <m:r>
                                    <a:rPr lang="en-US" i="1">
                                      <a:latin typeface="Cambria Math" panose="02040503050406030204" pitchFamily="18" charset="0"/>
                                    </a:rPr>
                                    <m:t>𝑁</m:t>
                                  </m:r>
                                </m:e>
                              </m:rad>
                            </m:sup>
                            <m:e>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rad>
                                    <m:radPr>
                                      <m:ctrlPr>
                                        <a:rPr lang="en-US" i="1">
                                          <a:latin typeface="Cambria Math" panose="02040503050406030204" pitchFamily="18" charset="0"/>
                                        </a:rPr>
                                      </m:ctrlPr>
                                    </m:radPr>
                                    <m:deg>
                                      <m:r>
                                        <a:rPr lang="en-US" i="1">
                                          <a:latin typeface="Cambria Math" panose="02040503050406030204" pitchFamily="18" charset="0"/>
                                        </a:rPr>
                                        <m:t>3</m:t>
                                      </m:r>
                                    </m:deg>
                                    <m:e>
                                      <m:r>
                                        <a:rPr lang="en-US" i="1">
                                          <a:latin typeface="Cambria Math" panose="02040503050406030204" pitchFamily="18" charset="0"/>
                                        </a:rPr>
                                        <m:t>𝑁</m:t>
                                      </m:r>
                                    </m:e>
                                  </m:rad>
                                </m:sup>
                                <m:e>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 </m:t>
                                  </m:r>
                                  <m:f>
                                    <m:fPr>
                                      <m:ctrlPr>
                                        <a:rPr lang="en-US" b="0" i="1" smtClean="0">
                                          <a:solidFill>
                                            <a:srgbClr val="FF0000"/>
                                          </a:solidFill>
                                          <a:latin typeface="Cambria Math" panose="02040503050406030204" pitchFamily="18" charset="0"/>
                                          <a:ea typeface="Cambria Math" panose="02040503050406030204" pitchFamily="18" charset="0"/>
                                        </a:rPr>
                                      </m:ctrlPr>
                                    </m:fPr>
                                    <m:num>
                                      <m:r>
                                        <a:rPr lang="en-US" b="0" i="1" smtClean="0">
                                          <a:solidFill>
                                            <a:srgbClr val="7030A0"/>
                                          </a:solidFill>
                                          <a:latin typeface="Cambria Math" panose="02040503050406030204" pitchFamily="18" charset="0"/>
                                          <a:ea typeface="Cambria Math" panose="02040503050406030204" pitchFamily="18" charset="0"/>
                                        </a:rPr>
                                        <m:t>3</m:t>
                                      </m:r>
                                    </m:num>
                                    <m:den>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𝑒</m:t>
                                          </m:r>
                                        </m:e>
                                        <m:sup>
                                          <m:r>
                                            <a:rPr lang="en-US" b="0" i="1" smtClean="0">
                                              <a:solidFill>
                                                <a:srgbClr val="FF0000"/>
                                              </a:solidFill>
                                              <a:latin typeface="Cambria Math" panose="02040503050406030204" pitchFamily="18" charset="0"/>
                                              <a:ea typeface="Cambria Math" panose="02040503050406030204" pitchFamily="18" charset="0"/>
                                            </a:rPr>
                                            <m:t>𝜀</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𝜏</m:t>
                                          </m:r>
                                        </m:sup>
                                      </m:sSup>
                                      <m:r>
                                        <a:rPr lang="en-US" b="0" i="1" smtClean="0">
                                          <a:solidFill>
                                            <a:srgbClr val="FF0000"/>
                                          </a:solidFill>
                                          <a:latin typeface="Cambria Math" panose="02040503050406030204" pitchFamily="18" charset="0"/>
                                          <a:ea typeface="Cambria Math" panose="02040503050406030204" pitchFamily="18" charset="0"/>
                                        </a:rPr>
                                        <m:t>−1</m:t>
                                      </m:r>
                                    </m:den>
                                  </m:f>
                                </m:e>
                              </m:nary>
                              <m:r>
                                <a:rPr lang="en-US" b="0" i="1" smtClean="0">
                                  <a:latin typeface="Cambria Math" panose="02040503050406030204" pitchFamily="18" charset="0"/>
                                  <a:ea typeface="Cambria Math" panose="02040503050406030204" pitchFamily="18" charset="0"/>
                                </a:rPr>
                                <m:t>𝑑</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𝑥</m:t>
                                  </m:r>
                                </m:sub>
                              </m:sSub>
                              <m:r>
                                <a:rPr lang="en-US" b="0" i="1" smtClean="0">
                                  <a:latin typeface="Cambria Math" panose="02040503050406030204" pitchFamily="18" charset="0"/>
                                  <a:ea typeface="Cambria Math" panose="02040503050406030204" pitchFamily="18" charset="0"/>
                                </a:rPr>
                                <m:t>𝑑</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𝑦</m:t>
                                  </m:r>
                                </m:sub>
                              </m:sSub>
                              <m:r>
                                <a:rPr lang="en-US" b="0" i="1" smtClean="0">
                                  <a:latin typeface="Cambria Math" panose="02040503050406030204" pitchFamily="18" charset="0"/>
                                  <a:ea typeface="Cambria Math" panose="02040503050406030204" pitchFamily="18" charset="0"/>
                                </a:rPr>
                                <m:t>𝑑</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𝑧</m:t>
                                  </m:r>
                                </m:sub>
                              </m:sSub>
                            </m:e>
                          </m:nary>
                        </m:e>
                      </m:nary>
                    </m:oMath>
                  </m:oMathPara>
                </a14:m>
                <a:endParaRPr lang="en-CN" dirty="0"/>
              </a:p>
            </p:txBody>
          </p:sp>
        </mc:Choice>
        <mc:Fallback xmlns="">
          <p:sp>
            <p:nvSpPr>
              <p:cNvPr id="6" name="TextBox 5">
                <a:extLst>
                  <a:ext uri="{FF2B5EF4-FFF2-40B4-BE49-F238E27FC236}">
                    <a16:creationId xmlns:a16="http://schemas.microsoft.com/office/drawing/2014/main" id="{2AE7922A-7EA1-3081-273B-996E51BE1D81}"/>
                  </a:ext>
                </a:extLst>
              </p:cNvPr>
              <p:cNvSpPr txBox="1">
                <a:spLocks noRot="1" noChangeAspect="1" noMove="1" noResize="1" noEditPoints="1" noAdjustHandles="1" noChangeArrowheads="1" noChangeShapeType="1" noTextEdit="1"/>
              </p:cNvSpPr>
              <p:nvPr/>
            </p:nvSpPr>
            <p:spPr>
              <a:xfrm>
                <a:off x="3393809" y="2552190"/>
                <a:ext cx="8257309" cy="791499"/>
              </a:xfrm>
              <a:prstGeom prst="rect">
                <a:avLst/>
              </a:prstGeom>
              <a:blipFill>
                <a:blip r:embed="rId4"/>
                <a:stretch>
                  <a:fillRect t="-128571" b="-206349"/>
                </a:stretch>
              </a:blipFill>
            </p:spPr>
            <p:txBody>
              <a:bodyPr/>
              <a:lstStyle/>
              <a:p>
                <a:r>
                  <a:rPr lang="en-CN">
                    <a:noFill/>
                  </a:rPr>
                  <a:t> </a:t>
                </a:r>
              </a:p>
            </p:txBody>
          </p:sp>
        </mc:Fallback>
      </mc:AlternateContent>
      <p:sp>
        <p:nvSpPr>
          <p:cNvPr id="7" name="Down Arrow 6">
            <a:extLst>
              <a:ext uri="{FF2B5EF4-FFF2-40B4-BE49-F238E27FC236}">
                <a16:creationId xmlns:a16="http://schemas.microsoft.com/office/drawing/2014/main" id="{9D94F92D-B5B2-9232-E86A-E39C0EC5E22E}"/>
              </a:ext>
            </a:extLst>
          </p:cNvPr>
          <p:cNvSpPr/>
          <p:nvPr/>
        </p:nvSpPr>
        <p:spPr>
          <a:xfrm>
            <a:off x="5340927" y="3476515"/>
            <a:ext cx="235526" cy="13014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065E50A-5EE2-E552-63C1-FD41E67C8232}"/>
                  </a:ext>
                </a:extLst>
              </p:cNvPr>
              <p:cNvSpPr txBox="1"/>
              <p:nvPr/>
            </p:nvSpPr>
            <p:spPr>
              <a:xfrm>
                <a:off x="3567544" y="5380711"/>
                <a:ext cx="8257309" cy="73962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r>
                            <a:rPr lang="en-US" i="1" smtClean="0">
                              <a:latin typeface="Cambria Math" panose="02040503050406030204" pitchFamily="18" charset="0"/>
                              <a:ea typeface="Cambria Math" panose="02040503050406030204" pitchFamily="18" charset="0"/>
                            </a:rPr>
                            <m:t>𝜋</m:t>
                          </m:r>
                          <m:r>
                            <a:rPr lang="en-US" altLang="zh-CN" b="0" i="1" smtClean="0">
                              <a:latin typeface="Cambria Math" panose="02040503050406030204" pitchFamily="18" charset="0"/>
                              <a:ea typeface="Cambria Math" panose="02040503050406030204" pitchFamily="18" charset="0"/>
                            </a:rPr>
                            <m:t>/2</m:t>
                          </m:r>
                        </m:sup>
                        <m:e>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r>
                                <a:rPr lang="en-US" i="1" smtClean="0">
                                  <a:latin typeface="Cambria Math" panose="02040503050406030204" pitchFamily="18" charset="0"/>
                                  <a:ea typeface="Cambria Math" panose="02040503050406030204" pitchFamily="18" charset="0"/>
                                </a:rPr>
                                <m:t>𝜋</m:t>
                              </m:r>
                              <m:r>
                                <a:rPr lang="en-US" altLang="zh-CN" b="0" i="1" smtClean="0">
                                  <a:latin typeface="Cambria Math" panose="02040503050406030204" pitchFamily="18" charset="0"/>
                                  <a:ea typeface="Cambria Math" panose="02040503050406030204" pitchFamily="18" charset="0"/>
                                </a:rPr>
                                <m:t>/2</m:t>
                              </m:r>
                            </m:sup>
                            <m:e>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r>
                                    <a:rPr lang="en-US" b="0" i="1" smtClean="0">
                                      <a:solidFill>
                                        <a:srgbClr val="FF0000"/>
                                      </a:solidFill>
                                      <a:latin typeface="Cambria Math" panose="02040503050406030204" pitchFamily="18" charset="0"/>
                                      <a:ea typeface="Cambria Math" panose="02040503050406030204" pitchFamily="18" charset="0"/>
                                    </a:rPr>
                                    <m:t>𝑅</m:t>
                                  </m:r>
                                </m:sup>
                                <m:e>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 </m:t>
                                  </m:r>
                                  <m:f>
                                    <m:fPr>
                                      <m:ctrlPr>
                                        <a:rPr lang="en-US" b="0" i="1" smtClean="0">
                                          <a:solidFill>
                                            <a:schemeClr val="tx1"/>
                                          </a:solidFill>
                                          <a:latin typeface="Cambria Math" panose="02040503050406030204" pitchFamily="18" charset="0"/>
                                          <a:ea typeface="Cambria Math" panose="02040503050406030204" pitchFamily="18" charset="0"/>
                                        </a:rPr>
                                      </m:ctrlPr>
                                    </m:fPr>
                                    <m:num>
                                      <m:r>
                                        <a:rPr lang="en-US" b="0" i="1" smtClean="0">
                                          <a:solidFill>
                                            <a:schemeClr val="tx1"/>
                                          </a:solidFill>
                                          <a:latin typeface="Cambria Math" panose="02040503050406030204" pitchFamily="18" charset="0"/>
                                          <a:ea typeface="Cambria Math" panose="02040503050406030204" pitchFamily="18" charset="0"/>
                                        </a:rPr>
                                        <m:t>3</m:t>
                                      </m:r>
                                    </m:num>
                                    <m:den>
                                      <m:sSup>
                                        <m:sSupPr>
                                          <m:ctrlPr>
                                            <a:rPr lang="en-US" b="0" i="1" smtClean="0">
                                              <a:solidFill>
                                                <a:schemeClr val="tx1"/>
                                              </a:solidFill>
                                              <a:latin typeface="Cambria Math" panose="02040503050406030204" pitchFamily="18" charset="0"/>
                                              <a:ea typeface="Cambria Math" panose="02040503050406030204" pitchFamily="18" charset="0"/>
                                            </a:rPr>
                                          </m:ctrlPr>
                                        </m:sSupPr>
                                        <m:e>
                                          <m:r>
                                            <a:rPr lang="en-US" b="0" i="1" smtClean="0">
                                              <a:solidFill>
                                                <a:schemeClr val="tx1"/>
                                              </a:solidFill>
                                              <a:latin typeface="Cambria Math" panose="02040503050406030204" pitchFamily="18" charset="0"/>
                                              <a:ea typeface="Cambria Math" panose="02040503050406030204" pitchFamily="18" charset="0"/>
                                            </a:rPr>
                                            <m:t>𝑒</m:t>
                                          </m:r>
                                        </m:e>
                                        <m:sup>
                                          <m:r>
                                            <a:rPr lang="en-US" b="0" i="1" smtClean="0">
                                              <a:solidFill>
                                                <a:schemeClr val="tx1"/>
                                              </a:solidFill>
                                              <a:latin typeface="Cambria Math" panose="02040503050406030204" pitchFamily="18" charset="0"/>
                                              <a:ea typeface="Cambria Math" panose="02040503050406030204" pitchFamily="18" charset="0"/>
                                            </a:rPr>
                                            <m:t>𝜀</m:t>
                                          </m:r>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𝜏</m:t>
                                          </m:r>
                                        </m:sup>
                                      </m:sSup>
                                      <m:r>
                                        <a:rPr lang="en-US" b="0" i="1" smtClean="0">
                                          <a:solidFill>
                                            <a:schemeClr val="tx1"/>
                                          </a:solidFill>
                                          <a:latin typeface="Cambria Math" panose="02040503050406030204" pitchFamily="18" charset="0"/>
                                          <a:ea typeface="Cambria Math" panose="02040503050406030204" pitchFamily="18" charset="0"/>
                                        </a:rPr>
                                        <m:t>−1</m:t>
                                      </m:r>
                                    </m:den>
                                  </m:f>
                                </m:e>
                              </m:nary>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𝑛</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𝑠𝑖𝑛</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𝑑𝑛𝑑</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𝜙</m:t>
                              </m:r>
                            </m:e>
                          </m:nary>
                        </m:e>
                      </m:nary>
                    </m:oMath>
                  </m:oMathPara>
                </a14:m>
                <a:endParaRPr lang="en-CN" dirty="0"/>
              </a:p>
            </p:txBody>
          </p:sp>
        </mc:Choice>
        <mc:Fallback xmlns="">
          <p:sp>
            <p:nvSpPr>
              <p:cNvPr id="8" name="TextBox 7">
                <a:extLst>
                  <a:ext uri="{FF2B5EF4-FFF2-40B4-BE49-F238E27FC236}">
                    <a16:creationId xmlns:a16="http://schemas.microsoft.com/office/drawing/2014/main" id="{F065E50A-5EE2-E552-63C1-FD41E67C8232}"/>
                  </a:ext>
                </a:extLst>
              </p:cNvPr>
              <p:cNvSpPr txBox="1">
                <a:spLocks noRot="1" noChangeAspect="1" noMove="1" noResize="1" noEditPoints="1" noAdjustHandles="1" noChangeArrowheads="1" noChangeShapeType="1" noTextEdit="1"/>
              </p:cNvSpPr>
              <p:nvPr/>
            </p:nvSpPr>
            <p:spPr>
              <a:xfrm>
                <a:off x="3567544" y="5380711"/>
                <a:ext cx="8257309" cy="739626"/>
              </a:xfrm>
              <a:prstGeom prst="rect">
                <a:avLst/>
              </a:prstGeom>
              <a:blipFill>
                <a:blip r:embed="rId5"/>
                <a:stretch>
                  <a:fillRect t="-145763" b="-22033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33ED69C-E912-63B7-1A20-B90FF81D9BAB}"/>
                  </a:ext>
                </a:extLst>
              </p:cNvPr>
              <p:cNvSpPr txBox="1"/>
              <p:nvPr/>
            </p:nvSpPr>
            <p:spPr>
              <a:xfrm>
                <a:off x="5818909" y="3990109"/>
                <a:ext cx="5292436" cy="785536"/>
              </a:xfrm>
              <a:prstGeom prst="rect">
                <a:avLst/>
              </a:prstGeom>
              <a:noFill/>
            </p:spPr>
            <p:txBody>
              <a:bodyPr wrap="square" rtlCol="0">
                <a:spAutoFit/>
              </a:bodyPr>
              <a:lstStyle/>
              <a:p>
                <a:r>
                  <a:rPr lang="en-CN" dirty="0"/>
                  <a:t>球坐标</a:t>
                </a:r>
                <a:r>
                  <a:rPr lang="zh-CN" altLang="en-US" dirty="0"/>
                  <a:t>，粒子数</a:t>
                </a:r>
                <a:r>
                  <a:rPr lang="en-US" altLang="zh-CN" dirty="0"/>
                  <a:t>conserving in the cube and in the eighth of a sphere…</a:t>
                </a:r>
                <a14:m>
                  <m:oMath xmlns:m="http://schemas.openxmlformats.org/officeDocument/2006/math">
                    <m:r>
                      <a:rPr lang="en-US" altLang="zh-CN" b="0" i="1" smtClean="0">
                        <a:solidFill>
                          <a:srgbClr val="FF0000"/>
                        </a:solidFill>
                        <a:latin typeface="Cambria Math" panose="02040503050406030204" pitchFamily="18" charset="0"/>
                      </a:rPr>
                      <m:t>𝑁</m:t>
                    </m:r>
                    <m:r>
                      <a:rPr lang="en-US" altLang="zh-CN" b="0" i="1" smtClean="0">
                        <a:solidFill>
                          <a:srgbClr val="FF0000"/>
                        </a:solidFill>
                        <a:latin typeface="Cambria Math" panose="02040503050406030204" pitchFamily="18" charset="0"/>
                      </a:rPr>
                      <m:t>=</m:t>
                    </m:r>
                    <m:f>
                      <m:fPr>
                        <m:ctrlPr>
                          <a:rPr lang="en-US" altLang="zh-CN" b="0" i="1" smtClean="0">
                            <a:solidFill>
                              <a:srgbClr val="FF0000"/>
                            </a:solidFill>
                            <a:latin typeface="Cambria Math" panose="02040503050406030204" pitchFamily="18" charset="0"/>
                          </a:rPr>
                        </m:ctrlPr>
                      </m:fPr>
                      <m:num>
                        <m:r>
                          <a:rPr lang="en-US" altLang="zh-CN" b="0" i="1" smtClean="0">
                            <a:solidFill>
                              <a:srgbClr val="FF0000"/>
                            </a:solidFill>
                            <a:latin typeface="Cambria Math" panose="02040503050406030204" pitchFamily="18" charset="0"/>
                          </a:rPr>
                          <m:t>1</m:t>
                        </m:r>
                      </m:num>
                      <m:den>
                        <m:r>
                          <a:rPr lang="en-US" altLang="zh-CN" b="0" i="1" smtClean="0">
                            <a:solidFill>
                              <a:srgbClr val="FF0000"/>
                            </a:solidFill>
                            <a:latin typeface="Cambria Math" panose="02040503050406030204" pitchFamily="18" charset="0"/>
                          </a:rPr>
                          <m:t>8</m:t>
                        </m:r>
                      </m:den>
                    </m:f>
                    <m:f>
                      <m:fPr>
                        <m:ctrlPr>
                          <a:rPr lang="en-US" altLang="zh-CN" b="0" i="1" smtClean="0">
                            <a:solidFill>
                              <a:srgbClr val="FF0000"/>
                            </a:solidFill>
                            <a:latin typeface="Cambria Math" panose="02040503050406030204" pitchFamily="18" charset="0"/>
                          </a:rPr>
                        </m:ctrlPr>
                      </m:fPr>
                      <m:num>
                        <m:r>
                          <a:rPr lang="en-US" altLang="zh-CN" b="0" i="1" smtClean="0">
                            <a:solidFill>
                              <a:srgbClr val="FF0000"/>
                            </a:solidFill>
                            <a:latin typeface="Cambria Math" panose="02040503050406030204" pitchFamily="18" charset="0"/>
                          </a:rPr>
                          <m:t>4</m:t>
                        </m:r>
                      </m:num>
                      <m:den>
                        <m:r>
                          <a:rPr lang="en-US" altLang="zh-CN" b="0" i="1" smtClean="0">
                            <a:solidFill>
                              <a:srgbClr val="FF0000"/>
                            </a:solidFill>
                            <a:latin typeface="Cambria Math" panose="02040503050406030204" pitchFamily="18" charset="0"/>
                          </a:rPr>
                          <m:t>3</m:t>
                        </m:r>
                      </m:den>
                    </m:f>
                    <m:r>
                      <a:rPr lang="en-US" altLang="zh-CN" b="0" i="1" smtClean="0">
                        <a:solidFill>
                          <a:srgbClr val="FF0000"/>
                        </a:solidFill>
                        <a:latin typeface="Cambria Math" panose="02040503050406030204" pitchFamily="18" charset="0"/>
                        <a:ea typeface="Cambria Math" panose="02040503050406030204" pitchFamily="18" charset="0"/>
                      </a:rPr>
                      <m:t>𝜋</m:t>
                    </m:r>
                    <m:sSup>
                      <m:sSupPr>
                        <m:ctrlPr>
                          <a:rPr lang="en-US" altLang="zh-CN" b="0" i="1" smtClean="0">
                            <a:solidFill>
                              <a:srgbClr val="FF0000"/>
                            </a:solidFill>
                            <a:latin typeface="Cambria Math" panose="02040503050406030204" pitchFamily="18" charset="0"/>
                            <a:ea typeface="Cambria Math" panose="02040503050406030204" pitchFamily="18" charset="0"/>
                          </a:rPr>
                        </m:ctrlPr>
                      </m:sSupPr>
                      <m:e>
                        <m:r>
                          <a:rPr lang="en-US" altLang="zh-CN" b="0" i="1" smtClean="0">
                            <a:solidFill>
                              <a:srgbClr val="FF0000"/>
                            </a:solidFill>
                            <a:latin typeface="Cambria Math" panose="02040503050406030204" pitchFamily="18" charset="0"/>
                            <a:ea typeface="Cambria Math" panose="02040503050406030204" pitchFamily="18" charset="0"/>
                          </a:rPr>
                          <m:t>𝑅</m:t>
                        </m:r>
                      </m:e>
                      <m:sup>
                        <m:r>
                          <a:rPr lang="en-US" altLang="zh-CN" b="0" i="1" smtClean="0">
                            <a:solidFill>
                              <a:srgbClr val="FF0000"/>
                            </a:solidFill>
                            <a:latin typeface="Cambria Math" panose="02040503050406030204" pitchFamily="18" charset="0"/>
                            <a:ea typeface="Cambria Math" panose="02040503050406030204" pitchFamily="18" charset="0"/>
                          </a:rPr>
                          <m:t>3</m:t>
                        </m:r>
                      </m:sup>
                    </m:sSup>
                  </m:oMath>
                </a14:m>
                <a:endParaRPr lang="en-CN" dirty="0"/>
              </a:p>
            </p:txBody>
          </p:sp>
        </mc:Choice>
        <mc:Fallback xmlns="">
          <p:sp>
            <p:nvSpPr>
              <p:cNvPr id="9" name="TextBox 8">
                <a:extLst>
                  <a:ext uri="{FF2B5EF4-FFF2-40B4-BE49-F238E27FC236}">
                    <a16:creationId xmlns:a16="http://schemas.microsoft.com/office/drawing/2014/main" id="{033ED69C-E912-63B7-1A20-B90FF81D9BAB}"/>
                  </a:ext>
                </a:extLst>
              </p:cNvPr>
              <p:cNvSpPr txBox="1">
                <a:spLocks noRot="1" noChangeAspect="1" noMove="1" noResize="1" noEditPoints="1" noAdjustHandles="1" noChangeArrowheads="1" noChangeShapeType="1" noTextEdit="1"/>
              </p:cNvSpPr>
              <p:nvPr/>
            </p:nvSpPr>
            <p:spPr>
              <a:xfrm>
                <a:off x="5818909" y="3990109"/>
                <a:ext cx="5292436" cy="785536"/>
              </a:xfrm>
              <a:prstGeom prst="rect">
                <a:avLst/>
              </a:prstGeom>
              <a:blipFill>
                <a:blip r:embed="rId6"/>
                <a:stretch>
                  <a:fillRect l="-957" t="-3226" b="-1613"/>
                </a:stretch>
              </a:blipFill>
            </p:spPr>
            <p:txBody>
              <a:bodyPr/>
              <a:lstStyle/>
              <a:p>
                <a:r>
                  <a:rPr lang="en-CN">
                    <a:noFill/>
                  </a:rPr>
                  <a:t> </a:t>
                </a:r>
              </a:p>
            </p:txBody>
          </p:sp>
        </mc:Fallback>
      </mc:AlternateContent>
      <p:pic>
        <p:nvPicPr>
          <p:cNvPr id="10" name="Picture 9">
            <a:extLst>
              <a:ext uri="{FF2B5EF4-FFF2-40B4-BE49-F238E27FC236}">
                <a16:creationId xmlns:a16="http://schemas.microsoft.com/office/drawing/2014/main" id="{0109A8FD-C5AC-37E5-F6FF-367DAA0AF867}"/>
              </a:ext>
            </a:extLst>
          </p:cNvPr>
          <p:cNvPicPr>
            <a:picLocks noChangeAspect="1"/>
          </p:cNvPicPr>
          <p:nvPr/>
        </p:nvPicPr>
        <p:blipFill>
          <a:blip r:embed="rId7"/>
          <a:stretch>
            <a:fillRect/>
          </a:stretch>
        </p:blipFill>
        <p:spPr>
          <a:xfrm>
            <a:off x="296372" y="1588081"/>
            <a:ext cx="4802099" cy="3681837"/>
          </a:xfrm>
          <a:prstGeom prst="rect">
            <a:avLst/>
          </a:prstGeom>
        </p:spPr>
      </p:pic>
    </p:spTree>
    <p:extLst>
      <p:ext uri="{BB962C8B-B14F-4D97-AF65-F5344CB8AC3E}">
        <p14:creationId xmlns:p14="http://schemas.microsoft.com/office/powerpoint/2010/main" val="42299792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30403</TotalTime>
  <Words>2516</Words>
  <Application>Microsoft Macintosh PowerPoint</Application>
  <PresentationFormat>Widescreen</PresentationFormat>
  <Paragraphs>344</Paragraphs>
  <Slides>54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54</vt:i4>
      </vt:variant>
    </vt:vector>
  </HeadingPairs>
  <TitlesOfParts>
    <vt:vector size="63" baseType="lpstr">
      <vt:lpstr>-apple-system</vt:lpstr>
      <vt:lpstr>FangSong</vt:lpstr>
      <vt:lpstr>Songti TC</vt:lpstr>
      <vt:lpstr>Arial</vt:lpstr>
      <vt:lpstr>Calibri</vt:lpstr>
      <vt:lpstr>Calibri Light</vt:lpstr>
      <vt:lpstr>Cambria Math</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413</cp:revision>
  <dcterms:created xsi:type="dcterms:W3CDTF">2022-02-02T22:31:46Z</dcterms:created>
  <dcterms:modified xsi:type="dcterms:W3CDTF">2023-04-17T03:44:57Z</dcterms:modified>
</cp:coreProperties>
</file>