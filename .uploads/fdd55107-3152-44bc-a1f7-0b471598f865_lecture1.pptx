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61"/>
  </p:notesMasterIdLst>
  <p:handoutMasterIdLst>
    <p:handoutMasterId r:id="rId62"/>
  </p:handoutMasterIdLst>
  <p:sldIdLst>
    <p:sldId id="373" r:id="rId2"/>
    <p:sldId id="538" r:id="rId3"/>
    <p:sldId id="539" r:id="rId4"/>
    <p:sldId id="639" r:id="rId5"/>
    <p:sldId id="640" r:id="rId6"/>
    <p:sldId id="487" r:id="rId7"/>
    <p:sldId id="536" r:id="rId8"/>
    <p:sldId id="644" r:id="rId9"/>
    <p:sldId id="309" r:id="rId10"/>
    <p:sldId id="561" r:id="rId11"/>
    <p:sldId id="607" r:id="rId12"/>
    <p:sldId id="310" r:id="rId13"/>
    <p:sldId id="643" r:id="rId14"/>
    <p:sldId id="621" r:id="rId15"/>
    <p:sldId id="622" r:id="rId16"/>
    <p:sldId id="623" r:id="rId17"/>
    <p:sldId id="389" r:id="rId18"/>
    <p:sldId id="409" r:id="rId19"/>
    <p:sldId id="402" r:id="rId20"/>
    <p:sldId id="410" r:id="rId21"/>
    <p:sldId id="403" r:id="rId22"/>
    <p:sldId id="404" r:id="rId23"/>
    <p:sldId id="647" r:id="rId24"/>
    <p:sldId id="648" r:id="rId25"/>
    <p:sldId id="498" r:id="rId26"/>
    <p:sldId id="624" r:id="rId27"/>
    <p:sldId id="625" r:id="rId28"/>
    <p:sldId id="626" r:id="rId29"/>
    <p:sldId id="627" r:id="rId30"/>
    <p:sldId id="628" r:id="rId31"/>
    <p:sldId id="631" r:id="rId32"/>
    <p:sldId id="629" r:id="rId33"/>
    <p:sldId id="630" r:id="rId34"/>
    <p:sldId id="503" r:id="rId35"/>
    <p:sldId id="497" r:id="rId36"/>
    <p:sldId id="509" r:id="rId37"/>
    <p:sldId id="512" r:id="rId38"/>
    <p:sldId id="513" r:id="rId39"/>
    <p:sldId id="514" r:id="rId40"/>
    <p:sldId id="392" r:id="rId41"/>
    <p:sldId id="405" r:id="rId42"/>
    <p:sldId id="633" r:id="rId43"/>
    <p:sldId id="401" r:id="rId44"/>
    <p:sldId id="646" r:id="rId45"/>
    <p:sldId id="488" r:id="rId46"/>
    <p:sldId id="608" r:id="rId47"/>
    <p:sldId id="610" r:id="rId48"/>
    <p:sldId id="611" r:id="rId49"/>
    <p:sldId id="636" r:id="rId50"/>
    <p:sldId id="637" r:id="rId51"/>
    <p:sldId id="613" r:id="rId52"/>
    <p:sldId id="638" r:id="rId53"/>
    <p:sldId id="421" r:id="rId54"/>
    <p:sldId id="437" r:id="rId55"/>
    <p:sldId id="419" r:id="rId56"/>
    <p:sldId id="436" r:id="rId57"/>
    <p:sldId id="420" r:id="rId58"/>
    <p:sldId id="619" r:id="rId59"/>
    <p:sldId id="645" r:id="rId60"/>
  </p:sldIdLst>
  <p:sldSz cx="9144000" cy="6858000" type="screen4x3"/>
  <p:notesSz cx="6858000" cy="9144000"/>
  <p:defaultTextStyle>
    <a:defPPr>
      <a:defRPr lang="en-US"/>
    </a:defPPr>
    <a:lvl1pPr algn="l" rtl="0" eaLnBrk="0" fontAlgn="base" hangingPunct="0">
      <a:spcBef>
        <a:spcPct val="0"/>
      </a:spcBef>
      <a:spcAft>
        <a:spcPct val="0"/>
      </a:spcAft>
      <a:defRPr sz="1600" b="1" kern="1200">
        <a:solidFill>
          <a:srgbClr val="CCFFFF"/>
        </a:solidFill>
        <a:latin typeface="Times New Roman" pitchFamily="18" charset="0"/>
        <a:ea typeface="楷体_GB2312" pitchFamily="49" charset="-122"/>
        <a:cs typeface="+mn-cs"/>
      </a:defRPr>
    </a:lvl1pPr>
    <a:lvl2pPr marL="457200" algn="l" rtl="0" eaLnBrk="0" fontAlgn="base" hangingPunct="0">
      <a:spcBef>
        <a:spcPct val="0"/>
      </a:spcBef>
      <a:spcAft>
        <a:spcPct val="0"/>
      </a:spcAft>
      <a:defRPr sz="1600" b="1" kern="1200">
        <a:solidFill>
          <a:srgbClr val="CCFFFF"/>
        </a:solidFill>
        <a:latin typeface="Times New Roman" pitchFamily="18" charset="0"/>
        <a:ea typeface="楷体_GB2312" pitchFamily="49" charset="-122"/>
        <a:cs typeface="+mn-cs"/>
      </a:defRPr>
    </a:lvl2pPr>
    <a:lvl3pPr marL="914400" algn="l" rtl="0" eaLnBrk="0" fontAlgn="base" hangingPunct="0">
      <a:spcBef>
        <a:spcPct val="0"/>
      </a:spcBef>
      <a:spcAft>
        <a:spcPct val="0"/>
      </a:spcAft>
      <a:defRPr sz="1600" b="1" kern="1200">
        <a:solidFill>
          <a:srgbClr val="CCFFFF"/>
        </a:solidFill>
        <a:latin typeface="Times New Roman" pitchFamily="18" charset="0"/>
        <a:ea typeface="楷体_GB2312" pitchFamily="49" charset="-122"/>
        <a:cs typeface="+mn-cs"/>
      </a:defRPr>
    </a:lvl3pPr>
    <a:lvl4pPr marL="1371600" algn="l" rtl="0" eaLnBrk="0" fontAlgn="base" hangingPunct="0">
      <a:spcBef>
        <a:spcPct val="0"/>
      </a:spcBef>
      <a:spcAft>
        <a:spcPct val="0"/>
      </a:spcAft>
      <a:defRPr sz="1600" b="1" kern="1200">
        <a:solidFill>
          <a:srgbClr val="CCFFFF"/>
        </a:solidFill>
        <a:latin typeface="Times New Roman" pitchFamily="18" charset="0"/>
        <a:ea typeface="楷体_GB2312" pitchFamily="49" charset="-122"/>
        <a:cs typeface="+mn-cs"/>
      </a:defRPr>
    </a:lvl4pPr>
    <a:lvl5pPr marL="1828800" algn="l" rtl="0" eaLnBrk="0" fontAlgn="base" hangingPunct="0">
      <a:spcBef>
        <a:spcPct val="0"/>
      </a:spcBef>
      <a:spcAft>
        <a:spcPct val="0"/>
      </a:spcAft>
      <a:defRPr sz="1600" b="1" kern="1200">
        <a:solidFill>
          <a:srgbClr val="CCFFFF"/>
        </a:solidFill>
        <a:latin typeface="Times New Roman" pitchFamily="18" charset="0"/>
        <a:ea typeface="楷体_GB2312" pitchFamily="49" charset="-122"/>
        <a:cs typeface="+mn-cs"/>
      </a:defRPr>
    </a:lvl5pPr>
    <a:lvl6pPr marL="2286000" algn="l" defTabSz="914400" rtl="0" eaLnBrk="1" latinLnBrk="0" hangingPunct="1">
      <a:defRPr sz="1600" b="1" kern="1200">
        <a:solidFill>
          <a:srgbClr val="CCFFFF"/>
        </a:solidFill>
        <a:latin typeface="Times New Roman" pitchFamily="18" charset="0"/>
        <a:ea typeface="楷体_GB2312" pitchFamily="49" charset="-122"/>
        <a:cs typeface="+mn-cs"/>
      </a:defRPr>
    </a:lvl6pPr>
    <a:lvl7pPr marL="2743200" algn="l" defTabSz="914400" rtl="0" eaLnBrk="1" latinLnBrk="0" hangingPunct="1">
      <a:defRPr sz="1600" b="1" kern="1200">
        <a:solidFill>
          <a:srgbClr val="CCFFFF"/>
        </a:solidFill>
        <a:latin typeface="Times New Roman" pitchFamily="18" charset="0"/>
        <a:ea typeface="楷体_GB2312" pitchFamily="49" charset="-122"/>
        <a:cs typeface="+mn-cs"/>
      </a:defRPr>
    </a:lvl7pPr>
    <a:lvl8pPr marL="3200400" algn="l" defTabSz="914400" rtl="0" eaLnBrk="1" latinLnBrk="0" hangingPunct="1">
      <a:defRPr sz="1600" b="1" kern="1200">
        <a:solidFill>
          <a:srgbClr val="CCFFFF"/>
        </a:solidFill>
        <a:latin typeface="Times New Roman" pitchFamily="18" charset="0"/>
        <a:ea typeface="楷体_GB2312" pitchFamily="49" charset="-122"/>
        <a:cs typeface="+mn-cs"/>
      </a:defRPr>
    </a:lvl8pPr>
    <a:lvl9pPr marL="3657600" algn="l" defTabSz="914400" rtl="0" eaLnBrk="1" latinLnBrk="0" hangingPunct="1">
      <a:defRPr sz="1600" b="1" kern="1200">
        <a:solidFill>
          <a:srgbClr val="CCFFFF"/>
        </a:solidFill>
        <a:latin typeface="Times New Roman" pitchFamily="18" charset="0"/>
        <a:ea typeface="楷体_GB2312"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F15F3"/>
    <a:srgbClr val="F6B6A2"/>
    <a:srgbClr val="CCFFCC"/>
    <a:srgbClr val="FFCC99"/>
    <a:srgbClr val="CCFFFF"/>
    <a:srgbClr val="FFFFFF"/>
    <a:srgbClr val="F53313"/>
    <a:srgbClr val="490D0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60" autoAdjust="0"/>
    <p:restoredTop sz="92545" autoAdjust="0"/>
  </p:normalViewPr>
  <p:slideViewPr>
    <p:cSldViewPr>
      <p:cViewPr varScale="1">
        <p:scale>
          <a:sx n="95" d="100"/>
          <a:sy n="95" d="100"/>
        </p:scale>
        <p:origin x="846" y="7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Lst>
  </p:outlineViewPr>
  <p:notesTextViewPr>
    <p:cViewPr>
      <p:scale>
        <a:sx n="100" d="100"/>
        <a:sy n="100" d="100"/>
      </p:scale>
      <p:origin x="0" y="0"/>
    </p:cViewPr>
  </p:notesTextViewPr>
  <p:sorterViewPr>
    <p:cViewPr>
      <p:scale>
        <a:sx n="66" d="100"/>
        <a:sy n="66" d="100"/>
      </p:scale>
      <p:origin x="0" y="13650"/>
    </p:cViewPr>
  </p:sorterViewPr>
  <p:notesViewPr>
    <p:cSldViewPr>
      <p:cViewPr varScale="1">
        <p:scale>
          <a:sx n="50" d="100"/>
          <a:sy n="50" d="100"/>
        </p:scale>
        <p:origin x="-1860"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_rels/viewProps.xml.rels><?xml version="1.0" encoding="UTF-8" standalone="yes"?>
<Relationships xmlns="http://schemas.openxmlformats.org/package/2006/relationships"><Relationship Id="rId3" Type="http://schemas.openxmlformats.org/officeDocument/2006/relationships/slide" Target="slides/slide34.xml"/><Relationship Id="rId2" Type="http://schemas.openxmlformats.org/officeDocument/2006/relationships/slide" Target="slides/slide33.xml"/><Relationship Id="rId1" Type="http://schemas.openxmlformats.org/officeDocument/2006/relationships/slide" Target="slides/slide32.xml"/><Relationship Id="rId6" Type="http://schemas.openxmlformats.org/officeDocument/2006/relationships/slide" Target="slides/slide39.xml"/><Relationship Id="rId5" Type="http://schemas.openxmlformats.org/officeDocument/2006/relationships/slide" Target="slides/slide38.xml"/><Relationship Id="rId4" Type="http://schemas.openxmlformats.org/officeDocument/2006/relationships/slide" Target="slides/slide3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image" Target="../media/image6.wmf"/><Relationship Id="rId4" Type="http://schemas.openxmlformats.org/officeDocument/2006/relationships/image" Target="../media/image9.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image" Target="../media/image10.wmf"/><Relationship Id="rId6" Type="http://schemas.openxmlformats.org/officeDocument/2006/relationships/image" Target="../media/image15.wmf"/><Relationship Id="rId5" Type="http://schemas.openxmlformats.org/officeDocument/2006/relationships/image" Target="../media/image14.wmf"/><Relationship Id="rId4" Type="http://schemas.openxmlformats.org/officeDocument/2006/relationships/image" Target="../media/image13.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image" Target="../media/image13.wmf"/><Relationship Id="rId1" Type="http://schemas.openxmlformats.org/officeDocument/2006/relationships/image" Target="../media/image11.wmf"/><Relationship Id="rId4" Type="http://schemas.openxmlformats.org/officeDocument/2006/relationships/image" Target="../media/image17.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35.wmf"/><Relationship Id="rId2" Type="http://schemas.openxmlformats.org/officeDocument/2006/relationships/image" Target="../media/image34.wmf"/><Relationship Id="rId1" Type="http://schemas.openxmlformats.org/officeDocument/2006/relationships/image" Target="../media/image33.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3.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effectLst/>
                <a:ea typeface="宋体" pitchFamily="2" charset="-122"/>
              </a:defRPr>
            </a:lvl1pPr>
          </a:lstStyle>
          <a:p>
            <a:pPr>
              <a:defRPr/>
            </a:pPr>
            <a:endParaRPr lang="zh-CN" altLang="en-US"/>
          </a:p>
        </p:txBody>
      </p:sp>
      <p:sp>
        <p:nvSpPr>
          <p:cNvPr id="512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effectLst/>
                <a:ea typeface="宋体" pitchFamily="2" charset="-122"/>
              </a:defRPr>
            </a:lvl1pPr>
          </a:lstStyle>
          <a:p>
            <a:pPr>
              <a:defRPr/>
            </a:pPr>
            <a:endParaRPr lang="en-US" altLang="zh-CN"/>
          </a:p>
        </p:txBody>
      </p:sp>
      <p:sp>
        <p:nvSpPr>
          <p:cNvPr id="512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effectLst/>
                <a:ea typeface="宋体" pitchFamily="2" charset="-122"/>
              </a:defRPr>
            </a:lvl1pPr>
          </a:lstStyle>
          <a:p>
            <a:pPr>
              <a:defRPr/>
            </a:pPr>
            <a:endParaRPr lang="en-US" altLang="zh-CN"/>
          </a:p>
        </p:txBody>
      </p:sp>
      <p:sp>
        <p:nvSpPr>
          <p:cNvPr id="512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effectLst/>
                <a:ea typeface="宋体" pitchFamily="2" charset="-122"/>
              </a:defRPr>
            </a:lvl1pPr>
          </a:lstStyle>
          <a:p>
            <a:pPr>
              <a:defRPr/>
            </a:pPr>
            <a:fld id="{EA49F935-0150-4C6F-8D75-4FB0B7411F5D}" type="slidenum">
              <a:rPr lang="zh-CN" altLang="en-US"/>
              <a:pPr>
                <a:defRPr/>
              </a:pPr>
              <a:t>‹#›</a:t>
            </a:fld>
            <a:endParaRPr lang="en-US" altLang="zh-CN"/>
          </a:p>
        </p:txBody>
      </p:sp>
    </p:spTree>
    <p:extLst>
      <p:ext uri="{BB962C8B-B14F-4D97-AF65-F5344CB8AC3E}">
        <p14:creationId xmlns:p14="http://schemas.microsoft.com/office/powerpoint/2010/main" val="31359475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kumimoji="1" sz="1200" b="0">
                <a:solidFill>
                  <a:schemeClr val="tx1"/>
                </a:solidFill>
                <a:effectLst/>
                <a:ea typeface="宋体" pitchFamily="2" charset="-122"/>
              </a:defRPr>
            </a:lvl1pPr>
          </a:lstStyle>
          <a:p>
            <a:pPr>
              <a:defRPr/>
            </a:pPr>
            <a:endParaRPr lang="zh-CN" alt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kumimoji="1" sz="1200" b="0">
                <a:solidFill>
                  <a:schemeClr val="tx1"/>
                </a:solidFill>
                <a:effectLst/>
                <a:ea typeface="宋体" pitchFamily="2" charset="-122"/>
              </a:defRPr>
            </a:lvl1pPr>
          </a:lstStyle>
          <a:p>
            <a:pPr>
              <a:defRPr/>
            </a:pPr>
            <a:endParaRPr lang="en-US" altLang="zh-CN"/>
          </a:p>
        </p:txBody>
      </p:sp>
      <p:sp>
        <p:nvSpPr>
          <p:cNvPr id="65540" name="Rectangle 4"/>
          <p:cNvSpPr>
            <a:spLocks noGrp="1" noRot="1" noChangeAspect="1" noChangeArrowheads="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kumimoji="1" sz="1200" b="0">
                <a:solidFill>
                  <a:schemeClr val="tx1"/>
                </a:solidFill>
                <a:effectLst/>
                <a:ea typeface="宋体" pitchFamily="2" charset="-122"/>
              </a:defRPr>
            </a:lvl1pPr>
          </a:lstStyle>
          <a:p>
            <a:pPr>
              <a:defRPr/>
            </a:pPr>
            <a:endParaRPr lang="en-US" altLang="zh-CN"/>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kumimoji="1" sz="1200" b="0">
                <a:solidFill>
                  <a:schemeClr val="tx1"/>
                </a:solidFill>
                <a:effectLst/>
                <a:ea typeface="宋体" pitchFamily="2" charset="-122"/>
              </a:defRPr>
            </a:lvl1pPr>
          </a:lstStyle>
          <a:p>
            <a:pPr>
              <a:defRPr/>
            </a:pPr>
            <a:fld id="{28CAE9F8-4B46-4E6A-92EC-2A340C0D6992}" type="slidenum">
              <a:rPr lang="zh-CN" altLang="en-US"/>
              <a:pPr>
                <a:defRPr/>
              </a:pPr>
              <a:t>‹#›</a:t>
            </a:fld>
            <a:endParaRPr lang="en-US" altLang="zh-CN"/>
          </a:p>
        </p:txBody>
      </p:sp>
    </p:spTree>
    <p:extLst>
      <p:ext uri="{BB962C8B-B14F-4D97-AF65-F5344CB8AC3E}">
        <p14:creationId xmlns:p14="http://schemas.microsoft.com/office/powerpoint/2010/main" val="248203590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p:spPr>
        <p:txBody>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fld id="{C3BAA848-B33F-4B3C-9242-B6007A111EB4}" type="slidenum">
              <a:rPr lang="zh-CN" altLang="en-US" sz="1200" b="0" smtClean="0">
                <a:solidFill>
                  <a:schemeClr val="tx1"/>
                </a:solidFill>
                <a:ea typeface="宋体" pitchFamily="2" charset="-122"/>
              </a:rPr>
              <a:pPr/>
              <a:t>2</a:t>
            </a:fld>
            <a:endParaRPr lang="en-US" altLang="zh-CN" sz="1200" b="0">
              <a:solidFill>
                <a:schemeClr val="tx1"/>
              </a:solidFill>
              <a:ea typeface="宋体" pitchFamily="2" charset="-122"/>
            </a:endParaRPr>
          </a:p>
        </p:txBody>
      </p:sp>
      <p:sp>
        <p:nvSpPr>
          <p:cNvPr id="66563" name="Rectangle 2"/>
          <p:cNvSpPr>
            <a:spLocks noGrp="1" noRot="1" noChangeAspect="1" noChangeArrowheads="1" noTextEdit="1"/>
          </p:cNvSpPr>
          <p:nvPr>
            <p:ph type="sldImg"/>
          </p:nvPr>
        </p:nvSpPr>
        <p:spPr>
          <a:ln/>
        </p:spPr>
      </p:sp>
      <p:sp>
        <p:nvSpPr>
          <p:cNvPr id="66564" name="Rectangle 3"/>
          <p:cNvSpPr>
            <a:spLocks noGrp="1" noChangeArrowheads="1"/>
          </p:cNvSpPr>
          <p:nvPr>
            <p:ph type="body" idx="1"/>
          </p:nvPr>
        </p:nvSpPr>
        <p:spPr>
          <a:noFill/>
        </p:spPr>
        <p:txBody>
          <a:bodyPr/>
          <a:lstStyle/>
          <a:p>
            <a:pPr eaLnBrk="1" hangingPunct="1"/>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28CAE9F8-4B46-4E6A-92EC-2A340C0D6992}" type="slidenum">
              <a:rPr lang="zh-CN" altLang="en-US" smtClean="0"/>
              <a:pPr>
                <a:defRPr/>
              </a:pPr>
              <a:t>4</a:t>
            </a:fld>
            <a:endParaRPr lang="en-US" altLang="zh-CN"/>
          </a:p>
        </p:txBody>
      </p:sp>
    </p:spTree>
    <p:extLst>
      <p:ext uri="{BB962C8B-B14F-4D97-AF65-F5344CB8AC3E}">
        <p14:creationId xmlns:p14="http://schemas.microsoft.com/office/powerpoint/2010/main" val="35298464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Freeform 2"/>
          <p:cNvSpPr>
            <a:spLocks/>
          </p:cNvSpPr>
          <p:nvPr/>
        </p:nvSpPr>
        <p:spPr bwMode="gray">
          <a:xfrm>
            <a:off x="690563" y="3340100"/>
            <a:ext cx="7653337" cy="485775"/>
          </a:xfrm>
          <a:custGeom>
            <a:avLst/>
            <a:gdLst>
              <a:gd name="T0" fmla="*/ 163 w 4128"/>
              <a:gd name="T1" fmla="*/ 200 h 479"/>
              <a:gd name="T2" fmla="*/ 4128 w 4128"/>
              <a:gd name="T3" fmla="*/ 200 h 479"/>
              <a:gd name="T4" fmla="*/ 4128 w 4128"/>
              <a:gd name="T5" fmla="*/ 429 h 479"/>
              <a:gd name="T6" fmla="*/ 0 w 4128"/>
              <a:gd name="T7" fmla="*/ 441 h 479"/>
              <a:gd name="T8" fmla="*/ 163 w 4128"/>
              <a:gd name="T9" fmla="*/ 200 h 479"/>
            </a:gdLst>
            <a:ahLst/>
            <a:cxnLst>
              <a:cxn ang="0">
                <a:pos x="T0" y="T1"/>
              </a:cxn>
              <a:cxn ang="0">
                <a:pos x="T2" y="T3"/>
              </a:cxn>
              <a:cxn ang="0">
                <a:pos x="T4" y="T5"/>
              </a:cxn>
              <a:cxn ang="0">
                <a:pos x="T6" y="T7"/>
              </a:cxn>
              <a:cxn ang="0">
                <a:pos x="T8" y="T9"/>
              </a:cxn>
            </a:cxnLst>
            <a:rect l="0" t="0" r="r" b="b"/>
            <a:pathLst>
              <a:path w="4128" h="479">
                <a:moveTo>
                  <a:pt x="163" y="200"/>
                </a:moveTo>
                <a:cubicBezTo>
                  <a:pt x="163" y="200"/>
                  <a:pt x="2054" y="0"/>
                  <a:pt x="4128" y="200"/>
                </a:cubicBezTo>
                <a:cubicBezTo>
                  <a:pt x="4128" y="200"/>
                  <a:pt x="4128" y="314"/>
                  <a:pt x="4128" y="429"/>
                </a:cubicBezTo>
                <a:cubicBezTo>
                  <a:pt x="2371" y="200"/>
                  <a:pt x="688" y="479"/>
                  <a:pt x="0" y="441"/>
                </a:cubicBezTo>
                <a:lnTo>
                  <a:pt x="163" y="200"/>
                </a:lnTo>
                <a:close/>
              </a:path>
            </a:pathLst>
          </a:custGeom>
          <a:solidFill>
            <a:schemeClr val="hlink">
              <a:alpha val="50000"/>
            </a:schemeClr>
          </a:solidFill>
          <a:ln>
            <a:noFill/>
          </a:ln>
          <a:extLst>
            <a:ext uri="{91240B29-F687-4F45-9708-019B960494DF}">
              <a14:hiddenLine xmlns:a14="http://schemas.microsoft.com/office/drawing/2010/main" w="9525">
                <a:solidFill>
                  <a:schemeClr val="tx1"/>
                </a:solidFill>
                <a:round/>
                <a:headEnd/>
                <a:tailEnd/>
              </a14:hiddenLine>
            </a:ext>
          </a:ex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075" name="Rectangle 3"/>
          <p:cNvSpPr>
            <a:spLocks noGrp="1" noChangeArrowheads="1"/>
          </p:cNvSpPr>
          <p:nvPr>
            <p:ph type="ctrTitle"/>
          </p:nvPr>
        </p:nvSpPr>
        <p:spPr>
          <a:xfrm>
            <a:off x="685800" y="2286000"/>
            <a:ext cx="7772400" cy="1143000"/>
          </a:xfrm>
        </p:spPr>
        <p:txBody>
          <a:bodyPr/>
          <a:lstStyle>
            <a:lvl1pPr>
              <a:defRPr kumimoji="0" sz="4800"/>
            </a:lvl1pPr>
          </a:lstStyle>
          <a:p>
            <a:pPr lvl="0"/>
            <a:r>
              <a:rPr lang="zh-CN" altLang="en-US" noProof="0"/>
              <a:t>单击此处编辑母版标题样式</a:t>
            </a:r>
            <a:endParaRPr lang="zh-CN" altLang="zh-CN" noProof="0"/>
          </a:p>
        </p:txBody>
      </p:sp>
      <p:sp>
        <p:nvSpPr>
          <p:cNvPr id="3076" name="Rectangle 4"/>
          <p:cNvSpPr>
            <a:spLocks noGrp="1" noChangeArrowheads="1"/>
          </p:cNvSpPr>
          <p:nvPr>
            <p:ph type="subTitle" idx="1"/>
          </p:nvPr>
        </p:nvSpPr>
        <p:spPr>
          <a:xfrm>
            <a:off x="1371600" y="3886200"/>
            <a:ext cx="6400800" cy="1752600"/>
          </a:xfrm>
        </p:spPr>
        <p:txBody>
          <a:bodyPr/>
          <a:lstStyle>
            <a:lvl1pPr marL="0" indent="0">
              <a:spcBef>
                <a:spcPct val="0"/>
              </a:spcBef>
              <a:buClrTx/>
              <a:buFontTx/>
              <a:buNone/>
              <a:defRPr kumimoji="0">
                <a:solidFill>
                  <a:srgbClr val="333333"/>
                </a:solidFill>
              </a:defRPr>
            </a:lvl1pPr>
          </a:lstStyle>
          <a:p>
            <a:pPr lvl="0"/>
            <a:r>
              <a:rPr lang="zh-CN" altLang="en-US" noProof="0"/>
              <a:t>单击此处编辑母版副标题样式</a:t>
            </a:r>
          </a:p>
        </p:txBody>
      </p:sp>
      <p:sp>
        <p:nvSpPr>
          <p:cNvPr id="5" name="Rectangle 5"/>
          <p:cNvSpPr>
            <a:spLocks noGrp="1" noChangeArrowheads="1"/>
          </p:cNvSpPr>
          <p:nvPr>
            <p:ph type="dt" sz="half" idx="10"/>
          </p:nvPr>
        </p:nvSpPr>
        <p:spPr/>
        <p:txBody>
          <a:bodyPr/>
          <a:lstStyle>
            <a:lvl1pPr>
              <a:defRPr>
                <a:solidFill>
                  <a:srgbClr val="578963"/>
                </a:solidFill>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solidFill>
                  <a:srgbClr val="578963"/>
                </a:solidFill>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solidFill>
                  <a:srgbClr val="578963"/>
                </a:solidFill>
              </a:defRPr>
            </a:lvl1pPr>
          </a:lstStyle>
          <a:p>
            <a:pPr>
              <a:defRPr/>
            </a:pPr>
            <a:fld id="{56C51FFC-9C0E-4AAB-8FE2-9C53AFA9C30B}" type="slidenum">
              <a:rPr lang="zh-CN" altLang="en-US"/>
              <a:pPr>
                <a:defRPr/>
              </a:pPr>
              <a:t>‹#›</a:t>
            </a:fld>
            <a:endParaRPr lang="en-US" altLang="zh-CN"/>
          </a:p>
        </p:txBody>
      </p:sp>
    </p:spTree>
    <p:extLst>
      <p:ext uri="{BB962C8B-B14F-4D97-AF65-F5344CB8AC3E}">
        <p14:creationId xmlns:p14="http://schemas.microsoft.com/office/powerpoint/2010/main" val="538668072"/>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0EB1903-A2B2-4056-AF43-5EA5DFD6404B}" type="slidenum">
              <a:rPr lang="zh-CN" altLang="en-US"/>
              <a:pPr>
                <a:defRPr/>
              </a:pPr>
              <a:t>‹#›</a:t>
            </a:fld>
            <a:endParaRPr lang="en-US" altLang="zh-CN"/>
          </a:p>
        </p:txBody>
      </p:sp>
    </p:spTree>
    <p:extLst>
      <p:ext uri="{BB962C8B-B14F-4D97-AF65-F5344CB8AC3E}">
        <p14:creationId xmlns:p14="http://schemas.microsoft.com/office/powerpoint/2010/main" val="2587844527"/>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F95FAA84-24D5-4D25-BD65-8DBE0C1E1790}" type="slidenum">
              <a:rPr lang="zh-CN" altLang="en-US"/>
              <a:pPr>
                <a:defRPr/>
              </a:pPr>
              <a:t>‹#›</a:t>
            </a:fld>
            <a:endParaRPr lang="en-US" altLang="zh-CN"/>
          </a:p>
        </p:txBody>
      </p:sp>
    </p:spTree>
    <p:extLst>
      <p:ext uri="{BB962C8B-B14F-4D97-AF65-F5344CB8AC3E}">
        <p14:creationId xmlns:p14="http://schemas.microsoft.com/office/powerpoint/2010/main" val="527976943"/>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5FF5C2A5-2DE2-4A04-932B-64C1061158F4}" type="slidenum">
              <a:rPr lang="zh-CN" altLang="en-US"/>
              <a:pPr>
                <a:defRPr/>
              </a:pPr>
              <a:t>‹#›</a:t>
            </a:fld>
            <a:endParaRPr lang="en-US" altLang="zh-CN"/>
          </a:p>
        </p:txBody>
      </p:sp>
    </p:spTree>
    <p:extLst>
      <p:ext uri="{BB962C8B-B14F-4D97-AF65-F5344CB8AC3E}">
        <p14:creationId xmlns:p14="http://schemas.microsoft.com/office/powerpoint/2010/main" val="4258823355"/>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FD475C0-71D5-4EC3-9E98-65FBCA92B8FA}" type="slidenum">
              <a:rPr lang="zh-CN" altLang="en-US"/>
              <a:pPr>
                <a:defRPr/>
              </a:pPr>
              <a:t>‹#›</a:t>
            </a:fld>
            <a:endParaRPr lang="en-US" altLang="zh-CN"/>
          </a:p>
        </p:txBody>
      </p:sp>
    </p:spTree>
    <p:extLst>
      <p:ext uri="{BB962C8B-B14F-4D97-AF65-F5344CB8AC3E}">
        <p14:creationId xmlns:p14="http://schemas.microsoft.com/office/powerpoint/2010/main" val="230277076"/>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F0F613F6-899E-412B-8E72-31B66FE291AE}" type="slidenum">
              <a:rPr lang="zh-CN" altLang="en-US"/>
              <a:pPr>
                <a:defRPr/>
              </a:pPr>
              <a:t>‹#›</a:t>
            </a:fld>
            <a:endParaRPr lang="en-US" altLang="zh-CN"/>
          </a:p>
        </p:txBody>
      </p:sp>
    </p:spTree>
    <p:extLst>
      <p:ext uri="{BB962C8B-B14F-4D97-AF65-F5344CB8AC3E}">
        <p14:creationId xmlns:p14="http://schemas.microsoft.com/office/powerpoint/2010/main" val="4014571886"/>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F6CE6BB-72E6-4B91-A042-531C5C8EC7BA}" type="slidenum">
              <a:rPr lang="zh-CN" altLang="en-US"/>
              <a:pPr>
                <a:defRPr/>
              </a:pPr>
              <a:t>‹#›</a:t>
            </a:fld>
            <a:endParaRPr lang="en-US" altLang="zh-CN"/>
          </a:p>
        </p:txBody>
      </p:sp>
    </p:spTree>
    <p:extLst>
      <p:ext uri="{BB962C8B-B14F-4D97-AF65-F5344CB8AC3E}">
        <p14:creationId xmlns:p14="http://schemas.microsoft.com/office/powerpoint/2010/main" val="2043010162"/>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8C27ED2-D6F0-4486-9858-D8AFDE1B91B2}" type="slidenum">
              <a:rPr lang="zh-CN" altLang="en-US"/>
              <a:pPr>
                <a:defRPr/>
              </a:pPr>
              <a:t>‹#›</a:t>
            </a:fld>
            <a:endParaRPr lang="en-US" altLang="zh-CN"/>
          </a:p>
        </p:txBody>
      </p:sp>
    </p:spTree>
    <p:extLst>
      <p:ext uri="{BB962C8B-B14F-4D97-AF65-F5344CB8AC3E}">
        <p14:creationId xmlns:p14="http://schemas.microsoft.com/office/powerpoint/2010/main" val="3353143531"/>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43C7D80-72A5-4741-83E2-87F505118119}" type="slidenum">
              <a:rPr lang="zh-CN" altLang="en-US"/>
              <a:pPr>
                <a:defRPr/>
              </a:pPr>
              <a:t>‹#›</a:t>
            </a:fld>
            <a:endParaRPr lang="en-US" altLang="zh-CN"/>
          </a:p>
        </p:txBody>
      </p:sp>
    </p:spTree>
    <p:extLst>
      <p:ext uri="{BB962C8B-B14F-4D97-AF65-F5344CB8AC3E}">
        <p14:creationId xmlns:p14="http://schemas.microsoft.com/office/powerpoint/2010/main" val="343092317"/>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DF5C488-DCEA-49B3-AA1C-2F75193A84FC}" type="slidenum">
              <a:rPr lang="zh-CN" altLang="en-US"/>
              <a:pPr>
                <a:defRPr/>
              </a:pPr>
              <a:t>‹#›</a:t>
            </a:fld>
            <a:endParaRPr lang="en-US" altLang="zh-CN"/>
          </a:p>
        </p:txBody>
      </p:sp>
    </p:spTree>
    <p:extLst>
      <p:ext uri="{BB962C8B-B14F-4D97-AF65-F5344CB8AC3E}">
        <p14:creationId xmlns:p14="http://schemas.microsoft.com/office/powerpoint/2010/main" val="1728310691"/>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457200"/>
            <a:ext cx="1943100" cy="56388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457200"/>
            <a:ext cx="5676900" cy="56388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748C676-A1CE-48CB-B49A-8173D5229A3E}" type="slidenum">
              <a:rPr lang="zh-CN" altLang="en-US"/>
              <a:pPr>
                <a:defRPr/>
              </a:pPr>
              <a:t>‹#›</a:t>
            </a:fld>
            <a:endParaRPr lang="en-US" altLang="zh-CN"/>
          </a:p>
        </p:txBody>
      </p:sp>
    </p:spTree>
    <p:extLst>
      <p:ext uri="{BB962C8B-B14F-4D97-AF65-F5344CB8AC3E}">
        <p14:creationId xmlns:p14="http://schemas.microsoft.com/office/powerpoint/2010/main" val="183884190"/>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45720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Rectangle 3"/>
          <p:cNvSpPr>
            <a:spLocks noGrp="1" noChangeArrowheads="1"/>
          </p:cNvSpPr>
          <p:nvPr>
            <p:ph type="body" idx="1"/>
          </p:nvPr>
        </p:nvSpPr>
        <p:spPr bwMode="auto">
          <a:xfrm>
            <a:off x="685800" y="1981200"/>
            <a:ext cx="7772400" cy="4114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052" name="Rectangle 4"/>
          <p:cNvSpPr>
            <a:spLocks noGrp="1" noChangeArrowheads="1"/>
          </p:cNvSpPr>
          <p:nvPr>
            <p:ph type="dt" sz="half" idx="2"/>
          </p:nvPr>
        </p:nvSpPr>
        <p:spPr bwMode="auto">
          <a:xfrm>
            <a:off x="6858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eaLnBrk="1" hangingPunct="1">
              <a:spcBef>
                <a:spcPct val="50000"/>
              </a:spcBef>
              <a:defRPr sz="1400" b="0">
                <a:solidFill>
                  <a:schemeClr val="bg2"/>
                </a:solidFill>
                <a:effectLst/>
                <a:ea typeface="+mn-ea"/>
              </a:defRPr>
            </a:lvl1pPr>
          </a:lstStyle>
          <a:p>
            <a:pPr>
              <a:defRPr/>
            </a:pPr>
            <a:endParaRPr lang="en-US" altLang="zh-CN"/>
          </a:p>
        </p:txBody>
      </p:sp>
      <p:sp>
        <p:nvSpPr>
          <p:cNvPr id="2053" name="Rectangle 5"/>
          <p:cNvSpPr>
            <a:spLocks noGrp="1" noChangeArrowheads="1"/>
          </p:cNvSpPr>
          <p:nvPr>
            <p:ph type="ftr" sz="quarter" idx="3"/>
          </p:nvPr>
        </p:nvSpPr>
        <p:spPr bwMode="auto">
          <a:xfrm>
            <a:off x="3124200" y="6248400"/>
            <a:ext cx="28956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b="0">
                <a:solidFill>
                  <a:schemeClr val="bg2"/>
                </a:solidFill>
                <a:effectLst/>
                <a:ea typeface="+mn-ea"/>
              </a:defRPr>
            </a:lvl1pPr>
          </a:lstStyle>
          <a:p>
            <a:pPr>
              <a:defRPr/>
            </a:pPr>
            <a:endParaRPr lang="en-US" altLang="zh-CN"/>
          </a:p>
        </p:txBody>
      </p:sp>
      <p:sp>
        <p:nvSpPr>
          <p:cNvPr id="2054" name="Rectangle 6"/>
          <p:cNvSpPr>
            <a:spLocks noGrp="1" noChangeArrowheads="1"/>
          </p:cNvSpPr>
          <p:nvPr>
            <p:ph type="sldNum" sz="quarter" idx="4"/>
          </p:nvPr>
        </p:nvSpPr>
        <p:spPr bwMode="auto">
          <a:xfrm>
            <a:off x="6553200" y="6248400"/>
            <a:ext cx="1905000" cy="457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algn="r" eaLnBrk="1" hangingPunct="1">
              <a:spcBef>
                <a:spcPct val="50000"/>
              </a:spcBef>
              <a:defRPr sz="1400" b="0">
                <a:solidFill>
                  <a:schemeClr val="bg2"/>
                </a:solidFill>
                <a:effectLst/>
                <a:ea typeface="+mn-ea"/>
              </a:defRPr>
            </a:lvl1pPr>
          </a:lstStyle>
          <a:p>
            <a:pPr>
              <a:defRPr/>
            </a:pPr>
            <a:fld id="{A4F3701E-3E15-4B8A-9647-58B4E5CE4867}" type="slidenum">
              <a:rPr lang="zh-CN" altLang="en-US"/>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780"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 id="2147483778" r:id="rId10"/>
    <p:sldLayoutId id="2147483779" r:id="rId11"/>
  </p:sldLayoutIdLst>
  <p:transition spd="slow">
    <p:push dir="u"/>
  </p:transition>
  <p:hf hdr="0" ftr="0" dt="0"/>
  <p:txStyles>
    <p:titleStyle>
      <a:lvl1pPr algn="l" rtl="0" eaLnBrk="0" fontAlgn="base" hangingPunct="0">
        <a:spcBef>
          <a:spcPct val="0"/>
        </a:spcBef>
        <a:spcAft>
          <a:spcPct val="0"/>
        </a:spcAft>
        <a:defRPr kumimoji="1" sz="4400">
          <a:solidFill>
            <a:schemeClr val="tx2"/>
          </a:solidFill>
          <a:latin typeface="+mj-lt"/>
          <a:ea typeface="+mj-ea"/>
          <a:cs typeface="+mj-cs"/>
        </a:defRPr>
      </a:lvl1pPr>
      <a:lvl2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l"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l"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l"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l"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l"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4.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7.wmf"/><Relationship Id="rId5" Type="http://schemas.openxmlformats.org/officeDocument/2006/relationships/oleObject" Target="../embeddings/oleObject3.bin"/><Relationship Id="rId10" Type="http://schemas.openxmlformats.org/officeDocument/2006/relationships/image" Target="../media/image9.wmf"/><Relationship Id="rId4" Type="http://schemas.openxmlformats.org/officeDocument/2006/relationships/image" Target="../media/image6.wmf"/><Relationship Id="rId9" Type="http://schemas.openxmlformats.org/officeDocument/2006/relationships/oleObject" Target="../embeddings/oleObject5.bin"/></Relationships>
</file>

<file path=ppt/slides/_rels/slide41.xml.rels><?xml version="1.0" encoding="UTF-8" standalone="yes"?>
<Relationships xmlns="http://schemas.openxmlformats.org/package/2006/relationships"><Relationship Id="rId8" Type="http://schemas.openxmlformats.org/officeDocument/2006/relationships/image" Target="../media/image12.wmf"/><Relationship Id="rId13" Type="http://schemas.openxmlformats.org/officeDocument/2006/relationships/oleObject" Target="../embeddings/oleObject11.bin"/><Relationship Id="rId3" Type="http://schemas.openxmlformats.org/officeDocument/2006/relationships/oleObject" Target="../embeddings/oleObject6.bin"/><Relationship Id="rId7" Type="http://schemas.openxmlformats.org/officeDocument/2006/relationships/oleObject" Target="../embeddings/oleObject8.bin"/><Relationship Id="rId12" Type="http://schemas.openxmlformats.org/officeDocument/2006/relationships/image" Target="../media/image14.wmf"/><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1.wmf"/><Relationship Id="rId11" Type="http://schemas.openxmlformats.org/officeDocument/2006/relationships/oleObject" Target="../embeddings/oleObject10.bin"/><Relationship Id="rId5" Type="http://schemas.openxmlformats.org/officeDocument/2006/relationships/oleObject" Target="../embeddings/oleObject7.bin"/><Relationship Id="rId10" Type="http://schemas.openxmlformats.org/officeDocument/2006/relationships/image" Target="../media/image13.wmf"/><Relationship Id="rId4" Type="http://schemas.openxmlformats.org/officeDocument/2006/relationships/image" Target="../media/image10.wmf"/><Relationship Id="rId9" Type="http://schemas.openxmlformats.org/officeDocument/2006/relationships/oleObject" Target="../embeddings/oleObject9.bin"/><Relationship Id="rId14" Type="http://schemas.openxmlformats.org/officeDocument/2006/relationships/image" Target="../media/image15.wmf"/></Relationships>
</file>

<file path=ppt/slides/_rels/slide42.xml.rels><?xml version="1.0" encoding="UTF-8" standalone="yes"?>
<Relationships xmlns="http://schemas.openxmlformats.org/package/2006/relationships"><Relationship Id="rId8" Type="http://schemas.openxmlformats.org/officeDocument/2006/relationships/image" Target="../media/image16.wmf"/><Relationship Id="rId3" Type="http://schemas.openxmlformats.org/officeDocument/2006/relationships/oleObject" Target="../embeddings/oleObject12.bin"/><Relationship Id="rId7" Type="http://schemas.openxmlformats.org/officeDocument/2006/relationships/oleObject" Target="../embeddings/oleObject14.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3.wmf"/><Relationship Id="rId5" Type="http://schemas.openxmlformats.org/officeDocument/2006/relationships/oleObject" Target="../embeddings/oleObject13.bin"/><Relationship Id="rId10" Type="http://schemas.openxmlformats.org/officeDocument/2006/relationships/image" Target="../media/image17.wmf"/><Relationship Id="rId4" Type="http://schemas.openxmlformats.org/officeDocument/2006/relationships/image" Target="../media/image11.wmf"/><Relationship Id="rId9" Type="http://schemas.openxmlformats.org/officeDocument/2006/relationships/oleObject" Target="../embeddings/oleObject15.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19.wmf"/><Relationship Id="rId5" Type="http://schemas.openxmlformats.org/officeDocument/2006/relationships/oleObject" Target="../embeddings/oleObject17.bin"/><Relationship Id="rId4" Type="http://schemas.openxmlformats.org/officeDocument/2006/relationships/image" Target="../media/image18.wm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6.wmf"/><Relationship Id="rId4" Type="http://schemas.openxmlformats.org/officeDocument/2006/relationships/oleObject" Target="../embeddings/oleObject18.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wmf"/></Relationships>
</file>

<file path=ppt/slides/_rels/slide5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0.png"/><Relationship Id="rId7"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22.png"/></Relationships>
</file>

<file path=ppt/slides/_rels/slide5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32.jpg"/><Relationship Id="rId5" Type="http://schemas.openxmlformats.org/officeDocument/2006/relationships/image" Target="../media/image30.wmf"/><Relationship Id="rId4" Type="http://schemas.openxmlformats.org/officeDocument/2006/relationships/oleObject" Target="../embeddings/oleObject20.bin"/></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oleObject" Target="../embeddings/oleObject22.bin"/><Relationship Id="rId4" Type="http://schemas.openxmlformats.org/officeDocument/2006/relationships/image" Target="../media/image33.wmf"/></Relationships>
</file>

<file path=ppt/slides/_rels/slide54.xml.rels><?xml version="1.0" encoding="UTF-8" standalone="yes"?>
<Relationships xmlns="http://schemas.openxmlformats.org/package/2006/relationships"><Relationship Id="rId8" Type="http://schemas.openxmlformats.org/officeDocument/2006/relationships/image" Target="../media/image35.wmf"/><Relationship Id="rId3" Type="http://schemas.openxmlformats.org/officeDocument/2006/relationships/oleObject" Target="../embeddings/oleObject23.bin"/><Relationship Id="rId7" Type="http://schemas.openxmlformats.org/officeDocument/2006/relationships/oleObject" Target="../embeddings/oleObject25.bin"/><Relationship Id="rId2" Type="http://schemas.openxmlformats.org/officeDocument/2006/relationships/slideLayout" Target="../slideLayouts/slideLayout7.xml"/><Relationship Id="rId1" Type="http://schemas.openxmlformats.org/officeDocument/2006/relationships/vmlDrawing" Target="../drawings/vmlDrawing10.vml"/><Relationship Id="rId6" Type="http://schemas.openxmlformats.org/officeDocument/2006/relationships/image" Target="../media/image34.wmf"/><Relationship Id="rId5" Type="http://schemas.openxmlformats.org/officeDocument/2006/relationships/oleObject" Target="../embeddings/oleObject24.bin"/><Relationship Id="rId4" Type="http://schemas.openxmlformats.org/officeDocument/2006/relationships/image" Target="../media/image33.wmf"/></Relationships>
</file>

<file path=ppt/slides/_rels/slide5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8.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33.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5"/>
          <p:cNvSpPr>
            <a:spLocks noGrp="1"/>
          </p:cNvSpPr>
          <p:nvPr>
            <p:ph type="sldNum" sz="quarter" idx="12"/>
          </p:nvPr>
        </p:nvSpPr>
        <p:spPr/>
        <p:txBody>
          <a:bodyPr/>
          <a:lstStyle/>
          <a:p>
            <a:pPr>
              <a:defRPr/>
            </a:pPr>
            <a:fld id="{BF84EA54-84D3-4D30-B6AB-1909896BCA8D}" type="slidenum">
              <a:rPr lang="zh-CN" altLang="en-US"/>
              <a:pPr>
                <a:defRPr/>
              </a:pPr>
              <a:t>1</a:t>
            </a:fld>
            <a:endParaRPr lang="en-US" altLang="zh-CN"/>
          </a:p>
        </p:txBody>
      </p:sp>
      <p:sp>
        <p:nvSpPr>
          <p:cNvPr id="3075" name="Rectangle 3"/>
          <p:cNvSpPr>
            <a:spLocks noGrp="1" noChangeArrowheads="1"/>
          </p:cNvSpPr>
          <p:nvPr>
            <p:ph type="body" idx="1"/>
          </p:nvPr>
        </p:nvSpPr>
        <p:spPr>
          <a:xfrm>
            <a:off x="1835696" y="1124744"/>
            <a:ext cx="4178300" cy="909637"/>
          </a:xfrm>
        </p:spPr>
        <p:txBody>
          <a:bodyPr/>
          <a:lstStyle/>
          <a:p>
            <a:pPr algn="just" eaLnBrk="1" hangingPunct="1">
              <a:buFont typeface="Monotype Sorts" pitchFamily="2" charset="2"/>
              <a:buNone/>
            </a:pPr>
            <a:r>
              <a:rPr lang="zh-CN" altLang="en-US" b="1" dirty="0">
                <a:latin typeface="黑体" pitchFamily="49" charset="-122"/>
                <a:ea typeface="黑体" pitchFamily="49" charset="-122"/>
              </a:rPr>
              <a:t>软件基础与计算物理</a:t>
            </a:r>
          </a:p>
        </p:txBody>
      </p:sp>
      <p:sp>
        <p:nvSpPr>
          <p:cNvPr id="3076" name="Text Box 4"/>
          <p:cNvSpPr txBox="1">
            <a:spLocks noChangeArrowheads="1"/>
          </p:cNvSpPr>
          <p:nvPr/>
        </p:nvSpPr>
        <p:spPr bwMode="auto">
          <a:xfrm>
            <a:off x="3059113" y="2420938"/>
            <a:ext cx="1408112"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a:latin typeface="黑体" pitchFamily="49" charset="-122"/>
                <a:ea typeface="黑体" pitchFamily="49" charset="-122"/>
              </a:rPr>
              <a:t>李宝会</a:t>
            </a:r>
          </a:p>
        </p:txBody>
      </p:sp>
      <p:sp>
        <p:nvSpPr>
          <p:cNvPr id="3077" name="Text Box 5"/>
          <p:cNvSpPr txBox="1">
            <a:spLocks noChangeArrowheads="1"/>
          </p:cNvSpPr>
          <p:nvPr/>
        </p:nvSpPr>
        <p:spPr bwMode="auto">
          <a:xfrm>
            <a:off x="2987675" y="3213100"/>
            <a:ext cx="1711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a:ea typeface="楷体_GB2312" pitchFamily="49" charset="-122"/>
              </a:rPr>
              <a:t>五教 </a:t>
            </a:r>
            <a:r>
              <a:rPr kumimoji="0" lang="en-US" altLang="zh-CN">
                <a:ea typeface="楷体_GB2312" pitchFamily="49" charset="-122"/>
              </a:rPr>
              <a:t>201</a:t>
            </a:r>
            <a:endParaRPr kumimoji="0" lang="zh-CN" altLang="en-US">
              <a:ea typeface="楷体_GB2312" pitchFamily="49" charset="-122"/>
            </a:endParaRPr>
          </a:p>
        </p:txBody>
      </p:sp>
      <p:sp>
        <p:nvSpPr>
          <p:cNvPr id="3078" name="Text Box 7"/>
          <p:cNvSpPr txBox="1">
            <a:spLocks noChangeArrowheads="1"/>
          </p:cNvSpPr>
          <p:nvPr/>
        </p:nvSpPr>
        <p:spPr bwMode="auto">
          <a:xfrm>
            <a:off x="3214555" y="5471032"/>
            <a:ext cx="142058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None/>
            </a:pPr>
            <a:r>
              <a:rPr kumimoji="0" lang="zh-CN" altLang="en-US" dirty="0">
                <a:latin typeface="黑体" pitchFamily="49" charset="-122"/>
                <a:ea typeface="黑体" pitchFamily="49" charset="-122"/>
              </a:rPr>
              <a:t>范万德</a:t>
            </a:r>
            <a:endParaRPr kumimoji="0" lang="en-US" altLang="zh-CN" dirty="0">
              <a:latin typeface="黑体" pitchFamily="49" charset="-122"/>
              <a:ea typeface="黑体" pitchFamily="49" charset="-122"/>
            </a:endParaRPr>
          </a:p>
        </p:txBody>
      </p:sp>
      <p:sp>
        <p:nvSpPr>
          <p:cNvPr id="3079" name="Text Box 8"/>
          <p:cNvSpPr txBox="1">
            <a:spLocks noChangeArrowheads="1"/>
          </p:cNvSpPr>
          <p:nvPr/>
        </p:nvSpPr>
        <p:spPr bwMode="auto">
          <a:xfrm>
            <a:off x="1258888" y="4005263"/>
            <a:ext cx="5716587"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ctr" eaLnBrk="1" hangingPunct="1">
              <a:spcBef>
                <a:spcPct val="0"/>
              </a:spcBef>
              <a:buClrTx/>
              <a:buFontTx/>
              <a:buNone/>
            </a:pPr>
            <a:r>
              <a:rPr kumimoji="0" lang="en-US" altLang="zh-CN" b="0">
                <a:latin typeface="Arial" pitchFamily="34" charset="0"/>
              </a:rPr>
              <a:t>Tel. 23494422</a:t>
            </a:r>
          </a:p>
          <a:p>
            <a:pPr algn="ctr" eaLnBrk="1" hangingPunct="1">
              <a:spcBef>
                <a:spcPct val="0"/>
              </a:spcBef>
              <a:buClrTx/>
              <a:buFontTx/>
              <a:buNone/>
            </a:pPr>
            <a:r>
              <a:rPr kumimoji="0" lang="en-US" altLang="zh-CN" b="0">
                <a:latin typeface="Arial" pitchFamily="34" charset="0"/>
              </a:rPr>
              <a:t>E-mail: baohui@nankai.edu.cn</a:t>
            </a:r>
          </a:p>
        </p:txBody>
      </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6FD39D37-78D1-411A-97B9-4BABE54481FC}" type="slidenum">
              <a:rPr lang="zh-CN" altLang="en-US"/>
              <a:pPr>
                <a:defRPr/>
              </a:pPr>
              <a:t>2</a:t>
            </a:fld>
            <a:endParaRPr lang="en-US" altLang="zh-CN"/>
          </a:p>
        </p:txBody>
      </p:sp>
      <p:sp>
        <p:nvSpPr>
          <p:cNvPr id="468994" name="Text Box 2"/>
          <p:cNvSpPr txBox="1">
            <a:spLocks noChangeArrowheads="1"/>
          </p:cNvSpPr>
          <p:nvPr/>
        </p:nvSpPr>
        <p:spPr bwMode="auto">
          <a:xfrm>
            <a:off x="2057400" y="152400"/>
            <a:ext cx="4473575" cy="823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4800">
                <a:ea typeface="隶书" pitchFamily="49" charset="-122"/>
              </a:rPr>
              <a:t>计算物课程大纲</a:t>
            </a:r>
          </a:p>
        </p:txBody>
      </p:sp>
      <p:sp>
        <p:nvSpPr>
          <p:cNvPr id="468995" name="Text Box 3"/>
          <p:cNvSpPr txBox="1">
            <a:spLocks noChangeArrowheads="1"/>
          </p:cNvSpPr>
          <p:nvPr/>
        </p:nvSpPr>
        <p:spPr bwMode="auto">
          <a:xfrm>
            <a:off x="228600" y="1066800"/>
            <a:ext cx="8686800" cy="5478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40000"/>
              </a:lnSpc>
              <a:spcBef>
                <a:spcPct val="0"/>
              </a:spcBef>
              <a:buClrTx/>
              <a:buFontTx/>
              <a:buNone/>
            </a:pPr>
            <a:r>
              <a:rPr lang="zh-CN" altLang="en-US" sz="2800">
                <a:ea typeface="楷体_GB2312" pitchFamily="49" charset="-122"/>
              </a:rPr>
              <a:t>第一章：</a:t>
            </a:r>
            <a:r>
              <a:rPr lang="en-US" altLang="zh-CN" sz="2800"/>
              <a:t>Introduction </a:t>
            </a:r>
            <a:endParaRPr lang="zh-CN" altLang="en-US" sz="2800"/>
          </a:p>
          <a:p>
            <a:pPr eaLnBrk="1" hangingPunct="1">
              <a:lnSpc>
                <a:spcPct val="140000"/>
              </a:lnSpc>
              <a:spcBef>
                <a:spcPct val="0"/>
              </a:spcBef>
              <a:buClrTx/>
              <a:buFontTx/>
              <a:buNone/>
            </a:pPr>
            <a:r>
              <a:rPr lang="zh-CN" altLang="en-US" sz="2800">
                <a:ea typeface="楷体_GB2312" pitchFamily="49" charset="-122"/>
              </a:rPr>
              <a:t>第二章:  </a:t>
            </a:r>
            <a:r>
              <a:rPr kumimoji="0" lang="en-US" altLang="zh-CN" sz="2800">
                <a:ea typeface="楷体_GB2312" pitchFamily="49" charset="-122"/>
              </a:rPr>
              <a:t>Numerical differentiation</a:t>
            </a:r>
            <a:r>
              <a:rPr lang="zh-CN" altLang="en-US" sz="2800">
                <a:ea typeface="楷体_GB2312" pitchFamily="49" charset="-122"/>
              </a:rPr>
              <a:t> </a:t>
            </a:r>
            <a:endParaRPr lang="zh-CN" altLang="en-US" sz="2800"/>
          </a:p>
          <a:p>
            <a:pPr eaLnBrk="1" hangingPunct="1">
              <a:lnSpc>
                <a:spcPct val="140000"/>
              </a:lnSpc>
              <a:spcBef>
                <a:spcPct val="0"/>
              </a:spcBef>
              <a:buClrTx/>
              <a:buFontTx/>
              <a:buNone/>
            </a:pPr>
            <a:r>
              <a:rPr lang="zh-CN" altLang="en-US" sz="2800">
                <a:ea typeface="楷体_GB2312" pitchFamily="49" charset="-122"/>
              </a:rPr>
              <a:t>第三章:  </a:t>
            </a:r>
            <a:r>
              <a:rPr lang="en-US" altLang="zh-CN" sz="2800">
                <a:ea typeface="楷体_GB2312" pitchFamily="49" charset="-122"/>
              </a:rPr>
              <a:t>Inter</a:t>
            </a:r>
            <a:r>
              <a:rPr lang="en-US" altLang="zh-CN" sz="2800"/>
              <a:t>polation</a:t>
            </a:r>
          </a:p>
          <a:p>
            <a:pPr eaLnBrk="1" hangingPunct="1">
              <a:lnSpc>
                <a:spcPct val="140000"/>
              </a:lnSpc>
              <a:spcBef>
                <a:spcPct val="0"/>
              </a:spcBef>
              <a:buClrTx/>
              <a:buFontTx/>
              <a:buNone/>
            </a:pPr>
            <a:r>
              <a:rPr lang="zh-CN" altLang="en-US" sz="2800">
                <a:ea typeface="楷体_GB2312" pitchFamily="49" charset="-122"/>
              </a:rPr>
              <a:t>第四章:  </a:t>
            </a:r>
            <a:r>
              <a:rPr lang="en-US" altLang="zh-CN" sz="2800"/>
              <a:t>Root finding in one dimension</a:t>
            </a:r>
          </a:p>
          <a:p>
            <a:pPr eaLnBrk="1" hangingPunct="1">
              <a:lnSpc>
                <a:spcPct val="140000"/>
              </a:lnSpc>
              <a:spcBef>
                <a:spcPct val="0"/>
              </a:spcBef>
              <a:buClrTx/>
              <a:buFontTx/>
              <a:buNone/>
            </a:pPr>
            <a:r>
              <a:rPr lang="zh-CN" altLang="en-US" sz="2800">
                <a:ea typeface="楷体_GB2312" pitchFamily="49" charset="-122"/>
              </a:rPr>
              <a:t>第五章:</a:t>
            </a:r>
            <a:r>
              <a:rPr lang="en-US" altLang="zh-CN" sz="2800"/>
              <a:t>  Linear equations</a:t>
            </a:r>
            <a:r>
              <a:rPr lang="zh-CN" altLang="en-US" sz="2800">
                <a:ea typeface="楷体_GB2312" pitchFamily="49" charset="-122"/>
              </a:rPr>
              <a:t> </a:t>
            </a:r>
            <a:endParaRPr lang="zh-CN" altLang="en-US" sz="2800"/>
          </a:p>
          <a:p>
            <a:pPr eaLnBrk="1" hangingPunct="1">
              <a:lnSpc>
                <a:spcPct val="140000"/>
              </a:lnSpc>
              <a:spcBef>
                <a:spcPct val="0"/>
              </a:spcBef>
              <a:buClrTx/>
              <a:buFontTx/>
              <a:buNone/>
            </a:pPr>
            <a:r>
              <a:rPr lang="zh-CN" altLang="en-US" sz="2800">
                <a:ea typeface="楷体_GB2312" pitchFamily="49" charset="-122"/>
              </a:rPr>
              <a:t>第六章:</a:t>
            </a:r>
            <a:r>
              <a:rPr lang="en-US" altLang="zh-CN" sz="2800"/>
              <a:t>  Numerical integration </a:t>
            </a:r>
          </a:p>
          <a:p>
            <a:pPr eaLnBrk="1" hangingPunct="1">
              <a:lnSpc>
                <a:spcPct val="140000"/>
              </a:lnSpc>
              <a:spcBef>
                <a:spcPct val="0"/>
              </a:spcBef>
              <a:buClrTx/>
              <a:buFontTx/>
              <a:buNone/>
            </a:pPr>
            <a:r>
              <a:rPr lang="zh-CN" altLang="en-US" sz="2800">
                <a:ea typeface="楷体_GB2312" pitchFamily="49" charset="-122"/>
              </a:rPr>
              <a:t>第七章:  </a:t>
            </a:r>
            <a:r>
              <a:rPr lang="en-US" altLang="zh-CN" sz="2800"/>
              <a:t>First order ordinary differential equations </a:t>
            </a:r>
          </a:p>
          <a:p>
            <a:pPr eaLnBrk="1" hangingPunct="1">
              <a:lnSpc>
                <a:spcPct val="140000"/>
              </a:lnSpc>
              <a:spcBef>
                <a:spcPct val="0"/>
              </a:spcBef>
              <a:buClrTx/>
              <a:buFontTx/>
              <a:buNone/>
            </a:pPr>
            <a:r>
              <a:rPr lang="zh-CN" altLang="en-US" sz="2800">
                <a:ea typeface="楷体_GB2312" pitchFamily="49" charset="-122"/>
              </a:rPr>
              <a:t>第八章:  </a:t>
            </a:r>
            <a:r>
              <a:rPr lang="en-US" altLang="zh-CN" sz="2800"/>
              <a:t>Higher order ordinary differential equations </a:t>
            </a:r>
          </a:p>
          <a:p>
            <a:pPr eaLnBrk="1" hangingPunct="1">
              <a:lnSpc>
                <a:spcPct val="140000"/>
              </a:lnSpc>
              <a:spcBef>
                <a:spcPct val="0"/>
              </a:spcBef>
              <a:buClrTx/>
              <a:buFontTx/>
              <a:buNone/>
            </a:pPr>
            <a:r>
              <a:rPr lang="zh-CN" altLang="en-US" sz="2800">
                <a:ea typeface="楷体_GB2312" pitchFamily="49" charset="-122"/>
              </a:rPr>
              <a:t>第九章:  </a:t>
            </a:r>
            <a:r>
              <a:rPr lang="en-US" altLang="zh-CN" sz="2800"/>
              <a:t>Partial differential equations </a:t>
            </a:r>
            <a:endParaRPr lang="zh-CN" altLang="en-US" sz="28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68994"/>
                                        </p:tgtEl>
                                        <p:attrNameLst>
                                          <p:attrName>style.visibility</p:attrName>
                                        </p:attrNameLst>
                                      </p:cBhvr>
                                      <p:to>
                                        <p:strVal val="visible"/>
                                      </p:to>
                                    </p:set>
                                    <p:anim calcmode="lin" valueType="num">
                                      <p:cBhvr additive="base">
                                        <p:cTn id="7" dur="500" fill="hold"/>
                                        <p:tgtEl>
                                          <p:spTgt spid="468994"/>
                                        </p:tgtEl>
                                        <p:attrNameLst>
                                          <p:attrName>ppt_x</p:attrName>
                                        </p:attrNameLst>
                                      </p:cBhvr>
                                      <p:tavLst>
                                        <p:tav tm="0">
                                          <p:val>
                                            <p:strVal val="1+#ppt_w/2"/>
                                          </p:val>
                                        </p:tav>
                                        <p:tav tm="100000">
                                          <p:val>
                                            <p:strVal val="#ppt_x"/>
                                          </p:val>
                                        </p:tav>
                                      </p:tavLst>
                                    </p:anim>
                                    <p:anim calcmode="lin" valueType="num">
                                      <p:cBhvr additive="base">
                                        <p:cTn id="8" dur="500" fill="hold"/>
                                        <p:tgtEl>
                                          <p:spTgt spid="46899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468995"/>
                                        </p:tgtEl>
                                        <p:attrNameLst>
                                          <p:attrName>style.visibility</p:attrName>
                                        </p:attrNameLst>
                                      </p:cBhvr>
                                      <p:to>
                                        <p:strVal val="visible"/>
                                      </p:to>
                                    </p:set>
                                    <p:anim calcmode="lin" valueType="num">
                                      <p:cBhvr additive="base">
                                        <p:cTn id="13" dur="500" fill="hold"/>
                                        <p:tgtEl>
                                          <p:spTgt spid="468995"/>
                                        </p:tgtEl>
                                        <p:attrNameLst>
                                          <p:attrName>ppt_x</p:attrName>
                                        </p:attrNameLst>
                                      </p:cBhvr>
                                      <p:tavLst>
                                        <p:tav tm="0">
                                          <p:val>
                                            <p:strVal val="1+#ppt_w/2"/>
                                          </p:val>
                                        </p:tav>
                                        <p:tav tm="100000">
                                          <p:val>
                                            <p:strVal val="#ppt_x"/>
                                          </p:val>
                                        </p:tav>
                                      </p:tavLst>
                                    </p:anim>
                                    <p:anim calcmode="lin" valueType="num">
                                      <p:cBhvr additive="base">
                                        <p:cTn id="14" dur="500" fill="hold"/>
                                        <p:tgtEl>
                                          <p:spTgt spid="46899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8994" grpId="0" autoUpdateAnimBg="0"/>
      <p:bldP spid="468995"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1CF5ACF-F9BA-4E1C-BEE2-75C516866959}" type="slidenum">
              <a:rPr lang="zh-CN" altLang="en-US"/>
              <a:pPr>
                <a:defRPr/>
              </a:pPr>
              <a:t>3</a:t>
            </a:fld>
            <a:endParaRPr lang="en-US" altLang="zh-CN"/>
          </a:p>
        </p:txBody>
      </p:sp>
      <p:sp>
        <p:nvSpPr>
          <p:cNvPr id="471045" name="Text Box 5"/>
          <p:cNvSpPr txBox="1">
            <a:spLocks noChangeArrowheads="1"/>
          </p:cNvSpPr>
          <p:nvPr/>
        </p:nvSpPr>
        <p:spPr bwMode="auto">
          <a:xfrm>
            <a:off x="2051050" y="404813"/>
            <a:ext cx="451598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zh-CN" altLang="en-US" sz="4800" dirty="0">
                <a:solidFill>
                  <a:schemeClr val="tx1"/>
                </a:solidFill>
                <a:ea typeface="隶书" pitchFamily="49" charset="-122"/>
              </a:rPr>
              <a:t>计算物课程大纲</a:t>
            </a:r>
          </a:p>
          <a:p>
            <a:pPr eaLnBrk="1" hangingPunct="1">
              <a:defRPr/>
            </a:pPr>
            <a:endParaRPr kumimoji="1" lang="zh-CN" altLang="en-US" sz="4800" dirty="0">
              <a:solidFill>
                <a:schemeClr val="tx1"/>
              </a:solidFill>
              <a:ea typeface="隶书" pitchFamily="49" charset="-122"/>
            </a:endParaRPr>
          </a:p>
        </p:txBody>
      </p:sp>
      <p:sp>
        <p:nvSpPr>
          <p:cNvPr id="471046" name="Text Box 6"/>
          <p:cNvSpPr txBox="1">
            <a:spLocks noChangeArrowheads="1"/>
          </p:cNvSpPr>
          <p:nvPr/>
        </p:nvSpPr>
        <p:spPr bwMode="auto">
          <a:xfrm>
            <a:off x="1272819" y="1844824"/>
            <a:ext cx="607244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defRPr/>
            </a:pPr>
            <a:r>
              <a:rPr kumimoji="1" lang="zh-CN" altLang="en-US" sz="3200" dirty="0">
                <a:solidFill>
                  <a:schemeClr val="tx1"/>
                </a:solidFill>
              </a:rPr>
              <a:t>第十</a:t>
            </a:r>
            <a:r>
              <a:rPr kumimoji="1" lang="zh-CN" altLang="en-US" sz="3200" dirty="0">
                <a:effectLst>
                  <a:outerShdw blurRad="38100" dist="38100" dir="2700000" algn="tl">
                    <a:srgbClr val="C0C0C0"/>
                  </a:outerShdw>
                </a:effectLst>
              </a:rPr>
              <a:t> </a:t>
            </a:r>
            <a:r>
              <a:rPr kumimoji="1" lang="en-US" altLang="zh-CN" sz="3200" dirty="0">
                <a:solidFill>
                  <a:schemeClr val="tx1"/>
                </a:solidFill>
              </a:rPr>
              <a:t> </a:t>
            </a:r>
            <a:r>
              <a:rPr kumimoji="1" lang="zh-CN" altLang="en-US" sz="3200" dirty="0">
                <a:solidFill>
                  <a:schemeClr val="tx1"/>
                </a:solidFill>
              </a:rPr>
              <a:t>章</a:t>
            </a:r>
            <a:r>
              <a:rPr kumimoji="1" lang="en-US" altLang="zh-CN" sz="3200" dirty="0">
                <a:solidFill>
                  <a:schemeClr val="tx1"/>
                </a:solidFill>
              </a:rPr>
              <a:t>UNIX </a:t>
            </a:r>
            <a:r>
              <a:rPr kumimoji="1" lang="zh-CN" altLang="en-US" sz="3200" dirty="0">
                <a:solidFill>
                  <a:schemeClr val="tx1"/>
                </a:solidFill>
              </a:rPr>
              <a:t>操作系统：</a:t>
            </a:r>
            <a:r>
              <a:rPr lang="zh-CN" altLang="en-US" sz="3200" dirty="0">
                <a:solidFill>
                  <a:schemeClr val="tx1"/>
                </a:solidFill>
                <a:effectLst>
                  <a:outerShdw blurRad="38100" dist="38100" dir="2700000" algn="tl">
                    <a:srgbClr val="C0C0C0"/>
                  </a:outerShdw>
                </a:effectLst>
              </a:rPr>
              <a:t>范万德</a:t>
            </a:r>
            <a:endParaRPr lang="zh-CN" altLang="en-US" sz="3200" b="0" dirty="0">
              <a:solidFill>
                <a:schemeClr val="tx1"/>
              </a:solidFill>
              <a:effectLst>
                <a:outerShdw blurRad="38100" dist="38100" dir="2700000" algn="tl">
                  <a:srgbClr val="C0C0C0"/>
                </a:outerShdw>
              </a:effectLs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2" fill="hold" grpId="0" nodeType="afterEffect">
                                  <p:stCondLst>
                                    <p:cond delay="0"/>
                                  </p:stCondLst>
                                  <p:childTnLst>
                                    <p:set>
                                      <p:cBhvr>
                                        <p:cTn id="6" dur="1" fill="hold">
                                          <p:stCondLst>
                                            <p:cond delay="0"/>
                                          </p:stCondLst>
                                        </p:cTn>
                                        <p:tgtEl>
                                          <p:spTgt spid="471045"/>
                                        </p:tgtEl>
                                        <p:attrNameLst>
                                          <p:attrName>style.visibility</p:attrName>
                                        </p:attrNameLst>
                                      </p:cBhvr>
                                      <p:to>
                                        <p:strVal val="visible"/>
                                      </p:to>
                                    </p:set>
                                    <p:anim calcmode="lin" valueType="num">
                                      <p:cBhvr additive="base">
                                        <p:cTn id="7" dur="500" fill="hold"/>
                                        <p:tgtEl>
                                          <p:spTgt spid="471045"/>
                                        </p:tgtEl>
                                        <p:attrNameLst>
                                          <p:attrName>ppt_x</p:attrName>
                                        </p:attrNameLst>
                                      </p:cBhvr>
                                      <p:tavLst>
                                        <p:tav tm="0">
                                          <p:val>
                                            <p:strVal val="1+#ppt_w/2"/>
                                          </p:val>
                                        </p:tav>
                                        <p:tav tm="100000">
                                          <p:val>
                                            <p:strVal val="#ppt_x"/>
                                          </p:val>
                                        </p:tav>
                                      </p:tavLst>
                                    </p:anim>
                                    <p:anim calcmode="lin" valueType="num">
                                      <p:cBhvr additive="base">
                                        <p:cTn id="8" dur="500" fill="hold"/>
                                        <p:tgtEl>
                                          <p:spTgt spid="4710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1045"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4A2DE26B-9255-4C53-8770-5EE7106406F8}" type="slidenum">
              <a:rPr lang="zh-CN" altLang="en-US"/>
              <a:pPr>
                <a:defRPr/>
              </a:pPr>
              <a:t>4</a:t>
            </a:fld>
            <a:endParaRPr lang="en-US" altLang="zh-CN"/>
          </a:p>
        </p:txBody>
      </p:sp>
      <p:sp>
        <p:nvSpPr>
          <p:cNvPr id="6147" name="Text Box 5"/>
          <p:cNvSpPr txBox="1">
            <a:spLocks noChangeArrowheads="1"/>
          </p:cNvSpPr>
          <p:nvPr/>
        </p:nvSpPr>
        <p:spPr bwMode="auto">
          <a:xfrm>
            <a:off x="1475656" y="908720"/>
            <a:ext cx="6478364" cy="47682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120000"/>
              </a:lnSpc>
              <a:spcBef>
                <a:spcPct val="0"/>
              </a:spcBef>
              <a:buClrTx/>
              <a:buFontTx/>
              <a:buNone/>
            </a:pPr>
            <a:r>
              <a:rPr kumimoji="0" lang="zh-CN" altLang="en-US" dirty="0">
                <a:ea typeface="楷体_GB2312" pitchFamily="49" charset="-122"/>
              </a:rPr>
              <a:t>上课时间地点：</a:t>
            </a:r>
            <a:endParaRPr kumimoji="0" lang="en-US" altLang="zh-CN" dirty="0">
              <a:ea typeface="楷体_GB2312" pitchFamily="49" charset="-122"/>
            </a:endParaRPr>
          </a:p>
          <a:p>
            <a:pPr>
              <a:lnSpc>
                <a:spcPct val="120000"/>
              </a:lnSpc>
              <a:spcBef>
                <a:spcPct val="0"/>
              </a:spcBef>
              <a:buClrTx/>
              <a:buFontTx/>
              <a:buNone/>
            </a:pPr>
            <a:endParaRPr kumimoji="0" lang="zh-CN" altLang="en-US" dirty="0">
              <a:ea typeface="楷体_GB2312" pitchFamily="49" charset="-122"/>
            </a:endParaRPr>
          </a:p>
          <a:p>
            <a:pPr>
              <a:lnSpc>
                <a:spcPct val="120000"/>
              </a:lnSpc>
              <a:spcBef>
                <a:spcPct val="0"/>
              </a:spcBef>
              <a:buClrTx/>
              <a:buFontTx/>
              <a:buNone/>
            </a:pPr>
            <a:r>
              <a:rPr kumimoji="0" lang="zh-CN" altLang="en-US" u="sng" dirty="0">
                <a:ea typeface="楷体_GB2312" pitchFamily="49" charset="-122"/>
              </a:rPr>
              <a:t>周二下午</a:t>
            </a:r>
            <a:r>
              <a:rPr kumimoji="0" lang="en-US" altLang="zh-CN" u="sng" dirty="0">
                <a:ea typeface="楷体_GB2312" pitchFamily="49" charset="-122"/>
              </a:rPr>
              <a:t>2:00</a:t>
            </a:r>
            <a:r>
              <a:rPr kumimoji="0" lang="en-US" altLang="zh-CN" dirty="0">
                <a:ea typeface="楷体_GB2312" pitchFamily="49" charset="-122"/>
              </a:rPr>
              <a:t>    </a:t>
            </a:r>
            <a:r>
              <a:rPr kumimoji="0" lang="zh-CN" altLang="en-US" u="sng" dirty="0">
                <a:ea typeface="楷体_GB2312" pitchFamily="49" charset="-122"/>
              </a:rPr>
              <a:t>第二主楼</a:t>
            </a:r>
            <a:r>
              <a:rPr kumimoji="0" lang="en-US" altLang="zh-CN" u="sng" dirty="0">
                <a:ea typeface="楷体_GB2312" pitchFamily="49" charset="-122"/>
              </a:rPr>
              <a:t>B302</a:t>
            </a:r>
          </a:p>
          <a:p>
            <a:pPr>
              <a:lnSpc>
                <a:spcPct val="120000"/>
              </a:lnSpc>
              <a:spcBef>
                <a:spcPct val="0"/>
              </a:spcBef>
              <a:buClrTx/>
              <a:buFontTx/>
              <a:buNone/>
            </a:pPr>
            <a:endParaRPr kumimoji="0" lang="zh-CN" altLang="en-US" dirty="0">
              <a:ea typeface="楷体_GB2312" pitchFamily="49" charset="-122"/>
            </a:endParaRPr>
          </a:p>
          <a:p>
            <a:pPr>
              <a:lnSpc>
                <a:spcPct val="120000"/>
              </a:lnSpc>
              <a:spcBef>
                <a:spcPct val="0"/>
              </a:spcBef>
              <a:buClrTx/>
              <a:buFontTx/>
              <a:buNone/>
            </a:pPr>
            <a:r>
              <a:rPr kumimoji="0" lang="zh-CN" altLang="en-US" dirty="0">
                <a:ea typeface="楷体_GB2312" pitchFamily="49" charset="-122"/>
              </a:rPr>
              <a:t>上机课时间地点：周二晚上</a:t>
            </a:r>
            <a:r>
              <a:rPr kumimoji="0" lang="en-US" altLang="zh-CN" dirty="0">
                <a:ea typeface="楷体_GB2312" pitchFamily="49" charset="-122"/>
              </a:rPr>
              <a:t>6:30</a:t>
            </a:r>
          </a:p>
          <a:p>
            <a:pPr>
              <a:lnSpc>
                <a:spcPct val="120000"/>
              </a:lnSpc>
              <a:spcBef>
                <a:spcPct val="0"/>
              </a:spcBef>
              <a:buClrTx/>
              <a:buFontTx/>
              <a:buNone/>
            </a:pPr>
            <a:endParaRPr kumimoji="0" lang="zh-CN" altLang="en-US" u="sng" dirty="0">
              <a:ea typeface="楷体_GB2312" pitchFamily="49" charset="-122"/>
            </a:endParaRPr>
          </a:p>
          <a:p>
            <a:pPr>
              <a:lnSpc>
                <a:spcPct val="120000"/>
              </a:lnSpc>
              <a:spcBef>
                <a:spcPct val="0"/>
              </a:spcBef>
              <a:buClrTx/>
              <a:buFontTx/>
              <a:buNone/>
            </a:pPr>
            <a:r>
              <a:rPr kumimoji="0" lang="en-US" altLang="zh-CN" u="sng" dirty="0">
                <a:ea typeface="楷体_GB2312" pitchFamily="49" charset="-122"/>
              </a:rPr>
              <a:t> </a:t>
            </a:r>
            <a:r>
              <a:rPr kumimoji="0" lang="zh-CN" altLang="en-US" u="sng" dirty="0">
                <a:ea typeface="楷体_GB2312" pitchFamily="49" charset="-122"/>
              </a:rPr>
              <a:t>学校机房：</a:t>
            </a:r>
            <a:endParaRPr kumimoji="0" lang="zh-CN" altLang="en-US" sz="8000" dirty="0">
              <a:solidFill>
                <a:srgbClr val="FF0000"/>
              </a:solidFill>
              <a:ea typeface="楷体_GB2312" pitchFamily="49" charset="-122"/>
            </a:endParaRPr>
          </a:p>
          <a:p>
            <a:pPr>
              <a:lnSpc>
                <a:spcPct val="120000"/>
              </a:lnSpc>
              <a:spcBef>
                <a:spcPct val="0"/>
              </a:spcBef>
              <a:buClrTx/>
              <a:buFontTx/>
              <a:buNone/>
            </a:pPr>
            <a:r>
              <a:rPr kumimoji="0" lang="zh-CN" altLang="en-US" dirty="0">
                <a:ea typeface="楷体_GB2312" pitchFamily="49" charset="-122"/>
              </a:rPr>
              <a:t>          </a:t>
            </a:r>
          </a:p>
        </p:txBody>
      </p:sp>
      <p:sp>
        <p:nvSpPr>
          <p:cNvPr id="4" name="矩形 3">
            <a:extLst>
              <a:ext uri="{FF2B5EF4-FFF2-40B4-BE49-F238E27FC236}">
                <a16:creationId xmlns:a16="http://schemas.microsoft.com/office/drawing/2014/main" id="{D8A45E26-45F0-4280-953F-91A987A285A2}"/>
              </a:ext>
            </a:extLst>
          </p:cNvPr>
          <p:cNvSpPr/>
          <p:nvPr/>
        </p:nvSpPr>
        <p:spPr>
          <a:xfrm>
            <a:off x="3851920" y="4500409"/>
            <a:ext cx="3331361" cy="584775"/>
          </a:xfrm>
          <a:prstGeom prst="rect">
            <a:avLst/>
          </a:prstGeom>
        </p:spPr>
        <p:txBody>
          <a:bodyPr wrap="none">
            <a:spAutoFit/>
          </a:bodyPr>
          <a:lstStyle/>
          <a:p>
            <a:r>
              <a:rPr lang="zh-CN" altLang="en-US" sz="3200" dirty="0">
                <a:solidFill>
                  <a:schemeClr val="tx1"/>
                </a:solidFill>
              </a:rPr>
              <a:t>二主楼</a:t>
            </a:r>
            <a:r>
              <a:rPr lang="en-US" altLang="zh-CN" sz="3200" dirty="0">
                <a:solidFill>
                  <a:schemeClr val="tx1"/>
                </a:solidFill>
              </a:rPr>
              <a:t>B402</a:t>
            </a:r>
            <a:r>
              <a:rPr lang="zh-CN" altLang="en-US" sz="3200" dirty="0">
                <a:solidFill>
                  <a:schemeClr val="tx1"/>
                </a:solidFill>
              </a:rPr>
              <a:t>、</a:t>
            </a:r>
            <a:r>
              <a:rPr lang="en-US" altLang="zh-CN" sz="3200" dirty="0">
                <a:solidFill>
                  <a:schemeClr val="tx1"/>
                </a:solidFill>
              </a:rPr>
              <a:t>403</a:t>
            </a:r>
            <a:endParaRPr lang="zh-CN" altLang="en-US" sz="3200" dirty="0">
              <a:solidFill>
                <a:schemeClr val="tx1"/>
              </a:solidFill>
            </a:endParaRPr>
          </a:p>
        </p:txBody>
      </p:sp>
    </p:spTree>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A8AB2774-7398-4072-8B0E-44EDD2902993}" type="slidenum">
              <a:rPr lang="zh-CN" altLang="en-US"/>
              <a:pPr>
                <a:defRPr/>
              </a:pPr>
              <a:t>5</a:t>
            </a:fld>
            <a:endParaRPr lang="en-US" altLang="zh-CN"/>
          </a:p>
        </p:txBody>
      </p:sp>
      <p:sp>
        <p:nvSpPr>
          <p:cNvPr id="7171" name="Text Box 5"/>
          <p:cNvSpPr txBox="1">
            <a:spLocks noChangeArrowheads="1"/>
          </p:cNvSpPr>
          <p:nvPr/>
        </p:nvSpPr>
        <p:spPr bwMode="auto">
          <a:xfrm>
            <a:off x="468313" y="692150"/>
            <a:ext cx="75088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a:ea typeface="楷体_GB2312" pitchFamily="49" charset="-122"/>
              </a:rPr>
              <a:t>本课程考核方式：</a:t>
            </a:r>
          </a:p>
        </p:txBody>
      </p:sp>
      <p:sp>
        <p:nvSpPr>
          <p:cNvPr id="472070" name="Text Box 6"/>
          <p:cNvSpPr txBox="1">
            <a:spLocks noChangeArrowheads="1"/>
          </p:cNvSpPr>
          <p:nvPr/>
        </p:nvSpPr>
        <p:spPr bwMode="auto">
          <a:xfrm>
            <a:off x="250825" y="1989138"/>
            <a:ext cx="7633543" cy="4032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dirty="0">
                <a:ea typeface="楷体_GB2312" pitchFamily="49" charset="-122"/>
              </a:rPr>
              <a:t>有关数值计算的原理和方法部分进行闭卷考试； </a:t>
            </a:r>
            <a:r>
              <a:rPr kumimoji="0" lang="en-US" altLang="zh-CN" dirty="0">
                <a:ea typeface="楷体_GB2312" pitchFamily="49" charset="-122"/>
              </a:rPr>
              <a:t>50%</a:t>
            </a:r>
            <a:endParaRPr kumimoji="0" lang="zh-CN" altLang="en-US" dirty="0">
              <a:ea typeface="楷体_GB2312" pitchFamily="49" charset="-122"/>
            </a:endParaRPr>
          </a:p>
          <a:p>
            <a:pPr>
              <a:spcBef>
                <a:spcPct val="0"/>
              </a:spcBef>
              <a:buClrTx/>
              <a:buFontTx/>
              <a:buNone/>
            </a:pPr>
            <a:endParaRPr kumimoji="0" lang="zh-CN" altLang="en-US" dirty="0">
              <a:ea typeface="楷体_GB2312" pitchFamily="49" charset="-122"/>
            </a:endParaRPr>
          </a:p>
          <a:p>
            <a:pPr>
              <a:spcBef>
                <a:spcPct val="0"/>
              </a:spcBef>
              <a:buClrTx/>
              <a:buFontTx/>
              <a:buNone/>
            </a:pPr>
            <a:r>
              <a:rPr kumimoji="0" lang="zh-CN" altLang="en-US" dirty="0">
                <a:ea typeface="楷体_GB2312" pitchFamily="49" charset="-122"/>
              </a:rPr>
              <a:t>有关一些软件的运用及编程技巧部分进行上机实践考试，写小论文。平时出勤</a:t>
            </a:r>
            <a:r>
              <a:rPr kumimoji="0" lang="en-US" altLang="zh-CN" dirty="0">
                <a:ea typeface="楷体_GB2312" pitchFamily="49" charset="-122"/>
              </a:rPr>
              <a:t>+</a:t>
            </a:r>
            <a:r>
              <a:rPr kumimoji="0" lang="zh-CN" altLang="en-US" dirty="0">
                <a:ea typeface="楷体_GB2312" pitchFamily="49" charset="-122"/>
              </a:rPr>
              <a:t>上机实践：</a:t>
            </a:r>
            <a:r>
              <a:rPr kumimoji="0" lang="en-US" altLang="zh-CN" dirty="0">
                <a:ea typeface="楷体_GB2312" pitchFamily="49" charset="-122"/>
              </a:rPr>
              <a:t>+</a:t>
            </a:r>
            <a:r>
              <a:rPr kumimoji="0" lang="zh-CN" altLang="en-US" dirty="0">
                <a:ea typeface="楷体_GB2312" pitchFamily="49" charset="-122"/>
              </a:rPr>
              <a:t>上机实践考试</a:t>
            </a:r>
            <a:r>
              <a:rPr kumimoji="0" lang="en-US" altLang="zh-CN" dirty="0">
                <a:ea typeface="楷体_GB2312" pitchFamily="49" charset="-122"/>
              </a:rPr>
              <a:t>;</a:t>
            </a:r>
            <a:endParaRPr kumimoji="0" lang="zh-CN" altLang="en-US" dirty="0">
              <a:ea typeface="楷体_GB2312" pitchFamily="49" charset="-122"/>
            </a:endParaRPr>
          </a:p>
          <a:p>
            <a:pPr>
              <a:spcBef>
                <a:spcPct val="0"/>
              </a:spcBef>
              <a:buClrTx/>
              <a:buFontTx/>
              <a:buNone/>
            </a:pPr>
            <a:r>
              <a:rPr kumimoji="0" lang="en-US" altLang="zh-CN" dirty="0">
                <a:ea typeface="楷体_GB2312" pitchFamily="49" charset="-122"/>
              </a:rPr>
              <a:t>                                                 50%</a:t>
            </a:r>
            <a:r>
              <a:rPr kumimoji="0" lang="zh-CN" altLang="en-US" dirty="0">
                <a:ea typeface="楷体_GB2312" pitchFamily="49" charset="-122"/>
              </a:rPr>
              <a:t>；</a:t>
            </a:r>
          </a:p>
          <a:p>
            <a:pPr>
              <a:spcBef>
                <a:spcPct val="0"/>
              </a:spcBef>
              <a:buClrTx/>
              <a:buFontTx/>
              <a:buNone/>
            </a:pPr>
            <a:r>
              <a:rPr lang="en-US" altLang="zh-CN" dirty="0">
                <a:ea typeface="楷体_GB2312" pitchFamily="49" charset="-122"/>
              </a:rPr>
              <a:t>UNIX </a:t>
            </a:r>
            <a:r>
              <a:rPr lang="zh-CN" altLang="en-US" dirty="0">
                <a:ea typeface="楷体_GB2312" pitchFamily="49" charset="-122"/>
              </a:rPr>
              <a:t>操作系统</a:t>
            </a:r>
            <a:r>
              <a:rPr kumimoji="0" lang="zh-CN" altLang="en-US" dirty="0">
                <a:ea typeface="楷体_GB2312" pitchFamily="49" charset="-122"/>
              </a:rPr>
              <a: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72070"/>
                                        </p:tgtEl>
                                        <p:attrNameLst>
                                          <p:attrName>style.visibility</p:attrName>
                                        </p:attrNameLst>
                                      </p:cBhvr>
                                      <p:to>
                                        <p:strVal val="visible"/>
                                      </p:to>
                                    </p:set>
                                    <p:anim calcmode="lin" valueType="num">
                                      <p:cBhvr additive="base">
                                        <p:cTn id="7" dur="500" fill="hold"/>
                                        <p:tgtEl>
                                          <p:spTgt spid="472070"/>
                                        </p:tgtEl>
                                        <p:attrNameLst>
                                          <p:attrName>ppt_x</p:attrName>
                                        </p:attrNameLst>
                                      </p:cBhvr>
                                      <p:tavLst>
                                        <p:tav tm="0">
                                          <p:val>
                                            <p:strVal val="#ppt_x"/>
                                          </p:val>
                                        </p:tav>
                                        <p:tav tm="100000">
                                          <p:val>
                                            <p:strVal val="#ppt_x"/>
                                          </p:val>
                                        </p:tav>
                                      </p:tavLst>
                                    </p:anim>
                                    <p:anim calcmode="lin" valueType="num">
                                      <p:cBhvr additive="base">
                                        <p:cTn id="8" dur="500" fill="hold"/>
                                        <p:tgtEl>
                                          <p:spTgt spid="47207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207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72367B2D-F56A-41EE-8443-0EC110431AE5}" type="slidenum">
              <a:rPr lang="zh-CN" altLang="en-US"/>
              <a:pPr>
                <a:defRPr/>
              </a:pPr>
              <a:t>6</a:t>
            </a:fld>
            <a:endParaRPr lang="en-US" altLang="zh-CN"/>
          </a:p>
        </p:txBody>
      </p:sp>
      <p:sp>
        <p:nvSpPr>
          <p:cNvPr id="392194" name="Text Box 2"/>
          <p:cNvSpPr txBox="1">
            <a:spLocks noChangeArrowheads="1"/>
          </p:cNvSpPr>
          <p:nvPr/>
        </p:nvSpPr>
        <p:spPr bwMode="auto">
          <a:xfrm>
            <a:off x="2193925" y="4392613"/>
            <a:ext cx="1841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endParaRPr lang="zh-CN" altLang="en-US" b="0">
              <a:effectLst>
                <a:outerShdw blurRad="38100" dist="38100" dir="2700000" algn="tl">
                  <a:srgbClr val="C0C0C0"/>
                </a:outerShdw>
              </a:effectLst>
            </a:endParaRPr>
          </a:p>
        </p:txBody>
      </p:sp>
      <p:sp>
        <p:nvSpPr>
          <p:cNvPr id="8196" name="Rectangle 5"/>
          <p:cNvSpPr>
            <a:spLocks noChangeArrowheads="1"/>
          </p:cNvSpPr>
          <p:nvPr/>
        </p:nvSpPr>
        <p:spPr bwMode="auto">
          <a:xfrm>
            <a:off x="762000" y="228600"/>
            <a:ext cx="7772400" cy="91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4400" b="0">
                <a:solidFill>
                  <a:schemeClr val="tx2"/>
                </a:solidFill>
              </a:rPr>
              <a:t>参考书</a:t>
            </a:r>
          </a:p>
        </p:txBody>
      </p:sp>
      <p:pic>
        <p:nvPicPr>
          <p:cNvPr id="8197" name="Picture 102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50" y="1154113"/>
            <a:ext cx="9207500" cy="479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7FDB3BB5-050B-467B-9A64-6EA249789BA0}" type="slidenum">
              <a:rPr lang="zh-CN" altLang="en-US"/>
              <a:pPr>
                <a:defRPr/>
              </a:pPr>
              <a:t>7</a:t>
            </a:fld>
            <a:endParaRPr lang="en-US" altLang="zh-CN"/>
          </a:p>
        </p:txBody>
      </p:sp>
      <p:sp>
        <p:nvSpPr>
          <p:cNvPr id="10243" name="Rectangle 2"/>
          <p:cNvSpPr>
            <a:spLocks noChangeArrowheads="1"/>
          </p:cNvSpPr>
          <p:nvPr/>
        </p:nvSpPr>
        <p:spPr bwMode="auto">
          <a:xfrm>
            <a:off x="762000" y="0"/>
            <a:ext cx="7772400" cy="1143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nchor="b"/>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4400"/>
              <a:t>参考书</a:t>
            </a:r>
          </a:p>
        </p:txBody>
      </p:sp>
      <p:sp>
        <p:nvSpPr>
          <p:cNvPr id="10244" name="Text Box 3"/>
          <p:cNvSpPr txBox="1">
            <a:spLocks noChangeArrowheads="1"/>
          </p:cNvSpPr>
          <p:nvPr/>
        </p:nvSpPr>
        <p:spPr bwMode="auto">
          <a:xfrm>
            <a:off x="1116013" y="1628775"/>
            <a:ext cx="3633787" cy="374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90000"/>
              </a:lnSpc>
            </a:pPr>
            <a:r>
              <a:rPr lang="zh-CN" altLang="en-US">
                <a:latin typeface="宋体" pitchFamily="2" charset="-122"/>
              </a:rPr>
              <a:t>计算物理学</a:t>
            </a:r>
            <a:endParaRPr lang="zh-CN" altLang="en-US"/>
          </a:p>
          <a:p>
            <a:pPr eaLnBrk="1" hangingPunct="1">
              <a:lnSpc>
                <a:spcPct val="90000"/>
              </a:lnSpc>
            </a:pPr>
            <a:endParaRPr lang="zh-CN" altLang="zh-CN"/>
          </a:p>
          <a:p>
            <a:pPr eaLnBrk="1" hangingPunct="1">
              <a:lnSpc>
                <a:spcPct val="90000"/>
              </a:lnSpc>
            </a:pPr>
            <a:r>
              <a:rPr lang="zh-CN" altLang="en-US">
                <a:latin typeface="宋体" pitchFamily="2" charset="-122"/>
              </a:rPr>
              <a:t>物理学数值计算</a:t>
            </a:r>
            <a:r>
              <a:rPr lang="zh-CN" altLang="en-US"/>
              <a:t> </a:t>
            </a:r>
          </a:p>
          <a:p>
            <a:pPr eaLnBrk="1" hangingPunct="1">
              <a:lnSpc>
                <a:spcPct val="90000"/>
              </a:lnSpc>
            </a:pPr>
            <a:endParaRPr lang="zh-CN" altLang="en-US"/>
          </a:p>
          <a:p>
            <a:pPr eaLnBrk="1" hangingPunct="1">
              <a:lnSpc>
                <a:spcPct val="90000"/>
              </a:lnSpc>
            </a:pPr>
            <a:r>
              <a:rPr lang="zh-CN" altLang="en-US">
                <a:latin typeface="宋体" pitchFamily="2" charset="-122"/>
              </a:rPr>
              <a:t>物理学计算方法</a:t>
            </a:r>
          </a:p>
          <a:p>
            <a:pPr eaLnBrk="1" hangingPunct="1">
              <a:lnSpc>
                <a:spcPct val="90000"/>
              </a:lnSpc>
            </a:pPr>
            <a:endParaRPr lang="zh-CN" altLang="en-US">
              <a:latin typeface="宋体" pitchFamily="2" charset="-122"/>
            </a:endParaRPr>
          </a:p>
          <a:p>
            <a:pPr eaLnBrk="1" hangingPunct="1">
              <a:lnSpc>
                <a:spcPct val="90000"/>
              </a:lnSpc>
            </a:pPr>
            <a:r>
              <a:rPr lang="zh-CN" altLang="en-US">
                <a:latin typeface="宋体" pitchFamily="2" charset="-122"/>
              </a:rPr>
              <a:t>微分方程数值方法</a:t>
            </a:r>
          </a:p>
        </p:txBody>
      </p:sp>
    </p:spTree>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AEBD6EE1-2553-453F-A593-C23EFBC47F67}" type="slidenum">
              <a:rPr lang="zh-CN" altLang="en-US"/>
              <a:pPr>
                <a:defRPr/>
              </a:pPr>
              <a:t>8</a:t>
            </a:fld>
            <a:endParaRPr lang="en-US" altLang="zh-CN"/>
          </a:p>
        </p:txBody>
      </p:sp>
      <p:sp>
        <p:nvSpPr>
          <p:cNvPr id="9219" name="Rectangle 2"/>
          <p:cNvSpPr>
            <a:spLocks noGrp="1" noChangeArrowheads="1"/>
          </p:cNvSpPr>
          <p:nvPr>
            <p:ph type="title"/>
          </p:nvPr>
        </p:nvSpPr>
        <p:spPr>
          <a:xfrm>
            <a:off x="762000" y="228600"/>
            <a:ext cx="7772400" cy="914400"/>
          </a:xfrm>
          <a:noFill/>
        </p:spPr>
        <p:txBody>
          <a:bodyPr/>
          <a:lstStyle/>
          <a:p>
            <a:pPr eaLnBrk="1" hangingPunct="1"/>
            <a:r>
              <a:rPr lang="zh-CN" altLang="en-US" b="1" dirty="0"/>
              <a:t>参考书</a:t>
            </a:r>
          </a:p>
        </p:txBody>
      </p:sp>
      <p:sp>
        <p:nvSpPr>
          <p:cNvPr id="9220" name="Rectangle 3"/>
          <p:cNvSpPr>
            <a:spLocks noGrp="1" noChangeArrowheads="1"/>
          </p:cNvSpPr>
          <p:nvPr>
            <p:ph type="body" idx="1"/>
          </p:nvPr>
        </p:nvSpPr>
        <p:spPr>
          <a:xfrm>
            <a:off x="609600" y="1295400"/>
            <a:ext cx="7848600" cy="4870450"/>
          </a:xfrm>
          <a:noFill/>
        </p:spPr>
        <p:txBody>
          <a:bodyPr/>
          <a:lstStyle/>
          <a:p>
            <a:pPr eaLnBrk="1" hangingPunct="1"/>
            <a:r>
              <a:rPr lang="en-US" altLang="zh-CN" b="1" dirty="0"/>
              <a:t>Andi Klein and Alexander Godunov, Introductory Computational Physics</a:t>
            </a:r>
          </a:p>
          <a:p>
            <a:pPr eaLnBrk="1" hangingPunct="1"/>
            <a:endParaRPr lang="en-US" altLang="zh-CN" b="1" dirty="0"/>
          </a:p>
          <a:p>
            <a:pPr eaLnBrk="1" hangingPunct="1"/>
            <a:r>
              <a:rPr lang="zh-CN" altLang="en-US" b="1" dirty="0"/>
              <a:t>(美)普雷斯 (</a:t>
            </a:r>
            <a:r>
              <a:rPr lang="en-US" altLang="zh-CN" b="1" dirty="0"/>
              <a:t>W. H. Press)</a:t>
            </a:r>
            <a:r>
              <a:rPr lang="zh-CN" altLang="en-US" b="1" dirty="0"/>
              <a:t> [等]著, </a:t>
            </a:r>
          </a:p>
          <a:p>
            <a:pPr eaLnBrk="1" hangingPunct="1">
              <a:buFont typeface="Monotype Sorts" pitchFamily="2" charset="2"/>
              <a:buNone/>
            </a:pPr>
            <a:r>
              <a:rPr lang="zh-CN" altLang="en-US" b="1" dirty="0"/>
              <a:t>  王璞  [等]译</a:t>
            </a:r>
            <a:r>
              <a:rPr lang="en-US" altLang="zh-CN" b="1" dirty="0"/>
              <a:t>: </a:t>
            </a:r>
          </a:p>
          <a:p>
            <a:pPr eaLnBrk="1" hangingPunct="1">
              <a:buFont typeface="Monotype Sorts" pitchFamily="2" charset="2"/>
              <a:buNone/>
            </a:pPr>
            <a:r>
              <a:rPr lang="zh-CN" altLang="en-US" b="1" dirty="0"/>
              <a:t>  数值方法大全 科学计算的艺术 </a:t>
            </a:r>
            <a:br>
              <a:rPr lang="zh-CN" altLang="en-US" b="1" dirty="0"/>
            </a:br>
            <a:r>
              <a:rPr lang="zh-CN" altLang="en-US" b="1" dirty="0"/>
              <a:t>兰州 兰州大学出版社 1991</a:t>
            </a:r>
          </a:p>
          <a:p>
            <a:pPr eaLnBrk="1" hangingPunct="1">
              <a:buFont typeface="Monotype Sorts" pitchFamily="2" charset="2"/>
              <a:buNone/>
            </a:pPr>
            <a:r>
              <a:rPr lang="en-US" altLang="zh-CN" b="1" dirty="0"/>
              <a:t>(Numerical Recipes in Fortran)</a:t>
            </a:r>
          </a:p>
        </p:txBody>
      </p:sp>
    </p:spTree>
    <p:extLst>
      <p:ext uri="{BB962C8B-B14F-4D97-AF65-F5344CB8AC3E}">
        <p14:creationId xmlns:p14="http://schemas.microsoft.com/office/powerpoint/2010/main" val="885877191"/>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10C34EBF-F2FE-41D3-9D32-935D8A6A99D6}" type="slidenum">
              <a:rPr lang="zh-CN" altLang="en-US"/>
              <a:pPr>
                <a:defRPr/>
              </a:pPr>
              <a:t>9</a:t>
            </a:fld>
            <a:endParaRPr lang="en-US" altLang="zh-CN"/>
          </a:p>
        </p:txBody>
      </p:sp>
      <p:sp>
        <p:nvSpPr>
          <p:cNvPr id="66563" name="Rectangle 3"/>
          <p:cNvSpPr>
            <a:spLocks noChangeArrowheads="1"/>
          </p:cNvSpPr>
          <p:nvPr/>
        </p:nvSpPr>
        <p:spPr bwMode="auto">
          <a:xfrm>
            <a:off x="395288" y="1652588"/>
            <a:ext cx="7600950" cy="4435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defRPr/>
            </a:pPr>
            <a:r>
              <a:rPr kumimoji="1" lang="zh-CN" altLang="en-US" sz="3200" dirty="0">
                <a:solidFill>
                  <a:schemeClr val="tx1"/>
                </a:solidFill>
              </a:rPr>
              <a:t>一、计算物理学的重要性和本课程的要求</a:t>
            </a:r>
          </a:p>
          <a:p>
            <a:pPr>
              <a:lnSpc>
                <a:spcPct val="150000"/>
              </a:lnSpc>
              <a:defRPr/>
            </a:pPr>
            <a:r>
              <a:rPr kumimoji="1" lang="zh-CN" altLang="en-US" b="0" dirty="0">
                <a:effectLst>
                  <a:outerShdw blurRad="38100" dist="38100" dir="2700000" algn="tl">
                    <a:srgbClr val="C0C0C0"/>
                  </a:outerShdw>
                </a:effectLst>
              </a:rPr>
              <a:t> </a:t>
            </a:r>
            <a:r>
              <a:rPr kumimoji="1" lang="zh-CN" altLang="en-US" sz="3200" dirty="0">
                <a:solidFill>
                  <a:schemeClr val="tx1"/>
                </a:solidFill>
              </a:rPr>
              <a:t>二、计算物理学的起源和发展</a:t>
            </a:r>
          </a:p>
          <a:p>
            <a:pPr>
              <a:lnSpc>
                <a:spcPct val="150000"/>
              </a:lnSpc>
              <a:defRPr/>
            </a:pPr>
            <a:r>
              <a:rPr kumimoji="1" lang="zh-CN" altLang="en-US" sz="3200" dirty="0">
                <a:solidFill>
                  <a:schemeClr val="tx1"/>
                </a:solidFill>
              </a:rPr>
              <a:t>三、本课程的核心内容</a:t>
            </a:r>
            <a:r>
              <a:rPr kumimoji="1" lang="zh-CN" altLang="en-US" sz="3200" dirty="0">
                <a:effectLst>
                  <a:outerShdw blurRad="38100" dist="38100" dir="2700000" algn="tl">
                    <a:srgbClr val="C0C0C0"/>
                  </a:outerShdw>
                </a:effectLst>
              </a:rPr>
              <a:t>  </a:t>
            </a:r>
            <a:r>
              <a:rPr kumimoji="1" lang="zh-CN" altLang="en-US" sz="3200" dirty="0">
                <a:solidFill>
                  <a:schemeClr val="tx1"/>
                </a:solidFill>
              </a:rPr>
              <a:t> </a:t>
            </a:r>
            <a:r>
              <a:rPr kumimoji="1" lang="en-US" altLang="zh-CN" sz="3200" dirty="0">
                <a:solidFill>
                  <a:schemeClr val="tx1"/>
                </a:solidFill>
              </a:rPr>
              <a:t>Key Idea</a:t>
            </a:r>
          </a:p>
          <a:p>
            <a:pPr>
              <a:lnSpc>
                <a:spcPct val="150000"/>
              </a:lnSpc>
              <a:defRPr/>
            </a:pPr>
            <a:r>
              <a:rPr kumimoji="1" lang="zh-CN" altLang="en-US" sz="3200" dirty="0">
                <a:solidFill>
                  <a:schemeClr val="tx1"/>
                </a:solidFill>
              </a:rPr>
              <a:t>四、误差和有效数字 </a:t>
            </a:r>
          </a:p>
          <a:p>
            <a:pPr>
              <a:lnSpc>
                <a:spcPct val="150000"/>
              </a:lnSpc>
              <a:defRPr/>
            </a:pPr>
            <a:endParaRPr kumimoji="1" lang="zh-CN" altLang="en-US" sz="3200" dirty="0">
              <a:solidFill>
                <a:schemeClr val="tx1"/>
              </a:solidFill>
            </a:endParaRPr>
          </a:p>
          <a:p>
            <a:pPr>
              <a:lnSpc>
                <a:spcPct val="150000"/>
              </a:lnSpc>
              <a:defRPr/>
            </a:pPr>
            <a:endParaRPr kumimoji="1" lang="zh-CN" altLang="en-US" sz="3200" dirty="0">
              <a:solidFill>
                <a:schemeClr val="tx1"/>
              </a:solidFill>
            </a:endParaRPr>
          </a:p>
        </p:txBody>
      </p:sp>
      <p:sp>
        <p:nvSpPr>
          <p:cNvPr id="14340" name="Rectangle 4"/>
          <p:cNvSpPr>
            <a:spLocks noChangeArrowheads="1"/>
          </p:cNvSpPr>
          <p:nvPr/>
        </p:nvSpPr>
        <p:spPr bwMode="auto">
          <a:xfrm>
            <a:off x="468313" y="549275"/>
            <a:ext cx="5257800" cy="700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40000"/>
              </a:lnSpc>
              <a:spcBef>
                <a:spcPct val="0"/>
              </a:spcBef>
              <a:buClrTx/>
              <a:buFontTx/>
              <a:buNone/>
            </a:pPr>
            <a:r>
              <a:rPr lang="zh-CN" altLang="en-US" dirty="0">
                <a:ea typeface="楷体_GB2312" pitchFamily="49" charset="-122"/>
              </a:rPr>
              <a:t>第一章：绪论 </a:t>
            </a:r>
            <a:r>
              <a:rPr lang="en-US" altLang="zh-CN" dirty="0">
                <a:ea typeface="楷体_GB2312" pitchFamily="49" charset="-122"/>
              </a:rPr>
              <a:t>(</a:t>
            </a:r>
            <a:r>
              <a:rPr lang="en-US" altLang="zh-CN" dirty="0"/>
              <a:t>Introduction)</a:t>
            </a:r>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6563"/>
                                        </p:tgtEl>
                                        <p:attrNameLst>
                                          <p:attrName>style.visibility</p:attrName>
                                        </p:attrNameLst>
                                      </p:cBhvr>
                                      <p:to>
                                        <p:strVal val="visible"/>
                                      </p:to>
                                    </p:set>
                                    <p:anim calcmode="lin" valueType="num">
                                      <p:cBhvr additive="base">
                                        <p:cTn id="7" dur="500" fill="hold"/>
                                        <p:tgtEl>
                                          <p:spTgt spid="66563"/>
                                        </p:tgtEl>
                                        <p:attrNameLst>
                                          <p:attrName>ppt_x</p:attrName>
                                        </p:attrNameLst>
                                      </p:cBhvr>
                                      <p:tavLst>
                                        <p:tav tm="0">
                                          <p:val>
                                            <p:strVal val="1+#ppt_w/2"/>
                                          </p:val>
                                        </p:tav>
                                        <p:tav tm="100000">
                                          <p:val>
                                            <p:strVal val="#ppt_x"/>
                                          </p:val>
                                        </p:tav>
                                      </p:tavLst>
                                    </p:anim>
                                    <p:anim calcmode="lin" valueType="num">
                                      <p:cBhvr additive="base">
                                        <p:cTn id="8" dur="500" fill="hold"/>
                                        <p:tgtEl>
                                          <p:spTgt spid="665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1ECFCC55-B1BA-4F68-A0F3-687EE372246A}" type="slidenum">
              <a:rPr lang="zh-CN" altLang="en-US"/>
              <a:pPr>
                <a:defRPr/>
              </a:pPr>
              <a:t>10</a:t>
            </a:fld>
            <a:endParaRPr lang="en-US" altLang="zh-CN"/>
          </a:p>
        </p:txBody>
      </p:sp>
      <p:sp>
        <p:nvSpPr>
          <p:cNvPr id="15363" name="Rectangle 5"/>
          <p:cNvSpPr>
            <a:spLocks noChangeArrowheads="1"/>
          </p:cNvSpPr>
          <p:nvPr/>
        </p:nvSpPr>
        <p:spPr bwMode="auto">
          <a:xfrm>
            <a:off x="1187450" y="327025"/>
            <a:ext cx="4672013"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130000"/>
              </a:lnSpc>
              <a:spcBef>
                <a:spcPct val="0"/>
              </a:spcBef>
              <a:buClrTx/>
              <a:buFontTx/>
              <a:buNone/>
            </a:pPr>
            <a:r>
              <a:rPr lang="zh-CN" altLang="en-US">
                <a:ea typeface="楷体_GB2312" pitchFamily="49" charset="-122"/>
              </a:rPr>
              <a:t>一、计算物理学的重要性</a:t>
            </a:r>
          </a:p>
        </p:txBody>
      </p:sp>
      <p:sp>
        <p:nvSpPr>
          <p:cNvPr id="499718" name="Rectangle 6"/>
          <p:cNvSpPr>
            <a:spLocks noChangeArrowheads="1"/>
          </p:cNvSpPr>
          <p:nvPr/>
        </p:nvSpPr>
        <p:spPr bwMode="auto">
          <a:xfrm>
            <a:off x="684213" y="162877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35000"/>
              </a:lnSpc>
              <a:buFont typeface="Monotype Sorts" pitchFamily="2" charset="2"/>
              <a:buNone/>
            </a:pPr>
            <a:r>
              <a:rPr lang="zh-CN" altLang="en-US"/>
              <a:t>随着科学技术的飞速发展，科学计算愈来愈显示出其重要性。科学计算的应用之广已遍及各行各业，例如：气象资料的分析图像，飞机、汽车及轮船的外形设计，高科技研究等都离不开科学计算。</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9718"/>
                                        </p:tgtEl>
                                        <p:attrNameLst>
                                          <p:attrName>style.visibility</p:attrName>
                                        </p:attrNameLst>
                                      </p:cBhvr>
                                      <p:to>
                                        <p:strVal val="visible"/>
                                      </p:to>
                                    </p:set>
                                    <p:anim calcmode="lin" valueType="num">
                                      <p:cBhvr additive="base">
                                        <p:cTn id="7" dur="500" fill="hold"/>
                                        <p:tgtEl>
                                          <p:spTgt spid="499718"/>
                                        </p:tgtEl>
                                        <p:attrNameLst>
                                          <p:attrName>ppt_x</p:attrName>
                                        </p:attrNameLst>
                                      </p:cBhvr>
                                      <p:tavLst>
                                        <p:tav tm="0">
                                          <p:val>
                                            <p:strVal val="#ppt_x"/>
                                          </p:val>
                                        </p:tav>
                                        <p:tav tm="100000">
                                          <p:val>
                                            <p:strVal val="#ppt_x"/>
                                          </p:val>
                                        </p:tav>
                                      </p:tavLst>
                                    </p:anim>
                                    <p:anim calcmode="lin" valueType="num">
                                      <p:cBhvr additive="base">
                                        <p:cTn id="8" dur="500" fill="hold"/>
                                        <p:tgtEl>
                                          <p:spTgt spid="4997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971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C7AF9BA9-B000-4211-AD19-77ADDABBBEDF}" type="slidenum">
              <a:rPr lang="zh-CN" altLang="en-US"/>
              <a:pPr>
                <a:defRPr/>
              </a:pPr>
              <a:t>11</a:t>
            </a:fld>
            <a:endParaRPr lang="en-US" altLang="zh-CN"/>
          </a:p>
        </p:txBody>
      </p:sp>
      <p:sp>
        <p:nvSpPr>
          <p:cNvPr id="548866" name="Rectangle 2"/>
          <p:cNvSpPr>
            <a:spLocks noChangeArrowheads="1"/>
          </p:cNvSpPr>
          <p:nvPr/>
        </p:nvSpPr>
        <p:spPr bwMode="auto">
          <a:xfrm>
            <a:off x="250825" y="765175"/>
            <a:ext cx="58959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dirty="0">
                <a:solidFill>
                  <a:schemeClr val="tx1"/>
                </a:solidFill>
                <a:effectLst>
                  <a:outerShdw blurRad="38100" dist="38100" dir="2700000" algn="tl">
                    <a:srgbClr val="C0C0C0"/>
                  </a:outerShdw>
                </a:effectLst>
              </a:rPr>
              <a:t>堪为物理学第三分支的计算物理</a:t>
            </a:r>
          </a:p>
        </p:txBody>
      </p:sp>
      <p:sp>
        <p:nvSpPr>
          <p:cNvPr id="548867" name="Rectangle 3"/>
          <p:cNvSpPr>
            <a:spLocks noChangeArrowheads="1"/>
          </p:cNvSpPr>
          <p:nvPr/>
        </p:nvSpPr>
        <p:spPr bwMode="auto">
          <a:xfrm>
            <a:off x="179388" y="1628775"/>
            <a:ext cx="8856662" cy="5133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zh-CN" altLang="zh-CN" sz="2800" dirty="0">
                <a:solidFill>
                  <a:srgbClr val="070102"/>
                </a:solidFill>
                <a:effectLst>
                  <a:outerShdw blurRad="38100" dist="38100" dir="2700000" algn="tl">
                    <a:srgbClr val="C0C0C0"/>
                  </a:outerShdw>
                </a:effectLst>
              </a:rPr>
              <a:t>（</a:t>
            </a:r>
            <a:r>
              <a:rPr lang="en-US" altLang="zh-CN" sz="2800" dirty="0">
                <a:solidFill>
                  <a:srgbClr val="070102"/>
                </a:solidFill>
                <a:effectLst>
                  <a:outerShdw blurRad="38100" dist="38100" dir="2700000" algn="tl">
                    <a:srgbClr val="C0C0C0"/>
                  </a:outerShdw>
                </a:effectLst>
              </a:rPr>
              <a:t>A.J. Freeman</a:t>
            </a:r>
            <a:r>
              <a:rPr lang="zh-CN" altLang="en-US" sz="2800" dirty="0">
                <a:solidFill>
                  <a:srgbClr val="070102"/>
                </a:solidFill>
                <a:effectLst>
                  <a:outerShdw blurRad="38100" dist="38100" dir="2700000" algn="tl">
                    <a:srgbClr val="C0C0C0"/>
                  </a:outerShdw>
                </a:effectLst>
              </a:rPr>
              <a:t>，</a:t>
            </a:r>
            <a:r>
              <a:rPr lang="en-US" altLang="zh-CN" sz="2800" dirty="0">
                <a:solidFill>
                  <a:srgbClr val="070102"/>
                </a:solidFill>
                <a:effectLst>
                  <a:outerShdw blurRad="38100" dist="38100" dir="2700000" algn="tl">
                    <a:srgbClr val="C0C0C0"/>
                  </a:outerShdw>
                </a:effectLst>
              </a:rPr>
              <a:t> Department of Physics and Astronomy, Northwestern University USA 1982)</a:t>
            </a:r>
          </a:p>
          <a:p>
            <a:pPr>
              <a:lnSpc>
                <a:spcPct val="140000"/>
              </a:lnSpc>
              <a:spcBef>
                <a:spcPct val="50000"/>
              </a:spcBef>
              <a:defRPr/>
            </a:pPr>
            <a:r>
              <a:rPr lang="zh-CN" altLang="en-US" sz="2800" dirty="0">
                <a:solidFill>
                  <a:srgbClr val="070102"/>
                </a:solidFill>
                <a:effectLst>
                  <a:outerShdw blurRad="38100" dist="38100" dir="2700000" algn="tl">
                    <a:srgbClr val="C0C0C0"/>
                  </a:outerShdw>
                </a:effectLst>
              </a:rPr>
              <a:t>计算物理，由于它的性质、方法和需要，是如此不同和独立于两个众所周知的、十分熟悉的物理学分支--</a:t>
            </a:r>
            <a:r>
              <a:rPr lang="zh-CN" altLang="en-US" sz="3600" dirty="0">
                <a:solidFill>
                  <a:srgbClr val="070102"/>
                </a:solidFill>
                <a:effectLst>
                  <a:outerShdw blurRad="38100" dist="38100" dir="2700000" algn="tl">
                    <a:srgbClr val="C0C0C0"/>
                  </a:outerShdw>
                </a:effectLst>
              </a:rPr>
              <a:t> -- </a:t>
            </a:r>
            <a:r>
              <a:rPr lang="zh-CN" altLang="en-US" sz="3600" dirty="0">
                <a:solidFill>
                  <a:srgbClr val="3F15F3"/>
                </a:solidFill>
                <a:effectLst>
                  <a:outerShdw blurRad="38100" dist="38100" dir="2700000" algn="tl">
                    <a:srgbClr val="C0C0C0"/>
                  </a:outerShdw>
                </a:effectLst>
              </a:rPr>
              <a:t>解析的理论物理和实验物理</a:t>
            </a:r>
            <a:r>
              <a:rPr lang="zh-CN" altLang="en-US" sz="2800" dirty="0">
                <a:solidFill>
                  <a:srgbClr val="070102"/>
                </a:solidFill>
                <a:effectLst>
                  <a:outerShdw blurRad="38100" dist="38100" dir="2700000" algn="tl">
                    <a:srgbClr val="C0C0C0"/>
                  </a:outerShdw>
                </a:effectLst>
              </a:rPr>
              <a:t>，而成为物理学的第三分支。由于计算物理在物理学各领域中推进物理理论的重大意义已经肯定，认识这一正在扩充和蓬勃发展着的物理学研究领域，对物理学家来说是很重要的。</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8867"/>
                                        </p:tgtEl>
                                        <p:attrNameLst>
                                          <p:attrName>style.visibility</p:attrName>
                                        </p:attrNameLst>
                                      </p:cBhvr>
                                      <p:to>
                                        <p:strVal val="visible"/>
                                      </p:to>
                                    </p:set>
                                    <p:anim calcmode="lin" valueType="num">
                                      <p:cBhvr additive="base">
                                        <p:cTn id="7" dur="500" fill="hold"/>
                                        <p:tgtEl>
                                          <p:spTgt spid="548867"/>
                                        </p:tgtEl>
                                        <p:attrNameLst>
                                          <p:attrName>ppt_x</p:attrName>
                                        </p:attrNameLst>
                                      </p:cBhvr>
                                      <p:tavLst>
                                        <p:tav tm="0">
                                          <p:val>
                                            <p:strVal val="#ppt_x"/>
                                          </p:val>
                                        </p:tav>
                                        <p:tav tm="100000">
                                          <p:val>
                                            <p:strVal val="#ppt_x"/>
                                          </p:val>
                                        </p:tav>
                                      </p:tavLst>
                                    </p:anim>
                                    <p:anim calcmode="lin" valueType="num">
                                      <p:cBhvr additive="base">
                                        <p:cTn id="8" dur="500" fill="hold"/>
                                        <p:tgtEl>
                                          <p:spTgt spid="5488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BC023547-B060-4D01-AF0D-B75302BD8810}" type="slidenum">
              <a:rPr lang="zh-CN" altLang="en-US"/>
              <a:pPr>
                <a:defRPr/>
              </a:pPr>
              <a:t>12</a:t>
            </a:fld>
            <a:endParaRPr lang="en-US" altLang="zh-CN"/>
          </a:p>
        </p:txBody>
      </p:sp>
      <p:sp>
        <p:nvSpPr>
          <p:cNvPr id="67586" name="Rectangle 2"/>
          <p:cNvSpPr>
            <a:spLocks noChangeArrowheads="1"/>
          </p:cNvSpPr>
          <p:nvPr/>
        </p:nvSpPr>
        <p:spPr bwMode="auto">
          <a:xfrm>
            <a:off x="533400" y="1371600"/>
            <a:ext cx="8215313" cy="5065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40000"/>
              </a:lnSpc>
              <a:spcBef>
                <a:spcPct val="50000"/>
              </a:spcBef>
              <a:defRPr/>
            </a:pPr>
            <a:r>
              <a:rPr lang="zh-CN" altLang="en-US" sz="3200" dirty="0">
                <a:solidFill>
                  <a:schemeClr val="tx1"/>
                </a:solidFill>
                <a:effectLst>
                  <a:outerShdw blurRad="38100" dist="38100" dir="2700000" algn="tl">
                    <a:srgbClr val="C0C0C0"/>
                  </a:outerShdw>
                </a:effectLst>
              </a:rPr>
              <a:t>我要强调计算物理作为物理学的第三分支的这个角色---</a:t>
            </a:r>
            <a:r>
              <a:rPr lang="zh-CN" altLang="en-US" sz="4000" dirty="0">
                <a:solidFill>
                  <a:srgbClr val="FF0000"/>
                </a:solidFill>
                <a:effectLst>
                  <a:outerShdw blurRad="38100" dist="38100" dir="2700000" algn="tl">
                    <a:srgbClr val="C0C0C0"/>
                  </a:outerShdw>
                </a:effectLst>
              </a:rPr>
              <a:t>实验的理论</a:t>
            </a:r>
            <a:r>
              <a:rPr lang="zh-CN" altLang="en-US" sz="3200" dirty="0">
                <a:solidFill>
                  <a:schemeClr val="tx1"/>
                </a:solidFill>
                <a:effectLst>
                  <a:outerShdw blurRad="38100" dist="38100" dir="2700000" algn="tl">
                    <a:srgbClr val="C0C0C0"/>
                  </a:outerShdw>
                </a:effectLst>
              </a:rPr>
              <a:t>---以及他作为物理学大厦第三根支柱的重要性。</a:t>
            </a:r>
          </a:p>
          <a:p>
            <a:pPr>
              <a:lnSpc>
                <a:spcPct val="140000"/>
              </a:lnSpc>
              <a:spcBef>
                <a:spcPct val="50000"/>
              </a:spcBef>
              <a:defRPr/>
            </a:pPr>
            <a:r>
              <a:rPr lang="zh-CN" altLang="en-US" sz="3200" dirty="0">
                <a:solidFill>
                  <a:schemeClr val="tx1"/>
                </a:solidFill>
                <a:effectLst>
                  <a:outerShdw blurRad="38100" dist="38100" dir="2700000" algn="tl">
                    <a:srgbClr val="C0C0C0"/>
                  </a:outerShdw>
                </a:effectLst>
              </a:rPr>
              <a:t>从实际考虑，从其它因素考虑也一样，大规模计算有时候还可看作“</a:t>
            </a:r>
            <a:r>
              <a:rPr lang="zh-CN" altLang="en-US" sz="4000" dirty="0">
                <a:solidFill>
                  <a:srgbClr val="FF0000"/>
                </a:solidFill>
                <a:effectLst>
                  <a:outerShdw blurRad="38100" dist="38100" dir="2700000" algn="tl">
                    <a:srgbClr val="C0C0C0"/>
                  </a:outerShdw>
                </a:effectLst>
              </a:rPr>
              <a:t>理论的实验</a:t>
            </a:r>
            <a:r>
              <a:rPr lang="zh-CN" altLang="en-US" sz="3200" dirty="0">
                <a:solidFill>
                  <a:schemeClr val="tx1"/>
                </a:solidFill>
                <a:effectLst>
                  <a:outerShdw blurRad="38100" dist="38100" dir="2700000" algn="tl">
                    <a:srgbClr val="C0C0C0"/>
                  </a:outerShdw>
                </a:effectLst>
              </a:rPr>
              <a:t>”。</a:t>
            </a:r>
          </a:p>
          <a:p>
            <a:pPr>
              <a:lnSpc>
                <a:spcPct val="140000"/>
              </a:lnSpc>
              <a:spcBef>
                <a:spcPct val="50000"/>
              </a:spcBef>
              <a:defRPr/>
            </a:pPr>
            <a:endParaRPr lang="zh-CN" altLang="en-US" sz="3200" dirty="0">
              <a:solidFill>
                <a:schemeClr val="tx1"/>
              </a:solidFill>
              <a:effectLst>
                <a:outerShdw blurRad="38100" dist="38100" dir="2700000" algn="tl">
                  <a:srgbClr val="C0C0C0"/>
                </a:outerShdw>
              </a:effectLst>
            </a:endParaRPr>
          </a:p>
        </p:txBody>
      </p:sp>
    </p:spTree>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3933825"/>
            <a:ext cx="8135937" cy="2951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9699" name="图片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25525" y="188913"/>
            <a:ext cx="7021513"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0553049"/>
      </p:ext>
    </p:extLst>
  </p:cSld>
  <p:clrMapOvr>
    <a:masterClrMapping/>
  </p:clrMapOvr>
  <p:transition spd="slow">
    <p:push dir="u"/>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32947F41-C7F9-41CE-9A0B-25EB8CBDC7C1}" type="slidenum">
              <a:rPr lang="zh-CN" altLang="en-US"/>
              <a:pPr>
                <a:defRPr/>
              </a:pPr>
              <a:t>14</a:t>
            </a:fld>
            <a:endParaRPr lang="en-US" altLang="zh-CN"/>
          </a:p>
        </p:txBody>
      </p:sp>
      <p:sp>
        <p:nvSpPr>
          <p:cNvPr id="567298" name="Rectangle 2"/>
          <p:cNvSpPr>
            <a:spLocks noChangeArrowheads="1"/>
          </p:cNvSpPr>
          <p:nvPr/>
        </p:nvSpPr>
        <p:spPr bwMode="auto">
          <a:xfrm>
            <a:off x="228600" y="1484313"/>
            <a:ext cx="8915400" cy="4848225"/>
          </a:xfrm>
          <a:prstGeom prst="rect">
            <a:avLst/>
          </a:prstGeom>
          <a:noFill/>
          <a:ln w="9525">
            <a:solidFill>
              <a:srgbClr val="FFFF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40000"/>
              </a:lnSpc>
              <a:defRPr/>
            </a:pPr>
            <a:r>
              <a:rPr lang="zh-CN" altLang="en-US" sz="2800" dirty="0">
                <a:solidFill>
                  <a:schemeClr val="tx1"/>
                </a:solidFill>
                <a:effectLst>
                  <a:outerShdw blurRad="38100" dist="38100" dir="2700000" algn="tl">
                    <a:srgbClr val="C0C0C0"/>
                  </a:outerShdw>
                </a:effectLst>
              </a:rPr>
              <a:t>计算物理在物理学中是相对年轻的部分，因为这个领域依赖的自动计算工具在二次大战前还不存在。现代计算机的发展是和物理学中的计算紧密相联系的，它们的发展是通过他们之间的相互作用进行的。计算物理已经很快成为与实验和理论并列的第三种科学手段。传统上，计算物理学家是自学成才的，学校里形式上并没有专门培养计算物理学家的专业课程。事实上，连什么是计算物理这个问题也一直很少有专门的讨论。</a:t>
            </a:r>
          </a:p>
        </p:txBody>
      </p:sp>
      <p:sp>
        <p:nvSpPr>
          <p:cNvPr id="567299" name="Rectangle 3"/>
          <p:cNvSpPr>
            <a:spLocks noChangeArrowheads="1"/>
          </p:cNvSpPr>
          <p:nvPr/>
        </p:nvSpPr>
        <p:spPr bwMode="auto">
          <a:xfrm>
            <a:off x="468313" y="476250"/>
            <a:ext cx="3448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zh-CN" altLang="en-US" sz="3200">
                <a:solidFill>
                  <a:schemeClr val="tx1"/>
                </a:solidFill>
                <a:effectLst>
                  <a:outerShdw blurRad="38100" dist="38100" dir="2700000" algn="tl">
                    <a:srgbClr val="C0C0C0"/>
                  </a:outerShdw>
                </a:effectLst>
              </a:rPr>
              <a:t>新千年的计算物理</a:t>
            </a:r>
          </a:p>
        </p:txBody>
      </p:sp>
      <p:sp>
        <p:nvSpPr>
          <p:cNvPr id="567300" name="Rectangle 4"/>
          <p:cNvSpPr>
            <a:spLocks noChangeArrowheads="1"/>
          </p:cNvSpPr>
          <p:nvPr/>
        </p:nvSpPr>
        <p:spPr bwMode="auto">
          <a:xfrm>
            <a:off x="4140200" y="576263"/>
            <a:ext cx="439578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ltLang="zh-CN" sz="3200">
                <a:solidFill>
                  <a:schemeClr val="tx1"/>
                </a:solidFill>
                <a:effectLst>
                  <a:outerShdw blurRad="38100" dist="38100" dir="2700000" algn="tl">
                    <a:srgbClr val="C0C0C0"/>
                  </a:outerShdw>
                </a:effectLst>
              </a:rPr>
              <a:t>----</a:t>
            </a:r>
            <a:r>
              <a:rPr lang="zh-CN" altLang="en-US" sz="3200">
                <a:solidFill>
                  <a:schemeClr val="tx1"/>
                </a:solidFill>
                <a:effectLst>
                  <a:outerShdw blurRad="38100" dist="38100" dir="2700000" algn="tl">
                    <a:srgbClr val="C0C0C0"/>
                  </a:outerShdw>
                </a:effectLst>
              </a:rPr>
              <a:t>物理学的一个新领域</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67300"/>
                                        </p:tgtEl>
                                        <p:attrNameLst>
                                          <p:attrName>style.visibility</p:attrName>
                                        </p:attrNameLst>
                                      </p:cBhvr>
                                      <p:to>
                                        <p:strVal val="visible"/>
                                      </p:to>
                                    </p:set>
                                    <p:anim calcmode="lin" valueType="num">
                                      <p:cBhvr additive="base">
                                        <p:cTn id="7" dur="500" fill="hold"/>
                                        <p:tgtEl>
                                          <p:spTgt spid="567300"/>
                                        </p:tgtEl>
                                        <p:attrNameLst>
                                          <p:attrName>ppt_x</p:attrName>
                                        </p:attrNameLst>
                                      </p:cBhvr>
                                      <p:tavLst>
                                        <p:tav tm="0">
                                          <p:val>
                                            <p:strVal val="1+#ppt_w/2"/>
                                          </p:val>
                                        </p:tav>
                                        <p:tav tm="100000">
                                          <p:val>
                                            <p:strVal val="#ppt_x"/>
                                          </p:val>
                                        </p:tav>
                                      </p:tavLst>
                                    </p:anim>
                                    <p:anim calcmode="lin" valueType="num">
                                      <p:cBhvr additive="base">
                                        <p:cTn id="8" dur="500" fill="hold"/>
                                        <p:tgtEl>
                                          <p:spTgt spid="567300"/>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67298"/>
                                        </p:tgtEl>
                                        <p:attrNameLst>
                                          <p:attrName>style.visibility</p:attrName>
                                        </p:attrNameLst>
                                      </p:cBhvr>
                                      <p:to>
                                        <p:strVal val="visible"/>
                                      </p:to>
                                    </p:set>
                                    <p:anim calcmode="lin" valueType="num">
                                      <p:cBhvr additive="base">
                                        <p:cTn id="13" dur="500" fill="hold"/>
                                        <p:tgtEl>
                                          <p:spTgt spid="567298"/>
                                        </p:tgtEl>
                                        <p:attrNameLst>
                                          <p:attrName>ppt_x</p:attrName>
                                        </p:attrNameLst>
                                      </p:cBhvr>
                                      <p:tavLst>
                                        <p:tav tm="0">
                                          <p:val>
                                            <p:strVal val="1+#ppt_w/2"/>
                                          </p:val>
                                        </p:tav>
                                        <p:tav tm="100000">
                                          <p:val>
                                            <p:strVal val="#ppt_x"/>
                                          </p:val>
                                        </p:tav>
                                      </p:tavLst>
                                    </p:anim>
                                    <p:anim calcmode="lin" valueType="num">
                                      <p:cBhvr additive="base">
                                        <p:cTn id="14" dur="500" fill="hold"/>
                                        <p:tgtEl>
                                          <p:spTgt spid="56729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7298" grpId="0" animBg="1" autoUpdateAnimBg="0"/>
      <p:bldP spid="567300"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0E9F6E3E-CE3A-4612-9BC7-18A715009D44}" type="slidenum">
              <a:rPr lang="zh-CN" altLang="en-US"/>
              <a:pPr>
                <a:defRPr/>
              </a:pPr>
              <a:t>15</a:t>
            </a:fld>
            <a:endParaRPr lang="en-US" altLang="zh-CN"/>
          </a:p>
        </p:txBody>
      </p:sp>
      <p:sp>
        <p:nvSpPr>
          <p:cNvPr id="568322" name="Rectangle 2"/>
          <p:cNvSpPr>
            <a:spLocks noChangeArrowheads="1"/>
          </p:cNvSpPr>
          <p:nvPr/>
        </p:nvSpPr>
        <p:spPr bwMode="auto">
          <a:xfrm>
            <a:off x="179388" y="404813"/>
            <a:ext cx="8785225"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30000"/>
              </a:lnSpc>
              <a:defRPr/>
            </a:pPr>
            <a:r>
              <a:rPr lang="zh-CN" altLang="en-US" sz="2800" dirty="0">
                <a:solidFill>
                  <a:schemeClr val="tx1"/>
                </a:solidFill>
                <a:effectLst>
                  <a:outerShdw blurRad="38100" dist="38100" dir="2700000" algn="tl">
                    <a:srgbClr val="C0C0C0"/>
                  </a:outerShdw>
                </a:effectLst>
                <a:latin typeface="楷体_GB2312" pitchFamily="49" charset="-122"/>
              </a:rPr>
              <a:t>然而，近年来很多学校在大学本科和研究生教学中开始设置计算机科学和工程的课程。计算物理在这些教学计划中起着关键的作用。这些发展将有助于保证计算物理学家的快速培养。</a:t>
            </a:r>
          </a:p>
        </p:txBody>
      </p:sp>
      <p:sp>
        <p:nvSpPr>
          <p:cNvPr id="568323" name="Rectangle 3"/>
          <p:cNvSpPr>
            <a:spLocks noChangeArrowheads="1"/>
          </p:cNvSpPr>
          <p:nvPr/>
        </p:nvSpPr>
        <p:spPr bwMode="auto">
          <a:xfrm>
            <a:off x="225425" y="2852738"/>
            <a:ext cx="8785225" cy="36210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40000"/>
              </a:lnSpc>
              <a:defRPr/>
            </a:pPr>
            <a:r>
              <a:rPr lang="zh-CN" altLang="en-US" sz="2800" dirty="0">
                <a:solidFill>
                  <a:schemeClr val="tx1"/>
                </a:solidFill>
                <a:effectLst>
                  <a:outerShdw blurRad="38100" dist="38100" dir="2700000" algn="tl">
                    <a:srgbClr val="C0C0C0"/>
                  </a:outerShdw>
                </a:effectLst>
                <a:latin typeface="楷体_GB2312" pitchFamily="49" charset="-122"/>
              </a:rPr>
              <a:t>计算方法和工具仍在以飞快的速度继续进展。今天，5000美元的个人工作站的计算速度和1990年5 000 000美元的超计算机一样快；而内存甚至还更大。超计算机的普及为每个国家的科学家开展计算物理的研究打开了大门。因此我们可以期待在新的世纪中，计算机模拟作为物理学家的基本工具会有远远大得多的用处。</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68323"/>
                                        </p:tgtEl>
                                        <p:attrNameLst>
                                          <p:attrName>style.visibility</p:attrName>
                                        </p:attrNameLst>
                                      </p:cBhvr>
                                      <p:to>
                                        <p:strVal val="visible"/>
                                      </p:to>
                                    </p:set>
                                    <p:anim calcmode="lin" valueType="num">
                                      <p:cBhvr additive="base">
                                        <p:cTn id="7" dur="500" fill="hold"/>
                                        <p:tgtEl>
                                          <p:spTgt spid="568323"/>
                                        </p:tgtEl>
                                        <p:attrNameLst>
                                          <p:attrName>ppt_x</p:attrName>
                                        </p:attrNameLst>
                                      </p:cBhvr>
                                      <p:tavLst>
                                        <p:tav tm="0">
                                          <p:val>
                                            <p:strVal val="1+#ppt_w/2"/>
                                          </p:val>
                                        </p:tav>
                                        <p:tav tm="100000">
                                          <p:val>
                                            <p:strVal val="#ppt_x"/>
                                          </p:val>
                                        </p:tav>
                                      </p:tavLst>
                                    </p:anim>
                                    <p:anim calcmode="lin" valueType="num">
                                      <p:cBhvr additive="base">
                                        <p:cTn id="8" dur="500" fill="hold"/>
                                        <p:tgtEl>
                                          <p:spTgt spid="5683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832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2A50BC0B-821A-460E-ACB5-082E85ABE582}" type="slidenum">
              <a:rPr lang="zh-CN" altLang="en-US"/>
              <a:pPr>
                <a:defRPr/>
              </a:pPr>
              <a:t>16</a:t>
            </a:fld>
            <a:endParaRPr lang="en-US" altLang="zh-CN"/>
          </a:p>
        </p:txBody>
      </p:sp>
      <p:sp>
        <p:nvSpPr>
          <p:cNvPr id="569346" name="Rectangle 2"/>
          <p:cNvSpPr>
            <a:spLocks noChangeArrowheads="1"/>
          </p:cNvSpPr>
          <p:nvPr/>
        </p:nvSpPr>
        <p:spPr bwMode="auto">
          <a:xfrm>
            <a:off x="323850" y="1484313"/>
            <a:ext cx="8077200" cy="22145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defRPr/>
            </a:pPr>
            <a:r>
              <a:rPr lang="zh-CN" altLang="en-US" sz="3200" dirty="0">
                <a:solidFill>
                  <a:schemeClr val="tx1"/>
                </a:solidFill>
                <a:effectLst>
                  <a:outerShdw blurRad="38100" dist="38100" dir="2700000" algn="tl">
                    <a:srgbClr val="C0C0C0"/>
                  </a:outerShdw>
                </a:effectLst>
              </a:rPr>
              <a:t>总之，过去的五年在计算物理历史上是最辉煌的五年，而下一个五年的进展将使过去的五年变得黯然失色。</a:t>
            </a:r>
          </a:p>
        </p:txBody>
      </p:sp>
      <p:sp>
        <p:nvSpPr>
          <p:cNvPr id="569347" name="Rectangle 3"/>
          <p:cNvSpPr>
            <a:spLocks noChangeArrowheads="1"/>
          </p:cNvSpPr>
          <p:nvPr/>
        </p:nvSpPr>
        <p:spPr bwMode="auto">
          <a:xfrm>
            <a:off x="533400" y="404813"/>
            <a:ext cx="18161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spcBef>
                <a:spcPct val="50000"/>
              </a:spcBef>
              <a:defRPr/>
            </a:pPr>
            <a:r>
              <a:rPr lang="zh-CN" altLang="en-US" sz="3200">
                <a:solidFill>
                  <a:schemeClr val="tx1"/>
                </a:solidFill>
                <a:effectLst>
                  <a:outerShdw blurRad="38100" dist="38100" dir="2700000" algn="tl">
                    <a:srgbClr val="C0C0C0"/>
                  </a:outerShdw>
                </a:effectLst>
              </a:rPr>
              <a:t>展望未来</a:t>
            </a:r>
            <a:endParaRPr lang="zh-CN" altLang="en-US" sz="2800">
              <a:solidFill>
                <a:schemeClr val="tx1"/>
              </a:solidFill>
              <a:effectLst>
                <a:outerShdw blurRad="38100" dist="38100" dir="2700000" algn="tl">
                  <a:srgbClr val="C0C0C0"/>
                </a:outerShdw>
              </a:effectLs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2" fill="hold" grpId="0" nodeType="clickEffect">
                                  <p:stCondLst>
                                    <p:cond delay="0"/>
                                  </p:stCondLst>
                                  <p:childTnLst>
                                    <p:set>
                                      <p:cBhvr>
                                        <p:cTn id="6" dur="1" fill="hold">
                                          <p:stCondLst>
                                            <p:cond delay="0"/>
                                          </p:stCondLst>
                                        </p:cTn>
                                        <p:tgtEl>
                                          <p:spTgt spid="569346"/>
                                        </p:tgtEl>
                                        <p:attrNameLst>
                                          <p:attrName>style.visibility</p:attrName>
                                        </p:attrNameLst>
                                      </p:cBhvr>
                                      <p:to>
                                        <p:strVal val="visible"/>
                                      </p:to>
                                    </p:set>
                                    <p:anim calcmode="lin" valueType="num">
                                      <p:cBhvr additive="base">
                                        <p:cTn id="7" dur="500" fill="hold"/>
                                        <p:tgtEl>
                                          <p:spTgt spid="569346"/>
                                        </p:tgtEl>
                                        <p:attrNameLst>
                                          <p:attrName>ppt_x</p:attrName>
                                        </p:attrNameLst>
                                      </p:cBhvr>
                                      <p:tavLst>
                                        <p:tav tm="0">
                                          <p:val>
                                            <p:strVal val="0-#ppt_w/2"/>
                                          </p:val>
                                        </p:tav>
                                        <p:tav tm="100000">
                                          <p:val>
                                            <p:strVal val="#ppt_x"/>
                                          </p:val>
                                        </p:tav>
                                      </p:tavLst>
                                    </p:anim>
                                    <p:anim calcmode="lin" valueType="num">
                                      <p:cBhvr additive="base">
                                        <p:cTn id="8" dur="500" fill="hold"/>
                                        <p:tgtEl>
                                          <p:spTgt spid="56934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9346" grpId="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DA4F333F-AEBF-4673-B2CB-90DFCD1E3B9C}" type="slidenum">
              <a:rPr lang="zh-CN" altLang="en-US"/>
              <a:pPr>
                <a:defRPr/>
              </a:pPr>
              <a:t>17</a:t>
            </a:fld>
            <a:endParaRPr lang="en-US" altLang="zh-CN"/>
          </a:p>
        </p:txBody>
      </p:sp>
      <p:sp>
        <p:nvSpPr>
          <p:cNvPr id="287746" name="Text Box 2"/>
          <p:cNvSpPr txBox="1">
            <a:spLocks noChangeArrowheads="1"/>
          </p:cNvSpPr>
          <p:nvPr/>
        </p:nvSpPr>
        <p:spPr bwMode="auto">
          <a:xfrm>
            <a:off x="250825" y="68263"/>
            <a:ext cx="8534400" cy="6823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5000"/>
              </a:lnSpc>
              <a:defRPr/>
            </a:pPr>
            <a:r>
              <a:rPr lang="en-US" altLang="zh-CN" sz="3600" dirty="0">
                <a:solidFill>
                  <a:schemeClr val="tx1"/>
                </a:solidFill>
                <a:latin typeface="+mn-lt"/>
              </a:rPr>
              <a:t>Preface</a:t>
            </a:r>
          </a:p>
          <a:p>
            <a:pPr algn="just">
              <a:lnSpc>
                <a:spcPct val="135000"/>
              </a:lnSpc>
              <a:defRPr/>
            </a:pPr>
            <a:r>
              <a:rPr lang="en-US" altLang="zh-CN" sz="3600" dirty="0">
                <a:solidFill>
                  <a:schemeClr val="tx1"/>
                </a:solidFill>
                <a:latin typeface="+mn-lt"/>
              </a:rPr>
              <a:t>It is well known that there were basically two branches of physics in the earlier days: one is </a:t>
            </a:r>
            <a:r>
              <a:rPr lang="en-US" altLang="zh-CN" sz="3600" dirty="0">
                <a:solidFill>
                  <a:srgbClr val="0070C0"/>
                </a:solidFill>
                <a:latin typeface="+mn-lt"/>
              </a:rPr>
              <a:t>theoretical physics</a:t>
            </a:r>
            <a:r>
              <a:rPr lang="en-US" altLang="zh-CN" sz="3600" dirty="0">
                <a:solidFill>
                  <a:schemeClr val="tx1"/>
                </a:solidFill>
                <a:latin typeface="+mn-lt"/>
              </a:rPr>
              <a:t>, the other is </a:t>
            </a:r>
            <a:r>
              <a:rPr lang="en-US" altLang="zh-CN" sz="3600" dirty="0">
                <a:solidFill>
                  <a:srgbClr val="0070C0"/>
                </a:solidFill>
                <a:latin typeface="+mn-lt"/>
              </a:rPr>
              <a:t>experimental physics</a:t>
            </a:r>
            <a:r>
              <a:rPr lang="en-US" altLang="zh-CN" sz="3600" dirty="0">
                <a:solidFill>
                  <a:schemeClr val="tx1"/>
                </a:solidFill>
                <a:latin typeface="+mn-lt"/>
              </a:rPr>
              <a:t>. Although there are many different characteristics between these two parts, both of them unavoidably need numerical calculations under some circumstances.</a:t>
            </a:r>
            <a:endParaRPr lang="zh-CN" altLang="en-US" sz="3600" dirty="0">
              <a:solidFill>
                <a:schemeClr val="tx1"/>
              </a:solidFill>
              <a:effectLst>
                <a:outerShdw blurRad="38100" dist="38100" dir="2700000" algn="tl">
                  <a:srgbClr val="C0C0C0"/>
                </a:outerShdw>
              </a:effectLst>
              <a:latin typeface="+mn-lt"/>
            </a:endParaRPr>
          </a:p>
        </p:txBody>
      </p:sp>
    </p:spTree>
    <p:extLst>
      <p:ext uri="{BB962C8B-B14F-4D97-AF65-F5344CB8AC3E}">
        <p14:creationId xmlns:p14="http://schemas.microsoft.com/office/powerpoint/2010/main" val="3488135195"/>
      </p:ext>
    </p:extLst>
  </p:cSld>
  <p:clrMapOvr>
    <a:masterClrMapping/>
  </p:clrMapOvr>
  <p:transition spd="slow">
    <p:push dir="u"/>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A2E2E81F-9F75-44B6-BF34-B6A6C14F0C33}" type="slidenum">
              <a:rPr lang="zh-CN" altLang="en-US"/>
              <a:pPr>
                <a:defRPr/>
              </a:pPr>
              <a:t>18</a:t>
            </a:fld>
            <a:endParaRPr lang="en-US" altLang="zh-CN"/>
          </a:p>
        </p:txBody>
      </p:sp>
      <p:sp>
        <p:nvSpPr>
          <p:cNvPr id="309252" name="Text Box 4"/>
          <p:cNvSpPr txBox="1">
            <a:spLocks noChangeArrowheads="1"/>
          </p:cNvSpPr>
          <p:nvPr/>
        </p:nvSpPr>
        <p:spPr bwMode="auto">
          <a:xfrm>
            <a:off x="217488" y="609600"/>
            <a:ext cx="8534400" cy="600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lnSpc>
                <a:spcPct val="135000"/>
              </a:lnSpc>
              <a:defRPr/>
            </a:pPr>
            <a:r>
              <a:rPr lang="en-US" altLang="zh-CN" sz="3200" dirty="0">
                <a:solidFill>
                  <a:schemeClr val="tx1"/>
                </a:solidFill>
                <a:latin typeface="+mn-lt"/>
              </a:rPr>
              <a:t> On one hand, numerical calculations are required to obtain some physical properties, such as the values of wave functions in quantum mechanics; On the other hand, numerical methods are needed to analyze the measured experimental data, including data fitting and estimating the calculation errors, etc. However, computational physics does not refer to these things.</a:t>
            </a:r>
            <a:endParaRPr lang="zh-CN" altLang="en-US" sz="3200" dirty="0">
              <a:solidFill>
                <a:schemeClr val="tx1"/>
              </a:solidFill>
              <a:effectLst>
                <a:outerShdw blurRad="38100" dist="38100" dir="2700000" algn="tl">
                  <a:srgbClr val="C0C0C0"/>
                </a:outerShdw>
              </a:effectLst>
              <a:latin typeface="+mn-lt"/>
            </a:endParaRPr>
          </a:p>
        </p:txBody>
      </p:sp>
    </p:spTree>
    <p:extLst>
      <p:ext uri="{BB962C8B-B14F-4D97-AF65-F5344CB8AC3E}">
        <p14:creationId xmlns:p14="http://schemas.microsoft.com/office/powerpoint/2010/main" val="2608769576"/>
      </p:ext>
    </p:extLst>
  </p:cSld>
  <p:clrMapOvr>
    <a:masterClrMapping/>
  </p:clrMapOvr>
  <p:transition spd="slow">
    <p:push dir="u"/>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CC72859C-58B2-47CD-8BBE-479F9EDD3C86}" type="slidenum">
              <a:rPr lang="zh-CN" altLang="en-US"/>
              <a:pPr>
                <a:defRPr/>
              </a:pPr>
              <a:t>19</a:t>
            </a:fld>
            <a:endParaRPr lang="en-US" altLang="zh-CN"/>
          </a:p>
        </p:txBody>
      </p:sp>
      <p:sp>
        <p:nvSpPr>
          <p:cNvPr id="23555" name="Text Box 2050"/>
          <p:cNvSpPr txBox="1">
            <a:spLocks noChangeArrowheads="1"/>
          </p:cNvSpPr>
          <p:nvPr/>
        </p:nvSpPr>
        <p:spPr bwMode="auto">
          <a:xfrm>
            <a:off x="120650" y="95250"/>
            <a:ext cx="8964613" cy="642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just">
              <a:lnSpc>
                <a:spcPct val="130000"/>
              </a:lnSpc>
              <a:defRPr/>
            </a:pPr>
            <a:r>
              <a:rPr lang="en-US" altLang="zh-CN" sz="3200" dirty="0">
                <a:solidFill>
                  <a:schemeClr val="tx1"/>
                </a:solidFill>
                <a:latin typeface="+mn-lt"/>
              </a:rPr>
              <a:t>Computational physics is physics done by means of computational methods. Since a lot of basic numerical techniques can be traced back to Newton, Gauss, Jacobi, and other pioneers who lived quite some time before the calculating machines had been invented, computational physics is much more than ”Physics Using Computers”. Nevertheless, some of the computational methods really need to be handled by means of computers. </a:t>
            </a:r>
            <a:endParaRPr lang="zh-CN" altLang="en-US" sz="3200" dirty="0">
              <a:solidFill>
                <a:schemeClr val="tx1"/>
              </a:solidFill>
              <a:latin typeface="+mn-lt"/>
            </a:endParaRPr>
          </a:p>
        </p:txBody>
      </p:sp>
    </p:spTree>
    <p:extLst>
      <p:ext uri="{BB962C8B-B14F-4D97-AF65-F5344CB8AC3E}">
        <p14:creationId xmlns:p14="http://schemas.microsoft.com/office/powerpoint/2010/main" val="2137101237"/>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8E114685-AC2A-40EF-92AE-3D3333EB2DD5}" type="slidenum">
              <a:rPr lang="zh-CN" altLang="en-US"/>
              <a:pPr>
                <a:defRPr/>
              </a:pPr>
              <a:t>20</a:t>
            </a:fld>
            <a:endParaRPr lang="en-US" altLang="zh-CN"/>
          </a:p>
        </p:txBody>
      </p:sp>
      <p:sp>
        <p:nvSpPr>
          <p:cNvPr id="24579" name="Text Box 4"/>
          <p:cNvSpPr txBox="1">
            <a:spLocks noChangeArrowheads="1"/>
          </p:cNvSpPr>
          <p:nvPr/>
        </p:nvSpPr>
        <p:spPr bwMode="auto">
          <a:xfrm>
            <a:off x="323850" y="260350"/>
            <a:ext cx="8424863" cy="649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nSpc>
                <a:spcPct val="130000"/>
              </a:lnSpc>
              <a:defRPr/>
            </a:pPr>
            <a:r>
              <a:rPr lang="en-US" altLang="zh-CN" sz="3200" dirty="0">
                <a:solidFill>
                  <a:schemeClr val="tx1"/>
                </a:solidFill>
                <a:latin typeface="+mn-lt"/>
              </a:rPr>
              <a:t>After all, the use of computers in physics started the evolution of an entirely new field. </a:t>
            </a:r>
            <a:endParaRPr lang="zh-CN" altLang="en-US" sz="3200" dirty="0">
              <a:solidFill>
                <a:schemeClr val="tx1"/>
              </a:solidFill>
              <a:latin typeface="+mn-lt"/>
            </a:endParaRPr>
          </a:p>
          <a:p>
            <a:pPr>
              <a:lnSpc>
                <a:spcPct val="130000"/>
              </a:lnSpc>
              <a:defRPr/>
            </a:pPr>
            <a:r>
              <a:rPr lang="en-US" altLang="zh-CN" sz="3200" dirty="0">
                <a:solidFill>
                  <a:schemeClr val="tx1"/>
                </a:solidFill>
                <a:latin typeface="+mn-lt"/>
              </a:rPr>
              <a:t>That means, we have nowadays the third, and independent, and very important branch of physics: computational physics. This field has its own goals, its own problems, and, as in all fields of physics, its own methods.</a:t>
            </a:r>
          </a:p>
          <a:p>
            <a:pPr>
              <a:lnSpc>
                <a:spcPct val="130000"/>
              </a:lnSpc>
              <a:defRPr/>
            </a:pPr>
            <a:r>
              <a:rPr lang="en-US" altLang="zh-CN" sz="3200" dirty="0">
                <a:solidFill>
                  <a:schemeClr val="tx1"/>
                </a:solidFill>
                <a:latin typeface="+mn-lt"/>
              </a:rPr>
              <a:t>Scientists can do all kinds of explorations with computers and in this way largely widen their understanding of the real world.</a:t>
            </a:r>
            <a:endParaRPr lang="zh-CN" altLang="en-US" sz="3200" dirty="0">
              <a:solidFill>
                <a:schemeClr val="tx1"/>
              </a:solidFill>
              <a:latin typeface="+mn-lt"/>
            </a:endParaRPr>
          </a:p>
        </p:txBody>
      </p:sp>
    </p:spTree>
    <p:extLst>
      <p:ext uri="{BB962C8B-B14F-4D97-AF65-F5344CB8AC3E}">
        <p14:creationId xmlns:p14="http://schemas.microsoft.com/office/powerpoint/2010/main" val="2547100470"/>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BCDAF622-9CE5-41CF-95AE-B8A12C0794D8}" type="slidenum">
              <a:rPr lang="zh-CN" altLang="en-US"/>
              <a:pPr>
                <a:defRPr/>
              </a:pPr>
              <a:t>21</a:t>
            </a:fld>
            <a:endParaRPr lang="en-US" altLang="zh-CN"/>
          </a:p>
        </p:txBody>
      </p:sp>
      <p:sp>
        <p:nvSpPr>
          <p:cNvPr id="25603" name="Text Box 2"/>
          <p:cNvSpPr txBox="1">
            <a:spLocks noChangeArrowheads="1"/>
          </p:cNvSpPr>
          <p:nvPr/>
        </p:nvSpPr>
        <p:spPr bwMode="auto">
          <a:xfrm>
            <a:off x="107950" y="247650"/>
            <a:ext cx="8951913" cy="649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just">
              <a:lnSpc>
                <a:spcPct val="130000"/>
              </a:lnSpc>
              <a:defRPr/>
            </a:pPr>
            <a:r>
              <a:rPr lang="en-US" altLang="zh-CN" sz="3200" dirty="0">
                <a:solidFill>
                  <a:schemeClr val="tx1"/>
                </a:solidFill>
                <a:latin typeface="+mn-lt"/>
              </a:rPr>
              <a:t>It is particularly important in this course that the students should learn </a:t>
            </a:r>
            <a:r>
              <a:rPr lang="en-US" altLang="zh-CN" sz="3200" dirty="0">
                <a:solidFill>
                  <a:srgbClr val="F53313"/>
                </a:solidFill>
                <a:latin typeface="+mn-lt"/>
              </a:rPr>
              <a:t>by doing</a:t>
            </a:r>
            <a:r>
              <a:rPr lang="en-US" altLang="zh-CN" sz="3200" dirty="0">
                <a:solidFill>
                  <a:schemeClr val="tx1"/>
                </a:solidFill>
                <a:latin typeface="+mn-lt"/>
              </a:rPr>
              <a:t>. Therefore, in order to deepen your understanding of some schemes, you may do some calculations simply on a piece of paper with a pen and a calculator – just as small exercises. On the other hand, you will also be asked to solve some specific physical problems by real programming. The course is therefore arranged such that a reasonable fraction of the students’ time is spent as ”computer time”. </a:t>
            </a:r>
          </a:p>
        </p:txBody>
      </p:sp>
    </p:spTree>
    <p:extLst>
      <p:ext uri="{BB962C8B-B14F-4D97-AF65-F5344CB8AC3E}">
        <p14:creationId xmlns:p14="http://schemas.microsoft.com/office/powerpoint/2010/main" val="3709700220"/>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3"/>
          <p:cNvSpPr>
            <a:spLocks noGrp="1"/>
          </p:cNvSpPr>
          <p:nvPr>
            <p:ph type="sldNum" sz="quarter" idx="12"/>
          </p:nvPr>
        </p:nvSpPr>
        <p:spPr/>
        <p:txBody>
          <a:bodyPr/>
          <a:lstStyle/>
          <a:p>
            <a:pPr>
              <a:defRPr/>
            </a:pPr>
            <a:fld id="{8B13E8A4-8F4D-42B7-8B11-D6F1490308E1}" type="slidenum">
              <a:rPr lang="zh-CN" altLang="en-US"/>
              <a:pPr>
                <a:defRPr/>
              </a:pPr>
              <a:t>22</a:t>
            </a:fld>
            <a:endParaRPr lang="en-US" altLang="zh-CN"/>
          </a:p>
        </p:txBody>
      </p:sp>
      <p:sp>
        <p:nvSpPr>
          <p:cNvPr id="26627" name="Text Box 2"/>
          <p:cNvSpPr txBox="1">
            <a:spLocks noChangeArrowheads="1"/>
          </p:cNvSpPr>
          <p:nvPr/>
        </p:nvSpPr>
        <p:spPr bwMode="auto">
          <a:xfrm>
            <a:off x="120650" y="188913"/>
            <a:ext cx="8929688" cy="6494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1600" b="1">
                <a:solidFill>
                  <a:srgbClr val="CCFFFF"/>
                </a:solidFill>
                <a:latin typeface="Times New Roman" pitchFamily="18" charset="0"/>
                <a:ea typeface="楷体_GB2312" pitchFamily="49" charset="-122"/>
              </a:defRPr>
            </a:lvl1pPr>
            <a:lvl2pPr marL="742950" indent="-285750">
              <a:defRPr sz="1600" b="1">
                <a:solidFill>
                  <a:srgbClr val="CCFFFF"/>
                </a:solidFill>
                <a:latin typeface="Times New Roman" pitchFamily="18" charset="0"/>
                <a:ea typeface="楷体_GB2312" pitchFamily="49" charset="-122"/>
              </a:defRPr>
            </a:lvl2pPr>
            <a:lvl3pPr marL="1143000" indent="-228600">
              <a:defRPr sz="1600" b="1">
                <a:solidFill>
                  <a:srgbClr val="CCFFFF"/>
                </a:solidFill>
                <a:latin typeface="Times New Roman" pitchFamily="18" charset="0"/>
                <a:ea typeface="楷体_GB2312" pitchFamily="49" charset="-122"/>
              </a:defRPr>
            </a:lvl3pPr>
            <a:lvl4pPr marL="1600200" indent="-228600">
              <a:defRPr sz="1600" b="1">
                <a:solidFill>
                  <a:srgbClr val="CCFFFF"/>
                </a:solidFill>
                <a:latin typeface="Times New Roman" pitchFamily="18" charset="0"/>
                <a:ea typeface="楷体_GB2312" pitchFamily="49" charset="-122"/>
              </a:defRPr>
            </a:lvl4pPr>
            <a:lvl5pPr marL="2057400" indent="-228600">
              <a:defRPr sz="1600" b="1">
                <a:solidFill>
                  <a:srgbClr val="CCFFFF"/>
                </a:solidFill>
                <a:latin typeface="Times New Roman" pitchFamily="18" charset="0"/>
                <a:ea typeface="楷体_GB2312" pitchFamily="49" charset="-122"/>
              </a:defRPr>
            </a:lvl5pPr>
            <a:lvl6pPr marL="25146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6pPr>
            <a:lvl7pPr marL="29718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7pPr>
            <a:lvl8pPr marL="34290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8pPr>
            <a:lvl9pPr marL="3886200" indent="-228600" eaLnBrk="0" fontAlgn="base" hangingPunct="0">
              <a:spcBef>
                <a:spcPct val="0"/>
              </a:spcBef>
              <a:spcAft>
                <a:spcPct val="0"/>
              </a:spcAft>
              <a:defRPr sz="1600" b="1">
                <a:solidFill>
                  <a:srgbClr val="CCFFFF"/>
                </a:solidFill>
                <a:latin typeface="Times New Roman" pitchFamily="18" charset="0"/>
                <a:ea typeface="楷体_GB2312" pitchFamily="49" charset="-122"/>
              </a:defRPr>
            </a:lvl9pPr>
          </a:lstStyle>
          <a:p>
            <a:pPr algn="just">
              <a:lnSpc>
                <a:spcPct val="130000"/>
              </a:lnSpc>
              <a:defRPr/>
            </a:pPr>
            <a:r>
              <a:rPr lang="en-US" altLang="zh-CN" sz="3200" dirty="0">
                <a:solidFill>
                  <a:schemeClr val="tx1"/>
                </a:solidFill>
                <a:latin typeface="+mn-lt"/>
              </a:rPr>
              <a:t>This course provides an introduction to computational physics. </a:t>
            </a:r>
            <a:r>
              <a:rPr lang="en-US" altLang="zh-CN" sz="3200" dirty="0">
                <a:solidFill>
                  <a:srgbClr val="F53313"/>
                </a:solidFill>
                <a:latin typeface="+mn-lt"/>
              </a:rPr>
              <a:t>So we will talk about the basic numerical techniques</a:t>
            </a:r>
            <a:r>
              <a:rPr lang="en-US" altLang="zh-CN" sz="3200" dirty="0">
                <a:solidFill>
                  <a:schemeClr val="tx1"/>
                </a:solidFill>
                <a:latin typeface="+mn-lt"/>
              </a:rPr>
              <a:t>. We will only mention those methods which are most important in physics and focus more on ”recipes” than on stringent proofs. Therefore, we will not try to prove each formula in a mathematical way; on the contrary, we will satisfy ourselves with heuristic    (</a:t>
            </a:r>
            <a:r>
              <a:rPr lang="zh-CN" altLang="en-US" sz="3200" dirty="0">
                <a:solidFill>
                  <a:schemeClr val="tx1"/>
                </a:solidFill>
                <a:latin typeface="+mn-lt"/>
              </a:rPr>
              <a:t>启发式的) </a:t>
            </a:r>
            <a:r>
              <a:rPr lang="en-US" altLang="zh-CN" sz="3200" dirty="0">
                <a:solidFill>
                  <a:schemeClr val="tx1"/>
                </a:solidFill>
                <a:latin typeface="+mn-lt"/>
              </a:rPr>
              <a:t>derivations, arguments(</a:t>
            </a:r>
            <a:r>
              <a:rPr lang="zh-CN" altLang="en-US" sz="3200" dirty="0">
                <a:solidFill>
                  <a:schemeClr val="tx1"/>
                </a:solidFill>
                <a:latin typeface="+mn-lt"/>
              </a:rPr>
              <a:t>争论, 辩论, 论据) </a:t>
            </a:r>
            <a:r>
              <a:rPr lang="en-US" altLang="zh-CN" sz="3200" dirty="0">
                <a:solidFill>
                  <a:schemeClr val="tx1"/>
                </a:solidFill>
                <a:latin typeface="+mn-lt"/>
              </a:rPr>
              <a:t>and comments (</a:t>
            </a:r>
            <a:r>
              <a:rPr lang="zh-CN" altLang="en-US" sz="3200" dirty="0">
                <a:solidFill>
                  <a:schemeClr val="tx1"/>
                </a:solidFill>
                <a:latin typeface="+mn-lt"/>
              </a:rPr>
              <a:t>注释, 评论, 意见)</a:t>
            </a:r>
            <a:r>
              <a:rPr lang="en-US" altLang="zh-CN" sz="3200" dirty="0">
                <a:solidFill>
                  <a:schemeClr val="tx1"/>
                </a:solidFill>
                <a:latin typeface="+mn-lt"/>
              </a:rPr>
              <a:t>.</a:t>
            </a:r>
            <a:endParaRPr lang="zh-CN" altLang="en-US" sz="3200" dirty="0">
              <a:solidFill>
                <a:schemeClr val="tx1"/>
              </a:solidFill>
              <a:latin typeface="+mn-lt"/>
            </a:endParaRPr>
          </a:p>
        </p:txBody>
      </p:sp>
    </p:spTree>
    <p:extLst>
      <p:ext uri="{BB962C8B-B14F-4D97-AF65-F5344CB8AC3E}">
        <p14:creationId xmlns:p14="http://schemas.microsoft.com/office/powerpoint/2010/main" val="320117543"/>
      </p:ext>
    </p:extLst>
  </p:cSld>
  <p:clrMapOvr>
    <a:masterClrMapping/>
  </p:clrMapOvr>
  <p:transition spd="slow">
    <p:push dir="u"/>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267F5E2D-D37C-43DB-9F59-2257A78B3D11}" type="slidenum">
              <a:rPr lang="zh-CN" altLang="en-US"/>
              <a:pPr>
                <a:defRPr/>
              </a:pPr>
              <a:t>23</a:t>
            </a:fld>
            <a:endParaRPr lang="en-US" altLang="zh-CN"/>
          </a:p>
        </p:txBody>
      </p:sp>
      <p:sp>
        <p:nvSpPr>
          <p:cNvPr id="482306" name="Text Box 2"/>
          <p:cNvSpPr txBox="1">
            <a:spLocks noChangeArrowheads="1"/>
          </p:cNvSpPr>
          <p:nvPr/>
        </p:nvSpPr>
        <p:spPr bwMode="auto">
          <a:xfrm>
            <a:off x="611188" y="461963"/>
            <a:ext cx="34559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kumimoji="1" lang="en-US" altLang="en-US" sz="2800">
                <a:solidFill>
                  <a:schemeClr val="tx1"/>
                </a:solidFill>
                <a:effectLst>
                  <a:outerShdw blurRad="38100" dist="38100" dir="2700000" algn="tl">
                    <a:srgbClr val="C0C0C0"/>
                  </a:outerShdw>
                </a:effectLst>
                <a:ea typeface="宋体" pitchFamily="2" charset="-122"/>
              </a:rPr>
              <a:t>Atkins(</a:t>
            </a:r>
            <a:r>
              <a:rPr kumimoji="1" lang="zh-CN" altLang="en-US" sz="2800">
                <a:solidFill>
                  <a:schemeClr val="tx1"/>
                </a:solidFill>
                <a:effectLst>
                  <a:outerShdw blurRad="38100" dist="38100" dir="2700000" algn="tl">
                    <a:srgbClr val="C0C0C0"/>
                  </a:outerShdw>
                </a:effectLst>
                <a:ea typeface="宋体" pitchFamily="2" charset="-122"/>
              </a:rPr>
              <a:t>物理化学家）</a:t>
            </a:r>
          </a:p>
        </p:txBody>
      </p:sp>
      <p:sp>
        <p:nvSpPr>
          <p:cNvPr id="482307" name="Text Box 3"/>
          <p:cNvSpPr txBox="1">
            <a:spLocks noChangeArrowheads="1"/>
          </p:cNvSpPr>
          <p:nvPr/>
        </p:nvSpPr>
        <p:spPr bwMode="auto">
          <a:xfrm>
            <a:off x="323850" y="1341438"/>
            <a:ext cx="8569325" cy="489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125000"/>
              </a:lnSpc>
              <a:defRPr/>
            </a:pPr>
            <a:r>
              <a:rPr kumimoji="1" lang="zh-CN" altLang="zh-CN" sz="2800">
                <a:solidFill>
                  <a:schemeClr val="tx1"/>
                </a:solidFill>
                <a:effectLst>
                  <a:outerShdw blurRad="38100" dist="38100" dir="2700000" algn="tl">
                    <a:srgbClr val="C0C0C0"/>
                  </a:outerShdw>
                </a:effectLst>
              </a:rPr>
              <a:t>“传统</a:t>
            </a:r>
            <a:r>
              <a:rPr kumimoji="1" lang="zh-CN" altLang="en-US" sz="2800">
                <a:solidFill>
                  <a:schemeClr val="tx1"/>
                </a:solidFill>
                <a:effectLst>
                  <a:outerShdw blurRad="38100" dist="38100" dir="2700000" algn="tl">
                    <a:srgbClr val="C0C0C0"/>
                  </a:outerShdw>
                </a:effectLst>
              </a:rPr>
              <a:t>的物理化学面临着革命。化学家最终可以处理真实和高度复杂的体系。与此同时，现代课程应该反映这一巨变，计算机正开始改变我们的思维与教学方式。习惯上教科书依靠解析公式，对真实体系进行简化，进行理想化的零级近似。如理想气体、理想溶液及稳态假定。今天，借助计算机理想化的处理可被更实际和高级的模型所取代，它冲击了我们的“概念库”，开辟了超越解析公式的思维范畴。通过真实模拟，提供形成新思维方法的机遇</a:t>
            </a:r>
            <a:r>
              <a:rPr kumimoji="1" lang="zh-CN" altLang="zh-CN" sz="2800">
                <a:solidFill>
                  <a:schemeClr val="tx1"/>
                </a:solidFill>
                <a:effectLst>
                  <a:outerShdw blurRad="38100" dist="38100" dir="2700000" algn="tl">
                    <a:srgbClr val="C0C0C0"/>
                  </a:outerShdw>
                </a:effectLst>
              </a:rPr>
              <a:t>”</a:t>
            </a:r>
            <a:r>
              <a:rPr kumimoji="1" lang="zh-CN" altLang="en-US" sz="2800">
                <a:solidFill>
                  <a:schemeClr val="tx1"/>
                </a:solidFill>
                <a:effectLst>
                  <a:outerShdw blurRad="38100" dist="38100" dir="2700000" algn="tl">
                    <a:srgbClr val="C0C0C0"/>
                  </a:outerShdw>
                </a:effectLst>
              </a:rPr>
              <a:t>。</a:t>
            </a:r>
          </a:p>
        </p:txBody>
      </p:sp>
    </p:spTree>
    <p:extLst>
      <p:ext uri="{BB962C8B-B14F-4D97-AF65-F5344CB8AC3E}">
        <p14:creationId xmlns:p14="http://schemas.microsoft.com/office/powerpoint/2010/main" val="21362108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82307"/>
                                        </p:tgtEl>
                                        <p:attrNameLst>
                                          <p:attrName>style.visibility</p:attrName>
                                        </p:attrNameLst>
                                      </p:cBhvr>
                                      <p:to>
                                        <p:strVal val="visible"/>
                                      </p:to>
                                    </p:set>
                                    <p:anim calcmode="lin" valueType="num">
                                      <p:cBhvr additive="base">
                                        <p:cTn id="7" dur="500" fill="hold"/>
                                        <p:tgtEl>
                                          <p:spTgt spid="482307"/>
                                        </p:tgtEl>
                                        <p:attrNameLst>
                                          <p:attrName>ppt_x</p:attrName>
                                        </p:attrNameLst>
                                      </p:cBhvr>
                                      <p:tavLst>
                                        <p:tav tm="0">
                                          <p:val>
                                            <p:strVal val="1+#ppt_w/2"/>
                                          </p:val>
                                        </p:tav>
                                        <p:tav tm="100000">
                                          <p:val>
                                            <p:strVal val="#ppt_x"/>
                                          </p:val>
                                        </p:tav>
                                      </p:tavLst>
                                    </p:anim>
                                    <p:anim calcmode="lin" valueType="num">
                                      <p:cBhvr additive="base">
                                        <p:cTn id="8" dur="500" fill="hold"/>
                                        <p:tgtEl>
                                          <p:spTgt spid="48230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07"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83B2B4C4-6A8E-4E5C-92B8-BD9A7748A70B}" type="slidenum">
              <a:rPr lang="zh-CN" altLang="en-US"/>
              <a:pPr>
                <a:defRPr/>
              </a:pPr>
              <a:t>24</a:t>
            </a:fld>
            <a:endParaRPr lang="en-US" altLang="zh-CN"/>
          </a:p>
        </p:txBody>
      </p:sp>
      <p:sp>
        <p:nvSpPr>
          <p:cNvPr id="19459" name="Text Box 2"/>
          <p:cNvSpPr txBox="1">
            <a:spLocks noChangeArrowheads="1"/>
          </p:cNvSpPr>
          <p:nvPr/>
        </p:nvSpPr>
        <p:spPr bwMode="auto">
          <a:xfrm>
            <a:off x="533400" y="838200"/>
            <a:ext cx="5334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en-US" sz="2800">
                <a:ea typeface="楷体_GB2312" pitchFamily="49" charset="-122"/>
              </a:rPr>
              <a:t>R.S.Mulliken</a:t>
            </a:r>
            <a:r>
              <a:rPr lang="en-US" altLang="zh-CN" sz="2800">
                <a:ea typeface="楷体_GB2312" pitchFamily="49" charset="-122"/>
              </a:rPr>
              <a:t>1966 Nobel</a:t>
            </a:r>
            <a:r>
              <a:rPr lang="zh-CN" altLang="zh-CN" sz="2800">
                <a:ea typeface="楷体_GB2312" pitchFamily="49" charset="-122"/>
              </a:rPr>
              <a:t>奖讲演</a:t>
            </a:r>
            <a:endParaRPr lang="zh-CN" altLang="en-US" sz="2800">
              <a:ea typeface="楷体_GB2312" pitchFamily="49" charset="-122"/>
            </a:endParaRPr>
          </a:p>
        </p:txBody>
      </p:sp>
      <p:sp>
        <p:nvSpPr>
          <p:cNvPr id="474115" name="Text Box 3"/>
          <p:cNvSpPr txBox="1">
            <a:spLocks noChangeArrowheads="1"/>
          </p:cNvSpPr>
          <p:nvPr/>
        </p:nvSpPr>
        <p:spPr bwMode="auto">
          <a:xfrm>
            <a:off x="539750" y="1844675"/>
            <a:ext cx="8077200" cy="258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30000"/>
              </a:lnSpc>
              <a:spcBef>
                <a:spcPct val="0"/>
              </a:spcBef>
              <a:buClrTx/>
              <a:buFontTx/>
              <a:buNone/>
            </a:pPr>
            <a:r>
              <a:rPr lang="zh-CN" altLang="zh-CN">
                <a:ea typeface="黑体" pitchFamily="49" charset="-122"/>
              </a:rPr>
              <a:t>“</a:t>
            </a:r>
            <a:r>
              <a:rPr lang="zh-CN" altLang="en-US">
                <a:ea typeface="黑体" pitchFamily="49" charset="-122"/>
              </a:rPr>
              <a:t>总之，我愿意强调我的信念，计算化学的年代已经到来，成百上千的化学家以计算机代替实验室来获取众多的化学信息。唯一的障碍必须偿付机时费。</a:t>
            </a:r>
          </a:p>
        </p:txBody>
      </p:sp>
    </p:spTree>
    <p:extLst>
      <p:ext uri="{BB962C8B-B14F-4D97-AF65-F5344CB8AC3E}">
        <p14:creationId xmlns:p14="http://schemas.microsoft.com/office/powerpoint/2010/main" val="36489356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474115"/>
                                        </p:tgtEl>
                                        <p:attrNameLst>
                                          <p:attrName>style.visibility</p:attrName>
                                        </p:attrNameLst>
                                      </p:cBhvr>
                                      <p:to>
                                        <p:strVal val="visible"/>
                                      </p:to>
                                    </p:set>
                                    <p:anim calcmode="lin" valueType="num">
                                      <p:cBhvr additive="base">
                                        <p:cTn id="7" dur="500" fill="hold"/>
                                        <p:tgtEl>
                                          <p:spTgt spid="474115"/>
                                        </p:tgtEl>
                                        <p:attrNameLst>
                                          <p:attrName>ppt_x</p:attrName>
                                        </p:attrNameLst>
                                      </p:cBhvr>
                                      <p:tavLst>
                                        <p:tav tm="0">
                                          <p:val>
                                            <p:strVal val="1+#ppt_w/2"/>
                                          </p:val>
                                        </p:tav>
                                        <p:tav tm="100000">
                                          <p:val>
                                            <p:strVal val="#ppt_x"/>
                                          </p:val>
                                        </p:tav>
                                      </p:tavLst>
                                    </p:anim>
                                    <p:anim calcmode="lin" valueType="num">
                                      <p:cBhvr additive="base">
                                        <p:cTn id="8" dur="500" fill="hold"/>
                                        <p:tgtEl>
                                          <p:spTgt spid="47411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4115"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CDFE924C-4A12-4CDE-A84D-53CB20932848}" type="slidenum">
              <a:rPr lang="zh-CN" altLang="en-US"/>
              <a:pPr>
                <a:defRPr/>
              </a:pPr>
              <a:t>25</a:t>
            </a:fld>
            <a:endParaRPr lang="en-US" altLang="zh-CN"/>
          </a:p>
        </p:txBody>
      </p:sp>
      <p:sp>
        <p:nvSpPr>
          <p:cNvPr id="403459" name="Rectangle 3"/>
          <p:cNvSpPr>
            <a:spLocks noGrp="1" noChangeArrowheads="1"/>
          </p:cNvSpPr>
          <p:nvPr>
            <p:ph type="body" idx="1"/>
          </p:nvPr>
        </p:nvSpPr>
        <p:spPr>
          <a:xfrm>
            <a:off x="395288" y="1462088"/>
            <a:ext cx="8077200" cy="4054475"/>
          </a:xfrm>
        </p:spPr>
        <p:txBody>
          <a:bodyPr/>
          <a:lstStyle/>
          <a:p>
            <a:pPr algn="just" eaLnBrk="1" hangingPunct="1">
              <a:lnSpc>
                <a:spcPct val="120000"/>
              </a:lnSpc>
              <a:buFont typeface="Monotype Sorts" pitchFamily="2" charset="2"/>
              <a:buNone/>
            </a:pPr>
            <a:endParaRPr lang="zh-CN" altLang="en-US" b="1">
              <a:latin typeface="黑体" pitchFamily="49" charset="-122"/>
              <a:ea typeface="黑体" pitchFamily="49" charset="-122"/>
            </a:endParaRPr>
          </a:p>
          <a:p>
            <a:pPr algn="just" eaLnBrk="1" hangingPunct="1">
              <a:lnSpc>
                <a:spcPct val="120000"/>
              </a:lnSpc>
            </a:pPr>
            <a:r>
              <a:rPr lang="zh-CN" altLang="en-US" b="1">
                <a:latin typeface="黑体" pitchFamily="49" charset="-122"/>
                <a:ea typeface="黑体" pitchFamily="49" charset="-122"/>
              </a:rPr>
              <a:t>计算物理的物质基础是计算机；</a:t>
            </a:r>
          </a:p>
          <a:p>
            <a:pPr algn="just" eaLnBrk="1" hangingPunct="1">
              <a:lnSpc>
                <a:spcPct val="120000"/>
              </a:lnSpc>
            </a:pPr>
            <a:r>
              <a:rPr lang="zh-CN" altLang="en-US" b="1">
                <a:latin typeface="黑体" pitchFamily="49" charset="-122"/>
                <a:ea typeface="黑体" pitchFamily="49" charset="-122"/>
              </a:rPr>
              <a:t>计算物理发展的原始动力是美国核武器研制的刺激。</a:t>
            </a:r>
          </a:p>
          <a:p>
            <a:pPr algn="just" eaLnBrk="1" hangingPunct="1">
              <a:lnSpc>
                <a:spcPct val="120000"/>
              </a:lnSpc>
            </a:pPr>
            <a:r>
              <a:rPr lang="zh-CN" altLang="en-US" b="1">
                <a:latin typeface="黑体" pitchFamily="49" charset="-122"/>
                <a:ea typeface="黑体" pitchFamily="49" charset="-122"/>
              </a:rPr>
              <a:t>计算物理的关键技术是“计算方法”和“程序设计”;</a:t>
            </a:r>
          </a:p>
        </p:txBody>
      </p:sp>
      <p:sp>
        <p:nvSpPr>
          <p:cNvPr id="443395" name="Rectangle 3"/>
          <p:cNvSpPr>
            <a:spLocks noChangeArrowheads="1"/>
          </p:cNvSpPr>
          <p:nvPr/>
        </p:nvSpPr>
        <p:spPr bwMode="auto">
          <a:xfrm>
            <a:off x="395288" y="549275"/>
            <a:ext cx="5642891" cy="6417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defRPr/>
            </a:pPr>
            <a:r>
              <a:rPr kumimoji="1" lang="zh-CN" altLang="en-US" b="0" dirty="0">
                <a:effectLst>
                  <a:outerShdw blurRad="38100" dist="38100" dir="2700000" algn="tl">
                    <a:srgbClr val="C0C0C0"/>
                  </a:outerShdw>
                </a:effectLst>
                <a:latin typeface="黑体" pitchFamily="49" charset="-122"/>
                <a:ea typeface="黑体" pitchFamily="49" charset="-122"/>
              </a:rPr>
              <a:t> </a:t>
            </a:r>
            <a:r>
              <a:rPr kumimoji="1" lang="zh-CN" altLang="en-US" sz="3200" dirty="0">
                <a:solidFill>
                  <a:schemeClr val="tx1"/>
                </a:solidFill>
                <a:latin typeface="黑体" pitchFamily="49" charset="-122"/>
                <a:ea typeface="黑体" pitchFamily="49" charset="-122"/>
              </a:rPr>
              <a:t>二、计算物理学的起源和发展</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3459">
                                            <p:txEl>
                                              <p:pRg st="1" end="1"/>
                                            </p:txEl>
                                          </p:spTgt>
                                        </p:tgtEl>
                                        <p:attrNameLst>
                                          <p:attrName>style.visibility</p:attrName>
                                        </p:attrNameLst>
                                      </p:cBhvr>
                                      <p:to>
                                        <p:strVal val="visible"/>
                                      </p:to>
                                    </p:set>
                                    <p:animEffect transition="in" filter="wipe(left)">
                                      <p:cBhvr>
                                        <p:cTn id="7" dur="500"/>
                                        <p:tgtEl>
                                          <p:spTgt spid="4034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3459">
                                            <p:txEl>
                                              <p:pRg st="2" end="2"/>
                                            </p:txEl>
                                          </p:spTgt>
                                        </p:tgtEl>
                                        <p:attrNameLst>
                                          <p:attrName>style.visibility</p:attrName>
                                        </p:attrNameLst>
                                      </p:cBhvr>
                                      <p:to>
                                        <p:strVal val="visible"/>
                                      </p:to>
                                    </p:set>
                                    <p:animEffect transition="in" filter="wipe(left)">
                                      <p:cBhvr>
                                        <p:cTn id="12" dur="500"/>
                                        <p:tgtEl>
                                          <p:spTgt spid="4034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3459">
                                            <p:txEl>
                                              <p:pRg st="3" end="3"/>
                                            </p:txEl>
                                          </p:spTgt>
                                        </p:tgtEl>
                                        <p:attrNameLst>
                                          <p:attrName>style.visibility</p:attrName>
                                        </p:attrNameLst>
                                      </p:cBhvr>
                                      <p:to>
                                        <p:strVal val="visible"/>
                                      </p:to>
                                    </p:set>
                                    <p:animEffect transition="in" filter="wipe(left)">
                                      <p:cBhvr>
                                        <p:cTn id="17" dur="500"/>
                                        <p:tgtEl>
                                          <p:spTgt spid="4034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3459"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19558392-FA39-4D7B-B1A8-3500136B4976}" type="slidenum">
              <a:rPr lang="zh-CN" altLang="en-US"/>
              <a:pPr>
                <a:defRPr/>
              </a:pPr>
              <a:t>26</a:t>
            </a:fld>
            <a:endParaRPr lang="en-US" altLang="zh-CN"/>
          </a:p>
        </p:txBody>
      </p:sp>
      <p:sp>
        <p:nvSpPr>
          <p:cNvPr id="31747" name="Rectangle 2"/>
          <p:cNvSpPr>
            <a:spLocks noGrp="1" noChangeArrowheads="1"/>
          </p:cNvSpPr>
          <p:nvPr>
            <p:ph type="title"/>
          </p:nvPr>
        </p:nvSpPr>
        <p:spPr>
          <a:xfrm>
            <a:off x="179388" y="1844675"/>
            <a:ext cx="8421687" cy="1241425"/>
          </a:xfrm>
        </p:spPr>
        <p:txBody>
          <a:bodyPr/>
          <a:lstStyle/>
          <a:p>
            <a:pPr eaLnBrk="1" hangingPunct="1"/>
            <a:r>
              <a:rPr lang="zh-CN" altLang="en-US" sz="4000" b="1">
                <a:latin typeface="宋体" pitchFamily="2" charset="-122"/>
              </a:rPr>
              <a:t>三位计算机设计大师的贡献</a:t>
            </a:r>
          </a:p>
        </p:txBody>
      </p:sp>
      <p:graphicFrame>
        <p:nvGraphicFramePr>
          <p:cNvPr id="31748" name="Object 4"/>
          <p:cNvGraphicFramePr>
            <a:graphicFrameLocks noChangeAspect="1"/>
          </p:cNvGraphicFramePr>
          <p:nvPr/>
        </p:nvGraphicFramePr>
        <p:xfrm>
          <a:off x="1533525" y="3938588"/>
          <a:ext cx="2921000" cy="2082800"/>
        </p:xfrm>
        <a:graphic>
          <a:graphicData uri="http://schemas.openxmlformats.org/presentationml/2006/ole">
            <mc:AlternateContent xmlns:mc="http://schemas.openxmlformats.org/markup-compatibility/2006">
              <mc:Choice xmlns:v="urn:schemas-microsoft-com:vml" Requires="v">
                <p:oleObj spid="_x0000_s31784" name="剪辑" r:id="rId3" imgW="4006850" imgH="2857500" progId="MS_ClipArt_Gallery.2">
                  <p:embed/>
                </p:oleObj>
              </mc:Choice>
              <mc:Fallback>
                <p:oleObj name="剪辑" r:id="rId3" imgW="4006850" imgH="2857500" progId="MS_ClipArt_Gallery.2">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33525" y="3938588"/>
                        <a:ext cx="2921000" cy="208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49" name="Rectangle 5"/>
          <p:cNvSpPr>
            <a:spLocks noChangeArrowheads="1"/>
          </p:cNvSpPr>
          <p:nvPr/>
        </p:nvSpPr>
        <p:spPr bwMode="auto">
          <a:xfrm>
            <a:off x="395288" y="404813"/>
            <a:ext cx="8077200" cy="1079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a:lstStyle>
            <a:lvl1pPr marL="342900" indent="-34290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gn="just" eaLnBrk="1" hangingPunct="1">
              <a:lnSpc>
                <a:spcPct val="120000"/>
              </a:lnSpc>
              <a:buFont typeface="Monotype Sorts" pitchFamily="2" charset="2"/>
              <a:buNone/>
            </a:pPr>
            <a:r>
              <a:rPr lang="zh-CN" altLang="en-US">
                <a:solidFill>
                  <a:srgbClr val="0000FF"/>
                </a:solidFill>
              </a:rPr>
              <a:t>计算物理的物质基础是计算机；</a:t>
            </a:r>
          </a:p>
        </p:txBody>
      </p:sp>
    </p:spTree>
  </p:cSld>
  <p:clrMapOvr>
    <a:masterClrMapping/>
  </p:clrMapOvr>
  <p:transition spd="slow">
    <p:push dir="u"/>
  </p:transition>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2BBB527D-0821-4B5F-9383-DF581F9BAF5F}" type="slidenum">
              <a:rPr lang="zh-CN" altLang="en-US"/>
              <a:pPr>
                <a:defRPr/>
              </a:pPr>
              <a:t>27</a:t>
            </a:fld>
            <a:endParaRPr lang="en-US" altLang="zh-CN"/>
          </a:p>
        </p:txBody>
      </p:sp>
      <p:sp>
        <p:nvSpPr>
          <p:cNvPr id="32771" name="Rectangle 2"/>
          <p:cNvSpPr>
            <a:spLocks noGrp="1" noChangeArrowheads="1"/>
          </p:cNvSpPr>
          <p:nvPr>
            <p:ph type="title"/>
          </p:nvPr>
        </p:nvSpPr>
        <p:spPr>
          <a:xfrm>
            <a:off x="130175" y="476250"/>
            <a:ext cx="8763000" cy="1143000"/>
          </a:xfrm>
        </p:spPr>
        <p:txBody>
          <a:bodyPr/>
          <a:lstStyle/>
          <a:p>
            <a:pPr eaLnBrk="1" hangingPunct="1"/>
            <a:r>
              <a:rPr lang="zh-CN" altLang="en-US" dirty="0">
                <a:latin typeface="楷体_GB2312" pitchFamily="49" charset="-122"/>
                <a:ea typeface="楷体_GB2312" pitchFamily="49" charset="-122"/>
              </a:rPr>
              <a:t>   </a:t>
            </a:r>
            <a:r>
              <a:rPr lang="en-US" altLang="zh-CN" sz="6000" dirty="0"/>
              <a:t>H. Aiken (1900-1973)</a:t>
            </a:r>
            <a:endParaRPr lang="zh-CN" altLang="en-US" dirty="0"/>
          </a:p>
        </p:txBody>
      </p:sp>
      <p:sp>
        <p:nvSpPr>
          <p:cNvPr id="571395" name="Rectangle 3"/>
          <p:cNvSpPr>
            <a:spLocks noGrp="1" noChangeArrowheads="1"/>
          </p:cNvSpPr>
          <p:nvPr>
            <p:ph type="body" idx="1"/>
          </p:nvPr>
        </p:nvSpPr>
        <p:spPr>
          <a:xfrm>
            <a:off x="323850" y="1849438"/>
            <a:ext cx="8569325" cy="3811587"/>
          </a:xfrm>
        </p:spPr>
        <p:txBody>
          <a:bodyPr/>
          <a:lstStyle/>
          <a:p>
            <a:pPr eaLnBrk="1" hangingPunct="1">
              <a:lnSpc>
                <a:spcPct val="130000"/>
              </a:lnSpc>
            </a:pPr>
            <a:r>
              <a:rPr lang="zh-CN" altLang="en-US" sz="4000" b="1">
                <a:latin typeface="宋体" pitchFamily="2" charset="-122"/>
              </a:rPr>
              <a:t>哈佛大学博士研究生毕业。因做博士论文涉及到空间电荷传导问题的计算，1937年提出方案，1939年得到</a:t>
            </a:r>
            <a:r>
              <a:rPr lang="en-US" altLang="zh-CN" sz="4000" b="1">
                <a:latin typeface="宋体" pitchFamily="2" charset="-122"/>
              </a:rPr>
              <a:t>IBM</a:t>
            </a:r>
            <a:r>
              <a:rPr lang="zh-CN" altLang="en-US" sz="4000" b="1">
                <a:latin typeface="宋体" pitchFamily="2" charset="-122"/>
              </a:rPr>
              <a:t>资助，1944年建成投入使用。这是继电式计算机－</a:t>
            </a:r>
            <a:r>
              <a:rPr lang="en-US" altLang="zh-CN" sz="4000" b="1">
                <a:latin typeface="宋体" pitchFamily="2" charset="-122"/>
              </a:rPr>
              <a:t>Mark I</a:t>
            </a:r>
            <a:r>
              <a:rPr lang="zh-CN" altLang="en-US" sz="4000" b="1">
                <a:latin typeface="宋体" pitchFamily="2" charset="-122"/>
              </a:rPr>
              <a:t>。</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1395">
                                            <p:txEl>
                                              <p:pRg st="0" end="0"/>
                                            </p:txEl>
                                          </p:spTgt>
                                        </p:tgtEl>
                                        <p:attrNameLst>
                                          <p:attrName>style.visibility</p:attrName>
                                        </p:attrNameLst>
                                      </p:cBhvr>
                                      <p:to>
                                        <p:strVal val="visible"/>
                                      </p:to>
                                    </p:set>
                                    <p:animEffect transition="in" filter="wipe(left)">
                                      <p:cBhvr>
                                        <p:cTn id="7" dur="500"/>
                                        <p:tgtEl>
                                          <p:spTgt spid="57139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1395"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35151021-7E37-4D73-ADA1-D07571B32B08}" type="slidenum">
              <a:rPr lang="zh-CN" altLang="en-US"/>
              <a:pPr>
                <a:defRPr/>
              </a:pPr>
              <a:t>28</a:t>
            </a:fld>
            <a:endParaRPr lang="en-US" altLang="zh-CN"/>
          </a:p>
        </p:txBody>
      </p:sp>
      <p:sp>
        <p:nvSpPr>
          <p:cNvPr id="33795" name="Rectangle 2"/>
          <p:cNvSpPr>
            <a:spLocks noGrp="1" noChangeArrowheads="1"/>
          </p:cNvSpPr>
          <p:nvPr>
            <p:ph type="title"/>
          </p:nvPr>
        </p:nvSpPr>
        <p:spPr>
          <a:xfrm>
            <a:off x="304800" y="457200"/>
            <a:ext cx="8610600" cy="1143000"/>
          </a:xfrm>
        </p:spPr>
        <p:txBody>
          <a:bodyPr/>
          <a:lstStyle/>
          <a:p>
            <a:pPr eaLnBrk="1" hangingPunct="1"/>
            <a:r>
              <a:rPr lang="en-US" altLang="zh-CN" sz="6000"/>
              <a:t>J. W. Manchly (1907-1980)</a:t>
            </a:r>
            <a:endParaRPr lang="zh-CN" altLang="en-US"/>
          </a:p>
        </p:txBody>
      </p:sp>
      <p:sp>
        <p:nvSpPr>
          <p:cNvPr id="572419" name="Rectangle 3"/>
          <p:cNvSpPr>
            <a:spLocks noGrp="1" noChangeArrowheads="1"/>
          </p:cNvSpPr>
          <p:nvPr>
            <p:ph type="body" idx="1"/>
          </p:nvPr>
        </p:nvSpPr>
        <p:spPr>
          <a:xfrm>
            <a:off x="323850" y="2205038"/>
            <a:ext cx="8351838" cy="2936875"/>
          </a:xfrm>
        </p:spPr>
        <p:txBody>
          <a:bodyPr/>
          <a:lstStyle/>
          <a:p>
            <a:pPr eaLnBrk="1" hangingPunct="1">
              <a:lnSpc>
                <a:spcPct val="130000"/>
              </a:lnSpc>
            </a:pPr>
            <a:r>
              <a:rPr lang="zh-CN" altLang="en-US" sz="4000" b="1">
                <a:latin typeface="宋体" pitchFamily="2" charset="-122"/>
              </a:rPr>
              <a:t>宾夕法尼亚物理博士，因从事天气预报需要想设计计算机，1942年提出计算机方案，1945年底竣工，这就是世界上第一台电子计算机－</a:t>
            </a:r>
            <a:r>
              <a:rPr lang="en-US" altLang="zh-CN" sz="4000" b="1">
                <a:latin typeface="宋体" pitchFamily="2" charset="-122"/>
              </a:rPr>
              <a:t>ENIAC</a:t>
            </a:r>
            <a:r>
              <a:rPr lang="zh-CN" altLang="en-US" sz="4000" b="1">
                <a:latin typeface="宋体" pitchFamily="2" charset="-122"/>
              </a:rPr>
              <a:t>机。</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2419">
                                            <p:txEl>
                                              <p:pRg st="0" end="0"/>
                                            </p:txEl>
                                          </p:spTgt>
                                        </p:tgtEl>
                                        <p:attrNameLst>
                                          <p:attrName>style.visibility</p:attrName>
                                        </p:attrNameLst>
                                      </p:cBhvr>
                                      <p:to>
                                        <p:strVal val="visible"/>
                                      </p:to>
                                    </p:set>
                                    <p:animEffect transition="in" filter="wipe(left)">
                                      <p:cBhvr>
                                        <p:cTn id="7" dur="500"/>
                                        <p:tgtEl>
                                          <p:spTgt spid="57241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2419" grpId="0" build="p"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 name="灯片编号占位符 5"/>
          <p:cNvSpPr>
            <a:spLocks noGrp="1"/>
          </p:cNvSpPr>
          <p:nvPr>
            <p:ph type="sldNum" sz="quarter" idx="12"/>
          </p:nvPr>
        </p:nvSpPr>
        <p:spPr/>
        <p:txBody>
          <a:bodyPr/>
          <a:lstStyle/>
          <a:p>
            <a:pPr>
              <a:defRPr/>
            </a:pPr>
            <a:fld id="{B8889B01-8691-43BB-A60A-C64190233B0C}" type="slidenum">
              <a:rPr lang="zh-CN" altLang="en-US"/>
              <a:pPr>
                <a:defRPr/>
              </a:pPr>
              <a:t>29</a:t>
            </a:fld>
            <a:endParaRPr lang="en-US" altLang="zh-CN"/>
          </a:p>
        </p:txBody>
      </p:sp>
      <p:sp>
        <p:nvSpPr>
          <p:cNvPr id="34819" name="Rectangle 2"/>
          <p:cNvSpPr>
            <a:spLocks noGrp="1" noChangeArrowheads="1"/>
          </p:cNvSpPr>
          <p:nvPr>
            <p:ph type="title"/>
          </p:nvPr>
        </p:nvSpPr>
        <p:spPr>
          <a:xfrm>
            <a:off x="107950" y="188913"/>
            <a:ext cx="9296400" cy="1241425"/>
          </a:xfrm>
        </p:spPr>
        <p:txBody>
          <a:bodyPr/>
          <a:lstStyle/>
          <a:p>
            <a:pPr eaLnBrk="1" hangingPunct="1"/>
            <a:r>
              <a:rPr lang="en-US" altLang="zh-CN" sz="6000"/>
              <a:t>J. Von Neumann(1903-1956)</a:t>
            </a:r>
            <a:endParaRPr lang="zh-CN" altLang="en-US"/>
          </a:p>
        </p:txBody>
      </p:sp>
      <p:sp>
        <p:nvSpPr>
          <p:cNvPr id="573443" name="Rectangle 3"/>
          <p:cNvSpPr>
            <a:spLocks noGrp="1" noChangeArrowheads="1"/>
          </p:cNvSpPr>
          <p:nvPr>
            <p:ph type="body" idx="1"/>
          </p:nvPr>
        </p:nvSpPr>
        <p:spPr>
          <a:xfrm>
            <a:off x="250825" y="1916113"/>
            <a:ext cx="8534400" cy="3417887"/>
          </a:xfrm>
        </p:spPr>
        <p:txBody>
          <a:bodyPr/>
          <a:lstStyle/>
          <a:p>
            <a:pPr eaLnBrk="1" hangingPunct="1">
              <a:lnSpc>
                <a:spcPct val="120000"/>
              </a:lnSpc>
            </a:pPr>
            <a:r>
              <a:rPr lang="zh-CN" altLang="en-US" sz="4000" b="1">
                <a:latin typeface="宋体" pitchFamily="2" charset="-122"/>
              </a:rPr>
              <a:t>普林斯顿高级研究员，1945年在普林斯顿研制成</a:t>
            </a:r>
            <a:r>
              <a:rPr lang="en-US" altLang="zh-CN" sz="4000" b="1">
                <a:latin typeface="宋体" pitchFamily="2" charset="-122"/>
              </a:rPr>
              <a:t>MANIAC</a:t>
            </a:r>
            <a:r>
              <a:rPr lang="zh-CN" altLang="en-US" sz="4000" b="1">
                <a:latin typeface="宋体" pitchFamily="2" charset="-122"/>
              </a:rPr>
              <a:t>机，有力地支持美国氢弹研制，称为计算机之父。</a:t>
            </a:r>
          </a:p>
        </p:txBody>
      </p:sp>
      <p:sp>
        <p:nvSpPr>
          <p:cNvPr id="573444" name="Text Box 4"/>
          <p:cNvSpPr txBox="1">
            <a:spLocks noChangeArrowheads="1"/>
          </p:cNvSpPr>
          <p:nvPr/>
        </p:nvSpPr>
        <p:spPr bwMode="auto">
          <a:xfrm>
            <a:off x="468313" y="4868863"/>
            <a:ext cx="8064500" cy="1570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defRPr/>
            </a:pPr>
            <a:r>
              <a:rPr lang="en-US" altLang="zh-CN" sz="3200" dirty="0">
                <a:solidFill>
                  <a:srgbClr val="0000FF"/>
                </a:solidFill>
                <a:latin typeface="Comic Sans MS" pitchFamily="66" charset="0"/>
                <a:ea typeface="宋体" pitchFamily="2" charset="-122"/>
              </a:rPr>
              <a:t>MANIAC:</a:t>
            </a:r>
            <a:r>
              <a:rPr lang="en-US" altLang="zh-CN" sz="3200" dirty="0">
                <a:solidFill>
                  <a:srgbClr val="0000FF"/>
                </a:solidFill>
              </a:rPr>
              <a:t>  </a:t>
            </a:r>
            <a:r>
              <a:rPr lang="en-US" altLang="zh-CN" sz="3200" dirty="0">
                <a:effectLst>
                  <a:outerShdw blurRad="38100" dist="38100" dir="2700000" algn="tl">
                    <a:srgbClr val="C0C0C0"/>
                  </a:outerShdw>
                </a:effectLst>
              </a:rPr>
              <a:t> </a:t>
            </a:r>
            <a:r>
              <a:rPr lang="en-US" altLang="zh-CN" sz="3200" dirty="0">
                <a:solidFill>
                  <a:schemeClr val="tx1"/>
                </a:solidFill>
                <a:latin typeface="Comic Sans MS" pitchFamily="66" charset="0"/>
                <a:ea typeface="宋体" pitchFamily="2" charset="-122"/>
              </a:rPr>
              <a:t>Mathematical Analyzer, numerator, Integrator, and Computer</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73443">
                                            <p:txEl>
                                              <p:pRg st="0" end="0"/>
                                            </p:txEl>
                                          </p:spTgt>
                                        </p:tgtEl>
                                        <p:attrNameLst>
                                          <p:attrName>style.visibility</p:attrName>
                                        </p:attrNameLst>
                                      </p:cBhvr>
                                      <p:to>
                                        <p:strVal val="visible"/>
                                      </p:to>
                                    </p:set>
                                    <p:animEffect transition="in" filter="wipe(left)">
                                      <p:cBhvr>
                                        <p:cTn id="7" dur="500"/>
                                        <p:tgtEl>
                                          <p:spTgt spid="573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573444"/>
                                        </p:tgtEl>
                                        <p:attrNameLst>
                                          <p:attrName>style.visibility</p:attrName>
                                        </p:attrNameLst>
                                      </p:cBhvr>
                                      <p:to>
                                        <p:strVal val="visible"/>
                                      </p:to>
                                    </p:set>
                                    <p:anim calcmode="lin" valueType="num">
                                      <p:cBhvr additive="base">
                                        <p:cTn id="12" dur="500" fill="hold"/>
                                        <p:tgtEl>
                                          <p:spTgt spid="573444"/>
                                        </p:tgtEl>
                                        <p:attrNameLst>
                                          <p:attrName>ppt_x</p:attrName>
                                        </p:attrNameLst>
                                      </p:cBhvr>
                                      <p:tavLst>
                                        <p:tav tm="0">
                                          <p:val>
                                            <p:strVal val="#ppt_x"/>
                                          </p:val>
                                        </p:tav>
                                        <p:tav tm="100000">
                                          <p:val>
                                            <p:strVal val="#ppt_x"/>
                                          </p:val>
                                        </p:tav>
                                      </p:tavLst>
                                    </p:anim>
                                    <p:anim calcmode="lin" valueType="num">
                                      <p:cBhvr additive="base">
                                        <p:cTn id="13" dur="500" fill="hold"/>
                                        <p:tgtEl>
                                          <p:spTgt spid="5734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43" grpId="0" build="p" autoUpdateAnimBg="0"/>
      <p:bldP spid="573444"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712A4F19-7A15-4185-9C14-4559FF874CEA}" type="slidenum">
              <a:rPr lang="zh-CN" altLang="en-US"/>
              <a:pPr>
                <a:defRPr/>
              </a:pPr>
              <a:t>30</a:t>
            </a:fld>
            <a:endParaRPr lang="en-US" altLang="zh-CN"/>
          </a:p>
        </p:txBody>
      </p:sp>
      <p:sp>
        <p:nvSpPr>
          <p:cNvPr id="35843" name="Rectangle 2"/>
          <p:cNvSpPr>
            <a:spLocks noChangeArrowheads="1"/>
          </p:cNvSpPr>
          <p:nvPr/>
        </p:nvSpPr>
        <p:spPr bwMode="auto">
          <a:xfrm>
            <a:off x="228600" y="188913"/>
            <a:ext cx="89154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sz="4400" b="0"/>
              <a:t>MANIAC the Computer</a:t>
            </a:r>
          </a:p>
        </p:txBody>
      </p:sp>
      <p:pic>
        <p:nvPicPr>
          <p:cNvPr id="35844" name="Picture 3" descr="mania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276475"/>
            <a:ext cx="38989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5" name="Text Box 4"/>
          <p:cNvSpPr txBox="1">
            <a:spLocks noChangeArrowheads="1"/>
          </p:cNvSpPr>
          <p:nvPr/>
        </p:nvSpPr>
        <p:spPr bwMode="auto">
          <a:xfrm>
            <a:off x="4800600" y="1989138"/>
            <a:ext cx="4114800" cy="155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50000"/>
              </a:spcBef>
              <a:buClrTx/>
              <a:buFontTx/>
              <a:buNone/>
            </a:pPr>
            <a:r>
              <a:rPr kumimoji="0" lang="en-US" altLang="zh-CN" sz="2400" b="0">
                <a:latin typeface="Comic Sans MS" pitchFamily="66" charset="0"/>
              </a:rPr>
              <a:t>Seated is Nick Metropolis, the background is the MANIAC vacuum tube computer</a:t>
            </a:r>
          </a:p>
        </p:txBody>
      </p:sp>
      <p:sp>
        <p:nvSpPr>
          <p:cNvPr id="35846" name="Text Box 5"/>
          <p:cNvSpPr txBox="1">
            <a:spLocks noChangeArrowheads="1"/>
          </p:cNvSpPr>
          <p:nvPr/>
        </p:nvSpPr>
        <p:spPr bwMode="auto">
          <a:xfrm>
            <a:off x="4876800" y="3665538"/>
            <a:ext cx="3978275" cy="3013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2400" b="0">
                <a:latin typeface="Arial" pitchFamily="34" charset="0"/>
              </a:rPr>
              <a:t>MANIAC was a computer built at the Los Alamos Scientific Laboratory in the late 1940's and early 1950's. It's mostly remembered today for its use in the development of the hydrogen bomb</a:t>
            </a:r>
            <a:endParaRPr kumimoji="0" lang="zh-CN" altLang="en-US" sz="2400" b="0">
              <a:latin typeface="Arial" pitchFamily="34" charset="0"/>
            </a:endParaRPr>
          </a:p>
        </p:txBody>
      </p:sp>
      <p:sp>
        <p:nvSpPr>
          <p:cNvPr id="574470" name="Text Box 6"/>
          <p:cNvSpPr txBox="1">
            <a:spLocks noChangeArrowheads="1"/>
          </p:cNvSpPr>
          <p:nvPr/>
        </p:nvSpPr>
        <p:spPr bwMode="auto">
          <a:xfrm>
            <a:off x="395288" y="1012825"/>
            <a:ext cx="70104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defRPr/>
            </a:pPr>
            <a:r>
              <a:rPr lang="en-US" altLang="zh-CN" sz="2800">
                <a:solidFill>
                  <a:srgbClr val="0000FF"/>
                </a:solidFill>
                <a:latin typeface="Comic Sans MS" pitchFamily="66" charset="0"/>
                <a:ea typeface="宋体" pitchFamily="2" charset="-122"/>
              </a:rPr>
              <a:t>MANIAC</a:t>
            </a:r>
            <a:r>
              <a:rPr lang="en-US" altLang="zh-CN">
                <a:solidFill>
                  <a:srgbClr val="0000FF"/>
                </a:solidFill>
              </a:rPr>
              <a:t>  </a:t>
            </a:r>
            <a:r>
              <a:rPr lang="en-US" altLang="zh-CN">
                <a:effectLst>
                  <a:outerShdw blurRad="38100" dist="38100" dir="2700000" algn="tl">
                    <a:srgbClr val="C0C0C0"/>
                  </a:outerShdw>
                </a:effectLst>
              </a:rPr>
              <a:t> </a:t>
            </a:r>
            <a:r>
              <a:rPr lang="en-US" altLang="zh-CN" sz="2800">
                <a:solidFill>
                  <a:schemeClr val="tx1"/>
                </a:solidFill>
                <a:latin typeface="Comic Sans MS" pitchFamily="66" charset="0"/>
                <a:ea typeface="宋体" pitchFamily="2" charset="-122"/>
              </a:rPr>
              <a:t>Mathematical Analyzer, numerator, Integrator, and Computer</a:t>
            </a:r>
          </a:p>
        </p:txBody>
      </p:sp>
    </p:spTree>
  </p:cSld>
  <p:clrMapOvr>
    <a:masterClrMapping/>
  </p:clrMapOvr>
  <p:transition spd="slow">
    <p:push dir="u"/>
  </p:transition>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93B567D2-D384-49E2-8B1B-E9AB281A0FD9}" type="slidenum">
              <a:rPr lang="zh-CN" altLang="en-US"/>
              <a:pPr>
                <a:defRPr/>
              </a:pPr>
              <a:t>31</a:t>
            </a:fld>
            <a:endParaRPr lang="en-US" altLang="zh-CN"/>
          </a:p>
        </p:txBody>
      </p:sp>
      <p:sp>
        <p:nvSpPr>
          <p:cNvPr id="36867" name="Rectangle 2"/>
          <p:cNvSpPr>
            <a:spLocks noGrp="1" noChangeArrowheads="1"/>
          </p:cNvSpPr>
          <p:nvPr>
            <p:ph type="title"/>
          </p:nvPr>
        </p:nvSpPr>
        <p:spPr>
          <a:xfrm>
            <a:off x="381000" y="685800"/>
            <a:ext cx="8372475" cy="3962400"/>
          </a:xfrm>
        </p:spPr>
        <p:txBody>
          <a:bodyPr/>
          <a:lstStyle/>
          <a:p>
            <a:pPr eaLnBrk="1" hangingPunct="1">
              <a:lnSpc>
                <a:spcPct val="130000"/>
              </a:lnSpc>
            </a:pPr>
            <a:r>
              <a:rPr lang="zh-CN" altLang="en-US" sz="3600" b="1">
                <a:solidFill>
                  <a:schemeClr val="tx1"/>
                </a:solidFill>
                <a:latin typeface="楷体_GB2312" pitchFamily="49" charset="-122"/>
                <a:ea typeface="楷体_GB2312" pitchFamily="49" charset="-122"/>
              </a:rPr>
              <a:t>由于核武器研制需要，1950年全球只有15台，到了1962年9月仅美国就有16187台计算机。</a:t>
            </a:r>
          </a:p>
        </p:txBody>
      </p:sp>
    </p:spTree>
  </p:cSld>
  <p:clrMapOvr>
    <a:masterClrMapping/>
  </p:clrMapOvr>
  <p:transition spd="slow">
    <p:push dir="u"/>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B0B1AED8-7B04-4453-9F06-83E5C8DDE816}" type="slidenum">
              <a:rPr lang="zh-CN" altLang="en-US"/>
              <a:pPr>
                <a:defRPr/>
              </a:pPr>
              <a:t>32</a:t>
            </a:fld>
            <a:endParaRPr lang="en-US" altLang="zh-CN"/>
          </a:p>
        </p:txBody>
      </p:sp>
      <p:sp>
        <p:nvSpPr>
          <p:cNvPr id="37891" name="Rectangle 2"/>
          <p:cNvSpPr>
            <a:spLocks noGrp="1" noChangeArrowheads="1"/>
          </p:cNvSpPr>
          <p:nvPr>
            <p:ph type="title"/>
          </p:nvPr>
        </p:nvSpPr>
        <p:spPr>
          <a:xfrm>
            <a:off x="381000" y="1600200"/>
            <a:ext cx="8524875" cy="3305175"/>
          </a:xfrm>
        </p:spPr>
        <p:txBody>
          <a:bodyPr/>
          <a:lstStyle/>
          <a:p>
            <a:pPr eaLnBrk="1" hangingPunct="1">
              <a:lnSpc>
                <a:spcPct val="120000"/>
              </a:lnSpc>
            </a:pPr>
            <a:r>
              <a:rPr lang="zh-CN" altLang="zh-CN" sz="4000" b="1">
                <a:solidFill>
                  <a:schemeClr val="tx1"/>
                </a:solidFill>
              </a:rPr>
              <a:t>60</a:t>
            </a:r>
            <a:r>
              <a:rPr lang="zh-CN" altLang="en-US" sz="4000" b="1">
                <a:solidFill>
                  <a:schemeClr val="tx1"/>
                </a:solidFill>
              </a:rPr>
              <a:t>年代中期，由于硅平面工艺的出现，集成电路成为独立的工艺，并且可借助计算机本身的力量而精益求精。硅的集成度平均三年增加4倍，而计算机本身每三年更新一次。</a:t>
            </a:r>
          </a:p>
        </p:txBody>
      </p:sp>
    </p:spTree>
  </p:cSld>
  <p:clrMapOvr>
    <a:masterClrMapping/>
  </p:clrMapOvr>
  <p:transition spd="slow">
    <p:push dir="u"/>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8E34ACF5-BC8B-452A-A50E-AA2EBAFF9831}" type="slidenum">
              <a:rPr lang="zh-CN" altLang="en-US"/>
              <a:pPr>
                <a:defRPr/>
              </a:pPr>
              <a:t>33</a:t>
            </a:fld>
            <a:endParaRPr lang="en-US" altLang="zh-CN"/>
          </a:p>
        </p:txBody>
      </p:sp>
      <p:sp>
        <p:nvSpPr>
          <p:cNvPr id="38915" name="Rectangle 2"/>
          <p:cNvSpPr>
            <a:spLocks noGrp="1" noChangeArrowheads="1"/>
          </p:cNvSpPr>
          <p:nvPr>
            <p:ph type="title"/>
          </p:nvPr>
        </p:nvSpPr>
        <p:spPr>
          <a:xfrm>
            <a:off x="381000" y="1447800"/>
            <a:ext cx="8372475" cy="3249613"/>
          </a:xfrm>
        </p:spPr>
        <p:txBody>
          <a:bodyPr/>
          <a:lstStyle/>
          <a:p>
            <a:pPr eaLnBrk="1" hangingPunct="1">
              <a:lnSpc>
                <a:spcPct val="120000"/>
              </a:lnSpc>
            </a:pPr>
            <a:r>
              <a:rPr lang="zh-CN" altLang="zh-CN" sz="4000" b="1"/>
              <a:t>60</a:t>
            </a:r>
            <a:r>
              <a:rPr lang="zh-CN" altLang="en-US" sz="4000" b="1"/>
              <a:t>年代中期开始推出小型计算机，70年代末推出个人计算机，80年代中期又推出高性能的超级微机。而计算物理发展所涉及的大规模科学计算和模拟所需要的大型计算机却得到发展。</a:t>
            </a:r>
          </a:p>
        </p:txBody>
      </p:sp>
    </p:spTree>
  </p:cSld>
  <p:clrMapOvr>
    <a:masterClrMapping/>
  </p:clrMapOvr>
  <p:transition spd="slow">
    <p:push dir="u"/>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FB68AA0A-7EBF-4B01-8CC5-F8A033294A9F}" type="slidenum">
              <a:rPr lang="zh-CN" altLang="en-US"/>
              <a:pPr>
                <a:defRPr/>
              </a:pPr>
              <a:t>34</a:t>
            </a:fld>
            <a:endParaRPr lang="en-US" altLang="zh-CN"/>
          </a:p>
        </p:txBody>
      </p:sp>
      <p:sp>
        <p:nvSpPr>
          <p:cNvPr id="39939" name="Rectangle 2"/>
          <p:cNvSpPr>
            <a:spLocks noGrp="1" noChangeArrowheads="1"/>
          </p:cNvSpPr>
          <p:nvPr>
            <p:ph type="title"/>
          </p:nvPr>
        </p:nvSpPr>
        <p:spPr>
          <a:xfrm>
            <a:off x="304800" y="2852738"/>
            <a:ext cx="8443913" cy="3529012"/>
          </a:xfrm>
        </p:spPr>
        <p:txBody>
          <a:bodyPr/>
          <a:lstStyle/>
          <a:p>
            <a:pPr eaLnBrk="1" hangingPunct="1">
              <a:lnSpc>
                <a:spcPct val="130000"/>
              </a:lnSpc>
            </a:pPr>
            <a:r>
              <a:rPr lang="zh-CN" altLang="en-US" sz="3200" b="1" dirty="0"/>
              <a:t>美国从1942年8月13日开始曼哈顿计划，到1945年制造出三颗原子弹：代号为：“三一” </a:t>
            </a:r>
            <a:r>
              <a:rPr lang="zh-CN" altLang="en-US" sz="3200" b="1" dirty="0">
                <a:ea typeface="楷体_GB2312" pitchFamily="49" charset="-122"/>
              </a:rPr>
              <a:t>“</a:t>
            </a:r>
            <a:r>
              <a:rPr lang="zh-CN" altLang="en-US" sz="3200" b="1" dirty="0"/>
              <a:t>瘦子” ，用于试验（7月16日）， “</a:t>
            </a:r>
            <a:r>
              <a:rPr lang="zh-CN" altLang="en-US" sz="3200" b="1" dirty="0">
                <a:solidFill>
                  <a:srgbClr val="F53313"/>
                </a:solidFill>
              </a:rPr>
              <a:t>小男孩</a:t>
            </a:r>
            <a:r>
              <a:rPr lang="zh-CN" altLang="en-US" sz="3200" b="1" dirty="0"/>
              <a:t>”投于广岛(8月6日)，</a:t>
            </a:r>
            <a:r>
              <a:rPr lang="zh-CN" altLang="en-US" sz="3200" b="1" dirty="0">
                <a:ea typeface="楷体_GB2312" pitchFamily="49" charset="-122"/>
              </a:rPr>
              <a:t>“</a:t>
            </a:r>
            <a:r>
              <a:rPr lang="zh-CN" altLang="en-US" sz="3200" b="1" dirty="0"/>
              <a:t>胖子”投于长崎(8月9日)。历时三年，涉及到理论物理、爆轰物理、中子物理、金属物理、弹体弹道等大量的数值计算。</a:t>
            </a:r>
          </a:p>
        </p:txBody>
      </p:sp>
      <p:sp>
        <p:nvSpPr>
          <p:cNvPr id="39940" name="Rectangle 1029"/>
          <p:cNvSpPr>
            <a:spLocks noGrp="1" noChangeArrowheads="1"/>
          </p:cNvSpPr>
          <p:nvPr>
            <p:ph type="body" idx="1"/>
          </p:nvPr>
        </p:nvSpPr>
        <p:spPr>
          <a:xfrm>
            <a:off x="-36512" y="477044"/>
            <a:ext cx="9217024" cy="647700"/>
          </a:xfrm>
          <a:noFill/>
        </p:spPr>
        <p:txBody>
          <a:bodyPr/>
          <a:lstStyle/>
          <a:p>
            <a:pPr eaLnBrk="1" hangingPunct="1">
              <a:buFont typeface="Monotype Sorts" pitchFamily="2" charset="2"/>
              <a:buNone/>
            </a:pPr>
            <a:r>
              <a:rPr lang="zh-CN" altLang="en-US" b="1" dirty="0">
                <a:solidFill>
                  <a:srgbClr val="0000FF"/>
                </a:solidFill>
              </a:rPr>
              <a:t>计算物理发展的原始动力：美国核武器研制的刺激</a:t>
            </a:r>
          </a:p>
        </p:txBody>
      </p:sp>
    </p:spTree>
  </p:cSld>
  <p:clrMapOvr>
    <a:masterClrMapping/>
  </p:clrMapOvr>
  <p:transition spd="slow">
    <p:push dir="u"/>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5"/>
          <p:cNvSpPr>
            <a:spLocks noGrp="1"/>
          </p:cNvSpPr>
          <p:nvPr>
            <p:ph type="sldNum" sz="quarter" idx="12"/>
          </p:nvPr>
        </p:nvSpPr>
        <p:spPr/>
        <p:txBody>
          <a:bodyPr/>
          <a:lstStyle/>
          <a:p>
            <a:pPr>
              <a:defRPr/>
            </a:pPr>
            <a:fld id="{0FD8A10B-852C-4BFB-AD50-FD99A660AEFD}" type="slidenum">
              <a:rPr lang="zh-CN" altLang="en-US"/>
              <a:pPr>
                <a:defRPr/>
              </a:pPr>
              <a:t>35</a:t>
            </a:fld>
            <a:endParaRPr lang="en-US" altLang="zh-CN"/>
          </a:p>
        </p:txBody>
      </p:sp>
      <p:sp>
        <p:nvSpPr>
          <p:cNvPr id="40963" name="Rectangle 2"/>
          <p:cNvSpPr>
            <a:spLocks noGrp="1" noChangeArrowheads="1"/>
          </p:cNvSpPr>
          <p:nvPr>
            <p:ph type="title"/>
          </p:nvPr>
        </p:nvSpPr>
        <p:spPr>
          <a:xfrm>
            <a:off x="323850" y="1628775"/>
            <a:ext cx="8305800" cy="3138488"/>
          </a:xfrm>
        </p:spPr>
        <p:txBody>
          <a:bodyPr/>
          <a:lstStyle/>
          <a:p>
            <a:pPr eaLnBrk="1" hangingPunct="1">
              <a:lnSpc>
                <a:spcPct val="130000"/>
              </a:lnSpc>
            </a:pPr>
            <a:r>
              <a:rPr lang="zh-CN" altLang="en-US" sz="3600" b="1">
                <a:solidFill>
                  <a:schemeClr val="tx1"/>
                </a:solidFill>
                <a:ea typeface="楷体_GB2312" pitchFamily="49" charset="-122"/>
              </a:rPr>
              <a:t>１９５９年５月美国总统发布命令，可以揭开曼哈顿计划的内幕，部分内容可以解密。故以“</a:t>
            </a:r>
            <a:r>
              <a:rPr lang="zh-CN" altLang="en-US" sz="3600" b="1">
                <a:solidFill>
                  <a:schemeClr val="tx1"/>
                </a:solidFill>
                <a:latin typeface="楷体_GB2312" pitchFamily="49" charset="-122"/>
                <a:ea typeface="楷体_GB2312" pitchFamily="49" charset="-122"/>
              </a:rPr>
              <a:t>计算物理方法</a:t>
            </a:r>
            <a:r>
              <a:rPr lang="zh-CN" altLang="en-US" sz="3600" b="1">
                <a:solidFill>
                  <a:schemeClr val="tx1"/>
                </a:solidFill>
                <a:ea typeface="楷体_GB2312" pitchFamily="49" charset="-122"/>
              </a:rPr>
              <a:t>”丛书的名义陆续编辑出版。</a:t>
            </a:r>
            <a:endParaRPr lang="en-US" altLang="zh-CN" sz="3600" b="1">
              <a:solidFill>
                <a:schemeClr val="tx1"/>
              </a:solidFill>
              <a:ea typeface="楷体_GB2312" pitchFamily="49" charset="-122"/>
            </a:endParaRPr>
          </a:p>
        </p:txBody>
      </p:sp>
      <p:sp>
        <p:nvSpPr>
          <p:cNvPr id="3" name="内容占位符 2">
            <a:extLst>
              <a:ext uri="{FF2B5EF4-FFF2-40B4-BE49-F238E27FC236}">
                <a16:creationId xmlns:a16="http://schemas.microsoft.com/office/drawing/2014/main" id="{158C8EC1-C705-4842-9CDB-5C1D61F79D59}"/>
              </a:ext>
            </a:extLst>
          </p:cNvPr>
          <p:cNvSpPr>
            <a:spLocks noGrp="1"/>
          </p:cNvSpPr>
          <p:nvPr>
            <p:ph idx="1"/>
          </p:nvPr>
        </p:nvSpPr>
        <p:spPr/>
        <p:txBody>
          <a:bodyPr/>
          <a:lstStyle/>
          <a:p>
            <a:endParaRPr lang="zh-CN" altLang="en-US"/>
          </a:p>
        </p:txBody>
      </p:sp>
      <p:sp>
        <p:nvSpPr>
          <p:cNvPr id="7" name="Rectangle 1029">
            <a:extLst>
              <a:ext uri="{FF2B5EF4-FFF2-40B4-BE49-F238E27FC236}">
                <a16:creationId xmlns:a16="http://schemas.microsoft.com/office/drawing/2014/main" id="{FA30F7E3-03AC-4157-8401-95ABBBD47756}"/>
              </a:ext>
            </a:extLst>
          </p:cNvPr>
          <p:cNvSpPr txBox="1">
            <a:spLocks noChangeArrowheads="1"/>
          </p:cNvSpPr>
          <p:nvPr/>
        </p:nvSpPr>
        <p:spPr bwMode="auto">
          <a:xfrm>
            <a:off x="-36512" y="477044"/>
            <a:ext cx="9217024" cy="647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bg2"/>
              </a:buClr>
              <a:buFont typeface="Monotype Sorts" pitchFamily="2" charset="2"/>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bg2"/>
              </a:buClr>
              <a:buSzPct val="50000"/>
              <a:buFont typeface="Monotype Sorts" pitchFamily="2" charset="2"/>
              <a:buChar char="l"/>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a:lstStyle>
          <a:p>
            <a:pPr eaLnBrk="1" hangingPunct="1">
              <a:buFont typeface="Monotype Sorts" pitchFamily="2" charset="2"/>
              <a:buNone/>
            </a:pPr>
            <a:r>
              <a:rPr lang="zh-CN" altLang="en-US" b="1" kern="0">
                <a:solidFill>
                  <a:srgbClr val="0000FF"/>
                </a:solidFill>
              </a:rPr>
              <a:t>计算物理发展的原始动力：美国核武器研制的刺激</a:t>
            </a:r>
            <a:endParaRPr lang="zh-CN" altLang="en-US" b="1" kern="0" dirty="0">
              <a:solidFill>
                <a:srgbClr val="0000FF"/>
              </a:solidFill>
            </a:endParaRPr>
          </a:p>
        </p:txBody>
      </p:sp>
    </p:spTree>
  </p:cSld>
  <p:clrMapOvr>
    <a:masterClrMapping/>
  </p:clrMapOvr>
  <p:transition spd="slow">
    <p:push dir="u"/>
  </p:transition>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9AEAE641-BB1A-408A-9BBF-69B2B5E84B96}" type="slidenum">
              <a:rPr lang="zh-CN" altLang="en-US"/>
              <a:pPr>
                <a:defRPr/>
              </a:pPr>
              <a:t>36</a:t>
            </a:fld>
            <a:endParaRPr lang="en-US" altLang="zh-CN"/>
          </a:p>
        </p:txBody>
      </p:sp>
      <p:sp>
        <p:nvSpPr>
          <p:cNvPr id="41987" name="Rectangle 2"/>
          <p:cNvSpPr>
            <a:spLocks noGrp="1" noChangeArrowheads="1"/>
          </p:cNvSpPr>
          <p:nvPr>
            <p:ph type="title"/>
          </p:nvPr>
        </p:nvSpPr>
        <p:spPr>
          <a:xfrm>
            <a:off x="381000" y="2498725"/>
            <a:ext cx="8448675" cy="3749675"/>
          </a:xfrm>
        </p:spPr>
        <p:txBody>
          <a:bodyPr/>
          <a:lstStyle/>
          <a:p>
            <a:pPr eaLnBrk="1" hangingPunct="1">
              <a:lnSpc>
                <a:spcPct val="130000"/>
              </a:lnSpc>
            </a:pPr>
            <a:r>
              <a:rPr lang="zh-CN" altLang="zh-CN" sz="4000" b="1" dirty="0"/>
              <a:t>1981</a:t>
            </a:r>
            <a:r>
              <a:rPr lang="zh-CN" altLang="en-US" sz="4000" b="1" dirty="0"/>
              <a:t>年以哈佛大学普雷斯(</a:t>
            </a:r>
            <a:r>
              <a:rPr lang="en-US" altLang="zh-CN" sz="4000" b="1" dirty="0"/>
              <a:t>W. H. Press)</a:t>
            </a:r>
            <a:r>
              <a:rPr lang="zh-CN" altLang="en-US" sz="4000" b="1" dirty="0"/>
              <a:t>为首的11位著名科学家联名上书，向美国国家科学基金会(</a:t>
            </a:r>
            <a:r>
              <a:rPr lang="en-US" altLang="zh-CN" sz="4000" b="1" dirty="0"/>
              <a:t>NSF)</a:t>
            </a:r>
            <a:r>
              <a:rPr lang="zh-CN" altLang="en-US" sz="4000" b="1" dirty="0"/>
              <a:t>呈送</a:t>
            </a:r>
            <a:r>
              <a:rPr lang="zh-CN" altLang="en-US" sz="4000" b="1" dirty="0">
                <a:ea typeface="楷体_GB2312" pitchFamily="49" charset="-122"/>
              </a:rPr>
              <a:t>“</a:t>
            </a:r>
            <a:r>
              <a:rPr lang="zh-CN" altLang="en-US" sz="4000" b="1" dirty="0"/>
              <a:t>发展计算物理的建议书”，大声疾呼计算物理发展正处于一个危机阶段，是</a:t>
            </a:r>
            <a:r>
              <a:rPr lang="en-US" altLang="zh-CN" sz="4000" b="1" dirty="0"/>
              <a:t>NSF</a:t>
            </a:r>
            <a:r>
              <a:rPr lang="zh-CN" altLang="en-US" sz="4000" b="1" dirty="0"/>
              <a:t>采取实质性行动的时候了。</a:t>
            </a:r>
          </a:p>
        </p:txBody>
      </p:sp>
    </p:spTree>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4B313423-1669-484B-927F-9C1A67B18888}" type="slidenum">
              <a:rPr lang="zh-CN" altLang="en-US"/>
              <a:pPr>
                <a:defRPr/>
              </a:pPr>
              <a:t>37</a:t>
            </a:fld>
            <a:endParaRPr lang="en-US" altLang="zh-CN"/>
          </a:p>
        </p:txBody>
      </p:sp>
      <p:sp>
        <p:nvSpPr>
          <p:cNvPr id="43011" name="Rectangle 2"/>
          <p:cNvSpPr>
            <a:spLocks noGrp="1" noChangeArrowheads="1"/>
          </p:cNvSpPr>
          <p:nvPr>
            <p:ph type="title"/>
          </p:nvPr>
        </p:nvSpPr>
        <p:spPr>
          <a:xfrm>
            <a:off x="304800" y="2349500"/>
            <a:ext cx="8372475" cy="3360738"/>
          </a:xfrm>
        </p:spPr>
        <p:txBody>
          <a:bodyPr/>
          <a:lstStyle/>
          <a:p>
            <a:pPr eaLnBrk="1" hangingPunct="1">
              <a:lnSpc>
                <a:spcPct val="130000"/>
              </a:lnSpc>
            </a:pPr>
            <a:r>
              <a:rPr lang="zh-CN" altLang="en-US" sz="3600" b="1" dirty="0"/>
              <a:t>1983年一个由美国著名数学家拉克斯(</a:t>
            </a:r>
            <a:r>
              <a:rPr lang="en-US" altLang="zh-CN" sz="3600" b="1" dirty="0"/>
              <a:t>P. Lax)</a:t>
            </a:r>
            <a:r>
              <a:rPr lang="zh-CN" altLang="en-US" sz="3600" b="1" dirty="0"/>
              <a:t>为首的不同学科的专家委员会向美国政府提出的报告之中，强调</a:t>
            </a:r>
            <a:r>
              <a:rPr lang="zh-CN" altLang="en-US" sz="3600" b="1" dirty="0">
                <a:ea typeface="楷体_GB2312" pitchFamily="49" charset="-122"/>
              </a:rPr>
              <a:t>“</a:t>
            </a:r>
            <a:r>
              <a:rPr lang="zh-CN" altLang="en-US" sz="3600" b="1" dirty="0">
                <a:solidFill>
                  <a:srgbClr val="3F15F3"/>
                </a:solidFill>
              </a:rPr>
              <a:t>科学计算是关系到国家安全、经济发展和科技进步的关键性环节，是事关国家命脉的大事。</a:t>
            </a:r>
            <a:r>
              <a:rPr lang="zh-CN" altLang="en-US" sz="3600" b="1" dirty="0"/>
              <a:t>” </a:t>
            </a:r>
          </a:p>
        </p:txBody>
      </p:sp>
    </p:spTree>
  </p:cSld>
  <p:clrMapOvr>
    <a:masterClrMapping/>
  </p:clrMapOvr>
  <p:transition spd="slow">
    <p:push dir="u"/>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77E53166-F3E0-4B56-86D1-CC50A83140EC}" type="slidenum">
              <a:rPr lang="zh-CN" altLang="en-US"/>
              <a:pPr>
                <a:defRPr/>
              </a:pPr>
              <a:t>38</a:t>
            </a:fld>
            <a:endParaRPr lang="en-US" altLang="zh-CN"/>
          </a:p>
        </p:txBody>
      </p:sp>
      <p:sp>
        <p:nvSpPr>
          <p:cNvPr id="44035" name="Rectangle 2"/>
          <p:cNvSpPr>
            <a:spLocks noGrp="1" noChangeArrowheads="1"/>
          </p:cNvSpPr>
          <p:nvPr>
            <p:ph type="title"/>
          </p:nvPr>
        </p:nvSpPr>
        <p:spPr>
          <a:xfrm>
            <a:off x="381000" y="2492375"/>
            <a:ext cx="8372475" cy="3527425"/>
          </a:xfrm>
        </p:spPr>
        <p:txBody>
          <a:bodyPr/>
          <a:lstStyle/>
          <a:p>
            <a:pPr eaLnBrk="1" hangingPunct="1">
              <a:lnSpc>
                <a:spcPct val="130000"/>
              </a:lnSpc>
            </a:pPr>
            <a:r>
              <a:rPr lang="zh-CN" altLang="zh-CN" sz="3600" b="1"/>
              <a:t>1984</a:t>
            </a:r>
            <a:r>
              <a:rPr lang="zh-CN" altLang="en-US" sz="3600" b="1"/>
              <a:t>年美国政府大幅度地增加对科学计算经费的支持, 新建成五个国家级超级计算中心（分别在普林斯顿大学、圣地亚哥、伊里诺大学、康奈尔大学、匹兹堡），配备当时最高性能的计算机，建立</a:t>
            </a:r>
            <a:r>
              <a:rPr lang="en-US" altLang="zh-CN" sz="3600" b="1"/>
              <a:t>NSF-net</a:t>
            </a:r>
            <a:r>
              <a:rPr lang="zh-CN" altLang="en-US" sz="3600" b="1"/>
              <a:t>新网络。</a:t>
            </a:r>
          </a:p>
        </p:txBody>
      </p:sp>
    </p:spTree>
  </p:cSld>
  <p:clrMapOvr>
    <a:masterClrMapping/>
  </p:clrMapOvr>
  <p:transition spd="slow">
    <p:push dir="u"/>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5"/>
          <p:cNvSpPr>
            <a:spLocks noGrp="1"/>
          </p:cNvSpPr>
          <p:nvPr>
            <p:ph type="sldNum" sz="quarter" idx="12"/>
          </p:nvPr>
        </p:nvSpPr>
        <p:spPr/>
        <p:txBody>
          <a:bodyPr/>
          <a:lstStyle/>
          <a:p>
            <a:pPr>
              <a:defRPr/>
            </a:pPr>
            <a:fld id="{60D93CFC-6E85-426D-8599-5536D86D2C2A}" type="slidenum">
              <a:rPr lang="zh-CN" altLang="en-US"/>
              <a:pPr>
                <a:defRPr/>
              </a:pPr>
              <a:t>39</a:t>
            </a:fld>
            <a:endParaRPr lang="en-US" altLang="zh-CN"/>
          </a:p>
        </p:txBody>
      </p:sp>
      <p:sp>
        <p:nvSpPr>
          <p:cNvPr id="45059" name="Rectangle 2"/>
          <p:cNvSpPr>
            <a:spLocks noGrp="1" noChangeArrowheads="1"/>
          </p:cNvSpPr>
          <p:nvPr>
            <p:ph type="title"/>
          </p:nvPr>
        </p:nvSpPr>
        <p:spPr>
          <a:xfrm>
            <a:off x="457200" y="2514600"/>
            <a:ext cx="7772400" cy="1143000"/>
          </a:xfrm>
        </p:spPr>
        <p:txBody>
          <a:bodyPr/>
          <a:lstStyle/>
          <a:p>
            <a:pPr eaLnBrk="1" hangingPunct="1">
              <a:lnSpc>
                <a:spcPct val="150000"/>
              </a:lnSpc>
            </a:pPr>
            <a:r>
              <a:rPr lang="zh-CN" altLang="en-US" sz="3600" b="1"/>
              <a:t>80年代中期我国将“大规模科学与工程计算”列入国家资助重大项目。</a:t>
            </a:r>
          </a:p>
        </p:txBody>
      </p:sp>
    </p:spTree>
  </p:cSld>
  <p:clrMapOvr>
    <a:masterClrMapping/>
  </p:clrMapOvr>
  <p:transition spd="slow">
    <p:push di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E7358E27-3F3B-482D-AFD7-A7F461EB832A}" type="slidenum">
              <a:rPr lang="zh-CN" altLang="en-US"/>
              <a:pPr>
                <a:defRPr/>
              </a:pPr>
              <a:t>40</a:t>
            </a:fld>
            <a:endParaRPr lang="en-US" altLang="zh-CN"/>
          </a:p>
        </p:txBody>
      </p:sp>
      <p:sp>
        <p:nvSpPr>
          <p:cNvPr id="290818" name="Text Box 1026"/>
          <p:cNvSpPr txBox="1">
            <a:spLocks noChangeArrowheads="1"/>
          </p:cNvSpPr>
          <p:nvPr/>
        </p:nvSpPr>
        <p:spPr bwMode="auto">
          <a:xfrm>
            <a:off x="395288" y="1196975"/>
            <a:ext cx="814228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i="1" dirty="0">
                <a:solidFill>
                  <a:srgbClr val="000000"/>
                </a:solidFill>
              </a:rPr>
              <a:t>The central idea behind the majority of methods discussed in this course is </a:t>
            </a:r>
          </a:p>
          <a:p>
            <a:pPr eaLnBrk="1" hangingPunct="1">
              <a:spcBef>
                <a:spcPct val="0"/>
              </a:spcBef>
              <a:buClrTx/>
              <a:buFontTx/>
              <a:buNone/>
            </a:pPr>
            <a:r>
              <a:rPr lang="en-US" altLang="zh-CN" i="1" dirty="0">
                <a:solidFill>
                  <a:srgbClr val="000000"/>
                </a:solidFill>
              </a:rPr>
              <a:t>1</a:t>
            </a:r>
            <a:r>
              <a:rPr lang="zh-CN" altLang="en-US" i="1" dirty="0">
                <a:solidFill>
                  <a:srgbClr val="000000"/>
                </a:solidFill>
              </a:rPr>
              <a:t>）</a:t>
            </a:r>
            <a:r>
              <a:rPr lang="en-US" altLang="zh-CN" i="1" dirty="0">
                <a:solidFill>
                  <a:srgbClr val="000000"/>
                </a:solidFill>
              </a:rPr>
              <a:t>the Taylor Series expansion of a function about a point</a:t>
            </a:r>
            <a:r>
              <a:rPr lang="en-US" altLang="zh-CN" dirty="0"/>
              <a:t> </a:t>
            </a:r>
          </a:p>
        </p:txBody>
      </p:sp>
      <p:graphicFrame>
        <p:nvGraphicFramePr>
          <p:cNvPr id="290819" name="Object 1027"/>
          <p:cNvGraphicFramePr>
            <a:graphicFrameLocks noChangeAspect="1"/>
          </p:cNvGraphicFramePr>
          <p:nvPr>
            <p:extLst>
              <p:ext uri="{D42A27DB-BD31-4B8C-83A1-F6EECF244321}">
                <p14:modId xmlns:p14="http://schemas.microsoft.com/office/powerpoint/2010/main" val="1234096061"/>
              </p:ext>
            </p:extLst>
          </p:nvPr>
        </p:nvGraphicFramePr>
        <p:xfrm>
          <a:off x="0" y="5664472"/>
          <a:ext cx="8964613" cy="1004888"/>
        </p:xfrm>
        <a:graphic>
          <a:graphicData uri="http://schemas.openxmlformats.org/presentationml/2006/ole">
            <mc:AlternateContent xmlns:mc="http://schemas.openxmlformats.org/markup-compatibility/2006">
              <mc:Choice xmlns:v="urn:schemas-microsoft-com:vml" Requires="v">
                <p:oleObj spid="_x0000_s46229" name="Equation" r:id="rId3" imgW="4406900" imgH="419100" progId="Equation.3">
                  <p:embed/>
                </p:oleObj>
              </mc:Choice>
              <mc:Fallback>
                <p:oleObj name="Equation" r:id="rId3" imgW="4406900" imgH="419100" progId="Equation.3">
                  <p:embed/>
                  <p:pic>
                    <p:nvPicPr>
                      <p:cNvPr id="0" name="Object 10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5664472"/>
                        <a:ext cx="8964613" cy="1004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0" name="Object 1028"/>
          <p:cNvGraphicFramePr>
            <a:graphicFrameLocks noChangeAspect="1"/>
          </p:cNvGraphicFramePr>
          <p:nvPr>
            <p:extLst>
              <p:ext uri="{D42A27DB-BD31-4B8C-83A1-F6EECF244321}">
                <p14:modId xmlns:p14="http://schemas.microsoft.com/office/powerpoint/2010/main" val="4168846337"/>
              </p:ext>
            </p:extLst>
          </p:nvPr>
        </p:nvGraphicFramePr>
        <p:xfrm>
          <a:off x="684213" y="3503885"/>
          <a:ext cx="1800225" cy="542925"/>
        </p:xfrm>
        <a:graphic>
          <a:graphicData uri="http://schemas.openxmlformats.org/presentationml/2006/ole">
            <mc:AlternateContent xmlns:mc="http://schemas.openxmlformats.org/markup-compatibility/2006">
              <mc:Choice xmlns:v="urn:schemas-microsoft-com:vml" Requires="v">
                <p:oleObj spid="_x0000_s46230" name="Equation" r:id="rId5" imgW="609336" imgH="203112" progId="Equation.3">
                  <p:embed/>
                </p:oleObj>
              </mc:Choice>
              <mc:Fallback>
                <p:oleObj name="Equation" r:id="rId5" imgW="609336" imgH="203112" progId="Equation.3">
                  <p:embed/>
                  <p:pic>
                    <p:nvPicPr>
                      <p:cNvPr id="0" name="Object 10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4213" y="3503885"/>
                        <a:ext cx="1800225" cy="54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2" name="Object 1030"/>
          <p:cNvGraphicFramePr>
            <a:graphicFrameLocks noChangeAspect="1"/>
          </p:cNvGraphicFramePr>
          <p:nvPr>
            <p:extLst>
              <p:ext uri="{D42A27DB-BD31-4B8C-83A1-F6EECF244321}">
                <p14:modId xmlns:p14="http://schemas.microsoft.com/office/powerpoint/2010/main" val="1917951547"/>
              </p:ext>
            </p:extLst>
          </p:nvPr>
        </p:nvGraphicFramePr>
        <p:xfrm>
          <a:off x="-34925" y="4413522"/>
          <a:ext cx="9144000" cy="996950"/>
        </p:xfrm>
        <a:graphic>
          <a:graphicData uri="http://schemas.openxmlformats.org/presentationml/2006/ole">
            <mc:AlternateContent xmlns:mc="http://schemas.openxmlformats.org/markup-compatibility/2006">
              <mc:Choice xmlns:v="urn:schemas-microsoft-com:vml" Requires="v">
                <p:oleObj spid="_x0000_s46231" name="Microsoft 公式 3.0" r:id="rId7" imgW="3479800" imgH="419100" progId="Equation.3">
                  <p:embed/>
                </p:oleObj>
              </mc:Choice>
              <mc:Fallback>
                <p:oleObj name="Microsoft 公式 3.0" r:id="rId7" imgW="3479800" imgH="419100" progId="Equation.3">
                  <p:embed/>
                  <p:pic>
                    <p:nvPicPr>
                      <p:cNvPr id="0" name="Object 103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925" y="4413522"/>
                        <a:ext cx="9144000" cy="996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0824" name="Object 1032"/>
          <p:cNvGraphicFramePr>
            <a:graphicFrameLocks noChangeAspect="1"/>
          </p:cNvGraphicFramePr>
          <p:nvPr>
            <p:extLst>
              <p:ext uri="{D42A27DB-BD31-4B8C-83A1-F6EECF244321}">
                <p14:modId xmlns:p14="http://schemas.microsoft.com/office/powerpoint/2010/main" val="3567180424"/>
              </p:ext>
            </p:extLst>
          </p:nvPr>
        </p:nvGraphicFramePr>
        <p:xfrm>
          <a:off x="3492500" y="3576910"/>
          <a:ext cx="4392613" cy="639762"/>
        </p:xfrm>
        <a:graphic>
          <a:graphicData uri="http://schemas.openxmlformats.org/presentationml/2006/ole">
            <mc:AlternateContent xmlns:mc="http://schemas.openxmlformats.org/markup-compatibility/2006">
              <mc:Choice xmlns:v="urn:schemas-microsoft-com:vml" Requires="v">
                <p:oleObj spid="_x0000_s46232" name="公式" r:id="rId9" imgW="1422400" imgH="228600" progId="Equation.3">
                  <p:embed/>
                </p:oleObj>
              </mc:Choice>
              <mc:Fallback>
                <p:oleObj name="公式" r:id="rId9" imgW="1422400" imgH="228600" progId="Equation.3">
                  <p:embed/>
                  <p:pic>
                    <p:nvPicPr>
                      <p:cNvPr id="0" name="Object 103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492500" y="3576910"/>
                        <a:ext cx="4392613" cy="639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0826" name="Rectangle 1034"/>
          <p:cNvSpPr>
            <a:spLocks noChangeArrowheads="1"/>
          </p:cNvSpPr>
          <p:nvPr/>
        </p:nvSpPr>
        <p:spPr bwMode="auto">
          <a:xfrm>
            <a:off x="1619250" y="327025"/>
            <a:ext cx="6138863"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defRPr/>
            </a:pPr>
            <a:r>
              <a:rPr kumimoji="1" lang="zh-CN" altLang="en-US" sz="3200">
                <a:solidFill>
                  <a:schemeClr val="tx1"/>
                </a:solidFill>
              </a:rPr>
              <a:t>三、本课程的核心内容</a:t>
            </a:r>
            <a:r>
              <a:rPr kumimoji="1" lang="zh-CN" altLang="en-US" sz="3200">
                <a:effectLst>
                  <a:outerShdw blurRad="38100" dist="38100" dir="2700000" algn="tl">
                    <a:srgbClr val="C0C0C0"/>
                  </a:outerShdw>
                </a:effectLst>
              </a:rPr>
              <a:t>  </a:t>
            </a:r>
            <a:r>
              <a:rPr kumimoji="1" lang="zh-CN" altLang="en-US" sz="3200">
                <a:solidFill>
                  <a:schemeClr val="tx1"/>
                </a:solidFill>
              </a:rPr>
              <a:t> </a:t>
            </a:r>
            <a:r>
              <a:rPr kumimoji="1" lang="en-US" altLang="zh-CN" sz="3200">
                <a:solidFill>
                  <a:schemeClr val="tx1"/>
                </a:solidFill>
              </a:rPr>
              <a:t>Key Idea</a:t>
            </a:r>
            <a:endParaRPr kumimoji="1" lang="zh-CN" altLang="en-US" sz="3200">
              <a:solidFill>
                <a:schemeClr val="tx1"/>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0818"/>
                                        </p:tgtEl>
                                        <p:attrNameLst>
                                          <p:attrName>style.visibility</p:attrName>
                                        </p:attrNameLst>
                                      </p:cBhvr>
                                      <p:to>
                                        <p:strVal val="visible"/>
                                      </p:to>
                                    </p:set>
                                    <p:anim calcmode="lin" valueType="num">
                                      <p:cBhvr additive="base">
                                        <p:cTn id="7" dur="500" fill="hold"/>
                                        <p:tgtEl>
                                          <p:spTgt spid="290818"/>
                                        </p:tgtEl>
                                        <p:attrNameLst>
                                          <p:attrName>ppt_x</p:attrName>
                                        </p:attrNameLst>
                                      </p:cBhvr>
                                      <p:tavLst>
                                        <p:tav tm="0">
                                          <p:val>
                                            <p:strVal val="0-#ppt_w/2"/>
                                          </p:val>
                                        </p:tav>
                                        <p:tav tm="100000">
                                          <p:val>
                                            <p:strVal val="#ppt_x"/>
                                          </p:val>
                                        </p:tav>
                                      </p:tavLst>
                                    </p:anim>
                                    <p:anim calcmode="lin" valueType="num">
                                      <p:cBhvr additive="base">
                                        <p:cTn id="8" dur="500" fill="hold"/>
                                        <p:tgtEl>
                                          <p:spTgt spid="29081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90820"/>
                                        </p:tgtEl>
                                        <p:attrNameLst>
                                          <p:attrName>style.visibility</p:attrName>
                                        </p:attrNameLst>
                                      </p:cBhvr>
                                      <p:to>
                                        <p:strVal val="visible"/>
                                      </p:to>
                                    </p:set>
                                    <p:anim calcmode="lin" valueType="num">
                                      <p:cBhvr additive="base">
                                        <p:cTn id="13" dur="500" fill="hold"/>
                                        <p:tgtEl>
                                          <p:spTgt spid="290820"/>
                                        </p:tgtEl>
                                        <p:attrNameLst>
                                          <p:attrName>ppt_x</p:attrName>
                                        </p:attrNameLst>
                                      </p:cBhvr>
                                      <p:tavLst>
                                        <p:tav tm="0">
                                          <p:val>
                                            <p:strVal val="0-#ppt_w/2"/>
                                          </p:val>
                                        </p:tav>
                                        <p:tav tm="100000">
                                          <p:val>
                                            <p:strVal val="#ppt_x"/>
                                          </p:val>
                                        </p:tav>
                                      </p:tavLst>
                                    </p:anim>
                                    <p:anim calcmode="lin" valueType="num">
                                      <p:cBhvr additive="base">
                                        <p:cTn id="14" dur="500" fill="hold"/>
                                        <p:tgtEl>
                                          <p:spTgt spid="29082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290824"/>
                                        </p:tgtEl>
                                        <p:attrNameLst>
                                          <p:attrName>style.visibility</p:attrName>
                                        </p:attrNameLst>
                                      </p:cBhvr>
                                      <p:to>
                                        <p:strVal val="visible"/>
                                      </p:to>
                                    </p:set>
                                    <p:anim calcmode="lin" valueType="num">
                                      <p:cBhvr additive="base">
                                        <p:cTn id="19" dur="500" fill="hold"/>
                                        <p:tgtEl>
                                          <p:spTgt spid="290824"/>
                                        </p:tgtEl>
                                        <p:attrNameLst>
                                          <p:attrName>ppt_x</p:attrName>
                                        </p:attrNameLst>
                                      </p:cBhvr>
                                      <p:tavLst>
                                        <p:tav tm="0">
                                          <p:val>
                                            <p:strVal val="0-#ppt_w/2"/>
                                          </p:val>
                                        </p:tav>
                                        <p:tav tm="100000">
                                          <p:val>
                                            <p:strVal val="#ppt_x"/>
                                          </p:val>
                                        </p:tav>
                                      </p:tavLst>
                                    </p:anim>
                                    <p:anim calcmode="lin" valueType="num">
                                      <p:cBhvr additive="base">
                                        <p:cTn id="20" dur="500" fill="hold"/>
                                        <p:tgtEl>
                                          <p:spTgt spid="290824"/>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290822"/>
                                        </p:tgtEl>
                                        <p:attrNameLst>
                                          <p:attrName>style.visibility</p:attrName>
                                        </p:attrNameLst>
                                      </p:cBhvr>
                                      <p:to>
                                        <p:strVal val="visible"/>
                                      </p:to>
                                    </p:set>
                                    <p:anim calcmode="lin" valueType="num">
                                      <p:cBhvr additive="base">
                                        <p:cTn id="25" dur="500" fill="hold"/>
                                        <p:tgtEl>
                                          <p:spTgt spid="290822"/>
                                        </p:tgtEl>
                                        <p:attrNameLst>
                                          <p:attrName>ppt_x</p:attrName>
                                        </p:attrNameLst>
                                      </p:cBhvr>
                                      <p:tavLst>
                                        <p:tav tm="0">
                                          <p:val>
                                            <p:strVal val="0-#ppt_w/2"/>
                                          </p:val>
                                        </p:tav>
                                        <p:tav tm="100000">
                                          <p:val>
                                            <p:strVal val="#ppt_x"/>
                                          </p:val>
                                        </p:tav>
                                      </p:tavLst>
                                    </p:anim>
                                    <p:anim calcmode="lin" valueType="num">
                                      <p:cBhvr additive="base">
                                        <p:cTn id="26" dur="500" fill="hold"/>
                                        <p:tgtEl>
                                          <p:spTgt spid="29082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290819"/>
                                        </p:tgtEl>
                                        <p:attrNameLst>
                                          <p:attrName>style.visibility</p:attrName>
                                        </p:attrNameLst>
                                      </p:cBhvr>
                                      <p:to>
                                        <p:strVal val="visible"/>
                                      </p:to>
                                    </p:set>
                                    <p:anim calcmode="lin" valueType="num">
                                      <p:cBhvr additive="base">
                                        <p:cTn id="31" dur="500" fill="hold"/>
                                        <p:tgtEl>
                                          <p:spTgt spid="290819"/>
                                        </p:tgtEl>
                                        <p:attrNameLst>
                                          <p:attrName>ppt_x</p:attrName>
                                        </p:attrNameLst>
                                      </p:cBhvr>
                                      <p:tavLst>
                                        <p:tav tm="0">
                                          <p:val>
                                            <p:strVal val="0-#ppt_w/2"/>
                                          </p:val>
                                        </p:tav>
                                        <p:tav tm="100000">
                                          <p:val>
                                            <p:strVal val="#ppt_x"/>
                                          </p:val>
                                        </p:tav>
                                      </p:tavLst>
                                    </p:anim>
                                    <p:anim calcmode="lin" valueType="num">
                                      <p:cBhvr additive="base">
                                        <p:cTn id="32" dur="500" fill="hold"/>
                                        <p:tgtEl>
                                          <p:spTgt spid="2908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C3697038-A78D-4FA7-A2C4-6E937B00F597}" type="slidenum">
              <a:rPr lang="zh-CN" altLang="en-US"/>
              <a:pPr>
                <a:defRPr/>
              </a:pPr>
              <a:t>41</a:t>
            </a:fld>
            <a:endParaRPr lang="en-US" altLang="zh-CN"/>
          </a:p>
        </p:txBody>
      </p:sp>
      <p:graphicFrame>
        <p:nvGraphicFramePr>
          <p:cNvPr id="304130" name="Object 2"/>
          <p:cNvGraphicFramePr>
            <a:graphicFrameLocks noChangeAspect="1"/>
          </p:cNvGraphicFramePr>
          <p:nvPr/>
        </p:nvGraphicFramePr>
        <p:xfrm>
          <a:off x="539750" y="3429000"/>
          <a:ext cx="1600200" cy="679450"/>
        </p:xfrm>
        <a:graphic>
          <a:graphicData uri="http://schemas.openxmlformats.org/presentationml/2006/ole">
            <mc:AlternateContent xmlns:mc="http://schemas.openxmlformats.org/markup-compatibility/2006">
              <mc:Choice xmlns:v="urn:schemas-microsoft-com:vml" Requires="v">
                <p:oleObj spid="_x0000_s47318" name="Equation" r:id="rId3" imgW="634725" imgH="228501" progId="Equation.3">
                  <p:embed/>
                </p:oleObj>
              </mc:Choice>
              <mc:Fallback>
                <p:oleObj name="Equation" r:id="rId3" imgW="634725" imgH="228501"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3429000"/>
                        <a:ext cx="1600200"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1" name="Object 3"/>
          <p:cNvGraphicFramePr>
            <a:graphicFrameLocks noChangeAspect="1"/>
          </p:cNvGraphicFramePr>
          <p:nvPr/>
        </p:nvGraphicFramePr>
        <p:xfrm>
          <a:off x="609600" y="765175"/>
          <a:ext cx="7010400" cy="2228850"/>
        </p:xfrm>
        <a:graphic>
          <a:graphicData uri="http://schemas.openxmlformats.org/presentationml/2006/ole">
            <mc:AlternateContent xmlns:mc="http://schemas.openxmlformats.org/markup-compatibility/2006">
              <mc:Choice xmlns:v="urn:schemas-microsoft-com:vml" Requires="v">
                <p:oleObj spid="_x0000_s47319" name="Equation" r:id="rId5" imgW="2387600" imgH="838200" progId="Equation.3">
                  <p:embed/>
                </p:oleObj>
              </mc:Choice>
              <mc:Fallback>
                <p:oleObj name="Equation" r:id="rId5" imgW="2387600" imgH="838200" progId="Equation.3">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9600" y="765175"/>
                        <a:ext cx="7010400" cy="222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2" name="Object 4"/>
          <p:cNvGraphicFramePr>
            <a:graphicFrameLocks noChangeAspect="1"/>
          </p:cNvGraphicFramePr>
          <p:nvPr/>
        </p:nvGraphicFramePr>
        <p:xfrm>
          <a:off x="2709863" y="3429000"/>
          <a:ext cx="2438400" cy="655638"/>
        </p:xfrm>
        <a:graphic>
          <a:graphicData uri="http://schemas.openxmlformats.org/presentationml/2006/ole">
            <mc:AlternateContent xmlns:mc="http://schemas.openxmlformats.org/markup-compatibility/2006">
              <mc:Choice xmlns:v="urn:schemas-microsoft-com:vml" Requires="v">
                <p:oleObj spid="_x0000_s47320" name="Equation" r:id="rId7" imgW="1002865" imgH="228501" progId="Equation.3">
                  <p:embed/>
                </p:oleObj>
              </mc:Choice>
              <mc:Fallback>
                <p:oleObj name="Equation" r:id="rId7" imgW="1002865" imgH="228501" progId="Equation.3">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9863" y="3429000"/>
                        <a:ext cx="2438400" cy="655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3" name="Object 5"/>
          <p:cNvGraphicFramePr>
            <a:graphicFrameLocks noChangeAspect="1"/>
          </p:cNvGraphicFramePr>
          <p:nvPr/>
        </p:nvGraphicFramePr>
        <p:xfrm>
          <a:off x="395288" y="4941888"/>
          <a:ext cx="8153400" cy="1254125"/>
        </p:xfrm>
        <a:graphic>
          <a:graphicData uri="http://schemas.openxmlformats.org/presentationml/2006/ole">
            <mc:AlternateContent xmlns:mc="http://schemas.openxmlformats.org/markup-compatibility/2006">
              <mc:Choice xmlns:v="urn:schemas-microsoft-com:vml" Requires="v">
                <p:oleObj spid="_x0000_s47321" name="Equation" r:id="rId9" imgW="3213100" imgH="419100" progId="Equation.3">
                  <p:embed/>
                </p:oleObj>
              </mc:Choice>
              <mc:Fallback>
                <p:oleObj name="Equation" r:id="rId9" imgW="3213100" imgH="419100" progId="Equation.3">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288" y="4941888"/>
                        <a:ext cx="8153400"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4134" name="Object 6"/>
          <p:cNvGraphicFramePr>
            <a:graphicFrameLocks noChangeAspect="1"/>
          </p:cNvGraphicFramePr>
          <p:nvPr/>
        </p:nvGraphicFramePr>
        <p:xfrm>
          <a:off x="5795963" y="3500438"/>
          <a:ext cx="2362200" cy="590550"/>
        </p:xfrm>
        <a:graphic>
          <a:graphicData uri="http://schemas.openxmlformats.org/presentationml/2006/ole">
            <mc:AlternateContent xmlns:mc="http://schemas.openxmlformats.org/markup-compatibility/2006">
              <mc:Choice xmlns:v="urn:schemas-microsoft-com:vml" Requires="v">
                <p:oleObj spid="_x0000_s47322" name="Equation" r:id="rId11" imgW="418918" imgH="177723" progId="Equation.3">
                  <p:embed/>
                </p:oleObj>
              </mc:Choice>
              <mc:Fallback>
                <p:oleObj name="Equation" r:id="rId11" imgW="418918" imgH="177723" progId="Equation.3">
                  <p:embed/>
                  <p:pic>
                    <p:nvPicPr>
                      <p:cNvPr id="0"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795963" y="3500438"/>
                        <a:ext cx="2362200" cy="590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4135" name="Text Box 7"/>
          <p:cNvSpPr txBox="1">
            <a:spLocks noChangeArrowheads="1"/>
          </p:cNvSpPr>
          <p:nvPr/>
        </p:nvSpPr>
        <p:spPr bwMode="auto">
          <a:xfrm>
            <a:off x="519113" y="155575"/>
            <a:ext cx="18161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a:solidFill>
                  <a:schemeClr val="tx1"/>
                </a:solidFill>
                <a:effectLst>
                  <a:outerShdw blurRad="38100" dist="38100" dir="2700000" algn="tl">
                    <a:srgbClr val="C0C0C0"/>
                  </a:outerShdw>
                </a:effectLst>
              </a:rPr>
              <a:t>表示方法</a:t>
            </a:r>
            <a:endParaRPr lang="en-US" altLang="zh-CN" sz="3200">
              <a:solidFill>
                <a:schemeClr val="tx1"/>
              </a:solidFill>
              <a:effectLst>
                <a:outerShdw blurRad="38100" dist="38100" dir="2700000" algn="tl">
                  <a:srgbClr val="C0C0C0"/>
                </a:outerShdw>
              </a:effectLst>
            </a:endParaRPr>
          </a:p>
        </p:txBody>
      </p:sp>
      <p:graphicFrame>
        <p:nvGraphicFramePr>
          <p:cNvPr id="304136" name="Object 8"/>
          <p:cNvGraphicFramePr>
            <a:graphicFrameLocks noChangeAspect="1"/>
          </p:cNvGraphicFramePr>
          <p:nvPr/>
        </p:nvGraphicFramePr>
        <p:xfrm>
          <a:off x="357188" y="4292600"/>
          <a:ext cx="1824037" cy="679450"/>
        </p:xfrm>
        <a:graphic>
          <a:graphicData uri="http://schemas.openxmlformats.org/presentationml/2006/ole">
            <mc:AlternateContent xmlns:mc="http://schemas.openxmlformats.org/markup-compatibility/2006">
              <mc:Choice xmlns:v="urn:schemas-microsoft-com:vml" Requires="v">
                <p:oleObj spid="_x0000_s47323" name="公式" r:id="rId13" imgW="723586" imgH="228501" progId="Equation.3">
                  <p:embed/>
                </p:oleObj>
              </mc:Choice>
              <mc:Fallback>
                <p:oleObj name="公式" r:id="rId13" imgW="723586" imgH="228501" progId="Equation.3">
                  <p:embed/>
                  <p:pic>
                    <p:nvPicPr>
                      <p:cNvPr id="0" name="Object 8"/>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188" y="4292600"/>
                        <a:ext cx="1824037" cy="679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04131"/>
                                        </p:tgtEl>
                                        <p:attrNameLst>
                                          <p:attrName>style.visibility</p:attrName>
                                        </p:attrNameLst>
                                      </p:cBhvr>
                                      <p:to>
                                        <p:strVal val="visible"/>
                                      </p:to>
                                    </p:set>
                                    <p:anim calcmode="lin" valueType="num">
                                      <p:cBhvr additive="base">
                                        <p:cTn id="7" dur="2000" fill="hold"/>
                                        <p:tgtEl>
                                          <p:spTgt spid="304131"/>
                                        </p:tgtEl>
                                        <p:attrNameLst>
                                          <p:attrName>ppt_x</p:attrName>
                                        </p:attrNameLst>
                                      </p:cBhvr>
                                      <p:tavLst>
                                        <p:tav tm="0">
                                          <p:val>
                                            <p:strVal val="0-#ppt_w/2"/>
                                          </p:val>
                                        </p:tav>
                                        <p:tav tm="100000">
                                          <p:val>
                                            <p:strVal val="#ppt_x"/>
                                          </p:val>
                                        </p:tav>
                                      </p:tavLst>
                                    </p:anim>
                                    <p:anim calcmode="lin" valueType="num">
                                      <p:cBhvr additive="base">
                                        <p:cTn id="8" dur="2000" fill="hold"/>
                                        <p:tgtEl>
                                          <p:spTgt spid="304131"/>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04130"/>
                                        </p:tgtEl>
                                        <p:attrNameLst>
                                          <p:attrName>style.visibility</p:attrName>
                                        </p:attrNameLst>
                                      </p:cBhvr>
                                      <p:to>
                                        <p:strVal val="visible"/>
                                      </p:to>
                                    </p:set>
                                    <p:anim calcmode="lin" valueType="num">
                                      <p:cBhvr additive="base">
                                        <p:cTn id="13" dur="500" fill="hold"/>
                                        <p:tgtEl>
                                          <p:spTgt spid="304130"/>
                                        </p:tgtEl>
                                        <p:attrNameLst>
                                          <p:attrName>ppt_x</p:attrName>
                                        </p:attrNameLst>
                                      </p:cBhvr>
                                      <p:tavLst>
                                        <p:tav tm="0">
                                          <p:val>
                                            <p:strVal val="0-#ppt_w/2"/>
                                          </p:val>
                                        </p:tav>
                                        <p:tav tm="100000">
                                          <p:val>
                                            <p:strVal val="#ppt_x"/>
                                          </p:val>
                                        </p:tav>
                                      </p:tavLst>
                                    </p:anim>
                                    <p:anim calcmode="lin" valueType="num">
                                      <p:cBhvr additive="base">
                                        <p:cTn id="14" dur="500" fill="hold"/>
                                        <p:tgtEl>
                                          <p:spTgt spid="304130"/>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nodeType="clickEffect">
                                  <p:stCondLst>
                                    <p:cond delay="0"/>
                                  </p:stCondLst>
                                  <p:childTnLst>
                                    <p:set>
                                      <p:cBhvr>
                                        <p:cTn id="18" dur="1" fill="hold">
                                          <p:stCondLst>
                                            <p:cond delay="0"/>
                                          </p:stCondLst>
                                        </p:cTn>
                                        <p:tgtEl>
                                          <p:spTgt spid="304132"/>
                                        </p:tgtEl>
                                        <p:attrNameLst>
                                          <p:attrName>style.visibility</p:attrName>
                                        </p:attrNameLst>
                                      </p:cBhvr>
                                      <p:to>
                                        <p:strVal val="visible"/>
                                      </p:to>
                                    </p:set>
                                    <p:anim calcmode="lin" valueType="num">
                                      <p:cBhvr additive="base">
                                        <p:cTn id="19" dur="500" fill="hold"/>
                                        <p:tgtEl>
                                          <p:spTgt spid="304132"/>
                                        </p:tgtEl>
                                        <p:attrNameLst>
                                          <p:attrName>ppt_x</p:attrName>
                                        </p:attrNameLst>
                                      </p:cBhvr>
                                      <p:tavLst>
                                        <p:tav tm="0">
                                          <p:val>
                                            <p:strVal val="0-#ppt_w/2"/>
                                          </p:val>
                                        </p:tav>
                                        <p:tav tm="100000">
                                          <p:val>
                                            <p:strVal val="#ppt_x"/>
                                          </p:val>
                                        </p:tav>
                                      </p:tavLst>
                                    </p:anim>
                                    <p:anim calcmode="lin" valueType="num">
                                      <p:cBhvr additive="base">
                                        <p:cTn id="20" dur="500" fill="hold"/>
                                        <p:tgtEl>
                                          <p:spTgt spid="304132"/>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nodeType="clickEffect">
                                  <p:stCondLst>
                                    <p:cond delay="0"/>
                                  </p:stCondLst>
                                  <p:childTnLst>
                                    <p:set>
                                      <p:cBhvr>
                                        <p:cTn id="24" dur="1" fill="hold">
                                          <p:stCondLst>
                                            <p:cond delay="0"/>
                                          </p:stCondLst>
                                        </p:cTn>
                                        <p:tgtEl>
                                          <p:spTgt spid="304134"/>
                                        </p:tgtEl>
                                        <p:attrNameLst>
                                          <p:attrName>style.visibility</p:attrName>
                                        </p:attrNameLst>
                                      </p:cBhvr>
                                      <p:to>
                                        <p:strVal val="visible"/>
                                      </p:to>
                                    </p:set>
                                    <p:anim calcmode="lin" valueType="num">
                                      <p:cBhvr additive="base">
                                        <p:cTn id="25" dur="500" fill="hold"/>
                                        <p:tgtEl>
                                          <p:spTgt spid="304134"/>
                                        </p:tgtEl>
                                        <p:attrNameLst>
                                          <p:attrName>ppt_x</p:attrName>
                                        </p:attrNameLst>
                                      </p:cBhvr>
                                      <p:tavLst>
                                        <p:tav tm="0">
                                          <p:val>
                                            <p:strVal val="0-#ppt_w/2"/>
                                          </p:val>
                                        </p:tav>
                                        <p:tav tm="100000">
                                          <p:val>
                                            <p:strVal val="#ppt_x"/>
                                          </p:val>
                                        </p:tav>
                                      </p:tavLst>
                                    </p:anim>
                                    <p:anim calcmode="lin" valueType="num">
                                      <p:cBhvr additive="base">
                                        <p:cTn id="26" dur="500" fill="hold"/>
                                        <p:tgtEl>
                                          <p:spTgt spid="304134"/>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nodeType="clickEffect">
                                  <p:stCondLst>
                                    <p:cond delay="0"/>
                                  </p:stCondLst>
                                  <p:childTnLst>
                                    <p:set>
                                      <p:cBhvr>
                                        <p:cTn id="30" dur="1" fill="hold">
                                          <p:stCondLst>
                                            <p:cond delay="0"/>
                                          </p:stCondLst>
                                        </p:cTn>
                                        <p:tgtEl>
                                          <p:spTgt spid="304136"/>
                                        </p:tgtEl>
                                        <p:attrNameLst>
                                          <p:attrName>style.visibility</p:attrName>
                                        </p:attrNameLst>
                                      </p:cBhvr>
                                      <p:to>
                                        <p:strVal val="visible"/>
                                      </p:to>
                                    </p:set>
                                    <p:anim calcmode="lin" valueType="num">
                                      <p:cBhvr additive="base">
                                        <p:cTn id="31" dur="500" fill="hold"/>
                                        <p:tgtEl>
                                          <p:spTgt spid="304136"/>
                                        </p:tgtEl>
                                        <p:attrNameLst>
                                          <p:attrName>ppt_x</p:attrName>
                                        </p:attrNameLst>
                                      </p:cBhvr>
                                      <p:tavLst>
                                        <p:tav tm="0">
                                          <p:val>
                                            <p:strVal val="0-#ppt_w/2"/>
                                          </p:val>
                                        </p:tav>
                                        <p:tav tm="100000">
                                          <p:val>
                                            <p:strVal val="#ppt_x"/>
                                          </p:val>
                                        </p:tav>
                                      </p:tavLst>
                                    </p:anim>
                                    <p:anim calcmode="lin" valueType="num">
                                      <p:cBhvr additive="base">
                                        <p:cTn id="32" dur="500" fill="hold"/>
                                        <p:tgtEl>
                                          <p:spTgt spid="304136"/>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nodeType="clickEffect">
                                  <p:stCondLst>
                                    <p:cond delay="0"/>
                                  </p:stCondLst>
                                  <p:childTnLst>
                                    <p:set>
                                      <p:cBhvr>
                                        <p:cTn id="36" dur="1" fill="hold">
                                          <p:stCondLst>
                                            <p:cond delay="0"/>
                                          </p:stCondLst>
                                        </p:cTn>
                                        <p:tgtEl>
                                          <p:spTgt spid="304133"/>
                                        </p:tgtEl>
                                        <p:attrNameLst>
                                          <p:attrName>style.visibility</p:attrName>
                                        </p:attrNameLst>
                                      </p:cBhvr>
                                      <p:to>
                                        <p:strVal val="visible"/>
                                      </p:to>
                                    </p:set>
                                    <p:anim calcmode="lin" valueType="num">
                                      <p:cBhvr additive="base">
                                        <p:cTn id="37" dur="500" fill="hold"/>
                                        <p:tgtEl>
                                          <p:spTgt spid="304133"/>
                                        </p:tgtEl>
                                        <p:attrNameLst>
                                          <p:attrName>ppt_x</p:attrName>
                                        </p:attrNameLst>
                                      </p:cBhvr>
                                      <p:tavLst>
                                        <p:tav tm="0">
                                          <p:val>
                                            <p:strVal val="0-#ppt_w/2"/>
                                          </p:val>
                                        </p:tav>
                                        <p:tav tm="100000">
                                          <p:val>
                                            <p:strVal val="#ppt_x"/>
                                          </p:val>
                                        </p:tav>
                                      </p:tavLst>
                                    </p:anim>
                                    <p:anim calcmode="lin" valueType="num">
                                      <p:cBhvr additive="base">
                                        <p:cTn id="38" dur="500" fill="hold"/>
                                        <p:tgtEl>
                                          <p:spTgt spid="3041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1067F5F5-F8A6-4D7A-B83F-5F9059E7AD43}" type="slidenum">
              <a:rPr lang="zh-CN" altLang="en-US"/>
              <a:pPr>
                <a:defRPr/>
              </a:pPr>
              <a:t>42</a:t>
            </a:fld>
            <a:endParaRPr lang="en-US" altLang="zh-CN"/>
          </a:p>
        </p:txBody>
      </p:sp>
      <p:graphicFrame>
        <p:nvGraphicFramePr>
          <p:cNvPr id="48131" name="Object 3"/>
          <p:cNvGraphicFramePr>
            <a:graphicFrameLocks noChangeAspect="1"/>
          </p:cNvGraphicFramePr>
          <p:nvPr/>
        </p:nvGraphicFramePr>
        <p:xfrm>
          <a:off x="609600" y="549275"/>
          <a:ext cx="7010400" cy="2228850"/>
        </p:xfrm>
        <a:graphic>
          <a:graphicData uri="http://schemas.openxmlformats.org/presentationml/2006/ole">
            <mc:AlternateContent xmlns:mc="http://schemas.openxmlformats.org/markup-compatibility/2006">
              <mc:Choice xmlns:v="urn:schemas-microsoft-com:vml" Requires="v">
                <p:oleObj spid="_x0000_s48271" name="Equation" r:id="rId3" imgW="2387600" imgH="838200" progId="Equation.3">
                  <p:embed/>
                </p:oleObj>
              </mc:Choice>
              <mc:Fallback>
                <p:oleObj name="Equation" r:id="rId3" imgW="2387600" imgH="8382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49275"/>
                        <a:ext cx="7010400" cy="2228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8132" name="Object 5"/>
          <p:cNvGraphicFramePr>
            <a:graphicFrameLocks noChangeAspect="1"/>
          </p:cNvGraphicFramePr>
          <p:nvPr/>
        </p:nvGraphicFramePr>
        <p:xfrm>
          <a:off x="539750" y="2852738"/>
          <a:ext cx="8153400" cy="1254125"/>
        </p:xfrm>
        <a:graphic>
          <a:graphicData uri="http://schemas.openxmlformats.org/presentationml/2006/ole">
            <mc:AlternateContent xmlns:mc="http://schemas.openxmlformats.org/markup-compatibility/2006">
              <mc:Choice xmlns:v="urn:schemas-microsoft-com:vml" Requires="v">
                <p:oleObj spid="_x0000_s48272" name="Equation" r:id="rId5" imgW="3213100" imgH="419100" progId="Equation.3">
                  <p:embed/>
                </p:oleObj>
              </mc:Choice>
              <mc:Fallback>
                <p:oleObj name="Equation" r:id="rId5" imgW="3213100" imgH="4191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9750" y="2852738"/>
                        <a:ext cx="8153400" cy="1254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0617" name="Object 9"/>
          <p:cNvGraphicFramePr>
            <a:graphicFrameLocks noChangeAspect="1"/>
          </p:cNvGraphicFramePr>
          <p:nvPr/>
        </p:nvGraphicFramePr>
        <p:xfrm>
          <a:off x="250825" y="5280025"/>
          <a:ext cx="8569325" cy="1101725"/>
        </p:xfrm>
        <a:graphic>
          <a:graphicData uri="http://schemas.openxmlformats.org/presentationml/2006/ole">
            <mc:AlternateContent xmlns:mc="http://schemas.openxmlformats.org/markup-compatibility/2006">
              <mc:Choice xmlns:v="urn:schemas-microsoft-com:vml" Requires="v">
                <p:oleObj spid="_x0000_s48273" name="Equation" r:id="rId7" imgW="3200400" imgH="419100" progId="Equation.3">
                  <p:embed/>
                </p:oleObj>
              </mc:Choice>
              <mc:Fallback>
                <p:oleObj name="Equation" r:id="rId7" imgW="3200400" imgH="4191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825" y="5280025"/>
                        <a:ext cx="8569325" cy="1101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0618" name="Object 10"/>
          <p:cNvGraphicFramePr>
            <a:graphicFrameLocks noChangeAspect="1"/>
          </p:cNvGraphicFramePr>
          <p:nvPr/>
        </p:nvGraphicFramePr>
        <p:xfrm>
          <a:off x="179388" y="4365625"/>
          <a:ext cx="8580437" cy="914400"/>
        </p:xfrm>
        <a:graphic>
          <a:graphicData uri="http://schemas.openxmlformats.org/presentationml/2006/ole">
            <mc:AlternateContent xmlns:mc="http://schemas.openxmlformats.org/markup-compatibility/2006">
              <mc:Choice xmlns:v="urn:schemas-microsoft-com:vml" Requires="v">
                <p:oleObj spid="_x0000_s48274" name="Equation" r:id="rId9" imgW="3467100" imgH="419100" progId="Equation.3">
                  <p:embed/>
                </p:oleObj>
              </mc:Choice>
              <mc:Fallback>
                <p:oleObj name="Equation" r:id="rId9" imgW="3467100" imgH="419100" progId="Equation.3">
                  <p:embed/>
                  <p:pic>
                    <p:nvPicPr>
                      <p:cNvPr id="0" name="Object 1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388" y="4365625"/>
                        <a:ext cx="8580437" cy="91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80618"/>
                                        </p:tgtEl>
                                        <p:attrNameLst>
                                          <p:attrName>style.visibility</p:attrName>
                                        </p:attrNameLst>
                                      </p:cBhvr>
                                      <p:to>
                                        <p:strVal val="visible"/>
                                      </p:to>
                                    </p:set>
                                    <p:anim calcmode="lin" valueType="num">
                                      <p:cBhvr additive="base">
                                        <p:cTn id="7" dur="500" fill="hold"/>
                                        <p:tgtEl>
                                          <p:spTgt spid="580618"/>
                                        </p:tgtEl>
                                        <p:attrNameLst>
                                          <p:attrName>ppt_x</p:attrName>
                                        </p:attrNameLst>
                                      </p:cBhvr>
                                      <p:tavLst>
                                        <p:tav tm="0">
                                          <p:val>
                                            <p:strVal val="#ppt_x"/>
                                          </p:val>
                                        </p:tav>
                                        <p:tav tm="100000">
                                          <p:val>
                                            <p:strVal val="#ppt_x"/>
                                          </p:val>
                                        </p:tav>
                                      </p:tavLst>
                                    </p:anim>
                                    <p:anim calcmode="lin" valueType="num">
                                      <p:cBhvr additive="base">
                                        <p:cTn id="8" dur="500" fill="hold"/>
                                        <p:tgtEl>
                                          <p:spTgt spid="58061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580617"/>
                                        </p:tgtEl>
                                        <p:attrNameLst>
                                          <p:attrName>style.visibility</p:attrName>
                                        </p:attrNameLst>
                                      </p:cBhvr>
                                      <p:to>
                                        <p:strVal val="visible"/>
                                      </p:to>
                                    </p:set>
                                    <p:anim calcmode="lin" valueType="num">
                                      <p:cBhvr additive="base">
                                        <p:cTn id="13" dur="500" fill="hold"/>
                                        <p:tgtEl>
                                          <p:spTgt spid="580617"/>
                                        </p:tgtEl>
                                        <p:attrNameLst>
                                          <p:attrName>ppt_x</p:attrName>
                                        </p:attrNameLst>
                                      </p:cBhvr>
                                      <p:tavLst>
                                        <p:tav tm="0">
                                          <p:val>
                                            <p:strVal val="0-#ppt_w/2"/>
                                          </p:val>
                                        </p:tav>
                                        <p:tav tm="100000">
                                          <p:val>
                                            <p:strVal val="#ppt_x"/>
                                          </p:val>
                                        </p:tav>
                                      </p:tavLst>
                                    </p:anim>
                                    <p:anim calcmode="lin" valueType="num">
                                      <p:cBhvr additive="base">
                                        <p:cTn id="14" dur="500" fill="hold"/>
                                        <p:tgtEl>
                                          <p:spTgt spid="58061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49983A96-629D-40AB-9014-2E07C9F5C2D6}" type="slidenum">
              <a:rPr lang="zh-CN" altLang="en-US"/>
              <a:pPr>
                <a:defRPr/>
              </a:pPr>
              <a:t>43</a:t>
            </a:fld>
            <a:endParaRPr lang="en-US" altLang="zh-CN"/>
          </a:p>
        </p:txBody>
      </p:sp>
      <p:graphicFrame>
        <p:nvGraphicFramePr>
          <p:cNvPr id="300034" name="Object 2"/>
          <p:cNvGraphicFramePr>
            <a:graphicFrameLocks noChangeAspect="1"/>
          </p:cNvGraphicFramePr>
          <p:nvPr/>
        </p:nvGraphicFramePr>
        <p:xfrm>
          <a:off x="684213" y="1628775"/>
          <a:ext cx="4876800" cy="871538"/>
        </p:xfrm>
        <a:graphic>
          <a:graphicData uri="http://schemas.openxmlformats.org/presentationml/2006/ole">
            <mc:AlternateContent xmlns:mc="http://schemas.openxmlformats.org/markup-compatibility/2006">
              <mc:Choice xmlns:v="urn:schemas-microsoft-com:vml" Requires="v">
                <p:oleObj spid="_x0000_s49226" name="Equation" r:id="rId3" imgW="1028254" imgH="203112" progId="Equation.3">
                  <p:embed/>
                </p:oleObj>
              </mc:Choice>
              <mc:Fallback>
                <p:oleObj name="Equation" r:id="rId3" imgW="1028254" imgH="203112"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213" y="1628775"/>
                        <a:ext cx="4876800" cy="8715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0036" name="Object 4"/>
          <p:cNvGraphicFramePr>
            <a:graphicFrameLocks noChangeAspect="1"/>
          </p:cNvGraphicFramePr>
          <p:nvPr/>
        </p:nvGraphicFramePr>
        <p:xfrm>
          <a:off x="179388" y="3141663"/>
          <a:ext cx="8610600" cy="2703512"/>
        </p:xfrm>
        <a:graphic>
          <a:graphicData uri="http://schemas.openxmlformats.org/presentationml/2006/ole">
            <mc:AlternateContent xmlns:mc="http://schemas.openxmlformats.org/markup-compatibility/2006">
              <mc:Choice xmlns:v="urn:schemas-microsoft-com:vml" Requires="v">
                <p:oleObj spid="_x0000_s49227" name="Equation" r:id="rId5" imgW="2565400" imgH="889000" progId="Equation.3">
                  <p:embed/>
                </p:oleObj>
              </mc:Choice>
              <mc:Fallback>
                <p:oleObj name="Equation" r:id="rId5" imgW="2565400" imgH="889000" progId="Equation.3">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9388" y="3141663"/>
                        <a:ext cx="8610600" cy="2703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0037" name="Text Box 5"/>
          <p:cNvSpPr txBox="1">
            <a:spLocks noChangeArrowheads="1"/>
          </p:cNvSpPr>
          <p:nvPr/>
        </p:nvSpPr>
        <p:spPr bwMode="auto">
          <a:xfrm>
            <a:off x="539750" y="549275"/>
            <a:ext cx="22240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a:solidFill>
                  <a:schemeClr val="tx1"/>
                </a:solidFill>
                <a:effectLst>
                  <a:outerShdw blurRad="38100" dist="38100" dir="2700000" algn="tl">
                    <a:srgbClr val="C0C0C0"/>
                  </a:outerShdw>
                </a:effectLst>
              </a:rPr>
              <a:t>多变量函数</a:t>
            </a:r>
            <a:endParaRPr lang="en-US" altLang="zh-CN" sz="3200">
              <a:solidFill>
                <a:schemeClr val="tx1"/>
              </a:solidFill>
              <a:effectLst>
                <a:outerShdw blurRad="38100" dist="38100" dir="2700000" algn="tl">
                  <a:srgbClr val="C0C0C0"/>
                </a:outerShdw>
              </a:effectLs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300034"/>
                                        </p:tgtEl>
                                        <p:attrNameLst>
                                          <p:attrName>style.visibility</p:attrName>
                                        </p:attrNameLst>
                                      </p:cBhvr>
                                      <p:to>
                                        <p:strVal val="visible"/>
                                      </p:to>
                                    </p:set>
                                    <p:anim calcmode="lin" valueType="num">
                                      <p:cBhvr additive="base">
                                        <p:cTn id="7" dur="500" fill="hold"/>
                                        <p:tgtEl>
                                          <p:spTgt spid="300034"/>
                                        </p:tgtEl>
                                        <p:attrNameLst>
                                          <p:attrName>ppt_x</p:attrName>
                                        </p:attrNameLst>
                                      </p:cBhvr>
                                      <p:tavLst>
                                        <p:tav tm="0">
                                          <p:val>
                                            <p:strVal val="0-#ppt_w/2"/>
                                          </p:val>
                                        </p:tav>
                                        <p:tav tm="100000">
                                          <p:val>
                                            <p:strVal val="#ppt_x"/>
                                          </p:val>
                                        </p:tav>
                                      </p:tavLst>
                                    </p:anim>
                                    <p:anim calcmode="lin" valueType="num">
                                      <p:cBhvr additive="base">
                                        <p:cTn id="8" dur="500" fill="hold"/>
                                        <p:tgtEl>
                                          <p:spTgt spid="30003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300036"/>
                                        </p:tgtEl>
                                        <p:attrNameLst>
                                          <p:attrName>style.visibility</p:attrName>
                                        </p:attrNameLst>
                                      </p:cBhvr>
                                      <p:to>
                                        <p:strVal val="visible"/>
                                      </p:to>
                                    </p:set>
                                    <p:anim calcmode="lin" valueType="num">
                                      <p:cBhvr additive="base">
                                        <p:cTn id="13" dur="500" fill="hold"/>
                                        <p:tgtEl>
                                          <p:spTgt spid="300036"/>
                                        </p:tgtEl>
                                        <p:attrNameLst>
                                          <p:attrName>ppt_x</p:attrName>
                                        </p:attrNameLst>
                                      </p:cBhvr>
                                      <p:tavLst>
                                        <p:tav tm="0">
                                          <p:val>
                                            <p:strVal val="0-#ppt_w/2"/>
                                          </p:val>
                                        </p:tav>
                                        <p:tav tm="100000">
                                          <p:val>
                                            <p:strVal val="#ppt_x"/>
                                          </p:val>
                                        </p:tav>
                                      </p:tavLst>
                                    </p:anim>
                                    <p:anim calcmode="lin" valueType="num">
                                      <p:cBhvr additive="base">
                                        <p:cTn id="14" dur="500" fill="hold"/>
                                        <p:tgtEl>
                                          <p:spTgt spid="3000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3"/>
          <p:cNvSpPr>
            <a:spLocks noGrp="1"/>
          </p:cNvSpPr>
          <p:nvPr>
            <p:ph type="sldNum" sz="quarter" idx="12"/>
          </p:nvPr>
        </p:nvSpPr>
        <p:spPr/>
        <p:txBody>
          <a:bodyPr/>
          <a:lstStyle/>
          <a:p>
            <a:pPr>
              <a:defRPr/>
            </a:pPr>
            <a:fld id="{E7358E27-3F3B-482D-AFD7-A7F461EB832A}" type="slidenum">
              <a:rPr lang="zh-CN" altLang="en-US"/>
              <a:pPr>
                <a:defRPr/>
              </a:pPr>
              <a:t>44</a:t>
            </a:fld>
            <a:endParaRPr lang="en-US" altLang="zh-CN"/>
          </a:p>
        </p:txBody>
      </p:sp>
      <p:sp>
        <p:nvSpPr>
          <p:cNvPr id="290818" name="Text Box 1026"/>
          <p:cNvSpPr txBox="1">
            <a:spLocks noChangeArrowheads="1"/>
          </p:cNvSpPr>
          <p:nvPr/>
        </p:nvSpPr>
        <p:spPr bwMode="auto">
          <a:xfrm>
            <a:off x="395288" y="1196975"/>
            <a:ext cx="8142287"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en-US" altLang="zh-CN" i="1" dirty="0">
                <a:solidFill>
                  <a:srgbClr val="000000"/>
                </a:solidFill>
              </a:rPr>
              <a:t>The central idea behind the majority of methods discussed in this course is </a:t>
            </a:r>
          </a:p>
          <a:p>
            <a:pPr eaLnBrk="1" hangingPunct="1">
              <a:spcBef>
                <a:spcPct val="0"/>
              </a:spcBef>
              <a:buClrTx/>
              <a:buFontTx/>
              <a:buNone/>
            </a:pPr>
            <a:endParaRPr lang="en-US" altLang="zh-CN" i="1" dirty="0">
              <a:solidFill>
                <a:srgbClr val="000000"/>
              </a:solidFill>
            </a:endParaRPr>
          </a:p>
          <a:p>
            <a:pPr eaLnBrk="1" hangingPunct="1">
              <a:spcBef>
                <a:spcPct val="0"/>
              </a:spcBef>
              <a:buClrTx/>
              <a:buFontTx/>
              <a:buNone/>
            </a:pPr>
            <a:r>
              <a:rPr lang="en-US" altLang="zh-CN" i="1" dirty="0">
                <a:solidFill>
                  <a:srgbClr val="000000"/>
                </a:solidFill>
              </a:rPr>
              <a:t>2</a:t>
            </a:r>
            <a:r>
              <a:rPr lang="zh-CN" altLang="en-US" i="1" dirty="0">
                <a:solidFill>
                  <a:srgbClr val="000000"/>
                </a:solidFill>
              </a:rPr>
              <a:t>）</a:t>
            </a:r>
            <a:r>
              <a:rPr lang="en-US" altLang="zh-CN" b="0" dirty="0"/>
              <a:t>  Iteration Method </a:t>
            </a:r>
            <a:r>
              <a:rPr lang="zh-CN" altLang="en-US" dirty="0">
                <a:solidFill>
                  <a:srgbClr val="000000"/>
                </a:solidFill>
              </a:rPr>
              <a:t>迭代法</a:t>
            </a:r>
            <a:r>
              <a:rPr lang="en-US" altLang="zh-CN" dirty="0"/>
              <a:t> </a:t>
            </a:r>
          </a:p>
        </p:txBody>
      </p:sp>
      <p:sp>
        <p:nvSpPr>
          <p:cNvPr id="290826" name="Rectangle 1034"/>
          <p:cNvSpPr>
            <a:spLocks noChangeArrowheads="1"/>
          </p:cNvSpPr>
          <p:nvPr/>
        </p:nvSpPr>
        <p:spPr bwMode="auto">
          <a:xfrm>
            <a:off x="1619250" y="327025"/>
            <a:ext cx="5373587" cy="7325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30000"/>
              </a:lnSpc>
              <a:defRPr/>
            </a:pPr>
            <a:r>
              <a:rPr kumimoji="1" lang="zh-CN" altLang="en-US" sz="3200" dirty="0">
                <a:solidFill>
                  <a:schemeClr val="tx1"/>
                </a:solidFill>
              </a:rPr>
              <a:t>本课程的核心内容</a:t>
            </a:r>
            <a:r>
              <a:rPr kumimoji="1" lang="zh-CN" altLang="en-US" sz="3200" dirty="0">
                <a:effectLst>
                  <a:outerShdw blurRad="38100" dist="38100" dir="2700000" algn="tl">
                    <a:srgbClr val="C0C0C0"/>
                  </a:outerShdw>
                </a:effectLst>
              </a:rPr>
              <a:t>  </a:t>
            </a:r>
            <a:r>
              <a:rPr kumimoji="1" lang="zh-CN" altLang="en-US" sz="3200" dirty="0">
                <a:solidFill>
                  <a:schemeClr val="tx1"/>
                </a:solidFill>
              </a:rPr>
              <a:t> </a:t>
            </a:r>
            <a:r>
              <a:rPr kumimoji="1" lang="en-US" altLang="zh-CN" sz="3200" dirty="0">
                <a:solidFill>
                  <a:schemeClr val="tx1"/>
                </a:solidFill>
              </a:rPr>
              <a:t>Key Idea</a:t>
            </a:r>
            <a:endParaRPr kumimoji="1" lang="zh-CN" altLang="en-US" sz="3200" dirty="0">
              <a:solidFill>
                <a:schemeClr val="tx1"/>
              </a:solidFill>
            </a:endParaRPr>
          </a:p>
        </p:txBody>
      </p:sp>
    </p:spTree>
    <p:extLst>
      <p:ext uri="{BB962C8B-B14F-4D97-AF65-F5344CB8AC3E}">
        <p14:creationId xmlns:p14="http://schemas.microsoft.com/office/powerpoint/2010/main" val="27456285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0818"/>
                                        </p:tgtEl>
                                        <p:attrNameLst>
                                          <p:attrName>style.visibility</p:attrName>
                                        </p:attrNameLst>
                                      </p:cBhvr>
                                      <p:to>
                                        <p:strVal val="visible"/>
                                      </p:to>
                                    </p:set>
                                    <p:anim calcmode="lin" valueType="num">
                                      <p:cBhvr additive="base">
                                        <p:cTn id="7" dur="500" fill="hold"/>
                                        <p:tgtEl>
                                          <p:spTgt spid="290818"/>
                                        </p:tgtEl>
                                        <p:attrNameLst>
                                          <p:attrName>ppt_x</p:attrName>
                                        </p:attrNameLst>
                                      </p:cBhvr>
                                      <p:tavLst>
                                        <p:tav tm="0">
                                          <p:val>
                                            <p:strVal val="0-#ppt_w/2"/>
                                          </p:val>
                                        </p:tav>
                                        <p:tav tm="100000">
                                          <p:val>
                                            <p:strVal val="#ppt_x"/>
                                          </p:val>
                                        </p:tav>
                                      </p:tavLst>
                                    </p:anim>
                                    <p:anim calcmode="lin" valueType="num">
                                      <p:cBhvr additive="base">
                                        <p:cTn id="8" dur="500" fill="hold"/>
                                        <p:tgtEl>
                                          <p:spTgt spid="29081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0818" grpId="0"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 name="灯片编号占位符 3"/>
          <p:cNvSpPr>
            <a:spLocks noGrp="1"/>
          </p:cNvSpPr>
          <p:nvPr>
            <p:ph type="sldNum" sz="quarter" idx="12"/>
          </p:nvPr>
        </p:nvSpPr>
        <p:spPr/>
        <p:txBody>
          <a:bodyPr/>
          <a:lstStyle/>
          <a:p>
            <a:pPr>
              <a:defRPr/>
            </a:pPr>
            <a:fld id="{4AB0A37D-10F8-449E-BDCC-B1DAE6BF1BA0}" type="slidenum">
              <a:rPr lang="zh-CN" altLang="en-US"/>
              <a:pPr>
                <a:defRPr/>
              </a:pPr>
              <a:t>45</a:t>
            </a:fld>
            <a:endParaRPr lang="en-US" altLang="zh-CN"/>
          </a:p>
        </p:txBody>
      </p:sp>
      <p:sp>
        <p:nvSpPr>
          <p:cNvPr id="50179" name="Rectangle 6"/>
          <p:cNvSpPr>
            <a:spLocks noChangeArrowheads="1"/>
          </p:cNvSpPr>
          <p:nvPr/>
        </p:nvSpPr>
        <p:spPr bwMode="auto">
          <a:xfrm>
            <a:off x="1258888" y="260350"/>
            <a:ext cx="3957637" cy="725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130000"/>
              </a:lnSpc>
              <a:spcBef>
                <a:spcPct val="0"/>
              </a:spcBef>
              <a:buClrTx/>
              <a:buFontTx/>
              <a:buNone/>
            </a:pPr>
            <a:r>
              <a:rPr lang="zh-CN" altLang="en-US">
                <a:ea typeface="楷体_GB2312" pitchFamily="49" charset="-122"/>
              </a:rPr>
              <a:t>四、误差和有效数字 </a:t>
            </a:r>
          </a:p>
        </p:txBody>
      </p:sp>
      <p:grpSp>
        <p:nvGrpSpPr>
          <p:cNvPr id="393296" name="Group 80"/>
          <p:cNvGrpSpPr>
            <a:grpSpLocks/>
          </p:cNvGrpSpPr>
          <p:nvPr/>
        </p:nvGrpSpPr>
        <p:grpSpPr bwMode="auto">
          <a:xfrm>
            <a:off x="468313" y="4005263"/>
            <a:ext cx="8066087" cy="2676525"/>
            <a:chOff x="295" y="2523"/>
            <a:chExt cx="5081" cy="1686"/>
          </a:xfrm>
        </p:grpSpPr>
        <p:sp>
          <p:nvSpPr>
            <p:cNvPr id="50228" name="Rectangle 57"/>
            <p:cNvSpPr>
              <a:spLocks noChangeArrowheads="1"/>
            </p:cNvSpPr>
            <p:nvPr/>
          </p:nvSpPr>
          <p:spPr bwMode="auto">
            <a:xfrm>
              <a:off x="326" y="3883"/>
              <a:ext cx="244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精度的好坏更合理。</a:t>
              </a:r>
              <a:endParaRPr kumimoji="0" lang="zh-CN" altLang="en-US" sz="1800" b="0">
                <a:latin typeface="Arial" pitchFamily="34" charset="0"/>
              </a:endParaRPr>
            </a:p>
          </p:txBody>
        </p:sp>
        <p:sp>
          <p:nvSpPr>
            <p:cNvPr id="50229" name="Rectangle 58"/>
            <p:cNvSpPr>
              <a:spLocks noChangeArrowheads="1"/>
            </p:cNvSpPr>
            <p:nvPr/>
          </p:nvSpPr>
          <p:spPr bwMode="auto">
            <a:xfrm>
              <a:off x="4832" y="3511"/>
              <a:ext cx="54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衡量</a:t>
              </a:r>
              <a:endParaRPr kumimoji="0" lang="zh-CN" altLang="en-US" sz="1800" b="0">
                <a:latin typeface="Arial" pitchFamily="34" charset="0"/>
              </a:endParaRPr>
            </a:p>
          </p:txBody>
        </p:sp>
        <p:sp>
          <p:nvSpPr>
            <p:cNvPr id="50230" name="Rectangle 59"/>
            <p:cNvSpPr>
              <a:spLocks noChangeArrowheads="1"/>
            </p:cNvSpPr>
            <p:nvPr/>
          </p:nvSpPr>
          <p:spPr bwMode="auto">
            <a:xfrm>
              <a:off x="2731" y="3511"/>
              <a:ext cx="1904"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也称百分比误差</a:t>
              </a:r>
              <a:endParaRPr kumimoji="0" lang="zh-CN" altLang="en-US" sz="1800" b="0">
                <a:latin typeface="Arial" pitchFamily="34" charset="0"/>
              </a:endParaRPr>
            </a:p>
          </p:txBody>
        </p:sp>
        <p:sp>
          <p:nvSpPr>
            <p:cNvPr id="50231" name="Rectangle 60"/>
            <p:cNvSpPr>
              <a:spLocks noChangeArrowheads="1"/>
            </p:cNvSpPr>
            <p:nvPr/>
          </p:nvSpPr>
          <p:spPr bwMode="auto">
            <a:xfrm>
              <a:off x="922" y="3511"/>
              <a:ext cx="1632"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而用相对误差</a:t>
              </a:r>
              <a:endParaRPr kumimoji="0" lang="zh-CN" altLang="en-US" sz="1800" b="0">
                <a:latin typeface="Arial" pitchFamily="34" charset="0"/>
              </a:endParaRPr>
            </a:p>
          </p:txBody>
        </p:sp>
        <p:sp>
          <p:nvSpPr>
            <p:cNvPr id="50232" name="Rectangle 62"/>
            <p:cNvSpPr>
              <a:spLocks noChangeArrowheads="1"/>
            </p:cNvSpPr>
            <p:nvPr/>
          </p:nvSpPr>
          <p:spPr bwMode="auto">
            <a:xfrm>
              <a:off x="1534" y="2984"/>
              <a:ext cx="284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但无法衡量精度的好坏</a:t>
              </a:r>
              <a:r>
                <a:rPr kumimoji="0" lang="zh-CN" altLang="en-US" sz="1600" b="0">
                  <a:solidFill>
                    <a:srgbClr val="000000"/>
                  </a:solidFill>
                  <a:ea typeface="楷体_GB2312" pitchFamily="49" charset="-122"/>
                </a:rPr>
                <a:t>。</a:t>
              </a:r>
            </a:p>
          </p:txBody>
        </p:sp>
        <p:sp>
          <p:nvSpPr>
            <p:cNvPr id="50233" name="Rectangle 63"/>
            <p:cNvSpPr>
              <a:spLocks noChangeArrowheads="1"/>
            </p:cNvSpPr>
            <p:nvPr/>
          </p:nvSpPr>
          <p:spPr bwMode="auto">
            <a:xfrm>
              <a:off x="295" y="2984"/>
              <a:ext cx="108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比较直观</a:t>
              </a:r>
              <a:endParaRPr kumimoji="0" lang="zh-CN" altLang="en-US" sz="1800" b="0">
                <a:latin typeface="Arial" pitchFamily="34" charset="0"/>
              </a:endParaRPr>
            </a:p>
          </p:txBody>
        </p:sp>
        <p:sp>
          <p:nvSpPr>
            <p:cNvPr id="50234" name="Rectangle 64"/>
            <p:cNvSpPr>
              <a:spLocks noChangeArrowheads="1"/>
            </p:cNvSpPr>
            <p:nvPr/>
          </p:nvSpPr>
          <p:spPr bwMode="auto">
            <a:xfrm>
              <a:off x="3793" y="2553"/>
              <a:ext cx="1360"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的精度高低</a:t>
              </a:r>
              <a:endParaRPr kumimoji="0" lang="zh-CN" altLang="en-US" sz="1800" b="0">
                <a:latin typeface="Arial" pitchFamily="34" charset="0"/>
              </a:endParaRPr>
            </a:p>
          </p:txBody>
        </p:sp>
        <p:sp>
          <p:nvSpPr>
            <p:cNvPr id="50235" name="Rectangle 65"/>
            <p:cNvSpPr>
              <a:spLocks noChangeArrowheads="1"/>
            </p:cNvSpPr>
            <p:nvPr/>
          </p:nvSpPr>
          <p:spPr bwMode="auto">
            <a:xfrm>
              <a:off x="926" y="2553"/>
              <a:ext cx="244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400" b="0">
                  <a:solidFill>
                    <a:srgbClr val="000000"/>
                  </a:solidFill>
                  <a:latin typeface="宋体" pitchFamily="2" charset="-122"/>
                </a:rPr>
                <a:t>绝对误差是做为衡量</a:t>
              </a:r>
              <a:endParaRPr kumimoji="0" lang="zh-CN" altLang="en-US" sz="1800" b="0">
                <a:latin typeface="Arial" pitchFamily="34" charset="0"/>
              </a:endParaRPr>
            </a:p>
          </p:txBody>
        </p:sp>
        <p:sp>
          <p:nvSpPr>
            <p:cNvPr id="50236" name="Rectangle 66"/>
            <p:cNvSpPr>
              <a:spLocks noChangeArrowheads="1"/>
            </p:cNvSpPr>
            <p:nvPr/>
          </p:nvSpPr>
          <p:spPr bwMode="auto">
            <a:xfrm>
              <a:off x="4733" y="3503"/>
              <a:ext cx="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400" b="0">
                  <a:solidFill>
                    <a:srgbClr val="000000"/>
                  </a:solidFill>
                </a:rPr>
                <a:t>,</a:t>
              </a:r>
              <a:endParaRPr kumimoji="0" lang="en-US" altLang="zh-CN" sz="1800" b="0">
                <a:latin typeface="Arial" pitchFamily="34" charset="0"/>
              </a:endParaRPr>
            </a:p>
          </p:txBody>
        </p:sp>
        <p:sp>
          <p:nvSpPr>
            <p:cNvPr id="50237" name="Rectangle 67"/>
            <p:cNvSpPr>
              <a:spLocks noChangeArrowheads="1"/>
            </p:cNvSpPr>
            <p:nvPr/>
          </p:nvSpPr>
          <p:spPr bwMode="auto">
            <a:xfrm>
              <a:off x="2637" y="3503"/>
              <a:ext cx="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400" b="0">
                  <a:solidFill>
                    <a:srgbClr val="000000"/>
                  </a:solidFill>
                </a:rPr>
                <a:t>,</a:t>
              </a:r>
              <a:endParaRPr kumimoji="0" lang="en-US" altLang="zh-CN" sz="1800" b="0">
                <a:latin typeface="Arial" pitchFamily="34" charset="0"/>
              </a:endParaRPr>
            </a:p>
          </p:txBody>
        </p:sp>
        <p:sp>
          <p:nvSpPr>
            <p:cNvPr id="50238" name="Rectangle 68"/>
            <p:cNvSpPr>
              <a:spLocks noChangeArrowheads="1"/>
            </p:cNvSpPr>
            <p:nvPr/>
          </p:nvSpPr>
          <p:spPr bwMode="auto">
            <a:xfrm>
              <a:off x="1435" y="2976"/>
              <a:ext cx="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400" b="0">
                  <a:solidFill>
                    <a:srgbClr val="000000"/>
                  </a:solidFill>
                </a:rPr>
                <a:t>,</a:t>
              </a:r>
              <a:endParaRPr kumimoji="0" lang="en-US" altLang="zh-CN" sz="1800" b="0">
                <a:latin typeface="Arial" pitchFamily="34" charset="0"/>
              </a:endParaRPr>
            </a:p>
          </p:txBody>
        </p:sp>
        <p:sp>
          <p:nvSpPr>
            <p:cNvPr id="50239" name="Rectangle 69"/>
            <p:cNvSpPr>
              <a:spLocks noChangeArrowheads="1"/>
            </p:cNvSpPr>
            <p:nvPr/>
          </p:nvSpPr>
          <p:spPr bwMode="auto">
            <a:xfrm>
              <a:off x="5216" y="2545"/>
              <a:ext cx="68"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400" b="0">
                  <a:solidFill>
                    <a:srgbClr val="000000"/>
                  </a:solidFill>
                </a:rPr>
                <a:t>,</a:t>
              </a:r>
              <a:endParaRPr kumimoji="0" lang="en-US" altLang="zh-CN" sz="1800" b="0">
                <a:latin typeface="Arial" pitchFamily="34" charset="0"/>
              </a:endParaRPr>
            </a:p>
          </p:txBody>
        </p:sp>
        <p:sp>
          <p:nvSpPr>
            <p:cNvPr id="50240" name="Rectangle 70"/>
            <p:cNvSpPr>
              <a:spLocks noChangeArrowheads="1"/>
            </p:cNvSpPr>
            <p:nvPr/>
          </p:nvSpPr>
          <p:spPr bwMode="auto">
            <a:xfrm>
              <a:off x="3647" y="2523"/>
              <a:ext cx="8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2000" b="0">
                  <a:solidFill>
                    <a:srgbClr val="000000"/>
                  </a:solidFill>
                </a:rPr>
                <a:t>*</a:t>
              </a:r>
              <a:endParaRPr kumimoji="0" lang="zh-CN" altLang="en-US" sz="1800" b="0">
                <a:latin typeface="Arial" pitchFamily="34" charset="0"/>
              </a:endParaRPr>
            </a:p>
          </p:txBody>
        </p:sp>
        <p:sp>
          <p:nvSpPr>
            <p:cNvPr id="50241" name="Rectangle 71"/>
            <p:cNvSpPr>
              <a:spLocks noChangeArrowheads="1"/>
            </p:cNvSpPr>
            <p:nvPr/>
          </p:nvSpPr>
          <p:spPr bwMode="auto">
            <a:xfrm>
              <a:off x="3512" y="2545"/>
              <a:ext cx="12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400" b="0" i="1">
                  <a:solidFill>
                    <a:srgbClr val="000000"/>
                  </a:solidFill>
                </a:rPr>
                <a:t>x</a:t>
              </a:r>
              <a:endParaRPr kumimoji="0" lang="en-US" altLang="zh-CN" sz="1800" b="0">
                <a:latin typeface="Arial" pitchFamily="34" charset="0"/>
              </a:endParaRPr>
            </a:p>
          </p:txBody>
        </p:sp>
      </p:grpSp>
      <p:grpSp>
        <p:nvGrpSpPr>
          <p:cNvPr id="393295" name="Group 79"/>
          <p:cNvGrpSpPr>
            <a:grpSpLocks/>
          </p:cNvGrpSpPr>
          <p:nvPr/>
        </p:nvGrpSpPr>
        <p:grpSpPr bwMode="auto">
          <a:xfrm>
            <a:off x="395288" y="1196975"/>
            <a:ext cx="8424862" cy="2706688"/>
            <a:chOff x="249" y="754"/>
            <a:chExt cx="5307" cy="1705"/>
          </a:xfrm>
        </p:grpSpPr>
        <p:sp>
          <p:nvSpPr>
            <p:cNvPr id="50182" name="Rectangle 23"/>
            <p:cNvSpPr>
              <a:spLocks noChangeArrowheads="1"/>
            </p:cNvSpPr>
            <p:nvPr/>
          </p:nvSpPr>
          <p:spPr bwMode="auto">
            <a:xfrm>
              <a:off x="2545" y="754"/>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b="0">
                  <a:solidFill>
                    <a:srgbClr val="000000"/>
                  </a:solidFill>
                </a:rPr>
                <a:t>*</a:t>
              </a:r>
              <a:endParaRPr kumimoji="0" lang="zh-CN" altLang="en-US" sz="1800" b="0">
                <a:latin typeface="Arial" pitchFamily="34" charset="0"/>
              </a:endParaRPr>
            </a:p>
          </p:txBody>
        </p:sp>
        <p:sp>
          <p:nvSpPr>
            <p:cNvPr id="50183" name="Rectangle 33"/>
            <p:cNvSpPr>
              <a:spLocks noChangeArrowheads="1"/>
            </p:cNvSpPr>
            <p:nvPr/>
          </p:nvSpPr>
          <p:spPr bwMode="auto">
            <a:xfrm>
              <a:off x="5181" y="774"/>
              <a:ext cx="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b="0">
                  <a:solidFill>
                    <a:srgbClr val="000000"/>
                  </a:solidFill>
                </a:rPr>
                <a:t>,</a:t>
              </a:r>
              <a:endParaRPr kumimoji="0" lang="en-US" altLang="zh-CN" sz="1800" b="0">
                <a:latin typeface="Arial" pitchFamily="34" charset="0"/>
              </a:endParaRPr>
            </a:p>
          </p:txBody>
        </p:sp>
        <p:sp>
          <p:nvSpPr>
            <p:cNvPr id="50184" name="Rectangle 50"/>
            <p:cNvSpPr>
              <a:spLocks noChangeArrowheads="1"/>
            </p:cNvSpPr>
            <p:nvPr/>
          </p:nvSpPr>
          <p:spPr bwMode="auto">
            <a:xfrm>
              <a:off x="3595" y="774"/>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b="0" i="1">
                  <a:solidFill>
                    <a:srgbClr val="000000"/>
                  </a:solidFill>
                </a:rPr>
                <a:t>x</a:t>
              </a:r>
              <a:endParaRPr kumimoji="0" lang="en-US" altLang="zh-CN" sz="1800" b="0">
                <a:latin typeface="Arial" pitchFamily="34" charset="0"/>
              </a:endParaRPr>
            </a:p>
          </p:txBody>
        </p:sp>
        <p:sp>
          <p:nvSpPr>
            <p:cNvPr id="50185" name="Rectangle 51"/>
            <p:cNvSpPr>
              <a:spLocks noChangeArrowheads="1"/>
            </p:cNvSpPr>
            <p:nvPr/>
          </p:nvSpPr>
          <p:spPr bwMode="auto">
            <a:xfrm>
              <a:off x="2428" y="774"/>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b="0" i="1">
                  <a:solidFill>
                    <a:srgbClr val="000000"/>
                  </a:solidFill>
                </a:rPr>
                <a:t>x</a:t>
              </a:r>
              <a:endParaRPr kumimoji="0" lang="en-US" altLang="zh-CN" sz="1800" b="0">
                <a:latin typeface="Arial" pitchFamily="34" charset="0"/>
              </a:endParaRPr>
            </a:p>
          </p:txBody>
        </p:sp>
        <p:sp>
          <p:nvSpPr>
            <p:cNvPr id="393224" name="Line 8"/>
            <p:cNvSpPr>
              <a:spLocks noChangeShapeType="1"/>
            </p:cNvSpPr>
            <p:nvPr/>
          </p:nvSpPr>
          <p:spPr bwMode="auto">
            <a:xfrm>
              <a:off x="1913" y="2127"/>
              <a:ext cx="529"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0187" name="Rectangle 10"/>
            <p:cNvSpPr>
              <a:spLocks noChangeArrowheads="1"/>
            </p:cNvSpPr>
            <p:nvPr/>
          </p:nvSpPr>
          <p:spPr bwMode="auto">
            <a:xfrm>
              <a:off x="4316" y="1253"/>
              <a:ext cx="124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的绝对误差</a:t>
              </a:r>
              <a:endParaRPr kumimoji="0" lang="zh-CN" altLang="en-US" sz="1800" b="0">
                <a:latin typeface="Arial" pitchFamily="34" charset="0"/>
              </a:endParaRPr>
            </a:p>
          </p:txBody>
        </p:sp>
        <p:sp>
          <p:nvSpPr>
            <p:cNvPr id="50188" name="Rectangle 11"/>
            <p:cNvSpPr>
              <a:spLocks noChangeArrowheads="1"/>
            </p:cNvSpPr>
            <p:nvPr/>
          </p:nvSpPr>
          <p:spPr bwMode="auto">
            <a:xfrm>
              <a:off x="3070" y="1253"/>
              <a:ext cx="99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为近似数</a:t>
              </a:r>
              <a:endParaRPr kumimoji="0" lang="zh-CN" altLang="en-US" sz="1800" b="0">
                <a:latin typeface="Arial" pitchFamily="34" charset="0"/>
              </a:endParaRPr>
            </a:p>
          </p:txBody>
        </p:sp>
        <p:sp>
          <p:nvSpPr>
            <p:cNvPr id="50189" name="Rectangle 12"/>
            <p:cNvSpPr>
              <a:spLocks noChangeArrowheads="1"/>
            </p:cNvSpPr>
            <p:nvPr/>
          </p:nvSpPr>
          <p:spPr bwMode="auto">
            <a:xfrm>
              <a:off x="249" y="1615"/>
              <a:ext cx="2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和</a:t>
              </a:r>
              <a:endParaRPr kumimoji="0" lang="zh-CN" altLang="en-US" sz="1800" b="0">
                <a:latin typeface="Arial" pitchFamily="34" charset="0"/>
              </a:endParaRPr>
            </a:p>
          </p:txBody>
        </p:sp>
        <p:sp>
          <p:nvSpPr>
            <p:cNvPr id="50190" name="Rectangle 13"/>
            <p:cNvSpPr>
              <a:spLocks noChangeArrowheads="1"/>
            </p:cNvSpPr>
            <p:nvPr/>
          </p:nvSpPr>
          <p:spPr bwMode="auto">
            <a:xfrm>
              <a:off x="5270" y="782"/>
              <a:ext cx="2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称</a:t>
              </a:r>
              <a:endParaRPr kumimoji="0" lang="zh-CN" altLang="en-US" sz="1800" b="0">
                <a:latin typeface="Arial" pitchFamily="34" charset="0"/>
              </a:endParaRPr>
            </a:p>
          </p:txBody>
        </p:sp>
        <p:sp>
          <p:nvSpPr>
            <p:cNvPr id="50191" name="Rectangle 14"/>
            <p:cNvSpPr>
              <a:spLocks noChangeArrowheads="1"/>
            </p:cNvSpPr>
            <p:nvPr/>
          </p:nvSpPr>
          <p:spPr bwMode="auto">
            <a:xfrm>
              <a:off x="3703" y="782"/>
              <a:ext cx="148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的一个近似数</a:t>
              </a:r>
              <a:endParaRPr kumimoji="0" lang="zh-CN" altLang="en-US" sz="1800" b="0">
                <a:latin typeface="Arial" pitchFamily="34" charset="0"/>
              </a:endParaRPr>
            </a:p>
          </p:txBody>
        </p:sp>
        <p:sp>
          <p:nvSpPr>
            <p:cNvPr id="50192" name="Rectangle 15"/>
            <p:cNvSpPr>
              <a:spLocks noChangeArrowheads="1"/>
            </p:cNvSpPr>
            <p:nvPr/>
          </p:nvSpPr>
          <p:spPr bwMode="auto">
            <a:xfrm>
              <a:off x="2607" y="782"/>
              <a:ext cx="99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为准确数</a:t>
              </a:r>
              <a:endParaRPr kumimoji="0" lang="zh-CN" altLang="en-US" sz="1800" b="0">
                <a:latin typeface="Arial" pitchFamily="34" charset="0"/>
              </a:endParaRPr>
            </a:p>
          </p:txBody>
        </p:sp>
        <p:sp>
          <p:nvSpPr>
            <p:cNvPr id="50193" name="Rectangle 16"/>
            <p:cNvSpPr>
              <a:spLocks noChangeArrowheads="1"/>
            </p:cNvSpPr>
            <p:nvPr/>
          </p:nvSpPr>
          <p:spPr bwMode="auto">
            <a:xfrm>
              <a:off x="2181" y="782"/>
              <a:ext cx="2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设</a:t>
              </a:r>
              <a:endParaRPr kumimoji="0" lang="zh-CN" altLang="en-US" sz="1800" b="0">
                <a:latin typeface="Arial" pitchFamily="34" charset="0"/>
              </a:endParaRPr>
            </a:p>
          </p:txBody>
        </p:sp>
        <p:sp>
          <p:nvSpPr>
            <p:cNvPr id="50194" name="Rectangle 17"/>
            <p:cNvSpPr>
              <a:spLocks noChangeArrowheads="1"/>
            </p:cNvSpPr>
            <p:nvPr/>
          </p:nvSpPr>
          <p:spPr bwMode="auto">
            <a:xfrm>
              <a:off x="939" y="782"/>
              <a:ext cx="113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lang="zh-CN" altLang="en-US">
                  <a:ea typeface="楷体_GB2312" pitchFamily="49" charset="-122"/>
                </a:rPr>
                <a:t>误差</a:t>
              </a:r>
              <a:r>
                <a:rPr kumimoji="0" lang="zh-CN" altLang="en-US" sz="3100" b="0">
                  <a:solidFill>
                    <a:srgbClr val="000000"/>
                  </a:solidFill>
                  <a:latin typeface="宋体" pitchFamily="2" charset="-122"/>
                </a:rPr>
                <a:t>定义</a:t>
              </a:r>
              <a:r>
                <a:rPr kumimoji="0" lang="en-US" altLang="zh-CN" sz="3100" b="0">
                  <a:solidFill>
                    <a:srgbClr val="000000"/>
                  </a:solidFill>
                  <a:latin typeface="宋体" pitchFamily="2" charset="-122"/>
                </a:rPr>
                <a:t>:</a:t>
              </a:r>
            </a:p>
          </p:txBody>
        </p:sp>
        <p:sp>
          <p:nvSpPr>
            <p:cNvPr id="50195" name="Rectangle 18"/>
            <p:cNvSpPr>
              <a:spLocks noChangeArrowheads="1"/>
            </p:cNvSpPr>
            <p:nvPr/>
          </p:nvSpPr>
          <p:spPr bwMode="auto">
            <a:xfrm>
              <a:off x="4214" y="1298"/>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b="0">
                  <a:solidFill>
                    <a:srgbClr val="000000"/>
                  </a:solidFill>
                </a:rPr>
                <a:t>*</a:t>
              </a:r>
              <a:endParaRPr kumimoji="0" lang="zh-CN" altLang="en-US" sz="1800" b="0">
                <a:latin typeface="Arial" pitchFamily="34" charset="0"/>
              </a:endParaRPr>
            </a:p>
          </p:txBody>
        </p:sp>
        <p:sp>
          <p:nvSpPr>
            <p:cNvPr id="50196" name="Rectangle 19"/>
            <p:cNvSpPr>
              <a:spLocks noChangeArrowheads="1"/>
            </p:cNvSpPr>
            <p:nvPr/>
          </p:nvSpPr>
          <p:spPr bwMode="auto">
            <a:xfrm>
              <a:off x="2254" y="1797"/>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0197" name="Rectangle 20"/>
            <p:cNvSpPr>
              <a:spLocks noChangeArrowheads="1"/>
            </p:cNvSpPr>
            <p:nvPr/>
          </p:nvSpPr>
          <p:spPr bwMode="auto">
            <a:xfrm>
              <a:off x="1484" y="1951"/>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0198" name="Rectangle 21"/>
            <p:cNvSpPr>
              <a:spLocks noChangeArrowheads="1"/>
            </p:cNvSpPr>
            <p:nvPr/>
          </p:nvSpPr>
          <p:spPr bwMode="auto">
            <a:xfrm>
              <a:off x="2170" y="1215"/>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0199" name="Rectangle 22"/>
            <p:cNvSpPr>
              <a:spLocks noChangeArrowheads="1"/>
            </p:cNvSpPr>
            <p:nvPr/>
          </p:nvSpPr>
          <p:spPr bwMode="auto">
            <a:xfrm>
              <a:off x="1617" y="1215"/>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0200" name="Rectangle 24"/>
            <p:cNvSpPr>
              <a:spLocks noChangeArrowheads="1"/>
            </p:cNvSpPr>
            <p:nvPr/>
          </p:nvSpPr>
          <p:spPr bwMode="auto">
            <a:xfrm>
              <a:off x="3325" y="1971"/>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1" name="Rectangle 25"/>
            <p:cNvSpPr>
              <a:spLocks noChangeArrowheads="1"/>
            </p:cNvSpPr>
            <p:nvPr/>
          </p:nvSpPr>
          <p:spPr bwMode="auto">
            <a:xfrm>
              <a:off x="3201" y="1971"/>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0</a:t>
              </a:r>
              <a:endParaRPr kumimoji="0" lang="en-US" altLang="zh-CN" sz="1800">
                <a:latin typeface="Arial" pitchFamily="34" charset="0"/>
              </a:endParaRPr>
            </a:p>
          </p:txBody>
        </p:sp>
        <p:sp>
          <p:nvSpPr>
            <p:cNvPr id="50202" name="Rectangle 26"/>
            <p:cNvSpPr>
              <a:spLocks noChangeArrowheads="1"/>
            </p:cNvSpPr>
            <p:nvPr/>
          </p:nvSpPr>
          <p:spPr bwMode="auto">
            <a:xfrm>
              <a:off x="2738" y="1971"/>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3" name="Rectangle 27"/>
            <p:cNvSpPr>
              <a:spLocks noChangeArrowheads="1"/>
            </p:cNvSpPr>
            <p:nvPr/>
          </p:nvSpPr>
          <p:spPr bwMode="auto">
            <a:xfrm>
              <a:off x="2348" y="1817"/>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4" name="Rectangle 28"/>
            <p:cNvSpPr>
              <a:spLocks noChangeArrowheads="1"/>
            </p:cNvSpPr>
            <p:nvPr/>
          </p:nvSpPr>
          <p:spPr bwMode="auto">
            <a:xfrm>
              <a:off x="2038" y="1817"/>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5" name="Rectangle 29"/>
            <p:cNvSpPr>
              <a:spLocks noChangeArrowheads="1"/>
            </p:cNvSpPr>
            <p:nvPr/>
          </p:nvSpPr>
          <p:spPr bwMode="auto">
            <a:xfrm>
              <a:off x="1577" y="1971"/>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6" name="Rectangle 30"/>
            <p:cNvSpPr>
              <a:spLocks noChangeArrowheads="1"/>
            </p:cNvSpPr>
            <p:nvPr/>
          </p:nvSpPr>
          <p:spPr bwMode="auto">
            <a:xfrm>
              <a:off x="1267" y="1971"/>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7" name="Rectangle 31"/>
            <p:cNvSpPr>
              <a:spLocks noChangeArrowheads="1"/>
            </p:cNvSpPr>
            <p:nvPr/>
          </p:nvSpPr>
          <p:spPr bwMode="auto">
            <a:xfrm>
              <a:off x="1710" y="1236"/>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8" name="Rectangle 32"/>
            <p:cNvSpPr>
              <a:spLocks noChangeArrowheads="1"/>
            </p:cNvSpPr>
            <p:nvPr/>
          </p:nvSpPr>
          <p:spPr bwMode="auto">
            <a:xfrm>
              <a:off x="1400" y="1236"/>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0209" name="Rectangle 39"/>
            <p:cNvSpPr>
              <a:spLocks noChangeArrowheads="1"/>
            </p:cNvSpPr>
            <p:nvPr/>
          </p:nvSpPr>
          <p:spPr bwMode="auto">
            <a:xfrm>
              <a:off x="4103" y="1245"/>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b="0" i="1">
                  <a:solidFill>
                    <a:srgbClr val="000000"/>
                  </a:solidFill>
                </a:rPr>
                <a:t>x</a:t>
              </a:r>
              <a:endParaRPr kumimoji="0" lang="en-US" altLang="zh-CN" sz="1800" b="0">
                <a:latin typeface="Arial" pitchFamily="34" charset="0"/>
              </a:endParaRPr>
            </a:p>
          </p:txBody>
        </p:sp>
        <p:sp>
          <p:nvSpPr>
            <p:cNvPr id="50210" name="Rectangle 40"/>
            <p:cNvSpPr>
              <a:spLocks noChangeArrowheads="1"/>
            </p:cNvSpPr>
            <p:nvPr/>
          </p:nvSpPr>
          <p:spPr bwMode="auto">
            <a:xfrm>
              <a:off x="2838" y="1971"/>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0211" name="Rectangle 41"/>
            <p:cNvSpPr>
              <a:spLocks noChangeArrowheads="1"/>
            </p:cNvSpPr>
            <p:nvPr/>
          </p:nvSpPr>
          <p:spPr bwMode="auto">
            <a:xfrm>
              <a:off x="2129" y="2161"/>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0212" name="Rectangle 42"/>
            <p:cNvSpPr>
              <a:spLocks noChangeArrowheads="1"/>
            </p:cNvSpPr>
            <p:nvPr/>
          </p:nvSpPr>
          <p:spPr bwMode="auto">
            <a:xfrm>
              <a:off x="2138" y="1817"/>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0213" name="Rectangle 43"/>
            <p:cNvSpPr>
              <a:spLocks noChangeArrowheads="1"/>
            </p:cNvSpPr>
            <p:nvPr/>
          </p:nvSpPr>
          <p:spPr bwMode="auto">
            <a:xfrm>
              <a:off x="1926" y="1817"/>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e</a:t>
              </a:r>
              <a:endParaRPr kumimoji="0" lang="en-US" altLang="zh-CN" sz="1800">
                <a:latin typeface="Arial" pitchFamily="34" charset="0"/>
              </a:endParaRPr>
            </a:p>
          </p:txBody>
        </p:sp>
        <p:sp>
          <p:nvSpPr>
            <p:cNvPr id="50214" name="Rectangle 44"/>
            <p:cNvSpPr>
              <a:spLocks noChangeArrowheads="1"/>
            </p:cNvSpPr>
            <p:nvPr/>
          </p:nvSpPr>
          <p:spPr bwMode="auto">
            <a:xfrm>
              <a:off x="1367" y="1971"/>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0215" name="Rectangle 45"/>
            <p:cNvSpPr>
              <a:spLocks noChangeArrowheads="1"/>
            </p:cNvSpPr>
            <p:nvPr/>
          </p:nvSpPr>
          <p:spPr bwMode="auto">
            <a:xfrm>
              <a:off x="1066" y="1971"/>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e</a:t>
              </a:r>
              <a:endParaRPr kumimoji="0" lang="en-US" altLang="zh-CN" sz="1800">
                <a:latin typeface="Arial" pitchFamily="34" charset="0"/>
              </a:endParaRPr>
            </a:p>
          </p:txBody>
        </p:sp>
        <p:sp>
          <p:nvSpPr>
            <p:cNvPr id="50216" name="Rectangle 46"/>
            <p:cNvSpPr>
              <a:spLocks noChangeArrowheads="1"/>
            </p:cNvSpPr>
            <p:nvPr/>
          </p:nvSpPr>
          <p:spPr bwMode="auto">
            <a:xfrm>
              <a:off x="2491" y="1236"/>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0217" name="Rectangle 47"/>
            <p:cNvSpPr>
              <a:spLocks noChangeArrowheads="1"/>
            </p:cNvSpPr>
            <p:nvPr/>
          </p:nvSpPr>
          <p:spPr bwMode="auto">
            <a:xfrm>
              <a:off x="2054" y="1236"/>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0218" name="Rectangle 48"/>
            <p:cNvSpPr>
              <a:spLocks noChangeArrowheads="1"/>
            </p:cNvSpPr>
            <p:nvPr/>
          </p:nvSpPr>
          <p:spPr bwMode="auto">
            <a:xfrm>
              <a:off x="1501" y="1236"/>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0219" name="Rectangle 49"/>
            <p:cNvSpPr>
              <a:spLocks noChangeArrowheads="1"/>
            </p:cNvSpPr>
            <p:nvPr/>
          </p:nvSpPr>
          <p:spPr bwMode="auto">
            <a:xfrm>
              <a:off x="1288" y="1236"/>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e</a:t>
              </a:r>
              <a:endParaRPr kumimoji="0" lang="en-US" altLang="zh-CN" sz="1800">
                <a:latin typeface="Arial" pitchFamily="34" charset="0"/>
              </a:endParaRPr>
            </a:p>
          </p:txBody>
        </p:sp>
        <p:sp>
          <p:nvSpPr>
            <p:cNvPr id="50220" name="Rectangle 52"/>
            <p:cNvSpPr>
              <a:spLocks noChangeArrowheads="1"/>
            </p:cNvSpPr>
            <p:nvPr/>
          </p:nvSpPr>
          <p:spPr bwMode="auto">
            <a:xfrm>
              <a:off x="1174" y="2122"/>
              <a:ext cx="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1800" i="1">
                  <a:solidFill>
                    <a:srgbClr val="000000"/>
                  </a:solidFill>
                </a:rPr>
                <a:t>r</a:t>
              </a:r>
              <a:endParaRPr kumimoji="0" lang="en-US" altLang="zh-CN" sz="1800">
                <a:latin typeface="Arial" pitchFamily="34" charset="0"/>
              </a:endParaRPr>
            </a:p>
          </p:txBody>
        </p:sp>
        <p:sp>
          <p:nvSpPr>
            <p:cNvPr id="50221" name="Rectangle 53"/>
            <p:cNvSpPr>
              <a:spLocks noChangeArrowheads="1"/>
            </p:cNvSpPr>
            <p:nvPr/>
          </p:nvSpPr>
          <p:spPr bwMode="auto">
            <a:xfrm>
              <a:off x="3008" y="1943"/>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¹</a:t>
              </a:r>
              <a:endParaRPr kumimoji="0" lang="en-US" altLang="zh-CN" sz="1800">
                <a:latin typeface="Arial" pitchFamily="34" charset="0"/>
              </a:endParaRPr>
            </a:p>
          </p:txBody>
        </p:sp>
        <p:sp>
          <p:nvSpPr>
            <p:cNvPr id="50222" name="Rectangle 54"/>
            <p:cNvSpPr>
              <a:spLocks noChangeArrowheads="1"/>
            </p:cNvSpPr>
            <p:nvPr/>
          </p:nvSpPr>
          <p:spPr bwMode="auto">
            <a:xfrm>
              <a:off x="1716" y="1943"/>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a:t>
              </a:r>
              <a:endParaRPr kumimoji="0" lang="en-US" altLang="zh-CN" sz="1800">
                <a:latin typeface="Arial" pitchFamily="34" charset="0"/>
              </a:endParaRPr>
            </a:p>
          </p:txBody>
        </p:sp>
        <p:sp>
          <p:nvSpPr>
            <p:cNvPr id="50223" name="Rectangle 55"/>
            <p:cNvSpPr>
              <a:spLocks noChangeArrowheads="1"/>
            </p:cNvSpPr>
            <p:nvPr/>
          </p:nvSpPr>
          <p:spPr bwMode="auto">
            <a:xfrm>
              <a:off x="2302" y="1208"/>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a:t>
              </a:r>
              <a:endParaRPr kumimoji="0" lang="en-US" altLang="zh-CN" sz="1800">
                <a:latin typeface="Arial" pitchFamily="34" charset="0"/>
              </a:endParaRPr>
            </a:p>
          </p:txBody>
        </p:sp>
        <p:sp>
          <p:nvSpPr>
            <p:cNvPr id="50224" name="Rectangle 56"/>
            <p:cNvSpPr>
              <a:spLocks noChangeArrowheads="1"/>
            </p:cNvSpPr>
            <p:nvPr/>
          </p:nvSpPr>
          <p:spPr bwMode="auto">
            <a:xfrm>
              <a:off x="1849" y="1208"/>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a:t>
              </a:r>
              <a:endParaRPr kumimoji="0" lang="en-US" altLang="zh-CN" sz="1800">
                <a:latin typeface="Arial" pitchFamily="34" charset="0"/>
              </a:endParaRPr>
            </a:p>
          </p:txBody>
        </p:sp>
        <p:sp>
          <p:nvSpPr>
            <p:cNvPr id="50225" name="Rectangle 72"/>
            <p:cNvSpPr>
              <a:spLocks noChangeArrowheads="1"/>
            </p:cNvSpPr>
            <p:nvPr/>
          </p:nvSpPr>
          <p:spPr bwMode="auto">
            <a:xfrm>
              <a:off x="4241" y="1933"/>
              <a:ext cx="124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3100" b="0">
                  <a:solidFill>
                    <a:srgbClr val="000000"/>
                  </a:solidFill>
                  <a:latin typeface="宋体" pitchFamily="2" charset="-122"/>
                </a:rPr>
                <a:t>的相对误差</a:t>
              </a:r>
              <a:endParaRPr kumimoji="0" lang="zh-CN" altLang="en-US" sz="1800" b="0">
                <a:latin typeface="Arial" pitchFamily="34" charset="0"/>
              </a:endParaRPr>
            </a:p>
          </p:txBody>
        </p:sp>
        <p:sp>
          <p:nvSpPr>
            <p:cNvPr id="50226" name="Rectangle 75"/>
            <p:cNvSpPr>
              <a:spLocks noChangeArrowheads="1"/>
            </p:cNvSpPr>
            <p:nvPr/>
          </p:nvSpPr>
          <p:spPr bwMode="auto">
            <a:xfrm>
              <a:off x="4125" y="1986"/>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b="0">
                  <a:solidFill>
                    <a:srgbClr val="000000"/>
                  </a:solidFill>
                </a:rPr>
                <a:t>*</a:t>
              </a:r>
              <a:endParaRPr kumimoji="0" lang="zh-CN" altLang="en-US" sz="1800" b="0">
                <a:latin typeface="Arial" pitchFamily="34" charset="0"/>
              </a:endParaRPr>
            </a:p>
          </p:txBody>
        </p:sp>
        <p:sp>
          <p:nvSpPr>
            <p:cNvPr id="50227" name="Rectangle 76"/>
            <p:cNvSpPr>
              <a:spLocks noChangeArrowheads="1"/>
            </p:cNvSpPr>
            <p:nvPr/>
          </p:nvSpPr>
          <p:spPr bwMode="auto">
            <a:xfrm>
              <a:off x="4014" y="1933"/>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b="0" i="1">
                  <a:solidFill>
                    <a:srgbClr val="000000"/>
                  </a:solidFill>
                </a:rPr>
                <a:t>x</a:t>
              </a:r>
              <a:endParaRPr kumimoji="0" lang="en-US" altLang="zh-CN" sz="1800" b="0">
                <a:latin typeface="Arial"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93295"/>
                                        </p:tgtEl>
                                        <p:attrNameLst>
                                          <p:attrName>style.visibility</p:attrName>
                                        </p:attrNameLst>
                                      </p:cBhvr>
                                      <p:to>
                                        <p:strVal val="visible"/>
                                      </p:to>
                                    </p:set>
                                    <p:anim calcmode="lin" valueType="num">
                                      <p:cBhvr additive="base">
                                        <p:cTn id="7" dur="500" fill="hold"/>
                                        <p:tgtEl>
                                          <p:spTgt spid="393295"/>
                                        </p:tgtEl>
                                        <p:attrNameLst>
                                          <p:attrName>ppt_x</p:attrName>
                                        </p:attrNameLst>
                                      </p:cBhvr>
                                      <p:tavLst>
                                        <p:tav tm="0">
                                          <p:val>
                                            <p:strVal val="#ppt_x"/>
                                          </p:val>
                                        </p:tav>
                                        <p:tav tm="100000">
                                          <p:val>
                                            <p:strVal val="#ppt_x"/>
                                          </p:val>
                                        </p:tav>
                                      </p:tavLst>
                                    </p:anim>
                                    <p:anim calcmode="lin" valueType="num">
                                      <p:cBhvr additive="base">
                                        <p:cTn id="8" dur="500" fill="hold"/>
                                        <p:tgtEl>
                                          <p:spTgt spid="39329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3296"/>
                                        </p:tgtEl>
                                        <p:attrNameLst>
                                          <p:attrName>style.visibility</p:attrName>
                                        </p:attrNameLst>
                                      </p:cBhvr>
                                      <p:to>
                                        <p:strVal val="visible"/>
                                      </p:to>
                                    </p:set>
                                    <p:anim calcmode="lin" valueType="num">
                                      <p:cBhvr additive="base">
                                        <p:cTn id="13" dur="500" fill="hold"/>
                                        <p:tgtEl>
                                          <p:spTgt spid="393296"/>
                                        </p:tgtEl>
                                        <p:attrNameLst>
                                          <p:attrName>ppt_x</p:attrName>
                                        </p:attrNameLst>
                                      </p:cBhvr>
                                      <p:tavLst>
                                        <p:tav tm="0">
                                          <p:val>
                                            <p:strVal val="#ppt_x"/>
                                          </p:val>
                                        </p:tav>
                                        <p:tav tm="100000">
                                          <p:val>
                                            <p:strVal val="#ppt_x"/>
                                          </p:val>
                                        </p:tav>
                                      </p:tavLst>
                                    </p:anim>
                                    <p:anim calcmode="lin" valueType="num">
                                      <p:cBhvr additive="base">
                                        <p:cTn id="14" dur="500" fill="hold"/>
                                        <p:tgtEl>
                                          <p:spTgt spid="3932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灯片编号占位符 3"/>
          <p:cNvSpPr>
            <a:spLocks noGrp="1"/>
          </p:cNvSpPr>
          <p:nvPr>
            <p:ph type="sldNum" sz="quarter" idx="12"/>
          </p:nvPr>
        </p:nvSpPr>
        <p:spPr/>
        <p:txBody>
          <a:bodyPr/>
          <a:lstStyle/>
          <a:p>
            <a:pPr>
              <a:defRPr/>
            </a:pPr>
            <a:fld id="{19CC6EAC-5505-4C97-A491-2B16647C7321}" type="slidenum">
              <a:rPr lang="zh-CN" altLang="en-US"/>
              <a:pPr>
                <a:defRPr/>
              </a:pPr>
              <a:t>46</a:t>
            </a:fld>
            <a:endParaRPr lang="en-US" altLang="zh-CN"/>
          </a:p>
        </p:txBody>
      </p:sp>
      <p:sp>
        <p:nvSpPr>
          <p:cNvPr id="51203" name="Rectangle 4"/>
          <p:cNvSpPr>
            <a:spLocks noChangeArrowheads="1"/>
          </p:cNvSpPr>
          <p:nvPr/>
        </p:nvSpPr>
        <p:spPr bwMode="auto">
          <a:xfrm>
            <a:off x="827088" y="-100013"/>
            <a:ext cx="7793037" cy="1462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4400">
                <a:solidFill>
                  <a:srgbClr val="0000FF"/>
                </a:solidFill>
              </a:rPr>
              <a:t>误差估计</a:t>
            </a:r>
          </a:p>
        </p:txBody>
      </p:sp>
      <p:sp>
        <p:nvSpPr>
          <p:cNvPr id="549893" name="Rectangle 5"/>
          <p:cNvSpPr>
            <a:spLocks noChangeArrowheads="1"/>
          </p:cNvSpPr>
          <p:nvPr/>
        </p:nvSpPr>
        <p:spPr bwMode="auto">
          <a:xfrm>
            <a:off x="900113" y="1484313"/>
            <a:ext cx="7772400"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30000"/>
              </a:lnSpc>
            </a:pPr>
            <a:r>
              <a:rPr lang="zh-CN" altLang="en-US" sz="3600"/>
              <a:t>由于准确值在一般情况下是未知的，因此绝对误差和相对误差常常是无法计算的，但有可能给出估计。误差界就是用于误差估计的。</a:t>
            </a:r>
          </a:p>
        </p:txBody>
      </p:sp>
      <p:grpSp>
        <p:nvGrpSpPr>
          <p:cNvPr id="549944" name="Group 56"/>
          <p:cNvGrpSpPr>
            <a:grpSpLocks/>
          </p:cNvGrpSpPr>
          <p:nvPr/>
        </p:nvGrpSpPr>
        <p:grpSpPr bwMode="auto">
          <a:xfrm>
            <a:off x="1277938" y="4833938"/>
            <a:ext cx="6173787" cy="1908175"/>
            <a:chOff x="805" y="3045"/>
            <a:chExt cx="3889" cy="1202"/>
          </a:xfrm>
        </p:grpSpPr>
        <p:sp>
          <p:nvSpPr>
            <p:cNvPr id="549904" name="Line 16"/>
            <p:cNvSpPr>
              <a:spLocks noChangeShapeType="1"/>
            </p:cNvSpPr>
            <p:nvPr/>
          </p:nvSpPr>
          <p:spPr bwMode="auto">
            <a:xfrm>
              <a:off x="1766" y="3913"/>
              <a:ext cx="746"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1207" name="Rectangle 17"/>
            <p:cNvSpPr>
              <a:spLocks noChangeArrowheads="1"/>
            </p:cNvSpPr>
            <p:nvPr/>
          </p:nvSpPr>
          <p:spPr bwMode="auto">
            <a:xfrm>
              <a:off x="1990" y="3575"/>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1208" name="Rectangle 18"/>
            <p:cNvSpPr>
              <a:spLocks noChangeArrowheads="1"/>
            </p:cNvSpPr>
            <p:nvPr/>
          </p:nvSpPr>
          <p:spPr bwMode="auto">
            <a:xfrm>
              <a:off x="1310" y="3733"/>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1209" name="Rectangle 19"/>
            <p:cNvSpPr>
              <a:spLocks noChangeArrowheads="1"/>
            </p:cNvSpPr>
            <p:nvPr/>
          </p:nvSpPr>
          <p:spPr bwMode="auto">
            <a:xfrm>
              <a:off x="1832" y="3054"/>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1210" name="Rectangle 20"/>
            <p:cNvSpPr>
              <a:spLocks noChangeArrowheads="1"/>
            </p:cNvSpPr>
            <p:nvPr/>
          </p:nvSpPr>
          <p:spPr bwMode="auto">
            <a:xfrm>
              <a:off x="1222" y="3054"/>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1211" name="Rectangle 21"/>
            <p:cNvSpPr>
              <a:spLocks noChangeArrowheads="1"/>
            </p:cNvSpPr>
            <p:nvPr/>
          </p:nvSpPr>
          <p:spPr bwMode="auto">
            <a:xfrm>
              <a:off x="2244" y="3949"/>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2" name="Rectangle 22"/>
            <p:cNvSpPr>
              <a:spLocks noChangeArrowheads="1"/>
            </p:cNvSpPr>
            <p:nvPr/>
          </p:nvSpPr>
          <p:spPr bwMode="auto">
            <a:xfrm>
              <a:off x="1984" y="3949"/>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3" name="Rectangle 23"/>
            <p:cNvSpPr>
              <a:spLocks noChangeArrowheads="1"/>
            </p:cNvSpPr>
            <p:nvPr/>
          </p:nvSpPr>
          <p:spPr bwMode="auto">
            <a:xfrm>
              <a:off x="2461" y="3595"/>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4" name="Rectangle 24"/>
            <p:cNvSpPr>
              <a:spLocks noChangeArrowheads="1"/>
            </p:cNvSpPr>
            <p:nvPr/>
          </p:nvSpPr>
          <p:spPr bwMode="auto">
            <a:xfrm>
              <a:off x="1767" y="3595"/>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5" name="Rectangle 25"/>
            <p:cNvSpPr>
              <a:spLocks noChangeArrowheads="1"/>
            </p:cNvSpPr>
            <p:nvPr/>
          </p:nvSpPr>
          <p:spPr bwMode="auto">
            <a:xfrm>
              <a:off x="1525" y="3753"/>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6" name="Rectangle 26"/>
            <p:cNvSpPr>
              <a:spLocks noChangeArrowheads="1"/>
            </p:cNvSpPr>
            <p:nvPr/>
          </p:nvSpPr>
          <p:spPr bwMode="auto">
            <a:xfrm>
              <a:off x="1403" y="3753"/>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7" name="Rectangle 27"/>
            <p:cNvSpPr>
              <a:spLocks noChangeArrowheads="1"/>
            </p:cNvSpPr>
            <p:nvPr/>
          </p:nvSpPr>
          <p:spPr bwMode="auto">
            <a:xfrm>
              <a:off x="1095" y="3753"/>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8" name="Rectangle 28"/>
            <p:cNvSpPr>
              <a:spLocks noChangeArrowheads="1"/>
            </p:cNvSpPr>
            <p:nvPr/>
          </p:nvSpPr>
          <p:spPr bwMode="auto">
            <a:xfrm>
              <a:off x="805" y="3753"/>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19" name="Rectangle 29"/>
            <p:cNvSpPr>
              <a:spLocks noChangeArrowheads="1"/>
            </p:cNvSpPr>
            <p:nvPr/>
          </p:nvSpPr>
          <p:spPr bwMode="auto">
            <a:xfrm>
              <a:off x="2303" y="3074"/>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20" name="Rectangle 30"/>
            <p:cNvSpPr>
              <a:spLocks noChangeArrowheads="1"/>
            </p:cNvSpPr>
            <p:nvPr/>
          </p:nvSpPr>
          <p:spPr bwMode="auto">
            <a:xfrm>
              <a:off x="1609" y="3074"/>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21" name="Rectangle 31"/>
            <p:cNvSpPr>
              <a:spLocks noChangeArrowheads="1"/>
            </p:cNvSpPr>
            <p:nvPr/>
          </p:nvSpPr>
          <p:spPr bwMode="auto">
            <a:xfrm>
              <a:off x="1437" y="3074"/>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22" name="Rectangle 32"/>
            <p:cNvSpPr>
              <a:spLocks noChangeArrowheads="1"/>
            </p:cNvSpPr>
            <p:nvPr/>
          </p:nvSpPr>
          <p:spPr bwMode="auto">
            <a:xfrm>
              <a:off x="1315" y="3074"/>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23" name="Rectangle 33"/>
            <p:cNvSpPr>
              <a:spLocks noChangeArrowheads="1"/>
            </p:cNvSpPr>
            <p:nvPr/>
          </p:nvSpPr>
          <p:spPr bwMode="auto">
            <a:xfrm>
              <a:off x="1007" y="3074"/>
              <a:ext cx="8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24" name="Rectangle 34"/>
            <p:cNvSpPr>
              <a:spLocks noChangeArrowheads="1"/>
            </p:cNvSpPr>
            <p:nvPr/>
          </p:nvSpPr>
          <p:spPr bwMode="auto">
            <a:xfrm>
              <a:off x="805" y="3074"/>
              <a:ext cx="55"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rPr>
                <a:t>|</a:t>
              </a:r>
              <a:endParaRPr kumimoji="0" lang="en-US" altLang="zh-CN" sz="1800">
                <a:latin typeface="Arial" pitchFamily="34" charset="0"/>
              </a:endParaRPr>
            </a:p>
          </p:txBody>
        </p:sp>
        <p:sp>
          <p:nvSpPr>
            <p:cNvPr id="51225" name="Rectangle 35"/>
            <p:cNvSpPr>
              <a:spLocks noChangeArrowheads="1"/>
            </p:cNvSpPr>
            <p:nvPr/>
          </p:nvSpPr>
          <p:spPr bwMode="auto">
            <a:xfrm>
              <a:off x="2091" y="3949"/>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1226" name="Rectangle 36"/>
            <p:cNvSpPr>
              <a:spLocks noChangeArrowheads="1"/>
            </p:cNvSpPr>
            <p:nvPr/>
          </p:nvSpPr>
          <p:spPr bwMode="auto">
            <a:xfrm>
              <a:off x="2308" y="3595"/>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1227" name="Rectangle 37"/>
            <p:cNvSpPr>
              <a:spLocks noChangeArrowheads="1"/>
            </p:cNvSpPr>
            <p:nvPr/>
          </p:nvSpPr>
          <p:spPr bwMode="auto">
            <a:xfrm>
              <a:off x="1874" y="3595"/>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1228" name="Rectangle 38"/>
            <p:cNvSpPr>
              <a:spLocks noChangeArrowheads="1"/>
            </p:cNvSpPr>
            <p:nvPr/>
          </p:nvSpPr>
          <p:spPr bwMode="auto">
            <a:xfrm>
              <a:off x="1195" y="3753"/>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1229" name="Rectangle 39"/>
            <p:cNvSpPr>
              <a:spLocks noChangeArrowheads="1"/>
            </p:cNvSpPr>
            <p:nvPr/>
          </p:nvSpPr>
          <p:spPr bwMode="auto">
            <a:xfrm>
              <a:off x="897" y="3753"/>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e</a:t>
              </a:r>
              <a:endParaRPr kumimoji="0" lang="en-US" altLang="zh-CN" sz="1800">
                <a:latin typeface="Arial" pitchFamily="34" charset="0"/>
              </a:endParaRPr>
            </a:p>
          </p:txBody>
        </p:sp>
        <p:sp>
          <p:nvSpPr>
            <p:cNvPr id="51230" name="Rectangle 40"/>
            <p:cNvSpPr>
              <a:spLocks noChangeArrowheads="1"/>
            </p:cNvSpPr>
            <p:nvPr/>
          </p:nvSpPr>
          <p:spPr bwMode="auto">
            <a:xfrm>
              <a:off x="2150" y="3074"/>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1231" name="Rectangle 41"/>
            <p:cNvSpPr>
              <a:spLocks noChangeArrowheads="1"/>
            </p:cNvSpPr>
            <p:nvPr/>
          </p:nvSpPr>
          <p:spPr bwMode="auto">
            <a:xfrm>
              <a:off x="1716" y="3074"/>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1232" name="Rectangle 42"/>
            <p:cNvSpPr>
              <a:spLocks noChangeArrowheads="1"/>
            </p:cNvSpPr>
            <p:nvPr/>
          </p:nvSpPr>
          <p:spPr bwMode="auto">
            <a:xfrm>
              <a:off x="1107" y="3074"/>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x</a:t>
              </a:r>
              <a:endParaRPr kumimoji="0" lang="en-US" altLang="zh-CN" sz="1800">
                <a:latin typeface="Arial" pitchFamily="34" charset="0"/>
              </a:endParaRPr>
            </a:p>
          </p:txBody>
        </p:sp>
        <p:sp>
          <p:nvSpPr>
            <p:cNvPr id="51233" name="Rectangle 43"/>
            <p:cNvSpPr>
              <a:spLocks noChangeArrowheads="1"/>
            </p:cNvSpPr>
            <p:nvPr/>
          </p:nvSpPr>
          <p:spPr bwMode="auto">
            <a:xfrm>
              <a:off x="897" y="3074"/>
              <a:ext cx="11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rPr>
                <a:t>e</a:t>
              </a:r>
              <a:endParaRPr kumimoji="0" lang="en-US" altLang="zh-CN" sz="1800">
                <a:latin typeface="Arial" pitchFamily="34" charset="0"/>
              </a:endParaRPr>
            </a:p>
          </p:txBody>
        </p:sp>
        <p:sp>
          <p:nvSpPr>
            <p:cNvPr id="51234" name="Rectangle 44"/>
            <p:cNvSpPr>
              <a:spLocks noChangeArrowheads="1"/>
            </p:cNvSpPr>
            <p:nvPr/>
          </p:nvSpPr>
          <p:spPr bwMode="auto">
            <a:xfrm>
              <a:off x="2884" y="3908"/>
              <a:ext cx="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1800" i="1">
                  <a:solidFill>
                    <a:srgbClr val="000000"/>
                  </a:solidFill>
                </a:rPr>
                <a:t>r</a:t>
              </a:r>
              <a:endParaRPr kumimoji="0" lang="en-US" altLang="zh-CN" sz="1800">
                <a:latin typeface="Arial" pitchFamily="34" charset="0"/>
              </a:endParaRPr>
            </a:p>
          </p:txBody>
        </p:sp>
        <p:sp>
          <p:nvSpPr>
            <p:cNvPr id="51235" name="Rectangle 45"/>
            <p:cNvSpPr>
              <a:spLocks noChangeArrowheads="1"/>
            </p:cNvSpPr>
            <p:nvPr/>
          </p:nvSpPr>
          <p:spPr bwMode="auto">
            <a:xfrm>
              <a:off x="1003" y="3908"/>
              <a:ext cx="5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1800" i="1">
                  <a:solidFill>
                    <a:srgbClr val="000000"/>
                  </a:solidFill>
                </a:rPr>
                <a:t>r</a:t>
              </a:r>
              <a:endParaRPr kumimoji="0" lang="en-US" altLang="zh-CN" sz="1800">
                <a:latin typeface="Arial" pitchFamily="34" charset="0"/>
              </a:endParaRPr>
            </a:p>
          </p:txBody>
        </p:sp>
        <p:sp>
          <p:nvSpPr>
            <p:cNvPr id="51236" name="Rectangle 46"/>
            <p:cNvSpPr>
              <a:spLocks noChangeArrowheads="1"/>
            </p:cNvSpPr>
            <p:nvPr/>
          </p:nvSpPr>
          <p:spPr bwMode="auto">
            <a:xfrm>
              <a:off x="2753" y="3724"/>
              <a:ext cx="10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latin typeface="Symbol" pitchFamily="18" charset="2"/>
                </a:rPr>
                <a:t>e</a:t>
              </a:r>
              <a:endParaRPr kumimoji="0" lang="en-US" altLang="zh-CN" sz="1800">
                <a:latin typeface="Arial" pitchFamily="34" charset="0"/>
              </a:endParaRPr>
            </a:p>
          </p:txBody>
        </p:sp>
        <p:sp>
          <p:nvSpPr>
            <p:cNvPr id="51237" name="Rectangle 47"/>
            <p:cNvSpPr>
              <a:spLocks noChangeArrowheads="1"/>
            </p:cNvSpPr>
            <p:nvPr/>
          </p:nvSpPr>
          <p:spPr bwMode="auto">
            <a:xfrm>
              <a:off x="2524" y="3045"/>
              <a:ext cx="10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i="1">
                  <a:solidFill>
                    <a:srgbClr val="000000"/>
                  </a:solidFill>
                  <a:latin typeface="Symbol" pitchFamily="18" charset="2"/>
                </a:rPr>
                <a:t>e</a:t>
              </a:r>
              <a:endParaRPr kumimoji="0" lang="en-US" altLang="zh-CN" sz="1800">
                <a:latin typeface="Arial" pitchFamily="34" charset="0"/>
              </a:endParaRPr>
            </a:p>
          </p:txBody>
        </p:sp>
        <p:sp>
          <p:nvSpPr>
            <p:cNvPr id="51238" name="Rectangle 48"/>
            <p:cNvSpPr>
              <a:spLocks noChangeArrowheads="1"/>
            </p:cNvSpPr>
            <p:nvPr/>
          </p:nvSpPr>
          <p:spPr bwMode="auto">
            <a:xfrm>
              <a:off x="2573" y="3724"/>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&lt;</a:t>
              </a:r>
              <a:endParaRPr kumimoji="0" lang="en-US" altLang="zh-CN" sz="1800">
                <a:latin typeface="Arial" pitchFamily="34" charset="0"/>
              </a:endParaRPr>
            </a:p>
          </p:txBody>
        </p:sp>
        <p:sp>
          <p:nvSpPr>
            <p:cNvPr id="51239" name="Rectangle 49"/>
            <p:cNvSpPr>
              <a:spLocks noChangeArrowheads="1"/>
            </p:cNvSpPr>
            <p:nvPr/>
          </p:nvSpPr>
          <p:spPr bwMode="auto">
            <a:xfrm>
              <a:off x="2120" y="3566"/>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a:t>
              </a:r>
              <a:endParaRPr kumimoji="0" lang="en-US" altLang="zh-CN" sz="1800">
                <a:latin typeface="Arial" pitchFamily="34" charset="0"/>
              </a:endParaRPr>
            </a:p>
          </p:txBody>
        </p:sp>
        <p:sp>
          <p:nvSpPr>
            <p:cNvPr id="51240" name="Rectangle 50"/>
            <p:cNvSpPr>
              <a:spLocks noChangeArrowheads="1"/>
            </p:cNvSpPr>
            <p:nvPr/>
          </p:nvSpPr>
          <p:spPr bwMode="auto">
            <a:xfrm>
              <a:off x="1571" y="3724"/>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a:t>
              </a:r>
              <a:endParaRPr kumimoji="0" lang="en-US" altLang="zh-CN" sz="1800">
                <a:latin typeface="Arial" pitchFamily="34" charset="0"/>
              </a:endParaRPr>
            </a:p>
          </p:txBody>
        </p:sp>
        <p:sp>
          <p:nvSpPr>
            <p:cNvPr id="51241" name="Rectangle 51"/>
            <p:cNvSpPr>
              <a:spLocks noChangeArrowheads="1"/>
            </p:cNvSpPr>
            <p:nvPr/>
          </p:nvSpPr>
          <p:spPr bwMode="auto">
            <a:xfrm>
              <a:off x="2345" y="3045"/>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&lt;</a:t>
              </a:r>
              <a:endParaRPr kumimoji="0" lang="en-US" altLang="zh-CN" sz="1800">
                <a:latin typeface="Arial" pitchFamily="34" charset="0"/>
              </a:endParaRPr>
            </a:p>
          </p:txBody>
        </p:sp>
        <p:sp>
          <p:nvSpPr>
            <p:cNvPr id="51242" name="Rectangle 52"/>
            <p:cNvSpPr>
              <a:spLocks noChangeArrowheads="1"/>
            </p:cNvSpPr>
            <p:nvPr/>
          </p:nvSpPr>
          <p:spPr bwMode="auto">
            <a:xfrm>
              <a:off x="1962" y="3045"/>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a:t>
              </a:r>
              <a:endParaRPr kumimoji="0" lang="en-US" altLang="zh-CN" sz="1800">
                <a:latin typeface="Arial" pitchFamily="34" charset="0"/>
              </a:endParaRPr>
            </a:p>
          </p:txBody>
        </p:sp>
        <p:sp>
          <p:nvSpPr>
            <p:cNvPr id="51243" name="Rectangle 53"/>
            <p:cNvSpPr>
              <a:spLocks noChangeArrowheads="1"/>
            </p:cNvSpPr>
            <p:nvPr/>
          </p:nvSpPr>
          <p:spPr bwMode="auto">
            <a:xfrm>
              <a:off x="1483" y="3045"/>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3100">
                  <a:solidFill>
                    <a:srgbClr val="000000"/>
                  </a:solidFill>
                  <a:latin typeface="Symbol" pitchFamily="18" charset="2"/>
                </a:rPr>
                <a:t>=</a:t>
              </a:r>
              <a:endParaRPr kumimoji="0" lang="en-US" altLang="zh-CN" sz="1800">
                <a:latin typeface="Arial" pitchFamily="34" charset="0"/>
              </a:endParaRPr>
            </a:p>
          </p:txBody>
        </p:sp>
        <p:sp>
          <p:nvSpPr>
            <p:cNvPr id="51244" name="Rectangle 54"/>
            <p:cNvSpPr>
              <a:spLocks noChangeArrowheads="1"/>
            </p:cNvSpPr>
            <p:nvPr/>
          </p:nvSpPr>
          <p:spPr bwMode="auto">
            <a:xfrm>
              <a:off x="3426" y="3059"/>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2800">
                  <a:solidFill>
                    <a:srgbClr val="0000FF"/>
                  </a:solidFill>
                  <a:ea typeface="楷体_GB2312" pitchFamily="49" charset="-122"/>
                </a:rPr>
                <a:t>绝对误差界</a:t>
              </a:r>
            </a:p>
          </p:txBody>
        </p:sp>
        <p:sp>
          <p:nvSpPr>
            <p:cNvPr id="51245" name="Rectangle 55"/>
            <p:cNvSpPr>
              <a:spLocks noChangeArrowheads="1"/>
            </p:cNvSpPr>
            <p:nvPr/>
          </p:nvSpPr>
          <p:spPr bwMode="auto">
            <a:xfrm>
              <a:off x="3453" y="3793"/>
              <a:ext cx="1241"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2800">
                  <a:solidFill>
                    <a:srgbClr val="0000FF"/>
                  </a:solidFill>
                  <a:ea typeface="楷体_GB2312" pitchFamily="49" charset="-122"/>
                </a:rPr>
                <a:t>相对误差界</a:t>
              </a: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9893"/>
                                        </p:tgtEl>
                                        <p:attrNameLst>
                                          <p:attrName>style.visibility</p:attrName>
                                        </p:attrNameLst>
                                      </p:cBhvr>
                                      <p:to>
                                        <p:strVal val="visible"/>
                                      </p:to>
                                    </p:set>
                                    <p:anim calcmode="lin" valueType="num">
                                      <p:cBhvr additive="base">
                                        <p:cTn id="7" dur="500" fill="hold"/>
                                        <p:tgtEl>
                                          <p:spTgt spid="549893"/>
                                        </p:tgtEl>
                                        <p:attrNameLst>
                                          <p:attrName>ppt_x</p:attrName>
                                        </p:attrNameLst>
                                      </p:cBhvr>
                                      <p:tavLst>
                                        <p:tav tm="0">
                                          <p:val>
                                            <p:strVal val="#ppt_x"/>
                                          </p:val>
                                        </p:tav>
                                        <p:tav tm="100000">
                                          <p:val>
                                            <p:strVal val="#ppt_x"/>
                                          </p:val>
                                        </p:tav>
                                      </p:tavLst>
                                    </p:anim>
                                    <p:anim calcmode="lin" valueType="num">
                                      <p:cBhvr additive="base">
                                        <p:cTn id="8" dur="500" fill="hold"/>
                                        <p:tgtEl>
                                          <p:spTgt spid="54989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49944"/>
                                        </p:tgtEl>
                                        <p:attrNameLst>
                                          <p:attrName>style.visibility</p:attrName>
                                        </p:attrNameLst>
                                      </p:cBhvr>
                                      <p:to>
                                        <p:strVal val="visible"/>
                                      </p:to>
                                    </p:set>
                                    <p:anim calcmode="lin" valueType="num">
                                      <p:cBhvr additive="base">
                                        <p:cTn id="13" dur="500" fill="hold"/>
                                        <p:tgtEl>
                                          <p:spTgt spid="549944"/>
                                        </p:tgtEl>
                                        <p:attrNameLst>
                                          <p:attrName>ppt_x</p:attrName>
                                        </p:attrNameLst>
                                      </p:cBhvr>
                                      <p:tavLst>
                                        <p:tav tm="0">
                                          <p:val>
                                            <p:strVal val="#ppt_x"/>
                                          </p:val>
                                        </p:tav>
                                        <p:tav tm="100000">
                                          <p:val>
                                            <p:strVal val="#ppt_x"/>
                                          </p:val>
                                        </p:tav>
                                      </p:tavLst>
                                    </p:anim>
                                    <p:anim calcmode="lin" valueType="num">
                                      <p:cBhvr additive="base">
                                        <p:cTn id="14" dur="500" fill="hold"/>
                                        <p:tgtEl>
                                          <p:spTgt spid="54994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9893"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灯片编号占位符 5"/>
          <p:cNvSpPr>
            <a:spLocks noGrp="1"/>
          </p:cNvSpPr>
          <p:nvPr>
            <p:ph type="sldNum" sz="quarter" idx="12"/>
          </p:nvPr>
        </p:nvSpPr>
        <p:spPr/>
        <p:txBody>
          <a:bodyPr/>
          <a:lstStyle/>
          <a:p>
            <a:pPr>
              <a:defRPr/>
            </a:pPr>
            <a:fld id="{A28B019C-B81F-4343-8EDC-4B1B85F9B7AF}" type="slidenum">
              <a:rPr lang="zh-CN" altLang="en-US"/>
              <a:pPr>
                <a:defRPr/>
              </a:pPr>
              <a:t>47</a:t>
            </a:fld>
            <a:endParaRPr lang="en-US" altLang="zh-CN"/>
          </a:p>
        </p:txBody>
      </p:sp>
      <p:sp>
        <p:nvSpPr>
          <p:cNvPr id="52227" name="Rectangle 2"/>
          <p:cNvSpPr>
            <a:spLocks noGrp="1" noChangeArrowheads="1"/>
          </p:cNvSpPr>
          <p:nvPr>
            <p:ph type="title"/>
          </p:nvPr>
        </p:nvSpPr>
        <p:spPr>
          <a:xfrm>
            <a:off x="685800" y="115888"/>
            <a:ext cx="7772400" cy="1143000"/>
          </a:xfrm>
        </p:spPr>
        <p:txBody>
          <a:bodyPr/>
          <a:lstStyle/>
          <a:p>
            <a:pPr eaLnBrk="1" hangingPunct="1"/>
            <a:r>
              <a:rPr lang="zh-CN" altLang="en-US" b="1">
                <a:solidFill>
                  <a:srgbClr val="FF0000"/>
                </a:solidFill>
              </a:rPr>
              <a:t>例</a:t>
            </a:r>
            <a:endParaRPr lang="en-US" altLang="zh-CN" b="1">
              <a:solidFill>
                <a:srgbClr val="FF0000"/>
              </a:solidFill>
            </a:endParaRPr>
          </a:p>
        </p:txBody>
      </p:sp>
      <p:pic>
        <p:nvPicPr>
          <p:cNvPr id="551939" name="Picture 3" descr="D1ztu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7763" y="3141663"/>
            <a:ext cx="2630487" cy="355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51940" name="Group 4"/>
          <p:cNvGrpSpPr>
            <a:grpSpLocks noChangeAspect="1"/>
          </p:cNvGrpSpPr>
          <p:nvPr/>
        </p:nvGrpSpPr>
        <p:grpSpPr bwMode="auto">
          <a:xfrm>
            <a:off x="250825" y="1200150"/>
            <a:ext cx="8137525" cy="3725863"/>
            <a:chOff x="158" y="971"/>
            <a:chExt cx="5126" cy="2347"/>
          </a:xfrm>
        </p:grpSpPr>
        <p:sp>
          <p:nvSpPr>
            <p:cNvPr id="551941" name="AutoShape 5"/>
            <p:cNvSpPr>
              <a:spLocks noChangeAspect="1" noChangeArrowheads="1" noTextEdit="1"/>
            </p:cNvSpPr>
            <p:nvPr/>
          </p:nvSpPr>
          <p:spPr bwMode="auto">
            <a:xfrm>
              <a:off x="158" y="971"/>
              <a:ext cx="5126" cy="2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defRPr/>
              </a:pPr>
              <a:endParaRPr lang="zh-CN" altLang="en-US">
                <a:effectLst>
                  <a:outerShdw blurRad="38100" dist="38100" dir="2700000" algn="tl">
                    <a:srgbClr val="000000">
                      <a:alpha val="43137"/>
                    </a:srgbClr>
                  </a:outerShdw>
                </a:effectLst>
              </a:endParaRPr>
            </a:p>
          </p:txBody>
        </p:sp>
        <p:sp>
          <p:nvSpPr>
            <p:cNvPr id="551942" name="Line 6"/>
            <p:cNvSpPr>
              <a:spLocks noChangeShapeType="1"/>
            </p:cNvSpPr>
            <p:nvPr/>
          </p:nvSpPr>
          <p:spPr bwMode="auto">
            <a:xfrm>
              <a:off x="4880" y="1370"/>
              <a:ext cx="158"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1943" name="Line 7"/>
            <p:cNvSpPr>
              <a:spLocks noChangeShapeType="1"/>
            </p:cNvSpPr>
            <p:nvPr/>
          </p:nvSpPr>
          <p:spPr bwMode="auto">
            <a:xfrm flipV="1">
              <a:off x="4713" y="1446"/>
              <a:ext cx="33" cy="19"/>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1944" name="Line 8"/>
            <p:cNvSpPr>
              <a:spLocks noChangeShapeType="1"/>
            </p:cNvSpPr>
            <p:nvPr/>
          </p:nvSpPr>
          <p:spPr bwMode="auto">
            <a:xfrm>
              <a:off x="4746" y="1452"/>
              <a:ext cx="47" cy="252"/>
            </a:xfrm>
            <a:prstGeom prst="line">
              <a:avLst/>
            </a:prstGeom>
            <a:noFill/>
            <a:ln w="33338">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1945" name="Line 9"/>
            <p:cNvSpPr>
              <a:spLocks noChangeShapeType="1"/>
            </p:cNvSpPr>
            <p:nvPr/>
          </p:nvSpPr>
          <p:spPr bwMode="auto">
            <a:xfrm flipV="1">
              <a:off x="4798" y="1026"/>
              <a:ext cx="62" cy="678"/>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1946" name="Line 10"/>
            <p:cNvSpPr>
              <a:spLocks noChangeShapeType="1"/>
            </p:cNvSpPr>
            <p:nvPr/>
          </p:nvSpPr>
          <p:spPr bwMode="auto">
            <a:xfrm>
              <a:off x="4860" y="1026"/>
              <a:ext cx="199"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1947" name="Line 11"/>
            <p:cNvSpPr>
              <a:spLocks noChangeShapeType="1"/>
            </p:cNvSpPr>
            <p:nvPr/>
          </p:nvSpPr>
          <p:spPr bwMode="auto">
            <a:xfrm>
              <a:off x="3012" y="2975"/>
              <a:ext cx="421" cy="1"/>
            </a:xfrm>
            <a:prstGeom prst="line">
              <a:avLst/>
            </a:prstGeom>
            <a:noFill/>
            <a:ln w="17463">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2252" name="Rectangle 12"/>
            <p:cNvSpPr>
              <a:spLocks noChangeArrowheads="1"/>
            </p:cNvSpPr>
            <p:nvPr/>
          </p:nvSpPr>
          <p:spPr bwMode="auto">
            <a:xfrm>
              <a:off x="3287" y="299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1900" b="0">
                  <a:solidFill>
                    <a:srgbClr val="000000"/>
                  </a:solidFill>
                </a:rPr>
                <a:t>2</a:t>
              </a:r>
              <a:endParaRPr kumimoji="0" lang="en-US" altLang="zh-CN" sz="1800" b="0">
                <a:latin typeface="Arial" pitchFamily="34" charset="0"/>
              </a:endParaRPr>
            </a:p>
          </p:txBody>
        </p:sp>
        <p:sp>
          <p:nvSpPr>
            <p:cNvPr id="52253" name="Rectangle 13"/>
            <p:cNvSpPr>
              <a:spLocks noChangeArrowheads="1"/>
            </p:cNvSpPr>
            <p:nvPr/>
          </p:nvSpPr>
          <p:spPr bwMode="auto">
            <a:xfrm>
              <a:off x="3194" y="2626"/>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sz="1900" b="0">
                  <a:solidFill>
                    <a:srgbClr val="000000"/>
                  </a:solidFill>
                </a:rPr>
                <a:t>2</a:t>
              </a:r>
              <a:endParaRPr kumimoji="0" lang="en-US" altLang="zh-CN" sz="1800" b="0">
                <a:latin typeface="Arial" pitchFamily="34" charset="0"/>
              </a:endParaRPr>
            </a:p>
          </p:txBody>
        </p:sp>
        <p:sp>
          <p:nvSpPr>
            <p:cNvPr id="52254" name="Rectangle 14"/>
            <p:cNvSpPr>
              <a:spLocks noChangeArrowheads="1"/>
            </p:cNvSpPr>
            <p:nvPr/>
          </p:nvSpPr>
          <p:spPr bwMode="auto">
            <a:xfrm>
              <a:off x="1248" y="2809"/>
              <a:ext cx="29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rPr>
                <a:t>sin</a:t>
              </a:r>
              <a:endParaRPr kumimoji="0" lang="en-US" altLang="zh-CN" sz="1800" b="0">
                <a:latin typeface="Arial" pitchFamily="34" charset="0"/>
              </a:endParaRPr>
            </a:p>
          </p:txBody>
        </p:sp>
        <p:sp>
          <p:nvSpPr>
            <p:cNvPr id="52255" name="Rectangle 15"/>
            <p:cNvSpPr>
              <a:spLocks noChangeArrowheads="1"/>
            </p:cNvSpPr>
            <p:nvPr/>
          </p:nvSpPr>
          <p:spPr bwMode="auto">
            <a:xfrm>
              <a:off x="1904" y="1827"/>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rPr>
                <a:t>g</a:t>
              </a:r>
              <a:endParaRPr kumimoji="0" lang="en-US" altLang="zh-CN" sz="1800" b="0">
                <a:latin typeface="Arial" pitchFamily="34" charset="0"/>
              </a:endParaRPr>
            </a:p>
          </p:txBody>
        </p:sp>
        <p:sp>
          <p:nvSpPr>
            <p:cNvPr id="52256" name="Rectangle 16"/>
            <p:cNvSpPr>
              <a:spLocks noChangeArrowheads="1"/>
            </p:cNvSpPr>
            <p:nvPr/>
          </p:nvSpPr>
          <p:spPr bwMode="auto">
            <a:xfrm>
              <a:off x="713" y="1827"/>
              <a:ext cx="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rPr>
                <a:t>:</a:t>
              </a:r>
              <a:endParaRPr kumimoji="0" lang="en-US" altLang="zh-CN" sz="1800" b="0">
                <a:latin typeface="Arial" pitchFamily="34" charset="0"/>
              </a:endParaRPr>
            </a:p>
          </p:txBody>
        </p:sp>
        <p:sp>
          <p:nvSpPr>
            <p:cNvPr id="52257" name="Rectangle 17"/>
            <p:cNvSpPr>
              <a:spLocks noChangeArrowheads="1"/>
            </p:cNvSpPr>
            <p:nvPr/>
          </p:nvSpPr>
          <p:spPr bwMode="auto">
            <a:xfrm>
              <a:off x="4893" y="140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rPr>
                <a:t>g</a:t>
              </a:r>
              <a:endParaRPr kumimoji="0" lang="en-US" altLang="zh-CN" sz="1800" b="0">
                <a:latin typeface="Arial" pitchFamily="34" charset="0"/>
              </a:endParaRPr>
            </a:p>
          </p:txBody>
        </p:sp>
        <p:sp>
          <p:nvSpPr>
            <p:cNvPr id="52258" name="Rectangle 18"/>
            <p:cNvSpPr>
              <a:spLocks noChangeArrowheads="1"/>
            </p:cNvSpPr>
            <p:nvPr/>
          </p:nvSpPr>
          <p:spPr bwMode="auto">
            <a:xfrm>
              <a:off x="4925" y="1042"/>
              <a:ext cx="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l</a:t>
              </a:r>
              <a:endParaRPr kumimoji="0" lang="en-US" altLang="zh-CN" sz="1800" b="0" i="1">
                <a:latin typeface="Arial" pitchFamily="34" charset="0"/>
              </a:endParaRPr>
            </a:p>
          </p:txBody>
        </p:sp>
        <p:sp>
          <p:nvSpPr>
            <p:cNvPr id="52259" name="Rectangle 19"/>
            <p:cNvSpPr>
              <a:spLocks noChangeArrowheads="1"/>
            </p:cNvSpPr>
            <p:nvPr/>
          </p:nvSpPr>
          <p:spPr bwMode="auto">
            <a:xfrm>
              <a:off x="4406" y="1205"/>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rPr>
                <a:t>2</a:t>
              </a:r>
              <a:endParaRPr kumimoji="0" lang="en-US" altLang="zh-CN" sz="1800" b="0">
                <a:latin typeface="Arial" pitchFamily="34" charset="0"/>
              </a:endParaRPr>
            </a:p>
          </p:txBody>
        </p:sp>
        <p:sp>
          <p:nvSpPr>
            <p:cNvPr id="52260" name="Rectangle 20"/>
            <p:cNvSpPr>
              <a:spLocks noChangeArrowheads="1"/>
            </p:cNvSpPr>
            <p:nvPr/>
          </p:nvSpPr>
          <p:spPr bwMode="auto">
            <a:xfrm>
              <a:off x="3989" y="1205"/>
              <a:ext cx="1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rPr>
                <a:t>T</a:t>
              </a:r>
              <a:endParaRPr kumimoji="0" lang="en-US" altLang="zh-CN" sz="1800" b="0">
                <a:latin typeface="Arial" pitchFamily="34" charset="0"/>
              </a:endParaRPr>
            </a:p>
          </p:txBody>
        </p:sp>
        <p:sp>
          <p:nvSpPr>
            <p:cNvPr id="52261" name="Rectangle 21"/>
            <p:cNvSpPr>
              <a:spLocks noChangeArrowheads="1"/>
            </p:cNvSpPr>
            <p:nvPr/>
          </p:nvSpPr>
          <p:spPr bwMode="auto">
            <a:xfrm>
              <a:off x="3063" y="3011"/>
              <a:ext cx="19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dt</a:t>
              </a:r>
              <a:endParaRPr kumimoji="0" lang="en-US" altLang="zh-CN" sz="1800" b="0">
                <a:latin typeface="Arial" pitchFamily="34" charset="0"/>
              </a:endParaRPr>
            </a:p>
          </p:txBody>
        </p:sp>
        <p:sp>
          <p:nvSpPr>
            <p:cNvPr id="52262" name="Rectangle 22"/>
            <p:cNvSpPr>
              <a:spLocks noChangeArrowheads="1"/>
            </p:cNvSpPr>
            <p:nvPr/>
          </p:nvSpPr>
          <p:spPr bwMode="auto">
            <a:xfrm>
              <a:off x="3029" y="2647"/>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d</a:t>
              </a:r>
              <a:endParaRPr kumimoji="0" lang="en-US" altLang="zh-CN" sz="1800" b="0">
                <a:latin typeface="Arial" pitchFamily="34" charset="0"/>
              </a:endParaRPr>
            </a:p>
          </p:txBody>
        </p:sp>
        <p:sp>
          <p:nvSpPr>
            <p:cNvPr id="52263" name="Rectangle 23"/>
            <p:cNvSpPr>
              <a:spLocks noChangeArrowheads="1"/>
            </p:cNvSpPr>
            <p:nvPr/>
          </p:nvSpPr>
          <p:spPr bwMode="auto">
            <a:xfrm>
              <a:off x="2706" y="2809"/>
              <a:ext cx="2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ml</a:t>
              </a:r>
              <a:endParaRPr kumimoji="0" lang="en-US" altLang="zh-CN" sz="1800" b="0">
                <a:latin typeface="Arial" pitchFamily="34" charset="0"/>
              </a:endParaRPr>
            </a:p>
          </p:txBody>
        </p:sp>
        <p:sp>
          <p:nvSpPr>
            <p:cNvPr id="52264" name="Rectangle 24"/>
            <p:cNvSpPr>
              <a:spLocks noChangeArrowheads="1"/>
            </p:cNvSpPr>
            <p:nvPr/>
          </p:nvSpPr>
          <p:spPr bwMode="auto">
            <a:xfrm>
              <a:off x="1987" y="2809"/>
              <a:ext cx="3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ma</a:t>
              </a:r>
              <a:endParaRPr kumimoji="0" lang="en-US" altLang="zh-CN" sz="1800" b="0">
                <a:latin typeface="Arial" pitchFamily="34" charset="0"/>
              </a:endParaRPr>
            </a:p>
          </p:txBody>
        </p:sp>
        <p:sp>
          <p:nvSpPr>
            <p:cNvPr id="52265" name="Rectangle 25"/>
            <p:cNvSpPr>
              <a:spLocks noChangeArrowheads="1"/>
            </p:cNvSpPr>
            <p:nvPr/>
          </p:nvSpPr>
          <p:spPr bwMode="auto">
            <a:xfrm>
              <a:off x="895" y="2809"/>
              <a:ext cx="3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mg</a:t>
              </a:r>
              <a:endParaRPr kumimoji="0" lang="en-US" altLang="zh-CN" sz="1800" b="0">
                <a:latin typeface="Arial" pitchFamily="34" charset="0"/>
              </a:endParaRPr>
            </a:p>
          </p:txBody>
        </p:sp>
        <p:sp>
          <p:nvSpPr>
            <p:cNvPr id="52266" name="Rectangle 26"/>
            <p:cNvSpPr>
              <a:spLocks noChangeArrowheads="1"/>
            </p:cNvSpPr>
            <p:nvPr/>
          </p:nvSpPr>
          <p:spPr bwMode="auto">
            <a:xfrm>
              <a:off x="509" y="2809"/>
              <a:ext cx="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f</a:t>
              </a:r>
              <a:endParaRPr kumimoji="0" lang="en-US" altLang="zh-CN" sz="1800" b="0">
                <a:latin typeface="Arial" pitchFamily="34" charset="0"/>
              </a:endParaRPr>
            </a:p>
          </p:txBody>
        </p:sp>
        <p:sp>
          <p:nvSpPr>
            <p:cNvPr id="52267" name="Rectangle 27"/>
            <p:cNvSpPr>
              <a:spLocks noChangeArrowheads="1"/>
            </p:cNvSpPr>
            <p:nvPr/>
          </p:nvSpPr>
          <p:spPr bwMode="auto">
            <a:xfrm>
              <a:off x="4319" y="1827"/>
              <a:ext cx="1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m</a:t>
              </a:r>
              <a:endParaRPr kumimoji="0" lang="en-US" altLang="zh-CN" sz="1800" b="0">
                <a:latin typeface="Arial" pitchFamily="34" charset="0"/>
              </a:endParaRPr>
            </a:p>
          </p:txBody>
        </p:sp>
        <p:sp>
          <p:nvSpPr>
            <p:cNvPr id="52268" name="Rectangle 28"/>
            <p:cNvSpPr>
              <a:spLocks noChangeArrowheads="1"/>
            </p:cNvSpPr>
            <p:nvPr/>
          </p:nvSpPr>
          <p:spPr bwMode="auto">
            <a:xfrm>
              <a:off x="816" y="1827"/>
              <a:ext cx="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rPr>
                <a:t>l</a:t>
              </a:r>
              <a:endParaRPr kumimoji="0" lang="en-US" altLang="zh-CN" sz="1800" b="0">
                <a:latin typeface="Arial" pitchFamily="34" charset="0"/>
              </a:endParaRPr>
            </a:p>
          </p:txBody>
        </p:sp>
        <p:sp>
          <p:nvSpPr>
            <p:cNvPr id="52269" name="Rectangle 29"/>
            <p:cNvSpPr>
              <a:spLocks noChangeArrowheads="1"/>
            </p:cNvSpPr>
            <p:nvPr/>
          </p:nvSpPr>
          <p:spPr bwMode="auto">
            <a:xfrm>
              <a:off x="3257" y="2618"/>
              <a:ext cx="13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latin typeface="Symbol" pitchFamily="18" charset="2"/>
                </a:rPr>
                <a:t>q</a:t>
              </a:r>
              <a:endParaRPr kumimoji="0" lang="en-US" altLang="zh-CN" sz="1800" b="0">
                <a:latin typeface="Arial" pitchFamily="34" charset="0"/>
              </a:endParaRPr>
            </a:p>
          </p:txBody>
        </p:sp>
        <p:sp>
          <p:nvSpPr>
            <p:cNvPr id="52270" name="Rectangle 30"/>
            <p:cNvSpPr>
              <a:spLocks noChangeArrowheads="1"/>
            </p:cNvSpPr>
            <p:nvPr/>
          </p:nvSpPr>
          <p:spPr bwMode="auto">
            <a:xfrm>
              <a:off x="1566" y="2780"/>
              <a:ext cx="13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latin typeface="Symbol" pitchFamily="18" charset="2"/>
                </a:rPr>
                <a:t>q</a:t>
              </a:r>
              <a:endParaRPr kumimoji="0" lang="en-US" altLang="zh-CN" sz="1800" b="0">
                <a:latin typeface="Arial" pitchFamily="34" charset="0"/>
              </a:endParaRPr>
            </a:p>
          </p:txBody>
        </p:sp>
        <p:sp>
          <p:nvSpPr>
            <p:cNvPr id="52271" name="Rectangle 31"/>
            <p:cNvSpPr>
              <a:spLocks noChangeArrowheads="1"/>
            </p:cNvSpPr>
            <p:nvPr/>
          </p:nvSpPr>
          <p:spPr bwMode="auto">
            <a:xfrm>
              <a:off x="4521" y="1176"/>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i="1">
                  <a:solidFill>
                    <a:srgbClr val="000000"/>
                  </a:solidFill>
                  <a:latin typeface="Symbol" pitchFamily="18" charset="2"/>
                </a:rPr>
                <a:t>p</a:t>
              </a:r>
              <a:endParaRPr kumimoji="0" lang="en-US" altLang="zh-CN" sz="1800" b="0">
                <a:latin typeface="Arial" pitchFamily="34" charset="0"/>
              </a:endParaRPr>
            </a:p>
          </p:txBody>
        </p:sp>
        <p:sp>
          <p:nvSpPr>
            <p:cNvPr id="52272" name="Rectangle 32"/>
            <p:cNvSpPr>
              <a:spLocks noChangeArrowheads="1"/>
            </p:cNvSpPr>
            <p:nvPr/>
          </p:nvSpPr>
          <p:spPr bwMode="auto">
            <a:xfrm>
              <a:off x="2559" y="2780"/>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latin typeface="Symbol" pitchFamily="18" charset="2"/>
                </a:rPr>
                <a:t>-</a:t>
              </a:r>
              <a:endParaRPr kumimoji="0" lang="en-US" altLang="zh-CN" sz="1800" b="0">
                <a:latin typeface="Arial" pitchFamily="34" charset="0"/>
              </a:endParaRPr>
            </a:p>
          </p:txBody>
        </p:sp>
        <p:sp>
          <p:nvSpPr>
            <p:cNvPr id="52273" name="Rectangle 33"/>
            <p:cNvSpPr>
              <a:spLocks noChangeArrowheads="1"/>
            </p:cNvSpPr>
            <p:nvPr/>
          </p:nvSpPr>
          <p:spPr bwMode="auto">
            <a:xfrm>
              <a:off x="2360" y="2780"/>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latin typeface="Symbol" pitchFamily="18" charset="2"/>
                </a:rPr>
                <a:t>=</a:t>
              </a:r>
              <a:endParaRPr kumimoji="0" lang="en-US" altLang="zh-CN" sz="1800" b="0">
                <a:latin typeface="Arial" pitchFamily="34" charset="0"/>
              </a:endParaRPr>
            </a:p>
          </p:txBody>
        </p:sp>
        <p:sp>
          <p:nvSpPr>
            <p:cNvPr id="52274" name="Rectangle 34"/>
            <p:cNvSpPr>
              <a:spLocks noChangeArrowheads="1"/>
            </p:cNvSpPr>
            <p:nvPr/>
          </p:nvSpPr>
          <p:spPr bwMode="auto">
            <a:xfrm>
              <a:off x="1788" y="2780"/>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latin typeface="Symbol" pitchFamily="18" charset="2"/>
                </a:rPr>
                <a:t>=</a:t>
              </a:r>
              <a:endParaRPr kumimoji="0" lang="en-US" altLang="zh-CN" sz="1800" b="0">
                <a:latin typeface="Arial" pitchFamily="34" charset="0"/>
              </a:endParaRPr>
            </a:p>
          </p:txBody>
        </p:sp>
        <p:sp>
          <p:nvSpPr>
            <p:cNvPr id="52275" name="Rectangle 35"/>
            <p:cNvSpPr>
              <a:spLocks noChangeArrowheads="1"/>
            </p:cNvSpPr>
            <p:nvPr/>
          </p:nvSpPr>
          <p:spPr bwMode="auto">
            <a:xfrm>
              <a:off x="696" y="2780"/>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latin typeface="Symbol" pitchFamily="18" charset="2"/>
                </a:rPr>
                <a:t>=</a:t>
              </a:r>
              <a:endParaRPr kumimoji="0" lang="en-US" altLang="zh-CN" sz="1800" b="0">
                <a:latin typeface="Arial" pitchFamily="34" charset="0"/>
              </a:endParaRPr>
            </a:p>
          </p:txBody>
        </p:sp>
        <p:sp>
          <p:nvSpPr>
            <p:cNvPr id="52276" name="Rectangle 36"/>
            <p:cNvSpPr>
              <a:spLocks noChangeArrowheads="1"/>
            </p:cNvSpPr>
            <p:nvPr/>
          </p:nvSpPr>
          <p:spPr bwMode="auto">
            <a:xfrm>
              <a:off x="4208" y="1176"/>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solidFill>
                    <a:srgbClr val="000000"/>
                  </a:solidFill>
                  <a:latin typeface="Symbol" pitchFamily="18" charset="2"/>
                </a:rPr>
                <a:t>=</a:t>
              </a:r>
              <a:endParaRPr kumimoji="0" lang="en-US" altLang="zh-CN" sz="1800" b="0">
                <a:latin typeface="Arial" pitchFamily="34" charset="0"/>
              </a:endParaRPr>
            </a:p>
          </p:txBody>
        </p:sp>
        <p:sp>
          <p:nvSpPr>
            <p:cNvPr id="52277" name="Rectangle 37"/>
            <p:cNvSpPr>
              <a:spLocks noChangeArrowheads="1"/>
            </p:cNvSpPr>
            <p:nvPr/>
          </p:nvSpPr>
          <p:spPr bwMode="auto">
            <a:xfrm>
              <a:off x="2710" y="2234"/>
              <a:ext cx="102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牛顿定律</a:t>
              </a:r>
              <a:endParaRPr kumimoji="0" lang="zh-CN" altLang="en-US" sz="1800" b="0">
                <a:latin typeface="Arial" pitchFamily="34" charset="0"/>
              </a:endParaRPr>
            </a:p>
          </p:txBody>
        </p:sp>
        <p:sp>
          <p:nvSpPr>
            <p:cNvPr id="52278" name="Rectangle 38"/>
            <p:cNvSpPr>
              <a:spLocks noChangeArrowheads="1"/>
            </p:cNvSpPr>
            <p:nvPr/>
          </p:nvSpPr>
          <p:spPr bwMode="auto">
            <a:xfrm>
              <a:off x="169" y="2234"/>
              <a:ext cx="256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的质量。如图所示：由</a:t>
              </a:r>
              <a:endParaRPr kumimoji="0" lang="zh-CN" altLang="en-US" sz="1800" b="0">
                <a:latin typeface="Arial" pitchFamily="34" charset="0"/>
              </a:endParaRPr>
            </a:p>
          </p:txBody>
        </p:sp>
        <p:sp>
          <p:nvSpPr>
            <p:cNvPr id="52279" name="Rectangle 39"/>
            <p:cNvSpPr>
              <a:spLocks noChangeArrowheads="1"/>
            </p:cNvSpPr>
            <p:nvPr/>
          </p:nvSpPr>
          <p:spPr bwMode="auto">
            <a:xfrm>
              <a:off x="4502" y="1835"/>
              <a:ext cx="76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是质点</a:t>
              </a:r>
              <a:endParaRPr kumimoji="0" lang="zh-CN" altLang="en-US" sz="1800" b="0">
                <a:latin typeface="Arial" pitchFamily="34" charset="0"/>
              </a:endParaRPr>
            </a:p>
          </p:txBody>
        </p:sp>
        <p:sp>
          <p:nvSpPr>
            <p:cNvPr id="52280" name="Rectangle 40"/>
            <p:cNvSpPr>
              <a:spLocks noChangeArrowheads="1"/>
            </p:cNvSpPr>
            <p:nvPr/>
          </p:nvSpPr>
          <p:spPr bwMode="auto">
            <a:xfrm>
              <a:off x="2031" y="1835"/>
              <a:ext cx="230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为自由落体加速度；</a:t>
              </a:r>
              <a:endParaRPr kumimoji="0" lang="zh-CN" altLang="en-US" sz="1800" b="0">
                <a:latin typeface="Arial" pitchFamily="34" charset="0"/>
              </a:endParaRPr>
            </a:p>
          </p:txBody>
        </p:sp>
        <p:sp>
          <p:nvSpPr>
            <p:cNvPr id="52281" name="Rectangle 41"/>
            <p:cNvSpPr>
              <a:spLocks noChangeArrowheads="1"/>
            </p:cNvSpPr>
            <p:nvPr/>
          </p:nvSpPr>
          <p:spPr bwMode="auto">
            <a:xfrm>
              <a:off x="887" y="1835"/>
              <a:ext cx="102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为摆长；</a:t>
              </a:r>
              <a:endParaRPr kumimoji="0" lang="zh-CN" altLang="en-US" sz="1800" b="0">
                <a:latin typeface="Arial" pitchFamily="34" charset="0"/>
              </a:endParaRPr>
            </a:p>
          </p:txBody>
        </p:sp>
        <p:sp>
          <p:nvSpPr>
            <p:cNvPr id="52282" name="Rectangle 42"/>
            <p:cNvSpPr>
              <a:spLocks noChangeArrowheads="1"/>
            </p:cNvSpPr>
            <p:nvPr/>
          </p:nvSpPr>
          <p:spPr bwMode="auto">
            <a:xfrm>
              <a:off x="188" y="1835"/>
              <a:ext cx="51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其中</a:t>
              </a:r>
              <a:endParaRPr kumimoji="0" lang="zh-CN" altLang="en-US" sz="1800" b="0">
                <a:latin typeface="Arial" pitchFamily="34" charset="0"/>
              </a:endParaRPr>
            </a:p>
          </p:txBody>
        </p:sp>
        <p:sp>
          <p:nvSpPr>
            <p:cNvPr id="52283" name="Rectangle 43"/>
            <p:cNvSpPr>
              <a:spLocks noChangeArrowheads="1"/>
            </p:cNvSpPr>
            <p:nvPr/>
          </p:nvSpPr>
          <p:spPr bwMode="auto">
            <a:xfrm>
              <a:off x="3227" y="1213"/>
              <a:ext cx="76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摆周期</a:t>
              </a:r>
              <a:endParaRPr kumimoji="0" lang="zh-CN" altLang="en-US" sz="1800" b="0">
                <a:latin typeface="Arial" pitchFamily="34" charset="0"/>
              </a:endParaRPr>
            </a:p>
          </p:txBody>
        </p:sp>
        <p:sp>
          <p:nvSpPr>
            <p:cNvPr id="52284" name="Rectangle 44"/>
            <p:cNvSpPr>
              <a:spLocks noChangeArrowheads="1"/>
            </p:cNvSpPr>
            <p:nvPr/>
          </p:nvSpPr>
          <p:spPr bwMode="auto">
            <a:xfrm>
              <a:off x="685" y="1213"/>
              <a:ext cx="256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b="0">
                  <a:solidFill>
                    <a:srgbClr val="000000"/>
                  </a:solidFill>
                  <a:latin typeface="宋体" pitchFamily="2" charset="-122"/>
                </a:rPr>
                <a:t>在物理学中我们知道单</a:t>
              </a:r>
              <a:endParaRPr kumimoji="0" lang="zh-CN" altLang="en-US" sz="1800" b="0">
                <a:latin typeface="Arial" pitchFamily="34" charset="0"/>
              </a:endParaRPr>
            </a:p>
          </p:txBody>
        </p:sp>
      </p:grpSp>
      <p:grpSp>
        <p:nvGrpSpPr>
          <p:cNvPr id="551996" name="Group 60"/>
          <p:cNvGrpSpPr>
            <a:grpSpLocks/>
          </p:cNvGrpSpPr>
          <p:nvPr/>
        </p:nvGrpSpPr>
        <p:grpSpPr bwMode="auto">
          <a:xfrm>
            <a:off x="395288" y="5038725"/>
            <a:ext cx="4968875" cy="1073150"/>
            <a:chOff x="249" y="3174"/>
            <a:chExt cx="3130" cy="676"/>
          </a:xfrm>
        </p:grpSpPr>
        <p:sp>
          <p:nvSpPr>
            <p:cNvPr id="551983" name="Line 47"/>
            <p:cNvSpPr>
              <a:spLocks noChangeShapeType="1"/>
            </p:cNvSpPr>
            <p:nvPr/>
          </p:nvSpPr>
          <p:spPr bwMode="auto">
            <a:xfrm>
              <a:off x="1473" y="3517"/>
              <a:ext cx="46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1984" name="Rectangle 48"/>
            <p:cNvSpPr>
              <a:spLocks noChangeArrowheads="1"/>
            </p:cNvSpPr>
            <p:nvPr/>
          </p:nvSpPr>
          <p:spPr bwMode="auto">
            <a:xfrm>
              <a:off x="2794" y="3359"/>
              <a:ext cx="30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a:solidFill>
                    <a:srgbClr val="000000"/>
                  </a:solidFill>
                </a:rPr>
                <a:t>sin</a:t>
              </a:r>
              <a:endParaRPr lang="en-US" altLang="zh-CN">
                <a:effectLst>
                  <a:outerShdw blurRad="38100" dist="38100" dir="2700000" algn="tl">
                    <a:srgbClr val="C0C0C0"/>
                  </a:outerShdw>
                </a:effectLst>
              </a:endParaRPr>
            </a:p>
          </p:txBody>
        </p:sp>
        <p:sp>
          <p:nvSpPr>
            <p:cNvPr id="551985" name="Rectangle 49"/>
            <p:cNvSpPr>
              <a:spLocks noChangeArrowheads="1"/>
            </p:cNvSpPr>
            <p:nvPr/>
          </p:nvSpPr>
          <p:spPr bwMode="auto">
            <a:xfrm>
              <a:off x="1779" y="3532"/>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a:solidFill>
                    <a:srgbClr val="000000"/>
                  </a:solidFill>
                </a:rPr>
                <a:t>2</a:t>
              </a:r>
              <a:endParaRPr lang="en-US" altLang="zh-CN">
                <a:effectLst>
                  <a:outerShdw blurRad="38100" dist="38100" dir="2700000" algn="tl">
                    <a:srgbClr val="C0C0C0"/>
                  </a:outerShdw>
                </a:effectLst>
              </a:endParaRPr>
            </a:p>
          </p:txBody>
        </p:sp>
        <p:sp>
          <p:nvSpPr>
            <p:cNvPr id="551986" name="Rectangle 50"/>
            <p:cNvSpPr>
              <a:spLocks noChangeArrowheads="1"/>
            </p:cNvSpPr>
            <p:nvPr/>
          </p:nvSpPr>
          <p:spPr bwMode="auto">
            <a:xfrm>
              <a:off x="1675" y="3183"/>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a:solidFill>
                    <a:srgbClr val="000000"/>
                  </a:solidFill>
                </a:rPr>
                <a:t>2</a:t>
              </a:r>
              <a:endParaRPr lang="en-US" altLang="zh-CN">
                <a:effectLst>
                  <a:outerShdw blurRad="38100" dist="38100" dir="2700000" algn="tl">
                    <a:srgbClr val="C0C0C0"/>
                  </a:outerShdw>
                </a:effectLst>
              </a:endParaRPr>
            </a:p>
          </p:txBody>
        </p:sp>
        <p:sp>
          <p:nvSpPr>
            <p:cNvPr id="551987" name="Rectangle 51"/>
            <p:cNvSpPr>
              <a:spLocks noChangeArrowheads="1"/>
            </p:cNvSpPr>
            <p:nvPr/>
          </p:nvSpPr>
          <p:spPr bwMode="auto">
            <a:xfrm>
              <a:off x="2237" y="3330"/>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1988" name="Rectangle 52"/>
            <p:cNvSpPr>
              <a:spLocks noChangeArrowheads="1"/>
            </p:cNvSpPr>
            <p:nvPr/>
          </p:nvSpPr>
          <p:spPr bwMode="auto">
            <a:xfrm>
              <a:off x="2016" y="3330"/>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1989" name="Rectangle 53"/>
            <p:cNvSpPr>
              <a:spLocks noChangeArrowheads="1"/>
            </p:cNvSpPr>
            <p:nvPr/>
          </p:nvSpPr>
          <p:spPr bwMode="auto">
            <a:xfrm>
              <a:off x="3148" y="3330"/>
              <a:ext cx="23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defRPr/>
              </a:pPr>
              <a:r>
                <a:rPr lang="en-US" altLang="zh-CN" sz="31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1990" name="Rectangle 54"/>
            <p:cNvSpPr>
              <a:spLocks noChangeArrowheads="1"/>
            </p:cNvSpPr>
            <p:nvPr/>
          </p:nvSpPr>
          <p:spPr bwMode="auto">
            <a:xfrm>
              <a:off x="1745" y="3174"/>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1991" name="Rectangle 55"/>
            <p:cNvSpPr>
              <a:spLocks noChangeArrowheads="1"/>
            </p:cNvSpPr>
            <p:nvPr/>
          </p:nvSpPr>
          <p:spPr bwMode="auto">
            <a:xfrm>
              <a:off x="2401" y="3359"/>
              <a:ext cx="3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mg</a:t>
              </a:r>
              <a:endParaRPr lang="en-US" altLang="zh-CN">
                <a:effectLst>
                  <a:outerShdw blurRad="38100" dist="38100" dir="2700000" algn="tl">
                    <a:srgbClr val="C0C0C0"/>
                  </a:outerShdw>
                </a:effectLst>
              </a:endParaRPr>
            </a:p>
          </p:txBody>
        </p:sp>
        <p:sp>
          <p:nvSpPr>
            <p:cNvPr id="551992" name="Rectangle 56"/>
            <p:cNvSpPr>
              <a:spLocks noChangeArrowheads="1"/>
            </p:cNvSpPr>
            <p:nvPr/>
          </p:nvSpPr>
          <p:spPr bwMode="auto">
            <a:xfrm>
              <a:off x="1529" y="3552"/>
              <a:ext cx="19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dt</a:t>
              </a:r>
              <a:endParaRPr lang="en-US" altLang="zh-CN">
                <a:effectLst>
                  <a:outerShdw blurRad="38100" dist="38100" dir="2700000" algn="tl">
                    <a:srgbClr val="C0C0C0"/>
                  </a:outerShdw>
                </a:effectLst>
              </a:endParaRPr>
            </a:p>
          </p:txBody>
        </p:sp>
        <p:sp>
          <p:nvSpPr>
            <p:cNvPr id="551993" name="Rectangle 57"/>
            <p:cNvSpPr>
              <a:spLocks noChangeArrowheads="1"/>
            </p:cNvSpPr>
            <p:nvPr/>
          </p:nvSpPr>
          <p:spPr bwMode="auto">
            <a:xfrm>
              <a:off x="1492" y="3203"/>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d</a:t>
              </a:r>
              <a:endParaRPr lang="en-US" altLang="zh-CN">
                <a:effectLst>
                  <a:outerShdw blurRad="38100" dist="38100" dir="2700000" algn="tl">
                    <a:srgbClr val="C0C0C0"/>
                  </a:outerShdw>
                </a:effectLst>
              </a:endParaRPr>
            </a:p>
          </p:txBody>
        </p:sp>
        <p:sp>
          <p:nvSpPr>
            <p:cNvPr id="551994" name="Rectangle 58"/>
            <p:cNvSpPr>
              <a:spLocks noChangeArrowheads="1"/>
            </p:cNvSpPr>
            <p:nvPr/>
          </p:nvSpPr>
          <p:spPr bwMode="auto">
            <a:xfrm>
              <a:off x="1132" y="3359"/>
              <a:ext cx="2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ml</a:t>
              </a:r>
              <a:endParaRPr lang="en-US" altLang="zh-CN">
                <a:effectLst>
                  <a:outerShdw blurRad="38100" dist="38100" dir="2700000" algn="tl">
                    <a:srgbClr val="C0C0C0"/>
                  </a:outerShdw>
                </a:effectLst>
              </a:endParaRPr>
            </a:p>
          </p:txBody>
        </p:sp>
        <p:sp>
          <p:nvSpPr>
            <p:cNvPr id="551995" name="Rectangle 59"/>
            <p:cNvSpPr>
              <a:spLocks noChangeArrowheads="1"/>
            </p:cNvSpPr>
            <p:nvPr/>
          </p:nvSpPr>
          <p:spPr bwMode="auto">
            <a:xfrm>
              <a:off x="249" y="3366"/>
              <a:ext cx="49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a:solidFill>
                    <a:srgbClr val="000000"/>
                  </a:solidFill>
                  <a:latin typeface="宋体" pitchFamily="2" charset="-122"/>
                  <a:ea typeface="宋体" pitchFamily="2" charset="-122"/>
                </a:rPr>
                <a:t>所以</a:t>
              </a:r>
              <a:endParaRPr lang="zh-CN" altLang="en-US">
                <a:effectLst>
                  <a:outerShdw blurRad="38100" dist="38100" dir="2700000" algn="tl">
                    <a:srgbClr val="C0C0C0"/>
                  </a:outerShdw>
                </a:effectLst>
              </a:endParaRPr>
            </a:p>
          </p:txBody>
        </p:sp>
      </p:grpSp>
      <p:sp>
        <p:nvSpPr>
          <p:cNvPr id="52231" name="Rectangle 61"/>
          <p:cNvSpPr>
            <a:spLocks noChangeArrowheads="1"/>
          </p:cNvSpPr>
          <p:nvPr/>
        </p:nvSpPr>
        <p:spPr bwMode="auto">
          <a:xfrm>
            <a:off x="2268538" y="260350"/>
            <a:ext cx="3024187" cy="102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spcBef>
                <a:spcPct val="0"/>
              </a:spcBef>
              <a:buClrTx/>
              <a:buFontTx/>
              <a:buNone/>
            </a:pPr>
            <a:r>
              <a:rPr lang="zh-CN" altLang="en-US" sz="4400">
                <a:solidFill>
                  <a:schemeClr val="tx2"/>
                </a:solidFill>
              </a:rPr>
              <a:t>误差分析</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1939"/>
                                        </p:tgtEl>
                                        <p:attrNameLst>
                                          <p:attrName>style.visibility</p:attrName>
                                        </p:attrNameLst>
                                      </p:cBhvr>
                                      <p:to>
                                        <p:strVal val="visible"/>
                                      </p:to>
                                    </p:set>
                                    <p:anim calcmode="lin" valueType="num">
                                      <p:cBhvr additive="base">
                                        <p:cTn id="7" dur="500" fill="hold"/>
                                        <p:tgtEl>
                                          <p:spTgt spid="551939"/>
                                        </p:tgtEl>
                                        <p:attrNameLst>
                                          <p:attrName>ppt_x</p:attrName>
                                        </p:attrNameLst>
                                      </p:cBhvr>
                                      <p:tavLst>
                                        <p:tav tm="0">
                                          <p:val>
                                            <p:strVal val="#ppt_x"/>
                                          </p:val>
                                        </p:tav>
                                        <p:tav tm="100000">
                                          <p:val>
                                            <p:strVal val="#ppt_x"/>
                                          </p:val>
                                        </p:tav>
                                      </p:tavLst>
                                    </p:anim>
                                    <p:anim calcmode="lin" valueType="num">
                                      <p:cBhvr additive="base">
                                        <p:cTn id="8" dur="500" fill="hold"/>
                                        <p:tgtEl>
                                          <p:spTgt spid="55193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51940"/>
                                        </p:tgtEl>
                                        <p:attrNameLst>
                                          <p:attrName>style.visibility</p:attrName>
                                        </p:attrNameLst>
                                      </p:cBhvr>
                                      <p:to>
                                        <p:strVal val="visible"/>
                                      </p:to>
                                    </p:set>
                                    <p:anim calcmode="lin" valueType="num">
                                      <p:cBhvr additive="base">
                                        <p:cTn id="13" dur="500" fill="hold"/>
                                        <p:tgtEl>
                                          <p:spTgt spid="551940"/>
                                        </p:tgtEl>
                                        <p:attrNameLst>
                                          <p:attrName>ppt_x</p:attrName>
                                        </p:attrNameLst>
                                      </p:cBhvr>
                                      <p:tavLst>
                                        <p:tav tm="0">
                                          <p:val>
                                            <p:strVal val="#ppt_x"/>
                                          </p:val>
                                        </p:tav>
                                        <p:tav tm="100000">
                                          <p:val>
                                            <p:strVal val="#ppt_x"/>
                                          </p:val>
                                        </p:tav>
                                      </p:tavLst>
                                    </p:anim>
                                    <p:anim calcmode="lin" valueType="num">
                                      <p:cBhvr additive="base">
                                        <p:cTn id="14" dur="500" fill="hold"/>
                                        <p:tgtEl>
                                          <p:spTgt spid="55194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51996"/>
                                        </p:tgtEl>
                                        <p:attrNameLst>
                                          <p:attrName>style.visibility</p:attrName>
                                        </p:attrNameLst>
                                      </p:cBhvr>
                                      <p:to>
                                        <p:strVal val="visible"/>
                                      </p:to>
                                    </p:set>
                                    <p:anim calcmode="lin" valueType="num">
                                      <p:cBhvr additive="base">
                                        <p:cTn id="19" dur="500" fill="hold"/>
                                        <p:tgtEl>
                                          <p:spTgt spid="551996"/>
                                        </p:tgtEl>
                                        <p:attrNameLst>
                                          <p:attrName>ppt_x</p:attrName>
                                        </p:attrNameLst>
                                      </p:cBhvr>
                                      <p:tavLst>
                                        <p:tav tm="0">
                                          <p:val>
                                            <p:strVal val="#ppt_x"/>
                                          </p:val>
                                        </p:tav>
                                        <p:tav tm="100000">
                                          <p:val>
                                            <p:strVal val="#ppt_x"/>
                                          </p:val>
                                        </p:tav>
                                      </p:tavLst>
                                    </p:anim>
                                    <p:anim calcmode="lin" valueType="num">
                                      <p:cBhvr additive="base">
                                        <p:cTn id="20" dur="500" fill="hold"/>
                                        <p:tgtEl>
                                          <p:spTgt spid="55199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 name="灯片编号占位符 5"/>
          <p:cNvSpPr>
            <a:spLocks noGrp="1"/>
          </p:cNvSpPr>
          <p:nvPr>
            <p:ph type="sldNum" sz="quarter" idx="12"/>
          </p:nvPr>
        </p:nvSpPr>
        <p:spPr/>
        <p:txBody>
          <a:bodyPr/>
          <a:lstStyle/>
          <a:p>
            <a:pPr>
              <a:defRPr/>
            </a:pPr>
            <a:fld id="{6A9EA261-912B-40FD-BE7F-F7CEE3008BA2}" type="slidenum">
              <a:rPr lang="zh-CN" altLang="en-US"/>
              <a:pPr>
                <a:defRPr/>
              </a:pPr>
              <a:t>48</a:t>
            </a:fld>
            <a:endParaRPr lang="en-US" altLang="zh-CN"/>
          </a:p>
        </p:txBody>
      </p:sp>
      <p:grpSp>
        <p:nvGrpSpPr>
          <p:cNvPr id="553026" name="Group 66"/>
          <p:cNvGrpSpPr>
            <a:grpSpLocks/>
          </p:cNvGrpSpPr>
          <p:nvPr/>
        </p:nvGrpSpPr>
        <p:grpSpPr bwMode="auto">
          <a:xfrm>
            <a:off x="611188" y="4606181"/>
            <a:ext cx="5607050" cy="2135187"/>
            <a:chOff x="583" y="2344"/>
            <a:chExt cx="3532" cy="1345"/>
          </a:xfrm>
        </p:grpSpPr>
        <p:sp>
          <p:nvSpPr>
            <p:cNvPr id="552969" name="Line 9"/>
            <p:cNvSpPr>
              <a:spLocks noChangeShapeType="1"/>
            </p:cNvSpPr>
            <p:nvPr/>
          </p:nvSpPr>
          <p:spPr bwMode="auto">
            <a:xfrm>
              <a:off x="3909" y="2658"/>
              <a:ext cx="206"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2970" name="Line 10"/>
            <p:cNvSpPr>
              <a:spLocks noChangeShapeType="1"/>
            </p:cNvSpPr>
            <p:nvPr/>
          </p:nvSpPr>
          <p:spPr bwMode="auto">
            <a:xfrm>
              <a:off x="1493" y="3356"/>
              <a:ext cx="46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2971" name="Rectangle 11"/>
            <p:cNvSpPr>
              <a:spLocks noChangeArrowheads="1"/>
            </p:cNvSpPr>
            <p:nvPr/>
          </p:nvSpPr>
          <p:spPr bwMode="auto">
            <a:xfrm>
              <a:off x="2967" y="3197"/>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rPr>
                <a:t>0</a:t>
              </a:r>
              <a:endParaRPr lang="en-US" altLang="zh-CN">
                <a:effectLst>
                  <a:outerShdw blurRad="38100" dist="38100" dir="2700000" algn="tl">
                    <a:srgbClr val="C0C0C0"/>
                  </a:outerShdw>
                </a:effectLst>
              </a:endParaRPr>
            </a:p>
          </p:txBody>
        </p:sp>
        <p:sp>
          <p:nvSpPr>
            <p:cNvPr id="552972" name="Rectangle 12"/>
            <p:cNvSpPr>
              <a:spLocks noChangeArrowheads="1"/>
            </p:cNvSpPr>
            <p:nvPr/>
          </p:nvSpPr>
          <p:spPr bwMode="auto">
            <a:xfrm>
              <a:off x="2904" y="2500"/>
              <a:ext cx="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rPr>
                <a:t>,</a:t>
              </a:r>
              <a:endParaRPr lang="en-US" altLang="zh-CN">
                <a:effectLst>
                  <a:outerShdw blurRad="38100" dist="38100" dir="2700000" algn="tl">
                    <a:srgbClr val="C0C0C0"/>
                  </a:outerShdw>
                </a:effectLst>
              </a:endParaRPr>
            </a:p>
          </p:txBody>
        </p:sp>
        <p:sp>
          <p:nvSpPr>
            <p:cNvPr id="552973" name="Rectangle 13"/>
            <p:cNvSpPr>
              <a:spLocks noChangeArrowheads="1"/>
            </p:cNvSpPr>
            <p:nvPr/>
          </p:nvSpPr>
          <p:spPr bwMode="auto">
            <a:xfrm>
              <a:off x="1949" y="2500"/>
              <a:ext cx="29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rPr>
                <a:t>sin</a:t>
              </a:r>
              <a:endParaRPr lang="en-US" altLang="zh-CN">
                <a:effectLst>
                  <a:outerShdw blurRad="38100" dist="38100" dir="2700000" algn="tl">
                    <a:srgbClr val="C0C0C0"/>
                  </a:outerShdw>
                </a:effectLst>
              </a:endParaRPr>
            </a:p>
          </p:txBody>
        </p:sp>
        <p:sp>
          <p:nvSpPr>
            <p:cNvPr id="552974" name="Rectangle 14"/>
            <p:cNvSpPr>
              <a:spLocks noChangeArrowheads="1"/>
            </p:cNvSpPr>
            <p:nvPr/>
          </p:nvSpPr>
          <p:spPr bwMode="auto">
            <a:xfrm>
              <a:off x="1852" y="2500"/>
              <a:ext cx="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rPr>
                <a:t>,</a:t>
              </a:r>
              <a:endParaRPr lang="en-US" altLang="zh-CN">
                <a:effectLst>
                  <a:outerShdw blurRad="38100" dist="38100" dir="2700000" algn="tl">
                    <a:srgbClr val="C0C0C0"/>
                  </a:outerShdw>
                </a:effectLst>
              </a:endParaRPr>
            </a:p>
          </p:txBody>
        </p:sp>
        <p:sp>
          <p:nvSpPr>
            <p:cNvPr id="552978" name="Rectangle 18"/>
            <p:cNvSpPr>
              <a:spLocks noChangeArrowheads="1"/>
            </p:cNvSpPr>
            <p:nvPr/>
          </p:nvSpPr>
          <p:spPr bwMode="auto">
            <a:xfrm>
              <a:off x="2432" y="3178"/>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0">
                  <a:solidFill>
                    <a:srgbClr val="000000"/>
                  </a:solidFill>
                </a:rPr>
                <a:t>2</a:t>
              </a:r>
              <a:endParaRPr lang="en-US" altLang="zh-CN">
                <a:effectLst>
                  <a:outerShdw blurRad="38100" dist="38100" dir="2700000" algn="tl">
                    <a:srgbClr val="C0C0C0"/>
                  </a:outerShdw>
                </a:effectLst>
              </a:endParaRPr>
            </a:p>
          </p:txBody>
        </p:sp>
        <p:sp>
          <p:nvSpPr>
            <p:cNvPr id="552979" name="Rectangle 19"/>
            <p:cNvSpPr>
              <a:spLocks noChangeArrowheads="1"/>
            </p:cNvSpPr>
            <p:nvPr/>
          </p:nvSpPr>
          <p:spPr bwMode="auto">
            <a:xfrm>
              <a:off x="1800" y="3371"/>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a:solidFill>
                    <a:srgbClr val="000000"/>
                  </a:solidFill>
                </a:rPr>
                <a:t>2</a:t>
              </a:r>
              <a:endParaRPr lang="en-US" altLang="zh-CN">
                <a:effectLst>
                  <a:outerShdw blurRad="38100" dist="38100" dir="2700000" algn="tl">
                    <a:srgbClr val="C0C0C0"/>
                  </a:outerShdw>
                </a:effectLst>
              </a:endParaRPr>
            </a:p>
          </p:txBody>
        </p:sp>
        <p:sp>
          <p:nvSpPr>
            <p:cNvPr id="552980" name="Rectangle 20"/>
            <p:cNvSpPr>
              <a:spLocks noChangeArrowheads="1"/>
            </p:cNvSpPr>
            <p:nvPr/>
          </p:nvSpPr>
          <p:spPr bwMode="auto">
            <a:xfrm>
              <a:off x="1696" y="3022"/>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0">
                  <a:solidFill>
                    <a:srgbClr val="000000"/>
                  </a:solidFill>
                </a:rPr>
                <a:t>2</a:t>
              </a:r>
              <a:endParaRPr lang="en-US" altLang="zh-CN">
                <a:effectLst>
                  <a:outerShdw blurRad="38100" dist="38100" dir="2700000" algn="tl">
                    <a:srgbClr val="C0C0C0"/>
                  </a:outerShdw>
                </a:effectLst>
              </a:endParaRPr>
            </a:p>
          </p:txBody>
        </p:sp>
        <p:sp>
          <p:nvSpPr>
            <p:cNvPr id="552981" name="Rectangle 21"/>
            <p:cNvSpPr>
              <a:spLocks noChangeArrowheads="1"/>
            </p:cNvSpPr>
            <p:nvPr/>
          </p:nvSpPr>
          <p:spPr bwMode="auto">
            <a:xfrm>
              <a:off x="3507" y="2480"/>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0">
                  <a:solidFill>
                    <a:srgbClr val="000000"/>
                  </a:solidFill>
                </a:rPr>
                <a:t>2</a:t>
              </a:r>
              <a:endParaRPr lang="en-US" altLang="zh-CN">
                <a:effectLst>
                  <a:outerShdw blurRad="38100" dist="38100" dir="2700000" algn="tl">
                    <a:srgbClr val="C0C0C0"/>
                  </a:outerShdw>
                </a:effectLst>
              </a:endParaRPr>
            </a:p>
          </p:txBody>
        </p:sp>
        <p:sp>
          <p:nvSpPr>
            <p:cNvPr id="552986" name="Rectangle 26"/>
            <p:cNvSpPr>
              <a:spLocks noChangeArrowheads="1"/>
            </p:cNvSpPr>
            <p:nvPr/>
          </p:nvSpPr>
          <p:spPr bwMode="auto">
            <a:xfrm>
              <a:off x="2750" y="3168"/>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dirty="0">
                  <a:solidFill>
                    <a:srgbClr val="000000"/>
                  </a:solidFill>
                  <a:latin typeface="Symbol" pitchFamily="18" charset="2"/>
                </a:rPr>
                <a:t>=</a:t>
              </a:r>
              <a:endParaRPr lang="en-US" altLang="zh-CN" dirty="0">
                <a:effectLst>
                  <a:outerShdw blurRad="38100" dist="38100" dir="2700000" algn="tl">
                    <a:srgbClr val="C0C0C0"/>
                  </a:outerShdw>
                </a:effectLst>
              </a:endParaRPr>
            </a:p>
          </p:txBody>
        </p:sp>
        <p:sp>
          <p:nvSpPr>
            <p:cNvPr id="552987" name="Rectangle 27"/>
            <p:cNvSpPr>
              <a:spLocks noChangeArrowheads="1"/>
            </p:cNvSpPr>
            <p:nvPr/>
          </p:nvSpPr>
          <p:spPr bwMode="auto">
            <a:xfrm>
              <a:off x="2019" y="3168"/>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2988" name="Rectangle 28"/>
            <p:cNvSpPr>
              <a:spLocks noChangeArrowheads="1"/>
            </p:cNvSpPr>
            <p:nvPr/>
          </p:nvSpPr>
          <p:spPr bwMode="auto">
            <a:xfrm>
              <a:off x="3683" y="2471"/>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2989" name="Rectangle 29"/>
            <p:cNvSpPr>
              <a:spLocks noChangeArrowheads="1"/>
            </p:cNvSpPr>
            <p:nvPr/>
          </p:nvSpPr>
          <p:spPr bwMode="auto">
            <a:xfrm>
              <a:off x="2528" y="2471"/>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2994" name="Rectangle 34"/>
            <p:cNvSpPr>
              <a:spLocks noChangeArrowheads="1"/>
            </p:cNvSpPr>
            <p:nvPr/>
          </p:nvSpPr>
          <p:spPr bwMode="auto">
            <a:xfrm>
              <a:off x="2502" y="3168"/>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2995" name="Rectangle 35"/>
            <p:cNvSpPr>
              <a:spLocks noChangeArrowheads="1"/>
            </p:cNvSpPr>
            <p:nvPr/>
          </p:nvSpPr>
          <p:spPr bwMode="auto">
            <a:xfrm>
              <a:off x="2209" y="3168"/>
              <a:ext cx="17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w</a:t>
              </a:r>
              <a:endParaRPr lang="en-US" altLang="zh-CN">
                <a:effectLst>
                  <a:outerShdw blurRad="38100" dist="38100" dir="2700000" algn="tl">
                    <a:srgbClr val="C0C0C0"/>
                  </a:outerShdw>
                </a:effectLst>
              </a:endParaRPr>
            </a:p>
          </p:txBody>
        </p:sp>
        <p:sp>
          <p:nvSpPr>
            <p:cNvPr id="552996" name="Rectangle 36"/>
            <p:cNvSpPr>
              <a:spLocks noChangeArrowheads="1"/>
            </p:cNvSpPr>
            <p:nvPr/>
          </p:nvSpPr>
          <p:spPr bwMode="auto">
            <a:xfrm>
              <a:off x="1766" y="3012"/>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2997" name="Rectangle 37"/>
            <p:cNvSpPr>
              <a:spLocks noChangeArrowheads="1"/>
            </p:cNvSpPr>
            <p:nvPr/>
          </p:nvSpPr>
          <p:spPr bwMode="auto">
            <a:xfrm>
              <a:off x="3284" y="2471"/>
              <a:ext cx="17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dirty="0">
                  <a:solidFill>
                    <a:srgbClr val="000000"/>
                  </a:solidFill>
                  <a:latin typeface="Symbol" pitchFamily="18" charset="2"/>
                </a:rPr>
                <a:t>w</a:t>
              </a:r>
              <a:endParaRPr lang="en-US" altLang="zh-CN" dirty="0">
                <a:effectLst>
                  <a:outerShdw blurRad="38100" dist="38100" dir="2700000" algn="tl">
                    <a:srgbClr val="C0C0C0"/>
                  </a:outerShdw>
                </a:effectLst>
              </a:endParaRPr>
            </a:p>
          </p:txBody>
        </p:sp>
        <p:sp>
          <p:nvSpPr>
            <p:cNvPr id="552998" name="Rectangle 38"/>
            <p:cNvSpPr>
              <a:spLocks noChangeArrowheads="1"/>
            </p:cNvSpPr>
            <p:nvPr/>
          </p:nvSpPr>
          <p:spPr bwMode="auto">
            <a:xfrm>
              <a:off x="2723" y="2471"/>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2999" name="Rectangle 39"/>
            <p:cNvSpPr>
              <a:spLocks noChangeArrowheads="1"/>
            </p:cNvSpPr>
            <p:nvPr/>
          </p:nvSpPr>
          <p:spPr bwMode="auto">
            <a:xfrm>
              <a:off x="2281" y="2471"/>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3000" name="Rectangle 40"/>
            <p:cNvSpPr>
              <a:spLocks noChangeArrowheads="1"/>
            </p:cNvSpPr>
            <p:nvPr/>
          </p:nvSpPr>
          <p:spPr bwMode="auto">
            <a:xfrm>
              <a:off x="866" y="2471"/>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3005" name="Rectangle 45"/>
            <p:cNvSpPr>
              <a:spLocks noChangeArrowheads="1"/>
            </p:cNvSpPr>
            <p:nvPr/>
          </p:nvSpPr>
          <p:spPr bwMode="auto">
            <a:xfrm>
              <a:off x="1550" y="3391"/>
              <a:ext cx="19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dt</a:t>
              </a:r>
              <a:endParaRPr lang="en-US" altLang="zh-CN" b="0">
                <a:effectLst>
                  <a:outerShdw blurRad="38100" dist="38100" dir="2700000" algn="tl">
                    <a:srgbClr val="C0C0C0"/>
                  </a:outerShdw>
                </a:effectLst>
              </a:endParaRPr>
            </a:p>
          </p:txBody>
        </p:sp>
        <p:sp>
          <p:nvSpPr>
            <p:cNvPr id="553006" name="Rectangle 46"/>
            <p:cNvSpPr>
              <a:spLocks noChangeArrowheads="1"/>
            </p:cNvSpPr>
            <p:nvPr/>
          </p:nvSpPr>
          <p:spPr bwMode="auto">
            <a:xfrm>
              <a:off x="1512" y="3041"/>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d</a:t>
              </a:r>
              <a:endParaRPr lang="en-US" altLang="zh-CN">
                <a:effectLst>
                  <a:outerShdw blurRad="38100" dist="38100" dir="2700000" algn="tl">
                    <a:srgbClr val="C0C0C0"/>
                  </a:outerShdw>
                </a:effectLst>
              </a:endParaRPr>
            </a:p>
          </p:txBody>
        </p:sp>
        <p:sp>
          <p:nvSpPr>
            <p:cNvPr id="553007" name="Rectangle 47"/>
            <p:cNvSpPr>
              <a:spLocks noChangeArrowheads="1"/>
            </p:cNvSpPr>
            <p:nvPr/>
          </p:nvSpPr>
          <p:spPr bwMode="auto">
            <a:xfrm>
              <a:off x="3963" y="2693"/>
              <a:ext cx="6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l</a:t>
              </a:r>
              <a:endParaRPr lang="en-US" altLang="zh-CN">
                <a:effectLst>
                  <a:outerShdw blurRad="38100" dist="38100" dir="2700000" algn="tl">
                    <a:srgbClr val="C0C0C0"/>
                  </a:outerShdw>
                </a:effectLst>
              </a:endParaRPr>
            </a:p>
          </p:txBody>
        </p:sp>
        <p:sp>
          <p:nvSpPr>
            <p:cNvPr id="553008" name="Rectangle 48"/>
            <p:cNvSpPr>
              <a:spLocks noChangeArrowheads="1"/>
            </p:cNvSpPr>
            <p:nvPr/>
          </p:nvSpPr>
          <p:spPr bwMode="auto">
            <a:xfrm>
              <a:off x="3941" y="2344"/>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g</a:t>
              </a:r>
              <a:endParaRPr lang="en-US" altLang="zh-CN">
                <a:effectLst>
                  <a:outerShdw blurRad="38100" dist="38100" dir="2700000" algn="tl">
                    <a:srgbClr val="C0C0C0"/>
                  </a:outerShdw>
                </a:effectLst>
              </a:endParaRPr>
            </a:p>
          </p:txBody>
        </p:sp>
        <p:sp>
          <p:nvSpPr>
            <p:cNvPr id="553017" name="Rectangle 57"/>
            <p:cNvSpPr>
              <a:spLocks noChangeArrowheads="1"/>
            </p:cNvSpPr>
            <p:nvPr/>
          </p:nvSpPr>
          <p:spPr bwMode="auto">
            <a:xfrm>
              <a:off x="596" y="3204"/>
              <a:ext cx="49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b="0">
                  <a:solidFill>
                    <a:srgbClr val="000000"/>
                  </a:solidFill>
                  <a:latin typeface="宋体" pitchFamily="2" charset="-122"/>
                  <a:ea typeface="宋体" pitchFamily="2" charset="-122"/>
                </a:rPr>
                <a:t>则有</a:t>
              </a:r>
              <a:endParaRPr lang="zh-CN" altLang="en-US">
                <a:effectLst>
                  <a:outerShdw blurRad="38100" dist="38100" dir="2700000" algn="tl">
                    <a:srgbClr val="C0C0C0"/>
                  </a:outerShdw>
                </a:effectLst>
              </a:endParaRPr>
            </a:p>
          </p:txBody>
        </p:sp>
        <p:sp>
          <p:nvSpPr>
            <p:cNvPr id="553018" name="Rectangle 58"/>
            <p:cNvSpPr>
              <a:spLocks noChangeArrowheads="1"/>
            </p:cNvSpPr>
            <p:nvPr/>
          </p:nvSpPr>
          <p:spPr bwMode="auto">
            <a:xfrm>
              <a:off x="3001" y="2507"/>
              <a:ext cx="2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b="0">
                  <a:solidFill>
                    <a:srgbClr val="000000"/>
                  </a:solidFill>
                  <a:latin typeface="宋体" pitchFamily="2" charset="-122"/>
                  <a:ea typeface="宋体" pitchFamily="2" charset="-122"/>
                </a:rPr>
                <a:t>令</a:t>
              </a:r>
              <a:endParaRPr lang="zh-CN" altLang="en-US">
                <a:effectLst>
                  <a:outerShdw blurRad="38100" dist="38100" dir="2700000" algn="tl">
                    <a:srgbClr val="C0C0C0"/>
                  </a:outerShdw>
                </a:effectLst>
              </a:endParaRPr>
            </a:p>
          </p:txBody>
        </p:sp>
        <p:sp>
          <p:nvSpPr>
            <p:cNvPr id="553019" name="Rectangle 59"/>
            <p:cNvSpPr>
              <a:spLocks noChangeArrowheads="1"/>
            </p:cNvSpPr>
            <p:nvPr/>
          </p:nvSpPr>
          <p:spPr bwMode="auto">
            <a:xfrm>
              <a:off x="1012" y="2507"/>
              <a:ext cx="74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b="0" dirty="0">
                  <a:solidFill>
                    <a:srgbClr val="000000"/>
                  </a:solidFill>
                  <a:latin typeface="宋体" pitchFamily="2" charset="-122"/>
                  <a:ea typeface="宋体" pitchFamily="2" charset="-122"/>
                </a:rPr>
                <a:t>很小时</a:t>
              </a:r>
              <a:endParaRPr lang="zh-CN" altLang="en-US" dirty="0">
                <a:effectLst>
                  <a:outerShdw blurRad="38100" dist="38100" dir="2700000" algn="tl">
                    <a:srgbClr val="C0C0C0"/>
                  </a:outerShdw>
                </a:effectLst>
              </a:endParaRPr>
            </a:p>
          </p:txBody>
        </p:sp>
        <p:sp>
          <p:nvSpPr>
            <p:cNvPr id="553020" name="Rectangle 60"/>
            <p:cNvSpPr>
              <a:spLocks noChangeArrowheads="1"/>
            </p:cNvSpPr>
            <p:nvPr/>
          </p:nvSpPr>
          <p:spPr bwMode="auto">
            <a:xfrm>
              <a:off x="583" y="2507"/>
              <a:ext cx="2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b="0">
                  <a:solidFill>
                    <a:srgbClr val="000000"/>
                  </a:solidFill>
                  <a:latin typeface="宋体" pitchFamily="2" charset="-122"/>
                  <a:ea typeface="宋体" pitchFamily="2" charset="-122"/>
                </a:rPr>
                <a:t>当</a:t>
              </a:r>
              <a:endParaRPr lang="zh-CN" altLang="en-US">
                <a:effectLst>
                  <a:outerShdw blurRad="38100" dist="38100" dir="2700000" algn="tl">
                    <a:srgbClr val="C0C0C0"/>
                  </a:outerShdw>
                </a:effectLst>
              </a:endParaRPr>
            </a:p>
          </p:txBody>
        </p:sp>
      </p:grpSp>
      <p:grpSp>
        <p:nvGrpSpPr>
          <p:cNvPr id="553042" name="Group 82"/>
          <p:cNvGrpSpPr>
            <a:grpSpLocks/>
          </p:cNvGrpSpPr>
          <p:nvPr/>
        </p:nvGrpSpPr>
        <p:grpSpPr bwMode="auto">
          <a:xfrm>
            <a:off x="1792288" y="917179"/>
            <a:ext cx="4075112" cy="1114425"/>
            <a:chOff x="583" y="1480"/>
            <a:chExt cx="2525" cy="655"/>
          </a:xfrm>
        </p:grpSpPr>
        <p:sp>
          <p:nvSpPr>
            <p:cNvPr id="552967" name="Line 7"/>
            <p:cNvSpPr>
              <a:spLocks noChangeShapeType="1"/>
            </p:cNvSpPr>
            <p:nvPr/>
          </p:nvSpPr>
          <p:spPr bwMode="auto">
            <a:xfrm>
              <a:off x="1184" y="1823"/>
              <a:ext cx="46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2968" name="Line 8"/>
            <p:cNvSpPr>
              <a:spLocks noChangeShapeType="1"/>
            </p:cNvSpPr>
            <p:nvPr/>
          </p:nvSpPr>
          <p:spPr bwMode="auto">
            <a:xfrm>
              <a:off x="1922" y="1823"/>
              <a:ext cx="210"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2975" name="Rectangle 15"/>
            <p:cNvSpPr>
              <a:spLocks noChangeArrowheads="1"/>
            </p:cNvSpPr>
            <p:nvPr/>
          </p:nvSpPr>
          <p:spPr bwMode="auto">
            <a:xfrm>
              <a:off x="2986" y="1665"/>
              <a:ext cx="12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rPr>
                <a:t>0</a:t>
              </a:r>
              <a:endParaRPr lang="en-US" altLang="zh-CN">
                <a:effectLst>
                  <a:outerShdw blurRad="38100" dist="38100" dir="2700000" algn="tl">
                    <a:srgbClr val="C0C0C0"/>
                  </a:outerShdw>
                </a:effectLst>
              </a:endParaRPr>
            </a:p>
          </p:txBody>
        </p:sp>
        <p:sp>
          <p:nvSpPr>
            <p:cNvPr id="552976" name="Rectangle 16"/>
            <p:cNvSpPr>
              <a:spLocks noChangeArrowheads="1"/>
            </p:cNvSpPr>
            <p:nvPr/>
          </p:nvSpPr>
          <p:spPr bwMode="auto">
            <a:xfrm>
              <a:off x="2168" y="1665"/>
              <a:ext cx="285"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rPr>
                <a:t>sin</a:t>
              </a:r>
              <a:endParaRPr lang="en-US" altLang="zh-CN">
                <a:effectLst>
                  <a:outerShdw blurRad="38100" dist="38100" dir="2700000" algn="tl">
                    <a:srgbClr val="C0C0C0"/>
                  </a:outerShdw>
                </a:effectLst>
              </a:endParaRPr>
            </a:p>
          </p:txBody>
        </p:sp>
        <p:sp>
          <p:nvSpPr>
            <p:cNvPr id="552982" name="Rectangle 22"/>
            <p:cNvSpPr>
              <a:spLocks noChangeArrowheads="1"/>
            </p:cNvSpPr>
            <p:nvPr/>
          </p:nvSpPr>
          <p:spPr bwMode="auto">
            <a:xfrm>
              <a:off x="1490" y="1838"/>
              <a:ext cx="71"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0">
                  <a:solidFill>
                    <a:srgbClr val="000000"/>
                  </a:solidFill>
                </a:rPr>
                <a:t>2</a:t>
              </a:r>
              <a:endParaRPr lang="en-US" altLang="zh-CN">
                <a:effectLst>
                  <a:outerShdw blurRad="38100" dist="38100" dir="2700000" algn="tl">
                    <a:srgbClr val="C0C0C0"/>
                  </a:outerShdw>
                </a:effectLst>
              </a:endParaRPr>
            </a:p>
          </p:txBody>
        </p:sp>
        <p:sp>
          <p:nvSpPr>
            <p:cNvPr id="552983" name="Rectangle 23"/>
            <p:cNvSpPr>
              <a:spLocks noChangeArrowheads="1"/>
            </p:cNvSpPr>
            <p:nvPr/>
          </p:nvSpPr>
          <p:spPr bwMode="auto">
            <a:xfrm>
              <a:off x="1386" y="1489"/>
              <a:ext cx="80" cy="1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0">
                  <a:solidFill>
                    <a:srgbClr val="000000"/>
                  </a:solidFill>
                </a:rPr>
                <a:t>2</a:t>
              </a:r>
              <a:endParaRPr lang="en-US" altLang="zh-CN">
                <a:effectLst>
                  <a:outerShdw blurRad="38100" dist="38100" dir="2700000" algn="tl">
                    <a:srgbClr val="C0C0C0"/>
                  </a:outerShdw>
                </a:effectLst>
              </a:endParaRPr>
            </a:p>
          </p:txBody>
        </p:sp>
        <p:sp>
          <p:nvSpPr>
            <p:cNvPr id="552990" name="Rectangle 30"/>
            <p:cNvSpPr>
              <a:spLocks noChangeArrowheads="1"/>
            </p:cNvSpPr>
            <p:nvPr/>
          </p:nvSpPr>
          <p:spPr bwMode="auto">
            <a:xfrm>
              <a:off x="2769" y="1636"/>
              <a:ext cx="143"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2991" name="Rectangle 31"/>
            <p:cNvSpPr>
              <a:spLocks noChangeArrowheads="1"/>
            </p:cNvSpPr>
            <p:nvPr/>
          </p:nvSpPr>
          <p:spPr bwMode="auto">
            <a:xfrm>
              <a:off x="1710" y="1636"/>
              <a:ext cx="13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3001" name="Rectangle 41"/>
            <p:cNvSpPr>
              <a:spLocks noChangeArrowheads="1"/>
            </p:cNvSpPr>
            <p:nvPr/>
          </p:nvSpPr>
          <p:spPr bwMode="auto">
            <a:xfrm>
              <a:off x="2522" y="1636"/>
              <a:ext cx="17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3002" name="Rectangle 42"/>
            <p:cNvSpPr>
              <a:spLocks noChangeArrowheads="1"/>
            </p:cNvSpPr>
            <p:nvPr/>
          </p:nvSpPr>
          <p:spPr bwMode="auto">
            <a:xfrm>
              <a:off x="1456" y="1480"/>
              <a:ext cx="127"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3009" name="Rectangle 49"/>
            <p:cNvSpPr>
              <a:spLocks noChangeArrowheads="1"/>
            </p:cNvSpPr>
            <p:nvPr/>
          </p:nvSpPr>
          <p:spPr bwMode="auto">
            <a:xfrm>
              <a:off x="1976" y="1858"/>
              <a:ext cx="6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l</a:t>
              </a:r>
              <a:endParaRPr lang="en-US" altLang="zh-CN">
                <a:effectLst>
                  <a:outerShdw blurRad="38100" dist="38100" dir="2700000" algn="tl">
                    <a:srgbClr val="C0C0C0"/>
                  </a:outerShdw>
                </a:effectLst>
              </a:endParaRPr>
            </a:p>
          </p:txBody>
        </p:sp>
        <p:sp>
          <p:nvSpPr>
            <p:cNvPr id="553010" name="Rectangle 50"/>
            <p:cNvSpPr>
              <a:spLocks noChangeArrowheads="1"/>
            </p:cNvSpPr>
            <p:nvPr/>
          </p:nvSpPr>
          <p:spPr bwMode="auto">
            <a:xfrm>
              <a:off x="1954" y="1509"/>
              <a:ext cx="12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g</a:t>
              </a:r>
              <a:endParaRPr lang="en-US" altLang="zh-CN">
                <a:effectLst>
                  <a:outerShdw blurRad="38100" dist="38100" dir="2700000" algn="tl">
                    <a:srgbClr val="C0C0C0"/>
                  </a:outerShdw>
                </a:effectLst>
              </a:endParaRPr>
            </a:p>
          </p:txBody>
        </p:sp>
        <p:sp>
          <p:nvSpPr>
            <p:cNvPr id="553011" name="Rectangle 51"/>
            <p:cNvSpPr>
              <a:spLocks noChangeArrowheads="1"/>
            </p:cNvSpPr>
            <p:nvPr/>
          </p:nvSpPr>
          <p:spPr bwMode="auto">
            <a:xfrm>
              <a:off x="1240" y="1858"/>
              <a:ext cx="190"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dt</a:t>
              </a:r>
              <a:endParaRPr lang="en-US" altLang="zh-CN">
                <a:effectLst>
                  <a:outerShdw blurRad="38100" dist="38100" dir="2700000" algn="tl">
                    <a:srgbClr val="C0C0C0"/>
                  </a:outerShdw>
                </a:effectLst>
              </a:endParaRPr>
            </a:p>
          </p:txBody>
        </p:sp>
        <p:sp>
          <p:nvSpPr>
            <p:cNvPr id="553012" name="Rectangle 52"/>
            <p:cNvSpPr>
              <a:spLocks noChangeArrowheads="1"/>
            </p:cNvSpPr>
            <p:nvPr/>
          </p:nvSpPr>
          <p:spPr bwMode="auto">
            <a:xfrm>
              <a:off x="1203" y="1509"/>
              <a:ext cx="122"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d</a:t>
              </a:r>
              <a:endParaRPr lang="en-US" altLang="zh-CN">
                <a:effectLst>
                  <a:outerShdw blurRad="38100" dist="38100" dir="2700000" algn="tl">
                    <a:srgbClr val="C0C0C0"/>
                  </a:outerShdw>
                </a:effectLst>
              </a:endParaRPr>
            </a:p>
          </p:txBody>
        </p:sp>
        <p:sp>
          <p:nvSpPr>
            <p:cNvPr id="553021" name="Rectangle 61"/>
            <p:cNvSpPr>
              <a:spLocks noChangeArrowheads="1"/>
            </p:cNvSpPr>
            <p:nvPr/>
          </p:nvSpPr>
          <p:spPr bwMode="auto">
            <a:xfrm>
              <a:off x="583" y="1672"/>
              <a:ext cx="244" cy="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b="0">
                  <a:solidFill>
                    <a:srgbClr val="000000"/>
                  </a:solidFill>
                  <a:latin typeface="宋体" pitchFamily="2" charset="-122"/>
                  <a:ea typeface="宋体" pitchFamily="2" charset="-122"/>
                </a:rPr>
                <a:t>即</a:t>
              </a:r>
              <a:endParaRPr lang="zh-CN" altLang="en-US">
                <a:effectLst>
                  <a:outerShdw blurRad="38100" dist="38100" dir="2700000" algn="tl">
                    <a:srgbClr val="C0C0C0"/>
                  </a:outerShdw>
                </a:effectLst>
              </a:endParaRPr>
            </a:p>
          </p:txBody>
        </p:sp>
      </p:grpSp>
      <p:grpSp>
        <p:nvGrpSpPr>
          <p:cNvPr id="53253" name="Group 81"/>
          <p:cNvGrpSpPr>
            <a:grpSpLocks/>
          </p:cNvGrpSpPr>
          <p:nvPr/>
        </p:nvGrpSpPr>
        <p:grpSpPr bwMode="auto">
          <a:xfrm>
            <a:off x="633413" y="-27384"/>
            <a:ext cx="3567112" cy="1073150"/>
            <a:chOff x="1087" y="346"/>
            <a:chExt cx="2247" cy="676"/>
          </a:xfrm>
        </p:grpSpPr>
        <p:sp>
          <p:nvSpPr>
            <p:cNvPr id="553028" name="Line 68"/>
            <p:cNvSpPr>
              <a:spLocks noChangeShapeType="1"/>
            </p:cNvSpPr>
            <p:nvPr/>
          </p:nvSpPr>
          <p:spPr bwMode="auto">
            <a:xfrm>
              <a:off x="1428" y="689"/>
              <a:ext cx="46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3029" name="Rectangle 69"/>
            <p:cNvSpPr>
              <a:spLocks noChangeArrowheads="1"/>
            </p:cNvSpPr>
            <p:nvPr/>
          </p:nvSpPr>
          <p:spPr bwMode="auto">
            <a:xfrm>
              <a:off x="2749" y="531"/>
              <a:ext cx="30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dirty="0">
                  <a:solidFill>
                    <a:srgbClr val="000000"/>
                  </a:solidFill>
                </a:rPr>
                <a:t>sin</a:t>
              </a:r>
              <a:endParaRPr lang="en-US" altLang="zh-CN" dirty="0">
                <a:effectLst>
                  <a:outerShdw blurRad="38100" dist="38100" dir="2700000" algn="tl">
                    <a:srgbClr val="C0C0C0"/>
                  </a:outerShdw>
                </a:effectLst>
              </a:endParaRPr>
            </a:p>
          </p:txBody>
        </p:sp>
        <p:sp>
          <p:nvSpPr>
            <p:cNvPr id="553030" name="Rectangle 70"/>
            <p:cNvSpPr>
              <a:spLocks noChangeArrowheads="1"/>
            </p:cNvSpPr>
            <p:nvPr/>
          </p:nvSpPr>
          <p:spPr bwMode="auto">
            <a:xfrm>
              <a:off x="1734" y="704"/>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a:solidFill>
                    <a:srgbClr val="000000"/>
                  </a:solidFill>
                </a:rPr>
                <a:t>2</a:t>
              </a:r>
              <a:endParaRPr lang="en-US" altLang="zh-CN">
                <a:effectLst>
                  <a:outerShdw blurRad="38100" dist="38100" dir="2700000" algn="tl">
                    <a:srgbClr val="C0C0C0"/>
                  </a:outerShdw>
                </a:effectLst>
              </a:endParaRPr>
            </a:p>
          </p:txBody>
        </p:sp>
        <p:sp>
          <p:nvSpPr>
            <p:cNvPr id="553031" name="Rectangle 71"/>
            <p:cNvSpPr>
              <a:spLocks noChangeArrowheads="1"/>
            </p:cNvSpPr>
            <p:nvPr/>
          </p:nvSpPr>
          <p:spPr bwMode="auto">
            <a:xfrm>
              <a:off x="1630" y="355"/>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a:solidFill>
                    <a:srgbClr val="000000"/>
                  </a:solidFill>
                </a:rPr>
                <a:t>2</a:t>
              </a:r>
              <a:endParaRPr lang="en-US" altLang="zh-CN">
                <a:effectLst>
                  <a:outerShdw blurRad="38100" dist="38100" dir="2700000" algn="tl">
                    <a:srgbClr val="C0C0C0"/>
                  </a:outerShdw>
                </a:effectLst>
              </a:endParaRPr>
            </a:p>
          </p:txBody>
        </p:sp>
        <p:sp>
          <p:nvSpPr>
            <p:cNvPr id="553032" name="Rectangle 72"/>
            <p:cNvSpPr>
              <a:spLocks noChangeArrowheads="1"/>
            </p:cNvSpPr>
            <p:nvPr/>
          </p:nvSpPr>
          <p:spPr bwMode="auto">
            <a:xfrm>
              <a:off x="2192" y="502"/>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3033" name="Rectangle 73"/>
            <p:cNvSpPr>
              <a:spLocks noChangeArrowheads="1"/>
            </p:cNvSpPr>
            <p:nvPr/>
          </p:nvSpPr>
          <p:spPr bwMode="auto">
            <a:xfrm>
              <a:off x="1971" y="502"/>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3034" name="Rectangle 74"/>
            <p:cNvSpPr>
              <a:spLocks noChangeArrowheads="1"/>
            </p:cNvSpPr>
            <p:nvPr/>
          </p:nvSpPr>
          <p:spPr bwMode="auto">
            <a:xfrm>
              <a:off x="3103" y="502"/>
              <a:ext cx="231"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defRPr/>
              </a:pPr>
              <a:r>
                <a:rPr lang="en-US" altLang="zh-CN" sz="31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3035" name="Rectangle 75"/>
            <p:cNvSpPr>
              <a:spLocks noChangeArrowheads="1"/>
            </p:cNvSpPr>
            <p:nvPr/>
          </p:nvSpPr>
          <p:spPr bwMode="auto">
            <a:xfrm>
              <a:off x="1700" y="346"/>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3036" name="Rectangle 76"/>
            <p:cNvSpPr>
              <a:spLocks noChangeArrowheads="1"/>
            </p:cNvSpPr>
            <p:nvPr/>
          </p:nvSpPr>
          <p:spPr bwMode="auto">
            <a:xfrm>
              <a:off x="2356" y="531"/>
              <a:ext cx="31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mg</a:t>
              </a:r>
              <a:endParaRPr lang="en-US" altLang="zh-CN">
                <a:effectLst>
                  <a:outerShdw blurRad="38100" dist="38100" dir="2700000" algn="tl">
                    <a:srgbClr val="C0C0C0"/>
                  </a:outerShdw>
                </a:effectLst>
              </a:endParaRPr>
            </a:p>
          </p:txBody>
        </p:sp>
        <p:sp>
          <p:nvSpPr>
            <p:cNvPr id="553037" name="Rectangle 77"/>
            <p:cNvSpPr>
              <a:spLocks noChangeArrowheads="1"/>
            </p:cNvSpPr>
            <p:nvPr/>
          </p:nvSpPr>
          <p:spPr bwMode="auto">
            <a:xfrm>
              <a:off x="1484" y="724"/>
              <a:ext cx="19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dt</a:t>
              </a:r>
              <a:endParaRPr lang="en-US" altLang="zh-CN">
                <a:effectLst>
                  <a:outerShdw blurRad="38100" dist="38100" dir="2700000" algn="tl">
                    <a:srgbClr val="C0C0C0"/>
                  </a:outerShdw>
                </a:effectLst>
              </a:endParaRPr>
            </a:p>
          </p:txBody>
        </p:sp>
        <p:sp>
          <p:nvSpPr>
            <p:cNvPr id="553038" name="Rectangle 78"/>
            <p:cNvSpPr>
              <a:spLocks noChangeArrowheads="1"/>
            </p:cNvSpPr>
            <p:nvPr/>
          </p:nvSpPr>
          <p:spPr bwMode="auto">
            <a:xfrm>
              <a:off x="1447" y="375"/>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d</a:t>
              </a:r>
              <a:endParaRPr lang="en-US" altLang="zh-CN">
                <a:effectLst>
                  <a:outerShdw blurRad="38100" dist="38100" dir="2700000" algn="tl">
                    <a:srgbClr val="C0C0C0"/>
                  </a:outerShdw>
                </a:effectLst>
              </a:endParaRPr>
            </a:p>
          </p:txBody>
        </p:sp>
        <p:sp>
          <p:nvSpPr>
            <p:cNvPr id="553039" name="Rectangle 79"/>
            <p:cNvSpPr>
              <a:spLocks noChangeArrowheads="1"/>
            </p:cNvSpPr>
            <p:nvPr/>
          </p:nvSpPr>
          <p:spPr bwMode="auto">
            <a:xfrm>
              <a:off x="1087" y="531"/>
              <a:ext cx="262"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i="1">
                  <a:solidFill>
                    <a:srgbClr val="000000"/>
                  </a:solidFill>
                </a:rPr>
                <a:t>ml</a:t>
              </a:r>
              <a:endParaRPr lang="en-US" altLang="zh-CN">
                <a:effectLst>
                  <a:outerShdw blurRad="38100" dist="38100" dir="2700000" algn="tl">
                    <a:srgbClr val="C0C0C0"/>
                  </a:outerShdw>
                </a:effectLst>
              </a:endParaRPr>
            </a:p>
          </p:txBody>
        </p:sp>
      </p:grpSp>
      <p:pic>
        <p:nvPicPr>
          <p:cNvPr id="53254" name="Picture 83" descr="D1zt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8017" y="-26988"/>
            <a:ext cx="2630487"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p:cNvGraphicFramePr>
            <a:graphicFrameLocks noChangeAspect="1"/>
          </p:cNvGraphicFramePr>
          <p:nvPr>
            <p:extLst>
              <p:ext uri="{D42A27DB-BD31-4B8C-83A1-F6EECF244321}">
                <p14:modId xmlns:p14="http://schemas.microsoft.com/office/powerpoint/2010/main" val="2688200815"/>
              </p:ext>
            </p:extLst>
          </p:nvPr>
        </p:nvGraphicFramePr>
        <p:xfrm>
          <a:off x="148010" y="2136081"/>
          <a:ext cx="7101731" cy="1004887"/>
        </p:xfrm>
        <a:graphic>
          <a:graphicData uri="http://schemas.openxmlformats.org/presentationml/2006/ole">
            <mc:AlternateContent xmlns:mc="http://schemas.openxmlformats.org/markup-compatibility/2006">
              <mc:Choice xmlns:v="urn:schemas-microsoft-com:vml" Requires="v">
                <p:oleObj spid="_x0000_s53346" name="Equation" r:id="rId4" imgW="4406900" imgH="419100" progId="Equation.3">
                  <p:embed/>
                </p:oleObj>
              </mc:Choice>
              <mc:Fallback>
                <p:oleObj name="Equation" r:id="rId4" imgW="4406900" imgH="419100"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8010" y="2136081"/>
                        <a:ext cx="7101731" cy="1004887"/>
                      </a:xfrm>
                      <a:prstGeom prst="rect">
                        <a:avLst/>
                      </a:prstGeom>
                      <a:noFill/>
                      <a:ln>
                        <a:noFill/>
                      </a:ln>
                      <a:effectLst/>
                      <a:extLst/>
                    </p:spPr>
                  </p:pic>
                </p:oleObj>
              </mc:Fallback>
            </mc:AlternateContent>
          </a:graphicData>
        </a:graphic>
      </p:graphicFrame>
      <p:grpSp>
        <p:nvGrpSpPr>
          <p:cNvPr id="3" name="组合 2"/>
          <p:cNvGrpSpPr/>
          <p:nvPr/>
        </p:nvGrpSpPr>
        <p:grpSpPr>
          <a:xfrm>
            <a:off x="395536" y="3501008"/>
            <a:ext cx="5205412" cy="1111251"/>
            <a:chOff x="2935288" y="3789040"/>
            <a:chExt cx="5205412" cy="1111251"/>
          </a:xfrm>
        </p:grpSpPr>
        <p:sp>
          <p:nvSpPr>
            <p:cNvPr id="65" name="Line 8"/>
            <p:cNvSpPr>
              <a:spLocks noChangeShapeType="1"/>
            </p:cNvSpPr>
            <p:nvPr/>
          </p:nvSpPr>
          <p:spPr bwMode="auto">
            <a:xfrm>
              <a:off x="5305425" y="4355778"/>
              <a:ext cx="47466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66" name="Line 9"/>
            <p:cNvSpPr>
              <a:spLocks noChangeShapeType="1"/>
            </p:cNvSpPr>
            <p:nvPr/>
          </p:nvSpPr>
          <p:spPr bwMode="auto">
            <a:xfrm>
              <a:off x="6202363" y="4355778"/>
              <a:ext cx="481012" cy="158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69" name="Rectangle 35"/>
            <p:cNvSpPr>
              <a:spLocks noChangeArrowheads="1"/>
            </p:cNvSpPr>
            <p:nvPr/>
          </p:nvSpPr>
          <p:spPr bwMode="auto">
            <a:xfrm>
              <a:off x="7064375" y="4092253"/>
              <a:ext cx="4397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70" name="Rectangle 36"/>
            <p:cNvSpPr>
              <a:spLocks noChangeArrowheads="1"/>
            </p:cNvSpPr>
            <p:nvPr/>
          </p:nvSpPr>
          <p:spPr bwMode="auto">
            <a:xfrm>
              <a:off x="6481763" y="4412928"/>
              <a:ext cx="1349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71" name="Rectangle 37"/>
            <p:cNvSpPr>
              <a:spLocks noChangeArrowheads="1"/>
            </p:cNvSpPr>
            <p:nvPr/>
          </p:nvSpPr>
          <p:spPr bwMode="auto">
            <a:xfrm>
              <a:off x="6300788" y="4412928"/>
              <a:ext cx="203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5</a:t>
              </a:r>
              <a:endParaRPr lang="en-US" altLang="zh-CN">
                <a:effectLst>
                  <a:outerShdw blurRad="38100" dist="38100" dir="2700000" algn="tl">
                    <a:srgbClr val="C0C0C0"/>
                  </a:outerShdw>
                </a:effectLst>
              </a:endParaRPr>
            </a:p>
          </p:txBody>
        </p:sp>
        <p:sp>
          <p:nvSpPr>
            <p:cNvPr id="72" name="Rectangle 38"/>
            <p:cNvSpPr>
              <a:spLocks noChangeArrowheads="1"/>
            </p:cNvSpPr>
            <p:nvPr/>
          </p:nvSpPr>
          <p:spPr bwMode="auto">
            <a:xfrm>
              <a:off x="5576888" y="4412928"/>
              <a:ext cx="1349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73" name="Rectangle 39"/>
            <p:cNvSpPr>
              <a:spLocks noChangeArrowheads="1"/>
            </p:cNvSpPr>
            <p:nvPr/>
          </p:nvSpPr>
          <p:spPr bwMode="auto">
            <a:xfrm>
              <a:off x="5403850" y="4412928"/>
              <a:ext cx="203200"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3</a:t>
              </a:r>
              <a:endParaRPr lang="en-US" altLang="zh-CN">
                <a:effectLst>
                  <a:outerShdw blurRad="38100" dist="38100" dir="2700000" algn="tl">
                    <a:srgbClr val="C0C0C0"/>
                  </a:outerShdw>
                </a:effectLst>
              </a:endParaRPr>
            </a:p>
          </p:txBody>
        </p:sp>
        <p:sp>
          <p:nvSpPr>
            <p:cNvPr id="74" name="Rectangle 40"/>
            <p:cNvSpPr>
              <a:spLocks noChangeArrowheads="1"/>
            </p:cNvSpPr>
            <p:nvPr/>
          </p:nvSpPr>
          <p:spPr bwMode="auto">
            <a:xfrm>
              <a:off x="4833938" y="4092253"/>
              <a:ext cx="1349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75" name="Rectangle 41"/>
            <p:cNvSpPr>
              <a:spLocks noChangeArrowheads="1"/>
            </p:cNvSpPr>
            <p:nvPr/>
          </p:nvSpPr>
          <p:spPr bwMode="auto">
            <a:xfrm>
              <a:off x="2935288" y="4092253"/>
              <a:ext cx="49688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sin</a:t>
              </a:r>
              <a:endParaRPr lang="en-US" altLang="zh-CN">
                <a:effectLst>
                  <a:outerShdw blurRad="38100" dist="38100" dir="2700000" algn="tl">
                    <a:srgbClr val="C0C0C0"/>
                  </a:outerShdw>
                </a:effectLst>
              </a:endParaRPr>
            </a:p>
          </p:txBody>
        </p:sp>
        <p:sp>
          <p:nvSpPr>
            <p:cNvPr id="77" name="Rectangle 50"/>
            <p:cNvSpPr>
              <a:spLocks noChangeArrowheads="1"/>
            </p:cNvSpPr>
            <p:nvPr/>
          </p:nvSpPr>
          <p:spPr bwMode="auto">
            <a:xfrm>
              <a:off x="6491288" y="380174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5</a:t>
              </a:r>
              <a:endParaRPr lang="en-US" altLang="zh-CN">
                <a:effectLst>
                  <a:outerShdw blurRad="38100" dist="38100" dir="2700000" algn="tl">
                    <a:srgbClr val="C0C0C0"/>
                  </a:outerShdw>
                </a:effectLst>
              </a:endParaRPr>
            </a:p>
          </p:txBody>
        </p:sp>
        <p:sp>
          <p:nvSpPr>
            <p:cNvPr id="78" name="Rectangle 51"/>
            <p:cNvSpPr>
              <a:spLocks noChangeArrowheads="1"/>
            </p:cNvSpPr>
            <p:nvPr/>
          </p:nvSpPr>
          <p:spPr bwMode="auto">
            <a:xfrm>
              <a:off x="5594350" y="3801740"/>
              <a:ext cx="120650"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3</a:t>
              </a:r>
              <a:endParaRPr lang="en-US" altLang="zh-CN">
                <a:effectLst>
                  <a:outerShdw blurRad="38100" dist="38100" dir="2700000" algn="tl">
                    <a:srgbClr val="C0C0C0"/>
                  </a:outerShdw>
                </a:effectLst>
              </a:endParaRPr>
            </a:p>
          </p:txBody>
        </p:sp>
        <p:sp>
          <p:nvSpPr>
            <p:cNvPr id="79" name="Rectangle 57"/>
            <p:cNvSpPr>
              <a:spLocks noChangeArrowheads="1"/>
            </p:cNvSpPr>
            <p:nvPr/>
          </p:nvSpPr>
          <p:spPr bwMode="auto">
            <a:xfrm>
              <a:off x="7624763" y="4046215"/>
              <a:ext cx="2238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80" name="Rectangle 58"/>
            <p:cNvSpPr>
              <a:spLocks noChangeArrowheads="1"/>
            </p:cNvSpPr>
            <p:nvPr/>
          </p:nvSpPr>
          <p:spPr bwMode="auto">
            <a:xfrm>
              <a:off x="6773863" y="4046215"/>
              <a:ext cx="2238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81" name="Rectangle 59"/>
            <p:cNvSpPr>
              <a:spLocks noChangeArrowheads="1"/>
            </p:cNvSpPr>
            <p:nvPr/>
          </p:nvSpPr>
          <p:spPr bwMode="auto">
            <a:xfrm>
              <a:off x="5870575" y="4046215"/>
              <a:ext cx="2238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82" name="Rectangle 60"/>
            <p:cNvSpPr>
              <a:spLocks noChangeArrowheads="1"/>
            </p:cNvSpPr>
            <p:nvPr/>
          </p:nvSpPr>
          <p:spPr bwMode="auto">
            <a:xfrm>
              <a:off x="4992688" y="4046215"/>
              <a:ext cx="2238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83" name="Rectangle 61"/>
            <p:cNvSpPr>
              <a:spLocks noChangeArrowheads="1"/>
            </p:cNvSpPr>
            <p:nvPr/>
          </p:nvSpPr>
          <p:spPr bwMode="auto">
            <a:xfrm>
              <a:off x="4543425" y="4046215"/>
              <a:ext cx="2238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84" name="Rectangle 62"/>
            <p:cNvSpPr>
              <a:spLocks noChangeArrowheads="1"/>
            </p:cNvSpPr>
            <p:nvPr/>
          </p:nvSpPr>
          <p:spPr bwMode="auto">
            <a:xfrm>
              <a:off x="3878263" y="4046215"/>
              <a:ext cx="2238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85" name="Rectangle 69"/>
            <p:cNvSpPr>
              <a:spLocks noChangeArrowheads="1"/>
            </p:cNvSpPr>
            <p:nvPr/>
          </p:nvSpPr>
          <p:spPr bwMode="auto">
            <a:xfrm>
              <a:off x="7929563" y="4046215"/>
              <a:ext cx="2111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86" name="Rectangle 70"/>
            <p:cNvSpPr>
              <a:spLocks noChangeArrowheads="1"/>
            </p:cNvSpPr>
            <p:nvPr/>
          </p:nvSpPr>
          <p:spPr bwMode="auto">
            <a:xfrm>
              <a:off x="6191250" y="3789040"/>
              <a:ext cx="2111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87" name="Rectangle 71"/>
            <p:cNvSpPr>
              <a:spLocks noChangeArrowheads="1"/>
            </p:cNvSpPr>
            <p:nvPr/>
          </p:nvSpPr>
          <p:spPr bwMode="auto">
            <a:xfrm>
              <a:off x="5292725" y="3789040"/>
              <a:ext cx="2111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88" name="Rectangle 72"/>
            <p:cNvSpPr>
              <a:spLocks noChangeArrowheads="1"/>
            </p:cNvSpPr>
            <p:nvPr/>
          </p:nvSpPr>
          <p:spPr bwMode="auto">
            <a:xfrm>
              <a:off x="4183063" y="4046215"/>
              <a:ext cx="2111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89" name="Rectangle 73"/>
            <p:cNvSpPr>
              <a:spLocks noChangeArrowheads="1"/>
            </p:cNvSpPr>
            <p:nvPr/>
          </p:nvSpPr>
          <p:spPr bwMode="auto">
            <a:xfrm>
              <a:off x="3490913" y="4046215"/>
              <a:ext cx="21113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3042"/>
                                        </p:tgtEl>
                                        <p:attrNameLst>
                                          <p:attrName>style.visibility</p:attrName>
                                        </p:attrNameLst>
                                      </p:cBhvr>
                                      <p:to>
                                        <p:strVal val="visible"/>
                                      </p:to>
                                    </p:set>
                                    <p:anim calcmode="lin" valueType="num">
                                      <p:cBhvr additive="base">
                                        <p:cTn id="7" dur="500" fill="hold"/>
                                        <p:tgtEl>
                                          <p:spTgt spid="553042"/>
                                        </p:tgtEl>
                                        <p:attrNameLst>
                                          <p:attrName>ppt_x</p:attrName>
                                        </p:attrNameLst>
                                      </p:cBhvr>
                                      <p:tavLst>
                                        <p:tav tm="0">
                                          <p:val>
                                            <p:strVal val="#ppt_x"/>
                                          </p:val>
                                        </p:tav>
                                        <p:tav tm="100000">
                                          <p:val>
                                            <p:strVal val="#ppt_x"/>
                                          </p:val>
                                        </p:tav>
                                      </p:tavLst>
                                    </p:anim>
                                    <p:anim calcmode="lin" valueType="num">
                                      <p:cBhvr additive="base">
                                        <p:cTn id="8" dur="500" fill="hold"/>
                                        <p:tgtEl>
                                          <p:spTgt spid="55304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ppt_x"/>
                                          </p:val>
                                        </p:tav>
                                        <p:tav tm="100000">
                                          <p:val>
                                            <p:strVal val="#ppt_x"/>
                                          </p:val>
                                        </p:tav>
                                      </p:tavLst>
                                    </p:anim>
                                    <p:anim calcmode="lin" valueType="num">
                                      <p:cBhvr additive="base">
                                        <p:cTn id="20"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53026"/>
                                        </p:tgtEl>
                                        <p:attrNameLst>
                                          <p:attrName>style.visibility</p:attrName>
                                        </p:attrNameLst>
                                      </p:cBhvr>
                                      <p:to>
                                        <p:strVal val="visible"/>
                                      </p:to>
                                    </p:set>
                                    <p:anim calcmode="lin" valueType="num">
                                      <p:cBhvr additive="base">
                                        <p:cTn id="25" dur="500" fill="hold"/>
                                        <p:tgtEl>
                                          <p:spTgt spid="553026"/>
                                        </p:tgtEl>
                                        <p:attrNameLst>
                                          <p:attrName>ppt_x</p:attrName>
                                        </p:attrNameLst>
                                      </p:cBhvr>
                                      <p:tavLst>
                                        <p:tav tm="0">
                                          <p:val>
                                            <p:strVal val="#ppt_x"/>
                                          </p:val>
                                        </p:tav>
                                        <p:tav tm="100000">
                                          <p:val>
                                            <p:strVal val="#ppt_x"/>
                                          </p:val>
                                        </p:tav>
                                      </p:tavLst>
                                    </p:anim>
                                    <p:anim calcmode="lin" valueType="num">
                                      <p:cBhvr additive="base">
                                        <p:cTn id="26" dur="500" fill="hold"/>
                                        <p:tgtEl>
                                          <p:spTgt spid="5530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12"/>
          </p:nvPr>
        </p:nvSpPr>
        <p:spPr/>
        <p:txBody>
          <a:bodyPr/>
          <a:lstStyle/>
          <a:p>
            <a:pPr>
              <a:defRPr/>
            </a:pPr>
            <a:fld id="{6C60C0C4-3E67-4950-AB05-332ED03C3D41}" type="slidenum">
              <a:rPr lang="zh-CN" altLang="en-US"/>
              <a:pPr>
                <a:defRPr/>
              </a:pPr>
              <a:t>49</a:t>
            </a:fld>
            <a:endParaRPr lang="en-US" altLang="zh-CN"/>
          </a:p>
        </p:txBody>
      </p:sp>
      <p:graphicFrame>
        <p:nvGraphicFramePr>
          <p:cNvPr id="54275" name="Object 3"/>
          <p:cNvGraphicFramePr>
            <a:graphicFrameLocks noGrp="1" noChangeAspect="1"/>
          </p:cNvGraphicFramePr>
          <p:nvPr>
            <p:ph idx="1"/>
          </p:nvPr>
        </p:nvGraphicFramePr>
        <p:xfrm>
          <a:off x="404813" y="1382713"/>
          <a:ext cx="7466012" cy="2703512"/>
        </p:xfrm>
        <a:graphic>
          <a:graphicData uri="http://schemas.openxmlformats.org/presentationml/2006/ole">
            <mc:AlternateContent xmlns:mc="http://schemas.openxmlformats.org/markup-compatibility/2006">
              <mc:Choice xmlns:v="urn:schemas-microsoft-com:vml" Requires="v">
                <p:oleObj spid="_x0000_s54334" name="公式" r:id="rId3" imgW="2946400" imgH="1066800" progId="Equation.3">
                  <p:embed/>
                </p:oleObj>
              </mc:Choice>
              <mc:Fallback>
                <p:oleObj name="公式" r:id="rId3" imgW="2946400" imgH="1066800" progId="Equation.3">
                  <p:embed/>
                  <p:pic>
                    <p:nvPicPr>
                      <p:cNvPr id="0"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4813" y="1382713"/>
                        <a:ext cx="7466012" cy="2703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4276" name="Group 34"/>
          <p:cNvGrpSpPr>
            <a:grpSpLocks/>
          </p:cNvGrpSpPr>
          <p:nvPr/>
        </p:nvGrpSpPr>
        <p:grpSpPr bwMode="auto">
          <a:xfrm>
            <a:off x="1601788" y="349250"/>
            <a:ext cx="2536825" cy="1074738"/>
            <a:chOff x="1493" y="663"/>
            <a:chExt cx="1598" cy="677"/>
          </a:xfrm>
        </p:grpSpPr>
        <p:sp>
          <p:nvSpPr>
            <p:cNvPr id="553990" name="Line 6"/>
            <p:cNvSpPr>
              <a:spLocks noChangeShapeType="1"/>
            </p:cNvSpPr>
            <p:nvPr/>
          </p:nvSpPr>
          <p:spPr bwMode="auto">
            <a:xfrm>
              <a:off x="1493" y="1007"/>
              <a:ext cx="46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3991" name="Rectangle 7"/>
            <p:cNvSpPr>
              <a:spLocks noChangeArrowheads="1"/>
            </p:cNvSpPr>
            <p:nvPr/>
          </p:nvSpPr>
          <p:spPr bwMode="auto">
            <a:xfrm>
              <a:off x="2967" y="848"/>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rPr>
                <a:t>0</a:t>
              </a:r>
              <a:endParaRPr lang="en-US" altLang="zh-CN">
                <a:effectLst>
                  <a:outerShdw blurRad="38100" dist="38100" dir="2700000" algn="tl">
                    <a:srgbClr val="C0C0C0"/>
                  </a:outerShdw>
                </a:effectLst>
              </a:endParaRPr>
            </a:p>
          </p:txBody>
        </p:sp>
        <p:sp>
          <p:nvSpPr>
            <p:cNvPr id="553995" name="Rectangle 11"/>
            <p:cNvSpPr>
              <a:spLocks noChangeArrowheads="1"/>
            </p:cNvSpPr>
            <p:nvPr/>
          </p:nvSpPr>
          <p:spPr bwMode="auto">
            <a:xfrm>
              <a:off x="2432" y="829"/>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0">
                  <a:solidFill>
                    <a:srgbClr val="000000"/>
                  </a:solidFill>
                </a:rPr>
                <a:t>2</a:t>
              </a:r>
              <a:endParaRPr lang="en-US" altLang="zh-CN">
                <a:effectLst>
                  <a:outerShdw blurRad="38100" dist="38100" dir="2700000" algn="tl">
                    <a:srgbClr val="C0C0C0"/>
                  </a:outerShdw>
                </a:effectLst>
              </a:endParaRPr>
            </a:p>
          </p:txBody>
        </p:sp>
        <p:sp>
          <p:nvSpPr>
            <p:cNvPr id="553996" name="Rectangle 12"/>
            <p:cNvSpPr>
              <a:spLocks noChangeArrowheads="1"/>
            </p:cNvSpPr>
            <p:nvPr/>
          </p:nvSpPr>
          <p:spPr bwMode="auto">
            <a:xfrm>
              <a:off x="1800" y="1022"/>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a:solidFill>
                    <a:srgbClr val="000000"/>
                  </a:solidFill>
                </a:rPr>
                <a:t>2</a:t>
              </a:r>
              <a:endParaRPr lang="en-US" altLang="zh-CN">
                <a:effectLst>
                  <a:outerShdw blurRad="38100" dist="38100" dir="2700000" algn="tl">
                    <a:srgbClr val="C0C0C0"/>
                  </a:outerShdw>
                </a:effectLst>
              </a:endParaRPr>
            </a:p>
          </p:txBody>
        </p:sp>
        <p:sp>
          <p:nvSpPr>
            <p:cNvPr id="553997" name="Rectangle 13"/>
            <p:cNvSpPr>
              <a:spLocks noChangeArrowheads="1"/>
            </p:cNvSpPr>
            <p:nvPr/>
          </p:nvSpPr>
          <p:spPr bwMode="auto">
            <a:xfrm>
              <a:off x="1696" y="673"/>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800" b="0">
                  <a:solidFill>
                    <a:srgbClr val="000000"/>
                  </a:solidFill>
                </a:rPr>
                <a:t>2</a:t>
              </a:r>
              <a:endParaRPr lang="en-US" altLang="zh-CN">
                <a:effectLst>
                  <a:outerShdw blurRad="38100" dist="38100" dir="2700000" algn="tl">
                    <a:srgbClr val="C0C0C0"/>
                  </a:outerShdw>
                </a:effectLst>
              </a:endParaRPr>
            </a:p>
          </p:txBody>
        </p:sp>
        <p:sp>
          <p:nvSpPr>
            <p:cNvPr id="553999" name="Rectangle 15"/>
            <p:cNvSpPr>
              <a:spLocks noChangeArrowheads="1"/>
            </p:cNvSpPr>
            <p:nvPr/>
          </p:nvSpPr>
          <p:spPr bwMode="auto">
            <a:xfrm>
              <a:off x="2750" y="819"/>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4000" name="Rectangle 16"/>
            <p:cNvSpPr>
              <a:spLocks noChangeArrowheads="1"/>
            </p:cNvSpPr>
            <p:nvPr/>
          </p:nvSpPr>
          <p:spPr bwMode="auto">
            <a:xfrm>
              <a:off x="2019" y="819"/>
              <a:ext cx="136"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4003" name="Rectangle 19"/>
            <p:cNvSpPr>
              <a:spLocks noChangeArrowheads="1"/>
            </p:cNvSpPr>
            <p:nvPr/>
          </p:nvSpPr>
          <p:spPr bwMode="auto">
            <a:xfrm>
              <a:off x="2502" y="819"/>
              <a:ext cx="197"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4004" name="Rectangle 20"/>
            <p:cNvSpPr>
              <a:spLocks noChangeArrowheads="1"/>
            </p:cNvSpPr>
            <p:nvPr/>
          </p:nvSpPr>
          <p:spPr bwMode="auto">
            <a:xfrm>
              <a:off x="2209" y="819"/>
              <a:ext cx="170"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w</a:t>
              </a:r>
              <a:endParaRPr lang="en-US" altLang="zh-CN">
                <a:effectLst>
                  <a:outerShdw blurRad="38100" dist="38100" dir="2700000" algn="tl">
                    <a:srgbClr val="C0C0C0"/>
                  </a:outerShdw>
                </a:effectLst>
              </a:endParaRPr>
            </a:p>
          </p:txBody>
        </p:sp>
        <p:sp>
          <p:nvSpPr>
            <p:cNvPr id="554005" name="Rectangle 21"/>
            <p:cNvSpPr>
              <a:spLocks noChangeArrowheads="1"/>
            </p:cNvSpPr>
            <p:nvPr/>
          </p:nvSpPr>
          <p:spPr bwMode="auto">
            <a:xfrm>
              <a:off x="1766" y="663"/>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4010" name="Rectangle 26"/>
            <p:cNvSpPr>
              <a:spLocks noChangeArrowheads="1"/>
            </p:cNvSpPr>
            <p:nvPr/>
          </p:nvSpPr>
          <p:spPr bwMode="auto">
            <a:xfrm>
              <a:off x="1550" y="1042"/>
              <a:ext cx="193"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dt</a:t>
              </a:r>
              <a:endParaRPr lang="en-US" altLang="zh-CN" b="0">
                <a:effectLst>
                  <a:outerShdw blurRad="38100" dist="38100" dir="2700000" algn="tl">
                    <a:srgbClr val="C0C0C0"/>
                  </a:outerShdw>
                </a:effectLst>
              </a:endParaRPr>
            </a:p>
          </p:txBody>
        </p:sp>
        <p:sp>
          <p:nvSpPr>
            <p:cNvPr id="554011" name="Rectangle 27"/>
            <p:cNvSpPr>
              <a:spLocks noChangeArrowheads="1"/>
            </p:cNvSpPr>
            <p:nvPr/>
          </p:nvSpPr>
          <p:spPr bwMode="auto">
            <a:xfrm>
              <a:off x="1512" y="692"/>
              <a:ext cx="124"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rPr>
                <a:t>d</a:t>
              </a:r>
              <a:endParaRPr lang="en-US" altLang="zh-CN">
                <a:effectLst>
                  <a:outerShdw blurRad="38100" dist="38100" dir="2700000" algn="tl">
                    <a:srgbClr val="C0C0C0"/>
                  </a:outerShdw>
                </a:effectLst>
              </a:endParaRPr>
            </a:p>
          </p:txBody>
        </p:sp>
      </p:grpSp>
      <p:grpSp>
        <p:nvGrpSpPr>
          <p:cNvPr id="18" name="Group 66"/>
          <p:cNvGrpSpPr>
            <a:grpSpLocks/>
          </p:cNvGrpSpPr>
          <p:nvPr/>
        </p:nvGrpSpPr>
        <p:grpSpPr bwMode="auto">
          <a:xfrm>
            <a:off x="404813" y="5826125"/>
            <a:ext cx="5849937" cy="1706563"/>
            <a:chOff x="583" y="2471"/>
            <a:chExt cx="1919" cy="1075"/>
          </a:xfrm>
        </p:grpSpPr>
        <p:sp>
          <p:nvSpPr>
            <p:cNvPr id="27" name="Rectangle 20"/>
            <p:cNvSpPr>
              <a:spLocks noChangeArrowheads="1"/>
            </p:cNvSpPr>
            <p:nvPr/>
          </p:nvSpPr>
          <p:spPr bwMode="auto">
            <a:xfrm>
              <a:off x="1696" y="3022"/>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endParaRPr lang="en-US" altLang="zh-CN" dirty="0">
                <a:effectLst>
                  <a:outerShdw blurRad="38100" dist="38100" dir="2700000" algn="tl">
                    <a:srgbClr val="C0C0C0"/>
                  </a:outerShdw>
                </a:effectLst>
              </a:endParaRPr>
            </a:p>
          </p:txBody>
        </p:sp>
        <p:sp>
          <p:nvSpPr>
            <p:cNvPr id="33" name="Rectangle 34"/>
            <p:cNvSpPr>
              <a:spLocks noChangeArrowheads="1"/>
            </p:cNvSpPr>
            <p:nvPr/>
          </p:nvSpPr>
          <p:spPr bwMode="auto">
            <a:xfrm>
              <a:off x="2502" y="3168"/>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endParaRPr lang="en-US" altLang="zh-CN" dirty="0">
                <a:effectLst>
                  <a:outerShdw blurRad="38100" dist="38100" dir="2700000" algn="tl">
                    <a:srgbClr val="C0C0C0"/>
                  </a:outerShdw>
                </a:effectLst>
              </a:endParaRPr>
            </a:p>
          </p:txBody>
        </p:sp>
        <p:sp>
          <p:nvSpPr>
            <p:cNvPr id="35" name="Rectangle 36"/>
            <p:cNvSpPr>
              <a:spLocks noChangeArrowheads="1"/>
            </p:cNvSpPr>
            <p:nvPr/>
          </p:nvSpPr>
          <p:spPr bwMode="auto">
            <a:xfrm>
              <a:off x="1766" y="3012"/>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endParaRPr lang="en-US" altLang="zh-CN" dirty="0">
                <a:effectLst>
                  <a:outerShdw blurRad="38100" dist="38100" dir="2700000" algn="tl">
                    <a:srgbClr val="C0C0C0"/>
                  </a:outerShdw>
                </a:effectLst>
              </a:endParaRPr>
            </a:p>
          </p:txBody>
        </p:sp>
        <p:sp>
          <p:nvSpPr>
            <p:cNvPr id="39" name="Rectangle 40"/>
            <p:cNvSpPr>
              <a:spLocks noChangeArrowheads="1"/>
            </p:cNvSpPr>
            <p:nvPr/>
          </p:nvSpPr>
          <p:spPr bwMode="auto">
            <a:xfrm>
              <a:off x="866" y="2471"/>
              <a:ext cx="129"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100" b="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40" name="Rectangle 45"/>
            <p:cNvSpPr>
              <a:spLocks noChangeArrowheads="1"/>
            </p:cNvSpPr>
            <p:nvPr/>
          </p:nvSpPr>
          <p:spPr bwMode="auto">
            <a:xfrm>
              <a:off x="1550" y="3391"/>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endParaRPr lang="en-US" altLang="zh-CN" b="0" dirty="0">
                <a:effectLst>
                  <a:outerShdw blurRad="38100" dist="38100" dir="2700000" algn="tl">
                    <a:srgbClr val="C0C0C0"/>
                  </a:outerShdw>
                </a:effectLst>
              </a:endParaRPr>
            </a:p>
          </p:txBody>
        </p:sp>
        <p:sp>
          <p:nvSpPr>
            <p:cNvPr id="44" name="Rectangle 57"/>
            <p:cNvSpPr>
              <a:spLocks noChangeArrowheads="1"/>
            </p:cNvSpPr>
            <p:nvPr/>
          </p:nvSpPr>
          <p:spPr bwMode="auto">
            <a:xfrm>
              <a:off x="596" y="3204"/>
              <a:ext cx="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endParaRPr lang="zh-CN" altLang="en-US" dirty="0">
                <a:effectLst>
                  <a:outerShdw blurRad="38100" dist="38100" dir="2700000" algn="tl">
                    <a:srgbClr val="C0C0C0"/>
                  </a:outerShdw>
                </a:effectLst>
              </a:endParaRPr>
            </a:p>
          </p:txBody>
        </p:sp>
        <p:sp>
          <p:nvSpPr>
            <p:cNvPr id="46" name="Rectangle 59"/>
            <p:cNvSpPr>
              <a:spLocks noChangeArrowheads="1"/>
            </p:cNvSpPr>
            <p:nvPr/>
          </p:nvSpPr>
          <p:spPr bwMode="auto">
            <a:xfrm>
              <a:off x="1012" y="2507"/>
              <a:ext cx="783"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b="0" dirty="0">
                  <a:solidFill>
                    <a:srgbClr val="000000"/>
                  </a:solidFill>
                  <a:latin typeface="宋体" pitchFamily="2" charset="-122"/>
                  <a:ea typeface="宋体" pitchFamily="2" charset="-122"/>
                </a:rPr>
                <a:t>不是很小时？</a:t>
              </a:r>
              <a:endParaRPr lang="zh-CN" altLang="en-US" dirty="0">
                <a:effectLst>
                  <a:outerShdw blurRad="38100" dist="38100" dir="2700000" algn="tl">
                    <a:srgbClr val="C0C0C0"/>
                  </a:outerShdw>
                </a:effectLst>
              </a:endParaRPr>
            </a:p>
          </p:txBody>
        </p:sp>
        <p:sp>
          <p:nvSpPr>
            <p:cNvPr id="47" name="Rectangle 60"/>
            <p:cNvSpPr>
              <a:spLocks noChangeArrowheads="1"/>
            </p:cNvSpPr>
            <p:nvPr/>
          </p:nvSpPr>
          <p:spPr bwMode="auto">
            <a:xfrm>
              <a:off x="583" y="2507"/>
              <a:ext cx="248" cy="2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100" b="0">
                  <a:solidFill>
                    <a:srgbClr val="000000"/>
                  </a:solidFill>
                  <a:latin typeface="宋体" pitchFamily="2" charset="-122"/>
                  <a:ea typeface="宋体" pitchFamily="2" charset="-122"/>
                </a:rPr>
                <a:t>当</a:t>
              </a:r>
              <a:endParaRPr lang="zh-CN" altLang="en-US">
                <a:effectLst>
                  <a:outerShdw blurRad="38100" dist="38100" dir="2700000" algn="tl">
                    <a:srgbClr val="C0C0C0"/>
                  </a:outerShdw>
                </a:effectLst>
              </a:endParaRPr>
            </a:p>
          </p:txBody>
        </p:sp>
      </p:grpSp>
      <p:pic>
        <p:nvPicPr>
          <p:cNvPr id="54298" name="Picture 2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0638" y="4149725"/>
            <a:ext cx="217170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4299" name="Picture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43438" y="4425950"/>
            <a:ext cx="3162300" cy="542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298"/>
                                        </p:tgtEl>
                                        <p:attrNameLst>
                                          <p:attrName>style.visibility</p:attrName>
                                        </p:attrNameLst>
                                      </p:cBhvr>
                                      <p:to>
                                        <p:strVal val="visible"/>
                                      </p:to>
                                    </p:set>
                                    <p:anim calcmode="lin" valueType="num">
                                      <p:cBhvr additive="base">
                                        <p:cTn id="7" dur="500" fill="hold"/>
                                        <p:tgtEl>
                                          <p:spTgt spid="54298"/>
                                        </p:tgtEl>
                                        <p:attrNameLst>
                                          <p:attrName>ppt_x</p:attrName>
                                        </p:attrNameLst>
                                      </p:cBhvr>
                                      <p:tavLst>
                                        <p:tav tm="0">
                                          <p:val>
                                            <p:strVal val="#ppt_x"/>
                                          </p:val>
                                        </p:tav>
                                        <p:tav tm="100000">
                                          <p:val>
                                            <p:strVal val="#ppt_x"/>
                                          </p:val>
                                        </p:tav>
                                      </p:tavLst>
                                    </p:anim>
                                    <p:anim calcmode="lin" valueType="num">
                                      <p:cBhvr additive="base">
                                        <p:cTn id="8" dur="500" fill="hold"/>
                                        <p:tgtEl>
                                          <p:spTgt spid="54298"/>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4299"/>
                                        </p:tgtEl>
                                        <p:attrNameLst>
                                          <p:attrName>style.visibility</p:attrName>
                                        </p:attrNameLst>
                                      </p:cBhvr>
                                      <p:to>
                                        <p:strVal val="visible"/>
                                      </p:to>
                                    </p:set>
                                    <p:anim calcmode="lin" valueType="num">
                                      <p:cBhvr additive="base">
                                        <p:cTn id="13" dur="500" fill="hold"/>
                                        <p:tgtEl>
                                          <p:spTgt spid="54299"/>
                                        </p:tgtEl>
                                        <p:attrNameLst>
                                          <p:attrName>ppt_x</p:attrName>
                                        </p:attrNameLst>
                                      </p:cBhvr>
                                      <p:tavLst>
                                        <p:tav tm="0">
                                          <p:val>
                                            <p:strVal val="#ppt_x"/>
                                          </p:val>
                                        </p:tav>
                                        <p:tav tm="100000">
                                          <p:val>
                                            <p:strVal val="#ppt_x"/>
                                          </p:val>
                                        </p:tav>
                                      </p:tavLst>
                                    </p:anim>
                                    <p:anim calcmode="lin" valueType="num">
                                      <p:cBhvr additive="base">
                                        <p:cTn id="14" dur="500" fill="hold"/>
                                        <p:tgtEl>
                                          <p:spTgt spid="54299"/>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anim calcmode="lin" valueType="num">
                                      <p:cBhvr additive="base">
                                        <p:cTn id="19" dur="500" fill="hold"/>
                                        <p:tgtEl>
                                          <p:spTgt spid="18"/>
                                        </p:tgtEl>
                                        <p:attrNameLst>
                                          <p:attrName>ppt_x</p:attrName>
                                        </p:attrNameLst>
                                      </p:cBhvr>
                                      <p:tavLst>
                                        <p:tav tm="0">
                                          <p:val>
                                            <p:strVal val="#ppt_x"/>
                                          </p:val>
                                        </p:tav>
                                        <p:tav tm="100000">
                                          <p:val>
                                            <p:strVal val="#ppt_x"/>
                                          </p:val>
                                        </p:tav>
                                      </p:tavLst>
                                    </p:anim>
                                    <p:anim calcmode="lin" valueType="num">
                                      <p:cBhvr additive="base">
                                        <p:cTn id="20"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灯片编号占位符 5"/>
          <p:cNvSpPr>
            <a:spLocks noGrp="1"/>
          </p:cNvSpPr>
          <p:nvPr>
            <p:ph type="sldNum" sz="quarter" idx="12"/>
          </p:nvPr>
        </p:nvSpPr>
        <p:spPr/>
        <p:txBody>
          <a:bodyPr/>
          <a:lstStyle/>
          <a:p>
            <a:pPr>
              <a:defRPr/>
            </a:pPr>
            <a:fld id="{3AF79AA7-E7CD-4ABD-95D2-C1CF0D4635D3}" type="slidenum">
              <a:rPr lang="zh-CN" altLang="en-US"/>
              <a:pPr>
                <a:defRPr/>
              </a:pPr>
              <a:t>50</a:t>
            </a:fld>
            <a:endParaRPr lang="en-US" altLang="zh-CN"/>
          </a:p>
        </p:txBody>
      </p:sp>
      <p:pic>
        <p:nvPicPr>
          <p:cNvPr id="5529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88913"/>
            <a:ext cx="7561263" cy="11350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0" name="Picture 83" descr="D1zt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2688" y="1314450"/>
            <a:ext cx="2630487" cy="355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1484313"/>
            <a:ext cx="3600450" cy="1406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2"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650" y="2990850"/>
            <a:ext cx="4537075" cy="87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3"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6738" y="4164013"/>
            <a:ext cx="1579562" cy="431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4"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9200" y="3913188"/>
            <a:ext cx="3876675"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5305" name="Picture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1538" y="5319713"/>
            <a:ext cx="4060825" cy="12207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31763" y="1635125"/>
            <a:ext cx="217170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fill="hold"/>
                                        <p:tgtEl>
                                          <p:spTgt spid="10"/>
                                        </p:tgtEl>
                                        <p:attrNameLst>
                                          <p:attrName>ppt_x</p:attrName>
                                        </p:attrNameLst>
                                      </p:cBhvr>
                                      <p:tavLst>
                                        <p:tav tm="0">
                                          <p:val>
                                            <p:strVal val="#ppt_x"/>
                                          </p:val>
                                        </p:tav>
                                        <p:tav tm="100000">
                                          <p:val>
                                            <p:strVal val="#ppt_x"/>
                                          </p:val>
                                        </p:tav>
                                      </p:tavLst>
                                    </p:anim>
                                    <p:anim calcmode="lin" valueType="num">
                                      <p:cBhvr additive="base">
                                        <p:cTn id="8"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5301"/>
                                        </p:tgtEl>
                                        <p:attrNameLst>
                                          <p:attrName>style.visibility</p:attrName>
                                        </p:attrNameLst>
                                      </p:cBhvr>
                                      <p:to>
                                        <p:strVal val="visible"/>
                                      </p:to>
                                    </p:set>
                                    <p:anim calcmode="lin" valueType="num">
                                      <p:cBhvr additive="base">
                                        <p:cTn id="13" dur="500" fill="hold"/>
                                        <p:tgtEl>
                                          <p:spTgt spid="55301"/>
                                        </p:tgtEl>
                                        <p:attrNameLst>
                                          <p:attrName>ppt_x</p:attrName>
                                        </p:attrNameLst>
                                      </p:cBhvr>
                                      <p:tavLst>
                                        <p:tav tm="0">
                                          <p:val>
                                            <p:strVal val="#ppt_x"/>
                                          </p:val>
                                        </p:tav>
                                        <p:tav tm="100000">
                                          <p:val>
                                            <p:strVal val="#ppt_x"/>
                                          </p:val>
                                        </p:tav>
                                      </p:tavLst>
                                    </p:anim>
                                    <p:anim calcmode="lin" valueType="num">
                                      <p:cBhvr additive="base">
                                        <p:cTn id="14" dur="500" fill="hold"/>
                                        <p:tgtEl>
                                          <p:spTgt spid="55301"/>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5302"/>
                                        </p:tgtEl>
                                        <p:attrNameLst>
                                          <p:attrName>style.visibility</p:attrName>
                                        </p:attrNameLst>
                                      </p:cBhvr>
                                      <p:to>
                                        <p:strVal val="visible"/>
                                      </p:to>
                                    </p:set>
                                    <p:anim calcmode="lin" valueType="num">
                                      <p:cBhvr additive="base">
                                        <p:cTn id="19" dur="500" fill="hold"/>
                                        <p:tgtEl>
                                          <p:spTgt spid="55302"/>
                                        </p:tgtEl>
                                        <p:attrNameLst>
                                          <p:attrName>ppt_x</p:attrName>
                                        </p:attrNameLst>
                                      </p:cBhvr>
                                      <p:tavLst>
                                        <p:tav tm="0">
                                          <p:val>
                                            <p:strVal val="#ppt_x"/>
                                          </p:val>
                                        </p:tav>
                                        <p:tav tm="100000">
                                          <p:val>
                                            <p:strVal val="#ppt_x"/>
                                          </p:val>
                                        </p:tav>
                                      </p:tavLst>
                                    </p:anim>
                                    <p:anim calcmode="lin" valueType="num">
                                      <p:cBhvr additive="base">
                                        <p:cTn id="20" dur="500" fill="hold"/>
                                        <p:tgtEl>
                                          <p:spTgt spid="55302"/>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5304"/>
                                        </p:tgtEl>
                                        <p:attrNameLst>
                                          <p:attrName>style.visibility</p:attrName>
                                        </p:attrNameLst>
                                      </p:cBhvr>
                                      <p:to>
                                        <p:strVal val="visible"/>
                                      </p:to>
                                    </p:set>
                                    <p:anim calcmode="lin" valueType="num">
                                      <p:cBhvr additive="base">
                                        <p:cTn id="25" dur="500" fill="hold"/>
                                        <p:tgtEl>
                                          <p:spTgt spid="55304"/>
                                        </p:tgtEl>
                                        <p:attrNameLst>
                                          <p:attrName>ppt_x</p:attrName>
                                        </p:attrNameLst>
                                      </p:cBhvr>
                                      <p:tavLst>
                                        <p:tav tm="0">
                                          <p:val>
                                            <p:strVal val="#ppt_x"/>
                                          </p:val>
                                        </p:tav>
                                        <p:tav tm="100000">
                                          <p:val>
                                            <p:strVal val="#ppt_x"/>
                                          </p:val>
                                        </p:tav>
                                      </p:tavLst>
                                    </p:anim>
                                    <p:anim calcmode="lin" valueType="num">
                                      <p:cBhvr additive="base">
                                        <p:cTn id="26" dur="500" fill="hold"/>
                                        <p:tgtEl>
                                          <p:spTgt spid="55304"/>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55303"/>
                                        </p:tgtEl>
                                        <p:attrNameLst>
                                          <p:attrName>style.visibility</p:attrName>
                                        </p:attrNameLst>
                                      </p:cBhvr>
                                      <p:to>
                                        <p:strVal val="visible"/>
                                      </p:to>
                                    </p:set>
                                    <p:anim calcmode="lin" valueType="num">
                                      <p:cBhvr additive="base">
                                        <p:cTn id="29" dur="500" fill="hold"/>
                                        <p:tgtEl>
                                          <p:spTgt spid="55303"/>
                                        </p:tgtEl>
                                        <p:attrNameLst>
                                          <p:attrName>ppt_x</p:attrName>
                                        </p:attrNameLst>
                                      </p:cBhvr>
                                      <p:tavLst>
                                        <p:tav tm="0">
                                          <p:val>
                                            <p:strVal val="#ppt_x"/>
                                          </p:val>
                                        </p:tav>
                                        <p:tav tm="100000">
                                          <p:val>
                                            <p:strVal val="#ppt_x"/>
                                          </p:val>
                                        </p:tav>
                                      </p:tavLst>
                                    </p:anim>
                                    <p:anim calcmode="lin" valueType="num">
                                      <p:cBhvr additive="base">
                                        <p:cTn id="30" dur="500" fill="hold"/>
                                        <p:tgtEl>
                                          <p:spTgt spid="55303"/>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55305"/>
                                        </p:tgtEl>
                                        <p:attrNameLst>
                                          <p:attrName>style.visibility</p:attrName>
                                        </p:attrNameLst>
                                      </p:cBhvr>
                                      <p:to>
                                        <p:strVal val="visible"/>
                                      </p:to>
                                    </p:set>
                                    <p:anim calcmode="lin" valueType="num">
                                      <p:cBhvr additive="base">
                                        <p:cTn id="35" dur="500" fill="hold"/>
                                        <p:tgtEl>
                                          <p:spTgt spid="55305"/>
                                        </p:tgtEl>
                                        <p:attrNameLst>
                                          <p:attrName>ppt_x</p:attrName>
                                        </p:attrNameLst>
                                      </p:cBhvr>
                                      <p:tavLst>
                                        <p:tav tm="0">
                                          <p:val>
                                            <p:strVal val="#ppt_x"/>
                                          </p:val>
                                        </p:tav>
                                        <p:tav tm="100000">
                                          <p:val>
                                            <p:strVal val="#ppt_x"/>
                                          </p:val>
                                        </p:tav>
                                      </p:tavLst>
                                    </p:anim>
                                    <p:anim calcmode="lin" valueType="num">
                                      <p:cBhvr additive="base">
                                        <p:cTn id="36" dur="500" fill="hold"/>
                                        <p:tgtEl>
                                          <p:spTgt spid="553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灯片编号占位符 5"/>
          <p:cNvSpPr>
            <a:spLocks noGrp="1"/>
          </p:cNvSpPr>
          <p:nvPr>
            <p:ph type="sldNum" sz="quarter" idx="12"/>
          </p:nvPr>
        </p:nvSpPr>
        <p:spPr/>
        <p:txBody>
          <a:bodyPr/>
          <a:lstStyle/>
          <a:p>
            <a:pPr>
              <a:defRPr/>
            </a:pPr>
            <a:fld id="{E8876F78-D2CE-4BB3-B11C-02967CC30520}" type="slidenum">
              <a:rPr lang="zh-CN" altLang="en-US"/>
              <a:pPr>
                <a:defRPr/>
              </a:pPr>
              <a:t>51</a:t>
            </a:fld>
            <a:endParaRPr lang="en-US" altLang="zh-CN"/>
          </a:p>
        </p:txBody>
      </p:sp>
      <p:pic>
        <p:nvPicPr>
          <p:cNvPr id="56323" name="Picture 5" descr="D1ztu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663" y="188913"/>
            <a:ext cx="2490787"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555088" name="Group 80"/>
          <p:cNvGrpSpPr>
            <a:grpSpLocks/>
          </p:cNvGrpSpPr>
          <p:nvPr/>
        </p:nvGrpSpPr>
        <p:grpSpPr bwMode="auto">
          <a:xfrm>
            <a:off x="317500" y="6043613"/>
            <a:ext cx="4540250" cy="546100"/>
            <a:chOff x="200" y="3807"/>
            <a:chExt cx="2860" cy="344"/>
          </a:xfrm>
        </p:grpSpPr>
        <p:sp>
          <p:nvSpPr>
            <p:cNvPr id="555018" name="Rectangle 10"/>
            <p:cNvSpPr>
              <a:spLocks noChangeArrowheads="1"/>
            </p:cNvSpPr>
            <p:nvPr/>
          </p:nvSpPr>
          <p:spPr bwMode="auto">
            <a:xfrm>
              <a:off x="2546" y="3844"/>
              <a:ext cx="51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开方</a:t>
              </a:r>
              <a:endParaRPr lang="zh-CN" altLang="en-US">
                <a:effectLst>
                  <a:outerShdw blurRad="38100" dist="38100" dir="2700000" algn="tl">
                    <a:srgbClr val="C0C0C0"/>
                  </a:outerShdw>
                </a:effectLst>
              </a:endParaRPr>
            </a:p>
          </p:txBody>
        </p:sp>
        <p:sp>
          <p:nvSpPr>
            <p:cNvPr id="555019" name="Rectangle 11"/>
            <p:cNvSpPr>
              <a:spLocks noChangeArrowheads="1"/>
            </p:cNvSpPr>
            <p:nvPr/>
          </p:nvSpPr>
          <p:spPr bwMode="auto">
            <a:xfrm>
              <a:off x="1586" y="3844"/>
              <a:ext cx="2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a:t>
              </a:r>
              <a:endParaRPr lang="zh-CN" altLang="en-US">
                <a:effectLst>
                  <a:outerShdw blurRad="38100" dist="38100" dir="2700000" algn="tl">
                    <a:srgbClr val="C0C0C0"/>
                  </a:outerShdw>
                </a:effectLst>
              </a:endParaRPr>
            </a:p>
          </p:txBody>
        </p:sp>
        <p:sp>
          <p:nvSpPr>
            <p:cNvPr id="555020" name="Rectangle 12"/>
            <p:cNvSpPr>
              <a:spLocks noChangeArrowheads="1"/>
            </p:cNvSpPr>
            <p:nvPr/>
          </p:nvSpPr>
          <p:spPr bwMode="auto">
            <a:xfrm>
              <a:off x="456" y="3844"/>
              <a:ext cx="10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舍入误差</a:t>
              </a:r>
              <a:endParaRPr lang="zh-CN" altLang="en-US">
                <a:effectLst>
                  <a:outerShdw blurRad="38100" dist="38100" dir="2700000" algn="tl">
                    <a:srgbClr val="C0C0C0"/>
                  </a:outerShdw>
                </a:effectLst>
              </a:endParaRPr>
            </a:p>
          </p:txBody>
        </p:sp>
        <p:sp>
          <p:nvSpPr>
            <p:cNvPr id="555032" name="Rectangle 24"/>
            <p:cNvSpPr>
              <a:spLocks noChangeArrowheads="1"/>
            </p:cNvSpPr>
            <p:nvPr/>
          </p:nvSpPr>
          <p:spPr bwMode="auto">
            <a:xfrm>
              <a:off x="2376" y="3836"/>
              <a:ext cx="13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33" name="Rectangle 25"/>
            <p:cNvSpPr>
              <a:spLocks noChangeArrowheads="1"/>
            </p:cNvSpPr>
            <p:nvPr/>
          </p:nvSpPr>
          <p:spPr bwMode="auto">
            <a:xfrm>
              <a:off x="2062" y="3836"/>
              <a:ext cx="2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34" name="Rectangle 26"/>
            <p:cNvSpPr>
              <a:spLocks noChangeArrowheads="1"/>
            </p:cNvSpPr>
            <p:nvPr/>
          </p:nvSpPr>
          <p:spPr bwMode="auto">
            <a:xfrm>
              <a:off x="1835" y="3836"/>
              <a:ext cx="6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35" name="Rectangle 27"/>
            <p:cNvSpPr>
              <a:spLocks noChangeArrowheads="1"/>
            </p:cNvSpPr>
            <p:nvPr/>
          </p:nvSpPr>
          <p:spPr bwMode="auto">
            <a:xfrm>
              <a:off x="1556" y="3836"/>
              <a:ext cx="6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36" name="Rectangle 28"/>
            <p:cNvSpPr>
              <a:spLocks noChangeArrowheads="1"/>
            </p:cNvSpPr>
            <p:nvPr/>
          </p:nvSpPr>
          <p:spPr bwMode="auto">
            <a:xfrm>
              <a:off x="200" y="383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4</a:t>
              </a:r>
              <a:endParaRPr lang="en-US" altLang="zh-CN">
                <a:effectLst>
                  <a:outerShdw blurRad="38100" dist="38100" dir="2700000" algn="tl">
                    <a:srgbClr val="C0C0C0"/>
                  </a:outerShdw>
                </a:effectLst>
              </a:endParaRPr>
            </a:p>
          </p:txBody>
        </p:sp>
        <p:sp>
          <p:nvSpPr>
            <p:cNvPr id="555055" name="Rectangle 47"/>
            <p:cNvSpPr>
              <a:spLocks noChangeArrowheads="1"/>
            </p:cNvSpPr>
            <p:nvPr/>
          </p:nvSpPr>
          <p:spPr bwMode="auto">
            <a:xfrm>
              <a:off x="348" y="381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0</a:t>
              </a:r>
              <a:endParaRPr lang="en-US" altLang="zh-CN">
                <a:effectLst>
                  <a:outerShdw blurRad="38100" dist="38100" dir="2700000" algn="tl">
                    <a:srgbClr val="C0C0C0"/>
                  </a:outerShdw>
                </a:effectLst>
              </a:endParaRPr>
            </a:p>
          </p:txBody>
        </p:sp>
        <p:sp>
          <p:nvSpPr>
            <p:cNvPr id="555062" name="Rectangle 54"/>
            <p:cNvSpPr>
              <a:spLocks noChangeArrowheads="1"/>
            </p:cNvSpPr>
            <p:nvPr/>
          </p:nvSpPr>
          <p:spPr bwMode="auto">
            <a:xfrm>
              <a:off x="1909" y="3807"/>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5063" name="Rectangle 55"/>
            <p:cNvSpPr>
              <a:spLocks noChangeArrowheads="1"/>
            </p:cNvSpPr>
            <p:nvPr/>
          </p:nvSpPr>
          <p:spPr bwMode="auto">
            <a:xfrm>
              <a:off x="1678" y="3807"/>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grpSp>
      <p:grpSp>
        <p:nvGrpSpPr>
          <p:cNvPr id="555084" name="Group 76"/>
          <p:cNvGrpSpPr>
            <a:grpSpLocks/>
          </p:cNvGrpSpPr>
          <p:nvPr/>
        </p:nvGrpSpPr>
        <p:grpSpPr bwMode="auto">
          <a:xfrm>
            <a:off x="269875" y="1412776"/>
            <a:ext cx="5908675" cy="1190625"/>
            <a:chOff x="170" y="1416"/>
            <a:chExt cx="3722" cy="750"/>
          </a:xfrm>
        </p:grpSpPr>
        <p:sp>
          <p:nvSpPr>
            <p:cNvPr id="555028" name="Rectangle 20"/>
            <p:cNvSpPr>
              <a:spLocks noChangeArrowheads="1"/>
            </p:cNvSpPr>
            <p:nvPr/>
          </p:nvSpPr>
          <p:spPr bwMode="auto">
            <a:xfrm>
              <a:off x="2350" y="1834"/>
              <a:ext cx="154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点处的摩擦力</a:t>
              </a:r>
              <a:endParaRPr lang="zh-CN" altLang="en-US">
                <a:effectLst>
                  <a:outerShdw blurRad="38100" dist="38100" dir="2700000" algn="tl">
                    <a:srgbClr val="C0C0C0"/>
                  </a:outerShdw>
                </a:effectLst>
              </a:endParaRPr>
            </a:p>
          </p:txBody>
        </p:sp>
        <p:sp>
          <p:nvSpPr>
            <p:cNvPr id="555029" name="Rectangle 21"/>
            <p:cNvSpPr>
              <a:spLocks noChangeArrowheads="1"/>
            </p:cNvSpPr>
            <p:nvPr/>
          </p:nvSpPr>
          <p:spPr bwMode="auto">
            <a:xfrm>
              <a:off x="1652" y="1834"/>
              <a:ext cx="51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忽略</a:t>
              </a:r>
              <a:endParaRPr lang="zh-CN" altLang="en-US">
                <a:effectLst>
                  <a:outerShdw blurRad="38100" dist="38100" dir="2700000" algn="tl">
                    <a:srgbClr val="C0C0C0"/>
                  </a:outerShdw>
                </a:effectLst>
              </a:endParaRPr>
            </a:p>
          </p:txBody>
        </p:sp>
        <p:sp>
          <p:nvSpPr>
            <p:cNvPr id="555030" name="Rectangle 22"/>
            <p:cNvSpPr>
              <a:spLocks noChangeArrowheads="1"/>
            </p:cNvSpPr>
            <p:nvPr/>
          </p:nvSpPr>
          <p:spPr bwMode="auto">
            <a:xfrm>
              <a:off x="1728" y="1447"/>
              <a:ext cx="154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忽略空气阻力</a:t>
              </a:r>
              <a:endParaRPr lang="zh-CN" altLang="en-US">
                <a:effectLst>
                  <a:outerShdw blurRad="38100" dist="38100" dir="2700000" algn="tl">
                    <a:srgbClr val="C0C0C0"/>
                  </a:outerShdw>
                </a:effectLst>
              </a:endParaRPr>
            </a:p>
          </p:txBody>
        </p:sp>
        <p:sp>
          <p:nvSpPr>
            <p:cNvPr id="555031" name="Rectangle 23"/>
            <p:cNvSpPr>
              <a:spLocks noChangeArrowheads="1"/>
            </p:cNvSpPr>
            <p:nvPr/>
          </p:nvSpPr>
          <p:spPr bwMode="auto">
            <a:xfrm>
              <a:off x="408" y="1630"/>
              <a:ext cx="10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dirty="0">
                  <a:solidFill>
                    <a:srgbClr val="000000"/>
                  </a:solidFill>
                  <a:latin typeface="宋体" pitchFamily="2" charset="-122"/>
                  <a:ea typeface="宋体" pitchFamily="2" charset="-122"/>
                </a:rPr>
                <a:t>模型误差</a:t>
              </a:r>
              <a:endParaRPr lang="zh-CN" altLang="en-US" dirty="0">
                <a:effectLst>
                  <a:outerShdw blurRad="38100" dist="38100" dir="2700000" algn="tl">
                    <a:srgbClr val="C0C0C0"/>
                  </a:outerShdw>
                </a:effectLst>
              </a:endParaRPr>
            </a:p>
          </p:txBody>
        </p:sp>
        <p:sp>
          <p:nvSpPr>
            <p:cNvPr id="555053" name="Rectangle 45"/>
            <p:cNvSpPr>
              <a:spLocks noChangeArrowheads="1"/>
            </p:cNvSpPr>
            <p:nvPr/>
          </p:nvSpPr>
          <p:spPr bwMode="auto">
            <a:xfrm>
              <a:off x="2210" y="182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o</a:t>
              </a:r>
              <a:endParaRPr lang="en-US" altLang="zh-CN">
                <a:effectLst>
                  <a:outerShdw blurRad="38100" dist="38100" dir="2700000" algn="tl">
                    <a:srgbClr val="C0C0C0"/>
                  </a:outerShdw>
                </a:effectLst>
              </a:endParaRPr>
            </a:p>
          </p:txBody>
        </p:sp>
        <p:sp>
          <p:nvSpPr>
            <p:cNvPr id="555054" name="Rectangle 46"/>
            <p:cNvSpPr>
              <a:spLocks noChangeArrowheads="1"/>
            </p:cNvSpPr>
            <p:nvPr/>
          </p:nvSpPr>
          <p:spPr bwMode="auto">
            <a:xfrm>
              <a:off x="170" y="1622"/>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1</a:t>
              </a:r>
              <a:endParaRPr lang="en-US" altLang="zh-CN">
                <a:effectLst>
                  <a:outerShdw blurRad="38100" dist="38100" dir="2700000" algn="tl">
                    <a:srgbClr val="C0C0C0"/>
                  </a:outerShdw>
                </a:effectLst>
              </a:endParaRPr>
            </a:p>
          </p:txBody>
        </p:sp>
        <p:sp>
          <p:nvSpPr>
            <p:cNvPr id="555061" name="Rectangle 53"/>
            <p:cNvSpPr>
              <a:spLocks noChangeArrowheads="1"/>
            </p:cNvSpPr>
            <p:nvPr/>
          </p:nvSpPr>
          <p:spPr bwMode="auto">
            <a:xfrm>
              <a:off x="295" y="1602"/>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0</a:t>
              </a:r>
              <a:endParaRPr lang="en-US" altLang="zh-CN">
                <a:effectLst>
                  <a:outerShdw blurRad="38100" dist="38100" dir="2700000" algn="tl">
                    <a:srgbClr val="C0C0C0"/>
                  </a:outerShdw>
                </a:effectLst>
              </a:endParaRPr>
            </a:p>
          </p:txBody>
        </p:sp>
        <p:sp>
          <p:nvSpPr>
            <p:cNvPr id="555072" name="Rectangle 64"/>
            <p:cNvSpPr>
              <a:spLocks noChangeArrowheads="1"/>
            </p:cNvSpPr>
            <p:nvPr/>
          </p:nvSpPr>
          <p:spPr bwMode="auto">
            <a:xfrm>
              <a:off x="1525" y="1859"/>
              <a:ext cx="12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î</a:t>
              </a:r>
              <a:endParaRPr lang="en-US" altLang="zh-CN">
                <a:effectLst>
                  <a:outerShdw blurRad="38100" dist="38100" dir="2700000" algn="tl">
                    <a:srgbClr val="C0C0C0"/>
                  </a:outerShdw>
                </a:effectLst>
              </a:endParaRPr>
            </a:p>
          </p:txBody>
        </p:sp>
        <p:sp>
          <p:nvSpPr>
            <p:cNvPr id="555073" name="Rectangle 65"/>
            <p:cNvSpPr>
              <a:spLocks noChangeArrowheads="1"/>
            </p:cNvSpPr>
            <p:nvPr/>
          </p:nvSpPr>
          <p:spPr bwMode="auto">
            <a:xfrm>
              <a:off x="1525" y="1638"/>
              <a:ext cx="12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í</a:t>
              </a:r>
              <a:endParaRPr lang="en-US" altLang="zh-CN">
                <a:effectLst>
                  <a:outerShdw blurRad="38100" dist="38100" dir="2700000" algn="tl">
                    <a:srgbClr val="C0C0C0"/>
                  </a:outerShdw>
                </a:effectLst>
              </a:endParaRPr>
            </a:p>
          </p:txBody>
        </p:sp>
        <p:sp>
          <p:nvSpPr>
            <p:cNvPr id="555074" name="Rectangle 66"/>
            <p:cNvSpPr>
              <a:spLocks noChangeArrowheads="1"/>
            </p:cNvSpPr>
            <p:nvPr/>
          </p:nvSpPr>
          <p:spPr bwMode="auto">
            <a:xfrm>
              <a:off x="1525" y="1416"/>
              <a:ext cx="12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ì</a:t>
              </a:r>
              <a:endParaRPr lang="en-US" altLang="zh-CN">
                <a:effectLst>
                  <a:outerShdw blurRad="38100" dist="38100" dir="2700000" algn="tl">
                    <a:srgbClr val="C0C0C0"/>
                  </a:outerShdw>
                </a:effectLst>
              </a:endParaRPr>
            </a:p>
          </p:txBody>
        </p:sp>
      </p:grpSp>
      <p:grpSp>
        <p:nvGrpSpPr>
          <p:cNvPr id="555087" name="Group 79"/>
          <p:cNvGrpSpPr>
            <a:grpSpLocks/>
          </p:cNvGrpSpPr>
          <p:nvPr/>
        </p:nvGrpSpPr>
        <p:grpSpPr bwMode="auto">
          <a:xfrm>
            <a:off x="251520" y="4869160"/>
            <a:ext cx="6246812" cy="546100"/>
            <a:chOff x="191" y="3387"/>
            <a:chExt cx="3935" cy="344"/>
          </a:xfrm>
        </p:grpSpPr>
        <p:sp>
          <p:nvSpPr>
            <p:cNvPr id="555021" name="Rectangle 13"/>
            <p:cNvSpPr>
              <a:spLocks noChangeArrowheads="1"/>
            </p:cNvSpPr>
            <p:nvPr/>
          </p:nvSpPr>
          <p:spPr bwMode="auto">
            <a:xfrm>
              <a:off x="3612" y="3424"/>
              <a:ext cx="51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长度</a:t>
              </a:r>
              <a:endParaRPr lang="zh-CN" altLang="en-US">
                <a:effectLst>
                  <a:outerShdw blurRad="38100" dist="38100" dir="2700000" algn="tl">
                    <a:srgbClr val="C0C0C0"/>
                  </a:outerShdw>
                </a:effectLst>
              </a:endParaRPr>
            </a:p>
          </p:txBody>
        </p:sp>
        <p:sp>
          <p:nvSpPr>
            <p:cNvPr id="555022" name="Rectangle 14"/>
            <p:cNvSpPr>
              <a:spLocks noChangeArrowheads="1"/>
            </p:cNvSpPr>
            <p:nvPr/>
          </p:nvSpPr>
          <p:spPr bwMode="auto">
            <a:xfrm>
              <a:off x="3044" y="3424"/>
              <a:ext cx="2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dirty="0">
                  <a:solidFill>
                    <a:srgbClr val="000000"/>
                  </a:solidFill>
                  <a:latin typeface="宋体" pitchFamily="2" charset="-122"/>
                  <a:ea typeface="宋体" pitchFamily="2" charset="-122"/>
                </a:rPr>
                <a:t>秒</a:t>
              </a:r>
              <a:endParaRPr lang="zh-CN" altLang="en-US" dirty="0">
                <a:effectLst>
                  <a:outerShdw blurRad="38100" dist="38100" dir="2700000" algn="tl">
                    <a:srgbClr val="C0C0C0"/>
                  </a:outerShdw>
                </a:effectLst>
              </a:endParaRPr>
            </a:p>
          </p:txBody>
        </p:sp>
        <p:sp>
          <p:nvSpPr>
            <p:cNvPr id="555023" name="Rectangle 15"/>
            <p:cNvSpPr>
              <a:spLocks noChangeArrowheads="1"/>
            </p:cNvSpPr>
            <p:nvPr/>
          </p:nvSpPr>
          <p:spPr bwMode="auto">
            <a:xfrm>
              <a:off x="2607" y="3424"/>
              <a:ext cx="2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dirty="0">
                  <a:solidFill>
                    <a:srgbClr val="000000"/>
                  </a:solidFill>
                  <a:latin typeface="宋体" pitchFamily="2" charset="-122"/>
                  <a:ea typeface="宋体" pitchFamily="2" charset="-122"/>
                </a:rPr>
                <a:t>米</a:t>
              </a:r>
              <a:endParaRPr lang="zh-CN" altLang="en-US" dirty="0">
                <a:effectLst>
                  <a:outerShdw blurRad="38100" dist="38100" dir="2700000" algn="tl">
                    <a:srgbClr val="C0C0C0"/>
                  </a:outerShdw>
                </a:effectLst>
              </a:endParaRPr>
            </a:p>
          </p:txBody>
        </p:sp>
        <p:sp>
          <p:nvSpPr>
            <p:cNvPr id="555024" name="Rectangle 16"/>
            <p:cNvSpPr>
              <a:spLocks noChangeArrowheads="1"/>
            </p:cNvSpPr>
            <p:nvPr/>
          </p:nvSpPr>
          <p:spPr bwMode="auto">
            <a:xfrm>
              <a:off x="439" y="3424"/>
              <a:ext cx="12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观察误差：</a:t>
              </a:r>
              <a:endParaRPr lang="zh-CN" altLang="en-US">
                <a:effectLst>
                  <a:outerShdw blurRad="38100" dist="38100" dir="2700000" algn="tl">
                    <a:srgbClr val="C0C0C0"/>
                  </a:outerShdw>
                </a:effectLst>
              </a:endParaRPr>
            </a:p>
          </p:txBody>
        </p:sp>
        <p:sp>
          <p:nvSpPr>
            <p:cNvPr id="555037" name="Rectangle 29"/>
            <p:cNvSpPr>
              <a:spLocks noChangeArrowheads="1"/>
            </p:cNvSpPr>
            <p:nvPr/>
          </p:nvSpPr>
          <p:spPr bwMode="auto">
            <a:xfrm>
              <a:off x="3438" y="3416"/>
              <a:ext cx="6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38" name="Rectangle 30"/>
            <p:cNvSpPr>
              <a:spLocks noChangeArrowheads="1"/>
            </p:cNvSpPr>
            <p:nvPr/>
          </p:nvSpPr>
          <p:spPr bwMode="auto">
            <a:xfrm>
              <a:off x="2926" y="3416"/>
              <a:ext cx="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39" name="Rectangle 31"/>
            <p:cNvSpPr>
              <a:spLocks noChangeArrowheads="1"/>
            </p:cNvSpPr>
            <p:nvPr/>
          </p:nvSpPr>
          <p:spPr bwMode="auto">
            <a:xfrm>
              <a:off x="2476" y="341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8</a:t>
              </a:r>
              <a:endParaRPr lang="en-US" altLang="zh-CN">
                <a:effectLst>
                  <a:outerShdw blurRad="38100" dist="38100" dir="2700000" algn="tl">
                    <a:srgbClr val="C0C0C0"/>
                  </a:outerShdw>
                </a:effectLst>
              </a:endParaRPr>
            </a:p>
          </p:txBody>
        </p:sp>
        <p:sp>
          <p:nvSpPr>
            <p:cNvPr id="555040" name="Rectangle 32"/>
            <p:cNvSpPr>
              <a:spLocks noChangeArrowheads="1"/>
            </p:cNvSpPr>
            <p:nvPr/>
          </p:nvSpPr>
          <p:spPr bwMode="auto">
            <a:xfrm>
              <a:off x="2407" y="3416"/>
              <a:ext cx="6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41" name="Rectangle 33"/>
            <p:cNvSpPr>
              <a:spLocks noChangeArrowheads="1"/>
            </p:cNvSpPr>
            <p:nvPr/>
          </p:nvSpPr>
          <p:spPr bwMode="auto">
            <a:xfrm>
              <a:off x="2267" y="341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9</a:t>
              </a:r>
              <a:endParaRPr lang="en-US" altLang="zh-CN">
                <a:effectLst>
                  <a:outerShdw blurRad="38100" dist="38100" dir="2700000" algn="tl">
                    <a:srgbClr val="C0C0C0"/>
                  </a:outerShdw>
                </a:effectLst>
              </a:endParaRPr>
            </a:p>
          </p:txBody>
        </p:sp>
        <p:sp>
          <p:nvSpPr>
            <p:cNvPr id="555042" name="Rectangle 34"/>
            <p:cNvSpPr>
              <a:spLocks noChangeArrowheads="1"/>
            </p:cNvSpPr>
            <p:nvPr/>
          </p:nvSpPr>
          <p:spPr bwMode="auto">
            <a:xfrm>
              <a:off x="191" y="341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3</a:t>
              </a:r>
              <a:endParaRPr lang="en-US" altLang="zh-CN">
                <a:effectLst>
                  <a:outerShdw blurRad="38100" dist="38100" dir="2700000" algn="tl">
                    <a:srgbClr val="C0C0C0"/>
                  </a:outerShdw>
                </a:effectLst>
              </a:endParaRPr>
            </a:p>
          </p:txBody>
        </p:sp>
        <p:sp>
          <p:nvSpPr>
            <p:cNvPr id="555056" name="Rectangle 48"/>
            <p:cNvSpPr>
              <a:spLocks noChangeArrowheads="1"/>
            </p:cNvSpPr>
            <p:nvPr/>
          </p:nvSpPr>
          <p:spPr bwMode="auto">
            <a:xfrm>
              <a:off x="3329" y="339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2</a:t>
              </a:r>
              <a:endParaRPr lang="en-US" altLang="zh-CN">
                <a:effectLst>
                  <a:outerShdw blurRad="38100" dist="38100" dir="2700000" algn="tl">
                    <a:srgbClr val="C0C0C0"/>
                  </a:outerShdw>
                </a:effectLst>
              </a:endParaRPr>
            </a:p>
          </p:txBody>
        </p:sp>
        <p:sp>
          <p:nvSpPr>
            <p:cNvPr id="555057" name="Rectangle 49"/>
            <p:cNvSpPr>
              <a:spLocks noChangeArrowheads="1"/>
            </p:cNvSpPr>
            <p:nvPr/>
          </p:nvSpPr>
          <p:spPr bwMode="auto">
            <a:xfrm>
              <a:off x="330" y="3395"/>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0</a:t>
              </a:r>
              <a:endParaRPr lang="en-US" altLang="zh-CN">
                <a:effectLst>
                  <a:outerShdw blurRad="38100" dist="38100" dir="2700000" algn="tl">
                    <a:srgbClr val="C0C0C0"/>
                  </a:outerShdw>
                </a:effectLst>
              </a:endParaRPr>
            </a:p>
          </p:txBody>
        </p:sp>
        <p:sp>
          <p:nvSpPr>
            <p:cNvPr id="555064" name="Rectangle 56"/>
            <p:cNvSpPr>
              <a:spLocks noChangeArrowheads="1"/>
            </p:cNvSpPr>
            <p:nvPr/>
          </p:nvSpPr>
          <p:spPr bwMode="auto">
            <a:xfrm>
              <a:off x="2057" y="3387"/>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dirty="0">
                  <a:solidFill>
                    <a:srgbClr val="000000"/>
                  </a:solidFill>
                  <a:latin typeface="Symbol" pitchFamily="18" charset="2"/>
                </a:rPr>
                <a:t>=</a:t>
              </a:r>
              <a:endParaRPr lang="en-US" altLang="zh-CN" dirty="0">
                <a:effectLst>
                  <a:outerShdw blurRad="38100" dist="38100" dir="2700000" algn="tl">
                    <a:srgbClr val="C0C0C0"/>
                  </a:outerShdw>
                </a:effectLst>
              </a:endParaRPr>
            </a:p>
          </p:txBody>
        </p:sp>
        <p:sp>
          <p:nvSpPr>
            <p:cNvPr id="555075" name="Rectangle 67"/>
            <p:cNvSpPr>
              <a:spLocks noChangeArrowheads="1"/>
            </p:cNvSpPr>
            <p:nvPr/>
          </p:nvSpPr>
          <p:spPr bwMode="auto">
            <a:xfrm>
              <a:off x="3534" y="3416"/>
              <a:ext cx="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rPr>
                <a:t>l</a:t>
              </a:r>
              <a:endParaRPr lang="en-US" altLang="zh-CN">
                <a:effectLst>
                  <a:outerShdw blurRad="38100" dist="38100" dir="2700000" algn="tl">
                    <a:srgbClr val="C0C0C0"/>
                  </a:outerShdw>
                </a:effectLst>
              </a:endParaRPr>
            </a:p>
          </p:txBody>
        </p:sp>
        <p:sp>
          <p:nvSpPr>
            <p:cNvPr id="555076" name="Rectangle 68"/>
            <p:cNvSpPr>
              <a:spLocks noChangeArrowheads="1"/>
            </p:cNvSpPr>
            <p:nvPr/>
          </p:nvSpPr>
          <p:spPr bwMode="auto">
            <a:xfrm>
              <a:off x="1835" y="3416"/>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dirty="0">
                  <a:solidFill>
                    <a:srgbClr val="000000"/>
                  </a:solidFill>
                </a:rPr>
                <a:t>g</a:t>
              </a:r>
              <a:endParaRPr lang="en-US" altLang="zh-CN" dirty="0">
                <a:effectLst>
                  <a:outerShdw blurRad="38100" dist="38100" dir="2700000" algn="tl">
                    <a:srgbClr val="C0C0C0"/>
                  </a:outerShdw>
                </a:effectLst>
              </a:endParaRPr>
            </a:p>
          </p:txBody>
        </p:sp>
      </p:grpSp>
      <p:grpSp>
        <p:nvGrpSpPr>
          <p:cNvPr id="555086" name="Group 78"/>
          <p:cNvGrpSpPr>
            <a:grpSpLocks/>
          </p:cNvGrpSpPr>
          <p:nvPr/>
        </p:nvGrpSpPr>
        <p:grpSpPr bwMode="auto">
          <a:xfrm>
            <a:off x="249238" y="3645024"/>
            <a:ext cx="7891462" cy="1111250"/>
            <a:chOff x="157" y="2659"/>
            <a:chExt cx="4971" cy="700"/>
          </a:xfrm>
        </p:grpSpPr>
        <p:sp>
          <p:nvSpPr>
            <p:cNvPr id="555016" name="Line 8"/>
            <p:cNvSpPr>
              <a:spLocks noChangeShapeType="1"/>
            </p:cNvSpPr>
            <p:nvPr/>
          </p:nvSpPr>
          <p:spPr bwMode="auto">
            <a:xfrm>
              <a:off x="3342" y="3016"/>
              <a:ext cx="299"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5017" name="Line 9"/>
            <p:cNvSpPr>
              <a:spLocks noChangeShapeType="1"/>
            </p:cNvSpPr>
            <p:nvPr/>
          </p:nvSpPr>
          <p:spPr bwMode="auto">
            <a:xfrm>
              <a:off x="3907" y="3016"/>
              <a:ext cx="303"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pPr>
                <a:defRPr/>
              </a:pPr>
              <a:endParaRPr lang="zh-CN" altLang="en-US">
                <a:effectLst>
                  <a:outerShdw blurRad="38100" dist="38100" dir="2700000" algn="tl">
                    <a:srgbClr val="000000">
                      <a:alpha val="43137"/>
                    </a:srgbClr>
                  </a:outerShdw>
                </a:effectLst>
              </a:endParaRPr>
            </a:p>
          </p:txBody>
        </p:sp>
        <p:sp>
          <p:nvSpPr>
            <p:cNvPr id="555025" name="Rectangle 17"/>
            <p:cNvSpPr>
              <a:spLocks noChangeArrowheads="1"/>
            </p:cNvSpPr>
            <p:nvPr/>
          </p:nvSpPr>
          <p:spPr bwMode="auto">
            <a:xfrm>
              <a:off x="1178" y="2858"/>
              <a:ext cx="77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展式：</a:t>
              </a:r>
              <a:endParaRPr lang="zh-CN" altLang="en-US">
                <a:effectLst>
                  <a:outerShdw blurRad="38100" dist="38100" dir="2700000" algn="tl">
                    <a:srgbClr val="C0C0C0"/>
                  </a:outerShdw>
                </a:effectLst>
              </a:endParaRPr>
            </a:p>
          </p:txBody>
        </p:sp>
        <p:sp>
          <p:nvSpPr>
            <p:cNvPr id="555026" name="Rectangle 18"/>
            <p:cNvSpPr>
              <a:spLocks noChangeArrowheads="1"/>
            </p:cNvSpPr>
            <p:nvPr/>
          </p:nvSpPr>
          <p:spPr bwMode="auto">
            <a:xfrm>
              <a:off x="157" y="2858"/>
              <a:ext cx="256"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a:solidFill>
                    <a:srgbClr val="000000"/>
                  </a:solidFill>
                  <a:latin typeface="宋体" pitchFamily="2" charset="-122"/>
                  <a:ea typeface="宋体" pitchFamily="2" charset="-122"/>
                </a:rPr>
                <a:t>由</a:t>
              </a:r>
              <a:endParaRPr lang="zh-CN" altLang="en-US">
                <a:effectLst>
                  <a:outerShdw blurRad="38100" dist="38100" dir="2700000" algn="tl">
                    <a:srgbClr val="C0C0C0"/>
                  </a:outerShdw>
                </a:effectLst>
              </a:endParaRPr>
            </a:p>
          </p:txBody>
        </p:sp>
        <p:sp>
          <p:nvSpPr>
            <p:cNvPr id="555043" name="Rectangle 35"/>
            <p:cNvSpPr>
              <a:spLocks noChangeArrowheads="1"/>
            </p:cNvSpPr>
            <p:nvPr/>
          </p:nvSpPr>
          <p:spPr bwMode="auto">
            <a:xfrm>
              <a:off x="4450" y="2850"/>
              <a:ext cx="277"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44" name="Rectangle 36"/>
            <p:cNvSpPr>
              <a:spLocks noChangeArrowheads="1"/>
            </p:cNvSpPr>
            <p:nvPr/>
          </p:nvSpPr>
          <p:spPr bwMode="auto">
            <a:xfrm>
              <a:off x="4083" y="3052"/>
              <a:ext cx="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45" name="Rectangle 37"/>
            <p:cNvSpPr>
              <a:spLocks noChangeArrowheads="1"/>
            </p:cNvSpPr>
            <p:nvPr/>
          </p:nvSpPr>
          <p:spPr bwMode="auto">
            <a:xfrm>
              <a:off x="3969" y="3052"/>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5</a:t>
              </a:r>
              <a:endParaRPr lang="en-US" altLang="zh-CN">
                <a:effectLst>
                  <a:outerShdw blurRad="38100" dist="38100" dir="2700000" algn="tl">
                    <a:srgbClr val="C0C0C0"/>
                  </a:outerShdw>
                </a:effectLst>
              </a:endParaRPr>
            </a:p>
          </p:txBody>
        </p:sp>
        <p:sp>
          <p:nvSpPr>
            <p:cNvPr id="555046" name="Rectangle 38"/>
            <p:cNvSpPr>
              <a:spLocks noChangeArrowheads="1"/>
            </p:cNvSpPr>
            <p:nvPr/>
          </p:nvSpPr>
          <p:spPr bwMode="auto">
            <a:xfrm>
              <a:off x="3513" y="3052"/>
              <a:ext cx="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47" name="Rectangle 39"/>
            <p:cNvSpPr>
              <a:spLocks noChangeArrowheads="1"/>
            </p:cNvSpPr>
            <p:nvPr/>
          </p:nvSpPr>
          <p:spPr bwMode="auto">
            <a:xfrm>
              <a:off x="3404" y="3052"/>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3</a:t>
              </a:r>
              <a:endParaRPr lang="en-US" altLang="zh-CN">
                <a:effectLst>
                  <a:outerShdw blurRad="38100" dist="38100" dir="2700000" algn="tl">
                    <a:srgbClr val="C0C0C0"/>
                  </a:outerShdw>
                </a:effectLst>
              </a:endParaRPr>
            </a:p>
          </p:txBody>
        </p:sp>
        <p:sp>
          <p:nvSpPr>
            <p:cNvPr id="555048" name="Rectangle 40"/>
            <p:cNvSpPr>
              <a:spLocks noChangeArrowheads="1"/>
            </p:cNvSpPr>
            <p:nvPr/>
          </p:nvSpPr>
          <p:spPr bwMode="auto">
            <a:xfrm>
              <a:off x="3045" y="2850"/>
              <a:ext cx="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a:t>
              </a:r>
              <a:endParaRPr lang="en-US" altLang="zh-CN">
                <a:effectLst>
                  <a:outerShdw blurRad="38100" dist="38100" dir="2700000" algn="tl">
                    <a:srgbClr val="C0C0C0"/>
                  </a:outerShdw>
                </a:effectLst>
              </a:endParaRPr>
            </a:p>
          </p:txBody>
        </p:sp>
        <p:sp>
          <p:nvSpPr>
            <p:cNvPr id="555049" name="Rectangle 41"/>
            <p:cNvSpPr>
              <a:spLocks noChangeArrowheads="1"/>
            </p:cNvSpPr>
            <p:nvPr/>
          </p:nvSpPr>
          <p:spPr bwMode="auto">
            <a:xfrm>
              <a:off x="1849" y="2850"/>
              <a:ext cx="3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sin</a:t>
              </a:r>
              <a:endParaRPr lang="en-US" altLang="zh-CN">
                <a:effectLst>
                  <a:outerShdw blurRad="38100" dist="38100" dir="2700000" algn="tl">
                    <a:srgbClr val="C0C0C0"/>
                  </a:outerShdw>
                </a:effectLst>
              </a:endParaRPr>
            </a:p>
          </p:txBody>
        </p:sp>
        <p:sp>
          <p:nvSpPr>
            <p:cNvPr id="555050" name="Rectangle 42"/>
            <p:cNvSpPr>
              <a:spLocks noChangeArrowheads="1"/>
            </p:cNvSpPr>
            <p:nvPr/>
          </p:nvSpPr>
          <p:spPr bwMode="auto">
            <a:xfrm>
              <a:off x="436" y="2850"/>
              <a:ext cx="740"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Taylor</a:t>
              </a:r>
              <a:endParaRPr lang="en-US" altLang="zh-CN">
                <a:effectLst>
                  <a:outerShdw blurRad="38100" dist="38100" dir="2700000" algn="tl">
                    <a:srgbClr val="C0C0C0"/>
                  </a:outerShdw>
                </a:effectLst>
              </a:endParaRPr>
            </a:p>
          </p:txBody>
        </p:sp>
        <p:sp>
          <p:nvSpPr>
            <p:cNvPr id="555058" name="Rectangle 50"/>
            <p:cNvSpPr>
              <a:spLocks noChangeArrowheads="1"/>
            </p:cNvSpPr>
            <p:nvPr/>
          </p:nvSpPr>
          <p:spPr bwMode="auto">
            <a:xfrm>
              <a:off x="4089" y="266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5</a:t>
              </a:r>
              <a:endParaRPr lang="en-US" altLang="zh-CN">
                <a:effectLst>
                  <a:outerShdw blurRad="38100" dist="38100" dir="2700000" algn="tl">
                    <a:srgbClr val="C0C0C0"/>
                  </a:outerShdw>
                </a:effectLst>
              </a:endParaRPr>
            </a:p>
          </p:txBody>
        </p:sp>
        <p:sp>
          <p:nvSpPr>
            <p:cNvPr id="555059" name="Rectangle 51"/>
            <p:cNvSpPr>
              <a:spLocks noChangeArrowheads="1"/>
            </p:cNvSpPr>
            <p:nvPr/>
          </p:nvSpPr>
          <p:spPr bwMode="auto">
            <a:xfrm>
              <a:off x="3524" y="2667"/>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3</a:t>
              </a:r>
              <a:endParaRPr lang="en-US" altLang="zh-CN">
                <a:effectLst>
                  <a:outerShdw blurRad="38100" dist="38100" dir="2700000" algn="tl">
                    <a:srgbClr val="C0C0C0"/>
                  </a:outerShdw>
                </a:effectLst>
              </a:endParaRPr>
            </a:p>
          </p:txBody>
        </p:sp>
        <p:sp>
          <p:nvSpPr>
            <p:cNvPr id="555065" name="Rectangle 57"/>
            <p:cNvSpPr>
              <a:spLocks noChangeArrowheads="1"/>
            </p:cNvSpPr>
            <p:nvPr/>
          </p:nvSpPr>
          <p:spPr bwMode="auto">
            <a:xfrm>
              <a:off x="4803" y="2821"/>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5066" name="Rectangle 58"/>
            <p:cNvSpPr>
              <a:spLocks noChangeArrowheads="1"/>
            </p:cNvSpPr>
            <p:nvPr/>
          </p:nvSpPr>
          <p:spPr bwMode="auto">
            <a:xfrm>
              <a:off x="4267" y="2821"/>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5067" name="Rectangle 59"/>
            <p:cNvSpPr>
              <a:spLocks noChangeArrowheads="1"/>
            </p:cNvSpPr>
            <p:nvPr/>
          </p:nvSpPr>
          <p:spPr bwMode="auto">
            <a:xfrm>
              <a:off x="3698" y="2821"/>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5068" name="Rectangle 60"/>
            <p:cNvSpPr>
              <a:spLocks noChangeArrowheads="1"/>
            </p:cNvSpPr>
            <p:nvPr/>
          </p:nvSpPr>
          <p:spPr bwMode="auto">
            <a:xfrm>
              <a:off x="3145" y="2821"/>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5069" name="Rectangle 61"/>
            <p:cNvSpPr>
              <a:spLocks noChangeArrowheads="1"/>
            </p:cNvSpPr>
            <p:nvPr/>
          </p:nvSpPr>
          <p:spPr bwMode="auto">
            <a:xfrm>
              <a:off x="2862" y="2821"/>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5070" name="Rectangle 62"/>
            <p:cNvSpPr>
              <a:spLocks noChangeArrowheads="1"/>
            </p:cNvSpPr>
            <p:nvPr/>
          </p:nvSpPr>
          <p:spPr bwMode="auto">
            <a:xfrm>
              <a:off x="2443" y="2821"/>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555077" name="Rectangle 69"/>
            <p:cNvSpPr>
              <a:spLocks noChangeArrowheads="1"/>
            </p:cNvSpPr>
            <p:nvPr/>
          </p:nvSpPr>
          <p:spPr bwMode="auto">
            <a:xfrm>
              <a:off x="4995" y="2821"/>
              <a:ext cx="13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5078" name="Rectangle 70"/>
            <p:cNvSpPr>
              <a:spLocks noChangeArrowheads="1"/>
            </p:cNvSpPr>
            <p:nvPr/>
          </p:nvSpPr>
          <p:spPr bwMode="auto">
            <a:xfrm>
              <a:off x="3900" y="2659"/>
              <a:ext cx="13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5079" name="Rectangle 71"/>
            <p:cNvSpPr>
              <a:spLocks noChangeArrowheads="1"/>
            </p:cNvSpPr>
            <p:nvPr/>
          </p:nvSpPr>
          <p:spPr bwMode="auto">
            <a:xfrm>
              <a:off x="3334" y="2659"/>
              <a:ext cx="13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dirty="0">
                  <a:solidFill>
                    <a:srgbClr val="000000"/>
                  </a:solidFill>
                  <a:latin typeface="Symbol" pitchFamily="18" charset="2"/>
                </a:rPr>
                <a:t>q</a:t>
              </a:r>
              <a:endParaRPr lang="en-US" altLang="zh-CN" dirty="0">
                <a:effectLst>
                  <a:outerShdw blurRad="38100" dist="38100" dir="2700000" algn="tl">
                    <a:srgbClr val="C0C0C0"/>
                  </a:outerShdw>
                </a:effectLst>
              </a:endParaRPr>
            </a:p>
          </p:txBody>
        </p:sp>
        <p:sp>
          <p:nvSpPr>
            <p:cNvPr id="555080" name="Rectangle 72"/>
            <p:cNvSpPr>
              <a:spLocks noChangeArrowheads="1"/>
            </p:cNvSpPr>
            <p:nvPr/>
          </p:nvSpPr>
          <p:spPr bwMode="auto">
            <a:xfrm>
              <a:off x="2635" y="2821"/>
              <a:ext cx="13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sp>
          <p:nvSpPr>
            <p:cNvPr id="555081" name="Rectangle 73"/>
            <p:cNvSpPr>
              <a:spLocks noChangeArrowheads="1"/>
            </p:cNvSpPr>
            <p:nvPr/>
          </p:nvSpPr>
          <p:spPr bwMode="auto">
            <a:xfrm>
              <a:off x="2199" y="2821"/>
              <a:ext cx="13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a:solidFill>
                    <a:srgbClr val="000000"/>
                  </a:solidFill>
                  <a:latin typeface="Symbol" pitchFamily="18" charset="2"/>
                </a:rPr>
                <a:t>q</a:t>
              </a:r>
              <a:endParaRPr lang="en-US" altLang="zh-CN">
                <a:effectLst>
                  <a:outerShdw blurRad="38100" dist="38100" dir="2700000" algn="tl">
                    <a:srgbClr val="C0C0C0"/>
                  </a:outerShdw>
                </a:effectLst>
              </a:endParaRPr>
            </a:p>
          </p:txBody>
        </p:sp>
      </p:grpSp>
      <p:grpSp>
        <p:nvGrpSpPr>
          <p:cNvPr id="555090" name="Group 82"/>
          <p:cNvGrpSpPr>
            <a:grpSpLocks/>
          </p:cNvGrpSpPr>
          <p:nvPr/>
        </p:nvGrpSpPr>
        <p:grpSpPr bwMode="auto">
          <a:xfrm>
            <a:off x="317500" y="2976463"/>
            <a:ext cx="4110038" cy="533400"/>
            <a:chOff x="200" y="1760"/>
            <a:chExt cx="2589" cy="336"/>
          </a:xfrm>
        </p:grpSpPr>
        <p:sp>
          <p:nvSpPr>
            <p:cNvPr id="555027" name="Rectangle 19"/>
            <p:cNvSpPr>
              <a:spLocks noChangeArrowheads="1"/>
            </p:cNvSpPr>
            <p:nvPr/>
          </p:nvSpPr>
          <p:spPr bwMode="auto">
            <a:xfrm>
              <a:off x="449" y="1789"/>
              <a:ext cx="1285"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zh-CN" altLang="en-US" sz="3200" dirty="0">
                  <a:solidFill>
                    <a:srgbClr val="000000"/>
                  </a:solidFill>
                  <a:latin typeface="宋体" pitchFamily="2" charset="-122"/>
                  <a:ea typeface="宋体" pitchFamily="2" charset="-122"/>
                </a:rPr>
                <a:t>截断误差：</a:t>
              </a:r>
              <a:endParaRPr lang="zh-CN" altLang="en-US" dirty="0">
                <a:effectLst>
                  <a:outerShdw blurRad="38100" dist="38100" dir="2700000" algn="tl">
                    <a:srgbClr val="C0C0C0"/>
                  </a:outerShdw>
                </a:effectLst>
              </a:endParaRPr>
            </a:p>
          </p:txBody>
        </p:sp>
        <p:sp>
          <p:nvSpPr>
            <p:cNvPr id="555051" name="Rectangle 43"/>
            <p:cNvSpPr>
              <a:spLocks noChangeArrowheads="1"/>
            </p:cNvSpPr>
            <p:nvPr/>
          </p:nvSpPr>
          <p:spPr bwMode="auto">
            <a:xfrm>
              <a:off x="1791" y="1781"/>
              <a:ext cx="31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dirty="0">
                  <a:solidFill>
                    <a:srgbClr val="000000"/>
                  </a:solidFill>
                </a:rPr>
                <a:t>sin</a:t>
              </a:r>
              <a:endParaRPr lang="en-US" altLang="zh-CN" dirty="0">
                <a:effectLst>
                  <a:outerShdw blurRad="38100" dist="38100" dir="2700000" algn="tl">
                    <a:srgbClr val="C0C0C0"/>
                  </a:outerShdw>
                </a:effectLst>
              </a:endParaRPr>
            </a:p>
          </p:txBody>
        </p:sp>
        <p:sp>
          <p:nvSpPr>
            <p:cNvPr id="555052" name="Rectangle 44"/>
            <p:cNvSpPr>
              <a:spLocks noChangeArrowheads="1"/>
            </p:cNvSpPr>
            <p:nvPr/>
          </p:nvSpPr>
          <p:spPr bwMode="auto">
            <a:xfrm>
              <a:off x="200" y="1781"/>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a:solidFill>
                    <a:srgbClr val="000000"/>
                  </a:solidFill>
                </a:rPr>
                <a:t>2</a:t>
              </a:r>
              <a:endParaRPr lang="en-US" altLang="zh-CN">
                <a:effectLst>
                  <a:outerShdw blurRad="38100" dist="38100" dir="2700000" algn="tl">
                    <a:srgbClr val="C0C0C0"/>
                  </a:outerShdw>
                </a:effectLst>
              </a:endParaRPr>
            </a:p>
          </p:txBody>
        </p:sp>
        <p:sp>
          <p:nvSpPr>
            <p:cNvPr id="555060" name="Rectangle 52"/>
            <p:cNvSpPr>
              <a:spLocks noChangeArrowheads="1"/>
            </p:cNvSpPr>
            <p:nvPr/>
          </p:nvSpPr>
          <p:spPr bwMode="auto">
            <a:xfrm>
              <a:off x="341" y="1760"/>
              <a:ext cx="76"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1900">
                  <a:solidFill>
                    <a:srgbClr val="000000"/>
                  </a:solidFill>
                </a:rPr>
                <a:t>0</a:t>
              </a:r>
              <a:endParaRPr lang="en-US" altLang="zh-CN">
                <a:effectLst>
                  <a:outerShdw blurRad="38100" dist="38100" dir="2700000" algn="tl">
                    <a:srgbClr val="C0C0C0"/>
                  </a:outerShdw>
                </a:effectLst>
              </a:endParaRPr>
            </a:p>
          </p:txBody>
        </p:sp>
        <p:sp>
          <p:nvSpPr>
            <p:cNvPr id="555082" name="Rectangle 74"/>
            <p:cNvSpPr>
              <a:spLocks noChangeArrowheads="1"/>
            </p:cNvSpPr>
            <p:nvPr/>
          </p:nvSpPr>
          <p:spPr bwMode="auto">
            <a:xfrm>
              <a:off x="2526" y="1783"/>
              <a:ext cx="263"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defRPr/>
              </a:pPr>
              <a:r>
                <a:rPr lang="en-US" altLang="zh-CN" sz="3200" i="1" dirty="0">
                  <a:solidFill>
                    <a:srgbClr val="000000"/>
                  </a:solidFill>
                  <a:latin typeface="Symbol" pitchFamily="18" charset="2"/>
                </a:rPr>
                <a:t>q</a:t>
              </a:r>
              <a:endParaRPr lang="en-US" altLang="zh-CN" dirty="0">
                <a:effectLst>
                  <a:outerShdw blurRad="38100" dist="38100" dir="2700000" algn="tl">
                    <a:srgbClr val="C0C0C0"/>
                  </a:outerShdw>
                </a:effectLst>
              </a:endParaRPr>
            </a:p>
          </p:txBody>
        </p:sp>
      </p:grpSp>
      <p:graphicFrame>
        <p:nvGraphicFramePr>
          <p:cNvPr id="56330" name="对象 1"/>
          <p:cNvGraphicFramePr>
            <a:graphicFrameLocks noChangeAspect="1"/>
          </p:cNvGraphicFramePr>
          <p:nvPr/>
        </p:nvGraphicFramePr>
        <p:xfrm>
          <a:off x="250825" y="-303213"/>
          <a:ext cx="4079875" cy="1571626"/>
        </p:xfrm>
        <a:graphic>
          <a:graphicData uri="http://schemas.openxmlformats.org/presentationml/2006/ole">
            <mc:AlternateContent xmlns:mc="http://schemas.openxmlformats.org/markup-compatibility/2006">
              <mc:Choice xmlns:v="urn:schemas-microsoft-com:vml" Requires="v">
                <p:oleObj spid="_x0000_s56433" name="公式" r:id="rId4" imgW="1714500" imgH="660400" progId="Equation.3">
                  <p:embed/>
                </p:oleObj>
              </mc:Choice>
              <mc:Fallback>
                <p:oleObj name="公式" r:id="rId4" imgW="1714500" imgH="660400" progId="Equation.3">
                  <p:embed/>
                  <p:pic>
                    <p:nvPicPr>
                      <p:cNvPr id="0" name="对象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0825" y="-303213"/>
                        <a:ext cx="4079875" cy="15716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6" name="图片 5">
            <a:extLst>
              <a:ext uri="{FF2B5EF4-FFF2-40B4-BE49-F238E27FC236}">
                <a16:creationId xmlns:a16="http://schemas.microsoft.com/office/drawing/2014/main" id="{1B7F7C86-03A2-401C-B4E1-A6DEDFA0CB4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67500" y="5123631"/>
            <a:ext cx="2266950" cy="981075"/>
          </a:xfrm>
          <a:prstGeom prst="rect">
            <a:avLst/>
          </a:prstGeom>
        </p:spPr>
      </p:pic>
      <p:sp>
        <p:nvSpPr>
          <p:cNvPr id="79" name="Rectangle 63">
            <a:extLst>
              <a:ext uri="{FF2B5EF4-FFF2-40B4-BE49-F238E27FC236}">
                <a16:creationId xmlns:a16="http://schemas.microsoft.com/office/drawing/2014/main" id="{1682D95A-EC0C-4E12-A077-983B026A8C41}"/>
              </a:ext>
            </a:extLst>
          </p:cNvPr>
          <p:cNvSpPr>
            <a:spLocks noChangeArrowheads="1"/>
          </p:cNvSpPr>
          <p:nvPr/>
        </p:nvSpPr>
        <p:spPr bwMode="auto">
          <a:xfrm>
            <a:off x="3709615" y="3013645"/>
            <a:ext cx="214313"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pPr>
              <a:defRPr/>
            </a:pPr>
            <a:r>
              <a:rPr lang="en-US" altLang="zh-CN" sz="3200">
                <a:solidFill>
                  <a:srgbClr val="000000"/>
                </a:solidFill>
                <a:latin typeface="Symbol" pitchFamily="18" charset="2"/>
              </a:rPr>
              <a:t>»</a:t>
            </a:r>
            <a:endParaRPr lang="en-US" altLang="zh-CN">
              <a:effectLst>
                <a:outerShdw blurRad="38100" dist="38100" dir="2700000" algn="tl">
                  <a:srgbClr val="C0C0C0"/>
                </a:outerShdw>
              </a:effectLst>
            </a:endParaRPr>
          </a:p>
        </p:txBody>
      </p:sp>
      <p:sp>
        <p:nvSpPr>
          <p:cNvPr id="80" name="Rectangle 75">
            <a:extLst>
              <a:ext uri="{FF2B5EF4-FFF2-40B4-BE49-F238E27FC236}">
                <a16:creationId xmlns:a16="http://schemas.microsoft.com/office/drawing/2014/main" id="{A9CBB8CE-B8C3-49E3-8D46-24D0BC2AF5B4}"/>
              </a:ext>
            </a:extLst>
          </p:cNvPr>
          <p:cNvSpPr>
            <a:spLocks noChangeArrowheads="1"/>
          </p:cNvSpPr>
          <p:nvPr/>
        </p:nvSpPr>
        <p:spPr bwMode="auto">
          <a:xfrm>
            <a:off x="3339728" y="3013645"/>
            <a:ext cx="212725"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defRPr/>
            </a:pPr>
            <a:r>
              <a:rPr lang="en-US" altLang="zh-CN" sz="3200" i="1" dirty="0">
                <a:solidFill>
                  <a:srgbClr val="000000"/>
                </a:solidFill>
                <a:latin typeface="Symbol" pitchFamily="18" charset="2"/>
              </a:rPr>
              <a:t>q</a:t>
            </a:r>
            <a:endParaRPr lang="en-US" altLang="zh-CN" dirty="0">
              <a:effectLst>
                <a:outerShdw blurRad="38100" dist="38100" dir="2700000" algn="tl">
                  <a:srgbClr val="C0C0C0"/>
                </a:outerShdw>
              </a:effectLs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55084"/>
                                        </p:tgtEl>
                                        <p:attrNameLst>
                                          <p:attrName>style.visibility</p:attrName>
                                        </p:attrNameLst>
                                      </p:cBhvr>
                                      <p:to>
                                        <p:strVal val="visible"/>
                                      </p:to>
                                    </p:set>
                                    <p:anim calcmode="lin" valueType="num">
                                      <p:cBhvr additive="base">
                                        <p:cTn id="7" dur="500" fill="hold"/>
                                        <p:tgtEl>
                                          <p:spTgt spid="555084"/>
                                        </p:tgtEl>
                                        <p:attrNameLst>
                                          <p:attrName>ppt_x</p:attrName>
                                        </p:attrNameLst>
                                      </p:cBhvr>
                                      <p:tavLst>
                                        <p:tav tm="0">
                                          <p:val>
                                            <p:strVal val="#ppt_x"/>
                                          </p:val>
                                        </p:tav>
                                        <p:tav tm="100000">
                                          <p:val>
                                            <p:strVal val="#ppt_x"/>
                                          </p:val>
                                        </p:tav>
                                      </p:tavLst>
                                    </p:anim>
                                    <p:anim calcmode="lin" valueType="num">
                                      <p:cBhvr additive="base">
                                        <p:cTn id="8" dur="500" fill="hold"/>
                                        <p:tgtEl>
                                          <p:spTgt spid="55508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55090"/>
                                        </p:tgtEl>
                                        <p:attrNameLst>
                                          <p:attrName>style.visibility</p:attrName>
                                        </p:attrNameLst>
                                      </p:cBhvr>
                                      <p:to>
                                        <p:strVal val="visible"/>
                                      </p:to>
                                    </p:set>
                                    <p:anim calcmode="lin" valueType="num">
                                      <p:cBhvr additive="base">
                                        <p:cTn id="13" dur="500" fill="hold"/>
                                        <p:tgtEl>
                                          <p:spTgt spid="555090"/>
                                        </p:tgtEl>
                                        <p:attrNameLst>
                                          <p:attrName>ppt_x</p:attrName>
                                        </p:attrNameLst>
                                      </p:cBhvr>
                                      <p:tavLst>
                                        <p:tav tm="0">
                                          <p:val>
                                            <p:strVal val="#ppt_x"/>
                                          </p:val>
                                        </p:tav>
                                        <p:tav tm="100000">
                                          <p:val>
                                            <p:strVal val="#ppt_x"/>
                                          </p:val>
                                        </p:tav>
                                      </p:tavLst>
                                    </p:anim>
                                    <p:anim calcmode="lin" valueType="num">
                                      <p:cBhvr additive="base">
                                        <p:cTn id="14" dur="500" fill="hold"/>
                                        <p:tgtEl>
                                          <p:spTgt spid="555090"/>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55086"/>
                                        </p:tgtEl>
                                        <p:attrNameLst>
                                          <p:attrName>style.visibility</p:attrName>
                                        </p:attrNameLst>
                                      </p:cBhvr>
                                      <p:to>
                                        <p:strVal val="visible"/>
                                      </p:to>
                                    </p:set>
                                    <p:anim calcmode="lin" valueType="num">
                                      <p:cBhvr additive="base">
                                        <p:cTn id="19" dur="500" fill="hold"/>
                                        <p:tgtEl>
                                          <p:spTgt spid="555086"/>
                                        </p:tgtEl>
                                        <p:attrNameLst>
                                          <p:attrName>ppt_x</p:attrName>
                                        </p:attrNameLst>
                                      </p:cBhvr>
                                      <p:tavLst>
                                        <p:tav tm="0">
                                          <p:val>
                                            <p:strVal val="#ppt_x"/>
                                          </p:val>
                                        </p:tav>
                                        <p:tav tm="100000">
                                          <p:val>
                                            <p:strVal val="#ppt_x"/>
                                          </p:val>
                                        </p:tav>
                                      </p:tavLst>
                                    </p:anim>
                                    <p:anim calcmode="lin" valueType="num">
                                      <p:cBhvr additive="base">
                                        <p:cTn id="20" dur="500" fill="hold"/>
                                        <p:tgtEl>
                                          <p:spTgt spid="555086"/>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555087"/>
                                        </p:tgtEl>
                                        <p:attrNameLst>
                                          <p:attrName>style.visibility</p:attrName>
                                        </p:attrNameLst>
                                      </p:cBhvr>
                                      <p:to>
                                        <p:strVal val="visible"/>
                                      </p:to>
                                    </p:set>
                                    <p:anim calcmode="lin" valueType="num">
                                      <p:cBhvr additive="base">
                                        <p:cTn id="25" dur="500" fill="hold"/>
                                        <p:tgtEl>
                                          <p:spTgt spid="555087"/>
                                        </p:tgtEl>
                                        <p:attrNameLst>
                                          <p:attrName>ppt_x</p:attrName>
                                        </p:attrNameLst>
                                      </p:cBhvr>
                                      <p:tavLst>
                                        <p:tav tm="0">
                                          <p:val>
                                            <p:strVal val="#ppt_x"/>
                                          </p:val>
                                        </p:tav>
                                        <p:tav tm="100000">
                                          <p:val>
                                            <p:strVal val="#ppt_x"/>
                                          </p:val>
                                        </p:tav>
                                      </p:tavLst>
                                    </p:anim>
                                    <p:anim calcmode="lin" valueType="num">
                                      <p:cBhvr additive="base">
                                        <p:cTn id="26" dur="500" fill="hold"/>
                                        <p:tgtEl>
                                          <p:spTgt spid="555087"/>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55088"/>
                                        </p:tgtEl>
                                        <p:attrNameLst>
                                          <p:attrName>style.visibility</p:attrName>
                                        </p:attrNameLst>
                                      </p:cBhvr>
                                      <p:to>
                                        <p:strVal val="visible"/>
                                      </p:to>
                                    </p:set>
                                    <p:anim calcmode="lin" valueType="num">
                                      <p:cBhvr additive="base">
                                        <p:cTn id="31" dur="500" fill="hold"/>
                                        <p:tgtEl>
                                          <p:spTgt spid="555088"/>
                                        </p:tgtEl>
                                        <p:attrNameLst>
                                          <p:attrName>ppt_x</p:attrName>
                                        </p:attrNameLst>
                                      </p:cBhvr>
                                      <p:tavLst>
                                        <p:tav tm="0">
                                          <p:val>
                                            <p:strVal val="#ppt_x"/>
                                          </p:val>
                                        </p:tav>
                                        <p:tav tm="100000">
                                          <p:val>
                                            <p:strVal val="#ppt_x"/>
                                          </p:val>
                                        </p:tav>
                                      </p:tavLst>
                                    </p:anim>
                                    <p:anim calcmode="lin" valueType="num">
                                      <p:cBhvr additive="base">
                                        <p:cTn id="32" dur="500" fill="hold"/>
                                        <p:tgtEl>
                                          <p:spTgt spid="55508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灯片编号占位符 3"/>
          <p:cNvSpPr>
            <a:spLocks noGrp="1"/>
          </p:cNvSpPr>
          <p:nvPr>
            <p:ph type="sldNum" sz="quarter" idx="12"/>
          </p:nvPr>
        </p:nvSpPr>
        <p:spPr/>
        <p:txBody>
          <a:bodyPr/>
          <a:lstStyle/>
          <a:p>
            <a:pPr>
              <a:defRPr/>
            </a:pPr>
            <a:fld id="{A0E14733-BBFC-4C10-BDD7-662F7DAC99E1}" type="slidenum">
              <a:rPr lang="zh-CN" altLang="en-US"/>
              <a:pPr>
                <a:defRPr/>
              </a:pPr>
              <a:t>52</a:t>
            </a:fld>
            <a:endParaRPr lang="en-US" altLang="zh-CN"/>
          </a:p>
        </p:txBody>
      </p:sp>
      <p:sp>
        <p:nvSpPr>
          <p:cNvPr id="58371" name="Text Box 2"/>
          <p:cNvSpPr txBox="1">
            <a:spLocks noChangeArrowheads="1"/>
          </p:cNvSpPr>
          <p:nvPr/>
        </p:nvSpPr>
        <p:spPr bwMode="auto">
          <a:xfrm>
            <a:off x="323850" y="333375"/>
            <a:ext cx="8820150" cy="1471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140000"/>
              </a:lnSpc>
              <a:spcBef>
                <a:spcPct val="0"/>
              </a:spcBef>
              <a:buClrTx/>
              <a:buFontTx/>
              <a:buNone/>
            </a:pPr>
            <a:r>
              <a:rPr kumimoji="0" lang="zh-CN" altLang="en-US">
                <a:ea typeface="楷体_GB2312" pitchFamily="49" charset="-122"/>
              </a:rPr>
              <a:t>舍入误差</a:t>
            </a:r>
            <a:r>
              <a:rPr kumimoji="0" lang="en-US" altLang="zh-CN">
                <a:ea typeface="楷体_GB2312" pitchFamily="49" charset="-122"/>
              </a:rPr>
              <a:t>: Round-off  </a:t>
            </a:r>
            <a:r>
              <a:rPr kumimoji="0" lang="en-US" altLang="zh-CN" b="0">
                <a:latin typeface="CMR10" charset="0"/>
                <a:ea typeface="楷体_GB2312" pitchFamily="49" charset="-122"/>
              </a:rPr>
              <a:t>errors; </a:t>
            </a:r>
            <a:r>
              <a:rPr kumimoji="0" lang="en-US" altLang="zh-CN">
                <a:ea typeface="楷体_GB2312" pitchFamily="49" charset="-122"/>
              </a:rPr>
              <a:t>Rounding  </a:t>
            </a:r>
            <a:r>
              <a:rPr kumimoji="0" lang="en-US" altLang="zh-CN" b="0">
                <a:latin typeface="CMR10" charset="0"/>
                <a:ea typeface="楷体_GB2312" pitchFamily="49" charset="-122"/>
              </a:rPr>
              <a:t>errors </a:t>
            </a:r>
            <a:endParaRPr kumimoji="0" lang="en-US" altLang="zh-CN">
              <a:ea typeface="楷体_GB2312" pitchFamily="49" charset="-122"/>
            </a:endParaRPr>
          </a:p>
          <a:p>
            <a:pPr>
              <a:lnSpc>
                <a:spcPct val="140000"/>
              </a:lnSpc>
              <a:spcBef>
                <a:spcPct val="0"/>
              </a:spcBef>
              <a:buClrTx/>
              <a:buFontTx/>
              <a:buNone/>
            </a:pPr>
            <a:r>
              <a:rPr kumimoji="0" lang="zh-CN" altLang="en-US">
                <a:ea typeface="楷体_GB2312" pitchFamily="49" charset="-122"/>
              </a:rPr>
              <a:t>有效数字</a:t>
            </a:r>
            <a:r>
              <a:rPr kumimoji="0" lang="en-US" altLang="zh-CN">
                <a:ea typeface="楷体_GB2312" pitchFamily="49" charset="-122"/>
              </a:rPr>
              <a:t>: </a:t>
            </a:r>
            <a:r>
              <a:rPr kumimoji="0" lang="en-US" altLang="zh-CN" b="0">
                <a:latin typeface="CMR10" charset="0"/>
                <a:ea typeface="楷体_GB2312" pitchFamily="49" charset="-122"/>
              </a:rPr>
              <a:t>significant figures </a:t>
            </a:r>
            <a:endParaRPr kumimoji="0" lang="zh-CN" altLang="en-US">
              <a:ea typeface="楷体_GB2312" pitchFamily="49" charset="-122"/>
            </a:endParaRPr>
          </a:p>
        </p:txBody>
      </p:sp>
      <p:sp>
        <p:nvSpPr>
          <p:cNvPr id="396291" name="Text Box 3"/>
          <p:cNvSpPr txBox="1">
            <a:spLocks noChangeArrowheads="1"/>
          </p:cNvSpPr>
          <p:nvPr/>
        </p:nvSpPr>
        <p:spPr bwMode="auto">
          <a:xfrm>
            <a:off x="179388" y="1970088"/>
            <a:ext cx="8763000" cy="32591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lnSpc>
                <a:spcPct val="130000"/>
              </a:lnSpc>
              <a:spcBef>
                <a:spcPct val="0"/>
              </a:spcBef>
              <a:buClrTx/>
              <a:buFontTx/>
              <a:buNone/>
            </a:pPr>
            <a:r>
              <a:rPr kumimoji="0" lang="en-US" altLang="zh-CN" b="0">
                <a:latin typeface="CMR10" charset="0"/>
                <a:ea typeface="楷体_GB2312" pitchFamily="49" charset="-122"/>
              </a:rPr>
              <a:t>Round-off errors arise from the fact that computers keep only a fixed number of significant figures during a calculation. Therefore, they cannot be represented exactly by the computer.</a:t>
            </a:r>
            <a:endParaRPr kumimoji="0" lang="zh-CN" altLang="en-US">
              <a:ea typeface="楷体_GB2312" pitchFamily="49" charset="-122"/>
            </a:endParaRPr>
          </a:p>
        </p:txBody>
      </p:sp>
      <p:grpSp>
        <p:nvGrpSpPr>
          <p:cNvPr id="396306" name="Group 18"/>
          <p:cNvGrpSpPr>
            <a:grpSpLocks/>
          </p:cNvGrpSpPr>
          <p:nvPr/>
        </p:nvGrpSpPr>
        <p:grpSpPr bwMode="auto">
          <a:xfrm>
            <a:off x="395288" y="5546725"/>
            <a:ext cx="7764462" cy="546100"/>
            <a:chOff x="597" y="1809"/>
            <a:chExt cx="4891" cy="344"/>
          </a:xfrm>
        </p:grpSpPr>
        <p:sp>
          <p:nvSpPr>
            <p:cNvPr id="58374" name="Rectangle 4"/>
            <p:cNvSpPr>
              <a:spLocks noChangeArrowheads="1"/>
            </p:cNvSpPr>
            <p:nvPr/>
          </p:nvSpPr>
          <p:spPr bwMode="auto">
            <a:xfrm>
              <a:off x="3288" y="1846"/>
              <a:ext cx="10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a:solidFill>
                    <a:srgbClr val="000000"/>
                  </a:solidFill>
                  <a:latin typeface="宋体" pitchFamily="2" charset="-122"/>
                </a:rPr>
                <a:t>的近似数</a:t>
              </a:r>
              <a:endParaRPr kumimoji="0" lang="zh-CN" altLang="en-US" sz="1800">
                <a:latin typeface="Arial" pitchFamily="34" charset="0"/>
              </a:endParaRPr>
            </a:p>
          </p:txBody>
        </p:sp>
        <p:sp>
          <p:nvSpPr>
            <p:cNvPr id="58375" name="Rectangle 5"/>
            <p:cNvSpPr>
              <a:spLocks noChangeArrowheads="1"/>
            </p:cNvSpPr>
            <p:nvPr/>
          </p:nvSpPr>
          <p:spPr bwMode="auto">
            <a:xfrm>
              <a:off x="597" y="1846"/>
              <a:ext cx="51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a:solidFill>
                    <a:srgbClr val="000000"/>
                  </a:solidFill>
                  <a:latin typeface="宋体" pitchFamily="2" charset="-122"/>
                </a:rPr>
                <a:t>例如</a:t>
              </a:r>
              <a:endParaRPr kumimoji="0" lang="zh-CN" altLang="en-US" sz="1800">
                <a:latin typeface="Arial" pitchFamily="34" charset="0"/>
              </a:endParaRPr>
            </a:p>
          </p:txBody>
        </p:sp>
        <p:sp>
          <p:nvSpPr>
            <p:cNvPr id="58376" name="Rectangle 6"/>
            <p:cNvSpPr>
              <a:spLocks noChangeArrowheads="1"/>
            </p:cNvSpPr>
            <p:nvPr/>
          </p:nvSpPr>
          <p:spPr bwMode="auto">
            <a:xfrm>
              <a:off x="4976" y="1838"/>
              <a:ext cx="512"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rPr>
                <a:t>1416</a:t>
              </a:r>
              <a:endParaRPr kumimoji="0" lang="en-US" altLang="zh-CN" sz="1800">
                <a:latin typeface="Arial" pitchFamily="34" charset="0"/>
              </a:endParaRPr>
            </a:p>
          </p:txBody>
        </p:sp>
        <p:sp>
          <p:nvSpPr>
            <p:cNvPr id="58377" name="Rectangle 7"/>
            <p:cNvSpPr>
              <a:spLocks noChangeArrowheads="1"/>
            </p:cNvSpPr>
            <p:nvPr/>
          </p:nvSpPr>
          <p:spPr bwMode="auto">
            <a:xfrm>
              <a:off x="4914" y="1838"/>
              <a:ext cx="6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rPr>
                <a:t>.</a:t>
              </a:r>
              <a:endParaRPr kumimoji="0" lang="en-US" altLang="zh-CN" sz="1800">
                <a:latin typeface="Arial" pitchFamily="34" charset="0"/>
              </a:endParaRPr>
            </a:p>
          </p:txBody>
        </p:sp>
        <p:sp>
          <p:nvSpPr>
            <p:cNvPr id="58378" name="Rectangle 8"/>
            <p:cNvSpPr>
              <a:spLocks noChangeArrowheads="1"/>
            </p:cNvSpPr>
            <p:nvPr/>
          </p:nvSpPr>
          <p:spPr bwMode="auto">
            <a:xfrm>
              <a:off x="4790" y="1838"/>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rPr>
                <a:t>3</a:t>
              </a:r>
              <a:endParaRPr kumimoji="0" lang="en-US" altLang="zh-CN" sz="1800">
                <a:latin typeface="Arial" pitchFamily="34" charset="0"/>
              </a:endParaRPr>
            </a:p>
          </p:txBody>
        </p:sp>
        <p:sp>
          <p:nvSpPr>
            <p:cNvPr id="58379" name="Rectangle 9"/>
            <p:cNvSpPr>
              <a:spLocks noChangeArrowheads="1"/>
            </p:cNvSpPr>
            <p:nvPr/>
          </p:nvSpPr>
          <p:spPr bwMode="auto">
            <a:xfrm>
              <a:off x="2950" y="1838"/>
              <a:ext cx="38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rPr>
                <a:t>......</a:t>
              </a:r>
              <a:endParaRPr kumimoji="0" lang="en-US" altLang="zh-CN" sz="1800">
                <a:latin typeface="Arial" pitchFamily="34" charset="0"/>
              </a:endParaRPr>
            </a:p>
          </p:txBody>
        </p:sp>
        <p:sp>
          <p:nvSpPr>
            <p:cNvPr id="58380" name="Rectangle 10"/>
            <p:cNvSpPr>
              <a:spLocks noChangeArrowheads="1"/>
            </p:cNvSpPr>
            <p:nvPr/>
          </p:nvSpPr>
          <p:spPr bwMode="auto">
            <a:xfrm>
              <a:off x="1958" y="1838"/>
              <a:ext cx="102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rPr>
                <a:t>14159265</a:t>
              </a:r>
              <a:endParaRPr kumimoji="0" lang="en-US" altLang="zh-CN" sz="1800">
                <a:latin typeface="Arial" pitchFamily="34" charset="0"/>
              </a:endParaRPr>
            </a:p>
          </p:txBody>
        </p:sp>
        <p:sp>
          <p:nvSpPr>
            <p:cNvPr id="58381" name="Rectangle 11"/>
            <p:cNvSpPr>
              <a:spLocks noChangeArrowheads="1"/>
            </p:cNvSpPr>
            <p:nvPr/>
          </p:nvSpPr>
          <p:spPr bwMode="auto">
            <a:xfrm>
              <a:off x="1895" y="1838"/>
              <a:ext cx="64"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rPr>
                <a:t>.</a:t>
              </a:r>
              <a:endParaRPr kumimoji="0" lang="en-US" altLang="zh-CN" sz="1800">
                <a:latin typeface="Arial" pitchFamily="34" charset="0"/>
              </a:endParaRPr>
            </a:p>
          </p:txBody>
        </p:sp>
        <p:sp>
          <p:nvSpPr>
            <p:cNvPr id="58382" name="Rectangle 12"/>
            <p:cNvSpPr>
              <a:spLocks noChangeArrowheads="1"/>
            </p:cNvSpPr>
            <p:nvPr/>
          </p:nvSpPr>
          <p:spPr bwMode="auto">
            <a:xfrm>
              <a:off x="1771" y="1838"/>
              <a:ext cx="128"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rPr>
                <a:t>3</a:t>
              </a:r>
              <a:endParaRPr kumimoji="0" lang="en-US" altLang="zh-CN" sz="1800">
                <a:latin typeface="Arial" pitchFamily="34" charset="0"/>
              </a:endParaRPr>
            </a:p>
          </p:txBody>
        </p:sp>
        <p:sp>
          <p:nvSpPr>
            <p:cNvPr id="58383" name="Rectangle 13"/>
            <p:cNvSpPr>
              <a:spLocks noChangeArrowheads="1"/>
            </p:cNvSpPr>
            <p:nvPr/>
          </p:nvSpPr>
          <p:spPr bwMode="auto">
            <a:xfrm>
              <a:off x="4456" y="1818"/>
              <a:ext cx="72"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1800">
                  <a:solidFill>
                    <a:srgbClr val="000000"/>
                  </a:solidFill>
                </a:rPr>
                <a:t>*</a:t>
              </a:r>
              <a:endParaRPr kumimoji="0" lang="zh-CN" altLang="en-US" sz="1800">
                <a:latin typeface="Arial" pitchFamily="34" charset="0"/>
              </a:endParaRPr>
            </a:p>
          </p:txBody>
        </p:sp>
        <p:sp>
          <p:nvSpPr>
            <p:cNvPr id="58384" name="Rectangle 14"/>
            <p:cNvSpPr>
              <a:spLocks noChangeArrowheads="1"/>
            </p:cNvSpPr>
            <p:nvPr/>
          </p:nvSpPr>
          <p:spPr bwMode="auto">
            <a:xfrm>
              <a:off x="4604" y="1809"/>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latin typeface="Symbol" pitchFamily="18" charset="2"/>
                </a:rPr>
                <a:t>=</a:t>
              </a:r>
              <a:endParaRPr kumimoji="0" lang="en-US" altLang="zh-CN" sz="1800">
                <a:latin typeface="Arial" pitchFamily="34" charset="0"/>
              </a:endParaRPr>
            </a:p>
          </p:txBody>
        </p:sp>
        <p:sp>
          <p:nvSpPr>
            <p:cNvPr id="58385" name="Rectangle 15"/>
            <p:cNvSpPr>
              <a:spLocks noChangeArrowheads="1"/>
            </p:cNvSpPr>
            <p:nvPr/>
          </p:nvSpPr>
          <p:spPr bwMode="auto">
            <a:xfrm>
              <a:off x="1585" y="1809"/>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solidFill>
                    <a:srgbClr val="000000"/>
                  </a:solidFill>
                  <a:latin typeface="Symbol" pitchFamily="18" charset="2"/>
                </a:rPr>
                <a:t>=</a:t>
              </a:r>
              <a:endParaRPr kumimoji="0" lang="en-US" altLang="zh-CN" sz="1800">
                <a:latin typeface="Arial" pitchFamily="34" charset="0"/>
              </a:endParaRPr>
            </a:p>
          </p:txBody>
        </p:sp>
        <p:sp>
          <p:nvSpPr>
            <p:cNvPr id="58386" name="Rectangle 16"/>
            <p:cNvSpPr>
              <a:spLocks noChangeArrowheads="1"/>
            </p:cNvSpPr>
            <p:nvPr/>
          </p:nvSpPr>
          <p:spPr bwMode="auto">
            <a:xfrm>
              <a:off x="4281" y="1809"/>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i="1" dirty="0">
                  <a:solidFill>
                    <a:srgbClr val="000000"/>
                  </a:solidFill>
                  <a:latin typeface="Symbol" pitchFamily="18" charset="2"/>
                </a:rPr>
                <a:t>p</a:t>
              </a:r>
              <a:endParaRPr kumimoji="0" lang="en-US" altLang="zh-CN" sz="1800" dirty="0">
                <a:latin typeface="Arial" pitchFamily="34" charset="0"/>
              </a:endParaRPr>
            </a:p>
          </p:txBody>
        </p:sp>
        <p:sp>
          <p:nvSpPr>
            <p:cNvPr id="58387" name="Rectangle 17"/>
            <p:cNvSpPr>
              <a:spLocks noChangeArrowheads="1"/>
            </p:cNvSpPr>
            <p:nvPr/>
          </p:nvSpPr>
          <p:spPr bwMode="auto">
            <a:xfrm>
              <a:off x="1356" y="1809"/>
              <a:ext cx="141"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i="1">
                  <a:solidFill>
                    <a:srgbClr val="000000"/>
                  </a:solidFill>
                  <a:latin typeface="Symbol" pitchFamily="18" charset="2"/>
                </a:rPr>
                <a:t>p</a:t>
              </a:r>
              <a:endParaRPr kumimoji="0" lang="en-US" altLang="zh-CN" sz="1800">
                <a:latin typeface="Arial" pitchFamily="34"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96291"/>
                                        </p:tgtEl>
                                        <p:attrNameLst>
                                          <p:attrName>style.visibility</p:attrName>
                                        </p:attrNameLst>
                                      </p:cBhvr>
                                      <p:to>
                                        <p:strVal val="visible"/>
                                      </p:to>
                                    </p:set>
                                    <p:anim calcmode="lin" valueType="num">
                                      <p:cBhvr additive="base">
                                        <p:cTn id="7" dur="500" fill="hold"/>
                                        <p:tgtEl>
                                          <p:spTgt spid="396291"/>
                                        </p:tgtEl>
                                        <p:attrNameLst>
                                          <p:attrName>ppt_x</p:attrName>
                                        </p:attrNameLst>
                                      </p:cBhvr>
                                      <p:tavLst>
                                        <p:tav tm="0">
                                          <p:val>
                                            <p:strVal val="#ppt_x"/>
                                          </p:val>
                                        </p:tav>
                                        <p:tav tm="100000">
                                          <p:val>
                                            <p:strVal val="#ppt_x"/>
                                          </p:val>
                                        </p:tav>
                                      </p:tavLst>
                                    </p:anim>
                                    <p:anim calcmode="lin" valueType="num">
                                      <p:cBhvr additive="base">
                                        <p:cTn id="8" dur="500" fill="hold"/>
                                        <p:tgtEl>
                                          <p:spTgt spid="39629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96306"/>
                                        </p:tgtEl>
                                        <p:attrNameLst>
                                          <p:attrName>style.visibility</p:attrName>
                                        </p:attrNameLst>
                                      </p:cBhvr>
                                      <p:to>
                                        <p:strVal val="visible"/>
                                      </p:to>
                                    </p:set>
                                    <p:anim calcmode="lin" valueType="num">
                                      <p:cBhvr additive="base">
                                        <p:cTn id="13" dur="500" fill="hold"/>
                                        <p:tgtEl>
                                          <p:spTgt spid="396306"/>
                                        </p:tgtEl>
                                        <p:attrNameLst>
                                          <p:attrName>ppt_x</p:attrName>
                                        </p:attrNameLst>
                                      </p:cBhvr>
                                      <p:tavLst>
                                        <p:tav tm="0">
                                          <p:val>
                                            <p:strVal val="#ppt_x"/>
                                          </p:val>
                                        </p:tav>
                                        <p:tav tm="100000">
                                          <p:val>
                                            <p:strVal val="#ppt_x"/>
                                          </p:val>
                                        </p:tav>
                                      </p:tavLst>
                                    </p:anim>
                                    <p:anim calcmode="lin" valueType="num">
                                      <p:cBhvr additive="base">
                                        <p:cTn id="14" dur="500" fill="hold"/>
                                        <p:tgtEl>
                                          <p:spTgt spid="39630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6291"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灯片编号占位符 3"/>
          <p:cNvSpPr>
            <a:spLocks noGrp="1"/>
          </p:cNvSpPr>
          <p:nvPr>
            <p:ph type="sldNum" sz="quarter" idx="12"/>
          </p:nvPr>
        </p:nvSpPr>
        <p:spPr/>
        <p:txBody>
          <a:bodyPr/>
          <a:lstStyle/>
          <a:p>
            <a:pPr>
              <a:defRPr/>
            </a:pPr>
            <a:fld id="{5897229B-0026-4B8D-BD50-5BD10778B71D}" type="slidenum">
              <a:rPr lang="zh-CN" altLang="en-US"/>
              <a:pPr>
                <a:defRPr/>
              </a:pPr>
              <a:t>53</a:t>
            </a:fld>
            <a:endParaRPr lang="en-US" altLang="zh-CN"/>
          </a:p>
        </p:txBody>
      </p:sp>
      <p:sp>
        <p:nvSpPr>
          <p:cNvPr id="323589" name="Text Box 5"/>
          <p:cNvSpPr txBox="1">
            <a:spLocks noChangeArrowheads="1"/>
          </p:cNvSpPr>
          <p:nvPr/>
        </p:nvSpPr>
        <p:spPr bwMode="auto">
          <a:xfrm>
            <a:off x="6084888" y="1471613"/>
            <a:ext cx="2041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i="1">
                <a:solidFill>
                  <a:schemeClr val="tx1"/>
                </a:solidFill>
                <a:effectLst>
                  <a:outerShdw blurRad="38100" dist="38100" dir="2700000" algn="tl">
                    <a:srgbClr val="C0C0C0"/>
                  </a:outerShdw>
                </a:effectLst>
              </a:rPr>
              <a:t>x </a:t>
            </a:r>
            <a:r>
              <a:rPr lang="en-US" altLang="zh-CN" sz="3200">
                <a:solidFill>
                  <a:schemeClr val="tx1"/>
                </a:solidFill>
                <a:effectLst>
                  <a:outerShdw blurRad="38100" dist="38100" dir="2700000" algn="tl">
                    <a:srgbClr val="C0C0C0"/>
                  </a:outerShdw>
                </a:effectLst>
              </a:rPr>
              <a:t>= 162835</a:t>
            </a:r>
          </a:p>
        </p:txBody>
      </p:sp>
      <p:sp>
        <p:nvSpPr>
          <p:cNvPr id="323593" name="Text Box 9"/>
          <p:cNvSpPr txBox="1">
            <a:spLocks noChangeArrowheads="1"/>
          </p:cNvSpPr>
          <p:nvPr/>
        </p:nvSpPr>
        <p:spPr bwMode="auto">
          <a:xfrm>
            <a:off x="6948488" y="4999038"/>
            <a:ext cx="14319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a:solidFill>
                  <a:schemeClr val="tx1"/>
                </a:solidFill>
                <a:effectLst>
                  <a:outerShdw blurRad="38100" dist="38100" dir="2700000" algn="tl">
                    <a:srgbClr val="C0C0C0"/>
                  </a:outerShdw>
                </a:effectLst>
              </a:rPr>
              <a:t>= 0.001</a:t>
            </a:r>
          </a:p>
        </p:txBody>
      </p:sp>
      <p:sp>
        <p:nvSpPr>
          <p:cNvPr id="323595" name="Text Box 11"/>
          <p:cNvSpPr txBox="1">
            <a:spLocks noChangeArrowheads="1"/>
          </p:cNvSpPr>
          <p:nvPr/>
        </p:nvSpPr>
        <p:spPr bwMode="auto">
          <a:xfrm>
            <a:off x="250825" y="1111250"/>
            <a:ext cx="2449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a:solidFill>
                  <a:schemeClr val="tx1"/>
                </a:solidFill>
                <a:latin typeface="Times-Bold~110" charset="0"/>
              </a:rPr>
              <a:t>Example 1</a:t>
            </a:r>
            <a:endParaRPr lang="zh-CN" altLang="en-US" sz="2800" b="0">
              <a:solidFill>
                <a:schemeClr val="tx1"/>
              </a:solidFill>
              <a:effectLst>
                <a:outerShdw blurRad="38100" dist="38100" dir="2700000" algn="tl">
                  <a:srgbClr val="C0C0C0"/>
                </a:outerShdw>
              </a:effectLst>
            </a:endParaRPr>
          </a:p>
        </p:txBody>
      </p:sp>
      <p:graphicFrame>
        <p:nvGraphicFramePr>
          <p:cNvPr id="59398" name="Object 12"/>
          <p:cNvGraphicFramePr>
            <a:graphicFrameLocks noChangeAspect="1"/>
          </p:cNvGraphicFramePr>
          <p:nvPr/>
        </p:nvGraphicFramePr>
        <p:xfrm>
          <a:off x="2700338" y="1182688"/>
          <a:ext cx="2519362" cy="768350"/>
        </p:xfrm>
        <a:graphic>
          <a:graphicData uri="http://schemas.openxmlformats.org/presentationml/2006/ole">
            <mc:AlternateContent xmlns:mc="http://schemas.openxmlformats.org/markup-compatibility/2006">
              <mc:Choice xmlns:v="urn:schemas-microsoft-com:vml" Requires="v">
                <p:oleObj spid="_x0000_s59476" name="公式" r:id="rId3" imgW="749300" imgH="228600" progId="Equation.3">
                  <p:embed/>
                </p:oleObj>
              </mc:Choice>
              <mc:Fallback>
                <p:oleObj name="公式" r:id="rId3" imgW="749300" imgH="2286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1182688"/>
                        <a:ext cx="2519362"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23598" name="Group 14"/>
          <p:cNvGrpSpPr>
            <a:grpSpLocks/>
          </p:cNvGrpSpPr>
          <p:nvPr/>
        </p:nvGrpSpPr>
        <p:grpSpPr bwMode="auto">
          <a:xfrm>
            <a:off x="1042988" y="3919538"/>
            <a:ext cx="6397625" cy="768350"/>
            <a:chOff x="431" y="2069"/>
            <a:chExt cx="4030" cy="484"/>
          </a:xfrm>
        </p:grpSpPr>
        <p:sp>
          <p:nvSpPr>
            <p:cNvPr id="323591" name="Text Box 7"/>
            <p:cNvSpPr txBox="1">
              <a:spLocks noChangeArrowheads="1"/>
            </p:cNvSpPr>
            <p:nvPr/>
          </p:nvSpPr>
          <p:spPr bwMode="auto">
            <a:xfrm>
              <a:off x="2154" y="2178"/>
              <a:ext cx="2307" cy="3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i="1" dirty="0">
                  <a:solidFill>
                    <a:schemeClr val="tx1"/>
                  </a:solidFill>
                  <a:effectLst>
                    <a:outerShdw blurRad="38100" dist="38100" dir="2700000" algn="tl">
                      <a:srgbClr val="C0C0C0"/>
                    </a:outerShdw>
                  </a:effectLst>
                </a:rPr>
                <a:t> </a:t>
              </a:r>
              <a:r>
                <a:rPr lang="en-US" altLang="zh-CN" sz="3200" dirty="0">
                  <a:solidFill>
                    <a:schemeClr val="tx1"/>
                  </a:solidFill>
                  <a:effectLst>
                    <a:outerShdw blurRad="38100" dist="38100" dir="2700000" algn="tl">
                      <a:srgbClr val="C0C0C0"/>
                    </a:outerShdw>
                  </a:effectLst>
                </a:rPr>
                <a:t>= 403.53- 403.53= 0</a:t>
              </a:r>
            </a:p>
          </p:txBody>
        </p:sp>
        <p:graphicFrame>
          <p:nvGraphicFramePr>
            <p:cNvPr id="59407" name="Object 13"/>
            <p:cNvGraphicFramePr>
              <a:graphicFrameLocks noChangeAspect="1"/>
            </p:cNvGraphicFramePr>
            <p:nvPr/>
          </p:nvGraphicFramePr>
          <p:xfrm>
            <a:off x="431" y="2069"/>
            <a:ext cx="1587" cy="484"/>
          </p:xfrm>
          <a:graphic>
            <a:graphicData uri="http://schemas.openxmlformats.org/presentationml/2006/ole">
              <mc:AlternateContent xmlns:mc="http://schemas.openxmlformats.org/markup-compatibility/2006">
                <mc:Choice xmlns:v="urn:schemas-microsoft-com:vml" Requires="v">
                  <p:oleObj spid="_x0000_s59477" name="公式" r:id="rId5" imgW="749300" imgH="228600" progId="Equation.3">
                    <p:embed/>
                  </p:oleObj>
                </mc:Choice>
                <mc:Fallback>
                  <p:oleObj name="公式" r:id="rId5" imgW="749300" imgH="228600" progId="Equation.3">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 y="2069"/>
                          <a:ext cx="1587" cy="4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23599" name="Text Box 15"/>
          <p:cNvSpPr txBox="1">
            <a:spLocks noChangeArrowheads="1"/>
          </p:cNvSpPr>
          <p:nvPr/>
        </p:nvSpPr>
        <p:spPr bwMode="auto">
          <a:xfrm>
            <a:off x="250825" y="3198813"/>
            <a:ext cx="2327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2800">
                <a:ea typeface="楷体_GB2312" pitchFamily="49" charset="-122"/>
              </a:rPr>
              <a:t>五位有效数字</a:t>
            </a:r>
            <a:endParaRPr kumimoji="0" lang="en-US" altLang="zh-CN" sz="2800">
              <a:ea typeface="楷体_GB2312" pitchFamily="49" charset="-122"/>
            </a:endParaRPr>
          </a:p>
        </p:txBody>
      </p:sp>
      <p:sp>
        <p:nvSpPr>
          <p:cNvPr id="323602" name="Text Box 18"/>
          <p:cNvSpPr txBox="1">
            <a:spLocks noChangeArrowheads="1"/>
          </p:cNvSpPr>
          <p:nvPr/>
        </p:nvSpPr>
        <p:spPr bwMode="auto">
          <a:xfrm>
            <a:off x="3419475" y="5053013"/>
            <a:ext cx="3497263"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i="1">
                <a:solidFill>
                  <a:schemeClr val="tx1"/>
                </a:solidFill>
                <a:effectLst>
                  <a:outerShdw blurRad="38100" dist="38100" dir="2700000" algn="tl">
                    <a:srgbClr val="C0C0C0"/>
                  </a:outerShdw>
                </a:effectLst>
              </a:rPr>
              <a:t> </a:t>
            </a:r>
            <a:r>
              <a:rPr lang="en-US" altLang="zh-CN" sz="3200">
                <a:solidFill>
                  <a:schemeClr val="tx1"/>
                </a:solidFill>
                <a:effectLst>
                  <a:outerShdw blurRad="38100" dist="38100" dir="2700000" algn="tl">
                    <a:srgbClr val="C0C0C0"/>
                  </a:outerShdw>
                </a:effectLst>
              </a:rPr>
              <a:t>= 403.529- 403.528</a:t>
            </a:r>
          </a:p>
        </p:txBody>
      </p:sp>
      <p:sp>
        <p:nvSpPr>
          <p:cNvPr id="323604" name="Text Box 20"/>
          <p:cNvSpPr txBox="1">
            <a:spLocks noChangeArrowheads="1"/>
          </p:cNvSpPr>
          <p:nvPr/>
        </p:nvSpPr>
        <p:spPr bwMode="auto">
          <a:xfrm>
            <a:off x="1979613" y="2335213"/>
            <a:ext cx="6472237"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i="1">
                <a:solidFill>
                  <a:schemeClr val="tx1"/>
                </a:solidFill>
                <a:effectLst>
                  <a:outerShdw blurRad="38100" dist="38100" dir="2700000" algn="tl">
                    <a:srgbClr val="C0C0C0"/>
                  </a:outerShdw>
                </a:effectLst>
              </a:rPr>
              <a:t> </a:t>
            </a:r>
            <a:r>
              <a:rPr lang="en-US" altLang="zh-CN" sz="3200">
                <a:solidFill>
                  <a:schemeClr val="tx1"/>
                </a:solidFill>
                <a:effectLst>
                  <a:outerShdw blurRad="38100" dist="38100" dir="2700000" algn="tl">
                    <a:srgbClr val="C0C0C0"/>
                  </a:outerShdw>
                </a:effectLst>
              </a:rPr>
              <a:t>= 403.529429- 403.528190=0.001239</a:t>
            </a:r>
          </a:p>
        </p:txBody>
      </p:sp>
      <p:sp>
        <p:nvSpPr>
          <p:cNvPr id="323605" name="Text Box 21"/>
          <p:cNvSpPr txBox="1">
            <a:spLocks noChangeArrowheads="1"/>
          </p:cNvSpPr>
          <p:nvPr/>
        </p:nvSpPr>
        <p:spPr bwMode="auto">
          <a:xfrm>
            <a:off x="1763713" y="6223000"/>
            <a:ext cx="54022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2800">
                <a:solidFill>
                  <a:schemeClr val="tx1"/>
                </a:solidFill>
              </a:rPr>
              <a:t>DOUBLE PRECISION  （</a:t>
            </a:r>
            <a:r>
              <a:rPr lang="zh-CN" altLang="en-US" sz="2800">
                <a:solidFill>
                  <a:schemeClr val="tx1"/>
                </a:solidFill>
              </a:rPr>
              <a:t>64 </a:t>
            </a:r>
            <a:r>
              <a:rPr lang="en-US" altLang="zh-CN" sz="2800">
                <a:solidFill>
                  <a:schemeClr val="tx1"/>
                </a:solidFill>
              </a:rPr>
              <a:t>bits)</a:t>
            </a:r>
            <a:endParaRPr lang="zh-CN" altLang="en-US" sz="2800">
              <a:solidFill>
                <a:schemeClr val="tx1"/>
              </a:solidFill>
              <a:effectLst>
                <a:outerShdw blurRad="38100" dist="38100" dir="2700000" algn="tl">
                  <a:srgbClr val="C0C0C0"/>
                </a:outerShdw>
              </a:effectLst>
            </a:endParaRPr>
          </a:p>
        </p:txBody>
      </p:sp>
      <p:sp>
        <p:nvSpPr>
          <p:cNvPr id="323606" name="Text Box 22"/>
          <p:cNvSpPr txBox="1">
            <a:spLocks noChangeArrowheads="1"/>
          </p:cNvSpPr>
          <p:nvPr/>
        </p:nvSpPr>
        <p:spPr bwMode="auto">
          <a:xfrm>
            <a:off x="395288" y="5072063"/>
            <a:ext cx="23272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zh-CN" altLang="en-US" sz="2800">
                <a:ea typeface="楷体_GB2312" pitchFamily="49" charset="-122"/>
              </a:rPr>
              <a:t>六位有效数字</a:t>
            </a:r>
            <a:endParaRPr kumimoji="0" lang="en-US" altLang="zh-CN" sz="2800">
              <a:ea typeface="楷体_GB2312" pitchFamily="49" charset="-122"/>
            </a:endParaRPr>
          </a:p>
        </p:txBody>
      </p:sp>
      <p:sp>
        <p:nvSpPr>
          <p:cNvPr id="15" name="TextBox 14"/>
          <p:cNvSpPr txBox="1"/>
          <p:nvPr/>
        </p:nvSpPr>
        <p:spPr>
          <a:xfrm>
            <a:off x="323850" y="312738"/>
            <a:ext cx="1831975" cy="584200"/>
          </a:xfrm>
          <a:prstGeom prst="rect">
            <a:avLst/>
          </a:prstGeom>
          <a:noFill/>
        </p:spPr>
        <p:txBody>
          <a:bodyPr wrap="none">
            <a:spAutoFit/>
          </a:bodyPr>
          <a:lstStyle/>
          <a:p>
            <a:pPr>
              <a:defRPr/>
            </a:pPr>
            <a:r>
              <a:rPr lang="zh-CN" altLang="en-US" sz="3200" dirty="0">
                <a:solidFill>
                  <a:schemeClr val="tx1"/>
                </a:solidFill>
              </a:rPr>
              <a:t>舍入误差</a:t>
            </a:r>
            <a:endParaRPr lang="zh-CN" altLang="en-US" sz="3200" dirty="0">
              <a:effectLst>
                <a:outerShdw blurRad="38100" dist="38100" dir="2700000" algn="tl">
                  <a:srgbClr val="000000">
                    <a:alpha val="43137"/>
                  </a:srgbClr>
                </a:outerShdw>
              </a:effectLs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3599"/>
                                        </p:tgtEl>
                                        <p:attrNameLst>
                                          <p:attrName>style.visibility</p:attrName>
                                        </p:attrNameLst>
                                      </p:cBhvr>
                                      <p:to>
                                        <p:strVal val="visible"/>
                                      </p:to>
                                    </p:set>
                                    <p:anim calcmode="lin" valueType="num">
                                      <p:cBhvr additive="base">
                                        <p:cTn id="7" dur="500" fill="hold"/>
                                        <p:tgtEl>
                                          <p:spTgt spid="323599"/>
                                        </p:tgtEl>
                                        <p:attrNameLst>
                                          <p:attrName>ppt_x</p:attrName>
                                        </p:attrNameLst>
                                      </p:cBhvr>
                                      <p:tavLst>
                                        <p:tav tm="0">
                                          <p:val>
                                            <p:strVal val="#ppt_x"/>
                                          </p:val>
                                        </p:tav>
                                        <p:tav tm="100000">
                                          <p:val>
                                            <p:strVal val="#ppt_x"/>
                                          </p:val>
                                        </p:tav>
                                      </p:tavLst>
                                    </p:anim>
                                    <p:anim calcmode="lin" valueType="num">
                                      <p:cBhvr additive="base">
                                        <p:cTn id="8" dur="500" fill="hold"/>
                                        <p:tgtEl>
                                          <p:spTgt spid="323599"/>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3606"/>
                                        </p:tgtEl>
                                        <p:attrNameLst>
                                          <p:attrName>style.visibility</p:attrName>
                                        </p:attrNameLst>
                                      </p:cBhvr>
                                      <p:to>
                                        <p:strVal val="visible"/>
                                      </p:to>
                                    </p:set>
                                    <p:anim calcmode="lin" valueType="num">
                                      <p:cBhvr additive="base">
                                        <p:cTn id="13" dur="500" fill="hold"/>
                                        <p:tgtEl>
                                          <p:spTgt spid="323606"/>
                                        </p:tgtEl>
                                        <p:attrNameLst>
                                          <p:attrName>ppt_x</p:attrName>
                                        </p:attrNameLst>
                                      </p:cBhvr>
                                      <p:tavLst>
                                        <p:tav tm="0">
                                          <p:val>
                                            <p:strVal val="#ppt_x"/>
                                          </p:val>
                                        </p:tav>
                                        <p:tav tm="100000">
                                          <p:val>
                                            <p:strVal val="#ppt_x"/>
                                          </p:val>
                                        </p:tav>
                                      </p:tavLst>
                                    </p:anim>
                                    <p:anim calcmode="lin" valueType="num">
                                      <p:cBhvr additive="base">
                                        <p:cTn id="14" dur="500" fill="hold"/>
                                        <p:tgtEl>
                                          <p:spTgt spid="32360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23604"/>
                                        </p:tgtEl>
                                        <p:attrNameLst>
                                          <p:attrName>style.visibility</p:attrName>
                                        </p:attrNameLst>
                                      </p:cBhvr>
                                      <p:to>
                                        <p:strVal val="visible"/>
                                      </p:to>
                                    </p:set>
                                    <p:anim calcmode="lin" valueType="num">
                                      <p:cBhvr additive="base">
                                        <p:cTn id="19" dur="500" fill="hold"/>
                                        <p:tgtEl>
                                          <p:spTgt spid="323604"/>
                                        </p:tgtEl>
                                        <p:attrNameLst>
                                          <p:attrName>ppt_x</p:attrName>
                                        </p:attrNameLst>
                                      </p:cBhvr>
                                      <p:tavLst>
                                        <p:tav tm="0">
                                          <p:val>
                                            <p:strVal val="#ppt_x"/>
                                          </p:val>
                                        </p:tav>
                                        <p:tav tm="100000">
                                          <p:val>
                                            <p:strVal val="#ppt_x"/>
                                          </p:val>
                                        </p:tav>
                                      </p:tavLst>
                                    </p:anim>
                                    <p:anim calcmode="lin" valueType="num">
                                      <p:cBhvr additive="base">
                                        <p:cTn id="20" dur="500" fill="hold"/>
                                        <p:tgtEl>
                                          <p:spTgt spid="323604"/>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23598"/>
                                        </p:tgtEl>
                                        <p:attrNameLst>
                                          <p:attrName>style.visibility</p:attrName>
                                        </p:attrNameLst>
                                      </p:cBhvr>
                                      <p:to>
                                        <p:strVal val="visible"/>
                                      </p:to>
                                    </p:set>
                                    <p:anim calcmode="lin" valueType="num">
                                      <p:cBhvr additive="base">
                                        <p:cTn id="25" dur="500" fill="hold"/>
                                        <p:tgtEl>
                                          <p:spTgt spid="323598"/>
                                        </p:tgtEl>
                                        <p:attrNameLst>
                                          <p:attrName>ppt_x</p:attrName>
                                        </p:attrNameLst>
                                      </p:cBhvr>
                                      <p:tavLst>
                                        <p:tav tm="0">
                                          <p:val>
                                            <p:strVal val="#ppt_x"/>
                                          </p:val>
                                        </p:tav>
                                        <p:tav tm="100000">
                                          <p:val>
                                            <p:strVal val="#ppt_x"/>
                                          </p:val>
                                        </p:tav>
                                      </p:tavLst>
                                    </p:anim>
                                    <p:anim calcmode="lin" valueType="num">
                                      <p:cBhvr additive="base">
                                        <p:cTn id="26" dur="500" fill="hold"/>
                                        <p:tgtEl>
                                          <p:spTgt spid="323598"/>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23602"/>
                                        </p:tgtEl>
                                        <p:attrNameLst>
                                          <p:attrName>style.visibility</p:attrName>
                                        </p:attrNameLst>
                                      </p:cBhvr>
                                      <p:to>
                                        <p:strVal val="visible"/>
                                      </p:to>
                                    </p:set>
                                    <p:anim calcmode="lin" valueType="num">
                                      <p:cBhvr additive="base">
                                        <p:cTn id="31" dur="500" fill="hold"/>
                                        <p:tgtEl>
                                          <p:spTgt spid="323602"/>
                                        </p:tgtEl>
                                        <p:attrNameLst>
                                          <p:attrName>ppt_x</p:attrName>
                                        </p:attrNameLst>
                                      </p:cBhvr>
                                      <p:tavLst>
                                        <p:tav tm="0">
                                          <p:val>
                                            <p:strVal val="#ppt_x"/>
                                          </p:val>
                                        </p:tav>
                                        <p:tav tm="100000">
                                          <p:val>
                                            <p:strVal val="#ppt_x"/>
                                          </p:val>
                                        </p:tav>
                                      </p:tavLst>
                                    </p:anim>
                                    <p:anim calcmode="lin" valueType="num">
                                      <p:cBhvr additive="base">
                                        <p:cTn id="32" dur="500" fill="hold"/>
                                        <p:tgtEl>
                                          <p:spTgt spid="323602"/>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23593"/>
                                        </p:tgtEl>
                                        <p:attrNameLst>
                                          <p:attrName>style.visibility</p:attrName>
                                        </p:attrNameLst>
                                      </p:cBhvr>
                                      <p:to>
                                        <p:strVal val="visible"/>
                                      </p:to>
                                    </p:set>
                                    <p:anim calcmode="lin" valueType="num">
                                      <p:cBhvr additive="base">
                                        <p:cTn id="37" dur="500" fill="hold"/>
                                        <p:tgtEl>
                                          <p:spTgt spid="323593"/>
                                        </p:tgtEl>
                                        <p:attrNameLst>
                                          <p:attrName>ppt_x</p:attrName>
                                        </p:attrNameLst>
                                      </p:cBhvr>
                                      <p:tavLst>
                                        <p:tav tm="0">
                                          <p:val>
                                            <p:strVal val="#ppt_x"/>
                                          </p:val>
                                        </p:tav>
                                        <p:tav tm="100000">
                                          <p:val>
                                            <p:strVal val="#ppt_x"/>
                                          </p:val>
                                        </p:tav>
                                      </p:tavLst>
                                    </p:anim>
                                    <p:anim calcmode="lin" valueType="num">
                                      <p:cBhvr additive="base">
                                        <p:cTn id="38" dur="500" fill="hold"/>
                                        <p:tgtEl>
                                          <p:spTgt spid="323593"/>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23605"/>
                                        </p:tgtEl>
                                        <p:attrNameLst>
                                          <p:attrName>style.visibility</p:attrName>
                                        </p:attrNameLst>
                                      </p:cBhvr>
                                      <p:to>
                                        <p:strVal val="visible"/>
                                      </p:to>
                                    </p:set>
                                    <p:anim calcmode="lin" valueType="num">
                                      <p:cBhvr additive="base">
                                        <p:cTn id="43" dur="500" fill="hold"/>
                                        <p:tgtEl>
                                          <p:spTgt spid="323605"/>
                                        </p:tgtEl>
                                        <p:attrNameLst>
                                          <p:attrName>ppt_x</p:attrName>
                                        </p:attrNameLst>
                                      </p:cBhvr>
                                      <p:tavLst>
                                        <p:tav tm="0">
                                          <p:val>
                                            <p:strVal val="#ppt_x"/>
                                          </p:val>
                                        </p:tav>
                                        <p:tav tm="100000">
                                          <p:val>
                                            <p:strVal val="#ppt_x"/>
                                          </p:val>
                                        </p:tav>
                                      </p:tavLst>
                                    </p:anim>
                                    <p:anim calcmode="lin" valueType="num">
                                      <p:cBhvr additive="base">
                                        <p:cTn id="44" dur="500" fill="hold"/>
                                        <p:tgtEl>
                                          <p:spTgt spid="32360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3593" grpId="0"/>
      <p:bldP spid="323599" grpId="0"/>
      <p:bldP spid="323602" grpId="0"/>
      <p:bldP spid="323604" grpId="0"/>
      <p:bldP spid="323605" grpId="0"/>
      <p:bldP spid="323606"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974" name="Text Box 6"/>
          <p:cNvSpPr txBox="1">
            <a:spLocks noChangeArrowheads="1"/>
          </p:cNvSpPr>
          <p:nvPr/>
        </p:nvSpPr>
        <p:spPr bwMode="auto">
          <a:xfrm>
            <a:off x="3132138" y="5022850"/>
            <a:ext cx="18383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dirty="0">
                <a:solidFill>
                  <a:schemeClr val="tx1"/>
                </a:solidFill>
                <a:effectLst>
                  <a:outerShdw blurRad="38100" dist="38100" dir="2700000" algn="tl">
                    <a:srgbClr val="C0C0C0"/>
                  </a:outerShdw>
                </a:effectLst>
              </a:rPr>
              <a:t>= 0.001</a:t>
            </a:r>
            <a:r>
              <a:rPr lang="en-US" altLang="zh-CN" sz="3200" dirty="0">
                <a:solidFill>
                  <a:schemeClr val="tx1"/>
                </a:solidFill>
                <a:effectLst>
                  <a:outerShdw blurRad="38100" dist="38100" dir="2700000" algn="tl">
                    <a:srgbClr val="C0C0C0"/>
                  </a:outerShdw>
                </a:effectLst>
              </a:rPr>
              <a:t>24</a:t>
            </a:r>
          </a:p>
        </p:txBody>
      </p:sp>
      <p:graphicFrame>
        <p:nvGraphicFramePr>
          <p:cNvPr id="60419" name="Object 2"/>
          <p:cNvGraphicFramePr>
            <a:graphicFrameLocks noChangeAspect="1"/>
          </p:cNvGraphicFramePr>
          <p:nvPr/>
        </p:nvGraphicFramePr>
        <p:xfrm>
          <a:off x="971550" y="1185863"/>
          <a:ext cx="2519363" cy="768350"/>
        </p:xfrm>
        <a:graphic>
          <a:graphicData uri="http://schemas.openxmlformats.org/presentationml/2006/ole">
            <mc:AlternateContent xmlns:mc="http://schemas.openxmlformats.org/markup-compatibility/2006">
              <mc:Choice xmlns:v="urn:schemas-microsoft-com:vml" Requires="v">
                <p:oleObj spid="_x0000_s60530" name="公式" r:id="rId3" imgW="749300" imgH="228600" progId="Equation.3">
                  <p:embed/>
                </p:oleObj>
              </mc:Choice>
              <mc:Fallback>
                <p:oleObj name="公式" r:id="rId3" imgW="749300" imgH="228600" progId="Equation.3">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185863"/>
                        <a:ext cx="2519363"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59" name="Text Box 3"/>
          <p:cNvSpPr txBox="1">
            <a:spLocks noChangeArrowheads="1"/>
          </p:cNvSpPr>
          <p:nvPr/>
        </p:nvSpPr>
        <p:spPr bwMode="auto">
          <a:xfrm>
            <a:off x="5148263" y="1112838"/>
            <a:ext cx="2041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i="1">
                <a:solidFill>
                  <a:schemeClr val="tx1"/>
                </a:solidFill>
                <a:effectLst>
                  <a:outerShdw blurRad="38100" dist="38100" dir="2700000" algn="tl">
                    <a:srgbClr val="C0C0C0"/>
                  </a:outerShdw>
                </a:effectLst>
              </a:rPr>
              <a:t>x </a:t>
            </a:r>
            <a:r>
              <a:rPr lang="en-US" altLang="zh-CN" sz="3200">
                <a:solidFill>
                  <a:schemeClr val="tx1"/>
                </a:solidFill>
                <a:effectLst>
                  <a:outerShdw blurRad="38100" dist="38100" dir="2700000" algn="tl">
                    <a:srgbClr val="C0C0C0"/>
                  </a:outerShdw>
                </a:effectLst>
              </a:rPr>
              <a:t>= 162835</a:t>
            </a:r>
          </a:p>
        </p:txBody>
      </p:sp>
      <p:graphicFrame>
        <p:nvGraphicFramePr>
          <p:cNvPr id="454661" name="Object 5"/>
          <p:cNvGraphicFramePr>
            <a:graphicFrameLocks noChangeAspect="1"/>
          </p:cNvGraphicFramePr>
          <p:nvPr/>
        </p:nvGraphicFramePr>
        <p:xfrm>
          <a:off x="468313" y="3114675"/>
          <a:ext cx="4968875" cy="1408113"/>
        </p:xfrm>
        <a:graphic>
          <a:graphicData uri="http://schemas.openxmlformats.org/presentationml/2006/ole">
            <mc:AlternateContent xmlns:mc="http://schemas.openxmlformats.org/markup-compatibility/2006">
              <mc:Choice xmlns:v="urn:schemas-microsoft-com:vml" Requires="v">
                <p:oleObj spid="_x0000_s60531" name="公式" r:id="rId5" imgW="1612900" imgH="457200" progId="Equation.3">
                  <p:embed/>
                </p:oleObj>
              </mc:Choice>
              <mc:Fallback>
                <p:oleObj name="公式" r:id="rId5" imgW="1612900" imgH="457200" progId="Equation.3">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8313" y="3114675"/>
                        <a:ext cx="4968875" cy="1408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4662" name="Object 6"/>
          <p:cNvGraphicFramePr>
            <a:graphicFrameLocks noChangeAspect="1"/>
          </p:cNvGraphicFramePr>
          <p:nvPr/>
        </p:nvGraphicFramePr>
        <p:xfrm>
          <a:off x="5867400" y="3155950"/>
          <a:ext cx="2862263" cy="1330325"/>
        </p:xfrm>
        <a:graphic>
          <a:graphicData uri="http://schemas.openxmlformats.org/presentationml/2006/ole">
            <mc:AlternateContent xmlns:mc="http://schemas.openxmlformats.org/markup-compatibility/2006">
              <mc:Choice xmlns:v="urn:schemas-microsoft-com:vml" Requires="v">
                <p:oleObj spid="_x0000_s60532" name="公式" r:id="rId7" imgW="901309" imgH="418918" progId="Equation.3">
                  <p:embed/>
                </p:oleObj>
              </mc:Choice>
              <mc:Fallback>
                <p:oleObj name="公式" r:id="rId7" imgW="901309" imgH="418918" progId="Equation.3">
                  <p:embed/>
                  <p:pic>
                    <p:nvPicPr>
                      <p:cNvPr id="0" name="Object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67400" y="3155950"/>
                        <a:ext cx="2862263" cy="1330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54663" name="Text Box 7"/>
          <p:cNvSpPr txBox="1">
            <a:spLocks noChangeArrowheads="1"/>
          </p:cNvSpPr>
          <p:nvPr/>
        </p:nvSpPr>
        <p:spPr bwMode="auto">
          <a:xfrm>
            <a:off x="323850" y="4914900"/>
            <a:ext cx="2327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a:solidFill>
                  <a:schemeClr val="tx1"/>
                </a:solidFill>
                <a:effectLst>
                  <a:outerShdw blurRad="38100" dist="38100" dir="2700000" algn="tl">
                    <a:srgbClr val="C0C0C0"/>
                  </a:outerShdw>
                </a:effectLst>
              </a:rPr>
              <a:t>五位有效数字</a:t>
            </a:r>
            <a:endParaRPr lang="en-US" altLang="zh-CN" sz="2800">
              <a:solidFill>
                <a:schemeClr val="tx1"/>
              </a:solidFill>
              <a:effectLst>
                <a:outerShdw blurRad="38100" dist="38100" dir="2700000" algn="tl">
                  <a:srgbClr val="C0C0C0"/>
                </a:outerShdw>
              </a:effectLst>
            </a:endParaRPr>
          </a:p>
        </p:txBody>
      </p:sp>
      <p:sp>
        <p:nvSpPr>
          <p:cNvPr id="454664" name="Text Box 8"/>
          <p:cNvSpPr txBox="1">
            <a:spLocks noChangeArrowheads="1"/>
          </p:cNvSpPr>
          <p:nvPr/>
        </p:nvSpPr>
        <p:spPr bwMode="auto">
          <a:xfrm>
            <a:off x="3132138" y="5938838"/>
            <a:ext cx="20415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3200" dirty="0">
                <a:solidFill>
                  <a:schemeClr val="tx1"/>
                </a:solidFill>
                <a:effectLst>
                  <a:outerShdw blurRad="38100" dist="38100" dir="2700000" algn="tl">
                    <a:srgbClr val="C0C0C0"/>
                  </a:outerShdw>
                </a:effectLst>
              </a:rPr>
              <a:t>= 0.001</a:t>
            </a:r>
            <a:r>
              <a:rPr lang="en-US" altLang="zh-CN" sz="3200" dirty="0">
                <a:solidFill>
                  <a:schemeClr val="tx1"/>
                </a:solidFill>
                <a:effectLst>
                  <a:outerShdw blurRad="38100" dist="38100" dir="2700000" algn="tl">
                    <a:srgbClr val="C0C0C0"/>
                  </a:outerShdw>
                </a:effectLst>
              </a:rPr>
              <a:t>239</a:t>
            </a:r>
          </a:p>
        </p:txBody>
      </p:sp>
      <p:sp>
        <p:nvSpPr>
          <p:cNvPr id="454665" name="Text Box 9"/>
          <p:cNvSpPr txBox="1">
            <a:spLocks noChangeArrowheads="1"/>
          </p:cNvSpPr>
          <p:nvPr/>
        </p:nvSpPr>
        <p:spPr bwMode="auto">
          <a:xfrm>
            <a:off x="323850" y="6149975"/>
            <a:ext cx="232727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zh-CN" altLang="en-US" sz="2800">
                <a:solidFill>
                  <a:schemeClr val="tx1"/>
                </a:solidFill>
                <a:effectLst>
                  <a:outerShdw blurRad="38100" dist="38100" dir="2700000" algn="tl">
                    <a:srgbClr val="C0C0C0"/>
                  </a:outerShdw>
                </a:effectLst>
              </a:rPr>
              <a:t>六位有效数字</a:t>
            </a:r>
            <a:endParaRPr lang="en-US" altLang="zh-CN" sz="2800">
              <a:solidFill>
                <a:schemeClr val="tx1"/>
              </a:solidFill>
              <a:effectLst>
                <a:outerShdw blurRad="38100" dist="38100" dir="2700000" algn="tl">
                  <a:srgbClr val="C0C0C0"/>
                </a:outerShdw>
              </a:effectLst>
            </a:endParaRPr>
          </a:p>
        </p:txBody>
      </p:sp>
      <p:sp>
        <p:nvSpPr>
          <p:cNvPr id="454666" name="Text Box 10"/>
          <p:cNvSpPr txBox="1">
            <a:spLocks noChangeArrowheads="1"/>
          </p:cNvSpPr>
          <p:nvPr/>
        </p:nvSpPr>
        <p:spPr bwMode="auto">
          <a:xfrm>
            <a:off x="1908175" y="2049463"/>
            <a:ext cx="64722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defRPr/>
            </a:pPr>
            <a:r>
              <a:rPr lang="en-US" altLang="zh-CN" sz="3200" i="1">
                <a:solidFill>
                  <a:schemeClr val="tx1"/>
                </a:solidFill>
                <a:effectLst>
                  <a:outerShdw blurRad="38100" dist="38100" dir="2700000" algn="tl">
                    <a:srgbClr val="C0C0C0"/>
                  </a:outerShdw>
                </a:effectLst>
              </a:rPr>
              <a:t> </a:t>
            </a:r>
            <a:r>
              <a:rPr lang="en-US" altLang="zh-CN" sz="3200">
                <a:solidFill>
                  <a:schemeClr val="tx1"/>
                </a:solidFill>
                <a:effectLst>
                  <a:outerShdw blurRad="38100" dist="38100" dir="2700000" algn="tl">
                    <a:srgbClr val="C0C0C0"/>
                  </a:outerShdw>
                </a:effectLst>
              </a:rPr>
              <a:t>= 403.529429- 403.528190=0.001239</a:t>
            </a:r>
          </a:p>
        </p:txBody>
      </p:sp>
      <p:sp>
        <p:nvSpPr>
          <p:cNvPr id="11" name="TextBox 10"/>
          <p:cNvSpPr txBox="1"/>
          <p:nvPr/>
        </p:nvSpPr>
        <p:spPr>
          <a:xfrm>
            <a:off x="323850" y="312738"/>
            <a:ext cx="3479800" cy="584200"/>
          </a:xfrm>
          <a:prstGeom prst="rect">
            <a:avLst/>
          </a:prstGeom>
          <a:noFill/>
        </p:spPr>
        <p:txBody>
          <a:bodyPr wrap="none">
            <a:spAutoFit/>
          </a:bodyPr>
          <a:lstStyle/>
          <a:p>
            <a:pPr>
              <a:defRPr/>
            </a:pPr>
            <a:r>
              <a:rPr lang="zh-CN" altLang="en-US" sz="3200" dirty="0">
                <a:solidFill>
                  <a:schemeClr val="tx1"/>
                </a:solidFill>
              </a:rPr>
              <a:t>如何减小舍入误差</a:t>
            </a:r>
            <a:endParaRPr lang="zh-CN" altLang="en-US" sz="3200" dirty="0">
              <a:effectLst>
                <a:outerShdw blurRad="38100" dist="38100" dir="2700000" algn="tl">
                  <a:srgbClr val="000000">
                    <a:alpha val="43137"/>
                  </a:srgbClr>
                </a:outerShdw>
              </a:effectLst>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54661"/>
                                        </p:tgtEl>
                                        <p:attrNameLst>
                                          <p:attrName>style.visibility</p:attrName>
                                        </p:attrNameLst>
                                      </p:cBhvr>
                                      <p:to>
                                        <p:strVal val="visible"/>
                                      </p:to>
                                    </p:set>
                                    <p:anim calcmode="lin" valueType="num">
                                      <p:cBhvr additive="base">
                                        <p:cTn id="7" dur="500" fill="hold"/>
                                        <p:tgtEl>
                                          <p:spTgt spid="454661"/>
                                        </p:tgtEl>
                                        <p:attrNameLst>
                                          <p:attrName>ppt_x</p:attrName>
                                        </p:attrNameLst>
                                      </p:cBhvr>
                                      <p:tavLst>
                                        <p:tav tm="0">
                                          <p:val>
                                            <p:strVal val="#ppt_x"/>
                                          </p:val>
                                        </p:tav>
                                        <p:tav tm="100000">
                                          <p:val>
                                            <p:strVal val="#ppt_x"/>
                                          </p:val>
                                        </p:tav>
                                      </p:tavLst>
                                    </p:anim>
                                    <p:anim calcmode="lin" valueType="num">
                                      <p:cBhvr additive="base">
                                        <p:cTn id="8" dur="500" fill="hold"/>
                                        <p:tgtEl>
                                          <p:spTgt spid="454661"/>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54662"/>
                                        </p:tgtEl>
                                        <p:attrNameLst>
                                          <p:attrName>style.visibility</p:attrName>
                                        </p:attrNameLst>
                                      </p:cBhvr>
                                      <p:to>
                                        <p:strVal val="visible"/>
                                      </p:to>
                                    </p:set>
                                    <p:anim calcmode="lin" valueType="num">
                                      <p:cBhvr additive="base">
                                        <p:cTn id="13" dur="500" fill="hold"/>
                                        <p:tgtEl>
                                          <p:spTgt spid="454662"/>
                                        </p:tgtEl>
                                        <p:attrNameLst>
                                          <p:attrName>ppt_x</p:attrName>
                                        </p:attrNameLst>
                                      </p:cBhvr>
                                      <p:tavLst>
                                        <p:tav tm="0">
                                          <p:val>
                                            <p:strVal val="#ppt_x"/>
                                          </p:val>
                                        </p:tav>
                                        <p:tav tm="100000">
                                          <p:val>
                                            <p:strVal val="#ppt_x"/>
                                          </p:val>
                                        </p:tav>
                                      </p:tavLst>
                                    </p:anim>
                                    <p:anim calcmode="lin" valueType="num">
                                      <p:cBhvr additive="base">
                                        <p:cTn id="14" dur="500" fill="hold"/>
                                        <p:tgtEl>
                                          <p:spTgt spid="454662"/>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54663"/>
                                        </p:tgtEl>
                                        <p:attrNameLst>
                                          <p:attrName>style.visibility</p:attrName>
                                        </p:attrNameLst>
                                      </p:cBhvr>
                                      <p:to>
                                        <p:strVal val="visible"/>
                                      </p:to>
                                    </p:set>
                                    <p:anim calcmode="lin" valueType="num">
                                      <p:cBhvr additive="base">
                                        <p:cTn id="19" dur="500" fill="hold"/>
                                        <p:tgtEl>
                                          <p:spTgt spid="454663"/>
                                        </p:tgtEl>
                                        <p:attrNameLst>
                                          <p:attrName>ppt_x</p:attrName>
                                        </p:attrNameLst>
                                      </p:cBhvr>
                                      <p:tavLst>
                                        <p:tav tm="0">
                                          <p:val>
                                            <p:strVal val="#ppt_x"/>
                                          </p:val>
                                        </p:tav>
                                        <p:tav tm="100000">
                                          <p:val>
                                            <p:strVal val="#ppt_x"/>
                                          </p:val>
                                        </p:tav>
                                      </p:tavLst>
                                    </p:anim>
                                    <p:anim calcmode="lin" valueType="num">
                                      <p:cBhvr additive="base">
                                        <p:cTn id="20" dur="500" fill="hold"/>
                                        <p:tgtEl>
                                          <p:spTgt spid="45466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39974"/>
                                        </p:tgtEl>
                                        <p:attrNameLst>
                                          <p:attrName>style.visibility</p:attrName>
                                        </p:attrNameLst>
                                      </p:cBhvr>
                                      <p:to>
                                        <p:strVal val="visible"/>
                                      </p:to>
                                    </p:set>
                                    <p:anim calcmode="lin" valueType="num">
                                      <p:cBhvr additive="base">
                                        <p:cTn id="25" dur="500" fill="hold"/>
                                        <p:tgtEl>
                                          <p:spTgt spid="339974"/>
                                        </p:tgtEl>
                                        <p:attrNameLst>
                                          <p:attrName>ppt_x</p:attrName>
                                        </p:attrNameLst>
                                      </p:cBhvr>
                                      <p:tavLst>
                                        <p:tav tm="0">
                                          <p:val>
                                            <p:strVal val="#ppt_x"/>
                                          </p:val>
                                        </p:tav>
                                        <p:tav tm="100000">
                                          <p:val>
                                            <p:strVal val="#ppt_x"/>
                                          </p:val>
                                        </p:tav>
                                      </p:tavLst>
                                    </p:anim>
                                    <p:anim calcmode="lin" valueType="num">
                                      <p:cBhvr additive="base">
                                        <p:cTn id="26" dur="500" fill="hold"/>
                                        <p:tgtEl>
                                          <p:spTgt spid="33997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454665"/>
                                        </p:tgtEl>
                                        <p:attrNameLst>
                                          <p:attrName>style.visibility</p:attrName>
                                        </p:attrNameLst>
                                      </p:cBhvr>
                                      <p:to>
                                        <p:strVal val="visible"/>
                                      </p:to>
                                    </p:set>
                                    <p:anim calcmode="lin" valueType="num">
                                      <p:cBhvr additive="base">
                                        <p:cTn id="31" dur="500" fill="hold"/>
                                        <p:tgtEl>
                                          <p:spTgt spid="454665"/>
                                        </p:tgtEl>
                                        <p:attrNameLst>
                                          <p:attrName>ppt_x</p:attrName>
                                        </p:attrNameLst>
                                      </p:cBhvr>
                                      <p:tavLst>
                                        <p:tav tm="0">
                                          <p:val>
                                            <p:strVal val="#ppt_x"/>
                                          </p:val>
                                        </p:tav>
                                        <p:tav tm="100000">
                                          <p:val>
                                            <p:strVal val="#ppt_x"/>
                                          </p:val>
                                        </p:tav>
                                      </p:tavLst>
                                    </p:anim>
                                    <p:anim calcmode="lin" valueType="num">
                                      <p:cBhvr additive="base">
                                        <p:cTn id="32" dur="500" fill="hold"/>
                                        <p:tgtEl>
                                          <p:spTgt spid="454665"/>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54664"/>
                                        </p:tgtEl>
                                        <p:attrNameLst>
                                          <p:attrName>style.visibility</p:attrName>
                                        </p:attrNameLst>
                                      </p:cBhvr>
                                      <p:to>
                                        <p:strVal val="visible"/>
                                      </p:to>
                                    </p:set>
                                    <p:anim calcmode="lin" valueType="num">
                                      <p:cBhvr additive="base">
                                        <p:cTn id="37" dur="500" fill="hold"/>
                                        <p:tgtEl>
                                          <p:spTgt spid="454664"/>
                                        </p:tgtEl>
                                        <p:attrNameLst>
                                          <p:attrName>ppt_x</p:attrName>
                                        </p:attrNameLst>
                                      </p:cBhvr>
                                      <p:tavLst>
                                        <p:tav tm="0">
                                          <p:val>
                                            <p:strVal val="#ppt_x"/>
                                          </p:val>
                                        </p:tav>
                                        <p:tav tm="100000">
                                          <p:val>
                                            <p:strVal val="#ppt_x"/>
                                          </p:val>
                                        </p:tav>
                                      </p:tavLst>
                                    </p:anim>
                                    <p:anim calcmode="lin" valueType="num">
                                      <p:cBhvr additive="base">
                                        <p:cTn id="38" dur="500" fill="hold"/>
                                        <p:tgtEl>
                                          <p:spTgt spid="45466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9974" grpId="0"/>
      <p:bldP spid="454663" grpId="0"/>
      <p:bldP spid="454664" grpId="0"/>
      <p:bldP spid="45466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1B6D81B5-59CE-41AC-AB96-7FCDDBD8BD44}" type="slidenum">
              <a:rPr lang="zh-CN" altLang="en-US"/>
              <a:pPr>
                <a:defRPr/>
              </a:pPr>
              <a:t>55</a:t>
            </a:fld>
            <a:endParaRPr lang="en-US" altLang="zh-CN"/>
          </a:p>
        </p:txBody>
      </p:sp>
      <p:sp>
        <p:nvSpPr>
          <p:cNvPr id="61443" name="Text Box 2"/>
          <p:cNvSpPr txBox="1">
            <a:spLocks noChangeArrowheads="1"/>
          </p:cNvSpPr>
          <p:nvPr/>
        </p:nvSpPr>
        <p:spPr bwMode="auto">
          <a:xfrm>
            <a:off x="323850" y="827088"/>
            <a:ext cx="807720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a:ea typeface="楷体_GB2312" pitchFamily="49" charset="-122"/>
              </a:rPr>
              <a:t>Suppose we wish to evaluate the function</a:t>
            </a:r>
            <a:endParaRPr kumimoji="0" lang="zh-CN" altLang="en-US">
              <a:latin typeface="Arial" pitchFamily="34" charset="0"/>
              <a:ea typeface="楷体_GB2312" pitchFamily="49" charset="-122"/>
            </a:endParaRPr>
          </a:p>
        </p:txBody>
      </p:sp>
      <p:pic>
        <p:nvPicPr>
          <p:cNvPr id="6144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8538" y="1546225"/>
            <a:ext cx="2895600" cy="119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1445" name="Text Box 4"/>
          <p:cNvSpPr txBox="1">
            <a:spLocks noChangeArrowheads="1"/>
          </p:cNvSpPr>
          <p:nvPr/>
        </p:nvSpPr>
        <p:spPr bwMode="auto">
          <a:xfrm>
            <a:off x="323850" y="2843213"/>
            <a:ext cx="8077200" cy="1554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ea typeface="楷体_GB2312" pitchFamily="49" charset="-122"/>
              </a:rPr>
              <a:t>for small values of </a:t>
            </a:r>
            <a:r>
              <a:rPr kumimoji="0" lang="en-US" altLang="zh-CN" b="0" i="1">
                <a:ea typeface="楷体_GB2312" pitchFamily="49" charset="-122"/>
              </a:rPr>
              <a:t>x</a:t>
            </a:r>
            <a:r>
              <a:rPr kumimoji="0" lang="en-US" altLang="zh-CN" b="0">
                <a:latin typeface="Arial" pitchFamily="34" charset="0"/>
                <a:ea typeface="楷体_GB2312" pitchFamily="49" charset="-122"/>
              </a:rPr>
              <a:t> </a:t>
            </a:r>
            <a:r>
              <a:rPr kumimoji="0" lang="en-US" altLang="zh-CN" b="0">
                <a:ea typeface="楷体_GB2312" pitchFamily="49" charset="-122"/>
              </a:rPr>
              <a:t>. If we now choose </a:t>
            </a:r>
            <a:r>
              <a:rPr kumimoji="0" lang="en-US" altLang="zh-CN" b="0" i="1">
                <a:ea typeface="楷体_GB2312" pitchFamily="49" charset="-122"/>
              </a:rPr>
              <a:t>x=0.007</a:t>
            </a:r>
            <a:r>
              <a:rPr kumimoji="0" lang="en-US" altLang="zh-CN" b="0">
                <a:latin typeface="Arial" pitchFamily="34" charset="0"/>
                <a:ea typeface="楷体_GB2312" pitchFamily="49" charset="-122"/>
              </a:rPr>
              <a:t> </a:t>
            </a:r>
            <a:r>
              <a:rPr kumimoji="0" lang="en-US" altLang="zh-CN" b="0">
                <a:ea typeface="楷体_GB2312" pitchFamily="49" charset="-122"/>
              </a:rPr>
              <a:t>(in radians) our choice of precision results in</a:t>
            </a:r>
            <a:endParaRPr kumimoji="0" lang="zh-CN" altLang="en-US" b="0">
              <a:latin typeface="Arial" pitchFamily="34" charset="0"/>
              <a:ea typeface="楷体_GB2312" pitchFamily="49" charset="-122"/>
            </a:endParaRPr>
          </a:p>
        </p:txBody>
      </p:sp>
      <p:pic>
        <p:nvPicPr>
          <p:cNvPr id="614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5868" y="4149080"/>
            <a:ext cx="4370388" cy="175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1544" name="Text Box 8"/>
          <p:cNvSpPr txBox="1">
            <a:spLocks noChangeArrowheads="1"/>
          </p:cNvSpPr>
          <p:nvPr/>
        </p:nvSpPr>
        <p:spPr bwMode="auto">
          <a:xfrm>
            <a:off x="250825" y="260350"/>
            <a:ext cx="2449513"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defRPr/>
            </a:pPr>
            <a:r>
              <a:rPr lang="en-US" altLang="zh-CN" sz="2800">
                <a:solidFill>
                  <a:schemeClr val="tx1"/>
                </a:solidFill>
                <a:latin typeface="Times-Bold~110" charset="0"/>
              </a:rPr>
              <a:t>Example 2</a:t>
            </a:r>
            <a:endParaRPr lang="zh-CN" altLang="en-US" sz="2800" b="0">
              <a:solidFill>
                <a:schemeClr val="tx1"/>
              </a:solidFill>
              <a:effectLst>
                <a:outerShdw blurRad="38100" dist="38100" dir="2700000" algn="tl">
                  <a:srgbClr val="C0C0C0"/>
                </a:outerShdw>
              </a:effectLst>
            </a:endParaRPr>
          </a:p>
        </p:txBody>
      </p:sp>
    </p:spTree>
  </p:cSld>
  <p:clrMapOvr>
    <a:masterClrMapping/>
  </p:clrMapOvr>
  <p:transition spd="slow">
    <p:push dir="u"/>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p:txBody>
          <a:bodyPr/>
          <a:lstStyle/>
          <a:p>
            <a:pPr>
              <a:defRPr/>
            </a:pPr>
            <a:fld id="{88BDFBA7-5AC2-4174-B627-AC68BA5EDA7E}" type="slidenum">
              <a:rPr lang="zh-CN" altLang="en-US"/>
              <a:pPr>
                <a:defRPr/>
              </a:pPr>
              <a:t>56</a:t>
            </a:fld>
            <a:endParaRPr lang="en-US" altLang="zh-CN"/>
          </a:p>
        </p:txBody>
      </p:sp>
      <p:pic>
        <p:nvPicPr>
          <p:cNvPr id="6246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4495800"/>
            <a:ext cx="8763000" cy="1233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68"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548680"/>
            <a:ext cx="43434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2469"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2895600"/>
            <a:ext cx="3276600" cy="1355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push dir="u"/>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3"/>
          <p:cNvSpPr>
            <a:spLocks noGrp="1"/>
          </p:cNvSpPr>
          <p:nvPr>
            <p:ph type="sldNum" sz="quarter" idx="12"/>
          </p:nvPr>
        </p:nvSpPr>
        <p:spPr/>
        <p:txBody>
          <a:bodyPr/>
          <a:lstStyle/>
          <a:p>
            <a:pPr>
              <a:defRPr/>
            </a:pPr>
            <a:fld id="{5E354E94-A27E-4E82-A3CE-27E6DE44FC4A}" type="slidenum">
              <a:rPr lang="zh-CN" altLang="en-US"/>
              <a:pPr>
                <a:defRPr/>
              </a:pPr>
              <a:t>57</a:t>
            </a:fld>
            <a:endParaRPr lang="en-US" altLang="zh-CN"/>
          </a:p>
        </p:txBody>
      </p:sp>
      <p:sp>
        <p:nvSpPr>
          <p:cNvPr id="63491" name="Text Box 2"/>
          <p:cNvSpPr txBox="1">
            <a:spLocks noChangeArrowheads="1"/>
          </p:cNvSpPr>
          <p:nvPr/>
        </p:nvSpPr>
        <p:spPr bwMode="auto">
          <a:xfrm>
            <a:off x="304800" y="1981200"/>
            <a:ext cx="88392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ea typeface="楷体_GB2312" pitchFamily="49" charset="-122"/>
              </a:rPr>
              <a:t>If we multiply the denominator and numerator with</a:t>
            </a:r>
          </a:p>
        </p:txBody>
      </p:sp>
      <p:pic>
        <p:nvPicPr>
          <p:cNvPr id="63492"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533400"/>
            <a:ext cx="2971800" cy="1228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349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04800"/>
            <a:ext cx="365760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2565"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2819400"/>
            <a:ext cx="1905000" cy="782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2566"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2590800"/>
            <a:ext cx="2971800" cy="1131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22567" name="Picture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0" y="4038600"/>
            <a:ext cx="8763000" cy="1112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2568" name="Text Box 8"/>
          <p:cNvSpPr txBox="1">
            <a:spLocks noChangeArrowheads="1"/>
          </p:cNvSpPr>
          <p:nvPr/>
        </p:nvSpPr>
        <p:spPr bwMode="auto">
          <a:xfrm>
            <a:off x="304800" y="5486400"/>
            <a:ext cx="88392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a:spcBef>
                <a:spcPct val="0"/>
              </a:spcBef>
              <a:buClrTx/>
              <a:buFontTx/>
              <a:buNone/>
            </a:pPr>
            <a:r>
              <a:rPr kumimoji="0" lang="en-US" altLang="zh-CN" b="0">
                <a:ea typeface="楷体_GB2312" pitchFamily="49" charset="-122"/>
              </a:rPr>
              <a:t>If we had chosen a precision of six leading digits, both expressions yield the same answer. </a:t>
            </a:r>
            <a:endParaRPr kumimoji="0" lang="zh-CN" altLang="en-US" b="0">
              <a:latin typeface="Arial" pitchFamily="34" charset="0"/>
              <a:ea typeface="楷体_GB2312" pitchFamily="49"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22565"/>
                                        </p:tgtEl>
                                        <p:attrNameLst>
                                          <p:attrName>style.visibility</p:attrName>
                                        </p:attrNameLst>
                                      </p:cBhvr>
                                      <p:to>
                                        <p:strVal val="visible"/>
                                      </p:to>
                                    </p:set>
                                    <p:anim calcmode="lin" valueType="num">
                                      <p:cBhvr additive="base">
                                        <p:cTn id="7" dur="500" fill="hold"/>
                                        <p:tgtEl>
                                          <p:spTgt spid="322565"/>
                                        </p:tgtEl>
                                        <p:attrNameLst>
                                          <p:attrName>ppt_x</p:attrName>
                                        </p:attrNameLst>
                                      </p:cBhvr>
                                      <p:tavLst>
                                        <p:tav tm="0">
                                          <p:val>
                                            <p:strVal val="#ppt_x"/>
                                          </p:val>
                                        </p:tav>
                                        <p:tav tm="100000">
                                          <p:val>
                                            <p:strVal val="#ppt_x"/>
                                          </p:val>
                                        </p:tav>
                                      </p:tavLst>
                                    </p:anim>
                                    <p:anim calcmode="lin" valueType="num">
                                      <p:cBhvr additive="base">
                                        <p:cTn id="8" dur="500" fill="hold"/>
                                        <p:tgtEl>
                                          <p:spTgt spid="322565"/>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22566"/>
                                        </p:tgtEl>
                                        <p:attrNameLst>
                                          <p:attrName>style.visibility</p:attrName>
                                        </p:attrNameLst>
                                      </p:cBhvr>
                                      <p:to>
                                        <p:strVal val="visible"/>
                                      </p:to>
                                    </p:set>
                                    <p:anim calcmode="lin" valueType="num">
                                      <p:cBhvr additive="base">
                                        <p:cTn id="13" dur="500" fill="hold"/>
                                        <p:tgtEl>
                                          <p:spTgt spid="322566"/>
                                        </p:tgtEl>
                                        <p:attrNameLst>
                                          <p:attrName>ppt_x</p:attrName>
                                        </p:attrNameLst>
                                      </p:cBhvr>
                                      <p:tavLst>
                                        <p:tav tm="0">
                                          <p:val>
                                            <p:strVal val="#ppt_x"/>
                                          </p:val>
                                        </p:tav>
                                        <p:tav tm="100000">
                                          <p:val>
                                            <p:strVal val="#ppt_x"/>
                                          </p:val>
                                        </p:tav>
                                      </p:tavLst>
                                    </p:anim>
                                    <p:anim calcmode="lin" valueType="num">
                                      <p:cBhvr additive="base">
                                        <p:cTn id="14" dur="500" fill="hold"/>
                                        <p:tgtEl>
                                          <p:spTgt spid="322566"/>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22567"/>
                                        </p:tgtEl>
                                        <p:attrNameLst>
                                          <p:attrName>style.visibility</p:attrName>
                                        </p:attrNameLst>
                                      </p:cBhvr>
                                      <p:to>
                                        <p:strVal val="visible"/>
                                      </p:to>
                                    </p:set>
                                    <p:anim calcmode="lin" valueType="num">
                                      <p:cBhvr additive="base">
                                        <p:cTn id="19" dur="500" fill="hold"/>
                                        <p:tgtEl>
                                          <p:spTgt spid="322567"/>
                                        </p:tgtEl>
                                        <p:attrNameLst>
                                          <p:attrName>ppt_x</p:attrName>
                                        </p:attrNameLst>
                                      </p:cBhvr>
                                      <p:tavLst>
                                        <p:tav tm="0">
                                          <p:val>
                                            <p:strVal val="#ppt_x"/>
                                          </p:val>
                                        </p:tav>
                                        <p:tav tm="100000">
                                          <p:val>
                                            <p:strVal val="#ppt_x"/>
                                          </p:val>
                                        </p:tav>
                                      </p:tavLst>
                                    </p:anim>
                                    <p:anim calcmode="lin" valueType="num">
                                      <p:cBhvr additive="base">
                                        <p:cTn id="20" dur="500" fill="hold"/>
                                        <p:tgtEl>
                                          <p:spTgt spid="32256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2568"/>
                                        </p:tgtEl>
                                        <p:attrNameLst>
                                          <p:attrName>style.visibility</p:attrName>
                                        </p:attrNameLst>
                                      </p:cBhvr>
                                      <p:to>
                                        <p:strVal val="visible"/>
                                      </p:to>
                                    </p:set>
                                    <p:anim calcmode="lin" valueType="num">
                                      <p:cBhvr additive="base">
                                        <p:cTn id="25" dur="500" fill="hold"/>
                                        <p:tgtEl>
                                          <p:spTgt spid="322568"/>
                                        </p:tgtEl>
                                        <p:attrNameLst>
                                          <p:attrName>ppt_x</p:attrName>
                                        </p:attrNameLst>
                                      </p:cBhvr>
                                      <p:tavLst>
                                        <p:tav tm="0">
                                          <p:val>
                                            <p:strVal val="#ppt_x"/>
                                          </p:val>
                                        </p:tav>
                                        <p:tav tm="100000">
                                          <p:val>
                                            <p:strVal val="#ppt_x"/>
                                          </p:val>
                                        </p:tav>
                                      </p:tavLst>
                                    </p:anim>
                                    <p:anim calcmode="lin" valueType="num">
                                      <p:cBhvr additive="base">
                                        <p:cTn id="26" dur="500" fill="hold"/>
                                        <p:tgtEl>
                                          <p:spTgt spid="3225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2568"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3"/>
          <p:cNvSpPr>
            <a:spLocks noGrp="1"/>
          </p:cNvSpPr>
          <p:nvPr>
            <p:ph type="sldNum" sz="quarter" idx="12"/>
          </p:nvPr>
        </p:nvSpPr>
        <p:spPr/>
        <p:txBody>
          <a:bodyPr/>
          <a:lstStyle/>
          <a:p>
            <a:pPr>
              <a:defRPr/>
            </a:pPr>
            <a:fld id="{463A9CE4-2F29-4205-8D05-1F1D2F68A2A3}" type="slidenum">
              <a:rPr lang="zh-CN" altLang="en-US"/>
              <a:pPr>
                <a:defRPr/>
              </a:pPr>
              <a:t>58</a:t>
            </a:fld>
            <a:endParaRPr lang="en-US" altLang="zh-CN"/>
          </a:p>
        </p:txBody>
      </p:sp>
      <p:sp>
        <p:nvSpPr>
          <p:cNvPr id="565250" name="Rectangle 2"/>
          <p:cNvSpPr>
            <a:spLocks noChangeArrowheads="1"/>
          </p:cNvSpPr>
          <p:nvPr/>
        </p:nvSpPr>
        <p:spPr bwMode="auto">
          <a:xfrm>
            <a:off x="539750" y="692150"/>
            <a:ext cx="8208963" cy="3527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eaLnBrk="1" hangingPunct="1">
              <a:spcBef>
                <a:spcPct val="20000"/>
              </a:spcBef>
              <a:buClr>
                <a:schemeClr val="bg2"/>
              </a:buClr>
              <a:buFont typeface="Monotype Sorts" pitchFamily="2" charset="2"/>
              <a:buChar char="§"/>
              <a:defRPr/>
            </a:pPr>
            <a:r>
              <a:rPr kumimoji="1" lang="zh-CN" altLang="en-US" sz="3200" dirty="0">
                <a:solidFill>
                  <a:schemeClr val="tx1"/>
                </a:solidFill>
                <a:ea typeface="宋体" pitchFamily="2" charset="-122"/>
              </a:rPr>
              <a:t>设计算法时应遵循的原则</a:t>
            </a:r>
          </a:p>
          <a:p>
            <a:pPr marL="742950" lvl="1" indent="-285750" eaLnBrk="1" hangingPunct="1">
              <a:spcBef>
                <a:spcPct val="20000"/>
              </a:spcBef>
              <a:buClr>
                <a:schemeClr val="bg2"/>
              </a:buClr>
              <a:buSzPct val="50000"/>
              <a:buFont typeface="Monotype Sorts" pitchFamily="2" charset="2"/>
              <a:buNone/>
              <a:defRPr/>
            </a:pPr>
            <a:endParaRPr kumimoji="1" lang="en-US" altLang="zh-CN" sz="2800" dirty="0">
              <a:solidFill>
                <a:schemeClr val="tx1"/>
              </a:solidFill>
              <a:ea typeface="宋体" pitchFamily="2" charset="-122"/>
            </a:endParaRPr>
          </a:p>
          <a:p>
            <a:pPr marL="742950" lvl="1" indent="-285750" eaLnBrk="1" hangingPunct="1">
              <a:spcBef>
                <a:spcPct val="20000"/>
              </a:spcBef>
              <a:buClr>
                <a:schemeClr val="bg2"/>
              </a:buClr>
              <a:buSzPct val="50000"/>
              <a:buFont typeface="Monotype Sorts" pitchFamily="2" charset="2"/>
              <a:buChar char="l"/>
              <a:defRPr/>
            </a:pPr>
            <a:r>
              <a:rPr kumimoji="1" lang="zh-CN" altLang="en-US" sz="2800" dirty="0">
                <a:solidFill>
                  <a:schemeClr val="tx1"/>
                </a:solidFill>
                <a:ea typeface="宋体" pitchFamily="2" charset="-122"/>
              </a:rPr>
              <a:t>避免大数吃小数</a:t>
            </a:r>
            <a:r>
              <a:rPr kumimoji="1" lang="en-US" altLang="zh-CN" sz="2800" dirty="0">
                <a:solidFill>
                  <a:schemeClr val="tx1"/>
                </a:solidFill>
                <a:ea typeface="宋体" pitchFamily="2" charset="-122"/>
              </a:rPr>
              <a:t>,</a:t>
            </a:r>
            <a:r>
              <a:rPr kumimoji="1" lang="zh-CN" altLang="en-US" sz="2800" dirty="0">
                <a:solidFill>
                  <a:schemeClr val="tx1"/>
                </a:solidFill>
                <a:ea typeface="宋体" pitchFamily="2" charset="-122"/>
              </a:rPr>
              <a:t>即两数相加时</a:t>
            </a:r>
            <a:r>
              <a:rPr kumimoji="1" lang="en-US" altLang="zh-CN" sz="2800" dirty="0">
                <a:solidFill>
                  <a:schemeClr val="tx1"/>
                </a:solidFill>
                <a:ea typeface="宋体" pitchFamily="2" charset="-122"/>
              </a:rPr>
              <a:t>,</a:t>
            </a:r>
            <a:r>
              <a:rPr kumimoji="1" lang="zh-CN" altLang="en-US" sz="2800" dirty="0">
                <a:solidFill>
                  <a:schemeClr val="tx1"/>
                </a:solidFill>
                <a:ea typeface="宋体" pitchFamily="2" charset="-122"/>
              </a:rPr>
              <a:t>防止较小的数加不到较大的数上</a:t>
            </a:r>
            <a:r>
              <a:rPr kumimoji="1" lang="en-US" altLang="zh-CN" sz="2800" dirty="0">
                <a:solidFill>
                  <a:schemeClr val="tx1"/>
                </a:solidFill>
                <a:ea typeface="宋体" pitchFamily="2" charset="-122"/>
              </a:rPr>
              <a:t>.   </a:t>
            </a:r>
            <a:r>
              <a:rPr lang="en-US" altLang="zh-CN" sz="2800" dirty="0">
                <a:solidFill>
                  <a:schemeClr val="tx1"/>
                </a:solidFill>
                <a:effectLst>
                  <a:outerShdw blurRad="38100" dist="38100" dir="2700000" algn="tl">
                    <a:srgbClr val="C0C0C0"/>
                  </a:outerShdw>
                </a:effectLst>
              </a:rPr>
              <a:t>10000000+0.0001</a:t>
            </a:r>
            <a:endParaRPr kumimoji="1" lang="en-US" altLang="zh-CN" sz="2800" dirty="0">
              <a:solidFill>
                <a:schemeClr val="tx1"/>
              </a:solidFill>
              <a:ea typeface="宋体" pitchFamily="2" charset="-122"/>
            </a:endParaRPr>
          </a:p>
          <a:p>
            <a:pPr marL="742950" lvl="1" indent="-285750" eaLnBrk="1" hangingPunct="1">
              <a:spcBef>
                <a:spcPct val="20000"/>
              </a:spcBef>
              <a:buClr>
                <a:schemeClr val="bg2"/>
              </a:buClr>
              <a:buSzPct val="50000"/>
              <a:buFont typeface="Monotype Sorts" pitchFamily="2" charset="2"/>
              <a:buChar char="l"/>
              <a:defRPr/>
            </a:pPr>
            <a:r>
              <a:rPr kumimoji="1" lang="zh-CN" altLang="en-US" sz="2800" dirty="0">
                <a:solidFill>
                  <a:schemeClr val="tx1"/>
                </a:solidFill>
                <a:ea typeface="宋体" pitchFamily="2" charset="-122"/>
              </a:rPr>
              <a:t>避免两相近的数相减</a:t>
            </a:r>
            <a:r>
              <a:rPr kumimoji="1" lang="en-US" altLang="zh-CN" sz="2800" dirty="0">
                <a:solidFill>
                  <a:schemeClr val="tx1"/>
                </a:solidFill>
                <a:ea typeface="宋体" pitchFamily="2" charset="-122"/>
              </a:rPr>
              <a:t>,</a:t>
            </a:r>
            <a:r>
              <a:rPr kumimoji="1" lang="zh-CN" altLang="en-US" sz="2800" dirty="0">
                <a:solidFill>
                  <a:schemeClr val="tx1"/>
                </a:solidFill>
                <a:ea typeface="宋体" pitchFamily="2" charset="-122"/>
              </a:rPr>
              <a:t>以免有效数字的大量丢失</a:t>
            </a:r>
            <a:r>
              <a:rPr kumimoji="1" lang="en-US" altLang="zh-CN" sz="2800" dirty="0">
                <a:solidFill>
                  <a:schemeClr val="tx1"/>
                </a:solidFill>
                <a:ea typeface="宋体" pitchFamily="2" charset="-122"/>
              </a:rPr>
              <a:t>.</a:t>
            </a:r>
          </a:p>
          <a:p>
            <a:pPr marL="742950" lvl="1" indent="-285750" eaLnBrk="1" hangingPunct="1">
              <a:spcBef>
                <a:spcPct val="20000"/>
              </a:spcBef>
              <a:buClr>
                <a:schemeClr val="bg2"/>
              </a:buClr>
              <a:buSzPct val="50000"/>
              <a:buFont typeface="Monotype Sorts" pitchFamily="2" charset="2"/>
              <a:buNone/>
              <a:defRPr/>
            </a:pPr>
            <a:r>
              <a:rPr kumimoji="1" lang="en-US" altLang="zh-CN" sz="2800" dirty="0">
                <a:solidFill>
                  <a:schemeClr val="tx1"/>
                </a:solidFill>
                <a:ea typeface="宋体" pitchFamily="2" charset="-122"/>
              </a:rPr>
              <a:t>  </a:t>
            </a:r>
          </a:p>
          <a:p>
            <a:pPr marL="742950" lvl="1" indent="-285750" eaLnBrk="1" hangingPunct="1">
              <a:spcBef>
                <a:spcPct val="20000"/>
              </a:spcBef>
              <a:buClr>
                <a:schemeClr val="bg2"/>
              </a:buClr>
              <a:buSzPct val="50000"/>
              <a:buFont typeface="Monotype Sorts" pitchFamily="2" charset="2"/>
              <a:buChar char="l"/>
              <a:defRPr/>
            </a:pPr>
            <a:r>
              <a:rPr kumimoji="1" lang="zh-CN" altLang="en-US" sz="2800" dirty="0">
                <a:solidFill>
                  <a:schemeClr val="tx1"/>
                </a:solidFill>
                <a:ea typeface="宋体" pitchFamily="2" charset="-122"/>
              </a:rPr>
              <a:t>避免分母很小</a:t>
            </a:r>
            <a:r>
              <a:rPr kumimoji="1" lang="en-US" altLang="zh-CN" sz="2800" dirty="0">
                <a:solidFill>
                  <a:schemeClr val="tx1"/>
                </a:solidFill>
                <a:ea typeface="宋体" pitchFamily="2" charset="-122"/>
              </a:rPr>
              <a:t>(</a:t>
            </a:r>
            <a:r>
              <a:rPr kumimoji="1" lang="zh-CN" altLang="en-US" sz="2800" dirty="0">
                <a:solidFill>
                  <a:schemeClr val="tx1"/>
                </a:solidFill>
                <a:ea typeface="宋体" pitchFamily="2" charset="-122"/>
              </a:rPr>
              <a:t>或乘法因子很大</a:t>
            </a:r>
            <a:r>
              <a:rPr kumimoji="1" lang="en-US" altLang="zh-CN" sz="2800" dirty="0">
                <a:solidFill>
                  <a:schemeClr val="tx1"/>
                </a:solidFill>
                <a:ea typeface="宋体" pitchFamily="2" charset="-122"/>
              </a:rPr>
              <a:t>),</a:t>
            </a:r>
            <a:r>
              <a:rPr kumimoji="1" lang="zh-CN" altLang="en-US" sz="2800" dirty="0">
                <a:solidFill>
                  <a:schemeClr val="tx1"/>
                </a:solidFill>
                <a:ea typeface="宋体" pitchFamily="2" charset="-122"/>
              </a:rPr>
              <a:t>以免产生溢出</a:t>
            </a:r>
            <a:r>
              <a:rPr kumimoji="1" lang="en-US" altLang="zh-CN" sz="2800" dirty="0">
                <a:solidFill>
                  <a:schemeClr val="tx1"/>
                </a:solidFill>
                <a:ea typeface="宋体" pitchFamily="2" charset="-122"/>
              </a:rPr>
              <a:t>.</a:t>
            </a:r>
          </a:p>
        </p:txBody>
      </p:sp>
      <p:graphicFrame>
        <p:nvGraphicFramePr>
          <p:cNvPr id="565252" name="Object 4"/>
          <p:cNvGraphicFramePr>
            <a:graphicFrameLocks noChangeAspect="1"/>
          </p:cNvGraphicFramePr>
          <p:nvPr/>
        </p:nvGraphicFramePr>
        <p:xfrm>
          <a:off x="2484438" y="3141663"/>
          <a:ext cx="2519362" cy="768350"/>
        </p:xfrm>
        <a:graphic>
          <a:graphicData uri="http://schemas.openxmlformats.org/presentationml/2006/ole">
            <mc:AlternateContent xmlns:mc="http://schemas.openxmlformats.org/markup-compatibility/2006">
              <mc:Choice xmlns:v="urn:schemas-microsoft-com:vml" Requires="v">
                <p:oleObj spid="_x0000_s64554" name="公式" r:id="rId3" imgW="749300" imgH="228600" progId="Equation.3">
                  <p:embed/>
                </p:oleObj>
              </mc:Choice>
              <mc:Fallback>
                <p:oleObj name="公式" r:id="rId3" imgW="7493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3141663"/>
                        <a:ext cx="2519362" cy="768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65255" name="Group 7"/>
          <p:cNvGrpSpPr>
            <a:grpSpLocks/>
          </p:cNvGrpSpPr>
          <p:nvPr/>
        </p:nvGrpSpPr>
        <p:grpSpPr bwMode="auto">
          <a:xfrm>
            <a:off x="611188" y="4797425"/>
            <a:ext cx="7826375" cy="1751013"/>
            <a:chOff x="340" y="3217"/>
            <a:chExt cx="4930" cy="1103"/>
          </a:xfrm>
        </p:grpSpPr>
        <p:pic>
          <p:nvPicPr>
            <p:cNvPr id="64518"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0" y="3385"/>
              <a:ext cx="1824" cy="7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4519"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17" y="3217"/>
              <a:ext cx="2753" cy="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65252"/>
                                        </p:tgtEl>
                                        <p:attrNameLst>
                                          <p:attrName>style.visibility</p:attrName>
                                        </p:attrNameLst>
                                      </p:cBhvr>
                                      <p:to>
                                        <p:strVal val="visible"/>
                                      </p:to>
                                    </p:set>
                                    <p:anim calcmode="lin" valueType="num">
                                      <p:cBhvr additive="base">
                                        <p:cTn id="7" dur="500" fill="hold"/>
                                        <p:tgtEl>
                                          <p:spTgt spid="565252"/>
                                        </p:tgtEl>
                                        <p:attrNameLst>
                                          <p:attrName>ppt_x</p:attrName>
                                        </p:attrNameLst>
                                      </p:cBhvr>
                                      <p:tavLst>
                                        <p:tav tm="0">
                                          <p:val>
                                            <p:strVal val="#ppt_x"/>
                                          </p:val>
                                        </p:tav>
                                        <p:tav tm="100000">
                                          <p:val>
                                            <p:strVal val="#ppt_x"/>
                                          </p:val>
                                        </p:tav>
                                      </p:tavLst>
                                    </p:anim>
                                    <p:anim calcmode="lin" valueType="num">
                                      <p:cBhvr additive="base">
                                        <p:cTn id="8" dur="500" fill="hold"/>
                                        <p:tgtEl>
                                          <p:spTgt spid="56525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65255"/>
                                        </p:tgtEl>
                                        <p:attrNameLst>
                                          <p:attrName>style.visibility</p:attrName>
                                        </p:attrNameLst>
                                      </p:cBhvr>
                                      <p:to>
                                        <p:strVal val="visible"/>
                                      </p:to>
                                    </p:set>
                                    <p:anim calcmode="lin" valueType="num">
                                      <p:cBhvr additive="base">
                                        <p:cTn id="13" dur="500" fill="hold"/>
                                        <p:tgtEl>
                                          <p:spTgt spid="565255"/>
                                        </p:tgtEl>
                                        <p:attrNameLst>
                                          <p:attrName>ppt_x</p:attrName>
                                        </p:attrNameLst>
                                      </p:cBhvr>
                                      <p:tavLst>
                                        <p:tav tm="0">
                                          <p:val>
                                            <p:strVal val="#ppt_x"/>
                                          </p:val>
                                        </p:tav>
                                        <p:tav tm="100000">
                                          <p:val>
                                            <p:strVal val="#ppt_x"/>
                                          </p:val>
                                        </p:tav>
                                      </p:tavLst>
                                    </p:anim>
                                    <p:anim calcmode="lin" valueType="num">
                                      <p:cBhvr additive="base">
                                        <p:cTn id="14" dur="500" fill="hold"/>
                                        <p:tgtEl>
                                          <p:spTgt spid="5652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a:defRPr/>
            </a:pPr>
            <a:fld id="{10C34EBF-F2FE-41D3-9D32-935D8A6A99D6}" type="slidenum">
              <a:rPr lang="zh-CN" altLang="en-US"/>
              <a:pPr>
                <a:defRPr/>
              </a:pPr>
              <a:t>59</a:t>
            </a:fld>
            <a:endParaRPr lang="en-US" altLang="zh-CN"/>
          </a:p>
        </p:txBody>
      </p:sp>
      <p:sp>
        <p:nvSpPr>
          <p:cNvPr id="66563" name="Rectangle 3"/>
          <p:cNvSpPr>
            <a:spLocks noChangeArrowheads="1"/>
          </p:cNvSpPr>
          <p:nvPr/>
        </p:nvSpPr>
        <p:spPr bwMode="auto">
          <a:xfrm>
            <a:off x="395288" y="1652588"/>
            <a:ext cx="18473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nSpc>
                <a:spcPct val="150000"/>
              </a:lnSpc>
              <a:defRPr/>
            </a:pPr>
            <a:endParaRPr kumimoji="1" lang="zh-CN" altLang="en-US" sz="3200" dirty="0">
              <a:solidFill>
                <a:schemeClr val="tx1"/>
              </a:solidFill>
            </a:endParaRPr>
          </a:p>
          <a:p>
            <a:pPr>
              <a:lnSpc>
                <a:spcPct val="150000"/>
              </a:lnSpc>
              <a:defRPr/>
            </a:pPr>
            <a:endParaRPr kumimoji="1" lang="zh-CN" altLang="en-US" sz="3200" dirty="0">
              <a:solidFill>
                <a:schemeClr val="tx1"/>
              </a:solidFill>
            </a:endParaRPr>
          </a:p>
        </p:txBody>
      </p:sp>
      <p:sp>
        <p:nvSpPr>
          <p:cNvPr id="14340" name="Rectangle 4"/>
          <p:cNvSpPr>
            <a:spLocks noChangeArrowheads="1"/>
          </p:cNvSpPr>
          <p:nvPr/>
        </p:nvSpPr>
        <p:spPr bwMode="auto">
          <a:xfrm>
            <a:off x="468313" y="549275"/>
            <a:ext cx="8675687"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bg2"/>
              </a:buClr>
              <a:buFont typeface="Monotype Sorts" pitchFamily="2" charset="2"/>
              <a:buChar char="§"/>
              <a:defRPr kumimoji="1" sz="3200">
                <a:solidFill>
                  <a:schemeClr val="tx1"/>
                </a:solidFill>
                <a:latin typeface="Times New Roman" pitchFamily="18" charset="0"/>
                <a:ea typeface="宋体" pitchFamily="2" charset="-122"/>
              </a:defRPr>
            </a:lvl1pPr>
            <a:lvl2pPr marL="742950" indent="-285750">
              <a:spcBef>
                <a:spcPct val="20000"/>
              </a:spcBef>
              <a:buClr>
                <a:schemeClr val="bg2"/>
              </a:buClr>
              <a:buSzPct val="50000"/>
              <a:buFont typeface="Monotype Sorts" pitchFamily="2" charset="2"/>
              <a:buChar char="l"/>
              <a:defRPr kumimoji="1" sz="2800">
                <a:solidFill>
                  <a:schemeClr val="tx1"/>
                </a:solidFill>
                <a:latin typeface="Times New Roman" pitchFamily="18" charset="0"/>
                <a:ea typeface="宋体" pitchFamily="2" charset="-122"/>
              </a:defRPr>
            </a:lvl2pPr>
            <a:lvl3pPr marL="1143000" indent="-228600">
              <a:spcBef>
                <a:spcPct val="20000"/>
              </a:spcBef>
              <a:buChar char="•"/>
              <a:defRPr kumimoji="1" sz="2400">
                <a:solidFill>
                  <a:schemeClr val="tx1"/>
                </a:solidFill>
                <a:latin typeface="Times New Roman" pitchFamily="18" charset="0"/>
                <a:ea typeface="宋体" pitchFamily="2" charset="-122"/>
              </a:defRPr>
            </a:lvl3pPr>
            <a:lvl4pPr marL="1600200" indent="-228600">
              <a:spcBef>
                <a:spcPct val="20000"/>
              </a:spcBef>
              <a:buChar char="–"/>
              <a:defRPr kumimoji="1" sz="2000">
                <a:solidFill>
                  <a:schemeClr val="tx1"/>
                </a:solidFill>
                <a:latin typeface="Times New Roman" pitchFamily="18" charset="0"/>
                <a:ea typeface="宋体" pitchFamily="2" charset="-122"/>
              </a:defRPr>
            </a:lvl4pPr>
            <a:lvl5pPr marL="2057400" indent="-228600">
              <a:spcBef>
                <a:spcPct val="20000"/>
              </a:spcBef>
              <a:buChar char="»"/>
              <a:defRPr kumimoji="1" sz="2000">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itchFamily="18" charset="0"/>
                <a:ea typeface="宋体" pitchFamily="2" charset="-122"/>
              </a:defRPr>
            </a:lvl9pPr>
          </a:lstStyle>
          <a:p>
            <a:pPr eaLnBrk="1" hangingPunct="1">
              <a:lnSpc>
                <a:spcPct val="140000"/>
              </a:lnSpc>
              <a:spcBef>
                <a:spcPct val="0"/>
              </a:spcBef>
              <a:buClrTx/>
              <a:buFontTx/>
              <a:buNone/>
            </a:pPr>
            <a:r>
              <a:rPr lang="zh-CN" altLang="en-US" dirty="0">
                <a:ea typeface="楷体_GB2312" pitchFamily="49" charset="-122"/>
              </a:rPr>
              <a:t>第一周绪论 </a:t>
            </a:r>
            <a:r>
              <a:rPr lang="en-US" altLang="zh-CN" dirty="0">
                <a:ea typeface="楷体_GB2312" pitchFamily="49" charset="-122"/>
              </a:rPr>
              <a:t>(</a:t>
            </a:r>
            <a:r>
              <a:rPr lang="en-US" altLang="zh-CN" dirty="0"/>
              <a:t>Introduction)</a:t>
            </a:r>
            <a:r>
              <a:rPr lang="zh-CN" altLang="en-US" dirty="0"/>
              <a:t>课，文中多，好理解。</a:t>
            </a:r>
            <a:endParaRPr lang="en-US" altLang="zh-CN" dirty="0"/>
          </a:p>
          <a:p>
            <a:pPr eaLnBrk="1" hangingPunct="1">
              <a:lnSpc>
                <a:spcPct val="140000"/>
              </a:lnSpc>
              <a:spcBef>
                <a:spcPct val="0"/>
              </a:spcBef>
              <a:buClrTx/>
              <a:buFontTx/>
              <a:buNone/>
            </a:pPr>
            <a:endParaRPr lang="en-US" altLang="zh-CN" dirty="0"/>
          </a:p>
          <a:p>
            <a:pPr eaLnBrk="1" hangingPunct="1">
              <a:lnSpc>
                <a:spcPct val="140000"/>
              </a:lnSpc>
              <a:spcBef>
                <a:spcPct val="0"/>
              </a:spcBef>
              <a:buClrTx/>
              <a:buFontTx/>
              <a:buNone/>
            </a:pPr>
            <a:r>
              <a:rPr lang="zh-CN" altLang="en-US" dirty="0"/>
              <a:t>学习后回答以下问题：</a:t>
            </a:r>
            <a:endParaRPr lang="en-US" altLang="zh-CN" dirty="0"/>
          </a:p>
          <a:p>
            <a:pPr>
              <a:lnSpc>
                <a:spcPct val="150000"/>
              </a:lnSpc>
              <a:buNone/>
              <a:defRPr/>
            </a:pPr>
            <a:r>
              <a:rPr lang="zh-CN" altLang="en-US" dirty="0"/>
              <a:t>可以从哪些方面看出计算物理学的重要性？</a:t>
            </a:r>
            <a:endParaRPr lang="en-US" altLang="zh-CN" dirty="0"/>
          </a:p>
          <a:p>
            <a:pPr>
              <a:lnSpc>
                <a:spcPct val="150000"/>
              </a:lnSpc>
              <a:buNone/>
              <a:defRPr/>
            </a:pPr>
            <a:r>
              <a:rPr lang="zh-CN" altLang="en-US" dirty="0"/>
              <a:t>本课程的要求是什么？</a:t>
            </a:r>
          </a:p>
          <a:p>
            <a:pPr>
              <a:lnSpc>
                <a:spcPct val="150000"/>
              </a:lnSpc>
              <a:buNone/>
              <a:defRPr/>
            </a:pPr>
            <a:r>
              <a:rPr lang="zh-CN" altLang="en-US" dirty="0"/>
              <a:t>本课程的核心内容</a:t>
            </a:r>
            <a:r>
              <a:rPr lang="zh-CN" altLang="en-US" dirty="0">
                <a:effectLst>
                  <a:outerShdw blurRad="38100" dist="38100" dir="2700000" algn="tl">
                    <a:srgbClr val="C0C0C0"/>
                  </a:outerShdw>
                </a:effectLst>
              </a:rPr>
              <a:t>  </a:t>
            </a:r>
            <a:r>
              <a:rPr lang="zh-CN" altLang="en-US" dirty="0"/>
              <a:t> （</a:t>
            </a:r>
            <a:r>
              <a:rPr lang="en-US" altLang="zh-CN" dirty="0"/>
              <a:t>Key Idea</a:t>
            </a:r>
            <a:r>
              <a:rPr lang="zh-CN" altLang="en-US" dirty="0"/>
              <a:t>）是什么？</a:t>
            </a:r>
          </a:p>
          <a:p>
            <a:pPr>
              <a:lnSpc>
                <a:spcPct val="150000"/>
              </a:lnSpc>
              <a:buNone/>
              <a:defRPr/>
            </a:pPr>
            <a:r>
              <a:rPr lang="zh-CN" altLang="en-US" dirty="0"/>
              <a:t>误差有哪些来源？哪些和本课程有关？</a:t>
            </a:r>
            <a:endParaRPr lang="en-US" altLang="zh-CN" dirty="0"/>
          </a:p>
        </p:txBody>
      </p:sp>
    </p:spTree>
    <p:extLst>
      <p:ext uri="{BB962C8B-B14F-4D97-AF65-F5344CB8AC3E}">
        <p14:creationId xmlns:p14="http://schemas.microsoft.com/office/powerpoint/2010/main" val="71431592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nodePh="1">
                                  <p:stCondLst>
                                    <p:cond delay="0"/>
                                  </p:stCondLst>
                                  <p:endCondLst>
                                    <p:cond evt="begin" delay="0">
                                      <p:tn val="5"/>
                                    </p:cond>
                                  </p:endCondLst>
                                  <p:childTnLst>
                                    <p:set>
                                      <p:cBhvr>
                                        <p:cTn id="6" dur="1" fill="hold">
                                          <p:stCondLst>
                                            <p:cond delay="0"/>
                                          </p:stCondLst>
                                        </p:cTn>
                                        <p:tgtEl>
                                          <p:spTgt spid="66563"/>
                                        </p:tgtEl>
                                        <p:attrNameLst>
                                          <p:attrName>style.visibility</p:attrName>
                                        </p:attrNameLst>
                                      </p:cBhvr>
                                      <p:to>
                                        <p:strVal val="visible"/>
                                      </p:to>
                                    </p:set>
                                    <p:anim calcmode="lin" valueType="num">
                                      <p:cBhvr additive="base">
                                        <p:cTn id="7" dur="500" fill="hold"/>
                                        <p:tgtEl>
                                          <p:spTgt spid="66563"/>
                                        </p:tgtEl>
                                        <p:attrNameLst>
                                          <p:attrName>ppt_x</p:attrName>
                                        </p:attrNameLst>
                                      </p:cBhvr>
                                      <p:tavLst>
                                        <p:tav tm="0">
                                          <p:val>
                                            <p:strVal val="1+#ppt_w/2"/>
                                          </p:val>
                                        </p:tav>
                                        <p:tav tm="100000">
                                          <p:val>
                                            <p:strVal val="#ppt_x"/>
                                          </p:val>
                                        </p:tav>
                                      </p:tavLst>
                                    </p:anim>
                                    <p:anim calcmode="lin" valueType="num">
                                      <p:cBhvr additive="base">
                                        <p:cTn id="8" dur="500" fill="hold"/>
                                        <p:tgtEl>
                                          <p:spTgt spid="665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3" grpId="0" autoUpdateAnimBg="0"/>
    </p:bldLst>
  </p:timing>
</p:sld>
</file>

<file path=ppt/theme/theme1.xml><?xml version="1.0" encoding="utf-8"?>
<a:theme xmlns:a="http://schemas.openxmlformats.org/drawingml/2006/main" name="场景型模板">
  <a:themeElements>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fontScheme name="场景型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rgbClr val="CCFFFF"/>
            </a:solidFill>
            <a:effectLst>
              <a:outerShdw blurRad="38100" dist="38100" dir="2700000" algn="tl">
                <a:srgbClr val="000000">
                  <a:alpha val="43137"/>
                </a:srgbClr>
              </a:outerShdw>
            </a:effectLst>
            <a:latin typeface="Times New Roman" pitchFamily="18" charset="0"/>
            <a:ea typeface="楷体_GB2312"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600" b="1" i="0" u="none" strike="noStrike" cap="none" normalizeH="0" baseline="0" smtClean="0">
            <a:ln>
              <a:noFill/>
            </a:ln>
            <a:solidFill>
              <a:srgbClr val="CCFFFF"/>
            </a:solidFill>
            <a:effectLst>
              <a:outerShdw blurRad="38100" dist="38100" dir="2700000" algn="tl">
                <a:srgbClr val="000000">
                  <a:alpha val="43137"/>
                </a:srgbClr>
              </a:outerShdw>
            </a:effectLst>
            <a:latin typeface="Times New Roman" pitchFamily="18" charset="0"/>
            <a:ea typeface="楷体_GB2312" pitchFamily="49" charset="-122"/>
          </a:defRPr>
        </a:defPPr>
      </a:lstStyle>
    </a:lnDef>
  </a:objectDefaults>
  <a:extraClrSchemeLst>
    <a:extraClrScheme>
      <a:clrScheme name="场景型模板 1">
        <a:dk1>
          <a:srgbClr val="333333"/>
        </a:dk1>
        <a:lt1>
          <a:srgbClr val="A9BDA9"/>
        </a:lt1>
        <a:dk2>
          <a:srgbClr val="004C2B"/>
        </a:dk2>
        <a:lt2>
          <a:srgbClr val="578963"/>
        </a:lt2>
        <a:accent1>
          <a:srgbClr val="E1B7B7"/>
        </a:accent1>
        <a:accent2>
          <a:srgbClr val="B3E1B3"/>
        </a:accent2>
        <a:accent3>
          <a:srgbClr val="D1DBD1"/>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2">
        <a:dk1>
          <a:srgbClr val="333333"/>
        </a:dk1>
        <a:lt1>
          <a:srgbClr val="FFFFFF"/>
        </a:lt1>
        <a:dk2>
          <a:srgbClr val="004C2B"/>
        </a:dk2>
        <a:lt2>
          <a:srgbClr val="578963"/>
        </a:lt2>
        <a:accent1>
          <a:srgbClr val="E1B7B7"/>
        </a:accent1>
        <a:accent2>
          <a:srgbClr val="B3E1B3"/>
        </a:accent2>
        <a:accent3>
          <a:srgbClr val="FFFFFF"/>
        </a:accent3>
        <a:accent4>
          <a:srgbClr val="2A2A2A"/>
        </a:accent4>
        <a:accent5>
          <a:srgbClr val="EED8D8"/>
        </a:accent5>
        <a:accent6>
          <a:srgbClr val="A2CCA2"/>
        </a:accent6>
        <a:hlink>
          <a:srgbClr val="BDD7E5"/>
        </a:hlink>
        <a:folHlink>
          <a:srgbClr val="D2AAD2"/>
        </a:folHlink>
      </a:clrScheme>
      <a:clrMap bg1="lt1" tx1="dk1" bg2="lt2" tx2="dk2" accent1="accent1" accent2="accent2" accent3="accent3" accent4="accent4" accent5="accent5" accent6="accent6" hlink="hlink" folHlink="folHlink"/>
    </a:extraClrScheme>
    <a:extraClrScheme>
      <a:clrScheme name="场景型模板 3">
        <a:dk1>
          <a:srgbClr val="000000"/>
        </a:dk1>
        <a:lt1>
          <a:srgbClr val="FFFFFF"/>
        </a:lt1>
        <a:dk2>
          <a:srgbClr val="000000"/>
        </a:dk2>
        <a:lt2>
          <a:srgbClr val="393939"/>
        </a:lt2>
        <a:accent1>
          <a:srgbClr val="CBCBCB"/>
        </a:accent1>
        <a:accent2>
          <a:srgbClr val="808080"/>
        </a:accent2>
        <a:accent3>
          <a:srgbClr val="FFFFFF"/>
        </a:accent3>
        <a:accent4>
          <a:srgbClr val="000000"/>
        </a:accent4>
        <a:accent5>
          <a:srgbClr val="E2E2E2"/>
        </a:accent5>
        <a:accent6>
          <a:srgbClr val="737373"/>
        </a:accent6>
        <a:hlink>
          <a:srgbClr val="B2B2B2"/>
        </a:hlink>
        <a:folHlink>
          <a:srgbClr val="EAEAE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Office\Templates\演示文稿设计\场景型模板.pot</Template>
  <TotalTime>16692</TotalTime>
  <Words>2857</Words>
  <Application>Microsoft Office PowerPoint</Application>
  <PresentationFormat>全屏显示(4:3)</PresentationFormat>
  <Paragraphs>529</Paragraphs>
  <Slides>59</Slides>
  <Notes>2</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4</vt:i4>
      </vt:variant>
      <vt:variant>
        <vt:lpstr>幻灯片标题</vt:lpstr>
      </vt:variant>
      <vt:variant>
        <vt:i4>59</vt:i4>
      </vt:variant>
    </vt:vector>
  </HeadingPairs>
  <TitlesOfParts>
    <vt:vector size="75" baseType="lpstr">
      <vt:lpstr>CMR10</vt:lpstr>
      <vt:lpstr>Monotype Sorts</vt:lpstr>
      <vt:lpstr>Times-Bold~110</vt:lpstr>
      <vt:lpstr>黑体</vt:lpstr>
      <vt:lpstr>楷体_GB2312</vt:lpstr>
      <vt:lpstr>隶书</vt:lpstr>
      <vt:lpstr>宋体</vt:lpstr>
      <vt:lpstr>Arial</vt:lpstr>
      <vt:lpstr>Comic Sans MS</vt:lpstr>
      <vt:lpstr>Symbol</vt:lpstr>
      <vt:lpstr>Times New Roman</vt:lpstr>
      <vt:lpstr>场景型模板</vt:lpstr>
      <vt:lpstr>剪辑</vt:lpstr>
      <vt:lpstr>Equation</vt:lpstr>
      <vt:lpstr>Microsoft 公式 3.0</vt:lpstr>
      <vt:lpstr>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参考书</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三位计算机设计大师的贡献</vt:lpstr>
      <vt:lpstr>   H. Aiken (1900-1973)</vt:lpstr>
      <vt:lpstr>J. W. Manchly (1907-1980)</vt:lpstr>
      <vt:lpstr>J. Von Neumann(1903-1956)</vt:lpstr>
      <vt:lpstr>PowerPoint 演示文稿</vt:lpstr>
      <vt:lpstr>由于核武器研制需要，1950年全球只有15台，到了1962年9月仅美国就有16187台计算机。</vt:lpstr>
      <vt:lpstr>60年代中期，由于硅平面工艺的出现，集成电路成为独立的工艺，并且可借助计算机本身的力量而精益求精。硅的集成度平均三年增加4倍，而计算机本身每三年更新一次。</vt:lpstr>
      <vt:lpstr>60年代中期开始推出小型计算机，70年代末推出个人计算机，80年代中期又推出高性能的超级微机。而计算物理发展所涉及的大规模科学计算和模拟所需要的大型计算机却得到发展。</vt:lpstr>
      <vt:lpstr>美国从1942年8月13日开始曼哈顿计划，到1945年制造出三颗原子弹：代号为：“三一” “瘦子” ，用于试验（7月16日）， “小男孩”投于广岛(8月6日)，“胖子”投于长崎(8月9日)。历时三年，涉及到理论物理、爆轰物理、中子物理、金属物理、弹体弹道等大量的数值计算。</vt:lpstr>
      <vt:lpstr>１９５９年５月美国总统发布命令，可以揭开曼哈顿计划的内幕，部分内容可以解密。故以“计算物理方法”丛书的名义陆续编辑出版。</vt:lpstr>
      <vt:lpstr>1981年以哈佛大学普雷斯(W. H. Press)为首的11位著名科学家联名上书，向美国国家科学基金会(NSF)呈送“发展计算物理的建议书”，大声疾呼计算物理发展正处于一个危机阶段，是NSF采取实质性行动的时候了。</vt:lpstr>
      <vt:lpstr>1983年一个由美国著名数学家拉克斯(P. Lax)为首的不同学科的专家委员会向美国政府提出的报告之中，强调“科学计算是关系到国家安全、经济发展和科技进步的关键性环节，是事关国家命脉的大事。” </vt:lpstr>
      <vt:lpstr>1984年美国政府大幅度地增加对科学计算经费的支持, 新建成五个国家级超级计算中心（分别在普林斯顿大学、圣地亚哥、伊里诺大学、康奈尔大学、匹兹堡），配备当时最高性能的计算机，建立NSF-net新网络。</vt:lpstr>
      <vt:lpstr>80年代中期我国将“大规模科学与工程计算”列入国家资助重大项目。</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NMR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分子模拟</dc:title>
  <dc:creator>jinqh</dc:creator>
  <cp:lastModifiedBy>apple</cp:lastModifiedBy>
  <cp:revision>454</cp:revision>
  <dcterms:created xsi:type="dcterms:W3CDTF">2000-08-01T08:10:53Z</dcterms:created>
  <dcterms:modified xsi:type="dcterms:W3CDTF">2023-02-14T05:27:00Z</dcterms:modified>
</cp:coreProperties>
</file>