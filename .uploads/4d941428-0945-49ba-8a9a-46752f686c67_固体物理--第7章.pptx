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63" r:id="rId4"/>
    <p:sldId id="279" r:id="rId5"/>
    <p:sldId id="264" r:id="rId6"/>
    <p:sldId id="280" r:id="rId7"/>
    <p:sldId id="265" r:id="rId8"/>
    <p:sldId id="266" r:id="rId9"/>
    <p:sldId id="281" r:id="rId10"/>
    <p:sldId id="267" r:id="rId11"/>
    <p:sldId id="282" r:id="rId12"/>
    <p:sldId id="268" r:id="rId13"/>
    <p:sldId id="283" r:id="rId14"/>
    <p:sldId id="269" r:id="rId15"/>
    <p:sldId id="270" r:id="rId16"/>
    <p:sldId id="284" r:id="rId17"/>
    <p:sldId id="272" r:id="rId18"/>
    <p:sldId id="285" r:id="rId19"/>
    <p:sldId id="273" r:id="rId20"/>
    <p:sldId id="286" r:id="rId21"/>
    <p:sldId id="296" r:id="rId22"/>
    <p:sldId id="271" r:id="rId23"/>
    <p:sldId id="287" r:id="rId24"/>
    <p:sldId id="288" r:id="rId25"/>
    <p:sldId id="275" r:id="rId26"/>
    <p:sldId id="276" r:id="rId27"/>
    <p:sldId id="289" r:id="rId28"/>
    <p:sldId id="277" r:id="rId29"/>
    <p:sldId id="290" r:id="rId30"/>
    <p:sldId id="295" r:id="rId31"/>
    <p:sldId id="291" r:id="rId32"/>
    <p:sldId id="292" r:id="rId33"/>
    <p:sldId id="293" r:id="rId34"/>
    <p:sldId id="294" r:id="rId35"/>
    <p:sldId id="261"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7" autoAdjust="0"/>
    <p:restoredTop sz="94660"/>
  </p:normalViewPr>
  <p:slideViewPr>
    <p:cSldViewPr snapToGrid="0">
      <p:cViewPr>
        <p:scale>
          <a:sx n="100" d="100"/>
          <a:sy n="100" d="100"/>
        </p:scale>
        <p:origin x="348" y="2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158497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811907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2145786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2625961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1758656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3229727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871091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427191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369406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344440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1DBDA0-EBD8-4E1A-90D6-6101AEB839CC}" type="datetimeFigureOut">
              <a:rPr lang="zh-CN" altLang="en-US" smtClean="0"/>
              <a:t>2026/5/29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2465690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1DBDA0-EBD8-4E1A-90D6-6101AEB839CC}" type="datetimeFigureOut">
              <a:rPr lang="zh-CN" altLang="en-US" smtClean="0"/>
              <a:t>2026/5/29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4CBC7-F7D9-4068-B988-CC094E96F059}" type="slidenum">
              <a:rPr lang="zh-CN" altLang="en-US" smtClean="0"/>
              <a:t>‹#›</a:t>
            </a:fld>
            <a:endParaRPr lang="zh-CN" altLang="en-US"/>
          </a:p>
        </p:txBody>
      </p:sp>
    </p:spTree>
    <p:extLst>
      <p:ext uri="{BB962C8B-B14F-4D97-AF65-F5344CB8AC3E}">
        <p14:creationId xmlns:p14="http://schemas.microsoft.com/office/powerpoint/2010/main" val="99975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40.png"/><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0.png"/><Relationship Id="rId4" Type="http://schemas.openxmlformats.org/officeDocument/2006/relationships/image" Target="../media/image24.png"/><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1.emf"/><Relationship Id="rId1" Type="http://schemas.openxmlformats.org/officeDocument/2006/relationships/slideLayout" Target="../slideLayouts/slideLayout1.xml"/><Relationship Id="rId4" Type="http://schemas.openxmlformats.org/officeDocument/2006/relationships/image" Target="../media/image270.png"/></Relationships>
</file>

<file path=ppt/slides/_rels/slide1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1.emf"/><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6" name="文本框 5"/>
              <p:cNvSpPr txBox="1"/>
              <p:nvPr/>
            </p:nvSpPr>
            <p:spPr>
              <a:xfrm>
                <a:off x="1137920" y="1158240"/>
                <a:ext cx="10281920" cy="1384995"/>
              </a:xfrm>
              <a:prstGeom prst="rect">
                <a:avLst/>
              </a:prstGeom>
              <a:noFill/>
            </p:spPr>
            <p:txBody>
              <a:bodyPr wrap="square" rtlCol="0">
                <a:spAutoFit/>
              </a:bodyPr>
              <a:lstStyle/>
              <a:p>
                <a:r>
                  <a:rPr lang="zh-CN" altLang="en-US" sz="2800" dirty="0">
                    <a:solidFill>
                      <a:schemeClr val="tx1"/>
                    </a:solidFill>
                  </a:rPr>
                  <a:t>第六章中，</a:t>
                </a:r>
                <a14:m>
                  <m:oMath xmlns:m="http://schemas.openxmlformats.org/officeDocument/2006/math">
                    <m:r>
                      <a:rPr lang="en-US" altLang="zh-CN" sz="2800" b="0" i="1" smtClean="0">
                        <a:solidFill>
                          <a:schemeClr val="tx1"/>
                        </a:solidFill>
                        <a:latin typeface="Cambria Math" panose="02040503050406030204" pitchFamily="18" charset="0"/>
                      </a:rPr>
                      <m:t>𝑉</m:t>
                    </m:r>
                    <m:r>
                      <a:rPr lang="en-US" altLang="zh-CN" sz="2800" b="0" i="1" smtClean="0">
                        <a:solidFill>
                          <a:schemeClr val="tx1"/>
                        </a:solidFill>
                        <a:latin typeface="Cambria Math" panose="02040503050406030204" pitchFamily="18" charset="0"/>
                      </a:rPr>
                      <m:t>=0</m:t>
                    </m:r>
                  </m:oMath>
                </a14:m>
                <a:r>
                  <a:rPr lang="zh-CN" altLang="en-US" sz="2800" dirty="0">
                    <a:solidFill>
                      <a:schemeClr val="tx1"/>
                    </a:solidFill>
                  </a:rPr>
                  <a:t> 。实际上，</a:t>
                </a:r>
                <a:r>
                  <a:rPr lang="en-US" altLang="zh-CN" sz="2800" dirty="0">
                    <a:solidFill>
                      <a:schemeClr val="tx1"/>
                    </a:solidFill>
                  </a:rPr>
                  <a:t> </a:t>
                </a:r>
                <a14:m>
                  <m:oMath xmlns:m="http://schemas.openxmlformats.org/officeDocument/2006/math">
                    <m:r>
                      <a:rPr lang="en-US" altLang="zh-CN" sz="2800" i="1">
                        <a:solidFill>
                          <a:schemeClr val="tx1"/>
                        </a:solidFill>
                        <a:latin typeface="Cambria Math" panose="02040503050406030204" pitchFamily="18" charset="0"/>
                      </a:rPr>
                      <m:t>𝑉</m:t>
                    </m:r>
                    <m:r>
                      <a:rPr lang="en-US" altLang="zh-CN" sz="2800" i="1">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𝑉</m:t>
                    </m:r>
                    <m:r>
                      <a:rPr lang="en-US" altLang="zh-CN" sz="2800" b="0"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𝒓</m:t>
                    </m:r>
                    <m:r>
                      <a:rPr lang="en-US" altLang="zh-CN" sz="2800" b="0" i="1" smtClean="0">
                        <a:solidFill>
                          <a:schemeClr val="tx1"/>
                        </a:solidFill>
                        <a:latin typeface="Cambria Math" panose="02040503050406030204" pitchFamily="18" charset="0"/>
                      </a:rPr>
                      <m:t>)</m:t>
                    </m:r>
                  </m:oMath>
                </a14:m>
                <a:r>
                  <a:rPr lang="zh-CN" altLang="en-US" sz="2800" dirty="0">
                    <a:solidFill>
                      <a:schemeClr val="tx1"/>
                    </a:solidFill>
                  </a:rPr>
                  <a:t> ，且 </a:t>
                </a:r>
                <a14:m>
                  <m:oMath xmlns:m="http://schemas.openxmlformats.org/officeDocument/2006/math">
                    <m:r>
                      <a:rPr lang="en-US" altLang="zh-CN" sz="2800" i="1">
                        <a:solidFill>
                          <a:schemeClr val="tx1"/>
                        </a:solidFill>
                        <a:latin typeface="Cambria Math" panose="02040503050406030204" pitchFamily="18" charset="0"/>
                      </a:rPr>
                      <m:t>𝑉</m:t>
                    </m:r>
                    <m:d>
                      <m:dPr>
                        <m:ctrlPr>
                          <a:rPr lang="en-US" altLang="zh-CN" sz="2800"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𝒓</m:t>
                        </m:r>
                      </m:e>
                    </m:d>
                    <m:r>
                      <a:rPr lang="en-US" altLang="zh-CN" sz="2800" b="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𝑉</m:t>
                    </m:r>
                    <m:r>
                      <a:rPr lang="en-US" altLang="zh-CN" sz="2800"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𝒓</m:t>
                    </m:r>
                    <m:r>
                      <a:rPr lang="en-US" altLang="zh-CN" sz="2800" b="1" i="1" smtClean="0">
                        <a:solidFill>
                          <a:schemeClr val="tx1"/>
                        </a:solidFill>
                        <a:latin typeface="Cambria Math" panose="02040503050406030204" pitchFamily="18" charset="0"/>
                      </a:rPr>
                      <m:t>+</m:t>
                    </m:r>
                    <m:sSub>
                      <m:sSubPr>
                        <m:ctrlPr>
                          <a:rPr lang="en-US" altLang="zh-CN" sz="2800" b="1" i="1" smtClean="0">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𝑹</m:t>
                        </m:r>
                      </m:e>
                      <m:sub>
                        <m:r>
                          <a:rPr lang="en-US" altLang="zh-CN" sz="2800" b="1" i="1" smtClean="0">
                            <a:solidFill>
                              <a:schemeClr val="tx1"/>
                            </a:solidFill>
                            <a:latin typeface="Cambria Math" panose="02040503050406030204" pitchFamily="18" charset="0"/>
                          </a:rPr>
                          <m:t>𝒍</m:t>
                        </m:r>
                      </m:sub>
                    </m:sSub>
                    <m:r>
                      <a:rPr lang="en-US" altLang="zh-CN" sz="2800" i="1">
                        <a:solidFill>
                          <a:schemeClr val="tx1"/>
                        </a:solidFill>
                        <a:latin typeface="Cambria Math" panose="02040503050406030204" pitchFamily="18" charset="0"/>
                      </a:rPr>
                      <m:t>)</m:t>
                    </m:r>
                  </m:oMath>
                </a14:m>
                <a:endParaRPr lang="en-US" altLang="zh-CN" sz="2800" dirty="0">
                  <a:solidFill>
                    <a:schemeClr val="tx1"/>
                  </a:solidFill>
                </a:endParaRPr>
              </a:p>
              <a:p>
                <a:r>
                  <a:rPr lang="zh-CN" altLang="en-US" sz="2800" dirty="0">
                    <a:solidFill>
                      <a:schemeClr val="tx1"/>
                    </a:solidFill>
                  </a:rPr>
                  <a:t>本章结论：能带，电子的能级形成能带（复杂的色散关系）；</a:t>
                </a:r>
                <a:endParaRPr lang="en-US" altLang="zh-CN" sz="2800" dirty="0">
                  <a:solidFill>
                    <a:schemeClr val="tx1"/>
                  </a:solidFill>
                </a:endParaRPr>
              </a:p>
              <a:p>
                <a:r>
                  <a:rPr lang="en-US" altLang="zh-CN" sz="2800" dirty="0">
                    <a:solidFill>
                      <a:schemeClr val="tx1"/>
                    </a:solidFill>
                  </a:rPr>
                  <a:t>          </a:t>
                </a:r>
                <a:r>
                  <a:rPr lang="zh-CN" altLang="en-US" sz="2800" dirty="0">
                    <a:solidFill>
                      <a:schemeClr val="tx1"/>
                    </a:solidFill>
                  </a:rPr>
                  <a:t>能隙，能带之间可能有间隙</a:t>
                </a:r>
              </a:p>
            </p:txBody>
          </p:sp>
        </mc:Choice>
        <mc:Fallback xmlns="">
          <p:sp>
            <p:nvSpPr>
              <p:cNvPr id="6" name="文本框 5"/>
              <p:cNvSpPr txBox="1">
                <a:spLocks noRot="1" noChangeAspect="1" noMove="1" noResize="1" noEditPoints="1" noAdjustHandles="1" noChangeArrowheads="1" noChangeShapeType="1" noTextEdit="1"/>
              </p:cNvSpPr>
              <p:nvPr/>
            </p:nvSpPr>
            <p:spPr>
              <a:xfrm>
                <a:off x="1137920" y="1158240"/>
                <a:ext cx="10281920" cy="1384995"/>
              </a:xfrm>
              <a:prstGeom prst="rect">
                <a:avLst/>
              </a:prstGeom>
              <a:blipFill rotWithShape="1">
                <a:blip r:embed="rId2"/>
                <a:stretch>
                  <a:fillRect l="-1246" t="-5286" b="-114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4599387" y="2534771"/>
                <a:ext cx="3765679"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99387" y="2534771"/>
                <a:ext cx="3765679" cy="584775"/>
              </a:xfrm>
              <a:prstGeom prst="rect">
                <a:avLst/>
              </a:prstGeom>
              <a:blipFill rotWithShape="1">
                <a:blip r:embed="rId3"/>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700599" y="3086838"/>
                <a:ext cx="10373360" cy="3772892"/>
              </a:xfrm>
              <a:prstGeom prst="rect">
                <a:avLst/>
              </a:prstGeom>
              <a:noFill/>
            </p:spPr>
            <p:txBody>
              <a:bodyPr wrap="square" rtlCol="0">
                <a:spAutoFit/>
              </a:bodyPr>
              <a:lstStyle/>
              <a:p>
                <a:r>
                  <a:rPr lang="zh-CN" altLang="en-US" sz="2800" b="0" dirty="0">
                    <a:solidFill>
                      <a:schemeClr val="tx1"/>
                    </a:solidFill>
                  </a:rPr>
                  <a:t>晶体</a:t>
                </a:r>
                <a14:m>
                  <m:oMath xmlns:m="http://schemas.openxmlformats.org/officeDocument/2006/math">
                    <m:r>
                      <a:rPr lang="zh-CN" altLang="en-US" sz="2800" i="1" dirty="0">
                        <a:solidFill>
                          <a:schemeClr val="tx1"/>
                        </a:solidFill>
                        <a:latin typeface="Cambria Math" panose="02040503050406030204" pitchFamily="18" charset="0"/>
                      </a:rPr>
                      <m:t>的</m:t>
                    </m:r>
                    <m:r>
                      <a:rPr lang="zh-CN" altLang="en-US" sz="2800" i="1" dirty="0" smtClean="0">
                        <a:solidFill>
                          <a:schemeClr val="tx1"/>
                        </a:solidFill>
                        <a:latin typeface="Cambria Math" panose="02040503050406030204" pitchFamily="18" charset="0"/>
                      </a:rPr>
                      <m:t>哈密顿量</m:t>
                    </m:r>
                    <m:r>
                      <a:rPr lang="zh-CN" altLang="en-US" sz="2800" i="1" dirty="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𝐻</m:t>
                    </m:r>
                    <m:r>
                      <a:rPr lang="en-US" altLang="zh-CN" sz="2800" b="0" i="1" dirty="0" smtClean="0">
                        <a:solidFill>
                          <a:schemeClr val="tx1"/>
                        </a:solidFill>
                        <a:latin typeface="Cambria Math" panose="02040503050406030204" pitchFamily="18" charset="0"/>
                      </a:rPr>
                      <m:t>=</m:t>
                    </m:r>
                    <m:sSub>
                      <m:sSubPr>
                        <m:ctrlPr>
                          <a:rPr lang="en-US" altLang="zh-CN" sz="2800" b="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𝐻</m:t>
                        </m:r>
                      </m:e>
                      <m:sub>
                        <m:r>
                          <a:rPr lang="en-US" altLang="zh-CN" sz="2800" b="0" i="1" dirty="0" smtClean="0">
                            <a:solidFill>
                              <a:schemeClr val="tx1"/>
                            </a:solidFill>
                            <a:latin typeface="Cambria Math" panose="02040503050406030204" pitchFamily="18" charset="0"/>
                          </a:rPr>
                          <m:t>𝑒</m:t>
                        </m:r>
                      </m:sub>
                    </m:sSub>
                    <m:r>
                      <a:rPr lang="en-US" altLang="zh-CN" sz="2800" b="0" i="1"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b="0" i="1" dirty="0" smtClean="0">
                            <a:solidFill>
                              <a:schemeClr val="tx1"/>
                            </a:solidFill>
                            <a:latin typeface="Cambria Math" panose="02040503050406030204" pitchFamily="18" charset="0"/>
                          </a:rPr>
                          <m:t>𝑖</m:t>
                        </m:r>
                      </m:sub>
                    </m:sSub>
                    <m:r>
                      <a:rPr lang="en-US" altLang="zh-CN" sz="2800" b="0" i="1"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i="1" dirty="0">
                            <a:solidFill>
                              <a:schemeClr val="tx1"/>
                            </a:solidFill>
                            <a:latin typeface="Cambria Math" panose="02040503050406030204" pitchFamily="18" charset="0"/>
                          </a:rPr>
                          <m:t>𝑒</m:t>
                        </m:r>
                        <m:r>
                          <a:rPr lang="en-US" altLang="zh-CN" sz="2800" b="0" i="1" dirty="0" smtClean="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𝑖</m:t>
                        </m:r>
                      </m:sub>
                    </m:sSub>
                  </m:oMath>
                </a14:m>
                <a:endParaRPr lang="en-US" altLang="zh-CN" sz="2800" dirty="0">
                  <a:solidFill>
                    <a:schemeClr val="tx1"/>
                  </a:solidFill>
                </a:endParaRPr>
              </a:p>
              <a:p>
                <a:r>
                  <a:rPr lang="zh-CN" altLang="en-US" sz="2800" dirty="0">
                    <a:solidFill>
                      <a:schemeClr val="tx1"/>
                    </a:solidFill>
                  </a:rPr>
                  <a:t>其中，</a:t>
                </a:r>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i="1" dirty="0">
                            <a:solidFill>
                              <a:schemeClr val="tx1"/>
                            </a:solidFill>
                            <a:latin typeface="Cambria Math" panose="02040503050406030204" pitchFamily="18" charset="0"/>
                          </a:rPr>
                          <m:t>𝑒</m:t>
                        </m:r>
                      </m:sub>
                    </m:sSub>
                    <m:r>
                      <a:rPr lang="en-US" altLang="zh-CN" sz="2800" i="1" dirty="0" smtClean="0">
                        <a:solidFill>
                          <a:schemeClr val="tx1"/>
                        </a:solidFill>
                        <a:latin typeface="Cambria Math" panose="02040503050406030204" pitchFamily="18" charset="0"/>
                      </a:rPr>
                      <m:t>=</m:t>
                    </m:r>
                    <m:nary>
                      <m:naryPr>
                        <m:chr m:val="∑"/>
                        <m:supHide m:val="on"/>
                        <m:ctrlPr>
                          <a:rPr lang="en-US" altLang="zh-CN" sz="2800" i="1" dirty="0" smtClean="0">
                            <a:solidFill>
                              <a:schemeClr val="tx1"/>
                            </a:solidFill>
                            <a:latin typeface="Cambria Math" panose="02040503050406030204" pitchFamily="18" charset="0"/>
                          </a:rPr>
                        </m:ctrlPr>
                      </m:naryPr>
                      <m:sub>
                        <m:r>
                          <m:rPr>
                            <m:brk m:alnAt="7"/>
                          </m:rPr>
                          <a:rPr lang="en-US" altLang="zh-CN" sz="2800" b="0" i="1" dirty="0" smtClean="0">
                            <a:solidFill>
                              <a:schemeClr val="tx1"/>
                            </a:solidFill>
                            <a:latin typeface="Cambria Math" panose="02040503050406030204" pitchFamily="18" charset="0"/>
                          </a:rPr>
                          <m:t>𝑖</m:t>
                        </m:r>
                      </m:sub>
                      <m:sup/>
                      <m:e>
                        <m:f>
                          <m:fPr>
                            <m:ctrlPr>
                              <a:rPr lang="en-US" altLang="zh-CN" sz="2800" i="1" dirty="0" smtClean="0">
                                <a:solidFill>
                                  <a:schemeClr val="tx1"/>
                                </a:solidFill>
                                <a:latin typeface="Cambria Math" panose="02040503050406030204" pitchFamily="18" charset="0"/>
                              </a:rPr>
                            </m:ctrlPr>
                          </m:fPr>
                          <m:num>
                            <m:sSup>
                              <m:sSupPr>
                                <m:ctrlPr>
                                  <a:rPr lang="en-US" altLang="zh-CN" sz="2800" i="1" dirty="0" smtClean="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ħ</m:t>
                                </m:r>
                              </m:e>
                              <m:sup>
                                <m:r>
                                  <a:rPr lang="en-US" altLang="zh-CN" sz="2800" b="0" i="1" dirty="0" smtClean="0">
                                    <a:solidFill>
                                      <a:schemeClr val="tx1"/>
                                    </a:solidFill>
                                    <a:latin typeface="Cambria Math" panose="02040503050406030204" pitchFamily="18" charset="0"/>
                                  </a:rPr>
                                  <m:t>2</m:t>
                                </m:r>
                              </m:sup>
                            </m:sSup>
                          </m:num>
                          <m:den>
                            <m:r>
                              <a:rPr lang="en-US" altLang="zh-CN" sz="2800" b="0" i="1" dirty="0" smtClean="0">
                                <a:solidFill>
                                  <a:schemeClr val="tx1"/>
                                </a:solidFill>
                                <a:latin typeface="Cambria Math" panose="02040503050406030204" pitchFamily="18" charset="0"/>
                              </a:rPr>
                              <m:t>2</m:t>
                            </m:r>
                            <m:r>
                              <a:rPr lang="en-US" altLang="zh-CN" sz="2800" b="0" i="1" dirty="0" smtClean="0">
                                <a:solidFill>
                                  <a:schemeClr val="tx1"/>
                                </a:solidFill>
                                <a:latin typeface="Cambria Math" panose="02040503050406030204" pitchFamily="18" charset="0"/>
                              </a:rPr>
                              <m:t>𝑚</m:t>
                            </m:r>
                          </m:den>
                        </m:f>
                        <m:sSup>
                          <m:sSupPr>
                            <m:ctrlPr>
                              <a:rPr lang="en-US" altLang="zh-CN" sz="2800" b="0" i="1" dirty="0" smtClean="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𝑖</m:t>
                            </m:r>
                            <m:sSubSup>
                              <m:sSubSupPr>
                                <m:ctrlPr>
                                  <a:rPr lang="en-US" altLang="zh-CN" sz="2800" b="0" i="1" dirty="0" smtClean="0">
                                    <a:solidFill>
                                      <a:schemeClr val="tx1"/>
                                    </a:solidFill>
                                    <a:latin typeface="Cambria Math" panose="02040503050406030204" pitchFamily="18" charset="0"/>
                                  </a:rPr>
                                </m:ctrlPr>
                              </m:sSubSupPr>
                              <m:e>
                                <m:r>
                                  <a:rPr lang="en-US" altLang="zh-CN" sz="2800" b="0" i="1" dirty="0" smtClean="0">
                                    <a:solidFill>
                                      <a:schemeClr val="tx1"/>
                                    </a:solidFill>
                                    <a:latin typeface="Cambria Math" panose="02040503050406030204" pitchFamily="18" charset="0"/>
                                    <a:ea typeface="Cambria Math" panose="02040503050406030204" pitchFamily="18" charset="0"/>
                                  </a:rPr>
                                  <m:t>𝛻</m:t>
                                </m:r>
                              </m:e>
                              <m:sub>
                                <m:r>
                                  <a:rPr lang="en-US" altLang="zh-CN" sz="2800" b="0" i="1" dirty="0" smtClean="0">
                                    <a:solidFill>
                                      <a:schemeClr val="tx1"/>
                                    </a:solidFill>
                                    <a:latin typeface="Cambria Math" panose="02040503050406030204" pitchFamily="18" charset="0"/>
                                  </a:rPr>
                                  <m:t>𝑖</m:t>
                                </m:r>
                              </m:sub>
                              <m:sup>
                                <m:r>
                                  <a:rPr lang="en-US" altLang="zh-CN" sz="2800" b="0" i="1" dirty="0" smtClean="0">
                                    <a:solidFill>
                                      <a:schemeClr val="tx1"/>
                                    </a:solidFill>
                                    <a:latin typeface="Cambria Math" panose="02040503050406030204" pitchFamily="18" charset="0"/>
                                  </a:rPr>
                                  <m:t> </m:t>
                                </m:r>
                              </m:sup>
                            </m:sSubSup>
                            <m:r>
                              <a:rPr lang="en-US" altLang="zh-CN" sz="2800" i="1" dirty="0">
                                <a:solidFill>
                                  <a:schemeClr val="tx1"/>
                                </a:solidFill>
                                <a:latin typeface="Cambria Math" panose="02040503050406030204" pitchFamily="18" charset="0"/>
                              </a:rPr>
                              <m:t>)</m:t>
                            </m:r>
                          </m:e>
                          <m:sup>
                            <m:r>
                              <a:rPr lang="en-US" altLang="zh-CN" sz="2800" b="0" i="1" dirty="0" smtClean="0">
                                <a:solidFill>
                                  <a:schemeClr val="tx1"/>
                                </a:solidFill>
                                <a:latin typeface="Cambria Math" panose="02040503050406030204" pitchFamily="18" charset="0"/>
                              </a:rPr>
                              <m:t>2</m:t>
                            </m:r>
                          </m:sup>
                        </m:sSup>
                        <m:r>
                          <a:rPr lang="en-US" altLang="zh-CN" sz="2800" b="0" i="1" dirty="0" smtClean="0">
                            <a:solidFill>
                              <a:schemeClr val="tx1"/>
                            </a:solidFill>
                            <a:latin typeface="Cambria Math" panose="02040503050406030204" pitchFamily="18" charset="0"/>
                          </a:rPr>
                          <m:t>+</m:t>
                        </m:r>
                        <m:f>
                          <m:fPr>
                            <m:ctrlPr>
                              <a:rPr lang="en-US" altLang="zh-CN" sz="2800" b="0" i="1" dirty="0" smtClean="0">
                                <a:solidFill>
                                  <a:schemeClr val="tx1"/>
                                </a:solidFill>
                                <a:latin typeface="Cambria Math" panose="02040503050406030204" pitchFamily="18" charset="0"/>
                              </a:rPr>
                            </m:ctrlPr>
                          </m:fPr>
                          <m:num>
                            <m:r>
                              <a:rPr lang="en-US" altLang="zh-CN" sz="2800" b="0" i="1" dirty="0" smtClean="0">
                                <a:solidFill>
                                  <a:schemeClr val="tx1"/>
                                </a:solidFill>
                                <a:latin typeface="Cambria Math" panose="02040503050406030204" pitchFamily="18" charset="0"/>
                              </a:rPr>
                              <m:t>1</m:t>
                            </m:r>
                          </m:num>
                          <m:den>
                            <m:r>
                              <a:rPr lang="en-US" altLang="zh-CN" sz="2800" b="0" i="1" dirty="0" smtClean="0">
                                <a:solidFill>
                                  <a:schemeClr val="tx1"/>
                                </a:solidFill>
                                <a:latin typeface="Cambria Math" panose="02040503050406030204" pitchFamily="18" charset="0"/>
                              </a:rPr>
                              <m:t>8</m:t>
                            </m:r>
                            <m:r>
                              <a:rPr lang="zh-CN" altLang="en-US" sz="2800" b="0" i="1" dirty="0" smtClean="0">
                                <a:solidFill>
                                  <a:schemeClr val="tx1"/>
                                </a:solidFill>
                                <a:latin typeface="Cambria Math" panose="02040503050406030204" pitchFamily="18" charset="0"/>
                              </a:rPr>
                              <m:t>𝜋</m:t>
                            </m:r>
                            <m:sSub>
                              <m:sSubPr>
                                <m:ctrlPr>
                                  <a:rPr lang="en-US" altLang="zh-CN" sz="2800" b="0" i="1" dirty="0" smtClean="0">
                                    <a:solidFill>
                                      <a:schemeClr val="tx1"/>
                                    </a:solidFill>
                                    <a:latin typeface="Cambria Math" panose="02040503050406030204" pitchFamily="18" charset="0"/>
                                  </a:rPr>
                                </m:ctrlPr>
                              </m:sSubPr>
                              <m:e>
                                <m:r>
                                  <a:rPr lang="zh-CN" altLang="en-US" sz="2800" b="0" i="1" dirty="0" smtClean="0">
                                    <a:solidFill>
                                      <a:schemeClr val="tx1"/>
                                    </a:solidFill>
                                    <a:latin typeface="Cambria Math" panose="02040503050406030204" pitchFamily="18" charset="0"/>
                                  </a:rPr>
                                  <m:t>𝜖</m:t>
                                </m:r>
                              </m:e>
                              <m:sub>
                                <m:r>
                                  <a:rPr lang="en-US" altLang="zh-CN" sz="2800" b="0" i="1" dirty="0" smtClean="0">
                                    <a:solidFill>
                                      <a:schemeClr val="tx1"/>
                                    </a:solidFill>
                                    <a:latin typeface="Cambria Math" panose="02040503050406030204" pitchFamily="18" charset="0"/>
                                  </a:rPr>
                                  <m:t>0</m:t>
                                </m:r>
                              </m:sub>
                            </m:sSub>
                          </m:den>
                        </m:f>
                        <m:nary>
                          <m:naryPr>
                            <m:chr m:val="∑"/>
                            <m:ctrlPr>
                              <a:rPr lang="en-US" altLang="zh-CN" sz="2800" b="0" i="1" dirty="0" smtClean="0">
                                <a:solidFill>
                                  <a:schemeClr val="tx1"/>
                                </a:solidFill>
                                <a:latin typeface="Cambria Math" panose="02040503050406030204" pitchFamily="18" charset="0"/>
                              </a:rPr>
                            </m:ctrlPr>
                          </m:naryPr>
                          <m:sub>
                            <m:r>
                              <m:rPr>
                                <m:brk m:alnAt="23"/>
                              </m:rPr>
                              <a:rPr lang="en-US" altLang="zh-CN" sz="2800" b="0" i="1" dirty="0" smtClean="0">
                                <a:solidFill>
                                  <a:schemeClr val="tx1"/>
                                </a:solidFill>
                                <a:latin typeface="Cambria Math" panose="02040503050406030204" pitchFamily="18" charset="0"/>
                              </a:rPr>
                              <m:t>𝑖</m:t>
                            </m:r>
                            <m:r>
                              <a:rPr lang="en-US" altLang="zh-CN" sz="2800" b="0" i="1" dirty="0" smtClean="0">
                                <a:solidFill>
                                  <a:schemeClr val="tx1"/>
                                </a:solidFill>
                                <a:latin typeface="Cambria Math" panose="02040503050406030204" pitchFamily="18" charset="0"/>
                              </a:rPr>
                              <m:t>,</m:t>
                            </m:r>
                            <m:sSup>
                              <m:sSupPr>
                                <m:ctrlPr>
                                  <a:rPr lang="en-US" altLang="zh-CN" sz="2800" b="0" i="1" dirty="0" smtClean="0">
                                    <a:solidFill>
                                      <a:schemeClr val="tx1"/>
                                    </a:solidFill>
                                    <a:latin typeface="Cambria Math" panose="02040503050406030204" pitchFamily="18" charset="0"/>
                                  </a:rPr>
                                </m:ctrlPr>
                              </m:sSupPr>
                              <m:e>
                                <m:r>
                                  <a:rPr lang="en-US" altLang="zh-CN" sz="2800" b="0" i="1" dirty="0" smtClean="0">
                                    <a:solidFill>
                                      <a:schemeClr val="tx1"/>
                                    </a:solidFill>
                                    <a:latin typeface="Cambria Math" panose="02040503050406030204" pitchFamily="18" charset="0"/>
                                  </a:rPr>
                                  <m:t>𝑖</m:t>
                                </m:r>
                              </m:e>
                              <m:sup>
                                <m:r>
                                  <a:rPr lang="en-US" altLang="zh-CN" sz="2800" b="0" i="1" dirty="0" smtClean="0">
                                    <a:solidFill>
                                      <a:schemeClr val="tx1"/>
                                    </a:solidFill>
                                    <a:latin typeface="Cambria Math" panose="02040503050406030204" pitchFamily="18" charset="0"/>
                                  </a:rPr>
                                  <m:t>′</m:t>
                                </m:r>
                              </m:sup>
                            </m:sSup>
                          </m:sub>
                          <m:sup>
                            <m:r>
                              <a:rPr lang="en-US" altLang="zh-CN" sz="2800" b="0" i="1" dirty="0" smtClean="0">
                                <a:solidFill>
                                  <a:schemeClr val="tx1"/>
                                </a:solidFill>
                                <a:latin typeface="Cambria Math" panose="02040503050406030204" pitchFamily="18" charset="0"/>
                              </a:rPr>
                              <m:t>′</m:t>
                            </m:r>
                          </m:sup>
                          <m:e>
                            <m:f>
                              <m:fPr>
                                <m:ctrlPr>
                                  <a:rPr lang="en-US" altLang="zh-CN" sz="2800" b="0" i="1" dirty="0" smtClean="0">
                                    <a:solidFill>
                                      <a:schemeClr val="tx1"/>
                                    </a:solidFill>
                                    <a:latin typeface="Cambria Math" panose="02040503050406030204" pitchFamily="18" charset="0"/>
                                  </a:rPr>
                                </m:ctrlPr>
                              </m:fPr>
                              <m:num>
                                <m:sSup>
                                  <m:sSupPr>
                                    <m:ctrlPr>
                                      <a:rPr lang="en-US" altLang="zh-CN" sz="2800" b="0" i="1" dirty="0" smtClean="0">
                                        <a:solidFill>
                                          <a:schemeClr val="tx1"/>
                                        </a:solidFill>
                                        <a:latin typeface="Cambria Math" panose="02040503050406030204" pitchFamily="18" charset="0"/>
                                      </a:rPr>
                                    </m:ctrlPr>
                                  </m:sSupPr>
                                  <m:e>
                                    <m:r>
                                      <a:rPr lang="en-US" altLang="zh-CN" sz="2800" b="0" i="1" dirty="0" smtClean="0">
                                        <a:solidFill>
                                          <a:schemeClr val="tx1"/>
                                        </a:solidFill>
                                        <a:latin typeface="Cambria Math" panose="02040503050406030204" pitchFamily="18" charset="0"/>
                                      </a:rPr>
                                      <m:t>𝑒</m:t>
                                    </m:r>
                                  </m:e>
                                  <m:sup>
                                    <m:r>
                                      <a:rPr lang="en-US" altLang="zh-CN" sz="2800" b="0" i="1" dirty="0" smtClean="0">
                                        <a:solidFill>
                                          <a:schemeClr val="tx1"/>
                                        </a:solidFill>
                                        <a:latin typeface="Cambria Math" panose="02040503050406030204" pitchFamily="18" charset="0"/>
                                      </a:rPr>
                                      <m:t>2</m:t>
                                    </m:r>
                                  </m:sup>
                                </m:sSup>
                              </m:num>
                              <m:den>
                                <m:r>
                                  <a:rPr lang="en-US" altLang="zh-CN" sz="2800" b="0" i="1" dirty="0" smtClean="0">
                                    <a:solidFill>
                                      <a:schemeClr val="tx1"/>
                                    </a:solidFill>
                                    <a:latin typeface="Cambria Math" panose="02040503050406030204" pitchFamily="18" charset="0"/>
                                  </a:rPr>
                                  <m:t>|</m:t>
                                </m:r>
                                <m:sSub>
                                  <m:sSubPr>
                                    <m:ctrlPr>
                                      <a:rPr lang="en-US" altLang="zh-CN" sz="2800" b="0" i="1" dirty="0" smtClean="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𝒓</m:t>
                                    </m:r>
                                  </m:e>
                                  <m:sub>
                                    <m:r>
                                      <a:rPr lang="en-US" altLang="zh-CN" sz="2800" b="0" i="1" dirty="0" smtClean="0">
                                        <a:solidFill>
                                          <a:schemeClr val="tx1"/>
                                        </a:solidFill>
                                        <a:latin typeface="Cambria Math" panose="02040503050406030204" pitchFamily="18" charset="0"/>
                                      </a:rPr>
                                      <m:t>𝑖</m:t>
                                    </m:r>
                                  </m:sub>
                                </m:sSub>
                                <m:r>
                                  <a:rPr lang="en-US" altLang="zh-CN" sz="2800" b="0" i="1"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sSup>
                                      <m:sSupPr>
                                        <m:ctrlPr>
                                          <a:rPr lang="en-US" altLang="zh-CN" sz="2800" b="0" i="1" dirty="0" smtClean="0">
                                            <a:solidFill>
                                              <a:schemeClr val="tx1"/>
                                            </a:solidFill>
                                            <a:latin typeface="Cambria Math" panose="02040503050406030204" pitchFamily="18" charset="0"/>
                                          </a:rPr>
                                        </m:ctrlPr>
                                      </m:sSupPr>
                                      <m:e>
                                        <m:r>
                                          <a:rPr lang="en-US" altLang="zh-CN" sz="2800" b="0" i="1" dirty="0" smtClean="0">
                                            <a:solidFill>
                                              <a:schemeClr val="tx1"/>
                                            </a:solidFill>
                                            <a:latin typeface="Cambria Math" panose="02040503050406030204" pitchFamily="18" charset="0"/>
                                          </a:rPr>
                                          <m:t>𝑖</m:t>
                                        </m:r>
                                      </m:e>
                                      <m:sup>
                                        <m:r>
                                          <a:rPr lang="en-US" altLang="zh-CN" sz="2800" b="0" i="1" dirty="0" smtClean="0">
                                            <a:solidFill>
                                              <a:schemeClr val="tx1"/>
                                            </a:solidFill>
                                            <a:latin typeface="Cambria Math" panose="02040503050406030204" pitchFamily="18" charset="0"/>
                                          </a:rPr>
                                          <m:t>′</m:t>
                                        </m:r>
                                      </m:sup>
                                    </m:sSup>
                                  </m:sub>
                                </m:sSub>
                                <m:r>
                                  <a:rPr lang="en-US" altLang="zh-CN" sz="2800" b="0" i="1" dirty="0" smtClean="0">
                                    <a:solidFill>
                                      <a:schemeClr val="tx1"/>
                                    </a:solidFill>
                                    <a:latin typeface="Cambria Math" panose="02040503050406030204" pitchFamily="18" charset="0"/>
                                  </a:rPr>
                                  <m:t>|</m:t>
                                </m:r>
                              </m:den>
                            </m:f>
                          </m:e>
                        </m:nary>
                      </m:e>
                    </m:nary>
                  </m:oMath>
                </a14:m>
                <a:endParaRPr lang="en-US" altLang="zh-CN" sz="2800" dirty="0">
                  <a:solidFill>
                    <a:schemeClr val="tx1"/>
                  </a:solidFill>
                </a:endParaRPr>
              </a:p>
              <a:p>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b="0" i="1" dirty="0" smtClean="0">
                            <a:solidFill>
                              <a:schemeClr val="tx1"/>
                            </a:solidFill>
                            <a:latin typeface="Cambria Math" panose="02040503050406030204" pitchFamily="18" charset="0"/>
                          </a:rPr>
                          <m:t>𝑖</m:t>
                        </m:r>
                      </m:sub>
                    </m:sSub>
                    <m:r>
                      <a:rPr lang="en-US" altLang="zh-CN" sz="2800" i="1" dirty="0">
                        <a:solidFill>
                          <a:schemeClr val="tx1"/>
                        </a:solidFill>
                        <a:latin typeface="Cambria Math" panose="02040503050406030204" pitchFamily="18" charset="0"/>
                      </a:rPr>
                      <m:t>=</m:t>
                    </m:r>
                    <m:nary>
                      <m:naryPr>
                        <m:chr m:val="∑"/>
                        <m:supHide m:val="on"/>
                        <m:ctrlPr>
                          <a:rPr lang="en-US" altLang="zh-CN" sz="2800" i="1" dirty="0">
                            <a:solidFill>
                              <a:schemeClr val="tx1"/>
                            </a:solidFill>
                            <a:latin typeface="Cambria Math" panose="02040503050406030204" pitchFamily="18" charset="0"/>
                          </a:rPr>
                        </m:ctrlPr>
                      </m:naryPr>
                      <m:sub>
                        <m:r>
                          <m:rPr>
                            <m:brk m:alnAt="7"/>
                          </m:rPr>
                          <a:rPr lang="en-US" altLang="zh-CN" sz="2800" b="0" i="1" dirty="0" smtClean="0">
                            <a:solidFill>
                              <a:schemeClr val="tx1"/>
                            </a:solidFill>
                            <a:latin typeface="Cambria Math" panose="02040503050406030204" pitchFamily="18" charset="0"/>
                          </a:rPr>
                          <m:t>𝑗</m:t>
                        </m:r>
                      </m:sub>
                      <m:sup/>
                      <m:e>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ħ</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2</m:t>
                            </m:r>
                            <m:r>
                              <a:rPr lang="en-US" altLang="zh-CN" sz="2800" b="0" i="1" dirty="0" smtClean="0">
                                <a:solidFill>
                                  <a:schemeClr val="tx1"/>
                                </a:solidFill>
                                <a:latin typeface="Cambria Math" panose="02040503050406030204" pitchFamily="18" charset="0"/>
                              </a:rPr>
                              <m:t>𝑀</m:t>
                            </m:r>
                          </m:den>
                        </m:f>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𝑖</m:t>
                            </m:r>
                            <m:sSubSup>
                              <m:sSubSupPr>
                                <m:ctrlPr>
                                  <a:rPr lang="en-US" altLang="zh-CN" sz="2800" i="1" dirty="0">
                                    <a:solidFill>
                                      <a:schemeClr val="tx1"/>
                                    </a:solidFill>
                                    <a:latin typeface="Cambria Math" panose="02040503050406030204" pitchFamily="18" charset="0"/>
                                  </a:rPr>
                                </m:ctrlPr>
                              </m:sSubSupPr>
                              <m:e>
                                <m:r>
                                  <a:rPr lang="en-US" altLang="zh-CN" sz="2800" i="1" dirty="0">
                                    <a:solidFill>
                                      <a:schemeClr val="tx1"/>
                                    </a:solidFill>
                                    <a:latin typeface="Cambria Math" panose="02040503050406030204" pitchFamily="18" charset="0"/>
                                    <a:ea typeface="Cambria Math" panose="02040503050406030204" pitchFamily="18" charset="0"/>
                                  </a:rPr>
                                  <m:t>𝛻</m:t>
                                </m:r>
                              </m:e>
                              <m:sub>
                                <m:r>
                                  <a:rPr lang="en-US" altLang="zh-CN" sz="2800" b="0" i="1" dirty="0" smtClean="0">
                                    <a:solidFill>
                                      <a:schemeClr val="tx1"/>
                                    </a:solidFill>
                                    <a:latin typeface="Cambria Math" panose="02040503050406030204" pitchFamily="18" charset="0"/>
                                    <a:ea typeface="Cambria Math" panose="02040503050406030204" pitchFamily="18" charset="0"/>
                                  </a:rPr>
                                  <m:t>𝑗</m:t>
                                </m:r>
                              </m:sub>
                              <m:sup>
                                <m:r>
                                  <a:rPr lang="en-US" altLang="zh-CN" sz="2800" i="1" dirty="0">
                                    <a:solidFill>
                                      <a:schemeClr val="tx1"/>
                                    </a:solidFill>
                                    <a:latin typeface="Cambria Math" panose="02040503050406030204" pitchFamily="18" charset="0"/>
                                  </a:rPr>
                                  <m:t> </m:t>
                                </m:r>
                              </m:sup>
                            </m:sSubSup>
                            <m:r>
                              <a:rPr lang="en-US" altLang="zh-CN" sz="2800" i="1" dirty="0">
                                <a:solidFill>
                                  <a:schemeClr val="tx1"/>
                                </a:solidFill>
                                <a:latin typeface="Cambria Math" panose="02040503050406030204" pitchFamily="18" charset="0"/>
                              </a:rPr>
                              <m:t>)</m:t>
                            </m:r>
                          </m:e>
                          <m:sup>
                            <m:r>
                              <a:rPr lang="en-US" altLang="zh-CN" sz="2800" i="1" dirty="0">
                                <a:solidFill>
                                  <a:schemeClr val="tx1"/>
                                </a:solidFill>
                                <a:latin typeface="Cambria Math" panose="02040503050406030204" pitchFamily="18" charset="0"/>
                              </a:rPr>
                              <m:t>2</m:t>
                            </m:r>
                          </m:sup>
                        </m:sSup>
                        <m:r>
                          <a:rPr lang="en-US" altLang="zh-CN" sz="2800" i="1" dirty="0">
                            <a:solidFill>
                              <a:schemeClr val="tx1"/>
                            </a:solidFill>
                            <a:latin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b="0" i="1" dirty="0" smtClean="0">
                                    <a:solidFill>
                                      <a:schemeClr val="tx1"/>
                                    </a:solidFill>
                                    <a:latin typeface="Cambria Math" panose="02040503050406030204" pitchFamily="18" charset="0"/>
                                  </a:rPr>
                                  <m:t>𝑛</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8</m:t>
                            </m:r>
                            <m:r>
                              <a:rPr lang="zh-CN" altLang="en-US" sz="2800" i="1" dirty="0">
                                <a:solidFill>
                                  <a:schemeClr val="tx1"/>
                                </a:solidFill>
                                <a:latin typeface="Cambria Math" panose="02040503050406030204" pitchFamily="18" charset="0"/>
                              </a:rPr>
                              <m:t>𝜋</m:t>
                            </m:r>
                            <m:sSub>
                              <m:sSubPr>
                                <m:ctrlPr>
                                  <a:rPr lang="en-US" altLang="zh-CN" sz="2800" i="1" dirty="0">
                                    <a:solidFill>
                                      <a:schemeClr val="tx1"/>
                                    </a:solidFill>
                                    <a:latin typeface="Cambria Math" panose="02040503050406030204" pitchFamily="18" charset="0"/>
                                  </a:rPr>
                                </m:ctrlPr>
                              </m:sSubPr>
                              <m:e>
                                <m:r>
                                  <a:rPr lang="zh-CN" altLang="en-US" sz="2800" i="1" dirty="0">
                                    <a:solidFill>
                                      <a:schemeClr val="tx1"/>
                                    </a:solidFill>
                                    <a:latin typeface="Cambria Math" panose="02040503050406030204" pitchFamily="18" charset="0"/>
                                  </a:rPr>
                                  <m:t>𝜖</m:t>
                                </m:r>
                              </m:e>
                              <m:sub>
                                <m:r>
                                  <a:rPr lang="en-US" altLang="zh-CN" sz="2800" i="1" dirty="0">
                                    <a:solidFill>
                                      <a:schemeClr val="tx1"/>
                                    </a:solidFill>
                                    <a:latin typeface="Cambria Math" panose="02040503050406030204" pitchFamily="18" charset="0"/>
                                  </a:rPr>
                                  <m:t>0</m:t>
                                </m:r>
                              </m:sub>
                            </m:sSub>
                          </m:den>
                        </m:f>
                        <m:nary>
                          <m:naryPr>
                            <m:chr m:val="∑"/>
                            <m:ctrlPr>
                              <a:rPr lang="en-US" altLang="zh-CN" sz="2800" i="1" dirty="0">
                                <a:solidFill>
                                  <a:schemeClr val="tx1"/>
                                </a:solidFill>
                                <a:latin typeface="Cambria Math" panose="02040503050406030204" pitchFamily="18" charset="0"/>
                              </a:rPr>
                            </m:ctrlPr>
                          </m:naryPr>
                          <m:sub>
                            <m:r>
                              <a:rPr lang="en-US" altLang="zh-CN" sz="2800" b="0" i="1" dirty="0" smtClean="0">
                                <a:solidFill>
                                  <a:schemeClr val="tx1"/>
                                </a:solidFill>
                                <a:latin typeface="Cambria Math" panose="02040503050406030204" pitchFamily="18" charset="0"/>
                              </a:rPr>
                              <m:t>𝑗</m:t>
                            </m:r>
                            <m:r>
                              <a:rPr lang="en-US" altLang="zh-CN" sz="2800" i="1" dirty="0">
                                <a:solidFill>
                                  <a:schemeClr val="tx1"/>
                                </a:solidFill>
                                <a:latin typeface="Cambria Math" panose="02040503050406030204" pitchFamily="18" charset="0"/>
                              </a:rPr>
                              <m:t>,</m:t>
                            </m:r>
                            <m:sSup>
                              <m:sSupPr>
                                <m:ctrlPr>
                                  <a:rPr lang="en-US" altLang="zh-CN" sz="2800" i="1" dirty="0">
                                    <a:solidFill>
                                      <a:schemeClr val="tx1"/>
                                    </a:solidFill>
                                    <a:latin typeface="Cambria Math" panose="02040503050406030204" pitchFamily="18" charset="0"/>
                                  </a:rPr>
                                </m:ctrlPr>
                              </m:sSupPr>
                              <m:e>
                                <m:r>
                                  <a:rPr lang="en-US" altLang="zh-CN" sz="2800" b="0" i="1" dirty="0" smtClean="0">
                                    <a:solidFill>
                                      <a:schemeClr val="tx1"/>
                                    </a:solidFill>
                                    <a:latin typeface="Cambria Math" panose="02040503050406030204" pitchFamily="18" charset="0"/>
                                  </a:rPr>
                                  <m:t>𝑗</m:t>
                                </m:r>
                              </m:e>
                              <m:sup>
                                <m:r>
                                  <a:rPr lang="en-US" altLang="zh-CN" sz="2800" i="1" dirty="0">
                                    <a:solidFill>
                                      <a:schemeClr val="tx1"/>
                                    </a:solidFill>
                                    <a:latin typeface="Cambria Math" panose="02040503050406030204" pitchFamily="18" charset="0"/>
                                  </a:rPr>
                                  <m:t>′</m:t>
                                </m:r>
                              </m:sup>
                            </m:sSup>
                          </m:sub>
                          <m:sup>
                            <m:r>
                              <a:rPr lang="en-US" altLang="zh-CN" sz="2800" i="1" dirty="0">
                                <a:solidFill>
                                  <a:schemeClr val="tx1"/>
                                </a:solidFill>
                                <a:latin typeface="Cambria Math" panose="02040503050406030204" pitchFamily="18" charset="0"/>
                              </a:rPr>
                              <m:t>′</m:t>
                            </m:r>
                          </m:sup>
                          <m:e>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𝑒</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𝑹</m:t>
                                    </m:r>
                                  </m:e>
                                  <m:sub>
                                    <m:r>
                                      <a:rPr lang="en-US" altLang="zh-CN" sz="2800" b="0" i="1" dirty="0" smtClean="0">
                                        <a:solidFill>
                                          <a:schemeClr val="tx1"/>
                                        </a:solidFill>
                                        <a:latin typeface="Cambria Math" panose="02040503050406030204" pitchFamily="18" charset="0"/>
                                      </a:rPr>
                                      <m:t>𝑗</m:t>
                                    </m:r>
                                  </m:sub>
                                </m:sSub>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𝑹</m:t>
                                    </m:r>
                                  </m:e>
                                  <m:sub>
                                    <m:sSup>
                                      <m:sSupPr>
                                        <m:ctrlPr>
                                          <a:rPr lang="en-US" altLang="zh-CN" sz="2800" i="1" dirty="0">
                                            <a:solidFill>
                                              <a:schemeClr val="tx1"/>
                                            </a:solidFill>
                                            <a:latin typeface="Cambria Math" panose="02040503050406030204" pitchFamily="18" charset="0"/>
                                          </a:rPr>
                                        </m:ctrlPr>
                                      </m:sSupPr>
                                      <m:e>
                                        <m:r>
                                          <a:rPr lang="en-US" altLang="zh-CN" sz="2800" b="0" i="1" dirty="0" smtClean="0">
                                            <a:solidFill>
                                              <a:schemeClr val="tx1"/>
                                            </a:solidFill>
                                            <a:latin typeface="Cambria Math" panose="02040503050406030204" pitchFamily="18" charset="0"/>
                                          </a:rPr>
                                          <m:t>𝑗</m:t>
                                        </m:r>
                                      </m:e>
                                      <m:sup>
                                        <m:r>
                                          <a:rPr lang="en-US" altLang="zh-CN" sz="2800" i="1" dirty="0">
                                            <a:solidFill>
                                              <a:schemeClr val="tx1"/>
                                            </a:solidFill>
                                            <a:latin typeface="Cambria Math" panose="02040503050406030204" pitchFamily="18" charset="0"/>
                                          </a:rPr>
                                          <m:t>′</m:t>
                                        </m:r>
                                      </m:sup>
                                    </m:sSup>
                                  </m:sub>
                                </m:sSub>
                                <m:r>
                                  <a:rPr lang="en-US" altLang="zh-CN" sz="2800" i="1" dirty="0">
                                    <a:solidFill>
                                      <a:schemeClr val="tx1"/>
                                    </a:solidFill>
                                    <a:latin typeface="Cambria Math" panose="02040503050406030204" pitchFamily="18" charset="0"/>
                                  </a:rPr>
                                  <m:t>|</m:t>
                                </m:r>
                              </m:den>
                            </m:f>
                          </m:e>
                        </m:nary>
                      </m:e>
                    </m:nary>
                  </m:oMath>
                </a14:m>
                <a:r>
                  <a:rPr lang="en-US" altLang="zh-CN" sz="2800" dirty="0">
                    <a:solidFill>
                      <a:schemeClr val="tx1"/>
                    </a:solidFill>
                  </a:rPr>
                  <a:t>	(</a:t>
                </a:r>
                <a:r>
                  <a:rPr lang="zh-CN" altLang="en-US" sz="2800" dirty="0">
                    <a:solidFill>
                      <a:schemeClr val="tx1"/>
                    </a:solidFill>
                  </a:rPr>
                  <a:t>简单格子</a:t>
                </a:r>
                <a:r>
                  <a:rPr lang="en-US" altLang="zh-CN" sz="2800" dirty="0">
                    <a:solidFill>
                      <a:schemeClr val="tx1"/>
                    </a:solidFill>
                  </a:rPr>
                  <a:t>)</a:t>
                </a:r>
              </a:p>
              <a:p>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i="1" dirty="0">
                            <a:solidFill>
                              <a:schemeClr val="tx1"/>
                            </a:solidFill>
                            <a:latin typeface="Cambria Math" panose="02040503050406030204" pitchFamily="18" charset="0"/>
                          </a:rPr>
                          <m:t>𝑒</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𝑖</m:t>
                        </m:r>
                      </m:sub>
                    </m:sSub>
                    <m:r>
                      <a:rPr lang="en-US" altLang="zh-CN" sz="2800" b="0" i="1" dirty="0" smtClean="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r>
                          <a:rPr lang="en-US" altLang="zh-CN" sz="2800" b="0" i="1" dirty="0" smtClean="0">
                            <a:solidFill>
                              <a:schemeClr val="tx1"/>
                            </a:solidFill>
                            <a:latin typeface="Cambria Math" panose="02040503050406030204" pitchFamily="18" charset="0"/>
                          </a:rPr>
                          <m:t>𝑛</m:t>
                        </m:r>
                      </m:num>
                      <m:den>
                        <m:r>
                          <a:rPr lang="en-US" altLang="zh-CN" sz="2800" b="0" i="1" dirty="0" smtClean="0">
                            <a:solidFill>
                              <a:schemeClr val="tx1"/>
                            </a:solidFill>
                            <a:latin typeface="Cambria Math" panose="02040503050406030204" pitchFamily="18" charset="0"/>
                          </a:rPr>
                          <m:t>4</m:t>
                        </m:r>
                        <m:r>
                          <a:rPr lang="zh-CN" altLang="en-US" sz="2800" i="1" dirty="0">
                            <a:solidFill>
                              <a:schemeClr val="tx1"/>
                            </a:solidFill>
                            <a:latin typeface="Cambria Math" panose="02040503050406030204" pitchFamily="18" charset="0"/>
                          </a:rPr>
                          <m:t>𝜋</m:t>
                        </m:r>
                        <m:sSub>
                          <m:sSubPr>
                            <m:ctrlPr>
                              <a:rPr lang="en-US" altLang="zh-CN" sz="2800" i="1" dirty="0">
                                <a:solidFill>
                                  <a:schemeClr val="tx1"/>
                                </a:solidFill>
                                <a:latin typeface="Cambria Math" panose="02040503050406030204" pitchFamily="18" charset="0"/>
                              </a:rPr>
                            </m:ctrlPr>
                          </m:sSubPr>
                          <m:e>
                            <m:r>
                              <a:rPr lang="zh-CN" altLang="en-US" sz="2800" i="1" dirty="0">
                                <a:solidFill>
                                  <a:schemeClr val="tx1"/>
                                </a:solidFill>
                                <a:latin typeface="Cambria Math" panose="02040503050406030204" pitchFamily="18" charset="0"/>
                              </a:rPr>
                              <m:t>𝜖</m:t>
                            </m:r>
                          </m:e>
                          <m:sub>
                            <m:r>
                              <a:rPr lang="en-US" altLang="zh-CN" sz="2800" i="1" dirty="0">
                                <a:solidFill>
                                  <a:schemeClr val="tx1"/>
                                </a:solidFill>
                                <a:latin typeface="Cambria Math" panose="02040503050406030204" pitchFamily="18" charset="0"/>
                              </a:rPr>
                              <m:t>0</m:t>
                            </m:r>
                          </m:sub>
                        </m:sSub>
                      </m:den>
                    </m:f>
                    <m:nary>
                      <m:naryPr>
                        <m:chr m:val="∑"/>
                        <m:supHide m:val="on"/>
                        <m:ctrlPr>
                          <a:rPr lang="en-US" altLang="zh-CN" sz="2800" i="1" dirty="0">
                            <a:solidFill>
                              <a:schemeClr val="tx1"/>
                            </a:solidFill>
                            <a:latin typeface="Cambria Math" panose="02040503050406030204" pitchFamily="18" charset="0"/>
                          </a:rPr>
                        </m:ctrlPr>
                      </m:naryPr>
                      <m:sub>
                        <m:r>
                          <a:rPr lang="en-US" altLang="zh-CN" sz="2800" b="0" i="1" dirty="0" smtClean="0">
                            <a:solidFill>
                              <a:schemeClr val="tx1"/>
                            </a:solidFill>
                            <a:latin typeface="Cambria Math" panose="02040503050406030204" pitchFamily="18" charset="0"/>
                          </a:rPr>
                          <m:t>𝑖</m:t>
                        </m:r>
                        <m:r>
                          <a:rPr lang="en-US" altLang="zh-CN" sz="2800" i="1" dirty="0">
                            <a:solidFill>
                              <a:schemeClr val="tx1"/>
                            </a:solidFill>
                            <a:latin typeface="Cambria Math" panose="02040503050406030204" pitchFamily="18" charset="0"/>
                          </a:rPr>
                          <m:t>,</m:t>
                        </m:r>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𝑗</m:t>
                            </m:r>
                          </m:e>
                          <m:sup>
                            <m:r>
                              <a:rPr lang="en-US" altLang="zh-CN" sz="2800" b="0" i="1" dirty="0" smtClean="0">
                                <a:solidFill>
                                  <a:schemeClr val="tx1"/>
                                </a:solidFill>
                                <a:latin typeface="Cambria Math" panose="02040503050406030204" pitchFamily="18" charset="0"/>
                              </a:rPr>
                              <m:t> </m:t>
                            </m:r>
                          </m:sup>
                        </m:sSup>
                      </m:sub>
                      <m:sup/>
                      <m:e>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𝑒</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𝒓</m:t>
                                </m:r>
                              </m:e>
                              <m:sub>
                                <m:r>
                                  <a:rPr lang="en-US" altLang="zh-CN" sz="2800" b="0" i="1" dirty="0" smtClean="0">
                                    <a:solidFill>
                                      <a:schemeClr val="tx1"/>
                                    </a:solidFill>
                                    <a:latin typeface="Cambria Math" panose="02040503050406030204" pitchFamily="18" charset="0"/>
                                  </a:rPr>
                                  <m:t>𝑖</m:t>
                                </m:r>
                              </m:sub>
                            </m:sSub>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𝑹</m:t>
                                </m:r>
                              </m:e>
                              <m:sub>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𝑗</m:t>
                                    </m:r>
                                  </m:e>
                                  <m:sup>
                                    <m:r>
                                      <a:rPr lang="en-US" altLang="zh-CN" sz="2800" b="0" i="1" dirty="0" smtClean="0">
                                        <a:solidFill>
                                          <a:schemeClr val="tx1"/>
                                        </a:solidFill>
                                        <a:latin typeface="Cambria Math" panose="02040503050406030204" pitchFamily="18" charset="0"/>
                                      </a:rPr>
                                      <m:t> </m:t>
                                    </m:r>
                                  </m:sup>
                                </m:sSup>
                              </m:sub>
                            </m:sSub>
                            <m:r>
                              <a:rPr lang="en-US" altLang="zh-CN" sz="2800" i="1" dirty="0">
                                <a:solidFill>
                                  <a:schemeClr val="tx1"/>
                                </a:solidFill>
                                <a:latin typeface="Cambria Math" panose="02040503050406030204" pitchFamily="18" charset="0"/>
                              </a:rPr>
                              <m:t>|</m:t>
                            </m:r>
                          </m:den>
                        </m:f>
                      </m:e>
                    </m:nary>
                  </m:oMath>
                </a14:m>
                <a:endParaRPr lang="en-US" altLang="zh-CN" sz="2800" dirty="0">
                  <a:solidFill>
                    <a:schemeClr val="tx1"/>
                  </a:solidFill>
                </a:endParaRPr>
              </a:p>
              <a:p>
                <a:r>
                  <a:rPr lang="zh-CN" altLang="en-US" sz="2800" dirty="0">
                    <a:solidFill>
                      <a:schemeClr val="tx1"/>
                    </a:solidFill>
                  </a:rPr>
                  <a:t>薛定谔方程：</a:t>
                </a:r>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rPr>
                      <m:t>𝐻</m:t>
                    </m:r>
                    <m:r>
                      <a:rPr lang="en-US" altLang="zh-CN" sz="2800" i="1" dirty="0" smtClean="0">
                        <a:solidFill>
                          <a:schemeClr val="tx1"/>
                        </a:solidFill>
                        <a:latin typeface="Cambria Math" panose="02040503050406030204" pitchFamily="18" charset="0"/>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r>
                      <a:rPr lang="en-US" altLang="zh-CN" sz="2800" b="0" i="1" dirty="0" smtClean="0">
                        <a:solidFill>
                          <a:schemeClr val="tx1"/>
                        </a:solidFill>
                        <a:latin typeface="Cambria Math" panose="02040503050406030204" pitchFamily="18" charset="0"/>
                        <a:sym typeface="Symbol" panose="05050102010706020507" pitchFamily="18" charset="2"/>
                      </a:rPr>
                      <m:t>𝐸</m:t>
                    </m:r>
                    <m:r>
                      <a:rPr lang="en-US" altLang="zh-CN" sz="2800" i="1" dirty="0" smtClean="0">
                        <a:solidFill>
                          <a:schemeClr val="tx1"/>
                        </a:solidFill>
                        <a:latin typeface="Cambria Math" panose="02040503050406030204" pitchFamily="18" charset="0"/>
                        <a:sym typeface="Symbol" panose="05050102010706020507" pitchFamily="18" charset="2"/>
                      </a:rPr>
                      <m:t></m:t>
                    </m:r>
                  </m:oMath>
                </a14:m>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m:t>
                    </m:r>
                    <m:r>
                      <a:rPr lang="en-US" altLang="zh-CN" sz="2800" b="0" i="1" dirty="0" smtClean="0">
                        <a:solidFill>
                          <a:schemeClr val="tx1"/>
                        </a:solidFill>
                        <a:latin typeface="Cambria Math" panose="02040503050406030204" pitchFamily="18" charset="0"/>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r>
                      <a:rPr lang="en-US" altLang="zh-CN" sz="2800" b="0" i="1" dirty="0" smtClean="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b="0" i="1" dirty="0" smtClean="0">
                            <a:solidFill>
                              <a:schemeClr val="tx1"/>
                            </a:solidFill>
                            <a:latin typeface="Cambria Math" panose="02040503050406030204" pitchFamily="18" charset="0"/>
                          </a:rPr>
                          <m:t>1</m:t>
                        </m:r>
                      </m:sub>
                    </m:sSub>
                    <m:r>
                      <a:rPr lang="en-US" altLang="zh-CN" sz="2800" b="0" i="1"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b="0" i="1" dirty="0" smtClean="0">
                            <a:solidFill>
                              <a:schemeClr val="tx1"/>
                            </a:solidFill>
                            <a:latin typeface="Cambria Math" panose="02040503050406030204" pitchFamily="18" charset="0"/>
                          </a:rPr>
                          <m:t>2</m:t>
                        </m:r>
                      </m:sub>
                    </m:sSub>
                    <m:r>
                      <a:rPr lang="en-US" altLang="zh-CN" sz="2800" b="0" i="1" dirty="0" smtClean="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ea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𝑖</m:t>
                        </m:r>
                      </m:sub>
                    </m:sSub>
                    <m:r>
                      <a:rPr lang="en-US" altLang="zh-CN" sz="2800" i="1" dirty="0" smtClean="0">
                        <a:solidFill>
                          <a:schemeClr val="tx1"/>
                        </a:solidFill>
                        <a:latin typeface="Cambria Math" panose="02040503050406030204" pitchFamily="18" charset="0"/>
                        <a:ea typeface="Cambria Math" panose="02040503050406030204" pitchFamily="18" charset="0"/>
                      </a:rPr>
                      <m:t>⋯</m:t>
                    </m:r>
                    <m:r>
                      <a:rPr lang="en-US" altLang="zh-CN" sz="2800" b="0" i="1" dirty="0" smtClean="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𝑹</m:t>
                        </m:r>
                      </m:e>
                      <m:sub>
                        <m:r>
                          <a:rPr lang="en-US" altLang="zh-CN" sz="2800" i="1" dirty="0">
                            <a:solidFill>
                              <a:schemeClr val="tx1"/>
                            </a:solidFill>
                            <a:latin typeface="Cambria Math" panose="02040503050406030204" pitchFamily="18" charset="0"/>
                          </a:rPr>
                          <m:t>1</m:t>
                        </m:r>
                      </m:sub>
                    </m:sSub>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𝑹</m:t>
                        </m:r>
                      </m:e>
                      <m:sub>
                        <m:r>
                          <a:rPr lang="en-US" altLang="zh-CN" sz="2800" i="1" dirty="0">
                            <a:solidFill>
                              <a:schemeClr val="tx1"/>
                            </a:solidFill>
                            <a:latin typeface="Cambria Math" panose="02040503050406030204" pitchFamily="18" charset="0"/>
                          </a:rPr>
                          <m:t>2</m:t>
                        </m:r>
                      </m:sub>
                    </m:sSub>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ea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𝑹</m:t>
                        </m:r>
                      </m:e>
                      <m:sub>
                        <m:r>
                          <a:rPr lang="en-US" altLang="zh-CN" sz="2800" b="0" i="1" dirty="0" smtClean="0">
                            <a:solidFill>
                              <a:schemeClr val="tx1"/>
                            </a:solidFill>
                            <a:latin typeface="Cambria Math" panose="02040503050406030204" pitchFamily="18" charset="0"/>
                          </a:rPr>
                          <m:t>𝑗</m:t>
                        </m:r>
                      </m:sub>
                    </m:sSub>
                    <m:r>
                      <a:rPr lang="en-US" altLang="zh-CN" sz="2800" i="1" dirty="0">
                        <a:solidFill>
                          <a:schemeClr val="tx1"/>
                        </a:solidFill>
                        <a:latin typeface="Cambria Math" panose="02040503050406030204" pitchFamily="18" charset="0"/>
                        <a:ea typeface="Cambria Math" panose="02040503050406030204" pitchFamily="18" charset="0"/>
                      </a:rPr>
                      <m:t>⋯</m:t>
                    </m:r>
                    <m:r>
                      <a:rPr lang="en-US" altLang="zh-CN" sz="2800" b="0" i="1" dirty="0" smtClean="0">
                        <a:solidFill>
                          <a:schemeClr val="tx1"/>
                        </a:solidFill>
                        <a:latin typeface="Cambria Math" panose="02040503050406030204" pitchFamily="18" charset="0"/>
                        <a:sym typeface="Symbol" panose="05050102010706020507" pitchFamily="18" charset="2"/>
                      </a:rPr>
                      <m:t>)</m:t>
                    </m:r>
                  </m:oMath>
                </a14:m>
                <a:r>
                  <a:rPr lang="zh-CN" altLang="en-US" sz="2800" dirty="0">
                    <a:solidFill>
                      <a:schemeClr val="tx1"/>
                    </a:solidFill>
                  </a:rPr>
                  <a:t> </a:t>
                </a:r>
                <a:endParaRPr lang="en-US" altLang="zh-CN" sz="2800" dirty="0">
                  <a:solidFill>
                    <a:schemeClr val="tx1"/>
                  </a:solidFill>
                </a:endParaRPr>
              </a:p>
              <a:p>
                <a:r>
                  <a:rPr lang="zh-CN" altLang="en-US" sz="2800" dirty="0">
                    <a:solidFill>
                      <a:schemeClr val="tx1"/>
                    </a:solidFill>
                  </a:rPr>
                  <a:t>无法直接求解。需将</a:t>
                </a:r>
                <a14:m>
                  <m:oMath xmlns:m="http://schemas.openxmlformats.org/officeDocument/2006/math">
                    <m:r>
                      <a:rPr lang="en-US" altLang="zh-CN" sz="2800" b="0" i="1" dirty="0">
                        <a:solidFill>
                          <a:schemeClr val="tx1"/>
                        </a:solidFill>
                        <a:latin typeface="Cambria Math" panose="02040503050406030204" pitchFamily="18" charset="0"/>
                      </a:rPr>
                      <m:t>𝐻</m:t>
                    </m:r>
                  </m:oMath>
                </a14:m>
                <a:r>
                  <a:rPr lang="zh-CN" altLang="en-US" sz="2800" dirty="0">
                    <a:solidFill>
                      <a:schemeClr val="tx1"/>
                    </a:solidFill>
                  </a:rPr>
                  <a:t>取近似。</a:t>
                </a:r>
                <a:endParaRPr lang="en-US" altLang="zh-CN" sz="2800" dirty="0">
                  <a:solidFill>
                    <a:schemeClr val="tx1"/>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700599" y="3086838"/>
                <a:ext cx="10373360" cy="3772892"/>
              </a:xfrm>
              <a:prstGeom prst="rect">
                <a:avLst/>
              </a:prstGeom>
              <a:blipFill rotWithShape="1">
                <a:blip r:embed="rId4"/>
                <a:stretch>
                  <a:fillRect l="-1234" t="-1939" b="-3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985599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599387" y="1044637"/>
                <a:ext cx="3520145"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99387" y="1044637"/>
                <a:ext cx="3520145"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700599" y="1909963"/>
                <a:ext cx="10373360" cy="3600986"/>
              </a:xfrm>
              <a:prstGeom prst="rect">
                <a:avLst/>
              </a:prstGeom>
              <a:noFill/>
            </p:spPr>
            <p:txBody>
              <a:bodyPr wrap="square" rtlCol="0">
                <a:spAutoFit/>
              </a:bodyPr>
              <a:lstStyle/>
              <a:p>
                <a:r>
                  <a:rPr lang="en-US" altLang="zh-CN" sz="3200" b="1" dirty="0">
                    <a:solidFill>
                      <a:schemeClr val="tx1"/>
                    </a:solidFill>
                  </a:rPr>
                  <a:t>7.1.1 </a:t>
                </a:r>
                <a:r>
                  <a:rPr lang="zh-CN" altLang="en-US" sz="3200" b="1" dirty="0">
                    <a:solidFill>
                      <a:schemeClr val="tx1"/>
                    </a:solidFill>
                  </a:rPr>
                  <a:t>单电子近似</a:t>
                </a:r>
                <a:endParaRPr lang="en-US" altLang="zh-CN" sz="3200" b="1" dirty="0">
                  <a:solidFill>
                    <a:schemeClr val="tx1"/>
                  </a:solidFill>
                </a:endParaRPr>
              </a:p>
              <a:p>
                <a:endParaRPr lang="en-US" altLang="zh-CN" sz="2800" dirty="0">
                  <a:solidFill>
                    <a:schemeClr val="tx1"/>
                  </a:solidFill>
                </a:endParaRPr>
              </a:p>
              <a:p>
                <a:r>
                  <a:rPr lang="en-US" altLang="zh-CN" sz="2800" dirty="0">
                    <a:solidFill>
                      <a:schemeClr val="tx1"/>
                    </a:solidFill>
                  </a:rPr>
                  <a:t>1</a:t>
                </a:r>
                <a:r>
                  <a:rPr lang="zh-CN" altLang="en-US" sz="2800" dirty="0">
                    <a:solidFill>
                      <a:schemeClr val="tx1"/>
                    </a:solidFill>
                  </a:rPr>
                  <a:t>、绝热近似</a:t>
                </a:r>
                <a:endParaRPr lang="en-US" altLang="zh-CN" sz="2800" dirty="0">
                  <a:solidFill>
                    <a:schemeClr val="tx1"/>
                  </a:solidFill>
                </a:endParaRPr>
              </a:p>
              <a:p>
                <a:endParaRPr lang="en-US" altLang="zh-CN" sz="2800" dirty="0">
                  <a:solidFill>
                    <a:schemeClr val="tx1"/>
                  </a:solidFill>
                </a:endParaRPr>
              </a:p>
              <a:p>
                <a:r>
                  <a:rPr lang="zh-CN" altLang="en-US" sz="2800" dirty="0">
                    <a:solidFill>
                      <a:schemeClr val="tx1"/>
                    </a:solidFill>
                  </a:rPr>
                  <a:t>因为</a:t>
                </a:r>
                <a14:m>
                  <m:oMath xmlns:m="http://schemas.openxmlformats.org/officeDocument/2006/math">
                    <m:r>
                      <a:rPr lang="en-US" altLang="zh-CN" sz="2800" i="1" dirty="0">
                        <a:solidFill>
                          <a:schemeClr val="tx1"/>
                        </a:solidFill>
                        <a:latin typeface="Cambria Math" panose="02040503050406030204" pitchFamily="18" charset="0"/>
                      </a:rPr>
                      <m:t>𝑀</m:t>
                    </m:r>
                    <m:r>
                      <a:rPr lang="en-US" altLang="zh-CN" sz="2800" i="1" dirty="0" smtClean="0">
                        <a:solidFill>
                          <a:schemeClr val="tx1"/>
                        </a:solidFill>
                        <a:latin typeface="Cambria Math" panose="02040503050406030204" pitchFamily="18" charset="0"/>
                        <a:ea typeface="Cambria Math" panose="02040503050406030204" pitchFamily="18" charset="0"/>
                      </a:rPr>
                      <m:t>≫</m:t>
                    </m:r>
                    <m:r>
                      <a:rPr lang="en-US" altLang="zh-CN" sz="2800" b="0" i="1" dirty="0" smtClean="0">
                        <a:solidFill>
                          <a:schemeClr val="tx1"/>
                        </a:solidFill>
                        <a:latin typeface="Cambria Math" panose="02040503050406030204" pitchFamily="18" charset="0"/>
                        <a:ea typeface="Cambria Math" panose="02040503050406030204" pitchFamily="18" charset="0"/>
                      </a:rPr>
                      <m:t>𝑚</m:t>
                    </m:r>
                  </m:oMath>
                </a14:m>
                <a:r>
                  <a:rPr lang="zh-CN" altLang="en-US" sz="2800" dirty="0">
                    <a:solidFill>
                      <a:schemeClr val="tx1"/>
                    </a:solidFill>
                  </a:rPr>
                  <a:t>，电子的速度远大于原子核（离子）的速度</a:t>
                </a:r>
                <a:endParaRPr lang="en-US" altLang="zh-CN" sz="2800" dirty="0">
                  <a:solidFill>
                    <a:schemeClr val="tx1"/>
                  </a:solidFill>
                </a:endParaRPr>
              </a:p>
              <a:p>
                <a:r>
                  <a:rPr lang="zh-CN" altLang="en-US" sz="2800" dirty="0">
                    <a:solidFill>
                      <a:schemeClr val="tx1"/>
                    </a:solidFill>
                  </a:rPr>
                  <a:t>考虑电子时，可认为晶格是静止的。</a:t>
                </a:r>
                <a:r>
                  <a:rPr lang="en-US" altLang="zh-CN" sz="2800" dirty="0">
                    <a:solidFill>
                      <a:schemeClr val="tx1"/>
                    </a:solidFill>
                  </a:rPr>
                  <a:t>	</a:t>
                </a:r>
              </a:p>
              <a:p>
                <a:r>
                  <a:rPr lang="zh-CN" altLang="en-US" sz="2800" dirty="0">
                    <a:solidFill>
                      <a:schemeClr val="tx1"/>
                    </a:solidFill>
                  </a:rPr>
                  <a:t>这样，</a:t>
                </a:r>
                <a:endParaRPr lang="en-US" altLang="zh-CN" sz="2800" dirty="0">
                  <a:solidFill>
                    <a:schemeClr val="tx1"/>
                  </a:solidFill>
                </a:endParaRPr>
              </a:p>
              <a:p>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rPr>
                      <m:t>𝐻</m:t>
                    </m:r>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i="1" dirty="0">
                            <a:solidFill>
                              <a:schemeClr val="tx1"/>
                            </a:solidFill>
                            <a:latin typeface="Cambria Math" panose="02040503050406030204" pitchFamily="18" charset="0"/>
                          </a:rPr>
                          <m:t>𝑒</m:t>
                        </m:r>
                      </m:sub>
                    </m:sSub>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𝐻</m:t>
                        </m:r>
                      </m:e>
                      <m:sub>
                        <m:r>
                          <a:rPr lang="en-US" altLang="zh-CN" sz="2800" i="1" dirty="0">
                            <a:solidFill>
                              <a:schemeClr val="tx1"/>
                            </a:solidFill>
                            <a:latin typeface="Cambria Math" panose="02040503050406030204" pitchFamily="18" charset="0"/>
                          </a:rPr>
                          <m:t>𝑒</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𝑖</m:t>
                        </m:r>
                      </m:sub>
                    </m:sSub>
                  </m:oMath>
                </a14:m>
                <a:r>
                  <a:rPr lang="zh-CN" altLang="en-US" sz="2800" dirty="0">
                    <a:solidFill>
                      <a:schemeClr val="tx1"/>
                    </a:solidFill>
                  </a:rPr>
                  <a:t>和</a:t>
                </a:r>
                <a:r>
                  <a:rPr lang="en-US" altLang="zh-CN" sz="2800" dirty="0">
                    <a:solidFill>
                      <a:schemeClr val="tx1"/>
                    </a:solidFill>
                    <a:sym typeface="Symbol" panose="05050102010706020507" pitchFamily="18" charset="2"/>
                  </a:rPr>
                  <a:t> </a:t>
                </a:r>
                <a14:m>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1</m:t>
                        </m:r>
                      </m:sub>
                    </m:sSub>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2</m:t>
                        </m:r>
                      </m:sub>
                    </m:sSub>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ea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𝑖</m:t>
                        </m:r>
                      </m:sub>
                    </m:sSub>
                    <m:r>
                      <a:rPr lang="en-US" altLang="zh-CN" sz="2800" i="1" dirty="0">
                        <a:solidFill>
                          <a:schemeClr val="tx1"/>
                        </a:solidFill>
                        <a:latin typeface="Cambria Math" panose="02040503050406030204" pitchFamily="18" charset="0"/>
                        <a:ea typeface="Cambria Math" panose="02040503050406030204" pitchFamily="18" charset="0"/>
                      </a:rPr>
                      <m:t>⋯</m:t>
                    </m:r>
                    <m:r>
                      <a:rPr lang="en-US" altLang="zh-CN" sz="2800" i="1" dirty="0">
                        <a:solidFill>
                          <a:schemeClr val="tx1"/>
                        </a:solidFill>
                        <a:latin typeface="Cambria Math" panose="02040503050406030204" pitchFamily="18" charset="0"/>
                        <a:sym typeface="Symbol" panose="05050102010706020507" pitchFamily="18" charset="2"/>
                      </a:rPr>
                      <m:t>)</m:t>
                    </m:r>
                  </m:oMath>
                </a14:m>
                <a:r>
                  <a:rPr lang="zh-CN" altLang="en-US" sz="2800" dirty="0">
                    <a:solidFill>
                      <a:schemeClr val="tx1"/>
                    </a:solidFill>
                  </a:rPr>
                  <a:t> </a:t>
                </a:r>
              </a:p>
            </p:txBody>
          </p:sp>
        </mc:Choice>
        <mc:Fallback xmlns="">
          <p:sp>
            <p:nvSpPr>
              <p:cNvPr id="9" name="文本框 8"/>
              <p:cNvSpPr txBox="1">
                <a:spLocks noRot="1" noChangeAspect="1" noMove="1" noResize="1" noEditPoints="1" noAdjustHandles="1" noChangeArrowheads="1" noChangeShapeType="1" noTextEdit="1"/>
              </p:cNvSpPr>
              <p:nvPr/>
            </p:nvSpPr>
            <p:spPr>
              <a:xfrm>
                <a:off x="700599" y="1909963"/>
                <a:ext cx="10373360" cy="3600986"/>
              </a:xfrm>
              <a:prstGeom prst="rect">
                <a:avLst/>
              </a:prstGeom>
              <a:blipFill rotWithShape="1">
                <a:blip r:embed="rId3"/>
                <a:stretch>
                  <a:fillRect l="-1528" t="-2200" b="-33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733913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535777" y="1103452"/>
                <a:ext cx="3736156"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35777" y="1103452"/>
                <a:ext cx="3736156"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692646" y="1760158"/>
                <a:ext cx="10762753" cy="5004319"/>
              </a:xfrm>
              <a:prstGeom prst="rect">
                <a:avLst/>
              </a:prstGeom>
              <a:noFill/>
            </p:spPr>
            <p:txBody>
              <a:bodyPr wrap="square" rtlCol="0">
                <a:spAutoFit/>
              </a:bodyPr>
              <a:lstStyle/>
              <a:p>
                <a:r>
                  <a:rPr lang="en-US" altLang="zh-CN" sz="3200" b="1" dirty="0">
                    <a:solidFill>
                      <a:schemeClr val="tx1"/>
                    </a:solidFill>
                  </a:rPr>
                  <a:t>7.1.1 </a:t>
                </a:r>
                <a:r>
                  <a:rPr lang="zh-CN" altLang="en-US" sz="3200" b="1" dirty="0">
                    <a:solidFill>
                      <a:schemeClr val="tx1"/>
                    </a:solidFill>
                  </a:rPr>
                  <a:t>单电子近似</a:t>
                </a:r>
                <a:endParaRPr lang="en-US" altLang="zh-CN" sz="3200" b="1" dirty="0">
                  <a:solidFill>
                    <a:schemeClr val="tx1"/>
                  </a:solidFill>
                </a:endParaRPr>
              </a:p>
              <a:p>
                <a:r>
                  <a:rPr lang="en-US" altLang="zh-CN" sz="2800" dirty="0">
                    <a:solidFill>
                      <a:schemeClr val="tx1"/>
                    </a:solidFill>
                  </a:rPr>
                  <a:t>2</a:t>
                </a:r>
                <a:r>
                  <a:rPr lang="zh-CN" altLang="en-US" sz="2800" dirty="0">
                    <a:solidFill>
                      <a:schemeClr val="tx1"/>
                    </a:solidFill>
                  </a:rPr>
                  <a:t>、单电子近似</a:t>
                </a:r>
                <a:endParaRPr lang="en-US" altLang="zh-CN" sz="2800" dirty="0">
                  <a:solidFill>
                    <a:schemeClr val="tx1"/>
                  </a:solidFill>
                </a:endParaRPr>
              </a:p>
              <a:p>
                <a:pPr/>
                <a14:m>
                  <m:oMathPara xmlns:m="http://schemas.openxmlformats.org/officeDocument/2006/math">
                    <m:oMathParaPr>
                      <m:jc m:val="left"/>
                    </m:oMathParaPr>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1</m:t>
                          </m:r>
                        </m:sub>
                      </m:sSub>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2</m:t>
                          </m:r>
                        </m:sub>
                      </m:sSub>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ea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𝑖</m:t>
                          </m:r>
                        </m:sub>
                      </m:sSub>
                      <m:r>
                        <a:rPr lang="en-US" altLang="zh-CN" sz="2800" i="1" dirty="0">
                          <a:solidFill>
                            <a:schemeClr val="tx1"/>
                          </a:solidFill>
                          <a:latin typeface="Cambria Math" panose="02040503050406030204" pitchFamily="18" charset="0"/>
                          <a:ea typeface="Cambria Math" panose="02040503050406030204" pitchFamily="18" charset="0"/>
                        </a:rPr>
                        <m:t>⋯</m:t>
                      </m:r>
                      <m:r>
                        <a:rPr lang="en-US" altLang="zh-CN" sz="2800" i="1" dirty="0">
                          <a:solidFill>
                            <a:schemeClr val="tx1"/>
                          </a:solidFill>
                          <a:latin typeface="Cambria Math" panose="02040503050406030204" pitchFamily="18" charset="0"/>
                          <a:sym typeface="Symbol" panose="05050102010706020507" pitchFamily="18" charset="2"/>
                        </a:rPr>
                        <m:t>)=</m:t>
                      </m:r>
                      <m:r>
                        <m:rPr>
                          <m:nor/>
                        </m:rPr>
                        <a:rPr lang="zh-CN" altLang="en-US" sz="2800" dirty="0">
                          <a:solidFill>
                            <a:schemeClr val="tx1"/>
                          </a:solidFill>
                          <a:sym typeface="Symbol" panose="05050102010706020507" pitchFamily="18" charset="2"/>
                        </a:rPr>
                        <m:t></m:t>
                      </m:r>
                      <m:r>
                        <m:rPr>
                          <m:nor/>
                        </m:rPr>
                        <a:rPr lang="en-US" altLang="zh-CN" sz="2800" b="0" i="0" baseline="-25000" dirty="0" smtClean="0">
                          <a:solidFill>
                            <a:schemeClr val="tx1"/>
                          </a:solidFill>
                          <a:sym typeface="Symbol" panose="05050102010706020507" pitchFamily="18" charset="2"/>
                        </a:rPr>
                        <m:t>1</m:t>
                      </m:r>
                      <m:r>
                        <m:rPr>
                          <m:nor/>
                        </m:rPr>
                        <a:rPr lang="en-US" altLang="zh-CN" sz="2800" b="0" i="0" dirty="0" smtClean="0">
                          <a:solidFill>
                            <a:schemeClr val="tx1"/>
                          </a:solidFill>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1</m:t>
                          </m:r>
                        </m:sub>
                      </m:sSub>
                      <m:r>
                        <m:rPr>
                          <m:nor/>
                        </m:rPr>
                        <a:rPr lang="en-US" altLang="zh-CN" sz="2800" b="0" i="0" dirty="0" smtClean="0">
                          <a:solidFill>
                            <a:schemeClr val="tx1"/>
                          </a:solidFill>
                          <a:sym typeface="Symbol" panose="05050102010706020507" pitchFamily="18" charset="2"/>
                        </a:rPr>
                        <m:t>)</m:t>
                      </m:r>
                      <m:r>
                        <m:rPr>
                          <m:nor/>
                        </m:rPr>
                        <a:rPr lang="zh-CN" altLang="en-US" sz="2800" dirty="0">
                          <a:solidFill>
                            <a:schemeClr val="tx1"/>
                          </a:solidFill>
                          <a:sym typeface="Symbol" panose="05050102010706020507" pitchFamily="18" charset="2"/>
                        </a:rPr>
                        <m:t></m:t>
                      </m:r>
                      <m:r>
                        <m:rPr>
                          <m:nor/>
                        </m:rPr>
                        <a:rPr lang="en-US" altLang="zh-CN" sz="2800" b="0" i="0" baseline="-25000" dirty="0" smtClean="0">
                          <a:solidFill>
                            <a:schemeClr val="tx1"/>
                          </a:solidFill>
                          <a:sym typeface="Symbol" panose="05050102010706020507" pitchFamily="18" charset="2"/>
                        </a:rPr>
                        <m:t>2</m:t>
                      </m:r>
                      <m:r>
                        <m:rPr>
                          <m:nor/>
                        </m:rPr>
                        <a:rPr lang="en-US" altLang="zh-CN" sz="2800" b="0" i="0" dirty="0" smtClean="0">
                          <a:solidFill>
                            <a:schemeClr val="tx1"/>
                          </a:solidFill>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2</m:t>
                          </m:r>
                        </m:sub>
                      </m:sSub>
                      <m:r>
                        <m:rPr>
                          <m:nor/>
                        </m:rPr>
                        <a:rPr lang="en-US" altLang="zh-CN" sz="2800" b="0" i="0" dirty="0" smtClean="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ea typeface="Cambria Math" panose="02040503050406030204" pitchFamily="18" charset="0"/>
                        </a:rPr>
                        <m:t>⋯</m:t>
                      </m:r>
                      <m:r>
                        <m:rPr>
                          <m:nor/>
                        </m:rPr>
                        <a:rPr lang="zh-CN" altLang="en-US" sz="2800" dirty="0">
                          <a:solidFill>
                            <a:schemeClr val="tx1"/>
                          </a:solidFill>
                          <a:sym typeface="Symbol" panose="05050102010706020507" pitchFamily="18" charset="2"/>
                        </a:rPr>
                        <m:t></m:t>
                      </m:r>
                      <m:r>
                        <a:rPr lang="en-US" altLang="zh-CN" sz="2800" b="0" i="1" baseline="-25000" dirty="0" smtClean="0">
                          <a:solidFill>
                            <a:schemeClr val="tx1"/>
                          </a:solidFill>
                          <a:latin typeface="Cambria Math" charset="0"/>
                          <a:sym typeface="Symbol" panose="05050102010706020507" pitchFamily="18" charset="2"/>
                        </a:rPr>
                        <m:t>𝑘</m:t>
                      </m:r>
                      <m:r>
                        <m:rPr>
                          <m:nor/>
                        </m:rPr>
                        <a:rPr lang="en-US" altLang="zh-CN" sz="2800" b="0" i="0" dirty="0" smtClean="0">
                          <a:solidFill>
                            <a:schemeClr val="tx1"/>
                          </a:solidFill>
                          <a:sym typeface="Symbol" panose="05050102010706020507" pitchFamily="18" charset="2"/>
                        </a:rPr>
                        <m:t>(</m:t>
                      </m:r>
                      <m:sSub>
                        <m:sSubPr>
                          <m:ctrlPr>
                            <a:rPr lang="en-US" altLang="zh-CN" sz="2800" i="1" dirty="0" smtClean="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b="0" i="1" dirty="0" smtClean="0">
                              <a:solidFill>
                                <a:schemeClr val="tx1"/>
                              </a:solidFill>
                              <a:latin typeface="Cambria Math" charset="0"/>
                            </a:rPr>
                            <m:t>𝑘</m:t>
                          </m:r>
                        </m:sub>
                      </m:sSub>
                      <m:r>
                        <m:rPr>
                          <m:nor/>
                        </m:rPr>
                        <a:rPr lang="en-US" altLang="zh-CN" sz="2800" b="0" i="0" dirty="0" smtClean="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a:p>
                <a:r>
                  <a:rPr lang="zh-CN" altLang="en-US" sz="2800" dirty="0">
                    <a:solidFill>
                      <a:schemeClr val="tx1"/>
                    </a:solidFill>
                  </a:rPr>
                  <a:t>将上式代入薛定谔方程，并应用变分原理，可得任意一个电子满足：</a:t>
                </a:r>
                <a:endParaRPr lang="en-US" altLang="zh-CN" sz="2800" dirty="0">
                  <a:solidFill>
                    <a:schemeClr val="tx1"/>
                  </a:solidFill>
                </a:endParaRPr>
              </a:p>
              <a:p>
                <a14:m>
                  <m:oMath xmlns:m="http://schemas.openxmlformats.org/officeDocument/2006/math">
                    <m:r>
                      <m:rPr>
                        <m:nor/>
                      </m:rPr>
                      <a:rPr lang="en-US" altLang="zh-CN" sz="2800" b="0" i="0" dirty="0" smtClean="0">
                        <a:solidFill>
                          <a:schemeClr val="tx1"/>
                        </a:solidFill>
                        <a:sym typeface="Symbol" panose="05050102010706020507" pitchFamily="18" charset="2"/>
                      </a:rPr>
                      <m:t>[−</m:t>
                    </m:r>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ħ</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2</m:t>
                        </m:r>
                        <m:r>
                          <a:rPr lang="en-US" altLang="zh-CN" sz="2800" i="1" dirty="0">
                            <a:solidFill>
                              <a:schemeClr val="tx1"/>
                            </a:solidFill>
                            <a:latin typeface="Cambria Math" panose="02040503050406030204" pitchFamily="18" charset="0"/>
                          </a:rPr>
                          <m:t>𝑚</m:t>
                        </m:r>
                      </m:den>
                    </m:f>
                    <m:sSup>
                      <m:sSupPr>
                        <m:ctrlPr>
                          <a:rPr lang="en-US" altLang="zh-CN" sz="2800" i="1" dirty="0" smtClean="0">
                            <a:solidFill>
                              <a:schemeClr val="tx1"/>
                            </a:solidFill>
                            <a:latin typeface="Cambria Math" panose="02040503050406030204" pitchFamily="18" charset="0"/>
                          </a:rPr>
                        </m:ctrlPr>
                      </m:sSupPr>
                      <m:e>
                        <m:r>
                          <a:rPr lang="en-US" altLang="zh-CN" sz="2800" i="1" dirty="0" smtClean="0">
                            <a:solidFill>
                              <a:schemeClr val="tx1"/>
                            </a:solidFill>
                            <a:latin typeface="Cambria Math" panose="02040503050406030204" pitchFamily="18" charset="0"/>
                            <a:ea typeface="Cambria Math" panose="02040503050406030204" pitchFamily="18" charset="0"/>
                          </a:rPr>
                          <m:t>𝛻</m:t>
                        </m:r>
                      </m:e>
                      <m:sup>
                        <m:r>
                          <a:rPr lang="en-US" altLang="zh-CN" sz="2800" i="1" dirty="0" smtClean="0">
                            <a:solidFill>
                              <a:schemeClr val="tx1"/>
                            </a:solidFill>
                            <a:latin typeface="Cambria Math" panose="02040503050406030204" pitchFamily="18" charset="0"/>
                          </a:rPr>
                          <m:t>2</m:t>
                        </m:r>
                      </m:sup>
                    </m:sSup>
                    <m:r>
                      <m:rPr>
                        <m:nor/>
                      </m:rPr>
                      <a:rPr lang="en-US" altLang="zh-CN" sz="2800" b="0" i="0"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𝑉</m:t>
                        </m:r>
                      </m:e>
                      <m:sub>
                        <m:r>
                          <a:rPr lang="en-US" altLang="zh-CN" sz="2800" b="0" i="1" dirty="0" smtClean="0">
                            <a:solidFill>
                              <a:schemeClr val="tx1"/>
                            </a:solidFill>
                            <a:latin typeface="Cambria Math" panose="02040503050406030204" pitchFamily="18" charset="0"/>
                          </a:rPr>
                          <m:t>𝑖</m:t>
                        </m:r>
                      </m:sub>
                    </m:sSub>
                    <m:d>
                      <m:dPr>
                        <m:ctrlPr>
                          <a:rPr lang="en-US" altLang="zh-CN" sz="2800" b="0" i="1" dirty="0" smtClean="0">
                            <a:solidFill>
                              <a:schemeClr val="tx1"/>
                            </a:solidFill>
                            <a:latin typeface="Cambria Math" panose="02040503050406030204" pitchFamily="18" charset="0"/>
                          </a:rPr>
                        </m:ctrlPr>
                      </m:dPr>
                      <m:e>
                        <m:r>
                          <a:rPr lang="en-US" altLang="zh-CN" sz="2800" b="1" i="1" dirty="0" smtClean="0">
                            <a:solidFill>
                              <a:schemeClr val="tx1"/>
                            </a:solidFill>
                            <a:latin typeface="Cambria Math" panose="02040503050406030204" pitchFamily="18" charset="0"/>
                          </a:rPr>
                          <m:t>𝒓</m:t>
                        </m:r>
                      </m:e>
                    </m:d>
                    <m:r>
                      <a:rPr lang="en-US" altLang="zh-CN" sz="2800" b="0" i="1" dirty="0" smtClean="0">
                        <a:solidFill>
                          <a:schemeClr val="tx1"/>
                        </a:solidFill>
                        <a:latin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𝑒</m:t>
                            </m:r>
                          </m:e>
                          <m:sup>
                            <m:r>
                              <a:rPr lang="en-US" altLang="zh-CN" sz="2800" i="1" dirty="0">
                                <a:solidFill>
                                  <a:schemeClr val="tx1"/>
                                </a:solidFill>
                                <a:latin typeface="Cambria Math" panose="02040503050406030204" pitchFamily="18" charset="0"/>
                              </a:rPr>
                              <m:t>2</m:t>
                            </m:r>
                          </m:sup>
                        </m:sSup>
                      </m:num>
                      <m:den>
                        <m:r>
                          <a:rPr lang="en-US" altLang="zh-CN" sz="2800" b="0" i="1" dirty="0" smtClean="0">
                            <a:solidFill>
                              <a:schemeClr val="tx1"/>
                            </a:solidFill>
                            <a:latin typeface="Cambria Math" panose="02040503050406030204" pitchFamily="18" charset="0"/>
                          </a:rPr>
                          <m:t>4</m:t>
                        </m:r>
                        <m:r>
                          <a:rPr lang="zh-CN" altLang="en-US" sz="2800" i="1" dirty="0">
                            <a:solidFill>
                              <a:schemeClr val="tx1"/>
                            </a:solidFill>
                            <a:latin typeface="Cambria Math" panose="02040503050406030204" pitchFamily="18" charset="0"/>
                          </a:rPr>
                          <m:t>𝜋</m:t>
                        </m:r>
                        <m:sSub>
                          <m:sSubPr>
                            <m:ctrlPr>
                              <a:rPr lang="en-US" altLang="zh-CN" sz="2800" i="1" dirty="0">
                                <a:solidFill>
                                  <a:schemeClr val="tx1"/>
                                </a:solidFill>
                                <a:latin typeface="Cambria Math" panose="02040503050406030204" pitchFamily="18" charset="0"/>
                              </a:rPr>
                            </m:ctrlPr>
                          </m:sSubPr>
                          <m:e>
                            <m:r>
                              <a:rPr lang="zh-CN" altLang="en-US" sz="2800" i="1" dirty="0">
                                <a:solidFill>
                                  <a:schemeClr val="tx1"/>
                                </a:solidFill>
                                <a:latin typeface="Cambria Math" panose="02040503050406030204" pitchFamily="18" charset="0"/>
                              </a:rPr>
                              <m:t>𝜖</m:t>
                            </m:r>
                          </m:e>
                          <m:sub>
                            <m:r>
                              <a:rPr lang="en-US" altLang="zh-CN" sz="2800" i="1" dirty="0">
                                <a:solidFill>
                                  <a:schemeClr val="tx1"/>
                                </a:solidFill>
                                <a:latin typeface="Cambria Math" panose="02040503050406030204" pitchFamily="18" charset="0"/>
                              </a:rPr>
                              <m:t>0</m:t>
                            </m:r>
                          </m:sub>
                        </m:sSub>
                      </m:den>
                    </m:f>
                    <m:nary>
                      <m:naryPr>
                        <m:chr m:val="∑"/>
                        <m:ctrlPr>
                          <a:rPr lang="en-US" altLang="zh-CN" sz="2800" i="1" dirty="0">
                            <a:solidFill>
                              <a:schemeClr val="tx1"/>
                            </a:solidFill>
                            <a:latin typeface="Cambria Math" panose="02040503050406030204" pitchFamily="18" charset="0"/>
                          </a:rPr>
                        </m:ctrlPr>
                      </m:naryPr>
                      <m:sub>
                        <m:r>
                          <a:rPr lang="en-US" altLang="zh-CN" sz="2800" b="0" i="1" dirty="0" smtClean="0">
                            <a:solidFill>
                              <a:schemeClr val="tx1"/>
                            </a:solidFill>
                            <a:latin typeface="Cambria Math" charset="0"/>
                          </a:rPr>
                          <m:t>𝑘</m:t>
                        </m:r>
                        <m:r>
                          <a:rPr lang="en-US" altLang="zh-CN" sz="2800" b="0" i="1" dirty="0" smtClean="0">
                            <a:solidFill>
                              <a:schemeClr val="tx1"/>
                            </a:solidFill>
                            <a:latin typeface="Cambria Math" charset="0"/>
                          </a:rPr>
                          <m:t>′</m:t>
                        </m:r>
                      </m:sub>
                      <m:sup>
                        <m:r>
                          <a:rPr lang="en-US" altLang="zh-CN" sz="2800" i="1" dirty="0">
                            <a:solidFill>
                              <a:schemeClr val="tx1"/>
                            </a:solidFill>
                            <a:latin typeface="Cambria Math" panose="02040503050406030204" pitchFamily="18" charset="0"/>
                          </a:rPr>
                          <m:t>′</m:t>
                        </m:r>
                      </m:sup>
                      <m:e>
                        <m:nary>
                          <m:naryPr>
                            <m:limLoc m:val="undOvr"/>
                            <m:subHide m:val="on"/>
                            <m:supHide m:val="on"/>
                            <m:ctrlPr>
                              <a:rPr lang="en-US" altLang="zh-CN" sz="2800" i="1" dirty="0" smtClean="0">
                                <a:solidFill>
                                  <a:schemeClr val="tx1"/>
                                </a:solidFill>
                                <a:latin typeface="Cambria Math" panose="02040503050406030204" pitchFamily="18" charset="0"/>
                              </a:rPr>
                            </m:ctrlPr>
                          </m:naryPr>
                          <m:sub/>
                          <m:sup/>
                          <m:e>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m:t>
                                    </m:r>
                                    <m:r>
                                      <m:rPr>
                                        <m:nor/>
                                      </m:rPr>
                                      <a:rPr lang="zh-CN" altLang="en-US" sz="2800" dirty="0">
                                        <a:solidFill>
                                          <a:schemeClr val="tx1"/>
                                        </a:solidFill>
                                        <a:sym typeface="Symbol" panose="05050102010706020507" pitchFamily="18" charset="2"/>
                                      </a:rPr>
                                      <m:t></m:t>
                                    </m:r>
                                    <m:r>
                                      <a:rPr lang="en-US" altLang="zh-CN" sz="2800" b="0" i="1" baseline="-25000" dirty="0" smtClean="0">
                                        <a:solidFill>
                                          <a:schemeClr val="tx1"/>
                                        </a:solidFill>
                                        <a:latin typeface="Cambria Math" charset="0"/>
                                        <a:sym typeface="Symbol" panose="05050102010706020507" pitchFamily="18" charset="2"/>
                                      </a:rPr>
                                      <m:t>𝑘</m:t>
                                    </m:r>
                                    <m:r>
                                      <a:rPr lang="en-US" altLang="zh-CN" sz="2800" b="0" i="1" baseline="-25000" dirty="0" smtClean="0">
                                        <a:solidFill>
                                          <a:schemeClr val="tx1"/>
                                        </a:solidFill>
                                        <a:latin typeface="Cambria Math" charset="0"/>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dirty="0" smtClean="0">
                                        <a:solidFill>
                                          <a:schemeClr val="tx1"/>
                                        </a:solidFill>
                                        <a:latin typeface="Cambria Math" panose="02040503050406030204" pitchFamily="18" charset="0"/>
                                      </a:rPr>
                                      <m:t>′</m:t>
                                    </m:r>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rPr>
                                      <m:t>|</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𝒓</m:t>
                                    </m:r>
                                  </m:e>
                                  <m:sub>
                                    <m:r>
                                      <a:rPr lang="en-US" altLang="zh-CN" sz="2800" i="1" dirty="0">
                                        <a:solidFill>
                                          <a:schemeClr val="tx1"/>
                                        </a:solidFill>
                                        <a:latin typeface="Cambria Math" panose="02040503050406030204" pitchFamily="18" charset="0"/>
                                      </a:rPr>
                                      <m:t> </m:t>
                                    </m:r>
                                  </m:sub>
                                </m:sSub>
                                <m:r>
                                  <a:rPr lang="en-US" altLang="zh-CN" sz="2800" i="1" dirty="0">
                                    <a:solidFill>
                                      <a:schemeClr val="tx1"/>
                                    </a:solidFill>
                                    <a:latin typeface="Cambria Math" panose="02040503050406030204" pitchFamily="18" charset="0"/>
                                  </a:rPr>
                                  <m:t>−</m:t>
                                </m:r>
                                <m:r>
                                  <a:rPr lang="en-US" altLang="zh-CN" sz="2800" b="1" i="1" dirty="0">
                                    <a:solidFill>
                                      <a:schemeClr val="tx1"/>
                                    </a:solidFill>
                                    <a:latin typeface="Cambria Math" panose="02040503050406030204" pitchFamily="18" charset="0"/>
                                  </a:rPr>
                                  <m:t>𝒓</m:t>
                                </m:r>
                                <m:r>
                                  <a:rPr lang="en-US" altLang="zh-CN" sz="2800" i="1" dirty="0">
                                    <a:solidFill>
                                      <a:schemeClr val="tx1"/>
                                    </a:solidFill>
                                    <a:latin typeface="Cambria Math" panose="02040503050406030204" pitchFamily="18" charset="0"/>
                                  </a:rPr>
                                  <m:t>′|</m:t>
                                </m:r>
                              </m:den>
                            </m:f>
                          </m:e>
                        </m:nary>
                        <m:r>
                          <a:rPr lang="en-US" altLang="zh-CN" sz="2800" b="0" i="1" dirty="0" smtClean="0">
                            <a:solidFill>
                              <a:schemeClr val="tx1"/>
                            </a:solidFill>
                            <a:latin typeface="Cambria Math" panose="02040503050406030204" pitchFamily="18" charset="0"/>
                          </a:rPr>
                          <m:t>𝑑</m:t>
                        </m:r>
                        <m:r>
                          <a:rPr lang="zh-CN" altLang="en-US" sz="2800" b="0" i="1" dirty="0" smtClean="0">
                            <a:solidFill>
                              <a:schemeClr val="tx1"/>
                            </a:solidFill>
                            <a:latin typeface="Cambria Math" panose="02040503050406030204" pitchFamily="18" charset="0"/>
                          </a:rPr>
                          <m:t>𝜏</m:t>
                        </m:r>
                      </m:e>
                    </m:nary>
                    <m:r>
                      <m:rPr>
                        <m:nor/>
                      </m:rPr>
                      <a:rPr lang="en-US" altLang="zh-CN" sz="2800" b="0" i="0" dirty="0" smtClean="0">
                        <a:solidFill>
                          <a:schemeClr val="tx1"/>
                        </a:solidFill>
                        <a:sym typeface="Symbol" panose="05050102010706020507" pitchFamily="18" charset="2"/>
                      </a:rPr>
                      <m:t>]</m:t>
                    </m:r>
                    <m:r>
                      <m:rPr>
                        <m:nor/>
                      </m:rPr>
                      <a:rPr lang="zh-CN" altLang="en-US" sz="2800" dirty="0">
                        <a:solidFill>
                          <a:schemeClr val="tx1"/>
                        </a:solidFill>
                        <a:sym typeface="Symbol" panose="05050102010706020507" pitchFamily="18" charset="2"/>
                      </a:rPr>
                      <m:t></m:t>
                    </m:r>
                    <m:r>
                      <m:rPr>
                        <m:nor/>
                      </m:rPr>
                      <a:rPr lang="en-US" altLang="zh-CN" sz="2800" b="0" i="0" baseline="-25000" dirty="0" smtClean="0">
                        <a:solidFill>
                          <a:schemeClr val="tx1"/>
                        </a:solidFill>
                        <a:sym typeface="Symbol" panose="05050102010706020507" pitchFamily="18" charset="2"/>
                      </a:rPr>
                      <m:t>k</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𝐸</m:t>
                    </m:r>
                    <m:r>
                      <m:rPr>
                        <m:nor/>
                      </m:rPr>
                      <a:rPr lang="zh-CN" altLang="en-US" sz="2800" dirty="0">
                        <a:solidFill>
                          <a:schemeClr val="tx1"/>
                        </a:solidFill>
                        <a:sym typeface="Symbol" panose="05050102010706020507" pitchFamily="18" charset="2"/>
                      </a:rPr>
                      <m:t></m:t>
                    </m:r>
                    <m:r>
                      <m:rPr>
                        <m:nor/>
                      </m:rPr>
                      <a:rPr lang="en-US" altLang="zh-CN" sz="2800" b="0" i="0" baseline="-25000" dirty="0" smtClean="0">
                        <a:solidFill>
                          <a:schemeClr val="tx1"/>
                        </a:solidFill>
                        <a:sym typeface="Symbol" panose="05050102010706020507" pitchFamily="18" charset="2"/>
                      </a:rPr>
                      <m:t>k</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		</a:t>
                </a:r>
              </a:p>
              <a:p>
                <a:r>
                  <a:rPr lang="en-US" altLang="zh-CN" sz="2800" dirty="0">
                    <a:solidFill>
                      <a:schemeClr val="tx1"/>
                    </a:solidFill>
                  </a:rPr>
                  <a:t>		(</a:t>
                </a:r>
                <a:r>
                  <a:rPr lang="zh-CN" altLang="en-US" sz="2800" dirty="0">
                    <a:solidFill>
                      <a:schemeClr val="tx1"/>
                    </a:solidFill>
                  </a:rPr>
                  <a:t>哈特里</a:t>
                </a:r>
                <a:r>
                  <a:rPr lang="en-US" altLang="zh-CN" sz="2800" dirty="0" err="1">
                    <a:solidFill>
                      <a:schemeClr val="tx1"/>
                    </a:solidFill>
                  </a:rPr>
                  <a:t>Hartree</a:t>
                </a:r>
                <a:r>
                  <a:rPr lang="zh-CN" altLang="en-US" sz="2800" dirty="0">
                    <a:solidFill>
                      <a:schemeClr val="tx1"/>
                    </a:solidFill>
                  </a:rPr>
                  <a:t>方程</a:t>
                </a:r>
                <a:r>
                  <a:rPr lang="en-US" altLang="zh-CN" sz="2800" dirty="0">
                    <a:solidFill>
                      <a:schemeClr val="tx1"/>
                    </a:solidFill>
                  </a:rPr>
                  <a:t>)</a:t>
                </a:r>
              </a:p>
              <a:p>
                <a14:m>
                  <m:oMath xmlns:m="http://schemas.openxmlformats.org/officeDocument/2006/math">
                    <m:r>
                      <a:rPr lang="en-US" altLang="zh-CN" sz="2800" b="1" i="1" dirty="0">
                        <a:solidFill>
                          <a:schemeClr val="tx1"/>
                        </a:solidFill>
                        <a:latin typeface="Cambria Math" panose="02040503050406030204" pitchFamily="18" charset="0"/>
                      </a:rPr>
                      <m:t>𝒓</m:t>
                    </m:r>
                    <m:r>
                      <a:rPr lang="en-US" altLang="zh-CN" sz="2800" i="1" dirty="0">
                        <a:solidFill>
                          <a:schemeClr val="tx1"/>
                        </a:solidFill>
                        <a:latin typeface="Cambria Math" panose="02040503050406030204" pitchFamily="18" charset="0"/>
                      </a:rPr>
                      <m:t>′</m:t>
                    </m:r>
                  </m:oMath>
                </a14:m>
                <a:r>
                  <a:rPr lang="zh-CN" altLang="en-US" sz="2800" dirty="0">
                    <a:solidFill>
                      <a:schemeClr val="tx1"/>
                    </a:solidFill>
                  </a:rPr>
                  <a:t>是其它电子的坐标，</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b="0" i="0" baseline="-25000" dirty="0" smtClean="0">
                        <a:solidFill>
                          <a:schemeClr val="tx1"/>
                        </a:solidFill>
                        <a:sym typeface="Symbol" panose="05050102010706020507" pitchFamily="18" charset="2"/>
                      </a:rPr>
                      <m:t>k</m:t>
                    </m:r>
                    <m:r>
                      <a:rPr lang="en-US" altLang="zh-CN" sz="2800" b="0" i="1" baseline="-25000" dirty="0" smtClean="0">
                        <a:solidFill>
                          <a:schemeClr val="tx1"/>
                        </a:solidFill>
                        <a:latin typeface="Cambria Math" charset="0"/>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dirty="0">
                        <a:solidFill>
                          <a:schemeClr val="tx1"/>
                        </a:solidFill>
                        <a:latin typeface="Cambria Math" panose="02040503050406030204" pitchFamily="18" charset="0"/>
                      </a:rPr>
                      <m:t>′</m:t>
                    </m:r>
                    <m:r>
                      <m:rPr>
                        <m:nor/>
                      </m:rPr>
                      <a:rPr lang="en-US" altLang="zh-CN" sz="2800" dirty="0">
                        <a:solidFill>
                          <a:schemeClr val="tx1"/>
                        </a:solidFill>
                        <a:sym typeface="Symbol" panose="05050102010706020507" pitchFamily="18" charset="2"/>
                      </a:rPr>
                      <m:t>)</m:t>
                    </m:r>
                  </m:oMath>
                </a14:m>
                <a:r>
                  <a:rPr lang="zh-CN" altLang="en-US" sz="2800" dirty="0">
                    <a:solidFill>
                      <a:schemeClr val="tx1"/>
                    </a:solidFill>
                  </a:rPr>
                  <a:t>是其它电子的波函数。</a:t>
                </a:r>
                <a:endParaRPr lang="en-US" altLang="zh-CN" sz="2800" dirty="0">
                  <a:solidFill>
                    <a:schemeClr val="tx1"/>
                  </a:solidFill>
                </a:endParaRPr>
              </a:p>
              <a:p>
                <a:r>
                  <a:rPr lang="en-US" altLang="zh-CN" sz="2000" dirty="0">
                    <a:solidFill>
                      <a:schemeClr val="tx1"/>
                    </a:solidFill>
                  </a:rPr>
                  <a:t>  </a:t>
                </a:r>
              </a:p>
              <a:p>
                <a:r>
                  <a:rPr lang="en-US" altLang="zh-CN" sz="3200" b="1" dirty="0">
                    <a:solidFill>
                      <a:schemeClr val="tx1"/>
                    </a:solidFill>
                  </a:rPr>
                  <a:t>7.1.2 </a:t>
                </a:r>
                <a:r>
                  <a:rPr lang="zh-CN" altLang="en-US" sz="3200" b="1" dirty="0">
                    <a:solidFill>
                      <a:schemeClr val="tx1"/>
                    </a:solidFill>
                  </a:rPr>
                  <a:t>布洛赫波</a:t>
                </a:r>
                <a:endParaRPr lang="en-US" altLang="zh-CN" sz="3200" b="1" dirty="0">
                  <a:solidFill>
                    <a:schemeClr val="tx1"/>
                  </a:solidFill>
                </a:endParaRPr>
              </a:p>
              <a:p>
                <a14:m>
                  <m:oMath xmlns:m="http://schemas.openxmlformats.org/officeDocument/2006/math">
                    <m:r>
                      <a:rPr lang="en-US" altLang="zh-CN" sz="2800" i="1" dirty="0">
                        <a:solidFill>
                          <a:schemeClr val="tx1"/>
                        </a:solidFill>
                        <a:latin typeface="Cambria Math" panose="02040503050406030204" pitchFamily="18" charset="0"/>
                      </a:rPr>
                      <m:t>𝐻</m:t>
                    </m:r>
                    <m:r>
                      <m:rPr>
                        <m:nor/>
                      </m:rPr>
                      <a:rPr lang="zh-CN" altLang="en-US"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m:t>
                    </m:r>
                    <m:r>
                      <m:rPr>
                        <m:nor/>
                      </m:rPr>
                      <a:rPr lang="en-US" altLang="zh-CN" sz="2800" dirty="0">
                        <a:solidFill>
                          <a:schemeClr val="tx1"/>
                        </a:solidFill>
                        <a:sym typeface="Symbol" panose="05050102010706020507" pitchFamily="18" charset="2"/>
                      </a:rPr>
                      <m:t>−</m:t>
                    </m:r>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ħ</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2</m:t>
                        </m:r>
                        <m:r>
                          <a:rPr lang="en-US" altLang="zh-CN" sz="2800" i="1" dirty="0">
                            <a:solidFill>
                              <a:schemeClr val="tx1"/>
                            </a:solidFill>
                            <a:latin typeface="Cambria Math" panose="02040503050406030204" pitchFamily="18" charset="0"/>
                          </a:rPr>
                          <m:t>𝑚</m:t>
                        </m:r>
                      </m:den>
                    </m:f>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ea typeface="Cambria Math" panose="02040503050406030204" pitchFamily="18" charset="0"/>
                          </a:rPr>
                          <m:t>𝛻</m:t>
                        </m:r>
                      </m:e>
                      <m:sup>
                        <m:r>
                          <a:rPr lang="en-US" altLang="zh-CN" sz="2800" i="1" dirty="0">
                            <a:solidFill>
                              <a:schemeClr val="tx1"/>
                            </a:solidFill>
                            <a:latin typeface="Cambria Math" panose="02040503050406030204" pitchFamily="18" charset="0"/>
                          </a:rPr>
                          <m:t>2</m:t>
                        </m:r>
                      </m:sup>
                    </m:sSup>
                    <m:r>
                      <m:rPr>
                        <m:nor/>
                      </m:rPr>
                      <a:rPr lang="en-US" altLang="zh-CN" sz="2800"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𝑉</m:t>
                        </m:r>
                      </m:e>
                      <m:sub>
                        <m:r>
                          <a:rPr lang="en-US" altLang="zh-CN" sz="2800" b="0" i="1" dirty="0" smtClean="0">
                            <a:solidFill>
                              <a:schemeClr val="tx1"/>
                            </a:solidFill>
                            <a:latin typeface="Cambria Math" panose="02040503050406030204" pitchFamily="18" charset="0"/>
                          </a:rPr>
                          <m:t> </m:t>
                        </m:r>
                      </m:sub>
                    </m:sSub>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r>
                      <a:rPr lang="en-US" altLang="zh-CN" sz="2800" b="0" i="1" dirty="0" smtClean="0">
                        <a:solidFill>
                          <a:schemeClr val="tx1"/>
                        </a:solidFill>
                        <a:latin typeface="Cambria Math" panose="02040503050406030204" pitchFamily="18" charset="0"/>
                      </a:rPr>
                      <m:t>]</m:t>
                    </m:r>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r>
                      <m:rPr>
                        <m:nor/>
                      </m:rPr>
                      <a:rPr lang="en-US" altLang="zh-CN" sz="2800" b="0" i="1" dirty="0" smtClean="0">
                        <a:solidFill>
                          <a:schemeClr val="tx1"/>
                        </a:solidFill>
                        <a:latin typeface="Cambria" panose="02040503050406030204" pitchFamily="18" charset="0"/>
                        <a:ea typeface="Cambria" panose="02040503050406030204" pitchFamily="18" charset="0"/>
                        <a:sym typeface="Symbol" panose="05050102010706020507" pitchFamily="18" charset="2"/>
                      </a:rPr>
                      <m:t>E</m:t>
                    </m:r>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oMath>
                </a14:m>
                <a:r>
                  <a:rPr lang="en-US" altLang="zh-CN" sz="2800" dirty="0">
                    <a:solidFill>
                      <a:schemeClr val="tx1"/>
                    </a:solidFill>
                  </a:rPr>
                  <a:t>		</a:t>
                </a:r>
                <a:r>
                  <a:rPr lang="zh-CN" altLang="en-US" sz="2800" dirty="0">
                    <a:solidFill>
                      <a:schemeClr val="tx1"/>
                    </a:solidFill>
                  </a:rPr>
                  <a:t>且 </a:t>
                </a:r>
                <a14:m>
                  <m:oMath xmlns:m="http://schemas.openxmlformats.org/officeDocument/2006/math">
                    <m:r>
                      <a:rPr lang="en-US" altLang="zh-CN" sz="2800" i="1">
                        <a:solidFill>
                          <a:schemeClr val="tx1"/>
                        </a:solidFill>
                        <a:latin typeface="Cambria Math" panose="02040503050406030204" pitchFamily="18" charset="0"/>
                      </a:rPr>
                      <m:t>𝑉</m:t>
                    </m:r>
                    <m:d>
                      <m:dPr>
                        <m:ctrlPr>
                          <a:rPr lang="en-US" altLang="zh-CN" sz="2800"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𝒓</m:t>
                        </m:r>
                      </m:e>
                    </m:d>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𝑉</m:t>
                    </m:r>
                    <m:r>
                      <a:rPr lang="en-US" altLang="zh-CN" sz="2800"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i="1">
                        <a:solidFill>
                          <a:schemeClr val="tx1"/>
                        </a:solidFill>
                        <a:latin typeface="Cambria Math" panose="02040503050406030204" pitchFamily="18" charset="0"/>
                      </a:rPr>
                      <m:t>)</m:t>
                    </m:r>
                  </m:oMath>
                </a14:m>
                <a:endParaRPr lang="en-US" altLang="zh-CN" sz="2800" dirty="0">
                  <a:solidFill>
                    <a:schemeClr val="tx1"/>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692646" y="1760158"/>
                <a:ext cx="10762753" cy="5004319"/>
              </a:xfrm>
              <a:prstGeom prst="rect">
                <a:avLst/>
              </a:prstGeom>
              <a:blipFill rotWithShape="0">
                <a:blip r:embed="rId3"/>
                <a:stretch>
                  <a:fillRect l="-1473" t="-1583" r="-19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679340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535777" y="1103452"/>
                <a:ext cx="3736156"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35777" y="1103452"/>
                <a:ext cx="3736156"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24933" y="1675488"/>
                <a:ext cx="11582399" cy="5220660"/>
              </a:xfrm>
              <a:prstGeom prst="rect">
                <a:avLst/>
              </a:prstGeom>
              <a:noFill/>
            </p:spPr>
            <p:txBody>
              <a:bodyPr wrap="square" rtlCol="0">
                <a:spAutoFit/>
              </a:bodyPr>
              <a:lstStyle/>
              <a:p>
                <a:r>
                  <a:rPr lang="en-US" altLang="zh-CN" sz="3200" b="1" dirty="0">
                    <a:solidFill>
                      <a:schemeClr val="tx1"/>
                    </a:solidFill>
                  </a:rPr>
                  <a:t>7.1.2 </a:t>
                </a:r>
                <a:r>
                  <a:rPr lang="zh-CN" altLang="en-US" sz="3200" b="1" dirty="0">
                    <a:solidFill>
                      <a:schemeClr val="tx1"/>
                    </a:solidFill>
                  </a:rPr>
                  <a:t>布洛赫波</a:t>
                </a:r>
                <a:endParaRPr lang="en-US" altLang="zh-CN" sz="3200" b="1" dirty="0">
                  <a:solidFill>
                    <a:schemeClr val="tx1"/>
                  </a:solidFill>
                </a:endParaRPr>
              </a:p>
              <a:p>
                <a14:m>
                  <m:oMath xmlns:m="http://schemas.openxmlformats.org/officeDocument/2006/math">
                    <m:r>
                      <a:rPr lang="en-US" altLang="zh-CN" sz="2800" i="1" dirty="0">
                        <a:solidFill>
                          <a:schemeClr val="tx1"/>
                        </a:solidFill>
                        <a:latin typeface="Cambria Math" panose="02040503050406030204" pitchFamily="18" charset="0"/>
                      </a:rPr>
                      <m:t>𝐻</m:t>
                    </m:r>
                    <m:r>
                      <m:rPr>
                        <m:nor/>
                      </m:rPr>
                      <a:rPr lang="zh-CN" altLang="en-US"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m:t>
                    </m:r>
                    <m:r>
                      <m:rPr>
                        <m:nor/>
                      </m:rPr>
                      <a:rPr lang="en-US" altLang="zh-CN" sz="2800" dirty="0">
                        <a:solidFill>
                          <a:schemeClr val="tx1"/>
                        </a:solidFill>
                        <a:sym typeface="Symbol" panose="05050102010706020507" pitchFamily="18" charset="2"/>
                      </a:rPr>
                      <m:t>−</m:t>
                    </m:r>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ħ</m:t>
                            </m:r>
                          </m:e>
                          <m:sup>
                            <m:r>
                              <a:rPr lang="en-US" altLang="zh-CN" sz="2800" i="1" dirty="0">
                                <a:solidFill>
                                  <a:schemeClr val="tx1"/>
                                </a:solidFill>
                                <a:latin typeface="Cambria Math" panose="02040503050406030204" pitchFamily="18" charset="0"/>
                              </a:rPr>
                              <m:t>2</m:t>
                            </m:r>
                          </m:sup>
                        </m:sSup>
                      </m:num>
                      <m:den>
                        <m:r>
                          <a:rPr lang="en-US" altLang="zh-CN" sz="2800" i="1" dirty="0">
                            <a:solidFill>
                              <a:schemeClr val="tx1"/>
                            </a:solidFill>
                            <a:latin typeface="Cambria Math" panose="02040503050406030204" pitchFamily="18" charset="0"/>
                          </a:rPr>
                          <m:t>2</m:t>
                        </m:r>
                        <m:r>
                          <a:rPr lang="en-US" altLang="zh-CN" sz="2800" i="1" dirty="0">
                            <a:solidFill>
                              <a:schemeClr val="tx1"/>
                            </a:solidFill>
                            <a:latin typeface="Cambria Math" panose="02040503050406030204" pitchFamily="18" charset="0"/>
                          </a:rPr>
                          <m:t>𝑚</m:t>
                        </m:r>
                      </m:den>
                    </m:f>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ea typeface="Cambria Math" panose="02040503050406030204" pitchFamily="18" charset="0"/>
                          </a:rPr>
                          <m:t>𝛻</m:t>
                        </m:r>
                      </m:e>
                      <m:sup>
                        <m:r>
                          <a:rPr lang="en-US" altLang="zh-CN" sz="2800" i="1" dirty="0">
                            <a:solidFill>
                              <a:schemeClr val="tx1"/>
                            </a:solidFill>
                            <a:latin typeface="Cambria Math" panose="02040503050406030204" pitchFamily="18" charset="0"/>
                          </a:rPr>
                          <m:t>2</m:t>
                        </m:r>
                      </m:sup>
                    </m:sSup>
                    <m:r>
                      <m:rPr>
                        <m:nor/>
                      </m:rPr>
                      <a:rPr lang="en-US" altLang="zh-CN" sz="2800"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𝑉</m:t>
                        </m:r>
                      </m:e>
                      <m:sub>
                        <m:r>
                          <a:rPr lang="en-US" altLang="zh-CN" sz="2800" b="0" i="1" dirty="0" smtClean="0">
                            <a:solidFill>
                              <a:schemeClr val="tx1"/>
                            </a:solidFill>
                            <a:latin typeface="Cambria Math" panose="02040503050406030204" pitchFamily="18" charset="0"/>
                          </a:rPr>
                          <m:t> </m:t>
                        </m:r>
                      </m:sub>
                    </m:sSub>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r>
                      <a:rPr lang="en-US" altLang="zh-CN" sz="2800" b="0" i="1" dirty="0" smtClean="0">
                        <a:solidFill>
                          <a:schemeClr val="tx1"/>
                        </a:solidFill>
                        <a:latin typeface="Cambria Math" panose="02040503050406030204" pitchFamily="18" charset="0"/>
                      </a:rPr>
                      <m:t>]</m:t>
                    </m:r>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r>
                      <m:rPr>
                        <m:nor/>
                      </m:rPr>
                      <a:rPr lang="en-US" altLang="zh-CN" sz="2800" b="0" i="1" dirty="0" smtClean="0">
                        <a:solidFill>
                          <a:schemeClr val="tx1"/>
                        </a:solidFill>
                        <a:latin typeface="Cambria" panose="02040503050406030204" pitchFamily="18" charset="0"/>
                        <a:ea typeface="Cambria" panose="02040503050406030204" pitchFamily="18" charset="0"/>
                        <a:sym typeface="Symbol" panose="05050102010706020507" pitchFamily="18" charset="2"/>
                      </a:rPr>
                      <m:t>E</m:t>
                    </m:r>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oMath>
                </a14:m>
                <a:r>
                  <a:rPr lang="en-US" altLang="zh-CN" sz="2800" dirty="0">
                    <a:solidFill>
                      <a:schemeClr val="tx1"/>
                    </a:solidFill>
                  </a:rPr>
                  <a:t>		</a:t>
                </a:r>
                <a:r>
                  <a:rPr lang="zh-CN" altLang="en-US" sz="2800" dirty="0">
                    <a:solidFill>
                      <a:schemeClr val="tx1"/>
                    </a:solidFill>
                  </a:rPr>
                  <a:t>且 </a:t>
                </a:r>
                <a14:m>
                  <m:oMath xmlns:m="http://schemas.openxmlformats.org/officeDocument/2006/math">
                    <m:r>
                      <a:rPr lang="en-US" altLang="zh-CN" sz="2800" i="1">
                        <a:solidFill>
                          <a:schemeClr val="tx1"/>
                        </a:solidFill>
                        <a:latin typeface="Cambria Math" panose="02040503050406030204" pitchFamily="18" charset="0"/>
                      </a:rPr>
                      <m:t>𝑉</m:t>
                    </m:r>
                    <m:d>
                      <m:dPr>
                        <m:ctrlPr>
                          <a:rPr lang="en-US" altLang="zh-CN" sz="2800"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𝒓</m:t>
                        </m:r>
                      </m:e>
                    </m:d>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𝑉</m:t>
                    </m:r>
                    <m:r>
                      <a:rPr lang="en-US" altLang="zh-CN" sz="2800"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i="1">
                        <a:solidFill>
                          <a:schemeClr val="tx1"/>
                        </a:solidFill>
                        <a:latin typeface="Cambria Math" panose="02040503050406030204" pitchFamily="18" charset="0"/>
                      </a:rPr>
                      <m:t>)</m:t>
                    </m:r>
                  </m:oMath>
                </a14:m>
                <a:endParaRPr lang="en-US" altLang="zh-CN" sz="2800" dirty="0">
                  <a:solidFill>
                    <a:schemeClr val="tx1"/>
                  </a:solidFill>
                </a:endParaRPr>
              </a:p>
              <a:p>
                <a:r>
                  <a:rPr lang="zh-CN" altLang="en-US" sz="2800" dirty="0">
                    <a:solidFill>
                      <a:schemeClr val="tx1"/>
                    </a:solidFill>
                  </a:rPr>
                  <a:t>如何求解此方程？</a:t>
                </a:r>
                <a:endParaRPr lang="en-US" altLang="zh-CN" sz="2800" dirty="0">
                  <a:solidFill>
                    <a:schemeClr val="tx1"/>
                  </a:solidFill>
                </a:endParaRPr>
              </a:p>
              <a:p>
                <a:r>
                  <a:rPr lang="zh-CN" altLang="en-US" sz="2800" dirty="0">
                    <a:solidFill>
                      <a:schemeClr val="tx1"/>
                    </a:solidFill>
                  </a:rPr>
                  <a:t>平移算符：</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𝑇</m:t>
                        </m:r>
                      </m:e>
                      <m:sub>
                        <m:r>
                          <a:rPr lang="en-US" altLang="zh-CN" sz="2800" b="0" i="1" dirty="0" smtClean="0">
                            <a:solidFill>
                              <a:schemeClr val="tx1"/>
                            </a:solidFill>
                            <a:latin typeface="Cambria Math" panose="02040503050406030204" pitchFamily="18" charset="0"/>
                          </a:rPr>
                          <m:t>𝑙</m:t>
                        </m:r>
                      </m:sub>
                    </m:sSub>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r>
                      <a:rPr lang="en-US" altLang="zh-CN" sz="2800" b="0" i="1" dirty="0" smtClean="0">
                        <a:solidFill>
                          <a:schemeClr val="tx1"/>
                        </a:solidFill>
                        <a:latin typeface="Cambria Math" panose="02040503050406030204" pitchFamily="18" charset="0"/>
                      </a:rPr>
                      <m:t>𝑓</m:t>
                    </m:r>
                    <m:d>
                      <m:dPr>
                        <m:ctrlPr>
                          <a:rPr lang="en-US" altLang="zh-CN" sz="2800" b="0" i="1" dirty="0" smtClean="0">
                            <a:solidFill>
                              <a:schemeClr val="tx1"/>
                            </a:solidFill>
                            <a:latin typeface="Cambria Math" panose="02040503050406030204" pitchFamily="18" charset="0"/>
                          </a:rPr>
                        </m:ctrlPr>
                      </m:dPr>
                      <m:e>
                        <m:r>
                          <a:rPr lang="en-US" altLang="zh-CN" sz="2800" b="1" i="1" dirty="0" smtClean="0">
                            <a:solidFill>
                              <a:schemeClr val="tx1"/>
                            </a:solidFill>
                            <a:latin typeface="Cambria Math" panose="02040503050406030204" pitchFamily="18" charset="0"/>
                          </a:rPr>
                          <m:t>𝒓</m:t>
                        </m:r>
                      </m:e>
                    </m:d>
                    <m:r>
                      <a:rPr lang="en-US" altLang="zh-CN" sz="2800" b="0" i="1" dirty="0" smtClean="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𝑓</m:t>
                    </m:r>
                    <m:r>
                      <a:rPr lang="en-US" altLang="zh-CN" sz="2800" b="0" i="1" dirty="0" smtClean="0">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b="0" i="1" dirty="0" smtClean="0">
                        <a:solidFill>
                          <a:schemeClr val="tx1"/>
                        </a:solidFill>
                        <a:latin typeface="Cambria Math" panose="02040503050406030204" pitchFamily="18" charset="0"/>
                      </a:rPr>
                      <m:t>)</m:t>
                    </m:r>
                  </m:oMath>
                </a14:m>
                <a:r>
                  <a:rPr lang="en-US" altLang="zh-CN" sz="2800" dirty="0">
                    <a:solidFill>
                      <a:schemeClr val="tx1"/>
                    </a:solidFill>
                  </a:rPr>
                  <a:t>        [</a:t>
                </a:r>
                <a:r>
                  <a:rPr lang="zh-CN" altLang="en-US" sz="2800" dirty="0">
                    <a:solidFill>
                      <a:schemeClr val="tx1"/>
                    </a:solidFill>
                  </a:rPr>
                  <a:t>晶体中有</a:t>
                </a:r>
                <a14:m>
                  <m:oMath xmlns:m="http://schemas.openxmlformats.org/officeDocument/2006/math">
                    <m:r>
                      <a:rPr lang="en-US" altLang="zh-CN" sz="2800" i="1" dirty="0" smtClean="0">
                        <a:solidFill>
                          <a:schemeClr val="tx1"/>
                        </a:solidFill>
                        <a:latin typeface="Cambria Math" panose="02040503050406030204" pitchFamily="18" charset="0"/>
                      </a:rPr>
                      <m:t>𝑁</m:t>
                    </m:r>
                  </m:oMath>
                </a14:m>
                <a:r>
                  <a:rPr lang="zh-CN" altLang="en-US" sz="2800" dirty="0">
                    <a:solidFill>
                      <a:schemeClr val="tx1"/>
                    </a:solidFill>
                  </a:rPr>
                  <a:t>个平移算符</a:t>
                </a:r>
                <a:r>
                  <a:rPr lang="en-US" altLang="zh-CN" sz="2800" dirty="0">
                    <a:solidFill>
                      <a:schemeClr val="tx1"/>
                    </a:solidFill>
                  </a:rPr>
                  <a:t>]</a:t>
                </a:r>
              </a:p>
              <a:p>
                <a:r>
                  <a:rPr lang="zh-CN" altLang="en-US" sz="2800" dirty="0">
                    <a:solidFill>
                      <a:schemeClr val="tx1"/>
                    </a:solidFill>
                  </a:rPr>
                  <a:t>证明：</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r>
                      <a:rPr lang="en-US" altLang="zh-CN" sz="2800" i="1" dirty="0">
                        <a:solidFill>
                          <a:schemeClr val="tx1"/>
                        </a:solidFill>
                        <a:latin typeface="Cambria Math" panose="02040503050406030204" pitchFamily="18" charset="0"/>
                      </a:rPr>
                      <m:t>𝐻</m:t>
                    </m:r>
                    <m:r>
                      <a:rPr lang="en-US" altLang="zh-CN" sz="2800" b="0" i="1" dirty="0" smtClean="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𝐻</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oMath>
                </a14:m>
                <a:endParaRPr lang="en-US" altLang="zh-CN" sz="2800" dirty="0">
                  <a:solidFill>
                    <a:schemeClr val="tx1"/>
                  </a:solidFill>
                </a:endParaRPr>
              </a:p>
              <a:p>
                <a:r>
                  <a:rPr lang="zh-CN" altLang="en-US" sz="2800" dirty="0">
                    <a:solidFill>
                      <a:schemeClr val="tx1"/>
                    </a:solidFill>
                  </a:rPr>
                  <a:t>设</a:t>
                </a:r>
                <a14:m>
                  <m:oMath xmlns:m="http://schemas.openxmlformats.org/officeDocument/2006/math">
                    <m:r>
                      <a:rPr lang="en-US" altLang="zh-CN" sz="2800" i="1" dirty="0">
                        <a:solidFill>
                          <a:schemeClr val="tx1"/>
                        </a:solidFill>
                        <a:latin typeface="Cambria Math" panose="02040503050406030204" pitchFamily="18" charset="0"/>
                      </a:rPr>
                      <m:t>𝑓</m:t>
                    </m:r>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oMath>
                </a14:m>
                <a:r>
                  <a:rPr lang="zh-CN" altLang="en-US" sz="2800" dirty="0">
                    <a:solidFill>
                      <a:schemeClr val="tx1"/>
                    </a:solidFill>
                  </a:rPr>
                  <a:t>为任意函数，</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r>
                      <a:rPr lang="en-US" altLang="zh-CN" sz="2800" i="1" dirty="0">
                        <a:solidFill>
                          <a:schemeClr val="tx1"/>
                        </a:solidFill>
                        <a:latin typeface="Cambria Math" panose="02040503050406030204" pitchFamily="18" charset="0"/>
                      </a:rPr>
                      <m:t>𝐻</m:t>
                    </m:r>
                    <m:r>
                      <a:rPr lang="en-US" altLang="zh-CN" sz="2800" b="0" i="1" dirty="0" smtClean="0">
                        <a:solidFill>
                          <a:schemeClr val="tx1"/>
                        </a:solidFill>
                        <a:latin typeface="Cambria Math" panose="02040503050406030204" pitchFamily="18" charset="0"/>
                      </a:rPr>
                      <m:t>(</m:t>
                    </m:r>
                    <m:r>
                      <a:rPr lang="en-US" altLang="zh-CN" sz="2800" b="0" i="1" dirty="0" smtClean="0">
                        <a:solidFill>
                          <a:schemeClr val="tx1"/>
                        </a:solidFill>
                        <a:latin typeface="Cambria Math" panose="02040503050406030204" pitchFamily="18" charset="0"/>
                      </a:rPr>
                      <m:t>𝑟</m:t>
                    </m:r>
                    <m:r>
                      <a:rPr lang="en-US" altLang="zh-CN" sz="2800" b="0" i="1" dirty="0" smtClean="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𝑓</m:t>
                    </m:r>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oMath>
                </a14:m>
                <a:r>
                  <a:rPr lang="en-US" altLang="zh-CN" sz="2800" dirty="0">
                    <a:solidFill>
                      <a:schemeClr val="tx1"/>
                    </a:solidFill>
                  </a:rPr>
                  <a:t>=</a:t>
                </a:r>
                <a14:m>
                  <m:oMath xmlns:m="http://schemas.openxmlformats.org/officeDocument/2006/math">
                    <m:r>
                      <a:rPr lang="en-US" altLang="zh-CN" sz="2800" i="1" dirty="0">
                        <a:solidFill>
                          <a:schemeClr val="tx1"/>
                        </a:solidFill>
                        <a:latin typeface="Cambria Math" panose="02040503050406030204" pitchFamily="18" charset="0"/>
                      </a:rPr>
                      <m:t>𝐻</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𝑟</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𝑓</m:t>
                    </m:r>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e>
                    </m:d>
                  </m:oMath>
                </a14:m>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rPr>
                      <m:t>𝐻</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𝑟</m:t>
                    </m:r>
                    <m:r>
                      <a:rPr lang="en-US" altLang="zh-CN" sz="2800" i="1" dirty="0">
                        <a:solidFill>
                          <a:schemeClr val="tx1"/>
                        </a:solidFill>
                        <a:latin typeface="Cambria Math" panose="02040503050406030204" pitchFamily="18" charset="0"/>
                      </a:rPr>
                      <m:t>)</m:t>
                    </m:r>
                  </m:oMath>
                </a14:m>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rPr>
                      <m:t>𝑓</m:t>
                    </m:r>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e>
                    </m:d>
                  </m:oMath>
                </a14:m>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rPr>
                      <m:t>𝐻</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𝑟</m:t>
                    </m:r>
                    <m:r>
                      <a:rPr lang="en-US" altLang="zh-CN" sz="2800" i="1" dirty="0">
                        <a:solidFill>
                          <a:schemeClr val="tx1"/>
                        </a:solidFill>
                        <a:latin typeface="Cambria Math" panose="02040503050406030204" pitchFamily="18" charset="0"/>
                      </a:rPr>
                      <m:t>)</m:t>
                    </m:r>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r>
                      <a:rPr lang="en-US" altLang="zh-CN" sz="2800" i="1" dirty="0">
                        <a:solidFill>
                          <a:schemeClr val="tx1"/>
                        </a:solidFill>
                        <a:latin typeface="Cambria Math" panose="02040503050406030204" pitchFamily="18" charset="0"/>
                      </a:rPr>
                      <m:t>𝑓</m:t>
                    </m:r>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oMath>
                </a14:m>
                <a:endParaRPr lang="en-US" altLang="zh-CN" sz="2800" dirty="0">
                  <a:solidFill>
                    <a:schemeClr val="tx1"/>
                  </a:solidFill>
                </a:endParaRPr>
              </a:p>
              <a:p>
                <a:r>
                  <a:rPr lang="zh-CN" altLang="en-US" sz="2800" dirty="0">
                    <a:solidFill>
                      <a:schemeClr val="tx1"/>
                    </a:solidFill>
                  </a:rPr>
                  <a:t>因为</a:t>
                </a:r>
                <a14:m>
                  <m:oMath xmlns:m="http://schemas.openxmlformats.org/officeDocument/2006/math">
                    <m:r>
                      <a:rPr lang="en-US" altLang="zh-CN" sz="2800" i="1" dirty="0">
                        <a:solidFill>
                          <a:schemeClr val="tx1"/>
                        </a:solidFill>
                        <a:latin typeface="Cambria Math" panose="02040503050406030204" pitchFamily="18" charset="0"/>
                      </a:rPr>
                      <m:t>𝑓</m:t>
                    </m:r>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oMath>
                </a14:m>
                <a:r>
                  <a:rPr lang="zh-CN" altLang="en-US" sz="2800" dirty="0">
                    <a:solidFill>
                      <a:schemeClr val="tx1"/>
                    </a:solidFill>
                  </a:rPr>
                  <a:t>为任意函数，则有</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r>
                      <a:rPr lang="en-US" altLang="zh-CN" sz="2800" i="1" dirty="0">
                        <a:solidFill>
                          <a:schemeClr val="tx1"/>
                        </a:solidFill>
                        <a:latin typeface="Cambria Math" panose="02040503050406030204" pitchFamily="18" charset="0"/>
                      </a:rPr>
                      <m:t>𝐻</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𝑟</m:t>
                    </m:r>
                    <m:r>
                      <a:rPr lang="en-US" altLang="zh-CN" sz="2800" i="1" dirty="0">
                        <a:solidFill>
                          <a:schemeClr val="tx1"/>
                        </a:solidFill>
                        <a:latin typeface="Cambria Math" panose="02040503050406030204" pitchFamily="18" charset="0"/>
                      </a:rPr>
                      <m:t>)</m:t>
                    </m:r>
                  </m:oMath>
                </a14:m>
                <a:r>
                  <a:rPr lang="en-US" altLang="zh-CN" sz="2800" dirty="0">
                    <a:solidFill>
                      <a:schemeClr val="tx1"/>
                    </a:solidFill>
                  </a:rPr>
                  <a:t>=</a:t>
                </a:r>
                <a14:m>
                  <m:oMath xmlns:m="http://schemas.openxmlformats.org/officeDocument/2006/math">
                    <m:r>
                      <a:rPr lang="en-US" altLang="zh-CN" sz="2800" i="1" dirty="0">
                        <a:solidFill>
                          <a:schemeClr val="tx1"/>
                        </a:solidFill>
                        <a:latin typeface="Cambria Math" panose="02040503050406030204" pitchFamily="18" charset="0"/>
                      </a:rPr>
                      <m:t>𝐻</m:t>
                    </m:r>
                    <m:r>
                      <a:rPr lang="en-US" altLang="zh-CN"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𝑟</m:t>
                    </m:r>
                    <m:r>
                      <a:rPr lang="en-US" altLang="zh-CN" sz="2800" i="1" dirty="0">
                        <a:solidFill>
                          <a:schemeClr val="tx1"/>
                        </a:solidFill>
                        <a:latin typeface="Cambria Math" panose="02040503050406030204" pitchFamily="18" charset="0"/>
                      </a:rPr>
                      <m:t>)</m:t>
                    </m:r>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oMath>
                </a14:m>
                <a:r>
                  <a:rPr lang="zh-CN" altLang="en-US" sz="2800" dirty="0">
                    <a:solidFill>
                      <a:schemeClr val="tx1"/>
                    </a:solidFill>
                  </a:rPr>
                  <a:t>， 表明</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r>
                      <a:rPr lang="zh-CN" altLang="en-US" sz="2800" i="1" dirty="0">
                        <a:solidFill>
                          <a:schemeClr val="tx1"/>
                        </a:solidFill>
                        <a:latin typeface="Cambria Math" panose="02040503050406030204" pitchFamily="18" charset="0"/>
                      </a:rPr>
                      <m:t>和</m:t>
                    </m:r>
                    <m:r>
                      <a:rPr lang="en-US" altLang="zh-CN" sz="2800" i="1" dirty="0">
                        <a:solidFill>
                          <a:schemeClr val="tx1"/>
                        </a:solidFill>
                        <a:latin typeface="Cambria Math" panose="02040503050406030204" pitchFamily="18" charset="0"/>
                      </a:rPr>
                      <m:t>𝐻</m:t>
                    </m:r>
                  </m:oMath>
                </a14:m>
                <a:r>
                  <a:rPr lang="zh-CN" altLang="en-US" sz="2800" dirty="0">
                    <a:solidFill>
                      <a:schemeClr val="tx1"/>
                    </a:solidFill>
                  </a:rPr>
                  <a:t>有共同本征函数</a:t>
                </a:r>
                <a:endParaRPr lang="en-US" altLang="zh-CN" sz="2800" dirty="0">
                  <a:solidFill>
                    <a:schemeClr val="tx1"/>
                  </a:solidFill>
                </a:endParaRPr>
              </a:p>
              <a:p>
                <a:r>
                  <a:rPr lang="zh-CN" altLang="en-US" sz="2800" dirty="0">
                    <a:solidFill>
                      <a:schemeClr val="tx1"/>
                    </a:solidFill>
                  </a:rPr>
                  <a:t>求</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oMath>
                </a14:m>
                <a:r>
                  <a:rPr lang="zh-CN" altLang="en-US" sz="2800" dirty="0">
                    <a:solidFill>
                      <a:schemeClr val="tx1"/>
                    </a:solidFill>
                  </a:rPr>
                  <a:t>的本征函数：</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smtClean="0">
                            <a:solidFill>
                              <a:schemeClr val="tx1"/>
                            </a:solidFill>
                            <a:latin typeface="Cambria Math" panose="02040503050406030204" pitchFamily="18" charset="0"/>
                            <a:sym typeface="Symbol" panose="05050102010706020507" pitchFamily="18" charset="2"/>
                          </a:rPr>
                          <m:t></m:t>
                        </m:r>
                      </m:e>
                      <m:sub>
                        <m:r>
                          <a:rPr lang="en-US" altLang="zh-CN" sz="2800" i="1" dirty="0">
                            <a:solidFill>
                              <a:schemeClr val="tx1"/>
                            </a:solidFill>
                            <a:latin typeface="Cambria Math" panose="02040503050406030204" pitchFamily="18" charset="0"/>
                          </a:rPr>
                          <m:t>𝑙</m:t>
                        </m:r>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令</a:t>
                </a:r>
                <a14:m>
                  <m:oMath xmlns:m="http://schemas.openxmlformats.org/officeDocument/2006/math">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b="1" i="1">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a:rPr lang="en-US" altLang="zh-CN" sz="2800" b="0" i="1" dirty="0" smtClean="0">
                        <a:solidFill>
                          <a:schemeClr val="tx1"/>
                        </a:solidFill>
                        <a:latin typeface="Cambria Math" panose="02040503050406030204" pitchFamily="18" charset="0"/>
                        <a:sym typeface="Symbol" panose="05050102010706020507" pitchFamily="18" charset="2"/>
                      </a:rPr>
                      <m:t>        </m:t>
                    </m:r>
                  </m:oMath>
                </a14:m>
                <a:endParaRPr lang="en-US" altLang="zh-CN" sz="2800" b="0" i="1" dirty="0">
                  <a:solidFill>
                    <a:schemeClr val="tx1"/>
                  </a:solidFill>
                  <a:latin typeface="Cambria Math" panose="02040503050406030204" pitchFamily="18" charset="0"/>
                  <a:sym typeface="Symbol" panose="05050102010706020507" pitchFamily="18" charset="2"/>
                </a:endParaRPr>
              </a:p>
              <a:p>
                <a14:m>
                  <m:oMath xmlns:m="http://schemas.openxmlformats.org/officeDocument/2006/math">
                    <m:r>
                      <a:rPr lang="zh-CN" altLang="en-US" sz="2800" i="1" dirty="0">
                        <a:solidFill>
                          <a:schemeClr val="tx1"/>
                        </a:solidFill>
                        <a:latin typeface="Cambria Math" panose="02040503050406030204" pitchFamily="18" charset="0"/>
                        <a:sym typeface="Symbol" panose="05050102010706020507" pitchFamily="18" charset="2"/>
                      </a:rPr>
                      <m:t>则</m:t>
                    </m:r>
                    <m:r>
                      <a:rPr lang="en-US" altLang="zh-CN" sz="2800" b="0" i="1" dirty="0" smtClean="0">
                        <a:solidFill>
                          <a:schemeClr val="tx1"/>
                        </a:solidFill>
                        <a:latin typeface="Cambria Math" panose="02040503050406030204" pitchFamily="18" charset="0"/>
                        <a:sym typeface="Symbol" panose="05050102010706020507" pitchFamily="18" charset="2"/>
                      </a:rPr>
                      <m:t>   </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sSub>
                              <m:sSubPr>
                                <m:ctrlPr>
                                  <a:rPr lang="en-US" altLang="zh-CN"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𝑁</m:t>
                                </m:r>
                              </m:e>
                              <m:sub>
                                <m:r>
                                  <a:rPr lang="en-US" altLang="zh-CN" sz="2800" b="0" i="1" dirty="0" smtClean="0">
                                    <a:solidFill>
                                      <a:schemeClr val="tx1"/>
                                    </a:solidFill>
                                    <a:latin typeface="Cambria Math" panose="02040503050406030204" pitchFamily="18" charset="0"/>
                                  </a:rPr>
                                  <m:t>1</m:t>
                                </m:r>
                              </m:sub>
                            </m:sSub>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a:rPr lang="en-US" altLang="zh-CN" sz="2800" i="1" dirty="0">
                        <a:solidFill>
                          <a:schemeClr val="tx1"/>
                        </a:solidFill>
                        <a:latin typeface="Cambria Math" panose="02040503050406030204" pitchFamily="18" charset="0"/>
                        <a:ea typeface="Cambria Math" panose="02040503050406030204" pitchFamily="18" charset="0"/>
                      </a:rPr>
                      <m:t>⋯</m:t>
                    </m:r>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sSup>
                      <m:sSupPr>
                        <m:ctrlPr>
                          <a:rPr lang="en-US" altLang="zh-CN" sz="2800" b="0" i="1" dirty="0" smtClean="0">
                            <a:solidFill>
                              <a:schemeClr val="tx1"/>
                            </a:solidFill>
                            <a:latin typeface="Cambria Math" panose="02040503050406030204" pitchFamily="18" charset="0"/>
                            <a:sym typeface="Symbol" panose="05050102010706020507" pitchFamily="18" charset="2"/>
                          </a:rPr>
                        </m:ctrlPr>
                      </m:sSupPr>
                      <m:e>
                        <m:r>
                          <a:rPr lang="en-US" altLang="zh-CN" sz="2800" b="0" i="1" dirty="0" smtClean="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a:rPr lang="en-US" altLang="zh-CN" sz="2800" b="0" i="1" dirty="0" smtClean="0">
                            <a:solidFill>
                              <a:schemeClr val="tx1"/>
                            </a:solidFill>
                            <a:latin typeface="Cambria Math" panose="02040503050406030204" pitchFamily="18" charset="0"/>
                            <a:sym typeface="Symbol" panose="05050102010706020507" pitchFamily="18" charset="2"/>
                          </a:rPr>
                          <m:t>)</m:t>
                        </m:r>
                      </m:e>
                      <m:sup>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sup>
                    </m:sSup>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24933" y="1675488"/>
                <a:ext cx="11582399" cy="5220660"/>
              </a:xfrm>
              <a:prstGeom prst="rect">
                <a:avLst/>
              </a:prstGeom>
              <a:blipFill rotWithShape="1">
                <a:blip r:embed="rId3"/>
                <a:stretch>
                  <a:fillRect l="-1316" t="-1519" r="-158" b="-11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218746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535777" y="1103452"/>
                <a:ext cx="3600690"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35777" y="1103452"/>
                <a:ext cx="3600690"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676742" y="1581842"/>
                <a:ext cx="10423277" cy="4893840"/>
              </a:xfrm>
              <a:prstGeom prst="rect">
                <a:avLst/>
              </a:prstGeom>
              <a:noFill/>
            </p:spPr>
            <p:txBody>
              <a:bodyPr wrap="square" rtlCol="0">
                <a:spAutoFit/>
              </a:bodyPr>
              <a:lstStyle/>
              <a:p>
                <a:r>
                  <a:rPr lang="en-US" altLang="zh-CN" sz="3200" b="1" dirty="0">
                    <a:solidFill>
                      <a:schemeClr val="tx1"/>
                    </a:solidFill>
                  </a:rPr>
                  <a:t>7.1.2 </a:t>
                </a:r>
                <a:r>
                  <a:rPr lang="zh-CN" altLang="en-US" sz="3200" b="1" dirty="0">
                    <a:solidFill>
                      <a:schemeClr val="tx1"/>
                    </a:solidFill>
                  </a:rPr>
                  <a:t>布洛赫波</a:t>
                </a:r>
                <a:endParaRPr lang="en-US" altLang="zh-CN" sz="3200" b="1" dirty="0">
                  <a:solidFill>
                    <a:schemeClr val="tx1"/>
                  </a:solidFill>
                </a:endParaRPr>
              </a:p>
              <a:p>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sSub>
                              <m:sSubPr>
                                <m:ctrlPr>
                                  <a:rPr lang="en-US" altLang="zh-CN"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𝑁</m:t>
                                </m:r>
                              </m:e>
                              <m:sub>
                                <m:r>
                                  <a:rPr lang="en-US" altLang="zh-CN" sz="2800" b="0" i="1" dirty="0" smtClean="0">
                                    <a:solidFill>
                                      <a:schemeClr val="tx1"/>
                                    </a:solidFill>
                                    <a:latin typeface="Cambria Math" panose="02040503050406030204" pitchFamily="18" charset="0"/>
                                  </a:rPr>
                                  <m:t>1</m:t>
                                </m:r>
                              </m:sub>
                            </m:sSub>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oMath>
                </a14:m>
                <a:r>
                  <a:rPr lang="en-US" altLang="zh-CN" sz="2800" dirty="0">
                    <a:solidFill>
                      <a:schemeClr val="tx1"/>
                    </a:solidFill>
                    <a:ea typeface="Cambria Math" panose="02040503050406030204" pitchFamily="18" charset="0"/>
                  </a:rPr>
                  <a:t> </a:t>
                </a:r>
                <a14:m>
                  <m:oMath xmlns:m="http://schemas.openxmlformats.org/officeDocument/2006/math">
                    <m:r>
                      <a:rPr lang="en-US" altLang="zh-CN" sz="2800" i="1" dirty="0">
                        <a:solidFill>
                          <a:schemeClr val="tx1"/>
                        </a:solidFill>
                        <a:latin typeface="Cambria Math" panose="02040503050406030204" pitchFamily="18" charset="0"/>
                        <a:ea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sSup>
                      <m:sSupPr>
                        <m:ctrlPr>
                          <a:rPr lang="en-US" altLang="zh-CN" sz="2800" b="0" i="1" dirty="0" smtClean="0">
                            <a:solidFill>
                              <a:schemeClr val="tx1"/>
                            </a:solidFill>
                            <a:latin typeface="Cambria Math" panose="02040503050406030204" pitchFamily="18" charset="0"/>
                            <a:sym typeface="Symbol" panose="05050102010706020507" pitchFamily="18" charset="2"/>
                          </a:rPr>
                        </m:ctrlPr>
                      </m:sSupPr>
                      <m:e>
                        <m:r>
                          <a:rPr lang="en-US" altLang="zh-CN" sz="2800" b="0" i="1" dirty="0" smtClean="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a:rPr lang="en-US" altLang="zh-CN" sz="2800" b="0" i="1" dirty="0" smtClean="0">
                            <a:solidFill>
                              <a:schemeClr val="tx1"/>
                            </a:solidFill>
                            <a:latin typeface="Cambria Math" panose="02040503050406030204" pitchFamily="18" charset="0"/>
                            <a:sym typeface="Symbol" panose="05050102010706020507" pitchFamily="18" charset="2"/>
                          </a:rPr>
                          <m:t>)</m:t>
                        </m:r>
                      </m:e>
                      <m:sup>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sup>
                    </m:sSup>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周期性边界条件：</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sym typeface="Symbol" panose="05050102010706020507" pitchFamily="18" charset="2"/>
                  </a:rPr>
                  <a:t> =</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则有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sSub>
                          <m:sSubPr>
                            <m:ctrlPr>
                              <a:rPr lang="en-US" altLang="zh-CN" sz="2800" i="1" dirty="0">
                                <a:solidFill>
                                  <a:schemeClr val="tx1"/>
                                </a:solidFill>
                                <a:latin typeface="Cambria Math" panose="02040503050406030204" pitchFamily="18" charset="0"/>
                              </a:rPr>
                            </m:ctrlPr>
                          </m:sSubPr>
                          <m:e>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dirty="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a:rPr lang="en-US" altLang="zh-CN" sz="2800" i="1" dirty="0">
                            <a:solidFill>
                              <a:schemeClr val="tx1"/>
                            </a:solidFill>
                            <a:latin typeface="Cambria Math" panose="02040503050406030204" pitchFamily="18" charset="0"/>
                            <a:sym typeface="Symbol" panose="05050102010706020507" pitchFamily="18" charset="2"/>
                          </a:rPr>
                          <m:t>)</m:t>
                        </m:r>
                      </m:e>
                      <m:sup>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sup>
                    </m:sSup>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则有 </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a:rPr lang="en-US" altLang="zh-CN" sz="2800" i="1" dirty="0">
                            <a:solidFill>
                              <a:schemeClr val="tx1"/>
                            </a:solidFill>
                            <a:latin typeface="Cambria Math" panose="02040503050406030204" pitchFamily="18" charset="0"/>
                            <a:sym typeface="Symbol" panose="05050102010706020507" pitchFamily="18" charset="2"/>
                          </a:rPr>
                          <m:t>)</m:t>
                        </m:r>
                      </m:e>
                      <m:sup>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sup>
                    </m:sSup>
                    <m:r>
                      <a:rPr lang="en-US" altLang="zh-CN" sz="2800" i="1" dirty="0">
                        <a:solidFill>
                          <a:schemeClr val="tx1"/>
                        </a:solidFill>
                        <a:latin typeface="Cambria Math" panose="02040503050406030204" pitchFamily="18" charset="0"/>
                      </a:rPr>
                      <m:t>=</m:t>
                    </m:r>
                  </m:oMath>
                </a14:m>
                <a:r>
                  <a:rPr lang="en-US" altLang="zh-CN" sz="2800" dirty="0">
                    <a:solidFill>
                      <a:schemeClr val="tx1"/>
                    </a:solidFill>
                  </a:rPr>
                  <a:t>1</a:t>
                </a:r>
                <a:r>
                  <a:rPr lang="zh-CN" altLang="en-US" sz="2800" dirty="0">
                    <a:solidFill>
                      <a:schemeClr val="tx1"/>
                    </a:solidFill>
                  </a:rPr>
                  <a:t>，所以</a:t>
                </a:r>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sub>
                    </m:sSub>
                    <m:r>
                      <a:rPr lang="en-US" altLang="zh-CN" sz="2800" i="1" dirty="0">
                        <a:solidFill>
                          <a:schemeClr val="tx1"/>
                        </a:solidFill>
                        <a:latin typeface="Cambria Math" panose="02040503050406030204" pitchFamily="18" charset="0"/>
                      </a:rPr>
                      <m:t>=</m:t>
                    </m:r>
                    <m:sSup>
                      <m:sSupPr>
                        <m:ctrlPr>
                          <a:rPr lang="en-US" altLang="zh-CN" sz="2800" i="1" dirty="0" smtClean="0">
                            <a:solidFill>
                              <a:schemeClr val="tx1"/>
                            </a:solidFill>
                            <a:latin typeface="Cambria Math" panose="02040503050406030204" pitchFamily="18" charset="0"/>
                          </a:rPr>
                        </m:ctrlPr>
                      </m:sSupPr>
                      <m:e>
                        <m:r>
                          <a:rPr lang="en-US" altLang="zh-CN" sz="2800" i="1" dirty="0" smtClean="0">
                            <a:solidFill>
                              <a:schemeClr val="tx1"/>
                            </a:solidFill>
                            <a:latin typeface="Cambria Math" panose="02040503050406030204" pitchFamily="18" charset="0"/>
                          </a:rPr>
                          <m:t>𝑒</m:t>
                        </m:r>
                      </m:e>
                      <m:sup>
                        <m:r>
                          <a:rPr lang="en-US" altLang="zh-CN" sz="2800" i="1" dirty="0" smtClean="0">
                            <a:solidFill>
                              <a:schemeClr val="tx1"/>
                            </a:solidFill>
                            <a:latin typeface="Cambria Math" panose="02040503050406030204" pitchFamily="18" charset="0"/>
                          </a:rPr>
                          <m:t>𝑖</m:t>
                        </m:r>
                        <m:f>
                          <m:fPr>
                            <m:ctrlPr>
                              <a:rPr lang="en-US" altLang="zh-CN" sz="2800" i="1" dirty="0" smtClean="0">
                                <a:solidFill>
                                  <a:schemeClr val="tx1"/>
                                </a:solidFill>
                                <a:latin typeface="Cambria Math" panose="02040503050406030204" pitchFamily="18" charset="0"/>
                              </a:rPr>
                            </m:ctrlPr>
                          </m:fPr>
                          <m:num>
                            <m:r>
                              <a:rPr lang="en-US" altLang="zh-CN" sz="2800" i="1" dirty="0">
                                <a:solidFill>
                                  <a:schemeClr val="tx1"/>
                                </a:solidFill>
                                <a:latin typeface="Cambria Math" panose="02040503050406030204" pitchFamily="18" charset="0"/>
                              </a:rPr>
                              <m:t>2</m:t>
                            </m:r>
                            <m:r>
                              <a:rPr lang="zh-CN" altLang="en-US" sz="2800" i="1" dirty="0" smtClean="0">
                                <a:solidFill>
                                  <a:schemeClr val="tx1"/>
                                </a:solidFill>
                                <a:latin typeface="Cambria Math" panose="02040503050406030204" pitchFamily="18" charset="0"/>
                              </a:rPr>
                              <m:t>𝜋</m:t>
                            </m:r>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den>
                        </m:f>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𝑡</m:t>
                            </m:r>
                          </m:e>
                          <m:sub>
                            <m:r>
                              <a:rPr lang="en-US" altLang="zh-CN" sz="2800" i="1" dirty="0">
                                <a:solidFill>
                                  <a:schemeClr val="tx1"/>
                                </a:solidFill>
                                <a:latin typeface="Cambria Math" panose="02040503050406030204" pitchFamily="18" charset="0"/>
                              </a:rPr>
                              <m:t>1</m:t>
                            </m:r>
                          </m:sub>
                        </m:sSub>
                      </m:sup>
                    </m:sSup>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a:solidFill>
                              <a:schemeClr val="tx1"/>
                            </a:solidFill>
                            <a:latin typeface="Cambria Math" panose="02040503050406030204" pitchFamily="18" charset="0"/>
                          </a:rPr>
                          <m:t>1</m:t>
                        </m:r>
                      </m:sub>
                    </m:sSub>
                  </m:oMath>
                </a14:m>
                <a:r>
                  <a:rPr lang="zh-CN" altLang="en-US" sz="2800" dirty="0">
                    <a:solidFill>
                      <a:schemeClr val="tx1"/>
                    </a:solidFill>
                  </a:rPr>
                  <a:t>为任意整数</a:t>
                </a:r>
                <a:endParaRPr lang="en-US" altLang="zh-CN" sz="2800" dirty="0">
                  <a:solidFill>
                    <a:schemeClr val="tx1"/>
                  </a:solidFill>
                </a:endParaRPr>
              </a:p>
              <a:p>
                <a:r>
                  <a:rPr lang="zh-CN" altLang="en-US" sz="2800" dirty="0">
                    <a:solidFill>
                      <a:schemeClr val="tx1"/>
                    </a:solidFill>
                  </a:rPr>
                  <a:t>同理，</a:t>
                </a:r>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b="1" i="1" dirty="0">
                                <a:solidFill>
                                  <a:schemeClr val="tx1"/>
                                </a:solidFill>
                                <a:latin typeface="Cambria Math" panose="02040503050406030204" pitchFamily="18" charset="0"/>
                              </a:rPr>
                              <m:t>2</m:t>
                            </m:r>
                          </m:sub>
                        </m:sSub>
                      </m:sub>
                    </m:sSub>
                    <m:r>
                      <a:rPr lang="en-US" altLang="zh-CN" sz="2800" i="1" dirty="0">
                        <a:solidFill>
                          <a:schemeClr val="tx1"/>
                        </a:solidFill>
                        <a:latin typeface="Cambria Math" panose="02040503050406030204" pitchFamily="18" charset="0"/>
                      </a:rPr>
                      <m:t>=</m:t>
                    </m:r>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𝑒</m:t>
                        </m:r>
                      </m:e>
                      <m:sup>
                        <m:r>
                          <a:rPr lang="en-US" altLang="zh-CN" sz="2800" i="1" dirty="0">
                            <a:solidFill>
                              <a:schemeClr val="tx1"/>
                            </a:solidFill>
                            <a:latin typeface="Cambria Math" panose="02040503050406030204" pitchFamily="18" charset="0"/>
                          </a:rPr>
                          <m:t>𝑖</m:t>
                        </m:r>
                        <m:f>
                          <m:fPr>
                            <m:ctrlPr>
                              <a:rPr lang="en-US" altLang="zh-CN" sz="2800" i="1" dirty="0">
                                <a:solidFill>
                                  <a:schemeClr val="tx1"/>
                                </a:solidFill>
                                <a:latin typeface="Cambria Math" panose="02040503050406030204" pitchFamily="18" charset="0"/>
                              </a:rPr>
                            </m:ctrlPr>
                          </m:fPr>
                          <m:num>
                            <m:r>
                              <a:rPr lang="en-US" altLang="zh-CN" sz="2800" i="1" dirty="0">
                                <a:solidFill>
                                  <a:schemeClr val="tx1"/>
                                </a:solidFill>
                                <a:latin typeface="Cambria Math" panose="02040503050406030204" pitchFamily="18" charset="0"/>
                              </a:rPr>
                              <m:t>2</m:t>
                            </m:r>
                            <m:r>
                              <a:rPr lang="zh-CN" altLang="en-US" sz="2800" i="1" dirty="0">
                                <a:solidFill>
                                  <a:schemeClr val="tx1"/>
                                </a:solidFill>
                                <a:latin typeface="Cambria Math" panose="02040503050406030204" pitchFamily="18" charset="0"/>
                              </a:rPr>
                              <m:t>𝜋</m:t>
                            </m:r>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2</m:t>
                                </m:r>
                              </m:sub>
                            </m:sSub>
                          </m:den>
                        </m:f>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smtClean="0">
                                <a:solidFill>
                                  <a:schemeClr val="tx1"/>
                                </a:solidFill>
                                <a:latin typeface="Cambria Math" panose="02040503050406030204" pitchFamily="18" charset="0"/>
                              </a:rPr>
                              <m:t>2</m:t>
                            </m:r>
                          </m:sub>
                        </m:sSub>
                      </m:sup>
                    </m:sSup>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a:solidFill>
                              <a:schemeClr val="tx1"/>
                            </a:solidFill>
                            <a:latin typeface="Cambria Math" panose="02040503050406030204" pitchFamily="18" charset="0"/>
                          </a:rPr>
                          <m:t>2</m:t>
                        </m:r>
                      </m:sub>
                    </m:sSub>
                  </m:oMath>
                </a14:m>
                <a:r>
                  <a:rPr lang="zh-CN" altLang="en-US" sz="2800" dirty="0">
                    <a:solidFill>
                      <a:schemeClr val="tx1"/>
                    </a:solidFill>
                  </a:rPr>
                  <a:t>为任意整数</a:t>
                </a:r>
                <a:endParaRPr lang="en-US" altLang="zh-CN" sz="2800" dirty="0">
                  <a:solidFill>
                    <a:schemeClr val="tx1"/>
                  </a:solidFill>
                </a:endParaRPr>
              </a:p>
              <a:p>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sym typeface="Symbol" panose="05050102010706020507" pitchFamily="18" charset="2"/>
                          </a:rPr>
                          <m:t></m:t>
                        </m:r>
                      </m:e>
                      <m: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b="1" i="1" dirty="0">
                                <a:solidFill>
                                  <a:schemeClr val="tx1"/>
                                </a:solidFill>
                                <a:latin typeface="Cambria Math" panose="02040503050406030204" pitchFamily="18" charset="0"/>
                              </a:rPr>
                              <m:t>3</m:t>
                            </m:r>
                          </m:sub>
                        </m:sSub>
                      </m:sub>
                    </m:sSub>
                    <m:r>
                      <a:rPr lang="en-US" altLang="zh-CN" sz="2800" i="1" dirty="0">
                        <a:solidFill>
                          <a:schemeClr val="tx1"/>
                        </a:solidFill>
                        <a:latin typeface="Cambria Math" panose="02040503050406030204" pitchFamily="18" charset="0"/>
                      </a:rPr>
                      <m:t>=</m:t>
                    </m:r>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𝑒</m:t>
                        </m:r>
                      </m:e>
                      <m:sup>
                        <m:r>
                          <a:rPr lang="en-US" altLang="zh-CN" sz="2800" i="1" dirty="0">
                            <a:solidFill>
                              <a:schemeClr val="tx1"/>
                            </a:solidFill>
                            <a:latin typeface="Cambria Math" panose="02040503050406030204" pitchFamily="18" charset="0"/>
                          </a:rPr>
                          <m:t>𝑖</m:t>
                        </m:r>
                        <m:f>
                          <m:fPr>
                            <m:ctrlPr>
                              <a:rPr lang="en-US" altLang="zh-CN" sz="2800" i="1" dirty="0">
                                <a:solidFill>
                                  <a:schemeClr val="tx1"/>
                                </a:solidFill>
                                <a:latin typeface="Cambria Math" panose="02040503050406030204" pitchFamily="18" charset="0"/>
                              </a:rPr>
                            </m:ctrlPr>
                          </m:fPr>
                          <m:num>
                            <m:r>
                              <a:rPr lang="en-US" altLang="zh-CN" sz="2800" i="1" dirty="0">
                                <a:solidFill>
                                  <a:schemeClr val="tx1"/>
                                </a:solidFill>
                                <a:latin typeface="Cambria Math" panose="02040503050406030204" pitchFamily="18" charset="0"/>
                              </a:rPr>
                              <m:t>2</m:t>
                            </m:r>
                            <m:r>
                              <a:rPr lang="zh-CN" altLang="en-US" sz="2800" i="1" dirty="0">
                                <a:solidFill>
                                  <a:schemeClr val="tx1"/>
                                </a:solidFill>
                                <a:latin typeface="Cambria Math" panose="02040503050406030204" pitchFamily="18" charset="0"/>
                              </a:rPr>
                              <m:t>𝜋</m:t>
                            </m:r>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3</m:t>
                                </m:r>
                              </m:sub>
                            </m:sSub>
                          </m:den>
                        </m:f>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smtClean="0">
                                <a:solidFill>
                                  <a:schemeClr val="tx1"/>
                                </a:solidFill>
                                <a:latin typeface="Cambria Math" panose="02040503050406030204" pitchFamily="18" charset="0"/>
                              </a:rPr>
                              <m:t>3</m:t>
                            </m:r>
                          </m:sub>
                        </m:sSub>
                      </m:sup>
                    </m:sSup>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a:solidFill>
                              <a:schemeClr val="tx1"/>
                            </a:solidFill>
                            <a:latin typeface="Cambria Math" panose="02040503050406030204" pitchFamily="18" charset="0"/>
                          </a:rPr>
                          <m:t>3</m:t>
                        </m:r>
                      </m:sub>
                    </m:sSub>
                  </m:oMath>
                </a14:m>
                <a:r>
                  <a:rPr lang="zh-CN" altLang="en-US" sz="2800" dirty="0">
                    <a:solidFill>
                      <a:schemeClr val="tx1"/>
                    </a:solidFill>
                  </a:rPr>
                  <a:t>为任意整数</a:t>
                </a:r>
                <a:endParaRPr lang="en-US" altLang="zh-CN" sz="2800" dirty="0">
                  <a:solidFill>
                    <a:schemeClr val="tx1"/>
                  </a:solidFill>
                </a:endParaRPr>
              </a:p>
              <a:p>
                <a:endParaRPr lang="en-US" altLang="zh-CN" sz="2800" dirty="0">
                  <a:solidFill>
                    <a:schemeClr val="tx1"/>
                  </a:solidFill>
                </a:endParaRPr>
              </a:p>
              <a:p>
                <a:r>
                  <a:rPr lang="zh-CN" altLang="en-US" sz="2800" dirty="0">
                    <a:solidFill>
                      <a:schemeClr val="tx1"/>
                    </a:solidFill>
                  </a:rPr>
                  <a:t>则：</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p>
            </p:txBody>
          </p:sp>
        </mc:Choice>
        <mc:Fallback xmlns="">
          <p:sp>
            <p:nvSpPr>
              <p:cNvPr id="9" name="文本框 8"/>
              <p:cNvSpPr txBox="1">
                <a:spLocks noRot="1" noChangeAspect="1" noMove="1" noResize="1" noEditPoints="1" noAdjustHandles="1" noChangeArrowheads="1" noChangeShapeType="1" noTextEdit="1"/>
              </p:cNvSpPr>
              <p:nvPr/>
            </p:nvSpPr>
            <p:spPr>
              <a:xfrm>
                <a:off x="676742" y="1581842"/>
                <a:ext cx="10423277" cy="4893840"/>
              </a:xfrm>
              <a:prstGeom prst="rect">
                <a:avLst/>
              </a:prstGeom>
              <a:blipFill rotWithShape="1">
                <a:blip r:embed="rId3"/>
                <a:stretch>
                  <a:fillRect l="-1462" t="-1619" b="-22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0633124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535777" y="1103452"/>
                <a:ext cx="3600690"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35777" y="1103452"/>
                <a:ext cx="3600690"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676742" y="1581842"/>
                <a:ext cx="10423277" cy="4542975"/>
              </a:xfrm>
              <a:prstGeom prst="rect">
                <a:avLst/>
              </a:prstGeom>
              <a:noFill/>
            </p:spPr>
            <p:txBody>
              <a:bodyPr wrap="square" rtlCol="0">
                <a:spAutoFit/>
              </a:bodyPr>
              <a:lstStyle/>
              <a:p>
                <a:r>
                  <a:rPr lang="en-US" altLang="zh-CN" sz="3200" b="1" dirty="0">
                    <a:solidFill>
                      <a:schemeClr val="tx1"/>
                    </a:solidFill>
                  </a:rPr>
                  <a:t>7.1.2 </a:t>
                </a:r>
                <a:r>
                  <a:rPr lang="zh-CN" altLang="en-US" sz="3200" b="1" dirty="0">
                    <a:solidFill>
                      <a:schemeClr val="tx1"/>
                    </a:solidFill>
                  </a:rPr>
                  <a:t>布洛赫波</a:t>
                </a:r>
                <a:endParaRPr lang="en-US" altLang="zh-CN" sz="3200" b="1" dirty="0">
                  <a:solidFill>
                    <a:schemeClr val="tx1"/>
                  </a:solidFill>
                </a:endParaRPr>
              </a:p>
              <a:p>
                <a:r>
                  <a:rPr lang="zh-CN" altLang="en-US" sz="2800" dirty="0">
                    <a:solidFill>
                      <a:schemeClr val="tx1"/>
                    </a:solidFill>
                  </a:rPr>
                  <a:t>则：</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𝑇</m:t>
                        </m:r>
                      </m:e>
                      <m:sub>
                        <m:r>
                          <a:rPr lang="en-US" altLang="zh-CN" sz="2800" i="1" dirty="0">
                            <a:solidFill>
                              <a:schemeClr val="tx1"/>
                            </a:solidFill>
                            <a:latin typeface="Cambria Math" panose="02040503050406030204" pitchFamily="18" charset="0"/>
                          </a:rPr>
                          <m:t>𝑙</m:t>
                        </m:r>
                      </m:sub>
                    </m:sSub>
                  </m:oMath>
                </a14:m>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𝑙</m:t>
                        </m:r>
                      </m:e>
                      <m:sub>
                        <m:r>
                          <a:rPr lang="en-US" altLang="zh-CN" sz="2800" i="1" dirty="0">
                            <a:solidFill>
                              <a:schemeClr val="tx1"/>
                            </a:solidFill>
                            <a:latin typeface="Cambria Math" panose="02040503050406030204" pitchFamily="18" charset="0"/>
                          </a:rPr>
                          <m:t>1</m:t>
                        </m:r>
                      </m:sub>
                    </m:s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i="1" dirty="0">
                            <a:solidFill>
                              <a:schemeClr val="tx1"/>
                            </a:solidFill>
                            <a:latin typeface="Cambria Math" panose="02040503050406030204" pitchFamily="18" charset="0"/>
                          </a:rPr>
                          <m:t>1</m:t>
                        </m:r>
                      </m:sub>
                    </m:sSub>
                    <m:r>
                      <a:rPr lang="en-US" altLang="zh-CN" sz="2800" b="0" i="1"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𝑙</m:t>
                        </m:r>
                      </m:e>
                      <m:sub>
                        <m:r>
                          <a:rPr lang="en-US" altLang="zh-CN" sz="2800" b="0" i="1" dirty="0" smtClean="0">
                            <a:solidFill>
                              <a:schemeClr val="tx1"/>
                            </a:solidFill>
                            <a:latin typeface="Cambria Math" panose="02040503050406030204" pitchFamily="18" charset="0"/>
                          </a:rPr>
                          <m:t>2</m:t>
                        </m:r>
                      </m:sub>
                    </m:s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b="0" i="1" dirty="0" smtClean="0">
                            <a:solidFill>
                              <a:schemeClr val="tx1"/>
                            </a:solidFill>
                            <a:latin typeface="Cambria Math" panose="02040503050406030204" pitchFamily="18" charset="0"/>
                          </a:rPr>
                          <m:t>2</m:t>
                        </m:r>
                      </m:sub>
                    </m:sSub>
                    <m:r>
                      <a:rPr lang="en-US" altLang="zh-CN" sz="2800" b="0" i="1" dirty="0" smtClean="0">
                        <a:solidFill>
                          <a:schemeClr val="tx1"/>
                        </a:solidFill>
                        <a:latin typeface="Cambria Math" panose="02040503050406030204" pitchFamily="18" charset="0"/>
                      </a:rPr>
                      <m:t>+</m:t>
                    </m:r>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𝑙</m:t>
                        </m:r>
                      </m:e>
                      <m:sub>
                        <m:r>
                          <a:rPr lang="en-US" altLang="zh-CN" sz="2800" b="0" i="1" dirty="0" smtClean="0">
                            <a:solidFill>
                              <a:schemeClr val="tx1"/>
                            </a:solidFill>
                            <a:latin typeface="Cambria Math" panose="02040503050406030204" pitchFamily="18" charset="0"/>
                          </a:rPr>
                          <m:t>3</m:t>
                        </m:r>
                      </m:sub>
                    </m:sSub>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𝒂</m:t>
                        </m:r>
                      </m:e>
                      <m:sub>
                        <m:r>
                          <a:rPr lang="en-US" altLang="zh-CN" sz="2800" b="0" i="1" dirty="0" smtClean="0">
                            <a:solidFill>
                              <a:schemeClr val="tx1"/>
                            </a:solidFill>
                            <a:latin typeface="Cambria Math" panose="02040503050406030204" pitchFamily="18" charset="0"/>
                          </a:rPr>
                          <m:t>3</m:t>
                        </m:r>
                      </m:sub>
                    </m:sSub>
                    <m:r>
                      <a:rPr lang="en-US" altLang="zh-CN" sz="2800" b="1" i="1" smtClean="0">
                        <a:solidFill>
                          <a:schemeClr val="tx1"/>
                        </a:solidFill>
                        <a:latin typeface="Cambria Math" panose="02040503050406030204" pitchFamily="18" charset="0"/>
                      </a:rPr>
                      <m:t>)=</m:t>
                    </m:r>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𝑒</m:t>
                        </m:r>
                      </m:e>
                      <m:sup>
                        <m:r>
                          <a:rPr lang="en-US" altLang="zh-CN" sz="2800" i="1" dirty="0">
                            <a:solidFill>
                              <a:schemeClr val="tx1"/>
                            </a:solidFill>
                            <a:latin typeface="Cambria Math" panose="02040503050406030204" pitchFamily="18" charset="0"/>
                          </a:rPr>
                          <m:t>𝑖</m:t>
                        </m:r>
                        <m:r>
                          <a:rPr lang="en-US" altLang="zh-CN" sz="2800" b="0" i="1" dirty="0" smtClean="0">
                            <a:solidFill>
                              <a:schemeClr val="tx1"/>
                            </a:solidFill>
                            <a:latin typeface="Cambria Math" panose="02040503050406030204" pitchFamily="18" charset="0"/>
                          </a:rPr>
                          <m:t>2</m:t>
                        </m:r>
                        <m:r>
                          <a:rPr lang="zh-CN" altLang="en-US" sz="2800" b="0" i="1" dirty="0" smtClean="0">
                            <a:solidFill>
                              <a:schemeClr val="tx1"/>
                            </a:solidFill>
                            <a:latin typeface="Cambria Math" panose="02040503050406030204" pitchFamily="18" charset="0"/>
                          </a:rPr>
                          <m:t>𝜋</m:t>
                        </m:r>
                        <m:r>
                          <a:rPr lang="en-US" altLang="zh-CN" sz="2800" b="0" i="1" dirty="0" smtClean="0">
                            <a:solidFill>
                              <a:schemeClr val="tx1"/>
                            </a:solidFill>
                            <a:latin typeface="Cambria Math" panose="02040503050406030204" pitchFamily="18" charset="0"/>
                          </a:rPr>
                          <m:t>(</m:t>
                        </m:r>
                        <m:f>
                          <m:fPr>
                            <m:ctrlPr>
                              <a:rPr lang="en-US" altLang="zh-CN" sz="2800" b="0" i="1" dirty="0" smtClean="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𝑙</m:t>
                                </m:r>
                              </m:e>
                              <m:sub>
                                <m:r>
                                  <a:rPr lang="en-US" altLang="zh-CN" sz="2800" i="1" dirty="0">
                                    <a:solidFill>
                                      <a:schemeClr val="tx1"/>
                                    </a:solidFill>
                                    <a:latin typeface="Cambria Math" panose="02040503050406030204" pitchFamily="18" charset="0"/>
                                  </a:rPr>
                                  <m:t>1</m:t>
                                </m:r>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a:solidFill>
                                      <a:schemeClr val="tx1"/>
                                    </a:solidFill>
                                    <a:latin typeface="Cambria Math" panose="02040503050406030204" pitchFamily="18" charset="0"/>
                                  </a:rPr>
                                  <m:t>1</m:t>
                                </m:r>
                              </m:sub>
                            </m:sSub>
                          </m:num>
                          <m:den>
                            <m:sSub>
                              <m:sSubPr>
                                <m:ctrlPr>
                                  <a:rPr lang="en-US" altLang="zh-CN" sz="2800" i="1" dirty="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den>
                        </m:f>
                        <m:r>
                          <a:rPr lang="en-US" altLang="zh-CN" sz="2800" b="0" i="1" dirty="0" smtClean="0">
                            <a:solidFill>
                              <a:schemeClr val="tx1"/>
                            </a:solidFill>
                            <a:latin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𝑙</m:t>
                                </m:r>
                              </m:e>
                              <m:sub>
                                <m:r>
                                  <a:rPr lang="en-US" altLang="zh-CN" sz="2800" b="0" i="1" dirty="0" smtClean="0">
                                    <a:solidFill>
                                      <a:schemeClr val="tx1"/>
                                    </a:solidFill>
                                    <a:latin typeface="Cambria Math" panose="02040503050406030204" pitchFamily="18" charset="0"/>
                                  </a:rPr>
                                  <m:t>2</m:t>
                                </m:r>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b="0" i="1" dirty="0" smtClean="0">
                                    <a:solidFill>
                                      <a:schemeClr val="tx1"/>
                                    </a:solidFill>
                                    <a:latin typeface="Cambria Math" panose="02040503050406030204" pitchFamily="18" charset="0"/>
                                  </a:rPr>
                                  <m:t>2</m:t>
                                </m:r>
                              </m:sub>
                            </m:sSub>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b="0" i="1" dirty="0" smtClean="0">
                                    <a:solidFill>
                                      <a:schemeClr val="tx1"/>
                                    </a:solidFill>
                                    <a:latin typeface="Cambria Math" panose="02040503050406030204" pitchFamily="18" charset="0"/>
                                  </a:rPr>
                                  <m:t>2</m:t>
                                </m:r>
                              </m:sub>
                            </m:sSub>
                          </m:den>
                        </m:f>
                        <m:r>
                          <a:rPr lang="en-US" altLang="zh-CN" sz="2800" b="0" i="1" dirty="0" smtClean="0">
                            <a:solidFill>
                              <a:schemeClr val="tx1"/>
                            </a:solidFill>
                            <a:latin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𝑙</m:t>
                                </m:r>
                              </m:e>
                              <m:sub>
                                <m:r>
                                  <a:rPr lang="en-US" altLang="zh-CN" sz="2800" b="0" i="1" dirty="0" smtClean="0">
                                    <a:solidFill>
                                      <a:schemeClr val="tx1"/>
                                    </a:solidFill>
                                    <a:latin typeface="Cambria Math" panose="02040503050406030204" pitchFamily="18" charset="0"/>
                                  </a:rPr>
                                  <m:t>3</m:t>
                                </m:r>
                              </m:sub>
                            </m:sSub>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b="0" i="1" dirty="0" smtClean="0">
                                    <a:solidFill>
                                      <a:schemeClr val="tx1"/>
                                    </a:solidFill>
                                    <a:latin typeface="Cambria Math" panose="02040503050406030204" pitchFamily="18" charset="0"/>
                                  </a:rPr>
                                  <m:t>3</m:t>
                                </m:r>
                              </m:sub>
                            </m:sSub>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b="0" i="1" dirty="0" smtClean="0">
                                    <a:solidFill>
                                      <a:schemeClr val="tx1"/>
                                    </a:solidFill>
                                    <a:latin typeface="Cambria Math" panose="02040503050406030204" pitchFamily="18" charset="0"/>
                                  </a:rPr>
                                  <m:t>3</m:t>
                                </m:r>
                              </m:sub>
                            </m:sSub>
                          </m:den>
                        </m:f>
                        <m:r>
                          <a:rPr lang="en-US" altLang="zh-CN" sz="2800" b="0" i="1" dirty="0" smtClean="0">
                            <a:solidFill>
                              <a:schemeClr val="tx1"/>
                            </a:solidFill>
                            <a:latin typeface="Cambria Math" panose="02040503050406030204" pitchFamily="18" charset="0"/>
                          </a:rPr>
                          <m:t>)</m:t>
                        </m:r>
                        <m:r>
                          <a:rPr lang="en-US" altLang="zh-CN" sz="2800" i="1" dirty="0" smtClean="0">
                            <a:solidFill>
                              <a:schemeClr val="tx1"/>
                            </a:solidFill>
                            <a:latin typeface="Cambria Math" panose="02040503050406030204" pitchFamily="18" charset="0"/>
                          </a:rPr>
                          <m:t> </m:t>
                        </m:r>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sSup>
                      <m:sSupPr>
                        <m:ctrlPr>
                          <a:rPr lang="en-US" altLang="zh-CN" sz="2800" b="0" i="1" dirty="0" smtClean="0">
                            <a:solidFill>
                              <a:schemeClr val="tx1"/>
                            </a:solidFill>
                            <a:latin typeface="Cambria Math" panose="02040503050406030204" pitchFamily="18" charset="0"/>
                            <a:sym typeface="Symbol" panose="05050102010706020507" pitchFamily="18" charset="2"/>
                          </a:rPr>
                        </m:ctrlPr>
                      </m:sSupPr>
                      <m:e>
                        <m:r>
                          <a:rPr lang="en-US" altLang="zh-CN" sz="2800" b="0" i="1" dirty="0" smtClean="0">
                            <a:solidFill>
                              <a:schemeClr val="tx1"/>
                            </a:solidFill>
                            <a:latin typeface="Cambria Math" panose="02040503050406030204" pitchFamily="18" charset="0"/>
                            <a:sym typeface="Symbol" panose="05050102010706020507" pitchFamily="18" charset="2"/>
                          </a:rPr>
                          <m:t>𝑒</m:t>
                        </m:r>
                      </m:e>
                      <m:sup>
                        <m:r>
                          <a:rPr lang="en-US" altLang="zh-CN" sz="2800" b="1" i="1" dirty="0" smtClean="0">
                            <a:solidFill>
                              <a:schemeClr val="tx1"/>
                            </a:solidFill>
                            <a:latin typeface="Cambria Math" panose="02040503050406030204" pitchFamily="18" charset="0"/>
                            <a:sym typeface="Symbol" panose="05050102010706020507" pitchFamily="18" charset="2"/>
                          </a:rPr>
                          <m:t>𝒊𝒌</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其中，</a:t>
                </a:r>
                <a14:m>
                  <m:oMath xmlns:m="http://schemas.openxmlformats.org/officeDocument/2006/math">
                    <m:r>
                      <a:rPr lang="en-US" altLang="zh-CN" sz="2800" b="1" i="1" dirty="0">
                        <a:solidFill>
                          <a:schemeClr val="tx1"/>
                        </a:solidFill>
                        <a:latin typeface="Cambria Math" panose="02040503050406030204" pitchFamily="18" charset="0"/>
                        <a:sym typeface="Symbol" panose="05050102010706020507" pitchFamily="18" charset="2"/>
                      </a:rPr>
                      <m:t>𝒌</m:t>
                    </m:r>
                    <m:r>
                      <a:rPr lang="en-US" altLang="zh-CN" sz="2800" b="1" i="1" dirty="0" smtClean="0">
                        <a:solidFill>
                          <a:schemeClr val="tx1"/>
                        </a:solidFill>
                        <a:latin typeface="Cambria Math" panose="02040503050406030204" pitchFamily="18" charset="0"/>
                        <a:sym typeface="Symbol" panose="05050102010706020507" pitchFamily="18" charset="2"/>
                      </a:rPr>
                      <m:t>=</m:t>
                    </m:r>
                    <m:f>
                      <m:fPr>
                        <m:ctrlPr>
                          <a:rPr lang="en-US" altLang="zh-CN" sz="2800" i="1" dirty="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i="1" dirty="0">
                                <a:solidFill>
                                  <a:schemeClr val="tx1"/>
                                </a:solidFill>
                                <a:latin typeface="Cambria Math" panose="02040503050406030204" pitchFamily="18" charset="0"/>
                              </a:rPr>
                              <m:t>1</m:t>
                            </m:r>
                          </m:sub>
                        </m:sSub>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den>
                    </m:f>
                    <m:sSub>
                      <m:sSubPr>
                        <m:ctrlPr>
                          <a:rPr lang="en-US" altLang="zh-CN" sz="2800" i="1" dirty="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𝒃</m:t>
                        </m:r>
                      </m:e>
                      <m:sub>
                        <m:r>
                          <a:rPr lang="en-US" altLang="zh-CN" sz="2800" i="1" dirty="0">
                            <a:solidFill>
                              <a:schemeClr val="tx1"/>
                            </a:solidFill>
                            <a:latin typeface="Cambria Math" panose="02040503050406030204" pitchFamily="18" charset="0"/>
                          </a:rPr>
                          <m:t>1</m:t>
                        </m:r>
                      </m:sub>
                    </m:sSub>
                    <m:r>
                      <a:rPr lang="en-US" altLang="zh-CN" sz="2800" b="0" i="1" dirty="0" smtClean="0">
                        <a:solidFill>
                          <a:schemeClr val="tx1"/>
                        </a:solidFill>
                        <a:latin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b="0" i="1" dirty="0" smtClean="0">
                                <a:solidFill>
                                  <a:schemeClr val="tx1"/>
                                </a:solidFill>
                                <a:latin typeface="Cambria Math" panose="02040503050406030204" pitchFamily="18" charset="0"/>
                              </a:rPr>
                              <m:t>2</m:t>
                            </m:r>
                          </m:sub>
                        </m:sSub>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b="0" i="1" dirty="0" smtClean="0">
                                <a:solidFill>
                                  <a:schemeClr val="tx1"/>
                                </a:solidFill>
                                <a:latin typeface="Cambria Math" panose="02040503050406030204" pitchFamily="18" charset="0"/>
                              </a:rPr>
                              <m:t>2</m:t>
                            </m:r>
                          </m:sub>
                        </m:sSub>
                      </m:den>
                    </m:f>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𝒃</m:t>
                        </m:r>
                      </m:e>
                      <m:sub>
                        <m:r>
                          <a:rPr lang="en-US" altLang="zh-CN" sz="2800" b="0" i="1" dirty="0" smtClean="0">
                            <a:solidFill>
                              <a:schemeClr val="tx1"/>
                            </a:solidFill>
                            <a:latin typeface="Cambria Math" panose="02040503050406030204" pitchFamily="18" charset="0"/>
                          </a:rPr>
                          <m:t>2</m:t>
                        </m:r>
                      </m:sub>
                    </m:sSub>
                  </m:oMath>
                </a14:m>
                <a:r>
                  <a:rPr lang="en-US" altLang="zh-CN" sz="2800" dirty="0">
                    <a:solidFill>
                      <a:schemeClr val="tx1"/>
                    </a:solidFill>
                  </a:rPr>
                  <a:t>+</a:t>
                </a:r>
                <a14:m>
                  <m:oMath xmlns:m="http://schemas.openxmlformats.org/officeDocument/2006/math">
                    <m:f>
                      <m:fPr>
                        <m:ctrlPr>
                          <a:rPr lang="en-US" altLang="zh-CN" sz="2800" i="1" dirty="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𝑡</m:t>
                            </m:r>
                          </m:e>
                          <m:sub>
                            <m:r>
                              <a:rPr lang="en-US" altLang="zh-CN" sz="2800" b="0" i="1" dirty="0" smtClean="0">
                                <a:solidFill>
                                  <a:schemeClr val="tx1"/>
                                </a:solidFill>
                                <a:latin typeface="Cambria Math" panose="02040503050406030204" pitchFamily="18" charset="0"/>
                              </a:rPr>
                              <m:t>3</m:t>
                            </m:r>
                          </m:sub>
                        </m:sSub>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b="0" i="1" dirty="0" smtClean="0">
                                <a:solidFill>
                                  <a:schemeClr val="tx1"/>
                                </a:solidFill>
                                <a:latin typeface="Cambria Math" panose="02040503050406030204" pitchFamily="18" charset="0"/>
                              </a:rPr>
                              <m:t>3</m:t>
                            </m:r>
                          </m:sub>
                        </m:sSub>
                      </m:den>
                    </m:f>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𝒃</m:t>
                        </m:r>
                      </m:e>
                      <m:sub>
                        <m:r>
                          <a:rPr lang="en-US" altLang="zh-CN" sz="2800" b="0" i="1" dirty="0" smtClean="0">
                            <a:solidFill>
                              <a:schemeClr val="tx1"/>
                            </a:solidFill>
                            <a:latin typeface="Cambria Math" panose="02040503050406030204" pitchFamily="18" charset="0"/>
                          </a:rPr>
                          <m:t>3</m:t>
                        </m:r>
                      </m:sub>
                    </m:sSub>
                  </m:oMath>
                </a14:m>
                <a:r>
                  <a:rPr lang="en-US" altLang="zh-CN" sz="2800" dirty="0">
                    <a:solidFill>
                      <a:schemeClr val="tx1"/>
                    </a:solidFill>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𝒃</m:t>
                        </m:r>
                      </m:e>
                      <m:sub>
                        <m:r>
                          <a:rPr lang="en-US" altLang="zh-CN" sz="2800" b="0" i="1" dirty="0" smtClean="0">
                            <a:solidFill>
                              <a:schemeClr val="tx1"/>
                            </a:solidFill>
                            <a:latin typeface="Cambria Math" panose="02040503050406030204" pitchFamily="18" charset="0"/>
                          </a:rPr>
                          <m:t>𝑖</m:t>
                        </m:r>
                      </m:sub>
                    </m:sSub>
                  </m:oMath>
                </a14:m>
                <a:r>
                  <a:rPr lang="zh-CN" altLang="en-US" sz="2800" dirty="0">
                    <a:solidFill>
                      <a:schemeClr val="tx1"/>
                    </a:solidFill>
                  </a:rPr>
                  <a:t>为倒格矢基矢</a:t>
                </a:r>
                <a:endParaRPr lang="en-US" altLang="zh-CN" sz="2800" dirty="0">
                  <a:solidFill>
                    <a:schemeClr val="tx1"/>
                  </a:solidFill>
                </a:endParaRPr>
              </a:p>
              <a:p>
                <a:r>
                  <a:rPr lang="zh-CN" altLang="en-US" sz="2800" dirty="0">
                    <a:solidFill>
                      <a:schemeClr val="tx1"/>
                    </a:solidFill>
                  </a:rPr>
                  <a:t>所以有：</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同乘</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i="1" dirty="0" smtClean="0">
                            <a:solidFill>
                              <a:schemeClr val="tx1"/>
                            </a:solidFill>
                            <a:latin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𝒓</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up>
                    </m:sSup>
                  </m:oMath>
                </a14:m>
                <a:r>
                  <a:rPr lang="en-US" altLang="zh-CN" sz="2800" dirty="0">
                    <a:solidFill>
                      <a:schemeClr val="tx1"/>
                    </a:solidFill>
                  </a:rPr>
                  <a:t> </a:t>
                </a:r>
                <a:r>
                  <a:rPr lang="zh-CN" altLang="en-US" sz="2800" dirty="0">
                    <a:solidFill>
                      <a:schemeClr val="tx1"/>
                    </a:solidFill>
                  </a:rPr>
                  <a:t>得：</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sym typeface="Symbol" panose="05050102010706020507" pitchFamily="18" charset="2"/>
                  </a:rPr>
                  <a:t> </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i="1" dirty="0">
                            <a:solidFill>
                              <a:schemeClr val="tx1"/>
                            </a:solidFill>
                            <a:latin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𝒓</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up>
                    </m:sSup>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smtClean="0">
                            <a:solidFill>
                              <a:schemeClr val="tx1"/>
                            </a:solidFill>
                            <a:latin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1"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𝒓</m:t>
                        </m:r>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r>
                  <a:rPr lang="zh-CN" altLang="en-US" sz="2800" dirty="0">
                    <a:solidFill>
                      <a:schemeClr val="tx1"/>
                    </a:solidFill>
                  </a:rPr>
                  <a:t>即：</a:t>
                </a:r>
                <a:r>
                  <a:rPr lang="en-US" altLang="zh-CN" sz="2800" dirty="0">
                    <a:solidFill>
                      <a:schemeClr val="tx1"/>
                    </a:solidFill>
                  </a:rPr>
                  <a:t>					    </a:t>
                </a:r>
                <a14:m>
                  <m:oMath xmlns:m="http://schemas.openxmlformats.org/officeDocument/2006/math">
                    <m:r>
                      <a:rPr lang="en-US" altLang="zh-CN" sz="2800" b="0" i="1" dirty="0" smtClean="0">
                        <a:solidFill>
                          <a:schemeClr val="tx1"/>
                        </a:solidFill>
                        <a:latin typeface="Cambria Math" panose="02040503050406030204" pitchFamily="18" charset="0"/>
                        <a:sym typeface="Symbol" panose="05050102010706020507" pitchFamily="18" charset="2"/>
                      </a:rPr>
                      <m:t>𝑢</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𝑢</m:t>
                    </m:r>
                    <m:r>
                      <m:rPr>
                        <m:nor/>
                      </m:rPr>
                      <a:rPr lang="en-US" altLang="zh-CN" sz="2800" b="0" i="0" dirty="0" smtClean="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b="0" i="0" dirty="0" smtClean="0">
                        <a:solidFill>
                          <a:schemeClr val="tx1"/>
                        </a:solidFill>
                        <a:sym typeface="Symbol" panose="05050102010706020507" pitchFamily="18" charset="2"/>
                      </a:rPr>
                      <m:t>)</m:t>
                    </m:r>
                  </m:oMath>
                </a14:m>
                <a:r>
                  <a:rPr lang="en-US" altLang="zh-CN" sz="2800" dirty="0">
                    <a:solidFill>
                      <a:schemeClr val="tx1"/>
                    </a:solidFill>
                    <a:sym typeface="Symbol" panose="05050102010706020507" pitchFamily="18" charset="2"/>
                  </a:rPr>
                  <a:t> </a:t>
                </a:r>
              </a:p>
              <a:p>
                <a:endParaRPr lang="en-US" altLang="zh-CN" sz="2800" dirty="0">
                  <a:solidFill>
                    <a:schemeClr val="tx1"/>
                  </a:solidFill>
                  <a:sym typeface="Symbol" panose="05050102010706020507" pitchFamily="18" charset="2"/>
                </a:endParaRPr>
              </a:p>
              <a:p>
                <a:r>
                  <a:rPr lang="zh-CN" altLang="en-US" sz="2800" dirty="0">
                    <a:solidFill>
                      <a:schemeClr val="tx1"/>
                    </a:solidFill>
                    <a:sym typeface="Symbol" panose="05050102010706020507" pitchFamily="18" charset="2"/>
                  </a:rPr>
                  <a:t>得：</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𝒓</m:t>
                        </m:r>
                      </m:sup>
                    </m:sSup>
                    <m:r>
                      <a:rPr lang="en-US" altLang="zh-CN" sz="2800" i="1" dirty="0">
                        <a:solidFill>
                          <a:schemeClr val="tx1"/>
                        </a:solidFill>
                        <a:latin typeface="Cambria Math" panose="02040503050406030204" pitchFamily="18" charset="0"/>
                        <a:sym typeface="Symbol" panose="05050102010706020507" pitchFamily="18" charset="2"/>
                      </a:rPr>
                      <m:t>𝑢</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		(</a:t>
                </a:r>
                <a:r>
                  <a:rPr lang="zh-CN" altLang="en-US" sz="2800" dirty="0">
                    <a:solidFill>
                      <a:schemeClr val="tx1"/>
                    </a:solidFill>
                  </a:rPr>
                  <a:t>布洛赫定理</a:t>
                </a:r>
                <a:r>
                  <a:rPr lang="en-US" altLang="zh-CN" sz="2800" dirty="0">
                    <a:solidFill>
                      <a:schemeClr val="tx1"/>
                    </a:solidFill>
                  </a:rPr>
                  <a:t>)</a:t>
                </a:r>
              </a:p>
            </p:txBody>
          </p:sp>
        </mc:Choice>
        <mc:Fallback xmlns="">
          <p:sp>
            <p:nvSpPr>
              <p:cNvPr id="9" name="文本框 8"/>
              <p:cNvSpPr txBox="1">
                <a:spLocks noRot="1" noChangeAspect="1" noMove="1" noResize="1" noEditPoints="1" noAdjustHandles="1" noChangeArrowheads="1" noChangeShapeType="1" noTextEdit="1"/>
              </p:cNvSpPr>
              <p:nvPr/>
            </p:nvSpPr>
            <p:spPr>
              <a:xfrm>
                <a:off x="676742" y="1581842"/>
                <a:ext cx="10423277" cy="4542975"/>
              </a:xfrm>
              <a:prstGeom prst="rect">
                <a:avLst/>
              </a:prstGeom>
              <a:blipFill rotWithShape="1">
                <a:blip r:embed="rId3"/>
                <a:stretch>
                  <a:fillRect l="-1462" t="-1743" b="-22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51203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535777" y="1103452"/>
                <a:ext cx="3980070"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.1 </a:t>
                </a:r>
                <a:r>
                  <a:rPr lang="zh-CN" altLang="en-US" sz="3200" dirty="0">
                    <a:solidFill>
                      <a:schemeClr val="tx1"/>
                    </a:solidFill>
                  </a:rPr>
                  <a:t>周期性势场</a:t>
                </a:r>
              </a:p>
            </p:txBody>
          </p:sp>
        </mc:Choice>
        <mc:Fallback xmlns="">
          <p:sp>
            <p:nvSpPr>
              <p:cNvPr id="7" name="文本框 6"/>
              <p:cNvSpPr txBox="1">
                <a:spLocks noRot="1" noChangeAspect="1" noMove="1" noResize="1" noEditPoints="1" noAdjustHandles="1" noChangeArrowheads="1" noChangeShapeType="1" noTextEdit="1"/>
              </p:cNvSpPr>
              <p:nvPr/>
            </p:nvSpPr>
            <p:spPr>
              <a:xfrm>
                <a:off x="4535777" y="1103452"/>
                <a:ext cx="3980070"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001863" y="1871476"/>
                <a:ext cx="11060265" cy="4763933"/>
              </a:xfrm>
              <a:prstGeom prst="rect">
                <a:avLst/>
              </a:prstGeom>
              <a:noFill/>
            </p:spPr>
            <p:txBody>
              <a:bodyPr wrap="square" rtlCol="0">
                <a:spAutoFit/>
              </a:bodyPr>
              <a:lstStyle/>
              <a:p>
                <a:r>
                  <a:rPr lang="zh-CN" altLang="en-US" sz="2800" b="1" dirty="0">
                    <a:solidFill>
                      <a:schemeClr val="tx1"/>
                    </a:solidFill>
                  </a:rPr>
                  <a:t>结论</a:t>
                </a:r>
                <a:r>
                  <a:rPr lang="zh-CN" altLang="en-US" sz="2800" dirty="0">
                    <a:solidFill>
                      <a:schemeClr val="tx1"/>
                    </a:solidFill>
                  </a:rPr>
                  <a:t>：</a:t>
                </a:r>
                <a:endParaRPr lang="en-US" altLang="zh-CN" sz="2800" dirty="0">
                  <a:solidFill>
                    <a:schemeClr val="tx1"/>
                  </a:solidFill>
                </a:endParaRPr>
              </a:p>
              <a:p>
                <a:r>
                  <a:rPr lang="en-US" altLang="zh-CN" sz="2800" dirty="0">
                    <a:solidFill>
                      <a:schemeClr val="tx1"/>
                    </a:solidFill>
                  </a:rPr>
                  <a:t>1</a:t>
                </a:r>
                <a:r>
                  <a:rPr lang="zh-CN" altLang="en-US" sz="2800" dirty="0">
                    <a:solidFill>
                      <a:schemeClr val="tx1"/>
                    </a:solidFill>
                  </a:rPr>
                  <a:t>、</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zh-CN" altLang="en-US" sz="2800" dirty="0">
                    <a:solidFill>
                      <a:schemeClr val="tx1"/>
                    </a:solidFill>
                  </a:rPr>
                  <a:t>即是</a:t>
                </a:r>
                <a14:m>
                  <m:oMath xmlns:m="http://schemas.openxmlformats.org/officeDocument/2006/math">
                    <m:r>
                      <a:rPr lang="en-US" altLang="zh-CN" sz="2800" i="1" dirty="0">
                        <a:solidFill>
                          <a:schemeClr val="tx1"/>
                        </a:solidFill>
                        <a:latin typeface="Cambria Math" panose="02040503050406030204" pitchFamily="18" charset="0"/>
                      </a:rPr>
                      <m:t>𝐻</m:t>
                    </m:r>
                  </m:oMath>
                </a14:m>
                <a:r>
                  <a:rPr lang="zh-CN" altLang="en-US" sz="2800" dirty="0">
                    <a:solidFill>
                      <a:schemeClr val="tx1"/>
                    </a:solidFill>
                  </a:rPr>
                  <a:t>的本征函数</a:t>
                </a:r>
                <a:endParaRPr lang="en-US" altLang="zh-CN" sz="2800" dirty="0">
                  <a:solidFill>
                    <a:schemeClr val="tx1"/>
                  </a:solidFill>
                </a:endParaRPr>
              </a:p>
              <a:p>
                <a:r>
                  <a:rPr lang="en-US" altLang="zh-CN" sz="2800" dirty="0">
                    <a:solidFill>
                      <a:schemeClr val="tx1"/>
                    </a:solidFill>
                  </a:rPr>
                  <a:t>2</a:t>
                </a:r>
                <a:r>
                  <a:rPr lang="zh-CN" altLang="en-US"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zh-CN" altLang="en-US" sz="2800" dirty="0">
                    <a:solidFill>
                      <a:schemeClr val="tx1"/>
                    </a:solidFill>
                  </a:rPr>
                  <a:t>称为布洛赫函数，适用于所有晶体</a:t>
                </a:r>
                <a:endParaRPr lang="en-US" altLang="zh-CN" sz="2800" dirty="0">
                  <a:solidFill>
                    <a:schemeClr val="tx1"/>
                  </a:solidFill>
                </a:endParaRPr>
              </a:p>
              <a:p>
                <a:r>
                  <a:rPr lang="en-US" altLang="zh-CN" sz="2800" dirty="0">
                    <a:solidFill>
                      <a:schemeClr val="tx1"/>
                    </a:solidFill>
                  </a:rPr>
                  <a:t>3</a:t>
                </a:r>
                <a:r>
                  <a:rPr lang="zh-CN" altLang="en-US" sz="2800" dirty="0">
                    <a:solidFill>
                      <a:schemeClr val="tx1"/>
                    </a:solidFill>
                  </a:rPr>
                  <a:t>、是平移对称性的结果</a:t>
                </a:r>
                <a:endParaRPr lang="en-US" altLang="zh-CN" sz="2800" dirty="0">
                  <a:solidFill>
                    <a:schemeClr val="tx1"/>
                  </a:solidFill>
                </a:endParaRPr>
              </a:p>
              <a:p>
                <a:r>
                  <a:rPr lang="en-US" altLang="zh-CN" sz="2800" dirty="0">
                    <a:solidFill>
                      <a:schemeClr val="tx1"/>
                    </a:solidFill>
                  </a:rPr>
                  <a:t>4</a:t>
                </a:r>
                <a:r>
                  <a:rPr lang="zh-CN" altLang="en-US" sz="2800" dirty="0">
                    <a:solidFill>
                      <a:schemeClr val="tx1"/>
                    </a:solidFill>
                  </a:rPr>
                  <a:t>、</a:t>
                </a:r>
                <a14:m>
                  <m:oMath xmlns:m="http://schemas.openxmlformats.org/officeDocument/2006/math">
                    <m:r>
                      <a:rPr lang="en-US" altLang="zh-CN" sz="2800" b="1" i="1" dirty="0">
                        <a:solidFill>
                          <a:schemeClr val="tx1"/>
                        </a:solidFill>
                        <a:latin typeface="Cambria Math" panose="02040503050406030204" pitchFamily="18" charset="0"/>
                        <a:sym typeface="Symbol" panose="05050102010706020507" pitchFamily="18" charset="2"/>
                      </a:rPr>
                      <m:t>𝒌</m:t>
                    </m:r>
                  </m:oMath>
                </a14:m>
                <a:r>
                  <a:rPr lang="zh-CN" altLang="en-US" sz="2800" dirty="0">
                    <a:solidFill>
                      <a:schemeClr val="tx1"/>
                    </a:solidFill>
                  </a:rPr>
                  <a:t>非连续，等间距分布，每个</a:t>
                </a:r>
                <a14:m>
                  <m:oMath xmlns:m="http://schemas.openxmlformats.org/officeDocument/2006/math">
                    <m:r>
                      <a:rPr lang="en-US" altLang="zh-CN" sz="2800" b="1" i="1" dirty="0">
                        <a:solidFill>
                          <a:schemeClr val="tx1"/>
                        </a:solidFill>
                        <a:latin typeface="Cambria Math" panose="02040503050406030204" pitchFamily="18" charset="0"/>
                        <a:sym typeface="Symbol" panose="05050102010706020507" pitchFamily="18" charset="2"/>
                      </a:rPr>
                      <m:t>𝒌</m:t>
                    </m:r>
                  </m:oMath>
                </a14:m>
                <a:r>
                  <a:rPr lang="zh-CN" altLang="en-US" sz="2800" dirty="0">
                    <a:solidFill>
                      <a:schemeClr val="tx1"/>
                    </a:solidFill>
                  </a:rPr>
                  <a:t>点占体积：</a:t>
                </a:r>
                <a14:m>
                  <m:oMath xmlns:m="http://schemas.openxmlformats.org/officeDocument/2006/math">
                    <m:f>
                      <m:fPr>
                        <m:ctrlPr>
                          <a:rPr lang="en-US" altLang="zh-CN" sz="2800" i="1" dirty="0">
                            <a:solidFill>
                              <a:schemeClr val="tx1"/>
                            </a:solidFill>
                            <a:latin typeface="Cambria Math" panose="02040503050406030204" pitchFamily="18" charset="0"/>
                          </a:rPr>
                        </m:ctrlPr>
                      </m:fPr>
                      <m:num>
                        <m:r>
                          <a:rPr lang="en-US" altLang="zh-CN" sz="2800" i="1" dirty="0" smtClean="0">
                            <a:solidFill>
                              <a:schemeClr val="tx1"/>
                            </a:solidFill>
                            <a:latin typeface="Cambria Math" panose="02040503050406030204" pitchFamily="18" charset="0"/>
                          </a:rPr>
                          <m:t>1</m:t>
                        </m:r>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1</m:t>
                            </m:r>
                          </m:sub>
                        </m:sSub>
                      </m:den>
                    </m:f>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𝒃</m:t>
                        </m:r>
                      </m:e>
                      <m:sub>
                        <m:r>
                          <a:rPr lang="en-US" altLang="zh-CN" sz="2800" i="1" dirty="0">
                            <a:solidFill>
                              <a:schemeClr val="tx1"/>
                            </a:solidFill>
                            <a:latin typeface="Cambria Math" panose="02040503050406030204" pitchFamily="18" charset="0"/>
                          </a:rPr>
                          <m:t>1</m:t>
                        </m:r>
                      </m:sub>
                    </m:sSub>
                    <m:r>
                      <a:rPr lang="en-US" altLang="zh-CN" sz="2800" i="1" dirty="0" smtClean="0">
                        <a:solidFill>
                          <a:schemeClr val="tx1"/>
                        </a:solidFill>
                        <a:latin typeface="Cambria Math" panose="02040503050406030204" pitchFamily="18" charset="0"/>
                        <a:ea typeface="Cambria Math" panose="02040503050406030204" pitchFamily="18" charset="0"/>
                      </a:rPr>
                      <m:t>∙</m:t>
                    </m:r>
                    <m:r>
                      <a:rPr lang="en-US" altLang="zh-CN" sz="2800" b="0" i="1" dirty="0" smtClean="0">
                        <a:solidFill>
                          <a:schemeClr val="tx1"/>
                        </a:solidFill>
                        <a:latin typeface="Cambria Math" panose="02040503050406030204" pitchFamily="18" charset="0"/>
                        <a:ea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r>
                          <a:rPr lang="en-US" altLang="zh-CN" sz="2800" i="1" dirty="0">
                            <a:solidFill>
                              <a:schemeClr val="tx1"/>
                            </a:solidFill>
                            <a:latin typeface="Cambria Math" panose="02040503050406030204" pitchFamily="18" charset="0"/>
                          </a:rPr>
                          <m:t>1</m:t>
                        </m:r>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2</m:t>
                            </m:r>
                          </m:sub>
                        </m:sSub>
                      </m:den>
                    </m:f>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𝒃</m:t>
                        </m:r>
                      </m:e>
                      <m:sub>
                        <m:r>
                          <a:rPr lang="en-US" altLang="zh-CN" sz="2800" i="1" dirty="0">
                            <a:solidFill>
                              <a:schemeClr val="tx1"/>
                            </a:solidFill>
                            <a:latin typeface="Cambria Math" panose="02040503050406030204" pitchFamily="18" charset="0"/>
                          </a:rPr>
                          <m:t>2</m:t>
                        </m:r>
                      </m:sub>
                    </m:sSub>
                    <m:r>
                      <a:rPr lang="en-US" altLang="zh-CN" sz="2800" dirty="0" smtClean="0">
                        <a:solidFill>
                          <a:schemeClr val="tx1"/>
                        </a:solidFill>
                        <a:latin typeface="Cambria Math" panose="02040503050406030204" pitchFamily="18" charset="0"/>
                        <a:ea typeface="Cambria Math" panose="02040503050406030204" pitchFamily="18" charset="0"/>
                      </a:rPr>
                      <m:t>×</m:t>
                    </m:r>
                    <m:f>
                      <m:fPr>
                        <m:ctrlPr>
                          <a:rPr lang="en-US" altLang="zh-CN" sz="2800" i="1" dirty="0">
                            <a:solidFill>
                              <a:schemeClr val="tx1"/>
                            </a:solidFill>
                            <a:latin typeface="Cambria Math" panose="02040503050406030204" pitchFamily="18" charset="0"/>
                          </a:rPr>
                        </m:ctrlPr>
                      </m:fPr>
                      <m:num>
                        <m:r>
                          <a:rPr lang="en-US" altLang="zh-CN" sz="2800" i="1" dirty="0">
                            <a:solidFill>
                              <a:schemeClr val="tx1"/>
                            </a:solidFill>
                            <a:latin typeface="Cambria Math" panose="02040503050406030204" pitchFamily="18" charset="0"/>
                          </a:rPr>
                          <m:t>1</m:t>
                        </m:r>
                      </m:num>
                      <m:den>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𝑁</m:t>
                            </m:r>
                          </m:e>
                          <m:sub>
                            <m:r>
                              <a:rPr lang="en-US" altLang="zh-CN" sz="2800" i="1" dirty="0">
                                <a:solidFill>
                                  <a:schemeClr val="tx1"/>
                                </a:solidFill>
                                <a:latin typeface="Cambria Math" panose="02040503050406030204" pitchFamily="18" charset="0"/>
                              </a:rPr>
                              <m:t>3</m:t>
                            </m:r>
                          </m:sub>
                        </m:sSub>
                      </m:den>
                    </m:f>
                    <m:sSub>
                      <m:sSubPr>
                        <m:ctrlPr>
                          <a:rPr lang="en-US" altLang="zh-CN" sz="2800"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𝒃</m:t>
                        </m:r>
                      </m:e>
                      <m:sub>
                        <m:r>
                          <a:rPr lang="en-US" altLang="zh-CN" sz="2800" i="1" dirty="0">
                            <a:solidFill>
                              <a:schemeClr val="tx1"/>
                            </a:solidFill>
                            <a:latin typeface="Cambria Math" panose="02040503050406030204" pitchFamily="18" charset="0"/>
                          </a:rPr>
                          <m:t>3</m:t>
                        </m:r>
                      </m:sub>
                    </m:sSub>
                    <m:r>
                      <a:rPr lang="zh-CN" altLang="en-US" sz="2800" i="1" dirty="0" smtClean="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m:t>
                    </m:r>
                    <m:f>
                      <m:fPr>
                        <m:ctrlPr>
                          <a:rPr lang="en-US" altLang="zh-CN" sz="2800" i="1" dirty="0" smtClean="0">
                            <a:solidFill>
                              <a:schemeClr val="tx1"/>
                            </a:solidFill>
                            <a:latin typeface="Cambria Math" panose="02040503050406030204" pitchFamily="18" charset="0"/>
                          </a:rPr>
                        </m:ctrlPr>
                      </m:fPr>
                      <m:num>
                        <m:sSup>
                          <m:sSupPr>
                            <m:ctrlPr>
                              <a:rPr lang="en-US" altLang="zh-CN" sz="2800" i="1" dirty="0" smtClean="0">
                                <a:solidFill>
                                  <a:schemeClr val="tx1"/>
                                </a:solidFill>
                                <a:latin typeface="Cambria Math" panose="02040503050406030204" pitchFamily="18" charset="0"/>
                              </a:rPr>
                            </m:ctrlPr>
                          </m:sSupPr>
                          <m:e>
                            <m:r>
                              <a:rPr lang="en-US" altLang="zh-CN" sz="2800" i="1" dirty="0" smtClean="0">
                                <a:solidFill>
                                  <a:schemeClr val="tx1"/>
                                </a:solidFill>
                                <a:latin typeface="Cambria Math" panose="02040503050406030204" pitchFamily="18" charset="0"/>
                                <a:sym typeface="Symbol" panose="05050102010706020507" pitchFamily="18" charset="2"/>
                              </a:rPr>
                              <m:t></m:t>
                            </m:r>
                          </m:e>
                          <m:sup>
                            <m:r>
                              <a:rPr lang="en-US" altLang="zh-CN" sz="2800" b="0" i="1" dirty="0" smtClean="0">
                                <a:solidFill>
                                  <a:schemeClr val="tx1"/>
                                </a:solidFill>
                                <a:latin typeface="Cambria Math" panose="02040503050406030204" pitchFamily="18" charset="0"/>
                              </a:rPr>
                              <m:t>∗</m:t>
                            </m:r>
                          </m:sup>
                        </m:sSup>
                      </m:num>
                      <m:den>
                        <m:r>
                          <a:rPr lang="en-US" altLang="zh-CN" sz="2800" b="0" i="1" dirty="0" smtClean="0">
                            <a:solidFill>
                              <a:schemeClr val="tx1"/>
                            </a:solidFill>
                            <a:latin typeface="Cambria Math" panose="02040503050406030204" pitchFamily="18" charset="0"/>
                          </a:rPr>
                          <m:t>𝑁</m:t>
                        </m:r>
                      </m:den>
                    </m:f>
                  </m:oMath>
                </a14:m>
                <a:r>
                  <a:rPr lang="zh-CN" altLang="en-US" sz="2800" dirty="0">
                    <a:solidFill>
                      <a:schemeClr val="tx1"/>
                    </a:solidFill>
                  </a:rPr>
                  <a:t>，第一布里渊区含</a:t>
                </a:r>
                <a14:m>
                  <m:oMath xmlns:m="http://schemas.openxmlformats.org/officeDocument/2006/math">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sym typeface="Symbol" panose="05050102010706020507" pitchFamily="18" charset="2"/>
                          </a:rPr>
                          <m:t></m:t>
                        </m:r>
                      </m:e>
                      <m:sup>
                        <m:r>
                          <a:rPr lang="en-US" altLang="zh-CN" sz="2800" i="1" dirty="0">
                            <a:solidFill>
                              <a:schemeClr val="tx1"/>
                            </a:solidFill>
                            <a:latin typeface="Cambria Math" panose="02040503050406030204" pitchFamily="18" charset="0"/>
                          </a:rPr>
                          <m:t>∗</m:t>
                        </m:r>
                      </m:sup>
                    </m:sSup>
                  </m:oMath>
                </a14:m>
                <a:r>
                  <a:rPr lang="en-US" altLang="zh-CN" sz="2800" dirty="0">
                    <a:solidFill>
                      <a:schemeClr val="tx1"/>
                    </a:solidFill>
                  </a:rPr>
                  <a:t>/</a:t>
                </a:r>
                <a14:m>
                  <m:oMath xmlns:m="http://schemas.openxmlformats.org/officeDocument/2006/math">
                    <m:f>
                      <m:fPr>
                        <m:ctrlPr>
                          <a:rPr lang="en-US" altLang="zh-CN" sz="2800" i="1" dirty="0">
                            <a:solidFill>
                              <a:schemeClr val="tx1"/>
                            </a:solidFill>
                            <a:latin typeface="Cambria Math" panose="02040503050406030204" pitchFamily="18" charset="0"/>
                          </a:rPr>
                        </m:ctrlPr>
                      </m:fPr>
                      <m:num>
                        <m:sSup>
                          <m:sSupPr>
                            <m:ctrlPr>
                              <a:rPr lang="en-US" altLang="zh-CN" sz="2800" i="1" dirty="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sym typeface="Symbol" panose="05050102010706020507" pitchFamily="18" charset="2"/>
                              </a:rPr>
                              <m:t></m:t>
                            </m:r>
                          </m:e>
                          <m:sup>
                            <m:r>
                              <a:rPr lang="en-US" altLang="zh-CN" sz="2800" i="1" dirty="0">
                                <a:solidFill>
                                  <a:schemeClr val="tx1"/>
                                </a:solidFill>
                                <a:latin typeface="Cambria Math" panose="02040503050406030204" pitchFamily="18" charset="0"/>
                              </a:rPr>
                              <m:t>∗</m:t>
                            </m:r>
                          </m:sup>
                        </m:sSup>
                      </m:num>
                      <m:den>
                        <m:r>
                          <a:rPr lang="en-US" altLang="zh-CN" sz="2800" i="1" dirty="0">
                            <a:solidFill>
                              <a:schemeClr val="tx1"/>
                            </a:solidFill>
                            <a:latin typeface="Cambria Math" panose="02040503050406030204" pitchFamily="18" charset="0"/>
                          </a:rPr>
                          <m:t>𝑁</m:t>
                        </m:r>
                      </m:den>
                    </m:f>
                  </m:oMath>
                </a14:m>
                <a:r>
                  <a:rPr lang="en-US" altLang="zh-CN" sz="2800" dirty="0">
                    <a:solidFill>
                      <a:schemeClr val="tx1"/>
                    </a:solidFill>
                  </a:rPr>
                  <a:t>= </a:t>
                </a:r>
                <a14:m>
                  <m:oMath xmlns:m="http://schemas.openxmlformats.org/officeDocument/2006/math">
                    <m:r>
                      <a:rPr lang="en-US" altLang="zh-CN" sz="2800" i="1" dirty="0">
                        <a:solidFill>
                          <a:schemeClr val="tx1"/>
                        </a:solidFill>
                        <a:latin typeface="Cambria Math" panose="02040503050406030204" pitchFamily="18" charset="0"/>
                      </a:rPr>
                      <m:t>𝑁</m:t>
                    </m:r>
                  </m:oMath>
                </a14:m>
                <a:r>
                  <a:rPr lang="zh-CN" altLang="en-US" sz="2800" dirty="0">
                    <a:solidFill>
                      <a:schemeClr val="tx1"/>
                    </a:solidFill>
                  </a:rPr>
                  <a:t>个</a:t>
                </a:r>
                <a:endParaRPr lang="en-US" altLang="zh-CN" sz="2800" dirty="0">
                  <a:solidFill>
                    <a:schemeClr val="tx1"/>
                  </a:solidFill>
                </a:endParaRPr>
              </a:p>
              <a:p>
                <a:r>
                  <a:rPr lang="en-US" altLang="zh-CN" sz="2800" dirty="0">
                    <a:solidFill>
                      <a:schemeClr val="tx1"/>
                    </a:solidFill>
                  </a:rPr>
                  <a:t>5</a:t>
                </a:r>
                <a:r>
                  <a:rPr lang="zh-CN" altLang="en-US" sz="2800" dirty="0">
                    <a:solidFill>
                      <a:schemeClr val="tx1"/>
                    </a:solidFill>
                  </a:rPr>
                  <a:t>、</a:t>
                </a:r>
                <a14:m>
                  <m:oMath xmlns:m="http://schemas.openxmlformats.org/officeDocument/2006/math">
                    <m:sSup>
                      <m:sSupPr>
                        <m:ctrlPr>
                          <a:rPr lang="en-US" altLang="zh-CN" sz="2800" b="1" i="1" dirty="0" smtClean="0">
                            <a:solidFill>
                              <a:schemeClr val="tx1"/>
                            </a:solidFill>
                            <a:latin typeface="Cambria Math" panose="02040503050406030204" pitchFamily="18" charset="0"/>
                            <a:sym typeface="Symbol" panose="05050102010706020507" pitchFamily="18" charset="2"/>
                          </a:rPr>
                        </m:ctrlPr>
                      </m:sSupPr>
                      <m:e>
                        <m:r>
                          <a:rPr lang="en-US" altLang="zh-CN" sz="2800" b="1" i="1" dirty="0">
                            <a:solidFill>
                              <a:schemeClr val="tx1"/>
                            </a:solidFill>
                            <a:latin typeface="Cambria Math" panose="02040503050406030204" pitchFamily="18" charset="0"/>
                            <a:sym typeface="Symbol" panose="05050102010706020507" pitchFamily="18" charset="2"/>
                          </a:rPr>
                          <m:t>𝒌</m:t>
                        </m:r>
                      </m:e>
                      <m:sup>
                        <m:r>
                          <a:rPr lang="en-US" altLang="zh-CN" sz="2800" b="1" i="1" dirty="0" smtClean="0">
                            <a:solidFill>
                              <a:schemeClr val="tx1"/>
                            </a:solidFill>
                            <a:latin typeface="Cambria Math" panose="02040503050406030204" pitchFamily="18" charset="0"/>
                            <a:sym typeface="Symbol" panose="05050102010706020507" pitchFamily="18" charset="2"/>
                          </a:rPr>
                          <m:t>′</m:t>
                        </m:r>
                      </m:sup>
                    </m:sSup>
                    <m:r>
                      <a:rPr lang="en-US" altLang="zh-CN" sz="2800" b="1" i="1" dirty="0" smtClean="0">
                        <a:solidFill>
                          <a:schemeClr val="tx1"/>
                        </a:solidFill>
                        <a:latin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sym typeface="Symbol" panose="05050102010706020507" pitchFamily="18" charset="2"/>
                      </a:rPr>
                      <m:t>𝒌</m:t>
                    </m:r>
                    <m:r>
                      <a:rPr lang="en-US" altLang="zh-CN" sz="2800" b="1" i="1" dirty="0" smtClean="0">
                        <a:solidFill>
                          <a:schemeClr val="tx1"/>
                        </a:solidFill>
                        <a:latin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𝑲</m:t>
                        </m:r>
                      </m:e>
                      <m:sub>
                        <m:r>
                          <a:rPr lang="en-US" altLang="zh-CN" sz="2800" b="1" i="1" smtClean="0">
                            <a:solidFill>
                              <a:schemeClr val="tx1"/>
                            </a:solidFill>
                            <a:latin typeface="Cambria Math" panose="02040503050406030204" pitchFamily="18" charset="0"/>
                          </a:rPr>
                          <m:t>𝒉</m:t>
                        </m:r>
                      </m:sub>
                    </m:sSub>
                  </m:oMath>
                </a14:m>
                <a:r>
                  <a:rPr lang="en-US" altLang="zh-CN" sz="2800" dirty="0">
                    <a:solidFill>
                      <a:schemeClr val="tx1"/>
                    </a:solidFill>
                  </a:rPr>
                  <a:t> , </a:t>
                </a:r>
                <a14:m>
                  <m:oMath xmlns:m="http://schemas.openxmlformats.org/officeDocument/2006/math">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a:solidFill>
                              <a:schemeClr val="tx1"/>
                            </a:solidFill>
                            <a:latin typeface="Cambria Math" panose="02040503050406030204" pitchFamily="18" charset="0"/>
                            <a:sym typeface="Symbol" panose="05050102010706020507" pitchFamily="18" charset="2"/>
                          </a:rPr>
                          <m:t>𝒊</m:t>
                        </m:r>
                        <m:sSup>
                          <m:sSupPr>
                            <m:ctrlPr>
                              <a:rPr lang="en-US" altLang="zh-CN" sz="2800" b="1" i="1" dirty="0" smtClean="0">
                                <a:solidFill>
                                  <a:schemeClr val="tx1"/>
                                </a:solidFill>
                                <a:latin typeface="Cambria Math" panose="02040503050406030204" pitchFamily="18" charset="0"/>
                                <a:sym typeface="Symbol" panose="05050102010706020507" pitchFamily="18" charset="2"/>
                              </a:rPr>
                            </m:ctrlPr>
                          </m:sSupPr>
                          <m:e>
                            <m:r>
                              <a:rPr lang="en-US" altLang="zh-CN" sz="2800" b="1" i="1" dirty="0">
                                <a:solidFill>
                                  <a:schemeClr val="tx1"/>
                                </a:solidFill>
                                <a:latin typeface="Cambria Math" panose="02040503050406030204" pitchFamily="18" charset="0"/>
                                <a:sym typeface="Symbol" panose="05050102010706020507" pitchFamily="18" charset="2"/>
                              </a:rPr>
                              <m:t>𝒌</m:t>
                            </m:r>
                          </m:e>
                          <m:sup>
                            <m:r>
                              <a:rPr lang="en-US" altLang="zh-CN" sz="2800" b="1" i="1" dirty="0" smtClean="0">
                                <a:solidFill>
                                  <a:schemeClr val="tx1"/>
                                </a:solidFill>
                                <a:latin typeface="Cambria Math" panose="02040503050406030204" pitchFamily="18" charset="0"/>
                                <a:sym typeface="Symbol" panose="05050102010706020507" pitchFamily="18" charset="2"/>
                              </a:rPr>
                              <m:t>′</m:t>
                            </m:r>
                          </m:sup>
                        </m:sSup>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m:rPr>
                        <m:nor/>
                      </m:rPr>
                      <a:rPr lang="en-US" altLang="zh-CN" sz="2800" b="0" i="0" dirty="0" smtClean="0">
                        <a:solidFill>
                          <a:schemeClr val="tx1"/>
                        </a:solidFill>
                        <a:sym typeface="Symbol" panose="05050102010706020507" pitchFamily="18" charset="2"/>
                      </a:rPr>
                      <m:t>=</m:t>
                    </m:r>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   (</a:t>
                </a:r>
                <a:r>
                  <a:rPr lang="zh-CN" altLang="en-US" sz="2800" dirty="0">
                    <a:solidFill>
                      <a:schemeClr val="tx1"/>
                    </a:solidFill>
                  </a:rPr>
                  <a:t>无变化</a:t>
                </a:r>
                <a:r>
                  <a:rPr lang="en-US" altLang="zh-CN" sz="2800" dirty="0">
                    <a:solidFill>
                      <a:schemeClr val="tx1"/>
                    </a:solidFill>
                  </a:rPr>
                  <a:t>)</a:t>
                </a:r>
              </a:p>
              <a:p>
                <a:r>
                  <a:rPr lang="en-US" altLang="zh-CN" sz="2800" dirty="0">
                    <a:solidFill>
                      <a:schemeClr val="tx1"/>
                    </a:solidFill>
                  </a:rPr>
                  <a:t>6</a:t>
                </a:r>
                <a:r>
                  <a:rPr lang="zh-CN" altLang="en-US" sz="2800" dirty="0">
                    <a:solidFill>
                      <a:schemeClr val="tx1"/>
                    </a:solidFill>
                  </a:rPr>
                  <a:t>、</a:t>
                </a:r>
                <a:r>
                  <a:rPr lang="en-US" altLang="zh-CN" sz="2800" dirty="0">
                    <a:solidFill>
                      <a:schemeClr val="tx1"/>
                    </a:solidFill>
                    <a:sym typeface="Symbol" panose="05050102010706020507" pitchFamily="18" charset="2"/>
                  </a:rPr>
                  <a:t> </a:t>
                </a:r>
                <a14:m>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𝐸</m:t>
                    </m:r>
                    <m:r>
                      <a:rPr lang="en-US" altLang="zh-CN" sz="2800" b="0" i="1" dirty="0" smtClean="0">
                        <a:solidFill>
                          <a:schemeClr val="tx1"/>
                        </a:solidFill>
                        <a:latin typeface="Cambria Math" panose="02040503050406030204" pitchFamily="18" charset="0"/>
                        <a:sym typeface="Symbol" panose="05050102010706020507" pitchFamily="18" charset="2"/>
                      </a:rPr>
                      <m:t>=</m:t>
                    </m:r>
                    <m:r>
                      <a:rPr lang="en-US" altLang="zh-CN" sz="2800" b="0" i="1" dirty="0" smtClean="0">
                        <a:solidFill>
                          <a:schemeClr val="tx1"/>
                        </a:solidFill>
                        <a:latin typeface="Cambria Math" panose="02040503050406030204" pitchFamily="18" charset="0"/>
                        <a:sym typeface="Symbol" panose="05050102010706020507" pitchFamily="18" charset="2"/>
                      </a:rPr>
                      <m:t>𝐸</m:t>
                    </m:r>
                    <m:r>
                      <a:rPr lang="en-US" altLang="zh-CN" sz="2800" b="0" i="1" dirty="0" smtClean="0">
                        <a:solidFill>
                          <a:schemeClr val="tx1"/>
                        </a:solidFill>
                        <a:latin typeface="Cambria Math" panose="02040503050406030204" pitchFamily="18" charset="0"/>
                        <a:sym typeface="Symbol" panose="05050102010706020507" pitchFamily="18" charset="2"/>
                      </a:rPr>
                      <m:t>(</m:t>
                    </m:r>
                    <m:r>
                      <a:rPr lang="en-US" altLang="zh-CN" sz="2800" b="1" i="1" dirty="0" smtClean="0">
                        <a:solidFill>
                          <a:schemeClr val="tx1"/>
                        </a:solidFill>
                        <a:latin typeface="Cambria Math" panose="02040503050406030204" pitchFamily="18" charset="0"/>
                        <a:sym typeface="Symbol" panose="05050102010706020507" pitchFamily="18" charset="2"/>
                      </a:rPr>
                      <m:t>𝒌</m:t>
                    </m:r>
                    <m:r>
                      <a:rPr lang="en-US" altLang="zh-CN" sz="2800" b="0" i="1" dirty="0" smtClean="0">
                        <a:solidFill>
                          <a:schemeClr val="tx1"/>
                        </a:solidFill>
                        <a:latin typeface="Cambria Math" panose="02040503050406030204" pitchFamily="18" charset="0"/>
                        <a:sym typeface="Symbol" panose="05050102010706020507" pitchFamily="18" charset="2"/>
                      </a:rPr>
                      <m:t>)</m:t>
                    </m:r>
                  </m:oMath>
                </a14:m>
                <a:r>
                  <a:rPr lang="zh-CN" altLang="en-US" sz="2800" dirty="0">
                    <a:solidFill>
                      <a:schemeClr val="tx1"/>
                    </a:solidFill>
                    <a:sym typeface="Symbol" panose="05050102010706020507" pitchFamily="18" charset="2"/>
                  </a:rPr>
                  <a:t>或</a:t>
                </a:r>
                <a:r>
                  <a:rPr lang="en-US" altLang="zh-CN" sz="2800" dirty="0">
                    <a:solidFill>
                      <a:schemeClr val="tx1"/>
                    </a:solidFill>
                    <a:sym typeface="Symbol" panose="05050102010706020507" pitchFamily="18" charset="2"/>
                  </a:rPr>
                  <a:t> </a:t>
                </a:r>
                <a14:m>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𝐸</m:t>
                    </m:r>
                    <m:r>
                      <a:rPr lang="en-US" altLang="zh-CN" sz="2800" i="1" dirty="0">
                        <a:solidFill>
                          <a:schemeClr val="tx1"/>
                        </a:solidFill>
                        <a:latin typeface="Cambria Math" panose="02040503050406030204" pitchFamily="18" charset="0"/>
                        <a:sym typeface="Symbol" panose="05050102010706020507" pitchFamily="18" charset="2"/>
                      </a:rPr>
                      <m:t>= </m:t>
                    </m:r>
                    <m:sSub>
                      <m:sSubPr>
                        <m:ctrlPr>
                          <a:rPr lang="en-US" altLang="zh-CN" sz="2800" i="1" dirty="0">
                            <a:solidFill>
                              <a:schemeClr val="tx1"/>
                            </a:solidFill>
                            <a:latin typeface="Cambria Math" panose="02040503050406030204" pitchFamily="18" charset="0"/>
                            <a:sym typeface="Symbol" panose="05050102010706020507" pitchFamily="18" charset="2"/>
                          </a:rPr>
                        </m:ctrlPr>
                      </m:sSubPr>
                      <m:e>
                        <m:r>
                          <a:rPr lang="en-US" altLang="zh-CN" sz="2800" i="1" dirty="0">
                            <a:solidFill>
                              <a:schemeClr val="tx1"/>
                            </a:solidFill>
                            <a:latin typeface="Cambria Math" panose="02040503050406030204" pitchFamily="18" charset="0"/>
                            <a:sym typeface="Symbol" panose="05050102010706020507" pitchFamily="18" charset="2"/>
                          </a:rPr>
                          <m:t>𝐸</m:t>
                        </m:r>
                      </m:e>
                      <m:sub>
                        <m:r>
                          <a:rPr lang="en-US" altLang="zh-CN" sz="2800" i="1" dirty="0">
                            <a:solidFill>
                              <a:schemeClr val="tx1"/>
                            </a:solidFill>
                            <a:latin typeface="Cambria Math" panose="02040503050406030204" pitchFamily="18" charset="0"/>
                            <a:sym typeface="Symbol" panose="05050102010706020507" pitchFamily="18" charset="2"/>
                          </a:rPr>
                          <m:t>𝑛</m:t>
                        </m:r>
                      </m:sub>
                    </m:sSub>
                    <m:r>
                      <a:rPr lang="en-US" altLang="zh-CN" sz="2800" i="1" dirty="0">
                        <a:solidFill>
                          <a:schemeClr val="tx1"/>
                        </a:solidFill>
                        <a:latin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sym typeface="Symbol" panose="05050102010706020507" pitchFamily="18" charset="2"/>
                      </a:rPr>
                      <m:t>𝒌</m:t>
                    </m:r>
                    <m:r>
                      <a:rPr lang="en-US" altLang="zh-CN" sz="2800" i="1" dirty="0">
                        <a:solidFill>
                          <a:schemeClr val="tx1"/>
                        </a:solidFill>
                        <a:latin typeface="Cambria Math" panose="02040503050406030204" pitchFamily="18" charset="0"/>
                        <a:sym typeface="Symbol" panose="05050102010706020507" pitchFamily="18" charset="2"/>
                      </a:rPr>
                      <m:t>)</m:t>
                    </m:r>
                  </m:oMath>
                </a14:m>
                <a:r>
                  <a:rPr lang="zh-CN" altLang="en-US" sz="2800" dirty="0">
                    <a:solidFill>
                      <a:schemeClr val="tx1"/>
                    </a:solidFill>
                  </a:rPr>
                  <a:t>，</a:t>
                </a:r>
                <a14:m>
                  <m:oMath xmlns:m="http://schemas.openxmlformats.org/officeDocument/2006/math">
                    <m:sSub>
                      <m:sSubPr>
                        <m:ctrlPr>
                          <a:rPr lang="en-US" altLang="zh-CN" sz="2800" i="1" dirty="0">
                            <a:solidFill>
                              <a:schemeClr val="tx1"/>
                            </a:solidFill>
                            <a:latin typeface="Cambria Math" panose="02040503050406030204" pitchFamily="18" charset="0"/>
                            <a:sym typeface="Symbol" panose="05050102010706020507" pitchFamily="18" charset="2"/>
                          </a:rPr>
                        </m:ctrlPr>
                      </m:sSubPr>
                      <m:e>
                        <m:r>
                          <a:rPr lang="en-US" altLang="zh-CN" sz="2800" i="1" dirty="0">
                            <a:solidFill>
                              <a:schemeClr val="tx1"/>
                            </a:solidFill>
                            <a:latin typeface="Cambria Math" panose="02040503050406030204" pitchFamily="18" charset="0"/>
                            <a:sym typeface="Symbol" panose="05050102010706020507" pitchFamily="18" charset="2"/>
                          </a:rPr>
                          <m:t>𝐸</m:t>
                        </m:r>
                      </m:e>
                      <m:sub>
                        <m:r>
                          <a:rPr lang="en-US" altLang="zh-CN" sz="2800" i="1" dirty="0">
                            <a:solidFill>
                              <a:schemeClr val="tx1"/>
                            </a:solidFill>
                            <a:latin typeface="Cambria Math" panose="02040503050406030204" pitchFamily="18" charset="0"/>
                            <a:sym typeface="Symbol" panose="05050102010706020507" pitchFamily="18" charset="2"/>
                          </a:rPr>
                          <m:t>𝑛</m:t>
                        </m:r>
                      </m:sub>
                    </m:sSub>
                    <m:r>
                      <a:rPr lang="en-US" altLang="zh-CN" sz="2800" i="1" dirty="0">
                        <a:solidFill>
                          <a:schemeClr val="tx1"/>
                        </a:solidFill>
                        <a:latin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sym typeface="Symbol" panose="05050102010706020507" pitchFamily="18" charset="2"/>
                      </a:rPr>
                      <m:t>𝒌</m:t>
                    </m:r>
                    <m:r>
                      <a:rPr lang="en-US" altLang="zh-CN" sz="2800" i="1" dirty="0">
                        <a:solidFill>
                          <a:schemeClr val="tx1"/>
                        </a:solidFill>
                        <a:latin typeface="Cambria Math" panose="02040503050406030204" pitchFamily="18" charset="0"/>
                        <a:sym typeface="Symbol" panose="05050102010706020507" pitchFamily="18" charset="2"/>
                      </a:rPr>
                      <m:t>)</m:t>
                    </m:r>
                  </m:oMath>
                </a14:m>
                <a:r>
                  <a:rPr lang="zh-CN" altLang="en-US" sz="2800" dirty="0">
                    <a:solidFill>
                      <a:schemeClr val="tx1"/>
                    </a:solidFill>
                  </a:rPr>
                  <a:t>在倒空间有和晶体一致的对称性</a:t>
                </a:r>
                <a:endParaRPr lang="en-US" altLang="zh-CN" sz="2800" dirty="0">
                  <a:solidFill>
                    <a:schemeClr val="tx1"/>
                  </a:solidFill>
                </a:endParaRPr>
              </a:p>
              <a:p>
                <a:r>
                  <a:rPr lang="en-US" altLang="zh-CN" sz="2800" dirty="0">
                    <a:solidFill>
                      <a:schemeClr val="tx1"/>
                    </a:solidFill>
                  </a:rPr>
                  <a:t>7</a:t>
                </a:r>
                <a:r>
                  <a:rPr lang="zh-CN" altLang="en-US" sz="2800" dirty="0">
                    <a:solidFill>
                      <a:schemeClr val="tx1"/>
                    </a:solidFill>
                  </a:rPr>
                  <a:t>、金属自由电子气模型，</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𝑉</m:t>
                        </m:r>
                      </m:e>
                      <m:sub>
                        <m:r>
                          <a:rPr lang="en-US" altLang="zh-CN" sz="2800" i="1" dirty="0">
                            <a:solidFill>
                              <a:schemeClr val="tx1"/>
                            </a:solidFill>
                            <a:latin typeface="Cambria Math" panose="02040503050406030204" pitchFamily="18" charset="0"/>
                          </a:rPr>
                          <m:t> </m:t>
                        </m:r>
                      </m:sub>
                    </m:sSub>
                    <m:d>
                      <m:dPr>
                        <m:ctrlPr>
                          <a:rPr lang="en-US" altLang="zh-CN" sz="2800"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𝒓</m:t>
                        </m:r>
                      </m:e>
                    </m:d>
                  </m:oMath>
                </a14:m>
                <a:r>
                  <a:rPr lang="en-US" altLang="zh-CN" sz="2800" dirty="0">
                    <a:solidFill>
                      <a:schemeClr val="tx1"/>
                    </a:solidFill>
                    <a:sym typeface="Symbol" panose="05050102010706020507" pitchFamily="18" charset="2"/>
                  </a:rPr>
                  <a:t>=0</a:t>
                </a:r>
                <a:r>
                  <a:rPr lang="zh-CN" altLang="en-US" sz="2800" dirty="0">
                    <a:solidFill>
                      <a:schemeClr val="tx1"/>
                    </a:solidFill>
                    <a:sym typeface="Symbol" panose="05050102010706020507" pitchFamily="18" charset="2"/>
                  </a:rPr>
                  <a:t>，</a:t>
                </a:r>
                <a:r>
                  <a:rPr lang="en-US" altLang="zh-CN" sz="2800" dirty="0">
                    <a:solidFill>
                      <a:schemeClr val="tx1"/>
                    </a:solidFill>
                    <a:sym typeface="Symbol" panose="05050102010706020507" pitchFamily="18" charset="2"/>
                  </a:rPr>
                  <a:t> </a:t>
                </a:r>
                <a14:m>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𝑢</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sym typeface="Symbol" panose="05050102010706020507" pitchFamily="18" charset="2"/>
                  </a:rPr>
                  <a:t>=1 </a:t>
                </a:r>
                <a:endParaRPr lang="en-US" altLang="zh-CN" sz="2800" dirty="0">
                  <a:solidFill>
                    <a:schemeClr val="tx1"/>
                  </a:solidFill>
                </a:endParaRPr>
              </a:p>
              <a:p>
                <a:endParaRPr lang="en-US" altLang="zh-CN" sz="16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001863" y="1871476"/>
                <a:ext cx="11060265" cy="4763933"/>
              </a:xfrm>
              <a:prstGeom prst="rect">
                <a:avLst/>
              </a:prstGeom>
              <a:blipFill rotWithShape="1">
                <a:blip r:embed="rId3"/>
                <a:stretch>
                  <a:fillRect l="-1102" t="-1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289093" y="947313"/>
                <a:ext cx="3826713" cy="1417439"/>
              </a:xfrm>
              <a:prstGeom prst="rect">
                <a:avLst/>
              </a:prstGeom>
              <a:ln>
                <a:solidFill>
                  <a:schemeClr val="accent1"/>
                </a:solidFill>
              </a:ln>
            </p:spPr>
            <p:txBody>
              <a:bodyPr wrap="square">
                <a:spAutoFit/>
              </a:bodyPr>
              <a:lstStyle/>
              <a:p>
                <a14:m>
                  <m:oMath xmlns:m="http://schemas.openxmlformats.org/officeDocument/2006/math">
                    <m:r>
                      <m:rPr>
                        <m:nor/>
                      </m:rPr>
                      <a:rPr lang="zh-CN" altLang="en-US" sz="2800" dirty="0" smtClean="0">
                        <a:solidFill>
                          <a:schemeClr val="tx1"/>
                        </a:solidFill>
                        <a:sym typeface="Symbol" panose="05050102010706020507" pitchFamily="18" charset="2"/>
                      </a:rPr>
                      <m:t></m:t>
                    </m:r>
                    <m:r>
                      <m:rPr>
                        <m:nor/>
                      </m:rPr>
                      <a:rPr lang="en-US" altLang="zh-CN" sz="2800" dirty="0" smtClean="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oMath>
                </a14:m>
                <a:r>
                  <a:rPr lang="en-US" altLang="zh-CN" sz="2800" dirty="0">
                    <a:solidFill>
                      <a:schemeClr val="tx1"/>
                    </a:solidFill>
                  </a:rPr>
                  <a:t>=</a:t>
                </a:r>
                <a:r>
                  <a:rPr lang="zh-CN" altLang="en-US" sz="2800" dirty="0">
                    <a:solidFill>
                      <a:schemeClr val="tx1"/>
                    </a:solidFill>
                    <a:sym typeface="Symbol" panose="05050102010706020507" pitchFamily="18" charset="2"/>
                  </a:rPr>
                  <a:t> </a:t>
                </a:r>
                <a14:m>
                  <m:oMath xmlns:m="http://schemas.openxmlformats.org/officeDocument/2006/math">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sup>
                    </m:sSup>
                    <m:r>
                      <m:rPr>
                        <m:nor/>
                      </m:rPr>
                      <a:rPr lang="zh-CN" altLang="en-US" sz="2800" dirty="0">
                        <a:solidFill>
                          <a:schemeClr val="tx1"/>
                        </a:solidFill>
                        <a:sym typeface="Symbol" panose="05050102010706020507" pitchFamily="18" charset="2"/>
                      </a:rPr>
                      <m:t></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endParaRPr lang="en-US" altLang="zh-CN" sz="2800" dirty="0">
                  <a:solidFill>
                    <a:schemeClr val="tx1"/>
                  </a:solidFill>
                </a:endParaRPr>
              </a:p>
              <a:p>
                <a:pPr/>
                <a14:m>
                  <m:oMathPara xmlns:m="http://schemas.openxmlformats.org/officeDocument/2006/math">
                    <m:oMathParaPr>
                      <m:jc m:val="left"/>
                    </m:oMathParaPr>
                    <m:oMath xmlns:m="http://schemas.openxmlformats.org/officeDocument/2006/math">
                      <m:r>
                        <m:rPr>
                          <m:nor/>
                        </m:rPr>
                        <a:rPr lang="zh-CN" altLang="en-US" sz="2800" dirty="0" smtClean="0">
                          <a:solidFill>
                            <a:schemeClr val="tx1"/>
                          </a:solidFill>
                          <a:sym typeface="Symbol" panose="05050102010706020507" pitchFamily="18" charset="2"/>
                        </a:rPr>
                        <m:t></m:t>
                      </m:r>
                      <m:r>
                        <m:rPr>
                          <m:nor/>
                        </m:rPr>
                        <a:rPr lang="en-US" altLang="zh-CN" sz="2800" dirty="0" smtClean="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m:t>
                      </m:r>
                      <m:sSup>
                        <m:sSupPr>
                          <m:ctrlPr>
                            <a:rPr lang="en-US" altLang="zh-CN" sz="2800" i="1" dirty="0">
                              <a:solidFill>
                                <a:schemeClr val="tx1"/>
                              </a:solidFill>
                              <a:latin typeface="Cambria Math" panose="02040503050406030204" pitchFamily="18" charset="0"/>
                              <a:sym typeface="Symbol" panose="05050102010706020507" pitchFamily="18" charset="2"/>
                            </a:rPr>
                          </m:ctrlPr>
                        </m:sSupPr>
                        <m:e>
                          <m:r>
                            <a:rPr lang="en-US" altLang="zh-CN" sz="2800" i="1" dirty="0">
                              <a:solidFill>
                                <a:schemeClr val="tx1"/>
                              </a:solidFill>
                              <a:latin typeface="Cambria Math" panose="02040503050406030204" pitchFamily="18" charset="0"/>
                              <a:sym typeface="Symbol" panose="05050102010706020507" pitchFamily="18" charset="2"/>
                            </a:rPr>
                            <m:t>𝑒</m:t>
                          </m:r>
                        </m:e>
                        <m:sup>
                          <m:r>
                            <a:rPr lang="en-US" altLang="zh-CN" sz="2800" b="1" i="1" dirty="0">
                              <a:solidFill>
                                <a:schemeClr val="tx1"/>
                              </a:solidFill>
                              <a:latin typeface="Cambria Math" panose="02040503050406030204" pitchFamily="18" charset="0"/>
                              <a:sym typeface="Symbol" panose="05050102010706020507" pitchFamily="18" charset="2"/>
                            </a:rPr>
                            <m:t>𝒊𝒌</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𝒓</m:t>
                          </m:r>
                        </m:sup>
                      </m:sSup>
                      <m:r>
                        <a:rPr lang="en-US" altLang="zh-CN" sz="2800" i="1" dirty="0">
                          <a:solidFill>
                            <a:schemeClr val="tx1"/>
                          </a:solidFill>
                          <a:latin typeface="Cambria Math" panose="02040503050406030204" pitchFamily="18" charset="0"/>
                          <a:sym typeface="Symbol" panose="05050102010706020507" pitchFamily="18" charset="2"/>
                        </a:rPr>
                        <m:t>𝑢</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m:oMathPara>
                </a14:m>
                <a:endParaRPr lang="zh-CN" altLang="en-US" sz="2800" dirty="0">
                  <a:solidFill>
                    <a:schemeClr val="tx1"/>
                  </a:solidFill>
                </a:endParaRPr>
              </a:p>
              <a:p>
                <a14:m>
                  <m:oMath xmlns:m="http://schemas.openxmlformats.org/officeDocument/2006/math">
                    <m:r>
                      <a:rPr lang="en-US" altLang="zh-CN" sz="2800" i="1" dirty="0">
                        <a:solidFill>
                          <a:schemeClr val="tx1"/>
                        </a:solidFill>
                        <a:latin typeface="Cambria Math" panose="02040503050406030204" pitchFamily="18" charset="0"/>
                        <a:sym typeface="Symbol" panose="05050102010706020507" pitchFamily="18" charset="2"/>
                      </a:rPr>
                      <m:t>𝑢</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𝑹</m:t>
                        </m:r>
                      </m:e>
                      <m:sub>
                        <m:r>
                          <a:rPr lang="en-US" altLang="zh-CN" sz="2800" b="1" i="1">
                            <a:solidFill>
                              <a:schemeClr val="tx1"/>
                            </a:solidFill>
                            <a:latin typeface="Cambria Math" panose="02040503050406030204" pitchFamily="18" charset="0"/>
                          </a:rPr>
                          <m:t>𝒍</m:t>
                        </m:r>
                      </m:sub>
                    </m:sSub>
                    <m:r>
                      <m:rPr>
                        <m:nor/>
                      </m:rPr>
                      <a:rPr lang="en-US" altLang="zh-CN" sz="2800" dirty="0">
                        <a:solidFill>
                          <a:schemeClr val="tx1"/>
                        </a:solidFill>
                        <a:sym typeface="Symbol" panose="05050102010706020507" pitchFamily="18" charset="2"/>
                      </a:rPr>
                      <m:t>)=</m:t>
                    </m:r>
                    <m:r>
                      <a:rPr lang="en-US" altLang="zh-CN" sz="2800" i="1" dirty="0">
                        <a:solidFill>
                          <a:schemeClr val="tx1"/>
                        </a:solidFill>
                        <a:latin typeface="Cambria Math" panose="02040503050406030204" pitchFamily="18" charset="0"/>
                        <a:sym typeface="Symbol" panose="05050102010706020507" pitchFamily="18" charset="2"/>
                      </a:rPr>
                      <m:t>𝑢</m:t>
                    </m:r>
                    <m:r>
                      <m:rPr>
                        <m:nor/>
                      </m:rPr>
                      <a:rPr lang="en-US" altLang="zh-CN" sz="2800" dirty="0">
                        <a:solidFill>
                          <a:schemeClr val="tx1"/>
                        </a:solidFill>
                        <a:sym typeface="Symbol" panose="05050102010706020507" pitchFamily="18" charset="2"/>
                      </a:rPr>
                      <m:t>(</m:t>
                    </m:r>
                    <m:r>
                      <a:rPr lang="en-US" altLang="zh-CN" sz="2800" b="1" i="1" dirty="0">
                        <a:solidFill>
                          <a:schemeClr val="tx1"/>
                        </a:solidFill>
                        <a:latin typeface="Cambria Math" panose="02040503050406030204" pitchFamily="18" charset="0"/>
                      </a:rPr>
                      <m:t>𝒓</m:t>
                    </m:r>
                    <m:r>
                      <m:rPr>
                        <m:nor/>
                      </m:rPr>
                      <a:rPr lang="en-US" altLang="zh-CN" sz="2800" dirty="0">
                        <a:solidFill>
                          <a:schemeClr val="tx1"/>
                        </a:solidFill>
                        <a:sym typeface="Symbol" panose="05050102010706020507" pitchFamily="18" charset="2"/>
                      </a:rPr>
                      <m:t>)</m:t>
                    </m:r>
                  </m:oMath>
                </a14:m>
                <a:r>
                  <a:rPr lang="en-US" altLang="zh-CN" sz="2800" dirty="0">
                    <a:solidFill>
                      <a:schemeClr val="tx1"/>
                    </a:solidFill>
                    <a:sym typeface="Symbol" panose="05050102010706020507" pitchFamily="18" charset="2"/>
                  </a:rPr>
                  <a:t> </a:t>
                </a:r>
              </a:p>
            </p:txBody>
          </p:sp>
        </mc:Choice>
        <mc:Fallback xmlns="">
          <p:sp>
            <p:nvSpPr>
              <p:cNvPr id="2" name="矩形 1"/>
              <p:cNvSpPr>
                <a:spLocks noRot="1" noChangeAspect="1" noMove="1" noResize="1" noEditPoints="1" noAdjustHandles="1" noChangeArrowheads="1" noChangeShapeType="1" noTextEdit="1"/>
              </p:cNvSpPr>
              <p:nvPr/>
            </p:nvSpPr>
            <p:spPr>
              <a:xfrm>
                <a:off x="8289093" y="947313"/>
                <a:ext cx="3826713" cy="1417439"/>
              </a:xfrm>
              <a:prstGeom prst="rect">
                <a:avLst/>
              </a:prstGeom>
              <a:blipFill rotWithShape="1">
                <a:blip r:embed="rId4"/>
                <a:stretch>
                  <a:fillRect t="-3830"/>
                </a:stretch>
              </a:blipFill>
              <a:ln>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362758240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3937039" y="1103452"/>
                <a:ext cx="6730999"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3937039" y="1103452"/>
                <a:ext cx="6730999"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025717" y="1871476"/>
                <a:ext cx="11060265" cy="4777911"/>
              </a:xfrm>
              <a:prstGeom prst="rect">
                <a:avLst/>
              </a:prstGeom>
              <a:noFill/>
            </p:spPr>
            <p:txBody>
              <a:bodyPr wrap="square" rtlCol="0">
                <a:spAutoFit/>
              </a:bodyPr>
              <a:lstStyle/>
              <a:p>
                <a14:m>
                  <m:oMath xmlns:m="http://schemas.openxmlformats.org/officeDocument/2006/math">
                    <m:sSub>
                      <m:sSubPr>
                        <m:ctrlPr>
                          <a:rPr lang="en-US" altLang="zh-CN" sz="2400" i="1" dirty="0" smtClean="0">
                            <a:solidFill>
                              <a:schemeClr val="tx1"/>
                            </a:solidFill>
                            <a:latin typeface="Cambria Math" panose="02040503050406030204" pitchFamily="18" charset="0"/>
                            <a:sym typeface="Symbol" panose="05050102010706020507" pitchFamily="18" charset="2"/>
                          </a:rPr>
                        </m:ctrlPr>
                      </m:sSubPr>
                      <m:e>
                        <m:r>
                          <m:rPr>
                            <m:nor/>
                          </m:rPr>
                          <a:rPr lang="zh-CN" altLang="en-US" sz="2400" dirty="0">
                            <a:solidFill>
                              <a:schemeClr val="tx1"/>
                            </a:solidFill>
                            <a:sym typeface="Symbol" panose="05050102010706020507" pitchFamily="18" charset="2"/>
                          </a:rPr>
                          <m:t></m:t>
                        </m:r>
                      </m:e>
                      <m:sub>
                        <m:r>
                          <a:rPr lang="en-US" altLang="zh-CN" sz="2400" b="1" i="1" dirty="0" smtClean="0">
                            <a:solidFill>
                              <a:schemeClr val="tx1"/>
                            </a:solidFill>
                            <a:latin typeface="Cambria Math" panose="02040503050406030204" pitchFamily="18" charset="0"/>
                            <a:sym typeface="Symbol" panose="05050102010706020507" pitchFamily="18" charset="2"/>
                          </a:rPr>
                          <m:t>𝒌</m:t>
                        </m:r>
                      </m:sub>
                    </m:sSub>
                    <m:r>
                      <m:rPr>
                        <m:nor/>
                      </m:rPr>
                      <a:rPr lang="en-US" altLang="zh-CN" sz="2400" dirty="0">
                        <a:solidFill>
                          <a:schemeClr val="tx1"/>
                        </a:solidFill>
                        <a:sym typeface="Symbol" panose="05050102010706020507" pitchFamily="18" charset="2"/>
                      </a:rPr>
                      <m:t>(</m:t>
                    </m:r>
                    <m:r>
                      <a:rPr lang="en-US" altLang="zh-CN" sz="2400" b="1" i="1" dirty="0">
                        <a:solidFill>
                          <a:schemeClr val="tx1"/>
                        </a:solidFill>
                        <a:latin typeface="Cambria Math" panose="02040503050406030204" pitchFamily="18" charset="0"/>
                      </a:rPr>
                      <m:t>𝒓</m:t>
                    </m:r>
                    <m:r>
                      <m:rPr>
                        <m:nor/>
                      </m:rPr>
                      <a:rPr lang="en-US" altLang="zh-CN" sz="2400" dirty="0">
                        <a:solidFill>
                          <a:schemeClr val="tx1"/>
                        </a:solidFill>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m:t>
                    </m:r>
                    <m:sSup>
                      <m:sSupPr>
                        <m:ctrlPr>
                          <a:rPr lang="en-US" altLang="zh-CN" sz="2400" i="1" dirty="0">
                            <a:solidFill>
                              <a:schemeClr val="tx1"/>
                            </a:solidFill>
                            <a:latin typeface="Cambria Math" panose="02040503050406030204" pitchFamily="18" charset="0"/>
                            <a:sym typeface="Symbol" panose="05050102010706020507" pitchFamily="18" charset="2"/>
                          </a:rPr>
                        </m:ctrlPr>
                      </m:sSupPr>
                      <m:e>
                        <m:r>
                          <a:rPr lang="en-US" altLang="zh-CN" sz="2400" i="1" dirty="0">
                            <a:solidFill>
                              <a:schemeClr val="tx1"/>
                            </a:solidFill>
                            <a:latin typeface="Cambria Math" panose="02040503050406030204" pitchFamily="18" charset="0"/>
                            <a:sym typeface="Symbol" panose="05050102010706020507" pitchFamily="18" charset="2"/>
                          </a:rPr>
                          <m:t>𝑒</m:t>
                        </m:r>
                      </m:e>
                      <m:sup>
                        <m:r>
                          <a:rPr lang="en-US" altLang="zh-CN" sz="2400" b="1" i="1" dirty="0">
                            <a:solidFill>
                              <a:schemeClr val="tx1"/>
                            </a:solidFill>
                            <a:latin typeface="Cambria Math" panose="02040503050406030204" pitchFamily="18" charset="0"/>
                            <a:sym typeface="Symbol" panose="05050102010706020507" pitchFamily="18" charset="2"/>
                          </a:rPr>
                          <m:t>𝒊𝒌</m:t>
                        </m:r>
                        <m:r>
                          <a:rPr lang="en-US" altLang="zh-CN" sz="24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4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𝒓</m:t>
                        </m:r>
                      </m:sup>
                    </m:sSup>
                    <m:r>
                      <a:rPr lang="en-US" altLang="zh-CN" sz="2400" i="1" dirty="0">
                        <a:solidFill>
                          <a:schemeClr val="tx1"/>
                        </a:solidFill>
                        <a:latin typeface="Cambria Math" panose="02040503050406030204" pitchFamily="18" charset="0"/>
                        <a:sym typeface="Symbol" panose="05050102010706020507" pitchFamily="18" charset="2"/>
                      </a:rPr>
                      <m:t>𝑢</m:t>
                    </m:r>
                    <m:r>
                      <m:rPr>
                        <m:nor/>
                      </m:rPr>
                      <a:rPr lang="en-US" altLang="zh-CN" sz="2400" dirty="0">
                        <a:solidFill>
                          <a:schemeClr val="tx1"/>
                        </a:solidFill>
                        <a:sym typeface="Symbol" panose="05050102010706020507" pitchFamily="18" charset="2"/>
                      </a:rPr>
                      <m:t>(</m:t>
                    </m:r>
                    <m:r>
                      <a:rPr lang="en-US" altLang="zh-CN" sz="2400" b="1" i="1" dirty="0">
                        <a:solidFill>
                          <a:schemeClr val="tx1"/>
                        </a:solidFill>
                        <a:latin typeface="Cambria Math" panose="02040503050406030204" pitchFamily="18" charset="0"/>
                      </a:rPr>
                      <m:t>𝒓</m:t>
                    </m:r>
                    <m:r>
                      <m:rPr>
                        <m:nor/>
                      </m:rPr>
                      <a:rPr lang="en-US" altLang="zh-CN" sz="2400" dirty="0">
                        <a:solidFill>
                          <a:schemeClr val="tx1"/>
                        </a:solidFill>
                        <a:sym typeface="Symbol" panose="05050102010706020507" pitchFamily="18" charset="2"/>
                      </a:rPr>
                      <m:t>)</m:t>
                    </m:r>
                  </m:oMath>
                </a14:m>
                <a:r>
                  <a:rPr lang="en-US" altLang="zh-CN" sz="2400" dirty="0">
                    <a:solidFill>
                      <a:schemeClr val="tx1"/>
                    </a:solidFill>
                  </a:rPr>
                  <a:t>	</a:t>
                </a:r>
                <a:r>
                  <a:rPr lang="zh-CN" altLang="en-US" sz="2400" dirty="0">
                    <a:solidFill>
                      <a:schemeClr val="tx1"/>
                    </a:solidFill>
                  </a:rPr>
                  <a:t>，</a:t>
                </a:r>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1" i="1" dirty="0">
                        <a:solidFill>
                          <a:schemeClr val="tx1"/>
                        </a:solidFill>
                        <a:latin typeface="Cambria Math" panose="02040503050406030204" pitchFamily="18" charset="0"/>
                        <a:sym typeface="Symbol" panose="05050102010706020507" pitchFamily="18" charset="2"/>
                      </a:rPr>
                      <m:t>𝒌</m:t>
                    </m:r>
                    <m:r>
                      <a:rPr lang="en-US" altLang="zh-CN" sz="2400" i="1" dirty="0">
                        <a:solidFill>
                          <a:schemeClr val="tx1"/>
                        </a:solidFill>
                        <a:latin typeface="Cambria Math" panose="02040503050406030204" pitchFamily="18" charset="0"/>
                        <a:sym typeface="Symbol" panose="05050102010706020507" pitchFamily="18" charset="2"/>
                      </a:rPr>
                      <m:t>)</m:t>
                    </m:r>
                  </m:oMath>
                </a14:m>
                <a:r>
                  <a:rPr lang="en-US" altLang="zh-CN" sz="2400" dirty="0">
                    <a:solidFill>
                      <a:schemeClr val="tx1"/>
                    </a:solidFill>
                  </a:rPr>
                  <a:t>=</a:t>
                </a:r>
                <a:r>
                  <a:rPr lang="zh-CN" altLang="en-US" sz="2400" dirty="0">
                    <a:solidFill>
                      <a:schemeClr val="tx1"/>
                    </a:solidFill>
                  </a:rPr>
                  <a:t>？</a:t>
                </a:r>
                <a:endParaRPr lang="en-US" altLang="zh-CN" sz="2400" dirty="0">
                  <a:solidFill>
                    <a:schemeClr val="tx1"/>
                  </a:solidFill>
                </a:endParaRPr>
              </a:p>
              <a:p>
                <a:r>
                  <a:rPr lang="zh-CN" altLang="en-US" sz="2400" dirty="0">
                    <a:solidFill>
                      <a:schemeClr val="tx1"/>
                    </a:solidFill>
                  </a:rPr>
                  <a:t>考虑一维的简单情况，</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0" i="1" dirty="0">
                            <a:solidFill>
                              <a:schemeClr val="tx1"/>
                            </a:solidFill>
                            <a:latin typeface="Cambria Math" panose="02040503050406030204" pitchFamily="18" charset="0"/>
                          </a:rPr>
                          <m:t>𝑟</m:t>
                        </m:r>
                      </m:e>
                    </m:d>
                  </m:oMath>
                </a14:m>
                <a:r>
                  <a:rPr lang="en-US" altLang="zh-CN" sz="2400" dirty="0">
                    <a:solidFill>
                      <a:schemeClr val="tx1"/>
                    </a:solidFill>
                  </a:rPr>
                  <a:t>=</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0" i="1" dirty="0" smtClean="0">
                            <a:solidFill>
                              <a:schemeClr val="tx1"/>
                            </a:solidFill>
                            <a:latin typeface="Cambria Math" panose="02040503050406030204" pitchFamily="18" charset="0"/>
                          </a:rPr>
                          <m:t>𝑥</m:t>
                        </m:r>
                      </m:e>
                    </m:d>
                  </m:oMath>
                </a14:m>
                <a:r>
                  <a:rPr lang="zh-CN" altLang="en-US" sz="2400" dirty="0">
                    <a:solidFill>
                      <a:schemeClr val="tx1"/>
                    </a:solidFill>
                  </a:rPr>
                  <a:t>变化较小。</a:t>
                </a:r>
                <a:endParaRPr lang="en-US" altLang="zh-CN" sz="2400" dirty="0">
                  <a:solidFill>
                    <a:schemeClr val="tx1"/>
                  </a:solidFill>
                </a:endParaRPr>
              </a:p>
              <a:p>
                <a:r>
                  <a:rPr lang="zh-CN" altLang="en-US" sz="2400" dirty="0">
                    <a:solidFill>
                      <a:schemeClr val="tx1"/>
                    </a:solidFill>
                  </a:rPr>
                  <a:t>薛定谔方程：</a:t>
                </a:r>
                <a:r>
                  <a:rPr lang="en-US" altLang="zh-CN" sz="2400" dirty="0">
                    <a:solidFill>
                      <a:schemeClr val="tx1"/>
                    </a:solidFill>
                  </a:rPr>
                  <a:t> </a:t>
                </a:r>
                <a14:m>
                  <m:oMath xmlns:m="http://schemas.openxmlformats.org/officeDocument/2006/math">
                    <m:r>
                      <a:rPr lang="en-US" altLang="zh-CN" sz="2400" i="1" dirty="0">
                        <a:solidFill>
                          <a:schemeClr val="tx1"/>
                        </a:solidFill>
                        <a:latin typeface="Cambria Math" panose="02040503050406030204" pitchFamily="18" charset="0"/>
                      </a:rPr>
                      <m:t>[</m:t>
                    </m:r>
                    <m:r>
                      <m:rPr>
                        <m:nor/>
                      </m:rPr>
                      <a:rPr lang="en-US" altLang="zh-CN" sz="2400" dirty="0">
                        <a:solidFill>
                          <a:schemeClr val="tx1"/>
                        </a:solidFill>
                        <a:sym typeface="Symbol" panose="05050102010706020507" pitchFamily="18" charset="2"/>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f>
                      <m:fPr>
                        <m:ctrlPr>
                          <a:rPr lang="en-US" altLang="zh-CN" sz="2400" i="1" dirty="0" smtClean="0">
                            <a:solidFill>
                              <a:schemeClr val="tx1"/>
                            </a:solidFill>
                            <a:latin typeface="Cambria Math" panose="02040503050406030204" pitchFamily="18" charset="0"/>
                          </a:rPr>
                        </m:ctrlPr>
                      </m:fPr>
                      <m:num>
                        <m:sSup>
                          <m:sSupPr>
                            <m:ctrlPr>
                              <a:rPr lang="en-US" altLang="zh-CN" sz="2400" i="1" dirty="0" smtClean="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𝑑</m:t>
                            </m:r>
                          </m:e>
                          <m:sup>
                            <m:r>
                              <a:rPr lang="en-US" altLang="zh-CN" sz="2400" i="1" dirty="0">
                                <a:solidFill>
                                  <a:schemeClr val="tx1"/>
                                </a:solidFill>
                                <a:latin typeface="Cambria Math" panose="02040503050406030204" pitchFamily="18" charset="0"/>
                              </a:rPr>
                              <m:t>2</m:t>
                            </m:r>
                          </m:sup>
                        </m:sSup>
                      </m:num>
                      <m:den>
                        <m:r>
                          <a:rPr lang="en-US" altLang="zh-CN" sz="2400" i="1" dirty="0" smtClean="0">
                            <a:solidFill>
                              <a:schemeClr val="tx1"/>
                            </a:solidFill>
                            <a:latin typeface="Cambria Math" panose="02040503050406030204" pitchFamily="18" charset="0"/>
                          </a:rPr>
                          <m:t>𝑑</m:t>
                        </m:r>
                        <m:sSup>
                          <m:sSupPr>
                            <m:ctrlPr>
                              <a:rPr lang="en-US" altLang="zh-CN" sz="2400" i="1" dirty="0" smtClean="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𝑥</m:t>
                            </m:r>
                          </m:e>
                          <m:sup>
                            <m:r>
                              <a:rPr lang="en-US" altLang="zh-CN" sz="2400" i="1" dirty="0">
                                <a:solidFill>
                                  <a:schemeClr val="tx1"/>
                                </a:solidFill>
                                <a:latin typeface="Cambria Math" panose="02040503050406030204" pitchFamily="18" charset="0"/>
                              </a:rPr>
                              <m:t>2</m:t>
                            </m:r>
                          </m:sup>
                        </m:sSup>
                      </m:den>
                    </m:f>
                    <m:r>
                      <m:rPr>
                        <m:nor/>
                      </m:rPr>
                      <a:rPr lang="en-US" altLang="zh-CN" sz="2400"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0" i="1" dirty="0" smtClean="0">
                            <a:solidFill>
                              <a:schemeClr val="tx1"/>
                            </a:solidFill>
                            <a:latin typeface="Cambria Math" panose="02040503050406030204" pitchFamily="18" charset="0"/>
                          </a:rPr>
                          <m:t>𝑥</m:t>
                        </m:r>
                      </m:e>
                    </m:d>
                    <m:r>
                      <a:rPr lang="en-US" altLang="zh-CN" sz="2400" i="1" dirty="0">
                        <a:solidFill>
                          <a:schemeClr val="tx1"/>
                        </a:solidFill>
                        <a:latin typeface="Cambria Math" panose="02040503050406030204" pitchFamily="18" charset="0"/>
                      </a:rPr>
                      <m:t>]</m:t>
                    </m:r>
                  </m:oMath>
                </a14:m>
                <a:r>
                  <a:rPr lang="zh-CN" altLang="en-US" sz="2400" dirty="0">
                    <a:solidFill>
                      <a:schemeClr val="tx1"/>
                    </a:solidFill>
                    <a:sym typeface="Symbol" panose="05050102010706020507" pitchFamily="18" charset="2"/>
                  </a:rPr>
                  <a:t> </a:t>
                </a:r>
                <a14:m>
                  <m:oMath xmlns:m="http://schemas.openxmlformats.org/officeDocument/2006/math">
                    <m:r>
                      <m:rPr>
                        <m:nor/>
                      </m:rPr>
                      <a:rPr lang="zh-CN" altLang="en-US" sz="2400" dirty="0">
                        <a:solidFill>
                          <a:schemeClr val="tx1"/>
                        </a:solidFill>
                        <a:sym typeface="Symbol" panose="05050102010706020507" pitchFamily="18" charset="2"/>
                      </a:rPr>
                      <m:t></m:t>
                    </m:r>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r>
                      <m:rPr>
                        <m:nor/>
                      </m:rPr>
                      <a:rPr lang="en-US" altLang="zh-CN" sz="2400" dirty="0">
                        <a:solidFill>
                          <a:schemeClr val="tx1"/>
                        </a:solidFill>
                        <a:sym typeface="Symbol" panose="05050102010706020507" pitchFamily="18" charset="2"/>
                      </a:rPr>
                      <m:t>=</m:t>
                    </m:r>
                    <m:r>
                      <m:rPr>
                        <m:nor/>
                      </m:rPr>
                      <a:rPr lang="en-US" altLang="zh-CN" sz="2400" i="1" dirty="0">
                        <a:solidFill>
                          <a:schemeClr val="tx1"/>
                        </a:solidFill>
                        <a:latin typeface="Cambria" panose="02040503050406030204" pitchFamily="18" charset="0"/>
                        <a:ea typeface="Cambria" panose="02040503050406030204" pitchFamily="18" charset="0"/>
                        <a:sym typeface="Symbol" panose="05050102010706020507" pitchFamily="18" charset="2"/>
                      </a:rPr>
                      <m:t>E</m:t>
                    </m:r>
                  </m:oMath>
                </a14:m>
                <a:r>
                  <a:rPr lang="zh-CN" altLang="en-US" sz="2400" dirty="0">
                    <a:solidFill>
                      <a:schemeClr val="tx1"/>
                    </a:solidFill>
                    <a:sym typeface="Symbol" panose="05050102010706020507" pitchFamily="18" charset="2"/>
                  </a:rPr>
                  <a:t> </a:t>
                </a:r>
                <a14:m>
                  <m:oMath xmlns:m="http://schemas.openxmlformats.org/officeDocument/2006/math">
                    <m:r>
                      <m:rPr>
                        <m:nor/>
                      </m:rPr>
                      <a:rPr lang="zh-CN" altLang="en-US" sz="2400" dirty="0">
                        <a:solidFill>
                          <a:schemeClr val="tx1"/>
                        </a:solidFill>
                        <a:sym typeface="Symbol" panose="05050102010706020507" pitchFamily="18" charset="2"/>
                      </a:rPr>
                      <m:t></m:t>
                    </m:r>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oMath>
                </a14:m>
                <a:r>
                  <a:rPr lang="en-US" altLang="zh-CN" sz="2400" dirty="0">
                    <a:solidFill>
                      <a:schemeClr val="tx1"/>
                    </a:solidFill>
                  </a:rPr>
                  <a:t>	</a:t>
                </a:r>
              </a:p>
              <a:p>
                <a:r>
                  <a:rPr lang="en-US" altLang="zh-CN" sz="2400" dirty="0">
                    <a:solidFill>
                      <a:schemeClr val="tx1"/>
                    </a:solidFill>
                  </a:rPr>
                  <a:t>				</a:t>
                </a:r>
                <a:r>
                  <a:rPr lang="zh-CN" altLang="en-US" sz="2400" dirty="0">
                    <a:solidFill>
                      <a:schemeClr val="tx1"/>
                    </a:solidFill>
                  </a:rPr>
                  <a:t>其中，</a:t>
                </a:r>
                <a:r>
                  <a:rPr lang="en-US" altLang="zh-CN" sz="2400" dirty="0">
                    <a:solidFill>
                      <a:schemeClr val="tx1"/>
                    </a:solidFill>
                  </a:rPr>
                  <a:t> </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r>
                          <a:rPr lang="en-US" altLang="zh-CN" sz="2400" b="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𝑙𝑎</m:t>
                        </m:r>
                      </m:e>
                    </m:d>
                  </m:oMath>
                </a14:m>
                <a:r>
                  <a:rPr lang="en-US" altLang="zh-CN" sz="2400" dirty="0">
                    <a:solidFill>
                      <a:schemeClr val="tx1"/>
                    </a:solidFill>
                  </a:rPr>
                  <a:t>=</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oMath>
                </a14:m>
                <a:r>
                  <a:rPr lang="en-US" altLang="zh-CN" sz="2400" dirty="0">
                    <a:solidFill>
                      <a:schemeClr val="tx1"/>
                    </a:solidFill>
                  </a:rPr>
                  <a:t> 	, </a:t>
                </a:r>
                <a14:m>
                  <m:oMath xmlns:m="http://schemas.openxmlformats.org/officeDocument/2006/math">
                    <m:r>
                      <a:rPr lang="en-US" altLang="zh-CN" sz="2400" i="1" dirty="0">
                        <a:solidFill>
                          <a:schemeClr val="tx1"/>
                        </a:solidFill>
                        <a:latin typeface="Cambria Math" panose="02040503050406030204" pitchFamily="18" charset="0"/>
                      </a:rPr>
                      <m:t>𝑙𝑎</m:t>
                    </m:r>
                    <m:r>
                      <a:rPr lang="zh-CN" altLang="en-US" sz="2400" i="1" dirty="0" smtClean="0">
                        <a:solidFill>
                          <a:schemeClr val="tx1"/>
                        </a:solidFill>
                        <a:latin typeface="Cambria Math" panose="02040503050406030204" pitchFamily="18" charset="0"/>
                      </a:rPr>
                      <m:t>为</m:t>
                    </m:r>
                  </m:oMath>
                </a14:m>
                <a:r>
                  <a:rPr lang="zh-CN" altLang="en-US" sz="2400" dirty="0">
                    <a:solidFill>
                      <a:schemeClr val="tx1"/>
                    </a:solidFill>
                  </a:rPr>
                  <a:t>晶格常数整数倍。</a:t>
                </a:r>
                <a:endParaRPr lang="en-US" altLang="zh-CN" sz="2400" dirty="0">
                  <a:solidFill>
                    <a:schemeClr val="tx1"/>
                  </a:solidFill>
                </a:endParaRPr>
              </a:p>
              <a:p>
                <a:endParaRPr lang="en-US" altLang="zh-CN" sz="2400" b="1" dirty="0">
                  <a:solidFill>
                    <a:schemeClr val="tx1"/>
                  </a:solidFill>
                </a:endParaRPr>
              </a:p>
              <a:p>
                <a:r>
                  <a:rPr lang="en-US" altLang="zh-CN" sz="2800" b="1" dirty="0">
                    <a:solidFill>
                      <a:schemeClr val="tx1"/>
                    </a:solidFill>
                  </a:rPr>
                  <a:t>7.2.1 </a:t>
                </a:r>
                <a:r>
                  <a:rPr lang="zh-CN" altLang="en-US" sz="2800" b="1" dirty="0">
                    <a:solidFill>
                      <a:schemeClr val="tx1"/>
                    </a:solidFill>
                  </a:rPr>
                  <a:t>一维周期势作为微扰</a:t>
                </a:r>
                <a:endParaRPr lang="en-US" altLang="zh-CN" sz="2800" b="1" dirty="0">
                  <a:solidFill>
                    <a:schemeClr val="tx1"/>
                  </a:solidFill>
                </a:endParaRPr>
              </a:p>
              <a:p>
                <a:endParaRPr lang="en-US" altLang="zh-CN" sz="2400" dirty="0">
                  <a:solidFill>
                    <a:schemeClr val="tx1"/>
                  </a:solidFill>
                </a:endParaRPr>
              </a:p>
              <a:p>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oMath>
                </a14:m>
                <a:r>
                  <a:rPr lang="zh-CN" altLang="en-US" sz="2400" dirty="0">
                    <a:solidFill>
                      <a:schemeClr val="tx1"/>
                    </a:solidFill>
                  </a:rPr>
                  <a:t>可展开为傅里叶级数：</a:t>
                </a:r>
                <a:endParaRPr lang="en-US" altLang="zh-CN" sz="2400" dirty="0">
                  <a:solidFill>
                    <a:schemeClr val="tx1"/>
                  </a:solidFill>
                </a:endParaRPr>
              </a:p>
              <a:p>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r>
                      <a:rPr lang="en-US" altLang="zh-CN" sz="2400" b="0" i="0" dirty="0" smtClean="0">
                        <a:solidFill>
                          <a:schemeClr val="tx1"/>
                        </a:solidFill>
                        <a:latin typeface="Cambria Math" panose="02040503050406030204" pitchFamily="18" charset="0"/>
                      </a:rPr>
                      <m:t>=</m:t>
                    </m:r>
                    <m:nary>
                      <m:naryPr>
                        <m:chr m:val="∑"/>
                        <m:supHide m:val="on"/>
                        <m:ctrlPr>
                          <a:rPr lang="en-US" altLang="zh-CN" sz="2400" b="0" i="1" dirty="0" smtClean="0">
                            <a:solidFill>
                              <a:schemeClr val="tx1"/>
                            </a:solidFill>
                            <a:latin typeface="Cambria Math" panose="02040503050406030204" pitchFamily="18" charset="0"/>
                          </a:rPr>
                        </m:ctrlPr>
                      </m:naryPr>
                      <m:sub>
                        <m:r>
                          <m:rPr>
                            <m:brk m:alnAt="7"/>
                          </m:rPr>
                          <a:rPr lang="en-US" altLang="zh-CN" sz="2400" b="0" i="1" dirty="0" smtClean="0">
                            <a:solidFill>
                              <a:schemeClr val="tx1"/>
                            </a:solidFill>
                            <a:latin typeface="Cambria Math" panose="02040503050406030204" pitchFamily="18" charset="0"/>
                          </a:rPr>
                          <m:t>𝑛</m:t>
                        </m:r>
                      </m:sub>
                      <m:sup/>
                      <m:e>
                        <m:sSub>
                          <m:sSubPr>
                            <m:ctrlPr>
                              <a:rPr lang="en-US" altLang="zh-CN" sz="2400" b="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𝑉</m:t>
                            </m:r>
                          </m:e>
                          <m:sub>
                            <m:r>
                              <a:rPr lang="en-US" altLang="zh-CN" sz="2400" b="0" i="1" dirty="0" smtClean="0">
                                <a:solidFill>
                                  <a:schemeClr val="tx1"/>
                                </a:solidFill>
                                <a:latin typeface="Cambria Math" panose="02040503050406030204" pitchFamily="18" charset="0"/>
                              </a:rPr>
                              <m:t>𝑛</m:t>
                            </m:r>
                          </m:sub>
                        </m:sSub>
                        <m:sSup>
                          <m:sSupPr>
                            <m:ctrlPr>
                              <a:rPr lang="en-US" altLang="zh-CN" sz="2400" b="0" i="1" dirty="0" smtClean="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𝑒</m:t>
                            </m:r>
                          </m:e>
                          <m:sup>
                            <m:r>
                              <a:rPr lang="en-US" altLang="zh-CN" sz="2400" b="0" i="1" dirty="0" smtClean="0">
                                <a:solidFill>
                                  <a:schemeClr val="tx1"/>
                                </a:solidFill>
                                <a:latin typeface="Cambria Math" panose="02040503050406030204" pitchFamily="18" charset="0"/>
                              </a:rPr>
                              <m:t>𝑖𝑛</m:t>
                            </m:r>
                            <m:f>
                              <m:fPr>
                                <m:ctrlPr>
                                  <a:rPr lang="en-US" altLang="zh-CN" sz="2400" b="0" i="1" dirty="0" smtClean="0">
                                    <a:solidFill>
                                      <a:schemeClr val="tx1"/>
                                    </a:solidFill>
                                    <a:latin typeface="Cambria Math" panose="02040503050406030204" pitchFamily="18" charset="0"/>
                                  </a:rPr>
                                </m:ctrlPr>
                              </m:fPr>
                              <m:num>
                                <m:r>
                                  <a:rPr lang="en-US" altLang="zh-CN" sz="2400" b="0" i="1" dirty="0" smtClean="0">
                                    <a:solidFill>
                                      <a:schemeClr val="tx1"/>
                                    </a:solidFill>
                                    <a:latin typeface="Cambria Math" panose="02040503050406030204" pitchFamily="18" charset="0"/>
                                  </a:rPr>
                                  <m:t>2</m:t>
                                </m:r>
                                <m:r>
                                  <a:rPr lang="zh-CN" altLang="en-US" sz="2400" b="0" i="1" dirty="0" smtClean="0">
                                    <a:solidFill>
                                      <a:schemeClr val="tx1"/>
                                    </a:solidFill>
                                    <a:latin typeface="Cambria Math" panose="02040503050406030204" pitchFamily="18" charset="0"/>
                                  </a:rPr>
                                  <m:t>𝜋</m:t>
                                </m:r>
                              </m:num>
                              <m:den>
                                <m:r>
                                  <a:rPr lang="en-US" altLang="zh-CN" sz="2400" b="0" i="1" dirty="0" smtClean="0">
                                    <a:solidFill>
                                      <a:schemeClr val="tx1"/>
                                    </a:solidFill>
                                    <a:latin typeface="Cambria Math" panose="02040503050406030204" pitchFamily="18" charset="0"/>
                                  </a:rPr>
                                  <m:t>𝑎</m:t>
                                </m:r>
                              </m:den>
                            </m:f>
                            <m:r>
                              <a:rPr lang="en-US" altLang="zh-CN" sz="2400" b="0" i="1" dirty="0" smtClean="0">
                                <a:solidFill>
                                  <a:schemeClr val="tx1"/>
                                </a:solidFill>
                                <a:latin typeface="Cambria Math" panose="02040503050406030204" pitchFamily="18" charset="0"/>
                              </a:rPr>
                              <m:t>𝑥</m:t>
                            </m:r>
                          </m:sup>
                        </m:sSup>
                      </m:e>
                    </m:nary>
                    <m:r>
                      <a:rPr lang="en-US" altLang="zh-CN" sz="2400" b="0" i="1" dirty="0" smtClean="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b="0" i="1" dirty="0" smtClean="0">
                            <a:solidFill>
                              <a:schemeClr val="tx1"/>
                            </a:solidFill>
                            <a:latin typeface="Cambria Math" panose="02040503050406030204" pitchFamily="18" charset="0"/>
                          </a:rPr>
                          <m:t>0</m:t>
                        </m:r>
                      </m:sub>
                    </m:sSub>
                    <m:r>
                      <a:rPr lang="en-US" altLang="zh-CN" sz="2400" b="0" i="1" dirty="0" smtClean="0">
                        <a:solidFill>
                          <a:schemeClr val="tx1"/>
                        </a:solidFill>
                        <a:latin typeface="Cambria Math" panose="02040503050406030204" pitchFamily="18" charset="0"/>
                      </a:rPr>
                      <m:t>+</m:t>
                    </m:r>
                    <m:nary>
                      <m:naryPr>
                        <m:chr m:val="∑"/>
                        <m:limLoc m:val="subSup"/>
                        <m:ctrlPr>
                          <a:rPr lang="en-US" altLang="zh-CN" sz="2400" b="0" i="1" dirty="0" smtClean="0">
                            <a:solidFill>
                              <a:schemeClr val="tx1"/>
                            </a:solidFill>
                            <a:latin typeface="Cambria Math" panose="02040503050406030204" pitchFamily="18" charset="0"/>
                          </a:rPr>
                        </m:ctrlPr>
                      </m:naryPr>
                      <m:sub>
                        <m:r>
                          <m:rPr>
                            <m:brk m:alnAt="25"/>
                          </m:rPr>
                          <a:rPr lang="en-US" altLang="zh-CN" sz="2400" b="0" i="1" dirty="0" smtClean="0">
                            <a:solidFill>
                              <a:schemeClr val="tx1"/>
                            </a:solidFill>
                            <a:latin typeface="Cambria Math" panose="02040503050406030204" pitchFamily="18" charset="0"/>
                          </a:rPr>
                          <m:t>𝑛</m:t>
                        </m:r>
                      </m:sub>
                      <m:sup>
                        <m:r>
                          <a:rPr lang="en-US" altLang="zh-CN" sz="2400" b="0" i="1" dirty="0" smtClean="0">
                            <a:solidFill>
                              <a:schemeClr val="tx1"/>
                            </a:solidFill>
                            <a:latin typeface="Cambria Math" panose="02040503050406030204" pitchFamily="18" charset="0"/>
                          </a:rPr>
                          <m:t>′</m:t>
                        </m:r>
                      </m:sup>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𝑥</m:t>
                            </m:r>
                          </m:sup>
                        </m:sSup>
                      </m:e>
                    </m:nary>
                  </m:oMath>
                </a14:m>
                <a:r>
                  <a:rPr lang="en-US" altLang="zh-CN" sz="2400" dirty="0">
                    <a:solidFill>
                      <a:schemeClr val="tx1"/>
                    </a:solidFill>
                  </a:rPr>
                  <a:t>	( </a:t>
                </a:r>
                <a:r>
                  <a:rPr lang="en-US" altLang="zh-CN" sz="2400" dirty="0">
                    <a:solidFill>
                      <a:schemeClr val="tx1"/>
                    </a:solidFill>
                    <a:latin typeface="Cambria" panose="02040503050406030204" pitchFamily="18" charset="0"/>
                    <a:ea typeface="Cambria" panose="02040503050406030204" pitchFamily="18" charset="0"/>
                  </a:rPr>
                  <a:t>‘ </a:t>
                </a:r>
                <a:r>
                  <a:rPr lang="zh-CN" altLang="en-US" sz="2400" dirty="0">
                    <a:solidFill>
                      <a:schemeClr val="tx1"/>
                    </a:solidFill>
                    <a:latin typeface="Cambria" panose="02040503050406030204" pitchFamily="18" charset="0"/>
                    <a:ea typeface="Cambria" panose="02040503050406030204" pitchFamily="18" charset="0"/>
                  </a:rPr>
                  <a:t>代表</a:t>
                </a:r>
                <a14:m>
                  <m:oMath xmlns:m="http://schemas.openxmlformats.org/officeDocument/2006/math">
                    <m:r>
                      <a:rPr lang="en-US" altLang="zh-CN" sz="2400" i="1" dirty="0">
                        <a:solidFill>
                          <a:schemeClr val="tx1"/>
                        </a:solidFill>
                        <a:latin typeface="Cambria Math" panose="02040503050406030204" pitchFamily="18" charset="0"/>
                      </a:rPr>
                      <m:t>𝑛</m:t>
                    </m:r>
                    <m:r>
                      <a:rPr lang="en-US" altLang="zh-CN" sz="2400" i="1" dirty="0" smtClean="0">
                        <a:solidFill>
                          <a:schemeClr val="tx1"/>
                        </a:solidFill>
                        <a:latin typeface="Cambria Math" panose="02040503050406030204" pitchFamily="18" charset="0"/>
                        <a:ea typeface="Cambria Math" panose="02040503050406030204" pitchFamily="18" charset="0"/>
                      </a:rPr>
                      <m:t>≠</m:t>
                    </m:r>
                    <m:r>
                      <a:rPr lang="en-US" altLang="zh-CN" sz="2400" b="0" i="1" dirty="0" smtClean="0">
                        <a:solidFill>
                          <a:schemeClr val="tx1"/>
                        </a:solidFill>
                        <a:latin typeface="Cambria Math" panose="02040503050406030204" pitchFamily="18" charset="0"/>
                        <a:ea typeface="Cambria Math" panose="02040503050406030204" pitchFamily="18" charset="0"/>
                      </a:rPr>
                      <m:t>0</m:t>
                    </m:r>
                  </m:oMath>
                </a14:m>
                <a:r>
                  <a:rPr lang="zh-CN" altLang="en-US" sz="2400" dirty="0">
                    <a:solidFill>
                      <a:schemeClr val="tx1"/>
                    </a:solidFill>
                  </a:rPr>
                  <a:t>，</a:t>
                </a:r>
                <a14:m>
                  <m:oMath xmlns:m="http://schemas.openxmlformats.org/officeDocument/2006/math">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oMath>
                </a14:m>
                <a:r>
                  <a:rPr lang="zh-CN" altLang="en-US" sz="2400" dirty="0">
                    <a:solidFill>
                      <a:schemeClr val="tx1"/>
                    </a:solidFill>
                  </a:rPr>
                  <a:t>正是倒格矢的长度</a:t>
                </a:r>
                <a:r>
                  <a:rPr lang="en-US" altLang="zh-CN" sz="2400" dirty="0">
                    <a:solidFill>
                      <a:schemeClr val="tx1"/>
                    </a:solidFill>
                  </a:rPr>
                  <a:t>)</a:t>
                </a:r>
              </a:p>
              <a:p>
                <a:r>
                  <a:rPr lang="zh-CN" altLang="en-US" sz="2400" dirty="0">
                    <a:solidFill>
                      <a:schemeClr val="tx1"/>
                    </a:solidFill>
                  </a:rPr>
                  <a:t>可令</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0</m:t>
                        </m:r>
                      </m:sub>
                    </m:sSub>
                    <m:r>
                      <a:rPr lang="en-US" altLang="zh-CN" sz="2400" i="1" dirty="0" smtClean="0">
                        <a:solidFill>
                          <a:schemeClr val="tx1"/>
                        </a:solidFill>
                        <a:latin typeface="Cambria Math" panose="02040503050406030204" pitchFamily="18" charset="0"/>
                      </a:rPr>
                      <m:t>=</m:t>
                    </m:r>
                  </m:oMath>
                </a14:m>
                <a:r>
                  <a:rPr lang="en-US" altLang="zh-CN" sz="2400" dirty="0">
                    <a:solidFill>
                      <a:schemeClr val="tx1"/>
                    </a:solidFill>
                  </a:rPr>
                  <a:t>0</a:t>
                </a:r>
                <a:r>
                  <a:rPr lang="zh-CN" altLang="en-US" sz="2400" dirty="0">
                    <a:solidFill>
                      <a:schemeClr val="tx1"/>
                    </a:solidFill>
                  </a:rPr>
                  <a:t>，则</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r>
                      <a:rPr lang="en-US" altLang="zh-CN" sz="2400" dirty="0">
                        <a:solidFill>
                          <a:schemeClr val="tx1"/>
                        </a:solidFill>
                        <a:latin typeface="Cambria Math" panose="02040503050406030204" pitchFamily="18" charset="0"/>
                      </a:rPr>
                      <m:t>=</m:t>
                    </m:r>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𝑥</m:t>
                            </m:r>
                          </m:sup>
                        </m:sSup>
                      </m:e>
                    </m:nary>
                  </m:oMath>
                </a14:m>
                <a:r>
                  <a:rPr lang="en-US" altLang="zh-CN" sz="2400" dirty="0">
                    <a:solidFill>
                      <a:schemeClr val="tx1"/>
                    </a:solidFill>
                  </a:rPr>
                  <a:t>		[</a:t>
                </a:r>
                <a:r>
                  <a:rPr lang="zh-CN" altLang="en-US" sz="2400" dirty="0">
                    <a:solidFill>
                      <a:schemeClr val="tx1"/>
                    </a:solidFill>
                  </a:rPr>
                  <a:t>因为</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r>
                      <a:rPr lang="en-US" altLang="zh-CN" sz="2400"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r>
                      <a:rPr lang="zh-CN" altLang="en-US" sz="2400" i="1" baseline="30000" dirty="0">
                        <a:solidFill>
                          <a:schemeClr val="tx1"/>
                        </a:solidFill>
                        <a:latin typeface="Cambria Math" panose="02040503050406030204" pitchFamily="18" charset="0"/>
                      </a:rPr>
                      <m:t>∗</m:t>
                    </m:r>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oMath>
                </a14:m>
                <a:r>
                  <a:rPr lang="zh-CN" altLang="en-US" sz="2400" dirty="0">
                    <a:solidFill>
                      <a:schemeClr val="tx1"/>
                    </a:solidFill>
                  </a:rPr>
                  <a:t>，则</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sub>
                    </m:sSub>
                    <m:r>
                      <a:rPr lang="en-US" altLang="zh-CN" sz="2400" i="1" dirty="0">
                        <a:solidFill>
                          <a:schemeClr val="tx1"/>
                        </a:solidFill>
                        <a:latin typeface="Cambria Math" panose="02040503050406030204" pitchFamily="18" charset="0"/>
                      </a:rPr>
                      <m:t>=</m:t>
                    </m:r>
                    <m:sSubSup>
                      <m:sSubSupPr>
                        <m:ctrlPr>
                          <a:rPr lang="en-US" altLang="zh-CN" sz="2400" i="1" dirty="0" smtClean="0">
                            <a:solidFill>
                              <a:schemeClr val="tx1"/>
                            </a:solidFill>
                            <a:latin typeface="Cambria Math" panose="02040503050406030204" pitchFamily="18" charset="0"/>
                          </a:rPr>
                        </m:ctrlPr>
                      </m:sSubSupPr>
                      <m:e>
                        <m:r>
                          <a:rPr lang="en-US" altLang="zh-CN" sz="2400" b="0" i="1" dirty="0" smtClean="0">
                            <a:solidFill>
                              <a:schemeClr val="tx1"/>
                            </a:solidFill>
                            <a:latin typeface="Cambria Math" panose="02040503050406030204" pitchFamily="18" charset="0"/>
                          </a:rPr>
                          <m:t>𝑉</m:t>
                        </m:r>
                      </m:e>
                      <m:sub>
                        <m:r>
                          <a:rPr lang="en-US" altLang="zh-CN" sz="2400" b="0" i="1" dirty="0" smtClean="0">
                            <a:solidFill>
                              <a:schemeClr val="tx1"/>
                            </a:solidFill>
                            <a:latin typeface="Cambria Math" panose="02040503050406030204" pitchFamily="18" charset="0"/>
                          </a:rPr>
                          <m:t>𝑛</m:t>
                        </m:r>
                      </m:sub>
                      <m:sup>
                        <m:r>
                          <a:rPr lang="en-US" altLang="zh-CN" sz="2400" b="0" i="1" dirty="0" smtClean="0">
                            <a:solidFill>
                              <a:schemeClr val="tx1"/>
                            </a:solidFill>
                            <a:latin typeface="Cambria Math" panose="02040503050406030204" pitchFamily="18" charset="0"/>
                          </a:rPr>
                          <m:t>∗</m:t>
                        </m:r>
                      </m:sup>
                    </m:sSubSup>
                  </m:oMath>
                </a14:m>
                <a:r>
                  <a:rPr lang="zh-CN" altLang="en-US" sz="2400" dirty="0">
                    <a:solidFill>
                      <a:schemeClr val="tx1"/>
                    </a:solidFill>
                  </a:rPr>
                  <a:t> </a:t>
                </a:r>
                <a:r>
                  <a:rPr lang="en-US" altLang="zh-CN" sz="2400" dirty="0">
                    <a:solidFill>
                      <a:schemeClr val="tx1"/>
                    </a:solidFill>
                  </a:rPr>
                  <a:t>]</a:t>
                </a:r>
              </a:p>
              <a:p>
                <a:r>
                  <a:rPr lang="zh-CN" altLang="en-US" sz="2400" dirty="0">
                    <a:solidFill>
                      <a:schemeClr val="tx1"/>
                    </a:solidFill>
                  </a:rPr>
                  <a:t>先解</a:t>
                </a:r>
                <a14:m>
                  <m:oMath xmlns:m="http://schemas.openxmlformats.org/officeDocument/2006/math">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𝐻</m:t>
                        </m:r>
                      </m:e>
                      <m:sup>
                        <m:r>
                          <a:rPr lang="en-US" altLang="zh-CN" sz="2400" b="0" i="1" smtClean="0">
                            <a:solidFill>
                              <a:schemeClr val="tx1"/>
                            </a:solidFill>
                            <a:latin typeface="Cambria Math" panose="02040503050406030204" pitchFamily="18" charset="0"/>
                          </a:rPr>
                          <m:t>0</m:t>
                        </m:r>
                      </m:sup>
                    </m:sSup>
                    <m:sSup>
                      <m:sSupPr>
                        <m:ctrlPr>
                          <a:rPr lang="en-US" altLang="zh-CN" sz="2400" i="1">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a:solidFill>
                              <a:schemeClr val="tx1"/>
                            </a:solidFill>
                            <a:latin typeface="Cambria Math" panose="02040503050406030204" pitchFamily="18" charset="0"/>
                          </a:rPr>
                          <m:t>0</m:t>
                        </m:r>
                      </m:sup>
                    </m:sSup>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𝑥</m:t>
                        </m:r>
                      </m:e>
                    </m:d>
                    <m:r>
                      <a:rPr lang="en-US" altLang="zh-CN" sz="2400" b="0" i="1" smtClean="0">
                        <a:solidFill>
                          <a:schemeClr val="tx1"/>
                        </a:solidFill>
                        <a:latin typeface="Cambria Math" panose="02040503050406030204" pitchFamily="18" charset="0"/>
                      </a:rPr>
                      <m:t>=</m:t>
                    </m:r>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sSup>
                      <m:sSupPr>
                        <m:ctrlPr>
                          <a:rPr lang="en-US" altLang="zh-CN" sz="2400" i="1">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𝑥</m:t>
                        </m:r>
                      </m:e>
                    </m:d>
                  </m:oMath>
                </a14:m>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025717" y="1871476"/>
                <a:ext cx="11060265" cy="4777911"/>
              </a:xfrm>
              <a:prstGeom prst="rect">
                <a:avLst/>
              </a:prstGeom>
              <a:blipFill rotWithShape="1">
                <a:blip r:embed="rId3"/>
                <a:stretch>
                  <a:fillRect l="-1102" t="-1148" b="-1658"/>
                </a:stretch>
              </a:blipFill>
            </p:spPr>
            <p:txBody>
              <a:bodyPr/>
              <a:lstStyle/>
              <a:p>
                <a:r>
                  <a:rPr lang="zh-CN" altLang="en-US">
                    <a:noFill/>
                  </a:rPr>
                  <a:t> </a:t>
                </a:r>
              </a:p>
            </p:txBody>
          </p:sp>
        </mc:Fallback>
      </mc:AlternateContent>
      <p:sp>
        <p:nvSpPr>
          <p:cNvPr id="10" name="椭圆 9"/>
          <p:cNvSpPr/>
          <p:nvPr/>
        </p:nvSpPr>
        <p:spPr>
          <a:xfrm>
            <a:off x="7719250" y="261411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8798574" y="2616200"/>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p:cNvSpPr/>
          <p:nvPr/>
        </p:nvSpPr>
        <p:spPr>
          <a:xfrm>
            <a:off x="9965928" y="2628864"/>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椭圆 14"/>
          <p:cNvSpPr/>
          <p:nvPr/>
        </p:nvSpPr>
        <p:spPr>
          <a:xfrm>
            <a:off x="11045252" y="263095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2" name="直接箭头连接符 11"/>
          <p:cNvCxnSpPr/>
          <p:nvPr/>
        </p:nvCxnSpPr>
        <p:spPr>
          <a:xfrm>
            <a:off x="7809250" y="2701357"/>
            <a:ext cx="3852000" cy="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任意多边形 1"/>
          <p:cNvSpPr/>
          <p:nvPr/>
        </p:nvSpPr>
        <p:spPr>
          <a:xfrm>
            <a:off x="7809250" y="2289449"/>
            <a:ext cx="1080225" cy="226311"/>
          </a:xfrm>
          <a:custGeom>
            <a:avLst/>
            <a:gdLst>
              <a:gd name="connsiteX0" fmla="*/ 0 w 989814"/>
              <a:gd name="connsiteY0" fmla="*/ 207457 h 226311"/>
              <a:gd name="connsiteX1" fmla="*/ 461913 w 989814"/>
              <a:gd name="connsiteY1" fmla="*/ 68 h 226311"/>
              <a:gd name="connsiteX2" fmla="*/ 989814 w 989814"/>
              <a:gd name="connsiteY2" fmla="*/ 226311 h 226311"/>
              <a:gd name="connsiteX3" fmla="*/ 989814 w 989814"/>
              <a:gd name="connsiteY3" fmla="*/ 226311 h 226311"/>
            </a:gdLst>
            <a:ahLst/>
            <a:cxnLst>
              <a:cxn ang="0">
                <a:pos x="connsiteX0" y="connsiteY0"/>
              </a:cxn>
              <a:cxn ang="0">
                <a:pos x="connsiteX1" y="connsiteY1"/>
              </a:cxn>
              <a:cxn ang="0">
                <a:pos x="connsiteX2" y="connsiteY2"/>
              </a:cxn>
              <a:cxn ang="0">
                <a:pos x="connsiteX3" y="connsiteY3"/>
              </a:cxn>
            </a:cxnLst>
            <a:rect l="l" t="t" r="r" b="b"/>
            <a:pathLst>
              <a:path w="989814" h="226311">
                <a:moveTo>
                  <a:pt x="0" y="207457"/>
                </a:moveTo>
                <a:cubicBezTo>
                  <a:pt x="148472" y="102191"/>
                  <a:pt x="296944" y="-3074"/>
                  <a:pt x="461913" y="68"/>
                </a:cubicBezTo>
                <a:cubicBezTo>
                  <a:pt x="626882" y="3210"/>
                  <a:pt x="989814" y="226311"/>
                  <a:pt x="989814" y="226311"/>
                </a:cubicBezTo>
                <a:lnTo>
                  <a:pt x="989814" y="226311"/>
                </a:ln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任意多边形 15"/>
          <p:cNvSpPr/>
          <p:nvPr/>
        </p:nvSpPr>
        <p:spPr>
          <a:xfrm>
            <a:off x="8932614" y="2300444"/>
            <a:ext cx="1080225" cy="226311"/>
          </a:xfrm>
          <a:custGeom>
            <a:avLst/>
            <a:gdLst>
              <a:gd name="connsiteX0" fmla="*/ 0 w 989814"/>
              <a:gd name="connsiteY0" fmla="*/ 207457 h 226311"/>
              <a:gd name="connsiteX1" fmla="*/ 461913 w 989814"/>
              <a:gd name="connsiteY1" fmla="*/ 68 h 226311"/>
              <a:gd name="connsiteX2" fmla="*/ 989814 w 989814"/>
              <a:gd name="connsiteY2" fmla="*/ 226311 h 226311"/>
              <a:gd name="connsiteX3" fmla="*/ 989814 w 989814"/>
              <a:gd name="connsiteY3" fmla="*/ 226311 h 226311"/>
            </a:gdLst>
            <a:ahLst/>
            <a:cxnLst>
              <a:cxn ang="0">
                <a:pos x="connsiteX0" y="connsiteY0"/>
              </a:cxn>
              <a:cxn ang="0">
                <a:pos x="connsiteX1" y="connsiteY1"/>
              </a:cxn>
              <a:cxn ang="0">
                <a:pos x="connsiteX2" y="connsiteY2"/>
              </a:cxn>
              <a:cxn ang="0">
                <a:pos x="connsiteX3" y="connsiteY3"/>
              </a:cxn>
            </a:cxnLst>
            <a:rect l="l" t="t" r="r" b="b"/>
            <a:pathLst>
              <a:path w="989814" h="226311">
                <a:moveTo>
                  <a:pt x="0" y="207457"/>
                </a:moveTo>
                <a:cubicBezTo>
                  <a:pt x="148472" y="102191"/>
                  <a:pt x="296944" y="-3074"/>
                  <a:pt x="461913" y="68"/>
                </a:cubicBezTo>
                <a:cubicBezTo>
                  <a:pt x="626882" y="3210"/>
                  <a:pt x="989814" y="226311"/>
                  <a:pt x="989814" y="226311"/>
                </a:cubicBezTo>
                <a:lnTo>
                  <a:pt x="989814" y="226311"/>
                </a:ln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任意多边形 16"/>
          <p:cNvSpPr/>
          <p:nvPr/>
        </p:nvSpPr>
        <p:spPr>
          <a:xfrm>
            <a:off x="10044978" y="2300444"/>
            <a:ext cx="1080225" cy="226311"/>
          </a:xfrm>
          <a:custGeom>
            <a:avLst/>
            <a:gdLst>
              <a:gd name="connsiteX0" fmla="*/ 0 w 989814"/>
              <a:gd name="connsiteY0" fmla="*/ 207457 h 226311"/>
              <a:gd name="connsiteX1" fmla="*/ 461913 w 989814"/>
              <a:gd name="connsiteY1" fmla="*/ 68 h 226311"/>
              <a:gd name="connsiteX2" fmla="*/ 989814 w 989814"/>
              <a:gd name="connsiteY2" fmla="*/ 226311 h 226311"/>
              <a:gd name="connsiteX3" fmla="*/ 989814 w 989814"/>
              <a:gd name="connsiteY3" fmla="*/ 226311 h 226311"/>
            </a:gdLst>
            <a:ahLst/>
            <a:cxnLst>
              <a:cxn ang="0">
                <a:pos x="connsiteX0" y="connsiteY0"/>
              </a:cxn>
              <a:cxn ang="0">
                <a:pos x="connsiteX1" y="connsiteY1"/>
              </a:cxn>
              <a:cxn ang="0">
                <a:pos x="connsiteX2" y="connsiteY2"/>
              </a:cxn>
              <a:cxn ang="0">
                <a:pos x="connsiteX3" y="connsiteY3"/>
              </a:cxn>
            </a:cxnLst>
            <a:rect l="l" t="t" r="r" b="b"/>
            <a:pathLst>
              <a:path w="989814" h="226311">
                <a:moveTo>
                  <a:pt x="0" y="207457"/>
                </a:moveTo>
                <a:cubicBezTo>
                  <a:pt x="148472" y="102191"/>
                  <a:pt x="296944" y="-3074"/>
                  <a:pt x="461913" y="68"/>
                </a:cubicBezTo>
                <a:cubicBezTo>
                  <a:pt x="626882" y="3210"/>
                  <a:pt x="989814" y="226311"/>
                  <a:pt x="989814" y="226311"/>
                </a:cubicBezTo>
                <a:lnTo>
                  <a:pt x="989814" y="226311"/>
                </a:ln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3" name="矩形 2"/>
              <p:cNvSpPr/>
              <p:nvPr/>
            </p:nvSpPr>
            <p:spPr>
              <a:xfrm>
                <a:off x="11661250" y="2628864"/>
                <a:ext cx="5113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smtClean="0">
                          <a:solidFill>
                            <a:schemeClr val="tx1"/>
                          </a:solidFill>
                          <a:latin typeface="Cambria Math" panose="02040503050406030204" pitchFamily="18" charset="0"/>
                        </a:rPr>
                        <m:t>𝑥</m:t>
                      </m:r>
                    </m:oMath>
                  </m:oMathPara>
                </a14:m>
                <a:endParaRPr lang="zh-CN" altLang="en-US" sz="2400" dirty="0">
                  <a:solidFill>
                    <a:schemeClr val="tx1"/>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11661250" y="2628864"/>
                <a:ext cx="511357" cy="4616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7719250" y="1884915"/>
                <a:ext cx="9689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oMath>
                  </m:oMathPara>
                </a14:m>
                <a:endParaRPr lang="zh-CN" altLang="en-US" sz="2400" dirty="0">
                  <a:solidFill>
                    <a:schemeClr val="tx1"/>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7719250" y="1884915"/>
                <a:ext cx="968920" cy="461665"/>
              </a:xfrm>
              <a:prstGeom prst="rect">
                <a:avLst/>
              </a:prstGeom>
              <a:blipFill rotWithShape="1">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147349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3937039" y="1103452"/>
                <a:ext cx="6730999"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3937039" y="1103452"/>
                <a:ext cx="6730999"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025717" y="1871476"/>
                <a:ext cx="11060265" cy="4708020"/>
              </a:xfrm>
              <a:prstGeom prst="rect">
                <a:avLst/>
              </a:prstGeom>
              <a:noFill/>
            </p:spPr>
            <p:txBody>
              <a:bodyPr wrap="square" rtlCol="0">
                <a:spAutoFit/>
              </a:bodyPr>
              <a:lstStyle/>
              <a:p>
                <a:r>
                  <a:rPr lang="en-US" altLang="zh-CN" sz="2800" b="1" dirty="0">
                    <a:solidFill>
                      <a:schemeClr val="tx1"/>
                    </a:solidFill>
                  </a:rPr>
                  <a:t>7.2.1 </a:t>
                </a:r>
                <a:r>
                  <a:rPr lang="zh-CN" altLang="en-US" sz="2800" b="1" dirty="0">
                    <a:solidFill>
                      <a:schemeClr val="tx1"/>
                    </a:solidFill>
                  </a:rPr>
                  <a:t>一维周期势作为微扰</a:t>
                </a:r>
                <a:endParaRPr lang="en-US" altLang="zh-CN" sz="2800" b="1" dirty="0">
                  <a:solidFill>
                    <a:schemeClr val="tx1"/>
                  </a:solidFill>
                </a:endParaRPr>
              </a:p>
              <a:p>
                <a:endParaRPr lang="en-US" altLang="zh-CN" sz="2400" dirty="0">
                  <a:solidFill>
                    <a:schemeClr val="tx1"/>
                  </a:solidFill>
                </a:endParaRPr>
              </a:p>
              <a:p>
                <a:r>
                  <a:rPr lang="zh-CN" altLang="en-US" sz="2400" dirty="0">
                    <a:solidFill>
                      <a:schemeClr val="tx1"/>
                    </a:solidFill>
                  </a:rPr>
                  <a:t>先解</a:t>
                </a:r>
                <a14:m>
                  <m:oMath xmlns:m="http://schemas.openxmlformats.org/officeDocument/2006/math">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𝐻</m:t>
                        </m:r>
                      </m:e>
                      <m:sup>
                        <m:r>
                          <a:rPr lang="en-US" altLang="zh-CN" sz="2400" b="0" i="1" smtClean="0">
                            <a:solidFill>
                              <a:schemeClr val="tx1"/>
                            </a:solidFill>
                            <a:latin typeface="Cambria Math" panose="02040503050406030204" pitchFamily="18" charset="0"/>
                          </a:rPr>
                          <m:t>0</m:t>
                        </m:r>
                      </m:sup>
                    </m:sSup>
                    <m:sSup>
                      <m:sSupPr>
                        <m:ctrlPr>
                          <a:rPr lang="en-US" altLang="zh-CN" sz="2400" i="1">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a:solidFill>
                              <a:schemeClr val="tx1"/>
                            </a:solidFill>
                            <a:latin typeface="Cambria Math" panose="02040503050406030204" pitchFamily="18" charset="0"/>
                          </a:rPr>
                          <m:t>0</m:t>
                        </m:r>
                      </m:sup>
                    </m:sSup>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𝑥</m:t>
                        </m:r>
                      </m:e>
                    </m:d>
                    <m:r>
                      <a:rPr lang="en-US" altLang="zh-CN" sz="2400" b="0" i="1" smtClean="0">
                        <a:solidFill>
                          <a:schemeClr val="tx1"/>
                        </a:solidFill>
                        <a:latin typeface="Cambria Math" panose="02040503050406030204" pitchFamily="18" charset="0"/>
                      </a:rPr>
                      <m:t>=</m:t>
                    </m:r>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sSup>
                      <m:sSupPr>
                        <m:ctrlPr>
                          <a:rPr lang="en-US" altLang="zh-CN" sz="2400" i="1">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𝑥</m:t>
                        </m:r>
                      </m:e>
                    </m:d>
                  </m:oMath>
                </a14:m>
                <a:endParaRPr lang="en-US" altLang="zh-CN" sz="2400" dirty="0">
                  <a:solidFill>
                    <a:schemeClr val="tx1"/>
                  </a:solidFill>
                </a:endParaRPr>
              </a:p>
              <a:p>
                <a:r>
                  <a:rPr lang="zh-CN" altLang="en-US" sz="2400" dirty="0">
                    <a:solidFill>
                      <a:schemeClr val="tx1"/>
                    </a:solidFill>
                  </a:rPr>
                  <a:t>得：</a:t>
                </a:r>
                <a14:m>
                  <m:oMath xmlns:m="http://schemas.openxmlformats.org/officeDocument/2006/math">
                    <m:sSubSup>
                      <m:sSubSupPr>
                        <m:ctrlPr>
                          <a:rPr lang="en-US" altLang="zh-CN" sz="2400" i="1" smtClean="0">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b="0" i="1" smtClean="0">
                            <a:solidFill>
                              <a:schemeClr val="tx1"/>
                            </a:solidFill>
                            <a:latin typeface="Cambria Math" panose="02040503050406030204" pitchFamily="18" charset="0"/>
                          </a:rPr>
                          <m:t>𝑘</m:t>
                        </m:r>
                      </m:sub>
                      <m:sup>
                        <m:r>
                          <a:rPr lang="en-US" altLang="zh-CN" sz="2400" b="0" i="1" smtClean="0">
                            <a:solidFill>
                              <a:schemeClr val="tx1"/>
                            </a:solidFill>
                            <a:latin typeface="Cambria Math" panose="02040503050406030204" pitchFamily="18" charset="0"/>
                          </a:rPr>
                          <m:t>0</m:t>
                        </m:r>
                      </m:sup>
                    </m:sSub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𝑥</m:t>
                        </m:r>
                      </m:e>
                    </m:d>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ad>
                          <m:radPr>
                            <m:degHide m:val="on"/>
                            <m:ctrlPr>
                              <a:rPr lang="en-US" altLang="zh-CN" sz="2400" b="0" i="1" smtClean="0">
                                <a:solidFill>
                                  <a:schemeClr val="tx1"/>
                                </a:solidFill>
                                <a:latin typeface="Cambria Math" panose="02040503050406030204" pitchFamily="18" charset="0"/>
                              </a:rPr>
                            </m:ctrlPr>
                          </m:radPr>
                          <m:deg/>
                          <m:e>
                            <m:r>
                              <a:rPr lang="en-US" altLang="zh-CN" sz="2400" b="0" i="1" smtClean="0">
                                <a:solidFill>
                                  <a:schemeClr val="tx1"/>
                                </a:solidFill>
                                <a:latin typeface="Cambria Math" panose="02040503050406030204" pitchFamily="18" charset="0"/>
                              </a:rPr>
                              <m:t>𝐿</m:t>
                            </m:r>
                          </m:e>
                        </m:rad>
                      </m:den>
                    </m:f>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m:t>
                        </m:r>
                        <m:r>
                          <a:rPr lang="en-US" altLang="zh-CN" sz="2400" b="0" i="1" dirty="0" smtClean="0">
                            <a:solidFill>
                              <a:schemeClr val="tx1"/>
                            </a:solidFill>
                            <a:latin typeface="Cambria Math" panose="02040503050406030204" pitchFamily="18" charset="0"/>
                          </a:rPr>
                          <m:t>𝑘</m:t>
                        </m:r>
                        <m:r>
                          <a:rPr lang="en-US" altLang="zh-CN" sz="2400" i="1" dirty="0">
                            <a:solidFill>
                              <a:schemeClr val="tx1"/>
                            </a:solidFill>
                            <a:latin typeface="Cambria Math" panose="02040503050406030204" pitchFamily="18" charset="0"/>
                          </a:rPr>
                          <m:t>𝑥</m:t>
                        </m:r>
                      </m:sup>
                    </m:sSup>
                  </m:oMath>
                </a14:m>
                <a:r>
                  <a:rPr lang="en-US" altLang="zh-CN" sz="2400" dirty="0">
                    <a:solidFill>
                      <a:schemeClr val="tx1"/>
                    </a:solidFill>
                  </a:rPr>
                  <a:t>, </a:t>
                </a:r>
                <a14:m>
                  <m:oMath xmlns:m="http://schemas.openxmlformats.org/officeDocument/2006/math">
                    <m:d>
                      <m:dPr>
                        <m:ctrlPr>
                          <a:rPr lang="en-US" altLang="zh-CN" sz="2400" b="0" i="1" smtClean="0">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𝐿</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𝑁𝑎</m:t>
                        </m:r>
                      </m:e>
                    </m:d>
                  </m:oMath>
                </a14:m>
                <a:endParaRPr lang="en-US" altLang="zh-CN" sz="2400" b="0" dirty="0">
                  <a:solidFill>
                    <a:schemeClr val="tx1"/>
                  </a:solidFill>
                </a:endParaRPr>
              </a:p>
              <a:p>
                <a:r>
                  <a:rPr lang="en-US" altLang="zh-CN" sz="2400" dirty="0">
                    <a:solidFill>
                      <a:schemeClr val="tx1"/>
                    </a:solidFill>
                  </a:rPr>
                  <a:t>    </a:t>
                </a:r>
                <a14:m>
                  <m:oMath xmlns:m="http://schemas.openxmlformats.org/officeDocument/2006/math">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r>
                      <a:rPr lang="en-US" altLang="zh-CN" sz="2400" b="0" i="1"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oMath>
                </a14:m>
                <a:r>
                  <a:rPr lang="en-US" altLang="zh-CN" sz="2400" dirty="0">
                    <a:solidFill>
                      <a:schemeClr val="tx1"/>
                    </a:solidFill>
                  </a:rPr>
                  <a:t> , </a:t>
                </a:r>
                <a14:m>
                  <m:oMath xmlns:m="http://schemas.openxmlformats.org/officeDocument/2006/math">
                    <m:r>
                      <a:rPr lang="en-US" altLang="zh-CN" sz="2400" i="1" dirty="0">
                        <a:solidFill>
                          <a:schemeClr val="tx1"/>
                        </a:solidFill>
                        <a:latin typeface="Cambria Math" panose="02040503050406030204" pitchFamily="18" charset="0"/>
                      </a:rPr>
                      <m:t>𝑘</m:t>
                    </m:r>
                    <m:r>
                      <a:rPr lang="en-US" altLang="zh-CN" sz="2400" b="0" i="1" dirty="0"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b="0" i="1" dirty="0" smtClean="0">
                            <a:solidFill>
                              <a:schemeClr val="tx1"/>
                            </a:solidFill>
                            <a:latin typeface="Cambria Math" panose="02040503050406030204" pitchFamily="18" charset="0"/>
                          </a:rPr>
                          <m:t>𝑁</m:t>
                        </m:r>
                        <m:r>
                          <a:rPr lang="en-US" altLang="zh-CN" sz="2400" i="1" dirty="0">
                            <a:solidFill>
                              <a:schemeClr val="tx1"/>
                            </a:solidFill>
                            <a:latin typeface="Cambria Math" panose="02040503050406030204" pitchFamily="18" charset="0"/>
                          </a:rPr>
                          <m:t>𝑎</m:t>
                        </m:r>
                      </m:den>
                    </m:f>
                    <m:r>
                      <a:rPr lang="en-US" altLang="zh-CN" sz="2400" b="0" i="1" dirty="0" smtClean="0">
                        <a:solidFill>
                          <a:schemeClr val="tx1"/>
                        </a:solidFill>
                        <a:latin typeface="Cambria Math" panose="02040503050406030204" pitchFamily="18" charset="0"/>
                      </a:rPr>
                      <m:t>𝑠</m:t>
                    </m:r>
                  </m:oMath>
                </a14:m>
                <a:r>
                  <a:rPr lang="en-US" altLang="zh-CN" sz="2400" dirty="0">
                    <a:solidFill>
                      <a:schemeClr val="tx1"/>
                    </a:solidFill>
                  </a:rPr>
                  <a:t>   , </a:t>
                </a:r>
                <a14:m>
                  <m:oMath xmlns:m="http://schemas.openxmlformats.org/officeDocument/2006/math">
                    <m:r>
                      <a:rPr lang="en-US" altLang="zh-CN" sz="2400" i="1" dirty="0">
                        <a:solidFill>
                          <a:schemeClr val="tx1"/>
                        </a:solidFill>
                        <a:latin typeface="Cambria Math" panose="02040503050406030204" pitchFamily="18" charset="0"/>
                      </a:rPr>
                      <m:t>𝑠</m:t>
                    </m:r>
                  </m:oMath>
                </a14:m>
                <a:r>
                  <a:rPr lang="zh-CN" altLang="en-US" sz="2400" dirty="0">
                    <a:solidFill>
                      <a:schemeClr val="tx1"/>
                    </a:solidFill>
                  </a:rPr>
                  <a:t>为整数。</a:t>
                </a:r>
                <a:endParaRPr lang="en-US" altLang="zh-CN" sz="2400" dirty="0">
                  <a:solidFill>
                    <a:schemeClr val="tx1"/>
                  </a:solidFill>
                </a:endParaRPr>
              </a:p>
              <a:p>
                <a14:m>
                  <m:oMath xmlns:m="http://schemas.openxmlformats.org/officeDocument/2006/math">
                    <m:sSup>
                      <m:sSupPr>
                        <m:ctrlPr>
                          <a:rPr lang="en-US" altLang="zh-CN" sz="2400" i="1" dirty="0" smtClean="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𝐻</m:t>
                        </m:r>
                      </m:e>
                      <m:sup>
                        <m:r>
                          <a:rPr lang="en-US" altLang="zh-CN" sz="2400" b="0" i="1" dirty="0" smtClean="0">
                            <a:solidFill>
                              <a:schemeClr val="tx1"/>
                            </a:solidFill>
                            <a:latin typeface="Cambria Math" panose="02040503050406030204" pitchFamily="18" charset="0"/>
                          </a:rPr>
                          <m:t>′</m:t>
                        </m:r>
                      </m:sup>
                    </m:sSup>
                    <m:r>
                      <a:rPr lang="en-US" altLang="zh-CN" sz="2400" dirty="0">
                        <a:solidFill>
                          <a:schemeClr val="tx1"/>
                        </a:solidFill>
                        <a:latin typeface="Cambria Math" panose="02040503050406030204" pitchFamily="18" charset="0"/>
                      </a:rPr>
                      <m:t>=</m:t>
                    </m:r>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𝑥</m:t>
                            </m:r>
                          </m:sup>
                        </m:sSup>
                      </m:e>
                    </m:nary>
                  </m:oMath>
                </a14:m>
                <a:r>
                  <a:rPr lang="en-US" altLang="zh-CN" sz="2400" dirty="0">
                    <a:solidFill>
                      <a:schemeClr val="tx1"/>
                    </a:solidFill>
                  </a:rPr>
                  <a:t>, </a:t>
                </a:r>
                <a:r>
                  <a:rPr lang="zh-CN" altLang="en-US" sz="2400" dirty="0">
                    <a:solidFill>
                      <a:schemeClr val="tx1"/>
                    </a:solidFill>
                  </a:rPr>
                  <a:t>则</a:t>
                </a:r>
                <a14:m>
                  <m:oMath xmlns:m="http://schemas.openxmlformats.org/officeDocument/2006/math">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b="0" i="1" smtClean="0">
                            <a:solidFill>
                              <a:schemeClr val="tx1"/>
                            </a:solidFill>
                            <a:latin typeface="Cambria Math" panose="02040503050406030204" pitchFamily="18" charset="0"/>
                          </a:rPr>
                          <m:t>(1)</m:t>
                        </m:r>
                      </m:sup>
                    </m:sSup>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1</m:t>
                            </m:r>
                          </m:e>
                        </m:d>
                      </m:sup>
                    </m:sSup>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nary>
                      <m:naryPr>
                        <m:ctrlPr>
                          <a:rPr lang="en-US" altLang="zh-CN" sz="2400" b="0" i="1" smtClean="0">
                            <a:solidFill>
                              <a:schemeClr val="tx1"/>
                            </a:solidFill>
                            <a:latin typeface="Cambria Math" panose="02040503050406030204" pitchFamily="18" charset="0"/>
                          </a:rPr>
                        </m:ctrlPr>
                      </m:naryPr>
                      <m:sub>
                        <m:r>
                          <m:rPr>
                            <m:brk m:alnAt="23"/>
                          </m:rPr>
                          <a:rPr lang="en-US" altLang="zh-CN" sz="2400" b="0" i="1" smtClean="0">
                            <a:solidFill>
                              <a:schemeClr val="tx1"/>
                            </a:solidFill>
                            <a:latin typeface="Cambria Math" panose="02040503050406030204" pitchFamily="18" charset="0"/>
                          </a:rPr>
                          <m:t>0</m:t>
                        </m:r>
                      </m:sub>
                      <m:sup>
                        <m:r>
                          <a:rPr lang="en-US" altLang="zh-CN" sz="2400" b="0" i="1" smtClean="0">
                            <a:solidFill>
                              <a:schemeClr val="tx1"/>
                            </a:solidFill>
                            <a:latin typeface="Cambria Math" panose="02040503050406030204" pitchFamily="18" charset="0"/>
                          </a:rPr>
                          <m:t>𝐿</m:t>
                        </m:r>
                      </m:sup>
                      <m:e>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r>
                              <a:rPr lang="en-US" altLang="zh-CN" sz="2400" b="0" i="1" smtClean="0">
                                <a:solidFill>
                                  <a:schemeClr val="tx1"/>
                                </a:solidFill>
                                <a:latin typeface="Cambria Math" panose="02040503050406030204" pitchFamily="18" charset="0"/>
                              </a:rPr>
                              <m:t>∗</m:t>
                            </m:r>
                          </m:sup>
                        </m:sSubSup>
                      </m:e>
                    </m:nary>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𝐻</m:t>
                        </m:r>
                      </m:e>
                      <m:sup>
                        <m:r>
                          <a:rPr lang="en-US" altLang="zh-CN" sz="2400" i="1" dirty="0">
                            <a:solidFill>
                              <a:schemeClr val="tx1"/>
                            </a:solidFill>
                            <a:latin typeface="Cambria Math" panose="02040503050406030204" pitchFamily="18" charset="0"/>
                          </a:rPr>
                          <m:t>′</m:t>
                        </m:r>
                      </m:sup>
                    </m:sSup>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b="0" i="1" smtClean="0">
                        <a:solidFill>
                          <a:schemeClr val="tx1"/>
                        </a:solidFill>
                        <a:latin typeface="Cambria Math" panose="02040503050406030204" pitchFamily="18" charset="0"/>
                      </a:rPr>
                      <m:t>𝑑𝑥</m:t>
                    </m:r>
                    <m:r>
                      <a:rPr lang="en-US" altLang="zh-CN" sz="2400" b="0" i="1" smtClean="0">
                        <a:solidFill>
                          <a:schemeClr val="tx1"/>
                        </a:solidFill>
                        <a:latin typeface="Cambria Math" panose="02040503050406030204" pitchFamily="18" charset="0"/>
                      </a:rPr>
                      <m:t>=0</m:t>
                    </m:r>
                  </m:oMath>
                </a14:m>
                <a:r>
                  <a:rPr lang="en-US" altLang="zh-CN" sz="2400" dirty="0">
                    <a:solidFill>
                      <a:schemeClr val="tx1"/>
                    </a:solidFill>
                  </a:rPr>
                  <a:t>	</a:t>
                </a:r>
              </a:p>
              <a:p>
                <a:r>
                  <a:rPr lang="zh-CN" altLang="en-US" sz="2400" dirty="0">
                    <a:solidFill>
                      <a:schemeClr val="tx1"/>
                    </a:solidFill>
                  </a:rPr>
                  <a:t>因为：</a:t>
                </a:r>
                <a14:m>
                  <m:oMath xmlns:m="http://schemas.openxmlformats.org/officeDocument/2006/math">
                    <m:nary>
                      <m:naryPr>
                        <m:ctrlPr>
                          <a:rPr lang="en-US" altLang="zh-CN" sz="2400" i="1" smtClean="0">
                            <a:solidFill>
                              <a:schemeClr val="tx1"/>
                            </a:solidFill>
                            <a:latin typeface="Cambria Math" panose="02040503050406030204" pitchFamily="18" charset="0"/>
                          </a:rPr>
                        </m:ctrlPr>
                      </m:naryPr>
                      <m:sub>
                        <m:r>
                          <m:rPr>
                            <m:brk m:alnAt="23"/>
                          </m:rPr>
                          <a:rPr lang="en-US" altLang="zh-CN" sz="2400" i="1">
                            <a:solidFill>
                              <a:schemeClr val="tx1"/>
                            </a:solidFill>
                            <a:latin typeface="Cambria Math" panose="02040503050406030204" pitchFamily="18" charset="0"/>
                          </a:rPr>
                          <m:t>0</m:t>
                        </m:r>
                      </m:sub>
                      <m:sup>
                        <m:r>
                          <a:rPr lang="en-US" altLang="zh-CN" sz="2400" i="1">
                            <a:solidFill>
                              <a:schemeClr val="tx1"/>
                            </a:solidFill>
                            <a:latin typeface="Cambria Math" panose="02040503050406030204" pitchFamily="18" charset="0"/>
                          </a:rPr>
                          <m:t>𝐿</m:t>
                        </m:r>
                      </m:sup>
                      <m:e>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𝑥</m:t>
                            </m:r>
                          </m:sup>
                        </m:sSup>
                        <m:r>
                          <a:rPr lang="en-US" altLang="zh-CN" sz="2400" b="0" i="1" dirty="0" smtClean="0">
                            <a:solidFill>
                              <a:schemeClr val="tx1"/>
                            </a:solidFill>
                            <a:latin typeface="Cambria Math" panose="02040503050406030204" pitchFamily="18" charset="0"/>
                          </a:rPr>
                          <m:t>𝑑𝑥</m:t>
                        </m:r>
                        <m:r>
                          <a:rPr lang="en-US" altLang="zh-CN" sz="2400" b="0" i="1" dirty="0" smtClean="0">
                            <a:solidFill>
                              <a:schemeClr val="tx1"/>
                            </a:solidFill>
                            <a:latin typeface="Cambria Math" panose="02040503050406030204" pitchFamily="18" charset="0"/>
                          </a:rPr>
                          <m:t>=0</m:t>
                        </m:r>
                      </m:e>
                    </m:nary>
                  </m:oMath>
                </a14:m>
                <a:endParaRPr lang="en-US" altLang="zh-CN" sz="2400" dirty="0">
                  <a:solidFill>
                    <a:schemeClr val="tx1"/>
                  </a:solidFill>
                </a:endParaRPr>
              </a:p>
              <a:p>
                <a:r>
                  <a:rPr lang="zh-CN" altLang="en-US" sz="2400" dirty="0">
                    <a:solidFill>
                      <a:schemeClr val="tx1"/>
                    </a:solidFill>
                  </a:rPr>
                  <a:t>二级微扰：</a:t>
                </a:r>
                <a14:m>
                  <m:oMath xmlns:m="http://schemas.openxmlformats.org/officeDocument/2006/math">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m:t>
                        </m:r>
                        <m:r>
                          <a:rPr lang="en-US" altLang="zh-CN" sz="2400" i="1" smtClean="0">
                            <a:solidFill>
                              <a:schemeClr val="tx1"/>
                            </a:solidFill>
                            <a:latin typeface="Cambria Math" panose="02040503050406030204" pitchFamily="18" charset="0"/>
                          </a:rPr>
                          <m:t>2</m:t>
                        </m:r>
                        <m:r>
                          <a:rPr lang="en-US" altLang="zh-CN" sz="2400" i="1">
                            <a:solidFill>
                              <a:schemeClr val="tx1"/>
                            </a:solidFill>
                            <a:latin typeface="Cambria Math" panose="02040503050406030204" pitchFamily="18" charset="0"/>
                          </a:rPr>
                          <m:t>)</m:t>
                        </m:r>
                      </m:sup>
                    </m:sSup>
                    <m:r>
                      <a:rPr lang="en-US" altLang="zh-CN" sz="2400" i="1">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2</m:t>
                            </m:r>
                          </m:e>
                        </m:d>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i="1">
                        <a:solidFill>
                          <a:schemeClr val="tx1"/>
                        </a:solidFill>
                        <a:latin typeface="Cambria Math" panose="02040503050406030204" pitchFamily="18" charset="0"/>
                      </a:rPr>
                      <m:t>=</m:t>
                    </m:r>
                    <m:nary>
                      <m:naryPr>
                        <m:chr m:val="∑"/>
                        <m:supHide m:val="on"/>
                        <m:ctrlPr>
                          <a:rPr lang="en-US" altLang="zh-CN" sz="2400" i="1" smtClean="0">
                            <a:solidFill>
                              <a:schemeClr val="tx1"/>
                            </a:solidFill>
                            <a:latin typeface="Cambria Math" panose="02040503050406030204" pitchFamily="18" charset="0"/>
                          </a:rPr>
                        </m:ctrlPr>
                      </m:naryPr>
                      <m:sub>
                        <m:sSup>
                          <m:sSupPr>
                            <m:ctrlPr>
                              <a:rPr lang="en-US" altLang="zh-CN" sz="2400" b="0" i="1" smtClean="0">
                                <a:solidFill>
                                  <a:schemeClr val="tx1"/>
                                </a:solidFill>
                                <a:latin typeface="Cambria Math" panose="02040503050406030204" pitchFamily="18" charset="0"/>
                              </a:rPr>
                            </m:ctrlPr>
                          </m:sSupPr>
                          <m:e>
                            <m:r>
                              <m:rPr>
                                <m:brk m:alnAt="7"/>
                              </m:rPr>
                              <a:rPr lang="en-US" altLang="zh-CN" sz="2400" b="0" i="1" smtClean="0">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sub>
                      <m:sup/>
                      <m:e>
                        <m:f>
                          <m:fPr>
                            <m:ctrlPr>
                              <a:rPr lang="en-US" altLang="zh-CN" sz="2400" i="1" smtClean="0">
                                <a:solidFill>
                                  <a:schemeClr val="tx1"/>
                                </a:solidFill>
                                <a:latin typeface="Cambria Math" panose="02040503050406030204" pitchFamily="18" charset="0"/>
                              </a:rPr>
                            </m:ctrlPr>
                          </m:fPr>
                          <m:num>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m:t>
                                </m:r>
                                <m:sSubSup>
                                  <m:sSubSupPr>
                                    <m:ctrlPr>
                                      <a:rPr lang="en-US" altLang="zh-CN" sz="2400" b="0" i="1" smtClean="0">
                                        <a:solidFill>
                                          <a:schemeClr val="tx1"/>
                                        </a:solidFill>
                                        <a:latin typeface="Cambria Math" panose="02040503050406030204" pitchFamily="18" charset="0"/>
                                      </a:rPr>
                                    </m:ctrlPr>
                                  </m:sSubSupPr>
                                  <m:e>
                                    <m:r>
                                      <a:rPr lang="en-US" altLang="zh-CN" sz="2400" b="0" i="1" smtClean="0">
                                        <a:solidFill>
                                          <a:schemeClr val="tx1"/>
                                        </a:solidFill>
                                        <a:latin typeface="Cambria Math" panose="02040503050406030204" pitchFamily="18" charset="0"/>
                                      </a:rPr>
                                      <m:t>𝐻</m:t>
                                    </m:r>
                                  </m:e>
                                  <m:sub>
                                    <m:sSup>
                                      <m:sSupPr>
                                        <m:ctrlPr>
                                          <a:rPr lang="en-US" altLang="zh-CN" sz="2400" b="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r>
                                      <a:rPr lang="en-US" altLang="zh-CN" sz="2400" b="0" i="1" smtClean="0">
                                        <a:solidFill>
                                          <a:schemeClr val="tx1"/>
                                        </a:solidFill>
                                        <a:latin typeface="Cambria Math" panose="02040503050406030204" pitchFamily="18" charset="0"/>
                                      </a:rPr>
                                      <m:t>𝑘</m:t>
                                    </m:r>
                                  </m:sub>
                                  <m:sup>
                                    <m:r>
                                      <a:rPr lang="en-US" altLang="zh-CN" sz="2400" b="0" i="1" smtClean="0">
                                        <a:solidFill>
                                          <a:schemeClr val="tx1"/>
                                        </a:solidFill>
                                        <a:latin typeface="Cambria Math" panose="02040503050406030204" pitchFamily="18" charset="0"/>
                                      </a:rPr>
                                      <m:t>′</m:t>
                                    </m:r>
                                  </m:sup>
                                </m:sSubSup>
                                <m:r>
                                  <a:rPr lang="en-US" altLang="zh-CN" sz="2400" b="0" i="1" smtClean="0">
                                    <a:solidFill>
                                      <a:schemeClr val="tx1"/>
                                    </a:solidFill>
                                    <a:latin typeface="Cambria Math" panose="02040503050406030204" pitchFamily="18" charset="0"/>
                                  </a:rPr>
                                  <m:t>|</m:t>
                                </m:r>
                              </m:e>
                              <m:sup>
                                <m:r>
                                  <a:rPr lang="en-US" altLang="zh-CN" sz="2400" i="1" smtClean="0">
                                    <a:solidFill>
                                      <a:schemeClr val="tx1"/>
                                    </a:solidFill>
                                    <a:latin typeface="Cambria Math" panose="02040503050406030204" pitchFamily="18" charset="0"/>
                                  </a:rPr>
                                  <m:t>2</m:t>
                                </m:r>
                              </m:sup>
                            </m:sSup>
                          </m:num>
                          <m:den>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b="0" i="1" smtClean="0">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e>
                            </m:d>
                          </m:den>
                        </m:f>
                      </m:e>
                    </m:nary>
                  </m:oMath>
                </a14:m>
                <a:r>
                  <a:rPr lang="en-US" altLang="zh-CN" sz="2400" dirty="0">
                    <a:solidFill>
                      <a:schemeClr val="tx1"/>
                    </a:solidFill>
                  </a:rPr>
                  <a:t>   ,</a:t>
                </a:r>
                <a:r>
                  <a:rPr lang="zh-CN" altLang="en-US" sz="2400" dirty="0">
                    <a:solidFill>
                      <a:schemeClr val="tx1"/>
                    </a:solidFill>
                  </a:rPr>
                  <a:t>其中</a:t>
                </a:r>
                <a14:m>
                  <m:oMath xmlns:m="http://schemas.openxmlformats.org/officeDocument/2006/math">
                    <m:sSubSup>
                      <m:sSubSupPr>
                        <m:ctrlPr>
                          <a:rPr lang="en-US" altLang="zh-CN" sz="2400" i="1">
                            <a:solidFill>
                              <a:schemeClr val="tx1"/>
                            </a:solidFill>
                            <a:latin typeface="Cambria Math" panose="02040503050406030204" pitchFamily="18" charset="0"/>
                          </a:rPr>
                        </m:ctrlPr>
                      </m:sSubSupPr>
                      <m:e>
                        <m:r>
                          <a:rPr lang="en-US" altLang="zh-CN" sz="2400" i="1">
                            <a:solidFill>
                              <a:schemeClr val="tx1"/>
                            </a:solidFill>
                            <a:latin typeface="Cambria Math" panose="02040503050406030204" pitchFamily="18" charset="0"/>
                          </a:rPr>
                          <m:t>𝐻</m:t>
                        </m:r>
                      </m:e>
                      <m:sub>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m:t>
                        </m:r>
                      </m:sup>
                    </m:sSubSup>
                    <m:r>
                      <a:rPr lang="en-US" altLang="zh-CN" sz="2400" i="1" smtClean="0">
                        <a:solidFill>
                          <a:schemeClr val="tx1"/>
                        </a:solidFill>
                        <a:latin typeface="Cambria Math" panose="02040503050406030204" pitchFamily="18" charset="0"/>
                      </a:rPr>
                      <m:t>=</m:t>
                    </m:r>
                    <m:nary>
                      <m:naryPr>
                        <m:ctrlPr>
                          <a:rPr lang="en-US" altLang="zh-CN" sz="2400" i="1">
                            <a:solidFill>
                              <a:schemeClr val="tx1"/>
                            </a:solidFill>
                            <a:latin typeface="Cambria Math" panose="02040503050406030204" pitchFamily="18" charset="0"/>
                          </a:rPr>
                        </m:ctrlPr>
                      </m:naryPr>
                      <m:sub>
                        <m:r>
                          <m:rPr>
                            <m:brk m:alnAt="23"/>
                          </m:rPr>
                          <a:rPr lang="en-US" altLang="zh-CN" sz="2400" i="1">
                            <a:solidFill>
                              <a:schemeClr val="tx1"/>
                            </a:solidFill>
                            <a:latin typeface="Cambria Math" panose="02040503050406030204" pitchFamily="18" charset="0"/>
                          </a:rPr>
                          <m:t>0</m:t>
                        </m:r>
                      </m:sub>
                      <m:sup>
                        <m:r>
                          <a:rPr lang="en-US" altLang="zh-CN" sz="2400" i="1">
                            <a:solidFill>
                              <a:schemeClr val="tx1"/>
                            </a:solidFill>
                            <a:latin typeface="Cambria Math" panose="02040503050406030204" pitchFamily="18" charset="0"/>
                          </a:rPr>
                          <m:t>𝐿</m:t>
                        </m:r>
                      </m:sup>
                      <m:e>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b="0" i="1" smtClean="0">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sup>
                        </m:sSubSup>
                      </m:e>
                    </m:nary>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𝐻</m:t>
                        </m:r>
                      </m:e>
                      <m:sup>
                        <m:r>
                          <a:rPr lang="en-US" altLang="zh-CN" sz="2400" i="1" dirty="0">
                            <a:solidFill>
                              <a:schemeClr val="tx1"/>
                            </a:solidFill>
                            <a:latin typeface="Cambria Math" panose="02040503050406030204" pitchFamily="18" charset="0"/>
                          </a:rPr>
                          <m:t>′</m:t>
                        </m:r>
                      </m:sup>
                    </m:sSup>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i="1">
                        <a:solidFill>
                          <a:schemeClr val="tx1"/>
                        </a:solidFill>
                        <a:latin typeface="Cambria Math" panose="02040503050406030204" pitchFamily="18" charset="0"/>
                      </a:rPr>
                      <m:t>𝑑𝑥</m:t>
                    </m:r>
                    <m:r>
                      <a:rPr lang="en-US" altLang="zh-CN" sz="2400" b="0" i="1" smtClean="0">
                        <a:solidFill>
                          <a:schemeClr val="tx1"/>
                        </a:solidFill>
                        <a:latin typeface="Cambria Math" panose="02040503050406030204" pitchFamily="18" charset="0"/>
                      </a:rPr>
                      <m:t>=</m:t>
                    </m:r>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nary>
                          <m:naryPr>
                            <m:ctrlPr>
                              <a:rPr lang="en-US" altLang="zh-CN" sz="2400" i="1" dirty="0" smtClean="0">
                                <a:solidFill>
                                  <a:schemeClr val="tx1"/>
                                </a:solidFill>
                                <a:latin typeface="Cambria Math" panose="02040503050406030204" pitchFamily="18" charset="0"/>
                              </a:rPr>
                            </m:ctrlPr>
                          </m:naryPr>
                          <m:sub>
                            <m:r>
                              <m:rPr>
                                <m:brk m:alnAt="23"/>
                              </m:rPr>
                              <a:rPr lang="en-US" altLang="zh-CN" sz="2400" b="0" i="1" dirty="0" smtClean="0">
                                <a:solidFill>
                                  <a:schemeClr val="tx1"/>
                                </a:solidFill>
                                <a:latin typeface="Cambria Math" panose="02040503050406030204" pitchFamily="18" charset="0"/>
                              </a:rPr>
                              <m:t>0</m:t>
                            </m:r>
                          </m:sub>
                          <m:sup>
                            <m:r>
                              <a:rPr lang="en-US" altLang="zh-CN" sz="2400" b="0" i="1" dirty="0" smtClean="0">
                                <a:solidFill>
                                  <a:schemeClr val="tx1"/>
                                </a:solidFill>
                                <a:latin typeface="Cambria Math" panose="02040503050406030204" pitchFamily="18" charset="0"/>
                              </a:rPr>
                              <m:t>𝐿</m:t>
                            </m:r>
                          </m:sup>
                          <m:e>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m:t>
                                </m:r>
                                <m:r>
                                  <a:rPr lang="en-US" altLang="zh-CN" sz="2400" b="0" i="1" dirty="0" smtClean="0">
                                    <a:solidFill>
                                      <a:schemeClr val="tx1"/>
                                    </a:solidFill>
                                    <a:latin typeface="Cambria Math" panose="02040503050406030204" pitchFamily="18" charset="0"/>
                                  </a:rPr>
                                  <m:t>𝑥</m:t>
                                </m:r>
                                <m:r>
                                  <a:rPr lang="en-US" altLang="zh-CN" sz="2400" b="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𝑘</m:t>
                                </m:r>
                                <m:r>
                                  <a:rPr lang="en-US" altLang="zh-CN" sz="2400" b="0" i="1" dirty="0" smtClean="0">
                                    <a:solidFill>
                                      <a:schemeClr val="tx1"/>
                                    </a:solidFill>
                                    <a:latin typeface="Cambria Math" panose="02040503050406030204" pitchFamily="18" charset="0"/>
                                  </a:rPr>
                                  <m:t>−</m:t>
                                </m:r>
                                <m:sSup>
                                  <m:sSupPr>
                                    <m:ctrlPr>
                                      <a:rPr lang="en-US" altLang="zh-CN" sz="2400" b="0" i="1" dirty="0" smtClean="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𝑘</m:t>
                                    </m:r>
                                  </m:e>
                                  <m:sup>
                                    <m:r>
                                      <a:rPr lang="en-US" altLang="zh-CN" sz="2400" b="0" i="1" dirty="0" smtClean="0">
                                        <a:solidFill>
                                          <a:schemeClr val="tx1"/>
                                        </a:solidFill>
                                        <a:latin typeface="Cambria Math" panose="02040503050406030204" pitchFamily="18" charset="0"/>
                                      </a:rPr>
                                      <m:t>′</m:t>
                                    </m:r>
                                  </m:sup>
                                </m:sSup>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b="0" i="1" dirty="0" smtClean="0">
                                    <a:solidFill>
                                      <a:schemeClr val="tx1"/>
                                    </a:solidFill>
                                    <a:latin typeface="Cambria Math" panose="02040503050406030204" pitchFamily="18" charset="0"/>
                                  </a:rPr>
                                  <m:t>)</m:t>
                                </m:r>
                              </m:sup>
                            </m:sSup>
                            <m:r>
                              <a:rPr lang="en-US" altLang="zh-CN" sz="2400" b="0" i="1" dirty="0" smtClean="0">
                                <a:solidFill>
                                  <a:schemeClr val="tx1"/>
                                </a:solidFill>
                                <a:latin typeface="Cambria Math" panose="02040503050406030204" pitchFamily="18" charset="0"/>
                              </a:rPr>
                              <m:t>𝑑𝑥</m:t>
                            </m:r>
                          </m:e>
                        </m:nary>
                      </m:e>
                    </m:nary>
                    <m:r>
                      <a:rPr lang="en-US" altLang="zh-CN" sz="2400" b="0" i="1" dirty="0" smtClean="0">
                        <a:solidFill>
                          <a:schemeClr val="tx1"/>
                        </a:solidFill>
                        <a:latin typeface="Cambria Math" panose="02040503050406030204" pitchFamily="18" charset="0"/>
                      </a:rPr>
                      <m:t> </m:t>
                    </m:r>
                  </m:oMath>
                </a14:m>
                <a:r>
                  <a:rPr lang="en-US" altLang="zh-CN" sz="2400" dirty="0">
                    <a:solidFill>
                      <a:schemeClr val="tx1"/>
                    </a:solidFill>
                  </a:rPr>
                  <a:t>     (</a:t>
                </a:r>
                <a:r>
                  <a:rPr lang="zh-CN" altLang="en-US" sz="2400" dirty="0">
                    <a:solidFill>
                      <a:schemeClr val="tx1"/>
                    </a:solidFill>
                  </a:rPr>
                  <a:t>只有</a:t>
                </a:r>
                <a14:m>
                  <m:oMath xmlns:m="http://schemas.openxmlformats.org/officeDocument/2006/math">
                    <m:r>
                      <a:rPr lang="en-US" altLang="zh-CN" sz="2400" i="1" dirty="0">
                        <a:solidFill>
                          <a:schemeClr val="tx1"/>
                        </a:solidFill>
                        <a:latin typeface="Cambria Math" panose="02040503050406030204" pitchFamily="18" charset="0"/>
                      </a:rPr>
                      <m:t>𝑘</m:t>
                    </m:r>
                    <m:r>
                      <a:rPr lang="en-US" altLang="zh-CN" sz="2400" i="1" dirty="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m:t>
                        </m:r>
                      </m:sup>
                    </m:sSup>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m:t>
                    </m:r>
                  </m:oMath>
                </a14:m>
                <a:r>
                  <a:rPr lang="en-US" altLang="zh-CN" sz="2400" dirty="0">
                    <a:solidFill>
                      <a:schemeClr val="tx1"/>
                    </a:solidFill>
                  </a:rPr>
                  <a:t>0</a:t>
                </a:r>
                <a:r>
                  <a:rPr lang="zh-CN" altLang="en-US" sz="2400" dirty="0">
                    <a:solidFill>
                      <a:schemeClr val="tx1"/>
                    </a:solidFill>
                  </a:rPr>
                  <a:t>时积分</a:t>
                </a:r>
                <a:r>
                  <a:rPr lang="zh-CN" altLang="en-US" sz="2400" dirty="0">
                    <a:solidFill>
                      <a:schemeClr val="tx1"/>
                    </a:solidFill>
                    <a:sym typeface="Symbol" panose="05050102010706020507" pitchFamily="18" charset="2"/>
                  </a:rPr>
                  <a:t></a:t>
                </a:r>
                <a:r>
                  <a:rPr lang="en-US" altLang="zh-CN" sz="2400" dirty="0">
                    <a:solidFill>
                      <a:schemeClr val="tx1"/>
                    </a:solidFill>
                  </a:rPr>
                  <a:t>0)</a:t>
                </a:r>
              </a:p>
            </p:txBody>
          </p:sp>
        </mc:Choice>
        <mc:Fallback xmlns="">
          <p:sp>
            <p:nvSpPr>
              <p:cNvPr id="6" name="文本框 5"/>
              <p:cNvSpPr txBox="1">
                <a:spLocks noRot="1" noChangeAspect="1" noMove="1" noResize="1" noEditPoints="1" noAdjustHandles="1" noChangeArrowheads="1" noChangeShapeType="1" noTextEdit="1"/>
              </p:cNvSpPr>
              <p:nvPr/>
            </p:nvSpPr>
            <p:spPr>
              <a:xfrm>
                <a:off x="1025717" y="1871476"/>
                <a:ext cx="11060265" cy="4708020"/>
              </a:xfrm>
              <a:prstGeom prst="rect">
                <a:avLst/>
              </a:prstGeom>
              <a:blipFill rotWithShape="1">
                <a:blip r:embed="rId3"/>
                <a:stretch>
                  <a:fillRect l="-1102" t="-1295" b="-389"/>
                </a:stretch>
              </a:blipFill>
            </p:spPr>
            <p:txBody>
              <a:bodyPr/>
              <a:lstStyle/>
              <a:p>
                <a:r>
                  <a:rPr lang="zh-CN" altLang="en-US">
                    <a:noFill/>
                  </a:rPr>
                  <a:t> </a:t>
                </a:r>
              </a:p>
            </p:txBody>
          </p:sp>
        </mc:Fallback>
      </mc:AlternateContent>
      <p:sp>
        <p:nvSpPr>
          <p:cNvPr id="10" name="椭圆 9"/>
          <p:cNvSpPr/>
          <p:nvPr/>
        </p:nvSpPr>
        <p:spPr>
          <a:xfrm>
            <a:off x="7719250" y="261411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8798574" y="2616200"/>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p:cNvSpPr/>
          <p:nvPr/>
        </p:nvSpPr>
        <p:spPr>
          <a:xfrm>
            <a:off x="9965928" y="2628864"/>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椭圆 14"/>
          <p:cNvSpPr/>
          <p:nvPr/>
        </p:nvSpPr>
        <p:spPr>
          <a:xfrm>
            <a:off x="11045252" y="263095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2" name="直接箭头连接符 11"/>
          <p:cNvCxnSpPr/>
          <p:nvPr/>
        </p:nvCxnSpPr>
        <p:spPr>
          <a:xfrm>
            <a:off x="7809250" y="2701357"/>
            <a:ext cx="3852000" cy="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任意多边形 1"/>
          <p:cNvSpPr/>
          <p:nvPr/>
        </p:nvSpPr>
        <p:spPr>
          <a:xfrm>
            <a:off x="7809250" y="2289449"/>
            <a:ext cx="1080225" cy="226311"/>
          </a:xfrm>
          <a:custGeom>
            <a:avLst/>
            <a:gdLst>
              <a:gd name="connsiteX0" fmla="*/ 0 w 989814"/>
              <a:gd name="connsiteY0" fmla="*/ 207457 h 226311"/>
              <a:gd name="connsiteX1" fmla="*/ 461913 w 989814"/>
              <a:gd name="connsiteY1" fmla="*/ 68 h 226311"/>
              <a:gd name="connsiteX2" fmla="*/ 989814 w 989814"/>
              <a:gd name="connsiteY2" fmla="*/ 226311 h 226311"/>
              <a:gd name="connsiteX3" fmla="*/ 989814 w 989814"/>
              <a:gd name="connsiteY3" fmla="*/ 226311 h 226311"/>
            </a:gdLst>
            <a:ahLst/>
            <a:cxnLst>
              <a:cxn ang="0">
                <a:pos x="connsiteX0" y="connsiteY0"/>
              </a:cxn>
              <a:cxn ang="0">
                <a:pos x="connsiteX1" y="connsiteY1"/>
              </a:cxn>
              <a:cxn ang="0">
                <a:pos x="connsiteX2" y="connsiteY2"/>
              </a:cxn>
              <a:cxn ang="0">
                <a:pos x="connsiteX3" y="connsiteY3"/>
              </a:cxn>
            </a:cxnLst>
            <a:rect l="l" t="t" r="r" b="b"/>
            <a:pathLst>
              <a:path w="989814" h="226311">
                <a:moveTo>
                  <a:pt x="0" y="207457"/>
                </a:moveTo>
                <a:cubicBezTo>
                  <a:pt x="148472" y="102191"/>
                  <a:pt x="296944" y="-3074"/>
                  <a:pt x="461913" y="68"/>
                </a:cubicBezTo>
                <a:cubicBezTo>
                  <a:pt x="626882" y="3210"/>
                  <a:pt x="989814" y="226311"/>
                  <a:pt x="989814" y="226311"/>
                </a:cubicBezTo>
                <a:lnTo>
                  <a:pt x="989814" y="226311"/>
                </a:ln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任意多边形 15"/>
          <p:cNvSpPr/>
          <p:nvPr/>
        </p:nvSpPr>
        <p:spPr>
          <a:xfrm>
            <a:off x="8932614" y="2300444"/>
            <a:ext cx="1080225" cy="226311"/>
          </a:xfrm>
          <a:custGeom>
            <a:avLst/>
            <a:gdLst>
              <a:gd name="connsiteX0" fmla="*/ 0 w 989814"/>
              <a:gd name="connsiteY0" fmla="*/ 207457 h 226311"/>
              <a:gd name="connsiteX1" fmla="*/ 461913 w 989814"/>
              <a:gd name="connsiteY1" fmla="*/ 68 h 226311"/>
              <a:gd name="connsiteX2" fmla="*/ 989814 w 989814"/>
              <a:gd name="connsiteY2" fmla="*/ 226311 h 226311"/>
              <a:gd name="connsiteX3" fmla="*/ 989814 w 989814"/>
              <a:gd name="connsiteY3" fmla="*/ 226311 h 226311"/>
            </a:gdLst>
            <a:ahLst/>
            <a:cxnLst>
              <a:cxn ang="0">
                <a:pos x="connsiteX0" y="connsiteY0"/>
              </a:cxn>
              <a:cxn ang="0">
                <a:pos x="connsiteX1" y="connsiteY1"/>
              </a:cxn>
              <a:cxn ang="0">
                <a:pos x="connsiteX2" y="connsiteY2"/>
              </a:cxn>
              <a:cxn ang="0">
                <a:pos x="connsiteX3" y="connsiteY3"/>
              </a:cxn>
            </a:cxnLst>
            <a:rect l="l" t="t" r="r" b="b"/>
            <a:pathLst>
              <a:path w="989814" h="226311">
                <a:moveTo>
                  <a:pt x="0" y="207457"/>
                </a:moveTo>
                <a:cubicBezTo>
                  <a:pt x="148472" y="102191"/>
                  <a:pt x="296944" y="-3074"/>
                  <a:pt x="461913" y="68"/>
                </a:cubicBezTo>
                <a:cubicBezTo>
                  <a:pt x="626882" y="3210"/>
                  <a:pt x="989814" y="226311"/>
                  <a:pt x="989814" y="226311"/>
                </a:cubicBezTo>
                <a:lnTo>
                  <a:pt x="989814" y="226311"/>
                </a:ln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任意多边形 16"/>
          <p:cNvSpPr/>
          <p:nvPr/>
        </p:nvSpPr>
        <p:spPr>
          <a:xfrm>
            <a:off x="10044978" y="2300444"/>
            <a:ext cx="1080225" cy="226311"/>
          </a:xfrm>
          <a:custGeom>
            <a:avLst/>
            <a:gdLst>
              <a:gd name="connsiteX0" fmla="*/ 0 w 989814"/>
              <a:gd name="connsiteY0" fmla="*/ 207457 h 226311"/>
              <a:gd name="connsiteX1" fmla="*/ 461913 w 989814"/>
              <a:gd name="connsiteY1" fmla="*/ 68 h 226311"/>
              <a:gd name="connsiteX2" fmla="*/ 989814 w 989814"/>
              <a:gd name="connsiteY2" fmla="*/ 226311 h 226311"/>
              <a:gd name="connsiteX3" fmla="*/ 989814 w 989814"/>
              <a:gd name="connsiteY3" fmla="*/ 226311 h 226311"/>
            </a:gdLst>
            <a:ahLst/>
            <a:cxnLst>
              <a:cxn ang="0">
                <a:pos x="connsiteX0" y="connsiteY0"/>
              </a:cxn>
              <a:cxn ang="0">
                <a:pos x="connsiteX1" y="connsiteY1"/>
              </a:cxn>
              <a:cxn ang="0">
                <a:pos x="connsiteX2" y="connsiteY2"/>
              </a:cxn>
              <a:cxn ang="0">
                <a:pos x="connsiteX3" y="connsiteY3"/>
              </a:cxn>
            </a:cxnLst>
            <a:rect l="l" t="t" r="r" b="b"/>
            <a:pathLst>
              <a:path w="989814" h="226311">
                <a:moveTo>
                  <a:pt x="0" y="207457"/>
                </a:moveTo>
                <a:cubicBezTo>
                  <a:pt x="148472" y="102191"/>
                  <a:pt x="296944" y="-3074"/>
                  <a:pt x="461913" y="68"/>
                </a:cubicBezTo>
                <a:cubicBezTo>
                  <a:pt x="626882" y="3210"/>
                  <a:pt x="989814" y="226311"/>
                  <a:pt x="989814" y="226311"/>
                </a:cubicBezTo>
                <a:lnTo>
                  <a:pt x="989814" y="226311"/>
                </a:ln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3" name="矩形 2"/>
              <p:cNvSpPr/>
              <p:nvPr/>
            </p:nvSpPr>
            <p:spPr>
              <a:xfrm>
                <a:off x="11661250" y="2628864"/>
                <a:ext cx="5113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smtClean="0">
                          <a:solidFill>
                            <a:schemeClr val="tx1"/>
                          </a:solidFill>
                          <a:latin typeface="Cambria Math" panose="02040503050406030204" pitchFamily="18" charset="0"/>
                        </a:rPr>
                        <m:t>𝑥</m:t>
                      </m:r>
                    </m:oMath>
                  </m:oMathPara>
                </a14:m>
                <a:endParaRPr lang="zh-CN" altLang="en-US" sz="2400" dirty="0">
                  <a:solidFill>
                    <a:schemeClr val="tx1"/>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11661250" y="2628864"/>
                <a:ext cx="511357" cy="4616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7719250" y="1884915"/>
                <a:ext cx="9689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oMath>
                  </m:oMathPara>
                </a14:m>
                <a:endParaRPr lang="zh-CN" altLang="en-US" sz="2400" dirty="0">
                  <a:solidFill>
                    <a:schemeClr val="tx1"/>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7719250" y="1884915"/>
                <a:ext cx="968920" cy="461665"/>
              </a:xfrm>
              <a:prstGeom prst="rect">
                <a:avLst/>
              </a:prstGeom>
              <a:blipFill rotWithShape="1">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5806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470547"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470547"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52921" y="1639798"/>
                <a:ext cx="7527832" cy="5550879"/>
              </a:xfrm>
              <a:prstGeom prst="rect">
                <a:avLst/>
              </a:prstGeom>
              <a:noFill/>
            </p:spPr>
            <p:txBody>
              <a:bodyPr wrap="square" rtlCol="0">
                <a:spAutoFit/>
              </a:bodyPr>
              <a:lstStyle/>
              <a:p>
                <a:r>
                  <a:rPr lang="en-US" altLang="zh-CN" sz="2800" b="1" dirty="0">
                    <a:solidFill>
                      <a:schemeClr val="tx1"/>
                    </a:solidFill>
                  </a:rPr>
                  <a:t>7.2.1 </a:t>
                </a:r>
                <a:r>
                  <a:rPr lang="zh-CN" altLang="en-US" sz="2800" b="1" dirty="0">
                    <a:solidFill>
                      <a:schemeClr val="tx1"/>
                    </a:solidFill>
                  </a:rPr>
                  <a:t>一维周期势作为微扰</a:t>
                </a:r>
                <a:endParaRPr lang="en-US" altLang="zh-CN" sz="2800" b="1" dirty="0">
                  <a:solidFill>
                    <a:schemeClr val="tx1"/>
                  </a:solidFill>
                </a:endParaRPr>
              </a:p>
              <a:p>
                <a:endParaRPr lang="en-US" altLang="zh-CN" sz="1600" dirty="0">
                  <a:solidFill>
                    <a:schemeClr val="tx1"/>
                  </a:solidFill>
                </a:endParaRPr>
              </a:p>
              <a:p>
                <a:r>
                  <a:rPr lang="zh-CN" altLang="en-US" sz="2400" dirty="0">
                    <a:solidFill>
                      <a:schemeClr val="tx1"/>
                    </a:solidFill>
                  </a:rPr>
                  <a:t>所以，</a:t>
                </a:r>
                <a14:m>
                  <m:oMath xmlns:m="http://schemas.openxmlformats.org/officeDocument/2006/math">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2</m:t>
                            </m:r>
                          </m:e>
                        </m:d>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i="1">
                        <a:solidFill>
                          <a:schemeClr val="tx1"/>
                        </a:solidFill>
                        <a:latin typeface="Cambria Math" panose="02040503050406030204" pitchFamily="18" charset="0"/>
                      </a:rPr>
                      <m:t>=</m:t>
                    </m:r>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f>
                          <m:fPr>
                            <m:ctrlPr>
                              <a:rPr lang="en-US" altLang="zh-CN" sz="2400" i="1" dirty="0" smtClean="0">
                                <a:solidFill>
                                  <a:schemeClr val="tx1"/>
                                </a:solidFill>
                                <a:latin typeface="Cambria Math" panose="02040503050406030204" pitchFamily="18" charset="0"/>
                              </a:rPr>
                            </m:ctrlPr>
                          </m:fPr>
                          <m:num>
                            <m:sSup>
                              <m:sSupPr>
                                <m:ctrlPr>
                                  <a:rPr lang="en-US" altLang="zh-CN" sz="2400" i="1" dirty="0" smtClean="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r>
                                  <a:rPr lang="en-US" altLang="zh-CN" sz="2400" i="1" dirty="0" smtClean="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b="0" i="1" dirty="0"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b="0" i="1" dirty="0" smtClean="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den>
                        </m:f>
                      </m:e>
                    </m:nary>
                  </m:oMath>
                </a14:m>
                <a:endParaRPr lang="en-US" altLang="zh-CN" sz="2400" dirty="0">
                  <a:solidFill>
                    <a:schemeClr val="tx1"/>
                  </a:solidFill>
                </a:endParaRPr>
              </a:p>
              <a:p>
                <a:r>
                  <a:rPr lang="zh-CN" altLang="en-US" sz="2400" dirty="0">
                    <a:solidFill>
                      <a:schemeClr val="tx1"/>
                    </a:solidFill>
                  </a:rPr>
                  <a:t>所以，</a:t>
                </a:r>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0" i="1" dirty="0">
                        <a:solidFill>
                          <a:schemeClr val="tx1"/>
                        </a:solidFill>
                        <a:latin typeface="Cambria Math" panose="02040503050406030204" pitchFamily="18" charset="0"/>
                        <a:sym typeface="Symbol" panose="05050102010706020507" pitchFamily="18" charset="2"/>
                      </a:rPr>
                      <m:t>𝑘</m:t>
                    </m:r>
                    <m:r>
                      <a:rPr lang="en-US" altLang="zh-CN" sz="2400" i="1" dirty="0">
                        <a:solidFill>
                          <a:schemeClr val="tx1"/>
                        </a:solidFill>
                        <a:latin typeface="Cambria Math" panose="02040503050406030204" pitchFamily="18" charset="0"/>
                        <a:sym typeface="Symbol" panose="05050102010706020507" pitchFamily="18" charset="2"/>
                      </a:rPr>
                      <m:t>)</m:t>
                    </m:r>
                  </m:oMath>
                </a14:m>
                <a:r>
                  <a:rPr lang="en-US" altLang="zh-CN" sz="2400" dirty="0">
                    <a:solidFill>
                      <a:schemeClr val="tx1"/>
                    </a:solidFill>
                  </a:rPr>
                  <a:t>=</a:t>
                </a:r>
                <a14:m>
                  <m:oMath xmlns:m="http://schemas.openxmlformats.org/officeDocument/2006/math">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2</m:t>
                            </m:r>
                          </m:e>
                        </m:d>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i="1">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b="0" i="1" dirty="0" smtClean="0">
                        <a:solidFill>
                          <a:schemeClr val="tx1"/>
                        </a:solidFill>
                        <a:latin typeface="Cambria Math" panose="02040503050406030204" pitchFamily="18" charset="0"/>
                      </a:rPr>
                      <m:t>+</m:t>
                    </m:r>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den>
                        </m:f>
                      </m:e>
                    </m:nary>
                  </m:oMath>
                </a14:m>
                <a:endParaRPr lang="en-US" altLang="zh-CN" sz="2400" dirty="0">
                  <a:solidFill>
                    <a:schemeClr val="tx1"/>
                  </a:solidFill>
                </a:endParaRPr>
              </a:p>
              <a:p>
                <a:r>
                  <a:rPr lang="en-US" altLang="zh-CN" sz="2400" dirty="0">
                    <a:solidFill>
                      <a:schemeClr val="tx1"/>
                    </a:solidFill>
                  </a:rPr>
                  <a:t>            </a:t>
                </a:r>
                <a14:m>
                  <m:oMath xmlns:m="http://schemas.openxmlformats.org/officeDocument/2006/math">
                    <m:sSub>
                      <m:sSubPr>
                        <m:ctrlPr>
                          <a:rPr lang="en-US" altLang="zh-CN" sz="2400" i="1" dirty="0">
                            <a:solidFill>
                              <a:schemeClr val="tx1"/>
                            </a:solidFill>
                            <a:latin typeface="Cambria Math" panose="02040503050406030204" pitchFamily="18" charset="0"/>
                            <a:sym typeface="Symbol" panose="05050102010706020507" pitchFamily="18" charset="2"/>
                          </a:rPr>
                        </m:ctrlPr>
                      </m:sSubPr>
                      <m:e>
                        <m:r>
                          <m:rPr>
                            <m:nor/>
                          </m:rPr>
                          <a:rPr lang="zh-CN" altLang="en-US" sz="2400" dirty="0">
                            <a:solidFill>
                              <a:schemeClr val="tx1"/>
                            </a:solidFill>
                            <a:sym typeface="Symbol" panose="05050102010706020507" pitchFamily="18" charset="2"/>
                          </a:rPr>
                          <m:t></m:t>
                        </m:r>
                      </m:e>
                      <m:sub>
                        <m:r>
                          <a:rPr lang="en-US" altLang="zh-CN" sz="2400" b="1" i="1" dirty="0">
                            <a:solidFill>
                              <a:schemeClr val="tx1"/>
                            </a:solidFill>
                            <a:latin typeface="Cambria Math" panose="02040503050406030204" pitchFamily="18" charset="0"/>
                            <a:sym typeface="Symbol" panose="05050102010706020507" pitchFamily="18" charset="2"/>
                          </a:rPr>
                          <m:t>𝒌</m:t>
                        </m:r>
                      </m:sub>
                    </m:sSub>
                    <m:r>
                      <a:rPr lang="en-US" altLang="zh-CN" sz="2400" b="0" i="0" dirty="0" smtClean="0">
                        <a:solidFill>
                          <a:schemeClr val="tx1"/>
                        </a:solidFill>
                        <a:latin typeface="Cambria Math" panose="02040503050406030204" pitchFamily="18" charset="0"/>
                        <a:sym typeface="Symbol" panose="05050102010706020507" pitchFamily="18" charset="2"/>
                      </a:rPr>
                      <m:t>=</m:t>
                    </m:r>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oMath>
                </a14:m>
                <a:r>
                  <a:rPr lang="en-US" altLang="zh-CN" sz="2400" dirty="0">
                    <a:solidFill>
                      <a:schemeClr val="tx1"/>
                    </a:solidFill>
                  </a:rPr>
                  <a:t>+</a:t>
                </a:r>
                <a14:m>
                  <m:oMath xmlns:m="http://schemas.openxmlformats.org/officeDocument/2006/math">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b="0" i="1" smtClean="0">
                            <a:solidFill>
                              <a:schemeClr val="tx1"/>
                            </a:solidFill>
                            <a:latin typeface="Cambria Math" panose="02040503050406030204" pitchFamily="18" charset="0"/>
                          </a:rPr>
                          <m:t>(1)</m:t>
                        </m:r>
                      </m:sup>
                    </m:sSubSup>
                    <m:r>
                      <a:rPr lang="en-US" altLang="zh-CN" sz="2400" b="0" i="1"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ad>
                          <m:radPr>
                            <m:degHide m:val="on"/>
                            <m:ctrlPr>
                              <a:rPr lang="en-US" altLang="zh-CN" sz="2400" i="1">
                                <a:solidFill>
                                  <a:schemeClr val="tx1"/>
                                </a:solidFill>
                                <a:latin typeface="Cambria Math" panose="02040503050406030204" pitchFamily="18" charset="0"/>
                              </a:rPr>
                            </m:ctrlPr>
                          </m:radPr>
                          <m:deg/>
                          <m:e>
                            <m:r>
                              <a:rPr lang="en-US" altLang="zh-CN" sz="2400" i="1">
                                <a:solidFill>
                                  <a:schemeClr val="tx1"/>
                                </a:solidFill>
                                <a:latin typeface="Cambria Math" panose="02040503050406030204" pitchFamily="18" charset="0"/>
                              </a:rPr>
                              <m:t>𝐿</m:t>
                            </m:r>
                          </m:e>
                        </m:rad>
                      </m:den>
                    </m:f>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𝑖𝑘𝑥</m:t>
                        </m:r>
                      </m:sup>
                    </m:sSup>
                  </m:oMath>
                </a14:m>
                <a:r>
                  <a:rPr lang="en-US" altLang="zh-CN" sz="2400" dirty="0">
                    <a:solidFill>
                      <a:schemeClr val="tx1"/>
                    </a:solidFill>
                  </a:rPr>
                  <a:t>+</a:t>
                </a:r>
                <a14:m>
                  <m:oMath xmlns:m="http://schemas.openxmlformats.org/officeDocument/2006/math">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f>
                          <m:fPr>
                            <m:ctrlPr>
                              <a:rPr lang="en-US" altLang="zh-CN" sz="2400" i="1" dirty="0">
                                <a:solidFill>
                                  <a:schemeClr val="tx1"/>
                                </a:solidFill>
                                <a:latin typeface="Cambria Math" panose="02040503050406030204" pitchFamily="18" charset="0"/>
                              </a:rPr>
                            </m:ctrlPr>
                          </m:fPr>
                          <m:num>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num>
                          <m:den>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den>
                        </m:f>
                      </m:e>
                    </m:nary>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ad>
                          <m:radPr>
                            <m:degHide m:val="on"/>
                            <m:ctrlPr>
                              <a:rPr lang="en-US" altLang="zh-CN" sz="2400" i="1">
                                <a:solidFill>
                                  <a:schemeClr val="tx1"/>
                                </a:solidFill>
                                <a:latin typeface="Cambria Math" panose="02040503050406030204" pitchFamily="18" charset="0"/>
                              </a:rPr>
                            </m:ctrlPr>
                          </m:radPr>
                          <m:deg/>
                          <m:e>
                            <m:r>
                              <a:rPr lang="en-US" altLang="zh-CN" sz="2400" i="1">
                                <a:solidFill>
                                  <a:schemeClr val="tx1"/>
                                </a:solidFill>
                                <a:latin typeface="Cambria Math" panose="02040503050406030204" pitchFamily="18" charset="0"/>
                              </a:rPr>
                              <m:t>𝐿</m:t>
                            </m:r>
                          </m:e>
                        </m:rad>
                      </m:den>
                    </m:f>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m:t>
                        </m:r>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𝑥</m:t>
                        </m:r>
                      </m:sup>
                    </m:sSup>
                  </m:oMath>
                </a14:m>
                <a:endParaRPr lang="en-US" altLang="zh-CN" sz="2400" dirty="0">
                  <a:solidFill>
                    <a:schemeClr val="tx1"/>
                  </a:solidFill>
                </a:endParaRPr>
              </a:p>
              <a:p>
                <a:r>
                  <a:rPr lang="en-US" altLang="zh-CN" sz="2400" dirty="0">
                    <a:solidFill>
                      <a:schemeClr val="tx1"/>
                    </a:solidFill>
                  </a:rPr>
                  <a:t>	 =</a:t>
                </a:r>
                <a14:m>
                  <m:oMath xmlns:m="http://schemas.openxmlformats.org/officeDocument/2006/math">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ad>
                          <m:radPr>
                            <m:degHide m:val="on"/>
                            <m:ctrlPr>
                              <a:rPr lang="en-US" altLang="zh-CN" sz="2400" i="1">
                                <a:solidFill>
                                  <a:schemeClr val="tx1"/>
                                </a:solidFill>
                                <a:latin typeface="Cambria Math" panose="02040503050406030204" pitchFamily="18" charset="0"/>
                              </a:rPr>
                            </m:ctrlPr>
                          </m:radPr>
                          <m:deg/>
                          <m:e>
                            <m:r>
                              <a:rPr lang="en-US" altLang="zh-CN" sz="2400" i="1">
                                <a:solidFill>
                                  <a:schemeClr val="tx1"/>
                                </a:solidFill>
                                <a:latin typeface="Cambria Math" panose="02040503050406030204" pitchFamily="18" charset="0"/>
                              </a:rPr>
                              <m:t>𝐿</m:t>
                            </m:r>
                          </m:e>
                        </m:rad>
                      </m:den>
                    </m:f>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𝑖𝑘𝑥</m:t>
                        </m:r>
                      </m:sup>
                    </m:sSup>
                  </m:oMath>
                </a14:m>
                <a:r>
                  <a:rPr lang="en-US" altLang="zh-CN" sz="2400" dirty="0">
                    <a:solidFill>
                      <a:schemeClr val="tx1"/>
                    </a:solidFill>
                  </a:rPr>
                  <a:t>[1+</a:t>
                </a:r>
                <a14:m>
                  <m:oMath xmlns:m="http://schemas.openxmlformats.org/officeDocument/2006/math">
                    <m:nary>
                      <m:naryPr>
                        <m:chr m:val="∑"/>
                        <m:limLoc m:val="subSup"/>
                        <m:ctrlPr>
                          <a:rPr lang="en-US" altLang="zh-CN" sz="2400" i="1" dirty="0">
                            <a:solidFill>
                              <a:schemeClr val="tx1"/>
                            </a:solidFill>
                            <a:latin typeface="Cambria Math" panose="02040503050406030204" pitchFamily="18" charset="0"/>
                          </a:rPr>
                        </m:ctrlPr>
                      </m:naryPr>
                      <m:sub>
                        <m:r>
                          <m:rPr>
                            <m:brk m:alnAt="25"/>
                          </m:rPr>
                          <a:rPr lang="en-US" altLang="zh-CN" sz="2400" i="1" dirty="0">
                            <a:solidFill>
                              <a:schemeClr val="tx1"/>
                            </a:solidFill>
                            <a:latin typeface="Cambria Math" panose="02040503050406030204" pitchFamily="18" charset="0"/>
                          </a:rPr>
                          <m:t>𝑛</m:t>
                        </m:r>
                      </m:sub>
                      <m:sup>
                        <m:r>
                          <a:rPr lang="en-US" altLang="zh-CN" sz="2400" i="1" dirty="0">
                            <a:solidFill>
                              <a:schemeClr val="tx1"/>
                            </a:solidFill>
                            <a:latin typeface="Cambria Math" panose="02040503050406030204" pitchFamily="18" charset="0"/>
                          </a:rPr>
                          <m:t>′</m:t>
                        </m:r>
                      </m:sup>
                      <m:e>
                        <m:f>
                          <m:fPr>
                            <m:ctrlPr>
                              <a:rPr lang="en-US" altLang="zh-CN" sz="2400" i="1" dirty="0">
                                <a:solidFill>
                                  <a:schemeClr val="tx1"/>
                                </a:solidFill>
                                <a:latin typeface="Cambria Math" panose="02040503050406030204" pitchFamily="18" charset="0"/>
                              </a:rPr>
                            </m:ctrlPr>
                          </m:fPr>
                          <m:num>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𝑥</m:t>
                                </m:r>
                              </m:sup>
                            </m:sSup>
                          </m:num>
                          <m:den>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den>
                        </m:f>
                      </m:e>
                    </m:nary>
                  </m:oMath>
                </a14:m>
                <a:r>
                  <a:rPr lang="en-US" altLang="zh-CN" sz="2400" dirty="0">
                    <a:solidFill>
                      <a:schemeClr val="tx1"/>
                    </a:solidFill>
                  </a:rPr>
                  <a:t>] = </a:t>
                </a:r>
                <a14:m>
                  <m:oMath xmlns:m="http://schemas.openxmlformats.org/officeDocument/2006/math">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𝑒</m:t>
                        </m:r>
                      </m:e>
                      <m:sup>
                        <m:r>
                          <a:rPr lang="en-US" altLang="zh-CN" sz="2400" i="1" dirty="0">
                            <a:solidFill>
                              <a:schemeClr val="tx1"/>
                            </a:solidFill>
                            <a:latin typeface="Cambria Math" panose="02040503050406030204" pitchFamily="18" charset="0"/>
                          </a:rPr>
                          <m:t>𝑖𝑘𝑥</m:t>
                        </m:r>
                      </m:sup>
                    </m:sSup>
                    <m:r>
                      <a:rPr lang="en-US" altLang="zh-CN" sz="2400" b="0" i="1" dirty="0" smtClean="0">
                        <a:solidFill>
                          <a:schemeClr val="tx1"/>
                        </a:solidFill>
                        <a:latin typeface="Cambria Math" panose="02040503050406030204" pitchFamily="18" charset="0"/>
                      </a:rPr>
                      <m:t> </m:t>
                    </m:r>
                    <m:sSub>
                      <m:sSubPr>
                        <m:ctrlPr>
                          <a:rPr lang="en-US" altLang="zh-CN" sz="2400" b="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𝑢</m:t>
                        </m:r>
                      </m:e>
                      <m:sub>
                        <m:r>
                          <a:rPr lang="en-US" altLang="zh-CN" sz="2400" b="0" i="1" dirty="0" smtClean="0">
                            <a:solidFill>
                              <a:schemeClr val="tx1"/>
                            </a:solidFill>
                            <a:latin typeface="Cambria Math" panose="02040503050406030204" pitchFamily="18" charset="0"/>
                          </a:rPr>
                          <m:t>𝑘</m:t>
                        </m:r>
                      </m:sub>
                    </m:sSub>
                    <m:r>
                      <a:rPr lang="en-US" altLang="zh-CN" sz="2400" b="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𝑥</m:t>
                    </m:r>
                    <m:r>
                      <a:rPr lang="en-US" altLang="zh-CN" sz="2400" b="0" i="1" dirty="0" smtClean="0">
                        <a:solidFill>
                          <a:schemeClr val="tx1"/>
                        </a:solidFill>
                        <a:latin typeface="Cambria Math" panose="02040503050406030204" pitchFamily="18" charset="0"/>
                      </a:rPr>
                      <m:t>)</m:t>
                    </m:r>
                  </m:oMath>
                </a14:m>
                <a:endParaRPr lang="en-US" altLang="zh-CN" sz="2400" dirty="0">
                  <a:solidFill>
                    <a:schemeClr val="tx1"/>
                  </a:solidFill>
                </a:endParaRPr>
              </a:p>
              <a:p>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52921" y="1639798"/>
                <a:ext cx="7527832" cy="5550879"/>
              </a:xfrm>
              <a:prstGeom prst="rect">
                <a:avLst/>
              </a:prstGeom>
              <a:blipFill rotWithShape="1">
                <a:blip r:embed="rId3"/>
                <a:stretch>
                  <a:fillRect l="-1619" t="-1098"/>
                </a:stretch>
              </a:blipFill>
            </p:spPr>
            <p:txBody>
              <a:bodyPr/>
              <a:lstStyle/>
              <a:p>
                <a:r>
                  <a:rPr lang="zh-CN" altLang="en-US">
                    <a:noFill/>
                  </a:rPr>
                  <a:t> </a:t>
                </a:r>
              </a:p>
            </p:txBody>
          </p:sp>
        </mc:Fallback>
      </mc:AlternateContent>
      <p:grpSp>
        <p:nvGrpSpPr>
          <p:cNvPr id="26" name="组合 25"/>
          <p:cNvGrpSpPr/>
          <p:nvPr/>
        </p:nvGrpSpPr>
        <p:grpSpPr>
          <a:xfrm>
            <a:off x="7876456" y="2322544"/>
            <a:ext cx="4242082" cy="2720781"/>
            <a:chOff x="7766385" y="883154"/>
            <a:chExt cx="4242082" cy="2720781"/>
          </a:xfrm>
        </p:grpSpPr>
        <p:sp>
          <p:nvSpPr>
            <p:cNvPr id="18" name="椭圆 17"/>
            <p:cNvSpPr/>
            <p:nvPr/>
          </p:nvSpPr>
          <p:spPr>
            <a:xfrm>
              <a:off x="7766385" y="2756714"/>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8845709" y="2758802"/>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10013063" y="2771466"/>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椭圆 20"/>
            <p:cNvSpPr/>
            <p:nvPr/>
          </p:nvSpPr>
          <p:spPr>
            <a:xfrm>
              <a:off x="11092387" y="2773554"/>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2" name="直接箭头连接符 21"/>
            <p:cNvCxnSpPr/>
            <p:nvPr/>
          </p:nvCxnSpPr>
          <p:spPr>
            <a:xfrm>
              <a:off x="7856385" y="2843959"/>
              <a:ext cx="3852000" cy="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11708385" y="2771466"/>
              <a:ext cx="300082" cy="369332"/>
            </a:xfrm>
            <a:prstGeom prst="rect">
              <a:avLst/>
            </a:prstGeom>
          </p:spPr>
          <p:txBody>
            <a:bodyPr wrap="none">
              <a:spAutoFit/>
            </a:bodyPr>
            <a:lstStyle/>
            <a:p>
              <a:r>
                <a:rPr lang="en-US" altLang="zh-CN" i="1" dirty="0">
                  <a:latin typeface="Cambria" panose="02040503050406030204" pitchFamily="18" charset="0"/>
                  <a:ea typeface="Cambria" panose="02040503050406030204" pitchFamily="18" charset="0"/>
                </a:rPr>
                <a:t>k</a:t>
              </a:r>
              <a:endParaRPr lang="zh-CN" altLang="en-US" i="1" dirty="0">
                <a:latin typeface="Cambria" panose="02040503050406030204" pitchFamily="18" charset="0"/>
              </a:endParaRPr>
            </a:p>
          </p:txBody>
        </p:sp>
        <p:sp>
          <p:nvSpPr>
            <p:cNvPr id="9" name="任意多边形 8"/>
            <p:cNvSpPr/>
            <p:nvPr/>
          </p:nvSpPr>
          <p:spPr>
            <a:xfrm>
              <a:off x="8732668" y="883154"/>
              <a:ext cx="1627390" cy="1960805"/>
            </a:xfrm>
            <a:custGeom>
              <a:avLst/>
              <a:gdLst>
                <a:gd name="connsiteX0" fmla="*/ 0 w 1168924"/>
                <a:gd name="connsiteY0" fmla="*/ 0 h 1960805"/>
                <a:gd name="connsiteX1" fmla="*/ 537328 w 1168924"/>
                <a:gd name="connsiteY1" fmla="*/ 1960775 h 1960805"/>
                <a:gd name="connsiteX2" fmla="*/ 1168924 w 1168924"/>
                <a:gd name="connsiteY2" fmla="*/ 37707 h 1960805"/>
              </a:gdLst>
              <a:ahLst/>
              <a:cxnLst>
                <a:cxn ang="0">
                  <a:pos x="connsiteX0" y="connsiteY0"/>
                </a:cxn>
                <a:cxn ang="0">
                  <a:pos x="connsiteX1" y="connsiteY1"/>
                </a:cxn>
                <a:cxn ang="0">
                  <a:pos x="connsiteX2" y="connsiteY2"/>
                </a:cxn>
              </a:cxnLst>
              <a:rect l="l" t="t" r="r" b="b"/>
              <a:pathLst>
                <a:path w="1168924" h="1960805">
                  <a:moveTo>
                    <a:pt x="0" y="0"/>
                  </a:moveTo>
                  <a:cubicBezTo>
                    <a:pt x="171253" y="977245"/>
                    <a:pt x="342507" y="1954490"/>
                    <a:pt x="537328" y="1960775"/>
                  </a:cubicBezTo>
                  <a:cubicBezTo>
                    <a:pt x="732149" y="1967060"/>
                    <a:pt x="950536" y="1002383"/>
                    <a:pt x="1168924" y="37707"/>
                  </a:cubicBezTo>
                </a:path>
              </a:pathLst>
            </a:cu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13" name="矩形 12"/>
                <p:cNvSpPr/>
                <p:nvPr/>
              </p:nvSpPr>
              <p:spPr>
                <a:xfrm>
                  <a:off x="10452852" y="1066261"/>
                  <a:ext cx="1233928" cy="6481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m:t>
                        </m:r>
                        <m:r>
                          <a:rPr lang="en-US" altLang="zh-CN" i="1">
                            <a:solidFill>
                              <a:schemeClr val="tx1"/>
                            </a:solidFill>
                            <a:latin typeface="Cambria Math" panose="02040503050406030204" pitchFamily="18" charset="0"/>
                          </a:rPr>
                          <m:t>=</m:t>
                        </m:r>
                        <m:f>
                          <m:fPr>
                            <m:ctrlPr>
                              <a:rPr lang="en-US" altLang="zh-CN" i="1" dirty="0">
                                <a:solidFill>
                                  <a:schemeClr val="tx1"/>
                                </a:solidFill>
                                <a:latin typeface="Cambria Math" panose="02040503050406030204" pitchFamily="18" charset="0"/>
                              </a:rPr>
                            </m:ctrlPr>
                          </m:fPr>
                          <m:num>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ħ</m:t>
                                </m:r>
                              </m:e>
                              <m:sup>
                                <m:r>
                                  <a:rPr lang="en-US" altLang="zh-CN" i="1" dirty="0">
                                    <a:solidFill>
                                      <a:schemeClr val="tx1"/>
                                    </a:solidFill>
                                    <a:latin typeface="Cambria Math" panose="02040503050406030204" pitchFamily="18" charset="0"/>
                                  </a:rPr>
                                  <m:t>2</m:t>
                                </m:r>
                              </m:sup>
                            </m:sSup>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𝑘</m:t>
                                </m:r>
                              </m:e>
                              <m:sup>
                                <m:r>
                                  <a:rPr lang="en-US" altLang="zh-CN" i="1" dirty="0">
                                    <a:solidFill>
                                      <a:schemeClr val="tx1"/>
                                    </a:solidFill>
                                    <a:latin typeface="Cambria Math" panose="02040503050406030204" pitchFamily="18" charset="0"/>
                                  </a:rPr>
                                  <m:t>2</m:t>
                                </m:r>
                              </m:sup>
                            </m:sSup>
                          </m:num>
                          <m:den>
                            <m:r>
                              <a:rPr lang="en-US" altLang="zh-CN" i="1" dirty="0">
                                <a:solidFill>
                                  <a:schemeClr val="tx1"/>
                                </a:solidFill>
                                <a:latin typeface="Cambria Math" panose="02040503050406030204" pitchFamily="18" charset="0"/>
                              </a:rPr>
                              <m:t>2</m:t>
                            </m:r>
                            <m:r>
                              <a:rPr lang="en-US" altLang="zh-CN" i="1" dirty="0">
                                <a:solidFill>
                                  <a:schemeClr val="tx1"/>
                                </a:solidFill>
                                <a:latin typeface="Cambria Math" panose="02040503050406030204" pitchFamily="18" charset="0"/>
                              </a:rPr>
                              <m:t>𝑚</m:t>
                            </m:r>
                          </m:den>
                        </m:f>
                      </m:oMath>
                    </m:oMathPara>
                  </a14:m>
                  <a:endParaRPr lang="zh-CN" altLang="en-US" dirty="0">
                    <a:solidFill>
                      <a:schemeClr val="tx1"/>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10452852" y="1066261"/>
                  <a:ext cx="1181029" cy="64812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9861733" y="3039165"/>
                  <a:ext cx="441275" cy="5647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dirty="0" smtClean="0">
                                <a:solidFill>
                                  <a:schemeClr val="tx1"/>
                                </a:solidFill>
                                <a:latin typeface="Cambria Math" panose="02040503050406030204" pitchFamily="18" charset="0"/>
                              </a:rPr>
                            </m:ctrlPr>
                          </m:fPr>
                          <m:num>
                            <m:r>
                              <a:rPr lang="zh-CN" altLang="en-US" i="1" dirty="0">
                                <a:solidFill>
                                  <a:schemeClr val="tx1"/>
                                </a:solidFill>
                                <a:latin typeface="Cambria Math" panose="02040503050406030204" pitchFamily="18" charset="0"/>
                              </a:rPr>
                              <m:t>𝜋</m:t>
                            </m:r>
                          </m:num>
                          <m:den>
                            <m:r>
                              <a:rPr lang="en-US" altLang="zh-CN" i="1" dirty="0">
                                <a:solidFill>
                                  <a:schemeClr val="tx1"/>
                                </a:solidFill>
                                <a:latin typeface="Cambria Math" panose="02040503050406030204" pitchFamily="18" charset="0"/>
                              </a:rPr>
                              <m:t>𝑎</m:t>
                            </m:r>
                          </m:den>
                        </m:f>
                      </m:oMath>
                    </m:oMathPara>
                  </a14:m>
                  <a:endParaRPr lang="zh-CN" altLang="en-US" dirty="0">
                    <a:solidFill>
                      <a:schemeClr val="tx1"/>
                    </a:solidFill>
                  </a:endParaRPr>
                </a:p>
              </p:txBody>
            </p:sp>
          </mc:Choice>
          <mc:Fallback xmlns="">
            <p:sp>
              <p:nvSpPr>
                <p:cNvPr id="24" name="矩形 23"/>
                <p:cNvSpPr>
                  <a:spLocks noRot="1" noChangeAspect="1" noMove="1" noResize="1" noEditPoints="1" noAdjustHandles="1" noChangeArrowheads="1" noChangeShapeType="1" noTextEdit="1"/>
                </p:cNvSpPr>
                <p:nvPr/>
              </p:nvSpPr>
              <p:spPr>
                <a:xfrm>
                  <a:off x="9861733" y="3039165"/>
                  <a:ext cx="388376" cy="56477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8732090" y="3040733"/>
                  <a:ext cx="465577" cy="461217"/>
                </a:xfrm>
                <a:prstGeom prst="rect">
                  <a:avLst/>
                </a:prstGeom>
              </p:spPr>
              <p:txBody>
                <a:bodyPr wrap="none">
                  <a:spAutoFit/>
                </a:bodyPr>
                <a:lstStyle/>
                <a:p>
                  <a:r>
                    <a:rPr lang="en-US" altLang="zh-CN" dirty="0">
                      <a:solidFill>
                        <a:schemeClr val="tx1"/>
                      </a:solidFill>
                    </a:rPr>
                    <a:t>-</a:t>
                  </a:r>
                  <a14:m>
                    <m:oMath xmlns:m="http://schemas.openxmlformats.org/officeDocument/2006/math">
                      <m:r>
                        <a:rPr lang="en-US" altLang="zh-CN" b="0" i="0" dirty="0" smtClean="0">
                          <a:solidFill>
                            <a:schemeClr val="tx1"/>
                          </a:solidFill>
                          <a:latin typeface="Cambria Math"/>
                        </a:rPr>
                        <m:t> </m:t>
                      </m:r>
                      <m:f>
                        <m:fPr>
                          <m:ctrlPr>
                            <a:rPr lang="en-US" altLang="zh-CN" i="1" dirty="0">
                              <a:solidFill>
                                <a:schemeClr val="tx1"/>
                              </a:solidFill>
                              <a:latin typeface="Cambria Math" panose="02040503050406030204" pitchFamily="18" charset="0"/>
                            </a:rPr>
                          </m:ctrlPr>
                        </m:fPr>
                        <m:num>
                          <m:r>
                            <a:rPr lang="zh-CN" altLang="en-US" i="1" dirty="0">
                              <a:solidFill>
                                <a:schemeClr val="tx1"/>
                              </a:solidFill>
                              <a:latin typeface="Cambria Math" panose="02040503050406030204" pitchFamily="18" charset="0"/>
                            </a:rPr>
                            <m:t>𝜋</m:t>
                          </m:r>
                        </m:num>
                        <m:den>
                          <m:r>
                            <a:rPr lang="en-US" altLang="zh-CN" i="1" dirty="0">
                              <a:solidFill>
                                <a:schemeClr val="tx1"/>
                              </a:solidFill>
                              <a:latin typeface="Cambria Math" panose="02040503050406030204" pitchFamily="18" charset="0"/>
                            </a:rPr>
                            <m:t>𝑎</m:t>
                          </m:r>
                        </m:den>
                      </m:f>
                    </m:oMath>
                  </a14:m>
                  <a:endParaRPr lang="zh-CN" altLang="en-US" dirty="0">
                    <a:solidFill>
                      <a:schemeClr val="tx1"/>
                    </a:solidFill>
                  </a:endParaRPr>
                </a:p>
              </p:txBody>
            </p:sp>
          </mc:Choice>
          <mc:Fallback xmlns="">
            <p:sp>
              <p:nvSpPr>
                <p:cNvPr id="25" name="矩形 24"/>
                <p:cNvSpPr>
                  <a:spLocks noRot="1" noChangeAspect="1" noMove="1" noResize="1" noEditPoints="1" noAdjustHandles="1" noChangeArrowheads="1" noChangeShapeType="1" noTextEdit="1"/>
                </p:cNvSpPr>
                <p:nvPr/>
              </p:nvSpPr>
              <p:spPr>
                <a:xfrm>
                  <a:off x="8732090" y="3040733"/>
                  <a:ext cx="465577" cy="461217"/>
                </a:xfrm>
                <a:prstGeom prst="rect">
                  <a:avLst/>
                </a:prstGeom>
                <a:blipFill rotWithShape="1">
                  <a:blip r:embed="rId6"/>
                  <a:stretch>
                    <a:fillRect l="-10390" t="-3947" b="-2632"/>
                  </a:stretch>
                </a:blipFill>
              </p:spPr>
              <p:txBody>
                <a:bodyPr/>
                <a:lstStyle/>
                <a:p>
                  <a:r>
                    <a:rPr lang="zh-CN" altLang="en-US">
                      <a:noFill/>
                    </a:rPr>
                    <a:t> </a:t>
                  </a:r>
                </a:p>
              </p:txBody>
            </p:sp>
          </mc:Fallback>
        </mc:AlternateContent>
      </p:grpSp>
      <p:cxnSp>
        <p:nvCxnSpPr>
          <p:cNvPr id="30" name="直接连接符 29"/>
          <p:cNvCxnSpPr>
            <a:stCxn id="19" idx="0"/>
          </p:cNvCxnSpPr>
          <p:nvPr/>
        </p:nvCxnSpPr>
        <p:spPr>
          <a:xfrm flipV="1">
            <a:off x="9045780" y="2935249"/>
            <a:ext cx="0" cy="126294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10206848" y="2955671"/>
            <a:ext cx="0" cy="126294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rot="5400000" flipV="1">
            <a:off x="9698230" y="2502461"/>
            <a:ext cx="0" cy="126294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9519515" y="4488584"/>
            <a:ext cx="300082" cy="369332"/>
          </a:xfrm>
          <a:prstGeom prst="rect">
            <a:avLst/>
          </a:prstGeom>
        </p:spPr>
        <p:txBody>
          <a:bodyPr wrap="none">
            <a:spAutoFit/>
          </a:bodyPr>
          <a:lstStyle/>
          <a:p>
            <a:r>
              <a:rPr lang="en-US" altLang="zh-CN" dirty="0"/>
              <a:t>0</a:t>
            </a:r>
            <a:endParaRPr lang="zh-CN" altLang="en-US" dirty="0">
              <a:solidFill>
                <a:schemeClr val="tx1"/>
              </a:solidFill>
            </a:endParaRPr>
          </a:p>
        </p:txBody>
      </p:sp>
    </p:spTree>
    <p:extLst>
      <p:ext uri="{BB962C8B-B14F-4D97-AF65-F5344CB8AC3E}">
        <p14:creationId xmlns:p14="http://schemas.microsoft.com/office/powerpoint/2010/main" val="107833278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470547"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470547" cy="584775"/>
              </a:xfrm>
              <a:prstGeom prst="rect">
                <a:avLst/>
              </a:prstGeom>
              <a:blipFill rotWithShape="1">
                <a:blip r:embed="rId2"/>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52921" y="1639798"/>
                <a:ext cx="7471412" cy="4605107"/>
              </a:xfrm>
              <a:prstGeom prst="rect">
                <a:avLst/>
              </a:prstGeom>
              <a:noFill/>
            </p:spPr>
            <p:txBody>
              <a:bodyPr wrap="square" rtlCol="0">
                <a:spAutoFit/>
              </a:bodyPr>
              <a:lstStyle/>
              <a:p>
                <a:r>
                  <a:rPr lang="en-US" altLang="zh-CN" sz="2800" b="1" dirty="0">
                    <a:solidFill>
                      <a:schemeClr val="tx1"/>
                    </a:solidFill>
                  </a:rPr>
                  <a:t>7.2.2 </a:t>
                </a:r>
                <a:r>
                  <a:rPr lang="zh-CN" altLang="en-US" sz="2800" b="1" dirty="0">
                    <a:solidFill>
                      <a:schemeClr val="tx1"/>
                    </a:solidFill>
                  </a:rPr>
                  <a:t>能隙的由来</a:t>
                </a:r>
                <a:endParaRPr lang="en-US" altLang="zh-CN" sz="2800" b="1" dirty="0">
                  <a:solidFill>
                    <a:schemeClr val="tx1"/>
                  </a:solidFill>
                </a:endParaRPr>
              </a:p>
              <a:p>
                <a:endParaRPr lang="en-US" altLang="zh-CN" sz="1600" b="1" dirty="0">
                  <a:solidFill>
                    <a:schemeClr val="tx1"/>
                  </a:solidFill>
                </a:endParaRPr>
              </a:p>
              <a:p>
                <a:r>
                  <a:rPr lang="zh-CN" altLang="en-US" sz="2400" dirty="0">
                    <a:solidFill>
                      <a:schemeClr val="tx1"/>
                    </a:solidFill>
                  </a:rPr>
                  <a:t>当</a:t>
                </a:r>
                <a:r>
                  <a:rPr lang="en-US" altLang="zh-CN" sz="2400" dirty="0">
                    <a:solidFill>
                      <a:schemeClr val="tx1"/>
                    </a:solidFill>
                  </a:rPr>
                  <a:t>  </a:t>
                </a:r>
                <a14:m>
                  <m:oMath xmlns:m="http://schemas.openxmlformats.org/officeDocument/2006/math">
                    <m:r>
                      <a:rPr lang="en-US" altLang="zh-CN" sz="2400" b="0" i="1" dirty="0" smtClean="0">
                        <a:solidFill>
                          <a:schemeClr val="tx1"/>
                        </a:solidFill>
                        <a:latin typeface="Cambria Math" panose="02040503050406030204" pitchFamily="18" charset="0"/>
                      </a:rPr>
                      <m:t>𝑘</m:t>
                    </m:r>
                    <m:r>
                      <a:rPr lang="en-US" altLang="zh-CN" sz="2400" b="0" i="0"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oMath>
                </a14:m>
                <a:r>
                  <a:rPr lang="en-US" altLang="zh-CN" sz="2400" dirty="0">
                    <a:solidFill>
                      <a:schemeClr val="tx1"/>
                    </a:solidFill>
                  </a:rPr>
                  <a:t> </a:t>
                </a:r>
                <a:r>
                  <a:rPr lang="zh-CN" altLang="en-US" sz="2400" dirty="0">
                    <a:solidFill>
                      <a:schemeClr val="tx1"/>
                    </a:solidFill>
                  </a:rPr>
                  <a:t>时，</a:t>
                </a:r>
                <a14:m>
                  <m:oMath xmlns:m="http://schemas.openxmlformats.org/officeDocument/2006/math">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2</m:t>
                                </m:r>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i="1" dirty="0">
                        <a:solidFill>
                          <a:schemeClr val="tx1"/>
                        </a:solidFill>
                        <a:latin typeface="Cambria Math" panose="02040503050406030204" pitchFamily="18" charset="0"/>
                      </a:rPr>
                      <m:t>=</m:t>
                    </m:r>
                  </m:oMath>
                </a14:m>
                <a:r>
                  <a:rPr lang="en-US" altLang="zh-CN" sz="2400" dirty="0">
                    <a:solidFill>
                      <a:schemeClr val="tx1"/>
                    </a:solidFill>
                  </a:rPr>
                  <a:t>0</a:t>
                </a:r>
                <a:r>
                  <a:rPr lang="zh-CN" altLang="en-US" sz="2400" dirty="0">
                    <a:solidFill>
                      <a:schemeClr val="tx1"/>
                    </a:solidFill>
                  </a:rPr>
                  <a:t>，</a:t>
                </a:r>
                <a:endParaRPr lang="en-US" altLang="zh-CN" sz="2400" dirty="0">
                  <a:solidFill>
                    <a:schemeClr val="tx1"/>
                  </a:solidFill>
                </a:endParaRPr>
              </a:p>
              <a:p>
                <a:r>
                  <a:rPr lang="zh-CN" altLang="en-US" sz="2400" dirty="0">
                    <a:solidFill>
                      <a:schemeClr val="tx1"/>
                    </a:solidFill>
                  </a:rPr>
                  <a:t>微扰法失效。</a:t>
                </a:r>
                <a:endParaRPr lang="en-US" altLang="zh-CN" sz="2400" dirty="0">
                  <a:solidFill>
                    <a:schemeClr val="tx1"/>
                  </a:solidFill>
                </a:endParaRPr>
              </a:p>
              <a:p>
                <a:r>
                  <a:rPr lang="zh-CN" altLang="en-US" sz="2400" dirty="0">
                    <a:solidFill>
                      <a:schemeClr val="tx1"/>
                    </a:solidFill>
                  </a:rPr>
                  <a:t>在</a:t>
                </a:r>
                <a14:m>
                  <m:oMath xmlns:m="http://schemas.openxmlformats.org/officeDocument/2006/math">
                    <m:r>
                      <a:rPr lang="en-US" altLang="zh-CN" sz="2400" i="1" dirty="0">
                        <a:solidFill>
                          <a:schemeClr val="tx1"/>
                        </a:solidFill>
                        <a:latin typeface="Cambria Math" panose="02040503050406030204" pitchFamily="18" charset="0"/>
                      </a:rPr>
                      <m:t>𝑘</m:t>
                    </m:r>
                    <m:r>
                      <a:rPr lang="en-US" altLang="zh-CN" sz="2400"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oMath>
                </a14:m>
                <a:r>
                  <a:rPr lang="zh-CN" altLang="en-US" sz="2400" dirty="0">
                    <a:solidFill>
                      <a:schemeClr val="tx1"/>
                    </a:solidFill>
                  </a:rPr>
                  <a:t>附近，应使用简并微扰法：</a:t>
                </a:r>
                <a:endParaRPr lang="en-US" altLang="zh-CN" sz="2400" dirty="0">
                  <a:solidFill>
                    <a:schemeClr val="tx1"/>
                  </a:solidFill>
                </a:endParaRPr>
              </a:p>
              <a:p>
                <a14:m>
                  <m:oMath xmlns:m="http://schemas.openxmlformats.org/officeDocument/2006/math">
                    <m:sSubSup>
                      <m:sSubSupPr>
                        <m:ctrlPr>
                          <a:rPr lang="en-US" altLang="zh-CN" sz="2400" i="1">
                            <a:solidFill>
                              <a:schemeClr val="tx1"/>
                            </a:solidFill>
                            <a:latin typeface="Cambria Math" panose="02040503050406030204" pitchFamily="18" charset="0"/>
                          </a:rPr>
                        </m:ctrlPr>
                      </m:sSubSupPr>
                      <m:e>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b="0" i="1" dirty="0" smtClean="0">
                                <a:solidFill>
                                  <a:schemeClr val="tx1"/>
                                </a:solidFill>
                                <a:latin typeface="Cambria Math" panose="02040503050406030204" pitchFamily="18" charset="0"/>
                                <a:sym typeface="Symbol" panose="05050102010706020507" pitchFamily="18" charset="2"/>
                              </a:rPr>
                              <m:t> </m:t>
                            </m:r>
                          </m:sub>
                          <m:sup>
                            <m:r>
                              <a:rPr lang="en-US" altLang="zh-CN" sz="2400" i="1">
                                <a:solidFill>
                                  <a:schemeClr val="tx1"/>
                                </a:solidFill>
                                <a:latin typeface="Cambria Math" panose="02040503050406030204" pitchFamily="18" charset="0"/>
                              </a:rPr>
                              <m:t>0</m:t>
                            </m:r>
                          </m:sup>
                        </m:sSubSup>
                        <m:r>
                          <m:rPr>
                            <m:nor/>
                          </m:rPr>
                          <a:rPr lang="en-US" altLang="zh-CN" sz="2400" b="0" i="0" smtClean="0">
                            <a:solidFill>
                              <a:schemeClr val="tx1"/>
                            </a:solidFill>
                            <a:latin typeface="Cambria Math" panose="02040503050406030204" pitchFamily="18" charset="0"/>
                          </a:rPr>
                          <m:t>=</m:t>
                        </m:r>
                        <m:r>
                          <m:rPr>
                            <m:nor/>
                          </m:rPr>
                          <a:rPr lang="en-US" altLang="zh-CN" sz="2400" b="0" i="0" smtClean="0">
                            <a:solidFill>
                              <a:schemeClr val="tx1"/>
                            </a:solidFill>
                            <a:latin typeface="Cambria Math" panose="02040503050406030204" pitchFamily="18" charset="0"/>
                          </a:rPr>
                          <m:t>A</m:t>
                        </m:r>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𝐵</m:t>
                    </m:r>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b="0" i="1" smtClean="0">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sup>
                    </m:sSubSup>
                  </m:oMath>
                </a14:m>
                <a:r>
                  <a:rPr lang="en-US" altLang="zh-CN" sz="2400" dirty="0">
                    <a:solidFill>
                      <a:schemeClr val="tx1"/>
                    </a:solidFill>
                  </a:rPr>
                  <a:t>  </a:t>
                </a:r>
                <a14:m>
                  <m:oMath xmlns:m="http://schemas.openxmlformats.org/officeDocument/2006/math">
                    <m:r>
                      <a:rPr lang="en-US" altLang="zh-CN" sz="2400" i="1" dirty="0">
                        <a:solidFill>
                          <a:schemeClr val="tx1"/>
                        </a:solidFill>
                        <a:latin typeface="Cambria Math" panose="02040503050406030204" pitchFamily="18" charset="0"/>
                      </a:rPr>
                      <m:t>𝑘</m:t>
                    </m:r>
                    <m:r>
                      <a:rPr lang="en-US" altLang="zh-CN" sz="2400"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b="0" i="1" dirty="0" smtClean="0">
                        <a:solidFill>
                          <a:schemeClr val="tx1"/>
                        </a:solidFill>
                        <a:latin typeface="Cambria Math" panose="02040503050406030204" pitchFamily="18" charset="0"/>
                      </a:rPr>
                      <m:t>(1+</m:t>
                    </m:r>
                    <m:r>
                      <a:rPr lang="en-US" altLang="zh-CN" sz="2400" b="0" i="1" dirty="0" smtClean="0">
                        <a:solidFill>
                          <a:schemeClr val="tx1"/>
                        </a:solidFill>
                        <a:latin typeface="Cambria Math" panose="02040503050406030204" pitchFamily="18" charset="0"/>
                        <a:ea typeface="Cambria Math" panose="02040503050406030204" pitchFamily="18" charset="0"/>
                      </a:rPr>
                      <m:t>∆</m:t>
                    </m:r>
                    <m:r>
                      <a:rPr lang="en-US" altLang="zh-CN" sz="2400" b="0" i="1" dirty="0" smtClean="0">
                        <a:solidFill>
                          <a:schemeClr val="tx1"/>
                        </a:solidFill>
                        <a:latin typeface="Cambria Math" panose="02040503050406030204" pitchFamily="18" charset="0"/>
                      </a:rPr>
                      <m:t>)</m:t>
                    </m:r>
                  </m:oMath>
                </a14:m>
                <a:r>
                  <a:rPr lang="en-US" altLang="zh-CN" sz="2400" dirty="0">
                    <a:solidFill>
                      <a:schemeClr val="tx1"/>
                    </a:solidFill>
                  </a:rPr>
                  <a:t>, 					</a:t>
                </a:r>
                <a14:m>
                  <m:oMath xmlns:m="http://schemas.openxmlformats.org/officeDocument/2006/math">
                    <m:r>
                      <a:rPr lang="en-US" altLang="zh-CN" sz="2400" i="1" dirty="0">
                        <a:solidFill>
                          <a:schemeClr val="tx1"/>
                        </a:solidFill>
                        <a:latin typeface="Cambria Math" panose="02040503050406030204" pitchFamily="18" charset="0"/>
                      </a:rPr>
                      <m:t>𝑘</m:t>
                    </m:r>
                    <m:r>
                      <a:rPr lang="en-US" altLang="zh-CN" sz="2400" b="0" i="1" dirty="0" smtClean="0">
                        <a:solidFill>
                          <a:schemeClr val="tx1"/>
                        </a:solidFill>
                        <a:latin typeface="Cambria Math" panose="02040503050406030204" pitchFamily="18" charset="0"/>
                      </a:rPr>
                      <m:t>′</m:t>
                    </m:r>
                    <m:r>
                      <a:rPr lang="en-US" altLang="zh-CN" sz="2400"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(1</m:t>
                    </m:r>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m:t>
                    </m:r>
                  </m:oMath>
                </a14:m>
                <a:r>
                  <a:rPr lang="en-US" altLang="zh-CN" sz="2400" dirty="0">
                    <a:solidFill>
                      <a:schemeClr val="tx1"/>
                    </a:solidFill>
                  </a:rPr>
                  <a:t>, </a:t>
                </a:r>
                <a14:m>
                  <m:oMath xmlns:m="http://schemas.openxmlformats.org/officeDocument/2006/math">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smtClean="0">
                        <a:solidFill>
                          <a:schemeClr val="tx1"/>
                        </a:solidFill>
                        <a:latin typeface="Cambria Math" panose="02040503050406030204" pitchFamily="18" charset="0"/>
                        <a:ea typeface="Cambria Math" panose="02040503050406030204" pitchFamily="18" charset="0"/>
                      </a:rPr>
                      <m:t>≪</m:t>
                    </m:r>
                    <m:r>
                      <a:rPr lang="en-US" altLang="zh-CN" sz="2400" b="0" i="1" dirty="0" smtClean="0">
                        <a:solidFill>
                          <a:schemeClr val="tx1"/>
                        </a:solidFill>
                        <a:latin typeface="Cambria Math" panose="02040503050406030204" pitchFamily="18" charset="0"/>
                        <a:ea typeface="Cambria Math" panose="02040503050406030204" pitchFamily="18" charset="0"/>
                      </a:rPr>
                      <m:t>1</m:t>
                    </m:r>
                  </m:oMath>
                </a14:m>
                <a:r>
                  <a:rPr lang="zh-CN" altLang="en-US" sz="2400" dirty="0">
                    <a:solidFill>
                      <a:schemeClr val="tx1"/>
                    </a:solidFill>
                  </a:rPr>
                  <a:t>为小量。</a:t>
                </a:r>
                <a:endParaRPr lang="en-US" altLang="zh-CN" sz="2400" dirty="0">
                  <a:solidFill>
                    <a:schemeClr val="tx1"/>
                  </a:solidFill>
                </a:endParaRPr>
              </a:p>
              <a:p>
                <a:r>
                  <a:rPr lang="zh-CN" altLang="en-US" sz="2400" dirty="0">
                    <a:solidFill>
                      <a:schemeClr val="tx1"/>
                    </a:solidFill>
                  </a:rPr>
                  <a:t>代入薛定谔方程，得： </a:t>
                </a:r>
                <a:endParaRPr lang="en-US" altLang="zh-CN" sz="2400" dirty="0">
                  <a:solidFill>
                    <a:schemeClr val="tx1"/>
                  </a:solidFill>
                </a:endParaRPr>
              </a:p>
              <a:p>
                <a:pPr/>
                <a14:m>
                  <m:oMathPara xmlns:m="http://schemas.openxmlformats.org/officeDocument/2006/math">
                    <m:oMathParaPr>
                      <m:jc m:val="centerGroup"/>
                    </m:oMathParaPr>
                    <m:oMath xmlns:m="http://schemas.openxmlformats.org/officeDocument/2006/math">
                      <m:d>
                        <m:dPr>
                          <m:begChr m:val="（"/>
                          <m:endChr m:val="）"/>
                          <m:ctrlPr>
                            <a:rPr lang="zh-CN" altLang="en-US" sz="2400" i="1" dirty="0">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𝐻</m:t>
                              </m:r>
                            </m:e>
                            <m:sup>
                              <m:r>
                                <a:rPr lang="en-US" altLang="zh-CN" sz="2400" i="1">
                                  <a:solidFill>
                                    <a:schemeClr val="tx1"/>
                                  </a:solidFill>
                                  <a:latin typeface="Cambria Math" panose="02040503050406030204" pitchFamily="18" charset="0"/>
                                </a:rPr>
                                <m:t>0</m:t>
                              </m:r>
                            </m:sup>
                          </m:sSup>
                          <m:r>
                            <a:rPr lang="en-US" altLang="zh-CN" sz="2400" i="1" smtClean="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𝐻</m:t>
                              </m:r>
                            </m:e>
                            <m:sup>
                              <m:r>
                                <a:rPr lang="en-US" altLang="zh-CN" sz="2400" i="1" dirty="0">
                                  <a:solidFill>
                                    <a:schemeClr val="tx1"/>
                                  </a:solidFill>
                                  <a:latin typeface="Cambria Math" panose="02040503050406030204" pitchFamily="18" charset="0"/>
                                </a:rPr>
                                <m:t>′</m:t>
                              </m:r>
                            </m:sup>
                          </m:sSup>
                        </m:e>
                      </m:d>
                      <m:d>
                        <m:dPr>
                          <m:ctrlPr>
                            <a:rPr lang="en-US" altLang="zh-CN" sz="2400" b="0" i="1" dirty="0" smtClean="0">
                              <a:solidFill>
                                <a:schemeClr val="tx1"/>
                              </a:solidFill>
                              <a:latin typeface="Cambria Math" panose="02040503050406030204" pitchFamily="18" charset="0"/>
                            </a:rPr>
                          </m:ctrlPr>
                        </m:dPr>
                        <m:e>
                          <m:sSubSup>
                            <m:sSubSupPr>
                              <m:ctrlPr>
                                <a:rPr lang="en-US" altLang="zh-CN" sz="2400" i="1">
                                  <a:solidFill>
                                    <a:schemeClr val="tx1"/>
                                  </a:solidFill>
                                  <a:latin typeface="Cambria Math" panose="02040503050406030204" pitchFamily="18" charset="0"/>
                                </a:rPr>
                              </m:ctrlPr>
                            </m:sSubSupPr>
                            <m:e>
                              <m:r>
                                <m:rPr>
                                  <m:nor/>
                                </m:rPr>
                                <a:rPr lang="en-US" altLang="zh-CN" sz="2400">
                                  <a:solidFill>
                                    <a:schemeClr val="tx1"/>
                                  </a:solidFill>
                                  <a:latin typeface="Cambria Math" panose="02040503050406030204" pitchFamily="18" charset="0"/>
                                </a:rPr>
                                <m:t>A</m:t>
                              </m:r>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𝐵</m:t>
                          </m:r>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sup>
                          </m:sSubSup>
                        </m:e>
                      </m:d>
                      <m:r>
                        <a:rPr lang="en-US" altLang="zh-CN" sz="2400" b="0" i="0"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𝐸</m:t>
                      </m:r>
                      <m:r>
                        <a:rPr lang="en-US" altLang="zh-CN" sz="2400" i="1" dirty="0">
                          <a:solidFill>
                            <a:schemeClr val="tx1"/>
                          </a:solidFill>
                          <a:latin typeface="Cambria Math" panose="02040503050406030204" pitchFamily="18" charset="0"/>
                        </a:rPr>
                        <m:t>(</m:t>
                      </m:r>
                      <m:sSubSup>
                        <m:sSubSupPr>
                          <m:ctrlPr>
                            <a:rPr lang="en-US" altLang="zh-CN" sz="2400" i="1">
                              <a:solidFill>
                                <a:schemeClr val="tx1"/>
                              </a:solidFill>
                              <a:latin typeface="Cambria Math" panose="02040503050406030204" pitchFamily="18" charset="0"/>
                            </a:rPr>
                          </m:ctrlPr>
                        </m:sSubSupPr>
                        <m:e>
                          <m:r>
                            <m:rPr>
                              <m:nor/>
                            </m:rPr>
                            <a:rPr lang="en-US" altLang="zh-CN" sz="2400">
                              <a:solidFill>
                                <a:schemeClr val="tx1"/>
                              </a:solidFill>
                              <a:latin typeface="Cambria Math" panose="02040503050406030204" pitchFamily="18" charset="0"/>
                            </a:rPr>
                            <m:t>A</m:t>
                          </m:r>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𝐵</m:t>
                      </m:r>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sup>
                      </m:sSubSup>
                      <m:r>
                        <a:rPr lang="en-US" altLang="zh-CN" sz="2400">
                          <a:solidFill>
                            <a:schemeClr val="tx1"/>
                          </a:solidFill>
                          <a:latin typeface="Cambria Math" panose="02040503050406030204" pitchFamily="18" charset="0"/>
                        </a:rPr>
                        <m:t>)</m:t>
                      </m:r>
                    </m:oMath>
                  </m:oMathPara>
                </a14:m>
                <a:endParaRPr lang="en-US" altLang="zh-CN" sz="2400" dirty="0">
                  <a:solidFill>
                    <a:schemeClr val="tx1"/>
                  </a:solidFill>
                </a:endParaRPr>
              </a:p>
              <a:p>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52921" y="1639798"/>
                <a:ext cx="7471412" cy="4605107"/>
              </a:xfrm>
              <a:prstGeom prst="rect">
                <a:avLst/>
              </a:prstGeom>
              <a:blipFill rotWithShape="1">
                <a:blip r:embed="rId3"/>
                <a:stretch>
                  <a:fillRect l="-1631" t="-1325"/>
                </a:stretch>
              </a:blipFill>
            </p:spPr>
            <p:txBody>
              <a:bodyPr/>
              <a:lstStyle/>
              <a:p>
                <a:r>
                  <a:rPr lang="zh-CN" altLang="en-US">
                    <a:noFill/>
                  </a:rPr>
                  <a:t> </a:t>
                </a:r>
              </a:p>
            </p:txBody>
          </p:sp>
        </mc:Fallback>
      </mc:AlternateContent>
      <p:grpSp>
        <p:nvGrpSpPr>
          <p:cNvPr id="28" name="组合 27"/>
          <p:cNvGrpSpPr/>
          <p:nvPr/>
        </p:nvGrpSpPr>
        <p:grpSpPr>
          <a:xfrm>
            <a:off x="7707116" y="1845251"/>
            <a:ext cx="4242082" cy="3096089"/>
            <a:chOff x="7766385" y="405861"/>
            <a:chExt cx="4242082" cy="3096089"/>
          </a:xfrm>
        </p:grpSpPr>
        <p:sp>
          <p:nvSpPr>
            <p:cNvPr id="29" name="椭圆 28"/>
            <p:cNvSpPr/>
            <p:nvPr/>
          </p:nvSpPr>
          <p:spPr>
            <a:xfrm>
              <a:off x="7766385" y="2756714"/>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p:cNvSpPr/>
            <p:nvPr/>
          </p:nvSpPr>
          <p:spPr>
            <a:xfrm>
              <a:off x="8845709" y="2758802"/>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椭圆 33"/>
            <p:cNvSpPr/>
            <p:nvPr/>
          </p:nvSpPr>
          <p:spPr>
            <a:xfrm>
              <a:off x="10013063" y="2771466"/>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椭圆 34"/>
            <p:cNvSpPr/>
            <p:nvPr/>
          </p:nvSpPr>
          <p:spPr>
            <a:xfrm>
              <a:off x="11092387" y="2773554"/>
              <a:ext cx="180000" cy="1808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6" name="直接箭头连接符 35"/>
            <p:cNvCxnSpPr/>
            <p:nvPr/>
          </p:nvCxnSpPr>
          <p:spPr>
            <a:xfrm>
              <a:off x="7856385" y="2843959"/>
              <a:ext cx="3852000" cy="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1708385" y="2771466"/>
              <a:ext cx="300082" cy="369332"/>
            </a:xfrm>
            <a:prstGeom prst="rect">
              <a:avLst/>
            </a:prstGeom>
          </p:spPr>
          <p:txBody>
            <a:bodyPr wrap="none">
              <a:spAutoFit/>
            </a:bodyPr>
            <a:lstStyle/>
            <a:p>
              <a:r>
                <a:rPr lang="en-US" altLang="zh-CN" i="1" dirty="0">
                  <a:latin typeface="Cambria" panose="02040503050406030204" pitchFamily="18" charset="0"/>
                  <a:ea typeface="Cambria" panose="02040503050406030204" pitchFamily="18" charset="0"/>
                </a:rPr>
                <a:t>k</a:t>
              </a:r>
              <a:endParaRPr lang="zh-CN" altLang="en-US" i="1" dirty="0">
                <a:latin typeface="Cambria" panose="02040503050406030204" pitchFamily="18" charset="0"/>
              </a:endParaRPr>
            </a:p>
          </p:txBody>
        </p:sp>
        <p:sp>
          <p:nvSpPr>
            <p:cNvPr id="38" name="任意多边形 37"/>
            <p:cNvSpPr/>
            <p:nvPr/>
          </p:nvSpPr>
          <p:spPr>
            <a:xfrm>
              <a:off x="8732668" y="883154"/>
              <a:ext cx="1627390" cy="1960805"/>
            </a:xfrm>
            <a:custGeom>
              <a:avLst/>
              <a:gdLst>
                <a:gd name="connsiteX0" fmla="*/ 0 w 1168924"/>
                <a:gd name="connsiteY0" fmla="*/ 0 h 1960805"/>
                <a:gd name="connsiteX1" fmla="*/ 537328 w 1168924"/>
                <a:gd name="connsiteY1" fmla="*/ 1960775 h 1960805"/>
                <a:gd name="connsiteX2" fmla="*/ 1168924 w 1168924"/>
                <a:gd name="connsiteY2" fmla="*/ 37707 h 1960805"/>
              </a:gdLst>
              <a:ahLst/>
              <a:cxnLst>
                <a:cxn ang="0">
                  <a:pos x="connsiteX0" y="connsiteY0"/>
                </a:cxn>
                <a:cxn ang="0">
                  <a:pos x="connsiteX1" y="connsiteY1"/>
                </a:cxn>
                <a:cxn ang="0">
                  <a:pos x="connsiteX2" y="connsiteY2"/>
                </a:cxn>
              </a:cxnLst>
              <a:rect l="l" t="t" r="r" b="b"/>
              <a:pathLst>
                <a:path w="1168924" h="1960805">
                  <a:moveTo>
                    <a:pt x="0" y="0"/>
                  </a:moveTo>
                  <a:cubicBezTo>
                    <a:pt x="171253" y="977245"/>
                    <a:pt x="342507" y="1954490"/>
                    <a:pt x="537328" y="1960775"/>
                  </a:cubicBezTo>
                  <a:cubicBezTo>
                    <a:pt x="732149" y="1967060"/>
                    <a:pt x="950536" y="1002383"/>
                    <a:pt x="1168924" y="37707"/>
                  </a:cubicBezTo>
                </a:path>
              </a:pathLst>
            </a:cu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39" name="矩形 38"/>
                <p:cNvSpPr/>
                <p:nvPr/>
              </p:nvSpPr>
              <p:spPr>
                <a:xfrm>
                  <a:off x="10211552" y="405861"/>
                  <a:ext cx="1233928" cy="6481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m:t>
                        </m:r>
                        <m:r>
                          <a:rPr lang="en-US" altLang="zh-CN" i="1">
                            <a:solidFill>
                              <a:schemeClr val="tx1"/>
                            </a:solidFill>
                            <a:latin typeface="Cambria Math" panose="02040503050406030204" pitchFamily="18" charset="0"/>
                          </a:rPr>
                          <m:t>=</m:t>
                        </m:r>
                        <m:f>
                          <m:fPr>
                            <m:ctrlPr>
                              <a:rPr lang="en-US" altLang="zh-CN" i="1" dirty="0">
                                <a:solidFill>
                                  <a:schemeClr val="tx1"/>
                                </a:solidFill>
                                <a:latin typeface="Cambria Math" panose="02040503050406030204" pitchFamily="18" charset="0"/>
                              </a:rPr>
                            </m:ctrlPr>
                          </m:fPr>
                          <m:num>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ħ</m:t>
                                </m:r>
                              </m:e>
                              <m:sup>
                                <m:r>
                                  <a:rPr lang="en-US" altLang="zh-CN" i="1" dirty="0">
                                    <a:solidFill>
                                      <a:schemeClr val="tx1"/>
                                    </a:solidFill>
                                    <a:latin typeface="Cambria Math" panose="02040503050406030204" pitchFamily="18" charset="0"/>
                                  </a:rPr>
                                  <m:t>2</m:t>
                                </m:r>
                              </m:sup>
                            </m:sSup>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𝑘</m:t>
                                </m:r>
                              </m:e>
                              <m:sup>
                                <m:r>
                                  <a:rPr lang="en-US" altLang="zh-CN" i="1" dirty="0">
                                    <a:solidFill>
                                      <a:schemeClr val="tx1"/>
                                    </a:solidFill>
                                    <a:latin typeface="Cambria Math" panose="02040503050406030204" pitchFamily="18" charset="0"/>
                                  </a:rPr>
                                  <m:t>2</m:t>
                                </m:r>
                              </m:sup>
                            </m:sSup>
                          </m:num>
                          <m:den>
                            <m:r>
                              <a:rPr lang="en-US" altLang="zh-CN" i="1" dirty="0">
                                <a:solidFill>
                                  <a:schemeClr val="tx1"/>
                                </a:solidFill>
                                <a:latin typeface="Cambria Math" panose="02040503050406030204" pitchFamily="18" charset="0"/>
                              </a:rPr>
                              <m:t>2</m:t>
                            </m:r>
                            <m:r>
                              <a:rPr lang="en-US" altLang="zh-CN" i="1" dirty="0">
                                <a:solidFill>
                                  <a:schemeClr val="tx1"/>
                                </a:solidFill>
                                <a:latin typeface="Cambria Math" panose="02040503050406030204" pitchFamily="18" charset="0"/>
                              </a:rPr>
                              <m:t>𝑚</m:t>
                            </m:r>
                          </m:den>
                        </m:f>
                      </m:oMath>
                    </m:oMathPara>
                  </a14:m>
                  <a:endParaRPr lang="zh-CN" altLang="en-US" dirty="0">
                    <a:solidFill>
                      <a:schemeClr val="tx1"/>
                    </a:solidFill>
                  </a:endParaRPr>
                </a:p>
              </p:txBody>
            </p:sp>
          </mc:Choice>
          <mc:Fallback xmlns="">
            <p:sp>
              <p:nvSpPr>
                <p:cNvPr id="39" name="矩形 38"/>
                <p:cNvSpPr>
                  <a:spLocks noRot="1" noChangeAspect="1" noMove="1" noResize="1" noEditPoints="1" noAdjustHandles="1" noChangeArrowheads="1" noChangeShapeType="1" noTextEdit="1"/>
                </p:cNvSpPr>
                <p:nvPr/>
              </p:nvSpPr>
              <p:spPr>
                <a:xfrm>
                  <a:off x="10211552" y="405861"/>
                  <a:ext cx="1233928" cy="648126"/>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p:cNvSpPr/>
                <p:nvPr/>
              </p:nvSpPr>
              <p:spPr>
                <a:xfrm>
                  <a:off x="8732090" y="3040733"/>
                  <a:ext cx="465577" cy="461217"/>
                </a:xfrm>
                <a:prstGeom prst="rect">
                  <a:avLst/>
                </a:prstGeom>
              </p:spPr>
              <p:txBody>
                <a:bodyPr wrap="none">
                  <a:spAutoFit/>
                </a:bodyPr>
                <a:lstStyle/>
                <a:p>
                  <a:r>
                    <a:rPr lang="en-US" altLang="zh-CN" dirty="0">
                      <a:solidFill>
                        <a:schemeClr val="tx1"/>
                      </a:solidFill>
                    </a:rPr>
                    <a:t>-</a:t>
                  </a:r>
                  <a14:m>
                    <m:oMath xmlns:m="http://schemas.openxmlformats.org/officeDocument/2006/math">
                      <m:r>
                        <a:rPr lang="en-US" altLang="zh-CN" b="0" i="0" dirty="0" smtClean="0">
                          <a:solidFill>
                            <a:schemeClr val="tx1"/>
                          </a:solidFill>
                          <a:latin typeface="Cambria Math"/>
                        </a:rPr>
                        <m:t> </m:t>
                      </m:r>
                      <m:f>
                        <m:fPr>
                          <m:ctrlPr>
                            <a:rPr lang="en-US" altLang="zh-CN" i="1" dirty="0">
                              <a:solidFill>
                                <a:schemeClr val="tx1"/>
                              </a:solidFill>
                              <a:latin typeface="Cambria Math" panose="02040503050406030204" pitchFamily="18" charset="0"/>
                            </a:rPr>
                          </m:ctrlPr>
                        </m:fPr>
                        <m:num>
                          <m:r>
                            <a:rPr lang="zh-CN" altLang="en-US" i="1" dirty="0">
                              <a:solidFill>
                                <a:schemeClr val="tx1"/>
                              </a:solidFill>
                              <a:latin typeface="Cambria Math" panose="02040503050406030204" pitchFamily="18" charset="0"/>
                            </a:rPr>
                            <m:t>𝜋</m:t>
                          </m:r>
                        </m:num>
                        <m:den>
                          <m:r>
                            <a:rPr lang="en-US" altLang="zh-CN" i="1" dirty="0">
                              <a:solidFill>
                                <a:schemeClr val="tx1"/>
                              </a:solidFill>
                              <a:latin typeface="Cambria Math" panose="02040503050406030204" pitchFamily="18" charset="0"/>
                            </a:rPr>
                            <m:t>𝑎</m:t>
                          </m:r>
                        </m:den>
                      </m:f>
                    </m:oMath>
                  </a14:m>
                  <a:endParaRPr lang="zh-CN" altLang="en-US" dirty="0">
                    <a:solidFill>
                      <a:schemeClr val="tx1"/>
                    </a:solidFill>
                  </a:endParaRPr>
                </a:p>
              </p:txBody>
            </p:sp>
          </mc:Choice>
          <mc:Fallback xmlns="">
            <p:sp>
              <p:nvSpPr>
                <p:cNvPr id="41" name="矩形 40"/>
                <p:cNvSpPr>
                  <a:spLocks noRot="1" noChangeAspect="1" noMove="1" noResize="1" noEditPoints="1" noAdjustHandles="1" noChangeArrowheads="1" noChangeShapeType="1" noTextEdit="1"/>
                </p:cNvSpPr>
                <p:nvPr/>
              </p:nvSpPr>
              <p:spPr>
                <a:xfrm>
                  <a:off x="8732090" y="3040733"/>
                  <a:ext cx="465577" cy="461217"/>
                </a:xfrm>
                <a:prstGeom prst="rect">
                  <a:avLst/>
                </a:prstGeom>
                <a:blipFill rotWithShape="1">
                  <a:blip r:embed="rId6"/>
                  <a:stretch>
                    <a:fillRect l="-11842" t="-3947" b="-2632"/>
                  </a:stretch>
                </a:blipFill>
              </p:spPr>
              <p:txBody>
                <a:bodyPr/>
                <a:lstStyle/>
                <a:p>
                  <a:r>
                    <a:rPr lang="zh-CN" altLang="en-US">
                      <a:noFill/>
                    </a:rPr>
                    <a:t> </a:t>
                  </a:r>
                </a:p>
              </p:txBody>
            </p:sp>
          </mc:Fallback>
        </mc:AlternateContent>
      </p:grpSp>
      <p:cxnSp>
        <p:nvCxnSpPr>
          <p:cNvPr id="42" name="直接连接符 41"/>
          <p:cNvCxnSpPr>
            <a:stCxn id="31" idx="0"/>
          </p:cNvCxnSpPr>
          <p:nvPr/>
        </p:nvCxnSpPr>
        <p:spPr>
          <a:xfrm flipV="1">
            <a:off x="8876440" y="2935249"/>
            <a:ext cx="0" cy="126294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10037508" y="2955671"/>
            <a:ext cx="0" cy="126294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rot="5400000" flipV="1">
            <a:off x="9528890" y="2502461"/>
            <a:ext cx="0" cy="126294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9307840" y="4488584"/>
            <a:ext cx="300082" cy="369332"/>
          </a:xfrm>
          <a:prstGeom prst="rect">
            <a:avLst/>
          </a:prstGeom>
        </p:spPr>
        <p:txBody>
          <a:bodyPr wrap="none">
            <a:spAutoFit/>
          </a:bodyPr>
          <a:lstStyle/>
          <a:p>
            <a:r>
              <a:rPr lang="en-US" altLang="zh-CN" dirty="0"/>
              <a:t>0</a:t>
            </a:r>
            <a:endParaRPr lang="zh-CN" altLang="en-US" dirty="0">
              <a:solidFill>
                <a:schemeClr val="tx1"/>
              </a:solidFill>
            </a:endParaRPr>
          </a:p>
        </p:txBody>
      </p:sp>
      <p:cxnSp>
        <p:nvCxnSpPr>
          <p:cNvPr id="3" name="直接箭头连接符 2"/>
          <p:cNvCxnSpPr/>
          <p:nvPr/>
        </p:nvCxnSpPr>
        <p:spPr>
          <a:xfrm flipH="1">
            <a:off x="8851040" y="2717800"/>
            <a:ext cx="431400" cy="2505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9980134" y="3112446"/>
            <a:ext cx="431400" cy="2505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p:cNvSpPr/>
              <p:nvPr/>
            </p:nvSpPr>
            <p:spPr>
              <a:xfrm>
                <a:off x="9095438" y="2308711"/>
                <a:ext cx="43345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a:rPr>
                        <m:t>𝑘</m:t>
                      </m:r>
                    </m:oMath>
                  </m:oMathPara>
                </a14:m>
                <a:endParaRPr lang="zh-CN" altLang="en-US" dirty="0">
                  <a:solidFill>
                    <a:schemeClr val="tx1"/>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9095438" y="2308711"/>
                <a:ext cx="433452" cy="369332"/>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10289238" y="2765911"/>
                <a:ext cx="4860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a:rPr>
                        <m:t>𝑘</m:t>
                      </m:r>
                      <m:r>
                        <a:rPr lang="en-US" altLang="zh-CN" b="0" i="0" smtClean="0">
                          <a:solidFill>
                            <a:schemeClr val="tx1"/>
                          </a:solidFill>
                          <a:latin typeface="Cambria Math"/>
                        </a:rPr>
                        <m:t>′</m:t>
                      </m:r>
                    </m:oMath>
                  </m:oMathPara>
                </a14:m>
                <a:endParaRPr lang="zh-CN" altLang="en-US" dirty="0">
                  <a:solidFill>
                    <a:schemeClr val="tx1"/>
                  </a:solidFill>
                </a:endParaRPr>
              </a:p>
            </p:txBody>
          </p:sp>
        </mc:Choice>
        <mc:Fallback xmlns="">
          <p:sp>
            <p:nvSpPr>
              <p:cNvPr id="24" name="矩形 23"/>
              <p:cNvSpPr>
                <a:spLocks noRot="1" noChangeAspect="1" noMove="1" noResize="1" noEditPoints="1" noAdjustHandles="1" noChangeArrowheads="1" noChangeShapeType="1" noTextEdit="1"/>
              </p:cNvSpPr>
              <p:nvPr/>
            </p:nvSpPr>
            <p:spPr>
              <a:xfrm>
                <a:off x="10289238" y="2765911"/>
                <a:ext cx="486030" cy="369332"/>
              </a:xfrm>
              <a:prstGeom prst="rect">
                <a:avLst/>
              </a:prstGeom>
              <a:blipFill rotWithShape="1">
                <a:blip r:embed="rId8"/>
                <a:stretch>
                  <a:fillRect/>
                </a:stretch>
              </a:blipFill>
            </p:spPr>
            <p:txBody>
              <a:bodyPr/>
              <a:lstStyle/>
              <a:p>
                <a:r>
                  <a:rPr lang="zh-CN" altLang="en-US">
                    <a:noFill/>
                  </a:rPr>
                  <a:t> </a:t>
                </a:r>
              </a:p>
            </p:txBody>
          </p:sp>
        </mc:Fallback>
      </mc:AlternateContent>
      <p:sp>
        <p:nvSpPr>
          <p:cNvPr id="4" name="任意多边形 3"/>
          <p:cNvSpPr/>
          <p:nvPr/>
        </p:nvSpPr>
        <p:spPr>
          <a:xfrm>
            <a:off x="9766300" y="2308711"/>
            <a:ext cx="241300" cy="815489"/>
          </a:xfrm>
          <a:custGeom>
            <a:avLst/>
            <a:gdLst>
              <a:gd name="connsiteX0" fmla="*/ 0 w 241300"/>
              <a:gd name="connsiteY0" fmla="*/ 0 h 800100"/>
              <a:gd name="connsiteX1" fmla="*/ 241300 w 241300"/>
              <a:gd name="connsiteY1" fmla="*/ 800100 h 800100"/>
              <a:gd name="connsiteX2" fmla="*/ 241300 w 241300"/>
              <a:gd name="connsiteY2" fmla="*/ 800100 h 800100"/>
            </a:gdLst>
            <a:ahLst/>
            <a:cxnLst>
              <a:cxn ang="0">
                <a:pos x="connsiteX0" y="connsiteY0"/>
              </a:cxn>
              <a:cxn ang="0">
                <a:pos x="connsiteX1" y="connsiteY1"/>
              </a:cxn>
              <a:cxn ang="0">
                <a:pos x="connsiteX2" y="connsiteY2"/>
              </a:cxn>
            </a:cxnLst>
            <a:rect l="l" t="t" r="r" b="b"/>
            <a:pathLst>
              <a:path w="241300" h="800100">
                <a:moveTo>
                  <a:pt x="0" y="0"/>
                </a:moveTo>
                <a:lnTo>
                  <a:pt x="241300" y="800100"/>
                </a:lnTo>
                <a:lnTo>
                  <a:pt x="241300" y="800100"/>
                </a:lnTo>
              </a:path>
            </a:pathLst>
          </a:custGeom>
          <a:noFill/>
          <a:ln w="317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p:cNvCxnSpPr/>
          <p:nvPr/>
        </p:nvCxnSpPr>
        <p:spPr>
          <a:xfrm>
            <a:off x="9528890" y="2705100"/>
            <a:ext cx="401650" cy="2759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矩形 29"/>
              <p:cNvSpPr/>
              <p:nvPr/>
            </p:nvSpPr>
            <p:spPr>
              <a:xfrm>
                <a:off x="9777721" y="4492823"/>
                <a:ext cx="465577" cy="461217"/>
              </a:xfrm>
              <a:prstGeom prst="rect">
                <a:avLst/>
              </a:prstGeom>
            </p:spPr>
            <p:txBody>
              <a:bodyPr wrap="none">
                <a:spAutoFit/>
              </a:bodyPr>
              <a:lstStyle/>
              <a:p>
                <a:r>
                  <a:rPr lang="en-US" altLang="zh-CN" dirty="0"/>
                  <a:t> </a:t>
                </a:r>
                <a14:m>
                  <m:oMath xmlns:m="http://schemas.openxmlformats.org/officeDocument/2006/math">
                    <m:r>
                      <a:rPr lang="en-US" altLang="zh-CN" b="0" i="0" dirty="0" smtClean="0">
                        <a:solidFill>
                          <a:schemeClr val="tx1"/>
                        </a:solidFill>
                        <a:latin typeface="Cambria Math"/>
                      </a:rPr>
                      <m:t> </m:t>
                    </m:r>
                    <m:f>
                      <m:fPr>
                        <m:ctrlPr>
                          <a:rPr lang="en-US" altLang="zh-CN" i="1" dirty="0">
                            <a:solidFill>
                              <a:schemeClr val="tx1"/>
                            </a:solidFill>
                            <a:latin typeface="Cambria Math" panose="02040503050406030204" pitchFamily="18" charset="0"/>
                          </a:rPr>
                        </m:ctrlPr>
                      </m:fPr>
                      <m:num>
                        <m:r>
                          <a:rPr lang="zh-CN" altLang="en-US" i="1" dirty="0">
                            <a:solidFill>
                              <a:schemeClr val="tx1"/>
                            </a:solidFill>
                            <a:latin typeface="Cambria Math" panose="02040503050406030204" pitchFamily="18" charset="0"/>
                          </a:rPr>
                          <m:t>𝜋</m:t>
                        </m:r>
                      </m:num>
                      <m:den>
                        <m:r>
                          <a:rPr lang="en-US" altLang="zh-CN" i="1" dirty="0">
                            <a:solidFill>
                              <a:schemeClr val="tx1"/>
                            </a:solidFill>
                            <a:latin typeface="Cambria Math" panose="02040503050406030204" pitchFamily="18" charset="0"/>
                          </a:rPr>
                          <m:t>𝑎</m:t>
                        </m:r>
                      </m:den>
                    </m:f>
                  </m:oMath>
                </a14:m>
                <a:endParaRPr lang="zh-CN" altLang="en-US" dirty="0">
                  <a:solidFill>
                    <a:schemeClr val="tx1"/>
                  </a:solidFill>
                </a:endParaRPr>
              </a:p>
            </p:txBody>
          </p:sp>
        </mc:Choice>
        <mc:Fallback xmlns="">
          <p:sp>
            <p:nvSpPr>
              <p:cNvPr id="30" name="矩形 29"/>
              <p:cNvSpPr>
                <a:spLocks noRot="1" noChangeAspect="1" noMove="1" noResize="1" noEditPoints="1" noAdjustHandles="1" noChangeArrowheads="1" noChangeShapeType="1" noTextEdit="1"/>
              </p:cNvSpPr>
              <p:nvPr/>
            </p:nvSpPr>
            <p:spPr>
              <a:xfrm>
                <a:off x="9777721" y="4492823"/>
                <a:ext cx="465577" cy="461217"/>
              </a:xfrm>
              <a:prstGeom prst="rect">
                <a:avLst/>
              </a:prstGeom>
              <a:blipFill rotWithShape="1">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71162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580345" y="2442869"/>
            <a:ext cx="3588450" cy="2974400"/>
          </a:xfrm>
          <a:prstGeom prst="rect">
            <a:avLst/>
          </a:prstGeom>
        </p:spPr>
      </p:pic>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580614"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580614" cy="584775"/>
              </a:xfrm>
              <a:prstGeom prst="rect">
                <a:avLst/>
              </a:prstGeom>
              <a:blipFill rotWithShape="1">
                <a:blip r:embed="rId3"/>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52920" y="1495859"/>
                <a:ext cx="8013279" cy="5378460"/>
              </a:xfrm>
              <a:prstGeom prst="rect">
                <a:avLst/>
              </a:prstGeom>
              <a:noFill/>
            </p:spPr>
            <p:txBody>
              <a:bodyPr wrap="square" rtlCol="0">
                <a:spAutoFit/>
              </a:bodyPr>
              <a:lstStyle/>
              <a:p>
                <a:r>
                  <a:rPr lang="en-US" altLang="zh-CN" sz="2800" b="1" dirty="0">
                    <a:solidFill>
                      <a:schemeClr val="tx1"/>
                    </a:solidFill>
                  </a:rPr>
                  <a:t>7.2.2 </a:t>
                </a:r>
                <a:r>
                  <a:rPr lang="zh-CN" altLang="en-US" sz="2800" b="1" dirty="0">
                    <a:solidFill>
                      <a:schemeClr val="tx1"/>
                    </a:solidFill>
                  </a:rPr>
                  <a:t>能隙的由来</a:t>
                </a:r>
                <a:endParaRPr lang="en-US" altLang="zh-CN" sz="2800" b="1" dirty="0">
                  <a:solidFill>
                    <a:schemeClr val="tx1"/>
                  </a:solidFill>
                </a:endParaRPr>
              </a:p>
              <a:p>
                <a:endParaRPr lang="en-US" altLang="zh-CN" sz="1600" b="1" dirty="0">
                  <a:solidFill>
                    <a:schemeClr val="tx1"/>
                  </a:solidFill>
                </a:endParaRPr>
              </a:p>
              <a:p>
                <a:pPr/>
                <a14:m>
                  <m:oMathPara xmlns:m="http://schemas.openxmlformats.org/officeDocument/2006/math">
                    <m:oMathParaPr>
                      <m:jc m:val="centerGroup"/>
                    </m:oMathParaPr>
                    <m:oMath xmlns:m="http://schemas.openxmlformats.org/officeDocument/2006/math">
                      <m:d>
                        <m:dPr>
                          <m:begChr m:val="（"/>
                          <m:endChr m:val="）"/>
                          <m:ctrlPr>
                            <a:rPr lang="zh-CN" altLang="en-US" sz="2400" i="1" dirty="0">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𝐻</m:t>
                              </m:r>
                            </m:e>
                            <m:sup>
                              <m:r>
                                <a:rPr lang="en-US" altLang="zh-CN" sz="2400" i="1">
                                  <a:solidFill>
                                    <a:schemeClr val="tx1"/>
                                  </a:solidFill>
                                  <a:latin typeface="Cambria Math" panose="02040503050406030204" pitchFamily="18" charset="0"/>
                                </a:rPr>
                                <m:t>0</m:t>
                              </m:r>
                            </m:sup>
                          </m:sSup>
                          <m:r>
                            <a:rPr lang="en-US" altLang="zh-CN" sz="2400" i="1" smtClean="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𝐻</m:t>
                              </m:r>
                            </m:e>
                            <m:sup>
                              <m:r>
                                <a:rPr lang="en-US" altLang="zh-CN" sz="2400" i="1" dirty="0">
                                  <a:solidFill>
                                    <a:schemeClr val="tx1"/>
                                  </a:solidFill>
                                  <a:latin typeface="Cambria Math" panose="02040503050406030204" pitchFamily="18" charset="0"/>
                                </a:rPr>
                                <m:t>′</m:t>
                              </m:r>
                            </m:sup>
                          </m:sSup>
                        </m:e>
                      </m:d>
                      <m:d>
                        <m:dPr>
                          <m:ctrlPr>
                            <a:rPr lang="en-US" altLang="zh-CN" sz="2400" b="0" i="1" dirty="0" smtClean="0">
                              <a:solidFill>
                                <a:schemeClr val="tx1"/>
                              </a:solidFill>
                              <a:latin typeface="Cambria Math" panose="02040503050406030204" pitchFamily="18" charset="0"/>
                            </a:rPr>
                          </m:ctrlPr>
                        </m:dPr>
                        <m:e>
                          <m:sSubSup>
                            <m:sSubSupPr>
                              <m:ctrlPr>
                                <a:rPr lang="en-US" altLang="zh-CN" sz="2400" i="1">
                                  <a:solidFill>
                                    <a:schemeClr val="tx1"/>
                                  </a:solidFill>
                                  <a:latin typeface="Cambria Math" panose="02040503050406030204" pitchFamily="18" charset="0"/>
                                </a:rPr>
                              </m:ctrlPr>
                            </m:sSubSupPr>
                            <m:e>
                              <m:r>
                                <m:rPr>
                                  <m:nor/>
                                </m:rPr>
                                <a:rPr lang="en-US" altLang="zh-CN" sz="2400">
                                  <a:solidFill>
                                    <a:schemeClr val="tx1"/>
                                  </a:solidFill>
                                  <a:latin typeface="Cambria Math" panose="02040503050406030204" pitchFamily="18" charset="0"/>
                                </a:rPr>
                                <m:t>A</m:t>
                              </m:r>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𝐵</m:t>
                          </m:r>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sup>
                          </m:sSubSup>
                        </m:e>
                      </m:d>
                      <m:r>
                        <a:rPr lang="en-US" altLang="zh-CN" sz="2400" b="0" i="0"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𝐸</m:t>
                      </m:r>
                      <m:r>
                        <a:rPr lang="en-US" altLang="zh-CN" sz="2400" i="1" dirty="0">
                          <a:solidFill>
                            <a:schemeClr val="tx1"/>
                          </a:solidFill>
                          <a:latin typeface="Cambria Math" panose="02040503050406030204" pitchFamily="18" charset="0"/>
                        </a:rPr>
                        <m:t>(</m:t>
                      </m:r>
                      <m:sSubSup>
                        <m:sSubSupPr>
                          <m:ctrlPr>
                            <a:rPr lang="en-US" altLang="zh-CN" sz="2400" i="1">
                              <a:solidFill>
                                <a:schemeClr val="tx1"/>
                              </a:solidFill>
                              <a:latin typeface="Cambria Math" panose="02040503050406030204" pitchFamily="18" charset="0"/>
                            </a:rPr>
                          </m:ctrlPr>
                        </m:sSubSupPr>
                        <m:e>
                          <m:r>
                            <m:rPr>
                              <m:nor/>
                            </m:rPr>
                            <a:rPr lang="en-US" altLang="zh-CN" sz="2400">
                              <a:solidFill>
                                <a:schemeClr val="tx1"/>
                              </a:solidFill>
                              <a:latin typeface="Cambria Math" panose="02040503050406030204" pitchFamily="18" charset="0"/>
                            </a:rPr>
                            <m:t>A</m:t>
                          </m:r>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sup>
                      </m:sSubSup>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𝐵</m:t>
                      </m:r>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sup>
                      </m:sSubSup>
                      <m:r>
                        <a:rPr lang="en-US" altLang="zh-CN" sz="2400">
                          <a:solidFill>
                            <a:schemeClr val="tx1"/>
                          </a:solidFill>
                          <a:latin typeface="Cambria Math" panose="02040503050406030204" pitchFamily="18" charset="0"/>
                        </a:rPr>
                        <m:t>)</m:t>
                      </m:r>
                    </m:oMath>
                  </m:oMathPara>
                </a14:m>
                <a:endParaRPr lang="en-US" altLang="zh-CN" sz="2400" dirty="0">
                  <a:solidFill>
                    <a:schemeClr val="tx1"/>
                  </a:solidFill>
                </a:endParaRPr>
              </a:p>
              <a:p>
                <a:r>
                  <a:rPr lang="zh-CN" altLang="en-US" sz="2400" dirty="0">
                    <a:solidFill>
                      <a:schemeClr val="tx1"/>
                    </a:solidFill>
                  </a:rPr>
                  <a:t>分别对上式左乘</a:t>
                </a:r>
                <a14:m>
                  <m:oMath xmlns:m="http://schemas.openxmlformats.org/officeDocument/2006/math">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0</m:t>
                        </m:r>
                        <m:r>
                          <a:rPr lang="zh-CN" altLang="en-US" sz="2400" i="1">
                            <a:solidFill>
                              <a:schemeClr val="tx1"/>
                            </a:solidFill>
                            <a:latin typeface="Cambria Math" panose="02040503050406030204" pitchFamily="18" charset="0"/>
                          </a:rPr>
                          <m:t>∗</m:t>
                        </m:r>
                      </m:sup>
                    </m:sSubSup>
                  </m:oMath>
                </a14:m>
                <a:r>
                  <a:rPr lang="zh-CN" altLang="en-US" sz="2400" dirty="0">
                    <a:solidFill>
                      <a:schemeClr val="tx1"/>
                    </a:solidFill>
                  </a:rPr>
                  <a:t>和</a:t>
                </a:r>
                <a14:m>
                  <m:oMath xmlns:m="http://schemas.openxmlformats.org/officeDocument/2006/math">
                    <m:sSubSup>
                      <m:sSubSupPr>
                        <m:ctrlPr>
                          <a:rPr lang="en-US" altLang="zh-CN" sz="2400" i="1">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sSup>
                          <m:sSupPr>
                            <m:ctrlPr>
                              <a:rPr lang="en-US" altLang="zh-CN" sz="2400" b="0" i="1" smtClean="0">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sub>
                      <m:sup>
                        <m:r>
                          <a:rPr lang="en-US" altLang="zh-CN" sz="2400" i="1">
                            <a:solidFill>
                              <a:schemeClr val="tx1"/>
                            </a:solidFill>
                            <a:latin typeface="Cambria Math" panose="02040503050406030204" pitchFamily="18" charset="0"/>
                          </a:rPr>
                          <m:t>0</m:t>
                        </m:r>
                        <m:r>
                          <a:rPr lang="zh-CN" altLang="en-US" sz="2400" i="1">
                            <a:solidFill>
                              <a:schemeClr val="tx1"/>
                            </a:solidFill>
                            <a:latin typeface="Cambria Math" panose="02040503050406030204" pitchFamily="18" charset="0"/>
                          </a:rPr>
                          <m:t>∗</m:t>
                        </m:r>
                      </m:sup>
                    </m:sSubSup>
                  </m:oMath>
                </a14:m>
                <a:r>
                  <a:rPr lang="zh-CN" altLang="en-US" sz="2400" dirty="0">
                    <a:solidFill>
                      <a:schemeClr val="tx1"/>
                    </a:solidFill>
                  </a:rPr>
                  <a:t>，积分：</a:t>
                </a:r>
                <a:endParaRPr lang="en-US" altLang="zh-CN" sz="2400" dirty="0">
                  <a:solidFill>
                    <a:schemeClr val="tx1"/>
                  </a:solidFill>
                </a:endParaRPr>
              </a:p>
              <a:p>
                <a:pPr/>
                <a14:m>
                  <m:oMathPara xmlns:m="http://schemas.openxmlformats.org/officeDocument/2006/math">
                    <m:oMathParaPr>
                      <m:jc m:val="left"/>
                    </m:oMathParaPr>
                    <m:oMath xmlns:m="http://schemas.openxmlformats.org/officeDocument/2006/math">
                      <m:d>
                        <m:dPr>
                          <m:begChr m:val="{"/>
                          <m:endChr m:val=""/>
                          <m:ctrlPr>
                            <a:rPr lang="en-US" altLang="zh-CN" sz="2400" i="1" smtClean="0">
                              <a:solidFill>
                                <a:schemeClr val="tx1"/>
                              </a:solidFill>
                              <a:latin typeface="Cambria Math" panose="02040503050406030204" pitchFamily="18" charset="0"/>
                            </a:rPr>
                          </m:ctrlPr>
                        </m:dPr>
                        <m:e>
                          <m:eqArr>
                            <m:eqArrPr>
                              <m:ctrlPr>
                                <a:rPr lang="en-US" altLang="zh-CN" sz="2400" i="1" smtClean="0">
                                  <a:solidFill>
                                    <a:schemeClr val="tx1"/>
                                  </a:solidFill>
                                  <a:latin typeface="Cambria Math" panose="02040503050406030204" pitchFamily="18" charset="0"/>
                                </a:rPr>
                              </m:ctrlPr>
                            </m:eqArrPr>
                            <m:e>
                              <m:d>
                                <m:dPr>
                                  <m:begChr m:val="["/>
                                  <m:endChr m:val="]"/>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𝐸</m:t>
                                  </m:r>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e>
                              </m:d>
                              <m:r>
                                <a:rPr lang="en-US" altLang="zh-CN" sz="2400" b="0" i="1" smtClean="0">
                                  <a:solidFill>
                                    <a:schemeClr val="tx1"/>
                                  </a:solidFill>
                                  <a:latin typeface="Cambria Math" panose="02040503050406030204" pitchFamily="18" charset="0"/>
                                </a:rPr>
                                <m:t>𝐴</m:t>
                              </m:r>
                              <m:r>
                                <a:rPr lang="en-US" altLang="zh-CN" sz="2400" b="0" i="1" smtClean="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sub>
                              </m:sSub>
                              <m:r>
                                <a:rPr lang="en-US" altLang="zh-CN" sz="2400" b="0" i="1" dirty="0" smtClean="0">
                                  <a:solidFill>
                                    <a:schemeClr val="tx1"/>
                                  </a:solidFill>
                                  <a:latin typeface="Cambria Math" panose="02040503050406030204" pitchFamily="18" charset="0"/>
                                </a:rPr>
                                <m:t>𝐵</m:t>
                              </m:r>
                              <m:r>
                                <a:rPr lang="en-US" altLang="zh-CN" sz="2400" b="0" i="1" dirty="0" smtClean="0">
                                  <a:solidFill>
                                    <a:schemeClr val="tx1"/>
                                  </a:solidFill>
                                  <a:latin typeface="Cambria Math" panose="02040503050406030204" pitchFamily="18" charset="0"/>
                                </a:rPr>
                                <m:t>=0</m:t>
                              </m:r>
                            </m:e>
                            <m:e>
                              <m:r>
                                <a:rPr lang="en-US" altLang="zh-CN" sz="2400" b="0" i="1" smtClean="0">
                                  <a:solidFill>
                                    <a:schemeClr val="tx1"/>
                                  </a:solidFill>
                                  <a:latin typeface="Cambria Math" panose="02040503050406030204" pitchFamily="18" charset="0"/>
                                </a:rPr>
                                <m:t> −</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r>
                                <a:rPr lang="en-US" altLang="zh-CN" sz="2400" b="0" i="1" dirty="0" smtClean="0">
                                  <a:solidFill>
                                    <a:schemeClr val="tx1"/>
                                  </a:solidFill>
                                  <a:latin typeface="Cambria Math" panose="02040503050406030204" pitchFamily="18" charset="0"/>
                                </a:rPr>
                                <m:t>𝐴</m:t>
                              </m:r>
                              <m:r>
                                <a:rPr lang="en-US" altLang="zh-CN" sz="2400" b="0" i="1" dirty="0" smtClean="0">
                                  <a:solidFill>
                                    <a:schemeClr val="tx1"/>
                                  </a:solidFill>
                                  <a:latin typeface="Cambria Math" panose="02040503050406030204" pitchFamily="18" charset="0"/>
                                </a:rPr>
                                <m:t>+</m:t>
                              </m:r>
                              <m:d>
                                <m:dPr>
                                  <m:begChr m:val="["/>
                                  <m:endChr m:val="]"/>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𝐸</m:t>
                                  </m:r>
                                  <m:r>
                                    <a:rPr lang="en-US" altLang="zh-CN" sz="2400" i="1">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b="0" i="1" smtClean="0">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e>
                                  </m:d>
                                </m:e>
                              </m:d>
                              <m:r>
                                <a:rPr lang="en-US" altLang="zh-CN" sz="2400" b="0" i="1" smtClean="0">
                                  <a:solidFill>
                                    <a:schemeClr val="tx1"/>
                                  </a:solidFill>
                                  <a:latin typeface="Cambria Math" panose="02040503050406030204" pitchFamily="18" charset="0"/>
                                </a:rPr>
                                <m:t>𝐵</m:t>
                              </m:r>
                              <m:r>
                                <a:rPr lang="en-US" altLang="zh-CN" sz="2400" b="0" i="1" smtClean="0">
                                  <a:solidFill>
                                    <a:schemeClr val="tx1"/>
                                  </a:solidFill>
                                  <a:latin typeface="Cambria Math" panose="02040503050406030204" pitchFamily="18" charset="0"/>
                                </a:rPr>
                                <m:t>=0</m:t>
                              </m:r>
                            </m:e>
                          </m:eqArr>
                        </m:e>
                      </m:d>
                    </m:oMath>
                  </m:oMathPara>
                </a14:m>
                <a:endParaRPr lang="en-US" altLang="zh-CN" sz="2400" dirty="0">
                  <a:solidFill>
                    <a:schemeClr val="tx1"/>
                  </a:solidFill>
                </a:endParaRPr>
              </a:p>
              <a:p>
                <a14:m>
                  <m:oMath xmlns:m="http://schemas.openxmlformats.org/officeDocument/2006/math">
                    <m:r>
                      <a:rPr lang="en-US" altLang="zh-CN" sz="2400" b="0" i="1" dirty="0" smtClean="0">
                        <a:solidFill>
                          <a:schemeClr val="tx1"/>
                        </a:solidFill>
                        <a:latin typeface="Cambria Math" panose="02040503050406030204" pitchFamily="18" charset="0"/>
                      </a:rPr>
                      <m:t>𝐴</m:t>
                    </m:r>
                    <m:r>
                      <a:rPr lang="zh-CN" altLang="en-US" sz="2400" i="1" dirty="0">
                        <a:solidFill>
                          <a:schemeClr val="tx1"/>
                        </a:solidFill>
                        <a:latin typeface="Cambria Math" panose="02040503050406030204" pitchFamily="18" charset="0"/>
                      </a:rPr>
                      <m:t>和</m:t>
                    </m:r>
                    <m:r>
                      <a:rPr lang="en-US" altLang="zh-CN" sz="2400" i="1" dirty="0">
                        <a:solidFill>
                          <a:schemeClr val="tx1"/>
                        </a:solidFill>
                        <a:latin typeface="Cambria Math" panose="02040503050406030204" pitchFamily="18" charset="0"/>
                      </a:rPr>
                      <m:t>𝐵</m:t>
                    </m:r>
                  </m:oMath>
                </a14:m>
                <a:r>
                  <a:rPr lang="zh-CN" altLang="en-US" sz="2400" dirty="0">
                    <a:solidFill>
                      <a:schemeClr val="tx1"/>
                    </a:solidFill>
                  </a:rPr>
                  <a:t>有非零解的条件：</a:t>
                </a:r>
                <a14:m>
                  <m:oMath xmlns:m="http://schemas.openxmlformats.org/officeDocument/2006/math">
                    <m:d>
                      <m:dPr>
                        <m:begChr m:val="|"/>
                        <m:endChr m:val="|"/>
                        <m:ctrlPr>
                          <a:rPr lang="en-US" altLang="zh-CN" sz="2400" i="1" smtClean="0">
                            <a:solidFill>
                              <a:schemeClr val="tx1"/>
                            </a:solidFill>
                            <a:latin typeface="Cambria Math" panose="02040503050406030204" pitchFamily="18" charset="0"/>
                          </a:rPr>
                        </m:ctrlPr>
                      </m:dPr>
                      <m:e>
                        <m:m>
                          <m:mPr>
                            <m:mcs>
                              <m:mc>
                                <m:mcPr>
                                  <m:count m:val="2"/>
                                  <m:mcJc m:val="center"/>
                                </m:mcPr>
                              </m:mc>
                            </m:mcs>
                            <m:ctrlPr>
                              <a:rPr lang="en-US" altLang="zh-CN" sz="2400" i="1" smtClean="0">
                                <a:solidFill>
                                  <a:schemeClr val="tx1"/>
                                </a:solidFill>
                                <a:latin typeface="Cambria Math" panose="02040503050406030204" pitchFamily="18" charset="0"/>
                              </a:rPr>
                            </m:ctrlPr>
                          </m:mPr>
                          <m:mr>
                            <m:e>
                              <m:r>
                                <a:rPr lang="en-US" altLang="zh-CN" sz="2400" i="1">
                                  <a:solidFill>
                                    <a:schemeClr val="tx1"/>
                                  </a:solidFill>
                                  <a:latin typeface="Cambria Math" panose="02040503050406030204" pitchFamily="18" charset="0"/>
                                </a:rPr>
                                <m:t>𝐸</m:t>
                              </m:r>
                              <m:r>
                                <a:rPr lang="en-US" altLang="zh-CN" sz="2400" i="1">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e>
                            <m:e>
                              <m:r>
                                <a:rPr lang="en-US" altLang="zh-CN" sz="2400" i="1">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sub>
                              </m:sSub>
                            </m:e>
                          </m:mr>
                          <m:mr>
                            <m:e>
                              <m:r>
                                <a:rPr lang="en-US" altLang="zh-CN" sz="2400" i="1">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e>
                              <m:r>
                                <a:rPr lang="en-US" altLang="zh-CN" sz="2400" i="1">
                                  <a:solidFill>
                                    <a:schemeClr val="tx1"/>
                                  </a:solidFill>
                                  <a:latin typeface="Cambria Math" panose="02040503050406030204" pitchFamily="18" charset="0"/>
                                </a:rPr>
                                <m:t>𝐸</m:t>
                              </m:r>
                              <m:r>
                                <a:rPr lang="en-US" altLang="zh-CN" sz="2400" i="1">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e>
                              </m:d>
                            </m:e>
                          </m:mr>
                        </m:m>
                      </m:e>
                    </m:d>
                    <m:r>
                      <a:rPr lang="en-US" altLang="zh-CN" sz="2400" i="1">
                        <a:solidFill>
                          <a:schemeClr val="tx1"/>
                        </a:solidFill>
                        <a:latin typeface="Cambria Math" panose="02040503050406030204" pitchFamily="18" charset="0"/>
                      </a:rPr>
                      <m:t>=</m:t>
                    </m:r>
                  </m:oMath>
                </a14:m>
                <a:r>
                  <a:rPr lang="en-US" altLang="zh-CN" sz="2400" dirty="0">
                    <a:solidFill>
                      <a:schemeClr val="tx1"/>
                    </a:solidFill>
                  </a:rPr>
                  <a:t>0</a:t>
                </a:r>
              </a:p>
              <a:p>
                <a:r>
                  <a:rPr lang="zh-CN" altLang="en-US" sz="2400" dirty="0">
                    <a:solidFill>
                      <a:schemeClr val="tx1"/>
                    </a:solidFill>
                  </a:rPr>
                  <a:t>则：</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0" i="1" dirty="0">
                        <a:solidFill>
                          <a:schemeClr val="tx1"/>
                        </a:solidFill>
                        <a:latin typeface="Cambria Math" panose="02040503050406030204" pitchFamily="18" charset="0"/>
                        <a:sym typeface="Symbol" panose="05050102010706020507" pitchFamily="18" charset="2"/>
                      </a:rPr>
                      <m:t>𝑘</m:t>
                    </m:r>
                    <m:r>
                      <a:rPr lang="en-US" altLang="zh-CN" sz="2400" i="1" dirty="0">
                        <a:solidFill>
                          <a:schemeClr val="tx1"/>
                        </a:solidFill>
                        <a:latin typeface="Cambria Math" panose="02040503050406030204" pitchFamily="18" charset="0"/>
                        <a:sym typeface="Symbol" panose="05050102010706020507" pitchFamily="18" charset="2"/>
                      </a:rPr>
                      <m:t>)=</m:t>
                    </m:r>
                    <m:f>
                      <m:fPr>
                        <m:ctrlPr>
                          <a:rPr lang="en-US" altLang="zh-CN" sz="2400" i="1" dirty="0" smtClean="0">
                            <a:solidFill>
                              <a:schemeClr val="tx1"/>
                            </a:solidFill>
                            <a:latin typeface="Cambria Math" panose="02040503050406030204" pitchFamily="18" charset="0"/>
                            <a:sym typeface="Symbol" panose="05050102010706020507" pitchFamily="18" charset="2"/>
                          </a:rPr>
                        </m:ctrlPr>
                      </m:fPr>
                      <m:num>
                        <m:r>
                          <a:rPr lang="en-US" altLang="zh-CN" sz="2400" i="1" dirty="0">
                            <a:solidFill>
                              <a:schemeClr val="tx1"/>
                            </a:solidFill>
                            <a:latin typeface="Cambria Math" panose="02040503050406030204" pitchFamily="18" charset="0"/>
                            <a:sym typeface="Symbol" panose="05050102010706020507" pitchFamily="18" charset="2"/>
                          </a:rPr>
                          <m:t>1</m:t>
                        </m:r>
                      </m:num>
                      <m:den>
                        <m:r>
                          <a:rPr lang="en-US" altLang="zh-CN" sz="2400" i="1" dirty="0">
                            <a:solidFill>
                              <a:schemeClr val="tx1"/>
                            </a:solidFill>
                            <a:latin typeface="Cambria Math" panose="02040503050406030204" pitchFamily="18" charset="0"/>
                            <a:sym typeface="Symbol" panose="05050102010706020507" pitchFamily="18" charset="2"/>
                          </a:rPr>
                          <m:t>2</m:t>
                        </m:r>
                      </m:den>
                    </m:f>
                    <m:r>
                      <a:rPr lang="en-US" altLang="zh-CN" sz="2400" b="0" i="1" dirty="0" smtClean="0">
                        <a:solidFill>
                          <a:schemeClr val="tx1"/>
                        </a:solidFill>
                        <a:latin typeface="Cambria Math" panose="02040503050406030204" pitchFamily="18" charset="0"/>
                        <a:sym typeface="Symbol" panose="05050102010706020507" pitchFamily="18" charset="2"/>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e>
                    </m:d>
                    <m:r>
                      <a:rPr lang="en-US" altLang="zh-CN" sz="2400" b="0" i="1" dirty="0" smtClean="0">
                        <a:solidFill>
                          <a:schemeClr val="tx1"/>
                        </a:solidFill>
                        <a:latin typeface="Cambria Math" panose="02040503050406030204" pitchFamily="18" charset="0"/>
                        <a:sym typeface="Symbol" panose="05050102010706020507" pitchFamily="18" charset="2"/>
                      </a:rPr>
                      <m:t>]</m:t>
                    </m:r>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p>
                      <m:sSupPr>
                        <m:ctrlP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ctrlPr>
                      </m:sSupPr>
                      <m:e>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p>
                          <m:sSupPr>
                            <m:ctrlP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ctrlPr>
                          </m:sSupPr>
                          <m:e>
                            <m:d>
                              <m:dPr>
                                <m:begChr m:val="["/>
                                <m:endChr m:val="]"/>
                                <m:ctrlP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e>
                                </m:d>
                              </m:e>
                            </m:d>
                          </m:e>
                          <m: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2</m:t>
                            </m:r>
                          </m:sup>
                        </m:s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e>
                      <m: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1/2</m:t>
                        </m:r>
                      </m:sup>
                    </m:sSup>
                  </m:oMath>
                </a14:m>
                <a:endParaRPr lang="en-US" altLang="zh-CN" sz="2400" dirty="0">
                  <a:solidFill>
                    <a:schemeClr val="tx1"/>
                  </a:solidFill>
                </a:endParaRPr>
              </a:p>
              <a:p>
                <a:r>
                  <a:rPr lang="en-US" altLang="zh-CN" sz="2400" dirty="0">
                    <a:solidFill>
                      <a:schemeClr val="tx1"/>
                    </a:solidFill>
                  </a:rPr>
                  <a:t>                 </a:t>
                </a:r>
                <a14:m>
                  <m:oMath xmlns:m="http://schemas.openxmlformats.org/officeDocument/2006/math">
                    <m:r>
                      <a:rPr lang="en-US" altLang="zh-CN" sz="2400" b="0" i="1" smtClean="0">
                        <a:solidFill>
                          <a:schemeClr val="tx1"/>
                        </a:solidFill>
                        <a:latin typeface="Cambria Math" panose="02040503050406030204" pitchFamily="18" charset="0"/>
                      </a:rPr>
                      <m:t>=</m:t>
                    </m:r>
                    <m:d>
                      <m:dPr>
                        <m:begChr m:val="{"/>
                        <m:endChr m:val=""/>
                        <m:ctrlPr>
                          <a:rPr lang="en-US" altLang="zh-CN" sz="2400" b="0" i="1" smtClean="0">
                            <a:solidFill>
                              <a:schemeClr val="tx1"/>
                            </a:solidFill>
                            <a:latin typeface="Cambria Math" panose="02040503050406030204" pitchFamily="18" charset="0"/>
                          </a:rPr>
                        </m:ctrlPr>
                      </m:dPr>
                      <m:e>
                        <m:eqArr>
                          <m:eqArrPr>
                            <m:ctrlPr>
                              <a:rPr lang="en-US" altLang="zh-CN" sz="2400" b="0" i="1" smtClean="0">
                                <a:solidFill>
                                  <a:schemeClr val="tx1"/>
                                </a:solidFill>
                                <a:latin typeface="Cambria Math" panose="02040503050406030204" pitchFamily="18" charset="0"/>
                              </a:rPr>
                            </m:ctrlPr>
                          </m:eqArr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𝑇</m:t>
                                </m:r>
                              </m:e>
                              <m:sub>
                                <m:r>
                                  <a:rPr lang="en-US" altLang="zh-CN" sz="2400" b="0" i="1" smtClean="0">
                                    <a:solidFill>
                                      <a:schemeClr val="tx1"/>
                                    </a:solidFill>
                                    <a:latin typeface="Cambria Math" panose="02040503050406030204" pitchFamily="18" charset="0"/>
                                  </a:rPr>
                                  <m:t>𝑛</m:t>
                                </m:r>
                              </m:sub>
                            </m:sSub>
                            <m:r>
                              <a:rPr lang="en-US" altLang="zh-CN" sz="2400" b="0" i="1" smtClean="0">
                                <a:solidFill>
                                  <a:schemeClr val="tx1"/>
                                </a:solidFill>
                                <a:latin typeface="Cambria Math" panose="02040503050406030204" pitchFamily="18" charset="0"/>
                              </a:rPr>
                              <m:t>+</m:t>
                            </m:r>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r>
                              <a:rPr lang="en-US" altLang="zh-CN" sz="2400" b="0" i="1" dirty="0"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b="0" i="1" smtClean="0">
                                <a:solidFill>
                                  <a:schemeClr val="tx1"/>
                                </a:solidFill>
                                <a:latin typeface="Cambria Math" panose="02040503050406030204" pitchFamily="18" charset="0"/>
                              </a:rPr>
                              <m:t>(1+</m:t>
                            </m:r>
                            <m:f>
                              <m:fPr>
                                <m:ctrlPr>
                                  <a:rPr lang="en-US" altLang="zh-CN" sz="2400" b="0" i="1" smtClean="0">
                                    <a:solidFill>
                                      <a:schemeClr val="tx1"/>
                                    </a:solidFill>
                                    <a:latin typeface="Cambria Math" panose="02040503050406030204" pitchFamily="18" charset="0"/>
                                  </a:rPr>
                                </m:ctrlPr>
                              </m:fPr>
                              <m:num>
                                <m:sSub>
                                  <m:sSubPr>
                                    <m:ctrlPr>
                                      <a:rPr lang="en-US" altLang="zh-CN"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2</m:t>
                                    </m:r>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num>
                              <m:den>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den>
                            </m:f>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ea typeface="Cambria Math" panose="02040503050406030204" pitchFamily="18" charset="0"/>
                                  </a:rPr>
                                  <m:t>∆</m:t>
                                </m:r>
                              </m:e>
                              <m:sup>
                                <m:r>
                                  <a:rPr lang="en-US" altLang="zh-CN" sz="2400" i="1">
                                    <a:solidFill>
                                      <a:schemeClr val="tx1"/>
                                    </a:solidFill>
                                    <a:latin typeface="Cambria Math" panose="02040503050406030204" pitchFamily="18" charset="0"/>
                                  </a:rPr>
                                  <m:t>2</m:t>
                                </m:r>
                              </m:sup>
                            </m:sSup>
                          </m:e>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b="0" i="1" smtClean="0">
                                <a:solidFill>
                                  <a:schemeClr val="tx1"/>
                                </a:solidFill>
                                <a:latin typeface="Cambria Math" panose="02040503050406030204" pitchFamily="18" charset="0"/>
                              </a:rPr>
                              <m:t>−</m:t>
                            </m:r>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r>
                              <a:rPr lang="en-US" altLang="zh-CN" sz="2400" b="0" i="1" dirty="0"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i="1">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2</m:t>
                                    </m:r>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num>
                              <m:den>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den>
                            </m:f>
                            <m:r>
                              <a:rPr lang="en-US" altLang="zh-CN" sz="2400" b="0" i="1" dirty="0" smtClean="0">
                                <a:solidFill>
                                  <a:schemeClr val="tx1"/>
                                </a:solidFill>
                                <a:latin typeface="Cambria Math" panose="02040503050406030204" pitchFamily="18" charset="0"/>
                              </a:rPr>
                              <m:t>−1</m:t>
                            </m:r>
                            <m:r>
                              <a:rPr lang="en-US" altLang="zh-CN" sz="2400" i="1">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ea typeface="Cambria Math" panose="02040503050406030204" pitchFamily="18" charset="0"/>
                                  </a:rPr>
                                  <m:t>∆</m:t>
                                </m:r>
                              </m:e>
                              <m:sup>
                                <m:r>
                                  <a:rPr lang="en-US" altLang="zh-CN" sz="2400" i="1">
                                    <a:solidFill>
                                      <a:schemeClr val="tx1"/>
                                    </a:solidFill>
                                    <a:latin typeface="Cambria Math" panose="02040503050406030204" pitchFamily="18" charset="0"/>
                                  </a:rPr>
                                  <m:t>2</m:t>
                                </m:r>
                              </m:sup>
                            </m:sSup>
                          </m:e>
                        </m:eqArr>
                      </m:e>
                    </m:d>
                  </m:oMath>
                </a14:m>
                <a:r>
                  <a:rPr lang="en-US" altLang="zh-CN" sz="2400" dirty="0">
                    <a:solidFill>
                      <a:schemeClr val="tx1"/>
                    </a:solidFill>
                  </a:rPr>
                  <a:t>	</a:t>
                </a:r>
              </a:p>
            </p:txBody>
          </p:sp>
        </mc:Choice>
        <mc:Fallback xmlns="">
          <p:sp>
            <p:nvSpPr>
              <p:cNvPr id="6" name="文本框 5"/>
              <p:cNvSpPr txBox="1">
                <a:spLocks noRot="1" noChangeAspect="1" noMove="1" noResize="1" noEditPoints="1" noAdjustHandles="1" noChangeArrowheads="1" noChangeShapeType="1" noTextEdit="1"/>
              </p:cNvSpPr>
              <p:nvPr/>
            </p:nvSpPr>
            <p:spPr>
              <a:xfrm>
                <a:off x="952920" y="1495859"/>
                <a:ext cx="8013279" cy="5378460"/>
              </a:xfrm>
              <a:prstGeom prst="rect">
                <a:avLst/>
              </a:prstGeom>
              <a:blipFill rotWithShape="1">
                <a:blip r:embed="rId4"/>
                <a:stretch>
                  <a:fillRect l="-1521" t="-11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61055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l="5662"/>
          <a:stretch/>
        </p:blipFill>
        <p:spPr>
          <a:xfrm>
            <a:off x="8806749" y="2730736"/>
            <a:ext cx="3385251" cy="2974400"/>
          </a:xfrm>
          <a:prstGeom prst="rect">
            <a:avLst/>
          </a:prstGeom>
        </p:spPr>
      </p:pic>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580614"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580614" cy="584775"/>
              </a:xfrm>
              <a:prstGeom prst="rect">
                <a:avLst/>
              </a:prstGeom>
              <a:blipFill rotWithShape="1">
                <a:blip r:embed="rId3"/>
                <a:stretch>
                  <a:fillRect t="-16667" b="-30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52920" y="1597463"/>
                <a:ext cx="8013279" cy="5035802"/>
              </a:xfrm>
              <a:prstGeom prst="rect">
                <a:avLst/>
              </a:prstGeom>
              <a:noFill/>
            </p:spPr>
            <p:txBody>
              <a:bodyPr wrap="square" rtlCol="0">
                <a:spAutoFit/>
              </a:bodyPr>
              <a:lstStyle/>
              <a:p>
                <a:r>
                  <a:rPr lang="en-US" altLang="zh-CN" sz="2800" b="1" dirty="0">
                    <a:solidFill>
                      <a:schemeClr val="tx1"/>
                    </a:solidFill>
                  </a:rPr>
                  <a:t>7.2.2 </a:t>
                </a:r>
                <a:r>
                  <a:rPr lang="zh-CN" altLang="en-US" sz="2800" b="1" dirty="0">
                    <a:solidFill>
                      <a:schemeClr val="tx1"/>
                    </a:solidFill>
                  </a:rPr>
                  <a:t>能隙的由来</a:t>
                </a:r>
                <a:endParaRPr lang="en-US" altLang="zh-CN" sz="2800" b="1" dirty="0">
                  <a:solidFill>
                    <a:schemeClr val="tx1"/>
                  </a:solidFill>
                </a:endParaRPr>
              </a:p>
              <a:p>
                <a:endParaRPr lang="en-US" altLang="zh-CN" sz="1600" b="1" dirty="0">
                  <a:solidFill>
                    <a:schemeClr val="tx1"/>
                  </a:solidFill>
                </a:endParaRPr>
              </a:p>
              <a:p>
                <a:pPr/>
                <a14:m>
                  <m:oMathPara xmlns:m="http://schemas.openxmlformats.org/officeDocument/2006/math">
                    <m:oMathParaPr>
                      <m:jc m:val="centerGroup"/>
                    </m:oMathParaPr>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0" i="1" dirty="0">
                          <a:solidFill>
                            <a:schemeClr val="tx1"/>
                          </a:solidFill>
                          <a:latin typeface="Cambria Math" panose="02040503050406030204" pitchFamily="18" charset="0"/>
                          <a:sym typeface="Symbol" panose="05050102010706020507" pitchFamily="18" charset="2"/>
                        </a:rPr>
                        <m:t>𝑘</m:t>
                      </m:r>
                      <m:r>
                        <a:rPr lang="en-US" altLang="zh-CN" sz="2400" i="1" dirty="0">
                          <a:solidFill>
                            <a:schemeClr val="tx1"/>
                          </a:solidFill>
                          <a:latin typeface="Cambria Math" panose="02040503050406030204" pitchFamily="18" charset="0"/>
                          <a:sym typeface="Symbol" panose="05050102010706020507" pitchFamily="18" charset="2"/>
                        </a:rPr>
                        <m:t>)=</m:t>
                      </m:r>
                      <m:f>
                        <m:fPr>
                          <m:ctrlPr>
                            <a:rPr lang="en-US" altLang="zh-CN" sz="2400" i="1" dirty="0" smtClean="0">
                              <a:solidFill>
                                <a:schemeClr val="tx1"/>
                              </a:solidFill>
                              <a:latin typeface="Cambria Math" panose="02040503050406030204" pitchFamily="18" charset="0"/>
                              <a:sym typeface="Symbol" panose="05050102010706020507" pitchFamily="18" charset="2"/>
                            </a:rPr>
                          </m:ctrlPr>
                        </m:fPr>
                        <m:num>
                          <m:r>
                            <a:rPr lang="en-US" altLang="zh-CN" sz="2400" i="1" dirty="0">
                              <a:solidFill>
                                <a:schemeClr val="tx1"/>
                              </a:solidFill>
                              <a:latin typeface="Cambria Math" panose="02040503050406030204" pitchFamily="18" charset="0"/>
                              <a:sym typeface="Symbol" panose="05050102010706020507" pitchFamily="18" charset="2"/>
                            </a:rPr>
                            <m:t>1</m:t>
                          </m:r>
                        </m:num>
                        <m:den>
                          <m:r>
                            <a:rPr lang="en-US" altLang="zh-CN" sz="2400" i="1" dirty="0">
                              <a:solidFill>
                                <a:schemeClr val="tx1"/>
                              </a:solidFill>
                              <a:latin typeface="Cambria Math" panose="02040503050406030204" pitchFamily="18" charset="0"/>
                              <a:sym typeface="Symbol" panose="05050102010706020507" pitchFamily="18" charset="2"/>
                            </a:rPr>
                            <m:t>2</m:t>
                          </m:r>
                        </m:den>
                      </m:f>
                      <m:r>
                        <a:rPr lang="en-US" altLang="zh-CN" sz="2400" b="0" i="1" dirty="0" smtClean="0">
                          <a:solidFill>
                            <a:schemeClr val="tx1"/>
                          </a:solidFill>
                          <a:latin typeface="Cambria Math" panose="02040503050406030204" pitchFamily="18" charset="0"/>
                          <a:sym typeface="Symbol" panose="05050102010706020507" pitchFamily="18" charset="2"/>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e>
                      </m:d>
                      <m:r>
                        <a:rPr lang="en-US" altLang="zh-CN" sz="2400" b="0" i="1" dirty="0" smtClean="0">
                          <a:solidFill>
                            <a:schemeClr val="tx1"/>
                          </a:solidFill>
                          <a:latin typeface="Cambria Math" panose="02040503050406030204" pitchFamily="18" charset="0"/>
                          <a:sym typeface="Symbol" panose="05050102010706020507" pitchFamily="18" charset="2"/>
                        </a:rPr>
                        <m:t>]</m:t>
                      </m:r>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p>
                        <m:sSupPr>
                          <m:ctrlP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ctrlPr>
                        </m:sSupPr>
                        <m:e>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p>
                            <m:sSupPr>
                              <m:ctrlP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ctrlPr>
                            </m:sSupPr>
                            <m:e>
                              <m:d>
                                <m:dPr>
                                  <m:begChr m:val="["/>
                                  <m:endChr m:val="]"/>
                                  <m:ctrlP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𝐸</m:t>
                                      </m:r>
                                    </m:e>
                                    <m:sup>
                                      <m:r>
                                        <a:rPr lang="en-US" altLang="zh-CN" sz="2400" i="1">
                                          <a:solidFill>
                                            <a:schemeClr val="tx1"/>
                                          </a:solidFill>
                                          <a:latin typeface="Cambria Math" panose="02040503050406030204" pitchFamily="18" charset="0"/>
                                        </a:rPr>
                                        <m:t>0</m:t>
                                      </m:r>
                                    </m:sup>
                                  </m:sSup>
                                  <m:d>
                                    <m:dPr>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𝑘</m:t>
                                          </m:r>
                                        </m:e>
                                        <m:sup>
                                          <m:r>
                                            <a:rPr lang="en-US" altLang="zh-CN" sz="2400" i="1">
                                              <a:solidFill>
                                                <a:schemeClr val="tx1"/>
                                              </a:solidFill>
                                              <a:latin typeface="Cambria Math" panose="02040503050406030204" pitchFamily="18" charset="0"/>
                                            </a:rPr>
                                            <m:t>′</m:t>
                                          </m:r>
                                        </m:sup>
                                      </m:sSup>
                                    </m:e>
                                  </m:d>
                                </m:e>
                              </m:d>
                            </m:e>
                            <m: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2</m:t>
                              </m:r>
                            </m:sup>
                          </m:s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e>
                        <m:sup>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1/2</m:t>
                          </m:r>
                        </m:sup>
                      </m:sSup>
                    </m:oMath>
                  </m:oMathPara>
                </a14:m>
                <a:endParaRPr lang="en-US" altLang="zh-CN" sz="2400" dirty="0">
                  <a:solidFill>
                    <a:schemeClr val="tx1"/>
                  </a:solidFill>
                </a:endParaRPr>
              </a:p>
              <a:p>
                <a:r>
                  <a:rPr lang="en-US" altLang="zh-CN" sz="2400" dirty="0">
                    <a:solidFill>
                      <a:schemeClr val="tx1"/>
                    </a:solidFill>
                  </a:rPr>
                  <a:t>                 </a:t>
                </a:r>
                <a14:m>
                  <m:oMath xmlns:m="http://schemas.openxmlformats.org/officeDocument/2006/math">
                    <m:r>
                      <a:rPr lang="en-US" altLang="zh-CN" sz="2400" b="0" i="1" smtClean="0">
                        <a:solidFill>
                          <a:schemeClr val="tx1"/>
                        </a:solidFill>
                        <a:latin typeface="Cambria Math" panose="02040503050406030204" pitchFamily="18" charset="0"/>
                      </a:rPr>
                      <m:t>=</m:t>
                    </m:r>
                    <m:d>
                      <m:dPr>
                        <m:begChr m:val="{"/>
                        <m:endChr m:val=""/>
                        <m:ctrlPr>
                          <a:rPr lang="en-US" altLang="zh-CN" sz="2400" b="0" i="1" smtClean="0">
                            <a:solidFill>
                              <a:schemeClr val="tx1"/>
                            </a:solidFill>
                            <a:latin typeface="Cambria Math" panose="02040503050406030204" pitchFamily="18" charset="0"/>
                          </a:rPr>
                        </m:ctrlPr>
                      </m:dPr>
                      <m:e>
                        <m:eqArr>
                          <m:eqArrPr>
                            <m:ctrlPr>
                              <a:rPr lang="en-US" altLang="zh-CN" sz="2400" b="0" i="1" smtClean="0">
                                <a:solidFill>
                                  <a:schemeClr val="tx1"/>
                                </a:solidFill>
                                <a:latin typeface="Cambria Math" panose="02040503050406030204" pitchFamily="18" charset="0"/>
                              </a:rPr>
                            </m:ctrlPr>
                          </m:eqArr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𝑇</m:t>
                                </m:r>
                              </m:e>
                              <m:sub>
                                <m:r>
                                  <a:rPr lang="en-US" altLang="zh-CN" sz="2400" b="0" i="1" smtClean="0">
                                    <a:solidFill>
                                      <a:schemeClr val="tx1"/>
                                    </a:solidFill>
                                    <a:latin typeface="Cambria Math" panose="02040503050406030204" pitchFamily="18" charset="0"/>
                                  </a:rPr>
                                  <m:t>𝑛</m:t>
                                </m:r>
                              </m:sub>
                            </m:sSub>
                            <m:r>
                              <a:rPr lang="en-US" altLang="zh-CN" sz="2400" b="0" i="1" smtClean="0">
                                <a:solidFill>
                                  <a:schemeClr val="tx1"/>
                                </a:solidFill>
                                <a:latin typeface="Cambria Math" panose="02040503050406030204" pitchFamily="18" charset="0"/>
                              </a:rPr>
                              <m:t>+</m:t>
                            </m:r>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r>
                              <a:rPr lang="en-US" altLang="zh-CN" sz="2400" b="0" i="1" dirty="0"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b="0" i="1" smtClean="0">
                                <a:solidFill>
                                  <a:schemeClr val="tx1"/>
                                </a:solidFill>
                                <a:latin typeface="Cambria Math" panose="02040503050406030204" pitchFamily="18" charset="0"/>
                              </a:rPr>
                              <m:t>(1+</m:t>
                            </m:r>
                            <m:f>
                              <m:fPr>
                                <m:ctrlPr>
                                  <a:rPr lang="en-US" altLang="zh-CN" sz="2400" b="0" i="1" smtClean="0">
                                    <a:solidFill>
                                      <a:schemeClr val="tx1"/>
                                    </a:solidFill>
                                    <a:latin typeface="Cambria Math" panose="02040503050406030204" pitchFamily="18" charset="0"/>
                                  </a:rPr>
                                </m:ctrlPr>
                              </m:fPr>
                              <m:num>
                                <m:sSub>
                                  <m:sSubPr>
                                    <m:ctrlPr>
                                      <a:rPr lang="en-US" altLang="zh-CN"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2</m:t>
                                    </m:r>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num>
                              <m:den>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den>
                            </m:f>
                            <m:r>
                              <a:rPr lang="en-US" altLang="zh-CN" sz="2400" b="0" i="1" smtClean="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ea typeface="Cambria Math" panose="02040503050406030204" pitchFamily="18" charset="0"/>
                                  </a:rPr>
                                  <m:t>∆</m:t>
                                </m:r>
                              </m:e>
                              <m:sup>
                                <m:r>
                                  <a:rPr lang="en-US" altLang="zh-CN" sz="2400" i="1">
                                    <a:solidFill>
                                      <a:schemeClr val="tx1"/>
                                    </a:solidFill>
                                    <a:latin typeface="Cambria Math" panose="02040503050406030204" pitchFamily="18" charset="0"/>
                                  </a:rPr>
                                  <m:t>2</m:t>
                                </m:r>
                              </m:sup>
                            </m:sSup>
                          </m:e>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b="0" i="1" smtClean="0">
                                <a:solidFill>
                                  <a:schemeClr val="tx1"/>
                                </a:solidFill>
                                <a:latin typeface="Cambria Math" panose="02040503050406030204" pitchFamily="18" charset="0"/>
                              </a:rPr>
                              <m:t>−</m:t>
                            </m:r>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r>
                              <a:rPr lang="en-US" altLang="zh-CN" sz="2400" b="0" i="1" dirty="0"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i="1">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2</m:t>
                                    </m:r>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num>
                              <m:den>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den>
                            </m:f>
                            <m:r>
                              <a:rPr lang="en-US" altLang="zh-CN" sz="2400" b="0" i="1" dirty="0" smtClean="0">
                                <a:solidFill>
                                  <a:schemeClr val="tx1"/>
                                </a:solidFill>
                                <a:latin typeface="Cambria Math" panose="02040503050406030204" pitchFamily="18" charset="0"/>
                              </a:rPr>
                              <m:t>−1</m:t>
                            </m:r>
                            <m:r>
                              <a:rPr lang="en-US" altLang="zh-CN" sz="2400" i="1">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ea typeface="Cambria Math" panose="02040503050406030204" pitchFamily="18" charset="0"/>
                                  </a:rPr>
                                  <m:t>∆</m:t>
                                </m:r>
                              </m:e>
                              <m:sup>
                                <m:r>
                                  <a:rPr lang="en-US" altLang="zh-CN" sz="2400" i="1">
                                    <a:solidFill>
                                      <a:schemeClr val="tx1"/>
                                    </a:solidFill>
                                    <a:latin typeface="Cambria Math" panose="02040503050406030204" pitchFamily="18" charset="0"/>
                                  </a:rPr>
                                  <m:t>2</m:t>
                                </m:r>
                              </m:sup>
                            </m:sSup>
                          </m:e>
                        </m:eqArr>
                      </m:e>
                    </m:d>
                  </m:oMath>
                </a14:m>
                <a:r>
                  <a:rPr lang="en-US" altLang="zh-CN" sz="2400" dirty="0">
                    <a:solidFill>
                      <a:schemeClr val="tx1"/>
                    </a:solidFill>
                  </a:rPr>
                  <a:t>	</a:t>
                </a:r>
              </a:p>
              <a:p>
                <a:r>
                  <a:rPr lang="zh-CN" altLang="en-US" sz="2400" dirty="0">
                    <a:solidFill>
                      <a:schemeClr val="tx1"/>
                    </a:solidFill>
                  </a:rPr>
                  <a:t>其中</a:t>
                </a:r>
                <a14:m>
                  <m:oMath xmlns:m="http://schemas.openxmlformats.org/officeDocument/2006/math">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𝑇</m:t>
                        </m:r>
                      </m:e>
                      <m:sub>
                        <m:r>
                          <a:rPr lang="en-US" altLang="zh-CN" sz="2400" i="1">
                            <a:solidFill>
                              <a:schemeClr val="tx1"/>
                            </a:solidFill>
                            <a:latin typeface="Cambria Math" panose="02040503050406030204" pitchFamily="18" charset="0"/>
                          </a:rPr>
                          <m:t>𝑛</m:t>
                        </m:r>
                      </m:sub>
                    </m:sSub>
                    <m:r>
                      <a:rPr lang="en-US" altLang="zh-CN" sz="2400" i="1">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oMath>
                </a14:m>
                <a:endParaRPr lang="en-US" altLang="zh-CN" sz="2400" dirty="0">
                  <a:solidFill>
                    <a:schemeClr val="tx1"/>
                  </a:solidFill>
                </a:endParaRPr>
              </a:p>
              <a:p>
                <a:endParaRPr lang="en-US" altLang="zh-CN" sz="2400" dirty="0">
                  <a:solidFill>
                    <a:schemeClr val="tx1"/>
                  </a:solidFill>
                </a:endParaRPr>
              </a:p>
              <a:p>
                <a:pPr marL="285750" indent="-285750">
                  <a:buFont typeface="Arial" panose="020B0604020202020204" pitchFamily="34" charset="0"/>
                  <a:buChar char="•"/>
                </a:pPr>
                <a:r>
                  <a:rPr lang="zh-CN" altLang="en-US" sz="2400" dirty="0">
                    <a:solidFill>
                      <a:schemeClr val="tx1"/>
                    </a:solidFill>
                  </a:rPr>
                  <a:t>在</a:t>
                </a:r>
                <a14:m>
                  <m:oMath xmlns:m="http://schemas.openxmlformats.org/officeDocument/2006/math">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oMath>
                </a14:m>
                <a:r>
                  <a:rPr lang="zh-CN" altLang="en-US" sz="2400" dirty="0">
                    <a:solidFill>
                      <a:schemeClr val="tx1"/>
                    </a:solidFill>
                  </a:rPr>
                  <a:t>附近，</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𝑘</m:t>
                    </m:r>
                    <m:r>
                      <a:rPr lang="en-US" altLang="zh-CN" sz="2400" i="1" dirty="0">
                        <a:solidFill>
                          <a:schemeClr val="tx1"/>
                        </a:solidFill>
                        <a:latin typeface="Cambria Math" panose="02040503050406030204" pitchFamily="18" charset="0"/>
                        <a:sym typeface="Symbol" panose="05050102010706020507" pitchFamily="18" charset="2"/>
                      </a:rPr>
                      <m:t>)</m:t>
                    </m:r>
                  </m:oMath>
                </a14:m>
                <a:r>
                  <a:rPr lang="zh-CN" altLang="en-US" sz="2400" dirty="0">
                    <a:solidFill>
                      <a:schemeClr val="tx1"/>
                    </a:solidFill>
                  </a:rPr>
                  <a:t>具有抛物线关系。在较远处，接近自由电子。</a:t>
                </a:r>
                <a:endParaRPr lang="en-US" altLang="zh-CN" sz="2400" dirty="0">
                  <a:solidFill>
                    <a:schemeClr val="tx1"/>
                  </a:solidFill>
                </a:endParaRPr>
              </a:p>
              <a:p>
                <a:pPr marL="285750" indent="-285750">
                  <a:buFont typeface="Arial" panose="020B0604020202020204" pitchFamily="34" charset="0"/>
                  <a:buChar char="•"/>
                </a:pPr>
                <a:r>
                  <a:rPr lang="zh-CN" altLang="en-US" sz="2400" dirty="0">
                    <a:solidFill>
                      <a:schemeClr val="tx1"/>
                    </a:solidFill>
                  </a:rPr>
                  <a:t>在</a:t>
                </a:r>
                <a14:m>
                  <m:oMath xmlns:m="http://schemas.openxmlformats.org/officeDocument/2006/math">
                    <m:r>
                      <a:rPr lang="en-US" altLang="zh-CN" sz="2400" i="1" dirty="0">
                        <a:solidFill>
                          <a:schemeClr val="tx1"/>
                        </a:solidFill>
                        <a:latin typeface="Cambria Math" panose="02040503050406030204" pitchFamily="18" charset="0"/>
                      </a:rPr>
                      <m:t>𝑛</m:t>
                    </m:r>
                    <m:f>
                      <m:fPr>
                        <m:ctrlPr>
                          <a:rPr lang="en-US" altLang="zh-CN" sz="2400" i="1" dirty="0">
                            <a:solidFill>
                              <a:schemeClr val="tx1"/>
                            </a:solidFill>
                            <a:latin typeface="Cambria Math" panose="02040503050406030204" pitchFamily="18" charset="0"/>
                          </a:rPr>
                        </m:ctrlPr>
                      </m:fPr>
                      <m:num>
                        <m:r>
                          <a:rPr lang="zh-CN" altLang="en-US" sz="2400" i="1" dirty="0">
                            <a:solidFill>
                              <a:schemeClr val="tx1"/>
                            </a:solidFill>
                            <a:latin typeface="Cambria Math" panose="02040503050406030204" pitchFamily="18" charset="0"/>
                          </a:rPr>
                          <m:t>𝜋</m:t>
                        </m:r>
                      </m:num>
                      <m:den>
                        <m:r>
                          <a:rPr lang="en-US" altLang="zh-CN" sz="2400" i="1" dirty="0">
                            <a:solidFill>
                              <a:schemeClr val="tx1"/>
                            </a:solidFill>
                            <a:latin typeface="Cambria Math" panose="02040503050406030204" pitchFamily="18" charset="0"/>
                          </a:rPr>
                          <m:t>𝑎</m:t>
                        </m:r>
                      </m:den>
                    </m:f>
                  </m:oMath>
                </a14:m>
                <a:r>
                  <a:rPr lang="zh-CN" altLang="en-US" sz="2400" dirty="0">
                    <a:solidFill>
                      <a:schemeClr val="tx1"/>
                    </a:solidFill>
                  </a:rPr>
                  <a:t>点，有能隙</a:t>
                </a:r>
                <a14:m>
                  <m:oMath xmlns:m="http://schemas.openxmlformats.org/officeDocument/2006/math">
                    <m:r>
                      <a:rPr lang="en-US" altLang="zh-CN" sz="2400" i="1" dirty="0">
                        <a:solidFill>
                          <a:schemeClr val="tx1"/>
                        </a:solidFill>
                        <a:latin typeface="Cambria Math" panose="02040503050406030204" pitchFamily="18" charset="0"/>
                      </a:rPr>
                      <m:t>2</m:t>
                    </m:r>
                    <m:d>
                      <m:dPr>
                        <m:begChr m:val="|"/>
                        <m:endChr m:val="|"/>
                        <m:ctrlPr>
                          <a:rPr lang="en-US" altLang="zh-CN" sz="2400" i="1" dirty="0">
                            <a:solidFill>
                              <a:schemeClr val="tx1"/>
                            </a:solidFill>
                            <a:latin typeface="Cambria Math" panose="02040503050406030204" pitchFamily="18" charset="0"/>
                          </a:rPr>
                        </m:ctrlPr>
                      </m:dPr>
                      <m:e>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𝑛</m:t>
                            </m:r>
                          </m:sub>
                        </m:sSub>
                      </m:e>
                    </m:d>
                    <m:r>
                      <a:rPr lang="zh-CN" altLang="en-US" sz="2400" i="1" dirty="0">
                        <a:solidFill>
                          <a:schemeClr val="tx1"/>
                        </a:solidFill>
                        <a:latin typeface="Cambria Math" panose="02040503050406030204" pitchFamily="18" charset="0"/>
                      </a:rPr>
                      <m:t>。</m:t>
                    </m:r>
                  </m:oMath>
                </a14:m>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52920" y="1597463"/>
                <a:ext cx="8013279" cy="5035802"/>
              </a:xfrm>
              <a:prstGeom prst="rect">
                <a:avLst/>
              </a:prstGeom>
              <a:blipFill rotWithShape="1">
                <a:blip r:embed="rId4"/>
                <a:stretch>
                  <a:fillRect l="-1521" t="-1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880517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597547" cy="584775"/>
              </a:xfrm>
              <a:prstGeom prst="rect">
                <a:avLst/>
              </a:prstGeom>
              <a:noFill/>
            </p:spPr>
            <p:txBody>
              <a:bodyPr wrap="square" rtlCol="0">
                <a:spAutoFit/>
              </a:bodyPr>
              <a:lstStyle/>
              <a:p>
                <a14:m>
                  <m:oMath xmlns:m="http://schemas.openxmlformats.org/officeDocument/2006/math">
                    <m:r>
                      <a:rPr lang="en-US" altLang="zh-CN" sz="3200" i="1" smtClean="0">
                        <a:solidFill>
                          <a:schemeClr val="tx1"/>
                        </a:solidFill>
                        <a:latin typeface="Cambria Math" panose="02040503050406030204" pitchFamily="18" charset="0"/>
                      </a:rPr>
                      <m:t>§</m:t>
                    </m:r>
                    <m:r>
                      <a:rPr lang="en-US" altLang="zh-CN" sz="3200" i="1">
                        <a:solidFill>
                          <a:schemeClr val="tx1"/>
                        </a:solidFill>
                        <a:latin typeface="Cambria Math" panose="02040503050406030204" pitchFamily="18" charset="0"/>
                      </a:rPr>
                      <m:t>7</m:t>
                    </m:r>
                  </m:oMath>
                </a14:m>
                <a:r>
                  <a:rPr lang="en-US" altLang="zh-CN" sz="3200" dirty="0">
                    <a:solidFill>
                      <a:schemeClr val="tx1"/>
                    </a:solidFill>
                  </a:rPr>
                  <a:t>.2 </a:t>
                </a:r>
                <a:r>
                  <a:rPr lang="zh-CN" altLang="en-US" sz="3200" dirty="0">
                    <a:solidFill>
                      <a:schemeClr val="tx1"/>
                    </a:solidFill>
                  </a:rPr>
                  <a:t>近自由电子近似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597547" cy="584775"/>
              </a:xfrm>
              <a:prstGeom prst="rect">
                <a:avLst/>
              </a:prstGeom>
              <a:blipFill rotWithShape="1">
                <a:blip r:embed="rId2"/>
                <a:stretch>
                  <a:fillRect t="-16667" b="-30208"/>
                </a:stretch>
              </a:blipFill>
            </p:spPr>
            <p:txBody>
              <a:bodyPr/>
              <a:lstStyle/>
              <a:p>
                <a:r>
                  <a:rPr lang="zh-CN" altLang="en-US">
                    <a:noFill/>
                  </a:rPr>
                  <a:t> </a:t>
                </a:r>
              </a:p>
            </p:txBody>
          </p:sp>
        </mc:Fallback>
      </mc:AlternateContent>
      <p:sp>
        <p:nvSpPr>
          <p:cNvPr id="6" name="文本框 5"/>
          <p:cNvSpPr txBox="1"/>
          <p:nvPr/>
        </p:nvSpPr>
        <p:spPr>
          <a:xfrm>
            <a:off x="952921" y="1843006"/>
            <a:ext cx="7527832" cy="769441"/>
          </a:xfrm>
          <a:prstGeom prst="rect">
            <a:avLst/>
          </a:prstGeom>
          <a:noFill/>
        </p:spPr>
        <p:txBody>
          <a:bodyPr wrap="square" rtlCol="0">
            <a:spAutoFit/>
          </a:bodyPr>
          <a:lstStyle/>
          <a:p>
            <a:r>
              <a:rPr lang="en-US" altLang="zh-CN" sz="2800" b="1" dirty="0">
                <a:solidFill>
                  <a:schemeClr val="tx1"/>
                </a:solidFill>
              </a:rPr>
              <a:t>7.2.3 </a:t>
            </a:r>
            <a:r>
              <a:rPr lang="zh-CN" altLang="en-US" sz="2800" b="1" dirty="0">
                <a:solidFill>
                  <a:schemeClr val="tx1"/>
                </a:solidFill>
              </a:rPr>
              <a:t>三维情况 （略）</a:t>
            </a:r>
            <a:endParaRPr lang="en-US" altLang="zh-CN" sz="2800" b="1" dirty="0">
              <a:solidFill>
                <a:schemeClr val="tx1"/>
              </a:solidFill>
            </a:endParaRPr>
          </a:p>
          <a:p>
            <a:endParaRPr lang="en-US" altLang="zh-CN" sz="1600" dirty="0">
              <a:solidFill>
                <a:schemeClr val="tx1"/>
              </a:solidFill>
            </a:endParaRPr>
          </a:p>
        </p:txBody>
      </p:sp>
      <p:pic>
        <p:nvPicPr>
          <p:cNvPr id="3" name="图片 2"/>
          <p:cNvPicPr>
            <a:picLocks noChangeAspect="1"/>
          </p:cNvPicPr>
          <p:nvPr/>
        </p:nvPicPr>
        <p:blipFill>
          <a:blip r:embed="rId3"/>
          <a:stretch>
            <a:fillRect/>
          </a:stretch>
        </p:blipFill>
        <p:spPr>
          <a:xfrm>
            <a:off x="6911163" y="2227726"/>
            <a:ext cx="4645931" cy="4178587"/>
          </a:xfrm>
          <a:prstGeom prst="rect">
            <a:avLst/>
          </a:prstGeom>
        </p:spPr>
      </p:pic>
    </p:spTree>
    <p:extLst>
      <p:ext uri="{BB962C8B-B14F-4D97-AF65-F5344CB8AC3E}">
        <p14:creationId xmlns:p14="http://schemas.microsoft.com/office/powerpoint/2010/main" val="27727528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3132813"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.3 </a:t>
                </a:r>
                <a:r>
                  <a:rPr lang="zh-CN" altLang="en-US" sz="2800" dirty="0">
                    <a:solidFill>
                      <a:schemeClr val="tx1"/>
                    </a:solidFill>
                  </a:rPr>
                  <a:t>紧束缚近似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3132813"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13164" y="1622859"/>
                <a:ext cx="9598459" cy="5008615"/>
              </a:xfrm>
              <a:prstGeom prst="rect">
                <a:avLst/>
              </a:prstGeom>
              <a:noFill/>
            </p:spPr>
            <p:txBody>
              <a:bodyPr wrap="square" rtlCol="0">
                <a:spAutoFit/>
              </a:bodyPr>
              <a:lstStyle/>
              <a:p>
                <a:pPr>
                  <a:lnSpc>
                    <a:spcPct val="150000"/>
                  </a:lnSpc>
                </a:pPr>
                <a:r>
                  <a:rPr lang="zh-CN" altLang="en-US" sz="2400" dirty="0">
                    <a:solidFill>
                      <a:schemeClr val="tx1"/>
                    </a:solidFill>
                  </a:rPr>
                  <a:t>近自由电子近似，</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zh-CN" altLang="en-US" sz="2400" dirty="0">
                    <a:solidFill>
                      <a:schemeClr val="tx1"/>
                    </a:solidFill>
                  </a:rPr>
                  <a:t>在空间变化较小，可看作微扰，引入了能隙（适用于价电子，离原子核较远）</a:t>
                </a:r>
                <a:endParaRPr lang="en-US" altLang="zh-CN" sz="2400" dirty="0">
                  <a:solidFill>
                    <a:schemeClr val="tx1"/>
                  </a:solidFill>
                </a:endParaRPr>
              </a:p>
              <a:p>
                <a:pPr>
                  <a:lnSpc>
                    <a:spcPct val="150000"/>
                  </a:lnSpc>
                </a:pPr>
                <a:r>
                  <a:rPr lang="zh-CN" altLang="en-US" sz="2400" dirty="0">
                    <a:solidFill>
                      <a:schemeClr val="tx1"/>
                    </a:solidFill>
                  </a:rPr>
                  <a:t>对于内层电子，</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zh-CN" altLang="en-US" sz="2400" dirty="0">
                    <a:solidFill>
                      <a:schemeClr val="tx1"/>
                    </a:solidFill>
                  </a:rPr>
                  <a:t>在空间变化较大，需要新的方法</a:t>
                </a:r>
                <a:endParaRPr lang="en-US" altLang="zh-CN" sz="2400" dirty="0">
                  <a:solidFill>
                    <a:schemeClr val="tx1"/>
                  </a:solidFill>
                </a:endParaRPr>
              </a:p>
              <a:p>
                <a:endParaRPr lang="en-US" altLang="zh-CN" sz="1600" dirty="0">
                  <a:solidFill>
                    <a:schemeClr val="tx1"/>
                  </a:solidFill>
                </a:endParaRPr>
              </a:p>
              <a:p>
                <a:r>
                  <a:rPr lang="en-US" altLang="zh-CN" sz="2800" b="1" dirty="0">
                    <a:solidFill>
                      <a:schemeClr val="tx1"/>
                    </a:solidFill>
                  </a:rPr>
                  <a:t>7.3.1 </a:t>
                </a:r>
                <a:r>
                  <a:rPr lang="zh-CN" altLang="en-US" sz="2800" b="1" dirty="0">
                    <a:solidFill>
                      <a:schemeClr val="tx1"/>
                    </a:solidFill>
                  </a:rPr>
                  <a:t>原子轨道线性组合</a:t>
                </a:r>
                <a:endParaRPr lang="en-US" altLang="zh-CN" sz="2800" b="1" dirty="0">
                  <a:solidFill>
                    <a:schemeClr val="tx1"/>
                  </a:solidFill>
                </a:endParaRPr>
              </a:p>
              <a:p>
                <a:endParaRPr lang="en-US" altLang="zh-CN" sz="1600" dirty="0">
                  <a:solidFill>
                    <a:schemeClr val="tx1"/>
                  </a:solidFill>
                </a:endParaRPr>
              </a:p>
              <a:p>
                <a:pPr>
                  <a:lnSpc>
                    <a:spcPct val="150000"/>
                  </a:lnSpc>
                </a:pPr>
                <a:r>
                  <a:rPr lang="zh-CN" altLang="en-US" sz="2400" dirty="0">
                    <a:solidFill>
                      <a:schemeClr val="tx1"/>
                    </a:solidFill>
                  </a:rPr>
                  <a:t>孤立原子中的电子轨道波函数、能量可认为是已知的。</a:t>
                </a:r>
                <a:endParaRPr lang="en-US" altLang="zh-CN" sz="2400" dirty="0">
                  <a:solidFill>
                    <a:schemeClr val="tx1"/>
                  </a:solidFill>
                </a:endParaRPr>
              </a:p>
              <a:p>
                <a:pPr>
                  <a:lnSpc>
                    <a:spcPct val="150000"/>
                  </a:lnSpc>
                </a:pPr>
                <a:r>
                  <a:rPr lang="zh-CN" altLang="en-US" sz="2400" dirty="0">
                    <a:solidFill>
                      <a:schemeClr val="tx1"/>
                    </a:solidFill>
                  </a:rPr>
                  <a:t>晶体波函数可用孤立原子中电子轨道波函数的线性组合作尝试波函数：</a:t>
                </a:r>
                <a:endParaRPr lang="en-US" altLang="zh-CN" sz="2400" dirty="0">
                  <a:solidFill>
                    <a:schemeClr val="tx1"/>
                  </a:solidFill>
                </a:endParaRPr>
              </a:p>
              <a:p>
                <a:pPr>
                  <a:lnSpc>
                    <a:spcPct val="150000"/>
                  </a:lnSpc>
                </a:pPr>
                <a14:m>
                  <m:oMath xmlns:m="http://schemas.openxmlformats.org/officeDocument/2006/math">
                    <m:r>
                      <m:rPr>
                        <m:nor/>
                      </m:rPr>
                      <a:rPr lang="zh-CN" altLang="en-US" sz="2400" dirty="0">
                        <a:solidFill>
                          <a:schemeClr val="tx1"/>
                        </a:solidFill>
                        <a:sym typeface="Symbol" panose="05050102010706020507" pitchFamily="18" charset="2"/>
                      </a:rPr>
                      <m:t></m:t>
                    </m:r>
                    <m:d>
                      <m:dPr>
                        <m:ctrlPr>
                          <a:rPr lang="en-US" altLang="zh-CN" sz="2400" i="1" dirty="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𝒓</m:t>
                        </m:r>
                      </m:e>
                    </m:d>
                    <m:r>
                      <a:rPr lang="en-US" altLang="zh-CN" sz="2400" b="0" i="1" dirty="0" smtClean="0">
                        <a:solidFill>
                          <a:schemeClr val="tx1"/>
                        </a:solidFill>
                        <a:latin typeface="Cambria Math" panose="02040503050406030204" pitchFamily="18" charset="0"/>
                      </a:rPr>
                      <m:t>=</m:t>
                    </m:r>
                    <m:sSup>
                      <m:sSupPr>
                        <m:ctrlPr>
                          <a:rPr lang="en-US" altLang="zh-CN" sz="2400" b="0" i="1" dirty="0" smtClean="0">
                            <a:solidFill>
                              <a:schemeClr val="tx1"/>
                            </a:solidFill>
                            <a:latin typeface="Cambria Math" panose="02040503050406030204" pitchFamily="18" charset="0"/>
                          </a:rPr>
                        </m:ctrlPr>
                      </m:sSupPr>
                      <m:e>
                        <m:nary>
                          <m:naryPr>
                            <m:chr m:val="∑"/>
                            <m:supHide m:val="on"/>
                            <m:ctrlPr>
                              <a:rPr lang="en-US" altLang="zh-CN" sz="2400" i="1" dirty="0">
                                <a:solidFill>
                                  <a:schemeClr val="tx1"/>
                                </a:solidFill>
                                <a:latin typeface="Cambria Math" panose="02040503050406030204" pitchFamily="18" charset="0"/>
                              </a:rPr>
                            </m:ctrlPr>
                          </m:naryPr>
                          <m:sub>
                            <m:r>
                              <m:rPr>
                                <m:brk m:alnAt="7"/>
                              </m:rPr>
                              <a:rPr lang="en-US" altLang="zh-CN" sz="2400" i="1" dirty="0">
                                <a:solidFill>
                                  <a:schemeClr val="tx1"/>
                                </a:solidFill>
                                <a:latin typeface="Cambria Math" panose="02040503050406030204" pitchFamily="18" charset="0"/>
                              </a:rPr>
                              <m:t>𝑙</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𝑗</m:t>
                            </m:r>
                            <m:r>
                              <a:rPr lang="en-US" altLang="zh-CN" sz="2400" i="1" dirty="0">
                                <a:solidFill>
                                  <a:schemeClr val="tx1"/>
                                </a:solidFill>
                                <a:latin typeface="Cambria Math" panose="02040503050406030204" pitchFamily="18" charset="0"/>
                              </a:rPr>
                              <m:t>,</m:t>
                            </m:r>
                            <m:r>
                              <a:rPr lang="zh-CN" altLang="en-US" sz="2400" i="1" dirty="0">
                                <a:solidFill>
                                  <a:schemeClr val="tx1"/>
                                </a:solidFill>
                                <a:latin typeface="Cambria Math" panose="02040503050406030204" pitchFamily="18" charset="0"/>
                              </a:rPr>
                              <m:t>𝛼</m:t>
                            </m:r>
                          </m:sub>
                          <m:sup/>
                          <m:e>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𝐴</m:t>
                                </m:r>
                              </m:e>
                              <m:sub>
                                <m:r>
                                  <a:rPr lang="en-US" altLang="zh-CN" sz="2400" i="1" dirty="0">
                                    <a:solidFill>
                                      <a:schemeClr val="tx1"/>
                                    </a:solidFill>
                                    <a:latin typeface="Cambria Math" panose="02040503050406030204" pitchFamily="18" charset="0"/>
                                  </a:rPr>
                                  <m:t>𝑙</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𝑗</m:t>
                                </m:r>
                              </m:sub>
                              <m:sup>
                                <m:r>
                                  <a:rPr lang="zh-CN" altLang="en-US" sz="2400" i="1" dirty="0">
                                    <a:solidFill>
                                      <a:schemeClr val="tx1"/>
                                    </a:solidFill>
                                    <a:latin typeface="Cambria Math" panose="02040503050406030204" pitchFamily="18" charset="0"/>
                                  </a:rPr>
                                  <m:t>𝛼</m:t>
                                </m:r>
                              </m:sup>
                            </m:sSubSup>
                          </m:e>
                        </m:nary>
                        <m:r>
                          <m:rPr>
                            <m:nor/>
                          </m:rPr>
                          <a:rPr lang="zh-CN" altLang="en-US" sz="2400" dirty="0">
                            <a:solidFill>
                              <a:schemeClr val="tx1"/>
                            </a:solidFill>
                            <a:sym typeface="Symbol" panose="05050102010706020507" pitchFamily="18" charset="2"/>
                          </a:rPr>
                          <m:t></m:t>
                        </m:r>
                      </m:e>
                      <m:sup>
                        <m:r>
                          <a:rPr lang="zh-CN" altLang="en-US" sz="2400" i="1" dirty="0">
                            <a:solidFill>
                              <a:schemeClr val="tx1"/>
                            </a:solidFill>
                            <a:latin typeface="Cambria Math" panose="02040503050406030204" pitchFamily="18" charset="0"/>
                          </a:rPr>
                          <m:t>𝛼</m:t>
                        </m:r>
                      </m:sup>
                    </m:sSup>
                    <m:r>
                      <a:rPr lang="en-US" altLang="zh-CN" sz="2400" b="0" i="1" dirty="0" smtClean="0">
                        <a:solidFill>
                          <a:schemeClr val="tx1"/>
                        </a:solidFill>
                        <a:latin typeface="Cambria Math" panose="02040503050406030204" pitchFamily="18" charset="0"/>
                      </a:rPr>
                      <m:t>(</m:t>
                    </m:r>
                    <m:r>
                      <a:rPr lang="en-US" altLang="zh-CN" sz="2400" b="1" i="1" dirty="0">
                        <a:solidFill>
                          <a:schemeClr val="tx1"/>
                        </a:solidFill>
                        <a:latin typeface="Cambria Math" panose="02040503050406030204" pitchFamily="18" charset="0"/>
                      </a:rPr>
                      <m:t>𝒓</m:t>
                    </m:r>
                    <m:r>
                      <a:rPr lang="en-US" altLang="zh-CN" sz="2400" b="1" i="1" dirty="0" smtClean="0">
                        <a:solidFill>
                          <a:schemeClr val="tx1"/>
                        </a:solidFill>
                        <a:latin typeface="Cambria Math" panose="02040503050406030204" pitchFamily="18" charset="0"/>
                      </a:rPr>
                      <m:t>−</m:t>
                    </m:r>
                    <m:sSub>
                      <m:sSubPr>
                        <m:ctrlPr>
                          <a:rPr lang="en-US" altLang="zh-CN" sz="2400" b="1" i="1" dirty="0" smtClean="0">
                            <a:solidFill>
                              <a:schemeClr val="tx1"/>
                            </a:solidFill>
                            <a:latin typeface="Cambria Math" panose="02040503050406030204" pitchFamily="18" charset="0"/>
                          </a:rPr>
                        </m:ctrlPr>
                      </m:sSubPr>
                      <m:e>
                        <m:r>
                          <a:rPr lang="en-US" altLang="zh-CN" sz="2400" b="1" i="1" dirty="0" smtClean="0">
                            <a:solidFill>
                              <a:schemeClr val="tx1"/>
                            </a:solidFill>
                            <a:latin typeface="Cambria Math" panose="02040503050406030204" pitchFamily="18" charset="0"/>
                          </a:rPr>
                          <m:t>𝑹</m:t>
                        </m:r>
                      </m:e>
                      <m:sub>
                        <m:r>
                          <a:rPr lang="en-US" altLang="zh-CN" sz="2400" b="1" i="1" dirty="0" smtClean="0">
                            <a:solidFill>
                              <a:schemeClr val="tx1"/>
                            </a:solidFill>
                            <a:latin typeface="Cambria Math" panose="02040503050406030204" pitchFamily="18" charset="0"/>
                          </a:rPr>
                          <m:t>𝒍</m:t>
                        </m:r>
                      </m:sub>
                    </m:sSub>
                    <m:r>
                      <a:rPr lang="en-US" altLang="zh-CN" sz="2400" b="1" i="1" dirty="0" smtClean="0">
                        <a:solidFill>
                          <a:schemeClr val="tx1"/>
                        </a:solidFill>
                        <a:latin typeface="Cambria Math" panose="02040503050406030204" pitchFamily="18" charset="0"/>
                      </a:rPr>
                      <m:t>−</m:t>
                    </m:r>
                    <m:sSub>
                      <m:sSubPr>
                        <m:ctrlPr>
                          <a:rPr lang="en-US" altLang="zh-CN" sz="2400" b="1" i="1" dirty="0" smtClean="0">
                            <a:solidFill>
                              <a:schemeClr val="tx1"/>
                            </a:solidFill>
                            <a:latin typeface="Cambria Math" panose="02040503050406030204" pitchFamily="18" charset="0"/>
                          </a:rPr>
                        </m:ctrlPr>
                      </m:sSubPr>
                      <m:e>
                        <m:r>
                          <a:rPr lang="en-US" altLang="zh-CN" sz="2400" b="1" i="1" dirty="0" smtClean="0">
                            <a:solidFill>
                              <a:schemeClr val="tx1"/>
                            </a:solidFill>
                            <a:latin typeface="Cambria Math" panose="02040503050406030204" pitchFamily="18" charset="0"/>
                          </a:rPr>
                          <m:t>𝒅</m:t>
                        </m:r>
                      </m:e>
                      <m:sub>
                        <m:r>
                          <a:rPr lang="en-US" altLang="zh-CN" sz="2400" b="1" i="1" dirty="0" smtClean="0">
                            <a:solidFill>
                              <a:schemeClr val="tx1"/>
                            </a:solidFill>
                            <a:latin typeface="Cambria Math" panose="02040503050406030204" pitchFamily="18" charset="0"/>
                          </a:rPr>
                          <m:t>𝒋</m:t>
                        </m:r>
                      </m:sub>
                    </m:sSub>
                    <m:r>
                      <a:rPr lang="en-US" altLang="zh-CN" sz="2400" b="0" i="1" dirty="0" smtClean="0">
                        <a:solidFill>
                          <a:schemeClr val="tx1"/>
                        </a:solidFill>
                        <a:latin typeface="Cambria Math" panose="02040503050406030204" pitchFamily="18" charset="0"/>
                      </a:rPr>
                      <m:t>)</m:t>
                    </m:r>
                  </m:oMath>
                </a14:m>
                <a:r>
                  <a:rPr lang="en-US" altLang="zh-CN" sz="2400" dirty="0">
                    <a:solidFill>
                      <a:schemeClr val="tx1"/>
                    </a:solidFill>
                  </a:rPr>
                  <a:t>    </a:t>
                </a:r>
                <a:r>
                  <a:rPr lang="zh-CN" altLang="en-US" sz="2400" dirty="0">
                    <a:solidFill>
                      <a:schemeClr val="tx1"/>
                    </a:solidFill>
                  </a:rPr>
                  <a:t>，</a:t>
                </a:r>
                <a:r>
                  <a:rPr lang="en-US" altLang="zh-CN" sz="2400" dirty="0">
                    <a:solidFill>
                      <a:schemeClr val="tx1"/>
                    </a:solidFill>
                  </a:rPr>
                  <a:t> </a:t>
                </a:r>
                <a14:m>
                  <m:oMath xmlns:m="http://schemas.openxmlformats.org/officeDocument/2006/math">
                    <m:r>
                      <m:rPr>
                        <m:brk m:alnAt="7"/>
                      </m:rPr>
                      <a:rPr lang="en-US" altLang="zh-CN" sz="2400" i="1" dirty="0">
                        <a:solidFill>
                          <a:schemeClr val="tx1"/>
                        </a:solidFill>
                        <a:latin typeface="Cambria Math" panose="02040503050406030204" pitchFamily="18" charset="0"/>
                      </a:rPr>
                      <m:t>𝑙</m:t>
                    </m:r>
                    <m:r>
                      <a:rPr lang="zh-CN" altLang="en-US" sz="2400" i="1" dirty="0" smtClean="0">
                        <a:solidFill>
                          <a:schemeClr val="tx1"/>
                        </a:solidFill>
                        <a:latin typeface="Cambria Math" panose="02040503050406030204" pitchFamily="18" charset="0"/>
                      </a:rPr>
                      <m:t>为</m:t>
                    </m:r>
                    <m:r>
                      <a:rPr lang="zh-CN" altLang="en-US" sz="2400" i="1" dirty="0">
                        <a:solidFill>
                          <a:schemeClr val="tx1"/>
                        </a:solidFill>
                        <a:latin typeface="Cambria Math" panose="02040503050406030204" pitchFamily="18" charset="0"/>
                      </a:rPr>
                      <m:t>原胞</m:t>
                    </m:r>
                    <m:r>
                      <a:rPr lang="zh-CN" altLang="en-US" sz="2400" i="1" dirty="0" smtClean="0">
                        <a:solidFill>
                          <a:schemeClr val="tx1"/>
                        </a:solidFill>
                        <a:latin typeface="Cambria Math" panose="02040503050406030204" pitchFamily="18" charset="0"/>
                      </a:rPr>
                      <m:t>序号</m:t>
                    </m:r>
                    <m:r>
                      <a:rPr lang="zh-CN" altLang="en-US"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𝑗</m:t>
                    </m:r>
                    <m:r>
                      <a:rPr lang="zh-CN" altLang="en-US" sz="2400" i="1" dirty="0" smtClean="0">
                        <a:solidFill>
                          <a:schemeClr val="tx1"/>
                        </a:solidFill>
                        <a:latin typeface="Cambria Math" panose="02040503050406030204" pitchFamily="18" charset="0"/>
                      </a:rPr>
                      <m:t>为</m:t>
                    </m:r>
                    <m:r>
                      <a:rPr lang="zh-CN" altLang="en-US" sz="2400" i="1" dirty="0">
                        <a:solidFill>
                          <a:schemeClr val="tx1"/>
                        </a:solidFill>
                        <a:latin typeface="Cambria Math" panose="02040503050406030204" pitchFamily="18" charset="0"/>
                      </a:rPr>
                      <m:t>原胞</m:t>
                    </m:r>
                    <m:r>
                      <a:rPr lang="zh-CN" altLang="en-US" sz="2400" i="1" dirty="0" smtClean="0">
                        <a:solidFill>
                          <a:schemeClr val="tx1"/>
                        </a:solidFill>
                        <a:latin typeface="Cambria Math" panose="02040503050406030204" pitchFamily="18" charset="0"/>
                      </a:rPr>
                      <m:t>中</m:t>
                    </m:r>
                    <m:r>
                      <a:rPr lang="zh-CN" altLang="en-US" sz="2400" i="1" dirty="0">
                        <a:solidFill>
                          <a:schemeClr val="tx1"/>
                        </a:solidFill>
                        <a:latin typeface="Cambria Math" panose="02040503050406030204" pitchFamily="18" charset="0"/>
                      </a:rPr>
                      <m:t>原子</m:t>
                    </m:r>
                    <m:r>
                      <a:rPr lang="zh-CN" altLang="en-US" sz="2400" i="1" dirty="0" smtClean="0">
                        <a:solidFill>
                          <a:schemeClr val="tx1"/>
                        </a:solidFill>
                        <a:latin typeface="Cambria Math" panose="02040503050406030204" pitchFamily="18" charset="0"/>
                      </a:rPr>
                      <m:t>序号</m:t>
                    </m:r>
                    <m:r>
                      <a:rPr lang="zh-CN" altLang="en-US" sz="2400" i="1" dirty="0">
                        <a:solidFill>
                          <a:schemeClr val="tx1"/>
                        </a:solidFill>
                        <a:latin typeface="Cambria Math" panose="02040503050406030204" pitchFamily="18" charset="0"/>
                      </a:rPr>
                      <m:t>，</m:t>
                    </m:r>
                    <m:r>
                      <a:rPr lang="zh-CN" altLang="en-US" sz="2400" i="1" dirty="0">
                        <a:solidFill>
                          <a:schemeClr val="tx1"/>
                        </a:solidFill>
                        <a:latin typeface="Cambria Math" panose="02040503050406030204" pitchFamily="18" charset="0"/>
                      </a:rPr>
                      <m:t>𝛼</m:t>
                    </m:r>
                    <m:r>
                      <a:rPr lang="zh-CN" altLang="en-US" sz="2400" i="1" dirty="0" smtClean="0">
                        <a:solidFill>
                          <a:schemeClr val="tx1"/>
                        </a:solidFill>
                        <a:latin typeface="Cambria Math" panose="02040503050406030204" pitchFamily="18" charset="0"/>
                      </a:rPr>
                      <m:t>为</m:t>
                    </m:r>
                  </m:oMath>
                </a14:m>
                <a:r>
                  <a:rPr lang="zh-CN" altLang="en-US" sz="2400" dirty="0">
                    <a:solidFill>
                      <a:schemeClr val="tx1"/>
                    </a:solidFill>
                  </a:rPr>
                  <a:t>电子轨道序号</a:t>
                </a:r>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13164" y="1622859"/>
                <a:ext cx="9598459" cy="5008615"/>
              </a:xfrm>
              <a:prstGeom prst="rect">
                <a:avLst/>
              </a:prstGeom>
              <a:blipFill rotWithShape="1">
                <a:blip r:embed="rId3"/>
                <a:stretch>
                  <a:fillRect l="-1334" r="-13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51440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3132813"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.3 </a:t>
                </a:r>
                <a:r>
                  <a:rPr lang="zh-CN" altLang="en-US" sz="2800" dirty="0">
                    <a:solidFill>
                      <a:schemeClr val="tx1"/>
                    </a:solidFill>
                  </a:rPr>
                  <a:t>紧束缚近似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3132813"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13164" y="1622859"/>
                <a:ext cx="11951936" cy="5408660"/>
              </a:xfrm>
              <a:prstGeom prst="rect">
                <a:avLst/>
              </a:prstGeom>
              <a:noFill/>
            </p:spPr>
            <p:txBody>
              <a:bodyPr wrap="square" rtlCol="0">
                <a:spAutoFit/>
              </a:bodyPr>
              <a:lstStyle/>
              <a:p>
                <a:r>
                  <a:rPr lang="en-US" altLang="zh-CN" sz="2800" b="1" dirty="0">
                    <a:solidFill>
                      <a:schemeClr val="tx1"/>
                    </a:solidFill>
                  </a:rPr>
                  <a:t>7.3.1 </a:t>
                </a:r>
                <a:r>
                  <a:rPr lang="zh-CN" altLang="en-US" sz="2800" b="1" dirty="0">
                    <a:solidFill>
                      <a:schemeClr val="tx1"/>
                    </a:solidFill>
                  </a:rPr>
                  <a:t>原子轨道线性组合</a:t>
                </a:r>
                <a:endParaRPr lang="en-US" altLang="zh-CN" sz="2800" b="1" dirty="0">
                  <a:solidFill>
                    <a:schemeClr val="tx1"/>
                  </a:solidFill>
                </a:endParaRPr>
              </a:p>
              <a:p>
                <a:pPr>
                  <a:lnSpc>
                    <a:spcPct val="150000"/>
                  </a:lnSpc>
                </a:pPr>
                <a14:m>
                  <m:oMath xmlns:m="http://schemas.openxmlformats.org/officeDocument/2006/math">
                    <m:r>
                      <m:rPr>
                        <m:nor/>
                      </m:rPr>
                      <a:rPr lang="zh-CN" altLang="en-US" sz="2400" dirty="0">
                        <a:solidFill>
                          <a:schemeClr val="tx1"/>
                        </a:solidFill>
                        <a:sym typeface="Symbol" panose="05050102010706020507" pitchFamily="18" charset="2"/>
                      </a:rPr>
                      <m:t></m:t>
                    </m:r>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zh-CN" altLang="en-US" sz="2400" dirty="0">
                    <a:solidFill>
                      <a:schemeClr val="tx1"/>
                    </a:solidFill>
                  </a:rPr>
                  <a:t>应满足布洛赫定理，因此：</a:t>
                </a:r>
                <a14:m>
                  <m:oMath xmlns:m="http://schemas.openxmlformats.org/officeDocument/2006/math">
                    <m:sSubSup>
                      <m:sSubSupPr>
                        <m:ctrlPr>
                          <a:rPr lang="en-US" altLang="zh-CN" sz="2400" i="1" smtClean="0">
                            <a:solidFill>
                              <a:schemeClr val="tx1"/>
                            </a:solidFill>
                            <a:latin typeface="Cambria Math" panose="02040503050406030204" pitchFamily="18" charset="0"/>
                          </a:rPr>
                        </m:ctrlPr>
                      </m:sSubSupPr>
                      <m:e>
                        <m:r>
                          <a:rPr lang="en-US" altLang="zh-CN" sz="2400" b="0" i="1" smtClean="0">
                            <a:solidFill>
                              <a:schemeClr val="tx1"/>
                            </a:solidFill>
                            <a:latin typeface="Cambria Math" panose="02040503050406030204" pitchFamily="18" charset="0"/>
                          </a:rPr>
                          <m:t>𝐴</m:t>
                        </m:r>
                      </m:e>
                      <m:sub>
                        <m:r>
                          <a:rPr lang="en-US" altLang="zh-CN" sz="2400" b="0" i="1" smtClean="0">
                            <a:solidFill>
                              <a:schemeClr val="tx1"/>
                            </a:solidFill>
                            <a:latin typeface="Cambria Math" panose="02040503050406030204" pitchFamily="18" charset="0"/>
                          </a:rPr>
                          <m:t>𝑙</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𝑗</m:t>
                        </m:r>
                      </m:sub>
                      <m:sup>
                        <m:r>
                          <a:rPr lang="zh-CN" altLang="en-US" sz="2400" i="1" dirty="0">
                            <a:solidFill>
                              <a:schemeClr val="tx1"/>
                            </a:solidFill>
                            <a:latin typeface="Cambria Math" panose="02040503050406030204" pitchFamily="18" charset="0"/>
                          </a:rPr>
                          <m:t>𝛼</m:t>
                        </m:r>
                      </m:sup>
                    </m:sSubSup>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ad>
                          <m:radPr>
                            <m:degHide m:val="on"/>
                            <m:ctrlPr>
                              <a:rPr lang="en-US" altLang="zh-CN" sz="2400" b="0" i="1" smtClean="0">
                                <a:solidFill>
                                  <a:schemeClr val="tx1"/>
                                </a:solidFill>
                                <a:latin typeface="Cambria Math" panose="02040503050406030204" pitchFamily="18" charset="0"/>
                              </a:rPr>
                            </m:ctrlPr>
                          </m:radPr>
                          <m:deg/>
                          <m:e>
                            <m:r>
                              <a:rPr lang="en-US" altLang="zh-CN" sz="2400" b="0" i="1" smtClean="0">
                                <a:solidFill>
                                  <a:schemeClr val="tx1"/>
                                </a:solidFill>
                                <a:latin typeface="Cambria Math" panose="02040503050406030204" pitchFamily="18" charset="0"/>
                              </a:rPr>
                              <m:t>𝑁</m:t>
                            </m:r>
                          </m:e>
                        </m:rad>
                      </m:den>
                    </m:f>
                    <m:sSubSup>
                      <m:sSubSupPr>
                        <m:ctrlPr>
                          <a:rPr lang="en-US" altLang="zh-CN" sz="2400" b="0" i="1" smtClean="0">
                            <a:solidFill>
                              <a:schemeClr val="tx1"/>
                            </a:solidFill>
                            <a:latin typeface="Cambria Math" panose="02040503050406030204" pitchFamily="18" charset="0"/>
                          </a:rPr>
                        </m:ctrlPr>
                      </m:sSubSupPr>
                      <m:e>
                        <m:r>
                          <a:rPr lang="en-US" altLang="zh-CN" sz="2400" b="0" i="1" smtClean="0">
                            <a:solidFill>
                              <a:schemeClr val="tx1"/>
                            </a:solidFill>
                            <a:latin typeface="Cambria Math" panose="02040503050406030204" pitchFamily="18" charset="0"/>
                          </a:rPr>
                          <m:t>𝐴</m:t>
                        </m:r>
                      </m:e>
                      <m:sub>
                        <m:r>
                          <a:rPr lang="en-US" altLang="zh-CN" sz="2400" b="0" i="1" smtClean="0">
                            <a:solidFill>
                              <a:schemeClr val="tx1"/>
                            </a:solidFill>
                            <a:latin typeface="Cambria Math" panose="02040503050406030204" pitchFamily="18" charset="0"/>
                          </a:rPr>
                          <m:t>𝑗</m:t>
                        </m:r>
                      </m:sub>
                      <m:sup>
                        <m:r>
                          <a:rPr lang="zh-CN" altLang="en-US" sz="2400" i="1" dirty="0">
                            <a:solidFill>
                              <a:schemeClr val="tx1"/>
                            </a:solidFill>
                            <a:latin typeface="Cambria Math" panose="02040503050406030204" pitchFamily="18" charset="0"/>
                          </a:rPr>
                          <m:t>𝛼</m:t>
                        </m:r>
                      </m:sup>
                    </m:sSubSup>
                    <m:sSup>
                      <m:sSupPr>
                        <m:ctrlPr>
                          <a:rPr lang="en-US" altLang="zh-CN" sz="2400" b="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𝑒</m:t>
                        </m:r>
                      </m:e>
                      <m:sup>
                        <m:r>
                          <a:rPr lang="en-US" altLang="zh-CN" sz="2400" b="0" i="1" smtClean="0">
                            <a:solidFill>
                              <a:schemeClr val="tx1"/>
                            </a:solidFill>
                            <a:latin typeface="Cambria Math" panose="02040503050406030204" pitchFamily="18" charset="0"/>
                          </a:rPr>
                          <m:t>𝑖𝑘</m:t>
                        </m:r>
                        <m:r>
                          <a:rPr lang="en-US" altLang="zh-CN" sz="2400" b="0" i="1" smtClean="0">
                            <a:solidFill>
                              <a:schemeClr val="tx1"/>
                            </a:solidFill>
                            <a:latin typeface="Cambria Math" panose="02040503050406030204" pitchFamily="18" charset="0"/>
                            <a:ea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sup>
                    </m:sSup>
                  </m:oMath>
                </a14:m>
                <a:endParaRPr lang="en-US" altLang="zh-CN" sz="2400" dirty="0">
                  <a:solidFill>
                    <a:schemeClr val="tx1"/>
                  </a:solidFill>
                </a:endParaRPr>
              </a:p>
              <a:p>
                <a:pPr>
                  <a:lnSpc>
                    <a:spcPct val="150000"/>
                  </a:lnSpc>
                </a:pPr>
                <a:r>
                  <a:rPr lang="zh-CN" altLang="en-US" sz="2400" dirty="0">
                    <a:solidFill>
                      <a:schemeClr val="tx1"/>
                    </a:solidFill>
                  </a:rPr>
                  <a:t>考虑简单晶格，只一个电子轨道：</a:t>
                </a:r>
                <a14:m>
                  <m:oMath xmlns:m="http://schemas.openxmlformats.org/officeDocument/2006/math">
                    <m:sSub>
                      <m:sSubPr>
                        <m:ctrlPr>
                          <a:rPr lang="en-US" altLang="zh-CN" sz="2400" i="1" dirty="0">
                            <a:solidFill>
                              <a:schemeClr val="tx1"/>
                            </a:solidFill>
                            <a:latin typeface="Cambria Math" panose="02040503050406030204" pitchFamily="18" charset="0"/>
                            <a:sym typeface="Symbol" panose="05050102010706020507" pitchFamily="18" charset="2"/>
                          </a:rPr>
                        </m:ctrlPr>
                      </m:sSubPr>
                      <m:e>
                        <m:r>
                          <m:rPr>
                            <m:nor/>
                          </m:rPr>
                          <a:rPr lang="zh-CN" altLang="en-US" sz="2400" dirty="0">
                            <a:solidFill>
                              <a:schemeClr val="tx1"/>
                            </a:solidFill>
                            <a:sym typeface="Symbol" panose="05050102010706020507" pitchFamily="18" charset="2"/>
                          </a:rPr>
                          <m:t></m:t>
                        </m:r>
                      </m:e>
                      <m:sub>
                        <m:r>
                          <a:rPr lang="en-US" altLang="zh-CN" sz="2400" b="1" i="1" dirty="0">
                            <a:solidFill>
                              <a:schemeClr val="tx1"/>
                            </a:solidFill>
                            <a:latin typeface="Cambria Math" panose="02040503050406030204" pitchFamily="18" charset="0"/>
                            <a:sym typeface="Symbol" panose="05050102010706020507" pitchFamily="18" charset="2"/>
                          </a:rPr>
                          <m:t>𝒌</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r>
                      <a:rPr lang="en-US" altLang="zh-CN" sz="2400" i="1" dirty="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ad>
                          <m:radPr>
                            <m:degHide m:val="on"/>
                            <m:ctrlPr>
                              <a:rPr lang="en-US" altLang="zh-CN" sz="2400" i="1">
                                <a:solidFill>
                                  <a:schemeClr val="tx1"/>
                                </a:solidFill>
                                <a:latin typeface="Cambria Math" panose="02040503050406030204" pitchFamily="18" charset="0"/>
                              </a:rPr>
                            </m:ctrlPr>
                          </m:radPr>
                          <m:deg/>
                          <m:e>
                            <m:r>
                              <a:rPr lang="en-US" altLang="zh-CN" sz="2400" i="1">
                                <a:solidFill>
                                  <a:schemeClr val="tx1"/>
                                </a:solidFill>
                                <a:latin typeface="Cambria Math" panose="02040503050406030204" pitchFamily="18" charset="0"/>
                              </a:rPr>
                              <m:t>𝑁</m:t>
                            </m:r>
                          </m:e>
                        </m:rad>
                      </m:den>
                    </m:f>
                    <m:nary>
                      <m:naryPr>
                        <m:chr m:val="∑"/>
                        <m:supHide m:val="on"/>
                        <m:ctrlPr>
                          <a:rPr lang="en-US" altLang="zh-CN" sz="2400" i="1" dirty="0">
                            <a:solidFill>
                              <a:schemeClr val="tx1"/>
                            </a:solidFill>
                            <a:latin typeface="Cambria Math" panose="02040503050406030204" pitchFamily="18" charset="0"/>
                          </a:rPr>
                        </m:ctrlPr>
                      </m:naryPr>
                      <m:sub>
                        <m:r>
                          <m:rPr>
                            <m:brk m:alnAt="7"/>
                          </m:rPr>
                          <a:rPr lang="en-US" altLang="zh-CN" sz="2400" i="1" dirty="0">
                            <a:solidFill>
                              <a:schemeClr val="tx1"/>
                            </a:solidFill>
                            <a:latin typeface="Cambria Math" panose="02040503050406030204" pitchFamily="18" charset="0"/>
                          </a:rPr>
                          <m:t>𝑙</m:t>
                        </m:r>
                      </m:sub>
                      <m:sup/>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𝑒</m:t>
                            </m:r>
                          </m:e>
                          <m:sup>
                            <m:r>
                              <a:rPr lang="en-US" altLang="zh-CN" sz="2400" i="1">
                                <a:solidFill>
                                  <a:schemeClr val="tx1"/>
                                </a:solidFill>
                                <a:latin typeface="Cambria Math" panose="02040503050406030204" pitchFamily="18" charset="0"/>
                              </a:rPr>
                              <m:t>𝑖𝑘</m:t>
                            </m:r>
                            <m:r>
                              <a:rPr lang="en-US" altLang="zh-CN" sz="2400" i="1">
                                <a:solidFill>
                                  <a:schemeClr val="tx1"/>
                                </a:solidFill>
                                <a:latin typeface="Cambria Math" panose="02040503050406030204" pitchFamily="18" charset="0"/>
                                <a:ea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sup>
                        </m:sSup>
                      </m:e>
                    </m:nary>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b="0" i="1" dirty="0" smtClean="0">
                            <a:solidFill>
                              <a:schemeClr val="tx1"/>
                            </a:solidFill>
                            <a:latin typeface="Cambria Math" panose="02040503050406030204" pitchFamily="18" charset="0"/>
                            <a:sym typeface="Symbol" panose="05050102010706020507" pitchFamily="18" charset="2"/>
                          </a:rPr>
                          <m:t> </m:t>
                        </m:r>
                      </m:sup>
                    </m:sSup>
                    <m:r>
                      <a:rPr lang="en-US" altLang="zh-CN" sz="2400" i="1" dirty="0">
                        <a:solidFill>
                          <a:schemeClr val="tx1"/>
                        </a:solidFill>
                        <a:latin typeface="Cambria Math" panose="02040503050406030204" pitchFamily="18" charset="0"/>
                      </a:rPr>
                      <m:t>(</m:t>
                    </m:r>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r>
                      <a:rPr lang="en-US" altLang="zh-CN" sz="2400" i="1" dirty="0">
                        <a:solidFill>
                          <a:schemeClr val="tx1"/>
                        </a:solidFill>
                        <a:latin typeface="Cambria Math" panose="02040503050406030204" pitchFamily="18" charset="0"/>
                      </a:rPr>
                      <m:t>)</m:t>
                    </m:r>
                  </m:oMath>
                </a14:m>
                <a:r>
                  <a:rPr lang="en-US" altLang="zh-CN" sz="2400" dirty="0">
                    <a:solidFill>
                      <a:schemeClr val="tx1"/>
                    </a:solidFill>
                  </a:rPr>
                  <a:t> </a:t>
                </a:r>
              </a:p>
              <a:p>
                <a:pPr>
                  <a:lnSpc>
                    <a:spcPct val="150000"/>
                  </a:lnSpc>
                </a:pPr>
                <a:r>
                  <a:rPr lang="zh-CN" altLang="en-US" sz="2400" dirty="0">
                    <a:solidFill>
                      <a:schemeClr val="tx1"/>
                    </a:solidFill>
                  </a:rPr>
                  <a:t>晶格中电子的势场用孤立原子势场近似：</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en-US" altLang="zh-CN" sz="2400" dirty="0">
                    <a:solidFill>
                      <a:schemeClr val="tx1"/>
                    </a:solidFill>
                  </a:rPr>
                  <a:t>=</a:t>
                </a:r>
                <a14:m>
                  <m:oMath xmlns:m="http://schemas.openxmlformats.org/officeDocument/2006/math">
                    <m:nary>
                      <m:naryPr>
                        <m:chr m:val="∑"/>
                        <m:supHide m:val="on"/>
                        <m:ctrlPr>
                          <a:rPr lang="en-US" altLang="zh-CN" sz="2400" i="1" dirty="0">
                            <a:solidFill>
                              <a:schemeClr val="tx1"/>
                            </a:solidFill>
                            <a:latin typeface="Cambria Math" panose="02040503050406030204" pitchFamily="18" charset="0"/>
                          </a:rPr>
                        </m:ctrlPr>
                      </m:naryPr>
                      <m:sub>
                        <m:sSup>
                          <m:sSupPr>
                            <m:ctrlPr>
                              <a:rPr lang="en-US" altLang="zh-CN" sz="2400" b="0" i="1" dirty="0" smtClean="0">
                                <a:solidFill>
                                  <a:schemeClr val="tx1"/>
                                </a:solidFill>
                                <a:latin typeface="Cambria Math" panose="02040503050406030204" pitchFamily="18" charset="0"/>
                              </a:rPr>
                            </m:ctrlPr>
                          </m:sSupPr>
                          <m:e>
                            <m:r>
                              <m:rPr>
                                <m:brk m:alnAt="7"/>
                              </m:rPr>
                              <a:rPr lang="en-US" altLang="zh-CN" sz="2400" i="1" dirty="0">
                                <a:solidFill>
                                  <a:schemeClr val="tx1"/>
                                </a:solidFill>
                                <a:latin typeface="Cambria Math" panose="02040503050406030204" pitchFamily="18" charset="0"/>
                              </a:rPr>
                              <m:t>𝑙</m:t>
                            </m:r>
                          </m:e>
                          <m:sup>
                            <m:r>
                              <a:rPr lang="en-US" altLang="zh-CN" sz="2400" b="0" i="1" dirty="0" smtClean="0">
                                <a:solidFill>
                                  <a:schemeClr val="tx1"/>
                                </a:solidFill>
                                <a:latin typeface="Cambria Math" panose="02040503050406030204" pitchFamily="18" charset="0"/>
                              </a:rPr>
                              <m:t>′</m:t>
                            </m:r>
                          </m:sup>
                        </m:sSup>
                        <m:r>
                          <m:rPr>
                            <m:brk m:alnAt="7"/>
                          </m:rPr>
                          <a:rPr lang="en-US" altLang="zh-CN" sz="2400" b="0" i="1" dirty="0" smtClean="0">
                            <a:solidFill>
                              <a:schemeClr val="tx1"/>
                            </a:solidFill>
                            <a:latin typeface="Cambria Math" panose="02040503050406030204" pitchFamily="18" charset="0"/>
                          </a:rPr>
                          <m:t> </m:t>
                        </m:r>
                      </m:sub>
                      <m:sup/>
                      <m:e>
                        <m:r>
                          <a:rPr lang="en-US" altLang="zh-CN" sz="2400" b="0" i="1" dirty="0" smtClean="0">
                            <a:solidFill>
                              <a:schemeClr val="tx1"/>
                            </a:solidFill>
                            <a:latin typeface="Cambria Math" panose="02040503050406030204" pitchFamily="18" charset="0"/>
                          </a:rPr>
                          <m:t>𝑣</m:t>
                        </m:r>
                        <m:r>
                          <a:rPr lang="en-US" altLang="zh-CN" sz="2400" b="1" i="1" dirty="0" smtClean="0">
                            <a:solidFill>
                              <a:schemeClr val="tx1"/>
                            </a:solidFill>
                            <a:latin typeface="Cambria Math" panose="02040503050406030204" pitchFamily="18" charset="0"/>
                          </a:rPr>
                          <m:t>(</m:t>
                        </m:r>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sSup>
                              <m:sSupPr>
                                <m:ctrlPr>
                                  <a:rPr lang="en-US" altLang="zh-CN" sz="2400" b="1" i="1" dirty="0" smtClean="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𝒍</m:t>
                                </m:r>
                              </m:e>
                              <m:sup>
                                <m:r>
                                  <a:rPr lang="en-US" altLang="zh-CN" sz="2400" b="1" i="1" dirty="0" smtClean="0">
                                    <a:solidFill>
                                      <a:schemeClr val="tx1"/>
                                    </a:solidFill>
                                    <a:latin typeface="Cambria Math" panose="02040503050406030204" pitchFamily="18" charset="0"/>
                                  </a:rPr>
                                  <m:t>′</m:t>
                                </m:r>
                              </m:sup>
                            </m:sSup>
                          </m:sub>
                        </m:sSub>
                        <m:r>
                          <a:rPr lang="en-US" altLang="zh-CN" sz="2400" b="1" i="1" dirty="0" smtClean="0">
                            <a:solidFill>
                              <a:schemeClr val="tx1"/>
                            </a:solidFill>
                            <a:latin typeface="Cambria Math" panose="02040503050406030204" pitchFamily="18" charset="0"/>
                          </a:rPr>
                          <m:t>)</m:t>
                        </m:r>
                      </m:e>
                    </m:nary>
                  </m:oMath>
                </a14:m>
                <a:r>
                  <a:rPr lang="en-US" altLang="zh-CN" sz="2400" dirty="0">
                    <a:solidFill>
                      <a:schemeClr val="tx1"/>
                    </a:solidFill>
                  </a:rPr>
                  <a:t>[</a:t>
                </a:r>
                <a:r>
                  <a:rPr lang="zh-CN" altLang="en-US" sz="2400" dirty="0">
                    <a:solidFill>
                      <a:schemeClr val="tx1"/>
                    </a:solidFill>
                  </a:rPr>
                  <a:t>满足</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e>
                    </m:d>
                  </m:oMath>
                </a14:m>
                <a:r>
                  <a:rPr lang="en-US" altLang="zh-CN" sz="2400" dirty="0">
                    <a:solidFill>
                      <a:schemeClr val="tx1"/>
                    </a:solidFill>
                  </a:rPr>
                  <a:t>=</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en-US" altLang="zh-CN" sz="2400" dirty="0">
                    <a:solidFill>
                      <a:schemeClr val="tx1"/>
                    </a:solidFill>
                  </a:rPr>
                  <a:t>]</a:t>
                </a:r>
              </a:p>
              <a:p>
                <a:pPr>
                  <a:lnSpc>
                    <a:spcPct val="150000"/>
                  </a:lnSpc>
                </a:pPr>
                <a:r>
                  <a:rPr lang="zh-CN" altLang="en-US" sz="2400" dirty="0">
                    <a:solidFill>
                      <a:schemeClr val="tx1"/>
                    </a:solidFill>
                  </a:rPr>
                  <a:t>代入薛定谔方程，得：</a:t>
                </a:r>
                <a14:m>
                  <m:oMath xmlns:m="http://schemas.openxmlformats.org/officeDocument/2006/math">
                    <m:nary>
                      <m:naryPr>
                        <m:chr m:val="∑"/>
                        <m:supHide m:val="on"/>
                        <m:ctrlPr>
                          <a:rPr lang="en-US" altLang="zh-CN" sz="2400" i="1" dirty="0">
                            <a:solidFill>
                              <a:schemeClr val="tx1"/>
                            </a:solidFill>
                            <a:latin typeface="Cambria Math" panose="02040503050406030204" pitchFamily="18" charset="0"/>
                          </a:rPr>
                        </m:ctrlPr>
                      </m:naryPr>
                      <m:sub>
                        <m:r>
                          <m:rPr>
                            <m:brk m:alnAt="7"/>
                          </m:rPr>
                          <a:rPr lang="en-US" altLang="zh-CN" sz="2400" i="1" dirty="0">
                            <a:solidFill>
                              <a:schemeClr val="tx1"/>
                            </a:solidFill>
                            <a:latin typeface="Cambria Math" panose="02040503050406030204" pitchFamily="18" charset="0"/>
                          </a:rPr>
                          <m:t>𝑙</m:t>
                        </m:r>
                      </m:sub>
                      <m:sup/>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𝑒</m:t>
                            </m:r>
                          </m:e>
                          <m:sup>
                            <m:r>
                              <a:rPr lang="en-US" altLang="zh-CN" sz="2400" i="1">
                                <a:solidFill>
                                  <a:schemeClr val="tx1"/>
                                </a:solidFill>
                                <a:latin typeface="Cambria Math" panose="02040503050406030204" pitchFamily="18" charset="0"/>
                              </a:rPr>
                              <m:t>𝑖𝑘</m:t>
                            </m:r>
                            <m:r>
                              <a:rPr lang="en-US" altLang="zh-CN" sz="2400" i="1">
                                <a:solidFill>
                                  <a:schemeClr val="tx1"/>
                                </a:solidFill>
                                <a:latin typeface="Cambria Math" panose="02040503050406030204" pitchFamily="18" charset="0"/>
                                <a:ea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sup>
                        </m:sSup>
                      </m:e>
                    </m:nary>
                    <m:d>
                      <m:dPr>
                        <m:begChr m:val="["/>
                        <m:endChr m:val="]"/>
                        <m:ctrlPr>
                          <a:rPr lang="en-US" altLang="zh-CN" sz="2400" b="1" i="1" dirty="0" smtClean="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smtClean="0">
                                    <a:solidFill>
                                      <a:schemeClr val="tx1"/>
                                    </a:solidFill>
                                    <a:latin typeface="Cambria Math" panose="02040503050406030204" pitchFamily="18" charset="0"/>
                                    <a:ea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b="1" i="1" dirty="0" smtClean="0">
                            <a:solidFill>
                              <a:schemeClr val="tx1"/>
                            </a:solidFill>
                            <a:latin typeface="Cambria Math" panose="02040503050406030204" pitchFamily="18" charset="0"/>
                          </a:rPr>
                          <m:t>+</m:t>
                        </m:r>
                        <m:nary>
                          <m:naryPr>
                            <m:chr m:val="∑"/>
                            <m:supHide m:val="on"/>
                            <m:ctrlPr>
                              <a:rPr lang="en-US" altLang="zh-CN" sz="2400" i="1" dirty="0">
                                <a:solidFill>
                                  <a:schemeClr val="tx1"/>
                                </a:solidFill>
                                <a:latin typeface="Cambria Math" panose="02040503050406030204" pitchFamily="18" charset="0"/>
                              </a:rPr>
                            </m:ctrlPr>
                          </m:naryPr>
                          <m:sub>
                            <m:sSup>
                              <m:sSupPr>
                                <m:ctrlPr>
                                  <a:rPr lang="en-US" altLang="zh-CN" sz="2400" i="1" dirty="0">
                                    <a:solidFill>
                                      <a:schemeClr val="tx1"/>
                                    </a:solidFill>
                                    <a:latin typeface="Cambria Math" panose="02040503050406030204" pitchFamily="18" charset="0"/>
                                  </a:rPr>
                                </m:ctrlPr>
                              </m:sSupPr>
                              <m:e>
                                <m:r>
                                  <m:rPr>
                                    <m:brk m:alnAt="7"/>
                                  </m:rPr>
                                  <a:rPr lang="en-US" altLang="zh-CN" sz="2400" i="1" dirty="0">
                                    <a:solidFill>
                                      <a:schemeClr val="tx1"/>
                                    </a:solidFill>
                                    <a:latin typeface="Cambria Math" panose="02040503050406030204" pitchFamily="18" charset="0"/>
                                  </a:rPr>
                                  <m:t>𝑙</m:t>
                                </m:r>
                              </m:e>
                              <m:sup>
                                <m:r>
                                  <a:rPr lang="en-US" altLang="zh-CN" sz="2400" i="1" dirty="0">
                                    <a:solidFill>
                                      <a:schemeClr val="tx1"/>
                                    </a:solidFill>
                                    <a:latin typeface="Cambria Math" panose="02040503050406030204" pitchFamily="18" charset="0"/>
                                  </a:rPr>
                                  <m:t>′</m:t>
                                </m:r>
                              </m:sup>
                            </m:sSup>
                            <m:r>
                              <m:rPr>
                                <m:brk m:alnAt="7"/>
                              </m:rPr>
                              <a:rPr lang="en-US" altLang="zh-CN" sz="2400" i="1" dirty="0">
                                <a:solidFill>
                                  <a:schemeClr val="tx1"/>
                                </a:solidFill>
                                <a:latin typeface="Cambria Math" panose="02040503050406030204" pitchFamily="18" charset="0"/>
                              </a:rPr>
                              <m:t> </m:t>
                            </m:r>
                          </m:sub>
                          <m:sup/>
                          <m:e>
                            <m:r>
                              <a:rPr lang="en-US" altLang="zh-CN" sz="2400" i="1" dirty="0">
                                <a:solidFill>
                                  <a:schemeClr val="tx1"/>
                                </a:solidFill>
                                <a:latin typeface="Cambria Math" panose="02040503050406030204" pitchFamily="18" charset="0"/>
                              </a:rPr>
                              <m:t>𝑣</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sSup>
                                      <m:sSupPr>
                                        <m:ctrlPr>
                                          <a:rPr lang="en-US" altLang="zh-CN" sz="2400" b="1"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𝒍</m:t>
                                        </m:r>
                                      </m:e>
                                      <m:sup>
                                        <m:r>
                                          <a:rPr lang="en-US" altLang="zh-CN" sz="2400" b="1" i="1" dirty="0">
                                            <a:solidFill>
                                              <a:schemeClr val="tx1"/>
                                            </a:solidFill>
                                            <a:latin typeface="Cambria Math" panose="02040503050406030204" pitchFamily="18" charset="0"/>
                                          </a:rPr>
                                          <m:t>′</m:t>
                                        </m:r>
                                      </m:sup>
                                    </m:sSup>
                                  </m:sub>
                                </m:sSub>
                              </m:e>
                            </m:d>
                          </m:e>
                        </m:nary>
                        <m:r>
                          <a:rPr lang="en-US" altLang="zh-CN" sz="2400" b="1"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𝐸</m:t>
                        </m:r>
                        <m:d>
                          <m:dPr>
                            <m:ctrlPr>
                              <a:rPr lang="en-US" altLang="zh-CN" sz="2400" b="1" i="1" dirty="0" smtClean="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𝒌</m:t>
                            </m:r>
                          </m:e>
                        </m:d>
                      </m:e>
                    </m:d>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dirty="0">
                            <a:solidFill>
                              <a:schemeClr val="tx1"/>
                            </a:solidFill>
                            <a:latin typeface="Cambria Math" panose="02040503050406030204" pitchFamily="18" charset="0"/>
                            <a:sym typeface="Symbol" panose="05050102010706020507" pitchFamily="18" charset="2"/>
                          </a:rPr>
                          <m:t> </m:t>
                        </m:r>
                      </m:sup>
                    </m:sSup>
                    <m:d>
                      <m:dPr>
                        <m:ctrlPr>
                          <a:rPr lang="en-US" altLang="zh-CN" sz="2400" i="1" dirty="0">
                            <a:solidFill>
                              <a:schemeClr val="tx1"/>
                            </a:solidFill>
                            <a:latin typeface="Cambria Math" panose="02040503050406030204" pitchFamily="18" charset="0"/>
                            <a:sym typeface="Symbol" panose="05050102010706020507" pitchFamily="18" charset="2"/>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e>
                    </m:d>
                    <m:r>
                      <a:rPr lang="en-US" altLang="zh-CN" sz="2400" b="0" i="1" dirty="0" smtClean="0">
                        <a:solidFill>
                          <a:schemeClr val="tx1"/>
                        </a:solidFill>
                        <a:latin typeface="Cambria Math" panose="02040503050406030204" pitchFamily="18" charset="0"/>
                      </a:rPr>
                      <m:t>=0</m:t>
                    </m:r>
                  </m:oMath>
                </a14:m>
                <a:r>
                  <a:rPr lang="en-US" altLang="zh-CN" sz="2400" dirty="0">
                    <a:solidFill>
                      <a:schemeClr val="tx1"/>
                    </a:solidFill>
                  </a:rPr>
                  <a:t> </a:t>
                </a:r>
              </a:p>
              <a:p>
                <a:pPr>
                  <a:lnSpc>
                    <a:spcPct val="150000"/>
                  </a:lnSpc>
                </a:pPr>
                <a:r>
                  <a:rPr lang="zh-CN" altLang="en-US" sz="2400" dirty="0">
                    <a:solidFill>
                      <a:schemeClr val="tx1"/>
                    </a:solidFill>
                  </a:rPr>
                  <a:t>上式左乘</a:t>
                </a:r>
                <a14:m>
                  <m:oMath xmlns:m="http://schemas.openxmlformats.org/officeDocument/2006/math">
                    <m:sSup>
                      <m:sSupPr>
                        <m:ctrlPr>
                          <a:rPr lang="en-US" altLang="zh-CN" sz="2400" i="1" dirty="0" smtClean="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zh-CN" altLang="en-US" sz="2400" i="1" dirty="0">
                            <a:solidFill>
                              <a:schemeClr val="tx1"/>
                            </a:solidFill>
                            <a:latin typeface="Cambria Math" panose="02040503050406030204" pitchFamily="18" charset="0"/>
                          </a:rPr>
                          <m:t>∗</m:t>
                        </m:r>
                      </m:sup>
                    </m:sSup>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zh-CN" altLang="en-US" sz="2400" dirty="0">
                    <a:solidFill>
                      <a:schemeClr val="tx1"/>
                    </a:solidFill>
                  </a:rPr>
                  <a:t>并对空间积分，注意</a:t>
                </a:r>
                <a:r>
                  <a:rPr lang="en-US" altLang="zh-CN" sz="2400" dirty="0">
                    <a:solidFill>
                      <a:schemeClr val="tx1"/>
                    </a:solidFill>
                  </a:rPr>
                  <a:t>:</a:t>
                </a:r>
                <a:r>
                  <a:rPr lang="zh-CN" altLang="en-US" sz="2400" dirty="0">
                    <a:solidFill>
                      <a:schemeClr val="tx1"/>
                    </a:solidFill>
                  </a:rPr>
                  <a:t> </a:t>
                </a:r>
                <a:endParaRPr lang="en-US" altLang="zh-CN" sz="24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ea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𝑚</m:t>
                              </m:r>
                            </m:den>
                          </m:f>
                          <m:r>
                            <a:rPr lang="en-US" altLang="zh-CN" sz="2400" b="1"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𝑣</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sSup>
                                    <m:sSupPr>
                                      <m:ctrlPr>
                                        <a:rPr lang="en-US" altLang="zh-CN" sz="2400" b="1"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𝒍</m:t>
                                      </m:r>
                                    </m:e>
                                    <m:sup>
                                      <m:r>
                                        <a:rPr lang="en-US" altLang="zh-CN" sz="2400" b="1" i="1" dirty="0">
                                          <a:solidFill>
                                            <a:schemeClr val="tx1"/>
                                          </a:solidFill>
                                          <a:latin typeface="Cambria Math" panose="02040503050406030204" pitchFamily="18" charset="0"/>
                                        </a:rPr>
                                        <m:t>′</m:t>
                                      </m:r>
                                    </m:sup>
                                  </m:sSup>
                                </m:sub>
                              </m:sSub>
                            </m:e>
                          </m:d>
                        </m:e>
                      </m:d>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dirty="0">
                              <a:solidFill>
                                <a:schemeClr val="tx1"/>
                              </a:solidFill>
                              <a:latin typeface="Cambria Math" panose="02040503050406030204" pitchFamily="18" charset="0"/>
                              <a:sym typeface="Symbol" panose="05050102010706020507" pitchFamily="18" charset="2"/>
                            </a:rPr>
                            <m:t> </m:t>
                          </m:r>
                        </m:sup>
                      </m:sSup>
                      <m:d>
                        <m:dPr>
                          <m:ctrlPr>
                            <a:rPr lang="en-US" altLang="zh-CN" sz="2400" i="1" dirty="0">
                              <a:solidFill>
                                <a:schemeClr val="tx1"/>
                              </a:solidFill>
                              <a:latin typeface="Cambria Math" panose="02040503050406030204" pitchFamily="18" charset="0"/>
                              <a:sym typeface="Symbol" panose="05050102010706020507" pitchFamily="18" charset="2"/>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sSup>
                                <m:sSupPr>
                                  <m:ctrlPr>
                                    <a:rPr lang="en-US" altLang="zh-CN" sz="2400" b="1" i="1" dirty="0" smtClean="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𝒍</m:t>
                                  </m:r>
                                </m:e>
                                <m:sup>
                                  <m:r>
                                    <a:rPr lang="en-US" altLang="zh-CN" sz="2400" b="1" i="1" dirty="0" smtClean="0">
                                      <a:solidFill>
                                        <a:schemeClr val="tx1"/>
                                      </a:solidFill>
                                      <a:latin typeface="Cambria Math" panose="02040503050406030204" pitchFamily="18" charset="0"/>
                                    </a:rPr>
                                    <m:t>′</m:t>
                                  </m:r>
                                </m:sup>
                              </m:sSup>
                            </m:sub>
                          </m:sSub>
                        </m:e>
                      </m:d>
                      <m:r>
                        <a:rPr lang="en-US" altLang="zh-CN" sz="2400" i="1" dirty="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m:rPr>
                              <m:nor/>
                            </m:rPr>
                            <a:rPr lang="en-US" altLang="zh-CN" sz="2400" b="0" i="1" dirty="0" smtClean="0">
                              <a:solidFill>
                                <a:schemeClr val="tx1"/>
                              </a:solidFill>
                              <a:latin typeface="Cambria" panose="02040503050406030204" pitchFamily="18" charset="0"/>
                              <a:ea typeface="Cambria" panose="02040503050406030204" pitchFamily="18" charset="0"/>
                            </a:rPr>
                            <m:t>E</m:t>
                          </m:r>
                        </m:e>
                        <m:sup>
                          <m:r>
                            <a:rPr lang="en-US" altLang="zh-CN" sz="2400" b="0" i="1" dirty="0" smtClean="0">
                              <a:solidFill>
                                <a:schemeClr val="tx1"/>
                              </a:solidFill>
                              <a:latin typeface="Cambria Math" panose="02040503050406030204" pitchFamily="18" charset="0"/>
                              <a:sym typeface="Symbol" panose="05050102010706020507" pitchFamily="18" charset="2"/>
                            </a:rPr>
                            <m:t>𝑠</m:t>
                          </m:r>
                        </m:sup>
                      </m:sSup>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dirty="0">
                              <a:solidFill>
                                <a:schemeClr val="tx1"/>
                              </a:solidFill>
                              <a:latin typeface="Cambria Math" panose="02040503050406030204" pitchFamily="18" charset="0"/>
                              <a:sym typeface="Symbol" panose="05050102010706020507" pitchFamily="18" charset="2"/>
                            </a:rPr>
                            <m:t> </m:t>
                          </m:r>
                        </m:sup>
                      </m:sSup>
                      <m:d>
                        <m:dPr>
                          <m:ctrlPr>
                            <a:rPr lang="en-US" altLang="zh-CN" sz="2400" i="1" dirty="0">
                              <a:solidFill>
                                <a:schemeClr val="tx1"/>
                              </a:solidFill>
                              <a:latin typeface="Cambria Math" panose="02040503050406030204" pitchFamily="18" charset="0"/>
                              <a:sym typeface="Symbol" panose="05050102010706020507" pitchFamily="18" charset="2"/>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sSup>
                                <m:sSupPr>
                                  <m:ctrlPr>
                                    <a:rPr lang="en-US" altLang="zh-CN" sz="2400" b="1"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𝒍</m:t>
                                  </m:r>
                                </m:e>
                                <m:sup>
                                  <m:r>
                                    <a:rPr lang="en-US" altLang="zh-CN" sz="2400" b="1" i="1" dirty="0">
                                      <a:solidFill>
                                        <a:schemeClr val="tx1"/>
                                      </a:solidFill>
                                      <a:latin typeface="Cambria Math" panose="02040503050406030204" pitchFamily="18" charset="0"/>
                                    </a:rPr>
                                    <m:t>′</m:t>
                                  </m:r>
                                </m:sup>
                              </m:sSup>
                            </m:sub>
                          </m:sSub>
                        </m:e>
                      </m:d>
                    </m:oMath>
                  </m:oMathPara>
                </a14:m>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13164" y="1622859"/>
                <a:ext cx="11951936" cy="5408660"/>
              </a:xfrm>
              <a:prstGeom prst="rect">
                <a:avLst/>
              </a:prstGeom>
              <a:blipFill rotWithShape="1">
                <a:blip r:embed="rId3"/>
                <a:stretch>
                  <a:fillRect l="-1071" t="-11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57961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3132813"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.3 </a:t>
                </a:r>
                <a:r>
                  <a:rPr lang="zh-CN" altLang="en-US" sz="2800" dirty="0">
                    <a:solidFill>
                      <a:schemeClr val="tx1"/>
                    </a:solidFill>
                  </a:rPr>
                  <a:t>紧束缚近似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3132813"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467833" y="1626672"/>
                <a:ext cx="12248707" cy="4583755"/>
              </a:xfrm>
              <a:prstGeom prst="rect">
                <a:avLst/>
              </a:prstGeom>
              <a:noFill/>
            </p:spPr>
            <p:txBody>
              <a:bodyPr wrap="square" rtlCol="0">
                <a:spAutoFit/>
              </a:bodyPr>
              <a:lstStyle/>
              <a:p>
                <a:endParaRPr lang="en-US" altLang="zh-CN" sz="1600" dirty="0">
                  <a:solidFill>
                    <a:schemeClr val="tx1"/>
                  </a:solidFill>
                </a:endParaRPr>
              </a:p>
              <a:p>
                <a:r>
                  <a:rPr lang="en-US" altLang="zh-CN" sz="2800" b="1" dirty="0">
                    <a:solidFill>
                      <a:schemeClr val="tx1"/>
                    </a:solidFill>
                  </a:rPr>
                  <a:t>7.3.1 </a:t>
                </a:r>
                <a:r>
                  <a:rPr lang="zh-CN" altLang="en-US" sz="2800" b="1" dirty="0">
                    <a:solidFill>
                      <a:schemeClr val="tx1"/>
                    </a:solidFill>
                  </a:rPr>
                  <a:t>原子轨道线性组合</a:t>
                </a:r>
                <a:endParaRPr lang="en-US" altLang="zh-CN" sz="2800" b="1" dirty="0">
                  <a:solidFill>
                    <a:schemeClr val="tx1"/>
                  </a:solidFill>
                </a:endParaRPr>
              </a:p>
              <a:p>
                <a:r>
                  <a:rPr lang="zh-CN" altLang="en-US" sz="2400" dirty="0">
                    <a:solidFill>
                      <a:schemeClr val="tx1"/>
                    </a:solidFill>
                  </a:rPr>
                  <a:t>得：</a:t>
                </a:r>
                <a:endParaRPr lang="en-US" altLang="zh-CN" sz="2400" dirty="0">
                  <a:solidFill>
                    <a:schemeClr val="tx1"/>
                  </a:solidFill>
                </a:endParaRPr>
              </a:p>
              <a:p>
                <a14:m>
                  <m:oMath xmlns:m="http://schemas.openxmlformats.org/officeDocument/2006/math">
                    <m:r>
                      <a:rPr lang="en-US" altLang="zh-CN" sz="2400" b="0" i="0"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b="1" i="1" dirty="0" smtClean="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m:rPr>
                            <m:nor/>
                          </m:rPr>
                          <a:rPr lang="en-US" altLang="zh-CN" sz="2400" i="1" dirty="0">
                            <a:solidFill>
                              <a:schemeClr val="tx1"/>
                            </a:solidFill>
                            <a:latin typeface="Cambria" panose="02040503050406030204" pitchFamily="18" charset="0"/>
                            <a:ea typeface="Cambria" panose="02040503050406030204" pitchFamily="18" charset="0"/>
                          </a:rPr>
                          <m:t>E</m:t>
                        </m:r>
                      </m:e>
                      <m:sup>
                        <m:r>
                          <a:rPr lang="en-US" altLang="zh-CN" sz="2400" i="1" dirty="0">
                            <a:solidFill>
                              <a:schemeClr val="tx1"/>
                            </a:solidFill>
                            <a:latin typeface="Cambria Math" panose="02040503050406030204" pitchFamily="18" charset="0"/>
                            <a:sym typeface="Symbol" panose="05050102010706020507" pitchFamily="18" charset="2"/>
                          </a:rPr>
                          <m:t>𝑠</m:t>
                        </m:r>
                      </m:sup>
                    </m:sSup>
                    <m:r>
                      <a:rPr lang="en-US" altLang="zh-CN" sz="2400" b="0" i="1" dirty="0" smtClean="0">
                        <a:solidFill>
                          <a:schemeClr val="tx1"/>
                        </a:solidFill>
                        <a:latin typeface="Cambria Math" panose="02040503050406030204" pitchFamily="18" charset="0"/>
                        <a:sym typeface="Symbol" panose="05050102010706020507" pitchFamily="18" charset="2"/>
                      </a:rPr>
                      <m:t>]</m:t>
                    </m:r>
                  </m:oMath>
                </a14:m>
                <a:r>
                  <a:rPr lang="en-US" altLang="zh-CN" sz="2400" dirty="0">
                    <a:solidFill>
                      <a:schemeClr val="tx1"/>
                    </a:solidFill>
                  </a:rPr>
                  <a:t> </a:t>
                </a:r>
                <a14:m>
                  <m:oMath xmlns:m="http://schemas.openxmlformats.org/officeDocument/2006/math">
                    <m:nary>
                      <m:naryPr>
                        <m:chr m:val="∑"/>
                        <m:supHide m:val="on"/>
                        <m:ctrlPr>
                          <a:rPr lang="en-US" altLang="zh-CN" sz="2400" i="1" dirty="0">
                            <a:solidFill>
                              <a:schemeClr val="tx1"/>
                            </a:solidFill>
                            <a:latin typeface="Cambria Math" panose="02040503050406030204" pitchFamily="18" charset="0"/>
                          </a:rPr>
                        </m:ctrlPr>
                      </m:naryPr>
                      <m:sub>
                        <m:r>
                          <m:rPr>
                            <m:brk m:alnAt="7"/>
                          </m:rPr>
                          <a:rPr lang="en-US" altLang="zh-CN" sz="2400" i="1" dirty="0">
                            <a:solidFill>
                              <a:schemeClr val="tx1"/>
                            </a:solidFill>
                            <a:latin typeface="Cambria Math" panose="02040503050406030204" pitchFamily="18" charset="0"/>
                          </a:rPr>
                          <m:t>𝑙</m:t>
                        </m:r>
                      </m:sub>
                      <m:sup/>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𝑒</m:t>
                            </m:r>
                          </m:e>
                          <m:sup>
                            <m:r>
                              <a:rPr lang="en-US" altLang="zh-CN" sz="2400" i="1">
                                <a:solidFill>
                                  <a:schemeClr val="tx1"/>
                                </a:solidFill>
                                <a:latin typeface="Cambria Math" panose="02040503050406030204" pitchFamily="18" charset="0"/>
                              </a:rPr>
                              <m:t>𝑖𝑘</m:t>
                            </m:r>
                            <m:r>
                              <a:rPr lang="en-US" altLang="zh-CN" sz="2400" i="1">
                                <a:solidFill>
                                  <a:schemeClr val="tx1"/>
                                </a:solidFill>
                                <a:latin typeface="Cambria Math" panose="02040503050406030204" pitchFamily="18" charset="0"/>
                                <a:ea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sup>
                        </m:sSup>
                      </m:e>
                    </m:nary>
                    <m:nary>
                      <m:naryPr>
                        <m:limLoc m:val="undOvr"/>
                        <m:subHide m:val="on"/>
                        <m:supHide m:val="on"/>
                        <m:ctrlPr>
                          <a:rPr lang="en-US" altLang="zh-CN" sz="2400" b="1" i="1" dirty="0" smtClean="0">
                            <a:solidFill>
                              <a:schemeClr val="tx1"/>
                            </a:solidFill>
                            <a:latin typeface="Cambria Math" panose="02040503050406030204" pitchFamily="18" charset="0"/>
                          </a:rPr>
                        </m:ctrlPr>
                      </m:naryPr>
                      <m:sub/>
                      <m:sup/>
                      <m:e>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zh-CN" altLang="en-US" sz="2400" i="1" dirty="0">
                                <a:solidFill>
                                  <a:schemeClr val="tx1"/>
                                </a:solidFill>
                                <a:latin typeface="Cambria Math" panose="02040503050406030204" pitchFamily="18" charset="0"/>
                              </a:rPr>
                              <m:t>∗</m:t>
                            </m:r>
                          </m:sup>
                        </m:sSup>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e>
                    </m:nary>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dirty="0">
                            <a:solidFill>
                              <a:schemeClr val="tx1"/>
                            </a:solidFill>
                            <a:latin typeface="Cambria Math" panose="02040503050406030204" pitchFamily="18" charset="0"/>
                            <a:sym typeface="Symbol" panose="05050102010706020507" pitchFamily="18" charset="2"/>
                          </a:rPr>
                          <m:t> </m:t>
                        </m:r>
                      </m:sup>
                    </m:sSup>
                    <m:d>
                      <m:dPr>
                        <m:ctrlPr>
                          <a:rPr lang="en-US" altLang="zh-CN" sz="2400" i="1" dirty="0">
                            <a:solidFill>
                              <a:schemeClr val="tx1"/>
                            </a:solidFill>
                            <a:latin typeface="Cambria Math" panose="02040503050406030204" pitchFamily="18" charset="0"/>
                            <a:sym typeface="Symbol" panose="05050102010706020507" pitchFamily="18" charset="2"/>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e>
                    </m:d>
                    <m:r>
                      <a:rPr lang="en-US" altLang="zh-CN" sz="2400" b="0" i="1" dirty="0" smtClean="0">
                        <a:solidFill>
                          <a:schemeClr val="tx1"/>
                        </a:solidFill>
                        <a:latin typeface="Cambria Math" panose="02040503050406030204" pitchFamily="18" charset="0"/>
                      </a:rPr>
                      <m:t>𝑑</m:t>
                    </m:r>
                    <m:r>
                      <a:rPr lang="zh-CN" altLang="en-US" sz="2400" b="0" i="1" dirty="0" smtClean="0">
                        <a:solidFill>
                          <a:schemeClr val="tx1"/>
                        </a:solidFill>
                        <a:latin typeface="Cambria Math" panose="02040503050406030204" pitchFamily="18" charset="0"/>
                      </a:rPr>
                      <m:t>𝜏</m:t>
                    </m:r>
                    <m:r>
                      <a:rPr lang="en-US" altLang="zh-CN" sz="2400" b="0" i="1" dirty="0" smtClean="0">
                        <a:solidFill>
                          <a:schemeClr val="tx1"/>
                        </a:solidFill>
                        <a:latin typeface="Cambria Math" panose="02040503050406030204" pitchFamily="18" charset="0"/>
                      </a:rPr>
                      <m:t>=</m:t>
                    </m:r>
                    <m:nary>
                      <m:naryPr>
                        <m:chr m:val="∑"/>
                        <m:supHide m:val="on"/>
                        <m:ctrlPr>
                          <a:rPr lang="en-US" altLang="zh-CN" sz="2400" i="1" dirty="0">
                            <a:solidFill>
                              <a:schemeClr val="tx1"/>
                            </a:solidFill>
                            <a:latin typeface="Cambria Math" panose="02040503050406030204" pitchFamily="18" charset="0"/>
                          </a:rPr>
                        </m:ctrlPr>
                      </m:naryPr>
                      <m:sub>
                        <m:r>
                          <m:rPr>
                            <m:brk m:alnAt="7"/>
                          </m:rPr>
                          <a:rPr lang="en-US" altLang="zh-CN" sz="2400" i="1" dirty="0">
                            <a:solidFill>
                              <a:schemeClr val="tx1"/>
                            </a:solidFill>
                            <a:latin typeface="Cambria Math" panose="02040503050406030204" pitchFamily="18" charset="0"/>
                          </a:rPr>
                          <m:t>𝑙</m:t>
                        </m:r>
                      </m:sub>
                      <m:sup/>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𝑒</m:t>
                            </m:r>
                          </m:e>
                          <m:sup>
                            <m:r>
                              <a:rPr lang="en-US" altLang="zh-CN" sz="2400" i="1">
                                <a:solidFill>
                                  <a:schemeClr val="tx1"/>
                                </a:solidFill>
                                <a:latin typeface="Cambria Math" panose="02040503050406030204" pitchFamily="18" charset="0"/>
                              </a:rPr>
                              <m:t>𝑖𝑘</m:t>
                            </m:r>
                            <m:r>
                              <a:rPr lang="en-US" altLang="zh-CN" sz="2400" i="1">
                                <a:solidFill>
                                  <a:schemeClr val="tx1"/>
                                </a:solidFill>
                                <a:latin typeface="Cambria Math" panose="02040503050406030204" pitchFamily="18" charset="0"/>
                                <a:ea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sup>
                        </m:sSup>
                      </m:e>
                    </m:nary>
                    <m:nary>
                      <m:naryPr>
                        <m:limLoc m:val="undOvr"/>
                        <m:subHide m:val="on"/>
                        <m:supHide m:val="on"/>
                        <m:ctrlPr>
                          <a:rPr lang="en-US" altLang="zh-CN" sz="2400" b="1" i="1" dirty="0">
                            <a:solidFill>
                              <a:schemeClr val="tx1"/>
                            </a:solidFill>
                            <a:latin typeface="Cambria Math" panose="02040503050406030204" pitchFamily="18" charset="0"/>
                          </a:rPr>
                        </m:ctrlPr>
                      </m:naryPr>
                      <m:sub/>
                      <m:sup/>
                      <m:e>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zh-CN" altLang="en-US" sz="2400" i="1" dirty="0">
                                <a:solidFill>
                                  <a:schemeClr val="tx1"/>
                                </a:solidFill>
                                <a:latin typeface="Cambria Math" panose="02040503050406030204" pitchFamily="18" charset="0"/>
                              </a:rPr>
                              <m:t>∗</m:t>
                            </m:r>
                          </m:sup>
                        </m:sSup>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e>
                    </m:nary>
                    <m:r>
                      <a:rPr lang="en-US" altLang="zh-CN" sz="2400" b="1" i="1" dirty="0" smtClean="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r>
                      <a:rPr lang="en-US" altLang="zh-CN" sz="2400" b="1"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𝑣</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sSup>
                              <m:sSupPr>
                                <m:ctrlPr>
                                  <a:rPr lang="en-US" altLang="zh-CN" sz="2400" b="1"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𝒍</m:t>
                                </m:r>
                              </m:e>
                              <m:sup>
                                <m:r>
                                  <a:rPr lang="en-US" altLang="zh-CN" sz="2400" b="1" i="1" dirty="0" smtClean="0">
                                    <a:solidFill>
                                      <a:schemeClr val="tx1"/>
                                    </a:solidFill>
                                    <a:latin typeface="Cambria Math" panose="02040503050406030204" pitchFamily="18" charset="0"/>
                                  </a:rPr>
                                  <m:t> </m:t>
                                </m:r>
                              </m:sup>
                            </m:sSup>
                          </m:sub>
                        </m:sSub>
                      </m:e>
                    </m:d>
                    <m:r>
                      <a:rPr lang="en-US" altLang="zh-CN" sz="2400" b="1" i="1" dirty="0" smtClean="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m:rPr>
                            <m:nor/>
                          </m:rPr>
                          <a:rPr lang="zh-CN" altLang="en-US" sz="2400" dirty="0">
                            <a:solidFill>
                              <a:schemeClr val="tx1"/>
                            </a:solidFill>
                            <a:sym typeface="Symbol" panose="05050102010706020507" pitchFamily="18" charset="2"/>
                          </a:rPr>
                          <m:t></m:t>
                        </m:r>
                      </m:e>
                      <m:sup>
                        <m:r>
                          <a:rPr lang="en-US" altLang="zh-CN" sz="2400" i="1" dirty="0">
                            <a:solidFill>
                              <a:schemeClr val="tx1"/>
                            </a:solidFill>
                            <a:latin typeface="Cambria Math" panose="02040503050406030204" pitchFamily="18" charset="0"/>
                            <a:sym typeface="Symbol" panose="05050102010706020507" pitchFamily="18" charset="2"/>
                          </a:rPr>
                          <m:t> </m:t>
                        </m:r>
                      </m:sup>
                    </m:sSup>
                    <m:d>
                      <m:dPr>
                        <m:ctrlPr>
                          <a:rPr lang="en-US" altLang="zh-CN" sz="2400" i="1" dirty="0">
                            <a:solidFill>
                              <a:schemeClr val="tx1"/>
                            </a:solidFill>
                            <a:latin typeface="Cambria Math" panose="02040503050406030204" pitchFamily="18" charset="0"/>
                            <a:sym typeface="Symbol" panose="05050102010706020507" pitchFamily="18" charset="2"/>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e>
                    </m:d>
                    <m:r>
                      <a:rPr lang="en-US" altLang="zh-CN" sz="2400" i="1" dirty="0">
                        <a:solidFill>
                          <a:schemeClr val="tx1"/>
                        </a:solidFill>
                        <a:latin typeface="Cambria Math" panose="02040503050406030204" pitchFamily="18" charset="0"/>
                      </a:rPr>
                      <m:t>𝑑</m:t>
                    </m:r>
                    <m:r>
                      <a:rPr lang="zh-CN" altLang="en-US" sz="2400" i="1" dirty="0">
                        <a:solidFill>
                          <a:schemeClr val="tx1"/>
                        </a:solidFill>
                        <a:latin typeface="Cambria Math" panose="02040503050406030204" pitchFamily="18" charset="0"/>
                      </a:rPr>
                      <m:t>𝜏</m:t>
                    </m:r>
                  </m:oMath>
                </a14:m>
                <a:endParaRPr lang="en-US" altLang="zh-CN" sz="2400" dirty="0">
                  <a:solidFill>
                    <a:schemeClr val="tx1"/>
                  </a:solidFill>
                </a:endParaRPr>
              </a:p>
              <a:p>
                <a:r>
                  <a:rPr lang="en-US" altLang="zh-CN" sz="2400" dirty="0">
                    <a:solidFill>
                      <a:schemeClr val="tx1"/>
                    </a:solidFill>
                  </a:rPr>
                  <a:t>	</a:t>
                </a:r>
                <a:r>
                  <a:rPr lang="en-US" altLang="zh-CN" sz="2400" dirty="0"/>
                  <a:t>      </a:t>
                </a:r>
                <a:r>
                  <a:rPr lang="en-US" altLang="zh-CN" sz="2400" dirty="0">
                    <a:solidFill>
                      <a:schemeClr val="tx1"/>
                    </a:solidFill>
                  </a:rPr>
                  <a:t> </a:t>
                </a:r>
              </a:p>
              <a:p>
                <a:r>
                  <a:rPr lang="en-US" altLang="zh-CN" sz="2400" dirty="0">
                    <a:ea typeface="Cambria Math" panose="02040503050406030204" pitchFamily="18" charset="0"/>
                  </a:rPr>
                  <a:t>				【</a:t>
                </a:r>
                <a14:m>
                  <m:oMath xmlns:m="http://schemas.openxmlformats.org/officeDocument/2006/math">
                    <m:r>
                      <a:rPr lang="en-US" altLang="zh-CN" sz="2400" i="1" smtClean="0">
                        <a:solidFill>
                          <a:schemeClr val="tx1"/>
                        </a:solidFill>
                        <a:latin typeface="Cambria Math" panose="02040503050406030204" pitchFamily="18" charset="0"/>
                        <a:ea typeface="Cambria Math" panose="02040503050406030204" pitchFamily="18" charset="0"/>
                      </a:rPr>
                      <m:t>≈</m:t>
                    </m:r>
                    <m:sSub>
                      <m:sSubPr>
                        <m:ctrlPr>
                          <a:rPr lang="en-US" altLang="zh-CN" sz="2400" i="1" smtClean="0">
                            <a:solidFill>
                              <a:schemeClr val="tx1"/>
                            </a:solidFill>
                            <a:latin typeface="Cambria Math" panose="02040503050406030204" pitchFamily="18" charset="0"/>
                            <a:ea typeface="Cambria Math" panose="02040503050406030204" pitchFamily="18" charset="0"/>
                          </a:rPr>
                        </m:ctrlPr>
                      </m:sSubPr>
                      <m:e>
                        <m:r>
                          <a:rPr lang="zh-CN" altLang="en-US" sz="2400" i="1">
                            <a:solidFill>
                              <a:schemeClr val="tx1"/>
                            </a:solidFill>
                            <a:latin typeface="Cambria Math" panose="02040503050406030204" pitchFamily="18" charset="0"/>
                            <a:ea typeface="Cambria Math" panose="02040503050406030204" pitchFamily="18" charset="0"/>
                          </a:rPr>
                          <m:t>𝛿</m:t>
                        </m:r>
                      </m:e>
                      <m:sub>
                        <m:r>
                          <a:rPr lang="en-US" altLang="zh-CN" sz="2400" b="0" i="1" smtClean="0">
                            <a:solidFill>
                              <a:schemeClr val="tx1"/>
                            </a:solidFill>
                            <a:latin typeface="Cambria Math" panose="02040503050406030204" pitchFamily="18" charset="0"/>
                            <a:ea typeface="Cambria Math" panose="02040503050406030204" pitchFamily="18" charset="0"/>
                          </a:rPr>
                          <m:t>𝑙</m:t>
                        </m:r>
                        <m:r>
                          <a:rPr lang="en-US" altLang="zh-CN" sz="2400" b="0" i="1" smtClean="0">
                            <a:solidFill>
                              <a:schemeClr val="tx1"/>
                            </a:solidFill>
                            <a:latin typeface="Cambria Math" panose="02040503050406030204" pitchFamily="18" charset="0"/>
                            <a:ea typeface="Cambria Math" panose="02040503050406030204" pitchFamily="18" charset="0"/>
                          </a:rPr>
                          <m:t>,0</m:t>
                        </m:r>
                      </m:sub>
                    </m:sSub>
                  </m:oMath>
                </a14:m>
                <a:r>
                  <a:rPr lang="en-US" altLang="zh-CN" sz="2400" dirty="0">
                    <a:solidFill>
                      <a:schemeClr val="tx1"/>
                    </a:solidFill>
                  </a:rPr>
                  <a:t>	    </a:t>
                </a:r>
                <a14:m>
                  <m:oMath xmlns:m="http://schemas.openxmlformats.org/officeDocument/2006/math">
                    <m:r>
                      <a:rPr lang="en-US" altLang="zh-CN" sz="240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𝐶</m:t>
                    </m:r>
                    <m:r>
                      <a:rPr lang="en-US" altLang="zh-CN" sz="2400" b="0" i="1" dirty="0" smtClean="0">
                        <a:solidFill>
                          <a:schemeClr val="tx1"/>
                        </a:solidFill>
                        <a:latin typeface="Cambria Math" panose="02040503050406030204" pitchFamily="18" charset="0"/>
                      </a:rPr>
                      <m:t> (</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r>
                      <a:rPr lang="en-US" altLang="zh-CN" sz="2400" b="0" i="1" dirty="0" smtClean="0">
                        <a:solidFill>
                          <a:schemeClr val="tx1"/>
                        </a:solidFill>
                        <a:latin typeface="Cambria Math" panose="02040503050406030204" pitchFamily="18" charset="0"/>
                      </a:rPr>
                      <m:t>=0)</m:t>
                    </m:r>
                  </m:oMath>
                </a14:m>
                <a:r>
                  <a:rPr lang="zh-CN" altLang="en-US" sz="2400" dirty="0">
                    <a:solidFill>
                      <a:schemeClr val="tx1"/>
                    </a:solidFill>
                  </a:rPr>
                  <a:t>或者</a:t>
                </a:r>
                <a14:m>
                  <m:oMath xmlns:m="http://schemas.openxmlformats.org/officeDocument/2006/math">
                    <m:r>
                      <a:rPr lang="en-US" altLang="zh-CN" sz="2400"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𝐽</m:t>
                        </m:r>
                      </m:e>
                      <m:sub>
                        <m:r>
                          <a:rPr lang="en-US" altLang="zh-CN" sz="2400" b="1" i="1" dirty="0">
                            <a:solidFill>
                              <a:schemeClr val="tx1"/>
                            </a:solidFill>
                            <a:latin typeface="Cambria Math" panose="02040503050406030204" pitchFamily="18" charset="0"/>
                          </a:rPr>
                          <m:t>𝒍</m:t>
                        </m:r>
                      </m:sub>
                    </m:sSub>
                    <m:r>
                      <a:rPr lang="en-US" altLang="zh-CN" sz="2400" b="1" i="1" dirty="0" smtClean="0">
                        <a:solidFill>
                          <a:schemeClr val="tx1"/>
                        </a:solidFill>
                        <a:latin typeface="Cambria Math" panose="02040503050406030204" pitchFamily="18" charset="0"/>
                      </a:rPr>
                      <m:t>  (</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r>
                      <a:rPr lang="en-US" altLang="zh-CN" sz="2400" i="1" dirty="0" smtClean="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0</m:t>
                    </m:r>
                    <m:r>
                      <a:rPr lang="en-US" altLang="zh-CN" sz="2400" b="1" i="1" dirty="0" smtClean="0">
                        <a:solidFill>
                          <a:schemeClr val="tx1"/>
                        </a:solidFill>
                        <a:latin typeface="Cambria Math" panose="02040503050406030204" pitchFamily="18" charset="0"/>
                      </a:rPr>
                      <m:t>)</m:t>
                    </m:r>
                  </m:oMath>
                </a14:m>
                <a:r>
                  <a:rPr lang="zh-CN" altLang="en-US" sz="2400" dirty="0">
                    <a:solidFill>
                      <a:schemeClr val="tx1"/>
                    </a:solidFill>
                  </a:rPr>
                  <a:t> </a:t>
                </a:r>
                <a:r>
                  <a:rPr lang="en-US" altLang="zh-CN" sz="2400" dirty="0">
                    <a:solidFill>
                      <a:schemeClr val="tx1"/>
                    </a:solidFill>
                  </a:rPr>
                  <a:t>】</a:t>
                </a:r>
              </a:p>
              <a:p>
                <a:r>
                  <a:rPr lang="zh-CN" altLang="en-US" sz="2400" dirty="0">
                    <a:solidFill>
                      <a:schemeClr val="tx1"/>
                    </a:solidFill>
                  </a:rPr>
                  <a:t>只取最近邻，</a:t>
                </a:r>
                <a14:m>
                  <m:oMath xmlns:m="http://schemas.openxmlformats.org/officeDocument/2006/math">
                    <m:sSub>
                      <m:sSubPr>
                        <m:ctrlPr>
                          <a:rPr lang="en-US" altLang="zh-CN" sz="2400" b="1"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𝐽</m:t>
                        </m:r>
                      </m:e>
                      <m:sub>
                        <m:r>
                          <a:rPr lang="en-US" altLang="zh-CN" sz="2400" b="1" i="1" dirty="0">
                            <a:solidFill>
                              <a:schemeClr val="tx1"/>
                            </a:solidFill>
                            <a:latin typeface="Cambria Math" panose="02040503050406030204" pitchFamily="18" charset="0"/>
                          </a:rPr>
                          <m:t>𝒍</m:t>
                        </m:r>
                      </m:sub>
                    </m:sSub>
                    <m:r>
                      <a:rPr lang="en-US" altLang="zh-CN" sz="2400" b="1" i="1" dirty="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𝐽</m:t>
                    </m:r>
                  </m:oMath>
                </a14:m>
                <a:r>
                  <a:rPr lang="en-US" altLang="zh-CN" sz="2400" dirty="0">
                    <a:solidFill>
                      <a:schemeClr val="tx1"/>
                    </a:solidFill>
                  </a:rPr>
                  <a:t>, </a:t>
                </a:r>
                <a:r>
                  <a:rPr lang="zh-CN" altLang="en-US" sz="2400" dirty="0">
                    <a:solidFill>
                      <a:schemeClr val="tx1"/>
                    </a:solidFill>
                  </a:rPr>
                  <a:t>则：</a:t>
                </a:r>
                <a:endParaRPr lang="en-US" altLang="zh-CN" sz="2400" dirty="0">
                  <a:solidFill>
                    <a:schemeClr val="tx1"/>
                  </a:solidFill>
                </a:endParaRPr>
              </a:p>
              <a:p>
                <a:pPr/>
                <a14:m>
                  <m:oMathPara xmlns:m="http://schemas.openxmlformats.org/officeDocument/2006/math">
                    <m:oMathParaPr>
                      <m:jc m:val="left"/>
                    </m:oMathParaPr>
                    <m:oMath xmlns:m="http://schemas.openxmlformats.org/officeDocument/2006/math">
                      <m:r>
                        <a:rPr lang="en-US" altLang="zh-CN" sz="2400" i="1" dirty="0">
                          <a:solidFill>
                            <a:schemeClr val="tx1"/>
                          </a:solidFill>
                          <a:latin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b="1" i="1" dirty="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m:rPr>
                              <m:nor/>
                            </m:rPr>
                            <a:rPr lang="en-US" altLang="zh-CN" sz="2400" i="1" dirty="0">
                              <a:solidFill>
                                <a:schemeClr val="tx1"/>
                              </a:solidFill>
                              <a:latin typeface="Cambria" panose="02040503050406030204" pitchFamily="18" charset="0"/>
                              <a:ea typeface="Cambria" panose="02040503050406030204" pitchFamily="18" charset="0"/>
                            </a:rPr>
                            <m:t>E</m:t>
                          </m:r>
                        </m:e>
                        <m:sup>
                          <m:r>
                            <a:rPr lang="en-US" altLang="zh-CN" sz="2400" i="1" dirty="0">
                              <a:solidFill>
                                <a:schemeClr val="tx1"/>
                              </a:solidFill>
                              <a:latin typeface="Cambria Math" panose="02040503050406030204" pitchFamily="18" charset="0"/>
                              <a:sym typeface="Symbol" panose="05050102010706020507" pitchFamily="18" charset="2"/>
                            </a:rPr>
                            <m:t>𝑠</m:t>
                          </m:r>
                        </m:sup>
                      </m:sSup>
                      <m:r>
                        <a:rPr lang="en-US" altLang="zh-CN" sz="2400" b="0" i="1" dirty="0" smtClean="0">
                          <a:solidFill>
                            <a:schemeClr val="tx1"/>
                          </a:solidFill>
                          <a:latin typeface="Cambria Math" panose="02040503050406030204" pitchFamily="18" charset="0"/>
                          <a:sym typeface="Symbol" panose="05050102010706020507" pitchFamily="18" charset="2"/>
                        </a:rPr>
                        <m:t>+</m:t>
                      </m:r>
                      <m:r>
                        <a:rPr lang="en-US" altLang="zh-CN" sz="2400" b="0" i="1" dirty="0" smtClean="0">
                          <a:solidFill>
                            <a:schemeClr val="tx1"/>
                          </a:solidFill>
                          <a:latin typeface="Cambria Math" panose="02040503050406030204" pitchFamily="18" charset="0"/>
                          <a:sym typeface="Symbol" panose="05050102010706020507" pitchFamily="18" charset="2"/>
                        </a:rPr>
                        <m:t>𝐶</m:t>
                      </m:r>
                      <m:r>
                        <a:rPr lang="en-US" altLang="zh-CN" sz="2400" b="0" i="1" dirty="0" smtClean="0">
                          <a:solidFill>
                            <a:schemeClr val="tx1"/>
                          </a:solidFill>
                          <a:latin typeface="Cambria Math" panose="02040503050406030204" pitchFamily="18" charset="0"/>
                          <a:sym typeface="Symbol" panose="05050102010706020507" pitchFamily="18" charset="2"/>
                        </a:rPr>
                        <m:t>−</m:t>
                      </m:r>
                      <m:r>
                        <a:rPr lang="en-US" altLang="zh-CN" sz="2400" b="0" i="1" dirty="0" smtClean="0">
                          <a:solidFill>
                            <a:schemeClr val="tx1"/>
                          </a:solidFill>
                          <a:latin typeface="Cambria Math" panose="02040503050406030204" pitchFamily="18" charset="0"/>
                          <a:sym typeface="Symbol" panose="05050102010706020507" pitchFamily="18" charset="2"/>
                        </a:rPr>
                        <m:t>𝐽</m:t>
                      </m:r>
                      <m:nary>
                        <m:naryPr>
                          <m:chr m:val="∑"/>
                          <m:supHide m:val="on"/>
                          <m:ctrlPr>
                            <a:rPr lang="en-US" altLang="zh-CN" sz="2400" i="1" dirty="0">
                              <a:solidFill>
                                <a:schemeClr val="tx1"/>
                              </a:solidFill>
                              <a:latin typeface="Cambria Math" panose="02040503050406030204" pitchFamily="18" charset="0"/>
                            </a:rPr>
                          </m:ctrlPr>
                        </m:naryPr>
                        <m:sub>
                          <m:r>
                            <m:rPr>
                              <m:brk m:alnAt="7"/>
                            </m:rPr>
                            <a:rPr lang="en-US" altLang="zh-CN" sz="2400" i="1" dirty="0">
                              <a:solidFill>
                                <a:schemeClr val="tx1"/>
                              </a:solidFill>
                              <a:latin typeface="Cambria Math" panose="02040503050406030204" pitchFamily="18" charset="0"/>
                            </a:rPr>
                            <m:t>𝑙</m:t>
                          </m:r>
                        </m:sub>
                        <m:sup/>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𝑒</m:t>
                              </m:r>
                            </m:e>
                            <m:sup>
                              <m:r>
                                <a:rPr lang="en-US" altLang="zh-CN" sz="2400" i="1">
                                  <a:solidFill>
                                    <a:schemeClr val="tx1"/>
                                  </a:solidFill>
                                  <a:latin typeface="Cambria Math" panose="02040503050406030204" pitchFamily="18" charset="0"/>
                                </a:rPr>
                                <m:t>𝑖𝑘</m:t>
                              </m:r>
                              <m:r>
                                <a:rPr lang="en-US" altLang="zh-CN" sz="2400" i="1">
                                  <a:solidFill>
                                    <a:schemeClr val="tx1"/>
                                  </a:solidFill>
                                  <a:latin typeface="Cambria Math" panose="02040503050406030204" pitchFamily="18" charset="0"/>
                                  <a:ea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a:solidFill>
                                        <a:schemeClr val="tx1"/>
                                      </a:solidFill>
                                      <a:latin typeface="Cambria Math" panose="02040503050406030204" pitchFamily="18" charset="0"/>
                                    </a:rPr>
                                    <m:t>𝒍</m:t>
                                  </m:r>
                                </m:sub>
                              </m:sSub>
                            </m:sup>
                          </m:sSup>
                        </m:e>
                      </m:nary>
                    </m:oMath>
                  </m:oMathPara>
                </a14:m>
                <a:endParaRPr lang="en-US" altLang="zh-CN" sz="2400" dirty="0">
                  <a:solidFill>
                    <a:schemeClr val="tx1"/>
                  </a:solidFill>
                </a:endParaRPr>
              </a:p>
              <a:p>
                <a:r>
                  <a:rPr lang="en-US" altLang="zh-CN" sz="2400" dirty="0">
                    <a:solidFill>
                      <a:schemeClr val="tx1"/>
                    </a:solidFill>
                  </a:rPr>
                  <a:t>* </a:t>
                </a:r>
                <a:r>
                  <a:rPr lang="zh-CN" altLang="en-US" sz="2400" dirty="0">
                    <a:solidFill>
                      <a:schemeClr val="tx1"/>
                    </a:solidFill>
                  </a:rPr>
                  <a:t>因为</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r>
                      <a:rPr lang="en-US" altLang="zh-CN" sz="2400" b="1"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𝑣</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oMath>
                </a14:m>
                <a:r>
                  <a:rPr lang="zh-CN" altLang="en-US" sz="2400" dirty="0">
                    <a:solidFill>
                      <a:schemeClr val="tx1"/>
                    </a:solidFill>
                  </a:rPr>
                  <a:t>和</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𝑉</m:t>
                        </m:r>
                      </m:e>
                      <m:sub>
                        <m:r>
                          <a:rPr lang="en-US" altLang="zh-CN" sz="2400" i="1" dirty="0">
                            <a:solidFill>
                              <a:schemeClr val="tx1"/>
                            </a:solidFill>
                            <a:latin typeface="Cambria Math" panose="02040503050406030204" pitchFamily="18" charset="0"/>
                          </a:rPr>
                          <m:t> </m:t>
                        </m:r>
                      </m:sub>
                    </m:sSub>
                    <m:d>
                      <m:dPr>
                        <m:ctrlPr>
                          <a:rPr lang="en-US" altLang="zh-CN" sz="2400"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e>
                    </m:d>
                    <m:r>
                      <a:rPr lang="en-US" altLang="zh-CN" sz="2400" b="1"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𝑣</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𝒓</m:t>
                        </m:r>
                        <m:r>
                          <a:rPr lang="en-US" altLang="zh-CN" sz="2400" b="1" i="1" dirty="0">
                            <a:solidFill>
                              <a:schemeClr val="tx1"/>
                            </a:solidFill>
                            <a:latin typeface="Cambria Math" panose="02040503050406030204" pitchFamily="18" charset="0"/>
                          </a:rPr>
                          <m:t>−</m:t>
                        </m:r>
                        <m:sSub>
                          <m:sSubPr>
                            <m:ctrlPr>
                              <a:rPr lang="en-US" altLang="zh-CN"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𝑹</m:t>
                            </m:r>
                          </m:e>
                          <m:sub>
                            <m:r>
                              <a:rPr lang="en-US" altLang="zh-CN" sz="2400" b="1" i="1" dirty="0" smtClean="0">
                                <a:solidFill>
                                  <a:schemeClr val="tx1"/>
                                </a:solidFill>
                                <a:latin typeface="Cambria Math" panose="02040503050406030204" pitchFamily="18" charset="0"/>
                              </a:rPr>
                              <m:t>𝒍</m:t>
                            </m:r>
                          </m:sub>
                        </m:sSub>
                      </m:e>
                    </m:d>
                  </m:oMath>
                </a14:m>
                <a:r>
                  <a:rPr lang="zh-CN" altLang="en-US" sz="2400" dirty="0">
                    <a:solidFill>
                      <a:schemeClr val="tx1"/>
                    </a:solidFill>
                  </a:rPr>
                  <a:t>都为负，则</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𝐶</m:t>
                    </m:r>
                    <m:r>
                      <a:rPr lang="en-US" altLang="zh-CN" sz="240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&lt;</m:t>
                    </m:r>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0</m:t>
                    </m:r>
                    <m:r>
                      <a:rPr lang="zh-CN" altLang="en-US" sz="2400"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𝐽</m:t>
                    </m:r>
                    <m:r>
                      <a:rPr lang="en-US" altLang="zh-CN" sz="240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&gt;</m:t>
                    </m:r>
                    <m:r>
                      <a:rPr lang="en-US" altLang="zh-CN" sz="2400" b="0" i="1" dirty="0"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0</m:t>
                    </m:r>
                  </m:oMath>
                </a14:m>
                <a:endParaRPr lang="en-US" altLang="zh-CN" sz="2400" dirty="0">
                  <a:solidFill>
                    <a:schemeClr val="tx1"/>
                  </a:solidFill>
                </a:endParaRPr>
              </a:p>
              <a:p>
                <a:pPr marL="285750" indent="-285750">
                  <a:buFont typeface="Arial" panose="020B0604020202020204" pitchFamily="34" charset="0"/>
                  <a:buChar char="•"/>
                </a:pPr>
                <a:endParaRPr lang="en-US" altLang="zh-CN" sz="16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67833" y="1626672"/>
                <a:ext cx="12248707" cy="4583755"/>
              </a:xfrm>
              <a:prstGeom prst="rect">
                <a:avLst/>
              </a:prstGeom>
              <a:blipFill rotWithShape="0">
                <a:blip r:embed="rId3"/>
                <a:stretch>
                  <a:fillRect l="-1344" b="-41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183252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3132813"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.3 </a:t>
                </a:r>
                <a:r>
                  <a:rPr lang="zh-CN" altLang="en-US" sz="2800" dirty="0">
                    <a:solidFill>
                      <a:schemeClr val="tx1"/>
                    </a:solidFill>
                  </a:rPr>
                  <a:t>紧束缚近似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3132813"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13164" y="1495859"/>
                <a:ext cx="11278836" cy="4095545"/>
              </a:xfrm>
              <a:prstGeom prst="rect">
                <a:avLst/>
              </a:prstGeom>
              <a:noFill/>
            </p:spPr>
            <p:txBody>
              <a:bodyPr wrap="square" rtlCol="0">
                <a:spAutoFit/>
              </a:bodyPr>
              <a:lstStyle/>
              <a:p>
                <a:endParaRPr lang="en-US" altLang="zh-CN" sz="1600" dirty="0">
                  <a:solidFill>
                    <a:schemeClr val="tx1"/>
                  </a:solidFill>
                </a:endParaRPr>
              </a:p>
              <a:p>
                <a:r>
                  <a:rPr lang="en-US" altLang="zh-CN" sz="2800" b="1" dirty="0">
                    <a:solidFill>
                      <a:schemeClr val="tx1"/>
                    </a:solidFill>
                  </a:rPr>
                  <a:t>7.3.2  </a:t>
                </a:r>
                <a:r>
                  <a:rPr lang="zh-CN" altLang="en-US" sz="2800" b="1" dirty="0">
                    <a:solidFill>
                      <a:schemeClr val="tx1"/>
                    </a:solidFill>
                  </a:rPr>
                  <a:t>能带和有效质量</a:t>
                </a:r>
                <a:endParaRPr lang="en-US" altLang="zh-CN" sz="2800" b="1" dirty="0">
                  <a:solidFill>
                    <a:schemeClr val="tx1"/>
                  </a:solidFill>
                </a:endParaRPr>
              </a:p>
              <a:p>
                <a:endParaRPr lang="en-US" altLang="zh-CN" sz="1600" b="1" dirty="0">
                  <a:solidFill>
                    <a:schemeClr val="tx1"/>
                  </a:solidFill>
                </a:endParaRPr>
              </a:p>
              <a:p>
                <a:r>
                  <a:rPr lang="zh-CN" altLang="en-US" sz="2400" dirty="0">
                    <a:solidFill>
                      <a:schemeClr val="tx1"/>
                    </a:solidFill>
                  </a:rPr>
                  <a:t>举例：体心立方，</a:t>
                </a:r>
                <a:r>
                  <a:rPr lang="en-US" altLang="zh-CN" sz="2400" dirty="0">
                    <a:solidFill>
                      <a:schemeClr val="tx1"/>
                    </a:solidFill>
                  </a:rPr>
                  <a:t>8</a:t>
                </a:r>
                <a:r>
                  <a:rPr lang="zh-CN" altLang="en-US" sz="2400" dirty="0">
                    <a:solidFill>
                      <a:schemeClr val="tx1"/>
                    </a:solidFill>
                  </a:rPr>
                  <a:t>个最近邻，可得：</a:t>
                </a:r>
                <a:endParaRPr lang="en-US" altLang="zh-CN" sz="2400" dirty="0">
                  <a:solidFill>
                    <a:schemeClr val="tx1"/>
                  </a:solidFill>
                </a:endParaRPr>
              </a:p>
              <a:p>
                <a:pPr/>
                <a14:m>
                  <m:oMathPara xmlns:m="http://schemas.openxmlformats.org/officeDocument/2006/math">
                    <m:oMathParaPr>
                      <m:jc m:val="left"/>
                    </m:oMathParaPr>
                    <m:oMath xmlns:m="http://schemas.openxmlformats.org/officeDocument/2006/math">
                      <m:r>
                        <a:rPr lang="en-US" altLang="zh-CN" sz="2400" i="1" dirty="0">
                          <a:solidFill>
                            <a:schemeClr val="tx1"/>
                          </a:solidFill>
                          <a:latin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b="1" i="1" dirty="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m:rPr>
                              <m:nor/>
                            </m:rPr>
                            <a:rPr lang="en-US" altLang="zh-CN" sz="2400" i="1" dirty="0">
                              <a:solidFill>
                                <a:schemeClr val="tx1"/>
                              </a:solidFill>
                              <a:latin typeface="Cambria" panose="02040503050406030204" pitchFamily="18" charset="0"/>
                              <a:ea typeface="Cambria" panose="02040503050406030204" pitchFamily="18" charset="0"/>
                            </a:rPr>
                            <m:t>E</m:t>
                          </m:r>
                        </m:e>
                        <m:sup>
                          <m:r>
                            <a:rPr lang="en-US" altLang="zh-CN" sz="2400" i="1" dirty="0">
                              <a:solidFill>
                                <a:schemeClr val="tx1"/>
                              </a:solidFill>
                              <a:latin typeface="Cambria Math" panose="02040503050406030204" pitchFamily="18" charset="0"/>
                              <a:sym typeface="Symbol" panose="05050102010706020507" pitchFamily="18" charset="2"/>
                            </a:rPr>
                            <m:t>𝑠</m:t>
                          </m:r>
                        </m:sup>
                      </m:sSup>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𝐶</m:t>
                      </m:r>
                      <m:r>
                        <a:rPr lang="en-US" altLang="zh-CN" sz="2400" i="1" dirty="0">
                          <a:solidFill>
                            <a:schemeClr val="tx1"/>
                          </a:solidFill>
                          <a:latin typeface="Cambria Math" panose="02040503050406030204" pitchFamily="18" charset="0"/>
                          <a:sym typeface="Symbol" panose="05050102010706020507" pitchFamily="18" charset="2"/>
                        </a:rPr>
                        <m:t>−8 </m:t>
                      </m:r>
                      <m:r>
                        <a:rPr lang="en-US" altLang="zh-CN" sz="2400" i="1" dirty="0">
                          <a:solidFill>
                            <a:schemeClr val="tx1"/>
                          </a:solidFill>
                          <a:latin typeface="Cambria Math" panose="02040503050406030204" pitchFamily="18" charset="0"/>
                          <a:sym typeface="Symbol" panose="05050102010706020507" pitchFamily="18" charset="2"/>
                        </a:rPr>
                        <m:t>𝐽</m:t>
                      </m:r>
                      <m:r>
                        <a:rPr lang="en-US" altLang="zh-CN" sz="2400" b="0" i="1" dirty="0" smtClean="0">
                          <a:solidFill>
                            <a:schemeClr val="tx1"/>
                          </a:solidFill>
                          <a:latin typeface="Cambria Math" panose="02040503050406030204" pitchFamily="18" charset="0"/>
                          <a:sym typeface="Symbol" panose="05050102010706020507" pitchFamily="18" charset="2"/>
                        </a:rPr>
                        <m:t> </m:t>
                      </m:r>
                      <m:r>
                        <a:rPr lang="en-US" altLang="zh-CN" sz="2400" b="0" i="1" dirty="0" smtClean="0">
                          <a:solidFill>
                            <a:schemeClr val="tx1"/>
                          </a:solidFill>
                          <a:latin typeface="Cambria Math" panose="02040503050406030204" pitchFamily="18" charset="0"/>
                          <a:sym typeface="Symbol" panose="05050102010706020507" pitchFamily="18" charset="2"/>
                        </a:rPr>
                        <m:t>𝑐𝑜𝑠</m:t>
                      </m:r>
                      <m:f>
                        <m:fPr>
                          <m:ctrlPr>
                            <a:rPr lang="en-US" altLang="zh-CN" sz="2400" b="0" i="1" dirty="0" smtClean="0">
                              <a:solidFill>
                                <a:schemeClr val="tx1"/>
                              </a:solidFill>
                              <a:latin typeface="Cambria Math" panose="02040503050406030204" pitchFamily="18" charset="0"/>
                              <a:sym typeface="Symbol" panose="05050102010706020507" pitchFamily="18" charset="2"/>
                            </a:rPr>
                          </m:ctrlPr>
                        </m:fPr>
                        <m:num>
                          <m:sSub>
                            <m:sSubPr>
                              <m:ctrlPr>
                                <a:rPr lang="en-US" altLang="zh-CN" sz="2400" b="0" i="1" dirty="0" smtClean="0">
                                  <a:solidFill>
                                    <a:schemeClr val="tx1"/>
                                  </a:solidFill>
                                  <a:latin typeface="Cambria Math" panose="02040503050406030204" pitchFamily="18" charset="0"/>
                                  <a:sym typeface="Symbol" panose="05050102010706020507" pitchFamily="18" charset="2"/>
                                </a:rPr>
                              </m:ctrlPr>
                            </m:sSubPr>
                            <m:e>
                              <m:r>
                                <a:rPr lang="en-US" altLang="zh-CN" sz="2400" b="0" i="1" dirty="0" smtClean="0">
                                  <a:solidFill>
                                    <a:schemeClr val="tx1"/>
                                  </a:solidFill>
                                  <a:latin typeface="Cambria Math" panose="02040503050406030204" pitchFamily="18" charset="0"/>
                                  <a:sym typeface="Symbol" panose="05050102010706020507" pitchFamily="18" charset="2"/>
                                </a:rPr>
                                <m:t>𝑘</m:t>
                              </m:r>
                            </m:e>
                            <m:sub>
                              <m:r>
                                <a:rPr lang="en-US" altLang="zh-CN" sz="2400" b="0" i="1" dirty="0" smtClean="0">
                                  <a:solidFill>
                                    <a:schemeClr val="tx1"/>
                                  </a:solidFill>
                                  <a:latin typeface="Cambria Math" panose="02040503050406030204" pitchFamily="18" charset="0"/>
                                  <a:sym typeface="Symbol" panose="05050102010706020507" pitchFamily="18" charset="2"/>
                                </a:rPr>
                                <m:t>𝑥</m:t>
                              </m:r>
                            </m:sub>
                          </m:sSub>
                          <m:r>
                            <a:rPr lang="en-US" altLang="zh-CN" sz="2400" b="0" i="1" dirty="0" smtClean="0">
                              <a:solidFill>
                                <a:schemeClr val="tx1"/>
                              </a:solidFill>
                              <a:latin typeface="Cambria Math" panose="02040503050406030204" pitchFamily="18" charset="0"/>
                              <a:sym typeface="Symbol" panose="05050102010706020507" pitchFamily="18" charset="2"/>
                            </a:rPr>
                            <m:t>𝑎</m:t>
                          </m:r>
                        </m:num>
                        <m:den>
                          <m:r>
                            <a:rPr lang="en-US" altLang="zh-CN" sz="2400" b="0" i="1" dirty="0" smtClean="0">
                              <a:solidFill>
                                <a:schemeClr val="tx1"/>
                              </a:solidFill>
                              <a:latin typeface="Cambria Math" panose="02040503050406030204" pitchFamily="18" charset="0"/>
                              <a:sym typeface="Symbol" panose="05050102010706020507" pitchFamily="18" charset="2"/>
                            </a:rPr>
                            <m:t>2</m:t>
                          </m:r>
                        </m:den>
                      </m:f>
                      <m:r>
                        <a:rPr lang="en-US" altLang="zh-CN" sz="2400" i="1" dirty="0">
                          <a:solidFill>
                            <a:schemeClr val="tx1"/>
                          </a:solidFill>
                          <a:latin typeface="Cambria Math" panose="02040503050406030204" pitchFamily="18" charset="0"/>
                          <a:sym typeface="Symbol" panose="05050102010706020507" pitchFamily="18" charset="2"/>
                        </a:rPr>
                        <m:t>𝑐𝑜𝑠</m:t>
                      </m:r>
                      <m:f>
                        <m:fPr>
                          <m:ctrlPr>
                            <a:rPr lang="en-US" altLang="zh-CN" sz="2400" i="1" dirty="0">
                              <a:solidFill>
                                <a:schemeClr val="tx1"/>
                              </a:solidFill>
                              <a:latin typeface="Cambria Math" panose="02040503050406030204" pitchFamily="18" charset="0"/>
                              <a:sym typeface="Symbol" panose="05050102010706020507" pitchFamily="18" charset="2"/>
                            </a:rPr>
                          </m:ctrlPr>
                        </m:fPr>
                        <m:num>
                          <m:sSub>
                            <m:sSubPr>
                              <m:ctrlPr>
                                <a:rPr lang="en-US" altLang="zh-CN" sz="2400" i="1" dirty="0">
                                  <a:solidFill>
                                    <a:schemeClr val="tx1"/>
                                  </a:solidFill>
                                  <a:latin typeface="Cambria Math" panose="02040503050406030204" pitchFamily="18" charset="0"/>
                                  <a:sym typeface="Symbol" panose="05050102010706020507" pitchFamily="18" charset="2"/>
                                </a:rPr>
                              </m:ctrlPr>
                            </m:sSubPr>
                            <m:e>
                              <m:r>
                                <a:rPr lang="en-US" altLang="zh-CN" sz="2400" i="1" dirty="0">
                                  <a:solidFill>
                                    <a:schemeClr val="tx1"/>
                                  </a:solidFill>
                                  <a:latin typeface="Cambria Math" panose="02040503050406030204" pitchFamily="18" charset="0"/>
                                  <a:sym typeface="Symbol" panose="05050102010706020507" pitchFamily="18" charset="2"/>
                                </a:rPr>
                                <m:t>𝑘</m:t>
                              </m:r>
                            </m:e>
                            <m:sub>
                              <m:r>
                                <a:rPr lang="en-US" altLang="zh-CN" sz="2400" b="0" i="1" dirty="0" smtClean="0">
                                  <a:solidFill>
                                    <a:schemeClr val="tx1"/>
                                  </a:solidFill>
                                  <a:latin typeface="Cambria Math" panose="02040503050406030204" pitchFamily="18" charset="0"/>
                                  <a:sym typeface="Symbol" panose="05050102010706020507" pitchFamily="18" charset="2"/>
                                </a:rPr>
                                <m:t>𝑦</m:t>
                              </m:r>
                            </m:sub>
                          </m:sSub>
                          <m:r>
                            <a:rPr lang="en-US" altLang="zh-CN" sz="2400" i="1" dirty="0">
                              <a:solidFill>
                                <a:schemeClr val="tx1"/>
                              </a:solidFill>
                              <a:latin typeface="Cambria Math" panose="02040503050406030204" pitchFamily="18" charset="0"/>
                              <a:sym typeface="Symbol" panose="05050102010706020507" pitchFamily="18" charset="2"/>
                            </a:rPr>
                            <m:t>𝑎</m:t>
                          </m:r>
                        </m:num>
                        <m:den>
                          <m:r>
                            <a:rPr lang="en-US" altLang="zh-CN" sz="2400" i="1" dirty="0">
                              <a:solidFill>
                                <a:schemeClr val="tx1"/>
                              </a:solidFill>
                              <a:latin typeface="Cambria Math" panose="02040503050406030204" pitchFamily="18" charset="0"/>
                              <a:sym typeface="Symbol" panose="05050102010706020507" pitchFamily="18" charset="2"/>
                            </a:rPr>
                            <m:t>2</m:t>
                          </m:r>
                        </m:den>
                      </m:f>
                      <m:r>
                        <a:rPr lang="en-US" altLang="zh-CN" sz="2400" i="1" dirty="0">
                          <a:solidFill>
                            <a:schemeClr val="tx1"/>
                          </a:solidFill>
                          <a:latin typeface="Cambria Math" panose="02040503050406030204" pitchFamily="18" charset="0"/>
                          <a:sym typeface="Symbol" panose="05050102010706020507" pitchFamily="18" charset="2"/>
                        </a:rPr>
                        <m:t>𝑐𝑜𝑠</m:t>
                      </m:r>
                      <m:f>
                        <m:fPr>
                          <m:ctrlPr>
                            <a:rPr lang="en-US" altLang="zh-CN" sz="2400" i="1" dirty="0">
                              <a:solidFill>
                                <a:schemeClr val="tx1"/>
                              </a:solidFill>
                              <a:latin typeface="Cambria Math" panose="02040503050406030204" pitchFamily="18" charset="0"/>
                              <a:sym typeface="Symbol" panose="05050102010706020507" pitchFamily="18" charset="2"/>
                            </a:rPr>
                          </m:ctrlPr>
                        </m:fPr>
                        <m:num>
                          <m:sSub>
                            <m:sSubPr>
                              <m:ctrlPr>
                                <a:rPr lang="en-US" altLang="zh-CN" sz="2400" i="1" dirty="0">
                                  <a:solidFill>
                                    <a:schemeClr val="tx1"/>
                                  </a:solidFill>
                                  <a:latin typeface="Cambria Math" panose="02040503050406030204" pitchFamily="18" charset="0"/>
                                  <a:sym typeface="Symbol" panose="05050102010706020507" pitchFamily="18" charset="2"/>
                                </a:rPr>
                              </m:ctrlPr>
                            </m:sSubPr>
                            <m:e>
                              <m:r>
                                <a:rPr lang="en-US" altLang="zh-CN" sz="2400" i="1" dirty="0">
                                  <a:solidFill>
                                    <a:schemeClr val="tx1"/>
                                  </a:solidFill>
                                  <a:latin typeface="Cambria Math" panose="02040503050406030204" pitchFamily="18" charset="0"/>
                                  <a:sym typeface="Symbol" panose="05050102010706020507" pitchFamily="18" charset="2"/>
                                </a:rPr>
                                <m:t>𝑘</m:t>
                              </m:r>
                            </m:e>
                            <m:sub>
                              <m:r>
                                <a:rPr lang="en-US" altLang="zh-CN" sz="2400" b="0" i="1" dirty="0" smtClean="0">
                                  <a:solidFill>
                                    <a:schemeClr val="tx1"/>
                                  </a:solidFill>
                                  <a:latin typeface="Cambria Math" panose="02040503050406030204" pitchFamily="18" charset="0"/>
                                  <a:sym typeface="Symbol" panose="05050102010706020507" pitchFamily="18" charset="2"/>
                                </a:rPr>
                                <m:t>𝑧</m:t>
                              </m:r>
                            </m:sub>
                          </m:sSub>
                          <m:r>
                            <a:rPr lang="en-US" altLang="zh-CN" sz="2400" i="1" dirty="0">
                              <a:solidFill>
                                <a:schemeClr val="tx1"/>
                              </a:solidFill>
                              <a:latin typeface="Cambria Math" panose="02040503050406030204" pitchFamily="18" charset="0"/>
                              <a:sym typeface="Symbol" panose="05050102010706020507" pitchFamily="18" charset="2"/>
                            </a:rPr>
                            <m:t>𝑎</m:t>
                          </m:r>
                        </m:num>
                        <m:den>
                          <m:r>
                            <a:rPr lang="en-US" altLang="zh-CN" sz="2400" i="1" dirty="0">
                              <a:solidFill>
                                <a:schemeClr val="tx1"/>
                              </a:solidFill>
                              <a:latin typeface="Cambria Math" panose="02040503050406030204" pitchFamily="18" charset="0"/>
                              <a:sym typeface="Symbol" panose="05050102010706020507" pitchFamily="18" charset="2"/>
                            </a:rPr>
                            <m:t>2</m:t>
                          </m:r>
                        </m:den>
                      </m:f>
                    </m:oMath>
                  </m:oMathPara>
                </a14:m>
                <a:endParaRPr lang="en-US" altLang="zh-CN" sz="2400" dirty="0">
                  <a:solidFill>
                    <a:schemeClr val="tx1"/>
                  </a:solidFill>
                </a:endParaRPr>
              </a:p>
              <a:p>
                <a:r>
                  <a:rPr lang="zh-CN" altLang="en-US" sz="2400" dirty="0">
                    <a:solidFill>
                      <a:schemeClr val="tx1"/>
                    </a:solidFill>
                  </a:rPr>
                  <a:t>讨论该能带的特点：</a:t>
                </a:r>
                <a:endParaRPr lang="en-US" altLang="zh-CN" sz="2400" dirty="0">
                  <a:solidFill>
                    <a:schemeClr val="tx1"/>
                  </a:solidFill>
                </a:endParaRPr>
              </a:p>
              <a:p>
                <a:r>
                  <a:rPr lang="zh-CN" altLang="en-US" sz="2400" dirty="0">
                    <a:solidFill>
                      <a:schemeClr val="tx1"/>
                    </a:solidFill>
                  </a:rPr>
                  <a:t>最小值：</a:t>
                </a:r>
                <a14:m>
                  <m:oMath xmlns:m="http://schemas.openxmlformats.org/officeDocument/2006/math">
                    <m:sSup>
                      <m:sSupPr>
                        <m:ctrlPr>
                          <a:rPr lang="en-US" altLang="zh-CN" sz="2400" i="1" dirty="0">
                            <a:solidFill>
                              <a:schemeClr val="tx1"/>
                            </a:solidFill>
                            <a:latin typeface="Cambria Math" panose="02040503050406030204" pitchFamily="18" charset="0"/>
                          </a:rPr>
                        </m:ctrlPr>
                      </m:sSupPr>
                      <m:e>
                        <m:r>
                          <m:rPr>
                            <m:nor/>
                          </m:rPr>
                          <a:rPr lang="en-US" altLang="zh-CN" sz="2400" i="1" dirty="0">
                            <a:solidFill>
                              <a:schemeClr val="tx1"/>
                            </a:solidFill>
                            <a:latin typeface="Cambria" panose="02040503050406030204" pitchFamily="18" charset="0"/>
                            <a:ea typeface="Cambria" panose="02040503050406030204" pitchFamily="18" charset="0"/>
                          </a:rPr>
                          <m:t>E</m:t>
                        </m:r>
                      </m:e>
                      <m:sup>
                        <m:r>
                          <a:rPr lang="en-US" altLang="zh-CN" sz="2400" i="1" dirty="0">
                            <a:solidFill>
                              <a:schemeClr val="tx1"/>
                            </a:solidFill>
                            <a:latin typeface="Cambria Math" panose="02040503050406030204" pitchFamily="18" charset="0"/>
                            <a:sym typeface="Symbol" panose="05050102010706020507" pitchFamily="18" charset="2"/>
                          </a:rPr>
                          <m:t>𝑠</m:t>
                        </m:r>
                      </m:sup>
                    </m:sSup>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𝐶</m:t>
                    </m:r>
                    <m:r>
                      <a:rPr lang="en-US" altLang="zh-CN" sz="2400" i="1" dirty="0">
                        <a:solidFill>
                          <a:schemeClr val="tx1"/>
                        </a:solidFill>
                        <a:latin typeface="Cambria Math" panose="02040503050406030204" pitchFamily="18" charset="0"/>
                        <a:sym typeface="Symbol" panose="05050102010706020507" pitchFamily="18" charset="2"/>
                      </a:rPr>
                      <m:t>−8 </m:t>
                    </m:r>
                    <m:r>
                      <a:rPr lang="en-US" altLang="zh-CN" sz="2400" i="1" dirty="0">
                        <a:solidFill>
                          <a:schemeClr val="tx1"/>
                        </a:solidFill>
                        <a:latin typeface="Cambria Math" panose="02040503050406030204" pitchFamily="18" charset="0"/>
                        <a:sym typeface="Symbol" panose="05050102010706020507" pitchFamily="18" charset="2"/>
                      </a:rPr>
                      <m:t>𝐽</m:t>
                    </m:r>
                    <m:r>
                      <a:rPr lang="en-US" altLang="zh-CN" sz="2400" i="1" dirty="0">
                        <a:solidFill>
                          <a:schemeClr val="tx1"/>
                        </a:solidFill>
                        <a:latin typeface="Cambria Math" panose="02040503050406030204" pitchFamily="18" charset="0"/>
                        <a:sym typeface="Symbol" panose="05050102010706020507" pitchFamily="18" charset="2"/>
                      </a:rPr>
                      <m:t> </m:t>
                    </m:r>
                  </m:oMath>
                </a14:m>
                <a:r>
                  <a:rPr lang="en-US" altLang="zh-CN" sz="2400" dirty="0">
                    <a:solidFill>
                      <a:schemeClr val="tx1"/>
                    </a:solidFill>
                  </a:rPr>
                  <a:t>	</a:t>
                </a:r>
                <a:r>
                  <a:rPr lang="zh-CN" altLang="en-US" sz="2400" dirty="0">
                    <a:solidFill>
                      <a:schemeClr val="tx1"/>
                    </a:solidFill>
                  </a:rPr>
                  <a:t>（</a:t>
                </a:r>
                <a:r>
                  <a:rPr lang="zh-CN" altLang="en-US" sz="2400" dirty="0">
                    <a:solidFill>
                      <a:schemeClr val="tx1"/>
                    </a:solidFill>
                    <a:sym typeface="Symbol" panose="05050102010706020507" pitchFamily="18" charset="2"/>
                  </a:rPr>
                  <a:t>点</a:t>
                </a:r>
                <a:r>
                  <a:rPr lang="zh-CN" altLang="en-US" sz="2400" dirty="0">
                    <a:solidFill>
                      <a:schemeClr val="tx1"/>
                    </a:solidFill>
                  </a:rPr>
                  <a:t>）</a:t>
                </a:r>
                <a:endParaRPr lang="en-US" altLang="zh-CN" sz="2400" dirty="0">
                  <a:solidFill>
                    <a:schemeClr val="tx1"/>
                  </a:solidFill>
                </a:endParaRPr>
              </a:p>
              <a:p>
                <a:r>
                  <a:rPr lang="zh-CN" altLang="en-US" sz="2400" dirty="0">
                    <a:solidFill>
                      <a:schemeClr val="tx1"/>
                    </a:solidFill>
                  </a:rPr>
                  <a:t>最大值：</a:t>
                </a:r>
                <a14:m>
                  <m:oMath xmlns:m="http://schemas.openxmlformats.org/officeDocument/2006/math">
                    <m:sSup>
                      <m:sSupPr>
                        <m:ctrlPr>
                          <a:rPr lang="en-US" altLang="zh-CN" sz="2400" i="1" dirty="0">
                            <a:solidFill>
                              <a:schemeClr val="tx1"/>
                            </a:solidFill>
                            <a:latin typeface="Cambria Math" panose="02040503050406030204" pitchFamily="18" charset="0"/>
                          </a:rPr>
                        </m:ctrlPr>
                      </m:sSupPr>
                      <m:e>
                        <m:r>
                          <m:rPr>
                            <m:nor/>
                          </m:rPr>
                          <a:rPr lang="en-US" altLang="zh-CN" sz="2400" i="1" dirty="0">
                            <a:solidFill>
                              <a:schemeClr val="tx1"/>
                            </a:solidFill>
                            <a:latin typeface="Cambria" panose="02040503050406030204" pitchFamily="18" charset="0"/>
                            <a:ea typeface="Cambria" panose="02040503050406030204" pitchFamily="18" charset="0"/>
                          </a:rPr>
                          <m:t>E</m:t>
                        </m:r>
                      </m:e>
                      <m:sup>
                        <m:r>
                          <a:rPr lang="en-US" altLang="zh-CN" sz="2400" i="1" dirty="0">
                            <a:solidFill>
                              <a:schemeClr val="tx1"/>
                            </a:solidFill>
                            <a:latin typeface="Cambria Math" panose="02040503050406030204" pitchFamily="18" charset="0"/>
                            <a:sym typeface="Symbol" panose="05050102010706020507" pitchFamily="18" charset="2"/>
                          </a:rPr>
                          <m:t>𝑠</m:t>
                        </m:r>
                      </m:sup>
                    </m:sSup>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𝐶</m:t>
                    </m:r>
                    <m:r>
                      <a:rPr lang="en-US" altLang="zh-CN" sz="2400" b="0" i="1" dirty="0" smtClean="0">
                        <a:solidFill>
                          <a:schemeClr val="tx1"/>
                        </a:solidFill>
                        <a:latin typeface="Cambria Math" panose="02040503050406030204" pitchFamily="18" charset="0"/>
                        <a:sym typeface="Symbol" panose="05050102010706020507" pitchFamily="18" charset="2"/>
                      </a:rPr>
                      <m:t>+</m:t>
                    </m:r>
                    <m:r>
                      <a:rPr lang="en-US" altLang="zh-CN" sz="2400" i="1" dirty="0">
                        <a:solidFill>
                          <a:schemeClr val="tx1"/>
                        </a:solidFill>
                        <a:latin typeface="Cambria Math" panose="02040503050406030204" pitchFamily="18" charset="0"/>
                        <a:sym typeface="Symbol" panose="05050102010706020507" pitchFamily="18" charset="2"/>
                      </a:rPr>
                      <m:t>8 </m:t>
                    </m:r>
                    <m:r>
                      <a:rPr lang="en-US" altLang="zh-CN" sz="2400" i="1" dirty="0">
                        <a:solidFill>
                          <a:schemeClr val="tx1"/>
                        </a:solidFill>
                        <a:latin typeface="Cambria Math" panose="02040503050406030204" pitchFamily="18" charset="0"/>
                        <a:sym typeface="Symbol" panose="05050102010706020507" pitchFamily="18" charset="2"/>
                      </a:rPr>
                      <m:t>𝐽</m:t>
                    </m:r>
                    <m:r>
                      <a:rPr lang="en-US" altLang="zh-CN" sz="2400" i="1" dirty="0">
                        <a:solidFill>
                          <a:schemeClr val="tx1"/>
                        </a:solidFill>
                        <a:latin typeface="Cambria Math" panose="02040503050406030204" pitchFamily="18" charset="0"/>
                        <a:sym typeface="Symbol" panose="05050102010706020507" pitchFamily="18" charset="2"/>
                      </a:rPr>
                      <m:t> </m:t>
                    </m:r>
                  </m:oMath>
                </a14:m>
                <a:r>
                  <a:rPr lang="en-US" altLang="zh-CN" sz="2400" dirty="0">
                    <a:solidFill>
                      <a:schemeClr val="tx1"/>
                    </a:solidFill>
                  </a:rPr>
                  <a:t>	  (</a:t>
                </a:r>
                <a14:m>
                  <m:oMath xmlns:m="http://schemas.openxmlformats.org/officeDocument/2006/math">
                    <m:r>
                      <a:rPr lang="en-US" altLang="zh-CN" sz="2400" i="1" smtClean="0">
                        <a:solidFill>
                          <a:schemeClr val="tx1"/>
                        </a:solidFill>
                        <a:latin typeface="Cambria Math" panose="02040503050406030204" pitchFamily="18" charset="0"/>
                        <a:ea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2</m:t>
                        </m:r>
                        <m:r>
                          <a:rPr lang="zh-CN" altLang="en-US" sz="2400" b="0" i="1" smtClean="0">
                            <a:solidFill>
                              <a:schemeClr val="tx1"/>
                            </a:solidFill>
                            <a:latin typeface="Cambria Math" panose="02040503050406030204" pitchFamily="18" charset="0"/>
                          </a:rPr>
                          <m:t>𝜋</m:t>
                        </m:r>
                      </m:num>
                      <m:den>
                        <m:r>
                          <a:rPr lang="en-US" altLang="zh-CN" sz="2400" b="0" i="1" smtClean="0">
                            <a:solidFill>
                              <a:schemeClr val="tx1"/>
                            </a:solidFill>
                            <a:latin typeface="Cambria Math" panose="02040503050406030204" pitchFamily="18" charset="0"/>
                          </a:rPr>
                          <m:t>𝑎</m:t>
                        </m:r>
                      </m:den>
                    </m:f>
                  </m:oMath>
                </a14:m>
                <a:r>
                  <a:rPr lang="en-US" altLang="zh-CN" sz="2400" dirty="0">
                    <a:solidFill>
                      <a:schemeClr val="tx1"/>
                    </a:solidFill>
                  </a:rPr>
                  <a:t>, 0, 0) ……</a:t>
                </a:r>
              </a:p>
              <a:p>
                <a:r>
                  <a:rPr lang="zh-CN" altLang="en-US" sz="2400" dirty="0">
                    <a:solidFill>
                      <a:schemeClr val="tx1"/>
                    </a:solidFill>
                  </a:rPr>
                  <a:t>能带宽带：</a:t>
                </a:r>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1</m:t>
                    </m:r>
                    <m:r>
                      <a:rPr lang="en-US" altLang="zh-CN" sz="2400" b="0" i="1" dirty="0" smtClean="0">
                        <a:solidFill>
                          <a:schemeClr val="tx1"/>
                        </a:solidFill>
                        <a:latin typeface="Cambria Math" panose="02040503050406030204" pitchFamily="18" charset="0"/>
                        <a:sym typeface="Symbol" panose="05050102010706020507" pitchFamily="18" charset="2"/>
                      </a:rPr>
                      <m:t>6</m:t>
                    </m:r>
                    <m:r>
                      <a:rPr lang="en-US" altLang="zh-CN" sz="2400" i="1" dirty="0">
                        <a:solidFill>
                          <a:schemeClr val="tx1"/>
                        </a:solidFill>
                        <a:latin typeface="Cambria Math" panose="02040503050406030204" pitchFamily="18" charset="0"/>
                        <a:sym typeface="Symbol" panose="05050102010706020507" pitchFamily="18" charset="2"/>
                      </a:rPr>
                      <m:t> </m:t>
                    </m:r>
                    <m:r>
                      <a:rPr lang="en-US" altLang="zh-CN" sz="2400" i="1" dirty="0">
                        <a:solidFill>
                          <a:schemeClr val="tx1"/>
                        </a:solidFill>
                        <a:latin typeface="Cambria Math" panose="02040503050406030204" pitchFamily="18" charset="0"/>
                        <a:sym typeface="Symbol" panose="05050102010706020507" pitchFamily="18" charset="2"/>
                      </a:rPr>
                      <m:t>𝐽</m:t>
                    </m:r>
                    <m:r>
                      <a:rPr lang="en-US" altLang="zh-CN" sz="2400" i="1" dirty="0">
                        <a:solidFill>
                          <a:schemeClr val="tx1"/>
                        </a:solidFill>
                        <a:latin typeface="Cambria Math" panose="02040503050406030204" pitchFamily="18" charset="0"/>
                        <a:sym typeface="Symbol" panose="05050102010706020507" pitchFamily="18" charset="2"/>
                      </a:rPr>
                      <m:t> </m:t>
                    </m:r>
                  </m:oMath>
                </a14:m>
                <a:r>
                  <a:rPr lang="en-US" altLang="zh-CN" sz="2400" dirty="0">
                    <a:solidFill>
                      <a:schemeClr val="tx1"/>
                    </a:solidFill>
                  </a:rPr>
                  <a:t>		  (</a:t>
                </a:r>
                <a:r>
                  <a:rPr lang="zh-CN" altLang="en-US" sz="2400" dirty="0">
                    <a:solidFill>
                      <a:schemeClr val="tx1"/>
                    </a:solidFill>
                  </a:rPr>
                  <a:t>不是禁带宽度</a:t>
                </a:r>
                <a:r>
                  <a:rPr lang="en-US" altLang="zh-CN" sz="2400" dirty="0">
                    <a:solidFill>
                      <a:schemeClr val="tx1"/>
                    </a:solidFill>
                  </a:rPr>
                  <a:t>)</a:t>
                </a:r>
              </a:p>
              <a:p>
                <a:r>
                  <a:rPr lang="zh-CN" altLang="en-US" sz="2400" dirty="0">
                    <a:solidFill>
                      <a:schemeClr val="tx1"/>
                    </a:solidFill>
                    <a:sym typeface="Symbol" panose="05050102010706020507" pitchFamily="18" charset="2"/>
                  </a:rPr>
                  <a:t>点附近</a:t>
                </a:r>
                <a:r>
                  <a:rPr lang="zh-CN" altLang="en-US" sz="2400" dirty="0">
                    <a:solidFill>
                      <a:schemeClr val="tx1"/>
                    </a:solidFill>
                    <a:sym typeface="Wingdings" panose="05000000000000000000" pitchFamily="2" charset="2"/>
                  </a:rPr>
                  <a:t>： （</a:t>
                </a:r>
                <a14:m>
                  <m:oMath xmlns:m="http://schemas.openxmlformats.org/officeDocument/2006/math">
                    <m:func>
                      <m:funcPr>
                        <m:ctrlPr>
                          <a:rPr lang="en-US" altLang="zh-CN" sz="2400" b="0" i="1" smtClean="0">
                            <a:solidFill>
                              <a:schemeClr val="tx1"/>
                            </a:solidFill>
                            <a:latin typeface="Cambria Math" panose="02040503050406030204" pitchFamily="18" charset="0"/>
                            <a:sym typeface="Wingdings" panose="05000000000000000000" pitchFamily="2" charset="2"/>
                          </a:rPr>
                        </m:ctrlPr>
                      </m:funcPr>
                      <m:fName>
                        <m:r>
                          <m:rPr>
                            <m:sty m:val="p"/>
                          </m:rPr>
                          <a:rPr lang="en-US" altLang="zh-CN" sz="2400" b="0" i="0" smtClean="0">
                            <a:solidFill>
                              <a:schemeClr val="tx1"/>
                            </a:solidFill>
                            <a:latin typeface="Cambria Math" panose="02040503050406030204" pitchFamily="18" charset="0"/>
                            <a:sym typeface="Wingdings" panose="05000000000000000000" pitchFamily="2" charset="2"/>
                          </a:rPr>
                          <m:t>cos</m:t>
                        </m:r>
                      </m:fName>
                      <m:e>
                        <m:r>
                          <a:rPr lang="en-US" altLang="zh-CN" sz="2400" b="0" i="1" smtClean="0">
                            <a:solidFill>
                              <a:schemeClr val="tx1"/>
                            </a:solidFill>
                            <a:latin typeface="Cambria Math" panose="02040503050406030204" pitchFamily="18" charset="0"/>
                            <a:sym typeface="Wingdings" panose="05000000000000000000" pitchFamily="2" charset="2"/>
                          </a:rPr>
                          <m:t>𝑥</m:t>
                        </m:r>
                        <m:r>
                          <a:rPr lang="en-US" altLang="zh-CN" sz="2400" b="0" i="1" smtClean="0">
                            <a:solidFill>
                              <a:schemeClr val="tx1"/>
                            </a:solidFill>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solidFill>
                              <a:schemeClr val="tx1"/>
                            </a:solidFill>
                            <a:latin typeface="Cambria Math" panose="02040503050406030204" pitchFamily="18" charset="0"/>
                            <a:sym typeface="Wingdings" panose="05000000000000000000" pitchFamily="2" charset="2"/>
                          </a:rPr>
                          <m:t>1−</m:t>
                        </m:r>
                        <m:sSup>
                          <m:sSupPr>
                            <m:ctrlPr>
                              <a:rPr lang="en-US" altLang="zh-CN" sz="2400" b="0" i="1" smtClean="0">
                                <a:solidFill>
                                  <a:schemeClr val="tx1"/>
                                </a:solidFill>
                                <a:latin typeface="Cambria Math" panose="02040503050406030204" pitchFamily="18" charset="0"/>
                                <a:sym typeface="Wingdings" panose="05000000000000000000" pitchFamily="2" charset="2"/>
                              </a:rPr>
                            </m:ctrlPr>
                          </m:sSupPr>
                          <m:e>
                            <m:r>
                              <a:rPr lang="en-US" altLang="zh-CN" sz="2400" b="0" i="1" smtClean="0">
                                <a:solidFill>
                                  <a:schemeClr val="tx1"/>
                                </a:solidFill>
                                <a:latin typeface="Cambria Math" panose="02040503050406030204" pitchFamily="18" charset="0"/>
                                <a:sym typeface="Wingdings" panose="05000000000000000000" pitchFamily="2" charset="2"/>
                              </a:rPr>
                              <m:t>𝑥</m:t>
                            </m:r>
                          </m:e>
                          <m:sup>
                            <m:r>
                              <a:rPr lang="en-US" altLang="zh-CN" sz="2400" b="0" i="1" smtClean="0">
                                <a:solidFill>
                                  <a:schemeClr val="tx1"/>
                                </a:solidFill>
                                <a:latin typeface="Cambria Math" panose="02040503050406030204" pitchFamily="18" charset="0"/>
                                <a:sym typeface="Wingdings" panose="05000000000000000000" pitchFamily="2" charset="2"/>
                              </a:rPr>
                              <m:t>2</m:t>
                            </m:r>
                          </m:sup>
                        </m:sSup>
                      </m:e>
                    </m:func>
                  </m:oMath>
                </a14:m>
                <a:r>
                  <a:rPr lang="zh-CN" altLang="en-US" sz="2400" dirty="0">
                    <a:solidFill>
                      <a:schemeClr val="tx1"/>
                    </a:solidFill>
                    <a:sym typeface="Wingdings" panose="05000000000000000000" pitchFamily="2" charset="2"/>
                  </a:rPr>
                  <a:t>）</a:t>
                </a:r>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13164" y="1495859"/>
                <a:ext cx="11278836" cy="4095545"/>
              </a:xfrm>
              <a:prstGeom prst="rect">
                <a:avLst/>
              </a:prstGeom>
              <a:blipFill rotWithShape="1">
                <a:blip r:embed="rId3"/>
                <a:stretch>
                  <a:fillRect l="-1135" b="-25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383274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3132813"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.3 </a:t>
                </a:r>
                <a:r>
                  <a:rPr lang="zh-CN" altLang="en-US" sz="2800" dirty="0">
                    <a:solidFill>
                      <a:schemeClr val="tx1"/>
                    </a:solidFill>
                  </a:rPr>
                  <a:t>紧束缚近似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3132813"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13164" y="1686359"/>
                <a:ext cx="10745436" cy="4737772"/>
              </a:xfrm>
              <a:prstGeom prst="rect">
                <a:avLst/>
              </a:prstGeom>
              <a:noFill/>
            </p:spPr>
            <p:txBody>
              <a:bodyPr wrap="square" rtlCol="0">
                <a:spAutoFit/>
              </a:bodyPr>
              <a:lstStyle/>
              <a:p>
                <a:r>
                  <a:rPr lang="en-US" altLang="zh-CN" sz="2800" b="1" dirty="0">
                    <a:solidFill>
                      <a:schemeClr val="tx1"/>
                    </a:solidFill>
                  </a:rPr>
                  <a:t>7.3.2  </a:t>
                </a:r>
                <a:r>
                  <a:rPr lang="zh-CN" altLang="en-US" sz="2800" b="1" dirty="0">
                    <a:solidFill>
                      <a:schemeClr val="tx1"/>
                    </a:solidFill>
                  </a:rPr>
                  <a:t>能带和有效质量</a:t>
                </a:r>
                <a:endParaRPr lang="en-US" altLang="zh-CN" sz="2800" b="1" dirty="0">
                  <a:solidFill>
                    <a:schemeClr val="tx1"/>
                  </a:solidFill>
                </a:endParaRPr>
              </a:p>
              <a:p>
                <a:endParaRPr lang="en-US" altLang="zh-CN" sz="1600" b="1" dirty="0">
                  <a:solidFill>
                    <a:schemeClr val="tx1"/>
                  </a:solidFill>
                </a:endParaRPr>
              </a:p>
              <a:p>
                <a:r>
                  <a:rPr lang="zh-CN" altLang="en-US" sz="2400" dirty="0">
                    <a:solidFill>
                      <a:schemeClr val="tx1"/>
                    </a:solidFill>
                    <a:sym typeface="Symbol" panose="05050102010706020507" pitchFamily="18" charset="2"/>
                  </a:rPr>
                  <a:t>点附近</a:t>
                </a:r>
                <a:r>
                  <a:rPr lang="zh-CN" altLang="en-US" sz="2400" dirty="0">
                    <a:solidFill>
                      <a:schemeClr val="tx1"/>
                    </a:solidFill>
                    <a:sym typeface="Wingdings" panose="05000000000000000000" pitchFamily="2" charset="2"/>
                  </a:rPr>
                  <a:t>： （</a:t>
                </a:r>
                <a14:m>
                  <m:oMath xmlns:m="http://schemas.openxmlformats.org/officeDocument/2006/math">
                    <m:func>
                      <m:funcPr>
                        <m:ctrlPr>
                          <a:rPr lang="en-US" altLang="zh-CN" sz="2400" b="0" i="1" smtClean="0">
                            <a:solidFill>
                              <a:schemeClr val="tx1"/>
                            </a:solidFill>
                            <a:latin typeface="Cambria Math" panose="02040503050406030204" pitchFamily="18" charset="0"/>
                            <a:sym typeface="Wingdings" panose="05000000000000000000" pitchFamily="2" charset="2"/>
                          </a:rPr>
                        </m:ctrlPr>
                      </m:funcPr>
                      <m:fName>
                        <m:r>
                          <m:rPr>
                            <m:sty m:val="p"/>
                          </m:rPr>
                          <a:rPr lang="en-US" altLang="zh-CN" sz="2400" b="0" i="0" smtClean="0">
                            <a:solidFill>
                              <a:schemeClr val="tx1"/>
                            </a:solidFill>
                            <a:latin typeface="Cambria Math" panose="02040503050406030204" pitchFamily="18" charset="0"/>
                            <a:sym typeface="Wingdings" panose="05000000000000000000" pitchFamily="2" charset="2"/>
                          </a:rPr>
                          <m:t>cos</m:t>
                        </m:r>
                      </m:fName>
                      <m:e>
                        <m:r>
                          <a:rPr lang="en-US" altLang="zh-CN" sz="2400" b="0" i="1" smtClean="0">
                            <a:solidFill>
                              <a:schemeClr val="tx1"/>
                            </a:solidFill>
                            <a:latin typeface="Cambria Math" panose="02040503050406030204" pitchFamily="18" charset="0"/>
                            <a:sym typeface="Wingdings" panose="05000000000000000000" pitchFamily="2" charset="2"/>
                          </a:rPr>
                          <m:t>𝑥</m:t>
                        </m:r>
                        <m:r>
                          <a:rPr lang="en-US" altLang="zh-CN" sz="2400" b="0" i="1" smtClean="0">
                            <a:solidFill>
                              <a:schemeClr val="tx1"/>
                            </a:solidFill>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solidFill>
                              <a:schemeClr val="tx1"/>
                            </a:solidFill>
                            <a:latin typeface="Cambria Math" panose="02040503050406030204" pitchFamily="18" charset="0"/>
                            <a:sym typeface="Wingdings" panose="05000000000000000000" pitchFamily="2" charset="2"/>
                          </a:rPr>
                          <m:t>1−</m:t>
                        </m:r>
                        <m:sSup>
                          <m:sSupPr>
                            <m:ctrlPr>
                              <a:rPr lang="en-US" altLang="zh-CN" sz="2400" b="0" i="1" smtClean="0">
                                <a:solidFill>
                                  <a:schemeClr val="tx1"/>
                                </a:solidFill>
                                <a:latin typeface="Cambria Math" panose="02040503050406030204" pitchFamily="18" charset="0"/>
                                <a:sym typeface="Wingdings" panose="05000000000000000000" pitchFamily="2" charset="2"/>
                              </a:rPr>
                            </m:ctrlPr>
                          </m:sSupPr>
                          <m:e>
                            <m:r>
                              <a:rPr lang="en-US" altLang="zh-CN" sz="2400" b="0" i="1" smtClean="0">
                                <a:solidFill>
                                  <a:schemeClr val="tx1"/>
                                </a:solidFill>
                                <a:latin typeface="Cambria Math" panose="02040503050406030204" pitchFamily="18" charset="0"/>
                                <a:sym typeface="Wingdings" panose="05000000000000000000" pitchFamily="2" charset="2"/>
                              </a:rPr>
                              <m:t>𝑥</m:t>
                            </m:r>
                          </m:e>
                          <m:sup>
                            <m:r>
                              <a:rPr lang="en-US" altLang="zh-CN" sz="2400" b="0" i="1" smtClean="0">
                                <a:solidFill>
                                  <a:schemeClr val="tx1"/>
                                </a:solidFill>
                                <a:latin typeface="Cambria Math" panose="02040503050406030204" pitchFamily="18" charset="0"/>
                                <a:sym typeface="Wingdings" panose="05000000000000000000" pitchFamily="2" charset="2"/>
                              </a:rPr>
                              <m:t>2</m:t>
                            </m:r>
                          </m:sup>
                        </m:sSup>
                      </m:e>
                    </m:func>
                  </m:oMath>
                </a14:m>
                <a:r>
                  <a:rPr lang="zh-CN" altLang="en-US" sz="2400" dirty="0">
                    <a:solidFill>
                      <a:schemeClr val="tx1"/>
                    </a:solidFill>
                    <a:sym typeface="Wingdings" panose="05000000000000000000" pitchFamily="2" charset="2"/>
                  </a:rPr>
                  <a:t>）</a:t>
                </a:r>
                <a:endParaRPr lang="en-US" altLang="zh-CN" sz="2400" dirty="0">
                  <a:solidFill>
                    <a:schemeClr val="tx1"/>
                  </a:solidFill>
                  <a:sym typeface="Wingdings" panose="05000000000000000000" pitchFamily="2" charset="2"/>
                </a:endParaRPr>
              </a:p>
              <a:p>
                <a14:m>
                  <m:oMath xmlns:m="http://schemas.openxmlformats.org/officeDocument/2006/math">
                    <m:r>
                      <a:rPr lang="en-US" altLang="zh-CN" sz="2400" i="1" dirty="0">
                        <a:solidFill>
                          <a:schemeClr val="tx1"/>
                        </a:solidFill>
                        <a:latin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b="1" i="1" dirty="0">
                        <a:solidFill>
                          <a:schemeClr val="tx1"/>
                        </a:solidFill>
                        <a:latin typeface="Cambria Math" panose="02040503050406030204" pitchFamily="18" charset="0"/>
                      </a:rPr>
                      <m:t>=</m:t>
                    </m:r>
                    <m:sSub>
                      <m:sSubPr>
                        <m:ctrlPr>
                          <a:rPr lang="en-US" altLang="zh-CN" sz="240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𝐸</m:t>
                        </m:r>
                      </m:e>
                      <m:sub>
                        <m:r>
                          <a:rPr lang="en-US" altLang="zh-CN" sz="2400" b="0" i="1" dirty="0" smtClean="0">
                            <a:solidFill>
                              <a:schemeClr val="tx1"/>
                            </a:solidFill>
                            <a:latin typeface="Cambria Math" panose="02040503050406030204" pitchFamily="18" charset="0"/>
                          </a:rPr>
                          <m:t>𝑚𝑖𝑛</m:t>
                        </m:r>
                      </m:sub>
                    </m:sSub>
                    <m:r>
                      <a:rPr lang="en-US" altLang="zh-CN" sz="2400" b="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𝐽</m:t>
                    </m:r>
                    <m:r>
                      <a:rPr lang="en-US" altLang="zh-CN" sz="2400" b="0" i="1" dirty="0" smtClean="0">
                        <a:solidFill>
                          <a:schemeClr val="tx1"/>
                        </a:solidFill>
                        <a:latin typeface="Cambria Math" panose="02040503050406030204" pitchFamily="18" charset="0"/>
                      </a:rPr>
                      <m:t> </m:t>
                    </m:r>
                    <m:sSup>
                      <m:sSupPr>
                        <m:ctrlPr>
                          <a:rPr lang="en-US" altLang="zh-CN" sz="2400" b="0" i="1" dirty="0" smtClean="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𝑎</m:t>
                        </m:r>
                      </m:e>
                      <m:sup>
                        <m:r>
                          <a:rPr lang="en-US" altLang="zh-CN" sz="2400" b="0" i="1" dirty="0" smtClean="0">
                            <a:solidFill>
                              <a:schemeClr val="tx1"/>
                            </a:solidFill>
                            <a:latin typeface="Cambria Math" panose="02040503050406030204" pitchFamily="18" charset="0"/>
                          </a:rPr>
                          <m:t>2</m:t>
                        </m:r>
                      </m:sup>
                    </m:sSup>
                    <m:d>
                      <m:dPr>
                        <m:ctrlPr>
                          <a:rPr lang="en-US" altLang="zh-CN" sz="2400" b="0" i="1" dirty="0" smtClean="0">
                            <a:solidFill>
                              <a:schemeClr val="tx1"/>
                            </a:solidFill>
                            <a:latin typeface="Cambria Math" panose="02040503050406030204" pitchFamily="18" charset="0"/>
                          </a:rPr>
                        </m:ctrlPr>
                      </m:dPr>
                      <m:e>
                        <m:sSubSup>
                          <m:sSubSupPr>
                            <m:ctrlPr>
                              <a:rPr lang="en-US" altLang="zh-CN" sz="2400" b="0" i="1" dirty="0" smtClean="0">
                                <a:solidFill>
                                  <a:schemeClr val="tx1"/>
                                </a:solidFill>
                                <a:latin typeface="Cambria Math" panose="02040503050406030204" pitchFamily="18" charset="0"/>
                              </a:rPr>
                            </m:ctrlPr>
                          </m:sSubSupPr>
                          <m:e>
                            <m:r>
                              <a:rPr lang="en-US" altLang="zh-CN" sz="2400" b="0" i="1" dirty="0" smtClean="0">
                                <a:solidFill>
                                  <a:schemeClr val="tx1"/>
                                </a:solidFill>
                                <a:latin typeface="Cambria Math" panose="02040503050406030204" pitchFamily="18" charset="0"/>
                              </a:rPr>
                              <m:t>𝑘</m:t>
                            </m:r>
                          </m:e>
                          <m:sub>
                            <m:r>
                              <a:rPr lang="en-US" altLang="zh-CN" sz="2400" b="0" i="1" dirty="0" smtClean="0">
                                <a:solidFill>
                                  <a:schemeClr val="tx1"/>
                                </a:solidFill>
                                <a:latin typeface="Cambria Math" panose="02040503050406030204" pitchFamily="18" charset="0"/>
                              </a:rPr>
                              <m:t>𝑥</m:t>
                            </m:r>
                          </m:sub>
                          <m:sup>
                            <m:r>
                              <a:rPr lang="en-US" altLang="zh-CN" sz="2400" b="0" i="1" dirty="0" smtClean="0">
                                <a:solidFill>
                                  <a:schemeClr val="tx1"/>
                                </a:solidFill>
                                <a:latin typeface="Cambria Math" panose="02040503050406030204" pitchFamily="18" charset="0"/>
                              </a:rPr>
                              <m:t>2</m:t>
                            </m:r>
                          </m:sup>
                        </m:sSubSup>
                        <m:r>
                          <a:rPr lang="en-US" altLang="zh-CN" sz="2400" b="0" i="1" dirty="0" smtClean="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a:rPr lang="en-US" altLang="zh-CN" sz="2400" b="0" i="1" dirty="0" smtClean="0">
                                <a:solidFill>
                                  <a:schemeClr val="tx1"/>
                                </a:solidFill>
                                <a:latin typeface="Cambria Math" panose="02040503050406030204" pitchFamily="18" charset="0"/>
                              </a:rPr>
                              <m:t>𝑦</m:t>
                            </m:r>
                          </m:sub>
                          <m:sup>
                            <m:r>
                              <a:rPr lang="en-US" altLang="zh-CN" sz="2400" i="1" dirty="0">
                                <a:solidFill>
                                  <a:schemeClr val="tx1"/>
                                </a:solidFill>
                                <a:latin typeface="Cambria Math" panose="02040503050406030204" pitchFamily="18" charset="0"/>
                              </a:rPr>
                              <m:t>2</m:t>
                            </m:r>
                          </m:sup>
                        </m:sSubSup>
                        <m:r>
                          <a:rPr lang="en-US" altLang="zh-CN" sz="2400" i="1" dirty="0" smtClean="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m:rPr>
                                <m:sty m:val="p"/>
                              </m:rPr>
                              <a:rPr lang="en-US" altLang="zh-CN" sz="2400" i="1" dirty="0" smtClean="0">
                                <a:solidFill>
                                  <a:schemeClr val="tx1"/>
                                </a:solidFill>
                                <a:latin typeface="Cambria Math" panose="02040503050406030204" pitchFamily="18" charset="0"/>
                              </a:rPr>
                              <m:t>z</m:t>
                            </m:r>
                          </m:sub>
                          <m:sup>
                            <m:r>
                              <a:rPr lang="en-US" altLang="zh-CN" sz="2400" i="1" dirty="0">
                                <a:solidFill>
                                  <a:schemeClr val="tx1"/>
                                </a:solidFill>
                                <a:latin typeface="Cambria Math" panose="02040503050406030204" pitchFamily="18" charset="0"/>
                              </a:rPr>
                              <m:t>2</m:t>
                            </m:r>
                          </m:sup>
                        </m:sSubSup>
                      </m:e>
                    </m:d>
                    <m:r>
                      <a:rPr lang="en-US" altLang="zh-CN" sz="2400" b="0" i="1" dirty="0" smtClean="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𝐸</m:t>
                        </m:r>
                      </m:e>
                      <m:sub>
                        <m:r>
                          <a:rPr lang="en-US" altLang="zh-CN" sz="2400" i="1" dirty="0">
                            <a:solidFill>
                              <a:schemeClr val="tx1"/>
                            </a:solidFill>
                            <a:latin typeface="Cambria Math" panose="02040503050406030204" pitchFamily="18" charset="0"/>
                          </a:rPr>
                          <m:t>𝑚𝑖𝑛</m:t>
                        </m:r>
                      </m:sub>
                    </m:sSub>
                    <m:r>
                      <a:rPr lang="en-US" altLang="zh-CN" sz="2400" i="1" dirty="0" smtClean="0">
                        <a:solidFill>
                          <a:schemeClr val="tx1"/>
                        </a:solidFill>
                        <a:latin typeface="Cambria Math" panose="02040503050406030204" pitchFamily="18" charset="0"/>
                      </a:rPr>
                      <m:t>+</m:t>
                    </m:r>
                    <m:f>
                      <m:fPr>
                        <m:ctrlPr>
                          <a:rPr lang="en-US" altLang="zh-CN" sz="2400" i="1" dirty="0" smtClean="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smtClean="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𝑘</m:t>
                            </m:r>
                          </m:e>
                          <m:sup>
                            <m:r>
                              <a:rPr lang="en-US" altLang="zh-CN" sz="2400" b="0" i="1" dirty="0" smtClean="0">
                                <a:solidFill>
                                  <a:schemeClr val="tx1"/>
                                </a:solidFill>
                                <a:latin typeface="Cambria Math" panose="02040503050406030204" pitchFamily="18" charset="0"/>
                              </a:rPr>
                              <m:t>2</m:t>
                            </m:r>
                          </m:sup>
                        </m:sSup>
                      </m:num>
                      <m:den>
                        <m:r>
                          <a:rPr lang="en-US" altLang="zh-CN" sz="2400" b="0" i="1" dirty="0" smtClean="0">
                            <a:solidFill>
                              <a:schemeClr val="tx1"/>
                            </a:solidFill>
                            <a:latin typeface="Cambria Math" panose="02040503050406030204" pitchFamily="18" charset="0"/>
                          </a:rPr>
                          <m:t>2</m:t>
                        </m:r>
                        <m:sSup>
                          <m:sSupPr>
                            <m:ctrlPr>
                              <a:rPr lang="en-US" altLang="zh-CN" sz="2400" b="0" i="1" dirty="0" smtClean="0">
                                <a:solidFill>
                                  <a:schemeClr val="tx1"/>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𝑚</m:t>
                            </m:r>
                          </m:e>
                          <m:sup>
                            <m:r>
                              <a:rPr lang="en-US" altLang="zh-CN" sz="2400" b="0" i="1" dirty="0" smtClean="0">
                                <a:solidFill>
                                  <a:schemeClr val="tx1"/>
                                </a:solidFill>
                                <a:latin typeface="Cambria Math" panose="02040503050406030204" pitchFamily="18" charset="0"/>
                              </a:rPr>
                              <m:t>∗</m:t>
                            </m:r>
                          </m:sup>
                        </m:sSup>
                      </m:den>
                    </m:f>
                  </m:oMath>
                </a14:m>
                <a:r>
                  <a:rPr lang="en-US" altLang="zh-CN" sz="2400" dirty="0">
                    <a:solidFill>
                      <a:schemeClr val="tx1"/>
                    </a:solidFill>
                  </a:rPr>
                  <a:t>	   </a:t>
                </a:r>
                <a:r>
                  <a:rPr lang="zh-CN" altLang="en-US" sz="2400" dirty="0">
                    <a:solidFill>
                      <a:schemeClr val="tx1"/>
                    </a:solidFill>
                  </a:rPr>
                  <a:t>其中 </a:t>
                </a:r>
                <a14:m>
                  <m:oMath xmlns:m="http://schemas.openxmlformats.org/officeDocument/2006/math">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𝑚</m:t>
                        </m:r>
                      </m:e>
                      <m:sup>
                        <m:r>
                          <a:rPr lang="en-US" altLang="zh-CN" sz="2400" b="0" i="1" smtClean="0">
                            <a:solidFill>
                              <a:schemeClr val="tx1"/>
                            </a:solidFill>
                            <a:latin typeface="Cambria Math" panose="02040503050406030204" pitchFamily="18" charset="0"/>
                          </a:rPr>
                          <m:t>∗</m:t>
                        </m:r>
                      </m:sup>
                    </m:sSup>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num>
                      <m:den>
                        <m:r>
                          <a:rPr lang="en-US" altLang="zh-CN" sz="2400" b="0" i="1" smtClean="0">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𝐽</m:t>
                        </m:r>
                        <m:r>
                          <a:rPr lang="en-US" altLang="zh-CN" sz="2400" i="1" dirty="0">
                            <a:solidFill>
                              <a:schemeClr val="tx1"/>
                            </a:solidFill>
                            <a:latin typeface="Cambria Math" panose="02040503050406030204" pitchFamily="18" charset="0"/>
                          </a:rPr>
                          <m:t> </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𝑎</m:t>
                            </m:r>
                          </m:e>
                          <m:sup>
                            <m:r>
                              <a:rPr lang="en-US" altLang="zh-CN" sz="2400" i="1" dirty="0">
                                <a:solidFill>
                                  <a:schemeClr val="tx1"/>
                                </a:solidFill>
                                <a:latin typeface="Cambria Math" panose="02040503050406030204" pitchFamily="18" charset="0"/>
                              </a:rPr>
                              <m:t>2</m:t>
                            </m:r>
                          </m:sup>
                        </m:sSup>
                      </m:den>
                    </m:f>
                    <m:r>
                      <a:rPr lang="en-US" altLang="zh-CN" sz="2400" b="0" i="1" smtClean="0">
                        <a:solidFill>
                          <a:schemeClr val="tx1"/>
                        </a:solidFill>
                        <a:latin typeface="Cambria Math" panose="02040503050406030204" pitchFamily="18" charset="0"/>
                        <a:ea typeface="Cambria Math" panose="02040503050406030204" pitchFamily="18" charset="0"/>
                      </a:rPr>
                      <m:t>&gt;0</m:t>
                    </m:r>
                  </m:oMath>
                </a14:m>
                <a:endParaRPr lang="en-US" altLang="zh-CN" sz="2400" dirty="0">
                  <a:solidFill>
                    <a:schemeClr val="tx1"/>
                  </a:solidFill>
                </a:endParaRPr>
              </a:p>
              <a:p>
                <a:r>
                  <a:rPr lang="zh-CN" altLang="en-US" sz="2400" dirty="0">
                    <a:solidFill>
                      <a:schemeClr val="tx1"/>
                    </a:solidFill>
                  </a:rPr>
                  <a:t>能量最大值，如（</a:t>
                </a:r>
                <a14:m>
                  <m:oMath xmlns:m="http://schemas.openxmlformats.org/officeDocument/2006/math">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2</m:t>
                        </m:r>
                        <m:r>
                          <a:rPr lang="zh-CN" altLang="en-US" sz="2400" i="1">
                            <a:solidFill>
                              <a:schemeClr val="tx1"/>
                            </a:solidFill>
                            <a:latin typeface="Cambria Math" panose="02040503050406030204" pitchFamily="18" charset="0"/>
                          </a:rPr>
                          <m:t>𝜋</m:t>
                        </m:r>
                      </m:num>
                      <m:den>
                        <m:r>
                          <a:rPr lang="en-US" altLang="zh-CN" sz="2400" i="1">
                            <a:solidFill>
                              <a:schemeClr val="tx1"/>
                            </a:solidFill>
                            <a:latin typeface="Cambria Math" panose="02040503050406030204" pitchFamily="18" charset="0"/>
                          </a:rPr>
                          <m:t>𝑎</m:t>
                        </m:r>
                      </m:den>
                    </m:f>
                  </m:oMath>
                </a14:m>
                <a:r>
                  <a:rPr lang="en-US" altLang="zh-CN" sz="2400" dirty="0">
                    <a:solidFill>
                      <a:schemeClr val="tx1"/>
                    </a:solidFill>
                  </a:rPr>
                  <a:t>, 0, 0</a:t>
                </a:r>
                <a:r>
                  <a:rPr lang="zh-CN" altLang="en-US" sz="2400" dirty="0">
                    <a:solidFill>
                      <a:schemeClr val="tx1"/>
                    </a:solidFill>
                  </a:rPr>
                  <a:t>）附近的</a:t>
                </a:r>
                <a14:m>
                  <m:oMath xmlns:m="http://schemas.openxmlformats.org/officeDocument/2006/math">
                    <m:r>
                      <a:rPr lang="en-US" altLang="zh-CN" sz="2400" i="1" dirty="0">
                        <a:solidFill>
                          <a:schemeClr val="tx1"/>
                        </a:solidFill>
                        <a:latin typeface="Cambria Math" panose="02040503050406030204" pitchFamily="18" charset="0"/>
                      </a:rPr>
                      <m:t>𝑘</m:t>
                    </m:r>
                  </m:oMath>
                </a14:m>
                <a:r>
                  <a:rPr lang="zh-CN" altLang="en-US" sz="2400" dirty="0">
                    <a:solidFill>
                      <a:schemeClr val="tx1"/>
                    </a:solidFill>
                  </a:rPr>
                  <a:t>值：</a:t>
                </a:r>
                <a14:m>
                  <m:oMath xmlns:m="http://schemas.openxmlformats.org/officeDocument/2006/math">
                    <m:r>
                      <a:rPr lang="zh-CN" altLang="en-US" sz="2400" i="1" dirty="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2</m:t>
                        </m:r>
                        <m:r>
                          <a:rPr lang="zh-CN" altLang="en-US" sz="2400" i="1">
                            <a:solidFill>
                              <a:schemeClr val="tx1"/>
                            </a:solidFill>
                            <a:latin typeface="Cambria Math" panose="02040503050406030204" pitchFamily="18" charset="0"/>
                          </a:rPr>
                          <m:t>𝜋</m:t>
                        </m:r>
                      </m:num>
                      <m:den>
                        <m:r>
                          <a:rPr lang="en-US" altLang="zh-CN" sz="2400" i="1">
                            <a:solidFill>
                              <a:schemeClr val="tx1"/>
                            </a:solidFill>
                            <a:latin typeface="Cambria Math" panose="02040503050406030204" pitchFamily="18" charset="0"/>
                          </a:rPr>
                          <m:t>𝑎</m:t>
                        </m:r>
                      </m:den>
                    </m:f>
                    <m:r>
                      <a:rPr lang="en-US" altLang="zh-CN" sz="2400" i="1">
                        <a:solidFill>
                          <a:schemeClr val="tx1"/>
                        </a:solidFill>
                        <a:latin typeface="Cambria Math" panose="02040503050406030204" pitchFamily="18" charset="0"/>
                      </a:rPr>
                      <m:t>+</m:t>
                    </m:r>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𝛿</m:t>
                        </m:r>
                      </m:e>
                      <m:sub>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𝑘</m:t>
                            </m:r>
                          </m:e>
                          <m:sub>
                            <m:r>
                              <a:rPr lang="en-US" altLang="zh-CN" sz="2400" b="0" i="1" smtClean="0">
                                <a:solidFill>
                                  <a:schemeClr val="tx1"/>
                                </a:solidFill>
                                <a:latin typeface="Cambria Math" panose="02040503050406030204" pitchFamily="18" charset="0"/>
                              </a:rPr>
                              <m:t>𝑥</m:t>
                            </m:r>
                          </m:sub>
                        </m:sSub>
                        <m:r>
                          <a:rPr lang="en-US" altLang="zh-CN" sz="2400" b="0" i="1" smtClean="0">
                            <a:solidFill>
                              <a:schemeClr val="tx1"/>
                            </a:solidFill>
                            <a:latin typeface="Cambria Math" panose="02040503050406030204" pitchFamily="18" charset="0"/>
                          </a:rPr>
                          <m:t> </m:t>
                        </m:r>
                      </m:sub>
                    </m:sSub>
                    <m:r>
                      <a:rPr lang="en-US" altLang="zh-CN" sz="2400" b="0" i="1"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𝛿</m:t>
                        </m:r>
                      </m:e>
                      <m:sub>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𝑘</m:t>
                            </m:r>
                          </m:e>
                          <m:sub>
                            <m:r>
                              <a:rPr lang="en-US" altLang="zh-CN" sz="2400" b="0" i="1" smtClean="0">
                                <a:solidFill>
                                  <a:schemeClr val="tx1"/>
                                </a:solidFill>
                                <a:latin typeface="Cambria Math" panose="02040503050406030204" pitchFamily="18" charset="0"/>
                              </a:rPr>
                              <m:t>𝑦</m:t>
                            </m:r>
                            <m:r>
                              <a:rPr lang="en-US" altLang="zh-CN" sz="2400" b="0" i="1" smtClean="0">
                                <a:solidFill>
                                  <a:schemeClr val="tx1"/>
                                </a:solidFill>
                                <a:latin typeface="Cambria Math" panose="02040503050406030204" pitchFamily="18" charset="0"/>
                              </a:rPr>
                              <m:t> </m:t>
                            </m:r>
                          </m:sub>
                        </m:sSub>
                      </m:sub>
                    </m:sSub>
                    <m:r>
                      <a:rPr lang="en-US" altLang="zh-CN" sz="2400" b="0" i="1"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𝛿</m:t>
                        </m:r>
                      </m:e>
                      <m:sub>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𝑘</m:t>
                            </m:r>
                          </m:e>
                          <m:sub>
                            <m:r>
                              <a:rPr lang="en-US" altLang="zh-CN" sz="2400" b="0" i="1" smtClean="0">
                                <a:solidFill>
                                  <a:schemeClr val="tx1"/>
                                </a:solidFill>
                                <a:latin typeface="Cambria Math" panose="02040503050406030204" pitchFamily="18" charset="0"/>
                              </a:rPr>
                              <m:t>𝑧</m:t>
                            </m:r>
                          </m:sub>
                        </m:sSub>
                      </m:sub>
                    </m:sSub>
                    <m:r>
                      <a:rPr lang="zh-CN" altLang="en-US" sz="2400" i="1">
                        <a:solidFill>
                          <a:schemeClr val="tx1"/>
                        </a:solidFill>
                        <a:latin typeface="Cambria Math" panose="02040503050406030204" pitchFamily="18" charset="0"/>
                      </a:rPr>
                      <m:t>）</m:t>
                    </m:r>
                  </m:oMath>
                </a14:m>
                <a:r>
                  <a:rPr lang="en-US" altLang="zh-CN" sz="2400" dirty="0">
                    <a:solidFill>
                      <a:schemeClr val="tx1"/>
                    </a:solidFill>
                  </a:rPr>
                  <a:t>,</a:t>
                </a:r>
                <a:r>
                  <a:rPr lang="zh-CN" altLang="en-US" sz="2400" dirty="0">
                    <a:solidFill>
                      <a:schemeClr val="tx1"/>
                    </a:solidFill>
                  </a:rPr>
                  <a:t>可近似表示为：</a:t>
                </a:r>
                <a:endParaRPr lang="en-US" altLang="zh-CN" sz="2400" dirty="0">
                  <a:solidFill>
                    <a:schemeClr val="tx1"/>
                  </a:solidFill>
                </a:endParaRPr>
              </a:p>
              <a:p>
                <a14:m>
                  <m:oMath xmlns:m="http://schemas.openxmlformats.org/officeDocument/2006/math">
                    <m:r>
                      <a:rPr lang="en-US" altLang="zh-CN" sz="2400" i="1" dirty="0">
                        <a:solidFill>
                          <a:schemeClr val="tx1"/>
                        </a:solidFill>
                        <a:latin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b="1"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𝐸</m:t>
                        </m:r>
                      </m:e>
                      <m:sub>
                        <m:r>
                          <a:rPr lang="en-US" altLang="zh-CN" sz="2400" i="1" dirty="0">
                            <a:solidFill>
                              <a:schemeClr val="tx1"/>
                            </a:solidFill>
                            <a:latin typeface="Cambria Math" panose="02040503050406030204" pitchFamily="18" charset="0"/>
                          </a:rPr>
                          <m:t>𝑚</m:t>
                        </m:r>
                        <m:r>
                          <a:rPr lang="en-US" altLang="zh-CN" sz="2400" b="0" i="1" dirty="0" smtClean="0">
                            <a:solidFill>
                              <a:schemeClr val="tx1"/>
                            </a:solidFill>
                            <a:latin typeface="Cambria Math" panose="02040503050406030204" pitchFamily="18" charset="0"/>
                          </a:rPr>
                          <m:t>𝑎𝑥</m:t>
                        </m:r>
                      </m:sub>
                    </m:sSub>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r>
                              <a:rPr lang="en-US" altLang="zh-CN" sz="2400" b="0" i="1" dirty="0" smtClean="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m:t>
                            </m:r>
                          </m:sup>
                        </m:sSup>
                      </m:den>
                    </m:f>
                  </m:oMath>
                </a14:m>
                <a:r>
                  <a:rPr lang="en-US" altLang="zh-CN" sz="2400" dirty="0">
                    <a:solidFill>
                      <a:schemeClr val="tx1"/>
                    </a:solidFill>
                  </a:rPr>
                  <a:t>		</a:t>
                </a:r>
                <a:r>
                  <a:rPr lang="zh-CN" altLang="en-US" sz="2400" dirty="0">
                    <a:solidFill>
                      <a:schemeClr val="tx1"/>
                    </a:solidFill>
                  </a:rPr>
                  <a:t>其中</a:t>
                </a:r>
                <a14:m>
                  <m:oMath xmlns:m="http://schemas.openxmlformats.org/officeDocument/2006/math">
                    <m:r>
                      <a:rPr lang="en-US" altLang="zh-CN" sz="2400" b="0" i="0" dirty="0" smtClean="0">
                        <a:solidFill>
                          <a:schemeClr val="tx1"/>
                        </a:solidFill>
                        <a:latin typeface="Cambria Math" panose="02040503050406030204" pitchFamily="18" charset="0"/>
                      </a:rPr>
                      <m:t> </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m:t>
                        </m:r>
                      </m:sup>
                    </m:sSup>
                    <m:r>
                      <a:rPr lang="en-US" altLang="zh-CN" sz="2400" b="0" i="1" dirty="0"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num>
                      <m:den>
                        <m:r>
                          <a:rPr lang="en-US" altLang="zh-CN" sz="2400" i="1">
                            <a:solidFill>
                              <a:schemeClr val="tx1"/>
                            </a:solidFill>
                            <a:latin typeface="Cambria Math" panose="02040503050406030204" pitchFamily="18" charset="0"/>
                          </a:rPr>
                          <m:t>2</m:t>
                        </m:r>
                        <m:r>
                          <a:rPr lang="en-US" altLang="zh-CN" sz="2400" i="1" dirty="0">
                            <a:solidFill>
                              <a:schemeClr val="tx1"/>
                            </a:solidFill>
                            <a:latin typeface="Cambria Math" panose="02040503050406030204" pitchFamily="18" charset="0"/>
                          </a:rPr>
                          <m:t>𝐽</m:t>
                        </m:r>
                        <m:r>
                          <a:rPr lang="en-US" altLang="zh-CN" sz="2400" i="1" dirty="0">
                            <a:solidFill>
                              <a:schemeClr val="tx1"/>
                            </a:solidFill>
                            <a:latin typeface="Cambria Math" panose="02040503050406030204" pitchFamily="18" charset="0"/>
                          </a:rPr>
                          <m:t> </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𝑎</m:t>
                            </m:r>
                          </m:e>
                          <m:sup>
                            <m:r>
                              <a:rPr lang="en-US" altLang="zh-CN" sz="2400" i="1" dirty="0">
                                <a:solidFill>
                                  <a:schemeClr val="tx1"/>
                                </a:solidFill>
                                <a:latin typeface="Cambria Math" panose="02040503050406030204" pitchFamily="18" charset="0"/>
                              </a:rPr>
                              <m:t>2</m:t>
                            </m:r>
                          </m:sup>
                        </m:sSup>
                      </m:den>
                    </m:f>
                  </m:oMath>
                </a14:m>
                <a:r>
                  <a:rPr lang="en-US" altLang="zh-CN" sz="2400" dirty="0">
                    <a:solidFill>
                      <a:schemeClr val="tx1"/>
                    </a:solidFill>
                    <a:ea typeface="Cambria Math" panose="02040503050406030204" pitchFamily="18" charset="0"/>
                  </a:rPr>
                  <a:t> </a:t>
                </a:r>
                <a14:m>
                  <m:oMath xmlns:m="http://schemas.openxmlformats.org/officeDocument/2006/math">
                    <m:r>
                      <a:rPr lang="en-US" altLang="zh-CN" sz="2400" i="1" smtClean="0">
                        <a:solidFill>
                          <a:schemeClr val="tx1"/>
                        </a:solidFill>
                        <a:latin typeface="Cambria Math" panose="02040503050406030204" pitchFamily="18" charset="0"/>
                        <a:ea typeface="Cambria Math" panose="02040503050406030204" pitchFamily="18" charset="0"/>
                      </a:rPr>
                      <m:t>&lt;</m:t>
                    </m:r>
                    <m:r>
                      <a:rPr lang="en-US" altLang="zh-CN" sz="2400" i="1">
                        <a:solidFill>
                          <a:schemeClr val="tx1"/>
                        </a:solidFill>
                        <a:latin typeface="Cambria Math" panose="02040503050406030204" pitchFamily="18" charset="0"/>
                        <a:ea typeface="Cambria Math" panose="02040503050406030204" pitchFamily="18" charset="0"/>
                      </a:rPr>
                      <m:t>0</m:t>
                    </m:r>
                  </m:oMath>
                </a14:m>
                <a:endParaRPr lang="en-US" altLang="zh-CN" sz="2400" dirty="0">
                  <a:solidFill>
                    <a:schemeClr val="tx1"/>
                  </a:solidFill>
                </a:endParaRPr>
              </a:p>
              <a:p>
                <a:endParaRPr lang="en-US" altLang="zh-CN" sz="2400" dirty="0">
                  <a:solidFill>
                    <a:schemeClr val="tx1"/>
                  </a:solidFill>
                </a:endParaRPr>
              </a:p>
              <a:p>
                <a:pPr marL="285750" indent="-285750">
                  <a:buFont typeface="Arial" panose="020B0604020202020204" pitchFamily="34" charset="0"/>
                  <a:buChar char="•"/>
                </a:pPr>
                <a:r>
                  <a:rPr lang="zh-CN" altLang="en-US" sz="2400" dirty="0">
                    <a:solidFill>
                      <a:schemeClr val="tx1"/>
                    </a:solidFill>
                  </a:rPr>
                  <a:t>色散关系在极值点附近类似自由电子，只是</a:t>
                </a:r>
                <a14:m>
                  <m:oMath xmlns:m="http://schemas.openxmlformats.org/officeDocument/2006/math">
                    <m:r>
                      <a:rPr lang="en-US" altLang="zh-CN" sz="2400" b="0" i="0" smtClean="0">
                        <a:solidFill>
                          <a:schemeClr val="tx1"/>
                        </a:solidFill>
                        <a:latin typeface="Cambria Math" panose="02040503050406030204" pitchFamily="18" charset="0"/>
                      </a:rPr>
                      <m:t>  </m:t>
                    </m:r>
                    <m:r>
                      <a:rPr lang="en-US" altLang="zh-CN" sz="2400" b="0" i="1" smtClean="0">
                        <a:solidFill>
                          <a:schemeClr val="tx1"/>
                        </a:solidFill>
                        <a:latin typeface="Cambria Math" panose="02040503050406030204" pitchFamily="18" charset="0"/>
                      </a:rPr>
                      <m:t>𝑚</m:t>
                    </m:r>
                    <m:r>
                      <a:rPr lang="en-US" altLang="zh-CN" sz="2400" b="0" i="1" smtClean="0">
                        <a:solidFill>
                          <a:schemeClr val="tx1"/>
                        </a:solidFill>
                        <a:latin typeface="Cambria Math" panose="02040503050406030204" pitchFamily="18" charset="0"/>
                        <a:ea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𝑚</m:t>
                        </m:r>
                      </m:e>
                      <m:sup>
                        <m:r>
                          <a:rPr lang="en-US" altLang="zh-CN" sz="2400" i="1">
                            <a:solidFill>
                              <a:schemeClr val="tx1"/>
                            </a:solidFill>
                            <a:latin typeface="Cambria Math" panose="02040503050406030204" pitchFamily="18" charset="0"/>
                          </a:rPr>
                          <m:t>∗</m:t>
                        </m:r>
                      </m:sup>
                    </m:sSup>
                  </m:oMath>
                </a14:m>
                <a:endParaRPr lang="en-US" altLang="zh-CN" sz="2400" dirty="0">
                  <a:solidFill>
                    <a:schemeClr val="tx1"/>
                  </a:solidFill>
                </a:endParaRPr>
              </a:p>
              <a:p>
                <a:pPr marL="285750" indent="-285750">
                  <a:buFont typeface="Arial" panose="020B0604020202020204" pitchFamily="34" charset="0"/>
                  <a:buChar char="•"/>
                </a:pPr>
                <a:r>
                  <a:rPr lang="zh-CN" altLang="en-US" sz="2400" dirty="0">
                    <a:solidFill>
                      <a:schemeClr val="tx1"/>
                    </a:solidFill>
                  </a:rPr>
                  <a:t>结论：离原子核较近的原子能级在晶体中展宽，成为能带</a:t>
                </a:r>
                <a:endParaRPr lang="en-US" altLang="zh-CN" sz="2400" dirty="0">
                  <a:solidFill>
                    <a:schemeClr val="tx1"/>
                  </a:solidFill>
                </a:endParaRPr>
              </a:p>
              <a:p>
                <a:pPr marL="285750" indent="-285750">
                  <a:buFont typeface="Arial" panose="020B0604020202020204" pitchFamily="34" charset="0"/>
                  <a:buChar char="•"/>
                </a:pPr>
                <a:r>
                  <a:rPr lang="zh-CN" altLang="en-US" sz="2400" dirty="0">
                    <a:solidFill>
                      <a:schemeClr val="tx1"/>
                    </a:solidFill>
                  </a:rPr>
                  <a:t>显然，</a:t>
                </a:r>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1" i="1" dirty="0">
                        <a:solidFill>
                          <a:schemeClr val="tx1"/>
                        </a:solidFill>
                        <a:latin typeface="Cambria Math" panose="02040503050406030204" pitchFamily="18" charset="0"/>
                        <a:sym typeface="Symbol" panose="05050102010706020507" pitchFamily="18" charset="2"/>
                      </a:rPr>
                      <m:t>𝒌</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i="1" dirty="0" smtClean="0">
                        <a:solidFill>
                          <a:schemeClr val="tx1"/>
                        </a:solidFill>
                        <a:latin typeface="Cambria Math" panose="02040503050406030204" pitchFamily="18" charset="0"/>
                        <a:sym typeface="Symbol" panose="05050102010706020507" pitchFamily="18" charset="2"/>
                      </a:rPr>
                      <m:t>=</m:t>
                    </m:r>
                  </m:oMath>
                </a14:m>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1" i="1" dirty="0" smtClean="0">
                        <a:solidFill>
                          <a:schemeClr val="tx1"/>
                        </a:solidFill>
                        <a:latin typeface="Cambria Math" panose="02040503050406030204" pitchFamily="18" charset="0"/>
                        <a:sym typeface="Symbol" panose="05050102010706020507" pitchFamily="18" charset="2"/>
                      </a:rPr>
                      <m:t>−</m:t>
                    </m:r>
                    <m:r>
                      <a:rPr lang="en-US" altLang="zh-CN" sz="2400" b="1" i="1" dirty="0">
                        <a:solidFill>
                          <a:schemeClr val="tx1"/>
                        </a:solidFill>
                        <a:latin typeface="Cambria Math" panose="02040503050406030204" pitchFamily="18" charset="0"/>
                        <a:sym typeface="Symbol" panose="05050102010706020507" pitchFamily="18" charset="2"/>
                      </a:rPr>
                      <m:t>𝒌</m:t>
                    </m:r>
                    <m:r>
                      <a:rPr lang="en-US" altLang="zh-CN" sz="2400" i="1" dirty="0">
                        <a:solidFill>
                          <a:schemeClr val="tx1"/>
                        </a:solidFill>
                        <a:latin typeface="Cambria Math" panose="02040503050406030204" pitchFamily="18" charset="0"/>
                        <a:sym typeface="Symbol" panose="05050102010706020507" pitchFamily="18" charset="2"/>
                      </a:rPr>
                      <m:t>)</m:t>
                    </m:r>
                  </m:oMath>
                </a14:m>
                <a:r>
                  <a:rPr lang="zh-CN" altLang="en-US" sz="2400" dirty="0">
                    <a:solidFill>
                      <a:schemeClr val="tx1"/>
                    </a:solidFill>
                  </a:rPr>
                  <a:t>；</a:t>
                </a:r>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1" i="1" dirty="0">
                        <a:solidFill>
                          <a:schemeClr val="tx1"/>
                        </a:solidFill>
                        <a:latin typeface="Cambria Math" panose="02040503050406030204" pitchFamily="18" charset="0"/>
                        <a:sym typeface="Symbol" panose="05050102010706020507" pitchFamily="18" charset="2"/>
                      </a:rPr>
                      <m:t>𝒌</m:t>
                    </m:r>
                    <m:r>
                      <a:rPr lang="en-US" altLang="zh-CN" sz="2400" b="1" i="1" dirty="0">
                        <a:solidFill>
                          <a:schemeClr val="tx1"/>
                        </a:solidFill>
                        <a:latin typeface="Cambria Math" panose="02040503050406030204" pitchFamily="18" charset="0"/>
                        <a:sym typeface="Symbol" panose="05050102010706020507" pitchFamily="18" charset="2"/>
                      </a:rPr>
                      <m:t>+</m:t>
                    </m:r>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𝑲</m:t>
                        </m:r>
                      </m:e>
                      <m:sub>
                        <m:r>
                          <a:rPr lang="en-US" altLang="zh-CN" sz="2400" b="1" i="1">
                            <a:solidFill>
                              <a:schemeClr val="tx1"/>
                            </a:solidFill>
                            <a:latin typeface="Cambria Math" panose="02040503050406030204" pitchFamily="18" charset="0"/>
                          </a:rPr>
                          <m:t>𝒉</m:t>
                        </m:r>
                      </m:sub>
                    </m:sSub>
                    <m:r>
                      <a:rPr lang="en-US" altLang="zh-CN" sz="2400" i="1" dirty="0">
                        <a:solidFill>
                          <a:schemeClr val="tx1"/>
                        </a:solidFill>
                        <a:latin typeface="Cambria Math" panose="02040503050406030204" pitchFamily="18" charset="0"/>
                        <a:sym typeface="Symbol" panose="05050102010706020507" pitchFamily="18" charset="2"/>
                      </a:rPr>
                      <m:t>)=</m:t>
                    </m:r>
                  </m:oMath>
                </a14:m>
                <a:r>
                  <a:rPr lang="en-US" altLang="zh-CN" sz="2400" dirty="0">
                    <a:solidFill>
                      <a:schemeClr val="tx1"/>
                    </a:solidFill>
                    <a:sym typeface="Symbol" panose="05050102010706020507" pitchFamily="18" charset="2"/>
                  </a:rPr>
                  <a:t> </a:t>
                </a:r>
                <a14:m>
                  <m:oMath xmlns:m="http://schemas.openxmlformats.org/officeDocument/2006/math">
                    <m:r>
                      <a:rPr lang="en-US" altLang="zh-CN" sz="2400" i="1" dirty="0">
                        <a:solidFill>
                          <a:schemeClr val="tx1"/>
                        </a:solidFill>
                        <a:latin typeface="Cambria Math" panose="02040503050406030204" pitchFamily="18" charset="0"/>
                        <a:sym typeface="Symbol" panose="05050102010706020507" pitchFamily="18" charset="2"/>
                      </a:rPr>
                      <m:t>𝐸</m:t>
                    </m:r>
                    <m:r>
                      <a:rPr lang="en-US" altLang="zh-CN" sz="2400" i="1" dirty="0">
                        <a:solidFill>
                          <a:schemeClr val="tx1"/>
                        </a:solidFill>
                        <a:latin typeface="Cambria Math" panose="02040503050406030204" pitchFamily="18" charset="0"/>
                        <a:sym typeface="Symbol" panose="05050102010706020507" pitchFamily="18" charset="2"/>
                      </a:rPr>
                      <m:t>(</m:t>
                    </m:r>
                    <m:r>
                      <a:rPr lang="en-US" altLang="zh-CN" sz="2400" b="1" i="1" dirty="0">
                        <a:solidFill>
                          <a:schemeClr val="tx1"/>
                        </a:solidFill>
                        <a:latin typeface="Cambria Math" panose="02040503050406030204" pitchFamily="18" charset="0"/>
                        <a:sym typeface="Symbol" panose="05050102010706020507" pitchFamily="18" charset="2"/>
                      </a:rPr>
                      <m:t>𝒌</m:t>
                    </m:r>
                    <m:r>
                      <a:rPr lang="en-US" altLang="zh-CN" sz="2400" i="1" dirty="0">
                        <a:solidFill>
                          <a:schemeClr val="tx1"/>
                        </a:solidFill>
                        <a:latin typeface="Cambria Math" panose="02040503050406030204" pitchFamily="18" charset="0"/>
                        <a:sym typeface="Symbol" panose="05050102010706020507" pitchFamily="18" charset="2"/>
                      </a:rPr>
                      <m:t>)</m:t>
                    </m:r>
                  </m:oMath>
                </a14:m>
                <a:endParaRPr lang="en-US" altLang="zh-CN" sz="2400" dirty="0">
                  <a:solidFill>
                    <a:schemeClr val="tx1"/>
                  </a:solidFill>
                </a:endParaRPr>
              </a:p>
              <a:p>
                <a:pPr marL="285750" indent="-285750">
                  <a:buFont typeface="Arial" panose="020B0604020202020204" pitchFamily="34" charset="0"/>
                  <a:buChar char="•"/>
                </a:pPr>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13164" y="1686359"/>
                <a:ext cx="10745436" cy="4737772"/>
              </a:xfrm>
              <a:prstGeom prst="rect">
                <a:avLst/>
              </a:prstGeom>
              <a:blipFill rotWithShape="1">
                <a:blip r:embed="rId3"/>
                <a:stretch>
                  <a:fillRect l="-1191" t="-1287" r="-36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31854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3132813"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.3 </a:t>
                </a:r>
                <a:r>
                  <a:rPr lang="zh-CN" altLang="en-US" sz="2800" dirty="0">
                    <a:solidFill>
                      <a:schemeClr val="tx1"/>
                    </a:solidFill>
                  </a:rPr>
                  <a:t>紧束缚近似</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3132813" cy="523220"/>
              </a:xfrm>
              <a:prstGeom prst="rect">
                <a:avLst/>
              </a:prstGeom>
              <a:blipFill rotWithShape="1">
                <a:blip r:embed="rId2"/>
                <a:stretch>
                  <a:fillRect t="-13953" b="-29070"/>
                </a:stretch>
              </a:blipFill>
            </p:spPr>
            <p:txBody>
              <a:bodyPr/>
              <a:lstStyle/>
              <a:p>
                <a:r>
                  <a:rPr lang="zh-CN" altLang="en-US">
                    <a:noFill/>
                  </a:rPr>
                  <a:t> </a:t>
                </a:r>
              </a:p>
            </p:txBody>
          </p:sp>
        </mc:Fallback>
      </mc:AlternateContent>
      <p:sp>
        <p:nvSpPr>
          <p:cNvPr id="6" name="文本框 5"/>
          <p:cNvSpPr txBox="1"/>
          <p:nvPr/>
        </p:nvSpPr>
        <p:spPr>
          <a:xfrm>
            <a:off x="913164" y="1686359"/>
            <a:ext cx="10745436" cy="1877437"/>
          </a:xfrm>
          <a:prstGeom prst="rect">
            <a:avLst/>
          </a:prstGeom>
          <a:noFill/>
        </p:spPr>
        <p:txBody>
          <a:bodyPr wrap="square" rtlCol="0">
            <a:spAutoFit/>
          </a:bodyPr>
          <a:lstStyle/>
          <a:p>
            <a:r>
              <a:rPr lang="en-US" altLang="zh-CN" sz="2800" b="1" dirty="0">
                <a:solidFill>
                  <a:schemeClr val="tx1"/>
                </a:solidFill>
              </a:rPr>
              <a:t>7.3.3  </a:t>
            </a:r>
            <a:r>
              <a:rPr lang="zh-CN" altLang="en-US" sz="2800" b="1" dirty="0">
                <a:solidFill>
                  <a:schemeClr val="tx1"/>
                </a:solidFill>
              </a:rPr>
              <a:t>等能面</a:t>
            </a:r>
            <a:endParaRPr lang="en-US" altLang="zh-CN" sz="2800" b="1" dirty="0">
              <a:solidFill>
                <a:schemeClr val="tx1"/>
              </a:solidFill>
            </a:endParaRPr>
          </a:p>
          <a:p>
            <a:endParaRPr lang="en-US" altLang="zh-CN" sz="1600" b="1" dirty="0">
              <a:solidFill>
                <a:schemeClr val="tx1"/>
              </a:solidFill>
            </a:endParaRPr>
          </a:p>
          <a:p>
            <a:r>
              <a:rPr lang="zh-CN" altLang="en-US" sz="2400" dirty="0">
                <a:solidFill>
                  <a:schemeClr val="tx1"/>
                </a:solidFill>
              </a:rPr>
              <a:t>是球面吗？</a:t>
            </a:r>
            <a:r>
              <a:rPr lang="zh-CN" altLang="en-US" sz="2400" dirty="0">
                <a:solidFill>
                  <a:schemeClr val="tx1"/>
                </a:solidFill>
                <a:sym typeface="Symbol" panose="05050102010706020507" pitchFamily="18" charset="2"/>
              </a:rPr>
              <a:t> 在点附近是，其它地方还是很复杂的。</a:t>
            </a:r>
            <a:endParaRPr lang="en-US" altLang="zh-CN" sz="2400" dirty="0">
              <a:solidFill>
                <a:schemeClr val="tx1"/>
              </a:solidFill>
              <a:sym typeface="Symbol" panose="05050102010706020507" pitchFamily="18" charset="2"/>
            </a:endParaRPr>
          </a:p>
          <a:p>
            <a:endParaRPr lang="en-US" altLang="zh-CN" sz="2400" dirty="0">
              <a:solidFill>
                <a:schemeClr val="tx1"/>
              </a:solidFill>
              <a:sym typeface="Symbol" panose="05050102010706020507" pitchFamily="18" charset="2"/>
            </a:endParaRPr>
          </a:p>
          <a:p>
            <a:r>
              <a:rPr lang="zh-CN" altLang="en-US" sz="2400" dirty="0">
                <a:solidFill>
                  <a:schemeClr val="tx1"/>
                </a:solidFill>
                <a:sym typeface="Symbol" panose="05050102010706020507" pitchFamily="18" charset="2"/>
              </a:rPr>
              <a:t>问题：内层电子能带之间的能隙是怎么来的？</a:t>
            </a:r>
            <a:r>
              <a:rPr lang="zh-CN" altLang="en-US" sz="1600" dirty="0">
                <a:solidFill>
                  <a:schemeClr val="tx1"/>
                </a:solidFill>
                <a:sym typeface="Symbol" panose="05050102010706020507" pitchFamily="18" charset="2"/>
              </a:rPr>
              <a:t>  </a:t>
            </a:r>
            <a:endParaRPr lang="en-US" altLang="zh-CN" sz="1600" dirty="0">
              <a:solidFill>
                <a:schemeClr val="tx1"/>
              </a:solidFill>
            </a:endParaRPr>
          </a:p>
        </p:txBody>
      </p:sp>
    </p:spTree>
    <p:extLst>
      <p:ext uri="{BB962C8B-B14F-4D97-AF65-F5344CB8AC3E}">
        <p14:creationId xmlns:p14="http://schemas.microsoft.com/office/powerpoint/2010/main" val="41929707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777613" y="0"/>
            <a:ext cx="6636774" cy="6858000"/>
          </a:xfrm>
          <a:prstGeom prst="rect">
            <a:avLst/>
          </a:prstGeom>
        </p:spPr>
      </p:pic>
    </p:spTree>
    <p:extLst>
      <p:ext uri="{BB962C8B-B14F-4D97-AF65-F5344CB8AC3E}">
        <p14:creationId xmlns:p14="http://schemas.microsoft.com/office/powerpoint/2010/main" val="1424199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644114"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.4 </a:t>
                </a:r>
                <a:r>
                  <a:rPr lang="zh-CN" altLang="en-US" sz="2800" dirty="0">
                    <a:solidFill>
                      <a:schemeClr val="tx1"/>
                    </a:solidFill>
                  </a:rPr>
                  <a:t>电子的准经典运动</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644114"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88014" y="1695319"/>
                <a:ext cx="11430814" cy="4916154"/>
              </a:xfrm>
              <a:prstGeom prst="rect">
                <a:avLst/>
              </a:prstGeom>
              <a:noFill/>
            </p:spPr>
            <p:txBody>
              <a:bodyPr wrap="square" rtlCol="0">
                <a:spAutoFit/>
              </a:bodyPr>
              <a:lstStyle/>
              <a:p>
                <a:r>
                  <a:rPr lang="zh-CN" altLang="en-US" sz="2400" dirty="0">
                    <a:solidFill>
                      <a:schemeClr val="tx1"/>
                    </a:solidFill>
                  </a:rPr>
                  <a:t>电子在外场中的运动特性是</a:t>
                </a:r>
                <a:r>
                  <a:rPr lang="zh-CN" altLang="en-US" sz="2400" dirty="0"/>
                  <a:t>理解</a:t>
                </a:r>
                <a:r>
                  <a:rPr lang="zh-CN" altLang="en-US" sz="2400" dirty="0">
                    <a:solidFill>
                      <a:schemeClr val="tx1"/>
                    </a:solidFill>
                  </a:rPr>
                  <a:t>电导、霍尔效应、超导等的基础</a:t>
                </a:r>
                <a:endParaRPr lang="en-US" altLang="zh-CN" sz="2400" dirty="0">
                  <a:solidFill>
                    <a:schemeClr val="tx1"/>
                  </a:solidFill>
                </a:endParaRPr>
              </a:p>
              <a:p>
                <a:r>
                  <a:rPr lang="zh-CN" altLang="en-US" sz="2400" dirty="0">
                    <a:solidFill>
                      <a:schemeClr val="tx1"/>
                    </a:solidFill>
                  </a:rPr>
                  <a:t>晶体中的电子和自由电子有何区别？</a:t>
                </a:r>
                <a:endParaRPr lang="en-US" altLang="zh-CN" sz="2400" dirty="0">
                  <a:solidFill>
                    <a:schemeClr val="tx1"/>
                  </a:solidFill>
                </a:endParaRPr>
              </a:p>
              <a:p>
                <a:endParaRPr lang="en-US" altLang="zh-CN" sz="1600" dirty="0">
                  <a:solidFill>
                    <a:schemeClr val="tx1"/>
                  </a:solidFill>
                </a:endParaRPr>
              </a:p>
              <a:p>
                <a:r>
                  <a:rPr lang="en-US" altLang="zh-CN" sz="2800" b="1" dirty="0">
                    <a:solidFill>
                      <a:schemeClr val="tx1"/>
                    </a:solidFill>
                  </a:rPr>
                  <a:t>7.4.1 </a:t>
                </a:r>
                <a:r>
                  <a:rPr lang="zh-CN" altLang="en-US" sz="2800" b="1" dirty="0">
                    <a:solidFill>
                      <a:schemeClr val="tx1"/>
                    </a:solidFill>
                  </a:rPr>
                  <a:t>布洛赫态中电子的平均速度</a:t>
                </a:r>
                <a:endParaRPr lang="en-US" altLang="zh-CN" sz="2800" b="1" dirty="0">
                  <a:solidFill>
                    <a:schemeClr val="tx1"/>
                  </a:solidFill>
                </a:endParaRPr>
              </a:p>
              <a:p>
                <a:endParaRPr lang="en-US" altLang="zh-CN" sz="1600" b="1" dirty="0">
                  <a:solidFill>
                    <a:schemeClr val="tx1"/>
                  </a:solidFill>
                </a:endParaRPr>
              </a:p>
              <a:p>
                <a:r>
                  <a:rPr lang="zh-CN" altLang="en-US" sz="2400" dirty="0">
                    <a:solidFill>
                      <a:schemeClr val="tx1"/>
                    </a:solidFill>
                  </a:rPr>
                  <a:t>电子速度算符：</a:t>
                </a:r>
                <a14:m>
                  <m:oMath xmlns:m="http://schemas.openxmlformats.org/officeDocument/2006/math">
                    <m:f>
                      <m:fPr>
                        <m:ctrlPr>
                          <a:rPr lang="en-US" altLang="zh-CN" sz="2400" b="0" i="1" smtClean="0">
                            <a:solidFill>
                              <a:schemeClr val="tx1"/>
                            </a:solidFill>
                            <a:latin typeface="Cambria Math" panose="02040503050406030204" pitchFamily="18" charset="0"/>
                          </a:rPr>
                        </m:ctrlPr>
                      </m:fPr>
                      <m:num>
                        <m:r>
                          <a:rPr lang="en-US" altLang="zh-CN" sz="2400" b="1" i="1" smtClean="0">
                            <a:solidFill>
                              <a:schemeClr val="tx1"/>
                            </a:solidFill>
                            <a:latin typeface="Cambria Math" panose="02040503050406030204" pitchFamily="18" charset="0"/>
                          </a:rPr>
                          <m:t>𝑷</m:t>
                        </m:r>
                      </m:num>
                      <m:den>
                        <m:r>
                          <a:rPr lang="en-US" altLang="zh-CN" sz="2400" b="0" i="1" smtClean="0">
                            <a:solidFill>
                              <a:schemeClr val="tx1"/>
                            </a:solidFill>
                            <a:latin typeface="Cambria Math" panose="02040503050406030204" pitchFamily="18" charset="0"/>
                          </a:rPr>
                          <m:t>𝑚</m:t>
                        </m:r>
                      </m:den>
                    </m:f>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ħ</m:t>
                        </m:r>
                      </m:num>
                      <m:den>
                        <m:r>
                          <a:rPr lang="en-US" altLang="zh-CN" sz="2400" b="0" i="1" smtClean="0">
                            <a:solidFill>
                              <a:schemeClr val="tx1"/>
                            </a:solidFill>
                            <a:latin typeface="Cambria Math" panose="02040503050406030204" pitchFamily="18" charset="0"/>
                          </a:rPr>
                          <m:t>𝑖𝑚</m:t>
                        </m:r>
                      </m:den>
                    </m:f>
                    <m:r>
                      <a:rPr lang="en-US" altLang="zh-CN" sz="2400" b="0" i="1" smtClean="0">
                        <a:solidFill>
                          <a:schemeClr val="tx1"/>
                        </a:solidFill>
                        <a:latin typeface="Cambria Math" panose="02040503050406030204" pitchFamily="18" charset="0"/>
                        <a:ea typeface="Cambria Math" panose="02040503050406030204" pitchFamily="18" charset="0"/>
                      </a:rPr>
                      <m:t>𝛻</m:t>
                    </m:r>
                  </m:oMath>
                </a14:m>
                <a:r>
                  <a:rPr lang="zh-CN" altLang="en-US" sz="2400" dirty="0">
                    <a:solidFill>
                      <a:schemeClr val="tx1"/>
                    </a:solidFill>
                  </a:rPr>
                  <a:t>，与</a:t>
                </a:r>
                <a:r>
                  <a:rPr lang="en-US" altLang="zh-CN" sz="2400" dirty="0">
                    <a:solidFill>
                      <a:schemeClr val="tx1"/>
                    </a:solidFill>
                  </a:rPr>
                  <a:t>H</a:t>
                </a:r>
                <a:r>
                  <a:rPr lang="zh-CN" altLang="en-US" sz="2400" dirty="0">
                    <a:solidFill>
                      <a:schemeClr val="tx1"/>
                    </a:solidFill>
                  </a:rPr>
                  <a:t>不对易。</a:t>
                </a:r>
                <a:endParaRPr lang="en-US" altLang="zh-CN" sz="2400" dirty="0">
                  <a:solidFill>
                    <a:schemeClr val="tx1"/>
                  </a:solidFill>
                </a:endParaRPr>
              </a:p>
              <a:p>
                <a:pPr/>
                <a14:m>
                  <m:oMathPara xmlns:m="http://schemas.openxmlformats.org/officeDocument/2006/math">
                    <m:oMathParaPr>
                      <m:jc m:val="left"/>
                    </m:oMathParaPr>
                    <m:oMath xmlns:m="http://schemas.openxmlformats.org/officeDocument/2006/math">
                      <m:r>
                        <a:rPr lang="en-US" altLang="zh-CN" sz="2400" b="1" i="1" smtClean="0">
                          <a:solidFill>
                            <a:schemeClr val="tx1"/>
                          </a:solidFill>
                          <a:latin typeface="Cambria Math" panose="02040503050406030204" pitchFamily="18" charset="0"/>
                        </a:rPr>
                        <m:t>𝒗</m:t>
                      </m:r>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𝑚</m:t>
                          </m:r>
                        </m:den>
                      </m:f>
                      <m:nary>
                        <m:naryPr>
                          <m:ctrlPr>
                            <a:rPr lang="en-US" altLang="zh-CN" sz="2400" b="0" i="1" smtClean="0">
                              <a:solidFill>
                                <a:schemeClr val="tx1"/>
                              </a:solidFill>
                              <a:latin typeface="Cambria Math" panose="02040503050406030204" pitchFamily="18" charset="0"/>
                            </a:rPr>
                          </m:ctrlPr>
                        </m:naryPr>
                        <m:sub>
                          <m:r>
                            <m:rPr>
                              <m:brk m:alnAt="23"/>
                            </m:rPr>
                            <a:rPr lang="en-US" altLang="zh-CN" sz="2400" b="0" i="1" smtClean="0">
                              <a:solidFill>
                                <a:schemeClr val="tx1"/>
                              </a:solidFill>
                              <a:latin typeface="Cambria Math" panose="02040503050406030204" pitchFamily="18" charset="0"/>
                            </a:rPr>
                            <m:t>𝑉</m:t>
                          </m:r>
                        </m:sub>
                        <m:sup>
                          <m:r>
                            <a:rPr lang="en-US" altLang="zh-CN" sz="2400" b="0" i="1" smtClean="0">
                              <a:solidFill>
                                <a:schemeClr val="tx1"/>
                              </a:solidFill>
                              <a:latin typeface="Cambria Math" panose="02040503050406030204" pitchFamily="18" charset="0"/>
                            </a:rPr>
                            <m:t> </m:t>
                          </m:r>
                        </m:sup>
                        <m:e>
                          <m:sSubSup>
                            <m:sSubSupPr>
                              <m:ctrlPr>
                                <a:rPr lang="en-US" altLang="zh-CN" sz="2400" b="0" i="1" smtClean="0">
                                  <a:solidFill>
                                    <a:schemeClr val="tx1"/>
                                  </a:solidFill>
                                  <a:latin typeface="Cambria Math" panose="02040503050406030204" pitchFamily="18" charset="0"/>
                                </a:rPr>
                              </m:ctrlPr>
                            </m:sSubSupPr>
                            <m:e>
                              <m:r>
                                <m:rPr>
                                  <m:nor/>
                                </m:rPr>
                                <a:rPr lang="zh-CN" altLang="en-US" sz="2400" dirty="0">
                                  <a:solidFill>
                                    <a:schemeClr val="tx1"/>
                                  </a:solidFill>
                                  <a:sym typeface="Symbol" panose="05050102010706020507" pitchFamily="18" charset="2"/>
                                </a:rPr>
                                <m:t></m:t>
                              </m:r>
                            </m:e>
                            <m:sub>
                              <m:r>
                                <a:rPr lang="en-US" altLang="zh-CN" sz="2400" b="0" i="1" smtClean="0">
                                  <a:solidFill>
                                    <a:schemeClr val="tx1"/>
                                  </a:solidFill>
                                  <a:latin typeface="Cambria Math" panose="02040503050406030204" pitchFamily="18" charset="0"/>
                                </a:rPr>
                                <m:t>𝑘</m:t>
                              </m:r>
                            </m:sub>
                            <m:sup>
                              <m:r>
                                <a:rPr lang="en-US" altLang="zh-CN" sz="2400" b="0" i="1" smtClean="0">
                                  <a:solidFill>
                                    <a:schemeClr val="tx1"/>
                                  </a:solidFill>
                                  <a:latin typeface="Cambria Math" panose="02040503050406030204" pitchFamily="18" charset="0"/>
                                </a:rPr>
                                <m:t>∗</m:t>
                              </m:r>
                            </m:sup>
                          </m:sSubSup>
                        </m:e>
                      </m:nary>
                      <m:f>
                        <m:fPr>
                          <m:ctrlPr>
                            <a:rPr lang="en-US" altLang="zh-CN" sz="2400" i="1">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ħ</m:t>
                          </m:r>
                        </m:num>
                        <m:den>
                          <m:r>
                            <a:rPr lang="en-US" altLang="zh-CN" sz="2400" i="1">
                              <a:solidFill>
                                <a:schemeClr val="tx1"/>
                              </a:solidFill>
                              <a:latin typeface="Cambria Math" panose="02040503050406030204" pitchFamily="18" charset="0"/>
                            </a:rPr>
                            <m:t>𝑖</m:t>
                          </m:r>
                        </m:den>
                      </m:f>
                      <m:r>
                        <a:rPr lang="en-US" altLang="zh-CN" sz="2400" i="1">
                          <a:solidFill>
                            <a:schemeClr val="tx1"/>
                          </a:solidFill>
                          <a:latin typeface="Cambria Math" panose="02040503050406030204" pitchFamily="18" charset="0"/>
                          <a:ea typeface="Cambria Math" panose="02040503050406030204" pitchFamily="18" charset="0"/>
                        </a:rPr>
                        <m:t>𝛻</m:t>
                      </m:r>
                      <m:sSub>
                        <m:sSubPr>
                          <m:ctrlPr>
                            <a:rPr lang="en-US" altLang="zh-CN" sz="2400" i="1" smtClean="0">
                              <a:solidFill>
                                <a:schemeClr val="tx1"/>
                              </a:solidFill>
                              <a:latin typeface="Cambria Math" panose="02040503050406030204" pitchFamily="18" charset="0"/>
                              <a:ea typeface="Cambria Math" panose="02040503050406030204" pitchFamily="18" charset="0"/>
                            </a:rPr>
                          </m:ctrlPr>
                        </m:sSubPr>
                        <m:e>
                          <m:r>
                            <m:rPr>
                              <m:nor/>
                            </m:rPr>
                            <a:rPr lang="zh-CN" altLang="en-US" sz="2400" dirty="0">
                              <a:solidFill>
                                <a:schemeClr val="tx1"/>
                              </a:solidFill>
                              <a:sym typeface="Symbol" panose="05050102010706020507" pitchFamily="18" charset="2"/>
                            </a:rPr>
                            <m:t></m:t>
                          </m:r>
                        </m:e>
                        <m:sub>
                          <m:r>
                            <a:rPr lang="en-US" altLang="zh-CN" sz="2400" b="0" i="1" smtClean="0">
                              <a:solidFill>
                                <a:schemeClr val="tx1"/>
                              </a:solidFill>
                              <a:latin typeface="Cambria Math" panose="02040503050406030204" pitchFamily="18" charset="0"/>
                              <a:ea typeface="Cambria Math" panose="02040503050406030204" pitchFamily="18" charset="0"/>
                            </a:rPr>
                            <m:t>𝑘</m:t>
                          </m:r>
                        </m:sub>
                      </m:sSub>
                      <m:r>
                        <a:rPr lang="en-US" altLang="zh-CN" sz="2400" b="0" i="1" smtClean="0">
                          <a:solidFill>
                            <a:schemeClr val="tx1"/>
                          </a:solidFill>
                          <a:latin typeface="Cambria Math" panose="02040503050406030204" pitchFamily="18" charset="0"/>
                          <a:ea typeface="Cambria Math" panose="02040503050406030204" pitchFamily="18" charset="0"/>
                        </a:rPr>
                        <m:t>𝑑</m:t>
                      </m:r>
                      <m:r>
                        <a:rPr lang="zh-CN" altLang="en-US" sz="2400" b="0" i="1" smtClean="0">
                          <a:solidFill>
                            <a:schemeClr val="tx1"/>
                          </a:solidFill>
                          <a:latin typeface="Cambria Math" panose="02040503050406030204" pitchFamily="18" charset="0"/>
                          <a:ea typeface="Cambria Math" panose="02040503050406030204" pitchFamily="18" charset="0"/>
                        </a:rPr>
                        <m:t>𝜏</m:t>
                      </m:r>
                      <m:r>
                        <a:rPr lang="en-US" altLang="zh-CN" sz="2400" b="0" i="1" smtClean="0">
                          <a:solidFill>
                            <a:schemeClr val="tx1"/>
                          </a:solidFill>
                          <a:latin typeface="Cambria Math" panose="02040503050406030204" pitchFamily="18" charset="0"/>
                          <a:ea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ħ</m:t>
                          </m:r>
                        </m:num>
                        <m:den>
                          <m:r>
                            <a:rPr lang="en-US" altLang="zh-CN" sz="2400" i="1">
                              <a:solidFill>
                                <a:schemeClr val="tx1"/>
                              </a:solidFill>
                              <a:latin typeface="Cambria Math" panose="02040503050406030204" pitchFamily="18" charset="0"/>
                            </a:rPr>
                            <m:t>𝑚</m:t>
                          </m:r>
                        </m:den>
                      </m:f>
                      <m:r>
                        <a:rPr lang="en-US" altLang="zh-CN" sz="2400" b="0" i="1" smtClean="0">
                          <a:solidFill>
                            <a:schemeClr val="tx1"/>
                          </a:solidFill>
                          <a:latin typeface="Cambria Math" panose="02040503050406030204" pitchFamily="18" charset="0"/>
                        </a:rPr>
                        <m:t> </m:t>
                      </m:r>
                      <m:nary>
                        <m:naryPr>
                          <m:subHide m:val="on"/>
                          <m:ctrlPr>
                            <a:rPr lang="en-US" altLang="zh-CN" sz="2400" i="1">
                              <a:solidFill>
                                <a:schemeClr val="tx1"/>
                              </a:solidFill>
                              <a:latin typeface="Cambria Math" panose="02040503050406030204" pitchFamily="18" charset="0"/>
                            </a:rPr>
                          </m:ctrlPr>
                        </m:naryPr>
                        <m:sub/>
                        <m:sup>
                          <m:r>
                            <a:rPr lang="en-US" altLang="zh-CN" sz="2400" i="1">
                              <a:solidFill>
                                <a:schemeClr val="tx1"/>
                              </a:solidFill>
                              <a:latin typeface="Cambria Math" panose="02040503050406030204" pitchFamily="18" charset="0"/>
                            </a:rPr>
                            <m:t> </m:t>
                          </m:r>
                        </m:sup>
                        <m:e>
                          <m:sSubSup>
                            <m:sSubSupPr>
                              <m:ctrlPr>
                                <a:rPr lang="en-US" altLang="zh-CN" sz="2400" i="1">
                                  <a:solidFill>
                                    <a:schemeClr val="tx1"/>
                                  </a:solidFill>
                                  <a:latin typeface="Cambria Math" panose="02040503050406030204" pitchFamily="18" charset="0"/>
                                </a:rPr>
                              </m:ctrlPr>
                            </m:sSubSupPr>
                            <m:e>
                              <m:r>
                                <m:rPr>
                                  <m:nor/>
                                </m:rPr>
                                <a:rPr lang="en-US" altLang="zh-CN" sz="2400" b="0" i="1" smtClean="0">
                                  <a:solidFill>
                                    <a:schemeClr val="tx1"/>
                                  </a:solidFill>
                                  <a:latin typeface="Cambria Math" panose="02040503050406030204" pitchFamily="18" charset="0"/>
                                </a:rPr>
                                <m:t>u</m:t>
                              </m:r>
                            </m:e>
                            <m:sub>
                              <m:r>
                                <a:rPr lang="en-US" altLang="zh-CN" sz="2400" i="1">
                                  <a:solidFill>
                                    <a:schemeClr val="tx1"/>
                                  </a:solidFill>
                                  <a:latin typeface="Cambria Math" panose="02040503050406030204" pitchFamily="18" charset="0"/>
                                </a:rPr>
                                <m:t>𝑘</m:t>
                              </m:r>
                            </m:sub>
                            <m:sup>
                              <m:r>
                                <a:rPr lang="en-US" altLang="zh-CN" sz="2400" i="1">
                                  <a:solidFill>
                                    <a:schemeClr val="tx1"/>
                                  </a:solidFill>
                                  <a:latin typeface="Cambria Math" panose="02040503050406030204" pitchFamily="18" charset="0"/>
                                </a:rPr>
                                <m:t>∗</m:t>
                              </m:r>
                            </m:sup>
                          </m:sSubSup>
                        </m:e>
                      </m:nary>
                      <m:r>
                        <a:rPr lang="en-US" altLang="zh-CN" sz="2400" b="0"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𝒓</m:t>
                      </m:r>
                      <m:r>
                        <a:rPr lang="en-US" altLang="zh-CN" sz="2400" b="0" i="1"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i="1">
                              <a:solidFill>
                                <a:schemeClr val="tx1"/>
                              </a:solidFill>
                              <a:latin typeface="Cambria Math" panose="02040503050406030204" pitchFamily="18" charset="0"/>
                            </a:rPr>
                            <m:t>𝑖</m:t>
                          </m:r>
                        </m:den>
                      </m:f>
                      <m:r>
                        <a:rPr lang="en-US" altLang="zh-CN" sz="2400" i="1">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1" i="1" smtClean="0">
                          <a:solidFill>
                            <a:schemeClr val="tx1"/>
                          </a:solidFill>
                          <a:latin typeface="Cambria Math" panose="02040503050406030204" pitchFamily="18" charset="0"/>
                          <a:ea typeface="Cambria Math" panose="02040503050406030204" pitchFamily="18" charset="0"/>
                        </a:rPr>
                        <m:t>𝒌</m:t>
                      </m:r>
                      <m:r>
                        <a:rPr lang="en-US" altLang="zh-CN" sz="2400" b="0" i="1" smtClean="0">
                          <a:solidFill>
                            <a:schemeClr val="tx1"/>
                          </a:solidFill>
                          <a:latin typeface="Cambria Math" panose="02040503050406030204" pitchFamily="18" charset="0"/>
                          <a:ea typeface="Cambria Math" panose="02040503050406030204" pitchFamily="18" charset="0"/>
                        </a:rPr>
                        <m:t>)</m:t>
                      </m:r>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b="0" i="1" smtClean="0">
                              <a:solidFill>
                                <a:schemeClr val="tx1"/>
                              </a:solidFill>
                              <a:latin typeface="Cambria Math" panose="02040503050406030204" pitchFamily="18" charset="0"/>
                              <a:ea typeface="Cambria Math" panose="02040503050406030204" pitchFamily="18" charset="0"/>
                            </a:rPr>
                            <m:t>u</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𝒓</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𝑑</m:t>
                      </m:r>
                      <m:r>
                        <a:rPr lang="zh-CN" altLang="en-US" sz="2400" i="1">
                          <a:solidFill>
                            <a:schemeClr val="tx1"/>
                          </a:solidFill>
                          <a:latin typeface="Cambria Math" panose="02040503050406030204" pitchFamily="18" charset="0"/>
                          <a:ea typeface="Cambria Math" panose="02040503050406030204" pitchFamily="18" charset="0"/>
                        </a:rPr>
                        <m:t>𝜏</m:t>
                      </m:r>
                    </m:oMath>
                  </m:oMathPara>
                </a14:m>
                <a:endParaRPr lang="en-US" altLang="zh-CN" sz="2400" dirty="0">
                  <a:solidFill>
                    <a:schemeClr val="tx1"/>
                  </a:solidFill>
                </a:endParaRPr>
              </a:p>
              <a:p>
                <a:r>
                  <a:rPr lang="zh-CN" altLang="en-US" sz="2400" dirty="0">
                    <a:solidFill>
                      <a:schemeClr val="tx1"/>
                    </a:solidFill>
                  </a:rPr>
                  <a:t>可进一步证明，</a:t>
                </a:r>
                <a:r>
                  <a:rPr lang="en-US" altLang="zh-CN" sz="2400" b="1" dirty="0">
                    <a:solidFill>
                      <a:schemeClr val="tx1"/>
                    </a:solidFill>
                  </a:rPr>
                  <a:t> </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𝒗</m:t>
                    </m:r>
                    <m:d>
                      <m:dPr>
                        <m:ctrlPr>
                          <a:rPr lang="en-US" altLang="zh-CN" sz="2400" b="1" i="1" smtClean="0">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𝒌</m:t>
                        </m:r>
                      </m:e>
                    </m:d>
                    <m:r>
                      <a:rPr lang="en-US" altLang="zh-CN" sz="2400" b="1" i="1"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i="1" dirty="0">
                            <a:solidFill>
                              <a:schemeClr val="tx1"/>
                            </a:solidFill>
                            <a:latin typeface="Cambria Math" panose="02040503050406030204" pitchFamily="18" charset="0"/>
                          </a:rPr>
                          <m:t>ħ</m:t>
                        </m:r>
                      </m:den>
                    </m:f>
                    <m:r>
                      <a:rPr lang="en-US" altLang="zh-CN" sz="2400" i="1">
                        <a:solidFill>
                          <a:schemeClr val="tx1"/>
                        </a:solidFill>
                        <a:latin typeface="Cambria Math" panose="02040503050406030204" pitchFamily="18" charset="0"/>
                      </a:rPr>
                      <m:t> </m:t>
                    </m:r>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i="1" smtClean="0">
                            <a:solidFill>
                              <a:schemeClr val="tx1"/>
                            </a:solidFill>
                            <a:latin typeface="Cambria Math" panose="02040503050406030204" pitchFamily="18" charset="0"/>
                            <a:ea typeface="Cambria Math" panose="02040503050406030204" pitchFamily="18" charset="0"/>
                          </a:rPr>
                          <m:t>∇</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b="0" i="1" smtClean="0">
                        <a:solidFill>
                          <a:schemeClr val="tx1"/>
                        </a:solidFill>
                        <a:latin typeface="Cambria Math" panose="02040503050406030204" pitchFamily="18" charset="0"/>
                        <a:ea typeface="Cambria Math" panose="02040503050406030204" pitchFamily="18" charset="0"/>
                      </a:rPr>
                      <m:t>𝐸</m:t>
                    </m:r>
                  </m:oMath>
                </a14:m>
                <a:r>
                  <a:rPr lang="en-US" altLang="zh-CN" sz="2400" dirty="0">
                    <a:solidFill>
                      <a:schemeClr val="tx1"/>
                    </a:solidFill>
                  </a:rPr>
                  <a:t>	(</a:t>
                </a:r>
                <a:r>
                  <a:rPr lang="zh-CN" altLang="en-US" sz="2400" dirty="0">
                    <a:solidFill>
                      <a:schemeClr val="tx1"/>
                    </a:solidFill>
                  </a:rPr>
                  <a:t>自由电子，</a:t>
                </a:r>
                <a:r>
                  <a:rPr lang="en-US" altLang="zh-CN" sz="2400" b="1" dirty="0">
                    <a:solidFill>
                      <a:schemeClr val="tx1"/>
                    </a:solidFill>
                  </a:rPr>
                  <a:t> </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ħ</m:t>
                    </m:r>
                  </m:oMath>
                </a14:m>
                <a:r>
                  <a:rPr lang="en-US" altLang="zh-CN" sz="2400" dirty="0">
                    <a:solidFill>
                      <a:schemeClr val="tx1"/>
                    </a:solidFill>
                    <a:ea typeface="Cambria Math" panose="02040503050406030204" pitchFamily="18" charset="0"/>
                  </a:rPr>
                  <a:t> </a:t>
                </a:r>
                <a14:m>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rPr>
                      <m:t>𝒌</m:t>
                    </m:r>
                    <m:r>
                      <a:rPr lang="en-US" altLang="zh-CN" sz="2400" i="1">
                        <a:solidFill>
                          <a:schemeClr val="tx1"/>
                        </a:solidFill>
                        <a:latin typeface="Cambria Math" panose="02040503050406030204" pitchFamily="18" charset="0"/>
                        <a:ea typeface="Cambria Math" panose="02040503050406030204" pitchFamily="18" charset="0"/>
                      </a:rPr>
                      <m:t> </m:t>
                    </m:r>
                  </m:oMath>
                </a14:m>
                <a:r>
                  <a:rPr lang="en-US" altLang="zh-CN" sz="2400" i="1">
                    <a:solidFill>
                      <a:schemeClr val="tx1"/>
                    </a:solidFill>
                  </a:rPr>
                  <a:t>/m</a:t>
                </a:r>
                <a:r>
                  <a:rPr lang="en-US" altLang="zh-CN" sz="2400">
                    <a:solidFill>
                      <a:schemeClr val="tx1"/>
                    </a:solidFill>
                  </a:rPr>
                  <a:t>)</a:t>
                </a:r>
                <a:endParaRPr lang="en-US" altLang="zh-CN" sz="2400" dirty="0">
                  <a:solidFill>
                    <a:schemeClr val="tx1"/>
                  </a:solidFill>
                </a:endParaRPr>
              </a:p>
              <a:p>
                <a:r>
                  <a:rPr lang="zh-CN" altLang="en-US" sz="2400" dirty="0">
                    <a:solidFill>
                      <a:schemeClr val="tx1"/>
                    </a:solidFill>
                  </a:rPr>
                  <a:t>因为</a:t>
                </a:r>
                <a14:m>
                  <m:oMath xmlns:m="http://schemas.openxmlformats.org/officeDocument/2006/math">
                    <m:r>
                      <a:rPr lang="en-US" altLang="zh-CN" sz="2400" i="1">
                        <a:solidFill>
                          <a:schemeClr val="tx1"/>
                        </a:solidFill>
                        <a:latin typeface="Cambria Math" panose="02040503050406030204" pitchFamily="18" charset="0"/>
                        <a:ea typeface="Cambria Math" panose="02040503050406030204" pitchFamily="18" charset="0"/>
                      </a:rPr>
                      <m:t>𝐸</m:t>
                    </m:r>
                    <m:d>
                      <m:dPr>
                        <m:ctrlPr>
                          <a:rPr lang="en-US" altLang="zh-CN" sz="2400" b="0" i="1" smtClean="0">
                            <a:solidFill>
                              <a:schemeClr val="tx1"/>
                            </a:solidFill>
                            <a:latin typeface="Cambria Math" panose="02040503050406030204" pitchFamily="18" charset="0"/>
                            <a:ea typeface="Cambria Math" panose="02040503050406030204" pitchFamily="18" charset="0"/>
                          </a:rPr>
                        </m:ctrlPr>
                      </m:dPr>
                      <m:e>
                        <m:r>
                          <a:rPr lang="en-US" altLang="zh-CN" sz="2400" b="1" i="1" smtClean="0">
                            <a:solidFill>
                              <a:schemeClr val="tx1"/>
                            </a:solidFill>
                            <a:latin typeface="Cambria Math" panose="02040503050406030204" pitchFamily="18" charset="0"/>
                            <a:ea typeface="Cambria Math" panose="02040503050406030204" pitchFamily="18" charset="0"/>
                          </a:rPr>
                          <m:t>𝒌</m:t>
                        </m:r>
                      </m:e>
                    </m:d>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𝐸</m:t>
                    </m:r>
                    <m:d>
                      <m:dPr>
                        <m:ctrlPr>
                          <a:rPr lang="en-US" altLang="zh-CN" sz="2400" i="1">
                            <a:solidFill>
                              <a:schemeClr val="tx1"/>
                            </a:solidFill>
                            <a:latin typeface="Cambria Math" panose="02040503050406030204" pitchFamily="18" charset="0"/>
                            <a:ea typeface="Cambria Math" panose="02040503050406030204" pitchFamily="18" charset="0"/>
                          </a:rPr>
                        </m:ctrlPr>
                      </m:dPr>
                      <m:e>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rPr>
                          <m:t>𝒌</m:t>
                        </m:r>
                      </m:e>
                    </m:d>
                  </m:oMath>
                </a14:m>
                <a:r>
                  <a:rPr lang="en-US" altLang="zh-CN" sz="2400" dirty="0">
                    <a:solidFill>
                      <a:schemeClr val="tx1"/>
                    </a:solidFill>
                  </a:rPr>
                  <a:t>,  </a:t>
                </a:r>
                <a:r>
                  <a:rPr lang="zh-CN" altLang="en-US" sz="2400" dirty="0">
                    <a:solidFill>
                      <a:schemeClr val="tx1"/>
                    </a:solidFill>
                  </a:rPr>
                  <a:t>则</a:t>
                </a:r>
                <a14:m>
                  <m:oMath xmlns:m="http://schemas.openxmlformats.org/officeDocument/2006/math">
                    <m:r>
                      <a:rPr lang="en-US" altLang="zh-CN" sz="2400" b="1" i="1">
                        <a:solidFill>
                          <a:schemeClr val="tx1"/>
                        </a:solidFill>
                        <a:latin typeface="Cambria Math" panose="02040503050406030204" pitchFamily="18" charset="0"/>
                      </a:rPr>
                      <m:t>𝒗</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r>
                      <a:rPr lang="en-US" altLang="zh-CN" sz="2400" b="1" i="1" smtClean="0">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𝒗</m:t>
                    </m:r>
                    <m:d>
                      <m:dPr>
                        <m:ctrlPr>
                          <a:rPr lang="en-US" altLang="zh-CN" sz="2400" b="1" i="1">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𝒌</m:t>
                        </m:r>
                      </m:e>
                    </m:d>
                  </m:oMath>
                </a14:m>
                <a:endParaRPr lang="en-US" altLang="zh-CN" sz="2400" dirty="0">
                  <a:solidFill>
                    <a:schemeClr val="tx1"/>
                  </a:solidFill>
                </a:endParaRPr>
              </a:p>
              <a:p>
                <a:r>
                  <a:rPr lang="zh-CN" altLang="en-US" sz="2400" baseline="30000" dirty="0">
                    <a:solidFill>
                      <a:schemeClr val="tx1"/>
                    </a:solidFill>
                  </a:rPr>
                  <a:t>* </a:t>
                </a:r>
                <a:r>
                  <a:rPr lang="zh-CN" altLang="en-US" sz="2400" dirty="0">
                    <a:solidFill>
                      <a:schemeClr val="tx1"/>
                    </a:solidFill>
                  </a:rPr>
                  <a:t>求体心立方晶体，</a:t>
                </a:r>
                <a:r>
                  <a:rPr lang="zh-CN" altLang="en-US" sz="2400" dirty="0">
                    <a:solidFill>
                      <a:schemeClr val="tx1"/>
                    </a:solidFill>
                    <a:sym typeface="Symbol" panose="05050102010706020507" pitchFamily="18" charset="2"/>
                  </a:rPr>
                  <a:t> 在点附近电子的速度</a:t>
                </a:r>
                <a:endParaRPr lang="en-US" altLang="zh-CN" sz="2400" dirty="0">
                  <a:solidFill>
                    <a:schemeClr val="tx1"/>
                  </a:solidFill>
                  <a:sym typeface="Symbol" panose="05050102010706020507" pitchFamily="18" charset="2"/>
                </a:endParaRPr>
              </a:p>
              <a:p>
                <a14:m>
                  <m:oMath xmlns:m="http://schemas.openxmlformats.org/officeDocument/2006/math">
                    <m:r>
                      <a:rPr lang="en-US" altLang="zh-CN" sz="2400" i="1" dirty="0">
                        <a:solidFill>
                          <a:schemeClr val="tx1"/>
                        </a:solidFill>
                        <a:latin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b="1"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𝐸</m:t>
                        </m:r>
                      </m:e>
                      <m:sub>
                        <m:r>
                          <a:rPr lang="en-US" altLang="zh-CN" sz="2400" i="1" dirty="0">
                            <a:solidFill>
                              <a:schemeClr val="tx1"/>
                            </a:solidFill>
                            <a:latin typeface="Cambria Math" panose="02040503050406030204" pitchFamily="18" charset="0"/>
                          </a:rPr>
                          <m:t>𝑚𝑖𝑛</m:t>
                        </m:r>
                      </m:sub>
                    </m:sSub>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𝐽</m:t>
                    </m:r>
                    <m:r>
                      <a:rPr lang="en-US" altLang="zh-CN" sz="2400" i="1" dirty="0">
                        <a:solidFill>
                          <a:schemeClr val="tx1"/>
                        </a:solidFill>
                        <a:latin typeface="Cambria Math" panose="02040503050406030204" pitchFamily="18" charset="0"/>
                      </a:rPr>
                      <m:t> </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𝑎</m:t>
                        </m:r>
                      </m:e>
                      <m:sup>
                        <m:r>
                          <a:rPr lang="en-US" altLang="zh-CN" sz="2400" i="1" dirty="0">
                            <a:solidFill>
                              <a:schemeClr val="tx1"/>
                            </a:solidFill>
                            <a:latin typeface="Cambria Math" panose="02040503050406030204" pitchFamily="18" charset="0"/>
                          </a:rPr>
                          <m:t>2</m:t>
                        </m:r>
                      </m:sup>
                    </m:sSup>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a:rPr lang="en-US" altLang="zh-CN" sz="2400" i="1" dirty="0">
                            <a:solidFill>
                              <a:schemeClr val="tx1"/>
                            </a:solidFill>
                            <a:latin typeface="Cambria Math" panose="02040503050406030204" pitchFamily="18" charset="0"/>
                          </a:rPr>
                          <m:t> </m:t>
                        </m:r>
                      </m:sub>
                      <m:sup>
                        <m:r>
                          <a:rPr lang="en-US" altLang="zh-CN" sz="2400" i="1" dirty="0">
                            <a:solidFill>
                              <a:schemeClr val="tx1"/>
                            </a:solidFill>
                            <a:latin typeface="Cambria Math" panose="02040503050406030204" pitchFamily="18" charset="0"/>
                          </a:rPr>
                          <m:t>2</m:t>
                        </m:r>
                      </m:sup>
                    </m:sSubSup>
                    <m:r>
                      <a:rPr lang="en-US" altLang="zh-CN" sz="2400" b="0" i="1" dirty="0" smtClean="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𝐸</m:t>
                        </m:r>
                      </m:e>
                      <m:sub>
                        <m:r>
                          <a:rPr lang="en-US" altLang="zh-CN" sz="2400" i="1" dirty="0">
                            <a:solidFill>
                              <a:schemeClr val="tx1"/>
                            </a:solidFill>
                            <a:latin typeface="Cambria Math" panose="02040503050406030204" pitchFamily="18" charset="0"/>
                          </a:rPr>
                          <m:t>𝑚𝑖𝑛</m:t>
                        </m:r>
                      </m:sub>
                    </m:sSub>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𝑘</m:t>
                            </m:r>
                          </m:e>
                          <m:sup>
                            <m:r>
                              <a:rPr lang="en-US" altLang="zh-CN" sz="2400" i="1" dirty="0">
                                <a:solidFill>
                                  <a:schemeClr val="tx1"/>
                                </a:solidFill>
                                <a:latin typeface="Cambria Math" panose="02040503050406030204" pitchFamily="18" charset="0"/>
                              </a:rPr>
                              <m:t>2</m:t>
                            </m:r>
                          </m:sup>
                        </m:sSup>
                      </m:num>
                      <m:den>
                        <m:r>
                          <a:rPr lang="en-US" altLang="zh-CN" sz="2400" i="1" dirty="0">
                            <a:solidFill>
                              <a:schemeClr val="tx1"/>
                            </a:solidFill>
                            <a:latin typeface="Cambria Math" panose="02040503050406030204" pitchFamily="18" charset="0"/>
                          </a:rPr>
                          <m:t>2</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den>
                    </m:f>
                    <m:r>
                      <a:rPr lang="en-US" altLang="zh-CN" sz="2400" b="0" i="0" dirty="0" smtClean="0">
                        <a:solidFill>
                          <a:schemeClr val="tx1"/>
                        </a:solidFill>
                        <a:latin typeface="Cambria Math"/>
                      </a:rPr>
                      <m:t>    </m:t>
                    </m:r>
                  </m:oMath>
                </a14:m>
                <a:r>
                  <a:rPr lang="zh-CN" altLang="en-US" sz="2400" dirty="0">
                    <a:solidFill>
                      <a:schemeClr val="tx1"/>
                    </a:solidFill>
                    <a:ea typeface="Cambria Math" panose="02040503050406030204" pitchFamily="18" charset="0"/>
                  </a:rPr>
                  <a:t>则</a:t>
                </a:r>
                <a:r>
                  <a:rPr lang="en-US" altLang="zh-CN" sz="2400" dirty="0">
                    <a:solidFill>
                      <a:schemeClr val="tx1"/>
                    </a:solidFill>
                    <a:ea typeface="Cambria Math" panose="02040503050406030204" pitchFamily="18" charset="0"/>
                  </a:rPr>
                  <a:t>: </a:t>
                </a:r>
                <a14:m>
                  <m:oMath xmlns:m="http://schemas.openxmlformats.org/officeDocument/2006/math">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i="1">
                            <a:solidFill>
                              <a:schemeClr val="tx1"/>
                            </a:solidFill>
                            <a:latin typeface="Cambria Math" panose="02040503050406030204" pitchFamily="18" charset="0"/>
                            <a:ea typeface="Cambria Math" panose="02040503050406030204" pitchFamily="18" charset="0"/>
                          </a:rPr>
                          <m:t>∇</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i="1">
                        <a:solidFill>
                          <a:schemeClr val="tx1"/>
                        </a:solidFill>
                        <a:latin typeface="Cambria Math" panose="02040503050406030204" pitchFamily="18" charset="0"/>
                        <a:ea typeface="Cambria Math" panose="02040503050406030204" pitchFamily="18" charset="0"/>
                      </a:rPr>
                      <m:t>𝐸</m:t>
                    </m:r>
                    <m:d>
                      <m:dPr>
                        <m:ctrlPr>
                          <a:rPr lang="en-US" altLang="zh-CN" sz="2400" b="1" i="1" dirty="0">
                            <a:solidFill>
                              <a:schemeClr val="tx1"/>
                            </a:solidFill>
                            <a:latin typeface="Cambria Math" panose="02040503050406030204" pitchFamily="18" charset="0"/>
                          </a:rPr>
                        </m:ctrlPr>
                      </m:dPr>
                      <m:e>
                        <m:r>
                          <a:rPr lang="en-US" altLang="zh-CN" sz="2400" b="1" i="1" dirty="0">
                            <a:solidFill>
                              <a:schemeClr val="tx1"/>
                            </a:solidFill>
                            <a:latin typeface="Cambria Math" panose="02040503050406030204" pitchFamily="18" charset="0"/>
                          </a:rPr>
                          <m:t>𝒌</m:t>
                        </m:r>
                      </m:e>
                    </m:d>
                    <m:r>
                      <a:rPr lang="en-US" altLang="zh-CN" sz="2400" i="1" smtClean="0">
                        <a:solidFill>
                          <a:schemeClr val="tx1"/>
                        </a:solidFill>
                        <a:latin typeface="Cambria Math" panose="02040503050406030204" pitchFamily="18" charset="0"/>
                        <a:ea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sSup>
                          <m:sSupPr>
                            <m:ctrlPr>
                              <a:rPr lang="en-US" altLang="zh-CN" sz="2400"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𝒌</m:t>
                            </m:r>
                          </m:e>
                          <m:sup>
                            <m:r>
                              <a:rPr lang="en-US" altLang="zh-CN" sz="2400" b="0" i="1" dirty="0" smtClean="0">
                                <a:solidFill>
                                  <a:schemeClr val="tx1"/>
                                </a:solidFill>
                                <a:latin typeface="Cambria Math" panose="02040503050406030204" pitchFamily="18" charset="0"/>
                              </a:rPr>
                              <m:t> </m:t>
                            </m:r>
                          </m:sup>
                        </m:sSup>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den>
                    </m:f>
                  </m:oMath>
                </a14:m>
                <a:r>
                  <a:rPr lang="en-US" altLang="zh-CN" sz="2400" dirty="0">
                    <a:solidFill>
                      <a:schemeClr val="tx1"/>
                    </a:solidFill>
                    <a:sym typeface="Symbol" panose="05050102010706020507" pitchFamily="18" charset="2"/>
                  </a:rPr>
                  <a:t>  , </a:t>
                </a:r>
                <a14:m>
                  <m:oMath xmlns:m="http://schemas.openxmlformats.org/officeDocument/2006/math">
                    <m:r>
                      <a:rPr lang="en-US" altLang="zh-CN" sz="2400" b="1" i="1">
                        <a:solidFill>
                          <a:schemeClr val="tx1"/>
                        </a:solidFill>
                        <a:latin typeface="Cambria Math" panose="02040503050406030204" pitchFamily="18" charset="0"/>
                      </a:rPr>
                      <m:t>𝒗</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r>
                      <a:rPr lang="en-US" altLang="zh-CN" sz="2400" b="1" i="1">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
                          <a:rPr lang="en-US" altLang="zh-CN" sz="2400" i="1" dirty="0">
                            <a:solidFill>
                              <a:schemeClr val="tx1"/>
                            </a:solidFill>
                            <a:latin typeface="Cambria Math" panose="02040503050406030204" pitchFamily="18" charset="0"/>
                          </a:rPr>
                          <m:t>ħ</m:t>
                        </m:r>
                      </m:den>
                    </m:f>
                    <m:r>
                      <a:rPr lang="en-US" altLang="zh-CN" sz="2400" i="1">
                        <a:solidFill>
                          <a:schemeClr val="tx1"/>
                        </a:solidFill>
                        <a:latin typeface="Cambria Math" panose="02040503050406030204" pitchFamily="18" charset="0"/>
                      </a:rPr>
                      <m:t> </m:t>
                    </m:r>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i="1">
                            <a:solidFill>
                              <a:schemeClr val="tx1"/>
                            </a:solidFill>
                            <a:latin typeface="Cambria Math" panose="02040503050406030204" pitchFamily="18" charset="0"/>
                            <a:ea typeface="Cambria Math" panose="02040503050406030204" pitchFamily="18" charset="0"/>
                          </a:rPr>
                          <m:t>∇</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i="1">
                        <a:solidFill>
                          <a:schemeClr val="tx1"/>
                        </a:solidFill>
                        <a:latin typeface="Cambria Math" panose="02040503050406030204" pitchFamily="18" charset="0"/>
                        <a:ea typeface="Cambria Math" panose="02040503050406030204" pitchFamily="18" charset="0"/>
                      </a:rPr>
                      <m:t>𝐸</m:t>
                    </m:r>
                    <m:r>
                      <a:rPr lang="en-US" altLang="zh-CN" sz="2400" b="0" i="1" smtClean="0">
                        <a:solidFill>
                          <a:schemeClr val="tx1"/>
                        </a:solidFill>
                        <a:latin typeface="Cambria Math" panose="02040503050406030204" pitchFamily="18" charset="0"/>
                        <a:ea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b="0" i="1" dirty="0" smtClean="0">
                                <a:solidFill>
                                  <a:schemeClr val="tx1"/>
                                </a:solidFill>
                                <a:latin typeface="Cambria Math" panose="02040503050406030204" pitchFamily="18" charset="0"/>
                              </a:rPr>
                              <m:t> </m:t>
                            </m:r>
                          </m:sup>
                        </m:sSup>
                        <m:sSup>
                          <m:sSupPr>
                            <m:ctrlPr>
                              <a:rPr lang="en-US" altLang="zh-CN" sz="2400"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𝒌</m:t>
                            </m:r>
                          </m:e>
                          <m:sup>
                            <m:r>
                              <a:rPr lang="en-US" altLang="zh-CN" sz="2400" i="1" dirty="0">
                                <a:solidFill>
                                  <a:schemeClr val="tx1"/>
                                </a:solidFill>
                                <a:latin typeface="Cambria Math" panose="02040503050406030204" pitchFamily="18" charset="0"/>
                              </a:rPr>
                              <m:t> </m:t>
                            </m:r>
                          </m:sup>
                        </m:sSup>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den>
                    </m:f>
                  </m:oMath>
                </a14:m>
                <a:endParaRPr lang="en-US" altLang="zh-CN" sz="2400" dirty="0">
                  <a:solidFill>
                    <a:schemeClr val="tx1"/>
                  </a:solidFill>
                  <a:sym typeface="Symbol" panose="05050102010706020507" pitchFamily="18" charset="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88014" y="1695319"/>
                <a:ext cx="11430814" cy="4916154"/>
              </a:xfrm>
              <a:prstGeom prst="rect">
                <a:avLst/>
              </a:prstGeom>
              <a:blipFill rotWithShape="0">
                <a:blip r:embed="rId3"/>
                <a:stretch>
                  <a:fillRect l="-1067" t="-867" b="-3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4229023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644114"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.4 </a:t>
                </a:r>
                <a:r>
                  <a:rPr lang="zh-CN" altLang="en-US" sz="2800" dirty="0">
                    <a:solidFill>
                      <a:schemeClr val="tx1"/>
                    </a:solidFill>
                  </a:rPr>
                  <a:t>电子的准经典运动</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644114"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88014" y="2114419"/>
                <a:ext cx="10899186" cy="4322081"/>
              </a:xfrm>
              <a:prstGeom prst="rect">
                <a:avLst/>
              </a:prstGeom>
              <a:noFill/>
            </p:spPr>
            <p:txBody>
              <a:bodyPr wrap="square" rtlCol="0">
                <a:spAutoFit/>
              </a:bodyPr>
              <a:lstStyle/>
              <a:p>
                <a:r>
                  <a:rPr lang="en-US" altLang="zh-CN" sz="2800" b="1" dirty="0">
                    <a:solidFill>
                      <a:schemeClr val="tx1"/>
                    </a:solidFill>
                  </a:rPr>
                  <a:t>7.4.2 </a:t>
                </a:r>
                <a:r>
                  <a:rPr lang="zh-CN" altLang="en-US" sz="2800" b="1" dirty="0">
                    <a:solidFill>
                      <a:schemeClr val="tx1"/>
                    </a:solidFill>
                  </a:rPr>
                  <a:t>布洛赫电子在外场中的动力学</a:t>
                </a:r>
                <a:endParaRPr lang="en-US" altLang="zh-CN" sz="2800" dirty="0">
                  <a:solidFill>
                    <a:schemeClr val="tx1"/>
                  </a:solidFill>
                  <a:sym typeface="Symbol" panose="05050102010706020507" pitchFamily="18" charset="2"/>
                </a:endParaRPr>
              </a:p>
              <a:p>
                <a:endParaRPr lang="en-US" altLang="zh-CN" sz="1600" dirty="0">
                  <a:solidFill>
                    <a:schemeClr val="tx1"/>
                  </a:solidFill>
                </a:endParaRPr>
              </a:p>
              <a:p>
                <a:r>
                  <a:rPr lang="zh-CN" altLang="en-US" sz="2400" dirty="0">
                    <a:solidFill>
                      <a:schemeClr val="tx1"/>
                    </a:solidFill>
                  </a:rPr>
                  <a:t>电子加速度：</a:t>
                </a:r>
                <a14:m>
                  <m:oMath xmlns:m="http://schemas.openxmlformats.org/officeDocument/2006/math">
                    <m:r>
                      <a:rPr lang="en-US" altLang="zh-CN" sz="2400" b="1" i="1" smtClean="0">
                        <a:solidFill>
                          <a:schemeClr val="tx1"/>
                        </a:solidFill>
                        <a:latin typeface="Cambria Math" panose="02040503050406030204" pitchFamily="18" charset="0"/>
                      </a:rPr>
                      <m:t>𝒂</m:t>
                    </m:r>
                    <m:r>
                      <a:rPr lang="en-US" altLang="zh-CN" sz="2400" b="0" i="1" smtClean="0">
                        <a:solidFill>
                          <a:schemeClr val="tx1"/>
                        </a:solidFill>
                        <a:latin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𝑑</m:t>
                        </m:r>
                        <m:r>
                          <a:rPr lang="en-US" altLang="zh-CN" sz="2400" b="1" i="1">
                            <a:solidFill>
                              <a:schemeClr val="tx1"/>
                            </a:solidFill>
                            <a:latin typeface="Cambria Math" panose="02040503050406030204" pitchFamily="18" charset="0"/>
                          </a:rPr>
                          <m:t>𝒗</m:t>
                        </m:r>
                      </m:num>
                      <m:den>
                        <m:r>
                          <a:rPr lang="en-US" altLang="zh-CN" sz="2400" b="0" i="1" smtClean="0">
                            <a:solidFill>
                              <a:schemeClr val="tx1"/>
                            </a:solidFill>
                            <a:latin typeface="Cambria Math" panose="02040503050406030204" pitchFamily="18" charset="0"/>
                          </a:rPr>
                          <m:t>𝑑𝑡</m:t>
                        </m:r>
                      </m:den>
                    </m:f>
                    <m:r>
                      <a:rPr lang="en-US" altLang="zh-CN" sz="2400" b="0" i="1"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
                          <a:rPr lang="en-US" altLang="zh-CN" sz="2400" i="1" dirty="0">
                            <a:solidFill>
                              <a:schemeClr val="tx1"/>
                            </a:solidFill>
                            <a:latin typeface="Cambria Math" panose="02040503050406030204" pitchFamily="18" charset="0"/>
                          </a:rPr>
                          <m:t>ħ</m:t>
                        </m:r>
                      </m:den>
                    </m:f>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𝑑</m:t>
                        </m:r>
                      </m:num>
                      <m:den>
                        <m:r>
                          <a:rPr lang="en-US" altLang="zh-CN" sz="2400" i="1">
                            <a:solidFill>
                              <a:schemeClr val="tx1"/>
                            </a:solidFill>
                            <a:latin typeface="Cambria Math" panose="02040503050406030204" pitchFamily="18" charset="0"/>
                          </a:rPr>
                          <m:t>𝑑𝑡</m:t>
                        </m:r>
                      </m:den>
                    </m:f>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i="1">
                            <a:solidFill>
                              <a:schemeClr val="tx1"/>
                            </a:solidFill>
                            <a:latin typeface="Cambria Math" panose="02040503050406030204" pitchFamily="18" charset="0"/>
                            <a:ea typeface="Cambria Math" panose="02040503050406030204" pitchFamily="18" charset="0"/>
                          </a:rPr>
                          <m:t>∇</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i="1">
                        <a:solidFill>
                          <a:schemeClr val="tx1"/>
                        </a:solidFill>
                        <a:latin typeface="Cambria Math" panose="02040503050406030204" pitchFamily="18" charset="0"/>
                        <a:ea typeface="Cambria Math" panose="02040503050406030204" pitchFamily="18" charset="0"/>
                      </a:rPr>
                      <m:t>𝐸</m:t>
                    </m:r>
                    <m:r>
                      <a:rPr lang="en-US" altLang="zh-CN" sz="2400" b="0" i="1" smtClean="0">
                        <a:solidFill>
                          <a:schemeClr val="tx1"/>
                        </a:solidFill>
                        <a:latin typeface="Cambria Math" panose="02040503050406030204" pitchFamily="18" charset="0"/>
                        <a:ea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
                          <a:rPr lang="en-US" altLang="zh-CN" sz="2400" i="1" dirty="0">
                            <a:solidFill>
                              <a:schemeClr val="tx1"/>
                            </a:solidFill>
                            <a:latin typeface="Cambria Math" panose="02040503050406030204" pitchFamily="18" charset="0"/>
                          </a:rPr>
                          <m:t>ħ</m:t>
                        </m:r>
                      </m:den>
                    </m:f>
                    <m:r>
                      <a:rPr lang="en-US" altLang="zh-CN" sz="2400" b="0" i="1" dirty="0"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𝑑</m:t>
                        </m:r>
                        <m:r>
                          <a:rPr lang="en-US" altLang="zh-CN" sz="2400" b="1" i="1" smtClean="0">
                            <a:solidFill>
                              <a:schemeClr val="tx1"/>
                            </a:solidFill>
                            <a:latin typeface="Cambria Math" panose="02040503050406030204" pitchFamily="18" charset="0"/>
                          </a:rPr>
                          <m:t>𝒌</m:t>
                        </m:r>
                      </m:num>
                      <m:den>
                        <m:r>
                          <a:rPr lang="en-US" altLang="zh-CN" sz="2400" i="1">
                            <a:solidFill>
                              <a:schemeClr val="tx1"/>
                            </a:solidFill>
                            <a:latin typeface="Cambria Math" panose="02040503050406030204" pitchFamily="18" charset="0"/>
                          </a:rPr>
                          <m:t>𝑑𝑡</m:t>
                        </m:r>
                      </m:den>
                    </m:f>
                    <m:r>
                      <a:rPr lang="en-US" altLang="zh-CN" sz="2400" i="1" smtClean="0">
                        <a:solidFill>
                          <a:schemeClr val="tx1"/>
                        </a:solidFill>
                        <a:latin typeface="Cambria Math" panose="02040503050406030204" pitchFamily="18" charset="0"/>
                        <a:ea typeface="Cambria Math" panose="02040503050406030204" pitchFamily="18" charset="0"/>
                      </a:rPr>
                      <m:t>∙</m:t>
                    </m:r>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i="1">
                            <a:solidFill>
                              <a:schemeClr val="tx1"/>
                            </a:solidFill>
                            <a:latin typeface="Cambria Math" panose="02040503050406030204" pitchFamily="18" charset="0"/>
                            <a:ea typeface="Cambria Math" panose="02040503050406030204" pitchFamily="18" charset="0"/>
                          </a:rPr>
                          <m:t>∇</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b="0" i="1" dirty="0" smtClean="0">
                        <a:solidFill>
                          <a:schemeClr val="tx1"/>
                        </a:solidFill>
                        <a:latin typeface="Cambria Math" panose="02040503050406030204" pitchFamily="18" charset="0"/>
                      </a:rPr>
                      <m:t>)</m:t>
                    </m:r>
                  </m:oMath>
                </a14:m>
                <a:r>
                  <a:rPr lang="en-US" altLang="zh-CN" sz="2400" dirty="0">
                    <a:solidFill>
                      <a:schemeClr val="tx1"/>
                    </a:solidFill>
                    <a:ea typeface="Cambria Math" panose="02040503050406030204" pitchFamily="18" charset="0"/>
                  </a:rPr>
                  <a:t> </a:t>
                </a:r>
                <a14:m>
                  <m:oMath xmlns:m="http://schemas.openxmlformats.org/officeDocument/2006/math">
                    <m:sSub>
                      <m:sSubPr>
                        <m:ctrlPr>
                          <a:rPr lang="en-US" altLang="zh-CN" sz="2400" i="1">
                            <a:solidFill>
                              <a:schemeClr val="tx1"/>
                            </a:solidFill>
                            <a:latin typeface="Cambria Math" panose="02040503050406030204" pitchFamily="18" charset="0"/>
                            <a:ea typeface="Cambria Math" panose="02040503050406030204" pitchFamily="18" charset="0"/>
                          </a:rPr>
                        </m:ctrlPr>
                      </m:sSubPr>
                      <m:e>
                        <m:r>
                          <m:rPr>
                            <m:nor/>
                          </m:rPr>
                          <a:rPr lang="en-US" altLang="zh-CN" sz="2400" i="1">
                            <a:solidFill>
                              <a:schemeClr val="tx1"/>
                            </a:solidFill>
                            <a:latin typeface="Cambria Math" panose="02040503050406030204" pitchFamily="18" charset="0"/>
                            <a:ea typeface="Cambria Math" panose="02040503050406030204" pitchFamily="18" charset="0"/>
                          </a:rPr>
                          <m:t>∇</m:t>
                        </m:r>
                      </m:e>
                      <m:sub>
                        <m:r>
                          <a:rPr lang="en-US" altLang="zh-CN" sz="2400" i="1">
                            <a:solidFill>
                              <a:schemeClr val="tx1"/>
                            </a:solidFill>
                            <a:latin typeface="Cambria Math" panose="02040503050406030204" pitchFamily="18" charset="0"/>
                            <a:ea typeface="Cambria Math" panose="02040503050406030204" pitchFamily="18" charset="0"/>
                          </a:rPr>
                          <m:t>𝑘</m:t>
                        </m:r>
                      </m:sub>
                    </m:sSub>
                    <m:r>
                      <a:rPr lang="en-US" altLang="zh-CN" sz="2400" i="1">
                        <a:solidFill>
                          <a:schemeClr val="tx1"/>
                        </a:solidFill>
                        <a:latin typeface="Cambria Math" panose="02040503050406030204" pitchFamily="18" charset="0"/>
                        <a:ea typeface="Cambria Math" panose="02040503050406030204" pitchFamily="18" charset="0"/>
                      </a:rPr>
                      <m:t>𝐸</m:t>
                    </m:r>
                  </m:oMath>
                </a14:m>
                <a:endParaRPr lang="en-US" altLang="zh-CN" sz="2400" dirty="0">
                  <a:solidFill>
                    <a:schemeClr val="tx1"/>
                  </a:solidFill>
                </a:endParaRPr>
              </a:p>
              <a:p>
                <a:r>
                  <a:rPr lang="zh-CN" altLang="en-US" sz="2400" dirty="0"/>
                  <a:t>即： </a:t>
                </a:r>
                <a14:m>
                  <m:oMath xmlns:m="http://schemas.openxmlformats.org/officeDocument/2006/math">
                    <m:d>
                      <m:dPr>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i="1">
                                      <a:latin typeface="Cambria Math" panose="02040503050406030204" pitchFamily="18" charset="0"/>
                                    </a:rPr>
                                    <m:t>𝑥</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i="1">
                                      <a:latin typeface="Cambria Math" panose="02040503050406030204" pitchFamily="18" charset="0"/>
                                    </a:rPr>
                                    <m:t>𝑦</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i="1">
                                      <a:latin typeface="Cambria Math" panose="02040503050406030204" pitchFamily="18" charset="0"/>
                                    </a:rPr>
                                    <m:t>𝑧</m:t>
                                  </m:r>
                                </m:sub>
                              </m:sSub>
                            </m:e>
                          </m:mr>
                        </m:m>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dirty="0">
                            <a:latin typeface="Cambria Math" panose="02040503050406030204" pitchFamily="18" charset="0"/>
                          </a:rPr>
                          <m:t>ħ</m:t>
                        </m:r>
                      </m:den>
                    </m:f>
                    <m:d>
                      <m:dPr>
                        <m:ctrlPr>
                          <a:rPr lang="en-US" altLang="zh-CN" sz="2400" i="1" dirty="0">
                            <a:latin typeface="Cambria Math" panose="02040503050406030204" pitchFamily="18" charset="0"/>
                          </a:rPr>
                        </m:ctrlPr>
                      </m:dPr>
                      <m:e>
                        <m:m>
                          <m:mPr>
                            <m:mcs>
                              <m:mc>
                                <m:mcPr>
                                  <m:count m:val="3"/>
                                  <m:mcJc m:val="center"/>
                                </m:mcPr>
                              </m:mc>
                            </m:mcs>
                            <m:ctrlPr>
                              <a:rPr lang="en-US" altLang="zh-CN" sz="2400" i="1" dirty="0">
                                <a:latin typeface="Cambria Math" panose="02040503050406030204" pitchFamily="18" charset="0"/>
                              </a:rPr>
                            </m:ctrlPr>
                          </m:mPr>
                          <m:mr>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𝑥</m:t>
                                      </m:r>
                                    </m:sub>
                                    <m:sup>
                                      <m:r>
                                        <a:rPr lang="en-US" altLang="zh-CN" sz="2400" i="1" dirty="0">
                                          <a:latin typeface="Cambria Math" panose="02040503050406030204" pitchFamily="18" charset="0"/>
                                        </a:rPr>
                                        <m:t>2</m:t>
                                      </m:r>
                                    </m:sup>
                                  </m:sSubSup>
                                </m:den>
                              </m:f>
                            </m:e>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𝑦</m:t>
                                      </m:r>
                                    </m:sub>
                                    <m:sup>
                                      <m:r>
                                        <a:rPr lang="en-US" altLang="zh-CN" sz="2400" i="1" dirty="0">
                                          <a:latin typeface="Cambria Math" panose="02040503050406030204" pitchFamily="18" charset="0"/>
                                        </a:rPr>
                                        <m:t> </m:t>
                                      </m:r>
                                    </m:sup>
                                  </m:sSubSup>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𝑥</m:t>
                                      </m:r>
                                    </m:sub>
                                    <m:sup>
                                      <m:r>
                                        <a:rPr lang="en-US" altLang="zh-CN" sz="2400" i="1" dirty="0">
                                          <a:latin typeface="Cambria Math" panose="02040503050406030204" pitchFamily="18" charset="0"/>
                                        </a:rPr>
                                        <m:t> </m:t>
                                      </m:r>
                                    </m:sup>
                                  </m:sSubSup>
                                </m:den>
                              </m:f>
                            </m:e>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𝑧</m:t>
                                      </m:r>
                                    </m:sub>
                                    <m:sup>
                                      <m:r>
                                        <a:rPr lang="en-US" altLang="zh-CN" sz="2400" i="1" dirty="0">
                                          <a:latin typeface="Cambria Math" panose="02040503050406030204" pitchFamily="18" charset="0"/>
                                        </a:rPr>
                                        <m:t> </m:t>
                                      </m:r>
                                    </m:sup>
                                  </m:sSubSup>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𝑥</m:t>
                                      </m:r>
                                    </m:sub>
                                    <m:sup>
                                      <m:r>
                                        <a:rPr lang="en-US" altLang="zh-CN" sz="2400" i="1" dirty="0">
                                          <a:latin typeface="Cambria Math" panose="02040503050406030204" pitchFamily="18" charset="0"/>
                                        </a:rPr>
                                        <m:t> </m:t>
                                      </m:r>
                                    </m:sup>
                                  </m:sSubSup>
                                </m:den>
                              </m:f>
                            </m:e>
                          </m:mr>
                          <m:mr>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𝑥</m:t>
                                      </m:r>
                                    </m:sub>
                                    <m:sup>
                                      <m:r>
                                        <a:rPr lang="en-US" altLang="zh-CN" sz="2400" i="1" dirty="0">
                                          <a:latin typeface="Cambria Math" panose="02040503050406030204" pitchFamily="18" charset="0"/>
                                        </a:rPr>
                                        <m:t> </m:t>
                                      </m:r>
                                    </m:sup>
                                  </m:sSubSup>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𝑦</m:t>
                                      </m:r>
                                    </m:sub>
                                    <m:sup>
                                      <m:r>
                                        <a:rPr lang="en-US" altLang="zh-CN" sz="2400" i="1" dirty="0">
                                          <a:latin typeface="Cambria Math" panose="02040503050406030204" pitchFamily="18" charset="0"/>
                                        </a:rPr>
                                        <m:t> </m:t>
                                      </m:r>
                                    </m:sup>
                                  </m:sSubSup>
                                </m:den>
                              </m:f>
                            </m:e>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𝑦</m:t>
                                      </m:r>
                                    </m:sub>
                                    <m:sup>
                                      <m:r>
                                        <a:rPr lang="en-US" altLang="zh-CN" sz="2400" i="1" dirty="0">
                                          <a:latin typeface="Cambria Math" panose="02040503050406030204" pitchFamily="18" charset="0"/>
                                        </a:rPr>
                                        <m:t>2</m:t>
                                      </m:r>
                                    </m:sup>
                                  </m:sSubSup>
                                </m:den>
                              </m:f>
                            </m:e>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𝑧</m:t>
                                      </m:r>
                                    </m:sub>
                                    <m:sup>
                                      <m:r>
                                        <a:rPr lang="en-US" altLang="zh-CN" sz="2400" i="1" dirty="0">
                                          <a:latin typeface="Cambria Math" panose="02040503050406030204" pitchFamily="18" charset="0"/>
                                        </a:rPr>
                                        <m:t> </m:t>
                                      </m:r>
                                    </m:sup>
                                  </m:sSubSup>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𝑦</m:t>
                                      </m:r>
                                    </m:sub>
                                    <m:sup>
                                      <m:r>
                                        <a:rPr lang="en-US" altLang="zh-CN" sz="2400" i="1" dirty="0">
                                          <a:latin typeface="Cambria Math" panose="02040503050406030204" pitchFamily="18" charset="0"/>
                                        </a:rPr>
                                        <m:t> </m:t>
                                      </m:r>
                                    </m:sup>
                                  </m:sSubSup>
                                </m:den>
                              </m:f>
                            </m:e>
                          </m:mr>
                          <m:mr>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𝑥</m:t>
                                      </m:r>
                                    </m:sub>
                                    <m:sup>
                                      <m:r>
                                        <a:rPr lang="en-US" altLang="zh-CN" sz="2400" i="1" dirty="0">
                                          <a:latin typeface="Cambria Math" panose="02040503050406030204" pitchFamily="18" charset="0"/>
                                        </a:rPr>
                                        <m:t> </m:t>
                                      </m:r>
                                    </m:sup>
                                  </m:sSubSup>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𝑧</m:t>
                                      </m:r>
                                    </m:sub>
                                    <m:sup>
                                      <m:r>
                                        <a:rPr lang="en-US" altLang="zh-CN" sz="2400" i="1" dirty="0">
                                          <a:latin typeface="Cambria Math" panose="02040503050406030204" pitchFamily="18" charset="0"/>
                                        </a:rPr>
                                        <m:t> </m:t>
                                      </m:r>
                                    </m:sup>
                                  </m:sSubSup>
                                </m:den>
                              </m:f>
                            </m:e>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𝑦</m:t>
                                      </m:r>
                                    </m:sub>
                                    <m:sup>
                                      <m:r>
                                        <a:rPr lang="en-US" altLang="zh-CN" sz="2400" i="1" dirty="0">
                                          <a:latin typeface="Cambria Math" panose="02040503050406030204" pitchFamily="18" charset="0"/>
                                        </a:rPr>
                                        <m:t> </m:t>
                                      </m:r>
                                    </m:sup>
                                  </m:sSubSup>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𝑧</m:t>
                                      </m:r>
                                    </m:sub>
                                    <m:sup>
                                      <m:r>
                                        <a:rPr lang="en-US" altLang="zh-CN" sz="2400" i="1" dirty="0">
                                          <a:latin typeface="Cambria Math" panose="02040503050406030204" pitchFamily="18" charset="0"/>
                                        </a:rPr>
                                        <m:t> </m:t>
                                      </m:r>
                                    </m:sup>
                                  </m:sSubSup>
                                </m:den>
                              </m:f>
                            </m:e>
                            <m:e>
                              <m:f>
                                <m:fPr>
                                  <m:ctrlPr>
                                    <a:rPr lang="en-US" altLang="zh-CN" sz="2400" i="1" dirty="0">
                                      <a:latin typeface="Cambria Math" panose="02040503050406030204" pitchFamily="18" charset="0"/>
                                    </a:rPr>
                                  </m:ctrlPr>
                                </m:fPr>
                                <m:num>
                                  <m:sSup>
                                    <m:sSupPr>
                                      <m:ctrlPr>
                                        <a:rPr lang="en-US" altLang="zh-CN" sz="2400" i="1" dirty="0">
                                          <a:latin typeface="Cambria Math" panose="02040503050406030204" pitchFamily="18" charset="0"/>
                                        </a:rPr>
                                      </m:ctrlPr>
                                    </m:sSupPr>
                                    <m:e>
                                      <m:r>
                                        <m:rPr>
                                          <m:brk m:alnAt="7"/>
                                        </m:rPr>
                                        <a:rPr lang="en-US" altLang="zh-CN" sz="2400" i="1" dirty="0">
                                          <a:latin typeface="Cambria Math" panose="02040503050406030204" pitchFamily="18" charset="0"/>
                                        </a:rPr>
                                        <m:t>𝜕</m:t>
                                      </m:r>
                                    </m:e>
                                    <m:sup>
                                      <m:r>
                                        <a:rPr lang="en-US" altLang="zh-CN" sz="2400" i="1" dirty="0">
                                          <a:latin typeface="Cambria Math" panose="02040503050406030204" pitchFamily="18" charset="0"/>
                                        </a:rPr>
                                        <m:t>2</m:t>
                                      </m:r>
                                    </m:sup>
                                  </m:sSup>
                                  <m:r>
                                    <a:rPr lang="en-US" altLang="zh-CN" sz="2400" i="1" dirty="0">
                                      <a:latin typeface="Cambria Math" panose="02040503050406030204" pitchFamily="18" charset="0"/>
                                    </a:rPr>
                                    <m:t>𝐸</m:t>
                                  </m:r>
                                </m:num>
                                <m:den>
                                  <m:r>
                                    <m:rPr>
                                      <m:brk m:alnAt="7"/>
                                    </m:rPr>
                                    <a:rPr lang="en-US" altLang="zh-CN" sz="2400" i="1" dirty="0">
                                      <a:latin typeface="Cambria Math" panose="02040503050406030204" pitchFamily="18" charset="0"/>
                                    </a:rPr>
                                    <m:t>𝜕</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𝑧</m:t>
                                      </m:r>
                                    </m:sub>
                                    <m:sup>
                                      <m:r>
                                        <a:rPr lang="en-US" altLang="zh-CN" sz="2400" i="1" dirty="0">
                                          <a:latin typeface="Cambria Math" panose="02040503050406030204" pitchFamily="18" charset="0"/>
                                        </a:rPr>
                                        <m:t>2</m:t>
                                      </m:r>
                                    </m:sup>
                                  </m:sSubSup>
                                </m:den>
                              </m:f>
                            </m:e>
                          </m:mr>
                        </m:m>
                      </m:e>
                    </m:d>
                    <m:d>
                      <m:dPr>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𝑥</m:t>
                                      </m:r>
                                    </m:sub>
                                    <m:sup>
                                      <m:r>
                                        <a:rPr lang="en-US" altLang="zh-CN" sz="2400" i="1" dirty="0">
                                          <a:latin typeface="Cambria Math" panose="02040503050406030204" pitchFamily="18" charset="0"/>
                                        </a:rPr>
                                        <m:t> </m:t>
                                      </m:r>
                                    </m:sup>
                                  </m:sSubSup>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e>
                          </m:mr>
                          <m:mr>
                            <m:e>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𝑦</m:t>
                                      </m:r>
                                    </m:sub>
                                    <m:sup>
                                      <m:r>
                                        <a:rPr lang="en-US" altLang="zh-CN" sz="2400" i="1" dirty="0">
                                          <a:latin typeface="Cambria Math" panose="02040503050406030204" pitchFamily="18" charset="0"/>
                                        </a:rPr>
                                        <m:t> </m:t>
                                      </m:r>
                                    </m:sup>
                                  </m:sSubSup>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e>
                          </m:mr>
                          <m:mr>
                            <m:e>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sSubSup>
                                    <m:sSubSupPr>
                                      <m:ctrlPr>
                                        <a:rPr lang="en-US" altLang="zh-CN" sz="2400" i="1" dirty="0">
                                          <a:latin typeface="Cambria Math" panose="02040503050406030204" pitchFamily="18" charset="0"/>
                                        </a:rPr>
                                      </m:ctrlPr>
                                    </m:sSubSupPr>
                                    <m:e>
                                      <m:r>
                                        <a:rPr lang="en-US" altLang="zh-CN" sz="2400" i="1" dirty="0">
                                          <a:latin typeface="Cambria Math" panose="02040503050406030204" pitchFamily="18" charset="0"/>
                                        </a:rPr>
                                        <m:t>𝑘</m:t>
                                      </m:r>
                                    </m:e>
                                    <m:sub>
                                      <m:r>
                                        <a:rPr lang="en-US" altLang="zh-CN" sz="2400" i="1" dirty="0">
                                          <a:latin typeface="Cambria Math" panose="02040503050406030204" pitchFamily="18" charset="0"/>
                                        </a:rPr>
                                        <m:t>𝑧</m:t>
                                      </m:r>
                                    </m:sub>
                                    <m:sup>
                                      <m:r>
                                        <a:rPr lang="en-US" altLang="zh-CN" sz="2400" i="1" dirty="0">
                                          <a:latin typeface="Cambria Math" panose="02040503050406030204" pitchFamily="18" charset="0"/>
                                        </a:rPr>
                                        <m:t> </m:t>
                                      </m:r>
                                    </m:sup>
                                  </m:sSubSup>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e>
                          </m:mr>
                        </m:m>
                      </m:e>
                    </m:d>
                  </m:oMath>
                </a14:m>
                <a:endParaRPr lang="en-US" altLang="zh-CN" sz="2400" dirty="0"/>
              </a:p>
              <a:p>
                <a:endParaRPr lang="en-US" altLang="zh-CN" sz="2400" dirty="0"/>
              </a:p>
              <a:p>
                <a:r>
                  <a:rPr lang="zh-CN" altLang="en-US" sz="2400" dirty="0"/>
                  <a:t>或：</a:t>
                </a:r>
                <a:r>
                  <a:rPr lang="en-US" altLang="zh-CN" sz="2400" b="1" dirty="0"/>
                  <a:t> </a:t>
                </a:r>
                <a14:m>
                  <m:oMath xmlns:m="http://schemas.openxmlformats.org/officeDocument/2006/math">
                    <m:r>
                      <a:rPr lang="en-US" altLang="zh-CN" sz="2400" b="1" i="1">
                        <a:latin typeface="Cambria Math" panose="02040503050406030204" pitchFamily="18" charset="0"/>
                      </a:rPr>
                      <m:t>𝒂</m:t>
                    </m:r>
                    <m:r>
                      <a:rPr lang="en-US" altLang="zh-CN" sz="2400" i="1">
                        <a:latin typeface="Cambria Math" panose="02040503050406030204" pitchFamily="18" charset="0"/>
                      </a:rPr>
                      <m:t>=</m:t>
                    </m:r>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1</m:t>
                        </m:r>
                      </m:num>
                      <m:den>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𝑚</m:t>
                            </m:r>
                          </m:e>
                          <m:sup>
                            <m:r>
                              <a:rPr lang="en-US" altLang="zh-CN" sz="2400" i="1" dirty="0">
                                <a:latin typeface="Cambria Math" panose="02040503050406030204" pitchFamily="18" charset="0"/>
                              </a:rPr>
                              <m:t>∗</m:t>
                            </m:r>
                          </m:sup>
                        </m:sSup>
                      </m:den>
                    </m:f>
                    <m:r>
                      <a:rPr lang="en-US" altLang="zh-CN" sz="2400" i="1" dirty="0">
                        <a:latin typeface="Cambria Math" panose="02040503050406030204" pitchFamily="18" charset="0"/>
                      </a:rPr>
                      <m:t>(</m:t>
                    </m:r>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ħ</m:t>
                            </m:r>
                          </m:e>
                          <m:sup>
                            <m:r>
                              <a:rPr lang="en-US" altLang="zh-CN" sz="2400" i="1" dirty="0">
                                <a:latin typeface="Cambria Math" panose="02040503050406030204" pitchFamily="18" charset="0"/>
                              </a:rPr>
                              <m:t> </m:t>
                            </m:r>
                          </m:sup>
                        </m:sSup>
                        <m:sSup>
                          <m:sSupPr>
                            <m:ctrlPr>
                              <a:rPr lang="en-US" altLang="zh-CN" sz="2400" i="1" dirty="0">
                                <a:latin typeface="Cambria Math" panose="02040503050406030204" pitchFamily="18" charset="0"/>
                              </a:rPr>
                            </m:ctrlPr>
                          </m:sSupPr>
                          <m:e>
                            <m:r>
                              <a:rPr lang="en-US" altLang="zh-CN" sz="2400" b="1" i="1" dirty="0">
                                <a:latin typeface="Cambria Math" panose="02040503050406030204" pitchFamily="18" charset="0"/>
                              </a:rPr>
                              <m:t>𝒌</m:t>
                            </m:r>
                          </m:e>
                          <m:sup>
                            <m:r>
                              <a:rPr lang="en-US" altLang="zh-CN" sz="2400" i="1" dirty="0">
                                <a:latin typeface="Cambria Math" panose="02040503050406030204" pitchFamily="18" charset="0"/>
                              </a:rPr>
                              <m:t> </m:t>
                            </m:r>
                          </m:sup>
                        </m:sSup>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r>
                      <a:rPr lang="en-US" altLang="zh-CN" sz="2400" i="1" dirty="0">
                        <a:latin typeface="Cambria Math" panose="02040503050406030204" pitchFamily="18" charset="0"/>
                      </a:rPr>
                      <m:t>)</m:t>
                    </m:r>
                  </m:oMath>
                </a14:m>
                <a:r>
                  <a:rPr lang="en-US" altLang="zh-CN" sz="2400" dirty="0"/>
                  <a:t> </a:t>
                </a:r>
              </a:p>
            </p:txBody>
          </p:sp>
        </mc:Choice>
        <mc:Fallback xmlns="">
          <p:sp>
            <p:nvSpPr>
              <p:cNvPr id="6" name="文本框 5"/>
              <p:cNvSpPr txBox="1">
                <a:spLocks noRot="1" noChangeAspect="1" noMove="1" noResize="1" noEditPoints="1" noAdjustHandles="1" noChangeArrowheads="1" noChangeShapeType="1" noTextEdit="1"/>
              </p:cNvSpPr>
              <p:nvPr/>
            </p:nvSpPr>
            <p:spPr>
              <a:xfrm>
                <a:off x="988014" y="2114419"/>
                <a:ext cx="10899186" cy="4322081"/>
              </a:xfrm>
              <a:prstGeom prst="rect">
                <a:avLst/>
              </a:prstGeom>
              <a:blipFill rotWithShape="1">
                <a:blip r:embed="rId3"/>
                <a:stretch>
                  <a:fillRect l="-1119" t="-14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157160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6" y="1103452"/>
                <a:ext cx="4644114"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.4 </a:t>
                </a:r>
                <a:r>
                  <a:rPr lang="zh-CN" altLang="en-US" sz="2800" dirty="0">
                    <a:solidFill>
                      <a:schemeClr val="tx1"/>
                    </a:solidFill>
                  </a:rPr>
                  <a:t>电子的准经典运动</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6" y="1103452"/>
                <a:ext cx="4644114"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88014" y="2114419"/>
                <a:ext cx="10899186" cy="4380879"/>
              </a:xfrm>
              <a:prstGeom prst="rect">
                <a:avLst/>
              </a:prstGeom>
              <a:noFill/>
            </p:spPr>
            <p:txBody>
              <a:bodyPr wrap="square" rtlCol="0">
                <a:spAutoFit/>
              </a:bodyPr>
              <a:lstStyle/>
              <a:p>
                <a:r>
                  <a:rPr lang="en-US" altLang="zh-CN" sz="2800" b="1" dirty="0">
                    <a:solidFill>
                      <a:schemeClr val="tx1"/>
                    </a:solidFill>
                  </a:rPr>
                  <a:t>7.4.2 </a:t>
                </a:r>
                <a:r>
                  <a:rPr lang="zh-CN" altLang="en-US" sz="2800" b="1" dirty="0">
                    <a:solidFill>
                      <a:schemeClr val="tx1"/>
                    </a:solidFill>
                  </a:rPr>
                  <a:t>布洛赫电子在外场中的动力学</a:t>
                </a:r>
                <a:endParaRPr lang="en-US" altLang="zh-CN" sz="2800" dirty="0">
                  <a:solidFill>
                    <a:schemeClr val="tx1"/>
                  </a:solidFill>
                  <a:sym typeface="Symbol" panose="05050102010706020507" pitchFamily="18" charset="2"/>
                </a:endParaRPr>
              </a:p>
              <a:p>
                <a:endParaRPr lang="en-US" altLang="zh-CN" sz="1600" dirty="0">
                  <a:solidFill>
                    <a:schemeClr val="tx1"/>
                  </a:solidFill>
                </a:endParaRPr>
              </a:p>
              <a:p>
                <a:r>
                  <a:rPr lang="zh-CN" altLang="en-US" sz="2400" dirty="0"/>
                  <a:t>通过：</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m:t>
                        </m:r>
                        <m:r>
                          <a:rPr lang="en-US" altLang="zh-CN" sz="2400" b="1" i="1">
                            <a:latin typeface="Cambria Math" panose="02040503050406030204" pitchFamily="18" charset="0"/>
                          </a:rPr>
                          <m:t>𝑬</m:t>
                        </m:r>
                      </m:num>
                      <m:den>
                        <m:r>
                          <a:rPr lang="en-US" altLang="zh-CN" sz="2400" i="1">
                            <a:latin typeface="Cambria Math" panose="02040503050406030204" pitchFamily="18" charset="0"/>
                          </a:rPr>
                          <m:t>𝑑𝑡</m:t>
                        </m:r>
                      </m:den>
                    </m:f>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m:t>
                        </m:r>
                        <m:r>
                          <a:rPr lang="en-US" altLang="zh-CN" sz="2400" b="1" i="1">
                            <a:latin typeface="Cambria Math" panose="02040503050406030204" pitchFamily="18" charset="0"/>
                          </a:rPr>
                          <m:t>𝒌</m:t>
                        </m:r>
                      </m:num>
                      <m:den>
                        <m:r>
                          <a:rPr lang="en-US" altLang="zh-CN" sz="2400" i="1">
                            <a:latin typeface="Cambria Math" panose="02040503050406030204" pitchFamily="18" charset="0"/>
                          </a:rPr>
                          <m:t>𝑑𝑡</m:t>
                        </m:r>
                      </m:den>
                    </m:f>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m:rPr>
                            <m:nor/>
                          </m:rPr>
                          <a:rPr lang="en-US" altLang="zh-CN" sz="2400" i="1">
                            <a:latin typeface="Cambria Math" panose="02040503050406030204" pitchFamily="18" charset="0"/>
                            <a:ea typeface="Cambria Math" panose="02040503050406030204" pitchFamily="18" charset="0"/>
                          </a:rPr>
                          <m:t>∇</m:t>
                        </m:r>
                      </m:e>
                      <m:sub>
                        <m:r>
                          <a:rPr lang="en-US" altLang="zh-CN" sz="2400" i="1">
                            <a:latin typeface="Cambria Math" panose="02040503050406030204" pitchFamily="18" charset="0"/>
                            <a:ea typeface="Cambria Math" panose="02040503050406030204" pitchFamily="18" charset="0"/>
                          </a:rPr>
                          <m:t>𝑘</m:t>
                        </m:r>
                      </m:sub>
                    </m:sSub>
                    <m:r>
                      <a:rPr lang="en-US" altLang="zh-CN" sz="2400" i="1">
                        <a:latin typeface="Cambria Math" panose="02040503050406030204" pitchFamily="18" charset="0"/>
                        <a:ea typeface="Cambria Math" panose="02040503050406030204" pitchFamily="18" charset="0"/>
                      </a:rPr>
                      <m:t>𝐸</m:t>
                    </m:r>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dirty="0">
                            <a:latin typeface="Cambria Math" panose="02040503050406030204" pitchFamily="18" charset="0"/>
                          </a:rPr>
                          <m:t>ħ</m:t>
                        </m:r>
                      </m:den>
                    </m:f>
                    <m:sSub>
                      <m:sSubPr>
                        <m:ctrlPr>
                          <a:rPr lang="en-US" altLang="zh-CN" sz="2400" i="1">
                            <a:latin typeface="Cambria Math" panose="02040503050406030204" pitchFamily="18" charset="0"/>
                            <a:ea typeface="Cambria Math" panose="02040503050406030204" pitchFamily="18" charset="0"/>
                          </a:rPr>
                        </m:ctrlPr>
                      </m:sSubPr>
                      <m:e>
                        <m:r>
                          <m:rPr>
                            <m:nor/>
                          </m:rPr>
                          <a:rPr lang="en-US" altLang="zh-CN" sz="2400" i="1">
                            <a:latin typeface="Cambria Math" panose="02040503050406030204" pitchFamily="18" charset="0"/>
                            <a:ea typeface="Cambria Math" panose="02040503050406030204" pitchFamily="18" charset="0"/>
                          </a:rPr>
                          <m:t>∇</m:t>
                        </m:r>
                      </m:e>
                      <m:sub>
                        <m:r>
                          <a:rPr lang="en-US" altLang="zh-CN" sz="2400" i="1">
                            <a:latin typeface="Cambria Math" panose="02040503050406030204" pitchFamily="18" charset="0"/>
                            <a:ea typeface="Cambria Math" panose="02040503050406030204" pitchFamily="18" charset="0"/>
                          </a:rPr>
                          <m:t>𝑘</m:t>
                        </m:r>
                      </m:sub>
                    </m:sSub>
                    <m:r>
                      <a:rPr lang="en-US" altLang="zh-CN" sz="2400" i="1">
                        <a:latin typeface="Cambria Math" panose="02040503050406030204" pitchFamily="18" charset="0"/>
                        <a:ea typeface="Cambria Math" panose="02040503050406030204" pitchFamily="18" charset="0"/>
                      </a:rPr>
                      <m:t>𝐸</m:t>
                    </m:r>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ħ</m:t>
                            </m:r>
                          </m:e>
                          <m:sup>
                            <m:r>
                              <a:rPr lang="en-US" altLang="zh-CN" sz="2400" i="1" dirty="0">
                                <a:latin typeface="Cambria Math" panose="02040503050406030204" pitchFamily="18" charset="0"/>
                              </a:rPr>
                              <m:t> </m:t>
                            </m:r>
                          </m:sup>
                        </m:sSup>
                        <m:sSup>
                          <m:sSupPr>
                            <m:ctrlPr>
                              <a:rPr lang="en-US" altLang="zh-CN" sz="2400" i="1" dirty="0">
                                <a:latin typeface="Cambria Math" panose="02040503050406030204" pitchFamily="18" charset="0"/>
                              </a:rPr>
                            </m:ctrlPr>
                          </m:sSupPr>
                          <m:e>
                            <m:r>
                              <a:rPr lang="en-US" altLang="zh-CN" sz="2400" b="1" i="1" dirty="0">
                                <a:latin typeface="Cambria Math" panose="02040503050406030204" pitchFamily="18" charset="0"/>
                              </a:rPr>
                              <m:t>𝒌</m:t>
                            </m:r>
                          </m:e>
                          <m:sup>
                            <m:r>
                              <a:rPr lang="en-US" altLang="zh-CN" sz="2400" i="1" dirty="0">
                                <a:latin typeface="Cambria Math" panose="02040503050406030204" pitchFamily="18" charset="0"/>
                              </a:rPr>
                              <m:t> </m:t>
                            </m:r>
                          </m:sup>
                        </m:sSup>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oMath>
                </a14:m>
                <a:r>
                  <a:rPr lang="en-US" altLang="zh-CN" sz="2400" dirty="0"/>
                  <a:t>	</a:t>
                </a:r>
                <a:r>
                  <a:rPr lang="zh-CN" altLang="en-US" sz="2400" dirty="0"/>
                  <a:t>以及</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m:t>
                        </m:r>
                        <m:r>
                          <a:rPr lang="en-US" altLang="zh-CN" sz="2400" b="1" i="1">
                            <a:latin typeface="Cambria Math" panose="02040503050406030204" pitchFamily="18" charset="0"/>
                          </a:rPr>
                          <m:t>𝑬</m:t>
                        </m:r>
                      </m:num>
                      <m:den>
                        <m:r>
                          <a:rPr lang="en-US" altLang="zh-CN" sz="2400" i="1">
                            <a:latin typeface="Cambria Math" panose="02040503050406030204" pitchFamily="18" charset="0"/>
                          </a:rPr>
                          <m:t>𝑑𝑡</m:t>
                        </m:r>
                      </m:den>
                    </m:f>
                    <m:r>
                      <a:rPr lang="en-US" altLang="zh-CN" sz="2400" i="1">
                        <a:latin typeface="Cambria Math" panose="02040503050406030204" pitchFamily="18" charset="0"/>
                      </a:rPr>
                      <m:t>=</m:t>
                    </m:r>
                    <m:r>
                      <a:rPr lang="en-US" altLang="zh-CN" sz="2400" b="1" i="1">
                        <a:latin typeface="Cambria Math" panose="02040503050406030204" pitchFamily="18" charset="0"/>
                      </a:rPr>
                      <m:t>𝒗</m:t>
                    </m:r>
                    <m:r>
                      <a:rPr lang="en-US" altLang="zh-CN" sz="2400"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𝑭</m:t>
                    </m:r>
                    <m:r>
                      <a:rPr lang="en-US" altLang="zh-CN" sz="2400" b="1"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dirty="0">
                            <a:latin typeface="Cambria Math" panose="02040503050406030204" pitchFamily="18" charset="0"/>
                          </a:rPr>
                          <m:t>ħ</m:t>
                        </m:r>
                      </m:den>
                    </m:f>
                    <m:sSub>
                      <m:sSubPr>
                        <m:ctrlPr>
                          <a:rPr lang="en-US" altLang="zh-CN" sz="2400" i="1">
                            <a:latin typeface="Cambria Math" panose="02040503050406030204" pitchFamily="18" charset="0"/>
                            <a:ea typeface="Cambria Math" panose="02040503050406030204" pitchFamily="18" charset="0"/>
                          </a:rPr>
                        </m:ctrlPr>
                      </m:sSubPr>
                      <m:e>
                        <m:r>
                          <m:rPr>
                            <m:nor/>
                          </m:rPr>
                          <a:rPr lang="en-US" altLang="zh-CN" sz="2400" i="1">
                            <a:latin typeface="Cambria Math" panose="02040503050406030204" pitchFamily="18" charset="0"/>
                            <a:ea typeface="Cambria Math" panose="02040503050406030204" pitchFamily="18" charset="0"/>
                          </a:rPr>
                          <m:t>∇</m:t>
                        </m:r>
                      </m:e>
                      <m:sub>
                        <m:r>
                          <a:rPr lang="en-US" altLang="zh-CN" sz="2400" i="1">
                            <a:latin typeface="Cambria Math" panose="02040503050406030204" pitchFamily="18" charset="0"/>
                            <a:ea typeface="Cambria Math" panose="02040503050406030204" pitchFamily="18" charset="0"/>
                          </a:rPr>
                          <m:t>𝑘</m:t>
                        </m:r>
                      </m:sub>
                    </m:sSub>
                    <m:r>
                      <a:rPr lang="en-US" altLang="zh-CN" sz="2400" i="1">
                        <a:latin typeface="Cambria Math" panose="02040503050406030204" pitchFamily="18" charset="0"/>
                        <a:ea typeface="Cambria Math" panose="02040503050406030204" pitchFamily="18" charset="0"/>
                      </a:rPr>
                      <m:t>𝐸</m:t>
                    </m:r>
                    <m:r>
                      <a:rPr lang="en-US" altLang="zh-CN" sz="2400"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𝑭</m:t>
                    </m:r>
                  </m:oMath>
                </a14:m>
                <a:endParaRPr lang="en-US" altLang="zh-CN" sz="2400" b="1" dirty="0"/>
              </a:p>
              <a:p>
                <a:r>
                  <a:rPr lang="zh-CN" altLang="en-US" sz="2400" dirty="0"/>
                  <a:t>则： </a:t>
                </a:r>
                <a14:m>
                  <m:oMath xmlns:m="http://schemas.openxmlformats.org/officeDocument/2006/math">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ħ</m:t>
                            </m:r>
                          </m:e>
                          <m:sup>
                            <m:r>
                              <a:rPr lang="en-US" altLang="zh-CN" sz="2400" i="1" dirty="0">
                                <a:latin typeface="Cambria Math" panose="02040503050406030204" pitchFamily="18" charset="0"/>
                              </a:rPr>
                              <m:t> </m:t>
                            </m:r>
                          </m:sup>
                        </m:sSup>
                        <m:sSup>
                          <m:sSupPr>
                            <m:ctrlPr>
                              <a:rPr lang="en-US" altLang="zh-CN" sz="2400" i="1" dirty="0">
                                <a:latin typeface="Cambria Math" panose="02040503050406030204" pitchFamily="18" charset="0"/>
                              </a:rPr>
                            </m:ctrlPr>
                          </m:sSupPr>
                          <m:e>
                            <m:r>
                              <a:rPr lang="en-US" altLang="zh-CN" sz="2400" b="1" i="1" dirty="0">
                                <a:latin typeface="Cambria Math" panose="02040503050406030204" pitchFamily="18" charset="0"/>
                              </a:rPr>
                              <m:t>𝒌</m:t>
                            </m:r>
                          </m:e>
                          <m:sup>
                            <m:r>
                              <a:rPr lang="en-US" altLang="zh-CN" sz="2400" i="1" dirty="0">
                                <a:latin typeface="Cambria Math" panose="02040503050406030204" pitchFamily="18" charset="0"/>
                              </a:rPr>
                              <m:t> </m:t>
                            </m:r>
                          </m:sup>
                        </m:sSup>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m:rPr>
                            <m:brk m:alnAt="7"/>
                          </m:rPr>
                          <a:rPr lang="en-US" altLang="zh-CN" sz="2400" i="1">
                            <a:latin typeface="Cambria Math" panose="02040503050406030204" pitchFamily="18" charset="0"/>
                          </a:rPr>
                          <m:t>𝑑</m:t>
                        </m:r>
                        <m:r>
                          <m:rPr>
                            <m:brk m:alnAt="7"/>
                          </m:rPr>
                          <a:rPr lang="en-US" altLang="zh-CN" sz="2400" b="1" i="1">
                            <a:latin typeface="Cambria Math" panose="02040503050406030204" pitchFamily="18" charset="0"/>
                          </a:rPr>
                          <m:t>𝑷</m:t>
                        </m:r>
                      </m:num>
                      <m:den>
                        <m:r>
                          <m:rPr>
                            <m:brk m:alnAt="7"/>
                          </m:rPr>
                          <a:rPr lang="en-US" altLang="zh-CN" sz="2400" i="1">
                            <a:latin typeface="Cambria Math" panose="02040503050406030204" pitchFamily="18" charset="0"/>
                          </a:rPr>
                          <m:t>𝑑</m:t>
                        </m:r>
                        <m:r>
                          <a:rPr lang="en-US" altLang="zh-CN" sz="2400" i="1">
                            <a:latin typeface="Cambria Math" panose="02040503050406030204" pitchFamily="18" charset="0"/>
                          </a:rPr>
                          <m:t>𝑡</m:t>
                        </m:r>
                      </m:den>
                    </m:f>
                    <m:r>
                      <a:rPr lang="en-US" altLang="zh-CN" sz="2400" i="1">
                        <a:latin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𝑭</m:t>
                    </m:r>
                  </m:oMath>
                </a14:m>
                <a:endParaRPr lang="en-US" altLang="zh-CN" sz="2400" dirty="0"/>
              </a:p>
              <a:p>
                <a:endParaRPr lang="en-US" altLang="zh-CN" sz="2400" dirty="0"/>
              </a:p>
              <a:p>
                <a:r>
                  <a:rPr lang="zh-CN" altLang="en-US" sz="2400" dirty="0"/>
                  <a:t>还有：</a:t>
                </a:r>
                <a:r>
                  <a:rPr lang="en-US" altLang="zh-CN" sz="2400" b="1" dirty="0"/>
                  <a:t> </a:t>
                </a:r>
                <a14:m>
                  <m:oMath xmlns:m="http://schemas.openxmlformats.org/officeDocument/2006/math">
                    <m:r>
                      <a:rPr lang="en-US" altLang="zh-CN" sz="2400" b="1" i="1">
                        <a:latin typeface="Cambria Math" panose="02040503050406030204" pitchFamily="18" charset="0"/>
                      </a:rPr>
                      <m:t>𝒂</m:t>
                    </m:r>
                    <m:r>
                      <a:rPr lang="en-US" altLang="zh-CN" sz="2400" i="1">
                        <a:latin typeface="Cambria Math" panose="02040503050406030204" pitchFamily="18" charset="0"/>
                      </a:rPr>
                      <m:t>=</m:t>
                    </m:r>
                    <m:f>
                      <m:fPr>
                        <m:ctrlPr>
                          <a:rPr lang="en-US" altLang="zh-CN" sz="2400" i="1" dirty="0">
                            <a:latin typeface="Cambria Math" panose="02040503050406030204" pitchFamily="18" charset="0"/>
                          </a:rPr>
                        </m:ctrlPr>
                      </m:fPr>
                      <m:num>
                        <m:r>
                          <a:rPr lang="en-US" altLang="zh-CN" sz="2400" b="1" i="1">
                            <a:latin typeface="Cambria Math" panose="02040503050406030204" pitchFamily="18" charset="0"/>
                            <a:ea typeface="Cambria Math" panose="02040503050406030204" pitchFamily="18" charset="0"/>
                          </a:rPr>
                          <m:t>𝑭</m:t>
                        </m:r>
                      </m:num>
                      <m:den>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𝑚</m:t>
                            </m:r>
                          </m:e>
                          <m:sup>
                            <m:r>
                              <a:rPr lang="en-US" altLang="zh-CN" sz="2400" i="1" dirty="0">
                                <a:latin typeface="Cambria Math" panose="02040503050406030204" pitchFamily="18" charset="0"/>
                              </a:rPr>
                              <m:t>∗</m:t>
                            </m:r>
                          </m:sup>
                        </m:sSup>
                      </m:den>
                    </m:f>
                  </m:oMath>
                </a14:m>
                <a:r>
                  <a:rPr lang="en-US" altLang="zh-CN" sz="2400" dirty="0"/>
                  <a:t> </a:t>
                </a:r>
              </a:p>
              <a:p>
                <a:endParaRPr lang="en-US" altLang="zh-CN" sz="2400" dirty="0"/>
              </a:p>
              <a:p>
                <a:r>
                  <a:rPr lang="zh-CN" altLang="en-US" sz="2400" dirty="0"/>
                  <a:t>选取适当坐标系，可将</a:t>
                </a:r>
                <a14:m>
                  <m:oMath xmlns:m="http://schemas.openxmlformats.org/officeDocument/2006/math">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1</m:t>
                        </m:r>
                      </m:num>
                      <m:den>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𝑚</m:t>
                            </m:r>
                          </m:e>
                          <m:sup>
                            <m:r>
                              <a:rPr lang="en-US" altLang="zh-CN" sz="2400" i="1" dirty="0">
                                <a:latin typeface="Cambria Math" panose="02040503050406030204" pitchFamily="18" charset="0"/>
                              </a:rPr>
                              <m:t>∗</m:t>
                            </m:r>
                          </m:sup>
                        </m:sSup>
                      </m:den>
                    </m:f>
                  </m:oMath>
                </a14:m>
                <a:r>
                  <a:rPr lang="zh-CN" altLang="en-US" sz="2400" dirty="0"/>
                  <a:t>对角化：</a:t>
                </a:r>
                <a:endParaRPr lang="en-US" altLang="zh-CN" sz="2400" dirty="0"/>
              </a:p>
              <a:p>
                <a:endParaRPr lang="en-US" altLang="zh-CN" sz="2400" dirty="0">
                  <a:solidFill>
                    <a:schemeClr val="tx1"/>
                  </a:solidFill>
                </a:endParaRPr>
              </a:p>
              <a:p>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88014" y="2114419"/>
                <a:ext cx="10899186" cy="4380879"/>
              </a:xfrm>
              <a:prstGeom prst="rect">
                <a:avLst/>
              </a:prstGeom>
              <a:blipFill rotWithShape="1">
                <a:blip r:embed="rId3"/>
                <a:stretch>
                  <a:fillRect l="-1119" t="-13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41636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4182385" y="1103452"/>
                <a:ext cx="4333461"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.4 </a:t>
                </a:r>
                <a:r>
                  <a:rPr lang="zh-CN" altLang="en-US" sz="2800" dirty="0">
                    <a:solidFill>
                      <a:schemeClr val="tx1"/>
                    </a:solidFill>
                  </a:rPr>
                  <a:t>电子的准经典运动</a:t>
                </a:r>
              </a:p>
            </p:txBody>
          </p:sp>
        </mc:Choice>
        <mc:Fallback xmlns="">
          <p:sp>
            <p:nvSpPr>
              <p:cNvPr id="7" name="文本框 6"/>
              <p:cNvSpPr txBox="1">
                <a:spLocks noRot="1" noChangeAspect="1" noMove="1" noResize="1" noEditPoints="1" noAdjustHandles="1" noChangeArrowheads="1" noChangeShapeType="1" noTextEdit="1"/>
              </p:cNvSpPr>
              <p:nvPr/>
            </p:nvSpPr>
            <p:spPr>
              <a:xfrm>
                <a:off x="4182385" y="1103452"/>
                <a:ext cx="4333461"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250408" y="2019300"/>
                <a:ext cx="10027192" cy="4392677"/>
              </a:xfrm>
              <a:prstGeom prst="rect">
                <a:avLst/>
              </a:prstGeom>
              <a:noFill/>
            </p:spPr>
            <p:txBody>
              <a:bodyPr wrap="square" rtlCol="0">
                <a:spAutoFit/>
              </a:bodyPr>
              <a:lstStyle/>
              <a:p>
                <a:r>
                  <a:rPr lang="en-US" altLang="zh-CN" sz="2800" b="1" dirty="0">
                    <a:solidFill>
                      <a:schemeClr val="tx1"/>
                    </a:solidFill>
                  </a:rPr>
                  <a:t>7.4.2 </a:t>
                </a:r>
                <a:r>
                  <a:rPr lang="zh-CN" altLang="en-US" sz="2800" b="1" dirty="0">
                    <a:solidFill>
                      <a:schemeClr val="tx1"/>
                    </a:solidFill>
                  </a:rPr>
                  <a:t>布洛赫电子在外场中的动力学</a:t>
                </a:r>
                <a:endParaRPr lang="en-US" altLang="zh-CN" sz="2800" dirty="0">
                  <a:solidFill>
                    <a:schemeClr val="tx1"/>
                  </a:solidFill>
                  <a:sym typeface="Symbol" panose="05050102010706020507" pitchFamily="18" charset="2"/>
                </a:endParaRPr>
              </a:p>
              <a:p>
                <a:endParaRPr lang="en-US" altLang="zh-CN" sz="1600" dirty="0">
                  <a:solidFill>
                    <a:schemeClr val="tx1"/>
                  </a:solidFill>
                </a:endParaRPr>
              </a:p>
              <a:p>
                <a:r>
                  <a:rPr lang="zh-CN" altLang="en-US" sz="2400" dirty="0">
                    <a:solidFill>
                      <a:schemeClr val="tx1"/>
                    </a:solidFill>
                  </a:rPr>
                  <a:t>即： </a:t>
                </a:r>
                <a14:m>
                  <m:oMath xmlns:m="http://schemas.openxmlformats.org/officeDocument/2006/math">
                    <m:d>
                      <m:dPr>
                        <m:ctrlPr>
                          <a:rPr lang="en-US" altLang="zh-CN" sz="2400" i="1" smtClean="0">
                            <a:solidFill>
                              <a:schemeClr val="tx1"/>
                            </a:solidFill>
                            <a:latin typeface="Cambria Math" panose="02040503050406030204" pitchFamily="18" charset="0"/>
                          </a:rPr>
                        </m:ctrlPr>
                      </m:dPr>
                      <m:e>
                        <m:m>
                          <m:mPr>
                            <m:mcs>
                              <m:mc>
                                <m:mcPr>
                                  <m:count m:val="1"/>
                                  <m:mcJc m:val="center"/>
                                </m:mcPr>
                              </m:mc>
                            </m:mcs>
                            <m:ctrlPr>
                              <a:rPr lang="en-US" altLang="zh-CN" sz="2400" i="1" smtClean="0">
                                <a:solidFill>
                                  <a:schemeClr val="tx1"/>
                                </a:solidFill>
                                <a:latin typeface="Cambria Math" panose="02040503050406030204" pitchFamily="18" charset="0"/>
                              </a:rPr>
                            </m:ctrlPr>
                          </m:mPr>
                          <m:mr>
                            <m:e>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𝑎</m:t>
                                  </m:r>
                                </m:e>
                                <m:sub>
                                  <m:r>
                                    <a:rPr lang="en-US" altLang="zh-CN" sz="2400" b="0" i="1" smtClean="0">
                                      <a:solidFill>
                                        <a:schemeClr val="tx1"/>
                                      </a:solidFill>
                                      <a:latin typeface="Cambria Math" panose="02040503050406030204" pitchFamily="18" charset="0"/>
                                    </a:rPr>
                                    <m:t>𝑥</m:t>
                                  </m:r>
                                </m:sub>
                              </m:sSub>
                            </m:e>
                          </m:mr>
                          <m:m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𝑎</m:t>
                                  </m:r>
                                </m:e>
                                <m:sub>
                                  <m:r>
                                    <a:rPr lang="en-US" altLang="zh-CN" sz="2400" b="0" i="1" smtClean="0">
                                      <a:solidFill>
                                        <a:schemeClr val="tx1"/>
                                      </a:solidFill>
                                      <a:latin typeface="Cambria Math" panose="02040503050406030204" pitchFamily="18" charset="0"/>
                                    </a:rPr>
                                    <m:t>𝑦</m:t>
                                  </m:r>
                                </m:sub>
                              </m:sSub>
                            </m:e>
                          </m:mr>
                          <m:m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𝑎</m:t>
                                  </m:r>
                                </m:e>
                                <m:sub>
                                  <m:r>
                                    <a:rPr lang="en-US" altLang="zh-CN" sz="2400" b="0" i="1" smtClean="0">
                                      <a:solidFill>
                                        <a:schemeClr val="tx1"/>
                                      </a:solidFill>
                                      <a:latin typeface="Cambria Math" panose="02040503050406030204" pitchFamily="18" charset="0"/>
                                    </a:rPr>
                                    <m:t>𝑧</m:t>
                                  </m:r>
                                </m:sub>
                              </m:sSub>
                            </m:e>
                          </m:mr>
                        </m:m>
                      </m:e>
                    </m:d>
                    <m:r>
                      <a:rPr lang="en-US" altLang="zh-CN" sz="2400" b="0" i="1" smtClean="0">
                        <a:solidFill>
                          <a:schemeClr val="tx1"/>
                        </a:solidFill>
                        <a:latin typeface="Cambria Math" panose="02040503050406030204" pitchFamily="18" charset="0"/>
                      </a:rPr>
                      <m:t>=</m:t>
                    </m:r>
                    <m:d>
                      <m:dPr>
                        <m:ctrlPr>
                          <a:rPr lang="en-US" altLang="zh-CN" sz="2400" i="1" dirty="0" smtClean="0">
                            <a:solidFill>
                              <a:schemeClr val="tx1"/>
                            </a:solidFill>
                            <a:latin typeface="Cambria Math" panose="02040503050406030204" pitchFamily="18" charset="0"/>
                          </a:rPr>
                        </m:ctrlPr>
                      </m:dPr>
                      <m:e>
                        <m:m>
                          <m:mPr>
                            <m:mcs>
                              <m:mc>
                                <m:mcPr>
                                  <m:count m:val="3"/>
                                  <m:mcJc m:val="center"/>
                                </m:mcPr>
                              </m:mc>
                            </m:mcs>
                            <m:ctrlPr>
                              <a:rPr lang="en-US" altLang="zh-CN" sz="2400" i="1" dirty="0" smtClean="0">
                                <a:solidFill>
                                  <a:schemeClr val="tx1"/>
                                </a:solidFill>
                                <a:latin typeface="Cambria Math" panose="02040503050406030204" pitchFamily="18" charset="0"/>
                              </a:rPr>
                            </m:ctrlPr>
                          </m:mPr>
                          <m:mr>
                            <m:e>
                              <m:f>
                                <m:fPr>
                                  <m:ctrlPr>
                                    <a:rPr lang="en-US" altLang="zh-CN" sz="2400" i="1" dirty="0" smtClean="0">
                                      <a:solidFill>
                                        <a:schemeClr val="tx1"/>
                                      </a:solidFill>
                                      <a:latin typeface="Cambria Math" panose="02040503050406030204" pitchFamily="18" charset="0"/>
                                    </a:rPr>
                                  </m:ctrlPr>
                                </m:fPr>
                                <m:num>
                                  <m:r>
                                    <a:rPr lang="en-US" altLang="zh-CN" sz="2400" i="1" dirty="0" smtClean="0">
                                      <a:solidFill>
                                        <a:schemeClr val="tx1"/>
                                      </a:solidFill>
                                      <a:latin typeface="Cambria Math" panose="02040503050406030204" pitchFamily="18" charset="0"/>
                                    </a:rPr>
                                    <m:t>1</m:t>
                                  </m:r>
                                </m:num>
                                <m:den>
                                  <m:sSub>
                                    <m:sSubPr>
                                      <m:ctrlPr>
                                        <a:rPr lang="en-US" altLang="zh-CN" sz="240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𝑚</m:t>
                                      </m:r>
                                    </m:e>
                                    <m:sub>
                                      <m:r>
                                        <a:rPr lang="en-US" altLang="zh-CN" sz="2400" b="0" i="1" dirty="0" smtClean="0">
                                          <a:solidFill>
                                            <a:schemeClr val="tx1"/>
                                          </a:solidFill>
                                          <a:latin typeface="Cambria Math" panose="02040503050406030204" pitchFamily="18" charset="0"/>
                                        </a:rPr>
                                        <m:t>𝑥𝑥</m:t>
                                      </m:r>
                                    </m:sub>
                                  </m:sSub>
                                </m:den>
                              </m:f>
                            </m:e>
                            <m:e>
                              <m:r>
                                <a:rPr lang="en-US" altLang="zh-CN" sz="2400" i="1" dirty="0">
                                  <a:solidFill>
                                    <a:schemeClr val="tx1"/>
                                  </a:solidFill>
                                  <a:latin typeface="Cambria Math" panose="02040503050406030204" pitchFamily="18" charset="0"/>
                                </a:rPr>
                                <m:t>0</m:t>
                              </m:r>
                            </m:e>
                            <m:e>
                              <m:r>
                                <a:rPr lang="en-US" altLang="zh-CN" sz="2400" i="1" dirty="0">
                                  <a:solidFill>
                                    <a:schemeClr val="tx1"/>
                                  </a:solidFill>
                                  <a:latin typeface="Cambria Math" panose="02040503050406030204" pitchFamily="18" charset="0"/>
                                </a:rPr>
                                <m:t>0</m:t>
                              </m:r>
                            </m:e>
                          </m:mr>
                          <m:mr>
                            <m:e>
                              <m:r>
                                <a:rPr lang="en-US" altLang="zh-CN" sz="2400" i="1" dirty="0">
                                  <a:solidFill>
                                    <a:schemeClr val="tx1"/>
                                  </a:solidFill>
                                  <a:latin typeface="Cambria Math" panose="02040503050406030204" pitchFamily="18" charset="0"/>
                                </a:rPr>
                                <m:t>0</m:t>
                              </m:r>
                            </m:e>
                            <m:e>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𝑚</m:t>
                                      </m:r>
                                    </m:e>
                                    <m:sub>
                                      <m:r>
                                        <a:rPr lang="en-US" altLang="zh-CN" sz="2400" b="0" i="1" dirty="0" smtClean="0">
                                          <a:solidFill>
                                            <a:schemeClr val="tx1"/>
                                          </a:solidFill>
                                          <a:latin typeface="Cambria Math" panose="02040503050406030204" pitchFamily="18" charset="0"/>
                                        </a:rPr>
                                        <m:t>𝑦𝑦</m:t>
                                      </m:r>
                                    </m:sub>
                                  </m:sSub>
                                </m:den>
                              </m:f>
                            </m:e>
                            <m:e>
                              <m:r>
                                <a:rPr lang="en-US" altLang="zh-CN" sz="2400" i="1" dirty="0">
                                  <a:solidFill>
                                    <a:schemeClr val="tx1"/>
                                  </a:solidFill>
                                  <a:latin typeface="Cambria Math" panose="02040503050406030204" pitchFamily="18" charset="0"/>
                                </a:rPr>
                                <m:t>0</m:t>
                              </m:r>
                            </m:e>
                          </m:mr>
                          <m:mr>
                            <m:e>
                              <m:r>
                                <a:rPr lang="en-US" altLang="zh-CN" sz="2400" i="1" dirty="0">
                                  <a:solidFill>
                                    <a:schemeClr val="tx1"/>
                                  </a:solidFill>
                                  <a:latin typeface="Cambria Math" panose="02040503050406030204" pitchFamily="18" charset="0"/>
                                </a:rPr>
                                <m:t>0</m:t>
                              </m:r>
                            </m:e>
                            <m:e>
                              <m:r>
                                <a:rPr lang="en-US" altLang="zh-CN" sz="2400" i="1" dirty="0">
                                  <a:solidFill>
                                    <a:schemeClr val="tx1"/>
                                  </a:solidFill>
                                  <a:latin typeface="Cambria Math" panose="02040503050406030204" pitchFamily="18" charset="0"/>
                                </a:rPr>
                                <m:t>0</m:t>
                              </m:r>
                            </m:e>
                            <m:e>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𝑚</m:t>
                                      </m:r>
                                    </m:e>
                                    <m:sub>
                                      <m:r>
                                        <a:rPr lang="en-US" altLang="zh-CN" sz="2400" b="0" i="1" dirty="0" smtClean="0">
                                          <a:solidFill>
                                            <a:schemeClr val="tx1"/>
                                          </a:solidFill>
                                          <a:latin typeface="Cambria Math" panose="02040503050406030204" pitchFamily="18" charset="0"/>
                                        </a:rPr>
                                        <m:t>𝑧𝑧</m:t>
                                      </m:r>
                                    </m:sub>
                                  </m:sSub>
                                </m:den>
                              </m:f>
                            </m:e>
                          </m:mr>
                        </m:m>
                      </m:e>
                    </m:d>
                    <m:d>
                      <m:dPr>
                        <m:ctrlPr>
                          <a:rPr lang="en-US" altLang="zh-CN" sz="2400" i="1">
                            <a:solidFill>
                              <a:schemeClr val="tx1"/>
                            </a:solidFill>
                            <a:latin typeface="Cambria Math" panose="02040503050406030204" pitchFamily="18" charset="0"/>
                          </a:rPr>
                        </m:ctrlPr>
                      </m:dPr>
                      <m:e>
                        <m:m>
                          <m:mPr>
                            <m:mcs>
                              <m:mc>
                                <m:mcPr>
                                  <m:count m:val="1"/>
                                  <m:mcJc m:val="center"/>
                                </m:mcPr>
                              </m:mc>
                            </m:mcs>
                            <m:ctrlPr>
                              <a:rPr lang="en-US" altLang="zh-CN" sz="2400" i="1">
                                <a:solidFill>
                                  <a:schemeClr val="tx1"/>
                                </a:solidFill>
                                <a:latin typeface="Cambria Math" panose="02040503050406030204" pitchFamily="18" charset="0"/>
                              </a:rPr>
                            </m:ctrlPr>
                          </m:mPr>
                          <m:mr>
                            <m:e>
                              <m:sSubSup>
                                <m:sSubSupPr>
                                  <m:ctrlPr>
                                    <a:rPr lang="en-US" altLang="zh-CN" sz="2400" i="1" dirty="0">
                                      <a:solidFill>
                                        <a:schemeClr val="tx1"/>
                                      </a:solidFill>
                                      <a:latin typeface="Cambria Math" panose="02040503050406030204" pitchFamily="18" charset="0"/>
                                    </a:rPr>
                                  </m:ctrlPr>
                                </m:sSubSupPr>
                                <m:e>
                                  <m:r>
                                    <a:rPr lang="en-US" altLang="zh-CN" sz="2400" b="0" i="1" dirty="0" smtClean="0">
                                      <a:solidFill>
                                        <a:schemeClr val="tx1"/>
                                      </a:solidFill>
                                      <a:latin typeface="Cambria Math" panose="02040503050406030204" pitchFamily="18" charset="0"/>
                                    </a:rPr>
                                    <m:t>𝐹</m:t>
                                  </m:r>
                                </m:e>
                                <m:sub>
                                  <m:r>
                                    <a:rPr lang="en-US" altLang="zh-CN" sz="2400" b="0" i="1" dirty="0" smtClean="0">
                                      <a:solidFill>
                                        <a:schemeClr val="tx1"/>
                                      </a:solidFill>
                                      <a:latin typeface="Cambria Math" panose="02040503050406030204" pitchFamily="18" charset="0"/>
                                    </a:rPr>
                                    <m:t>𝑥</m:t>
                                  </m:r>
                                </m:sub>
                                <m:sup>
                                  <m:r>
                                    <a:rPr lang="en-US" altLang="zh-CN" sz="2400" i="1" dirty="0">
                                      <a:solidFill>
                                        <a:schemeClr val="tx1"/>
                                      </a:solidFill>
                                      <a:latin typeface="Cambria Math" panose="02040503050406030204" pitchFamily="18" charset="0"/>
                                    </a:rPr>
                                    <m:t> </m:t>
                                  </m:r>
                                </m:sup>
                              </m:sSubSup>
                            </m:e>
                          </m:mr>
                          <m:mr>
                            <m:e>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𝐹</m:t>
                                  </m:r>
                                </m:e>
                                <m:sub>
                                  <m:r>
                                    <a:rPr lang="en-US" altLang="zh-CN" sz="2400" b="0" i="1" dirty="0" smtClean="0">
                                      <a:solidFill>
                                        <a:schemeClr val="tx1"/>
                                      </a:solidFill>
                                      <a:latin typeface="Cambria Math" panose="02040503050406030204" pitchFamily="18" charset="0"/>
                                    </a:rPr>
                                    <m:t>𝑦</m:t>
                                  </m:r>
                                </m:sub>
                                <m:sup>
                                  <m:r>
                                    <a:rPr lang="en-US" altLang="zh-CN" sz="2400" i="1" dirty="0">
                                      <a:solidFill>
                                        <a:schemeClr val="tx1"/>
                                      </a:solidFill>
                                      <a:latin typeface="Cambria Math" panose="02040503050406030204" pitchFamily="18" charset="0"/>
                                    </a:rPr>
                                    <m:t> </m:t>
                                  </m:r>
                                </m:sup>
                              </m:sSubSup>
                            </m:e>
                          </m:mr>
                          <m:mr>
                            <m:e>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𝐹</m:t>
                                  </m:r>
                                </m:e>
                                <m:sub>
                                  <m:r>
                                    <a:rPr lang="en-US" altLang="zh-CN" sz="2400" b="0" i="1" dirty="0" smtClean="0">
                                      <a:solidFill>
                                        <a:schemeClr val="tx1"/>
                                      </a:solidFill>
                                      <a:latin typeface="Cambria Math" panose="02040503050406030204" pitchFamily="18" charset="0"/>
                                    </a:rPr>
                                    <m:t>𝑧</m:t>
                                  </m:r>
                                </m:sub>
                                <m:sup>
                                  <m:r>
                                    <a:rPr lang="en-US" altLang="zh-CN" sz="2400" i="1" dirty="0">
                                      <a:solidFill>
                                        <a:schemeClr val="tx1"/>
                                      </a:solidFill>
                                      <a:latin typeface="Cambria Math" panose="02040503050406030204" pitchFamily="18" charset="0"/>
                                    </a:rPr>
                                    <m:t> </m:t>
                                  </m:r>
                                </m:sup>
                              </m:sSubSup>
                            </m:e>
                          </m:mr>
                        </m:m>
                      </m:e>
                    </m:d>
                  </m:oMath>
                </a14:m>
                <a:r>
                  <a:rPr lang="en-US" altLang="zh-CN" sz="2400" dirty="0">
                    <a:solidFill>
                      <a:schemeClr val="tx1"/>
                    </a:solidFill>
                  </a:rPr>
                  <a:t>	</a:t>
                </a:r>
                <a:r>
                  <a:rPr lang="zh-CN" altLang="en-US" sz="2400" dirty="0">
                    <a:solidFill>
                      <a:schemeClr val="tx1"/>
                    </a:solidFill>
                  </a:rPr>
                  <a:t>，其中</a:t>
                </a:r>
                <a14:m>
                  <m:oMath xmlns:m="http://schemas.openxmlformats.org/officeDocument/2006/math">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𝑚</m:t>
                            </m:r>
                          </m:e>
                          <m:sub>
                            <m:r>
                              <a:rPr lang="en-US" altLang="zh-CN" sz="2400" i="1" dirty="0">
                                <a:solidFill>
                                  <a:schemeClr val="tx1"/>
                                </a:solidFill>
                                <a:latin typeface="Cambria Math" panose="02040503050406030204" pitchFamily="18" charset="0"/>
                              </a:rPr>
                              <m:t>𝑥𝑥</m:t>
                            </m:r>
                          </m:sub>
                        </m:sSub>
                      </m:den>
                    </m:f>
                    <m:r>
                      <a:rPr lang="en-US" altLang="zh-CN" sz="2400" i="1" dirty="0" smtClean="0">
                        <a:solidFill>
                          <a:schemeClr val="tx1"/>
                        </a:solidFill>
                        <a:latin typeface="Cambria Math" panose="02040503050406030204" pitchFamily="18" charset="0"/>
                      </a:rPr>
                      <m:t>=</m:t>
                    </m:r>
                    <m:f>
                      <m:fPr>
                        <m:ctrlPr>
                          <a:rPr lang="en-US" altLang="zh-CN" sz="2400"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den>
                    </m:f>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m:rPr>
                                <m:brk m:alnAt="7"/>
                              </m:rP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r>
                          <a:rPr lang="en-US" altLang="zh-CN" sz="2400" i="1" dirty="0">
                            <a:solidFill>
                              <a:schemeClr val="tx1"/>
                            </a:solidFill>
                            <a:latin typeface="Cambria Math" panose="02040503050406030204" pitchFamily="18" charset="0"/>
                          </a:rPr>
                          <m:t>𝐸</m:t>
                        </m:r>
                      </m:num>
                      <m:den>
                        <m:r>
                          <m:rPr>
                            <m:brk m:alnAt="7"/>
                          </m:rPr>
                          <a:rPr lang="en-US" altLang="zh-CN" sz="2400" i="1" dirty="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a:rPr lang="en-US" altLang="zh-CN" sz="2400" i="1" dirty="0">
                                <a:solidFill>
                                  <a:schemeClr val="tx1"/>
                                </a:solidFill>
                                <a:latin typeface="Cambria Math" panose="02040503050406030204" pitchFamily="18" charset="0"/>
                              </a:rPr>
                              <m:t>𝑥</m:t>
                            </m:r>
                          </m:sub>
                          <m:sup>
                            <m:r>
                              <a:rPr lang="en-US" altLang="zh-CN" sz="2400" i="1" dirty="0">
                                <a:solidFill>
                                  <a:schemeClr val="tx1"/>
                                </a:solidFill>
                                <a:latin typeface="Cambria Math" panose="02040503050406030204" pitchFamily="18" charset="0"/>
                              </a:rPr>
                              <m:t>2</m:t>
                            </m:r>
                          </m:sup>
                        </m:sSubSup>
                      </m:den>
                    </m:f>
                  </m:oMath>
                </a14:m>
                <a:r>
                  <a:rPr lang="en-US" altLang="zh-CN" sz="2400" dirty="0">
                    <a:solidFill>
                      <a:schemeClr val="tx1"/>
                    </a:solidFill>
                  </a:rPr>
                  <a:t>  , ……</a:t>
                </a:r>
              </a:p>
              <a:p>
                <a:endParaRPr lang="en-US" altLang="zh-CN" sz="2400" dirty="0">
                  <a:solidFill>
                    <a:schemeClr val="tx1"/>
                  </a:solidFill>
                </a:endParaRPr>
              </a:p>
              <a:p>
                <a:r>
                  <a:rPr lang="zh-CN" altLang="en-US" sz="2400" dirty="0">
                    <a:solidFill>
                      <a:schemeClr val="tx1"/>
                    </a:solidFill>
                  </a:rPr>
                  <a:t>在各向同性晶体中，</a:t>
                </a:r>
                <a14:m>
                  <m:oMath xmlns:m="http://schemas.openxmlformats.org/officeDocument/2006/math">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den>
                    </m:f>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m:rPr>
                                <m:brk m:alnAt="7"/>
                              </m:rP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r>
                          <a:rPr lang="en-US" altLang="zh-CN" sz="2400" i="1" dirty="0">
                            <a:solidFill>
                              <a:schemeClr val="tx1"/>
                            </a:solidFill>
                            <a:latin typeface="Cambria Math" panose="02040503050406030204" pitchFamily="18" charset="0"/>
                          </a:rPr>
                          <m:t>𝐸</m:t>
                        </m:r>
                      </m:num>
                      <m:den>
                        <m:r>
                          <m:rPr>
                            <m:brk m:alnAt="7"/>
                          </m:rPr>
                          <a:rPr lang="en-US" altLang="zh-CN" sz="2400" i="1" dirty="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a:rPr lang="en-US" altLang="zh-CN" sz="2400" i="1" dirty="0" smtClean="0">
                                <a:solidFill>
                                  <a:schemeClr val="tx1"/>
                                </a:solidFill>
                                <a:latin typeface="Cambria Math" panose="02040503050406030204" pitchFamily="18" charset="0"/>
                              </a:rPr>
                              <m:t>𝑥</m:t>
                            </m:r>
                          </m:sub>
                          <m:sup>
                            <m:r>
                              <a:rPr lang="en-US" altLang="zh-CN" sz="2400" i="1" dirty="0">
                                <a:solidFill>
                                  <a:schemeClr val="tx1"/>
                                </a:solidFill>
                                <a:latin typeface="Cambria Math" panose="02040503050406030204" pitchFamily="18" charset="0"/>
                              </a:rPr>
                              <m:t>2</m:t>
                            </m:r>
                          </m:sup>
                        </m:sSubSup>
                      </m:den>
                    </m:f>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den>
                    </m:f>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m:rPr>
                                <m:brk m:alnAt="7"/>
                              </m:rP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r>
                          <a:rPr lang="en-US" altLang="zh-CN" sz="2400" i="1" dirty="0">
                            <a:solidFill>
                              <a:schemeClr val="tx1"/>
                            </a:solidFill>
                            <a:latin typeface="Cambria Math" panose="02040503050406030204" pitchFamily="18" charset="0"/>
                          </a:rPr>
                          <m:t>𝐸</m:t>
                        </m:r>
                      </m:num>
                      <m:den>
                        <m:r>
                          <m:rPr>
                            <m:brk m:alnAt="7"/>
                          </m:rPr>
                          <a:rPr lang="en-US" altLang="zh-CN" sz="2400" i="1" dirty="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a:rPr lang="en-US" altLang="zh-CN" sz="2400" b="0" i="1" dirty="0" smtClean="0">
                                <a:solidFill>
                                  <a:schemeClr val="tx1"/>
                                </a:solidFill>
                                <a:latin typeface="Cambria Math" panose="02040503050406030204" pitchFamily="18" charset="0"/>
                              </a:rPr>
                              <m:t>𝑦</m:t>
                            </m:r>
                          </m:sub>
                          <m:sup>
                            <m:r>
                              <a:rPr lang="en-US" altLang="zh-CN" sz="2400" i="1" dirty="0">
                                <a:solidFill>
                                  <a:schemeClr val="tx1"/>
                                </a:solidFill>
                                <a:latin typeface="Cambria Math" panose="02040503050406030204" pitchFamily="18" charset="0"/>
                              </a:rPr>
                              <m:t>2</m:t>
                            </m:r>
                          </m:sup>
                        </m:sSubSup>
                      </m:den>
                    </m:f>
                    <m:r>
                      <a:rPr lang="en-US" altLang="zh-CN" sz="2400" i="1" dirty="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ħ</m:t>
                            </m:r>
                          </m:e>
                          <m:sup>
                            <m:r>
                              <a:rPr lang="en-US" altLang="zh-CN" sz="2400" i="1" dirty="0">
                                <a:solidFill>
                                  <a:schemeClr val="tx1"/>
                                </a:solidFill>
                                <a:latin typeface="Cambria Math" panose="02040503050406030204" pitchFamily="18" charset="0"/>
                              </a:rPr>
                              <m:t>2</m:t>
                            </m:r>
                          </m:sup>
                        </m:sSup>
                      </m:den>
                    </m:f>
                    <m:f>
                      <m:fPr>
                        <m:ctrlPr>
                          <a:rPr lang="en-US" altLang="zh-CN" sz="2400" i="1" dirty="0">
                            <a:solidFill>
                              <a:schemeClr val="tx1"/>
                            </a:solidFill>
                            <a:latin typeface="Cambria Math" panose="02040503050406030204" pitchFamily="18" charset="0"/>
                          </a:rPr>
                        </m:ctrlPr>
                      </m:fPr>
                      <m:num>
                        <m:sSup>
                          <m:sSupPr>
                            <m:ctrlPr>
                              <a:rPr lang="en-US" altLang="zh-CN" sz="2400" i="1" dirty="0">
                                <a:solidFill>
                                  <a:schemeClr val="tx1"/>
                                </a:solidFill>
                                <a:latin typeface="Cambria Math" panose="02040503050406030204" pitchFamily="18" charset="0"/>
                              </a:rPr>
                            </m:ctrlPr>
                          </m:sSupPr>
                          <m:e>
                            <m:r>
                              <m:rPr>
                                <m:brk m:alnAt="7"/>
                              </m:rPr>
                              <a:rPr lang="en-US" altLang="zh-CN"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2</m:t>
                            </m:r>
                          </m:sup>
                        </m:sSup>
                        <m:r>
                          <a:rPr lang="en-US" altLang="zh-CN" sz="2400" i="1" dirty="0">
                            <a:solidFill>
                              <a:schemeClr val="tx1"/>
                            </a:solidFill>
                            <a:latin typeface="Cambria Math" panose="02040503050406030204" pitchFamily="18" charset="0"/>
                          </a:rPr>
                          <m:t>𝐸</m:t>
                        </m:r>
                      </m:num>
                      <m:den>
                        <m:r>
                          <m:rPr>
                            <m:brk m:alnAt="7"/>
                          </m:rPr>
                          <a:rPr lang="en-US" altLang="zh-CN" sz="2400" i="1" dirty="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US" altLang="zh-CN" sz="2400" i="1" dirty="0">
                                <a:solidFill>
                                  <a:schemeClr val="tx1"/>
                                </a:solidFill>
                                <a:latin typeface="Cambria Math" panose="02040503050406030204" pitchFamily="18" charset="0"/>
                              </a:rPr>
                              <m:t>𝑘</m:t>
                            </m:r>
                          </m:e>
                          <m:sub>
                            <m:r>
                              <a:rPr lang="en-US" altLang="zh-CN" sz="2400" b="0" i="1" dirty="0" smtClean="0">
                                <a:solidFill>
                                  <a:schemeClr val="tx1"/>
                                </a:solidFill>
                                <a:latin typeface="Cambria Math" panose="02040503050406030204" pitchFamily="18" charset="0"/>
                              </a:rPr>
                              <m:t>𝑧</m:t>
                            </m:r>
                          </m:sub>
                          <m:sup>
                            <m:r>
                              <a:rPr lang="en-US" altLang="zh-CN" sz="2400" i="1" dirty="0">
                                <a:solidFill>
                                  <a:schemeClr val="tx1"/>
                                </a:solidFill>
                                <a:latin typeface="Cambria Math" panose="02040503050406030204" pitchFamily="18" charset="0"/>
                              </a:rPr>
                              <m:t>2</m:t>
                            </m:r>
                          </m:sup>
                        </m:sSubSup>
                      </m:den>
                    </m:f>
                    <m:r>
                      <a:rPr lang="en-US" altLang="zh-CN" sz="2400" b="0" i="1" dirty="0"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den>
                    </m:f>
                  </m:oMath>
                </a14:m>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问题：</a:t>
                </a:r>
                <a14:m>
                  <m:oMath xmlns:m="http://schemas.openxmlformats.org/officeDocument/2006/math">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oMath>
                </a14:m>
                <a:r>
                  <a:rPr lang="zh-CN" altLang="en-US" sz="2400" dirty="0">
                    <a:solidFill>
                      <a:schemeClr val="tx1"/>
                    </a:solidFill>
                  </a:rPr>
                  <a:t>和</a:t>
                </a:r>
                <a14:m>
                  <m:oMath xmlns:m="http://schemas.openxmlformats.org/officeDocument/2006/math">
                    <m:r>
                      <a:rPr lang="en-US" altLang="zh-CN" sz="2400" i="1" dirty="0">
                        <a:solidFill>
                          <a:schemeClr val="tx1"/>
                        </a:solidFill>
                        <a:latin typeface="Cambria Math" panose="02040503050406030204" pitchFamily="18" charset="0"/>
                      </a:rPr>
                      <m:t>𝑚</m:t>
                    </m:r>
                  </m:oMath>
                </a14:m>
                <a:r>
                  <a:rPr lang="zh-CN" altLang="en-US" sz="2400" dirty="0">
                    <a:solidFill>
                      <a:schemeClr val="tx1"/>
                    </a:solidFill>
                  </a:rPr>
                  <a:t>有何异同？</a:t>
                </a:r>
                <a:endParaRPr lang="en-US" altLang="zh-CN" sz="24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250408" y="2019300"/>
                <a:ext cx="10027192" cy="4392677"/>
              </a:xfrm>
              <a:prstGeom prst="rect">
                <a:avLst/>
              </a:prstGeom>
              <a:blipFill rotWithShape="1">
                <a:blip r:embed="rId3"/>
                <a:stretch>
                  <a:fillRect l="-1216" t="-1387" b="-18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6516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3680465" y="1020848"/>
                <a:ext cx="5336535"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.5 </a:t>
                </a:r>
                <a:r>
                  <a:rPr lang="zh-CN" altLang="en-US" sz="2800" dirty="0">
                    <a:solidFill>
                      <a:schemeClr val="tx1"/>
                    </a:solidFill>
                  </a:rPr>
                  <a:t>能带填充和固体的导电性</a:t>
                </a:r>
              </a:p>
            </p:txBody>
          </p:sp>
        </mc:Choice>
        <mc:Fallback xmlns="">
          <p:sp>
            <p:nvSpPr>
              <p:cNvPr id="7" name="文本框 6"/>
              <p:cNvSpPr txBox="1">
                <a:spLocks noRot="1" noChangeAspect="1" noMove="1" noResize="1" noEditPoints="1" noAdjustHandles="1" noChangeArrowheads="1" noChangeShapeType="1" noTextEdit="1"/>
              </p:cNvSpPr>
              <p:nvPr/>
            </p:nvSpPr>
            <p:spPr>
              <a:xfrm>
                <a:off x="3680465" y="1020848"/>
                <a:ext cx="5336535" cy="523220"/>
              </a:xfrm>
              <a:prstGeom prst="rect">
                <a:avLst/>
              </a:prstGeom>
              <a:blipFill rotWithShape="1">
                <a:blip r:embed="rId2"/>
                <a:stretch>
                  <a:fillRect t="-13953" b="-29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128040" y="1571023"/>
                <a:ext cx="11419560" cy="5529784"/>
              </a:xfrm>
              <a:prstGeom prst="rect">
                <a:avLst/>
              </a:prstGeom>
              <a:noFill/>
            </p:spPr>
            <p:txBody>
              <a:bodyPr wrap="square" rtlCol="0">
                <a:spAutoFit/>
              </a:bodyPr>
              <a:lstStyle/>
              <a:p>
                <a:r>
                  <a:rPr lang="zh-CN" altLang="en-US" sz="2800" dirty="0">
                    <a:solidFill>
                      <a:schemeClr val="tx1"/>
                    </a:solidFill>
                  </a:rPr>
                  <a:t>固体导电：在电场作用下，电子定向运动形成电流。</a:t>
                </a:r>
                <a:endParaRPr lang="en-US" altLang="zh-CN" sz="2800" dirty="0">
                  <a:solidFill>
                    <a:schemeClr val="tx1"/>
                  </a:solidFill>
                </a:endParaRPr>
              </a:p>
              <a:p>
                <a:r>
                  <a:rPr lang="zh-CN" altLang="en-US" sz="2800" dirty="0">
                    <a:solidFill>
                      <a:schemeClr val="tx1"/>
                    </a:solidFill>
                  </a:rPr>
                  <a:t>固体的导电性差异很大。</a:t>
                </a:r>
                <a:endParaRPr lang="en-US" altLang="zh-CN" sz="2800" dirty="0">
                  <a:solidFill>
                    <a:schemeClr val="tx1"/>
                  </a:solidFill>
                </a:endParaRPr>
              </a:p>
              <a:p>
                <a:endParaRPr lang="en-US" altLang="zh-CN" sz="1600" b="1" dirty="0">
                  <a:solidFill>
                    <a:schemeClr val="tx1"/>
                  </a:solidFill>
                </a:endParaRPr>
              </a:p>
              <a:p>
                <a:r>
                  <a:rPr lang="en-US" altLang="zh-CN" sz="2800" b="1" dirty="0">
                    <a:solidFill>
                      <a:schemeClr val="tx1"/>
                    </a:solidFill>
                  </a:rPr>
                  <a:t>7.5.1 </a:t>
                </a:r>
                <a:r>
                  <a:rPr lang="zh-CN" altLang="en-US" sz="2800" b="1" dirty="0">
                    <a:solidFill>
                      <a:schemeClr val="tx1"/>
                    </a:solidFill>
                  </a:rPr>
                  <a:t>满带和不满带</a:t>
                </a:r>
                <a:endParaRPr lang="en-US" altLang="zh-CN" sz="2800" dirty="0">
                  <a:solidFill>
                    <a:schemeClr val="tx1"/>
                  </a:solidFill>
                  <a:sym typeface="Symbol" panose="05050102010706020507" pitchFamily="18" charset="2"/>
                </a:endParaRPr>
              </a:p>
              <a:p>
                <a:endParaRPr lang="en-US" altLang="zh-CN" sz="1600" dirty="0">
                  <a:solidFill>
                    <a:schemeClr val="tx1"/>
                  </a:solidFill>
                </a:endParaRPr>
              </a:p>
              <a:p>
                <a:pPr marL="285750" indent="-285750">
                  <a:buFont typeface="Arial" panose="020B0604020202020204" pitchFamily="34" charset="0"/>
                  <a:buChar char="•"/>
                </a:pPr>
                <a:r>
                  <a:rPr lang="zh-CN" altLang="en-US" sz="2800" dirty="0">
                    <a:solidFill>
                      <a:schemeClr val="tx1"/>
                    </a:solidFill>
                  </a:rPr>
                  <a:t>填满的能带对电导无贡献</a:t>
                </a:r>
                <a:endParaRPr lang="en-US" altLang="zh-CN" sz="2800" dirty="0">
                  <a:solidFill>
                    <a:schemeClr val="tx1"/>
                  </a:solidFill>
                </a:endParaRPr>
              </a:p>
              <a:p>
                <a:r>
                  <a:rPr lang="zh-CN" altLang="en-US" sz="2400" dirty="0">
                    <a:solidFill>
                      <a:schemeClr val="tx1"/>
                    </a:solidFill>
                  </a:rPr>
                  <a:t>无外场时，第</a:t>
                </a:r>
                <a14:m>
                  <m:oMath xmlns:m="http://schemas.openxmlformats.org/officeDocument/2006/math">
                    <m:r>
                      <a:rPr lang="en-US" altLang="zh-CN" sz="2400" i="1">
                        <a:solidFill>
                          <a:schemeClr val="tx1"/>
                        </a:solidFill>
                        <a:latin typeface="Cambria Math" panose="02040503050406030204" pitchFamily="18" charset="0"/>
                      </a:rPr>
                      <m:t>𝑛</m:t>
                    </m:r>
                  </m:oMath>
                </a14:m>
                <a:r>
                  <a:rPr lang="zh-CN" altLang="en-US" sz="2400" dirty="0">
                    <a:solidFill>
                      <a:schemeClr val="tx1"/>
                    </a:solidFill>
                  </a:rPr>
                  <a:t>个满能带的电流：</a:t>
                </a:r>
                <a14:m>
                  <m:oMath xmlns:m="http://schemas.openxmlformats.org/officeDocument/2006/math">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𝑱</m:t>
                        </m:r>
                      </m:e>
                      <m:sub>
                        <m:r>
                          <a:rPr lang="en-US" altLang="zh-CN" sz="2400" b="1" i="1" smtClean="0">
                            <a:solidFill>
                              <a:schemeClr val="tx1"/>
                            </a:solidFill>
                            <a:latin typeface="Cambria Math" panose="02040503050406030204" pitchFamily="18" charset="0"/>
                          </a:rPr>
                          <m:t>𝒏</m:t>
                        </m:r>
                      </m:sub>
                    </m:sSub>
                    <m:r>
                      <a:rPr lang="en-US" altLang="zh-CN" sz="240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𝑒</m:t>
                    </m:r>
                    <m:nary>
                      <m:naryPr>
                        <m:chr m:val="∑"/>
                        <m:supHide m:val="on"/>
                        <m:ctrlPr>
                          <a:rPr lang="en-US" altLang="zh-CN" sz="2400" b="0" i="1" smtClean="0">
                            <a:solidFill>
                              <a:schemeClr val="tx1"/>
                            </a:solidFill>
                            <a:latin typeface="Cambria Math" panose="02040503050406030204" pitchFamily="18" charset="0"/>
                          </a:rPr>
                        </m:ctrlPr>
                      </m:naryPr>
                      <m:sub>
                        <m:r>
                          <m:rPr>
                            <m:brk m:alnAt="7"/>
                          </m:rPr>
                          <a:rPr lang="en-US" altLang="zh-CN" sz="2400" b="1" i="1" smtClean="0">
                            <a:solidFill>
                              <a:schemeClr val="tx1"/>
                            </a:solidFill>
                            <a:latin typeface="Cambria Math" panose="02040503050406030204" pitchFamily="18" charset="0"/>
                          </a:rPr>
                          <m:t>𝒌</m:t>
                        </m:r>
                      </m:sub>
                      <m:sup/>
                      <m:e>
                        <m:sSub>
                          <m:sSubPr>
                            <m:ctrlPr>
                              <a:rPr lang="en-US" altLang="zh-CN" sz="2400" b="0"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𝒗</m:t>
                            </m:r>
                          </m:e>
                          <m:sub>
                            <m:r>
                              <a:rPr lang="en-US" altLang="zh-CN" sz="2400" b="0" i="1" smtClean="0">
                                <a:solidFill>
                                  <a:schemeClr val="tx1"/>
                                </a:solidFill>
                                <a:latin typeface="Cambria Math" panose="02040503050406030204" pitchFamily="18" charset="0"/>
                              </a:rPr>
                              <m:t>𝑛</m:t>
                            </m:r>
                          </m:sub>
                        </m:sSub>
                        <m:d>
                          <m:dPr>
                            <m:ctrlPr>
                              <a:rPr lang="en-US" altLang="zh-CN" sz="2400" b="0" i="1" smtClean="0">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𝒌</m:t>
                            </m:r>
                          </m:e>
                        </m:d>
                      </m:e>
                    </m:nary>
                    <m:r>
                      <a:rPr lang="en-US" altLang="zh-CN" sz="2400" b="0" i="1" smtClean="0">
                        <a:solidFill>
                          <a:schemeClr val="tx1"/>
                        </a:solidFill>
                        <a:latin typeface="Cambria Math" panose="02040503050406030204" pitchFamily="18" charset="0"/>
                      </a:rPr>
                      <m:t>=0</m:t>
                    </m:r>
                  </m:oMath>
                </a14:m>
                <a:r>
                  <a:rPr lang="en-US" altLang="zh-CN" sz="2400" dirty="0">
                    <a:solidFill>
                      <a:schemeClr val="tx1"/>
                    </a:solidFill>
                  </a:rPr>
                  <a:t>  [</a:t>
                </a:r>
                <a:r>
                  <a:rPr lang="zh-CN" altLang="en-US" sz="2400" dirty="0">
                    <a:solidFill>
                      <a:schemeClr val="tx1"/>
                    </a:solidFill>
                  </a:rPr>
                  <a:t>因为</a:t>
                </a:r>
                <a14:m>
                  <m:oMath xmlns:m="http://schemas.openxmlformats.org/officeDocument/2006/math">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i="1">
                            <a:solidFill>
                              <a:schemeClr val="tx1"/>
                            </a:solidFill>
                            <a:latin typeface="Cambria Math" panose="02040503050406030204" pitchFamily="18" charset="0"/>
                          </a:rPr>
                          <m:t>𝑛</m:t>
                        </m:r>
                      </m:sub>
                    </m:sSub>
                    <m:d>
                      <m:dPr>
                        <m:ctrlPr>
                          <a:rPr lang="en-US" altLang="zh-CN" sz="2400"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r>
                      <a:rPr lang="en-US" altLang="zh-CN" sz="240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i="1">
                            <a:solidFill>
                              <a:schemeClr val="tx1"/>
                            </a:solidFill>
                            <a:latin typeface="Cambria Math" panose="02040503050406030204" pitchFamily="18" charset="0"/>
                          </a:rPr>
                          <m:t>𝑛</m:t>
                        </m:r>
                      </m:sub>
                    </m:sSub>
                    <m:d>
                      <m:dPr>
                        <m:ctrlPr>
                          <a:rPr lang="en-US" altLang="zh-CN" sz="2400" i="1">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𝒌</m:t>
                        </m:r>
                      </m:e>
                    </m:d>
                  </m:oMath>
                </a14:m>
                <a:r>
                  <a:rPr lang="en-US" altLang="zh-CN" sz="2400" dirty="0">
                    <a:solidFill>
                      <a:schemeClr val="tx1"/>
                    </a:solidFill>
                  </a:rPr>
                  <a:t>]</a:t>
                </a:r>
              </a:p>
              <a:p>
                <a:r>
                  <a:rPr lang="zh-CN" altLang="en-US" sz="2400" dirty="0">
                    <a:solidFill>
                      <a:schemeClr val="tx1"/>
                    </a:solidFill>
                  </a:rPr>
                  <a:t>有外场时，</a:t>
                </a:r>
                <a14:m>
                  <m:oMath xmlns:m="http://schemas.openxmlformats.org/officeDocument/2006/math">
                    <m:f>
                      <m:fPr>
                        <m:ctrlPr>
                          <a:rPr lang="en-US" altLang="zh-CN" sz="2400" i="1">
                            <a:solidFill>
                              <a:schemeClr val="tx1"/>
                            </a:solidFill>
                            <a:latin typeface="Cambria Math" panose="02040503050406030204" pitchFamily="18" charset="0"/>
                          </a:rPr>
                        </m:ctrlPr>
                      </m:fPr>
                      <m:num>
                        <m:r>
                          <m:rPr>
                            <m:brk m:alnAt="7"/>
                          </m:rPr>
                          <a:rPr lang="en-US" altLang="zh-CN" sz="2400" i="1">
                            <a:solidFill>
                              <a:schemeClr val="tx1"/>
                            </a:solidFill>
                            <a:latin typeface="Cambria Math" panose="02040503050406030204" pitchFamily="18" charset="0"/>
                          </a:rPr>
                          <m:t>𝑑</m:t>
                        </m:r>
                        <m:sSup>
                          <m:sSupPr>
                            <m:ctrlPr>
                              <a:rPr lang="en-US" altLang="zh-CN" sz="2400"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𝒌</m:t>
                            </m:r>
                          </m:e>
                          <m:sup>
                            <m:r>
                              <a:rPr lang="en-US" altLang="zh-CN" sz="2400" i="1" dirty="0">
                                <a:solidFill>
                                  <a:schemeClr val="tx1"/>
                                </a:solidFill>
                                <a:latin typeface="Cambria Math" panose="02040503050406030204" pitchFamily="18" charset="0"/>
                              </a:rPr>
                              <m:t> </m:t>
                            </m:r>
                          </m:sup>
                        </m:sSup>
                      </m:num>
                      <m:den>
                        <m:r>
                          <m:rPr>
                            <m:brk m:alnAt="7"/>
                          </m:rPr>
                          <a:rPr lang="en-US" altLang="zh-CN" sz="2400" i="1">
                            <a:solidFill>
                              <a:schemeClr val="tx1"/>
                            </a:solidFill>
                            <a:latin typeface="Cambria Math" panose="02040503050406030204" pitchFamily="18" charset="0"/>
                          </a:rPr>
                          <m:t>𝑑</m:t>
                        </m:r>
                        <m:r>
                          <a:rPr lang="en-US" altLang="zh-CN" sz="2400" i="1">
                            <a:solidFill>
                              <a:schemeClr val="tx1"/>
                            </a:solidFill>
                            <a:latin typeface="Cambria Math" panose="02040503050406030204" pitchFamily="18" charset="0"/>
                          </a:rPr>
                          <m:t>𝑡</m:t>
                        </m:r>
                      </m:den>
                    </m:f>
                    <m:r>
                      <a:rPr lang="en-US" altLang="zh-CN" sz="2400" i="1">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1</m:t>
                        </m:r>
                      </m:num>
                      <m:den>
                        <m:r>
                          <a:rPr lang="en-US" altLang="zh-CN" sz="2400" i="1" dirty="0">
                            <a:solidFill>
                              <a:schemeClr val="tx1"/>
                            </a:solidFill>
                            <a:latin typeface="Cambria Math" panose="02040503050406030204" pitchFamily="18" charset="0"/>
                          </a:rPr>
                          <m:t>ħ</m:t>
                        </m:r>
                      </m:den>
                    </m:f>
                    <m:d>
                      <m:dPr>
                        <m:ctrlPr>
                          <a:rPr lang="en-US" altLang="zh-CN" sz="2400" b="0" i="1" smtClean="0">
                            <a:solidFill>
                              <a:schemeClr val="tx1"/>
                            </a:solidFill>
                            <a:latin typeface="Cambria Math" panose="02040503050406030204" pitchFamily="18" charset="0"/>
                          </a:rPr>
                        </m:ctrlPr>
                      </m:dPr>
                      <m:e>
                        <m:r>
                          <a:rPr lang="en-US" altLang="zh-CN" sz="2400" b="0" i="0" smtClean="0">
                            <a:solidFill>
                              <a:schemeClr val="tx1"/>
                            </a:solidFill>
                            <a:latin typeface="Cambria Math" panose="02040503050406030204" pitchFamily="18" charset="0"/>
                          </a:rPr>
                          <m:t>−</m:t>
                        </m:r>
                        <m:r>
                          <m:rPr>
                            <m:sty m:val="p"/>
                          </m:rPr>
                          <a:rPr lang="en-US" altLang="zh-CN" sz="2400" b="0" i="0" smtClean="0">
                            <a:solidFill>
                              <a:schemeClr val="tx1"/>
                            </a:solidFill>
                            <a:latin typeface="Cambria Math" panose="02040503050406030204" pitchFamily="18" charset="0"/>
                          </a:rPr>
                          <m:t>e</m:t>
                        </m:r>
                        <m:r>
                          <a:rPr lang="en-US" altLang="zh-CN" sz="2400" b="1" i="0" smtClean="0">
                            <a:solidFill>
                              <a:schemeClr val="tx1"/>
                            </a:solidFill>
                            <a:latin typeface="Cambria Math" panose="02040503050406030204" pitchFamily="18" charset="0"/>
                          </a:rPr>
                          <m:t>𝐄</m:t>
                        </m:r>
                      </m:e>
                    </m:d>
                    <m:r>
                      <a:rPr lang="en-US" altLang="zh-CN" sz="2400" b="1" i="0" smtClean="0">
                        <a:solidFill>
                          <a:schemeClr val="tx1"/>
                        </a:solidFill>
                        <a:latin typeface="Cambria Math" panose="02040503050406030204" pitchFamily="18" charset="0"/>
                      </a:rPr>
                      <m:t>=</m:t>
                    </m:r>
                    <m:r>
                      <m:rPr>
                        <m:sty m:val="p"/>
                      </m:rPr>
                      <a:rPr lang="en-US" altLang="zh-CN" sz="2400" b="0" i="0" smtClean="0">
                        <a:solidFill>
                          <a:schemeClr val="tx1"/>
                        </a:solidFill>
                        <a:latin typeface="Cambria Math" panose="02040503050406030204" pitchFamily="18" charset="0"/>
                      </a:rPr>
                      <m:t>c</m:t>
                    </m:r>
                  </m:oMath>
                </a14:m>
                <a:r>
                  <a:rPr lang="en-US" altLang="zh-CN" sz="2400" dirty="0">
                    <a:solidFill>
                      <a:schemeClr val="tx1"/>
                    </a:solidFill>
                  </a:rPr>
                  <a:t>   </a:t>
                </a:r>
              </a:p>
              <a:p>
                <a:r>
                  <a:rPr lang="zh-CN" altLang="en-US" sz="2400" dirty="0">
                    <a:solidFill>
                      <a:schemeClr val="tx1"/>
                    </a:solidFill>
                  </a:rPr>
                  <a:t>即：所有电子在</a:t>
                </a:r>
                <a14:m>
                  <m:oMath xmlns:m="http://schemas.openxmlformats.org/officeDocument/2006/math">
                    <m:r>
                      <a:rPr lang="en-US" altLang="zh-CN" sz="2400" b="1" i="1">
                        <a:solidFill>
                          <a:schemeClr val="tx1"/>
                        </a:solidFill>
                        <a:latin typeface="Cambria Math" panose="02040503050406030204" pitchFamily="18" charset="0"/>
                      </a:rPr>
                      <m:t>𝒌</m:t>
                    </m:r>
                  </m:oMath>
                </a14:m>
                <a:r>
                  <a:rPr lang="zh-CN" altLang="en-US" sz="2400" dirty="0">
                    <a:solidFill>
                      <a:schemeClr val="tx1"/>
                    </a:solidFill>
                  </a:rPr>
                  <a:t>空间同步漂移，能带填充情况不变，</a:t>
                </a:r>
                <a14:m>
                  <m:oMath xmlns:m="http://schemas.openxmlformats.org/officeDocument/2006/math">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𝑱</m:t>
                        </m:r>
                      </m:e>
                      <m:sub>
                        <m:r>
                          <a:rPr lang="en-US" altLang="zh-CN" sz="2400" i="1">
                            <a:solidFill>
                              <a:schemeClr val="tx1"/>
                            </a:solidFill>
                            <a:latin typeface="Cambria Math" panose="02040503050406030204" pitchFamily="18" charset="0"/>
                          </a:rPr>
                          <m:t>𝑛</m:t>
                        </m:r>
                      </m:sub>
                    </m:sSub>
                    <m:r>
                      <a:rPr lang="en-US" altLang="zh-CN" sz="2400" i="1">
                        <a:solidFill>
                          <a:schemeClr val="tx1"/>
                        </a:solidFill>
                        <a:latin typeface="Cambria Math" panose="02040503050406030204" pitchFamily="18" charset="0"/>
                      </a:rPr>
                      <m:t>=</m:t>
                    </m:r>
                    <m:r>
                      <a:rPr lang="en-US" altLang="zh-CN" sz="2400" i="1" smtClean="0">
                        <a:solidFill>
                          <a:schemeClr val="tx1"/>
                        </a:solidFill>
                        <a:latin typeface="Cambria Math" panose="02040503050406030204" pitchFamily="18" charset="0"/>
                      </a:rPr>
                      <m:t>0</m:t>
                    </m:r>
                  </m:oMath>
                </a14:m>
                <a:endParaRPr lang="en-US" altLang="zh-CN" sz="2400" dirty="0">
                  <a:solidFill>
                    <a:schemeClr val="tx1"/>
                  </a:solidFill>
                </a:endParaRPr>
              </a:p>
              <a:p>
                <a:endParaRPr lang="en-US" altLang="zh-CN" sz="1600" dirty="0">
                  <a:solidFill>
                    <a:schemeClr val="tx1"/>
                  </a:solidFill>
                </a:endParaRPr>
              </a:p>
              <a:p>
                <a:pPr marL="285750" indent="-285750">
                  <a:buFont typeface="Arial" panose="020B0604020202020204" pitchFamily="34" charset="0"/>
                  <a:buChar char="•"/>
                </a:pPr>
                <a:r>
                  <a:rPr lang="zh-CN" altLang="en-US" sz="2800" dirty="0">
                    <a:solidFill>
                      <a:schemeClr val="tx1"/>
                    </a:solidFill>
                  </a:rPr>
                  <a:t>不满带</a:t>
                </a:r>
                <a:endParaRPr lang="en-US" altLang="zh-CN" sz="2800" dirty="0">
                  <a:solidFill>
                    <a:schemeClr val="tx1"/>
                  </a:solidFill>
                </a:endParaRPr>
              </a:p>
              <a:p>
                <a:pPr/>
                <a14:m>
                  <m:oMathPara xmlns:m="http://schemas.openxmlformats.org/officeDocument/2006/math">
                    <m:oMathParaPr>
                      <m:jc m:val="left"/>
                    </m:oMathParaPr>
                    <m:oMath xmlns:m="http://schemas.openxmlformats.org/officeDocument/2006/math">
                      <m:sSub>
                        <m:sSubPr>
                          <m:ctrlPr>
                            <a:rPr lang="en-US"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𝑱</m:t>
                          </m:r>
                        </m:e>
                        <m:sub>
                          <m:r>
                            <a:rPr lang="en-US" altLang="zh-CN" sz="2000" b="1" i="1">
                              <a:solidFill>
                                <a:schemeClr val="tx1"/>
                              </a:solidFill>
                              <a:latin typeface="Cambria Math" panose="02040503050406030204" pitchFamily="18" charset="0"/>
                            </a:rPr>
                            <m:t>𝒏</m:t>
                          </m:r>
                        </m:sub>
                      </m:sSub>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𝑒</m:t>
                      </m:r>
                      <m:nary>
                        <m:naryPr>
                          <m:chr m:val="∑"/>
                          <m:supHide m:val="on"/>
                          <m:ctrlPr>
                            <a:rPr lang="en-US" altLang="zh-CN" sz="2000" i="1">
                              <a:solidFill>
                                <a:schemeClr val="tx1"/>
                              </a:solidFill>
                              <a:latin typeface="Cambria Math" panose="02040503050406030204" pitchFamily="18" charset="0"/>
                            </a:rPr>
                          </m:ctrlPr>
                        </m:naryPr>
                        <m:sub>
                          <m:r>
                            <m:rPr>
                              <m:brk m:alnAt="7"/>
                            </m:rPr>
                            <a:rPr lang="en-US" altLang="zh-CN" sz="2000" b="1" i="1">
                              <a:solidFill>
                                <a:schemeClr val="tx1"/>
                              </a:solidFill>
                              <a:latin typeface="Cambria Math" panose="02040503050406030204" pitchFamily="18" charset="0"/>
                            </a:rPr>
                            <m:t>𝒌</m:t>
                          </m:r>
                        </m:sub>
                        <m:sup/>
                        <m:e>
                          <m:sSub>
                            <m:sSubPr>
                              <m:ctrlPr>
                                <a:rPr lang="en-US" altLang="zh-CN" sz="2000"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i="1">
                                  <a:solidFill>
                                    <a:schemeClr val="tx1"/>
                                  </a:solidFill>
                                  <a:latin typeface="Cambria Math" panose="02040503050406030204" pitchFamily="18" charset="0"/>
                                </a:rPr>
                                <m:t>𝑛</m:t>
                              </m:r>
                            </m:sub>
                          </m:sSub>
                          <m:d>
                            <m:dPr>
                              <m:ctrlPr>
                                <a:rPr lang="en-US" altLang="zh-CN" sz="2000" i="1">
                                  <a:solidFill>
                                    <a:schemeClr val="tx1"/>
                                  </a:solidFill>
                                  <a:latin typeface="Cambria Math" panose="02040503050406030204" pitchFamily="18" charset="0"/>
                                </a:rPr>
                              </m:ctrlPr>
                            </m:dPr>
                            <m:e>
                              <m:r>
                                <a:rPr lang="en-US" altLang="zh-CN" sz="2000" b="1" i="1">
                                  <a:solidFill>
                                    <a:schemeClr val="tx1"/>
                                  </a:solidFill>
                                  <a:latin typeface="Cambria Math" panose="02040503050406030204" pitchFamily="18" charset="0"/>
                                </a:rPr>
                                <m:t>𝒌</m:t>
                              </m:r>
                            </m:e>
                          </m:d>
                        </m:e>
                      </m:nary>
                      <m:r>
                        <a:rPr lang="en-US" altLang="zh-CN" sz="2000" i="1" smtClean="0">
                          <a:solidFill>
                            <a:schemeClr val="tx1"/>
                          </a:solidFill>
                          <a:latin typeface="Cambria Math" panose="02040503050406030204" pitchFamily="18" charset="0"/>
                          <a:ea typeface="Cambria Math" panose="02040503050406030204" pitchFamily="18" charset="0"/>
                        </a:rPr>
                        <m:t>≠</m:t>
                      </m:r>
                      <m:r>
                        <a:rPr lang="en-US" altLang="zh-CN" sz="2000" i="1">
                          <a:solidFill>
                            <a:schemeClr val="tx1"/>
                          </a:solidFill>
                          <a:latin typeface="Cambria Math" panose="02040503050406030204" pitchFamily="18" charset="0"/>
                        </a:rPr>
                        <m:t>0</m:t>
                      </m:r>
                      <m:r>
                        <a:rPr lang="en-US" altLang="zh-CN" sz="2000" b="0" i="0" smtClean="0">
                          <a:solidFill>
                            <a:schemeClr val="tx1"/>
                          </a:solidFill>
                          <a:latin typeface="Cambria Math"/>
                        </a:rPr>
                        <m:t>     </m:t>
                      </m:r>
                    </m:oMath>
                  </m:oMathPara>
                </a14:m>
                <a:endParaRPr lang="en-US" altLang="zh-CN" sz="2000" dirty="0">
                  <a:solidFill>
                    <a:schemeClr val="tx1"/>
                  </a:solidFill>
                </a:endParaRPr>
              </a:p>
              <a:p>
                <a:r>
                  <a:rPr lang="zh-CN" altLang="en-US" sz="2000" dirty="0">
                    <a:solidFill>
                      <a:schemeClr val="tx1"/>
                    </a:solidFill>
                  </a:rPr>
                  <a:t>问题：</a:t>
                </a:r>
                <a14:m>
                  <m:oMath xmlns:m="http://schemas.openxmlformats.org/officeDocument/2006/math">
                    <m:sSub>
                      <m:sSubPr>
                        <m:ctrlPr>
                          <a:rPr lang="en-US"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𝑱</m:t>
                        </m:r>
                      </m:e>
                      <m:sub>
                        <m:r>
                          <a:rPr lang="en-US" altLang="zh-CN" sz="2000" b="1" i="1">
                            <a:solidFill>
                              <a:schemeClr val="tx1"/>
                            </a:solidFill>
                            <a:latin typeface="Cambria Math" panose="02040503050406030204" pitchFamily="18" charset="0"/>
                          </a:rPr>
                          <m:t>𝒏</m:t>
                        </m:r>
                      </m:sub>
                    </m:sSub>
                  </m:oMath>
                </a14:m>
                <a:r>
                  <a:rPr lang="zh-CN" altLang="en-US" sz="2000" dirty="0">
                    <a:solidFill>
                      <a:schemeClr val="tx1"/>
                    </a:solidFill>
                  </a:rPr>
                  <a:t>永远单调上升？导体中稳定电流是如何形成的？</a:t>
                </a:r>
                <a:endParaRPr lang="en-US" altLang="zh-CN" sz="2000" dirty="0">
                  <a:solidFill>
                    <a:schemeClr val="tx1"/>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128040" y="1571023"/>
                <a:ext cx="11419560" cy="5529784"/>
              </a:xfrm>
              <a:prstGeom prst="rect">
                <a:avLst/>
              </a:prstGeom>
              <a:blipFill rotWithShape="1">
                <a:blip r:embed="rId3"/>
                <a:stretch>
                  <a:fillRect l="-1068" t="-11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29058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3680465" y="1020848"/>
                <a:ext cx="5336535"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.5 </a:t>
                </a:r>
                <a:r>
                  <a:rPr lang="zh-CN" altLang="en-US" sz="2800" dirty="0">
                    <a:solidFill>
                      <a:schemeClr val="tx1"/>
                    </a:solidFill>
                  </a:rPr>
                  <a:t>能带填充和固体的导电性</a:t>
                </a:r>
              </a:p>
            </p:txBody>
          </p:sp>
        </mc:Choice>
        <mc:Fallback xmlns="">
          <p:sp>
            <p:nvSpPr>
              <p:cNvPr id="7" name="文本框 6"/>
              <p:cNvSpPr txBox="1">
                <a:spLocks noRot="1" noChangeAspect="1" noMove="1" noResize="1" noEditPoints="1" noAdjustHandles="1" noChangeArrowheads="1" noChangeShapeType="1" noTextEdit="1"/>
              </p:cNvSpPr>
              <p:nvPr/>
            </p:nvSpPr>
            <p:spPr>
              <a:xfrm>
                <a:off x="3680465" y="1020848"/>
                <a:ext cx="5336535" cy="523220"/>
              </a:xfrm>
              <a:prstGeom prst="rect">
                <a:avLst/>
              </a:prstGeom>
              <a:blipFill rotWithShape="1">
                <a:blip r:embed="rId2"/>
                <a:stretch>
                  <a:fillRect t="-13953" b="-29070"/>
                </a:stretch>
              </a:blipFill>
            </p:spPr>
            <p:txBody>
              <a:bodyPr/>
              <a:lstStyle/>
              <a:p>
                <a:r>
                  <a:rPr lang="zh-CN" altLang="en-US">
                    <a:noFill/>
                  </a:rPr>
                  <a:t> </a:t>
                </a:r>
              </a:p>
            </p:txBody>
          </p:sp>
        </mc:Fallback>
      </mc:AlternateContent>
      <p:pic>
        <p:nvPicPr>
          <p:cNvPr id="8" name="图片 7"/>
          <p:cNvPicPr>
            <a:picLocks noChangeAspect="1"/>
          </p:cNvPicPr>
          <p:nvPr/>
        </p:nvPicPr>
        <p:blipFill rotWithShape="1">
          <a:blip r:embed="rId3"/>
          <a:srcRect t="50000"/>
          <a:stretch/>
        </p:blipFill>
        <p:spPr>
          <a:xfrm>
            <a:off x="5739132" y="1908070"/>
            <a:ext cx="6777922" cy="4106383"/>
          </a:xfrm>
          <a:prstGeom prst="rect">
            <a:avLst/>
          </a:prstGeom>
        </p:spPr>
      </p:pic>
      <p:pic>
        <p:nvPicPr>
          <p:cNvPr id="2" name="图片 1"/>
          <p:cNvPicPr>
            <a:picLocks noChangeAspect="1"/>
          </p:cNvPicPr>
          <p:nvPr/>
        </p:nvPicPr>
        <p:blipFill rotWithShape="1">
          <a:blip r:embed="rId3"/>
          <a:srcRect b="50000"/>
          <a:stretch/>
        </p:blipFill>
        <p:spPr>
          <a:xfrm>
            <a:off x="30983" y="1802189"/>
            <a:ext cx="6777922" cy="4106382"/>
          </a:xfrm>
          <a:prstGeom prst="rect">
            <a:avLst/>
          </a:prstGeom>
        </p:spPr>
      </p:pic>
    </p:spTree>
    <p:extLst>
      <p:ext uri="{BB962C8B-B14F-4D97-AF65-F5344CB8AC3E}">
        <p14:creationId xmlns:p14="http://schemas.microsoft.com/office/powerpoint/2010/main" val="58587887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134086"/>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mc:Choice xmlns:a14="http://schemas.microsoft.com/office/drawing/2010/main" Requires="a14">
          <p:sp>
            <p:nvSpPr>
              <p:cNvPr id="7" name="文本框 6"/>
              <p:cNvSpPr txBox="1"/>
              <p:nvPr/>
            </p:nvSpPr>
            <p:spPr>
              <a:xfrm>
                <a:off x="3572344" y="718861"/>
                <a:ext cx="5323835"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.5 </a:t>
                </a:r>
                <a:r>
                  <a:rPr lang="zh-CN" altLang="en-US" sz="2800" dirty="0">
                    <a:solidFill>
                      <a:schemeClr val="tx1"/>
                    </a:solidFill>
                  </a:rPr>
                  <a:t>能带填充和固体的导电性</a:t>
                </a:r>
              </a:p>
            </p:txBody>
          </p:sp>
        </mc:Choice>
        <mc:Fallback>
          <p:sp>
            <p:nvSpPr>
              <p:cNvPr id="7" name="文本框 6"/>
              <p:cNvSpPr txBox="1">
                <a:spLocks noRot="1" noChangeAspect="1" noMove="1" noResize="1" noEditPoints="1" noAdjustHandles="1" noChangeArrowheads="1" noChangeShapeType="1" noTextEdit="1"/>
              </p:cNvSpPr>
              <p:nvPr/>
            </p:nvSpPr>
            <p:spPr>
              <a:xfrm>
                <a:off x="3572344" y="718861"/>
                <a:ext cx="5323835" cy="523220"/>
              </a:xfrm>
              <a:prstGeom prst="rect">
                <a:avLst/>
              </a:prstGeom>
              <a:blipFill>
                <a:blip r:embed="rId2"/>
                <a:stretch>
                  <a:fillRect t="-12791" b="-313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53082" y="1242081"/>
                <a:ext cx="10762357" cy="5300234"/>
              </a:xfrm>
              <a:prstGeom prst="rect">
                <a:avLst/>
              </a:prstGeom>
              <a:noFill/>
            </p:spPr>
            <p:txBody>
              <a:bodyPr wrap="square" rtlCol="0">
                <a:spAutoFit/>
              </a:bodyPr>
              <a:lstStyle/>
              <a:p>
                <a:r>
                  <a:rPr lang="en-US" altLang="zh-CN" sz="2800" b="1" dirty="0">
                    <a:solidFill>
                      <a:schemeClr val="tx1"/>
                    </a:solidFill>
                  </a:rPr>
                  <a:t>7.5.2 </a:t>
                </a:r>
                <a:r>
                  <a:rPr lang="zh-CN" altLang="en-US" sz="2800" b="1" dirty="0">
                    <a:solidFill>
                      <a:schemeClr val="tx1"/>
                    </a:solidFill>
                  </a:rPr>
                  <a:t>绝缘体、导体和半导体</a:t>
                </a:r>
                <a:endParaRPr lang="en-US" altLang="zh-CN" sz="2800" dirty="0">
                  <a:solidFill>
                    <a:schemeClr val="tx1"/>
                  </a:solidFill>
                </a:endParaRPr>
              </a:p>
              <a:p>
                <a:pPr marL="285750" indent="-285750">
                  <a:buFont typeface="Arial" panose="020B0604020202020204" pitchFamily="34" charset="0"/>
                  <a:buChar char="•"/>
                </a:pPr>
                <a:endParaRPr lang="en-US" altLang="zh-CN" sz="1600" dirty="0">
                  <a:solidFill>
                    <a:schemeClr val="tx1"/>
                  </a:solidFill>
                </a:endParaRPr>
              </a:p>
              <a:p>
                <a:r>
                  <a:rPr lang="zh-CN" altLang="en-US" sz="2400" dirty="0">
                    <a:solidFill>
                      <a:schemeClr val="tx1"/>
                    </a:solidFill>
                  </a:rPr>
                  <a:t>原子内层电子是全满的，对应的能带也是全满的，对电导无贡献！</a:t>
                </a:r>
                <a:endParaRPr lang="en-US" altLang="zh-CN" sz="2400" dirty="0">
                  <a:solidFill>
                    <a:schemeClr val="tx1"/>
                  </a:solidFill>
                </a:endParaRPr>
              </a:p>
              <a:p>
                <a:r>
                  <a:rPr lang="zh-CN" altLang="en-US" sz="2400" dirty="0">
                    <a:solidFill>
                      <a:schemeClr val="tx1"/>
                    </a:solidFill>
                  </a:rPr>
                  <a:t>原子的价电子对应晶体的价带：</a:t>
                </a:r>
                <a:endParaRPr lang="en-US" altLang="zh-CN" sz="2400" dirty="0">
                  <a:solidFill>
                    <a:schemeClr val="tx1"/>
                  </a:solidFill>
                </a:endParaRPr>
              </a:p>
              <a:p>
                <a:r>
                  <a:rPr lang="en-US" altLang="zh-CN" sz="2400" dirty="0">
                    <a:solidFill>
                      <a:schemeClr val="tx1"/>
                    </a:solidFill>
                  </a:rPr>
                  <a:t>	</a:t>
                </a:r>
                <a:r>
                  <a:rPr lang="zh-CN" altLang="en-US" sz="2400" dirty="0">
                    <a:solidFill>
                      <a:schemeClr val="tx1"/>
                    </a:solidFill>
                  </a:rPr>
                  <a:t>价带是满带，绝缘体</a:t>
                </a:r>
                <a:endParaRPr lang="en-US" altLang="zh-CN" sz="2400" dirty="0">
                  <a:solidFill>
                    <a:schemeClr val="tx1"/>
                  </a:solidFill>
                </a:endParaRPr>
              </a:p>
              <a:p>
                <a:r>
                  <a:rPr lang="en-US" altLang="zh-CN" sz="2400" dirty="0">
                    <a:solidFill>
                      <a:schemeClr val="tx1"/>
                    </a:solidFill>
                  </a:rPr>
                  <a:t>	</a:t>
                </a:r>
                <a:r>
                  <a:rPr lang="zh-CN" altLang="en-US" sz="2400" dirty="0">
                    <a:solidFill>
                      <a:schemeClr val="tx1"/>
                    </a:solidFill>
                  </a:rPr>
                  <a:t>价带是不满带，导体</a:t>
                </a:r>
                <a:endParaRPr lang="en-US" altLang="zh-CN" sz="2400" dirty="0">
                  <a:solidFill>
                    <a:schemeClr val="tx1"/>
                  </a:solidFill>
                </a:endParaRPr>
              </a:p>
              <a:p>
                <a:r>
                  <a:rPr lang="zh-CN" altLang="en-US" sz="2400" dirty="0">
                    <a:solidFill>
                      <a:schemeClr val="tx1"/>
                    </a:solidFill>
                  </a:rPr>
                  <a:t>空穴：</a:t>
                </a:r>
                <a:endParaRPr lang="en-US" altLang="zh-CN" sz="2400" dirty="0">
                  <a:solidFill>
                    <a:schemeClr val="tx1"/>
                  </a:solidFill>
                </a:endParaRPr>
              </a:p>
              <a:p>
                <a:r>
                  <a:rPr lang="zh-CN" altLang="en-US" sz="2400" dirty="0">
                    <a:solidFill>
                      <a:schemeClr val="tx1"/>
                    </a:solidFill>
                  </a:rPr>
                  <a:t>设在某能带顶部，有一个</a:t>
                </a:r>
                <a14:m>
                  <m:oMath xmlns:m="http://schemas.openxmlformats.org/officeDocument/2006/math">
                    <m:r>
                      <a:rPr lang="en-US" altLang="zh-CN" sz="2400" b="1" i="1">
                        <a:solidFill>
                          <a:schemeClr val="tx1"/>
                        </a:solidFill>
                        <a:latin typeface="Cambria Math" panose="02040503050406030204" pitchFamily="18" charset="0"/>
                      </a:rPr>
                      <m:t>𝒌</m:t>
                    </m:r>
                  </m:oMath>
                </a14:m>
                <a:r>
                  <a:rPr lang="zh-CN" altLang="en-US" sz="2400" dirty="0">
                    <a:solidFill>
                      <a:schemeClr val="tx1"/>
                    </a:solidFill>
                  </a:rPr>
                  <a:t>电子缺失，其电流：</a:t>
                </a:r>
                <a:endParaRPr lang="en-US" altLang="zh-CN" sz="2400" dirty="0">
                  <a:solidFill>
                    <a:schemeClr val="tx1"/>
                  </a:solidFill>
                </a:endParaRPr>
              </a:p>
              <a:p>
                <a:pPr/>
                <a14:m>
                  <m:oMathPara xmlns:m="http://schemas.openxmlformats.org/officeDocument/2006/math">
                    <m:oMathParaPr>
                      <m:jc m:val="left"/>
                    </m:oMathParaPr>
                    <m:oMath xmlns:m="http://schemas.openxmlformats.org/officeDocument/2006/math">
                      <m:r>
                        <a:rPr lang="en-US" altLang="zh-CN" sz="2400" b="1" i="1" smtClean="0">
                          <a:solidFill>
                            <a:schemeClr val="tx1"/>
                          </a:solidFill>
                          <a:latin typeface="Cambria Math" panose="02040503050406030204" pitchFamily="18" charset="0"/>
                        </a:rPr>
                        <m:t>𝑱</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𝑒</m:t>
                      </m:r>
                      <m:nary>
                        <m:naryPr>
                          <m:chr m:val="∑"/>
                          <m:limLoc m:val="subSup"/>
                          <m:ctrlPr>
                            <a:rPr lang="en-US" altLang="zh-CN" sz="2400" i="1" smtClean="0">
                              <a:solidFill>
                                <a:schemeClr val="tx1"/>
                              </a:solidFill>
                              <a:latin typeface="Cambria Math" panose="02040503050406030204" pitchFamily="18" charset="0"/>
                            </a:rPr>
                          </m:ctrlPr>
                        </m:naryPr>
                        <m:sub>
                          <m:sSup>
                            <m:sSupPr>
                              <m:ctrlPr>
                                <a:rPr lang="en-US" altLang="zh-CN" sz="2400" b="0" i="1" smtClean="0">
                                  <a:solidFill>
                                    <a:schemeClr val="tx1"/>
                                  </a:solidFill>
                                  <a:latin typeface="Cambria Math" panose="02040503050406030204" pitchFamily="18" charset="0"/>
                                </a:rPr>
                              </m:ctrlPr>
                            </m:sSupPr>
                            <m:e>
                              <m:r>
                                <m:rPr>
                                  <m:brk m:alnAt="25"/>
                                </m:rPr>
                                <a:rPr lang="en-US" altLang="zh-CN" sz="2400" b="0" i="1" smtClean="0">
                                  <a:solidFill>
                                    <a:schemeClr val="tx1"/>
                                  </a:solidFill>
                                  <a:latin typeface="Cambria Math" panose="02040503050406030204" pitchFamily="18" charset="0"/>
                                </a:rPr>
                                <m:t>𝑘</m:t>
                              </m:r>
                            </m:e>
                            <m:sup>
                              <m:r>
                                <a:rPr lang="en-US" altLang="zh-CN" sz="2400" b="0" i="1" smtClean="0">
                                  <a:solidFill>
                                    <a:schemeClr val="tx1"/>
                                  </a:solidFill>
                                  <a:latin typeface="Cambria Math" panose="02040503050406030204" pitchFamily="18" charset="0"/>
                                </a:rPr>
                                <m:t>′</m:t>
                              </m:r>
                            </m:sup>
                          </m:sSup>
                        </m:sub>
                        <m:sup>
                          <m:r>
                            <a:rPr lang="en-US" altLang="zh-CN" sz="2400" b="0" i="1" smtClean="0">
                              <a:solidFill>
                                <a:schemeClr val="tx1"/>
                              </a:solidFill>
                              <a:latin typeface="Cambria Math" panose="02040503050406030204" pitchFamily="18" charset="0"/>
                            </a:rPr>
                            <m:t>′</m:t>
                          </m:r>
                        </m:sup>
                        <m:e>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0" i="1" smtClean="0">
                                  <a:solidFill>
                                    <a:schemeClr val="tx1"/>
                                  </a:solidFill>
                                  <a:latin typeface="Cambria Math" panose="02040503050406030204" pitchFamily="18" charset="0"/>
                                </a:rPr>
                                <m:t> </m:t>
                              </m:r>
                            </m:sub>
                          </m:sSub>
                          <m:d>
                            <m:dPr>
                              <m:ctrlPr>
                                <a:rPr lang="en-US" altLang="zh-CN" sz="2400" i="1">
                                  <a:solidFill>
                                    <a:schemeClr val="tx1"/>
                                  </a:solidFill>
                                  <a:latin typeface="Cambria Math" panose="02040503050406030204" pitchFamily="18" charset="0"/>
                                </a:rPr>
                              </m:ctrlPr>
                            </m:dPr>
                            <m:e>
                              <m:sSup>
                                <m:sSupPr>
                                  <m:ctrlPr>
                                    <a:rPr lang="en-US" altLang="zh-CN" sz="2400" b="1" i="1" smtClean="0">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𝒌</m:t>
                                  </m:r>
                                </m:e>
                                <m:sup>
                                  <m:r>
                                    <a:rPr lang="en-US" altLang="zh-CN" sz="2400" b="1" i="1" smtClean="0">
                                      <a:solidFill>
                                        <a:schemeClr val="tx1"/>
                                      </a:solidFill>
                                      <a:latin typeface="Cambria Math" panose="02040503050406030204" pitchFamily="18" charset="0"/>
                                    </a:rPr>
                                    <m:t>′</m:t>
                                  </m:r>
                                </m:sup>
                              </m:sSup>
                            </m:e>
                          </m:d>
                        </m:e>
                      </m:nary>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𝑒</m:t>
                      </m:r>
                      <m:d>
                        <m:dPr>
                          <m:begChr m:val="["/>
                          <m:endChr m:val="]"/>
                          <m:ctrlPr>
                            <a:rPr lang="en-US" altLang="zh-CN" sz="2400" b="0" i="1" smtClean="0">
                              <a:solidFill>
                                <a:schemeClr val="tx1"/>
                              </a:solidFill>
                              <a:latin typeface="Cambria Math" panose="02040503050406030204" pitchFamily="18" charset="0"/>
                            </a:rPr>
                          </m:ctrlPr>
                        </m:dPr>
                        <m:e>
                          <m:nary>
                            <m:naryPr>
                              <m:chr m:val="∑"/>
                              <m:supHide m:val="on"/>
                              <m:ctrlPr>
                                <a:rPr lang="en-US" altLang="zh-CN" sz="2400" i="1">
                                  <a:solidFill>
                                    <a:schemeClr val="tx1"/>
                                  </a:solidFill>
                                  <a:latin typeface="Cambria Math" panose="02040503050406030204" pitchFamily="18" charset="0"/>
                                </a:rPr>
                              </m:ctrlPr>
                            </m:naryPr>
                            <m:sub>
                              <m:sSup>
                                <m:sSupPr>
                                  <m:ctrlPr>
                                    <a:rPr lang="en-US" altLang="zh-CN" sz="2400" b="1" i="1" smtClean="0">
                                      <a:solidFill>
                                        <a:schemeClr val="tx1"/>
                                      </a:solidFill>
                                      <a:latin typeface="Cambria Math" panose="02040503050406030204" pitchFamily="18" charset="0"/>
                                    </a:rPr>
                                  </m:ctrlPr>
                                </m:sSupPr>
                                <m:e>
                                  <m:r>
                                    <m:rPr>
                                      <m:brk m:alnAt="7"/>
                                    </m:rPr>
                                    <a:rPr lang="en-US" altLang="zh-CN" sz="2400" b="1" i="1">
                                      <a:solidFill>
                                        <a:schemeClr val="tx1"/>
                                      </a:solidFill>
                                      <a:latin typeface="Cambria Math" panose="02040503050406030204" pitchFamily="18" charset="0"/>
                                    </a:rPr>
                                    <m:t>𝒌</m:t>
                                  </m:r>
                                </m:e>
                                <m:sup>
                                  <m:r>
                                    <a:rPr lang="en-US" altLang="zh-CN" sz="2400" b="1" i="1" smtClean="0">
                                      <a:solidFill>
                                        <a:schemeClr val="tx1"/>
                                      </a:solidFill>
                                      <a:latin typeface="Cambria Math" panose="02040503050406030204" pitchFamily="18" charset="0"/>
                                    </a:rPr>
                                    <m:t>′</m:t>
                                  </m:r>
                                </m:sup>
                              </m:sSup>
                            </m:sub>
                            <m:sup/>
                            <m:e>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0" i="1" smtClean="0">
                                      <a:solidFill>
                                        <a:schemeClr val="tx1"/>
                                      </a:solidFill>
                                      <a:latin typeface="Cambria Math" panose="02040503050406030204" pitchFamily="18" charset="0"/>
                                    </a:rPr>
                                    <m:t> </m:t>
                                  </m:r>
                                </m:sub>
                              </m:sSub>
                              <m:d>
                                <m:dPr>
                                  <m:ctrlPr>
                                    <a:rPr lang="en-US" altLang="zh-CN" sz="2400" i="1">
                                      <a:solidFill>
                                        <a:schemeClr val="tx1"/>
                                      </a:solidFill>
                                      <a:latin typeface="Cambria Math" panose="02040503050406030204" pitchFamily="18" charset="0"/>
                                    </a:rPr>
                                  </m:ctrlPr>
                                </m:dPr>
                                <m:e>
                                  <m:sSup>
                                    <m:sSupPr>
                                      <m:ctrlPr>
                                        <a:rPr lang="en-US" altLang="zh-CN" sz="2400" b="1" i="1" smtClean="0">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𝒌</m:t>
                                      </m:r>
                                    </m:e>
                                    <m:sup>
                                      <m:r>
                                        <a:rPr lang="en-US" altLang="zh-CN" sz="2400" b="1" i="1" smtClean="0">
                                          <a:solidFill>
                                            <a:schemeClr val="tx1"/>
                                          </a:solidFill>
                                          <a:latin typeface="Cambria Math" panose="02040503050406030204" pitchFamily="18" charset="0"/>
                                        </a:rPr>
                                        <m:t>′</m:t>
                                      </m:r>
                                    </m:sup>
                                  </m:sSup>
                                </m:e>
                              </m:d>
                            </m:e>
                          </m:nary>
                          <m:r>
                            <a:rPr lang="en-US" altLang="zh-CN" sz="2400" b="0" i="1"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i="1">
                                  <a:solidFill>
                                    <a:schemeClr val="tx1"/>
                                  </a:solidFill>
                                  <a:latin typeface="Cambria Math" panose="02040503050406030204" pitchFamily="18" charset="0"/>
                                </a:rPr>
                                <m:t> </m:t>
                              </m:r>
                            </m:sub>
                          </m:sSub>
                          <m:d>
                            <m:dPr>
                              <m:ctrlPr>
                                <a:rPr lang="en-US" altLang="zh-CN" sz="2400" i="1">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𝒌</m:t>
                              </m:r>
                            </m:e>
                          </m:d>
                        </m:e>
                      </m:d>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𝑒</m:t>
                      </m:r>
                      <m:r>
                        <a:rPr lang="en-US" altLang="zh-CN" sz="2400" b="0" i="1" smtClean="0">
                          <a:solidFill>
                            <a:schemeClr val="tx1"/>
                          </a:solidFill>
                          <a:latin typeface="Cambria Math" panose="02040503050406030204" pitchFamily="18" charset="0"/>
                        </a:rPr>
                        <m:t> </m:t>
                      </m:r>
                      <m:sSub>
                        <m:sSubPr>
                          <m:ctrlPr>
                            <a:rPr lang="en-US" altLang="zh-CN" sz="2400"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i="1">
                              <a:solidFill>
                                <a:schemeClr val="tx1"/>
                              </a:solidFill>
                              <a:latin typeface="Cambria Math" panose="02040503050406030204" pitchFamily="18" charset="0"/>
                            </a:rPr>
                            <m:t> </m:t>
                          </m:r>
                        </m:sub>
                      </m:sSub>
                      <m:d>
                        <m:dPr>
                          <m:ctrlPr>
                            <a:rPr lang="en-US" altLang="zh-CN" sz="2400"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oMath>
                  </m:oMathPara>
                </a14:m>
                <a:endParaRPr lang="en-US" altLang="zh-CN" sz="2400" dirty="0">
                  <a:solidFill>
                    <a:schemeClr val="tx1"/>
                  </a:solidFill>
                </a:endParaRPr>
              </a:p>
              <a:p>
                <a:r>
                  <a:rPr lang="zh-CN" altLang="en-US" sz="2400" dirty="0">
                    <a:solidFill>
                      <a:schemeClr val="tx1"/>
                    </a:solidFill>
                  </a:rPr>
                  <a:t>缺失一个电子，等效于有一个正电荷在运动，此即空穴</a:t>
                </a:r>
                <a:endParaRPr lang="en-US" altLang="zh-CN" sz="2400" dirty="0">
                  <a:solidFill>
                    <a:schemeClr val="tx1"/>
                  </a:solidFill>
                </a:endParaRPr>
              </a:p>
              <a:p>
                <a:r>
                  <a:rPr lang="zh-CN" altLang="en-US" sz="2400" dirty="0">
                    <a:solidFill>
                      <a:schemeClr val="tx1"/>
                    </a:solidFill>
                  </a:rPr>
                  <a:t>空穴的加速度：</a:t>
                </a:r>
                <a:endParaRPr lang="en-US" altLang="zh-CN" sz="2400" dirty="0">
                  <a:solidFill>
                    <a:schemeClr val="tx1"/>
                  </a:solidFill>
                </a:endParaRPr>
              </a:p>
              <a:p>
                <a14:m>
                  <m:oMath xmlns:m="http://schemas.openxmlformats.org/officeDocument/2006/math">
                    <m:r>
                      <a:rPr lang="en-US" altLang="zh-CN" sz="2400" b="1" i="1" smtClean="0">
                        <a:solidFill>
                          <a:schemeClr val="tx1"/>
                        </a:solidFill>
                        <a:latin typeface="Cambria Math" panose="02040503050406030204" pitchFamily="18" charset="0"/>
                      </a:rPr>
                      <m:t>𝒂</m:t>
                    </m:r>
                    <m:r>
                      <a:rPr lang="en-US" altLang="zh-CN" sz="2400" b="0" i="1"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m:rPr>
                            <m:brk m:alnAt="7"/>
                          </m:rPr>
                          <a:rPr lang="en-US" altLang="zh-CN" sz="2400" i="1">
                            <a:solidFill>
                              <a:schemeClr val="tx1"/>
                            </a:solidFill>
                            <a:latin typeface="Cambria Math" panose="02040503050406030204" pitchFamily="18" charset="0"/>
                          </a:rPr>
                          <m:t>𝑑</m:t>
                        </m:r>
                        <m:sSup>
                          <m:sSupPr>
                            <m:ctrlPr>
                              <a:rPr lang="en-US" altLang="zh-CN" sz="2400" i="1" dirty="0">
                                <a:solidFill>
                                  <a:schemeClr val="tx1"/>
                                </a:solidFill>
                                <a:latin typeface="Cambria Math" panose="02040503050406030204" pitchFamily="18" charset="0"/>
                              </a:rPr>
                            </m:ctrlPr>
                          </m:sSupPr>
                          <m:e>
                            <m:r>
                              <a:rPr lang="en-US" altLang="zh-CN" sz="2400" b="1" i="1" dirty="0" smtClean="0">
                                <a:solidFill>
                                  <a:schemeClr val="tx1"/>
                                </a:solidFill>
                                <a:latin typeface="Cambria Math" panose="02040503050406030204" pitchFamily="18" charset="0"/>
                              </a:rPr>
                              <m:t>𝒗</m:t>
                            </m:r>
                            <m:r>
                              <a:rPr lang="en-US" altLang="zh-CN" sz="2400" b="1" i="1" dirty="0" smtClean="0">
                                <a:solidFill>
                                  <a:schemeClr val="tx1"/>
                                </a:solidFill>
                                <a:latin typeface="Cambria Math" panose="02040503050406030204" pitchFamily="18" charset="0"/>
                              </a:rPr>
                              <m:t>(</m:t>
                            </m:r>
                            <m:r>
                              <a:rPr lang="en-US" altLang="zh-CN" sz="2400" b="1" i="1" dirty="0" smtClean="0">
                                <a:solidFill>
                                  <a:schemeClr val="tx1"/>
                                </a:solidFill>
                                <a:latin typeface="Cambria Math" panose="02040503050406030204" pitchFamily="18" charset="0"/>
                              </a:rPr>
                              <m:t>𝒌</m:t>
                            </m:r>
                            <m:r>
                              <a:rPr lang="en-US" altLang="zh-CN" sz="2400" b="1" i="1" dirty="0" smtClean="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 </m:t>
                            </m:r>
                          </m:sup>
                        </m:sSup>
                      </m:num>
                      <m:den>
                        <m:r>
                          <m:rPr>
                            <m:brk m:alnAt="7"/>
                          </m:rPr>
                          <a:rPr lang="en-US" altLang="zh-CN" sz="2400" i="1">
                            <a:solidFill>
                              <a:schemeClr val="tx1"/>
                            </a:solidFill>
                            <a:latin typeface="Cambria Math" panose="02040503050406030204" pitchFamily="18" charset="0"/>
                          </a:rPr>
                          <m:t>𝑑</m:t>
                        </m:r>
                        <m:r>
                          <a:rPr lang="en-US" altLang="zh-CN" sz="2400" i="1">
                            <a:solidFill>
                              <a:schemeClr val="tx1"/>
                            </a:solidFill>
                            <a:latin typeface="Cambria Math" panose="02040503050406030204" pitchFamily="18" charset="0"/>
                          </a:rPr>
                          <m:t>𝑡</m:t>
                        </m:r>
                      </m:den>
                    </m:f>
                    <m:r>
                      <a:rPr lang="en-US" altLang="zh-CN" sz="2400" b="0" i="1"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b="1" i="1">
                            <a:solidFill>
                              <a:schemeClr val="tx1"/>
                            </a:solidFill>
                            <a:latin typeface="Cambria Math" panose="02040503050406030204" pitchFamily="18" charset="0"/>
                            <a:ea typeface="Cambria Math" panose="02040503050406030204" pitchFamily="18" charset="0"/>
                          </a:rPr>
                          <m:t>𝑭</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m:t>
                            </m:r>
                          </m:sup>
                        </m:sSup>
                      </m:den>
                    </m:f>
                    <m:r>
                      <a:rPr lang="en-US" altLang="zh-CN" sz="2400" b="0" i="1" dirty="0" smtClean="0">
                        <a:solidFill>
                          <a:schemeClr val="tx1"/>
                        </a:solidFill>
                        <a:latin typeface="Cambria Math" panose="02040503050406030204" pitchFamily="18" charset="0"/>
                      </a:rPr>
                      <m:t>=</m:t>
                    </m:r>
                  </m:oMath>
                </a14:m>
                <a:r>
                  <a:rPr lang="en-US" altLang="zh-CN" sz="2400" dirty="0">
                    <a:solidFill>
                      <a:schemeClr val="tx1"/>
                    </a:solidFill>
                  </a:rPr>
                  <a:t> </a:t>
                </a:r>
                <a14:m>
                  <m:oMath xmlns:m="http://schemas.openxmlformats.org/officeDocument/2006/math">
                    <m:f>
                      <m:fPr>
                        <m:ctrlPr>
                          <a:rPr lang="en-US" altLang="zh-CN" sz="2400" i="1" dirty="0">
                            <a:solidFill>
                              <a:schemeClr val="tx1"/>
                            </a:solidFill>
                            <a:latin typeface="Cambria Math" panose="02040503050406030204" pitchFamily="18" charset="0"/>
                          </a:rPr>
                        </m:ctrlPr>
                      </m:fPr>
                      <m:num>
                        <m:r>
                          <a:rPr lang="en-US" altLang="zh-CN" sz="2400" b="1" i="1" dirty="0" smtClean="0">
                            <a:solidFill>
                              <a:schemeClr val="tx1"/>
                            </a:solidFill>
                            <a:latin typeface="Cambria Math" panose="02040503050406030204" pitchFamily="18" charset="0"/>
                          </a:rPr>
                          <m:t>𝟏</m:t>
                        </m:r>
                      </m:num>
                      <m:den>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den>
                    </m:f>
                    <m:d>
                      <m:dPr>
                        <m:ctrlPr>
                          <a:rPr lang="en-US" altLang="zh-CN" sz="2400" b="0" i="1" dirty="0" smtClean="0">
                            <a:solidFill>
                              <a:schemeClr val="tx1"/>
                            </a:solidFill>
                            <a:latin typeface="Cambria Math" panose="02040503050406030204" pitchFamily="18" charset="0"/>
                          </a:rPr>
                        </m:ctrlPr>
                      </m:dPr>
                      <m:e>
                        <m:r>
                          <a:rPr lang="en-US" altLang="zh-CN" sz="2400" b="0" i="1" dirty="0" smtClean="0">
                            <a:solidFill>
                              <a:schemeClr val="tx1"/>
                            </a:solidFill>
                            <a:latin typeface="Cambria Math" panose="02040503050406030204" pitchFamily="18" charset="0"/>
                          </a:rPr>
                          <m:t>−</m:t>
                        </m:r>
                        <m:r>
                          <a:rPr lang="en-US" altLang="zh-CN" sz="2400" b="0" i="1" dirty="0" smtClean="0">
                            <a:solidFill>
                              <a:schemeClr val="tx1"/>
                            </a:solidFill>
                            <a:latin typeface="Cambria Math" panose="02040503050406030204" pitchFamily="18" charset="0"/>
                          </a:rPr>
                          <m:t>𝑒</m:t>
                        </m:r>
                        <m:r>
                          <a:rPr lang="en-US" altLang="zh-CN" sz="2400" b="1" i="1" dirty="0" smtClean="0">
                            <a:solidFill>
                              <a:schemeClr val="tx1"/>
                            </a:solidFill>
                            <a:latin typeface="Cambria Math" panose="02040503050406030204" pitchFamily="18" charset="0"/>
                          </a:rPr>
                          <m:t>𝑬</m:t>
                        </m:r>
                      </m:e>
                    </m:d>
                    <m:r>
                      <a:rPr lang="en-US" altLang="zh-CN" sz="2400" b="0" i="1" dirty="0" smtClean="0">
                        <a:solidFill>
                          <a:schemeClr val="tx1"/>
                        </a:solidFill>
                        <a:latin typeface="Cambria Math" panose="02040503050406030204" pitchFamily="18" charset="0"/>
                      </a:rPr>
                      <m:t>=</m:t>
                    </m:r>
                    <m:f>
                      <m:fPr>
                        <m:ctrlPr>
                          <a:rPr lang="en-US" altLang="zh-CN" sz="2400" b="0" i="1" dirty="0" smtClean="0">
                            <a:solidFill>
                              <a:schemeClr val="tx1"/>
                            </a:solidFill>
                            <a:latin typeface="Cambria Math" panose="02040503050406030204" pitchFamily="18" charset="0"/>
                          </a:rPr>
                        </m:ctrlPr>
                      </m:fPr>
                      <m:num>
                        <m:r>
                          <a:rPr lang="en-US" altLang="zh-CN" sz="2400" b="0" i="1" dirty="0" smtClean="0">
                            <a:solidFill>
                              <a:schemeClr val="tx1"/>
                            </a:solidFill>
                            <a:latin typeface="Cambria Math" panose="02040503050406030204" pitchFamily="18" charset="0"/>
                          </a:rPr>
                          <m:t>1</m:t>
                        </m:r>
                      </m:num>
                      <m:den>
                        <m:sSub>
                          <m:sSubPr>
                            <m:ctrlPr>
                              <a:rPr lang="en-US" altLang="zh-CN" sz="2400" b="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𝑚</m:t>
                            </m:r>
                          </m:e>
                          <m:sub>
                            <m:r>
                              <a:rPr lang="en-US" altLang="zh-CN" sz="2400" b="0" i="1" dirty="0" smtClean="0">
                                <a:solidFill>
                                  <a:schemeClr val="tx1"/>
                                </a:solidFill>
                                <a:latin typeface="Cambria Math" panose="02040503050406030204" pitchFamily="18" charset="0"/>
                              </a:rPr>
                              <m:t>h</m:t>
                            </m:r>
                          </m:sub>
                        </m:sSub>
                      </m:den>
                    </m:f>
                  </m:oMath>
                </a14:m>
                <a:r>
                  <a:rPr lang="en-US" altLang="zh-CN" sz="2400" dirty="0">
                    <a:solidFill>
                      <a:schemeClr val="tx1"/>
                    </a:solidFill>
                  </a:rPr>
                  <a:t> </a:t>
                </a:r>
                <a14:m>
                  <m:oMath xmlns:m="http://schemas.openxmlformats.org/officeDocument/2006/math">
                    <m:r>
                      <a:rPr lang="en-US" altLang="zh-CN" sz="2400" i="1" dirty="0">
                        <a:solidFill>
                          <a:schemeClr val="tx1"/>
                        </a:solidFill>
                        <a:latin typeface="Cambria Math" panose="02040503050406030204" pitchFamily="18" charset="0"/>
                      </a:rPr>
                      <m:t>𝑒</m:t>
                    </m:r>
                    <m:r>
                      <a:rPr lang="en-US" altLang="zh-CN" sz="2400" b="1" i="1" dirty="0">
                        <a:solidFill>
                          <a:schemeClr val="tx1"/>
                        </a:solidFill>
                        <a:latin typeface="Cambria Math" panose="02040503050406030204" pitchFamily="18" charset="0"/>
                      </a:rPr>
                      <m:t>𝑬</m:t>
                    </m:r>
                  </m:oMath>
                </a14:m>
                <a:r>
                  <a:rPr lang="en-US" altLang="zh-CN" sz="2400" dirty="0">
                    <a:solidFill>
                      <a:schemeClr val="tx1"/>
                    </a:solidFill>
                  </a:rPr>
                  <a:t>	,  </a:t>
                </a:r>
                <a:r>
                  <a:rPr lang="zh-CN" altLang="en-US" sz="2400" dirty="0">
                    <a:solidFill>
                      <a:schemeClr val="tx1"/>
                    </a:solidFill>
                  </a:rPr>
                  <a:t>即</a:t>
                </a: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h</m:t>
                        </m:r>
                      </m:sub>
                    </m:sSub>
                    <m:r>
                      <a:rPr lang="en-US" altLang="zh-CN" sz="2400" b="0" i="1" smtClean="0">
                        <a:solidFill>
                          <a:schemeClr val="tx1"/>
                        </a:solidFill>
                        <a:latin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𝑚</m:t>
                        </m:r>
                      </m:e>
                      <m:sup>
                        <m:r>
                          <a:rPr lang="en-US" altLang="zh-CN" sz="2400" i="1" dirty="0">
                            <a:solidFill>
                              <a:schemeClr val="tx1"/>
                            </a:solidFill>
                            <a:latin typeface="Cambria Math" panose="02040503050406030204" pitchFamily="18" charset="0"/>
                          </a:rPr>
                          <m:t>′∗</m:t>
                        </m:r>
                      </m:sup>
                    </m:sSup>
                    <m:r>
                      <a:rPr lang="en-US" altLang="zh-CN" sz="2400" b="0" i="0" dirty="0" smtClean="0">
                        <a:solidFill>
                          <a:schemeClr val="tx1"/>
                        </a:solidFill>
                        <a:latin typeface="Cambria Math" panose="02040503050406030204" pitchFamily="18" charset="0"/>
                      </a:rPr>
                      <m:t>,</m:t>
                    </m:r>
                  </m:oMath>
                </a14:m>
                <a:r>
                  <a:rPr lang="en-US" altLang="zh-CN" sz="2400" dirty="0">
                    <a:solidFill>
                      <a:schemeClr val="tx1"/>
                    </a:solidFill>
                  </a:rPr>
                  <a:t>  </a:t>
                </a:r>
                <a:r>
                  <a:rPr lang="zh-CN" altLang="en-US" sz="2400" dirty="0">
                    <a:solidFill>
                      <a:schemeClr val="tx1"/>
                    </a:solidFill>
                  </a:rPr>
                  <a:t>一般</a:t>
                </a:r>
                <a14:m>
                  <m:oMath xmlns:m="http://schemas.openxmlformats.org/officeDocument/2006/math">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h</m:t>
                        </m:r>
                      </m:sub>
                    </m:sSub>
                    <m:r>
                      <a:rPr lang="en-US" altLang="zh-CN" sz="2400" b="0" i="1" smtClean="0">
                        <a:solidFill>
                          <a:schemeClr val="tx1"/>
                        </a:solidFill>
                        <a:latin typeface="Cambria Math" panose="02040503050406030204" pitchFamily="18" charset="0"/>
                      </a:rPr>
                      <m:t>&gt;0</m:t>
                    </m:r>
                  </m:oMath>
                </a14:m>
                <a:endParaRPr lang="en-US" altLang="zh-CN" sz="2400" dirty="0">
                  <a:solidFill>
                    <a:schemeClr val="tx1"/>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53082" y="1242081"/>
                <a:ext cx="10762357" cy="5300234"/>
              </a:xfrm>
              <a:prstGeom prst="rect">
                <a:avLst/>
              </a:prstGeom>
              <a:blipFill>
                <a:blip r:embed="rId3"/>
                <a:stretch>
                  <a:fillRect l="-1190" t="-1381" b="-28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126456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2344" y="315685"/>
            <a:ext cx="4943503" cy="584775"/>
          </a:xfrm>
          <a:prstGeom prst="rect">
            <a:avLst/>
          </a:prstGeom>
          <a:noFill/>
        </p:spPr>
        <p:txBody>
          <a:bodyPr wrap="square" rtlCol="0">
            <a:spAutoFit/>
          </a:bodyPr>
          <a:lstStyle/>
          <a:p>
            <a:r>
              <a:rPr lang="zh-CN" altLang="en-US" sz="3200" dirty="0"/>
              <a:t>第七章 周期场中的电子态</a:t>
            </a:r>
          </a:p>
        </p:txBody>
      </p:sp>
      <mc:AlternateContent xmlns:mc="http://schemas.openxmlformats.org/markup-compatibility/2006" xmlns:a14="http://schemas.microsoft.com/office/drawing/2010/main">
        <mc:Choice Requires="a14">
          <p:sp>
            <p:nvSpPr>
              <p:cNvPr id="7" name="文本框 6"/>
              <p:cNvSpPr txBox="1"/>
              <p:nvPr/>
            </p:nvSpPr>
            <p:spPr>
              <a:xfrm>
                <a:off x="3629665" y="1071648"/>
                <a:ext cx="5323835"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.5 </a:t>
                </a:r>
                <a:r>
                  <a:rPr lang="zh-CN" altLang="en-US" sz="2800" dirty="0">
                    <a:solidFill>
                      <a:schemeClr val="tx1"/>
                    </a:solidFill>
                  </a:rPr>
                  <a:t>能带填充和固体的导电性</a:t>
                </a:r>
              </a:p>
            </p:txBody>
          </p:sp>
        </mc:Choice>
        <mc:Fallback xmlns="">
          <p:sp>
            <p:nvSpPr>
              <p:cNvPr id="7" name="文本框 6"/>
              <p:cNvSpPr txBox="1">
                <a:spLocks noRot="1" noChangeAspect="1" noMove="1" noResize="1" noEditPoints="1" noAdjustHandles="1" noChangeArrowheads="1" noChangeShapeType="1" noTextEdit="1"/>
              </p:cNvSpPr>
              <p:nvPr/>
            </p:nvSpPr>
            <p:spPr>
              <a:xfrm>
                <a:off x="3629665" y="1071648"/>
                <a:ext cx="5323835" cy="523220"/>
              </a:xfrm>
              <a:prstGeom prst="rect">
                <a:avLst/>
              </a:prstGeom>
              <a:blipFill rotWithShape="1">
                <a:blip r:embed="rId2"/>
                <a:stretch>
                  <a:fillRect t="-13953" b="-29070"/>
                </a:stretch>
              </a:blipFill>
            </p:spPr>
            <p:txBody>
              <a:bodyPr/>
              <a:lstStyle/>
              <a:p>
                <a:r>
                  <a:rPr lang="zh-CN" altLang="en-US">
                    <a:noFill/>
                  </a:rPr>
                  <a:t> </a:t>
                </a:r>
              </a:p>
            </p:txBody>
          </p:sp>
        </mc:Fallback>
      </mc:AlternateContent>
      <p:sp>
        <p:nvSpPr>
          <p:cNvPr id="6" name="文本框 5"/>
          <p:cNvSpPr txBox="1"/>
          <p:nvPr/>
        </p:nvSpPr>
        <p:spPr>
          <a:xfrm>
            <a:off x="1162942" y="1628725"/>
            <a:ext cx="10762357" cy="3354765"/>
          </a:xfrm>
          <a:prstGeom prst="rect">
            <a:avLst/>
          </a:prstGeom>
          <a:noFill/>
        </p:spPr>
        <p:txBody>
          <a:bodyPr wrap="square" rtlCol="0">
            <a:spAutoFit/>
          </a:bodyPr>
          <a:lstStyle/>
          <a:p>
            <a:r>
              <a:rPr lang="en-US" altLang="zh-CN" sz="2800" b="1" dirty="0">
                <a:solidFill>
                  <a:schemeClr val="tx1"/>
                </a:solidFill>
              </a:rPr>
              <a:t>7.5.2 </a:t>
            </a:r>
            <a:r>
              <a:rPr lang="zh-CN" altLang="en-US" sz="2800" b="1" dirty="0">
                <a:solidFill>
                  <a:schemeClr val="tx1"/>
                </a:solidFill>
              </a:rPr>
              <a:t>绝缘体、导体和半导体</a:t>
            </a:r>
            <a:endParaRPr lang="en-US" altLang="zh-CN" sz="2800" dirty="0">
              <a:solidFill>
                <a:schemeClr val="tx1"/>
              </a:solidFill>
            </a:endParaRPr>
          </a:p>
          <a:p>
            <a:pPr marL="285750" indent="-285750">
              <a:buFont typeface="Arial" panose="020B0604020202020204" pitchFamily="34" charset="0"/>
              <a:buChar char="•"/>
            </a:pPr>
            <a:endParaRPr lang="en-US" altLang="zh-CN" sz="1600" dirty="0">
              <a:solidFill>
                <a:schemeClr val="tx1"/>
              </a:solidFill>
            </a:endParaRPr>
          </a:p>
          <a:p>
            <a:r>
              <a:rPr lang="zh-CN" altLang="en-US" sz="2400" dirty="0">
                <a:solidFill>
                  <a:schemeClr val="tx1"/>
                </a:solidFill>
              </a:rPr>
              <a:t>半导体：</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价带为满带，其上还有一导带，同时禁带宽度约</a:t>
            </a:r>
            <a:r>
              <a:rPr lang="en-US" altLang="zh-CN" sz="2400" dirty="0">
                <a:solidFill>
                  <a:schemeClr val="tx1"/>
                </a:solidFill>
              </a:rPr>
              <a:t>1eV</a:t>
            </a:r>
            <a:r>
              <a:rPr lang="zh-CN" altLang="en-US" sz="2400" dirty="0">
                <a:solidFill>
                  <a:schemeClr val="tx1"/>
                </a:solidFill>
              </a:rPr>
              <a:t>。</a:t>
            </a:r>
            <a:endParaRPr lang="en-US" altLang="zh-CN" sz="2400" dirty="0">
              <a:solidFill>
                <a:schemeClr val="tx1"/>
              </a:solidFill>
            </a:endParaRPr>
          </a:p>
          <a:p>
            <a:r>
              <a:rPr lang="zh-CN" altLang="en-US" sz="2400" dirty="0">
                <a:solidFill>
                  <a:schemeClr val="tx1"/>
                </a:solidFill>
              </a:rPr>
              <a:t>导电机制：一定温度下，部分价带中的电子激发到导带。这样，导带中的电子和价带中的空穴都对电导有贡献。</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半金属</a:t>
            </a:r>
            <a:r>
              <a:rPr lang="zh-CN" altLang="en-US" sz="2400" dirty="0">
                <a:solidFill>
                  <a:schemeClr val="tx1"/>
                </a:solidFill>
                <a:sym typeface="Wingdings" panose="05000000000000000000" pitchFamily="2" charset="2"/>
              </a:rPr>
              <a:t>： （略）</a:t>
            </a:r>
            <a:endParaRPr lang="en-US" altLang="zh-CN" sz="2400" dirty="0">
              <a:solidFill>
                <a:schemeClr val="tx1"/>
              </a:solidFill>
            </a:endParaRPr>
          </a:p>
        </p:txBody>
      </p:sp>
    </p:spTree>
    <p:extLst>
      <p:ext uri="{BB962C8B-B14F-4D97-AF65-F5344CB8AC3E}">
        <p14:creationId xmlns:p14="http://schemas.microsoft.com/office/powerpoint/2010/main" val="28543089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3629665" y="731408"/>
                <a:ext cx="5323835" cy="523220"/>
              </a:xfrm>
              <a:prstGeom prst="rect">
                <a:avLst/>
              </a:prstGeom>
              <a:noFill/>
            </p:spPr>
            <p:txBody>
              <a:bodyPr wrap="square" rtlCol="0">
                <a:spAutoFit/>
              </a:bodyPr>
              <a:lstStyle/>
              <a:p>
                <a14:m>
                  <m:oMath xmlns:m="http://schemas.openxmlformats.org/officeDocument/2006/math">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7</m:t>
                    </m:r>
                  </m:oMath>
                </a14:m>
                <a:r>
                  <a:rPr lang="en-US" altLang="zh-CN" sz="2800" dirty="0">
                    <a:solidFill>
                      <a:schemeClr val="tx1"/>
                    </a:solidFill>
                  </a:rPr>
                  <a:t>.6 </a:t>
                </a:r>
                <a:r>
                  <a:rPr lang="zh-CN" altLang="en-US" sz="2800" dirty="0">
                    <a:solidFill>
                      <a:schemeClr val="tx1"/>
                    </a:solidFill>
                  </a:rPr>
                  <a:t>费米面和粒子的轨道</a:t>
                </a:r>
              </a:p>
            </p:txBody>
          </p:sp>
        </mc:Choice>
        <mc:Fallback xmlns="">
          <p:sp>
            <p:nvSpPr>
              <p:cNvPr id="2" name="文本框 1"/>
              <p:cNvSpPr txBox="1">
                <a:spLocks noRot="1" noChangeAspect="1" noMove="1" noResize="1" noEditPoints="1" noAdjustHandles="1" noChangeArrowheads="1" noChangeShapeType="1" noTextEdit="1"/>
              </p:cNvSpPr>
              <p:nvPr/>
            </p:nvSpPr>
            <p:spPr>
              <a:xfrm>
                <a:off x="3629665" y="731408"/>
                <a:ext cx="5323835" cy="523220"/>
              </a:xfrm>
              <a:prstGeom prst="rect">
                <a:avLst/>
              </a:prstGeom>
              <a:blipFill rotWithShape="0">
                <a:blip r:embed="rId2"/>
                <a:stretch>
                  <a:fillRect t="-12791" b="-31395"/>
                </a:stretch>
              </a:blipFill>
            </p:spPr>
            <p:txBody>
              <a:bodyPr/>
              <a:lstStyle/>
              <a:p>
                <a:r>
                  <a:rPr lang="zh-CN" altLang="en-US">
                    <a:noFill/>
                  </a:rPr>
                  <a:t> </a:t>
                </a:r>
              </a:p>
            </p:txBody>
          </p:sp>
        </mc:Fallback>
      </mc:AlternateContent>
      <p:sp>
        <p:nvSpPr>
          <p:cNvPr id="3" name="矩形 2"/>
          <p:cNvSpPr/>
          <p:nvPr/>
        </p:nvSpPr>
        <p:spPr>
          <a:xfrm>
            <a:off x="932644" y="1436799"/>
            <a:ext cx="3307316" cy="523220"/>
          </a:xfrm>
          <a:prstGeom prst="rect">
            <a:avLst/>
          </a:prstGeom>
        </p:spPr>
        <p:txBody>
          <a:bodyPr wrap="none">
            <a:spAutoFit/>
          </a:bodyPr>
          <a:lstStyle/>
          <a:p>
            <a:r>
              <a:rPr lang="en-US" altLang="zh-CN" sz="2800" b="1" dirty="0"/>
              <a:t>7.6.1</a:t>
            </a:r>
            <a:r>
              <a:rPr lang="zh-CN" altLang="en-US" sz="2800" b="1" dirty="0"/>
              <a:t> 费米面构造法</a:t>
            </a:r>
            <a:r>
              <a:rPr lang="en-US" altLang="zh-CN" sz="2800" b="1" dirty="0"/>
              <a:t> </a:t>
            </a:r>
            <a:endParaRPr lang="en-US" altLang="zh-CN" sz="2800" dirty="0"/>
          </a:p>
        </p:txBody>
      </p:sp>
      <p:sp>
        <p:nvSpPr>
          <p:cNvPr id="5" name="矩形 4"/>
          <p:cNvSpPr/>
          <p:nvPr/>
        </p:nvSpPr>
        <p:spPr>
          <a:xfrm>
            <a:off x="754272" y="2138550"/>
            <a:ext cx="10597773" cy="1938992"/>
          </a:xfrm>
          <a:prstGeom prst="rect">
            <a:avLst/>
          </a:prstGeom>
        </p:spPr>
        <p:txBody>
          <a:bodyPr wrap="none">
            <a:spAutoFit/>
          </a:bodyPr>
          <a:lstStyle/>
          <a:p>
            <a:r>
              <a:rPr lang="zh-CN" altLang="en-US" sz="2400" dirty="0"/>
              <a:t>电子在外场的作用下运动，在费米面上的运动是主要的。</a:t>
            </a:r>
            <a:endParaRPr lang="en-US" altLang="zh-CN" sz="2400" dirty="0"/>
          </a:p>
          <a:p>
            <a:r>
              <a:rPr lang="zh-CN" altLang="en-US" sz="2400" dirty="0"/>
              <a:t>我们将介绍</a:t>
            </a:r>
            <a:r>
              <a:rPr lang="en-US" altLang="zh-CN" sz="2400" dirty="0"/>
              <a:t>1960</a:t>
            </a:r>
            <a:r>
              <a:rPr lang="zh-CN" altLang="en-US" sz="2400" dirty="0"/>
              <a:t>年</a:t>
            </a:r>
            <a:r>
              <a:rPr lang="en-US" altLang="zh-CN" sz="2400" dirty="0"/>
              <a:t>W</a:t>
            </a:r>
            <a:r>
              <a:rPr lang="zh-CN" altLang="en-US" sz="2400" dirty="0"/>
              <a:t> </a:t>
            </a:r>
            <a:r>
              <a:rPr lang="en-US" altLang="zh-CN" sz="2400" dirty="0"/>
              <a:t>A</a:t>
            </a:r>
            <a:r>
              <a:rPr lang="zh-CN" altLang="en-US" sz="2400" dirty="0"/>
              <a:t> </a:t>
            </a:r>
            <a:r>
              <a:rPr lang="en-US" altLang="zh-CN" sz="2400" dirty="0"/>
              <a:t>Harrison</a:t>
            </a:r>
            <a:r>
              <a:rPr lang="zh-CN" altLang="en-US" sz="2400" dirty="0"/>
              <a:t>提出的基于近自由电子模型的费米面构造法。</a:t>
            </a:r>
            <a:endParaRPr lang="en-US" altLang="zh-CN" sz="2400" dirty="0"/>
          </a:p>
          <a:p>
            <a:r>
              <a:rPr lang="zh-CN" altLang="en-US" sz="2400" dirty="0"/>
              <a:t>单胞中电子个数不同，费米波矢不同。</a:t>
            </a:r>
            <a:br>
              <a:rPr lang="en-US" altLang="zh-CN" sz="2400" dirty="0">
                <a:latin typeface="Arial" charset="0"/>
                <a:ea typeface="Arial" charset="0"/>
                <a:cs typeface="Arial" charset="0"/>
              </a:rPr>
            </a:br>
            <a:endParaRPr lang="en-US" altLang="zh-CN" sz="2400" dirty="0">
              <a:latin typeface="Symbol" charset="2"/>
              <a:ea typeface="Symbol" charset="2"/>
              <a:cs typeface="Symbol" charset="2"/>
            </a:endParaRPr>
          </a:p>
          <a:p>
            <a:pPr marL="342900" indent="-342900">
              <a:buFont typeface="Symbol" charset="2"/>
              <a:buChar char="h"/>
            </a:pPr>
            <a:endParaRPr lang="en-US" altLang="zh-CN" sz="2400" dirty="0">
              <a:latin typeface="Arial" charset="0"/>
              <a:ea typeface="Arial" charset="0"/>
              <a:cs typeface="Arial" charset="0"/>
            </a:endParaRPr>
          </a:p>
        </p:txBody>
      </p:sp>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059932756"/>
                  </p:ext>
                </p:extLst>
              </p:nvPr>
            </p:nvGraphicFramePr>
            <p:xfrm>
              <a:off x="1634393" y="3547926"/>
              <a:ext cx="8127999" cy="200247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en-US" altLang="zh-CN" dirty="0">
                              <a:latin typeface="Symbol" charset="2"/>
                              <a:ea typeface="Symbol" charset="2"/>
                              <a:cs typeface="Symbol" charset="2"/>
                            </a:rPr>
                            <a:t>h</a:t>
                          </a:r>
                          <a:endParaRPr lang="zh-CN" altLang="en-US" dirty="0">
                            <a:latin typeface="Symbol" charset="2"/>
                            <a:ea typeface="Symbol" charset="2"/>
                            <a:cs typeface="Symbol" charset="2"/>
                          </a:endParaRPr>
                        </a:p>
                      </a:txBody>
                      <a:tcPr/>
                    </a:tc>
                    <a:tc>
                      <a:txBody>
                        <a:bodyPr/>
                        <a:lstStyle/>
                        <a:p>
                          <a:r>
                            <a:rPr lang="en-US" altLang="zh-CN" sz="1800" dirty="0" err="1">
                              <a:latin typeface="Arial" charset="0"/>
                              <a:ea typeface="Arial" charset="0"/>
                              <a:cs typeface="Arial" charset="0"/>
                            </a:rPr>
                            <a:t>k</a:t>
                          </a:r>
                          <a:r>
                            <a:rPr lang="en-US" altLang="zh-CN" sz="1800" baseline="-25000" dirty="0" err="1">
                              <a:latin typeface="Arial" charset="0"/>
                              <a:ea typeface="Arial" charset="0"/>
                              <a:cs typeface="Arial" charset="0"/>
                            </a:rPr>
                            <a:t>F</a:t>
                          </a:r>
                          <a:r>
                            <a:rPr lang="en-US" altLang="zh-CN" sz="1800" dirty="0">
                              <a:latin typeface="Arial" charset="0"/>
                              <a:ea typeface="Arial" charset="0"/>
                              <a:cs typeface="Arial" charset="0"/>
                            </a:rPr>
                            <a:t>(</a:t>
                          </a:r>
                          <a:r>
                            <a:rPr lang="en-US" altLang="zh-CN" sz="1800" dirty="0">
                              <a:latin typeface="Symbol" charset="2"/>
                              <a:ea typeface="Symbol" charset="2"/>
                              <a:cs typeface="Symbol" charset="2"/>
                            </a:rPr>
                            <a:t>p</a:t>
                          </a:r>
                          <a:r>
                            <a:rPr lang="en-US" altLang="zh-CN" sz="1800" dirty="0">
                              <a:latin typeface="Arial" charset="0"/>
                              <a:ea typeface="Arial" charset="0"/>
                              <a:cs typeface="Arial" charset="0"/>
                            </a:rPr>
                            <a:t>/a)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Arial" charset="0"/>
                              <a:ea typeface="Arial" charset="0"/>
                              <a:cs typeface="Arial" charset="0"/>
                            </a:rPr>
                            <a:t>EF(</a:t>
                          </a:r>
                          <a14:m>
                            <m:oMath xmlns:m="http://schemas.openxmlformats.org/officeDocument/2006/math">
                              <m:f>
                                <m:fPr>
                                  <m:ctrlPr>
                                    <a:rPr lang="en-US" altLang="zh-CN" sz="1800" i="1" dirty="0">
                                      <a:latin typeface="Cambria Math" panose="02040503050406030204" pitchFamily="18" charset="0"/>
                                    </a:rPr>
                                  </m:ctrlPr>
                                </m:fPr>
                                <m:num>
                                  <m:sSup>
                                    <m:sSupPr>
                                      <m:ctrlPr>
                                        <a:rPr lang="en-US" altLang="zh-CN" sz="1800" i="1" dirty="0">
                                          <a:latin typeface="Cambria Math" panose="02040503050406030204" pitchFamily="18" charset="0"/>
                                        </a:rPr>
                                      </m:ctrlPr>
                                    </m:sSupPr>
                                    <m:e>
                                      <m:r>
                                        <a:rPr lang="en-US" altLang="zh-CN" sz="1800" i="1" dirty="0">
                                          <a:latin typeface="Cambria Math" panose="02040503050406030204" pitchFamily="18" charset="0"/>
                                        </a:rPr>
                                        <m:t>ħ</m:t>
                                      </m:r>
                                    </m:e>
                                    <m:sup>
                                      <m:r>
                                        <a:rPr lang="en-US" altLang="zh-CN" sz="1800" i="1" dirty="0">
                                          <a:latin typeface="Cambria Math" panose="02040503050406030204" pitchFamily="18" charset="0"/>
                                        </a:rPr>
                                        <m:t>2</m:t>
                                      </m:r>
                                    </m:sup>
                                  </m:sSup>
                                </m:num>
                                <m:den>
                                  <m:r>
                                    <a:rPr lang="en-US" altLang="zh-CN" sz="1800" b="0" i="1" dirty="0" smtClean="0">
                                      <a:latin typeface="Cambria Math" charset="0"/>
                                    </a:rPr>
                                    <m:t>2</m:t>
                                  </m:r>
                                  <m:r>
                                    <a:rPr lang="en-US" altLang="zh-CN" sz="1800" b="0" i="1" dirty="0" smtClean="0">
                                      <a:latin typeface="Cambria Math" charset="0"/>
                                    </a:rPr>
                                    <m:t>𝑚</m:t>
                                  </m:r>
                                </m:den>
                              </m:f>
                              <m:f>
                                <m:fPr>
                                  <m:ctrlPr>
                                    <a:rPr lang="en-US" altLang="zh-CN" sz="1800" i="1" dirty="0">
                                      <a:latin typeface="Cambria Math" panose="02040503050406030204" pitchFamily="18" charset="0"/>
                                    </a:rPr>
                                  </m:ctrlPr>
                                </m:fPr>
                                <m:num>
                                  <m:r>
                                    <a:rPr lang="en-US" altLang="zh-CN" sz="1800" b="0" i="1" dirty="0" smtClean="0">
                                      <a:latin typeface="Cambria Math" charset="0"/>
                                    </a:rPr>
                                    <m:t>1</m:t>
                                  </m:r>
                                </m:num>
                                <m:den>
                                  <m:r>
                                    <a:rPr lang="en-US" altLang="zh-CN" sz="1800" b="0" i="1" dirty="0" smtClean="0">
                                      <a:latin typeface="Cambria Math" charset="0"/>
                                    </a:rPr>
                                    <m:t>4</m:t>
                                  </m:r>
                                  <m:sSup>
                                    <m:sSupPr>
                                      <m:ctrlPr>
                                        <a:rPr lang="en-US" altLang="zh-CN" sz="1800" i="1" dirty="0">
                                          <a:latin typeface="Cambria Math" panose="02040503050406030204" pitchFamily="18" charset="0"/>
                                        </a:rPr>
                                      </m:ctrlPr>
                                    </m:sSupPr>
                                    <m:e>
                                      <m:r>
                                        <a:rPr lang="en-US" altLang="zh-CN" sz="1800" b="0" i="1" dirty="0" smtClean="0">
                                          <a:latin typeface="Cambria Math" charset="0"/>
                                        </a:rPr>
                                        <m:t>𝑎</m:t>
                                      </m:r>
                                    </m:e>
                                    <m:sup>
                                      <m:r>
                                        <a:rPr lang="en-US" altLang="zh-CN" sz="1800" i="1" dirty="0">
                                          <a:latin typeface="Cambria Math" panose="02040503050406030204" pitchFamily="18" charset="0"/>
                                        </a:rPr>
                                        <m:t>2</m:t>
                                      </m:r>
                                    </m:sup>
                                  </m:sSup>
                                </m:den>
                              </m:f>
                            </m:oMath>
                          </a14:m>
                          <a:r>
                            <a:rPr lang="en-US" altLang="zh-CN" sz="1800" dirty="0">
                              <a:latin typeface="Arial" charset="0"/>
                              <a:ea typeface="Arial" charset="0"/>
                              <a:cs typeface="Arial" charset="0"/>
                            </a:rPr>
                            <a:t>)</a:t>
                          </a:r>
                        </a:p>
                      </a:txBody>
                      <a:tcPr/>
                    </a:tc>
                    <a:extLst>
                      <a:ext uri="{0D108BD9-81ED-4DB2-BD59-A6C34878D82A}">
                        <a16:rowId xmlns:a16="http://schemas.microsoft.com/office/drawing/2014/main" val="10000"/>
                      </a:ext>
                    </a:extLst>
                  </a:tr>
                  <a:tr h="370840">
                    <a:tc>
                      <a:txBody>
                        <a:bodyPr/>
                        <a:lstStyle/>
                        <a:p>
                          <a:r>
                            <a:rPr lang="en-US" altLang="zh-CN" dirty="0"/>
                            <a:t>1</a:t>
                          </a:r>
                        </a:p>
                      </a:txBody>
                      <a:tcPr/>
                    </a:tc>
                    <a:tc>
                      <a:txBody>
                        <a:bodyPr/>
                        <a:lstStyle/>
                        <a:p>
                          <a:r>
                            <a:rPr lang="en-US" altLang="zh-CN" sz="1800" dirty="0">
                              <a:latin typeface="Arial" charset="0"/>
                              <a:ea typeface="Arial" charset="0"/>
                              <a:cs typeface="Arial" charset="0"/>
                            </a:rPr>
                            <a:t>0.798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Arial" charset="0"/>
                              <a:ea typeface="Arial" charset="0"/>
                              <a:cs typeface="Arial" charset="0"/>
                            </a:rPr>
                            <a:t>0.637</a:t>
                          </a:r>
                        </a:p>
                      </a:txBody>
                      <a:tcPr/>
                    </a:tc>
                    <a:extLst>
                      <a:ext uri="{0D108BD9-81ED-4DB2-BD59-A6C34878D82A}">
                        <a16:rowId xmlns:a16="http://schemas.microsoft.com/office/drawing/2014/main" val="10001"/>
                      </a:ext>
                    </a:extLst>
                  </a:tr>
                  <a:tr h="370840">
                    <a:tc>
                      <a:txBody>
                        <a:bodyPr/>
                        <a:lstStyle/>
                        <a:p>
                          <a:r>
                            <a:rPr lang="en-US" altLang="zh-CN" dirty="0"/>
                            <a:t>2</a:t>
                          </a:r>
                          <a:endParaRPr lang="zh-CN" altLang="en-US" dirty="0"/>
                        </a:p>
                      </a:txBody>
                      <a:tcPr/>
                    </a:tc>
                    <a:tc>
                      <a:txBody>
                        <a:bodyPr/>
                        <a:lstStyle/>
                        <a:p>
                          <a:r>
                            <a:rPr lang="en-US" altLang="zh-CN" sz="1800" dirty="0">
                              <a:latin typeface="Arial" charset="0"/>
                              <a:ea typeface="Arial" charset="0"/>
                              <a:cs typeface="Arial" charset="0"/>
                            </a:rPr>
                            <a:t>1.128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Arial" charset="0"/>
                              <a:ea typeface="Arial" charset="0"/>
                              <a:cs typeface="Arial" charset="0"/>
                            </a:rPr>
                            <a:t>1.273</a:t>
                          </a:r>
                        </a:p>
                      </a:txBody>
                      <a:tcPr/>
                    </a:tc>
                    <a:extLst>
                      <a:ext uri="{0D108BD9-81ED-4DB2-BD59-A6C34878D82A}">
                        <a16:rowId xmlns:a16="http://schemas.microsoft.com/office/drawing/2014/main" val="10002"/>
                      </a:ext>
                    </a:extLst>
                  </a:tr>
                  <a:tr h="370840">
                    <a:tc>
                      <a:txBody>
                        <a:bodyPr/>
                        <a:lstStyle/>
                        <a:p>
                          <a:r>
                            <a:rPr lang="en-US" altLang="zh-CN" dirty="0"/>
                            <a:t>3</a:t>
                          </a:r>
                          <a:endParaRPr lang="zh-CN" altLang="en-US" dirty="0"/>
                        </a:p>
                      </a:txBody>
                      <a:tcPr/>
                    </a:tc>
                    <a:tc>
                      <a:txBody>
                        <a:bodyPr/>
                        <a:lstStyle/>
                        <a:p>
                          <a:r>
                            <a:rPr lang="en-US" altLang="zh-CN" sz="1800" dirty="0">
                              <a:latin typeface="Arial" charset="0"/>
                              <a:ea typeface="Arial" charset="0"/>
                              <a:cs typeface="Arial" charset="0"/>
                            </a:rPr>
                            <a:t>1.384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Arial" charset="0"/>
                              <a:ea typeface="Arial" charset="0"/>
                              <a:cs typeface="Arial" charset="0"/>
                            </a:rPr>
                            <a:t>1.910</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4</a:t>
                          </a:r>
                          <a:endParaRPr lang="zh-CN" altLang="en-US" dirty="0"/>
                        </a:p>
                      </a:txBody>
                      <a:tcPr/>
                    </a:tc>
                    <a:tc>
                      <a:txBody>
                        <a:bodyPr/>
                        <a:lstStyle/>
                        <a:p>
                          <a:r>
                            <a:rPr lang="en-US" altLang="zh-CN" sz="1800" dirty="0">
                              <a:latin typeface="Arial" charset="0"/>
                              <a:ea typeface="Arial" charset="0"/>
                              <a:cs typeface="Arial" charset="0"/>
                            </a:rPr>
                            <a:t>1.596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Arial" charset="0"/>
                              <a:ea typeface="Arial" charset="0"/>
                              <a:cs typeface="Arial" charset="0"/>
                            </a:rPr>
                            <a:t>2.546</a:t>
                          </a:r>
                          <a:endParaRPr lang="zh-CN" alt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059932756"/>
                  </p:ext>
                </p:extLst>
              </p:nvPr>
            </p:nvGraphicFramePr>
            <p:xfrm>
              <a:off x="1634393" y="3547926"/>
              <a:ext cx="8127999" cy="2002473"/>
            </p:xfrm>
            <a:graphic>
              <a:graphicData uri="http://schemas.openxmlformats.org/drawingml/2006/table">
                <a:tbl>
                  <a:tblPr firstRow="1" bandRow="1">
                    <a:tableStyleId>{5C22544A-7EE6-4342-B048-85BDC9FD1C3A}</a:tableStyleId>
                  </a:tblPr>
                  <a:tblGrid>
                    <a:gridCol w="2709333"/>
                    <a:gridCol w="2709333"/>
                    <a:gridCol w="2709333"/>
                  </a:tblGrid>
                  <a:tr h="519113">
                    <a:tc>
                      <a:txBody>
                        <a:bodyPr/>
                        <a:lstStyle/>
                        <a:p>
                          <a:r>
                            <a:rPr lang="en-US" altLang="zh-CN" dirty="0" smtClean="0">
                              <a:latin typeface="Symbol" charset="2"/>
                              <a:ea typeface="Symbol" charset="2"/>
                              <a:cs typeface="Symbol" charset="2"/>
                            </a:rPr>
                            <a:t>h</a:t>
                          </a:r>
                          <a:endParaRPr lang="zh-CN" altLang="en-US" dirty="0">
                            <a:latin typeface="Symbol" charset="2"/>
                            <a:ea typeface="Symbol" charset="2"/>
                            <a:cs typeface="Symbol" charset="2"/>
                          </a:endParaRPr>
                        </a:p>
                      </a:txBody>
                      <a:tcPr/>
                    </a:tc>
                    <a:tc>
                      <a:txBody>
                        <a:bodyPr/>
                        <a:lstStyle/>
                        <a:p>
                          <a:r>
                            <a:rPr lang="en-US" altLang="zh-CN" sz="1800" dirty="0" err="1" smtClean="0">
                              <a:latin typeface="Arial" charset="0"/>
                              <a:ea typeface="Arial" charset="0"/>
                              <a:cs typeface="Arial" charset="0"/>
                            </a:rPr>
                            <a:t>k</a:t>
                          </a:r>
                          <a:r>
                            <a:rPr lang="en-US" altLang="zh-CN" sz="1800" baseline="-25000" dirty="0" err="1" smtClean="0">
                              <a:latin typeface="Arial" charset="0"/>
                              <a:ea typeface="Arial" charset="0"/>
                              <a:cs typeface="Arial" charset="0"/>
                            </a:rPr>
                            <a:t>F</a:t>
                          </a:r>
                          <a:r>
                            <a:rPr lang="en-US" altLang="zh-CN" sz="1800" dirty="0" smtClean="0">
                              <a:latin typeface="Arial" charset="0"/>
                              <a:ea typeface="Arial" charset="0"/>
                              <a:cs typeface="Arial" charset="0"/>
                            </a:rPr>
                            <a:t>(</a:t>
                          </a:r>
                          <a:r>
                            <a:rPr lang="en-US" altLang="zh-CN" sz="1800" dirty="0" smtClean="0">
                              <a:latin typeface="Symbol" charset="2"/>
                              <a:ea typeface="Symbol" charset="2"/>
                              <a:cs typeface="Symbol" charset="2"/>
                            </a:rPr>
                            <a:t>p</a:t>
                          </a:r>
                          <a:r>
                            <a:rPr lang="en-US" altLang="zh-CN" sz="1800" dirty="0" smtClean="0">
                              <a:latin typeface="Arial" charset="0"/>
                              <a:ea typeface="Arial" charset="0"/>
                              <a:cs typeface="Arial" charset="0"/>
                            </a:rPr>
                            <a:t>/a)	</a:t>
                          </a:r>
                          <a:endParaRPr lang="zh-CN" altLang="en-US" dirty="0"/>
                        </a:p>
                      </a:txBody>
                      <a:tcPr/>
                    </a:tc>
                    <a:tc>
                      <a:txBody>
                        <a:bodyPr/>
                        <a:lstStyle/>
                        <a:p>
                          <a:endParaRPr lang="zh-CN"/>
                        </a:p>
                      </a:txBody>
                      <a:tcPr>
                        <a:blipFill rotWithShape="0">
                          <a:blip r:embed="rId3"/>
                          <a:stretch>
                            <a:fillRect l="-200000" t="-8235" r="-899" b="-304706"/>
                          </a:stretch>
                        </a:blipFill>
                      </a:tcPr>
                    </a:tc>
                  </a:tr>
                  <a:tr h="370840">
                    <a:tc>
                      <a:txBody>
                        <a:bodyPr/>
                        <a:lstStyle/>
                        <a:p>
                          <a:r>
                            <a:rPr lang="en-US" altLang="zh-CN" dirty="0" smtClean="0"/>
                            <a:t>1</a:t>
                          </a:r>
                        </a:p>
                      </a:txBody>
                      <a:tcPr/>
                    </a:tc>
                    <a:tc>
                      <a:txBody>
                        <a:bodyPr/>
                        <a:lstStyle/>
                        <a:p>
                          <a:r>
                            <a:rPr lang="en-US" altLang="zh-CN" sz="1800" dirty="0" smtClean="0">
                              <a:latin typeface="Arial" charset="0"/>
                              <a:ea typeface="Arial" charset="0"/>
                              <a:cs typeface="Arial" charset="0"/>
                            </a:rPr>
                            <a:t>0.798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Arial" charset="0"/>
                              <a:ea typeface="Arial" charset="0"/>
                              <a:cs typeface="Arial" charset="0"/>
                            </a:rPr>
                            <a:t>0.637</a:t>
                          </a:r>
                        </a:p>
                      </a:txBody>
                      <a:tcPr/>
                    </a:tc>
                  </a:tr>
                  <a:tr h="370840">
                    <a:tc>
                      <a:txBody>
                        <a:bodyPr/>
                        <a:lstStyle/>
                        <a:p>
                          <a:r>
                            <a:rPr lang="en-US" altLang="zh-CN" dirty="0" smtClean="0"/>
                            <a:t>2</a:t>
                          </a:r>
                          <a:endParaRPr lang="zh-CN" altLang="en-US" dirty="0"/>
                        </a:p>
                      </a:txBody>
                      <a:tcPr/>
                    </a:tc>
                    <a:tc>
                      <a:txBody>
                        <a:bodyPr/>
                        <a:lstStyle/>
                        <a:p>
                          <a:r>
                            <a:rPr lang="en-US" altLang="zh-CN" sz="1800" dirty="0" smtClean="0">
                              <a:latin typeface="Arial" charset="0"/>
                              <a:ea typeface="Arial" charset="0"/>
                              <a:cs typeface="Arial" charset="0"/>
                            </a:rPr>
                            <a:t>1.128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Arial" charset="0"/>
                              <a:ea typeface="Arial" charset="0"/>
                              <a:cs typeface="Arial" charset="0"/>
                            </a:rPr>
                            <a:t>1.273</a:t>
                          </a:r>
                        </a:p>
                      </a:txBody>
                      <a:tcPr/>
                    </a:tc>
                  </a:tr>
                  <a:tr h="370840">
                    <a:tc>
                      <a:txBody>
                        <a:bodyPr/>
                        <a:lstStyle/>
                        <a:p>
                          <a:r>
                            <a:rPr lang="en-US" altLang="zh-CN" dirty="0" smtClean="0"/>
                            <a:t>3</a:t>
                          </a:r>
                          <a:endParaRPr lang="zh-CN" altLang="en-US" dirty="0"/>
                        </a:p>
                      </a:txBody>
                      <a:tcPr/>
                    </a:tc>
                    <a:tc>
                      <a:txBody>
                        <a:bodyPr/>
                        <a:lstStyle/>
                        <a:p>
                          <a:r>
                            <a:rPr lang="en-US" altLang="zh-CN" sz="1800" dirty="0" smtClean="0">
                              <a:latin typeface="Arial" charset="0"/>
                              <a:ea typeface="Arial" charset="0"/>
                              <a:cs typeface="Arial" charset="0"/>
                            </a:rPr>
                            <a:t>1.384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Arial" charset="0"/>
                              <a:ea typeface="Arial" charset="0"/>
                              <a:cs typeface="Arial" charset="0"/>
                            </a:rPr>
                            <a:t>1.910</a:t>
                          </a:r>
                          <a:endParaRPr lang="zh-CN" altLang="en-US" dirty="0" smtClean="0"/>
                        </a:p>
                      </a:txBody>
                      <a:tcPr/>
                    </a:tc>
                  </a:tr>
                  <a:tr h="370840">
                    <a:tc>
                      <a:txBody>
                        <a:bodyPr/>
                        <a:lstStyle/>
                        <a:p>
                          <a:r>
                            <a:rPr lang="en-US" altLang="zh-CN" dirty="0" smtClean="0"/>
                            <a:t>4</a:t>
                          </a:r>
                          <a:endParaRPr lang="zh-CN" altLang="en-US" dirty="0"/>
                        </a:p>
                      </a:txBody>
                      <a:tcPr/>
                    </a:tc>
                    <a:tc>
                      <a:txBody>
                        <a:bodyPr/>
                        <a:lstStyle/>
                        <a:p>
                          <a:r>
                            <a:rPr lang="en-US" altLang="zh-CN" sz="1800" dirty="0" smtClean="0">
                              <a:latin typeface="Arial" charset="0"/>
                              <a:ea typeface="Arial" charset="0"/>
                              <a:cs typeface="Arial" charset="0"/>
                            </a:rPr>
                            <a:t>1.596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Arial" charset="0"/>
                              <a:ea typeface="Arial" charset="0"/>
                              <a:cs typeface="Arial" charset="0"/>
                            </a:rPr>
                            <a:t>2.546</a:t>
                          </a:r>
                          <a:endParaRPr lang="zh-CN" altLang="en-US" dirty="0" smtClean="0"/>
                        </a:p>
                      </a:txBody>
                      <a:tcPr/>
                    </a:tc>
                  </a:tr>
                </a:tbl>
              </a:graphicData>
            </a:graphic>
          </p:graphicFrame>
        </mc:Fallback>
      </mc:AlternateContent>
    </p:spTree>
    <p:extLst>
      <p:ext uri="{BB962C8B-B14F-4D97-AF65-F5344CB8AC3E}">
        <p14:creationId xmlns:p14="http://schemas.microsoft.com/office/powerpoint/2010/main" val="53988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age181image51319680"/>
          <p:cNvPicPr>
            <a:picLocks noChangeAspect="1" noChangeArrowheads="1"/>
          </p:cNvPicPr>
          <p:nvPr/>
        </p:nvPicPr>
        <p:blipFill rotWithShape="1">
          <a:blip r:embed="rId2">
            <a:extLst>
              <a:ext uri="{28A0092B-C50C-407E-A947-70E740481C1C}">
                <a14:useLocalDpi xmlns:a14="http://schemas.microsoft.com/office/drawing/2010/main" val="0"/>
              </a:ext>
            </a:extLst>
          </a:blip>
          <a:srcRect l="9726" t="48288" r="9047" b="21609"/>
          <a:stretch/>
        </p:blipFill>
        <p:spPr bwMode="auto">
          <a:xfrm>
            <a:off x="637952" y="765546"/>
            <a:ext cx="10675089" cy="5917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500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age182image51161248"/>
          <p:cNvPicPr>
            <a:picLocks noChangeAspect="1" noChangeArrowheads="1"/>
          </p:cNvPicPr>
          <p:nvPr/>
        </p:nvPicPr>
        <p:blipFill rotWithShape="1">
          <a:blip r:embed="rId2">
            <a:extLst>
              <a:ext uri="{28A0092B-C50C-407E-A947-70E740481C1C}">
                <a14:useLocalDpi xmlns:a14="http://schemas.microsoft.com/office/drawing/2010/main" val="0"/>
              </a:ext>
            </a:extLst>
          </a:blip>
          <a:srcRect l="13133" t="7212" r="8071" b="67703"/>
          <a:stretch/>
        </p:blipFill>
        <p:spPr bwMode="auto">
          <a:xfrm>
            <a:off x="595422" y="382772"/>
            <a:ext cx="11074879" cy="527374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765975" y="6115123"/>
            <a:ext cx="3111749" cy="523220"/>
          </a:xfrm>
          <a:prstGeom prst="rect">
            <a:avLst/>
          </a:prstGeom>
        </p:spPr>
        <p:txBody>
          <a:bodyPr wrap="none">
            <a:spAutoFit/>
          </a:bodyPr>
          <a:lstStyle/>
          <a:p>
            <a:r>
              <a:rPr lang="en-US" altLang="zh-CN" sz="2800" b="1" dirty="0">
                <a:latin typeface="Symbol" charset="2"/>
                <a:ea typeface="Symbol" charset="2"/>
                <a:cs typeface="Symbol" charset="2"/>
              </a:rPr>
              <a:t>h=2, </a:t>
            </a:r>
            <a:r>
              <a:rPr lang="zh-CN" altLang="en-US" sz="2800" b="1" dirty="0">
                <a:latin typeface="Symbol" charset="2"/>
                <a:ea typeface="Symbol" charset="2"/>
                <a:cs typeface="Symbol" charset="2"/>
              </a:rPr>
              <a:t>费米面如何？</a:t>
            </a:r>
          </a:p>
        </p:txBody>
      </p:sp>
    </p:spTree>
    <p:extLst>
      <p:ext uri="{BB962C8B-B14F-4D97-AF65-F5344CB8AC3E}">
        <p14:creationId xmlns:p14="http://schemas.microsoft.com/office/powerpoint/2010/main" val="503590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descr="age183image51208528"/>
          <p:cNvPicPr>
            <a:picLocks noChangeAspect="1" noChangeArrowheads="1"/>
          </p:cNvPicPr>
          <p:nvPr/>
        </p:nvPicPr>
        <p:blipFill rotWithShape="1">
          <a:blip r:embed="rId2">
            <a:extLst>
              <a:ext uri="{28A0092B-C50C-407E-A947-70E740481C1C}">
                <a14:useLocalDpi xmlns:a14="http://schemas.microsoft.com/office/drawing/2010/main" val="0"/>
              </a:ext>
            </a:extLst>
          </a:blip>
          <a:srcRect l="16416" t="19441" r="11823" b="60178"/>
          <a:stretch/>
        </p:blipFill>
        <p:spPr bwMode="auto">
          <a:xfrm>
            <a:off x="340240" y="1945758"/>
            <a:ext cx="11562668" cy="4912242"/>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936189" y="377087"/>
            <a:ext cx="5362365" cy="523220"/>
          </a:xfrm>
          <a:prstGeom prst="rect">
            <a:avLst/>
          </a:prstGeom>
        </p:spPr>
        <p:txBody>
          <a:bodyPr wrap="none">
            <a:spAutoFit/>
          </a:bodyPr>
          <a:lstStyle/>
          <a:p>
            <a:r>
              <a:rPr lang="en-US" altLang="zh-CN" sz="2800" b="1" dirty="0"/>
              <a:t>7.6.2</a:t>
            </a:r>
            <a:r>
              <a:rPr lang="zh-CN" altLang="en-US" sz="2800" b="1" dirty="0"/>
              <a:t> 电子和空穴轨道（磁场中）</a:t>
            </a:r>
            <a:endParaRPr lang="en-US" altLang="zh-CN" sz="2800" dirty="0"/>
          </a:p>
        </p:txBody>
      </p:sp>
      <mc:AlternateContent xmlns:mc="http://schemas.openxmlformats.org/markup-compatibility/2006" xmlns:a14="http://schemas.microsoft.com/office/drawing/2010/main">
        <mc:Choice Requires="a14">
          <p:sp>
            <p:nvSpPr>
              <p:cNvPr id="2" name="矩形 1"/>
              <p:cNvSpPr/>
              <p:nvPr/>
            </p:nvSpPr>
            <p:spPr>
              <a:xfrm>
                <a:off x="2383334" y="1062324"/>
                <a:ext cx="5569819" cy="721416"/>
              </a:xfrm>
              <a:prstGeom prst="rect">
                <a:avLst/>
              </a:prstGeom>
            </p:spPr>
            <p:txBody>
              <a:bodyPr wrap="square">
                <a:spAutoFit/>
              </a:bodyPr>
              <a:lstStyle/>
              <a:p>
                <a14:m>
                  <m:oMath xmlns:m="http://schemas.openxmlformats.org/officeDocument/2006/math">
                    <m:f>
                      <m:fPr>
                        <m:ctrlPr>
                          <a:rPr lang="en-US" altLang="zh-CN" sz="2800" i="1" smtClean="0">
                            <a:latin typeface="Cambria Math" panose="02040503050406030204" pitchFamily="18" charset="0"/>
                          </a:rPr>
                        </m:ctrlPr>
                      </m:fPr>
                      <m:num>
                        <m:r>
                          <m:rPr>
                            <m:brk m:alnAt="7"/>
                          </m:rPr>
                          <a:rPr lang="en-US" altLang="zh-CN" sz="2800" i="1">
                            <a:latin typeface="Cambria Math" panose="02040503050406030204" pitchFamily="18" charset="0"/>
                          </a:rPr>
                          <m:t>𝑑</m:t>
                        </m:r>
                        <m:sSup>
                          <m:sSupPr>
                            <m:ctrlPr>
                              <a:rPr lang="en-US" altLang="zh-CN" sz="2800" i="1" dirty="0">
                                <a:latin typeface="Cambria Math" panose="02040503050406030204" pitchFamily="18" charset="0"/>
                              </a:rPr>
                            </m:ctrlPr>
                          </m:sSupPr>
                          <m:e>
                            <m:r>
                              <a:rPr lang="en-US" altLang="zh-CN" sz="2800" i="1" dirty="0">
                                <a:latin typeface="Cambria Math" panose="02040503050406030204" pitchFamily="18" charset="0"/>
                              </a:rPr>
                              <m:t>ħ</m:t>
                            </m:r>
                          </m:e>
                          <m:sup>
                            <m:r>
                              <a:rPr lang="en-US" altLang="zh-CN" sz="2800" i="1" dirty="0">
                                <a:latin typeface="Cambria Math" panose="02040503050406030204" pitchFamily="18" charset="0"/>
                              </a:rPr>
                              <m:t> </m:t>
                            </m:r>
                          </m:sup>
                        </m:sSup>
                        <m:sSup>
                          <m:sSupPr>
                            <m:ctrlPr>
                              <a:rPr lang="en-US" altLang="zh-CN" sz="2800" i="1" dirty="0">
                                <a:latin typeface="Cambria Math" panose="02040503050406030204" pitchFamily="18" charset="0"/>
                              </a:rPr>
                            </m:ctrlPr>
                          </m:sSupPr>
                          <m:e>
                            <m:r>
                              <a:rPr lang="en-US" altLang="zh-CN" sz="2800" b="1" i="1" dirty="0">
                                <a:latin typeface="Cambria Math" panose="02040503050406030204" pitchFamily="18" charset="0"/>
                              </a:rPr>
                              <m:t>𝒌</m:t>
                            </m:r>
                          </m:e>
                          <m:sup>
                            <m:r>
                              <a:rPr lang="en-US" altLang="zh-CN" sz="2800" i="1" dirty="0">
                                <a:latin typeface="Cambria Math" panose="02040503050406030204" pitchFamily="18" charset="0"/>
                              </a:rPr>
                              <m:t> </m:t>
                            </m:r>
                          </m:sup>
                        </m:sSup>
                      </m:num>
                      <m:den>
                        <m:r>
                          <m:rPr>
                            <m:brk m:alnAt="7"/>
                          </m:rPr>
                          <a:rPr lang="en-US" altLang="zh-CN" sz="2800" i="1">
                            <a:latin typeface="Cambria Math" panose="02040503050406030204" pitchFamily="18" charset="0"/>
                          </a:rPr>
                          <m:t>𝑑</m:t>
                        </m:r>
                        <m:r>
                          <a:rPr lang="en-US" altLang="zh-CN" sz="2800" i="1">
                            <a:latin typeface="Cambria Math" panose="02040503050406030204" pitchFamily="18" charset="0"/>
                          </a:rPr>
                          <m:t>𝑡</m:t>
                        </m:r>
                      </m:den>
                    </m:f>
                  </m:oMath>
                </a14:m>
                <a:r>
                  <a:rPr lang="en-US" altLang="zh-CN" sz="2800" dirty="0"/>
                  <a:t>=-e </a:t>
                </a:r>
                <a:r>
                  <a:rPr lang="en-US" altLang="zh-CN" sz="2800" b="1" dirty="0"/>
                  <a:t>v </a:t>
                </a:r>
                <a:r>
                  <a:rPr lang="en-US" altLang="zh-CN" sz="2800" dirty="0"/>
                  <a:t>x </a:t>
                </a:r>
                <a:r>
                  <a:rPr lang="en-US" altLang="zh-CN" sz="2800" b="1" dirty="0"/>
                  <a:t>B</a:t>
                </a:r>
                <a14:m>
                  <m:oMath xmlns:m="http://schemas.openxmlformats.org/officeDocument/2006/math">
                    <m:r>
                      <a:rPr lang="en-US" altLang="zh-CN" sz="2800" b="1" i="1">
                        <a:latin typeface="Cambria Math" panose="02040503050406030204" pitchFamily="18" charset="0"/>
                        <a:ea typeface="Cambria Math" panose="02040503050406030204" pitchFamily="18" charset="0"/>
                      </a:rPr>
                      <m:t>=</m:t>
                    </m:r>
                    <m:r>
                      <a:rPr lang="en-US" altLang="zh-CN" sz="2800" b="1" i="1" smtClean="0">
                        <a:latin typeface="Cambria Math" charset="0"/>
                        <a:ea typeface="Cambria Math" panose="02040503050406030204" pitchFamily="18" charset="0"/>
                      </a:rPr>
                      <m:t>−</m:t>
                    </m:r>
                    <m:f>
                      <m:fPr>
                        <m:ctrlPr>
                          <a:rPr lang="en-US" altLang="zh-CN" sz="2800" i="1">
                            <a:latin typeface="Cambria Math" panose="02040503050406030204" pitchFamily="18" charset="0"/>
                          </a:rPr>
                        </m:ctrlPr>
                      </m:fPr>
                      <m:num>
                        <m:r>
                          <a:rPr lang="en-US" altLang="zh-CN" sz="2800" b="0" i="1" smtClean="0">
                            <a:latin typeface="Cambria Math" charset="0"/>
                          </a:rPr>
                          <m:t>𝑒</m:t>
                        </m:r>
                      </m:num>
                      <m:den>
                        <m:r>
                          <a:rPr lang="en-US" altLang="zh-CN" sz="2800" i="1" dirty="0">
                            <a:latin typeface="Cambria Math" panose="02040503050406030204" pitchFamily="18" charset="0"/>
                          </a:rPr>
                          <m:t>ħ</m:t>
                        </m:r>
                      </m:den>
                    </m:f>
                    <m:sSub>
                      <m:sSubPr>
                        <m:ctrlPr>
                          <a:rPr lang="en-US" altLang="zh-CN" sz="2800" i="1">
                            <a:latin typeface="Cambria Math" panose="02040503050406030204" pitchFamily="18" charset="0"/>
                            <a:ea typeface="Cambria Math" panose="02040503050406030204" pitchFamily="18" charset="0"/>
                          </a:rPr>
                        </m:ctrlPr>
                      </m:sSubPr>
                      <m:e>
                        <m:r>
                          <m:rPr>
                            <m:nor/>
                          </m:rPr>
                          <a:rPr lang="en-US" altLang="zh-CN" sz="2800" i="1">
                            <a:latin typeface="Cambria Math" panose="02040503050406030204" pitchFamily="18" charset="0"/>
                            <a:ea typeface="Cambria Math" panose="02040503050406030204" pitchFamily="18" charset="0"/>
                          </a:rPr>
                          <m:t>∇</m:t>
                        </m:r>
                      </m:e>
                      <m:sub>
                        <m:r>
                          <a:rPr lang="en-US" altLang="zh-CN" sz="2800" i="1">
                            <a:latin typeface="Cambria Math" panose="02040503050406030204" pitchFamily="18" charset="0"/>
                            <a:ea typeface="Cambria Math" panose="02040503050406030204" pitchFamily="18" charset="0"/>
                          </a:rPr>
                          <m:t>𝑘</m:t>
                        </m:r>
                      </m:sub>
                    </m:sSub>
                    <m:r>
                      <a:rPr lang="en-US" altLang="zh-CN" sz="2800" i="1">
                        <a:latin typeface="Cambria Math" panose="02040503050406030204" pitchFamily="18" charset="0"/>
                        <a:ea typeface="Cambria Math" panose="02040503050406030204" pitchFamily="18" charset="0"/>
                      </a:rPr>
                      <m:t>𝐸</m:t>
                    </m:r>
                    <m:r>
                      <m:rPr>
                        <m:nor/>
                      </m:rPr>
                      <a:rPr lang="en-US" altLang="zh-CN" sz="2800" b="0" i="0" smtClean="0">
                        <a:latin typeface="Cambria Math" panose="02040503050406030204" pitchFamily="18" charset="0"/>
                        <a:ea typeface="Cambria Math" panose="02040503050406030204" pitchFamily="18" charset="0"/>
                      </a:rPr>
                      <m:t> </m:t>
                    </m:r>
                    <m:r>
                      <m:rPr>
                        <m:nor/>
                      </m:rPr>
                      <a:rPr lang="en-US" altLang="zh-CN" sz="2800" dirty="0"/>
                      <m:t>x</m:t>
                    </m:r>
                    <m:r>
                      <m:rPr>
                        <m:nor/>
                      </m:rPr>
                      <a:rPr lang="en-US" altLang="zh-CN" sz="2800" b="1" i="0" dirty="0" smtClean="0"/>
                      <m:t> </m:t>
                    </m:r>
                    <m:r>
                      <m:rPr>
                        <m:nor/>
                      </m:rPr>
                      <a:rPr lang="en-US" altLang="zh-CN" sz="2800" b="1" dirty="0"/>
                      <m:t>B</m:t>
                    </m:r>
                  </m:oMath>
                </a14:m>
                <a:endParaRPr lang="zh-CN" altLang="en-US" sz="2800" b="1" dirty="0"/>
              </a:p>
            </p:txBody>
          </p:sp>
        </mc:Choice>
        <mc:Fallback xmlns="">
          <p:sp>
            <p:nvSpPr>
              <p:cNvPr id="2" name="矩形 1"/>
              <p:cNvSpPr>
                <a:spLocks noRot="1" noChangeAspect="1" noMove="1" noResize="1" noEditPoints="1" noAdjustHandles="1" noChangeArrowheads="1" noChangeShapeType="1" noTextEdit="1"/>
              </p:cNvSpPr>
              <p:nvPr/>
            </p:nvSpPr>
            <p:spPr>
              <a:xfrm>
                <a:off x="2383334" y="1062324"/>
                <a:ext cx="5569819" cy="721416"/>
              </a:xfrm>
              <a:prstGeom prst="rect">
                <a:avLst/>
              </a:prstGeom>
              <a:blipFill rotWithShape="0">
                <a:blip r:embed="rId3"/>
                <a:stretch>
                  <a:fillRect b="-9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816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descr="age183image51208528"/>
          <p:cNvPicPr>
            <a:picLocks noChangeAspect="1" noChangeArrowheads="1"/>
          </p:cNvPicPr>
          <p:nvPr/>
        </p:nvPicPr>
        <p:blipFill rotWithShape="1">
          <a:blip r:embed="rId2">
            <a:extLst>
              <a:ext uri="{28A0092B-C50C-407E-A947-70E740481C1C}">
                <a14:useLocalDpi xmlns:a14="http://schemas.microsoft.com/office/drawing/2010/main" val="0"/>
              </a:ext>
            </a:extLst>
          </a:blip>
          <a:srcRect l="17354" t="45467" r="16514" b="29448"/>
          <a:stretch/>
        </p:blipFill>
        <p:spPr bwMode="auto">
          <a:xfrm>
            <a:off x="531627" y="637954"/>
            <a:ext cx="10249786" cy="5815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592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97120" y="2428240"/>
            <a:ext cx="5201920" cy="707886"/>
          </a:xfrm>
          <a:prstGeom prst="rect">
            <a:avLst/>
          </a:prstGeom>
          <a:noFill/>
        </p:spPr>
        <p:txBody>
          <a:bodyPr wrap="square" rtlCol="0">
            <a:spAutoFit/>
          </a:bodyPr>
          <a:lstStyle/>
          <a:p>
            <a:r>
              <a:rPr lang="en-US" altLang="zh-CN" sz="4000" dirty="0"/>
              <a:t>The End</a:t>
            </a:r>
            <a:endParaRPr lang="zh-CN" altLang="en-US" sz="4000" dirty="0"/>
          </a:p>
        </p:txBody>
      </p:sp>
    </p:spTree>
    <p:extLst>
      <p:ext uri="{BB962C8B-B14F-4D97-AF65-F5344CB8AC3E}">
        <p14:creationId xmlns:p14="http://schemas.microsoft.com/office/powerpoint/2010/main" val="6780552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4110</TotalTime>
  <Words>3092</Words>
  <Application>Microsoft Office PowerPoint</Application>
  <PresentationFormat>宽屏</PresentationFormat>
  <Paragraphs>325</Paragraphs>
  <Slides>35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35</vt:i4>
      </vt:variant>
    </vt:vector>
  </HeadingPairs>
  <TitlesOfParts>
    <vt:vector size="43" baseType="lpstr">
      <vt:lpstr>等线</vt:lpstr>
      <vt:lpstr>等线 Light</vt:lpstr>
      <vt:lpstr>Arial</vt:lpstr>
      <vt:lpstr>Cambria</vt:lpstr>
      <vt:lpstr>Cambria Math</vt:lpstr>
      <vt:lpstr>Symbol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zhanglixin</dc:creator>
  <cp:lastModifiedBy>禹帆 卢</cp:lastModifiedBy>
  <cp:revision>258</cp:revision>
  <dcterms:created xsi:type="dcterms:W3CDTF">2020-04-20T08:06:26Z</dcterms:created>
  <dcterms:modified xsi:type="dcterms:W3CDTF">2026-05-29T02:57:13Z</dcterms:modified>
</cp:coreProperties>
</file>