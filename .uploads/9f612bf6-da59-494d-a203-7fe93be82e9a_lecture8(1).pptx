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40" r:id="rId2"/>
    <p:sldId id="441" r:id="rId3"/>
    <p:sldId id="447" r:id="rId4"/>
    <p:sldId id="448" r:id="rId5"/>
    <p:sldId id="449" r:id="rId6"/>
    <p:sldId id="450" r:id="rId7"/>
    <p:sldId id="579" r:id="rId8"/>
    <p:sldId id="451" r:id="rId9"/>
    <p:sldId id="453" r:id="rId10"/>
    <p:sldId id="575" r:id="rId11"/>
    <p:sldId id="576" r:id="rId12"/>
    <p:sldId id="456" r:id="rId13"/>
    <p:sldId id="460" r:id="rId14"/>
    <p:sldId id="461" r:id="rId15"/>
    <p:sldId id="478" r:id="rId16"/>
    <p:sldId id="577" r:id="rId17"/>
    <p:sldId id="578" r:id="rId18"/>
    <p:sldId id="580" r:id="rId19"/>
    <p:sldId id="572" r:id="rId20"/>
    <p:sldId id="463" r:id="rId21"/>
    <p:sldId id="573" r:id="rId22"/>
    <p:sldId id="256" r:id="rId23"/>
    <p:sldId id="581" r:id="rId24"/>
    <p:sldId id="257" r:id="rId25"/>
    <p:sldId id="411" r:id="rId26"/>
    <p:sldId id="258" r:id="rId27"/>
    <p:sldId id="259" r:id="rId28"/>
    <p:sldId id="412" r:id="rId29"/>
    <p:sldId id="296" r:id="rId30"/>
    <p:sldId id="260" r:id="rId31"/>
    <p:sldId id="291" r:id="rId32"/>
    <p:sldId id="297" r:id="rId33"/>
    <p:sldId id="312" r:id="rId34"/>
    <p:sldId id="283" r:id="rId35"/>
    <p:sldId id="571" r:id="rId36"/>
    <p:sldId id="284" r:id="rId37"/>
    <p:sldId id="285" r:id="rId38"/>
    <p:sldId id="286" r:id="rId39"/>
    <p:sldId id="300" r:id="rId40"/>
    <p:sldId id="288" r:id="rId41"/>
    <p:sldId id="304" r:id="rId42"/>
    <p:sldId id="302" r:id="rId43"/>
    <p:sldId id="303" r:id="rId44"/>
    <p:sldId id="305" r:id="rId45"/>
    <p:sldId id="306" r:id="rId46"/>
    <p:sldId id="307" r:id="rId47"/>
    <p:sldId id="308" r:id="rId48"/>
    <p:sldId id="309" r:id="rId49"/>
    <p:sldId id="331" r:id="rId50"/>
    <p:sldId id="316" r:id="rId51"/>
    <p:sldId id="310" r:id="rId52"/>
    <p:sldId id="311" r:id="rId53"/>
    <p:sldId id="574" r:id="rId54"/>
    <p:sldId id="313" r:id="rId55"/>
    <p:sldId id="320" r:id="rId56"/>
    <p:sldId id="317" r:id="rId57"/>
    <p:sldId id="318" r:id="rId58"/>
    <p:sldId id="319" r:id="rId59"/>
    <p:sldId id="321" r:id="rId60"/>
    <p:sldId id="322" r:id="rId61"/>
    <p:sldId id="323" r:id="rId62"/>
    <p:sldId id="470" r:id="rId63"/>
    <p:sldId id="471" r:id="rId64"/>
    <p:sldId id="472" r:id="rId65"/>
    <p:sldId id="324" r:id="rId66"/>
  </p:sldIdLst>
  <p:sldSz cx="9144000" cy="6858000" type="screen4x3"/>
  <p:notesSz cx="6858000" cy="9144000"/>
  <p:defaultTextStyle>
    <a:defPPr>
      <a:defRPr lang="zh-CN"/>
    </a:defPPr>
    <a:lvl1pPr algn="l" rtl="0" fontAlgn="base">
      <a:spcBef>
        <a:spcPct val="0"/>
      </a:spcBef>
      <a:spcAft>
        <a:spcPct val="0"/>
      </a:spcAft>
      <a:defRPr kumimoji="1" sz="3200" b="1"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3200" b="1"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3200" b="1"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3200" b="1"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3200" b="1"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3200" b="1"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3200" b="1"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3200" b="1"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3200" b="1"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41" autoAdjust="0"/>
    <p:restoredTop sz="94669" autoAdjust="0"/>
  </p:normalViewPr>
  <p:slideViewPr>
    <p:cSldViewPr>
      <p:cViewPr varScale="1">
        <p:scale>
          <a:sx n="98" d="100"/>
          <a:sy n="98" d="100"/>
        </p:scale>
        <p:origin x="-84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5" Type="http://schemas.openxmlformats.org/officeDocument/2006/relationships/image" Target="../media/image18.wmf"/><Relationship Id="rId4" Type="http://schemas.openxmlformats.org/officeDocument/2006/relationships/image" Target="../media/image1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9.wmf"/><Relationship Id="rId4"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5.wmf"/><Relationship Id="rId1" Type="http://schemas.openxmlformats.org/officeDocument/2006/relationships/image" Target="../media/image19.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4" Type="http://schemas.openxmlformats.org/officeDocument/2006/relationships/image" Target="../media/image1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5.wmf"/><Relationship Id="rId1" Type="http://schemas.openxmlformats.org/officeDocument/2006/relationships/image" Target="../media/image3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15.wmf"/><Relationship Id="rId1" Type="http://schemas.openxmlformats.org/officeDocument/2006/relationships/image" Target="../media/image49.wmf"/><Relationship Id="rId4" Type="http://schemas.openxmlformats.org/officeDocument/2006/relationships/image" Target="../media/image51.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15.wmf"/><Relationship Id="rId1" Type="http://schemas.openxmlformats.org/officeDocument/2006/relationships/image" Target="../media/image49.wmf"/><Relationship Id="rId4" Type="http://schemas.openxmlformats.org/officeDocument/2006/relationships/image" Target="../media/image5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49.wmf"/><Relationship Id="rId1" Type="http://schemas.openxmlformats.org/officeDocument/2006/relationships/image" Target="../media/image15.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image" Target="../media/image59.emf"/><Relationship Id="rId4" Type="http://schemas.openxmlformats.org/officeDocument/2006/relationships/image" Target="../media/image62.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65.emf"/><Relationship Id="rId7" Type="http://schemas.openxmlformats.org/officeDocument/2006/relationships/image" Target="../media/image69.emf"/><Relationship Id="rId2" Type="http://schemas.openxmlformats.org/officeDocument/2006/relationships/image" Target="../media/image64.emf"/><Relationship Id="rId1" Type="http://schemas.openxmlformats.org/officeDocument/2006/relationships/image" Target="../media/image63.emf"/><Relationship Id="rId6" Type="http://schemas.openxmlformats.org/officeDocument/2006/relationships/image" Target="../media/image68.emf"/><Relationship Id="rId5" Type="http://schemas.openxmlformats.org/officeDocument/2006/relationships/image" Target="../media/image67.emf"/><Relationship Id="rId4" Type="http://schemas.openxmlformats.org/officeDocument/2006/relationships/image" Target="../media/image66.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wmf"/><Relationship Id="rId1" Type="http://schemas.openxmlformats.org/officeDocument/2006/relationships/image" Target="../media/image7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76.e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79.e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72.wmf"/><Relationship Id="rId1" Type="http://schemas.openxmlformats.org/officeDocument/2006/relationships/image" Target="../media/image80.wmf"/><Relationship Id="rId4" Type="http://schemas.openxmlformats.org/officeDocument/2006/relationships/image" Target="../media/image82.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4" Type="http://schemas.openxmlformats.org/officeDocument/2006/relationships/image" Target="../media/image87.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3F3BC8D-62EA-4FCE-81EC-3BAA352AF26E}" type="slidenum">
              <a:rPr lang="en-US" altLang="zh-CN"/>
              <a:pPr>
                <a:defRPr/>
              </a:pPr>
              <a:t>‹#›</a:t>
            </a:fld>
            <a:endParaRPr lang="en-US" altLang="zh-CN"/>
          </a:p>
        </p:txBody>
      </p:sp>
    </p:spTree>
    <p:extLst>
      <p:ext uri="{BB962C8B-B14F-4D97-AF65-F5344CB8AC3E}">
        <p14:creationId xmlns:p14="http://schemas.microsoft.com/office/powerpoint/2010/main" val="624692444"/>
      </p:ext>
    </p:extLst>
  </p:cSld>
  <p:clrMapOvr>
    <a:masterClrMapping/>
  </p:clrMapOvr>
  <p:transition spd="med">
    <p:pull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8A6FE57-9669-4723-90B5-A84FD4E487F0}" type="slidenum">
              <a:rPr lang="en-US" altLang="zh-CN"/>
              <a:pPr>
                <a:defRPr/>
              </a:pPr>
              <a:t>‹#›</a:t>
            </a:fld>
            <a:endParaRPr lang="en-US" altLang="zh-CN"/>
          </a:p>
        </p:txBody>
      </p:sp>
    </p:spTree>
    <p:extLst>
      <p:ext uri="{BB962C8B-B14F-4D97-AF65-F5344CB8AC3E}">
        <p14:creationId xmlns:p14="http://schemas.microsoft.com/office/powerpoint/2010/main" val="3999330744"/>
      </p:ext>
    </p:extLst>
  </p:cSld>
  <p:clrMapOvr>
    <a:masterClrMapping/>
  </p:clrMapOvr>
  <p:transition spd="med">
    <p:pull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3A4CF73F-0A76-4D32-AED8-62EE867F739F}" type="slidenum">
              <a:rPr lang="en-US" altLang="zh-CN"/>
              <a:pPr>
                <a:defRPr/>
              </a:pPr>
              <a:t>‹#›</a:t>
            </a:fld>
            <a:endParaRPr lang="en-US" altLang="zh-CN"/>
          </a:p>
        </p:txBody>
      </p:sp>
    </p:spTree>
    <p:extLst>
      <p:ext uri="{BB962C8B-B14F-4D97-AF65-F5344CB8AC3E}">
        <p14:creationId xmlns:p14="http://schemas.microsoft.com/office/powerpoint/2010/main" val="148616769"/>
      </p:ext>
    </p:extLst>
  </p:cSld>
  <p:clrMapOvr>
    <a:masterClrMapping/>
  </p:clrMapOvr>
  <p:transition spd="med">
    <p:pull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AE9D570-23E5-4587-BDEF-5DF7ED3DA8E3}" type="slidenum">
              <a:rPr lang="en-US" altLang="zh-CN"/>
              <a:pPr>
                <a:defRPr/>
              </a:pPr>
              <a:t>‹#›</a:t>
            </a:fld>
            <a:endParaRPr lang="en-US" altLang="zh-CN"/>
          </a:p>
        </p:txBody>
      </p:sp>
    </p:spTree>
    <p:extLst>
      <p:ext uri="{BB962C8B-B14F-4D97-AF65-F5344CB8AC3E}">
        <p14:creationId xmlns:p14="http://schemas.microsoft.com/office/powerpoint/2010/main" val="3100463167"/>
      </p:ext>
    </p:extLst>
  </p:cSld>
  <p:clrMapOvr>
    <a:masterClrMapping/>
  </p:clrMapOvr>
  <p:transition spd="med">
    <p:pull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10C5A55-9C60-437A-9DF9-96C6B22D82DF}" type="slidenum">
              <a:rPr lang="en-US" altLang="zh-CN"/>
              <a:pPr>
                <a:defRPr/>
              </a:pPr>
              <a:t>‹#›</a:t>
            </a:fld>
            <a:endParaRPr lang="en-US" altLang="zh-CN"/>
          </a:p>
        </p:txBody>
      </p:sp>
    </p:spTree>
    <p:extLst>
      <p:ext uri="{BB962C8B-B14F-4D97-AF65-F5344CB8AC3E}">
        <p14:creationId xmlns:p14="http://schemas.microsoft.com/office/powerpoint/2010/main" val="159182061"/>
      </p:ext>
    </p:extLst>
  </p:cSld>
  <p:clrMapOvr>
    <a:masterClrMapping/>
  </p:clrMapOvr>
  <p:transition spd="med">
    <p:pull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4F26C930-D02A-4536-B7E5-A473097E3F80}" type="slidenum">
              <a:rPr lang="en-US" altLang="zh-CN"/>
              <a:pPr>
                <a:defRPr/>
              </a:pPr>
              <a:t>‹#›</a:t>
            </a:fld>
            <a:endParaRPr lang="en-US" altLang="zh-CN"/>
          </a:p>
        </p:txBody>
      </p:sp>
    </p:spTree>
    <p:extLst>
      <p:ext uri="{BB962C8B-B14F-4D97-AF65-F5344CB8AC3E}">
        <p14:creationId xmlns:p14="http://schemas.microsoft.com/office/powerpoint/2010/main" val="3608686184"/>
      </p:ext>
    </p:extLst>
  </p:cSld>
  <p:clrMapOvr>
    <a:masterClrMapping/>
  </p:clrMapOvr>
  <p:transition spd="med">
    <p:pull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297CF4C9-8649-4519-930D-CC9E1E6F76DA}" type="slidenum">
              <a:rPr lang="en-US" altLang="zh-CN"/>
              <a:pPr>
                <a:defRPr/>
              </a:pPr>
              <a:t>‹#›</a:t>
            </a:fld>
            <a:endParaRPr lang="en-US" altLang="zh-CN"/>
          </a:p>
        </p:txBody>
      </p:sp>
    </p:spTree>
    <p:extLst>
      <p:ext uri="{BB962C8B-B14F-4D97-AF65-F5344CB8AC3E}">
        <p14:creationId xmlns:p14="http://schemas.microsoft.com/office/powerpoint/2010/main" val="3146301661"/>
      </p:ext>
    </p:extLst>
  </p:cSld>
  <p:clrMapOvr>
    <a:masterClrMapping/>
  </p:clrMapOvr>
  <p:transition spd="med">
    <p:pull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B55AF26-7A27-4AD7-BC65-0CABCB6BD7F2}" type="slidenum">
              <a:rPr lang="en-US" altLang="zh-CN"/>
              <a:pPr>
                <a:defRPr/>
              </a:pPr>
              <a:t>‹#›</a:t>
            </a:fld>
            <a:endParaRPr lang="en-US" altLang="zh-CN"/>
          </a:p>
        </p:txBody>
      </p:sp>
    </p:spTree>
    <p:extLst>
      <p:ext uri="{BB962C8B-B14F-4D97-AF65-F5344CB8AC3E}">
        <p14:creationId xmlns:p14="http://schemas.microsoft.com/office/powerpoint/2010/main" val="2163508667"/>
      </p:ext>
    </p:extLst>
  </p:cSld>
  <p:clrMapOvr>
    <a:masterClrMapping/>
  </p:clrMapOvr>
  <p:transition spd="med">
    <p:pull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E6A4E24-835D-4698-BBB9-76E8BC3086EE}" type="slidenum">
              <a:rPr lang="en-US" altLang="zh-CN"/>
              <a:pPr>
                <a:defRPr/>
              </a:pPr>
              <a:t>‹#›</a:t>
            </a:fld>
            <a:endParaRPr lang="en-US" altLang="zh-CN"/>
          </a:p>
        </p:txBody>
      </p:sp>
    </p:spTree>
    <p:extLst>
      <p:ext uri="{BB962C8B-B14F-4D97-AF65-F5344CB8AC3E}">
        <p14:creationId xmlns:p14="http://schemas.microsoft.com/office/powerpoint/2010/main" val="2684911327"/>
      </p:ext>
    </p:extLst>
  </p:cSld>
  <p:clrMapOvr>
    <a:masterClrMapping/>
  </p:clrMapOvr>
  <p:transition spd="med">
    <p:pull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965A7CE-D718-4FAA-8833-6A8561760982}" type="slidenum">
              <a:rPr lang="en-US" altLang="zh-CN"/>
              <a:pPr>
                <a:defRPr/>
              </a:pPr>
              <a:t>‹#›</a:t>
            </a:fld>
            <a:endParaRPr lang="en-US" altLang="zh-CN"/>
          </a:p>
        </p:txBody>
      </p:sp>
    </p:spTree>
    <p:extLst>
      <p:ext uri="{BB962C8B-B14F-4D97-AF65-F5344CB8AC3E}">
        <p14:creationId xmlns:p14="http://schemas.microsoft.com/office/powerpoint/2010/main" val="1022159625"/>
      </p:ext>
    </p:extLst>
  </p:cSld>
  <p:clrMapOvr>
    <a:masterClrMapping/>
  </p:clrMapOvr>
  <p:transition spd="med">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0EB7F53-455B-4994-9A47-F75F615B8A3B}" type="slidenum">
              <a:rPr lang="en-US" altLang="zh-CN"/>
              <a:pPr>
                <a:defRPr/>
              </a:pPr>
              <a:t>‹#›</a:t>
            </a:fld>
            <a:endParaRPr lang="en-US" altLang="zh-CN"/>
          </a:p>
        </p:txBody>
      </p:sp>
    </p:spTree>
    <p:extLst>
      <p:ext uri="{BB962C8B-B14F-4D97-AF65-F5344CB8AC3E}">
        <p14:creationId xmlns:p14="http://schemas.microsoft.com/office/powerpoint/2010/main" val="1103621748"/>
      </p:ext>
    </p:extLst>
  </p:cSld>
  <p:clrMapOvr>
    <a:masterClrMapping/>
  </p:clrMapOvr>
  <p:transition spd="med">
    <p:pull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smtClean="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smtClean="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smtClean="0"/>
            </a:lvl1pPr>
          </a:lstStyle>
          <a:p>
            <a:pPr>
              <a:defRPr/>
            </a:pPr>
            <a:fld id="{2A3951A3-C974-40F3-A626-528D92F91E1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pull dir="r"/>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oleObject" Target="../embeddings/oleObject8.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6.bin"/><Relationship Id="rId14" Type="http://schemas.openxmlformats.org/officeDocument/2006/relationships/image" Target="../media/image8.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10.bin"/><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16.bin"/><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11.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0.w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2.wmf"/><Relationship Id="rId4" Type="http://schemas.openxmlformats.org/officeDocument/2006/relationships/image" Target="../media/image9.wmf"/><Relationship Id="rId9" Type="http://schemas.openxmlformats.org/officeDocument/2006/relationships/oleObject" Target="../embeddings/oleObject14.bin"/><Relationship Id="rId14" Type="http://schemas.openxmlformats.org/officeDocument/2006/relationships/image" Target="../media/image12.wmf"/></Relationships>
</file>

<file path=ppt/slides/_rels/slide7.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22.bin"/><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11.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0.w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2.wmf"/><Relationship Id="rId4" Type="http://schemas.openxmlformats.org/officeDocument/2006/relationships/image" Target="../media/image9.wmf"/><Relationship Id="rId9" Type="http://schemas.openxmlformats.org/officeDocument/2006/relationships/oleObject" Target="../embeddings/oleObject20.bin"/><Relationship Id="rId14" Type="http://schemas.openxmlformats.org/officeDocument/2006/relationships/image" Target="../media/image12.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3.wmf"/><Relationship Id="rId5" Type="http://schemas.openxmlformats.org/officeDocument/2006/relationships/oleObject" Target="../embeddings/oleObject24.bin"/><Relationship Id="rId4" Type="http://schemas.openxmlformats.org/officeDocument/2006/relationships/image" Target="../media/image1.wmf"/></Relationships>
</file>

<file path=ppt/slides/_rels/slide9.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25.bin"/><Relationship Id="rId7" Type="http://schemas.openxmlformats.org/officeDocument/2006/relationships/oleObject" Target="../embeddings/oleObject27.bin"/><Relationship Id="rId12" Type="http://schemas.openxmlformats.org/officeDocument/2006/relationships/image" Target="../media/image18.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5.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28.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15.wmf"/><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3.png"/><Relationship Id="rId11" Type="http://schemas.openxmlformats.org/officeDocument/2006/relationships/image" Target="../media/image14.wmf"/><Relationship Id="rId5" Type="http://schemas.openxmlformats.org/officeDocument/2006/relationships/image" Target="../media/image22.png"/><Relationship Id="rId15" Type="http://schemas.openxmlformats.org/officeDocument/2006/relationships/image" Target="../media/image18.wmf"/><Relationship Id="rId10" Type="http://schemas.openxmlformats.org/officeDocument/2006/relationships/oleObject" Target="../embeddings/oleObject31.bin"/><Relationship Id="rId4" Type="http://schemas.openxmlformats.org/officeDocument/2006/relationships/image" Target="../media/image21.png"/><Relationship Id="rId9" Type="http://schemas.openxmlformats.org/officeDocument/2006/relationships/image" Target="../media/image19.wmf"/><Relationship Id="rId14" Type="http://schemas.openxmlformats.org/officeDocument/2006/relationships/oleObject" Target="../embeddings/oleObject33.bin"/></Relationships>
</file>

<file path=ppt/slides/_rels/slide11.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37.bin"/><Relationship Id="rId18" Type="http://schemas.openxmlformats.org/officeDocument/2006/relationships/image" Target="../media/image27.wmf"/><Relationship Id="rId3" Type="http://schemas.openxmlformats.org/officeDocument/2006/relationships/image" Target="../media/image20.png"/><Relationship Id="rId7" Type="http://schemas.openxmlformats.org/officeDocument/2006/relationships/oleObject" Target="../embeddings/oleObject34.bin"/><Relationship Id="rId12" Type="http://schemas.openxmlformats.org/officeDocument/2006/relationships/image" Target="../media/image18.wmf"/><Relationship Id="rId17" Type="http://schemas.openxmlformats.org/officeDocument/2006/relationships/oleObject" Target="../embeddings/oleObject39.bin"/><Relationship Id="rId2" Type="http://schemas.openxmlformats.org/officeDocument/2006/relationships/slideLayout" Target="../slideLayouts/slideLayout7.xml"/><Relationship Id="rId16" Type="http://schemas.openxmlformats.org/officeDocument/2006/relationships/image" Target="../media/image26.wmf"/><Relationship Id="rId1" Type="http://schemas.openxmlformats.org/officeDocument/2006/relationships/vmlDrawing" Target="../drawings/vmlDrawing9.vml"/><Relationship Id="rId6" Type="http://schemas.openxmlformats.org/officeDocument/2006/relationships/image" Target="../media/image23.png"/><Relationship Id="rId11" Type="http://schemas.openxmlformats.org/officeDocument/2006/relationships/oleObject" Target="../embeddings/oleObject36.bin"/><Relationship Id="rId5" Type="http://schemas.openxmlformats.org/officeDocument/2006/relationships/image" Target="../media/image22.png"/><Relationship Id="rId15" Type="http://schemas.openxmlformats.org/officeDocument/2006/relationships/oleObject" Target="../embeddings/oleObject38.bin"/><Relationship Id="rId10" Type="http://schemas.openxmlformats.org/officeDocument/2006/relationships/image" Target="../media/image15.wmf"/><Relationship Id="rId4" Type="http://schemas.openxmlformats.org/officeDocument/2006/relationships/image" Target="../media/image21.png"/><Relationship Id="rId9" Type="http://schemas.openxmlformats.org/officeDocument/2006/relationships/oleObject" Target="../embeddings/oleObject35.bin"/><Relationship Id="rId14" Type="http://schemas.openxmlformats.org/officeDocument/2006/relationships/image" Target="../media/image25.wmf"/></Relationships>
</file>

<file path=ppt/slides/_rels/slide12.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9.wmf"/><Relationship Id="rId5" Type="http://schemas.openxmlformats.org/officeDocument/2006/relationships/oleObject" Target="../embeddings/oleObject41.bin"/><Relationship Id="rId10" Type="http://schemas.openxmlformats.org/officeDocument/2006/relationships/image" Target="../media/image15.wmf"/><Relationship Id="rId4" Type="http://schemas.openxmlformats.org/officeDocument/2006/relationships/image" Target="../media/image28.wmf"/><Relationship Id="rId9" Type="http://schemas.openxmlformats.org/officeDocument/2006/relationships/oleObject" Target="../embeddings/oleObject43.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15.wmf"/><Relationship Id="rId4" Type="http://schemas.openxmlformats.org/officeDocument/2006/relationships/oleObject" Target="../embeddings/oleObject44.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32.wmf"/><Relationship Id="rId5" Type="http://schemas.openxmlformats.org/officeDocument/2006/relationships/oleObject" Target="../embeddings/oleObject46.bin"/><Relationship Id="rId4" Type="http://schemas.openxmlformats.org/officeDocument/2006/relationships/image" Target="../media/image1.wmf"/></Relationships>
</file>

<file path=ppt/slides/_rels/slide16.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33.wmf"/><Relationship Id="rId5" Type="http://schemas.openxmlformats.org/officeDocument/2006/relationships/oleObject" Target="../embeddings/oleObject48.bin"/><Relationship Id="rId4" Type="http://schemas.openxmlformats.org/officeDocument/2006/relationships/image" Target="../media/image32.wmf"/></Relationships>
</file>

<file path=ppt/slides/_rels/slide17.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35.wmf"/><Relationship Id="rId5" Type="http://schemas.openxmlformats.org/officeDocument/2006/relationships/oleObject" Target="../embeddings/oleObject51.bin"/><Relationship Id="rId4" Type="http://schemas.openxmlformats.org/officeDocument/2006/relationships/image" Target="../media/image32.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32.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32.wmf"/></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43.wmf"/><Relationship Id="rId5" Type="http://schemas.openxmlformats.org/officeDocument/2006/relationships/oleObject" Target="../embeddings/oleObject56.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58.bin"/></Relationships>
</file>

<file path=ppt/slides/_rels/slide2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oleObject" Target="../embeddings/oleObject59.bin"/><Relationship Id="rId7" Type="http://schemas.openxmlformats.org/officeDocument/2006/relationships/image" Target="../media/image38.png"/><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47.wmf"/><Relationship Id="rId5" Type="http://schemas.openxmlformats.org/officeDocument/2006/relationships/oleObject" Target="../embeddings/oleObject60.bin"/><Relationship Id="rId4" Type="http://schemas.openxmlformats.org/officeDocument/2006/relationships/image" Target="../media/image46.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48.wmf"/></Relationships>
</file>

<file path=ppt/slides/_rels/slide28.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5.wmf"/><Relationship Id="rId5" Type="http://schemas.openxmlformats.org/officeDocument/2006/relationships/oleObject" Target="../embeddings/oleObject63.bin"/><Relationship Id="rId10" Type="http://schemas.openxmlformats.org/officeDocument/2006/relationships/image" Target="../media/image51.wmf"/><Relationship Id="rId4" Type="http://schemas.openxmlformats.org/officeDocument/2006/relationships/image" Target="../media/image49.wmf"/><Relationship Id="rId9" Type="http://schemas.openxmlformats.org/officeDocument/2006/relationships/oleObject" Target="../embeddings/oleObject65.bin"/></Relationships>
</file>

<file path=ppt/slides/_rels/slide29.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5.wmf"/><Relationship Id="rId5" Type="http://schemas.openxmlformats.org/officeDocument/2006/relationships/oleObject" Target="../embeddings/oleObject67.bin"/><Relationship Id="rId10" Type="http://schemas.openxmlformats.org/officeDocument/2006/relationships/image" Target="../media/image53.wmf"/><Relationship Id="rId4" Type="http://schemas.openxmlformats.org/officeDocument/2006/relationships/image" Target="../media/image49.wmf"/><Relationship Id="rId9" Type="http://schemas.openxmlformats.org/officeDocument/2006/relationships/oleObject" Target="../embeddings/oleObject69.bin"/></Relationships>
</file>

<file path=ppt/slides/_rels/slide30.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49.wmf"/><Relationship Id="rId5" Type="http://schemas.openxmlformats.org/officeDocument/2006/relationships/oleObject" Target="../embeddings/oleObject71.bin"/><Relationship Id="rId4" Type="http://schemas.openxmlformats.org/officeDocument/2006/relationships/image" Target="../media/image15.wmf"/></Relationships>
</file>

<file path=ppt/slides/_rels/slide31.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56.wmf"/><Relationship Id="rId5" Type="http://schemas.openxmlformats.org/officeDocument/2006/relationships/oleObject" Target="../embeddings/oleObject74.bin"/><Relationship Id="rId4" Type="http://schemas.openxmlformats.org/officeDocument/2006/relationships/image" Target="../media/image55.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58.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61.e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60.emf"/><Relationship Id="rId5" Type="http://schemas.openxmlformats.org/officeDocument/2006/relationships/oleObject" Target="../embeddings/oleObject78.bin"/><Relationship Id="rId10" Type="http://schemas.openxmlformats.org/officeDocument/2006/relationships/image" Target="../media/image62.emf"/><Relationship Id="rId4" Type="http://schemas.openxmlformats.org/officeDocument/2006/relationships/image" Target="../media/image59.emf"/><Relationship Id="rId9" Type="http://schemas.openxmlformats.org/officeDocument/2006/relationships/oleObject" Target="../embeddings/oleObject80.bin"/></Relationships>
</file>

<file path=ppt/slides/_rels/slide39.xml.rels><?xml version="1.0" encoding="UTF-8" standalone="yes"?>
<Relationships xmlns="http://schemas.openxmlformats.org/package/2006/relationships"><Relationship Id="rId8" Type="http://schemas.openxmlformats.org/officeDocument/2006/relationships/image" Target="../media/image65.emf"/><Relationship Id="rId13" Type="http://schemas.openxmlformats.org/officeDocument/2006/relationships/oleObject" Target="../embeddings/oleObject86.bin"/><Relationship Id="rId3" Type="http://schemas.openxmlformats.org/officeDocument/2006/relationships/oleObject" Target="../embeddings/oleObject81.bin"/><Relationship Id="rId7" Type="http://schemas.openxmlformats.org/officeDocument/2006/relationships/oleObject" Target="../embeddings/oleObject83.bin"/><Relationship Id="rId12" Type="http://schemas.openxmlformats.org/officeDocument/2006/relationships/image" Target="../media/image67.emf"/><Relationship Id="rId2" Type="http://schemas.openxmlformats.org/officeDocument/2006/relationships/slideLayout" Target="../slideLayouts/slideLayout7.xml"/><Relationship Id="rId16" Type="http://schemas.openxmlformats.org/officeDocument/2006/relationships/image" Target="../media/image69.emf"/><Relationship Id="rId1" Type="http://schemas.openxmlformats.org/officeDocument/2006/relationships/vmlDrawing" Target="../drawings/vmlDrawing26.vml"/><Relationship Id="rId6" Type="http://schemas.openxmlformats.org/officeDocument/2006/relationships/image" Target="../media/image64.emf"/><Relationship Id="rId11" Type="http://schemas.openxmlformats.org/officeDocument/2006/relationships/oleObject" Target="../embeddings/oleObject85.bin"/><Relationship Id="rId5" Type="http://schemas.openxmlformats.org/officeDocument/2006/relationships/oleObject" Target="../embeddings/oleObject82.bin"/><Relationship Id="rId15" Type="http://schemas.openxmlformats.org/officeDocument/2006/relationships/oleObject" Target="../embeddings/oleObject87.bin"/><Relationship Id="rId10" Type="http://schemas.openxmlformats.org/officeDocument/2006/relationships/image" Target="../media/image66.emf"/><Relationship Id="rId4" Type="http://schemas.openxmlformats.org/officeDocument/2006/relationships/image" Target="../media/image63.emf"/><Relationship Id="rId9" Type="http://schemas.openxmlformats.org/officeDocument/2006/relationships/oleObject" Target="../embeddings/oleObject84.bin"/><Relationship Id="rId14" Type="http://schemas.openxmlformats.org/officeDocument/2006/relationships/image" Target="../media/image68.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image" Target="../media/image70.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28.vml"/><Relationship Id="rId4" Type="http://schemas.openxmlformats.org/officeDocument/2006/relationships/image" Target="../media/image71.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oleObject" Target="../embeddings/oleObject90.bin"/><Relationship Id="rId7" Type="http://schemas.openxmlformats.org/officeDocument/2006/relationships/oleObject" Target="../embeddings/oleObject92.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73.wmf"/><Relationship Id="rId5" Type="http://schemas.openxmlformats.org/officeDocument/2006/relationships/oleObject" Target="../embeddings/oleObject91.bin"/><Relationship Id="rId4" Type="http://schemas.openxmlformats.org/officeDocument/2006/relationships/image" Target="../media/image72.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30.vml"/><Relationship Id="rId4" Type="http://schemas.openxmlformats.org/officeDocument/2006/relationships/image" Target="../media/image76.e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78.wmf"/><Relationship Id="rId5" Type="http://schemas.openxmlformats.org/officeDocument/2006/relationships/oleObject" Target="../embeddings/oleObject95.bin"/><Relationship Id="rId4" Type="http://schemas.openxmlformats.org/officeDocument/2006/relationships/image" Target="../media/image77.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79.emf"/></Relationships>
</file>

<file path=ppt/slides/_rels/slide59.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97.bin"/><Relationship Id="rId7" Type="http://schemas.openxmlformats.org/officeDocument/2006/relationships/oleObject" Target="../embeddings/oleObject99.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72.wmf"/><Relationship Id="rId5" Type="http://schemas.openxmlformats.org/officeDocument/2006/relationships/oleObject" Target="../embeddings/oleObject98.bin"/><Relationship Id="rId10" Type="http://schemas.openxmlformats.org/officeDocument/2006/relationships/image" Target="../media/image82.emf"/><Relationship Id="rId4" Type="http://schemas.openxmlformats.org/officeDocument/2006/relationships/image" Target="../media/image80.wmf"/><Relationship Id="rId9" Type="http://schemas.openxmlformats.org/officeDocument/2006/relationships/oleObject" Target="../embeddings/oleObject100.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7.xml"/><Relationship Id="rId1" Type="http://schemas.openxmlformats.org/officeDocument/2006/relationships/vmlDrawing" Target="../drawings/vmlDrawing34.vml"/><Relationship Id="rId4" Type="http://schemas.openxmlformats.org/officeDocument/2006/relationships/image" Target="../media/image83.wmf"/></Relationships>
</file>

<file path=ppt/slides/_rels/slide63.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102.bin"/><Relationship Id="rId7" Type="http://schemas.openxmlformats.org/officeDocument/2006/relationships/oleObject" Target="../embeddings/oleObject104.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85.wmf"/><Relationship Id="rId5" Type="http://schemas.openxmlformats.org/officeDocument/2006/relationships/oleObject" Target="../embeddings/oleObject103.bin"/><Relationship Id="rId10" Type="http://schemas.openxmlformats.org/officeDocument/2006/relationships/image" Target="../media/image87.wmf"/><Relationship Id="rId4" Type="http://schemas.openxmlformats.org/officeDocument/2006/relationships/image" Target="../media/image84.wmf"/><Relationship Id="rId9" Type="http://schemas.openxmlformats.org/officeDocument/2006/relationships/oleObject" Target="../embeddings/oleObject105.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89.wmf"/><Relationship Id="rId5" Type="http://schemas.openxmlformats.org/officeDocument/2006/relationships/oleObject" Target="../embeddings/oleObject107.bin"/><Relationship Id="rId4" Type="http://schemas.openxmlformats.org/officeDocument/2006/relationships/image" Target="../media/image88.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323850" y="2133600"/>
            <a:ext cx="8382000" cy="389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a:solidFill>
                  <a:srgbClr val="000000"/>
                </a:solidFill>
              </a:rPr>
              <a:t>In this section we look at how to solve higher order ordinary differential equations. Some of the techniques discussed here are based on the techniques introduced in §7, and some rely on a </a:t>
            </a:r>
            <a:r>
              <a:rPr lang="en-US" altLang="zh-CN">
                <a:solidFill>
                  <a:srgbClr val="0000FF"/>
                </a:solidFill>
              </a:rPr>
              <a:t>combination</a:t>
            </a:r>
            <a:r>
              <a:rPr lang="en-US" altLang="zh-CN">
                <a:solidFill>
                  <a:srgbClr val="000000"/>
                </a:solidFill>
              </a:rPr>
              <a:t> of this material and the </a:t>
            </a:r>
            <a:r>
              <a:rPr lang="en-US" altLang="zh-CN">
                <a:solidFill>
                  <a:srgbClr val="0000FF"/>
                </a:solidFill>
              </a:rPr>
              <a:t>linear algebra</a:t>
            </a:r>
            <a:r>
              <a:rPr lang="en-US" altLang="zh-CN">
                <a:solidFill>
                  <a:srgbClr val="000000"/>
                </a:solidFill>
              </a:rPr>
              <a:t> of §5.</a:t>
            </a:r>
            <a:endParaRPr lang="en-US" altLang="zh-CN"/>
          </a:p>
        </p:txBody>
      </p:sp>
      <p:sp>
        <p:nvSpPr>
          <p:cNvPr id="2051" name="Text Box 3"/>
          <p:cNvSpPr txBox="1">
            <a:spLocks noChangeArrowheads="1"/>
          </p:cNvSpPr>
          <p:nvPr/>
        </p:nvSpPr>
        <p:spPr bwMode="auto">
          <a:xfrm>
            <a:off x="533400" y="762000"/>
            <a:ext cx="82311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8 Higher order ordinary differential equations</a:t>
            </a:r>
            <a:endParaRPr lang="en-US" altLang="zh-CN" b="0"/>
          </a:p>
        </p:txBody>
      </p:sp>
    </p:spTree>
  </p:cSld>
  <p:clrMapOvr>
    <a:masterClrMapping/>
  </p:clrMapOvr>
  <p:transition spd="med">
    <p:pull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2"/>
          <p:cNvSpPr txBox="1">
            <a:spLocks noChangeArrowheads="1"/>
          </p:cNvSpPr>
          <p:nvPr/>
        </p:nvSpPr>
        <p:spPr bwMode="auto">
          <a:xfrm>
            <a:off x="323850" y="4002088"/>
            <a:ext cx="79200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8.2.1 Initial value problems  (</a:t>
            </a:r>
            <a:r>
              <a:rPr lang="zh-CN" altLang="en-US"/>
              <a:t>初始值问题</a:t>
            </a:r>
            <a:r>
              <a:rPr lang="en-US" altLang="zh-CN"/>
              <a:t>)</a:t>
            </a:r>
          </a:p>
        </p:txBody>
      </p:sp>
      <p:sp>
        <p:nvSpPr>
          <p:cNvPr id="3075" name="Text Box 3"/>
          <p:cNvSpPr txBox="1">
            <a:spLocks noChangeArrowheads="1"/>
          </p:cNvSpPr>
          <p:nvPr/>
        </p:nvSpPr>
        <p:spPr bwMode="auto">
          <a:xfrm>
            <a:off x="533400" y="762000"/>
            <a:ext cx="82311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8 Higher order ordinary differential equations</a:t>
            </a:r>
            <a:endParaRPr lang="en-US" altLang="zh-CN" b="0"/>
          </a:p>
        </p:txBody>
      </p:sp>
      <p:sp>
        <p:nvSpPr>
          <p:cNvPr id="217092" name="Text Box 4"/>
          <p:cNvSpPr txBox="1">
            <a:spLocks noChangeArrowheads="1"/>
          </p:cNvSpPr>
          <p:nvPr/>
        </p:nvSpPr>
        <p:spPr bwMode="auto">
          <a:xfrm>
            <a:off x="323850" y="5081588"/>
            <a:ext cx="83518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8.2.2 Boundary value problems </a:t>
            </a:r>
            <a:r>
              <a:rPr lang="en-US" altLang="zh-CN"/>
              <a:t>(</a:t>
            </a:r>
            <a:r>
              <a:rPr lang="zh-CN" altLang="en-US"/>
              <a:t>边值问题</a:t>
            </a:r>
            <a:r>
              <a:rPr lang="en-US" altLang="zh-CN"/>
              <a:t>) </a:t>
            </a:r>
            <a:endParaRPr lang="en-US" altLang="zh-CN" b="0"/>
          </a:p>
        </p:txBody>
      </p:sp>
      <p:sp>
        <p:nvSpPr>
          <p:cNvPr id="217093" name="Text Box 5"/>
          <p:cNvSpPr txBox="1">
            <a:spLocks noChangeArrowheads="1"/>
          </p:cNvSpPr>
          <p:nvPr/>
        </p:nvSpPr>
        <p:spPr bwMode="auto">
          <a:xfrm>
            <a:off x="179388" y="2085975"/>
            <a:ext cx="89646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8.1 First order ordinary differential equation </a:t>
            </a:r>
            <a:r>
              <a:rPr lang="en-US" altLang="zh-CN">
                <a:solidFill>
                  <a:srgbClr val="0000FF"/>
                </a:solidFill>
              </a:rPr>
              <a:t>sets</a:t>
            </a:r>
            <a:r>
              <a:rPr lang="en-US" altLang="zh-CN"/>
              <a:t> </a:t>
            </a:r>
          </a:p>
        </p:txBody>
      </p:sp>
      <p:sp>
        <p:nvSpPr>
          <p:cNvPr id="3078" name="Text Box 7"/>
          <p:cNvSpPr txBox="1">
            <a:spLocks noChangeArrowheads="1"/>
          </p:cNvSpPr>
          <p:nvPr/>
        </p:nvSpPr>
        <p:spPr bwMode="auto">
          <a:xfrm>
            <a:off x="179388" y="3068638"/>
            <a:ext cx="85359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8.2 Higher order ordinary differential equations</a:t>
            </a:r>
            <a:endParaRPr lang="en-US" altLang="zh-CN" b="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7093"/>
                                        </p:tgtEl>
                                        <p:attrNameLst>
                                          <p:attrName>style.visibility</p:attrName>
                                        </p:attrNameLst>
                                      </p:cBhvr>
                                      <p:to>
                                        <p:strVal val="visible"/>
                                      </p:to>
                                    </p:set>
                                    <p:anim calcmode="lin" valueType="num">
                                      <p:cBhvr additive="base">
                                        <p:cTn id="7" dur="500" fill="hold"/>
                                        <p:tgtEl>
                                          <p:spTgt spid="217093"/>
                                        </p:tgtEl>
                                        <p:attrNameLst>
                                          <p:attrName>ppt_x</p:attrName>
                                        </p:attrNameLst>
                                      </p:cBhvr>
                                      <p:tavLst>
                                        <p:tav tm="0">
                                          <p:val>
                                            <p:strVal val="#ppt_x"/>
                                          </p:val>
                                        </p:tav>
                                        <p:tav tm="100000">
                                          <p:val>
                                            <p:strVal val="#ppt_x"/>
                                          </p:val>
                                        </p:tav>
                                      </p:tavLst>
                                    </p:anim>
                                    <p:anim calcmode="lin" valueType="num">
                                      <p:cBhvr additive="base">
                                        <p:cTn id="8" dur="500" fill="hold"/>
                                        <p:tgtEl>
                                          <p:spTgt spid="21709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7090"/>
                                        </p:tgtEl>
                                        <p:attrNameLst>
                                          <p:attrName>style.visibility</p:attrName>
                                        </p:attrNameLst>
                                      </p:cBhvr>
                                      <p:to>
                                        <p:strVal val="visible"/>
                                      </p:to>
                                    </p:set>
                                    <p:anim calcmode="lin" valueType="num">
                                      <p:cBhvr additive="base">
                                        <p:cTn id="13" dur="500" fill="hold"/>
                                        <p:tgtEl>
                                          <p:spTgt spid="217090"/>
                                        </p:tgtEl>
                                        <p:attrNameLst>
                                          <p:attrName>ppt_x</p:attrName>
                                        </p:attrNameLst>
                                      </p:cBhvr>
                                      <p:tavLst>
                                        <p:tav tm="0">
                                          <p:val>
                                            <p:strVal val="0-#ppt_w/2"/>
                                          </p:val>
                                        </p:tav>
                                        <p:tav tm="100000">
                                          <p:val>
                                            <p:strVal val="#ppt_x"/>
                                          </p:val>
                                        </p:tav>
                                      </p:tavLst>
                                    </p:anim>
                                    <p:anim calcmode="lin" valueType="num">
                                      <p:cBhvr additive="base">
                                        <p:cTn id="14" dur="500" fill="hold"/>
                                        <p:tgtEl>
                                          <p:spTgt spid="21709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7092"/>
                                        </p:tgtEl>
                                        <p:attrNameLst>
                                          <p:attrName>style.visibility</p:attrName>
                                        </p:attrNameLst>
                                      </p:cBhvr>
                                      <p:to>
                                        <p:strVal val="visible"/>
                                      </p:to>
                                    </p:set>
                                    <p:anim calcmode="lin" valueType="num">
                                      <p:cBhvr additive="base">
                                        <p:cTn id="19" dur="500" fill="hold"/>
                                        <p:tgtEl>
                                          <p:spTgt spid="217092"/>
                                        </p:tgtEl>
                                        <p:attrNameLst>
                                          <p:attrName>ppt_x</p:attrName>
                                        </p:attrNameLst>
                                      </p:cBhvr>
                                      <p:tavLst>
                                        <p:tav tm="0">
                                          <p:val>
                                            <p:strVal val="#ppt_x"/>
                                          </p:val>
                                        </p:tav>
                                        <p:tav tm="100000">
                                          <p:val>
                                            <p:strVal val="#ppt_x"/>
                                          </p:val>
                                        </p:tav>
                                      </p:tavLst>
                                    </p:anim>
                                    <p:anim calcmode="lin" valueType="num">
                                      <p:cBhvr additive="base">
                                        <p:cTn id="20" dur="500" fill="hold"/>
                                        <p:tgtEl>
                                          <p:spTgt spid="2170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0" grpId="0" autoUpdateAnimBg="0"/>
      <p:bldP spid="217092" grpId="0"/>
      <p:bldP spid="21709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539750" y="908050"/>
            <a:ext cx="5557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00"/>
                </a:solidFill>
              </a:rPr>
              <a:t>(1) The Taylor Series expansion</a:t>
            </a:r>
          </a:p>
        </p:txBody>
      </p:sp>
      <p:graphicFrame>
        <p:nvGraphicFramePr>
          <p:cNvPr id="4099" name="Object 3"/>
          <p:cNvGraphicFramePr>
            <a:graphicFrameLocks noChangeAspect="1"/>
          </p:cNvGraphicFramePr>
          <p:nvPr/>
        </p:nvGraphicFramePr>
        <p:xfrm>
          <a:off x="1116013" y="1700213"/>
          <a:ext cx="4968875" cy="2678112"/>
        </p:xfrm>
        <a:graphic>
          <a:graphicData uri="http://schemas.openxmlformats.org/presentationml/2006/ole">
            <mc:AlternateContent xmlns:mc="http://schemas.openxmlformats.org/markup-compatibility/2006">
              <mc:Choice xmlns:v="urn:schemas-microsoft-com:vml" Requires="v">
                <p:oleObj spid="_x0000_s4108" name="Equation" r:id="rId3" imgW="1320227" imgH="710891" progId="Equation.3">
                  <p:embed/>
                </p:oleObj>
              </mc:Choice>
              <mc:Fallback>
                <p:oleObj name="Equation" r:id="rId3" imgW="1320227" imgH="710891"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700213"/>
                        <a:ext cx="4968875" cy="2678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3236" name="Object 4"/>
          <p:cNvGraphicFramePr>
            <a:graphicFrameLocks noChangeAspect="1"/>
          </p:cNvGraphicFramePr>
          <p:nvPr/>
        </p:nvGraphicFramePr>
        <p:xfrm>
          <a:off x="1066800" y="4487863"/>
          <a:ext cx="5943600" cy="1965325"/>
        </p:xfrm>
        <a:graphic>
          <a:graphicData uri="http://schemas.openxmlformats.org/presentationml/2006/ole">
            <mc:AlternateContent xmlns:mc="http://schemas.openxmlformats.org/markup-compatibility/2006">
              <mc:Choice xmlns:v="urn:schemas-microsoft-com:vml" Requires="v">
                <p:oleObj spid="_x0000_s4109" name="Equation" r:id="rId5" imgW="2235200" imgH="838200" progId="Equation.3">
                  <p:embed/>
                </p:oleObj>
              </mc:Choice>
              <mc:Fallback>
                <p:oleObj name="Equation" r:id="rId5" imgW="2235200" imgH="838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4487863"/>
                        <a:ext cx="5943600" cy="1965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1" name="Text Box 5"/>
          <p:cNvSpPr txBox="1">
            <a:spLocks noChangeArrowheads="1"/>
          </p:cNvSpPr>
          <p:nvPr/>
        </p:nvSpPr>
        <p:spPr bwMode="auto">
          <a:xfrm>
            <a:off x="323850" y="188913"/>
            <a:ext cx="77485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t>8.1 First order ordinary differential equation sets </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3236"/>
                                        </p:tgtEl>
                                        <p:attrNameLst>
                                          <p:attrName>style.visibility</p:attrName>
                                        </p:attrNameLst>
                                      </p:cBhvr>
                                      <p:to>
                                        <p:strVal val="visible"/>
                                      </p:to>
                                    </p:set>
                                    <p:anim calcmode="lin" valueType="num">
                                      <p:cBhvr additive="base">
                                        <p:cTn id="7" dur="500" fill="hold"/>
                                        <p:tgtEl>
                                          <p:spTgt spid="223236"/>
                                        </p:tgtEl>
                                        <p:attrNameLst>
                                          <p:attrName>ppt_x</p:attrName>
                                        </p:attrNameLst>
                                      </p:cBhvr>
                                      <p:tavLst>
                                        <p:tav tm="0">
                                          <p:val>
                                            <p:strVal val="0-#ppt_w/2"/>
                                          </p:val>
                                        </p:tav>
                                        <p:tav tm="100000">
                                          <p:val>
                                            <p:strVal val="#ppt_x"/>
                                          </p:val>
                                        </p:tav>
                                      </p:tavLst>
                                    </p:anim>
                                    <p:anim calcmode="lin" valueType="num">
                                      <p:cBhvr additive="base">
                                        <p:cTn id="8" dur="500" fill="hold"/>
                                        <p:tgtEl>
                                          <p:spTgt spid="2232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4258" name="Object 2"/>
          <p:cNvGraphicFramePr>
            <a:graphicFrameLocks noChangeAspect="1"/>
          </p:cNvGraphicFramePr>
          <p:nvPr/>
        </p:nvGraphicFramePr>
        <p:xfrm>
          <a:off x="1187450" y="1989138"/>
          <a:ext cx="5418138" cy="852487"/>
        </p:xfrm>
        <a:graphic>
          <a:graphicData uri="http://schemas.openxmlformats.org/presentationml/2006/ole">
            <mc:AlternateContent xmlns:mc="http://schemas.openxmlformats.org/markup-compatibility/2006">
              <mc:Choice xmlns:v="urn:schemas-microsoft-com:vml" Requires="v">
                <p:oleObj spid="_x0000_s5146" name="Equation" r:id="rId3" imgW="1358900" imgH="228600" progId="Equation.3">
                  <p:embed/>
                </p:oleObj>
              </mc:Choice>
              <mc:Fallback>
                <p:oleObj name="Equation" r:id="rId3" imgW="13589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989138"/>
                        <a:ext cx="5418138" cy="852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3" name="Object 3"/>
          <p:cNvGraphicFramePr>
            <a:graphicFrameLocks noChangeAspect="1"/>
          </p:cNvGraphicFramePr>
          <p:nvPr/>
        </p:nvGraphicFramePr>
        <p:xfrm>
          <a:off x="1403350" y="411163"/>
          <a:ext cx="4752975" cy="1550987"/>
        </p:xfrm>
        <a:graphic>
          <a:graphicData uri="http://schemas.openxmlformats.org/presentationml/2006/ole">
            <mc:AlternateContent xmlns:mc="http://schemas.openxmlformats.org/markup-compatibility/2006">
              <mc:Choice xmlns:v="urn:schemas-microsoft-com:vml" Requires="v">
                <p:oleObj spid="_x0000_s5147" name="公式" r:id="rId5" imgW="1320227" imgH="482391" progId="Equation.3">
                  <p:embed/>
                </p:oleObj>
              </mc:Choice>
              <mc:Fallback>
                <p:oleObj name="公式" r:id="rId5" imgW="1320227" imgH="482391"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411163"/>
                        <a:ext cx="4752975" cy="1550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0" name="Object 4"/>
          <p:cNvGraphicFramePr>
            <a:graphicFrameLocks noChangeAspect="1"/>
          </p:cNvGraphicFramePr>
          <p:nvPr/>
        </p:nvGraphicFramePr>
        <p:xfrm>
          <a:off x="539750" y="3789363"/>
          <a:ext cx="4659313" cy="757237"/>
        </p:xfrm>
        <a:graphic>
          <a:graphicData uri="http://schemas.openxmlformats.org/presentationml/2006/ole">
            <mc:AlternateContent xmlns:mc="http://schemas.openxmlformats.org/markup-compatibility/2006">
              <mc:Choice xmlns:v="urn:schemas-microsoft-com:vml" Requires="v">
                <p:oleObj spid="_x0000_s5148" name="Equation" r:id="rId7" imgW="1167893" imgH="203112" progId="Equation.3">
                  <p:embed/>
                </p:oleObj>
              </mc:Choice>
              <mc:Fallback>
                <p:oleObj name="Equation" r:id="rId7" imgW="1167893" imgH="203112"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3789363"/>
                        <a:ext cx="4659313"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1" name="Object 5"/>
          <p:cNvGraphicFramePr>
            <a:graphicFrameLocks noChangeAspect="1"/>
          </p:cNvGraphicFramePr>
          <p:nvPr/>
        </p:nvGraphicFramePr>
        <p:xfrm>
          <a:off x="1187450" y="2781300"/>
          <a:ext cx="4606925" cy="852488"/>
        </p:xfrm>
        <a:graphic>
          <a:graphicData uri="http://schemas.openxmlformats.org/presentationml/2006/ole">
            <mc:AlternateContent xmlns:mc="http://schemas.openxmlformats.org/markup-compatibility/2006">
              <mc:Choice xmlns:v="urn:schemas-microsoft-com:vml" Requires="v">
                <p:oleObj spid="_x0000_s5149" name="Equation" r:id="rId9" imgW="1155700" imgH="228600" progId="Equation.3">
                  <p:embed/>
                </p:oleObj>
              </mc:Choice>
              <mc:Fallback>
                <p:oleObj name="Equation" r:id="rId9" imgW="1155700" imgH="2286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450" y="2781300"/>
                        <a:ext cx="4606925"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2" name="Object 6"/>
          <p:cNvGraphicFramePr>
            <a:graphicFrameLocks noChangeAspect="1"/>
          </p:cNvGraphicFramePr>
          <p:nvPr/>
        </p:nvGraphicFramePr>
        <p:xfrm>
          <a:off x="1042988" y="4437063"/>
          <a:ext cx="4537075" cy="728662"/>
        </p:xfrm>
        <a:graphic>
          <a:graphicData uri="http://schemas.openxmlformats.org/presentationml/2006/ole">
            <mc:AlternateContent xmlns:mc="http://schemas.openxmlformats.org/markup-compatibility/2006">
              <mc:Choice xmlns:v="urn:schemas-microsoft-com:vml" Requires="v">
                <p:oleObj spid="_x0000_s5150" name="Equation" r:id="rId11" imgW="1180588" imgH="203112" progId="Equation.3">
                  <p:embed/>
                </p:oleObj>
              </mc:Choice>
              <mc:Fallback>
                <p:oleObj name="Equation" r:id="rId11" imgW="1180588" imgH="203112"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2988" y="4437063"/>
                        <a:ext cx="4537075" cy="728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4263" name="Object 7"/>
          <p:cNvGraphicFramePr>
            <a:graphicFrameLocks noChangeAspect="1"/>
          </p:cNvGraphicFramePr>
          <p:nvPr/>
        </p:nvGraphicFramePr>
        <p:xfrm>
          <a:off x="1187450" y="5218113"/>
          <a:ext cx="3887788" cy="1595437"/>
        </p:xfrm>
        <a:graphic>
          <a:graphicData uri="http://schemas.openxmlformats.org/presentationml/2006/ole">
            <mc:AlternateContent xmlns:mc="http://schemas.openxmlformats.org/markup-compatibility/2006">
              <mc:Choice xmlns:v="urn:schemas-microsoft-com:vml" Requires="v">
                <p:oleObj spid="_x0000_s5151" name="Equation" r:id="rId13" imgW="1054100" imgH="431800" progId="Equation.3">
                  <p:embed/>
                </p:oleObj>
              </mc:Choice>
              <mc:Fallback>
                <p:oleObj name="Equation" r:id="rId13" imgW="1054100" imgH="4318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87450" y="5218113"/>
                        <a:ext cx="3887788" cy="1595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4258"/>
                                        </p:tgtEl>
                                        <p:attrNameLst>
                                          <p:attrName>style.visibility</p:attrName>
                                        </p:attrNameLst>
                                      </p:cBhvr>
                                      <p:to>
                                        <p:strVal val="visible"/>
                                      </p:to>
                                    </p:set>
                                    <p:anim calcmode="lin" valueType="num">
                                      <p:cBhvr additive="base">
                                        <p:cTn id="7" dur="500" fill="hold"/>
                                        <p:tgtEl>
                                          <p:spTgt spid="224258"/>
                                        </p:tgtEl>
                                        <p:attrNameLst>
                                          <p:attrName>ppt_x</p:attrName>
                                        </p:attrNameLst>
                                      </p:cBhvr>
                                      <p:tavLst>
                                        <p:tav tm="0">
                                          <p:val>
                                            <p:strVal val="0-#ppt_w/2"/>
                                          </p:val>
                                        </p:tav>
                                        <p:tav tm="100000">
                                          <p:val>
                                            <p:strVal val="#ppt_x"/>
                                          </p:val>
                                        </p:tav>
                                      </p:tavLst>
                                    </p:anim>
                                    <p:anim calcmode="lin" valueType="num">
                                      <p:cBhvr additive="base">
                                        <p:cTn id="8" dur="500" fill="hold"/>
                                        <p:tgtEl>
                                          <p:spTgt spid="22425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4261"/>
                                        </p:tgtEl>
                                        <p:attrNameLst>
                                          <p:attrName>style.visibility</p:attrName>
                                        </p:attrNameLst>
                                      </p:cBhvr>
                                      <p:to>
                                        <p:strVal val="visible"/>
                                      </p:to>
                                    </p:set>
                                    <p:anim calcmode="lin" valueType="num">
                                      <p:cBhvr additive="base">
                                        <p:cTn id="13" dur="500" fill="hold"/>
                                        <p:tgtEl>
                                          <p:spTgt spid="224261"/>
                                        </p:tgtEl>
                                        <p:attrNameLst>
                                          <p:attrName>ppt_x</p:attrName>
                                        </p:attrNameLst>
                                      </p:cBhvr>
                                      <p:tavLst>
                                        <p:tav tm="0">
                                          <p:val>
                                            <p:strVal val="0-#ppt_w/2"/>
                                          </p:val>
                                        </p:tav>
                                        <p:tav tm="100000">
                                          <p:val>
                                            <p:strVal val="#ppt_x"/>
                                          </p:val>
                                        </p:tav>
                                      </p:tavLst>
                                    </p:anim>
                                    <p:anim calcmode="lin" valueType="num">
                                      <p:cBhvr additive="base">
                                        <p:cTn id="14" dur="500" fill="hold"/>
                                        <p:tgtEl>
                                          <p:spTgt spid="22426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24260"/>
                                        </p:tgtEl>
                                        <p:attrNameLst>
                                          <p:attrName>style.visibility</p:attrName>
                                        </p:attrNameLst>
                                      </p:cBhvr>
                                      <p:to>
                                        <p:strVal val="visible"/>
                                      </p:to>
                                    </p:set>
                                    <p:anim calcmode="lin" valueType="num">
                                      <p:cBhvr additive="base">
                                        <p:cTn id="19" dur="500" fill="hold"/>
                                        <p:tgtEl>
                                          <p:spTgt spid="224260"/>
                                        </p:tgtEl>
                                        <p:attrNameLst>
                                          <p:attrName>ppt_x</p:attrName>
                                        </p:attrNameLst>
                                      </p:cBhvr>
                                      <p:tavLst>
                                        <p:tav tm="0">
                                          <p:val>
                                            <p:strVal val="0-#ppt_w/2"/>
                                          </p:val>
                                        </p:tav>
                                        <p:tav tm="100000">
                                          <p:val>
                                            <p:strVal val="#ppt_x"/>
                                          </p:val>
                                        </p:tav>
                                      </p:tavLst>
                                    </p:anim>
                                    <p:anim calcmode="lin" valueType="num">
                                      <p:cBhvr additive="base">
                                        <p:cTn id="20" dur="500" fill="hold"/>
                                        <p:tgtEl>
                                          <p:spTgt spid="22426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24262"/>
                                        </p:tgtEl>
                                        <p:attrNameLst>
                                          <p:attrName>style.visibility</p:attrName>
                                        </p:attrNameLst>
                                      </p:cBhvr>
                                      <p:to>
                                        <p:strVal val="visible"/>
                                      </p:to>
                                    </p:set>
                                    <p:anim calcmode="lin" valueType="num">
                                      <p:cBhvr additive="base">
                                        <p:cTn id="25" dur="500" fill="hold"/>
                                        <p:tgtEl>
                                          <p:spTgt spid="224262"/>
                                        </p:tgtEl>
                                        <p:attrNameLst>
                                          <p:attrName>ppt_x</p:attrName>
                                        </p:attrNameLst>
                                      </p:cBhvr>
                                      <p:tavLst>
                                        <p:tav tm="0">
                                          <p:val>
                                            <p:strVal val="0-#ppt_w/2"/>
                                          </p:val>
                                        </p:tav>
                                        <p:tav tm="100000">
                                          <p:val>
                                            <p:strVal val="#ppt_x"/>
                                          </p:val>
                                        </p:tav>
                                      </p:tavLst>
                                    </p:anim>
                                    <p:anim calcmode="lin" valueType="num">
                                      <p:cBhvr additive="base">
                                        <p:cTn id="26" dur="500" fill="hold"/>
                                        <p:tgtEl>
                                          <p:spTgt spid="22426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24263"/>
                                        </p:tgtEl>
                                        <p:attrNameLst>
                                          <p:attrName>style.visibility</p:attrName>
                                        </p:attrNameLst>
                                      </p:cBhvr>
                                      <p:to>
                                        <p:strVal val="visible"/>
                                      </p:to>
                                    </p:set>
                                    <p:anim calcmode="lin" valueType="num">
                                      <p:cBhvr additive="base">
                                        <p:cTn id="31" dur="500" fill="hold"/>
                                        <p:tgtEl>
                                          <p:spTgt spid="224263"/>
                                        </p:tgtEl>
                                        <p:attrNameLst>
                                          <p:attrName>ppt_x</p:attrName>
                                        </p:attrNameLst>
                                      </p:cBhvr>
                                      <p:tavLst>
                                        <p:tav tm="0">
                                          <p:val>
                                            <p:strVal val="0-#ppt_w/2"/>
                                          </p:val>
                                        </p:tav>
                                        <p:tav tm="100000">
                                          <p:val>
                                            <p:strVal val="#ppt_x"/>
                                          </p:val>
                                        </p:tav>
                                      </p:tavLst>
                                    </p:anim>
                                    <p:anim calcmode="lin" valueType="num">
                                      <p:cBhvr additive="base">
                                        <p:cTn id="32" dur="500" fill="hold"/>
                                        <p:tgtEl>
                                          <p:spTgt spid="2242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282" name="Object 2"/>
          <p:cNvGraphicFramePr>
            <a:graphicFrameLocks noChangeAspect="1"/>
          </p:cNvGraphicFramePr>
          <p:nvPr/>
        </p:nvGraphicFramePr>
        <p:xfrm>
          <a:off x="838200" y="3200400"/>
          <a:ext cx="5530850" cy="1828800"/>
        </p:xfrm>
        <a:graphic>
          <a:graphicData uri="http://schemas.openxmlformats.org/presentationml/2006/ole">
            <mc:AlternateContent xmlns:mc="http://schemas.openxmlformats.org/markup-compatibility/2006">
              <mc:Choice xmlns:v="urn:schemas-microsoft-com:vml" Requires="v">
                <p:oleObj spid="_x0000_s6154" name="Equation" r:id="rId3" imgW="2235200" imgH="838200" progId="Equation.3">
                  <p:embed/>
                </p:oleObj>
              </mc:Choice>
              <mc:Fallback>
                <p:oleObj name="Equation" r:id="rId3" imgW="2235200" imgH="838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200400"/>
                        <a:ext cx="5530850" cy="182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283" name="Object 3"/>
          <p:cNvGraphicFramePr>
            <a:graphicFrameLocks noChangeAspect="1"/>
          </p:cNvGraphicFramePr>
          <p:nvPr/>
        </p:nvGraphicFramePr>
        <p:xfrm>
          <a:off x="1447800" y="762000"/>
          <a:ext cx="4202113" cy="1724025"/>
        </p:xfrm>
        <a:graphic>
          <a:graphicData uri="http://schemas.openxmlformats.org/presentationml/2006/ole">
            <mc:AlternateContent xmlns:mc="http://schemas.openxmlformats.org/markup-compatibility/2006">
              <mc:Choice xmlns:v="urn:schemas-microsoft-com:vml" Requires="v">
                <p:oleObj spid="_x0000_s6155" name="Equation" r:id="rId5" imgW="1054100" imgH="431800" progId="Equation.3">
                  <p:embed/>
                </p:oleObj>
              </mc:Choice>
              <mc:Fallback>
                <p:oleObj name="Equation" r:id="rId5" imgW="1054100" imgH="431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762000"/>
                        <a:ext cx="4202113" cy="172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5283"/>
                                        </p:tgtEl>
                                        <p:attrNameLst>
                                          <p:attrName>style.visibility</p:attrName>
                                        </p:attrNameLst>
                                      </p:cBhvr>
                                      <p:to>
                                        <p:strVal val="visible"/>
                                      </p:to>
                                    </p:set>
                                    <p:anim calcmode="lin" valueType="num">
                                      <p:cBhvr additive="base">
                                        <p:cTn id="7" dur="500" fill="hold"/>
                                        <p:tgtEl>
                                          <p:spTgt spid="225283"/>
                                        </p:tgtEl>
                                        <p:attrNameLst>
                                          <p:attrName>ppt_x</p:attrName>
                                        </p:attrNameLst>
                                      </p:cBhvr>
                                      <p:tavLst>
                                        <p:tav tm="0">
                                          <p:val>
                                            <p:strVal val="0-#ppt_w/2"/>
                                          </p:val>
                                        </p:tav>
                                        <p:tav tm="100000">
                                          <p:val>
                                            <p:strVal val="#ppt_x"/>
                                          </p:val>
                                        </p:tav>
                                      </p:tavLst>
                                    </p:anim>
                                    <p:anim calcmode="lin" valueType="num">
                                      <p:cBhvr additive="base">
                                        <p:cTn id="8" dur="500" fill="hold"/>
                                        <p:tgtEl>
                                          <p:spTgt spid="22528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5282"/>
                                        </p:tgtEl>
                                        <p:attrNameLst>
                                          <p:attrName>style.visibility</p:attrName>
                                        </p:attrNameLst>
                                      </p:cBhvr>
                                      <p:to>
                                        <p:strVal val="visible"/>
                                      </p:to>
                                    </p:set>
                                    <p:anim calcmode="lin" valueType="num">
                                      <p:cBhvr additive="base">
                                        <p:cTn id="13" dur="500" fill="hold"/>
                                        <p:tgtEl>
                                          <p:spTgt spid="225282"/>
                                        </p:tgtEl>
                                        <p:attrNameLst>
                                          <p:attrName>ppt_x</p:attrName>
                                        </p:attrNameLst>
                                      </p:cBhvr>
                                      <p:tavLst>
                                        <p:tav tm="0">
                                          <p:val>
                                            <p:strVal val="0-#ppt_w/2"/>
                                          </p:val>
                                        </p:tav>
                                        <p:tav tm="100000">
                                          <p:val>
                                            <p:strVal val="#ppt_x"/>
                                          </p:val>
                                        </p:tav>
                                      </p:tavLst>
                                    </p:anim>
                                    <p:anim calcmode="lin" valueType="num">
                                      <p:cBhvr additive="base">
                                        <p:cTn id="14" dur="500" fill="hold"/>
                                        <p:tgtEl>
                                          <p:spTgt spid="2252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1187450" y="188913"/>
            <a:ext cx="1817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h=0.01, T=0 </a:t>
            </a:r>
          </a:p>
        </p:txBody>
      </p:sp>
      <p:graphicFrame>
        <p:nvGraphicFramePr>
          <p:cNvPr id="226307" name="Object 3"/>
          <p:cNvGraphicFramePr>
            <a:graphicFrameLocks noChangeAspect="1"/>
          </p:cNvGraphicFramePr>
          <p:nvPr/>
        </p:nvGraphicFramePr>
        <p:xfrm>
          <a:off x="5029200" y="1905000"/>
          <a:ext cx="2819400" cy="936625"/>
        </p:xfrm>
        <a:graphic>
          <a:graphicData uri="http://schemas.openxmlformats.org/presentationml/2006/ole">
            <mc:AlternateContent xmlns:mc="http://schemas.openxmlformats.org/markup-compatibility/2006">
              <mc:Choice xmlns:v="urn:schemas-microsoft-com:vml" Requires="v">
                <p:oleObj spid="_x0000_s7201" name="Equation" r:id="rId3" imgW="1358310" imgH="482391" progId="Equation.3">
                  <p:embed/>
                </p:oleObj>
              </mc:Choice>
              <mc:Fallback>
                <p:oleObj name="Equation" r:id="rId3" imgW="1358310" imgH="482391"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1905000"/>
                        <a:ext cx="28194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6308" name="Object 4"/>
          <p:cNvGraphicFramePr>
            <a:graphicFrameLocks noChangeAspect="1"/>
          </p:cNvGraphicFramePr>
          <p:nvPr/>
        </p:nvGraphicFramePr>
        <p:xfrm>
          <a:off x="5791200" y="750888"/>
          <a:ext cx="2819400" cy="919162"/>
        </p:xfrm>
        <a:graphic>
          <a:graphicData uri="http://schemas.openxmlformats.org/presentationml/2006/ole">
            <mc:AlternateContent xmlns:mc="http://schemas.openxmlformats.org/markup-compatibility/2006">
              <mc:Choice xmlns:v="urn:schemas-microsoft-com:vml" Requires="v">
                <p:oleObj spid="_x0000_s7202" name="Equation" r:id="rId5" imgW="1320227" imgH="482391" progId="Equation.3">
                  <p:embed/>
                </p:oleObj>
              </mc:Choice>
              <mc:Fallback>
                <p:oleObj name="Equation" r:id="rId5" imgW="1320227" imgH="482391"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750888"/>
                        <a:ext cx="2819400" cy="919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6309" name="Object 5"/>
          <p:cNvGraphicFramePr>
            <a:graphicFrameLocks noChangeAspect="1"/>
          </p:cNvGraphicFramePr>
          <p:nvPr/>
        </p:nvGraphicFramePr>
        <p:xfrm>
          <a:off x="6465888" y="4191000"/>
          <a:ext cx="2678112" cy="1098550"/>
        </p:xfrm>
        <a:graphic>
          <a:graphicData uri="http://schemas.openxmlformats.org/presentationml/2006/ole">
            <mc:AlternateContent xmlns:mc="http://schemas.openxmlformats.org/markup-compatibility/2006">
              <mc:Choice xmlns:v="urn:schemas-microsoft-com:vml" Requires="v">
                <p:oleObj spid="_x0000_s7203" name="Equation" r:id="rId7" imgW="1054100" imgH="431800" progId="Equation.3">
                  <p:embed/>
                </p:oleObj>
              </mc:Choice>
              <mc:Fallback>
                <p:oleObj name="Equation" r:id="rId7" imgW="1054100" imgH="4318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65888" y="4191000"/>
                        <a:ext cx="2678112"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6310" name="Object 6"/>
          <p:cNvGraphicFramePr>
            <a:graphicFrameLocks noChangeAspect="1"/>
          </p:cNvGraphicFramePr>
          <p:nvPr/>
        </p:nvGraphicFramePr>
        <p:xfrm>
          <a:off x="4038600" y="5357813"/>
          <a:ext cx="4540250" cy="1500187"/>
        </p:xfrm>
        <a:graphic>
          <a:graphicData uri="http://schemas.openxmlformats.org/presentationml/2006/ole">
            <mc:AlternateContent xmlns:mc="http://schemas.openxmlformats.org/markup-compatibility/2006">
              <mc:Choice xmlns:v="urn:schemas-microsoft-com:vml" Requires="v">
                <p:oleObj spid="_x0000_s7204" name="Equation" r:id="rId9" imgW="2235200" imgH="838200" progId="Equation.3">
                  <p:embed/>
                </p:oleObj>
              </mc:Choice>
              <mc:Fallback>
                <p:oleObj name="Equation" r:id="rId9" imgW="2235200" imgH="838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8600" y="5357813"/>
                        <a:ext cx="4540250" cy="150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6311" name="Text Box 7"/>
          <p:cNvSpPr txBox="1">
            <a:spLocks noChangeArrowheads="1"/>
          </p:cNvSpPr>
          <p:nvPr/>
        </p:nvSpPr>
        <p:spPr bwMode="auto">
          <a:xfrm>
            <a:off x="304800" y="838200"/>
            <a:ext cx="37020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X1=X-Y+T*(2.0-T*(1.0+T)</a:t>
            </a:r>
          </a:p>
          <a:p>
            <a:pPr eaLnBrk="1" hangingPunct="1"/>
            <a:r>
              <a:rPr lang="en-US" altLang="zh-CN" sz="2400">
                <a:solidFill>
                  <a:srgbClr val="0000FF"/>
                </a:solidFill>
              </a:rPr>
              <a:t>Y1=X+Y+T*T*(4.0+T)</a:t>
            </a:r>
          </a:p>
        </p:txBody>
      </p:sp>
      <p:sp>
        <p:nvSpPr>
          <p:cNvPr id="226312" name="Text Box 8"/>
          <p:cNvSpPr txBox="1">
            <a:spLocks noChangeArrowheads="1"/>
          </p:cNvSpPr>
          <p:nvPr/>
        </p:nvSpPr>
        <p:spPr bwMode="auto">
          <a:xfrm>
            <a:off x="76200" y="1631950"/>
            <a:ext cx="40830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X2=X1-Y1+2.0-T*(2.0+3.0*T)</a:t>
            </a:r>
          </a:p>
          <a:p>
            <a:pPr eaLnBrk="1" hangingPunct="1"/>
            <a:r>
              <a:rPr lang="en-US" altLang="zh-CN" sz="2400">
                <a:solidFill>
                  <a:srgbClr val="0000FF"/>
                </a:solidFill>
              </a:rPr>
              <a:t>Y2=X1+Y1+T*(8.0+3.0*T)</a:t>
            </a:r>
          </a:p>
        </p:txBody>
      </p:sp>
      <p:sp>
        <p:nvSpPr>
          <p:cNvPr id="226313" name="Text Box 9"/>
          <p:cNvSpPr txBox="1">
            <a:spLocks noChangeArrowheads="1"/>
          </p:cNvSpPr>
          <p:nvPr/>
        </p:nvSpPr>
        <p:spPr bwMode="auto">
          <a:xfrm>
            <a:off x="76200" y="2393950"/>
            <a:ext cx="30416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X3=X2-Y2-2.0-6.0*T</a:t>
            </a:r>
          </a:p>
          <a:p>
            <a:pPr eaLnBrk="1" hangingPunct="1"/>
            <a:r>
              <a:rPr lang="en-US" altLang="zh-CN" sz="2400">
                <a:solidFill>
                  <a:srgbClr val="0000FF"/>
                </a:solidFill>
              </a:rPr>
              <a:t>Y3=X2+Y2-8.0+6.0*T</a:t>
            </a:r>
          </a:p>
        </p:txBody>
      </p:sp>
      <p:sp>
        <p:nvSpPr>
          <p:cNvPr id="226314" name="Text Box 10"/>
          <p:cNvSpPr txBox="1">
            <a:spLocks noChangeArrowheads="1"/>
          </p:cNvSpPr>
          <p:nvPr/>
        </p:nvSpPr>
        <p:spPr bwMode="auto">
          <a:xfrm>
            <a:off x="76200" y="3155950"/>
            <a:ext cx="22034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X4=X3-Y3-6.0</a:t>
            </a:r>
          </a:p>
          <a:p>
            <a:pPr eaLnBrk="1" hangingPunct="1"/>
            <a:r>
              <a:rPr lang="en-US" altLang="zh-CN" sz="2400">
                <a:solidFill>
                  <a:srgbClr val="0000FF"/>
                </a:solidFill>
              </a:rPr>
              <a:t>Y4=X3+Y3+6.0</a:t>
            </a:r>
          </a:p>
        </p:txBody>
      </p:sp>
      <p:sp>
        <p:nvSpPr>
          <p:cNvPr id="226315" name="Text Box 11"/>
          <p:cNvSpPr txBox="1">
            <a:spLocks noChangeArrowheads="1"/>
          </p:cNvSpPr>
          <p:nvPr/>
        </p:nvSpPr>
        <p:spPr bwMode="auto">
          <a:xfrm>
            <a:off x="152400" y="3886200"/>
            <a:ext cx="61372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X=X+H*X1+H*(X2/2.+H*(X3/6.+H*X4/24.)))</a:t>
            </a:r>
            <a:br>
              <a:rPr lang="en-US" altLang="zh-CN" sz="2400">
                <a:solidFill>
                  <a:srgbClr val="0000FF"/>
                </a:solidFill>
              </a:rPr>
            </a:br>
            <a:r>
              <a:rPr lang="en-US" altLang="zh-CN" sz="2400">
                <a:solidFill>
                  <a:srgbClr val="0000FF"/>
                </a:solidFill>
              </a:rPr>
              <a:t>Y=Y+H*Y1+H*(Y2/2.+H*(Y3/6.+H*Y4/24.)))</a:t>
            </a:r>
          </a:p>
        </p:txBody>
      </p:sp>
      <p:sp>
        <p:nvSpPr>
          <p:cNvPr id="226316" name="Text Box 12"/>
          <p:cNvSpPr txBox="1">
            <a:spLocks noChangeArrowheads="1"/>
          </p:cNvSpPr>
          <p:nvPr/>
        </p:nvSpPr>
        <p:spPr bwMode="auto">
          <a:xfrm>
            <a:off x="304800" y="4648200"/>
            <a:ext cx="2236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T=REAL(K)*H</a:t>
            </a:r>
          </a:p>
        </p:txBody>
      </p:sp>
      <p:graphicFrame>
        <p:nvGraphicFramePr>
          <p:cNvPr id="226320" name="Object 16"/>
          <p:cNvGraphicFramePr>
            <a:graphicFrameLocks noChangeAspect="1"/>
          </p:cNvGraphicFramePr>
          <p:nvPr/>
        </p:nvGraphicFramePr>
        <p:xfrm>
          <a:off x="5867400" y="2971800"/>
          <a:ext cx="2449513" cy="838200"/>
        </p:xfrm>
        <a:graphic>
          <a:graphicData uri="http://schemas.openxmlformats.org/presentationml/2006/ole">
            <mc:AlternateContent xmlns:mc="http://schemas.openxmlformats.org/markup-compatibility/2006">
              <mc:Choice xmlns:v="urn:schemas-microsoft-com:vml" Requires="v">
                <p:oleObj spid="_x0000_s7205" name="Equation" r:id="rId11" imgW="1180588" imgH="431613" progId="Equation.3">
                  <p:embed/>
                </p:oleObj>
              </mc:Choice>
              <mc:Fallback>
                <p:oleObj name="Equation" r:id="rId11" imgW="1180588" imgH="431613"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7400" y="2971800"/>
                        <a:ext cx="244951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6321" name="Object 17"/>
          <p:cNvGraphicFramePr>
            <a:graphicFrameLocks noChangeAspect="1"/>
          </p:cNvGraphicFramePr>
          <p:nvPr/>
        </p:nvGraphicFramePr>
        <p:xfrm>
          <a:off x="6732588" y="188913"/>
          <a:ext cx="2159000" cy="415925"/>
        </p:xfrm>
        <a:graphic>
          <a:graphicData uri="http://schemas.openxmlformats.org/presentationml/2006/ole">
            <mc:AlternateContent xmlns:mc="http://schemas.openxmlformats.org/markup-compatibility/2006">
              <mc:Choice xmlns:v="urn:schemas-microsoft-com:vml" Requires="v">
                <p:oleObj spid="_x0000_s7206" name="公式" r:id="rId13" imgW="1054100" imgH="203200" progId="Equation.3">
                  <p:embed/>
                </p:oleObj>
              </mc:Choice>
              <mc:Fallback>
                <p:oleObj name="公式" r:id="rId13" imgW="1054100" imgH="20320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32588" y="188913"/>
                        <a:ext cx="2159000"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6321"/>
                                        </p:tgtEl>
                                        <p:attrNameLst>
                                          <p:attrName>style.visibility</p:attrName>
                                        </p:attrNameLst>
                                      </p:cBhvr>
                                      <p:to>
                                        <p:strVal val="visible"/>
                                      </p:to>
                                    </p:set>
                                    <p:anim calcmode="lin" valueType="num">
                                      <p:cBhvr additive="base">
                                        <p:cTn id="7" dur="500" fill="hold"/>
                                        <p:tgtEl>
                                          <p:spTgt spid="226321"/>
                                        </p:tgtEl>
                                        <p:attrNameLst>
                                          <p:attrName>ppt_x</p:attrName>
                                        </p:attrNameLst>
                                      </p:cBhvr>
                                      <p:tavLst>
                                        <p:tav tm="0">
                                          <p:val>
                                            <p:strVal val="#ppt_x"/>
                                          </p:val>
                                        </p:tav>
                                        <p:tav tm="100000">
                                          <p:val>
                                            <p:strVal val="#ppt_x"/>
                                          </p:val>
                                        </p:tav>
                                      </p:tavLst>
                                    </p:anim>
                                    <p:anim calcmode="lin" valueType="num">
                                      <p:cBhvr additive="base">
                                        <p:cTn id="8" dur="500" fill="hold"/>
                                        <p:tgtEl>
                                          <p:spTgt spid="22632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6308"/>
                                        </p:tgtEl>
                                        <p:attrNameLst>
                                          <p:attrName>style.visibility</p:attrName>
                                        </p:attrNameLst>
                                      </p:cBhvr>
                                      <p:to>
                                        <p:strVal val="visible"/>
                                      </p:to>
                                    </p:set>
                                    <p:anim calcmode="lin" valueType="num">
                                      <p:cBhvr additive="base">
                                        <p:cTn id="13" dur="500" fill="hold"/>
                                        <p:tgtEl>
                                          <p:spTgt spid="226308"/>
                                        </p:tgtEl>
                                        <p:attrNameLst>
                                          <p:attrName>ppt_x</p:attrName>
                                        </p:attrNameLst>
                                      </p:cBhvr>
                                      <p:tavLst>
                                        <p:tav tm="0">
                                          <p:val>
                                            <p:strVal val="0-#ppt_w/2"/>
                                          </p:val>
                                        </p:tav>
                                        <p:tav tm="100000">
                                          <p:val>
                                            <p:strVal val="#ppt_x"/>
                                          </p:val>
                                        </p:tav>
                                      </p:tavLst>
                                    </p:anim>
                                    <p:anim calcmode="lin" valueType="num">
                                      <p:cBhvr additive="base">
                                        <p:cTn id="14" dur="500" fill="hold"/>
                                        <p:tgtEl>
                                          <p:spTgt spid="22630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6311"/>
                                        </p:tgtEl>
                                        <p:attrNameLst>
                                          <p:attrName>style.visibility</p:attrName>
                                        </p:attrNameLst>
                                      </p:cBhvr>
                                      <p:to>
                                        <p:strVal val="visible"/>
                                      </p:to>
                                    </p:set>
                                    <p:anim calcmode="lin" valueType="num">
                                      <p:cBhvr additive="base">
                                        <p:cTn id="19" dur="500" fill="hold"/>
                                        <p:tgtEl>
                                          <p:spTgt spid="226311"/>
                                        </p:tgtEl>
                                        <p:attrNameLst>
                                          <p:attrName>ppt_x</p:attrName>
                                        </p:attrNameLst>
                                      </p:cBhvr>
                                      <p:tavLst>
                                        <p:tav tm="0">
                                          <p:val>
                                            <p:strVal val="0-#ppt_w/2"/>
                                          </p:val>
                                        </p:tav>
                                        <p:tav tm="100000">
                                          <p:val>
                                            <p:strVal val="#ppt_x"/>
                                          </p:val>
                                        </p:tav>
                                      </p:tavLst>
                                    </p:anim>
                                    <p:anim calcmode="lin" valueType="num">
                                      <p:cBhvr additive="base">
                                        <p:cTn id="20" dur="500" fill="hold"/>
                                        <p:tgtEl>
                                          <p:spTgt spid="22631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26307"/>
                                        </p:tgtEl>
                                        <p:attrNameLst>
                                          <p:attrName>style.visibility</p:attrName>
                                        </p:attrNameLst>
                                      </p:cBhvr>
                                      <p:to>
                                        <p:strVal val="visible"/>
                                      </p:to>
                                    </p:set>
                                    <p:anim calcmode="lin" valueType="num">
                                      <p:cBhvr additive="base">
                                        <p:cTn id="25" dur="500" fill="hold"/>
                                        <p:tgtEl>
                                          <p:spTgt spid="226307"/>
                                        </p:tgtEl>
                                        <p:attrNameLst>
                                          <p:attrName>ppt_x</p:attrName>
                                        </p:attrNameLst>
                                      </p:cBhvr>
                                      <p:tavLst>
                                        <p:tav tm="0">
                                          <p:val>
                                            <p:strVal val="0-#ppt_w/2"/>
                                          </p:val>
                                        </p:tav>
                                        <p:tav tm="100000">
                                          <p:val>
                                            <p:strVal val="#ppt_x"/>
                                          </p:val>
                                        </p:tav>
                                      </p:tavLst>
                                    </p:anim>
                                    <p:anim calcmode="lin" valueType="num">
                                      <p:cBhvr additive="base">
                                        <p:cTn id="26" dur="500" fill="hold"/>
                                        <p:tgtEl>
                                          <p:spTgt spid="22630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6312"/>
                                        </p:tgtEl>
                                        <p:attrNameLst>
                                          <p:attrName>style.visibility</p:attrName>
                                        </p:attrNameLst>
                                      </p:cBhvr>
                                      <p:to>
                                        <p:strVal val="visible"/>
                                      </p:to>
                                    </p:set>
                                    <p:anim calcmode="lin" valueType="num">
                                      <p:cBhvr additive="base">
                                        <p:cTn id="31" dur="500" fill="hold"/>
                                        <p:tgtEl>
                                          <p:spTgt spid="226312"/>
                                        </p:tgtEl>
                                        <p:attrNameLst>
                                          <p:attrName>ppt_x</p:attrName>
                                        </p:attrNameLst>
                                      </p:cBhvr>
                                      <p:tavLst>
                                        <p:tav tm="0">
                                          <p:val>
                                            <p:strVal val="0-#ppt_w/2"/>
                                          </p:val>
                                        </p:tav>
                                        <p:tav tm="100000">
                                          <p:val>
                                            <p:strVal val="#ppt_x"/>
                                          </p:val>
                                        </p:tav>
                                      </p:tavLst>
                                    </p:anim>
                                    <p:anim calcmode="lin" valueType="num">
                                      <p:cBhvr additive="base">
                                        <p:cTn id="32" dur="500" fill="hold"/>
                                        <p:tgtEl>
                                          <p:spTgt spid="22631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26320"/>
                                        </p:tgtEl>
                                        <p:attrNameLst>
                                          <p:attrName>style.visibility</p:attrName>
                                        </p:attrNameLst>
                                      </p:cBhvr>
                                      <p:to>
                                        <p:strVal val="visible"/>
                                      </p:to>
                                    </p:set>
                                    <p:anim calcmode="lin" valueType="num">
                                      <p:cBhvr additive="base">
                                        <p:cTn id="37" dur="500" fill="hold"/>
                                        <p:tgtEl>
                                          <p:spTgt spid="226320"/>
                                        </p:tgtEl>
                                        <p:attrNameLst>
                                          <p:attrName>ppt_x</p:attrName>
                                        </p:attrNameLst>
                                      </p:cBhvr>
                                      <p:tavLst>
                                        <p:tav tm="0">
                                          <p:val>
                                            <p:strVal val="0-#ppt_w/2"/>
                                          </p:val>
                                        </p:tav>
                                        <p:tav tm="100000">
                                          <p:val>
                                            <p:strVal val="#ppt_x"/>
                                          </p:val>
                                        </p:tav>
                                      </p:tavLst>
                                    </p:anim>
                                    <p:anim calcmode="lin" valueType="num">
                                      <p:cBhvr additive="base">
                                        <p:cTn id="38" dur="500" fill="hold"/>
                                        <p:tgtEl>
                                          <p:spTgt spid="22632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26313"/>
                                        </p:tgtEl>
                                        <p:attrNameLst>
                                          <p:attrName>style.visibility</p:attrName>
                                        </p:attrNameLst>
                                      </p:cBhvr>
                                      <p:to>
                                        <p:strVal val="visible"/>
                                      </p:to>
                                    </p:set>
                                    <p:anim calcmode="lin" valueType="num">
                                      <p:cBhvr additive="base">
                                        <p:cTn id="43" dur="500" fill="hold"/>
                                        <p:tgtEl>
                                          <p:spTgt spid="226313"/>
                                        </p:tgtEl>
                                        <p:attrNameLst>
                                          <p:attrName>ppt_x</p:attrName>
                                        </p:attrNameLst>
                                      </p:cBhvr>
                                      <p:tavLst>
                                        <p:tav tm="0">
                                          <p:val>
                                            <p:strVal val="0-#ppt_w/2"/>
                                          </p:val>
                                        </p:tav>
                                        <p:tav tm="100000">
                                          <p:val>
                                            <p:strVal val="#ppt_x"/>
                                          </p:val>
                                        </p:tav>
                                      </p:tavLst>
                                    </p:anim>
                                    <p:anim calcmode="lin" valueType="num">
                                      <p:cBhvr additive="base">
                                        <p:cTn id="44" dur="500" fill="hold"/>
                                        <p:tgtEl>
                                          <p:spTgt spid="226313"/>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226309"/>
                                        </p:tgtEl>
                                        <p:attrNameLst>
                                          <p:attrName>style.visibility</p:attrName>
                                        </p:attrNameLst>
                                      </p:cBhvr>
                                      <p:to>
                                        <p:strVal val="visible"/>
                                      </p:to>
                                    </p:set>
                                    <p:anim calcmode="lin" valueType="num">
                                      <p:cBhvr additive="base">
                                        <p:cTn id="49" dur="500" fill="hold"/>
                                        <p:tgtEl>
                                          <p:spTgt spid="226309"/>
                                        </p:tgtEl>
                                        <p:attrNameLst>
                                          <p:attrName>ppt_x</p:attrName>
                                        </p:attrNameLst>
                                      </p:cBhvr>
                                      <p:tavLst>
                                        <p:tav tm="0">
                                          <p:val>
                                            <p:strVal val="0-#ppt_w/2"/>
                                          </p:val>
                                        </p:tav>
                                        <p:tav tm="100000">
                                          <p:val>
                                            <p:strVal val="#ppt_x"/>
                                          </p:val>
                                        </p:tav>
                                      </p:tavLst>
                                    </p:anim>
                                    <p:anim calcmode="lin" valueType="num">
                                      <p:cBhvr additive="base">
                                        <p:cTn id="50" dur="500" fill="hold"/>
                                        <p:tgtEl>
                                          <p:spTgt spid="226309"/>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26314"/>
                                        </p:tgtEl>
                                        <p:attrNameLst>
                                          <p:attrName>style.visibility</p:attrName>
                                        </p:attrNameLst>
                                      </p:cBhvr>
                                      <p:to>
                                        <p:strVal val="visible"/>
                                      </p:to>
                                    </p:set>
                                    <p:anim calcmode="lin" valueType="num">
                                      <p:cBhvr additive="base">
                                        <p:cTn id="55" dur="500" fill="hold"/>
                                        <p:tgtEl>
                                          <p:spTgt spid="226314"/>
                                        </p:tgtEl>
                                        <p:attrNameLst>
                                          <p:attrName>ppt_x</p:attrName>
                                        </p:attrNameLst>
                                      </p:cBhvr>
                                      <p:tavLst>
                                        <p:tav tm="0">
                                          <p:val>
                                            <p:strVal val="0-#ppt_w/2"/>
                                          </p:val>
                                        </p:tav>
                                        <p:tav tm="100000">
                                          <p:val>
                                            <p:strVal val="#ppt_x"/>
                                          </p:val>
                                        </p:tav>
                                      </p:tavLst>
                                    </p:anim>
                                    <p:anim calcmode="lin" valueType="num">
                                      <p:cBhvr additive="base">
                                        <p:cTn id="56" dur="500" fill="hold"/>
                                        <p:tgtEl>
                                          <p:spTgt spid="226314"/>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226310"/>
                                        </p:tgtEl>
                                        <p:attrNameLst>
                                          <p:attrName>style.visibility</p:attrName>
                                        </p:attrNameLst>
                                      </p:cBhvr>
                                      <p:to>
                                        <p:strVal val="visible"/>
                                      </p:to>
                                    </p:set>
                                    <p:anim calcmode="lin" valueType="num">
                                      <p:cBhvr additive="base">
                                        <p:cTn id="61" dur="500" fill="hold"/>
                                        <p:tgtEl>
                                          <p:spTgt spid="226310"/>
                                        </p:tgtEl>
                                        <p:attrNameLst>
                                          <p:attrName>ppt_x</p:attrName>
                                        </p:attrNameLst>
                                      </p:cBhvr>
                                      <p:tavLst>
                                        <p:tav tm="0">
                                          <p:val>
                                            <p:strVal val="0-#ppt_w/2"/>
                                          </p:val>
                                        </p:tav>
                                        <p:tav tm="100000">
                                          <p:val>
                                            <p:strVal val="#ppt_x"/>
                                          </p:val>
                                        </p:tav>
                                      </p:tavLst>
                                    </p:anim>
                                    <p:anim calcmode="lin" valueType="num">
                                      <p:cBhvr additive="base">
                                        <p:cTn id="62" dur="500" fill="hold"/>
                                        <p:tgtEl>
                                          <p:spTgt spid="226310"/>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26315"/>
                                        </p:tgtEl>
                                        <p:attrNameLst>
                                          <p:attrName>style.visibility</p:attrName>
                                        </p:attrNameLst>
                                      </p:cBhvr>
                                      <p:to>
                                        <p:strVal val="visible"/>
                                      </p:to>
                                    </p:set>
                                    <p:anim calcmode="lin" valueType="num">
                                      <p:cBhvr additive="base">
                                        <p:cTn id="67" dur="500" fill="hold"/>
                                        <p:tgtEl>
                                          <p:spTgt spid="226315"/>
                                        </p:tgtEl>
                                        <p:attrNameLst>
                                          <p:attrName>ppt_x</p:attrName>
                                        </p:attrNameLst>
                                      </p:cBhvr>
                                      <p:tavLst>
                                        <p:tav tm="0">
                                          <p:val>
                                            <p:strVal val="0-#ppt_w/2"/>
                                          </p:val>
                                        </p:tav>
                                        <p:tav tm="100000">
                                          <p:val>
                                            <p:strVal val="#ppt_x"/>
                                          </p:val>
                                        </p:tav>
                                      </p:tavLst>
                                    </p:anim>
                                    <p:anim calcmode="lin" valueType="num">
                                      <p:cBhvr additive="base">
                                        <p:cTn id="68" dur="500" fill="hold"/>
                                        <p:tgtEl>
                                          <p:spTgt spid="226315"/>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26316"/>
                                        </p:tgtEl>
                                        <p:attrNameLst>
                                          <p:attrName>style.visibility</p:attrName>
                                        </p:attrNameLst>
                                      </p:cBhvr>
                                      <p:to>
                                        <p:strVal val="visible"/>
                                      </p:to>
                                    </p:set>
                                    <p:anim calcmode="lin" valueType="num">
                                      <p:cBhvr additive="base">
                                        <p:cTn id="73" dur="500" fill="hold"/>
                                        <p:tgtEl>
                                          <p:spTgt spid="226316"/>
                                        </p:tgtEl>
                                        <p:attrNameLst>
                                          <p:attrName>ppt_x</p:attrName>
                                        </p:attrNameLst>
                                      </p:cBhvr>
                                      <p:tavLst>
                                        <p:tav tm="0">
                                          <p:val>
                                            <p:strVal val="0-#ppt_w/2"/>
                                          </p:val>
                                        </p:tav>
                                        <p:tav tm="100000">
                                          <p:val>
                                            <p:strVal val="#ppt_x"/>
                                          </p:val>
                                        </p:tav>
                                      </p:tavLst>
                                    </p:anim>
                                    <p:anim calcmode="lin" valueType="num">
                                      <p:cBhvr additive="base">
                                        <p:cTn id="74" dur="500" fill="hold"/>
                                        <p:tgtEl>
                                          <p:spTgt spid="2263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11" grpId="0" autoUpdateAnimBg="0"/>
      <p:bldP spid="226312" grpId="0" autoUpdateAnimBg="0"/>
      <p:bldP spid="226313" grpId="0" autoUpdateAnimBg="0"/>
      <p:bldP spid="226314" grpId="0" autoUpdateAnimBg="0"/>
      <p:bldP spid="226315" grpId="0" autoUpdateAnimBg="0"/>
      <p:bldP spid="22631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381000" y="152400"/>
            <a:ext cx="6269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DATA T/0.0/,X/1.0/,Y/0.0/,H/0.01/,NSTEP/100/</a:t>
            </a:r>
          </a:p>
          <a:p>
            <a:pPr eaLnBrk="1" hangingPunct="1"/>
            <a:r>
              <a:rPr lang="en-US" altLang="zh-CN" sz="2400">
                <a:solidFill>
                  <a:srgbClr val="0000FF"/>
                </a:solidFill>
              </a:rPr>
              <a:t>DO K=1,NSTEP</a:t>
            </a:r>
          </a:p>
        </p:txBody>
      </p:sp>
      <p:graphicFrame>
        <p:nvGraphicFramePr>
          <p:cNvPr id="408579" name="Object 3"/>
          <p:cNvGraphicFramePr>
            <a:graphicFrameLocks noChangeAspect="1"/>
          </p:cNvGraphicFramePr>
          <p:nvPr/>
        </p:nvGraphicFramePr>
        <p:xfrm>
          <a:off x="5029200" y="1905000"/>
          <a:ext cx="2819400" cy="936625"/>
        </p:xfrm>
        <a:graphic>
          <a:graphicData uri="http://schemas.openxmlformats.org/presentationml/2006/ole">
            <mc:AlternateContent xmlns:mc="http://schemas.openxmlformats.org/markup-compatibility/2006">
              <mc:Choice xmlns:v="urn:schemas-microsoft-com:vml" Requires="v">
                <p:oleObj spid="_x0000_s8228" name="Equation" r:id="rId3" imgW="1358310" imgH="482391" progId="Equation.3">
                  <p:embed/>
                </p:oleObj>
              </mc:Choice>
              <mc:Fallback>
                <p:oleObj name="Equation" r:id="rId3" imgW="1358310" imgH="482391"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1905000"/>
                        <a:ext cx="28194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8580" name="Object 4"/>
          <p:cNvGraphicFramePr>
            <a:graphicFrameLocks noChangeAspect="1"/>
          </p:cNvGraphicFramePr>
          <p:nvPr/>
        </p:nvGraphicFramePr>
        <p:xfrm>
          <a:off x="5791200" y="750888"/>
          <a:ext cx="2819400" cy="919162"/>
        </p:xfrm>
        <a:graphic>
          <a:graphicData uri="http://schemas.openxmlformats.org/presentationml/2006/ole">
            <mc:AlternateContent xmlns:mc="http://schemas.openxmlformats.org/markup-compatibility/2006">
              <mc:Choice xmlns:v="urn:schemas-microsoft-com:vml" Requires="v">
                <p:oleObj spid="_x0000_s8229" name="Equation" r:id="rId5" imgW="1320227" imgH="482391" progId="Equation.3">
                  <p:embed/>
                </p:oleObj>
              </mc:Choice>
              <mc:Fallback>
                <p:oleObj name="Equation" r:id="rId5" imgW="1320227" imgH="482391"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750888"/>
                        <a:ext cx="2819400" cy="919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8581" name="Object 5"/>
          <p:cNvGraphicFramePr>
            <a:graphicFrameLocks noChangeAspect="1"/>
          </p:cNvGraphicFramePr>
          <p:nvPr/>
        </p:nvGraphicFramePr>
        <p:xfrm>
          <a:off x="6465888" y="4191000"/>
          <a:ext cx="2678112" cy="1098550"/>
        </p:xfrm>
        <a:graphic>
          <a:graphicData uri="http://schemas.openxmlformats.org/presentationml/2006/ole">
            <mc:AlternateContent xmlns:mc="http://schemas.openxmlformats.org/markup-compatibility/2006">
              <mc:Choice xmlns:v="urn:schemas-microsoft-com:vml" Requires="v">
                <p:oleObj spid="_x0000_s8230" name="Equation" r:id="rId7" imgW="1054100" imgH="431800" progId="Equation.3">
                  <p:embed/>
                </p:oleObj>
              </mc:Choice>
              <mc:Fallback>
                <p:oleObj name="Equation" r:id="rId7" imgW="1054100" imgH="4318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65888" y="4191000"/>
                        <a:ext cx="2678112"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8582" name="Object 6"/>
          <p:cNvGraphicFramePr>
            <a:graphicFrameLocks noChangeAspect="1"/>
          </p:cNvGraphicFramePr>
          <p:nvPr/>
        </p:nvGraphicFramePr>
        <p:xfrm>
          <a:off x="4038600" y="5357813"/>
          <a:ext cx="4540250" cy="1500187"/>
        </p:xfrm>
        <a:graphic>
          <a:graphicData uri="http://schemas.openxmlformats.org/presentationml/2006/ole">
            <mc:AlternateContent xmlns:mc="http://schemas.openxmlformats.org/markup-compatibility/2006">
              <mc:Choice xmlns:v="urn:schemas-microsoft-com:vml" Requires="v">
                <p:oleObj spid="_x0000_s8231" name="Equation" r:id="rId9" imgW="2235200" imgH="838200" progId="Equation.3">
                  <p:embed/>
                </p:oleObj>
              </mc:Choice>
              <mc:Fallback>
                <p:oleObj name="Equation" r:id="rId9" imgW="2235200" imgH="838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8600" y="5357813"/>
                        <a:ext cx="4540250" cy="1500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8583" name="Text Box 7"/>
          <p:cNvSpPr txBox="1">
            <a:spLocks noChangeArrowheads="1"/>
          </p:cNvSpPr>
          <p:nvPr/>
        </p:nvSpPr>
        <p:spPr bwMode="auto">
          <a:xfrm>
            <a:off x="304800" y="838200"/>
            <a:ext cx="37020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X1=X-Y+T*(2.0-T*(1.0+T)</a:t>
            </a:r>
          </a:p>
          <a:p>
            <a:pPr eaLnBrk="1" hangingPunct="1"/>
            <a:r>
              <a:rPr lang="en-US" altLang="zh-CN" sz="2400">
                <a:solidFill>
                  <a:srgbClr val="0000FF"/>
                </a:solidFill>
              </a:rPr>
              <a:t>Y1=X+Y+T*T*(4.0+T)</a:t>
            </a:r>
          </a:p>
        </p:txBody>
      </p:sp>
      <p:sp>
        <p:nvSpPr>
          <p:cNvPr id="408584" name="Text Box 8"/>
          <p:cNvSpPr txBox="1">
            <a:spLocks noChangeArrowheads="1"/>
          </p:cNvSpPr>
          <p:nvPr/>
        </p:nvSpPr>
        <p:spPr bwMode="auto">
          <a:xfrm>
            <a:off x="76200" y="1631950"/>
            <a:ext cx="40830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X2=X1-Y1+2.0-T*(2.0+3.0*T)</a:t>
            </a:r>
          </a:p>
          <a:p>
            <a:pPr eaLnBrk="1" hangingPunct="1"/>
            <a:r>
              <a:rPr lang="en-US" altLang="zh-CN" sz="2400">
                <a:solidFill>
                  <a:srgbClr val="0000FF"/>
                </a:solidFill>
              </a:rPr>
              <a:t>Y2=X1+Y1+T*(8.0+3.0*T)</a:t>
            </a:r>
          </a:p>
        </p:txBody>
      </p:sp>
      <p:sp>
        <p:nvSpPr>
          <p:cNvPr id="408585" name="Text Box 9"/>
          <p:cNvSpPr txBox="1">
            <a:spLocks noChangeArrowheads="1"/>
          </p:cNvSpPr>
          <p:nvPr/>
        </p:nvSpPr>
        <p:spPr bwMode="auto">
          <a:xfrm>
            <a:off x="76200" y="2393950"/>
            <a:ext cx="30416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X3=X2-Y2-2.0-6.0*T</a:t>
            </a:r>
          </a:p>
          <a:p>
            <a:pPr eaLnBrk="1" hangingPunct="1"/>
            <a:r>
              <a:rPr lang="en-US" altLang="zh-CN" sz="2400">
                <a:solidFill>
                  <a:srgbClr val="0000FF"/>
                </a:solidFill>
              </a:rPr>
              <a:t>Y3=X2+Y2-8.0+6.0*T</a:t>
            </a:r>
          </a:p>
        </p:txBody>
      </p:sp>
      <p:sp>
        <p:nvSpPr>
          <p:cNvPr id="408586" name="Text Box 10"/>
          <p:cNvSpPr txBox="1">
            <a:spLocks noChangeArrowheads="1"/>
          </p:cNvSpPr>
          <p:nvPr/>
        </p:nvSpPr>
        <p:spPr bwMode="auto">
          <a:xfrm>
            <a:off x="76200" y="3155950"/>
            <a:ext cx="22034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X4=X3-Y3-6.0</a:t>
            </a:r>
          </a:p>
          <a:p>
            <a:pPr eaLnBrk="1" hangingPunct="1"/>
            <a:r>
              <a:rPr lang="en-US" altLang="zh-CN" sz="2400">
                <a:solidFill>
                  <a:srgbClr val="0000FF"/>
                </a:solidFill>
              </a:rPr>
              <a:t>Y4=X3+Y3+6.0</a:t>
            </a:r>
          </a:p>
        </p:txBody>
      </p:sp>
      <p:sp>
        <p:nvSpPr>
          <p:cNvPr id="408587" name="Text Box 11"/>
          <p:cNvSpPr txBox="1">
            <a:spLocks noChangeArrowheads="1"/>
          </p:cNvSpPr>
          <p:nvPr/>
        </p:nvSpPr>
        <p:spPr bwMode="auto">
          <a:xfrm>
            <a:off x="152400" y="3886200"/>
            <a:ext cx="61372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X=X+H*X1+H*(X2/2.+H*(X3/6.+H*X4/24.)))</a:t>
            </a:r>
            <a:br>
              <a:rPr lang="en-US" altLang="zh-CN" sz="2400">
                <a:solidFill>
                  <a:srgbClr val="0000FF"/>
                </a:solidFill>
              </a:rPr>
            </a:br>
            <a:r>
              <a:rPr lang="en-US" altLang="zh-CN" sz="2400">
                <a:solidFill>
                  <a:srgbClr val="0000FF"/>
                </a:solidFill>
              </a:rPr>
              <a:t>Y=Y+H*Y1+H*(Y2/2.+H*(Y3/6.+H*Y4/24.)))</a:t>
            </a:r>
          </a:p>
        </p:txBody>
      </p:sp>
      <p:sp>
        <p:nvSpPr>
          <p:cNvPr id="408588" name="Text Box 12"/>
          <p:cNvSpPr txBox="1">
            <a:spLocks noChangeArrowheads="1"/>
          </p:cNvSpPr>
          <p:nvPr/>
        </p:nvSpPr>
        <p:spPr bwMode="auto">
          <a:xfrm>
            <a:off x="304800" y="4648200"/>
            <a:ext cx="2236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T=REAL(K)*H</a:t>
            </a:r>
          </a:p>
        </p:txBody>
      </p:sp>
      <p:sp>
        <p:nvSpPr>
          <p:cNvPr id="408589" name="Text Box 13"/>
          <p:cNvSpPr txBox="1">
            <a:spLocks noChangeArrowheads="1"/>
          </p:cNvSpPr>
          <p:nvPr/>
        </p:nvSpPr>
        <p:spPr bwMode="auto">
          <a:xfrm>
            <a:off x="228600" y="5105400"/>
            <a:ext cx="261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WRITE(*,*)T,X,Y</a:t>
            </a:r>
          </a:p>
        </p:txBody>
      </p:sp>
      <p:sp>
        <p:nvSpPr>
          <p:cNvPr id="408590" name="Text Box 14"/>
          <p:cNvSpPr txBox="1">
            <a:spLocks noChangeArrowheads="1"/>
          </p:cNvSpPr>
          <p:nvPr/>
        </p:nvSpPr>
        <p:spPr bwMode="auto">
          <a:xfrm>
            <a:off x="228600" y="5562600"/>
            <a:ext cx="128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ENDDO</a:t>
            </a:r>
          </a:p>
        </p:txBody>
      </p:sp>
      <p:sp>
        <p:nvSpPr>
          <p:cNvPr id="408591" name="Text Box 15"/>
          <p:cNvSpPr txBox="1">
            <a:spLocks noChangeArrowheads="1"/>
          </p:cNvSpPr>
          <p:nvPr/>
        </p:nvSpPr>
        <p:spPr bwMode="auto">
          <a:xfrm>
            <a:off x="304800" y="6035675"/>
            <a:ext cx="97948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solidFill>
                  <a:srgbClr val="0000FF"/>
                </a:solidFill>
              </a:rPr>
              <a:t>STOP</a:t>
            </a:r>
          </a:p>
          <a:p>
            <a:pPr eaLnBrk="1" hangingPunct="1"/>
            <a:r>
              <a:rPr lang="en-US" altLang="zh-CN" sz="2400">
                <a:solidFill>
                  <a:srgbClr val="0000FF"/>
                </a:solidFill>
              </a:rPr>
              <a:t>END</a:t>
            </a:r>
          </a:p>
        </p:txBody>
      </p:sp>
      <p:graphicFrame>
        <p:nvGraphicFramePr>
          <p:cNvPr id="408592" name="Object 16"/>
          <p:cNvGraphicFramePr>
            <a:graphicFrameLocks noChangeAspect="1"/>
          </p:cNvGraphicFramePr>
          <p:nvPr/>
        </p:nvGraphicFramePr>
        <p:xfrm>
          <a:off x="5867400" y="2971800"/>
          <a:ext cx="2449513" cy="838200"/>
        </p:xfrm>
        <a:graphic>
          <a:graphicData uri="http://schemas.openxmlformats.org/presentationml/2006/ole">
            <mc:AlternateContent xmlns:mc="http://schemas.openxmlformats.org/markup-compatibility/2006">
              <mc:Choice xmlns:v="urn:schemas-microsoft-com:vml" Requires="v">
                <p:oleObj spid="_x0000_s8232" name="Equation" r:id="rId11" imgW="1180588" imgH="431613" progId="Equation.3">
                  <p:embed/>
                </p:oleObj>
              </mc:Choice>
              <mc:Fallback>
                <p:oleObj name="Equation" r:id="rId11" imgW="1180588" imgH="431613"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7400" y="2971800"/>
                        <a:ext cx="2449513"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8593" name="Object 17"/>
          <p:cNvGraphicFramePr>
            <a:graphicFrameLocks noChangeAspect="1"/>
          </p:cNvGraphicFramePr>
          <p:nvPr/>
        </p:nvGraphicFramePr>
        <p:xfrm>
          <a:off x="6732588" y="188913"/>
          <a:ext cx="2159000" cy="415925"/>
        </p:xfrm>
        <a:graphic>
          <a:graphicData uri="http://schemas.openxmlformats.org/presentationml/2006/ole">
            <mc:AlternateContent xmlns:mc="http://schemas.openxmlformats.org/markup-compatibility/2006">
              <mc:Choice xmlns:v="urn:schemas-microsoft-com:vml" Requires="v">
                <p:oleObj spid="_x0000_s8233" name="公式" r:id="rId13" imgW="1054100" imgH="203200" progId="Equation.3">
                  <p:embed/>
                </p:oleObj>
              </mc:Choice>
              <mc:Fallback>
                <p:oleObj name="公式" r:id="rId13" imgW="1054100" imgH="20320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32588" y="188913"/>
                        <a:ext cx="2159000"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08593"/>
                                        </p:tgtEl>
                                        <p:attrNameLst>
                                          <p:attrName>style.visibility</p:attrName>
                                        </p:attrNameLst>
                                      </p:cBhvr>
                                      <p:to>
                                        <p:strVal val="visible"/>
                                      </p:to>
                                    </p:set>
                                    <p:anim calcmode="lin" valueType="num">
                                      <p:cBhvr additive="base">
                                        <p:cTn id="7" dur="500" fill="hold"/>
                                        <p:tgtEl>
                                          <p:spTgt spid="408593"/>
                                        </p:tgtEl>
                                        <p:attrNameLst>
                                          <p:attrName>ppt_x</p:attrName>
                                        </p:attrNameLst>
                                      </p:cBhvr>
                                      <p:tavLst>
                                        <p:tav tm="0">
                                          <p:val>
                                            <p:strVal val="#ppt_x"/>
                                          </p:val>
                                        </p:tav>
                                        <p:tav tm="100000">
                                          <p:val>
                                            <p:strVal val="#ppt_x"/>
                                          </p:val>
                                        </p:tav>
                                      </p:tavLst>
                                    </p:anim>
                                    <p:anim calcmode="lin" valueType="num">
                                      <p:cBhvr additive="base">
                                        <p:cTn id="8" dur="500" fill="hold"/>
                                        <p:tgtEl>
                                          <p:spTgt spid="40859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8590"/>
                                        </p:tgtEl>
                                        <p:attrNameLst>
                                          <p:attrName>style.visibility</p:attrName>
                                        </p:attrNameLst>
                                      </p:cBhvr>
                                      <p:to>
                                        <p:strVal val="visible"/>
                                      </p:to>
                                    </p:set>
                                    <p:anim calcmode="lin" valueType="num">
                                      <p:cBhvr additive="base">
                                        <p:cTn id="13" dur="500" fill="hold"/>
                                        <p:tgtEl>
                                          <p:spTgt spid="408590"/>
                                        </p:tgtEl>
                                        <p:attrNameLst>
                                          <p:attrName>ppt_x</p:attrName>
                                        </p:attrNameLst>
                                      </p:cBhvr>
                                      <p:tavLst>
                                        <p:tav tm="0">
                                          <p:val>
                                            <p:strVal val="0-#ppt_w/2"/>
                                          </p:val>
                                        </p:tav>
                                        <p:tav tm="100000">
                                          <p:val>
                                            <p:strVal val="#ppt_x"/>
                                          </p:val>
                                        </p:tav>
                                      </p:tavLst>
                                    </p:anim>
                                    <p:anim calcmode="lin" valueType="num">
                                      <p:cBhvr additive="base">
                                        <p:cTn id="14" dur="500" fill="hold"/>
                                        <p:tgtEl>
                                          <p:spTgt spid="40859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08580"/>
                                        </p:tgtEl>
                                        <p:attrNameLst>
                                          <p:attrName>style.visibility</p:attrName>
                                        </p:attrNameLst>
                                      </p:cBhvr>
                                      <p:to>
                                        <p:strVal val="visible"/>
                                      </p:to>
                                    </p:set>
                                    <p:anim calcmode="lin" valueType="num">
                                      <p:cBhvr additive="base">
                                        <p:cTn id="19" dur="500" fill="hold"/>
                                        <p:tgtEl>
                                          <p:spTgt spid="408580"/>
                                        </p:tgtEl>
                                        <p:attrNameLst>
                                          <p:attrName>ppt_x</p:attrName>
                                        </p:attrNameLst>
                                      </p:cBhvr>
                                      <p:tavLst>
                                        <p:tav tm="0">
                                          <p:val>
                                            <p:strVal val="0-#ppt_w/2"/>
                                          </p:val>
                                        </p:tav>
                                        <p:tav tm="100000">
                                          <p:val>
                                            <p:strVal val="#ppt_x"/>
                                          </p:val>
                                        </p:tav>
                                      </p:tavLst>
                                    </p:anim>
                                    <p:anim calcmode="lin" valueType="num">
                                      <p:cBhvr additive="base">
                                        <p:cTn id="20" dur="500" fill="hold"/>
                                        <p:tgtEl>
                                          <p:spTgt spid="40858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8583"/>
                                        </p:tgtEl>
                                        <p:attrNameLst>
                                          <p:attrName>style.visibility</p:attrName>
                                        </p:attrNameLst>
                                      </p:cBhvr>
                                      <p:to>
                                        <p:strVal val="visible"/>
                                      </p:to>
                                    </p:set>
                                    <p:anim calcmode="lin" valueType="num">
                                      <p:cBhvr additive="base">
                                        <p:cTn id="25" dur="500" fill="hold"/>
                                        <p:tgtEl>
                                          <p:spTgt spid="408583"/>
                                        </p:tgtEl>
                                        <p:attrNameLst>
                                          <p:attrName>ppt_x</p:attrName>
                                        </p:attrNameLst>
                                      </p:cBhvr>
                                      <p:tavLst>
                                        <p:tav tm="0">
                                          <p:val>
                                            <p:strVal val="0-#ppt_w/2"/>
                                          </p:val>
                                        </p:tav>
                                        <p:tav tm="100000">
                                          <p:val>
                                            <p:strVal val="#ppt_x"/>
                                          </p:val>
                                        </p:tav>
                                      </p:tavLst>
                                    </p:anim>
                                    <p:anim calcmode="lin" valueType="num">
                                      <p:cBhvr additive="base">
                                        <p:cTn id="26" dur="500" fill="hold"/>
                                        <p:tgtEl>
                                          <p:spTgt spid="40858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408579"/>
                                        </p:tgtEl>
                                        <p:attrNameLst>
                                          <p:attrName>style.visibility</p:attrName>
                                        </p:attrNameLst>
                                      </p:cBhvr>
                                      <p:to>
                                        <p:strVal val="visible"/>
                                      </p:to>
                                    </p:set>
                                    <p:anim calcmode="lin" valueType="num">
                                      <p:cBhvr additive="base">
                                        <p:cTn id="31" dur="500" fill="hold"/>
                                        <p:tgtEl>
                                          <p:spTgt spid="408579"/>
                                        </p:tgtEl>
                                        <p:attrNameLst>
                                          <p:attrName>ppt_x</p:attrName>
                                        </p:attrNameLst>
                                      </p:cBhvr>
                                      <p:tavLst>
                                        <p:tav tm="0">
                                          <p:val>
                                            <p:strVal val="0-#ppt_w/2"/>
                                          </p:val>
                                        </p:tav>
                                        <p:tav tm="100000">
                                          <p:val>
                                            <p:strVal val="#ppt_x"/>
                                          </p:val>
                                        </p:tav>
                                      </p:tavLst>
                                    </p:anim>
                                    <p:anim calcmode="lin" valueType="num">
                                      <p:cBhvr additive="base">
                                        <p:cTn id="32" dur="500" fill="hold"/>
                                        <p:tgtEl>
                                          <p:spTgt spid="40857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08584"/>
                                        </p:tgtEl>
                                        <p:attrNameLst>
                                          <p:attrName>style.visibility</p:attrName>
                                        </p:attrNameLst>
                                      </p:cBhvr>
                                      <p:to>
                                        <p:strVal val="visible"/>
                                      </p:to>
                                    </p:set>
                                    <p:anim calcmode="lin" valueType="num">
                                      <p:cBhvr additive="base">
                                        <p:cTn id="37" dur="500" fill="hold"/>
                                        <p:tgtEl>
                                          <p:spTgt spid="408584"/>
                                        </p:tgtEl>
                                        <p:attrNameLst>
                                          <p:attrName>ppt_x</p:attrName>
                                        </p:attrNameLst>
                                      </p:cBhvr>
                                      <p:tavLst>
                                        <p:tav tm="0">
                                          <p:val>
                                            <p:strVal val="0-#ppt_w/2"/>
                                          </p:val>
                                        </p:tav>
                                        <p:tav tm="100000">
                                          <p:val>
                                            <p:strVal val="#ppt_x"/>
                                          </p:val>
                                        </p:tav>
                                      </p:tavLst>
                                    </p:anim>
                                    <p:anim calcmode="lin" valueType="num">
                                      <p:cBhvr additive="base">
                                        <p:cTn id="38" dur="500" fill="hold"/>
                                        <p:tgtEl>
                                          <p:spTgt spid="408584"/>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408592"/>
                                        </p:tgtEl>
                                        <p:attrNameLst>
                                          <p:attrName>style.visibility</p:attrName>
                                        </p:attrNameLst>
                                      </p:cBhvr>
                                      <p:to>
                                        <p:strVal val="visible"/>
                                      </p:to>
                                    </p:set>
                                    <p:anim calcmode="lin" valueType="num">
                                      <p:cBhvr additive="base">
                                        <p:cTn id="43" dur="500" fill="hold"/>
                                        <p:tgtEl>
                                          <p:spTgt spid="408592"/>
                                        </p:tgtEl>
                                        <p:attrNameLst>
                                          <p:attrName>ppt_x</p:attrName>
                                        </p:attrNameLst>
                                      </p:cBhvr>
                                      <p:tavLst>
                                        <p:tav tm="0">
                                          <p:val>
                                            <p:strVal val="0-#ppt_w/2"/>
                                          </p:val>
                                        </p:tav>
                                        <p:tav tm="100000">
                                          <p:val>
                                            <p:strVal val="#ppt_x"/>
                                          </p:val>
                                        </p:tav>
                                      </p:tavLst>
                                    </p:anim>
                                    <p:anim calcmode="lin" valueType="num">
                                      <p:cBhvr additive="base">
                                        <p:cTn id="44" dur="500" fill="hold"/>
                                        <p:tgtEl>
                                          <p:spTgt spid="408592"/>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08585"/>
                                        </p:tgtEl>
                                        <p:attrNameLst>
                                          <p:attrName>style.visibility</p:attrName>
                                        </p:attrNameLst>
                                      </p:cBhvr>
                                      <p:to>
                                        <p:strVal val="visible"/>
                                      </p:to>
                                    </p:set>
                                    <p:anim calcmode="lin" valueType="num">
                                      <p:cBhvr additive="base">
                                        <p:cTn id="49" dur="500" fill="hold"/>
                                        <p:tgtEl>
                                          <p:spTgt spid="408585"/>
                                        </p:tgtEl>
                                        <p:attrNameLst>
                                          <p:attrName>ppt_x</p:attrName>
                                        </p:attrNameLst>
                                      </p:cBhvr>
                                      <p:tavLst>
                                        <p:tav tm="0">
                                          <p:val>
                                            <p:strVal val="0-#ppt_w/2"/>
                                          </p:val>
                                        </p:tav>
                                        <p:tav tm="100000">
                                          <p:val>
                                            <p:strVal val="#ppt_x"/>
                                          </p:val>
                                        </p:tav>
                                      </p:tavLst>
                                    </p:anim>
                                    <p:anim calcmode="lin" valueType="num">
                                      <p:cBhvr additive="base">
                                        <p:cTn id="50" dur="500" fill="hold"/>
                                        <p:tgtEl>
                                          <p:spTgt spid="408585"/>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nodeType="clickEffect">
                                  <p:stCondLst>
                                    <p:cond delay="0"/>
                                  </p:stCondLst>
                                  <p:childTnLst>
                                    <p:set>
                                      <p:cBhvr>
                                        <p:cTn id="54" dur="1" fill="hold">
                                          <p:stCondLst>
                                            <p:cond delay="0"/>
                                          </p:stCondLst>
                                        </p:cTn>
                                        <p:tgtEl>
                                          <p:spTgt spid="408581"/>
                                        </p:tgtEl>
                                        <p:attrNameLst>
                                          <p:attrName>style.visibility</p:attrName>
                                        </p:attrNameLst>
                                      </p:cBhvr>
                                      <p:to>
                                        <p:strVal val="visible"/>
                                      </p:to>
                                    </p:set>
                                    <p:anim calcmode="lin" valueType="num">
                                      <p:cBhvr additive="base">
                                        <p:cTn id="55" dur="500" fill="hold"/>
                                        <p:tgtEl>
                                          <p:spTgt spid="408581"/>
                                        </p:tgtEl>
                                        <p:attrNameLst>
                                          <p:attrName>ppt_x</p:attrName>
                                        </p:attrNameLst>
                                      </p:cBhvr>
                                      <p:tavLst>
                                        <p:tav tm="0">
                                          <p:val>
                                            <p:strVal val="0-#ppt_w/2"/>
                                          </p:val>
                                        </p:tav>
                                        <p:tav tm="100000">
                                          <p:val>
                                            <p:strVal val="#ppt_x"/>
                                          </p:val>
                                        </p:tav>
                                      </p:tavLst>
                                    </p:anim>
                                    <p:anim calcmode="lin" valueType="num">
                                      <p:cBhvr additive="base">
                                        <p:cTn id="56" dur="500" fill="hold"/>
                                        <p:tgtEl>
                                          <p:spTgt spid="408581"/>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08586"/>
                                        </p:tgtEl>
                                        <p:attrNameLst>
                                          <p:attrName>style.visibility</p:attrName>
                                        </p:attrNameLst>
                                      </p:cBhvr>
                                      <p:to>
                                        <p:strVal val="visible"/>
                                      </p:to>
                                    </p:set>
                                    <p:anim calcmode="lin" valueType="num">
                                      <p:cBhvr additive="base">
                                        <p:cTn id="61" dur="500" fill="hold"/>
                                        <p:tgtEl>
                                          <p:spTgt spid="408586"/>
                                        </p:tgtEl>
                                        <p:attrNameLst>
                                          <p:attrName>ppt_x</p:attrName>
                                        </p:attrNameLst>
                                      </p:cBhvr>
                                      <p:tavLst>
                                        <p:tav tm="0">
                                          <p:val>
                                            <p:strVal val="0-#ppt_w/2"/>
                                          </p:val>
                                        </p:tav>
                                        <p:tav tm="100000">
                                          <p:val>
                                            <p:strVal val="#ppt_x"/>
                                          </p:val>
                                        </p:tav>
                                      </p:tavLst>
                                    </p:anim>
                                    <p:anim calcmode="lin" valueType="num">
                                      <p:cBhvr additive="base">
                                        <p:cTn id="62" dur="500" fill="hold"/>
                                        <p:tgtEl>
                                          <p:spTgt spid="408586"/>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408582"/>
                                        </p:tgtEl>
                                        <p:attrNameLst>
                                          <p:attrName>style.visibility</p:attrName>
                                        </p:attrNameLst>
                                      </p:cBhvr>
                                      <p:to>
                                        <p:strVal val="visible"/>
                                      </p:to>
                                    </p:set>
                                    <p:anim calcmode="lin" valueType="num">
                                      <p:cBhvr additive="base">
                                        <p:cTn id="67" dur="500" fill="hold"/>
                                        <p:tgtEl>
                                          <p:spTgt spid="408582"/>
                                        </p:tgtEl>
                                        <p:attrNameLst>
                                          <p:attrName>ppt_x</p:attrName>
                                        </p:attrNameLst>
                                      </p:cBhvr>
                                      <p:tavLst>
                                        <p:tav tm="0">
                                          <p:val>
                                            <p:strVal val="0-#ppt_w/2"/>
                                          </p:val>
                                        </p:tav>
                                        <p:tav tm="100000">
                                          <p:val>
                                            <p:strVal val="#ppt_x"/>
                                          </p:val>
                                        </p:tav>
                                      </p:tavLst>
                                    </p:anim>
                                    <p:anim calcmode="lin" valueType="num">
                                      <p:cBhvr additive="base">
                                        <p:cTn id="68" dur="500" fill="hold"/>
                                        <p:tgtEl>
                                          <p:spTgt spid="408582"/>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408587"/>
                                        </p:tgtEl>
                                        <p:attrNameLst>
                                          <p:attrName>style.visibility</p:attrName>
                                        </p:attrNameLst>
                                      </p:cBhvr>
                                      <p:to>
                                        <p:strVal val="visible"/>
                                      </p:to>
                                    </p:set>
                                    <p:anim calcmode="lin" valueType="num">
                                      <p:cBhvr additive="base">
                                        <p:cTn id="73" dur="500" fill="hold"/>
                                        <p:tgtEl>
                                          <p:spTgt spid="408587"/>
                                        </p:tgtEl>
                                        <p:attrNameLst>
                                          <p:attrName>ppt_x</p:attrName>
                                        </p:attrNameLst>
                                      </p:cBhvr>
                                      <p:tavLst>
                                        <p:tav tm="0">
                                          <p:val>
                                            <p:strVal val="0-#ppt_w/2"/>
                                          </p:val>
                                        </p:tav>
                                        <p:tav tm="100000">
                                          <p:val>
                                            <p:strVal val="#ppt_x"/>
                                          </p:val>
                                        </p:tav>
                                      </p:tavLst>
                                    </p:anim>
                                    <p:anim calcmode="lin" valueType="num">
                                      <p:cBhvr additive="base">
                                        <p:cTn id="74" dur="500" fill="hold"/>
                                        <p:tgtEl>
                                          <p:spTgt spid="408587"/>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408588"/>
                                        </p:tgtEl>
                                        <p:attrNameLst>
                                          <p:attrName>style.visibility</p:attrName>
                                        </p:attrNameLst>
                                      </p:cBhvr>
                                      <p:to>
                                        <p:strVal val="visible"/>
                                      </p:to>
                                    </p:set>
                                    <p:anim calcmode="lin" valueType="num">
                                      <p:cBhvr additive="base">
                                        <p:cTn id="79" dur="500" fill="hold"/>
                                        <p:tgtEl>
                                          <p:spTgt spid="408588"/>
                                        </p:tgtEl>
                                        <p:attrNameLst>
                                          <p:attrName>ppt_x</p:attrName>
                                        </p:attrNameLst>
                                      </p:cBhvr>
                                      <p:tavLst>
                                        <p:tav tm="0">
                                          <p:val>
                                            <p:strVal val="0-#ppt_w/2"/>
                                          </p:val>
                                        </p:tav>
                                        <p:tav tm="100000">
                                          <p:val>
                                            <p:strVal val="#ppt_x"/>
                                          </p:val>
                                        </p:tav>
                                      </p:tavLst>
                                    </p:anim>
                                    <p:anim calcmode="lin" valueType="num">
                                      <p:cBhvr additive="base">
                                        <p:cTn id="80" dur="500" fill="hold"/>
                                        <p:tgtEl>
                                          <p:spTgt spid="408588"/>
                                        </p:tgtEl>
                                        <p:attrNameLst>
                                          <p:attrName>ppt_y</p:attrName>
                                        </p:attrNameLst>
                                      </p:cBhvr>
                                      <p:tavLst>
                                        <p:tav tm="0">
                                          <p:val>
                                            <p:strVal val="#ppt_y"/>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408589"/>
                                        </p:tgtEl>
                                        <p:attrNameLst>
                                          <p:attrName>style.visibility</p:attrName>
                                        </p:attrNameLst>
                                      </p:cBhvr>
                                      <p:to>
                                        <p:strVal val="visible"/>
                                      </p:to>
                                    </p:set>
                                    <p:anim calcmode="lin" valueType="num">
                                      <p:cBhvr additive="base">
                                        <p:cTn id="85" dur="500" fill="hold"/>
                                        <p:tgtEl>
                                          <p:spTgt spid="408589"/>
                                        </p:tgtEl>
                                        <p:attrNameLst>
                                          <p:attrName>ppt_x</p:attrName>
                                        </p:attrNameLst>
                                      </p:cBhvr>
                                      <p:tavLst>
                                        <p:tav tm="0">
                                          <p:val>
                                            <p:strVal val="0-#ppt_w/2"/>
                                          </p:val>
                                        </p:tav>
                                        <p:tav tm="100000">
                                          <p:val>
                                            <p:strVal val="#ppt_x"/>
                                          </p:val>
                                        </p:tav>
                                      </p:tavLst>
                                    </p:anim>
                                    <p:anim calcmode="lin" valueType="num">
                                      <p:cBhvr additive="base">
                                        <p:cTn id="86" dur="500" fill="hold"/>
                                        <p:tgtEl>
                                          <p:spTgt spid="408589"/>
                                        </p:tgtEl>
                                        <p:attrNameLst>
                                          <p:attrName>ppt_y</p:attrName>
                                        </p:attrNameLst>
                                      </p:cBhvr>
                                      <p:tavLst>
                                        <p:tav tm="0">
                                          <p:val>
                                            <p:strVal val="#ppt_y"/>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408591"/>
                                        </p:tgtEl>
                                        <p:attrNameLst>
                                          <p:attrName>style.visibility</p:attrName>
                                        </p:attrNameLst>
                                      </p:cBhvr>
                                      <p:to>
                                        <p:strVal val="visible"/>
                                      </p:to>
                                    </p:set>
                                    <p:anim calcmode="lin" valueType="num">
                                      <p:cBhvr additive="base">
                                        <p:cTn id="91" dur="500" fill="hold"/>
                                        <p:tgtEl>
                                          <p:spTgt spid="408591"/>
                                        </p:tgtEl>
                                        <p:attrNameLst>
                                          <p:attrName>ppt_x</p:attrName>
                                        </p:attrNameLst>
                                      </p:cBhvr>
                                      <p:tavLst>
                                        <p:tav tm="0">
                                          <p:val>
                                            <p:strVal val="0-#ppt_w/2"/>
                                          </p:val>
                                        </p:tav>
                                        <p:tav tm="100000">
                                          <p:val>
                                            <p:strVal val="#ppt_x"/>
                                          </p:val>
                                        </p:tav>
                                      </p:tavLst>
                                    </p:anim>
                                    <p:anim calcmode="lin" valueType="num">
                                      <p:cBhvr additive="base">
                                        <p:cTn id="92" dur="500" fill="hold"/>
                                        <p:tgtEl>
                                          <p:spTgt spid="4085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3" grpId="0" autoUpdateAnimBg="0"/>
      <p:bldP spid="408584" grpId="0" autoUpdateAnimBg="0"/>
      <p:bldP spid="408585" grpId="0" autoUpdateAnimBg="0"/>
      <p:bldP spid="408586" grpId="0" autoUpdateAnimBg="0"/>
      <p:bldP spid="408587" grpId="0" autoUpdateAnimBg="0"/>
      <p:bldP spid="408588" grpId="0" autoUpdateAnimBg="0"/>
      <p:bldP spid="408589" grpId="0" autoUpdateAnimBg="0"/>
      <p:bldP spid="408590" grpId="0" autoUpdateAnimBg="0"/>
      <p:bldP spid="408591"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2"/>
          <p:cNvGraphicFramePr>
            <a:graphicFrameLocks noChangeAspect="1"/>
          </p:cNvGraphicFramePr>
          <p:nvPr/>
        </p:nvGraphicFramePr>
        <p:xfrm>
          <a:off x="900113" y="476250"/>
          <a:ext cx="4594225" cy="2476500"/>
        </p:xfrm>
        <a:graphic>
          <a:graphicData uri="http://schemas.openxmlformats.org/presentationml/2006/ole">
            <mc:AlternateContent xmlns:mc="http://schemas.openxmlformats.org/markup-compatibility/2006">
              <mc:Choice xmlns:v="urn:schemas-microsoft-com:vml" Requires="v">
                <p:oleObj spid="_x0000_s9227" name="Equation" r:id="rId3" imgW="1320227" imgH="710891" progId="Equation.3">
                  <p:embed/>
                </p:oleObj>
              </mc:Choice>
              <mc:Fallback>
                <p:oleObj name="Equation" r:id="rId3" imgW="1320227" imgH="710891"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476250"/>
                        <a:ext cx="4594225" cy="2476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1" name="Object 3"/>
          <p:cNvGraphicFramePr>
            <a:graphicFrameLocks noChangeAspect="1"/>
          </p:cNvGraphicFramePr>
          <p:nvPr/>
        </p:nvGraphicFramePr>
        <p:xfrm>
          <a:off x="1476375" y="4076700"/>
          <a:ext cx="4608513" cy="1925638"/>
        </p:xfrm>
        <a:graphic>
          <a:graphicData uri="http://schemas.openxmlformats.org/presentationml/2006/ole">
            <mc:AlternateContent xmlns:mc="http://schemas.openxmlformats.org/markup-compatibility/2006">
              <mc:Choice xmlns:v="urn:schemas-microsoft-com:vml" Requires="v">
                <p:oleObj spid="_x0000_s9228" name="Equation" r:id="rId5" imgW="1155700" imgH="482600" progId="Equation.3">
                  <p:embed/>
                </p:oleObj>
              </mc:Choice>
              <mc:Fallback>
                <p:oleObj name="Equation" r:id="rId5" imgW="1155700" imgH="482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6375" y="4076700"/>
                        <a:ext cx="4608513" cy="1925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0" name="Text Box 5"/>
          <p:cNvSpPr txBox="1">
            <a:spLocks noChangeArrowheads="1"/>
          </p:cNvSpPr>
          <p:nvPr/>
        </p:nvSpPr>
        <p:spPr bwMode="auto">
          <a:xfrm>
            <a:off x="1116013" y="3213100"/>
            <a:ext cx="1543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a:solidFill>
                  <a:srgbClr val="000099"/>
                </a:solidFill>
              </a:rPr>
              <a:t>解析解</a:t>
            </a:r>
            <a:r>
              <a:rPr lang="en-US" altLang="zh-CN">
                <a:solidFill>
                  <a:srgbClr val="000099"/>
                </a:solidFill>
              </a:rPr>
              <a: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7331"/>
                                        </p:tgtEl>
                                        <p:attrNameLst>
                                          <p:attrName>style.visibility</p:attrName>
                                        </p:attrNameLst>
                                      </p:cBhvr>
                                      <p:to>
                                        <p:strVal val="visible"/>
                                      </p:to>
                                    </p:set>
                                    <p:anim calcmode="lin" valueType="num">
                                      <p:cBhvr additive="base">
                                        <p:cTn id="7" dur="500" fill="hold"/>
                                        <p:tgtEl>
                                          <p:spTgt spid="227331"/>
                                        </p:tgtEl>
                                        <p:attrNameLst>
                                          <p:attrName>ppt_x</p:attrName>
                                        </p:attrNameLst>
                                      </p:cBhvr>
                                      <p:tavLst>
                                        <p:tav tm="0">
                                          <p:val>
                                            <p:strVal val="0-#ppt_w/2"/>
                                          </p:val>
                                        </p:tav>
                                        <p:tav tm="100000">
                                          <p:val>
                                            <p:strVal val="#ppt_x"/>
                                          </p:val>
                                        </p:tav>
                                      </p:tavLst>
                                    </p:anim>
                                    <p:anim calcmode="lin" valueType="num">
                                      <p:cBhvr additive="base">
                                        <p:cTn id="8" dur="500" fill="hold"/>
                                        <p:tgtEl>
                                          <p:spTgt spid="2273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ChangeArrowheads="1"/>
          </p:cNvSpPr>
          <p:nvPr/>
        </p:nvSpPr>
        <p:spPr bwMode="auto">
          <a:xfrm>
            <a:off x="107950" y="88900"/>
            <a:ext cx="3240088"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spcBef>
                <a:spcPct val="50000"/>
              </a:spcBef>
            </a:pPr>
            <a:r>
              <a:rPr lang="en-US" altLang="zh-CN"/>
              <a:t> Euler method</a:t>
            </a:r>
          </a:p>
        </p:txBody>
      </p:sp>
      <p:graphicFrame>
        <p:nvGraphicFramePr>
          <p:cNvPr id="229388" name="Object 12"/>
          <p:cNvGraphicFramePr>
            <a:graphicFrameLocks noChangeAspect="1"/>
          </p:cNvGraphicFramePr>
          <p:nvPr/>
        </p:nvGraphicFramePr>
        <p:xfrm>
          <a:off x="179388" y="4151313"/>
          <a:ext cx="6121400" cy="1581150"/>
        </p:xfrm>
        <a:graphic>
          <a:graphicData uri="http://schemas.openxmlformats.org/presentationml/2006/ole">
            <mc:AlternateContent xmlns:mc="http://schemas.openxmlformats.org/markup-compatibility/2006">
              <mc:Choice xmlns:v="urn:schemas-microsoft-com:vml" Requires="v">
                <p:oleObj spid="_x0000_s10263" name="公式" r:id="rId3" imgW="1651000" imgH="482600" progId="Equation.3">
                  <p:embed/>
                </p:oleObj>
              </mc:Choice>
              <mc:Fallback>
                <p:oleObj name="公式" r:id="rId3" imgW="1651000" imgH="48260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4151313"/>
                        <a:ext cx="6121400" cy="158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89" name="Object 13"/>
          <p:cNvGraphicFramePr>
            <a:graphicFrameLocks noChangeAspect="1"/>
          </p:cNvGraphicFramePr>
          <p:nvPr/>
        </p:nvGraphicFramePr>
        <p:xfrm>
          <a:off x="6227763" y="4294188"/>
          <a:ext cx="2728912" cy="793750"/>
        </p:xfrm>
        <a:graphic>
          <a:graphicData uri="http://schemas.openxmlformats.org/presentationml/2006/ole">
            <mc:AlternateContent xmlns:mc="http://schemas.openxmlformats.org/markup-compatibility/2006">
              <mc:Choice xmlns:v="urn:schemas-microsoft-com:vml" Requires="v">
                <p:oleObj spid="_x0000_s10264" name="Microsoft 公式 3.0" r:id="rId5" imgW="698197" imgH="203112" progId="Equation.3">
                  <p:embed/>
                </p:oleObj>
              </mc:Choice>
              <mc:Fallback>
                <p:oleObj name="Microsoft 公式 3.0" r:id="rId5" imgW="698197" imgH="203112"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7763" y="4294188"/>
                        <a:ext cx="2728912" cy="79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Object 14"/>
          <p:cNvGraphicFramePr>
            <a:graphicFrameLocks noChangeAspect="1"/>
          </p:cNvGraphicFramePr>
          <p:nvPr/>
        </p:nvGraphicFramePr>
        <p:xfrm>
          <a:off x="2987675" y="-1588"/>
          <a:ext cx="5099050" cy="3935413"/>
        </p:xfrm>
        <a:graphic>
          <a:graphicData uri="http://schemas.openxmlformats.org/presentationml/2006/ole">
            <mc:AlternateContent xmlns:mc="http://schemas.openxmlformats.org/markup-compatibility/2006">
              <mc:Choice xmlns:v="urn:schemas-microsoft-com:vml" Requires="v">
                <p:oleObj spid="_x0000_s10265" name="公式" r:id="rId7" imgW="1562040" imgH="1422360" progId="Equation.3">
                  <p:embed/>
                </p:oleObj>
              </mc:Choice>
              <mc:Fallback>
                <p:oleObj name="公式" r:id="rId7" imgW="1562040" imgH="142236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7675" y="-1588"/>
                        <a:ext cx="509905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9391" name="Object 15"/>
          <p:cNvGraphicFramePr>
            <a:graphicFrameLocks noChangeAspect="1"/>
          </p:cNvGraphicFramePr>
          <p:nvPr/>
        </p:nvGraphicFramePr>
        <p:xfrm>
          <a:off x="5203825" y="6081713"/>
          <a:ext cx="3940175" cy="660400"/>
        </p:xfrm>
        <a:graphic>
          <a:graphicData uri="http://schemas.openxmlformats.org/presentationml/2006/ole">
            <mc:AlternateContent xmlns:mc="http://schemas.openxmlformats.org/markup-compatibility/2006">
              <mc:Choice xmlns:v="urn:schemas-microsoft-com:vml" Requires="v">
                <p:oleObj spid="_x0000_s10266" name="公式" r:id="rId9" imgW="1358900" imgH="228600" progId="Equation.3">
                  <p:embed/>
                </p:oleObj>
              </mc:Choice>
              <mc:Fallback>
                <p:oleObj name="公式" r:id="rId9" imgW="1358900" imgH="2286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03825" y="6081713"/>
                        <a:ext cx="3940175"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9392" name="Object 16"/>
          <p:cNvGraphicFramePr>
            <a:graphicFrameLocks noChangeAspect="1"/>
          </p:cNvGraphicFramePr>
          <p:nvPr/>
        </p:nvGraphicFramePr>
        <p:xfrm>
          <a:off x="179388" y="6096000"/>
          <a:ext cx="4460875" cy="717550"/>
        </p:xfrm>
        <a:graphic>
          <a:graphicData uri="http://schemas.openxmlformats.org/presentationml/2006/ole">
            <mc:AlternateContent xmlns:mc="http://schemas.openxmlformats.org/markup-compatibility/2006">
              <mc:Choice xmlns:v="urn:schemas-microsoft-com:vml" Requires="v">
                <p:oleObj spid="_x0000_s10267" name="公式" r:id="rId11" imgW="1409700" imgH="228600" progId="Equation.3">
                  <p:embed/>
                </p:oleObj>
              </mc:Choice>
              <mc:Fallback>
                <p:oleObj name="公式" r:id="rId11" imgW="1409700" imgH="2286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9388" y="6096000"/>
                        <a:ext cx="44608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9388"/>
                                        </p:tgtEl>
                                        <p:attrNameLst>
                                          <p:attrName>style.visibility</p:attrName>
                                        </p:attrNameLst>
                                      </p:cBhvr>
                                      <p:to>
                                        <p:strVal val="visible"/>
                                      </p:to>
                                    </p:set>
                                    <p:anim calcmode="lin" valueType="num">
                                      <p:cBhvr additive="base">
                                        <p:cTn id="7" dur="500" fill="hold"/>
                                        <p:tgtEl>
                                          <p:spTgt spid="229388"/>
                                        </p:tgtEl>
                                        <p:attrNameLst>
                                          <p:attrName>ppt_x</p:attrName>
                                        </p:attrNameLst>
                                      </p:cBhvr>
                                      <p:tavLst>
                                        <p:tav tm="0">
                                          <p:val>
                                            <p:strVal val="0-#ppt_w/2"/>
                                          </p:val>
                                        </p:tav>
                                        <p:tav tm="100000">
                                          <p:val>
                                            <p:strVal val="#ppt_x"/>
                                          </p:val>
                                        </p:tav>
                                      </p:tavLst>
                                    </p:anim>
                                    <p:anim calcmode="lin" valueType="num">
                                      <p:cBhvr additive="base">
                                        <p:cTn id="8" dur="500" fill="hold"/>
                                        <p:tgtEl>
                                          <p:spTgt spid="22938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9389"/>
                                        </p:tgtEl>
                                        <p:attrNameLst>
                                          <p:attrName>style.visibility</p:attrName>
                                        </p:attrNameLst>
                                      </p:cBhvr>
                                      <p:to>
                                        <p:strVal val="visible"/>
                                      </p:to>
                                    </p:set>
                                    <p:anim calcmode="lin" valueType="num">
                                      <p:cBhvr additive="base">
                                        <p:cTn id="13" dur="500" fill="hold"/>
                                        <p:tgtEl>
                                          <p:spTgt spid="229389"/>
                                        </p:tgtEl>
                                        <p:attrNameLst>
                                          <p:attrName>ppt_x</p:attrName>
                                        </p:attrNameLst>
                                      </p:cBhvr>
                                      <p:tavLst>
                                        <p:tav tm="0">
                                          <p:val>
                                            <p:strVal val="0-#ppt_w/2"/>
                                          </p:val>
                                        </p:tav>
                                        <p:tav tm="100000">
                                          <p:val>
                                            <p:strVal val="#ppt_x"/>
                                          </p:val>
                                        </p:tav>
                                      </p:tavLst>
                                    </p:anim>
                                    <p:anim calcmode="lin" valueType="num">
                                      <p:cBhvr additive="base">
                                        <p:cTn id="14" dur="500" fill="hold"/>
                                        <p:tgtEl>
                                          <p:spTgt spid="22938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29391"/>
                                        </p:tgtEl>
                                        <p:attrNameLst>
                                          <p:attrName>style.visibility</p:attrName>
                                        </p:attrNameLst>
                                      </p:cBhvr>
                                      <p:to>
                                        <p:strVal val="visible"/>
                                      </p:to>
                                    </p:set>
                                    <p:anim calcmode="lin" valueType="num">
                                      <p:cBhvr additive="base">
                                        <p:cTn id="19" dur="500" fill="hold"/>
                                        <p:tgtEl>
                                          <p:spTgt spid="229391"/>
                                        </p:tgtEl>
                                        <p:attrNameLst>
                                          <p:attrName>ppt_x</p:attrName>
                                        </p:attrNameLst>
                                      </p:cBhvr>
                                      <p:tavLst>
                                        <p:tav tm="0">
                                          <p:val>
                                            <p:strVal val="#ppt_x"/>
                                          </p:val>
                                        </p:tav>
                                        <p:tav tm="100000">
                                          <p:val>
                                            <p:strVal val="#ppt_x"/>
                                          </p:val>
                                        </p:tav>
                                      </p:tavLst>
                                    </p:anim>
                                    <p:anim calcmode="lin" valueType="num">
                                      <p:cBhvr additive="base">
                                        <p:cTn id="20" dur="500" fill="hold"/>
                                        <p:tgtEl>
                                          <p:spTgt spid="22939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29392"/>
                                        </p:tgtEl>
                                        <p:attrNameLst>
                                          <p:attrName>style.visibility</p:attrName>
                                        </p:attrNameLst>
                                      </p:cBhvr>
                                      <p:to>
                                        <p:strVal val="visible"/>
                                      </p:to>
                                    </p:set>
                                    <p:anim calcmode="lin" valueType="num">
                                      <p:cBhvr additive="base">
                                        <p:cTn id="25" dur="500" fill="hold"/>
                                        <p:tgtEl>
                                          <p:spTgt spid="229392"/>
                                        </p:tgtEl>
                                        <p:attrNameLst>
                                          <p:attrName>ppt_x</p:attrName>
                                        </p:attrNameLst>
                                      </p:cBhvr>
                                      <p:tavLst>
                                        <p:tav tm="0">
                                          <p:val>
                                            <p:strVal val="#ppt_x"/>
                                          </p:val>
                                        </p:tav>
                                        <p:tav tm="100000">
                                          <p:val>
                                            <p:strVal val="#ppt_x"/>
                                          </p:val>
                                        </p:tav>
                                      </p:tavLst>
                                    </p:anim>
                                    <p:anim calcmode="lin" valueType="num">
                                      <p:cBhvr additive="base">
                                        <p:cTn id="26" dur="500" fill="hold"/>
                                        <p:tgtEl>
                                          <p:spTgt spid="2293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0325" y="44450"/>
            <a:ext cx="3529013"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425" y="333375"/>
            <a:ext cx="1905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5788" y="1125538"/>
            <a:ext cx="2362200"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63" y="1846263"/>
            <a:ext cx="13716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04488" name="Group 8"/>
          <p:cNvGrpSpPr>
            <a:grpSpLocks/>
          </p:cNvGrpSpPr>
          <p:nvPr/>
        </p:nvGrpSpPr>
        <p:grpSpPr bwMode="auto">
          <a:xfrm>
            <a:off x="5795963" y="5661025"/>
            <a:ext cx="2665412" cy="790575"/>
            <a:chOff x="2496" y="3600"/>
            <a:chExt cx="1536" cy="414"/>
          </a:xfrm>
        </p:grpSpPr>
        <p:pic>
          <p:nvPicPr>
            <p:cNvPr id="11275"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2" y="3600"/>
              <a:ext cx="1200" cy="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6" name="Text Box 10"/>
            <p:cNvSpPr txBox="1">
              <a:spLocks noChangeArrowheads="1"/>
            </p:cNvSpPr>
            <p:nvPr/>
          </p:nvSpPr>
          <p:spPr bwMode="auto">
            <a:xfrm>
              <a:off x="2496" y="3648"/>
              <a:ext cx="210"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b="0" i="1"/>
                <a:t>x</a:t>
              </a:r>
            </a:p>
          </p:txBody>
        </p:sp>
      </p:grpSp>
      <p:graphicFrame>
        <p:nvGraphicFramePr>
          <p:cNvPr id="404491" name="Object 11"/>
          <p:cNvGraphicFramePr>
            <a:graphicFrameLocks noChangeAspect="1"/>
          </p:cNvGraphicFramePr>
          <p:nvPr/>
        </p:nvGraphicFramePr>
        <p:xfrm>
          <a:off x="655638" y="4508500"/>
          <a:ext cx="5316537" cy="862013"/>
        </p:xfrm>
        <a:graphic>
          <a:graphicData uri="http://schemas.openxmlformats.org/presentationml/2006/ole">
            <mc:AlternateContent xmlns:mc="http://schemas.openxmlformats.org/markup-compatibility/2006">
              <mc:Choice xmlns:v="urn:schemas-microsoft-com:vml" Requires="v">
                <p:oleObj spid="_x0000_s11289" name="公式" r:id="rId8" imgW="1333500" imgH="215900" progId="Equation.3">
                  <p:embed/>
                </p:oleObj>
              </mc:Choice>
              <mc:Fallback>
                <p:oleObj name="公式" r:id="rId8" imgW="1333500" imgH="21590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5638" y="4508500"/>
                        <a:ext cx="5316537"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4492" name="Object 12"/>
          <p:cNvGraphicFramePr>
            <a:graphicFrameLocks noChangeAspect="1"/>
          </p:cNvGraphicFramePr>
          <p:nvPr/>
        </p:nvGraphicFramePr>
        <p:xfrm>
          <a:off x="611188" y="2708275"/>
          <a:ext cx="6473825" cy="1582738"/>
        </p:xfrm>
        <a:graphic>
          <a:graphicData uri="http://schemas.openxmlformats.org/presentationml/2006/ole">
            <mc:AlternateContent xmlns:mc="http://schemas.openxmlformats.org/markup-compatibility/2006">
              <mc:Choice xmlns:v="urn:schemas-microsoft-com:vml" Requires="v">
                <p:oleObj spid="_x0000_s11290" name="公式" r:id="rId10" imgW="1651000" imgH="482600" progId="Equation.3">
                  <p:embed/>
                </p:oleObj>
              </mc:Choice>
              <mc:Fallback>
                <p:oleObj name="公式" r:id="rId10" imgW="1651000" imgH="482600"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1188" y="2708275"/>
                        <a:ext cx="6473825" cy="1582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4493" name="Object 13"/>
          <p:cNvGraphicFramePr>
            <a:graphicFrameLocks noChangeAspect="1"/>
          </p:cNvGraphicFramePr>
          <p:nvPr/>
        </p:nvGraphicFramePr>
        <p:xfrm>
          <a:off x="6227763" y="4652963"/>
          <a:ext cx="2728912" cy="795337"/>
        </p:xfrm>
        <a:graphic>
          <a:graphicData uri="http://schemas.openxmlformats.org/presentationml/2006/ole">
            <mc:AlternateContent xmlns:mc="http://schemas.openxmlformats.org/markup-compatibility/2006">
              <mc:Choice xmlns:v="urn:schemas-microsoft-com:vml" Requires="v">
                <p:oleObj spid="_x0000_s11291" name="Microsoft 公式 3.0" r:id="rId12" imgW="698197" imgH="203112" progId="Equation.3">
                  <p:embed/>
                </p:oleObj>
              </mc:Choice>
              <mc:Fallback>
                <p:oleObj name="Microsoft 公式 3.0" r:id="rId12" imgW="698197" imgH="203112"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27763" y="4652963"/>
                        <a:ext cx="2728912" cy="795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4496" name="Object 16"/>
          <p:cNvGraphicFramePr>
            <a:graphicFrameLocks noChangeAspect="1"/>
          </p:cNvGraphicFramePr>
          <p:nvPr/>
        </p:nvGraphicFramePr>
        <p:xfrm>
          <a:off x="471488" y="5734050"/>
          <a:ext cx="4460875" cy="717550"/>
        </p:xfrm>
        <a:graphic>
          <a:graphicData uri="http://schemas.openxmlformats.org/presentationml/2006/ole">
            <mc:AlternateContent xmlns:mc="http://schemas.openxmlformats.org/markup-compatibility/2006">
              <mc:Choice xmlns:v="urn:schemas-microsoft-com:vml" Requires="v">
                <p:oleObj spid="_x0000_s11292" name="公式" r:id="rId14" imgW="1409700" imgH="228600" progId="Equation.3">
                  <p:embed/>
                </p:oleObj>
              </mc:Choice>
              <mc:Fallback>
                <p:oleObj name="公式" r:id="rId14" imgW="1409700" imgH="228600" progId="Equation.3">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1488" y="5734050"/>
                        <a:ext cx="44608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04492"/>
                                        </p:tgtEl>
                                        <p:attrNameLst>
                                          <p:attrName>style.visibility</p:attrName>
                                        </p:attrNameLst>
                                      </p:cBhvr>
                                      <p:to>
                                        <p:strVal val="visible"/>
                                      </p:to>
                                    </p:set>
                                    <p:anim calcmode="lin" valueType="num">
                                      <p:cBhvr additive="base">
                                        <p:cTn id="7" dur="500" fill="hold"/>
                                        <p:tgtEl>
                                          <p:spTgt spid="404492"/>
                                        </p:tgtEl>
                                        <p:attrNameLst>
                                          <p:attrName>ppt_x</p:attrName>
                                        </p:attrNameLst>
                                      </p:cBhvr>
                                      <p:tavLst>
                                        <p:tav tm="0">
                                          <p:val>
                                            <p:strVal val="0-#ppt_w/2"/>
                                          </p:val>
                                        </p:tav>
                                        <p:tav tm="100000">
                                          <p:val>
                                            <p:strVal val="#ppt_x"/>
                                          </p:val>
                                        </p:tav>
                                      </p:tavLst>
                                    </p:anim>
                                    <p:anim calcmode="lin" valueType="num">
                                      <p:cBhvr additive="base">
                                        <p:cTn id="8" dur="500" fill="hold"/>
                                        <p:tgtEl>
                                          <p:spTgt spid="4044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04491"/>
                                        </p:tgtEl>
                                        <p:attrNameLst>
                                          <p:attrName>style.visibility</p:attrName>
                                        </p:attrNameLst>
                                      </p:cBhvr>
                                      <p:to>
                                        <p:strVal val="visible"/>
                                      </p:to>
                                    </p:set>
                                    <p:anim calcmode="lin" valueType="num">
                                      <p:cBhvr additive="base">
                                        <p:cTn id="13" dur="500" fill="hold"/>
                                        <p:tgtEl>
                                          <p:spTgt spid="404491"/>
                                        </p:tgtEl>
                                        <p:attrNameLst>
                                          <p:attrName>ppt_x</p:attrName>
                                        </p:attrNameLst>
                                      </p:cBhvr>
                                      <p:tavLst>
                                        <p:tav tm="0">
                                          <p:val>
                                            <p:strVal val="0-#ppt_w/2"/>
                                          </p:val>
                                        </p:tav>
                                        <p:tav tm="100000">
                                          <p:val>
                                            <p:strVal val="#ppt_x"/>
                                          </p:val>
                                        </p:tav>
                                      </p:tavLst>
                                    </p:anim>
                                    <p:anim calcmode="lin" valueType="num">
                                      <p:cBhvr additive="base">
                                        <p:cTn id="14" dur="500" fill="hold"/>
                                        <p:tgtEl>
                                          <p:spTgt spid="40449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04493"/>
                                        </p:tgtEl>
                                        <p:attrNameLst>
                                          <p:attrName>style.visibility</p:attrName>
                                        </p:attrNameLst>
                                      </p:cBhvr>
                                      <p:to>
                                        <p:strVal val="visible"/>
                                      </p:to>
                                    </p:set>
                                    <p:anim calcmode="lin" valueType="num">
                                      <p:cBhvr additive="base">
                                        <p:cTn id="19" dur="500" fill="hold"/>
                                        <p:tgtEl>
                                          <p:spTgt spid="404493"/>
                                        </p:tgtEl>
                                        <p:attrNameLst>
                                          <p:attrName>ppt_x</p:attrName>
                                        </p:attrNameLst>
                                      </p:cBhvr>
                                      <p:tavLst>
                                        <p:tav tm="0">
                                          <p:val>
                                            <p:strVal val="0-#ppt_w/2"/>
                                          </p:val>
                                        </p:tav>
                                        <p:tav tm="100000">
                                          <p:val>
                                            <p:strVal val="#ppt_x"/>
                                          </p:val>
                                        </p:tav>
                                      </p:tavLst>
                                    </p:anim>
                                    <p:anim calcmode="lin" valueType="num">
                                      <p:cBhvr additive="base">
                                        <p:cTn id="20" dur="500" fill="hold"/>
                                        <p:tgtEl>
                                          <p:spTgt spid="40449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04488"/>
                                        </p:tgtEl>
                                        <p:attrNameLst>
                                          <p:attrName>style.visibility</p:attrName>
                                        </p:attrNameLst>
                                      </p:cBhvr>
                                      <p:to>
                                        <p:strVal val="visible"/>
                                      </p:to>
                                    </p:set>
                                    <p:anim calcmode="lin" valueType="num">
                                      <p:cBhvr additive="base">
                                        <p:cTn id="25" dur="500" fill="hold"/>
                                        <p:tgtEl>
                                          <p:spTgt spid="404488"/>
                                        </p:tgtEl>
                                        <p:attrNameLst>
                                          <p:attrName>ppt_x</p:attrName>
                                        </p:attrNameLst>
                                      </p:cBhvr>
                                      <p:tavLst>
                                        <p:tav tm="0">
                                          <p:val>
                                            <p:strVal val="0-#ppt_w/2"/>
                                          </p:val>
                                        </p:tav>
                                        <p:tav tm="100000">
                                          <p:val>
                                            <p:strVal val="#ppt_x"/>
                                          </p:val>
                                        </p:tav>
                                      </p:tavLst>
                                    </p:anim>
                                    <p:anim calcmode="lin" valueType="num">
                                      <p:cBhvr additive="base">
                                        <p:cTn id="26" dur="500" fill="hold"/>
                                        <p:tgtEl>
                                          <p:spTgt spid="40448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04496"/>
                                        </p:tgtEl>
                                        <p:attrNameLst>
                                          <p:attrName>style.visibility</p:attrName>
                                        </p:attrNameLst>
                                      </p:cBhvr>
                                      <p:to>
                                        <p:strVal val="visible"/>
                                      </p:to>
                                    </p:set>
                                    <p:anim calcmode="lin" valueType="num">
                                      <p:cBhvr additive="base">
                                        <p:cTn id="31" dur="500" fill="hold"/>
                                        <p:tgtEl>
                                          <p:spTgt spid="404496"/>
                                        </p:tgtEl>
                                        <p:attrNameLst>
                                          <p:attrName>ppt_x</p:attrName>
                                        </p:attrNameLst>
                                      </p:cBhvr>
                                      <p:tavLst>
                                        <p:tav tm="0">
                                          <p:val>
                                            <p:strVal val="#ppt_x"/>
                                          </p:val>
                                        </p:tav>
                                        <p:tav tm="100000">
                                          <p:val>
                                            <p:strVal val="#ppt_x"/>
                                          </p:val>
                                        </p:tav>
                                      </p:tavLst>
                                    </p:anim>
                                    <p:anim calcmode="lin" valueType="num">
                                      <p:cBhvr additive="base">
                                        <p:cTn id="32" dur="500" fill="hold"/>
                                        <p:tgtEl>
                                          <p:spTgt spid="4044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0325" y="44450"/>
            <a:ext cx="3529013" cy="216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425" y="188913"/>
            <a:ext cx="1905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5788" y="836613"/>
            <a:ext cx="2362200"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63" y="1484313"/>
            <a:ext cx="13716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05513" name="Object 9"/>
          <p:cNvGraphicFramePr>
            <a:graphicFrameLocks noChangeAspect="1"/>
          </p:cNvGraphicFramePr>
          <p:nvPr/>
        </p:nvGraphicFramePr>
        <p:xfrm>
          <a:off x="655638" y="2205038"/>
          <a:ext cx="5316537" cy="862012"/>
        </p:xfrm>
        <a:graphic>
          <a:graphicData uri="http://schemas.openxmlformats.org/presentationml/2006/ole">
            <mc:AlternateContent xmlns:mc="http://schemas.openxmlformats.org/markup-compatibility/2006">
              <mc:Choice xmlns:v="urn:schemas-microsoft-com:vml" Requires="v">
                <p:oleObj spid="_x0000_s12319" name="公式" r:id="rId7" imgW="1333500" imgH="215900" progId="Equation.3">
                  <p:embed/>
                </p:oleObj>
              </mc:Choice>
              <mc:Fallback>
                <p:oleObj name="公式" r:id="rId7" imgW="1333500" imgH="2159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638" y="2205038"/>
                        <a:ext cx="5316537" cy="862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5515" name="Object 11"/>
          <p:cNvGraphicFramePr>
            <a:graphicFrameLocks noChangeAspect="1"/>
          </p:cNvGraphicFramePr>
          <p:nvPr/>
        </p:nvGraphicFramePr>
        <p:xfrm>
          <a:off x="6227763" y="2493963"/>
          <a:ext cx="2728912" cy="795337"/>
        </p:xfrm>
        <a:graphic>
          <a:graphicData uri="http://schemas.openxmlformats.org/presentationml/2006/ole">
            <mc:AlternateContent xmlns:mc="http://schemas.openxmlformats.org/markup-compatibility/2006">
              <mc:Choice xmlns:v="urn:schemas-microsoft-com:vml" Requires="v">
                <p:oleObj spid="_x0000_s12320" name="Microsoft 公式 3.0" r:id="rId9" imgW="698197" imgH="203112" progId="Equation.3">
                  <p:embed/>
                </p:oleObj>
              </mc:Choice>
              <mc:Fallback>
                <p:oleObj name="Microsoft 公式 3.0" r:id="rId9" imgW="698197" imgH="203112"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27763" y="2493963"/>
                        <a:ext cx="2728912" cy="795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5516" name="Object 12"/>
          <p:cNvGraphicFramePr>
            <a:graphicFrameLocks noChangeAspect="1"/>
          </p:cNvGraphicFramePr>
          <p:nvPr/>
        </p:nvGraphicFramePr>
        <p:xfrm>
          <a:off x="539750" y="3213100"/>
          <a:ext cx="4460875" cy="717550"/>
        </p:xfrm>
        <a:graphic>
          <a:graphicData uri="http://schemas.openxmlformats.org/presentationml/2006/ole">
            <mc:AlternateContent xmlns:mc="http://schemas.openxmlformats.org/markup-compatibility/2006">
              <mc:Choice xmlns:v="urn:schemas-microsoft-com:vml" Requires="v">
                <p:oleObj spid="_x0000_s12321" name="公式" r:id="rId11" imgW="1409700" imgH="228600" progId="Equation.3">
                  <p:embed/>
                </p:oleObj>
              </mc:Choice>
              <mc:Fallback>
                <p:oleObj name="公式" r:id="rId11" imgW="1409700" imgH="2286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9750" y="3213100"/>
                        <a:ext cx="44608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5517" name="Object 13"/>
          <p:cNvGraphicFramePr>
            <a:graphicFrameLocks noChangeAspect="1"/>
          </p:cNvGraphicFramePr>
          <p:nvPr/>
        </p:nvGraphicFramePr>
        <p:xfrm>
          <a:off x="258763" y="4010025"/>
          <a:ext cx="4745037" cy="1435100"/>
        </p:xfrm>
        <a:graphic>
          <a:graphicData uri="http://schemas.openxmlformats.org/presentationml/2006/ole">
            <mc:AlternateContent xmlns:mc="http://schemas.openxmlformats.org/markup-compatibility/2006">
              <mc:Choice xmlns:v="urn:schemas-microsoft-com:vml" Requires="v">
                <p:oleObj spid="_x0000_s12322" name="公式" r:id="rId13" imgW="1587500" imgH="457200" progId="Equation.3">
                  <p:embed/>
                </p:oleObj>
              </mc:Choice>
              <mc:Fallback>
                <p:oleObj name="公式" r:id="rId13" imgW="1587500" imgH="45720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8763" y="4010025"/>
                        <a:ext cx="4745037"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5518" name="Object 14"/>
          <p:cNvGraphicFramePr>
            <a:graphicFrameLocks noChangeAspect="1"/>
          </p:cNvGraphicFramePr>
          <p:nvPr/>
        </p:nvGraphicFramePr>
        <p:xfrm>
          <a:off x="179388" y="5541963"/>
          <a:ext cx="5627687" cy="1271587"/>
        </p:xfrm>
        <a:graphic>
          <a:graphicData uri="http://schemas.openxmlformats.org/presentationml/2006/ole">
            <mc:AlternateContent xmlns:mc="http://schemas.openxmlformats.org/markup-compatibility/2006">
              <mc:Choice xmlns:v="urn:schemas-microsoft-com:vml" Requires="v">
                <p:oleObj spid="_x0000_s12323" name="公式" r:id="rId15" imgW="2006600" imgH="457200" progId="Equation.3">
                  <p:embed/>
                </p:oleObj>
              </mc:Choice>
              <mc:Fallback>
                <p:oleObj name="公式" r:id="rId15" imgW="2006600" imgH="4572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9388" y="5541963"/>
                        <a:ext cx="5627687" cy="12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9" name="Rectangle 15"/>
          <p:cNvSpPr>
            <a:spLocks noChangeArrowheads="1"/>
          </p:cNvSpPr>
          <p:nvPr/>
        </p:nvSpPr>
        <p:spPr bwMode="auto">
          <a:xfrm>
            <a:off x="323850" y="328613"/>
            <a:ext cx="5921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a:solidFill>
                  <a:srgbClr val="0000FF"/>
                </a:solidFill>
              </a:rPr>
              <a:t>例</a:t>
            </a:r>
            <a:endParaRPr lang="zh-CN" altLang="en-US" b="0">
              <a:solidFill>
                <a:srgbClr val="0000FF"/>
              </a:solidFill>
            </a:endParaRPr>
          </a:p>
        </p:txBody>
      </p:sp>
      <p:graphicFrame>
        <p:nvGraphicFramePr>
          <p:cNvPr id="405520" name="Object 16"/>
          <p:cNvGraphicFramePr>
            <a:graphicFrameLocks noChangeAspect="1"/>
          </p:cNvGraphicFramePr>
          <p:nvPr/>
        </p:nvGraphicFramePr>
        <p:xfrm>
          <a:off x="5375275" y="4724400"/>
          <a:ext cx="3721100" cy="984250"/>
        </p:xfrm>
        <a:graphic>
          <a:graphicData uri="http://schemas.openxmlformats.org/presentationml/2006/ole">
            <mc:AlternateContent xmlns:mc="http://schemas.openxmlformats.org/markup-compatibility/2006">
              <mc:Choice xmlns:v="urn:schemas-microsoft-com:vml" Requires="v">
                <p:oleObj spid="_x0000_s12324" name="公式" r:id="rId17" imgW="2159000" imgH="457200" progId="Equation.3">
                  <p:embed/>
                </p:oleObj>
              </mc:Choice>
              <mc:Fallback>
                <p:oleObj name="公式" r:id="rId17" imgW="2159000" imgH="457200" progId="Equation.3">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375275" y="4724400"/>
                        <a:ext cx="37211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05513"/>
                                        </p:tgtEl>
                                        <p:attrNameLst>
                                          <p:attrName>style.visibility</p:attrName>
                                        </p:attrNameLst>
                                      </p:cBhvr>
                                      <p:to>
                                        <p:strVal val="visible"/>
                                      </p:to>
                                    </p:set>
                                    <p:anim calcmode="lin" valueType="num">
                                      <p:cBhvr additive="base">
                                        <p:cTn id="7" dur="500" fill="hold"/>
                                        <p:tgtEl>
                                          <p:spTgt spid="405513"/>
                                        </p:tgtEl>
                                        <p:attrNameLst>
                                          <p:attrName>ppt_x</p:attrName>
                                        </p:attrNameLst>
                                      </p:cBhvr>
                                      <p:tavLst>
                                        <p:tav tm="0">
                                          <p:val>
                                            <p:strVal val="0-#ppt_w/2"/>
                                          </p:val>
                                        </p:tav>
                                        <p:tav tm="100000">
                                          <p:val>
                                            <p:strVal val="#ppt_x"/>
                                          </p:val>
                                        </p:tav>
                                      </p:tavLst>
                                    </p:anim>
                                    <p:anim calcmode="lin" valueType="num">
                                      <p:cBhvr additive="base">
                                        <p:cTn id="8" dur="500" fill="hold"/>
                                        <p:tgtEl>
                                          <p:spTgt spid="4055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05515"/>
                                        </p:tgtEl>
                                        <p:attrNameLst>
                                          <p:attrName>style.visibility</p:attrName>
                                        </p:attrNameLst>
                                      </p:cBhvr>
                                      <p:to>
                                        <p:strVal val="visible"/>
                                      </p:to>
                                    </p:set>
                                    <p:anim calcmode="lin" valueType="num">
                                      <p:cBhvr additive="base">
                                        <p:cTn id="13" dur="500" fill="hold"/>
                                        <p:tgtEl>
                                          <p:spTgt spid="405515"/>
                                        </p:tgtEl>
                                        <p:attrNameLst>
                                          <p:attrName>ppt_x</p:attrName>
                                        </p:attrNameLst>
                                      </p:cBhvr>
                                      <p:tavLst>
                                        <p:tav tm="0">
                                          <p:val>
                                            <p:strVal val="0-#ppt_w/2"/>
                                          </p:val>
                                        </p:tav>
                                        <p:tav tm="100000">
                                          <p:val>
                                            <p:strVal val="#ppt_x"/>
                                          </p:val>
                                        </p:tav>
                                      </p:tavLst>
                                    </p:anim>
                                    <p:anim calcmode="lin" valueType="num">
                                      <p:cBhvr additive="base">
                                        <p:cTn id="14" dur="500" fill="hold"/>
                                        <p:tgtEl>
                                          <p:spTgt spid="40551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05516"/>
                                        </p:tgtEl>
                                        <p:attrNameLst>
                                          <p:attrName>style.visibility</p:attrName>
                                        </p:attrNameLst>
                                      </p:cBhvr>
                                      <p:to>
                                        <p:strVal val="visible"/>
                                      </p:to>
                                    </p:set>
                                    <p:anim calcmode="lin" valueType="num">
                                      <p:cBhvr additive="base">
                                        <p:cTn id="19" dur="500" fill="hold"/>
                                        <p:tgtEl>
                                          <p:spTgt spid="405516"/>
                                        </p:tgtEl>
                                        <p:attrNameLst>
                                          <p:attrName>ppt_x</p:attrName>
                                        </p:attrNameLst>
                                      </p:cBhvr>
                                      <p:tavLst>
                                        <p:tav tm="0">
                                          <p:val>
                                            <p:strVal val="#ppt_x"/>
                                          </p:val>
                                        </p:tav>
                                        <p:tav tm="100000">
                                          <p:val>
                                            <p:strVal val="#ppt_x"/>
                                          </p:val>
                                        </p:tav>
                                      </p:tavLst>
                                    </p:anim>
                                    <p:anim calcmode="lin" valueType="num">
                                      <p:cBhvr additive="base">
                                        <p:cTn id="20" dur="500" fill="hold"/>
                                        <p:tgtEl>
                                          <p:spTgt spid="40551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05517"/>
                                        </p:tgtEl>
                                        <p:attrNameLst>
                                          <p:attrName>style.visibility</p:attrName>
                                        </p:attrNameLst>
                                      </p:cBhvr>
                                      <p:to>
                                        <p:strVal val="visible"/>
                                      </p:to>
                                    </p:set>
                                    <p:anim calcmode="lin" valueType="num">
                                      <p:cBhvr additive="base">
                                        <p:cTn id="25" dur="500" fill="hold"/>
                                        <p:tgtEl>
                                          <p:spTgt spid="405517"/>
                                        </p:tgtEl>
                                        <p:attrNameLst>
                                          <p:attrName>ppt_x</p:attrName>
                                        </p:attrNameLst>
                                      </p:cBhvr>
                                      <p:tavLst>
                                        <p:tav tm="0">
                                          <p:val>
                                            <p:strVal val="#ppt_x"/>
                                          </p:val>
                                        </p:tav>
                                        <p:tav tm="100000">
                                          <p:val>
                                            <p:strVal val="#ppt_x"/>
                                          </p:val>
                                        </p:tav>
                                      </p:tavLst>
                                    </p:anim>
                                    <p:anim calcmode="lin" valueType="num">
                                      <p:cBhvr additive="base">
                                        <p:cTn id="26" dur="500" fill="hold"/>
                                        <p:tgtEl>
                                          <p:spTgt spid="40551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05518"/>
                                        </p:tgtEl>
                                        <p:attrNameLst>
                                          <p:attrName>style.visibility</p:attrName>
                                        </p:attrNameLst>
                                      </p:cBhvr>
                                      <p:to>
                                        <p:strVal val="visible"/>
                                      </p:to>
                                    </p:set>
                                    <p:anim calcmode="lin" valueType="num">
                                      <p:cBhvr additive="base">
                                        <p:cTn id="31" dur="500" fill="hold"/>
                                        <p:tgtEl>
                                          <p:spTgt spid="405518"/>
                                        </p:tgtEl>
                                        <p:attrNameLst>
                                          <p:attrName>ppt_x</p:attrName>
                                        </p:attrNameLst>
                                      </p:cBhvr>
                                      <p:tavLst>
                                        <p:tav tm="0">
                                          <p:val>
                                            <p:strVal val="#ppt_x"/>
                                          </p:val>
                                        </p:tav>
                                        <p:tav tm="100000">
                                          <p:val>
                                            <p:strVal val="#ppt_x"/>
                                          </p:val>
                                        </p:tav>
                                      </p:tavLst>
                                    </p:anim>
                                    <p:anim calcmode="lin" valueType="num">
                                      <p:cBhvr additive="base">
                                        <p:cTn id="32" dur="500" fill="hold"/>
                                        <p:tgtEl>
                                          <p:spTgt spid="405518"/>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05520"/>
                                        </p:tgtEl>
                                        <p:attrNameLst>
                                          <p:attrName>style.visibility</p:attrName>
                                        </p:attrNameLst>
                                      </p:cBhvr>
                                      <p:to>
                                        <p:strVal val="visible"/>
                                      </p:to>
                                    </p:set>
                                    <p:anim calcmode="lin" valueType="num">
                                      <p:cBhvr additive="base">
                                        <p:cTn id="37" dur="500" fill="hold"/>
                                        <p:tgtEl>
                                          <p:spTgt spid="405520"/>
                                        </p:tgtEl>
                                        <p:attrNameLst>
                                          <p:attrName>ppt_x</p:attrName>
                                        </p:attrNameLst>
                                      </p:cBhvr>
                                      <p:tavLst>
                                        <p:tav tm="0">
                                          <p:val>
                                            <p:strVal val="#ppt_x"/>
                                          </p:val>
                                        </p:tav>
                                        <p:tav tm="100000">
                                          <p:val>
                                            <p:strVal val="#ppt_x"/>
                                          </p:val>
                                        </p:tav>
                                      </p:tavLst>
                                    </p:anim>
                                    <p:anim calcmode="lin" valueType="num">
                                      <p:cBhvr additive="base">
                                        <p:cTn id="38" dur="500" fill="hold"/>
                                        <p:tgtEl>
                                          <p:spTgt spid="4055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2"/>
          <p:cNvGraphicFramePr>
            <a:graphicFrameLocks noChangeAspect="1"/>
          </p:cNvGraphicFramePr>
          <p:nvPr/>
        </p:nvGraphicFramePr>
        <p:xfrm>
          <a:off x="611188" y="188913"/>
          <a:ext cx="4537075" cy="1508125"/>
        </p:xfrm>
        <a:graphic>
          <a:graphicData uri="http://schemas.openxmlformats.org/presentationml/2006/ole">
            <mc:AlternateContent xmlns:mc="http://schemas.openxmlformats.org/markup-compatibility/2006">
              <mc:Choice xmlns:v="urn:schemas-microsoft-com:vml" Requires="v">
                <p:oleObj spid="_x0000_s13332" name="Equation" r:id="rId3" imgW="1409088" imgH="482391" progId="Equation.3">
                  <p:embed/>
                </p:oleObj>
              </mc:Choice>
              <mc:Fallback>
                <p:oleObj name="Equation" r:id="rId3" imgW="1409088" imgH="482391"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88913"/>
                        <a:ext cx="4537075" cy="150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1" name="Object 3"/>
          <p:cNvGraphicFramePr>
            <a:graphicFrameLocks noChangeAspect="1"/>
          </p:cNvGraphicFramePr>
          <p:nvPr/>
        </p:nvGraphicFramePr>
        <p:xfrm>
          <a:off x="250825" y="1916113"/>
          <a:ext cx="4968875" cy="2265362"/>
        </p:xfrm>
        <a:graphic>
          <a:graphicData uri="http://schemas.openxmlformats.org/presentationml/2006/ole">
            <mc:AlternateContent xmlns:mc="http://schemas.openxmlformats.org/markup-compatibility/2006">
              <mc:Choice xmlns:v="urn:schemas-microsoft-com:vml" Requires="v">
                <p:oleObj spid="_x0000_s13333" name="Equation" r:id="rId5" imgW="1854200" imgH="762000" progId="Equation.3">
                  <p:embed/>
                </p:oleObj>
              </mc:Choice>
              <mc:Fallback>
                <p:oleObj name="Equation" r:id="rId5" imgW="1854200" imgH="762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1916113"/>
                        <a:ext cx="4968875" cy="226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2452" name="Text Box 4"/>
          <p:cNvSpPr txBox="1">
            <a:spLocks noChangeArrowheads="1"/>
          </p:cNvSpPr>
          <p:nvPr/>
        </p:nvSpPr>
        <p:spPr bwMode="auto">
          <a:xfrm>
            <a:off x="5219700" y="908050"/>
            <a:ext cx="2792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t>x</a:t>
            </a:r>
            <a:r>
              <a:rPr lang="en-US" altLang="zh-CN" i="1" baseline="-25000"/>
              <a:t>1</a:t>
            </a:r>
            <a:r>
              <a:rPr lang="en-US" altLang="zh-CN" i="1"/>
              <a:t>=t, x</a:t>
            </a:r>
            <a:r>
              <a:rPr lang="en-US" altLang="zh-CN" i="1" baseline="-25000"/>
              <a:t>2</a:t>
            </a:r>
            <a:r>
              <a:rPr lang="en-US" altLang="zh-CN" i="1"/>
              <a:t>=x, x</a:t>
            </a:r>
            <a:r>
              <a:rPr lang="en-US" altLang="zh-CN" i="1" baseline="-25000"/>
              <a:t>3</a:t>
            </a:r>
            <a:r>
              <a:rPr lang="en-US" altLang="zh-CN" i="1"/>
              <a:t>=y</a:t>
            </a:r>
            <a:endParaRPr lang="en-US" altLang="zh-CN" i="1" baseline="-25000"/>
          </a:p>
        </p:txBody>
      </p:sp>
      <p:graphicFrame>
        <p:nvGraphicFramePr>
          <p:cNvPr id="232453" name="Object 5"/>
          <p:cNvGraphicFramePr>
            <a:graphicFrameLocks noChangeAspect="1"/>
          </p:cNvGraphicFramePr>
          <p:nvPr/>
        </p:nvGraphicFramePr>
        <p:xfrm>
          <a:off x="3895725" y="4351338"/>
          <a:ext cx="5140325" cy="2390775"/>
        </p:xfrm>
        <a:graphic>
          <a:graphicData uri="http://schemas.openxmlformats.org/presentationml/2006/ole">
            <mc:AlternateContent xmlns:mc="http://schemas.openxmlformats.org/markup-compatibility/2006">
              <mc:Choice xmlns:v="urn:schemas-microsoft-com:vml" Requires="v">
                <p:oleObj spid="_x0000_s13334" name="公式" r:id="rId7" imgW="1816100" imgH="762000" progId="Equation.3">
                  <p:embed/>
                </p:oleObj>
              </mc:Choice>
              <mc:Fallback>
                <p:oleObj name="公式" r:id="rId7" imgW="1816100" imgH="7620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95725" y="4351338"/>
                        <a:ext cx="5140325" cy="239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4" name="Object 6"/>
          <p:cNvGraphicFramePr>
            <a:graphicFrameLocks noChangeAspect="1"/>
          </p:cNvGraphicFramePr>
          <p:nvPr/>
        </p:nvGraphicFramePr>
        <p:xfrm>
          <a:off x="611188" y="5084763"/>
          <a:ext cx="2728912" cy="795337"/>
        </p:xfrm>
        <a:graphic>
          <a:graphicData uri="http://schemas.openxmlformats.org/presentationml/2006/ole">
            <mc:AlternateContent xmlns:mc="http://schemas.openxmlformats.org/markup-compatibility/2006">
              <mc:Choice xmlns:v="urn:schemas-microsoft-com:vml" Requires="v">
                <p:oleObj spid="_x0000_s13335" name="Microsoft 公式 3.0" r:id="rId9" imgW="698197" imgH="203112" progId="Equation.3">
                  <p:embed/>
                </p:oleObj>
              </mc:Choice>
              <mc:Fallback>
                <p:oleObj name="Microsoft 公式 3.0" r:id="rId9" imgW="698197" imgH="203112"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188" y="5084763"/>
                        <a:ext cx="2728912" cy="795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9" name="Rectangle 7"/>
          <p:cNvSpPr>
            <a:spLocks noChangeArrowheads="1"/>
          </p:cNvSpPr>
          <p:nvPr/>
        </p:nvSpPr>
        <p:spPr bwMode="auto">
          <a:xfrm>
            <a:off x="92075" y="188913"/>
            <a:ext cx="5921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a:solidFill>
                  <a:srgbClr val="0000FF"/>
                </a:solidFill>
              </a:rPr>
              <a:t>例</a:t>
            </a:r>
            <a:endParaRPr lang="zh-CN" altLang="en-US" b="0">
              <a:solidFill>
                <a:srgbClr val="0000FF"/>
              </a:solidFill>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2452"/>
                                        </p:tgtEl>
                                        <p:attrNameLst>
                                          <p:attrName>style.visibility</p:attrName>
                                        </p:attrNameLst>
                                      </p:cBhvr>
                                      <p:to>
                                        <p:strVal val="visible"/>
                                      </p:to>
                                    </p:set>
                                    <p:anim calcmode="lin" valueType="num">
                                      <p:cBhvr additive="base">
                                        <p:cTn id="7" dur="500" fill="hold"/>
                                        <p:tgtEl>
                                          <p:spTgt spid="232452"/>
                                        </p:tgtEl>
                                        <p:attrNameLst>
                                          <p:attrName>ppt_x</p:attrName>
                                        </p:attrNameLst>
                                      </p:cBhvr>
                                      <p:tavLst>
                                        <p:tav tm="0">
                                          <p:val>
                                            <p:strVal val="0-#ppt_w/2"/>
                                          </p:val>
                                        </p:tav>
                                        <p:tav tm="100000">
                                          <p:val>
                                            <p:strVal val="#ppt_x"/>
                                          </p:val>
                                        </p:tav>
                                      </p:tavLst>
                                    </p:anim>
                                    <p:anim calcmode="lin" valueType="num">
                                      <p:cBhvr additive="base">
                                        <p:cTn id="8" dur="500" fill="hold"/>
                                        <p:tgtEl>
                                          <p:spTgt spid="23245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32451"/>
                                        </p:tgtEl>
                                        <p:attrNameLst>
                                          <p:attrName>style.visibility</p:attrName>
                                        </p:attrNameLst>
                                      </p:cBhvr>
                                      <p:to>
                                        <p:strVal val="visible"/>
                                      </p:to>
                                    </p:set>
                                    <p:anim calcmode="lin" valueType="num">
                                      <p:cBhvr additive="base">
                                        <p:cTn id="13" dur="500" fill="hold"/>
                                        <p:tgtEl>
                                          <p:spTgt spid="232451"/>
                                        </p:tgtEl>
                                        <p:attrNameLst>
                                          <p:attrName>ppt_x</p:attrName>
                                        </p:attrNameLst>
                                      </p:cBhvr>
                                      <p:tavLst>
                                        <p:tav tm="0">
                                          <p:val>
                                            <p:strVal val="0-#ppt_w/2"/>
                                          </p:val>
                                        </p:tav>
                                        <p:tav tm="100000">
                                          <p:val>
                                            <p:strVal val="#ppt_x"/>
                                          </p:val>
                                        </p:tav>
                                      </p:tavLst>
                                    </p:anim>
                                    <p:anim calcmode="lin" valueType="num">
                                      <p:cBhvr additive="base">
                                        <p:cTn id="14" dur="500" fill="hold"/>
                                        <p:tgtEl>
                                          <p:spTgt spid="23245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32453"/>
                                        </p:tgtEl>
                                        <p:attrNameLst>
                                          <p:attrName>style.visibility</p:attrName>
                                        </p:attrNameLst>
                                      </p:cBhvr>
                                      <p:to>
                                        <p:strVal val="visible"/>
                                      </p:to>
                                    </p:set>
                                    <p:anim calcmode="lin" valueType="num">
                                      <p:cBhvr additive="base">
                                        <p:cTn id="19" dur="500" fill="hold"/>
                                        <p:tgtEl>
                                          <p:spTgt spid="232453"/>
                                        </p:tgtEl>
                                        <p:attrNameLst>
                                          <p:attrName>ppt_x</p:attrName>
                                        </p:attrNameLst>
                                      </p:cBhvr>
                                      <p:tavLst>
                                        <p:tav tm="0">
                                          <p:val>
                                            <p:strVal val="0-#ppt_w/2"/>
                                          </p:val>
                                        </p:tav>
                                        <p:tav tm="100000">
                                          <p:val>
                                            <p:strVal val="#ppt_x"/>
                                          </p:val>
                                        </p:tav>
                                      </p:tavLst>
                                    </p:anim>
                                    <p:anim calcmode="lin" valueType="num">
                                      <p:cBhvr additive="base">
                                        <p:cTn id="20" dur="500" fill="hold"/>
                                        <p:tgtEl>
                                          <p:spTgt spid="23245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32454"/>
                                        </p:tgtEl>
                                        <p:attrNameLst>
                                          <p:attrName>style.visibility</p:attrName>
                                        </p:attrNameLst>
                                      </p:cBhvr>
                                      <p:to>
                                        <p:strVal val="visible"/>
                                      </p:to>
                                    </p:set>
                                    <p:anim calcmode="lin" valueType="num">
                                      <p:cBhvr additive="base">
                                        <p:cTn id="25" dur="500" fill="hold"/>
                                        <p:tgtEl>
                                          <p:spTgt spid="232454"/>
                                        </p:tgtEl>
                                        <p:attrNameLst>
                                          <p:attrName>ppt_x</p:attrName>
                                        </p:attrNameLst>
                                      </p:cBhvr>
                                      <p:tavLst>
                                        <p:tav tm="0">
                                          <p:val>
                                            <p:strVal val="0-#ppt_w/2"/>
                                          </p:val>
                                        </p:tav>
                                        <p:tav tm="100000">
                                          <p:val>
                                            <p:strVal val="#ppt_x"/>
                                          </p:val>
                                        </p:tav>
                                      </p:tavLst>
                                    </p:anim>
                                    <p:anim calcmode="lin" valueType="num">
                                      <p:cBhvr additive="base">
                                        <p:cTn id="26" dur="500" fill="hold"/>
                                        <p:tgtEl>
                                          <p:spTgt spid="2324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ChangeArrowheads="1"/>
          </p:cNvSpPr>
          <p:nvPr/>
        </p:nvSpPr>
        <p:spPr bwMode="auto">
          <a:xfrm>
            <a:off x="827088" y="2636838"/>
            <a:ext cx="69135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25000">
                <a:solidFill>
                  <a:srgbClr val="008080"/>
                </a:solidFill>
              </a:rPr>
              <a:t>n</a:t>
            </a:r>
            <a:r>
              <a:rPr lang="en-US" altLang="zh-CN" baseline="-25000">
                <a:solidFill>
                  <a:srgbClr val="008080"/>
                </a:solidFill>
              </a:rPr>
              <a:t>+1</a:t>
            </a:r>
            <a:r>
              <a:rPr lang="en-US" altLang="zh-CN">
                <a:solidFill>
                  <a:srgbClr val="008080"/>
                </a:solidFill>
              </a:rPr>
              <a:t> </a:t>
            </a:r>
            <a:r>
              <a:rPr lang="en-US" altLang="zh-CN" i="1">
                <a:solidFill>
                  <a:srgbClr val="000080"/>
                </a:solidFill>
              </a:rPr>
              <a:t>= Y</a:t>
            </a:r>
            <a:r>
              <a:rPr lang="en-US" altLang="zh-CN" baseline="-25000">
                <a:solidFill>
                  <a:srgbClr val="008080"/>
                </a:solidFill>
              </a:rPr>
              <a:t>n </a:t>
            </a:r>
            <a:r>
              <a:rPr lang="en-US" altLang="zh-CN" i="1">
                <a:solidFill>
                  <a:srgbClr val="000080"/>
                </a:solidFill>
              </a:rPr>
              <a:t>+ </a:t>
            </a:r>
            <a:r>
              <a:rPr lang="en-US" altLang="zh-CN">
                <a:solidFill>
                  <a:srgbClr val="000080"/>
                </a:solidFill>
              </a:rPr>
              <a:t>(</a:t>
            </a:r>
            <a:r>
              <a:rPr lang="en-US" altLang="zh-CN" i="1">
                <a:solidFill>
                  <a:srgbClr val="000080"/>
                </a:solidFill>
              </a:rPr>
              <a:t>k</a:t>
            </a:r>
            <a:r>
              <a:rPr lang="en-US" altLang="zh-CN" baseline="30000">
                <a:solidFill>
                  <a:srgbClr val="800080"/>
                </a:solidFill>
              </a:rPr>
              <a:t>(1)</a:t>
            </a:r>
            <a:r>
              <a:rPr lang="en-US" altLang="zh-CN">
                <a:solidFill>
                  <a:srgbClr val="800080"/>
                </a:solidFill>
              </a:rPr>
              <a:t> </a:t>
            </a:r>
            <a:r>
              <a:rPr lang="en-US" altLang="zh-CN" i="1">
                <a:solidFill>
                  <a:srgbClr val="000080"/>
                </a:solidFill>
              </a:rPr>
              <a:t>+ </a:t>
            </a:r>
            <a:r>
              <a:rPr lang="en-US" altLang="zh-CN">
                <a:solidFill>
                  <a:srgbClr val="000080"/>
                </a:solidFill>
              </a:rPr>
              <a:t>2</a:t>
            </a:r>
            <a:r>
              <a:rPr lang="en-US" altLang="zh-CN" i="1">
                <a:solidFill>
                  <a:srgbClr val="000080"/>
                </a:solidFill>
              </a:rPr>
              <a:t>k</a:t>
            </a:r>
            <a:r>
              <a:rPr lang="en-US" altLang="zh-CN" baseline="30000">
                <a:solidFill>
                  <a:srgbClr val="800080"/>
                </a:solidFill>
              </a:rPr>
              <a:t>(2)</a:t>
            </a:r>
            <a:r>
              <a:rPr lang="en-US" altLang="zh-CN">
                <a:solidFill>
                  <a:srgbClr val="800080"/>
                </a:solidFill>
              </a:rPr>
              <a:t> </a:t>
            </a:r>
            <a:r>
              <a:rPr lang="en-US" altLang="zh-CN" i="1">
                <a:solidFill>
                  <a:srgbClr val="000080"/>
                </a:solidFill>
              </a:rPr>
              <a:t>+ </a:t>
            </a:r>
            <a:r>
              <a:rPr lang="en-US" altLang="zh-CN">
                <a:solidFill>
                  <a:srgbClr val="000080"/>
                </a:solidFill>
              </a:rPr>
              <a:t>2</a:t>
            </a:r>
            <a:r>
              <a:rPr lang="en-US" altLang="zh-CN" i="1">
                <a:solidFill>
                  <a:srgbClr val="000080"/>
                </a:solidFill>
              </a:rPr>
              <a:t>k</a:t>
            </a:r>
            <a:r>
              <a:rPr lang="en-US" altLang="zh-CN" baseline="30000">
                <a:solidFill>
                  <a:srgbClr val="800080"/>
                </a:solidFill>
              </a:rPr>
              <a:t>(3)</a:t>
            </a:r>
            <a:r>
              <a:rPr lang="en-US" altLang="zh-CN">
                <a:solidFill>
                  <a:srgbClr val="800080"/>
                </a:solidFill>
              </a:rPr>
              <a:t> </a:t>
            </a:r>
            <a:r>
              <a:rPr lang="en-US" altLang="zh-CN" i="1">
                <a:solidFill>
                  <a:srgbClr val="000080"/>
                </a:solidFill>
              </a:rPr>
              <a:t>+ k</a:t>
            </a:r>
            <a:r>
              <a:rPr lang="en-US" altLang="zh-CN" baseline="30000">
                <a:solidFill>
                  <a:srgbClr val="800080"/>
                </a:solidFill>
              </a:rPr>
              <a:t>(4)</a:t>
            </a:r>
            <a:r>
              <a:rPr lang="en-US" altLang="zh-CN">
                <a:solidFill>
                  <a:srgbClr val="000080"/>
                </a:solidFill>
              </a:rPr>
              <a:t>)/6</a:t>
            </a:r>
            <a:r>
              <a:rPr lang="en-US" altLang="zh-CN">
                <a:solidFill>
                  <a:srgbClr val="000000"/>
                </a:solidFill>
              </a:rPr>
              <a:t>.</a:t>
            </a:r>
          </a:p>
        </p:txBody>
      </p:sp>
      <p:sp>
        <p:nvSpPr>
          <p:cNvPr id="236547" name="Rectangle 3"/>
          <p:cNvSpPr>
            <a:spLocks noChangeArrowheads="1"/>
          </p:cNvSpPr>
          <p:nvPr/>
        </p:nvSpPr>
        <p:spPr bwMode="auto">
          <a:xfrm>
            <a:off x="1042988" y="998538"/>
            <a:ext cx="6248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25000">
                <a:solidFill>
                  <a:srgbClr val="008080"/>
                </a:solidFill>
              </a:rPr>
              <a:t>n</a:t>
            </a:r>
            <a:r>
              <a:rPr lang="en-US" altLang="zh-CN" baseline="-25000">
                <a:solidFill>
                  <a:srgbClr val="008080"/>
                </a:solidFill>
              </a:rPr>
              <a:t>+1</a:t>
            </a:r>
            <a:r>
              <a:rPr lang="en-US" altLang="zh-CN">
                <a:solidFill>
                  <a:srgbClr val="008080"/>
                </a:solidFill>
              </a:rPr>
              <a:t> </a:t>
            </a:r>
            <a:r>
              <a:rPr lang="en-US" altLang="zh-CN" i="1">
                <a:solidFill>
                  <a:srgbClr val="000080"/>
                </a:solidFill>
              </a:rPr>
              <a:t>= Y</a:t>
            </a:r>
            <a:r>
              <a:rPr lang="en-US" altLang="zh-CN" baseline="-25000">
                <a:solidFill>
                  <a:srgbClr val="008080"/>
                </a:solidFill>
              </a:rPr>
              <a:t>n </a:t>
            </a:r>
            <a:r>
              <a:rPr lang="en-US" altLang="zh-CN" i="1">
                <a:solidFill>
                  <a:srgbClr val="000080"/>
                </a:solidFill>
              </a:rPr>
              <a:t>+ </a:t>
            </a:r>
            <a:r>
              <a:rPr lang="en-US" altLang="zh-CN">
                <a:solidFill>
                  <a:srgbClr val="000080"/>
                </a:solidFill>
              </a:rPr>
              <a:t>(</a:t>
            </a:r>
            <a:r>
              <a:rPr lang="en-US" altLang="zh-CN" i="1">
                <a:solidFill>
                  <a:srgbClr val="000080"/>
                </a:solidFill>
              </a:rPr>
              <a:t>k</a:t>
            </a:r>
            <a:r>
              <a:rPr lang="en-US" altLang="zh-CN" baseline="30000">
                <a:solidFill>
                  <a:srgbClr val="800080"/>
                </a:solidFill>
              </a:rPr>
              <a:t>(1)</a:t>
            </a:r>
            <a:r>
              <a:rPr lang="en-US" altLang="zh-CN">
                <a:solidFill>
                  <a:srgbClr val="800080"/>
                </a:solidFill>
              </a:rPr>
              <a:t> </a:t>
            </a:r>
            <a:r>
              <a:rPr lang="en-US" altLang="zh-CN" i="1">
                <a:solidFill>
                  <a:srgbClr val="000080"/>
                </a:solidFill>
              </a:rPr>
              <a:t>+ k</a:t>
            </a:r>
            <a:r>
              <a:rPr lang="en-US" altLang="zh-CN" baseline="30000">
                <a:solidFill>
                  <a:srgbClr val="800080"/>
                </a:solidFill>
              </a:rPr>
              <a:t>(2)</a:t>
            </a:r>
            <a:r>
              <a:rPr lang="en-US" altLang="zh-CN">
                <a:solidFill>
                  <a:srgbClr val="000080"/>
                </a:solidFill>
              </a:rPr>
              <a:t>)/2</a:t>
            </a:r>
            <a:r>
              <a:rPr lang="en-US" altLang="zh-CN">
                <a:solidFill>
                  <a:srgbClr val="000000"/>
                </a:solidFill>
              </a:rPr>
              <a:t>.</a:t>
            </a:r>
          </a:p>
        </p:txBody>
      </p:sp>
      <p:sp>
        <p:nvSpPr>
          <p:cNvPr id="236548" name="Rectangle 4"/>
          <p:cNvSpPr>
            <a:spLocks noChangeArrowheads="1"/>
          </p:cNvSpPr>
          <p:nvPr/>
        </p:nvSpPr>
        <p:spPr bwMode="auto">
          <a:xfrm>
            <a:off x="4067175" y="1700213"/>
            <a:ext cx="47259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k</a:t>
            </a:r>
            <a:r>
              <a:rPr lang="en-US" altLang="zh-CN" baseline="30000">
                <a:solidFill>
                  <a:srgbClr val="800080"/>
                </a:solidFill>
              </a:rPr>
              <a:t>(2)</a:t>
            </a:r>
            <a:r>
              <a:rPr lang="en-US" altLang="zh-CN">
                <a:solidFill>
                  <a:srgbClr val="000080"/>
                </a:solidFill>
              </a:rPr>
              <a:t>= </a:t>
            </a:r>
            <a:r>
              <a:rPr lang="en-US" altLang="zh-CN" i="1">
                <a:solidFill>
                  <a:srgbClr val="000080"/>
                </a:solidFill>
              </a:rPr>
              <a:t>h f(t</a:t>
            </a:r>
            <a:r>
              <a:rPr lang="en-US" altLang="zh-CN" baseline="-25000">
                <a:solidFill>
                  <a:srgbClr val="008080"/>
                </a:solidFill>
              </a:rPr>
              <a:t>n </a:t>
            </a:r>
            <a:r>
              <a:rPr lang="en-US" altLang="zh-CN" i="1">
                <a:solidFill>
                  <a:srgbClr val="000080"/>
                </a:solidFill>
              </a:rPr>
              <a:t>+h, Y</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i="1">
                <a:solidFill>
                  <a:srgbClr val="000080"/>
                </a:solidFill>
              </a:rPr>
              <a:t>k</a:t>
            </a:r>
            <a:r>
              <a:rPr lang="en-US" altLang="zh-CN" baseline="30000">
                <a:solidFill>
                  <a:srgbClr val="800080"/>
                </a:solidFill>
              </a:rPr>
              <a:t>(1)</a:t>
            </a:r>
            <a:r>
              <a:rPr lang="en-US" altLang="zh-CN" i="1">
                <a:solidFill>
                  <a:srgbClr val="000080"/>
                </a:solidFill>
              </a:rPr>
              <a:t>)</a:t>
            </a:r>
          </a:p>
        </p:txBody>
      </p:sp>
      <p:sp>
        <p:nvSpPr>
          <p:cNvPr id="236549" name="Rectangle 5"/>
          <p:cNvSpPr>
            <a:spLocks noChangeArrowheads="1"/>
          </p:cNvSpPr>
          <p:nvPr/>
        </p:nvSpPr>
        <p:spPr bwMode="auto">
          <a:xfrm>
            <a:off x="990600" y="1685925"/>
            <a:ext cx="2590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k</a:t>
            </a:r>
            <a:r>
              <a:rPr lang="en-US" altLang="zh-CN" baseline="30000">
                <a:solidFill>
                  <a:srgbClr val="800080"/>
                </a:solidFill>
              </a:rPr>
              <a:t>(1)</a:t>
            </a:r>
            <a:r>
              <a:rPr lang="en-US" altLang="zh-CN" i="1">
                <a:solidFill>
                  <a:srgbClr val="000080"/>
                </a:solidFill>
              </a:rPr>
              <a:t>=h f(t</a:t>
            </a:r>
            <a:r>
              <a:rPr lang="en-US" altLang="zh-CN" baseline="-25000">
                <a:solidFill>
                  <a:srgbClr val="008080"/>
                </a:solidFill>
              </a:rPr>
              <a:t>n</a:t>
            </a:r>
            <a:r>
              <a:rPr lang="en-US" altLang="zh-CN" i="1">
                <a:solidFill>
                  <a:srgbClr val="000080"/>
                </a:solidFill>
              </a:rPr>
              <a:t>, Y</a:t>
            </a:r>
            <a:r>
              <a:rPr lang="en-US" altLang="zh-CN" baseline="-25000">
                <a:solidFill>
                  <a:srgbClr val="008080"/>
                </a:solidFill>
              </a:rPr>
              <a:t>n</a:t>
            </a:r>
            <a:r>
              <a:rPr lang="en-US" altLang="zh-CN" i="1">
                <a:solidFill>
                  <a:srgbClr val="000080"/>
                </a:solidFill>
              </a:rPr>
              <a:t>);</a:t>
            </a:r>
          </a:p>
        </p:txBody>
      </p:sp>
      <p:sp>
        <p:nvSpPr>
          <p:cNvPr id="236550" name="Rectangle 6"/>
          <p:cNvSpPr>
            <a:spLocks noChangeArrowheads="1"/>
          </p:cNvSpPr>
          <p:nvPr/>
        </p:nvSpPr>
        <p:spPr bwMode="auto">
          <a:xfrm>
            <a:off x="1331913" y="3500438"/>
            <a:ext cx="2590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k</a:t>
            </a:r>
            <a:r>
              <a:rPr lang="en-US" altLang="zh-CN" baseline="30000">
                <a:solidFill>
                  <a:srgbClr val="800080"/>
                </a:solidFill>
              </a:rPr>
              <a:t>(1)</a:t>
            </a:r>
            <a:r>
              <a:rPr lang="en-US" altLang="zh-CN" i="1">
                <a:solidFill>
                  <a:srgbClr val="000080"/>
                </a:solidFill>
              </a:rPr>
              <a:t>=h f(t</a:t>
            </a:r>
            <a:r>
              <a:rPr lang="en-US" altLang="zh-CN" baseline="-25000">
                <a:solidFill>
                  <a:srgbClr val="008080"/>
                </a:solidFill>
              </a:rPr>
              <a:t>n</a:t>
            </a:r>
            <a:r>
              <a:rPr lang="en-US" altLang="zh-CN" i="1">
                <a:solidFill>
                  <a:srgbClr val="000080"/>
                </a:solidFill>
              </a:rPr>
              <a:t>, Y</a:t>
            </a:r>
            <a:r>
              <a:rPr lang="en-US" altLang="zh-CN" baseline="-25000">
                <a:solidFill>
                  <a:srgbClr val="008080"/>
                </a:solidFill>
              </a:rPr>
              <a:t>n</a:t>
            </a:r>
            <a:r>
              <a:rPr lang="en-US" altLang="zh-CN" i="1">
                <a:solidFill>
                  <a:srgbClr val="000080"/>
                </a:solidFill>
              </a:rPr>
              <a:t>);</a:t>
            </a:r>
          </a:p>
        </p:txBody>
      </p:sp>
      <p:sp>
        <p:nvSpPr>
          <p:cNvPr id="236551" name="Rectangle 7"/>
          <p:cNvSpPr>
            <a:spLocks noChangeArrowheads="1"/>
          </p:cNvSpPr>
          <p:nvPr/>
        </p:nvSpPr>
        <p:spPr bwMode="auto">
          <a:xfrm>
            <a:off x="1258888" y="4221163"/>
            <a:ext cx="4724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k</a:t>
            </a:r>
            <a:r>
              <a:rPr lang="en-US" altLang="zh-CN" baseline="30000">
                <a:solidFill>
                  <a:srgbClr val="800080"/>
                </a:solidFill>
              </a:rPr>
              <a:t>(2)</a:t>
            </a:r>
            <a:r>
              <a:rPr lang="en-US" altLang="zh-CN">
                <a:solidFill>
                  <a:srgbClr val="000080"/>
                </a:solidFill>
              </a:rPr>
              <a:t>= </a:t>
            </a:r>
            <a:r>
              <a:rPr lang="en-US" altLang="zh-CN" i="1">
                <a:solidFill>
                  <a:srgbClr val="000080"/>
                </a:solidFill>
              </a:rPr>
              <a:t>h f(t</a:t>
            </a:r>
            <a:r>
              <a:rPr lang="en-US" altLang="zh-CN" baseline="-25000">
                <a:solidFill>
                  <a:srgbClr val="008080"/>
                </a:solidFill>
              </a:rPr>
              <a:t>n </a:t>
            </a:r>
            <a:r>
              <a:rPr lang="en-US" altLang="zh-CN" i="1">
                <a:solidFill>
                  <a:srgbClr val="000080"/>
                </a:solidFill>
              </a:rPr>
              <a:t>+h/2, Y</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i="1">
                <a:solidFill>
                  <a:srgbClr val="000080"/>
                </a:solidFill>
              </a:rPr>
              <a:t>k</a:t>
            </a:r>
            <a:r>
              <a:rPr lang="en-US" altLang="zh-CN" baseline="30000">
                <a:solidFill>
                  <a:srgbClr val="800080"/>
                </a:solidFill>
              </a:rPr>
              <a:t>(1)</a:t>
            </a:r>
            <a:r>
              <a:rPr lang="en-US" altLang="zh-CN" i="1">
                <a:solidFill>
                  <a:srgbClr val="000080"/>
                </a:solidFill>
              </a:rPr>
              <a:t>/2)</a:t>
            </a:r>
          </a:p>
        </p:txBody>
      </p:sp>
      <p:sp>
        <p:nvSpPr>
          <p:cNvPr id="236552" name="Rectangle 8"/>
          <p:cNvSpPr>
            <a:spLocks noChangeArrowheads="1"/>
          </p:cNvSpPr>
          <p:nvPr/>
        </p:nvSpPr>
        <p:spPr bwMode="auto">
          <a:xfrm>
            <a:off x="1290638" y="5013325"/>
            <a:ext cx="472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k</a:t>
            </a:r>
            <a:r>
              <a:rPr lang="en-US" altLang="zh-CN" baseline="30000">
                <a:solidFill>
                  <a:srgbClr val="800080"/>
                </a:solidFill>
              </a:rPr>
              <a:t>(3)</a:t>
            </a:r>
            <a:r>
              <a:rPr lang="en-US" altLang="zh-CN">
                <a:solidFill>
                  <a:srgbClr val="000080"/>
                </a:solidFill>
              </a:rPr>
              <a:t>= </a:t>
            </a:r>
            <a:r>
              <a:rPr lang="en-US" altLang="zh-CN" i="1">
                <a:solidFill>
                  <a:srgbClr val="000080"/>
                </a:solidFill>
              </a:rPr>
              <a:t>h f(t</a:t>
            </a:r>
            <a:r>
              <a:rPr lang="en-US" altLang="zh-CN" baseline="-25000">
                <a:solidFill>
                  <a:srgbClr val="008080"/>
                </a:solidFill>
              </a:rPr>
              <a:t>n </a:t>
            </a:r>
            <a:r>
              <a:rPr lang="en-US" altLang="zh-CN" i="1">
                <a:solidFill>
                  <a:srgbClr val="000080"/>
                </a:solidFill>
              </a:rPr>
              <a:t>+h/2, Y</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i="1">
                <a:solidFill>
                  <a:srgbClr val="000080"/>
                </a:solidFill>
              </a:rPr>
              <a:t>k</a:t>
            </a:r>
            <a:r>
              <a:rPr lang="en-US" altLang="zh-CN" baseline="30000">
                <a:solidFill>
                  <a:srgbClr val="800080"/>
                </a:solidFill>
              </a:rPr>
              <a:t>(2)</a:t>
            </a:r>
            <a:r>
              <a:rPr lang="en-US" altLang="zh-CN" i="1">
                <a:solidFill>
                  <a:srgbClr val="000080"/>
                </a:solidFill>
              </a:rPr>
              <a:t>/2)</a:t>
            </a:r>
          </a:p>
        </p:txBody>
      </p:sp>
      <p:sp>
        <p:nvSpPr>
          <p:cNvPr id="236553" name="Rectangle 9"/>
          <p:cNvSpPr>
            <a:spLocks noChangeArrowheads="1"/>
          </p:cNvSpPr>
          <p:nvPr/>
        </p:nvSpPr>
        <p:spPr bwMode="auto">
          <a:xfrm>
            <a:off x="1258888" y="5715000"/>
            <a:ext cx="472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k</a:t>
            </a:r>
            <a:r>
              <a:rPr lang="en-US" altLang="zh-CN" baseline="30000">
                <a:solidFill>
                  <a:srgbClr val="800080"/>
                </a:solidFill>
              </a:rPr>
              <a:t>(4)</a:t>
            </a:r>
            <a:r>
              <a:rPr lang="en-US" altLang="zh-CN">
                <a:solidFill>
                  <a:srgbClr val="000080"/>
                </a:solidFill>
              </a:rPr>
              <a:t>= </a:t>
            </a:r>
            <a:r>
              <a:rPr lang="en-US" altLang="zh-CN" i="1">
                <a:solidFill>
                  <a:srgbClr val="000080"/>
                </a:solidFill>
              </a:rPr>
              <a:t>h f(t</a:t>
            </a:r>
            <a:r>
              <a:rPr lang="en-US" altLang="zh-CN" baseline="-25000">
                <a:solidFill>
                  <a:srgbClr val="008080"/>
                </a:solidFill>
              </a:rPr>
              <a:t>n </a:t>
            </a:r>
            <a:r>
              <a:rPr lang="en-US" altLang="zh-CN" i="1">
                <a:solidFill>
                  <a:srgbClr val="000080"/>
                </a:solidFill>
              </a:rPr>
              <a:t>+h, Y</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i="1">
                <a:solidFill>
                  <a:srgbClr val="000080"/>
                </a:solidFill>
              </a:rPr>
              <a:t>k</a:t>
            </a:r>
            <a:r>
              <a:rPr lang="en-US" altLang="zh-CN" baseline="30000">
                <a:solidFill>
                  <a:srgbClr val="800080"/>
                </a:solidFill>
              </a:rPr>
              <a:t>(3)</a:t>
            </a:r>
            <a:r>
              <a:rPr lang="en-US" altLang="zh-CN" i="1">
                <a:solidFill>
                  <a:srgbClr val="000080"/>
                </a:solidFill>
              </a:rPr>
              <a:t>)</a:t>
            </a:r>
          </a:p>
        </p:txBody>
      </p:sp>
      <p:sp>
        <p:nvSpPr>
          <p:cNvPr id="14346" name="Rectangle 10"/>
          <p:cNvSpPr>
            <a:spLocks noChangeArrowheads="1"/>
          </p:cNvSpPr>
          <p:nvPr/>
        </p:nvSpPr>
        <p:spPr bwMode="auto">
          <a:xfrm>
            <a:off x="250825" y="188913"/>
            <a:ext cx="3852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t>Runge-Kutta methods</a:t>
            </a:r>
          </a:p>
        </p:txBody>
      </p:sp>
      <p:sp>
        <p:nvSpPr>
          <p:cNvPr id="236555" name="Rectangle 11"/>
          <p:cNvSpPr>
            <a:spLocks noChangeArrowheads="1"/>
          </p:cNvSpPr>
          <p:nvPr/>
        </p:nvSpPr>
        <p:spPr bwMode="auto">
          <a:xfrm>
            <a:off x="900113" y="765175"/>
            <a:ext cx="7416800" cy="1655763"/>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endParaRPr lang="zh-CN" altLang="en-US"/>
          </a:p>
        </p:txBody>
      </p:sp>
      <p:sp>
        <p:nvSpPr>
          <p:cNvPr id="236556" name="Rectangle 12"/>
          <p:cNvSpPr>
            <a:spLocks noChangeArrowheads="1"/>
          </p:cNvSpPr>
          <p:nvPr/>
        </p:nvSpPr>
        <p:spPr bwMode="auto">
          <a:xfrm>
            <a:off x="755650" y="2565400"/>
            <a:ext cx="6911975" cy="403225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endParaRPr lang="zh-CN" altLang="en-US"/>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6547"/>
                                        </p:tgtEl>
                                        <p:attrNameLst>
                                          <p:attrName>style.visibility</p:attrName>
                                        </p:attrNameLst>
                                      </p:cBhvr>
                                      <p:to>
                                        <p:strVal val="visible"/>
                                      </p:to>
                                    </p:set>
                                    <p:anim calcmode="lin" valueType="num">
                                      <p:cBhvr additive="base">
                                        <p:cTn id="7" dur="500" fill="hold"/>
                                        <p:tgtEl>
                                          <p:spTgt spid="236547"/>
                                        </p:tgtEl>
                                        <p:attrNameLst>
                                          <p:attrName>ppt_x</p:attrName>
                                        </p:attrNameLst>
                                      </p:cBhvr>
                                      <p:tavLst>
                                        <p:tav tm="0">
                                          <p:val>
                                            <p:strVal val="0-#ppt_w/2"/>
                                          </p:val>
                                        </p:tav>
                                        <p:tav tm="100000">
                                          <p:val>
                                            <p:strVal val="#ppt_x"/>
                                          </p:val>
                                        </p:tav>
                                      </p:tavLst>
                                    </p:anim>
                                    <p:anim calcmode="lin" valueType="num">
                                      <p:cBhvr additive="base">
                                        <p:cTn id="8" dur="500" fill="hold"/>
                                        <p:tgtEl>
                                          <p:spTgt spid="236547"/>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36549"/>
                                        </p:tgtEl>
                                        <p:attrNameLst>
                                          <p:attrName>style.visibility</p:attrName>
                                        </p:attrNameLst>
                                      </p:cBhvr>
                                      <p:to>
                                        <p:strVal val="visible"/>
                                      </p:to>
                                    </p:set>
                                    <p:anim calcmode="lin" valueType="num">
                                      <p:cBhvr additive="base">
                                        <p:cTn id="12" dur="500" fill="hold"/>
                                        <p:tgtEl>
                                          <p:spTgt spid="236549"/>
                                        </p:tgtEl>
                                        <p:attrNameLst>
                                          <p:attrName>ppt_x</p:attrName>
                                        </p:attrNameLst>
                                      </p:cBhvr>
                                      <p:tavLst>
                                        <p:tav tm="0">
                                          <p:val>
                                            <p:strVal val="0-#ppt_w/2"/>
                                          </p:val>
                                        </p:tav>
                                        <p:tav tm="100000">
                                          <p:val>
                                            <p:strVal val="#ppt_x"/>
                                          </p:val>
                                        </p:tav>
                                      </p:tavLst>
                                    </p:anim>
                                    <p:anim calcmode="lin" valueType="num">
                                      <p:cBhvr additive="base">
                                        <p:cTn id="13" dur="500" fill="hold"/>
                                        <p:tgtEl>
                                          <p:spTgt spid="23654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36548"/>
                                        </p:tgtEl>
                                        <p:attrNameLst>
                                          <p:attrName>style.visibility</p:attrName>
                                        </p:attrNameLst>
                                      </p:cBhvr>
                                      <p:to>
                                        <p:strVal val="visible"/>
                                      </p:to>
                                    </p:set>
                                    <p:anim calcmode="lin" valueType="num">
                                      <p:cBhvr additive="base">
                                        <p:cTn id="17" dur="500" fill="hold"/>
                                        <p:tgtEl>
                                          <p:spTgt spid="236548"/>
                                        </p:tgtEl>
                                        <p:attrNameLst>
                                          <p:attrName>ppt_x</p:attrName>
                                        </p:attrNameLst>
                                      </p:cBhvr>
                                      <p:tavLst>
                                        <p:tav tm="0">
                                          <p:val>
                                            <p:strVal val="0-#ppt_w/2"/>
                                          </p:val>
                                        </p:tav>
                                        <p:tav tm="100000">
                                          <p:val>
                                            <p:strVal val="#ppt_x"/>
                                          </p:val>
                                        </p:tav>
                                      </p:tavLst>
                                    </p:anim>
                                    <p:anim calcmode="lin" valueType="num">
                                      <p:cBhvr additive="base">
                                        <p:cTn id="18" dur="500" fill="hold"/>
                                        <p:tgtEl>
                                          <p:spTgt spid="236548"/>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236555"/>
                                        </p:tgtEl>
                                        <p:attrNameLst>
                                          <p:attrName>style.visibility</p:attrName>
                                        </p:attrNameLst>
                                      </p:cBhvr>
                                      <p:to>
                                        <p:strVal val="visible"/>
                                      </p:to>
                                    </p:set>
                                    <p:anim calcmode="lin" valueType="num">
                                      <p:cBhvr additive="base">
                                        <p:cTn id="22" dur="500" fill="hold"/>
                                        <p:tgtEl>
                                          <p:spTgt spid="236555"/>
                                        </p:tgtEl>
                                        <p:attrNameLst>
                                          <p:attrName>ppt_x</p:attrName>
                                        </p:attrNameLst>
                                      </p:cBhvr>
                                      <p:tavLst>
                                        <p:tav tm="0">
                                          <p:val>
                                            <p:strVal val="#ppt_x"/>
                                          </p:val>
                                        </p:tav>
                                        <p:tav tm="100000">
                                          <p:val>
                                            <p:strVal val="#ppt_x"/>
                                          </p:val>
                                        </p:tav>
                                      </p:tavLst>
                                    </p:anim>
                                    <p:anim calcmode="lin" valueType="num">
                                      <p:cBhvr additive="base">
                                        <p:cTn id="23" dur="500" fill="hold"/>
                                        <p:tgtEl>
                                          <p:spTgt spid="236555"/>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236546"/>
                                        </p:tgtEl>
                                        <p:attrNameLst>
                                          <p:attrName>style.visibility</p:attrName>
                                        </p:attrNameLst>
                                      </p:cBhvr>
                                      <p:to>
                                        <p:strVal val="visible"/>
                                      </p:to>
                                    </p:set>
                                    <p:anim calcmode="lin" valueType="num">
                                      <p:cBhvr additive="base">
                                        <p:cTn id="28" dur="500" fill="hold"/>
                                        <p:tgtEl>
                                          <p:spTgt spid="236546"/>
                                        </p:tgtEl>
                                        <p:attrNameLst>
                                          <p:attrName>ppt_x</p:attrName>
                                        </p:attrNameLst>
                                      </p:cBhvr>
                                      <p:tavLst>
                                        <p:tav tm="0">
                                          <p:val>
                                            <p:strVal val="0-#ppt_w/2"/>
                                          </p:val>
                                        </p:tav>
                                        <p:tav tm="100000">
                                          <p:val>
                                            <p:strVal val="#ppt_x"/>
                                          </p:val>
                                        </p:tav>
                                      </p:tavLst>
                                    </p:anim>
                                    <p:anim calcmode="lin" valueType="num">
                                      <p:cBhvr additive="base">
                                        <p:cTn id="29" dur="500" fill="hold"/>
                                        <p:tgtEl>
                                          <p:spTgt spid="236546"/>
                                        </p:tgtEl>
                                        <p:attrNameLst>
                                          <p:attrName>ppt_y</p:attrName>
                                        </p:attrNameLst>
                                      </p:cBhvr>
                                      <p:tavLst>
                                        <p:tav tm="0">
                                          <p:val>
                                            <p:strVal val="#ppt_y"/>
                                          </p:val>
                                        </p:tav>
                                        <p:tav tm="100000">
                                          <p:val>
                                            <p:strVal val="#ppt_y"/>
                                          </p:val>
                                        </p:tav>
                                      </p:tavLst>
                                    </p:anim>
                                  </p:childTnLst>
                                </p:cTn>
                              </p:par>
                            </p:childTnLst>
                          </p:cTn>
                        </p:par>
                        <p:par>
                          <p:cTn id="30" fill="hold" nodeType="afterGroup">
                            <p:stCondLst>
                              <p:cond delay="500"/>
                            </p:stCondLst>
                            <p:childTnLst>
                              <p:par>
                                <p:cTn id="31" presetID="2" presetClass="entr" presetSubtype="8" fill="hold" grpId="0" nodeType="afterEffect">
                                  <p:stCondLst>
                                    <p:cond delay="0"/>
                                  </p:stCondLst>
                                  <p:childTnLst>
                                    <p:set>
                                      <p:cBhvr>
                                        <p:cTn id="32" dur="1" fill="hold">
                                          <p:stCondLst>
                                            <p:cond delay="0"/>
                                          </p:stCondLst>
                                        </p:cTn>
                                        <p:tgtEl>
                                          <p:spTgt spid="236550"/>
                                        </p:tgtEl>
                                        <p:attrNameLst>
                                          <p:attrName>style.visibility</p:attrName>
                                        </p:attrNameLst>
                                      </p:cBhvr>
                                      <p:to>
                                        <p:strVal val="visible"/>
                                      </p:to>
                                    </p:set>
                                    <p:anim calcmode="lin" valueType="num">
                                      <p:cBhvr additive="base">
                                        <p:cTn id="33" dur="500" fill="hold"/>
                                        <p:tgtEl>
                                          <p:spTgt spid="236550"/>
                                        </p:tgtEl>
                                        <p:attrNameLst>
                                          <p:attrName>ppt_x</p:attrName>
                                        </p:attrNameLst>
                                      </p:cBhvr>
                                      <p:tavLst>
                                        <p:tav tm="0">
                                          <p:val>
                                            <p:strVal val="0-#ppt_w/2"/>
                                          </p:val>
                                        </p:tav>
                                        <p:tav tm="100000">
                                          <p:val>
                                            <p:strVal val="#ppt_x"/>
                                          </p:val>
                                        </p:tav>
                                      </p:tavLst>
                                    </p:anim>
                                    <p:anim calcmode="lin" valueType="num">
                                      <p:cBhvr additive="base">
                                        <p:cTn id="34" dur="500" fill="hold"/>
                                        <p:tgtEl>
                                          <p:spTgt spid="236550"/>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1000"/>
                            </p:stCondLst>
                            <p:childTnLst>
                              <p:par>
                                <p:cTn id="36" presetID="2" presetClass="entr" presetSubtype="8" fill="hold" grpId="0" nodeType="afterEffect">
                                  <p:stCondLst>
                                    <p:cond delay="0"/>
                                  </p:stCondLst>
                                  <p:childTnLst>
                                    <p:set>
                                      <p:cBhvr>
                                        <p:cTn id="37" dur="1" fill="hold">
                                          <p:stCondLst>
                                            <p:cond delay="0"/>
                                          </p:stCondLst>
                                        </p:cTn>
                                        <p:tgtEl>
                                          <p:spTgt spid="236551"/>
                                        </p:tgtEl>
                                        <p:attrNameLst>
                                          <p:attrName>style.visibility</p:attrName>
                                        </p:attrNameLst>
                                      </p:cBhvr>
                                      <p:to>
                                        <p:strVal val="visible"/>
                                      </p:to>
                                    </p:set>
                                    <p:anim calcmode="lin" valueType="num">
                                      <p:cBhvr additive="base">
                                        <p:cTn id="38" dur="500" fill="hold"/>
                                        <p:tgtEl>
                                          <p:spTgt spid="236551"/>
                                        </p:tgtEl>
                                        <p:attrNameLst>
                                          <p:attrName>ppt_x</p:attrName>
                                        </p:attrNameLst>
                                      </p:cBhvr>
                                      <p:tavLst>
                                        <p:tav tm="0">
                                          <p:val>
                                            <p:strVal val="0-#ppt_w/2"/>
                                          </p:val>
                                        </p:tav>
                                        <p:tav tm="100000">
                                          <p:val>
                                            <p:strVal val="#ppt_x"/>
                                          </p:val>
                                        </p:tav>
                                      </p:tavLst>
                                    </p:anim>
                                    <p:anim calcmode="lin" valueType="num">
                                      <p:cBhvr additive="base">
                                        <p:cTn id="39" dur="500" fill="hold"/>
                                        <p:tgtEl>
                                          <p:spTgt spid="236551"/>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1500"/>
                            </p:stCondLst>
                            <p:childTnLst>
                              <p:par>
                                <p:cTn id="41" presetID="2" presetClass="entr" presetSubtype="8" fill="hold" grpId="0" nodeType="afterEffect">
                                  <p:stCondLst>
                                    <p:cond delay="0"/>
                                  </p:stCondLst>
                                  <p:childTnLst>
                                    <p:set>
                                      <p:cBhvr>
                                        <p:cTn id="42" dur="1" fill="hold">
                                          <p:stCondLst>
                                            <p:cond delay="0"/>
                                          </p:stCondLst>
                                        </p:cTn>
                                        <p:tgtEl>
                                          <p:spTgt spid="236552"/>
                                        </p:tgtEl>
                                        <p:attrNameLst>
                                          <p:attrName>style.visibility</p:attrName>
                                        </p:attrNameLst>
                                      </p:cBhvr>
                                      <p:to>
                                        <p:strVal val="visible"/>
                                      </p:to>
                                    </p:set>
                                    <p:anim calcmode="lin" valueType="num">
                                      <p:cBhvr additive="base">
                                        <p:cTn id="43" dur="500" fill="hold"/>
                                        <p:tgtEl>
                                          <p:spTgt spid="236552"/>
                                        </p:tgtEl>
                                        <p:attrNameLst>
                                          <p:attrName>ppt_x</p:attrName>
                                        </p:attrNameLst>
                                      </p:cBhvr>
                                      <p:tavLst>
                                        <p:tav tm="0">
                                          <p:val>
                                            <p:strVal val="0-#ppt_w/2"/>
                                          </p:val>
                                        </p:tav>
                                        <p:tav tm="100000">
                                          <p:val>
                                            <p:strVal val="#ppt_x"/>
                                          </p:val>
                                        </p:tav>
                                      </p:tavLst>
                                    </p:anim>
                                    <p:anim calcmode="lin" valueType="num">
                                      <p:cBhvr additive="base">
                                        <p:cTn id="44" dur="500" fill="hold"/>
                                        <p:tgtEl>
                                          <p:spTgt spid="236552"/>
                                        </p:tgtEl>
                                        <p:attrNameLst>
                                          <p:attrName>ppt_y</p:attrName>
                                        </p:attrNameLst>
                                      </p:cBhvr>
                                      <p:tavLst>
                                        <p:tav tm="0">
                                          <p:val>
                                            <p:strVal val="#ppt_y"/>
                                          </p:val>
                                        </p:tav>
                                        <p:tav tm="100000">
                                          <p:val>
                                            <p:strVal val="#ppt_y"/>
                                          </p:val>
                                        </p:tav>
                                      </p:tavLst>
                                    </p:anim>
                                  </p:childTnLst>
                                </p:cTn>
                              </p:par>
                            </p:childTnLst>
                          </p:cTn>
                        </p:par>
                        <p:par>
                          <p:cTn id="45" fill="hold" nodeType="afterGroup">
                            <p:stCondLst>
                              <p:cond delay="2000"/>
                            </p:stCondLst>
                            <p:childTnLst>
                              <p:par>
                                <p:cTn id="46" presetID="2" presetClass="entr" presetSubtype="8" fill="hold" grpId="0" nodeType="afterEffect">
                                  <p:stCondLst>
                                    <p:cond delay="0"/>
                                  </p:stCondLst>
                                  <p:childTnLst>
                                    <p:set>
                                      <p:cBhvr>
                                        <p:cTn id="47" dur="1" fill="hold">
                                          <p:stCondLst>
                                            <p:cond delay="0"/>
                                          </p:stCondLst>
                                        </p:cTn>
                                        <p:tgtEl>
                                          <p:spTgt spid="236553"/>
                                        </p:tgtEl>
                                        <p:attrNameLst>
                                          <p:attrName>style.visibility</p:attrName>
                                        </p:attrNameLst>
                                      </p:cBhvr>
                                      <p:to>
                                        <p:strVal val="visible"/>
                                      </p:to>
                                    </p:set>
                                    <p:anim calcmode="lin" valueType="num">
                                      <p:cBhvr additive="base">
                                        <p:cTn id="48" dur="500" fill="hold"/>
                                        <p:tgtEl>
                                          <p:spTgt spid="236553"/>
                                        </p:tgtEl>
                                        <p:attrNameLst>
                                          <p:attrName>ppt_x</p:attrName>
                                        </p:attrNameLst>
                                      </p:cBhvr>
                                      <p:tavLst>
                                        <p:tav tm="0">
                                          <p:val>
                                            <p:strVal val="0-#ppt_w/2"/>
                                          </p:val>
                                        </p:tav>
                                        <p:tav tm="100000">
                                          <p:val>
                                            <p:strVal val="#ppt_x"/>
                                          </p:val>
                                        </p:tav>
                                      </p:tavLst>
                                    </p:anim>
                                    <p:anim calcmode="lin" valueType="num">
                                      <p:cBhvr additive="base">
                                        <p:cTn id="49" dur="500" fill="hold"/>
                                        <p:tgtEl>
                                          <p:spTgt spid="236553"/>
                                        </p:tgtEl>
                                        <p:attrNameLst>
                                          <p:attrName>ppt_y</p:attrName>
                                        </p:attrNameLst>
                                      </p:cBhvr>
                                      <p:tavLst>
                                        <p:tav tm="0">
                                          <p:val>
                                            <p:strVal val="#ppt_y"/>
                                          </p:val>
                                        </p:tav>
                                        <p:tav tm="100000">
                                          <p:val>
                                            <p:strVal val="#ppt_y"/>
                                          </p:val>
                                        </p:tav>
                                      </p:tavLst>
                                    </p:anim>
                                  </p:childTnLst>
                                </p:cTn>
                              </p:par>
                            </p:childTnLst>
                          </p:cTn>
                        </p:par>
                        <p:par>
                          <p:cTn id="50" fill="hold" nodeType="afterGroup">
                            <p:stCondLst>
                              <p:cond delay="2500"/>
                            </p:stCondLst>
                            <p:childTnLst>
                              <p:par>
                                <p:cTn id="51" presetID="2" presetClass="entr" presetSubtype="4" fill="hold" grpId="0" nodeType="afterEffect">
                                  <p:stCondLst>
                                    <p:cond delay="0"/>
                                  </p:stCondLst>
                                  <p:childTnLst>
                                    <p:set>
                                      <p:cBhvr>
                                        <p:cTn id="52" dur="1" fill="hold">
                                          <p:stCondLst>
                                            <p:cond delay="0"/>
                                          </p:stCondLst>
                                        </p:cTn>
                                        <p:tgtEl>
                                          <p:spTgt spid="236556"/>
                                        </p:tgtEl>
                                        <p:attrNameLst>
                                          <p:attrName>style.visibility</p:attrName>
                                        </p:attrNameLst>
                                      </p:cBhvr>
                                      <p:to>
                                        <p:strVal val="visible"/>
                                      </p:to>
                                    </p:set>
                                    <p:anim calcmode="lin" valueType="num">
                                      <p:cBhvr additive="base">
                                        <p:cTn id="53" dur="500" fill="hold"/>
                                        <p:tgtEl>
                                          <p:spTgt spid="236556"/>
                                        </p:tgtEl>
                                        <p:attrNameLst>
                                          <p:attrName>ppt_x</p:attrName>
                                        </p:attrNameLst>
                                      </p:cBhvr>
                                      <p:tavLst>
                                        <p:tav tm="0">
                                          <p:val>
                                            <p:strVal val="#ppt_x"/>
                                          </p:val>
                                        </p:tav>
                                        <p:tav tm="100000">
                                          <p:val>
                                            <p:strVal val="#ppt_x"/>
                                          </p:val>
                                        </p:tav>
                                      </p:tavLst>
                                    </p:anim>
                                    <p:anim calcmode="lin" valueType="num">
                                      <p:cBhvr additive="base">
                                        <p:cTn id="54" dur="500" fill="hold"/>
                                        <p:tgtEl>
                                          <p:spTgt spid="2365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6" grpId="0" autoUpdateAnimBg="0"/>
      <p:bldP spid="236547" grpId="0" autoUpdateAnimBg="0"/>
      <p:bldP spid="236548" grpId="0" autoUpdateAnimBg="0"/>
      <p:bldP spid="236549" grpId="0" autoUpdateAnimBg="0"/>
      <p:bldP spid="236550" grpId="0" autoUpdateAnimBg="0"/>
      <p:bldP spid="236551" grpId="0" autoUpdateAnimBg="0"/>
      <p:bldP spid="236552" grpId="0" autoUpdateAnimBg="0"/>
      <p:bldP spid="236553" grpId="0" autoUpdateAnimBg="0"/>
      <p:bldP spid="236555" grpId="0" animBg="1"/>
      <p:bldP spid="23655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88913"/>
            <a:ext cx="2209800"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7576" name="Rectangle 8"/>
          <p:cNvSpPr>
            <a:spLocks noChangeArrowheads="1"/>
          </p:cNvSpPr>
          <p:nvPr/>
        </p:nvSpPr>
        <p:spPr bwMode="auto">
          <a:xfrm>
            <a:off x="900113" y="4437063"/>
            <a:ext cx="72723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X</a:t>
            </a:r>
            <a:r>
              <a:rPr lang="en-US" altLang="zh-CN" i="1" baseline="-25000">
                <a:solidFill>
                  <a:srgbClr val="008080"/>
                </a:solidFill>
              </a:rPr>
              <a:t>n</a:t>
            </a:r>
            <a:r>
              <a:rPr lang="en-US" altLang="zh-CN" baseline="-25000">
                <a:solidFill>
                  <a:srgbClr val="008080"/>
                </a:solidFill>
              </a:rPr>
              <a:t>+1</a:t>
            </a:r>
            <a:r>
              <a:rPr lang="en-US" altLang="zh-CN">
                <a:solidFill>
                  <a:srgbClr val="008080"/>
                </a:solidFill>
              </a:rPr>
              <a:t> </a:t>
            </a:r>
            <a:r>
              <a:rPr lang="en-US" altLang="zh-CN" i="1">
                <a:solidFill>
                  <a:srgbClr val="000080"/>
                </a:solidFill>
              </a:rPr>
              <a:t>= X</a:t>
            </a:r>
            <a:r>
              <a:rPr lang="en-US" altLang="zh-CN" baseline="-25000">
                <a:solidFill>
                  <a:srgbClr val="008080"/>
                </a:solidFill>
              </a:rPr>
              <a:t>n </a:t>
            </a:r>
            <a:r>
              <a:rPr lang="en-US" altLang="zh-CN" i="1">
                <a:solidFill>
                  <a:srgbClr val="000080"/>
                </a:solidFill>
              </a:rPr>
              <a:t>+ </a:t>
            </a:r>
            <a:r>
              <a:rPr lang="en-US" altLang="zh-CN" i="1">
                <a:solidFill>
                  <a:srgbClr val="FF0000"/>
                </a:solidFill>
              </a:rPr>
              <a:t>h</a:t>
            </a:r>
            <a:r>
              <a:rPr lang="en-US" altLang="zh-CN">
                <a:solidFill>
                  <a:srgbClr val="000080"/>
                </a:solidFill>
              </a:rPr>
              <a:t>(F</a:t>
            </a:r>
            <a:r>
              <a:rPr lang="en-US" altLang="zh-CN" baseline="30000">
                <a:solidFill>
                  <a:srgbClr val="800080"/>
                </a:solidFill>
              </a:rPr>
              <a:t>(1)</a:t>
            </a:r>
            <a:r>
              <a:rPr lang="en-US" altLang="zh-CN">
                <a:solidFill>
                  <a:srgbClr val="800080"/>
                </a:solidFill>
              </a:rPr>
              <a:t> </a:t>
            </a:r>
            <a:r>
              <a:rPr lang="en-US" altLang="zh-CN" i="1">
                <a:solidFill>
                  <a:srgbClr val="000080"/>
                </a:solidFill>
              </a:rPr>
              <a:t>+ </a:t>
            </a:r>
            <a:r>
              <a:rPr lang="en-US" altLang="zh-CN">
                <a:solidFill>
                  <a:srgbClr val="000080"/>
                </a:solidFill>
              </a:rPr>
              <a:t>2F</a:t>
            </a:r>
            <a:r>
              <a:rPr lang="en-US" altLang="zh-CN" baseline="30000">
                <a:solidFill>
                  <a:srgbClr val="800080"/>
                </a:solidFill>
              </a:rPr>
              <a:t>(2)</a:t>
            </a:r>
            <a:r>
              <a:rPr lang="en-US" altLang="zh-CN">
                <a:solidFill>
                  <a:srgbClr val="800080"/>
                </a:solidFill>
              </a:rPr>
              <a:t> </a:t>
            </a:r>
            <a:r>
              <a:rPr lang="en-US" altLang="zh-CN" i="1">
                <a:solidFill>
                  <a:srgbClr val="000080"/>
                </a:solidFill>
              </a:rPr>
              <a:t>+ </a:t>
            </a:r>
            <a:r>
              <a:rPr lang="en-US" altLang="zh-CN">
                <a:solidFill>
                  <a:srgbClr val="000080"/>
                </a:solidFill>
              </a:rPr>
              <a:t>2F</a:t>
            </a:r>
            <a:r>
              <a:rPr lang="en-US" altLang="zh-CN" baseline="30000">
                <a:solidFill>
                  <a:srgbClr val="800080"/>
                </a:solidFill>
              </a:rPr>
              <a:t>(3)</a:t>
            </a:r>
            <a:r>
              <a:rPr lang="en-US" altLang="zh-CN">
                <a:solidFill>
                  <a:srgbClr val="800080"/>
                </a:solidFill>
              </a:rPr>
              <a:t> </a:t>
            </a:r>
            <a:r>
              <a:rPr lang="en-US" altLang="zh-CN" i="1">
                <a:solidFill>
                  <a:srgbClr val="000080"/>
                </a:solidFill>
              </a:rPr>
              <a:t>+ F</a:t>
            </a:r>
            <a:r>
              <a:rPr lang="en-US" altLang="zh-CN" baseline="30000">
                <a:solidFill>
                  <a:srgbClr val="800080"/>
                </a:solidFill>
              </a:rPr>
              <a:t>(4)</a:t>
            </a:r>
            <a:r>
              <a:rPr lang="en-US" altLang="zh-CN">
                <a:solidFill>
                  <a:srgbClr val="000080"/>
                </a:solidFill>
              </a:rPr>
              <a:t>)/6</a:t>
            </a:r>
            <a:r>
              <a:rPr lang="en-US" altLang="zh-CN">
                <a:solidFill>
                  <a:srgbClr val="000000"/>
                </a:solidFill>
              </a:rPr>
              <a:t>.</a:t>
            </a:r>
          </a:p>
        </p:txBody>
      </p:sp>
      <p:sp>
        <p:nvSpPr>
          <p:cNvPr id="237577" name="Rectangle 9"/>
          <p:cNvSpPr>
            <a:spLocks noChangeArrowheads="1"/>
          </p:cNvSpPr>
          <p:nvPr/>
        </p:nvSpPr>
        <p:spPr bwMode="auto">
          <a:xfrm>
            <a:off x="685800" y="5257800"/>
            <a:ext cx="21939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(1)</a:t>
            </a:r>
            <a:r>
              <a:rPr lang="en-US" altLang="zh-CN" i="1">
                <a:solidFill>
                  <a:srgbClr val="000080"/>
                </a:solidFill>
              </a:rPr>
              <a:t>= F(X</a:t>
            </a:r>
            <a:r>
              <a:rPr lang="en-US" altLang="zh-CN" baseline="-25000">
                <a:solidFill>
                  <a:srgbClr val="008080"/>
                </a:solidFill>
              </a:rPr>
              <a:t>n</a:t>
            </a:r>
            <a:r>
              <a:rPr lang="en-US" altLang="zh-CN" i="1">
                <a:solidFill>
                  <a:srgbClr val="000080"/>
                </a:solidFill>
              </a:rPr>
              <a:t>);</a:t>
            </a:r>
          </a:p>
        </p:txBody>
      </p:sp>
      <p:sp>
        <p:nvSpPr>
          <p:cNvPr id="237578" name="Rectangle 10"/>
          <p:cNvSpPr>
            <a:spLocks noChangeArrowheads="1"/>
          </p:cNvSpPr>
          <p:nvPr/>
        </p:nvSpPr>
        <p:spPr bwMode="auto">
          <a:xfrm>
            <a:off x="4541838" y="5257800"/>
            <a:ext cx="40624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(2)</a:t>
            </a:r>
            <a:r>
              <a:rPr lang="en-US" altLang="zh-CN">
                <a:solidFill>
                  <a:srgbClr val="000080"/>
                </a:solidFill>
              </a:rPr>
              <a:t>= F</a:t>
            </a:r>
            <a:r>
              <a:rPr lang="en-US" altLang="zh-CN" i="1">
                <a:solidFill>
                  <a:srgbClr val="000080"/>
                </a:solidFill>
              </a:rPr>
              <a:t>( 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(1)</a:t>
            </a:r>
            <a:r>
              <a:rPr lang="en-US" altLang="zh-CN" i="1">
                <a:solidFill>
                  <a:srgbClr val="000080"/>
                </a:solidFill>
              </a:rPr>
              <a:t>/2)</a:t>
            </a:r>
          </a:p>
        </p:txBody>
      </p:sp>
      <p:sp>
        <p:nvSpPr>
          <p:cNvPr id="237579" name="Rectangle 11"/>
          <p:cNvSpPr>
            <a:spLocks noChangeArrowheads="1"/>
          </p:cNvSpPr>
          <p:nvPr/>
        </p:nvSpPr>
        <p:spPr bwMode="auto">
          <a:xfrm>
            <a:off x="395288" y="6019800"/>
            <a:ext cx="360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(3)</a:t>
            </a:r>
            <a:r>
              <a:rPr lang="en-US" altLang="zh-CN">
                <a:solidFill>
                  <a:srgbClr val="000080"/>
                </a:solidFill>
              </a:rPr>
              <a:t>= F</a:t>
            </a:r>
            <a:r>
              <a:rPr lang="en-US" altLang="zh-CN" i="1">
                <a:solidFill>
                  <a:srgbClr val="000080"/>
                </a:solidFill>
              </a:rPr>
              <a:t>(X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(2)</a:t>
            </a:r>
            <a:r>
              <a:rPr lang="en-US" altLang="zh-CN" i="1">
                <a:solidFill>
                  <a:srgbClr val="000080"/>
                </a:solidFill>
              </a:rPr>
              <a:t>/2)</a:t>
            </a:r>
          </a:p>
        </p:txBody>
      </p:sp>
      <p:sp>
        <p:nvSpPr>
          <p:cNvPr id="237580" name="Rectangle 12"/>
          <p:cNvSpPr>
            <a:spLocks noChangeArrowheads="1"/>
          </p:cNvSpPr>
          <p:nvPr/>
        </p:nvSpPr>
        <p:spPr bwMode="auto">
          <a:xfrm>
            <a:off x="4618038" y="6019800"/>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(4)</a:t>
            </a:r>
            <a:r>
              <a:rPr lang="en-US" altLang="zh-CN">
                <a:solidFill>
                  <a:srgbClr val="000080"/>
                </a:solidFill>
              </a:rPr>
              <a:t>= F</a:t>
            </a:r>
            <a:r>
              <a:rPr lang="en-US" altLang="zh-CN" i="1">
                <a:solidFill>
                  <a:srgbClr val="000080"/>
                </a:solidFill>
              </a:rPr>
              <a:t>(X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(3)</a:t>
            </a:r>
            <a:r>
              <a:rPr lang="en-US" altLang="zh-CN" i="1">
                <a:solidFill>
                  <a:srgbClr val="000080"/>
                </a:solidFill>
              </a:rPr>
              <a:t>)</a:t>
            </a:r>
          </a:p>
        </p:txBody>
      </p:sp>
      <p:graphicFrame>
        <p:nvGraphicFramePr>
          <p:cNvPr id="237581" name="Object 13"/>
          <p:cNvGraphicFramePr>
            <a:graphicFrameLocks noChangeAspect="1"/>
          </p:cNvGraphicFramePr>
          <p:nvPr/>
        </p:nvGraphicFramePr>
        <p:xfrm>
          <a:off x="684213" y="3573463"/>
          <a:ext cx="2728912" cy="795337"/>
        </p:xfrm>
        <a:graphic>
          <a:graphicData uri="http://schemas.openxmlformats.org/presentationml/2006/ole">
            <mc:AlternateContent xmlns:mc="http://schemas.openxmlformats.org/markup-compatibility/2006">
              <mc:Choice xmlns:v="urn:schemas-microsoft-com:vml" Requires="v">
                <p:oleObj spid="_x0000_s15378" name="Microsoft 公式 3.0" r:id="rId4" imgW="698197" imgH="203112" progId="Equation.3">
                  <p:embed/>
                </p:oleObj>
              </mc:Choice>
              <mc:Fallback>
                <p:oleObj name="Microsoft 公式 3.0" r:id="rId4" imgW="698197" imgH="203112"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3573463"/>
                        <a:ext cx="2728912" cy="795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9" name="Rectangle 14"/>
          <p:cNvSpPr>
            <a:spLocks noChangeArrowheads="1"/>
          </p:cNvSpPr>
          <p:nvPr/>
        </p:nvSpPr>
        <p:spPr bwMode="auto">
          <a:xfrm>
            <a:off x="611188" y="1122363"/>
            <a:ext cx="70469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25000">
                <a:solidFill>
                  <a:srgbClr val="008080"/>
                </a:solidFill>
              </a:rPr>
              <a:t>n</a:t>
            </a:r>
            <a:r>
              <a:rPr lang="en-US" altLang="zh-CN" baseline="-25000">
                <a:solidFill>
                  <a:srgbClr val="008080"/>
                </a:solidFill>
              </a:rPr>
              <a:t>+1</a:t>
            </a:r>
            <a:r>
              <a:rPr lang="en-US" altLang="zh-CN">
                <a:solidFill>
                  <a:srgbClr val="008080"/>
                </a:solidFill>
              </a:rPr>
              <a:t> </a:t>
            </a:r>
            <a:r>
              <a:rPr lang="en-US" altLang="zh-CN" i="1">
                <a:solidFill>
                  <a:srgbClr val="000080"/>
                </a:solidFill>
              </a:rPr>
              <a:t>= Y</a:t>
            </a:r>
            <a:r>
              <a:rPr lang="en-US" altLang="zh-CN" baseline="-25000">
                <a:solidFill>
                  <a:srgbClr val="008080"/>
                </a:solidFill>
              </a:rPr>
              <a:t>n </a:t>
            </a:r>
            <a:r>
              <a:rPr lang="en-US" altLang="zh-CN" i="1">
                <a:solidFill>
                  <a:srgbClr val="000080"/>
                </a:solidFill>
              </a:rPr>
              <a:t>+ </a:t>
            </a:r>
            <a:r>
              <a:rPr lang="en-US" altLang="zh-CN" i="1">
                <a:solidFill>
                  <a:srgbClr val="FF0000"/>
                </a:solidFill>
              </a:rPr>
              <a:t>h</a:t>
            </a:r>
            <a:r>
              <a:rPr lang="en-US" altLang="zh-CN">
                <a:solidFill>
                  <a:srgbClr val="000080"/>
                </a:solidFill>
              </a:rPr>
              <a:t>(</a:t>
            </a:r>
            <a:r>
              <a:rPr lang="en-US" altLang="zh-CN" i="1">
                <a:solidFill>
                  <a:srgbClr val="000080"/>
                </a:solidFill>
              </a:rPr>
              <a:t>k</a:t>
            </a:r>
            <a:r>
              <a:rPr lang="en-US" altLang="zh-CN" baseline="30000">
                <a:solidFill>
                  <a:srgbClr val="800080"/>
                </a:solidFill>
              </a:rPr>
              <a:t>(1)</a:t>
            </a:r>
            <a:r>
              <a:rPr lang="en-US" altLang="zh-CN">
                <a:solidFill>
                  <a:srgbClr val="800080"/>
                </a:solidFill>
              </a:rPr>
              <a:t> </a:t>
            </a:r>
            <a:r>
              <a:rPr lang="en-US" altLang="zh-CN" i="1">
                <a:solidFill>
                  <a:srgbClr val="000080"/>
                </a:solidFill>
              </a:rPr>
              <a:t>+ </a:t>
            </a:r>
            <a:r>
              <a:rPr lang="en-US" altLang="zh-CN">
                <a:solidFill>
                  <a:srgbClr val="000080"/>
                </a:solidFill>
              </a:rPr>
              <a:t>2</a:t>
            </a:r>
            <a:r>
              <a:rPr lang="en-US" altLang="zh-CN" i="1">
                <a:solidFill>
                  <a:srgbClr val="000080"/>
                </a:solidFill>
              </a:rPr>
              <a:t>k</a:t>
            </a:r>
            <a:r>
              <a:rPr lang="en-US" altLang="zh-CN" baseline="30000">
                <a:solidFill>
                  <a:srgbClr val="800080"/>
                </a:solidFill>
              </a:rPr>
              <a:t>(2)</a:t>
            </a:r>
            <a:r>
              <a:rPr lang="en-US" altLang="zh-CN">
                <a:solidFill>
                  <a:srgbClr val="800080"/>
                </a:solidFill>
              </a:rPr>
              <a:t> </a:t>
            </a:r>
            <a:r>
              <a:rPr lang="en-US" altLang="zh-CN" i="1">
                <a:solidFill>
                  <a:srgbClr val="000080"/>
                </a:solidFill>
              </a:rPr>
              <a:t>+ </a:t>
            </a:r>
            <a:r>
              <a:rPr lang="en-US" altLang="zh-CN">
                <a:solidFill>
                  <a:srgbClr val="000080"/>
                </a:solidFill>
              </a:rPr>
              <a:t>2</a:t>
            </a:r>
            <a:r>
              <a:rPr lang="en-US" altLang="zh-CN" i="1">
                <a:solidFill>
                  <a:srgbClr val="000080"/>
                </a:solidFill>
              </a:rPr>
              <a:t>k</a:t>
            </a:r>
            <a:r>
              <a:rPr lang="en-US" altLang="zh-CN" baseline="30000">
                <a:solidFill>
                  <a:srgbClr val="800080"/>
                </a:solidFill>
              </a:rPr>
              <a:t>(3)</a:t>
            </a:r>
            <a:r>
              <a:rPr lang="en-US" altLang="zh-CN">
                <a:solidFill>
                  <a:srgbClr val="800080"/>
                </a:solidFill>
              </a:rPr>
              <a:t> </a:t>
            </a:r>
            <a:r>
              <a:rPr lang="en-US" altLang="zh-CN" i="1">
                <a:solidFill>
                  <a:srgbClr val="000080"/>
                </a:solidFill>
              </a:rPr>
              <a:t>+ k</a:t>
            </a:r>
            <a:r>
              <a:rPr lang="en-US" altLang="zh-CN" baseline="30000">
                <a:solidFill>
                  <a:srgbClr val="800080"/>
                </a:solidFill>
              </a:rPr>
              <a:t>(4)</a:t>
            </a:r>
            <a:r>
              <a:rPr lang="en-US" altLang="zh-CN">
                <a:solidFill>
                  <a:srgbClr val="000080"/>
                </a:solidFill>
              </a:rPr>
              <a:t>)/6</a:t>
            </a:r>
            <a:r>
              <a:rPr lang="en-US" altLang="zh-CN">
                <a:solidFill>
                  <a:srgbClr val="000000"/>
                </a:solidFill>
              </a:rPr>
              <a:t>.</a:t>
            </a:r>
          </a:p>
        </p:txBody>
      </p:sp>
      <p:sp>
        <p:nvSpPr>
          <p:cNvPr id="15370" name="Rectangle 15"/>
          <p:cNvSpPr>
            <a:spLocks noChangeArrowheads="1"/>
          </p:cNvSpPr>
          <p:nvPr/>
        </p:nvSpPr>
        <p:spPr bwMode="auto">
          <a:xfrm>
            <a:off x="323850" y="1773238"/>
            <a:ext cx="2590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k</a:t>
            </a:r>
            <a:r>
              <a:rPr lang="en-US" altLang="zh-CN" baseline="30000">
                <a:solidFill>
                  <a:srgbClr val="800080"/>
                </a:solidFill>
              </a:rPr>
              <a:t>(1)</a:t>
            </a:r>
            <a:r>
              <a:rPr lang="en-US" altLang="zh-CN" i="1">
                <a:solidFill>
                  <a:srgbClr val="000080"/>
                </a:solidFill>
              </a:rPr>
              <a:t>= f(t</a:t>
            </a:r>
            <a:r>
              <a:rPr lang="en-US" altLang="zh-CN" baseline="-25000">
                <a:solidFill>
                  <a:srgbClr val="008080"/>
                </a:solidFill>
              </a:rPr>
              <a:t>n</a:t>
            </a:r>
            <a:r>
              <a:rPr lang="en-US" altLang="zh-CN" i="1">
                <a:solidFill>
                  <a:srgbClr val="000080"/>
                </a:solidFill>
              </a:rPr>
              <a:t>, Y</a:t>
            </a:r>
            <a:r>
              <a:rPr lang="en-US" altLang="zh-CN" baseline="-25000">
                <a:solidFill>
                  <a:srgbClr val="008080"/>
                </a:solidFill>
              </a:rPr>
              <a:t>n</a:t>
            </a:r>
            <a:r>
              <a:rPr lang="en-US" altLang="zh-CN" i="1">
                <a:solidFill>
                  <a:srgbClr val="000080"/>
                </a:solidFill>
              </a:rPr>
              <a:t>);</a:t>
            </a:r>
          </a:p>
        </p:txBody>
      </p:sp>
      <p:sp>
        <p:nvSpPr>
          <p:cNvPr id="15371" name="Rectangle 16"/>
          <p:cNvSpPr>
            <a:spLocks noChangeArrowheads="1"/>
          </p:cNvSpPr>
          <p:nvPr/>
        </p:nvSpPr>
        <p:spPr bwMode="auto">
          <a:xfrm>
            <a:off x="2800350" y="1843088"/>
            <a:ext cx="4724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k</a:t>
            </a:r>
            <a:r>
              <a:rPr lang="en-US" altLang="zh-CN" baseline="30000">
                <a:solidFill>
                  <a:srgbClr val="800080"/>
                </a:solidFill>
              </a:rPr>
              <a:t>(2)</a:t>
            </a:r>
            <a:r>
              <a:rPr lang="en-US" altLang="zh-CN">
                <a:solidFill>
                  <a:srgbClr val="000080"/>
                </a:solidFill>
              </a:rPr>
              <a:t>= </a:t>
            </a:r>
            <a:r>
              <a:rPr lang="en-US" altLang="zh-CN" i="1">
                <a:solidFill>
                  <a:srgbClr val="000080"/>
                </a:solidFill>
              </a:rPr>
              <a:t> f(t</a:t>
            </a:r>
            <a:r>
              <a:rPr lang="en-US" altLang="zh-CN" baseline="-25000">
                <a:solidFill>
                  <a:srgbClr val="008080"/>
                </a:solidFill>
              </a:rPr>
              <a:t>n </a:t>
            </a:r>
            <a:r>
              <a:rPr lang="en-US" altLang="zh-CN" i="1">
                <a:solidFill>
                  <a:srgbClr val="000080"/>
                </a:solidFill>
              </a:rPr>
              <a:t>+h/2, Y</a:t>
            </a:r>
            <a:r>
              <a:rPr lang="en-US" altLang="zh-CN" baseline="-25000">
                <a:solidFill>
                  <a:srgbClr val="008080"/>
                </a:solidFill>
              </a:rPr>
              <a:t>n </a:t>
            </a:r>
            <a:r>
              <a:rPr lang="en-US" altLang="zh-CN" i="1">
                <a:solidFill>
                  <a:srgbClr val="000080"/>
                </a:solidFill>
              </a:rPr>
              <a:t>+</a:t>
            </a:r>
            <a:r>
              <a:rPr lang="en-US" altLang="zh-CN" i="1">
                <a:solidFill>
                  <a:srgbClr val="FF0000"/>
                </a:solidFill>
              </a:rPr>
              <a:t>h</a:t>
            </a:r>
            <a:r>
              <a:rPr lang="en-US" altLang="zh-CN" baseline="-25000">
                <a:solidFill>
                  <a:srgbClr val="008080"/>
                </a:solidFill>
              </a:rPr>
              <a:t> </a:t>
            </a:r>
            <a:r>
              <a:rPr lang="en-US" altLang="zh-CN" i="1">
                <a:solidFill>
                  <a:srgbClr val="000080"/>
                </a:solidFill>
              </a:rPr>
              <a:t>k</a:t>
            </a:r>
            <a:r>
              <a:rPr lang="en-US" altLang="zh-CN" baseline="30000">
                <a:solidFill>
                  <a:srgbClr val="800080"/>
                </a:solidFill>
              </a:rPr>
              <a:t>(1)</a:t>
            </a:r>
            <a:r>
              <a:rPr lang="en-US" altLang="zh-CN" i="1">
                <a:solidFill>
                  <a:srgbClr val="000080"/>
                </a:solidFill>
              </a:rPr>
              <a:t>/2)</a:t>
            </a:r>
          </a:p>
        </p:txBody>
      </p:sp>
      <p:sp>
        <p:nvSpPr>
          <p:cNvPr id="15372" name="Rectangle 17"/>
          <p:cNvSpPr>
            <a:spLocks noChangeArrowheads="1"/>
          </p:cNvSpPr>
          <p:nvPr/>
        </p:nvSpPr>
        <p:spPr bwMode="auto">
          <a:xfrm>
            <a:off x="250825" y="2565400"/>
            <a:ext cx="4724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k</a:t>
            </a:r>
            <a:r>
              <a:rPr lang="en-US" altLang="zh-CN" baseline="30000">
                <a:solidFill>
                  <a:srgbClr val="800080"/>
                </a:solidFill>
              </a:rPr>
              <a:t>(3)</a:t>
            </a:r>
            <a:r>
              <a:rPr lang="en-US" altLang="zh-CN">
                <a:solidFill>
                  <a:srgbClr val="000080"/>
                </a:solidFill>
              </a:rPr>
              <a:t>= </a:t>
            </a:r>
            <a:r>
              <a:rPr lang="en-US" altLang="zh-CN" i="1">
                <a:solidFill>
                  <a:srgbClr val="000080"/>
                </a:solidFill>
              </a:rPr>
              <a:t> f(t</a:t>
            </a:r>
            <a:r>
              <a:rPr lang="en-US" altLang="zh-CN" baseline="-25000">
                <a:solidFill>
                  <a:srgbClr val="008080"/>
                </a:solidFill>
              </a:rPr>
              <a:t>n </a:t>
            </a:r>
            <a:r>
              <a:rPr lang="en-US" altLang="zh-CN" i="1">
                <a:solidFill>
                  <a:srgbClr val="000080"/>
                </a:solidFill>
              </a:rPr>
              <a:t>+h/2, Y</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i="1">
                <a:solidFill>
                  <a:srgbClr val="FF0000"/>
                </a:solidFill>
              </a:rPr>
              <a:t>h</a:t>
            </a:r>
            <a:r>
              <a:rPr lang="en-US" altLang="zh-CN" i="1">
                <a:solidFill>
                  <a:srgbClr val="000080"/>
                </a:solidFill>
              </a:rPr>
              <a:t>k</a:t>
            </a:r>
            <a:r>
              <a:rPr lang="en-US" altLang="zh-CN" baseline="30000">
                <a:solidFill>
                  <a:srgbClr val="800080"/>
                </a:solidFill>
              </a:rPr>
              <a:t>(2)</a:t>
            </a:r>
            <a:r>
              <a:rPr lang="en-US" altLang="zh-CN" i="1">
                <a:solidFill>
                  <a:srgbClr val="000080"/>
                </a:solidFill>
              </a:rPr>
              <a:t>/2)</a:t>
            </a:r>
          </a:p>
        </p:txBody>
      </p:sp>
      <p:sp>
        <p:nvSpPr>
          <p:cNvPr id="15373" name="Rectangle 18"/>
          <p:cNvSpPr>
            <a:spLocks noChangeArrowheads="1"/>
          </p:cNvSpPr>
          <p:nvPr/>
        </p:nvSpPr>
        <p:spPr bwMode="auto">
          <a:xfrm>
            <a:off x="4951413" y="2562225"/>
            <a:ext cx="4229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k</a:t>
            </a:r>
            <a:r>
              <a:rPr lang="en-US" altLang="zh-CN" baseline="30000">
                <a:solidFill>
                  <a:srgbClr val="800080"/>
                </a:solidFill>
              </a:rPr>
              <a:t>(4)</a:t>
            </a:r>
            <a:r>
              <a:rPr lang="en-US" altLang="zh-CN">
                <a:solidFill>
                  <a:srgbClr val="000080"/>
                </a:solidFill>
              </a:rPr>
              <a:t>= </a:t>
            </a:r>
            <a:r>
              <a:rPr lang="en-US" altLang="zh-CN" i="1">
                <a:solidFill>
                  <a:srgbClr val="000080"/>
                </a:solidFill>
              </a:rPr>
              <a:t> f(t</a:t>
            </a:r>
            <a:r>
              <a:rPr lang="en-US" altLang="zh-CN" baseline="-25000">
                <a:solidFill>
                  <a:srgbClr val="008080"/>
                </a:solidFill>
              </a:rPr>
              <a:t>n </a:t>
            </a:r>
            <a:r>
              <a:rPr lang="en-US" altLang="zh-CN" i="1">
                <a:solidFill>
                  <a:srgbClr val="000080"/>
                </a:solidFill>
              </a:rPr>
              <a:t>+h, Y</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i="1">
                <a:solidFill>
                  <a:srgbClr val="FF0000"/>
                </a:solidFill>
              </a:rPr>
              <a:t>h</a:t>
            </a:r>
            <a:r>
              <a:rPr lang="en-US" altLang="zh-CN" i="1">
                <a:solidFill>
                  <a:srgbClr val="000080"/>
                </a:solidFill>
              </a:rPr>
              <a:t>k</a:t>
            </a:r>
            <a:r>
              <a:rPr lang="en-US" altLang="zh-CN" baseline="30000">
                <a:solidFill>
                  <a:srgbClr val="800080"/>
                </a:solidFill>
              </a:rPr>
              <a:t>(3)</a:t>
            </a:r>
            <a:r>
              <a:rPr lang="en-US" altLang="zh-CN" i="1">
                <a:solidFill>
                  <a:srgbClr val="000080"/>
                </a:solidFill>
              </a:rPr>
              <a:t>)</a:t>
            </a:r>
          </a:p>
        </p:txBody>
      </p:sp>
      <p:sp>
        <p:nvSpPr>
          <p:cNvPr id="15374" name="Rectangle 19"/>
          <p:cNvSpPr>
            <a:spLocks noChangeArrowheads="1"/>
          </p:cNvSpPr>
          <p:nvPr/>
        </p:nvSpPr>
        <p:spPr bwMode="auto">
          <a:xfrm>
            <a:off x="107950" y="981075"/>
            <a:ext cx="8964613" cy="2376488"/>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endParaRPr lang="zh-CN" altLang="en-US"/>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37581"/>
                                        </p:tgtEl>
                                        <p:attrNameLst>
                                          <p:attrName>style.visibility</p:attrName>
                                        </p:attrNameLst>
                                      </p:cBhvr>
                                      <p:to>
                                        <p:strVal val="visible"/>
                                      </p:to>
                                    </p:set>
                                    <p:anim calcmode="lin" valueType="num">
                                      <p:cBhvr additive="base">
                                        <p:cTn id="7" dur="500" fill="hold"/>
                                        <p:tgtEl>
                                          <p:spTgt spid="237581"/>
                                        </p:tgtEl>
                                        <p:attrNameLst>
                                          <p:attrName>ppt_x</p:attrName>
                                        </p:attrNameLst>
                                      </p:cBhvr>
                                      <p:tavLst>
                                        <p:tav tm="0">
                                          <p:val>
                                            <p:strVal val="0-#ppt_w/2"/>
                                          </p:val>
                                        </p:tav>
                                        <p:tav tm="100000">
                                          <p:val>
                                            <p:strVal val="#ppt_x"/>
                                          </p:val>
                                        </p:tav>
                                      </p:tavLst>
                                    </p:anim>
                                    <p:anim calcmode="lin" valueType="num">
                                      <p:cBhvr additive="base">
                                        <p:cTn id="8" dur="500" fill="hold"/>
                                        <p:tgtEl>
                                          <p:spTgt spid="23758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7576"/>
                                        </p:tgtEl>
                                        <p:attrNameLst>
                                          <p:attrName>style.visibility</p:attrName>
                                        </p:attrNameLst>
                                      </p:cBhvr>
                                      <p:to>
                                        <p:strVal val="visible"/>
                                      </p:to>
                                    </p:set>
                                    <p:anim calcmode="lin" valueType="num">
                                      <p:cBhvr additive="base">
                                        <p:cTn id="13" dur="500" fill="hold"/>
                                        <p:tgtEl>
                                          <p:spTgt spid="237576"/>
                                        </p:tgtEl>
                                        <p:attrNameLst>
                                          <p:attrName>ppt_x</p:attrName>
                                        </p:attrNameLst>
                                      </p:cBhvr>
                                      <p:tavLst>
                                        <p:tav tm="0">
                                          <p:val>
                                            <p:strVal val="0-#ppt_w/2"/>
                                          </p:val>
                                        </p:tav>
                                        <p:tav tm="100000">
                                          <p:val>
                                            <p:strVal val="#ppt_x"/>
                                          </p:val>
                                        </p:tav>
                                      </p:tavLst>
                                    </p:anim>
                                    <p:anim calcmode="lin" valueType="num">
                                      <p:cBhvr additive="base">
                                        <p:cTn id="14" dur="500" fill="hold"/>
                                        <p:tgtEl>
                                          <p:spTgt spid="237576"/>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237577"/>
                                        </p:tgtEl>
                                        <p:attrNameLst>
                                          <p:attrName>style.visibility</p:attrName>
                                        </p:attrNameLst>
                                      </p:cBhvr>
                                      <p:to>
                                        <p:strVal val="visible"/>
                                      </p:to>
                                    </p:set>
                                    <p:anim calcmode="lin" valueType="num">
                                      <p:cBhvr additive="base">
                                        <p:cTn id="18" dur="500" fill="hold"/>
                                        <p:tgtEl>
                                          <p:spTgt spid="237577"/>
                                        </p:tgtEl>
                                        <p:attrNameLst>
                                          <p:attrName>ppt_x</p:attrName>
                                        </p:attrNameLst>
                                      </p:cBhvr>
                                      <p:tavLst>
                                        <p:tav tm="0">
                                          <p:val>
                                            <p:strVal val="0-#ppt_w/2"/>
                                          </p:val>
                                        </p:tav>
                                        <p:tav tm="100000">
                                          <p:val>
                                            <p:strVal val="#ppt_x"/>
                                          </p:val>
                                        </p:tav>
                                      </p:tavLst>
                                    </p:anim>
                                    <p:anim calcmode="lin" valueType="num">
                                      <p:cBhvr additive="base">
                                        <p:cTn id="19" dur="500" fill="hold"/>
                                        <p:tgtEl>
                                          <p:spTgt spid="237577"/>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000"/>
                            </p:stCondLst>
                            <p:childTnLst>
                              <p:par>
                                <p:cTn id="21" presetID="2" presetClass="entr" presetSubtype="8" fill="hold" grpId="0" nodeType="afterEffect">
                                  <p:stCondLst>
                                    <p:cond delay="0"/>
                                  </p:stCondLst>
                                  <p:childTnLst>
                                    <p:set>
                                      <p:cBhvr>
                                        <p:cTn id="22" dur="1" fill="hold">
                                          <p:stCondLst>
                                            <p:cond delay="0"/>
                                          </p:stCondLst>
                                        </p:cTn>
                                        <p:tgtEl>
                                          <p:spTgt spid="237578"/>
                                        </p:tgtEl>
                                        <p:attrNameLst>
                                          <p:attrName>style.visibility</p:attrName>
                                        </p:attrNameLst>
                                      </p:cBhvr>
                                      <p:to>
                                        <p:strVal val="visible"/>
                                      </p:to>
                                    </p:set>
                                    <p:anim calcmode="lin" valueType="num">
                                      <p:cBhvr additive="base">
                                        <p:cTn id="23" dur="500" fill="hold"/>
                                        <p:tgtEl>
                                          <p:spTgt spid="237578"/>
                                        </p:tgtEl>
                                        <p:attrNameLst>
                                          <p:attrName>ppt_x</p:attrName>
                                        </p:attrNameLst>
                                      </p:cBhvr>
                                      <p:tavLst>
                                        <p:tav tm="0">
                                          <p:val>
                                            <p:strVal val="0-#ppt_w/2"/>
                                          </p:val>
                                        </p:tav>
                                        <p:tav tm="100000">
                                          <p:val>
                                            <p:strVal val="#ppt_x"/>
                                          </p:val>
                                        </p:tav>
                                      </p:tavLst>
                                    </p:anim>
                                    <p:anim calcmode="lin" valueType="num">
                                      <p:cBhvr additive="base">
                                        <p:cTn id="24" dur="500" fill="hold"/>
                                        <p:tgtEl>
                                          <p:spTgt spid="237578"/>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1500"/>
                            </p:stCondLst>
                            <p:childTnLst>
                              <p:par>
                                <p:cTn id="26" presetID="2" presetClass="entr" presetSubtype="8" fill="hold" grpId="0" nodeType="afterEffect">
                                  <p:stCondLst>
                                    <p:cond delay="0"/>
                                  </p:stCondLst>
                                  <p:childTnLst>
                                    <p:set>
                                      <p:cBhvr>
                                        <p:cTn id="27" dur="1" fill="hold">
                                          <p:stCondLst>
                                            <p:cond delay="0"/>
                                          </p:stCondLst>
                                        </p:cTn>
                                        <p:tgtEl>
                                          <p:spTgt spid="237579"/>
                                        </p:tgtEl>
                                        <p:attrNameLst>
                                          <p:attrName>style.visibility</p:attrName>
                                        </p:attrNameLst>
                                      </p:cBhvr>
                                      <p:to>
                                        <p:strVal val="visible"/>
                                      </p:to>
                                    </p:set>
                                    <p:anim calcmode="lin" valueType="num">
                                      <p:cBhvr additive="base">
                                        <p:cTn id="28" dur="500" fill="hold"/>
                                        <p:tgtEl>
                                          <p:spTgt spid="237579"/>
                                        </p:tgtEl>
                                        <p:attrNameLst>
                                          <p:attrName>ppt_x</p:attrName>
                                        </p:attrNameLst>
                                      </p:cBhvr>
                                      <p:tavLst>
                                        <p:tav tm="0">
                                          <p:val>
                                            <p:strVal val="0-#ppt_w/2"/>
                                          </p:val>
                                        </p:tav>
                                        <p:tav tm="100000">
                                          <p:val>
                                            <p:strVal val="#ppt_x"/>
                                          </p:val>
                                        </p:tav>
                                      </p:tavLst>
                                    </p:anim>
                                    <p:anim calcmode="lin" valueType="num">
                                      <p:cBhvr additive="base">
                                        <p:cTn id="29" dur="500" fill="hold"/>
                                        <p:tgtEl>
                                          <p:spTgt spid="237579"/>
                                        </p:tgtEl>
                                        <p:attrNameLst>
                                          <p:attrName>ppt_y</p:attrName>
                                        </p:attrNameLst>
                                      </p:cBhvr>
                                      <p:tavLst>
                                        <p:tav tm="0">
                                          <p:val>
                                            <p:strVal val="#ppt_y"/>
                                          </p:val>
                                        </p:tav>
                                        <p:tav tm="100000">
                                          <p:val>
                                            <p:strVal val="#ppt_y"/>
                                          </p:val>
                                        </p:tav>
                                      </p:tavLst>
                                    </p:anim>
                                  </p:childTnLst>
                                </p:cTn>
                              </p:par>
                            </p:childTnLst>
                          </p:cTn>
                        </p:par>
                        <p:par>
                          <p:cTn id="30" fill="hold" nodeType="afterGroup">
                            <p:stCondLst>
                              <p:cond delay="2000"/>
                            </p:stCondLst>
                            <p:childTnLst>
                              <p:par>
                                <p:cTn id="31" presetID="2" presetClass="entr" presetSubtype="8" fill="hold" grpId="0" nodeType="afterEffect">
                                  <p:stCondLst>
                                    <p:cond delay="0"/>
                                  </p:stCondLst>
                                  <p:childTnLst>
                                    <p:set>
                                      <p:cBhvr>
                                        <p:cTn id="32" dur="1" fill="hold">
                                          <p:stCondLst>
                                            <p:cond delay="0"/>
                                          </p:stCondLst>
                                        </p:cTn>
                                        <p:tgtEl>
                                          <p:spTgt spid="237580"/>
                                        </p:tgtEl>
                                        <p:attrNameLst>
                                          <p:attrName>style.visibility</p:attrName>
                                        </p:attrNameLst>
                                      </p:cBhvr>
                                      <p:to>
                                        <p:strVal val="visible"/>
                                      </p:to>
                                    </p:set>
                                    <p:anim calcmode="lin" valueType="num">
                                      <p:cBhvr additive="base">
                                        <p:cTn id="33" dur="500" fill="hold"/>
                                        <p:tgtEl>
                                          <p:spTgt spid="237580"/>
                                        </p:tgtEl>
                                        <p:attrNameLst>
                                          <p:attrName>ppt_x</p:attrName>
                                        </p:attrNameLst>
                                      </p:cBhvr>
                                      <p:tavLst>
                                        <p:tav tm="0">
                                          <p:val>
                                            <p:strVal val="0-#ppt_w/2"/>
                                          </p:val>
                                        </p:tav>
                                        <p:tav tm="100000">
                                          <p:val>
                                            <p:strVal val="#ppt_x"/>
                                          </p:val>
                                        </p:tav>
                                      </p:tavLst>
                                    </p:anim>
                                    <p:anim calcmode="lin" valueType="num">
                                      <p:cBhvr additive="base">
                                        <p:cTn id="34" dur="500" fill="hold"/>
                                        <p:tgtEl>
                                          <p:spTgt spid="2375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6" grpId="0" autoUpdateAnimBg="0"/>
      <p:bldP spid="237577" grpId="0" autoUpdateAnimBg="0"/>
      <p:bldP spid="237578" grpId="0" autoUpdateAnimBg="0"/>
      <p:bldP spid="237579" grpId="0" autoUpdateAnimBg="0"/>
      <p:bldP spid="237580"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2"/>
          <p:cNvGraphicFramePr>
            <a:graphicFrameLocks noChangeAspect="1"/>
          </p:cNvGraphicFramePr>
          <p:nvPr/>
        </p:nvGraphicFramePr>
        <p:xfrm>
          <a:off x="1187450" y="115888"/>
          <a:ext cx="4897438" cy="2484437"/>
        </p:xfrm>
        <a:graphic>
          <a:graphicData uri="http://schemas.openxmlformats.org/presentationml/2006/ole">
            <mc:AlternateContent xmlns:mc="http://schemas.openxmlformats.org/markup-compatibility/2006">
              <mc:Choice xmlns:v="urn:schemas-microsoft-com:vml" Requires="v">
                <p:oleObj spid="_x0000_s16401" name="Equation" r:id="rId3" imgW="1320227" imgH="710891" progId="Equation.3">
                  <p:embed/>
                </p:oleObj>
              </mc:Choice>
              <mc:Fallback>
                <p:oleObj name="Equation" r:id="rId3" imgW="1320227" imgH="710891"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15888"/>
                        <a:ext cx="4897438" cy="2484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03" name="Object 3"/>
          <p:cNvGraphicFramePr>
            <a:graphicFrameLocks noChangeAspect="1"/>
          </p:cNvGraphicFramePr>
          <p:nvPr/>
        </p:nvGraphicFramePr>
        <p:xfrm>
          <a:off x="323850" y="3635375"/>
          <a:ext cx="4681538" cy="2817813"/>
        </p:xfrm>
        <a:graphic>
          <a:graphicData uri="http://schemas.openxmlformats.org/presentationml/2006/ole">
            <mc:AlternateContent xmlns:mc="http://schemas.openxmlformats.org/markup-compatibility/2006">
              <mc:Choice xmlns:v="urn:schemas-microsoft-com:vml" Requires="v">
                <p:oleObj spid="_x0000_s16402" name="Equation" r:id="rId5" imgW="1778000" imgH="965200" progId="Equation.3">
                  <p:embed/>
                </p:oleObj>
              </mc:Choice>
              <mc:Fallback>
                <p:oleObj name="Equation" r:id="rId5" imgW="1778000" imgH="965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3635375"/>
                        <a:ext cx="4681538" cy="2817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04" name="Text Box 4"/>
          <p:cNvSpPr txBox="1">
            <a:spLocks noChangeArrowheads="1"/>
          </p:cNvSpPr>
          <p:nvPr/>
        </p:nvSpPr>
        <p:spPr bwMode="auto">
          <a:xfrm>
            <a:off x="6011863" y="1916113"/>
            <a:ext cx="27924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t>x</a:t>
            </a:r>
            <a:r>
              <a:rPr lang="en-US" altLang="zh-CN" i="1" baseline="-25000"/>
              <a:t>1</a:t>
            </a:r>
            <a:r>
              <a:rPr lang="en-US" altLang="zh-CN" i="1"/>
              <a:t>=t, x</a:t>
            </a:r>
            <a:r>
              <a:rPr lang="en-US" altLang="zh-CN" i="1" baseline="-25000"/>
              <a:t>2</a:t>
            </a:r>
            <a:r>
              <a:rPr lang="en-US" altLang="zh-CN" i="1"/>
              <a:t>=x, x</a:t>
            </a:r>
            <a:r>
              <a:rPr lang="en-US" altLang="zh-CN" i="1" baseline="-25000"/>
              <a:t>3</a:t>
            </a:r>
            <a:r>
              <a:rPr lang="en-US" altLang="zh-CN" i="1"/>
              <a:t>=y</a:t>
            </a:r>
            <a:endParaRPr lang="en-US" altLang="zh-CN" i="1" baseline="-25000"/>
          </a:p>
        </p:txBody>
      </p:sp>
      <p:sp>
        <p:nvSpPr>
          <p:cNvPr id="16389" name="Rectangle 5"/>
          <p:cNvSpPr>
            <a:spLocks noChangeArrowheads="1"/>
          </p:cNvSpPr>
          <p:nvPr/>
        </p:nvSpPr>
        <p:spPr bwMode="auto">
          <a:xfrm>
            <a:off x="323850" y="328613"/>
            <a:ext cx="5921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a:solidFill>
                  <a:srgbClr val="0000FF"/>
                </a:solidFill>
              </a:rPr>
              <a:t>例</a:t>
            </a:r>
            <a:endParaRPr lang="zh-CN" altLang="en-US" b="0">
              <a:solidFill>
                <a:srgbClr val="0000FF"/>
              </a:solidFill>
            </a:endParaRPr>
          </a:p>
        </p:txBody>
      </p:sp>
      <p:sp>
        <p:nvSpPr>
          <p:cNvPr id="256006" name="Rectangle 6"/>
          <p:cNvSpPr>
            <a:spLocks noChangeArrowheads="1"/>
          </p:cNvSpPr>
          <p:nvPr/>
        </p:nvSpPr>
        <p:spPr bwMode="auto">
          <a:xfrm>
            <a:off x="6084888" y="3860800"/>
            <a:ext cx="21939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(1)</a:t>
            </a:r>
            <a:r>
              <a:rPr lang="en-US" altLang="zh-CN" i="1">
                <a:solidFill>
                  <a:srgbClr val="000080"/>
                </a:solidFill>
              </a:rPr>
              <a:t>= F(X</a:t>
            </a:r>
            <a:r>
              <a:rPr lang="en-US" altLang="zh-CN" baseline="-25000">
                <a:solidFill>
                  <a:srgbClr val="008080"/>
                </a:solidFill>
              </a:rPr>
              <a:t>n</a:t>
            </a:r>
            <a:r>
              <a:rPr lang="en-US" altLang="zh-CN" i="1">
                <a:solidFill>
                  <a:srgbClr val="000080"/>
                </a:solidFill>
              </a:rPr>
              <a:t>);</a:t>
            </a:r>
          </a:p>
        </p:txBody>
      </p:sp>
      <p:sp>
        <p:nvSpPr>
          <p:cNvPr id="256007" name="Rectangle 7"/>
          <p:cNvSpPr>
            <a:spLocks noChangeArrowheads="1"/>
          </p:cNvSpPr>
          <p:nvPr/>
        </p:nvSpPr>
        <p:spPr bwMode="auto">
          <a:xfrm>
            <a:off x="5334000" y="4505325"/>
            <a:ext cx="3702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(2)</a:t>
            </a:r>
            <a:r>
              <a:rPr lang="en-US" altLang="zh-CN">
                <a:solidFill>
                  <a:srgbClr val="000080"/>
                </a:solidFill>
              </a:rPr>
              <a:t>= F</a:t>
            </a:r>
            <a:r>
              <a:rPr lang="en-US" altLang="zh-CN" i="1">
                <a:solidFill>
                  <a:srgbClr val="000080"/>
                </a:solidFill>
              </a:rPr>
              <a:t>( 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(1)</a:t>
            </a:r>
            <a:r>
              <a:rPr lang="en-US" altLang="zh-CN" i="1">
                <a:solidFill>
                  <a:srgbClr val="000080"/>
                </a:solidFill>
              </a:rPr>
              <a:t>/2)</a:t>
            </a:r>
          </a:p>
        </p:txBody>
      </p:sp>
      <p:sp>
        <p:nvSpPr>
          <p:cNvPr id="256008" name="Rectangle 8"/>
          <p:cNvSpPr>
            <a:spLocks noChangeArrowheads="1"/>
          </p:cNvSpPr>
          <p:nvPr/>
        </p:nvSpPr>
        <p:spPr bwMode="auto">
          <a:xfrm>
            <a:off x="5435600" y="5226050"/>
            <a:ext cx="360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(3)</a:t>
            </a:r>
            <a:r>
              <a:rPr lang="en-US" altLang="zh-CN">
                <a:solidFill>
                  <a:srgbClr val="000080"/>
                </a:solidFill>
              </a:rPr>
              <a:t>= F</a:t>
            </a:r>
            <a:r>
              <a:rPr lang="en-US" altLang="zh-CN" i="1">
                <a:solidFill>
                  <a:srgbClr val="000080"/>
                </a:solidFill>
              </a:rPr>
              <a:t>(X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(2)</a:t>
            </a:r>
            <a:r>
              <a:rPr lang="en-US" altLang="zh-CN" i="1">
                <a:solidFill>
                  <a:srgbClr val="000080"/>
                </a:solidFill>
              </a:rPr>
              <a:t>/2)</a:t>
            </a:r>
          </a:p>
        </p:txBody>
      </p:sp>
      <p:sp>
        <p:nvSpPr>
          <p:cNvPr id="256009" name="Rectangle 9"/>
          <p:cNvSpPr>
            <a:spLocks noChangeArrowheads="1"/>
          </p:cNvSpPr>
          <p:nvPr/>
        </p:nvSpPr>
        <p:spPr bwMode="auto">
          <a:xfrm>
            <a:off x="5616575" y="5945188"/>
            <a:ext cx="3276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(4)</a:t>
            </a:r>
            <a:r>
              <a:rPr lang="en-US" altLang="zh-CN">
                <a:solidFill>
                  <a:srgbClr val="000080"/>
                </a:solidFill>
              </a:rPr>
              <a:t>= F</a:t>
            </a:r>
            <a:r>
              <a:rPr lang="en-US" altLang="zh-CN" i="1">
                <a:solidFill>
                  <a:srgbClr val="000080"/>
                </a:solidFill>
              </a:rPr>
              <a:t>(X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(3)</a:t>
            </a:r>
            <a:r>
              <a:rPr lang="en-US" altLang="zh-CN" i="1">
                <a:solidFill>
                  <a:srgbClr val="000080"/>
                </a:solidFill>
              </a:rPr>
              <a:t>)</a:t>
            </a:r>
          </a:p>
        </p:txBody>
      </p:sp>
      <p:sp>
        <p:nvSpPr>
          <p:cNvPr id="256010" name="Rectangle 10"/>
          <p:cNvSpPr>
            <a:spLocks noChangeArrowheads="1"/>
          </p:cNvSpPr>
          <p:nvPr/>
        </p:nvSpPr>
        <p:spPr bwMode="auto">
          <a:xfrm>
            <a:off x="1620838" y="3141663"/>
            <a:ext cx="72723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X</a:t>
            </a:r>
            <a:r>
              <a:rPr lang="en-US" altLang="zh-CN" i="1" baseline="-25000">
                <a:solidFill>
                  <a:srgbClr val="008080"/>
                </a:solidFill>
              </a:rPr>
              <a:t>n</a:t>
            </a:r>
            <a:r>
              <a:rPr lang="en-US" altLang="zh-CN" baseline="-25000">
                <a:solidFill>
                  <a:srgbClr val="008080"/>
                </a:solidFill>
              </a:rPr>
              <a:t>+1</a:t>
            </a:r>
            <a:r>
              <a:rPr lang="en-US" altLang="zh-CN">
                <a:solidFill>
                  <a:srgbClr val="008080"/>
                </a:solidFill>
              </a:rPr>
              <a:t> </a:t>
            </a:r>
            <a:r>
              <a:rPr lang="en-US" altLang="zh-CN" i="1">
                <a:solidFill>
                  <a:srgbClr val="000080"/>
                </a:solidFill>
              </a:rPr>
              <a:t>= X</a:t>
            </a:r>
            <a:r>
              <a:rPr lang="en-US" altLang="zh-CN" baseline="-25000">
                <a:solidFill>
                  <a:srgbClr val="008080"/>
                </a:solidFill>
              </a:rPr>
              <a:t>n </a:t>
            </a:r>
            <a:r>
              <a:rPr lang="en-US" altLang="zh-CN" i="1">
                <a:solidFill>
                  <a:srgbClr val="000080"/>
                </a:solidFill>
              </a:rPr>
              <a:t>+ </a:t>
            </a:r>
            <a:r>
              <a:rPr lang="en-US" altLang="zh-CN" i="1">
                <a:solidFill>
                  <a:srgbClr val="FF0000"/>
                </a:solidFill>
              </a:rPr>
              <a:t>h</a:t>
            </a:r>
            <a:r>
              <a:rPr lang="en-US" altLang="zh-CN">
                <a:solidFill>
                  <a:srgbClr val="000080"/>
                </a:solidFill>
              </a:rPr>
              <a:t>(F</a:t>
            </a:r>
            <a:r>
              <a:rPr lang="en-US" altLang="zh-CN" baseline="30000">
                <a:solidFill>
                  <a:srgbClr val="800080"/>
                </a:solidFill>
              </a:rPr>
              <a:t>(1)</a:t>
            </a:r>
            <a:r>
              <a:rPr lang="en-US" altLang="zh-CN">
                <a:solidFill>
                  <a:srgbClr val="800080"/>
                </a:solidFill>
              </a:rPr>
              <a:t> </a:t>
            </a:r>
            <a:r>
              <a:rPr lang="en-US" altLang="zh-CN" i="1">
                <a:solidFill>
                  <a:srgbClr val="000080"/>
                </a:solidFill>
              </a:rPr>
              <a:t>+ </a:t>
            </a:r>
            <a:r>
              <a:rPr lang="en-US" altLang="zh-CN">
                <a:solidFill>
                  <a:srgbClr val="000080"/>
                </a:solidFill>
              </a:rPr>
              <a:t>2F</a:t>
            </a:r>
            <a:r>
              <a:rPr lang="en-US" altLang="zh-CN" baseline="30000">
                <a:solidFill>
                  <a:srgbClr val="800080"/>
                </a:solidFill>
              </a:rPr>
              <a:t>(2)</a:t>
            </a:r>
            <a:r>
              <a:rPr lang="en-US" altLang="zh-CN">
                <a:solidFill>
                  <a:srgbClr val="800080"/>
                </a:solidFill>
              </a:rPr>
              <a:t> </a:t>
            </a:r>
            <a:r>
              <a:rPr lang="en-US" altLang="zh-CN" i="1">
                <a:solidFill>
                  <a:srgbClr val="000080"/>
                </a:solidFill>
              </a:rPr>
              <a:t>+ </a:t>
            </a:r>
            <a:r>
              <a:rPr lang="en-US" altLang="zh-CN">
                <a:solidFill>
                  <a:srgbClr val="000080"/>
                </a:solidFill>
              </a:rPr>
              <a:t>2F</a:t>
            </a:r>
            <a:r>
              <a:rPr lang="en-US" altLang="zh-CN" baseline="30000">
                <a:solidFill>
                  <a:srgbClr val="800080"/>
                </a:solidFill>
              </a:rPr>
              <a:t>(3)</a:t>
            </a:r>
            <a:r>
              <a:rPr lang="en-US" altLang="zh-CN">
                <a:solidFill>
                  <a:srgbClr val="800080"/>
                </a:solidFill>
              </a:rPr>
              <a:t> </a:t>
            </a:r>
            <a:r>
              <a:rPr lang="en-US" altLang="zh-CN" i="1">
                <a:solidFill>
                  <a:srgbClr val="000080"/>
                </a:solidFill>
              </a:rPr>
              <a:t>+ F</a:t>
            </a:r>
            <a:r>
              <a:rPr lang="en-US" altLang="zh-CN" baseline="30000">
                <a:solidFill>
                  <a:srgbClr val="800080"/>
                </a:solidFill>
              </a:rPr>
              <a:t>(4)</a:t>
            </a:r>
            <a:r>
              <a:rPr lang="en-US" altLang="zh-CN">
                <a:solidFill>
                  <a:srgbClr val="000080"/>
                </a:solidFill>
              </a:rPr>
              <a:t>)/6</a:t>
            </a:r>
            <a:r>
              <a:rPr lang="en-US" altLang="zh-CN">
                <a:solidFill>
                  <a:srgbClr val="000000"/>
                </a:solidFill>
              </a:rPr>
              <a:t>.</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6004"/>
                                        </p:tgtEl>
                                        <p:attrNameLst>
                                          <p:attrName>style.visibility</p:attrName>
                                        </p:attrNameLst>
                                      </p:cBhvr>
                                      <p:to>
                                        <p:strVal val="visible"/>
                                      </p:to>
                                    </p:set>
                                    <p:anim calcmode="lin" valueType="num">
                                      <p:cBhvr additive="base">
                                        <p:cTn id="7" dur="500" fill="hold"/>
                                        <p:tgtEl>
                                          <p:spTgt spid="256004"/>
                                        </p:tgtEl>
                                        <p:attrNameLst>
                                          <p:attrName>ppt_x</p:attrName>
                                        </p:attrNameLst>
                                      </p:cBhvr>
                                      <p:tavLst>
                                        <p:tav tm="0">
                                          <p:val>
                                            <p:strVal val="0-#ppt_w/2"/>
                                          </p:val>
                                        </p:tav>
                                        <p:tav tm="100000">
                                          <p:val>
                                            <p:strVal val="#ppt_x"/>
                                          </p:val>
                                        </p:tav>
                                      </p:tavLst>
                                    </p:anim>
                                    <p:anim calcmode="lin" valueType="num">
                                      <p:cBhvr additive="base">
                                        <p:cTn id="8" dur="500" fill="hold"/>
                                        <p:tgtEl>
                                          <p:spTgt spid="25600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56003"/>
                                        </p:tgtEl>
                                        <p:attrNameLst>
                                          <p:attrName>style.visibility</p:attrName>
                                        </p:attrNameLst>
                                      </p:cBhvr>
                                      <p:to>
                                        <p:strVal val="visible"/>
                                      </p:to>
                                    </p:set>
                                    <p:anim calcmode="lin" valueType="num">
                                      <p:cBhvr additive="base">
                                        <p:cTn id="13" dur="500" fill="hold"/>
                                        <p:tgtEl>
                                          <p:spTgt spid="256003"/>
                                        </p:tgtEl>
                                        <p:attrNameLst>
                                          <p:attrName>ppt_x</p:attrName>
                                        </p:attrNameLst>
                                      </p:cBhvr>
                                      <p:tavLst>
                                        <p:tav tm="0">
                                          <p:val>
                                            <p:strVal val="0-#ppt_w/2"/>
                                          </p:val>
                                        </p:tav>
                                        <p:tav tm="100000">
                                          <p:val>
                                            <p:strVal val="#ppt_x"/>
                                          </p:val>
                                        </p:tav>
                                      </p:tavLst>
                                    </p:anim>
                                    <p:anim calcmode="lin" valueType="num">
                                      <p:cBhvr additive="base">
                                        <p:cTn id="14" dur="500" fill="hold"/>
                                        <p:tgtEl>
                                          <p:spTgt spid="25600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6006"/>
                                        </p:tgtEl>
                                        <p:attrNameLst>
                                          <p:attrName>style.visibility</p:attrName>
                                        </p:attrNameLst>
                                      </p:cBhvr>
                                      <p:to>
                                        <p:strVal val="visible"/>
                                      </p:to>
                                    </p:set>
                                    <p:anim calcmode="lin" valueType="num">
                                      <p:cBhvr additive="base">
                                        <p:cTn id="19" dur="500" fill="hold"/>
                                        <p:tgtEl>
                                          <p:spTgt spid="256006"/>
                                        </p:tgtEl>
                                        <p:attrNameLst>
                                          <p:attrName>ppt_x</p:attrName>
                                        </p:attrNameLst>
                                      </p:cBhvr>
                                      <p:tavLst>
                                        <p:tav tm="0">
                                          <p:val>
                                            <p:strVal val="0-#ppt_w/2"/>
                                          </p:val>
                                        </p:tav>
                                        <p:tav tm="100000">
                                          <p:val>
                                            <p:strVal val="#ppt_x"/>
                                          </p:val>
                                        </p:tav>
                                      </p:tavLst>
                                    </p:anim>
                                    <p:anim calcmode="lin" valueType="num">
                                      <p:cBhvr additive="base">
                                        <p:cTn id="20" dur="500" fill="hold"/>
                                        <p:tgtEl>
                                          <p:spTgt spid="25600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6007"/>
                                        </p:tgtEl>
                                        <p:attrNameLst>
                                          <p:attrName>style.visibility</p:attrName>
                                        </p:attrNameLst>
                                      </p:cBhvr>
                                      <p:to>
                                        <p:strVal val="visible"/>
                                      </p:to>
                                    </p:set>
                                    <p:anim calcmode="lin" valueType="num">
                                      <p:cBhvr additive="base">
                                        <p:cTn id="25" dur="500" fill="hold"/>
                                        <p:tgtEl>
                                          <p:spTgt spid="256007"/>
                                        </p:tgtEl>
                                        <p:attrNameLst>
                                          <p:attrName>ppt_x</p:attrName>
                                        </p:attrNameLst>
                                      </p:cBhvr>
                                      <p:tavLst>
                                        <p:tav tm="0">
                                          <p:val>
                                            <p:strVal val="0-#ppt_w/2"/>
                                          </p:val>
                                        </p:tav>
                                        <p:tav tm="100000">
                                          <p:val>
                                            <p:strVal val="#ppt_x"/>
                                          </p:val>
                                        </p:tav>
                                      </p:tavLst>
                                    </p:anim>
                                    <p:anim calcmode="lin" valueType="num">
                                      <p:cBhvr additive="base">
                                        <p:cTn id="26" dur="500" fill="hold"/>
                                        <p:tgtEl>
                                          <p:spTgt spid="25600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6008"/>
                                        </p:tgtEl>
                                        <p:attrNameLst>
                                          <p:attrName>style.visibility</p:attrName>
                                        </p:attrNameLst>
                                      </p:cBhvr>
                                      <p:to>
                                        <p:strVal val="visible"/>
                                      </p:to>
                                    </p:set>
                                    <p:anim calcmode="lin" valueType="num">
                                      <p:cBhvr additive="base">
                                        <p:cTn id="31" dur="500" fill="hold"/>
                                        <p:tgtEl>
                                          <p:spTgt spid="256008"/>
                                        </p:tgtEl>
                                        <p:attrNameLst>
                                          <p:attrName>ppt_x</p:attrName>
                                        </p:attrNameLst>
                                      </p:cBhvr>
                                      <p:tavLst>
                                        <p:tav tm="0">
                                          <p:val>
                                            <p:strVal val="0-#ppt_w/2"/>
                                          </p:val>
                                        </p:tav>
                                        <p:tav tm="100000">
                                          <p:val>
                                            <p:strVal val="#ppt_x"/>
                                          </p:val>
                                        </p:tav>
                                      </p:tavLst>
                                    </p:anim>
                                    <p:anim calcmode="lin" valueType="num">
                                      <p:cBhvr additive="base">
                                        <p:cTn id="32" dur="500" fill="hold"/>
                                        <p:tgtEl>
                                          <p:spTgt spid="25600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6009"/>
                                        </p:tgtEl>
                                        <p:attrNameLst>
                                          <p:attrName>style.visibility</p:attrName>
                                        </p:attrNameLst>
                                      </p:cBhvr>
                                      <p:to>
                                        <p:strVal val="visible"/>
                                      </p:to>
                                    </p:set>
                                    <p:anim calcmode="lin" valueType="num">
                                      <p:cBhvr additive="base">
                                        <p:cTn id="37" dur="500" fill="hold"/>
                                        <p:tgtEl>
                                          <p:spTgt spid="256009"/>
                                        </p:tgtEl>
                                        <p:attrNameLst>
                                          <p:attrName>ppt_x</p:attrName>
                                        </p:attrNameLst>
                                      </p:cBhvr>
                                      <p:tavLst>
                                        <p:tav tm="0">
                                          <p:val>
                                            <p:strVal val="0-#ppt_w/2"/>
                                          </p:val>
                                        </p:tav>
                                        <p:tav tm="100000">
                                          <p:val>
                                            <p:strVal val="#ppt_x"/>
                                          </p:val>
                                        </p:tav>
                                      </p:tavLst>
                                    </p:anim>
                                    <p:anim calcmode="lin" valueType="num">
                                      <p:cBhvr additive="base">
                                        <p:cTn id="38" dur="500" fill="hold"/>
                                        <p:tgtEl>
                                          <p:spTgt spid="256009"/>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6010"/>
                                        </p:tgtEl>
                                        <p:attrNameLst>
                                          <p:attrName>style.visibility</p:attrName>
                                        </p:attrNameLst>
                                      </p:cBhvr>
                                      <p:to>
                                        <p:strVal val="visible"/>
                                      </p:to>
                                    </p:set>
                                    <p:anim calcmode="lin" valueType="num">
                                      <p:cBhvr additive="base">
                                        <p:cTn id="43" dur="500" fill="hold"/>
                                        <p:tgtEl>
                                          <p:spTgt spid="256010"/>
                                        </p:tgtEl>
                                        <p:attrNameLst>
                                          <p:attrName>ppt_x</p:attrName>
                                        </p:attrNameLst>
                                      </p:cBhvr>
                                      <p:tavLst>
                                        <p:tav tm="0">
                                          <p:val>
                                            <p:strVal val="0-#ppt_w/2"/>
                                          </p:val>
                                        </p:tav>
                                        <p:tav tm="100000">
                                          <p:val>
                                            <p:strVal val="#ppt_x"/>
                                          </p:val>
                                        </p:tav>
                                      </p:tavLst>
                                    </p:anim>
                                    <p:anim calcmode="lin" valueType="num">
                                      <p:cBhvr additive="base">
                                        <p:cTn id="44" dur="500" fill="hold"/>
                                        <p:tgtEl>
                                          <p:spTgt spid="2560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4" grpId="0" autoUpdateAnimBg="0"/>
      <p:bldP spid="256006" grpId="0" autoUpdateAnimBg="0"/>
      <p:bldP spid="256007" grpId="0" autoUpdateAnimBg="0"/>
      <p:bldP spid="256008" grpId="0" autoUpdateAnimBg="0"/>
      <p:bldP spid="256009" grpId="0" autoUpdateAnimBg="0"/>
      <p:bldP spid="25601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10" name="Object 3"/>
          <p:cNvGraphicFramePr>
            <a:graphicFrameLocks noChangeAspect="1"/>
          </p:cNvGraphicFramePr>
          <p:nvPr/>
        </p:nvGraphicFramePr>
        <p:xfrm>
          <a:off x="323850" y="79375"/>
          <a:ext cx="4248150" cy="2557463"/>
        </p:xfrm>
        <a:graphic>
          <a:graphicData uri="http://schemas.openxmlformats.org/presentationml/2006/ole">
            <mc:AlternateContent xmlns:mc="http://schemas.openxmlformats.org/markup-compatibility/2006">
              <mc:Choice xmlns:v="urn:schemas-microsoft-com:vml" Requires="v">
                <p:oleObj spid="_x0000_s17427" name="Equation" r:id="rId3" imgW="1778000" imgH="965200" progId="Equation.3">
                  <p:embed/>
                </p:oleObj>
              </mc:Choice>
              <mc:Fallback>
                <p:oleObj name="Equation" r:id="rId3" imgW="1778000" imgH="965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79375"/>
                        <a:ext cx="4248150" cy="2557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1" name="Text Box 4"/>
          <p:cNvSpPr txBox="1">
            <a:spLocks noChangeArrowheads="1"/>
          </p:cNvSpPr>
          <p:nvPr/>
        </p:nvSpPr>
        <p:spPr bwMode="auto">
          <a:xfrm>
            <a:off x="4932363" y="115888"/>
            <a:ext cx="27924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t>x</a:t>
            </a:r>
            <a:r>
              <a:rPr lang="en-US" altLang="zh-CN" i="1" baseline="-25000"/>
              <a:t>1</a:t>
            </a:r>
            <a:r>
              <a:rPr lang="en-US" altLang="zh-CN" i="1"/>
              <a:t>=t, x</a:t>
            </a:r>
            <a:r>
              <a:rPr lang="en-US" altLang="zh-CN" i="1" baseline="-25000"/>
              <a:t>2</a:t>
            </a:r>
            <a:r>
              <a:rPr lang="en-US" altLang="zh-CN" i="1"/>
              <a:t>=x, x</a:t>
            </a:r>
            <a:r>
              <a:rPr lang="en-US" altLang="zh-CN" i="1" baseline="-25000"/>
              <a:t>3</a:t>
            </a:r>
            <a:r>
              <a:rPr lang="en-US" altLang="zh-CN" i="1"/>
              <a:t>=y</a:t>
            </a:r>
            <a:endParaRPr lang="en-US" altLang="zh-CN" i="1" baseline="-25000"/>
          </a:p>
        </p:txBody>
      </p:sp>
      <p:sp>
        <p:nvSpPr>
          <p:cNvPr id="406534" name="Rectangle 6"/>
          <p:cNvSpPr>
            <a:spLocks noChangeArrowheads="1"/>
          </p:cNvSpPr>
          <p:nvPr/>
        </p:nvSpPr>
        <p:spPr bwMode="auto">
          <a:xfrm>
            <a:off x="5148263" y="836613"/>
            <a:ext cx="2193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(1)</a:t>
            </a:r>
            <a:r>
              <a:rPr lang="en-US" altLang="zh-CN" i="1">
                <a:solidFill>
                  <a:srgbClr val="000080"/>
                </a:solidFill>
              </a:rPr>
              <a:t>= F(X</a:t>
            </a:r>
            <a:r>
              <a:rPr lang="en-US" altLang="zh-CN" baseline="-25000">
                <a:solidFill>
                  <a:srgbClr val="008080"/>
                </a:solidFill>
              </a:rPr>
              <a:t>n</a:t>
            </a:r>
            <a:r>
              <a:rPr lang="en-US" altLang="zh-CN" i="1">
                <a:solidFill>
                  <a:srgbClr val="000080"/>
                </a:solidFill>
              </a:rPr>
              <a:t>);</a:t>
            </a:r>
          </a:p>
        </p:txBody>
      </p:sp>
      <p:sp>
        <p:nvSpPr>
          <p:cNvPr id="406535" name="Rectangle 7"/>
          <p:cNvSpPr>
            <a:spLocks noChangeArrowheads="1"/>
          </p:cNvSpPr>
          <p:nvPr/>
        </p:nvSpPr>
        <p:spPr bwMode="auto">
          <a:xfrm>
            <a:off x="4859338" y="1557338"/>
            <a:ext cx="3702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(2)</a:t>
            </a:r>
            <a:r>
              <a:rPr lang="en-US" altLang="zh-CN">
                <a:solidFill>
                  <a:srgbClr val="000080"/>
                </a:solidFill>
              </a:rPr>
              <a:t>= F</a:t>
            </a:r>
            <a:r>
              <a:rPr lang="en-US" altLang="zh-CN" i="1">
                <a:solidFill>
                  <a:srgbClr val="000080"/>
                </a:solidFill>
              </a:rPr>
              <a:t>( 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(1)</a:t>
            </a:r>
            <a:r>
              <a:rPr lang="en-US" altLang="zh-CN" i="1">
                <a:solidFill>
                  <a:srgbClr val="000080"/>
                </a:solidFill>
              </a:rPr>
              <a:t>/2)</a:t>
            </a:r>
          </a:p>
        </p:txBody>
      </p:sp>
      <p:graphicFrame>
        <p:nvGraphicFramePr>
          <p:cNvPr id="406539" name="Object 11"/>
          <p:cNvGraphicFramePr>
            <a:graphicFrameLocks noChangeAspect="1"/>
          </p:cNvGraphicFramePr>
          <p:nvPr/>
        </p:nvGraphicFramePr>
        <p:xfrm>
          <a:off x="3897313" y="2420938"/>
          <a:ext cx="4995862" cy="2111375"/>
        </p:xfrm>
        <a:graphic>
          <a:graphicData uri="http://schemas.openxmlformats.org/presentationml/2006/ole">
            <mc:AlternateContent xmlns:mc="http://schemas.openxmlformats.org/markup-compatibility/2006">
              <mc:Choice xmlns:v="urn:schemas-microsoft-com:vml" Requires="v">
                <p:oleObj spid="_x0000_s17428" name="公式" r:id="rId5" imgW="1866900" imgH="711200" progId="Equation.3">
                  <p:embed/>
                </p:oleObj>
              </mc:Choice>
              <mc:Fallback>
                <p:oleObj name="公式" r:id="rId5" imgW="1866900" imgH="7112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97313" y="2420938"/>
                        <a:ext cx="4995862" cy="211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6541" name="Rectangle 13"/>
          <p:cNvSpPr>
            <a:spLocks noChangeArrowheads="1"/>
          </p:cNvSpPr>
          <p:nvPr/>
        </p:nvSpPr>
        <p:spPr bwMode="auto">
          <a:xfrm>
            <a:off x="250825" y="3357563"/>
            <a:ext cx="15128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baseline="-25000">
                <a:solidFill>
                  <a:srgbClr val="008080"/>
                </a:solidFill>
              </a:rPr>
              <a:t> </a:t>
            </a:r>
            <a:r>
              <a:rPr lang="en-US" altLang="zh-CN">
                <a:solidFill>
                  <a:srgbClr val="008080"/>
                </a:solidFill>
              </a:rPr>
              <a:t>h=0.01</a:t>
            </a:r>
            <a:endParaRPr lang="en-US" altLang="zh-CN" i="1">
              <a:solidFill>
                <a:srgbClr val="000080"/>
              </a:solidFill>
            </a:endParaRPr>
          </a:p>
        </p:txBody>
      </p:sp>
      <p:sp>
        <p:nvSpPr>
          <p:cNvPr id="406542" name="Rectangle 14"/>
          <p:cNvSpPr>
            <a:spLocks noChangeArrowheads="1"/>
          </p:cNvSpPr>
          <p:nvPr/>
        </p:nvSpPr>
        <p:spPr bwMode="auto">
          <a:xfrm>
            <a:off x="250825" y="5589588"/>
            <a:ext cx="28813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 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(1)</a:t>
            </a:r>
            <a:r>
              <a:rPr lang="en-US" altLang="zh-CN" i="1">
                <a:solidFill>
                  <a:srgbClr val="000080"/>
                </a:solidFill>
              </a:rPr>
              <a:t>/2=</a:t>
            </a:r>
          </a:p>
        </p:txBody>
      </p:sp>
      <p:graphicFrame>
        <p:nvGraphicFramePr>
          <p:cNvPr id="406543" name="Object 15"/>
          <p:cNvGraphicFramePr>
            <a:graphicFrameLocks noChangeAspect="1"/>
          </p:cNvGraphicFramePr>
          <p:nvPr/>
        </p:nvGraphicFramePr>
        <p:xfrm>
          <a:off x="2632075" y="4724400"/>
          <a:ext cx="4892675" cy="2111375"/>
        </p:xfrm>
        <a:graphic>
          <a:graphicData uri="http://schemas.openxmlformats.org/presentationml/2006/ole">
            <mc:AlternateContent xmlns:mc="http://schemas.openxmlformats.org/markup-compatibility/2006">
              <mc:Choice xmlns:v="urn:schemas-microsoft-com:vml" Requires="v">
                <p:oleObj spid="_x0000_s17429" name="公式" r:id="rId7" imgW="1828800" imgH="711200" progId="Equation.3">
                  <p:embed/>
                </p:oleObj>
              </mc:Choice>
              <mc:Fallback>
                <p:oleObj name="公式" r:id="rId7" imgW="1828800" imgH="7112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2075" y="4724400"/>
                        <a:ext cx="4892675" cy="211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6534"/>
                                        </p:tgtEl>
                                        <p:attrNameLst>
                                          <p:attrName>style.visibility</p:attrName>
                                        </p:attrNameLst>
                                      </p:cBhvr>
                                      <p:to>
                                        <p:strVal val="visible"/>
                                      </p:to>
                                    </p:set>
                                    <p:anim calcmode="lin" valueType="num">
                                      <p:cBhvr additive="base">
                                        <p:cTn id="7" dur="500" fill="hold"/>
                                        <p:tgtEl>
                                          <p:spTgt spid="406534"/>
                                        </p:tgtEl>
                                        <p:attrNameLst>
                                          <p:attrName>ppt_x</p:attrName>
                                        </p:attrNameLst>
                                      </p:cBhvr>
                                      <p:tavLst>
                                        <p:tav tm="0">
                                          <p:val>
                                            <p:strVal val="0-#ppt_w/2"/>
                                          </p:val>
                                        </p:tav>
                                        <p:tav tm="100000">
                                          <p:val>
                                            <p:strVal val="#ppt_x"/>
                                          </p:val>
                                        </p:tav>
                                      </p:tavLst>
                                    </p:anim>
                                    <p:anim calcmode="lin" valueType="num">
                                      <p:cBhvr additive="base">
                                        <p:cTn id="8" dur="500" fill="hold"/>
                                        <p:tgtEl>
                                          <p:spTgt spid="40653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6535"/>
                                        </p:tgtEl>
                                        <p:attrNameLst>
                                          <p:attrName>style.visibility</p:attrName>
                                        </p:attrNameLst>
                                      </p:cBhvr>
                                      <p:to>
                                        <p:strVal val="visible"/>
                                      </p:to>
                                    </p:set>
                                    <p:anim calcmode="lin" valueType="num">
                                      <p:cBhvr additive="base">
                                        <p:cTn id="13" dur="500" fill="hold"/>
                                        <p:tgtEl>
                                          <p:spTgt spid="406535"/>
                                        </p:tgtEl>
                                        <p:attrNameLst>
                                          <p:attrName>ppt_x</p:attrName>
                                        </p:attrNameLst>
                                      </p:cBhvr>
                                      <p:tavLst>
                                        <p:tav tm="0">
                                          <p:val>
                                            <p:strVal val="0-#ppt_w/2"/>
                                          </p:val>
                                        </p:tav>
                                        <p:tav tm="100000">
                                          <p:val>
                                            <p:strVal val="#ppt_x"/>
                                          </p:val>
                                        </p:tav>
                                      </p:tavLst>
                                    </p:anim>
                                    <p:anim calcmode="lin" valueType="num">
                                      <p:cBhvr additive="base">
                                        <p:cTn id="14" dur="500" fill="hold"/>
                                        <p:tgtEl>
                                          <p:spTgt spid="40653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06539"/>
                                        </p:tgtEl>
                                        <p:attrNameLst>
                                          <p:attrName>style.visibility</p:attrName>
                                        </p:attrNameLst>
                                      </p:cBhvr>
                                      <p:to>
                                        <p:strVal val="visible"/>
                                      </p:to>
                                    </p:set>
                                    <p:anim calcmode="lin" valueType="num">
                                      <p:cBhvr additive="base">
                                        <p:cTn id="19" dur="500" fill="hold"/>
                                        <p:tgtEl>
                                          <p:spTgt spid="406539"/>
                                        </p:tgtEl>
                                        <p:attrNameLst>
                                          <p:attrName>ppt_x</p:attrName>
                                        </p:attrNameLst>
                                      </p:cBhvr>
                                      <p:tavLst>
                                        <p:tav tm="0">
                                          <p:val>
                                            <p:strVal val="0-#ppt_w/2"/>
                                          </p:val>
                                        </p:tav>
                                        <p:tav tm="100000">
                                          <p:val>
                                            <p:strVal val="#ppt_x"/>
                                          </p:val>
                                        </p:tav>
                                      </p:tavLst>
                                    </p:anim>
                                    <p:anim calcmode="lin" valueType="num">
                                      <p:cBhvr additive="base">
                                        <p:cTn id="20" dur="500" fill="hold"/>
                                        <p:tgtEl>
                                          <p:spTgt spid="40653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6541"/>
                                        </p:tgtEl>
                                        <p:attrNameLst>
                                          <p:attrName>style.visibility</p:attrName>
                                        </p:attrNameLst>
                                      </p:cBhvr>
                                      <p:to>
                                        <p:strVal val="visible"/>
                                      </p:to>
                                    </p:set>
                                    <p:anim calcmode="lin" valueType="num">
                                      <p:cBhvr additive="base">
                                        <p:cTn id="25" dur="500" fill="hold"/>
                                        <p:tgtEl>
                                          <p:spTgt spid="406541"/>
                                        </p:tgtEl>
                                        <p:attrNameLst>
                                          <p:attrName>ppt_x</p:attrName>
                                        </p:attrNameLst>
                                      </p:cBhvr>
                                      <p:tavLst>
                                        <p:tav tm="0">
                                          <p:val>
                                            <p:strVal val="0-#ppt_w/2"/>
                                          </p:val>
                                        </p:tav>
                                        <p:tav tm="100000">
                                          <p:val>
                                            <p:strVal val="#ppt_x"/>
                                          </p:val>
                                        </p:tav>
                                      </p:tavLst>
                                    </p:anim>
                                    <p:anim calcmode="lin" valueType="num">
                                      <p:cBhvr additive="base">
                                        <p:cTn id="26" dur="500" fill="hold"/>
                                        <p:tgtEl>
                                          <p:spTgt spid="406541"/>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6542"/>
                                        </p:tgtEl>
                                        <p:attrNameLst>
                                          <p:attrName>style.visibility</p:attrName>
                                        </p:attrNameLst>
                                      </p:cBhvr>
                                      <p:to>
                                        <p:strVal val="visible"/>
                                      </p:to>
                                    </p:set>
                                    <p:anim calcmode="lin" valueType="num">
                                      <p:cBhvr additive="base">
                                        <p:cTn id="31" dur="500" fill="hold"/>
                                        <p:tgtEl>
                                          <p:spTgt spid="406542"/>
                                        </p:tgtEl>
                                        <p:attrNameLst>
                                          <p:attrName>ppt_x</p:attrName>
                                        </p:attrNameLst>
                                      </p:cBhvr>
                                      <p:tavLst>
                                        <p:tav tm="0">
                                          <p:val>
                                            <p:strVal val="0-#ppt_w/2"/>
                                          </p:val>
                                        </p:tav>
                                        <p:tav tm="100000">
                                          <p:val>
                                            <p:strVal val="#ppt_x"/>
                                          </p:val>
                                        </p:tav>
                                      </p:tavLst>
                                    </p:anim>
                                    <p:anim calcmode="lin" valueType="num">
                                      <p:cBhvr additive="base">
                                        <p:cTn id="32" dur="500" fill="hold"/>
                                        <p:tgtEl>
                                          <p:spTgt spid="40654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406543"/>
                                        </p:tgtEl>
                                        <p:attrNameLst>
                                          <p:attrName>style.visibility</p:attrName>
                                        </p:attrNameLst>
                                      </p:cBhvr>
                                      <p:to>
                                        <p:strVal val="visible"/>
                                      </p:to>
                                    </p:set>
                                    <p:anim calcmode="lin" valueType="num">
                                      <p:cBhvr additive="base">
                                        <p:cTn id="37" dur="500" fill="hold"/>
                                        <p:tgtEl>
                                          <p:spTgt spid="406543"/>
                                        </p:tgtEl>
                                        <p:attrNameLst>
                                          <p:attrName>ppt_x</p:attrName>
                                        </p:attrNameLst>
                                      </p:cBhvr>
                                      <p:tavLst>
                                        <p:tav tm="0">
                                          <p:val>
                                            <p:strVal val="0-#ppt_w/2"/>
                                          </p:val>
                                        </p:tav>
                                        <p:tav tm="100000">
                                          <p:val>
                                            <p:strVal val="#ppt_x"/>
                                          </p:val>
                                        </p:tav>
                                      </p:tavLst>
                                    </p:anim>
                                    <p:anim calcmode="lin" valueType="num">
                                      <p:cBhvr additive="base">
                                        <p:cTn id="38" dur="500" fill="hold"/>
                                        <p:tgtEl>
                                          <p:spTgt spid="4065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4" grpId="0" autoUpdateAnimBg="0"/>
      <p:bldP spid="406535" grpId="0" autoUpdateAnimBg="0"/>
      <p:bldP spid="406541" grpId="0" autoUpdateAnimBg="0"/>
      <p:bldP spid="406542"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p:cNvGraphicFramePr>
            <a:graphicFrameLocks noChangeAspect="1"/>
          </p:cNvGraphicFramePr>
          <p:nvPr/>
        </p:nvGraphicFramePr>
        <p:xfrm>
          <a:off x="323850" y="79375"/>
          <a:ext cx="4248150" cy="2557463"/>
        </p:xfrm>
        <a:graphic>
          <a:graphicData uri="http://schemas.openxmlformats.org/presentationml/2006/ole">
            <mc:AlternateContent xmlns:mc="http://schemas.openxmlformats.org/markup-compatibility/2006">
              <mc:Choice xmlns:v="urn:schemas-microsoft-com:vml" Requires="v">
                <p:oleObj spid="_x0000_s18449" name="Equation" r:id="rId3" imgW="1778000" imgH="965200" progId="Equation.3">
                  <p:embed/>
                </p:oleObj>
              </mc:Choice>
              <mc:Fallback>
                <p:oleObj name="Equation" r:id="rId3" imgW="1778000" imgH="965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79375"/>
                        <a:ext cx="4248150" cy="2557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5" name="Rectangle 4"/>
          <p:cNvSpPr>
            <a:spLocks noChangeArrowheads="1"/>
          </p:cNvSpPr>
          <p:nvPr/>
        </p:nvSpPr>
        <p:spPr bwMode="auto">
          <a:xfrm>
            <a:off x="5148263" y="836613"/>
            <a:ext cx="2193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(1)</a:t>
            </a:r>
            <a:r>
              <a:rPr lang="en-US" altLang="zh-CN" i="1">
                <a:solidFill>
                  <a:srgbClr val="000080"/>
                </a:solidFill>
              </a:rPr>
              <a:t>= F(X</a:t>
            </a:r>
            <a:r>
              <a:rPr lang="en-US" altLang="zh-CN" baseline="-25000">
                <a:solidFill>
                  <a:srgbClr val="008080"/>
                </a:solidFill>
              </a:rPr>
              <a:t>n</a:t>
            </a:r>
            <a:r>
              <a:rPr lang="en-US" altLang="zh-CN" i="1">
                <a:solidFill>
                  <a:srgbClr val="000080"/>
                </a:solidFill>
              </a:rPr>
              <a:t>);</a:t>
            </a:r>
          </a:p>
        </p:txBody>
      </p:sp>
      <p:sp>
        <p:nvSpPr>
          <p:cNvPr id="18436" name="Rectangle 5"/>
          <p:cNvSpPr>
            <a:spLocks noChangeArrowheads="1"/>
          </p:cNvSpPr>
          <p:nvPr/>
        </p:nvSpPr>
        <p:spPr bwMode="auto">
          <a:xfrm>
            <a:off x="4859338" y="1557338"/>
            <a:ext cx="3702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(2)</a:t>
            </a:r>
            <a:r>
              <a:rPr lang="en-US" altLang="zh-CN">
                <a:solidFill>
                  <a:srgbClr val="000080"/>
                </a:solidFill>
              </a:rPr>
              <a:t>= F</a:t>
            </a:r>
            <a:r>
              <a:rPr lang="en-US" altLang="zh-CN" i="1">
                <a:solidFill>
                  <a:srgbClr val="000080"/>
                </a:solidFill>
              </a:rPr>
              <a:t>( 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(1)</a:t>
            </a:r>
            <a:r>
              <a:rPr lang="en-US" altLang="zh-CN" i="1">
                <a:solidFill>
                  <a:srgbClr val="000080"/>
                </a:solidFill>
              </a:rPr>
              <a:t>/2)</a:t>
            </a:r>
          </a:p>
        </p:txBody>
      </p:sp>
      <p:graphicFrame>
        <p:nvGraphicFramePr>
          <p:cNvPr id="407559" name="Object 7"/>
          <p:cNvGraphicFramePr>
            <a:graphicFrameLocks noChangeAspect="1"/>
          </p:cNvGraphicFramePr>
          <p:nvPr/>
        </p:nvGraphicFramePr>
        <p:xfrm>
          <a:off x="41275" y="4773613"/>
          <a:ext cx="8562975" cy="2111375"/>
        </p:xfrm>
        <a:graphic>
          <a:graphicData uri="http://schemas.openxmlformats.org/presentationml/2006/ole">
            <mc:AlternateContent xmlns:mc="http://schemas.openxmlformats.org/markup-compatibility/2006">
              <mc:Choice xmlns:v="urn:schemas-microsoft-com:vml" Requires="v">
                <p:oleObj spid="_x0000_s18450" name="公式" r:id="rId5" imgW="3200400" imgH="711200" progId="Equation.3">
                  <p:embed/>
                </p:oleObj>
              </mc:Choice>
              <mc:Fallback>
                <p:oleObj name="公式" r:id="rId5" imgW="3200400" imgH="711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75" y="4773613"/>
                        <a:ext cx="8562975" cy="211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7563" name="Rectangle 11"/>
          <p:cNvSpPr>
            <a:spLocks noChangeArrowheads="1"/>
          </p:cNvSpPr>
          <p:nvPr/>
        </p:nvSpPr>
        <p:spPr bwMode="auto">
          <a:xfrm>
            <a:off x="250825" y="3551238"/>
            <a:ext cx="28813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 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(1)</a:t>
            </a:r>
            <a:r>
              <a:rPr lang="en-US" altLang="zh-CN" i="1">
                <a:solidFill>
                  <a:srgbClr val="000080"/>
                </a:solidFill>
              </a:rPr>
              <a:t>/2=</a:t>
            </a:r>
          </a:p>
        </p:txBody>
      </p:sp>
      <p:graphicFrame>
        <p:nvGraphicFramePr>
          <p:cNvPr id="407564" name="Object 12"/>
          <p:cNvGraphicFramePr>
            <a:graphicFrameLocks noChangeAspect="1"/>
          </p:cNvGraphicFramePr>
          <p:nvPr/>
        </p:nvGraphicFramePr>
        <p:xfrm>
          <a:off x="2632075" y="2686050"/>
          <a:ext cx="4892675" cy="2111375"/>
        </p:xfrm>
        <a:graphic>
          <a:graphicData uri="http://schemas.openxmlformats.org/presentationml/2006/ole">
            <mc:AlternateContent xmlns:mc="http://schemas.openxmlformats.org/markup-compatibility/2006">
              <mc:Choice xmlns:v="urn:schemas-microsoft-com:vml" Requires="v">
                <p:oleObj spid="_x0000_s18451" name="公式" r:id="rId7" imgW="1828800" imgH="711200" progId="Equation.3">
                  <p:embed/>
                </p:oleObj>
              </mc:Choice>
              <mc:Fallback>
                <p:oleObj name="公式" r:id="rId7" imgW="1828800" imgH="7112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2075" y="2686050"/>
                        <a:ext cx="4892675" cy="211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7563"/>
                                        </p:tgtEl>
                                        <p:attrNameLst>
                                          <p:attrName>style.visibility</p:attrName>
                                        </p:attrNameLst>
                                      </p:cBhvr>
                                      <p:to>
                                        <p:strVal val="visible"/>
                                      </p:to>
                                    </p:set>
                                    <p:anim calcmode="lin" valueType="num">
                                      <p:cBhvr additive="base">
                                        <p:cTn id="7" dur="500" fill="hold"/>
                                        <p:tgtEl>
                                          <p:spTgt spid="407563"/>
                                        </p:tgtEl>
                                        <p:attrNameLst>
                                          <p:attrName>ppt_x</p:attrName>
                                        </p:attrNameLst>
                                      </p:cBhvr>
                                      <p:tavLst>
                                        <p:tav tm="0">
                                          <p:val>
                                            <p:strVal val="0-#ppt_w/2"/>
                                          </p:val>
                                        </p:tav>
                                        <p:tav tm="100000">
                                          <p:val>
                                            <p:strVal val="#ppt_x"/>
                                          </p:val>
                                        </p:tav>
                                      </p:tavLst>
                                    </p:anim>
                                    <p:anim calcmode="lin" valueType="num">
                                      <p:cBhvr additive="base">
                                        <p:cTn id="8" dur="500" fill="hold"/>
                                        <p:tgtEl>
                                          <p:spTgt spid="40756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07564"/>
                                        </p:tgtEl>
                                        <p:attrNameLst>
                                          <p:attrName>style.visibility</p:attrName>
                                        </p:attrNameLst>
                                      </p:cBhvr>
                                      <p:to>
                                        <p:strVal val="visible"/>
                                      </p:to>
                                    </p:set>
                                    <p:anim calcmode="lin" valueType="num">
                                      <p:cBhvr additive="base">
                                        <p:cTn id="13" dur="500" fill="hold"/>
                                        <p:tgtEl>
                                          <p:spTgt spid="407564"/>
                                        </p:tgtEl>
                                        <p:attrNameLst>
                                          <p:attrName>ppt_x</p:attrName>
                                        </p:attrNameLst>
                                      </p:cBhvr>
                                      <p:tavLst>
                                        <p:tav tm="0">
                                          <p:val>
                                            <p:strVal val="0-#ppt_w/2"/>
                                          </p:val>
                                        </p:tav>
                                        <p:tav tm="100000">
                                          <p:val>
                                            <p:strVal val="#ppt_x"/>
                                          </p:val>
                                        </p:tav>
                                      </p:tavLst>
                                    </p:anim>
                                    <p:anim calcmode="lin" valueType="num">
                                      <p:cBhvr additive="base">
                                        <p:cTn id="14" dur="500" fill="hold"/>
                                        <p:tgtEl>
                                          <p:spTgt spid="40756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07559"/>
                                        </p:tgtEl>
                                        <p:attrNameLst>
                                          <p:attrName>style.visibility</p:attrName>
                                        </p:attrNameLst>
                                      </p:cBhvr>
                                      <p:to>
                                        <p:strVal val="visible"/>
                                      </p:to>
                                    </p:set>
                                    <p:anim calcmode="lin" valueType="num">
                                      <p:cBhvr additive="base">
                                        <p:cTn id="19" dur="500" fill="hold"/>
                                        <p:tgtEl>
                                          <p:spTgt spid="407559"/>
                                        </p:tgtEl>
                                        <p:attrNameLst>
                                          <p:attrName>ppt_x</p:attrName>
                                        </p:attrNameLst>
                                      </p:cBhvr>
                                      <p:tavLst>
                                        <p:tav tm="0">
                                          <p:val>
                                            <p:strVal val="0-#ppt_w/2"/>
                                          </p:val>
                                        </p:tav>
                                        <p:tav tm="100000">
                                          <p:val>
                                            <p:strVal val="#ppt_x"/>
                                          </p:val>
                                        </p:tav>
                                      </p:tavLst>
                                    </p:anim>
                                    <p:anim calcmode="lin" valueType="num">
                                      <p:cBhvr additive="base">
                                        <p:cTn id="20" dur="500" fill="hold"/>
                                        <p:tgtEl>
                                          <p:spTgt spid="4075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63"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p:cNvSpPr>
            <a:spLocks noChangeArrowheads="1"/>
          </p:cNvSpPr>
          <p:nvPr/>
        </p:nvSpPr>
        <p:spPr bwMode="auto">
          <a:xfrm>
            <a:off x="5580063" y="836613"/>
            <a:ext cx="2193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(1)</a:t>
            </a:r>
            <a:r>
              <a:rPr lang="en-US" altLang="zh-CN" i="1">
                <a:solidFill>
                  <a:srgbClr val="000080"/>
                </a:solidFill>
              </a:rPr>
              <a:t>= F(X</a:t>
            </a:r>
            <a:r>
              <a:rPr lang="en-US" altLang="zh-CN" baseline="-25000">
                <a:solidFill>
                  <a:srgbClr val="008080"/>
                </a:solidFill>
              </a:rPr>
              <a:t>n</a:t>
            </a:r>
            <a:r>
              <a:rPr lang="en-US" altLang="zh-CN" i="1">
                <a:solidFill>
                  <a:srgbClr val="000080"/>
                </a:solidFill>
              </a:rPr>
              <a:t>);</a:t>
            </a:r>
          </a:p>
        </p:txBody>
      </p:sp>
      <p:sp>
        <p:nvSpPr>
          <p:cNvPr id="19459" name="Rectangle 7"/>
          <p:cNvSpPr>
            <a:spLocks noChangeArrowheads="1"/>
          </p:cNvSpPr>
          <p:nvPr/>
        </p:nvSpPr>
        <p:spPr bwMode="auto">
          <a:xfrm>
            <a:off x="755650" y="333375"/>
            <a:ext cx="3702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(2)</a:t>
            </a:r>
            <a:r>
              <a:rPr lang="en-US" altLang="zh-CN">
                <a:solidFill>
                  <a:srgbClr val="000080"/>
                </a:solidFill>
              </a:rPr>
              <a:t>= F</a:t>
            </a:r>
            <a:r>
              <a:rPr lang="en-US" altLang="zh-CN" i="1">
                <a:solidFill>
                  <a:srgbClr val="000080"/>
                </a:solidFill>
              </a:rPr>
              <a:t>( 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(1)</a:t>
            </a:r>
            <a:r>
              <a:rPr lang="en-US" altLang="zh-CN" i="1">
                <a:solidFill>
                  <a:srgbClr val="000080"/>
                </a:solidFill>
              </a:rPr>
              <a:t>/2)</a:t>
            </a:r>
          </a:p>
        </p:txBody>
      </p:sp>
      <p:sp>
        <p:nvSpPr>
          <p:cNvPr id="19460" name="Rectangle 8"/>
          <p:cNvSpPr>
            <a:spLocks noChangeArrowheads="1"/>
          </p:cNvSpPr>
          <p:nvPr/>
        </p:nvSpPr>
        <p:spPr bwMode="auto">
          <a:xfrm>
            <a:off x="1042988" y="2924175"/>
            <a:ext cx="360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(3)</a:t>
            </a:r>
            <a:r>
              <a:rPr lang="en-US" altLang="zh-CN">
                <a:solidFill>
                  <a:srgbClr val="000080"/>
                </a:solidFill>
              </a:rPr>
              <a:t>= F</a:t>
            </a:r>
            <a:r>
              <a:rPr lang="en-US" altLang="zh-CN" i="1">
                <a:solidFill>
                  <a:srgbClr val="000080"/>
                </a:solidFill>
              </a:rPr>
              <a:t>(X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(2)</a:t>
            </a:r>
            <a:r>
              <a:rPr lang="en-US" altLang="zh-CN" i="1">
                <a:solidFill>
                  <a:srgbClr val="000080"/>
                </a:solidFill>
              </a:rPr>
              <a:t>/2)</a:t>
            </a:r>
          </a:p>
        </p:txBody>
      </p:sp>
      <p:sp>
        <p:nvSpPr>
          <p:cNvPr id="19461" name="Rectangle 9"/>
          <p:cNvSpPr>
            <a:spLocks noChangeArrowheads="1"/>
          </p:cNvSpPr>
          <p:nvPr/>
        </p:nvSpPr>
        <p:spPr bwMode="auto">
          <a:xfrm>
            <a:off x="1187450" y="3933825"/>
            <a:ext cx="3276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F</a:t>
            </a:r>
            <a:r>
              <a:rPr lang="en-US" altLang="zh-CN" baseline="30000">
                <a:solidFill>
                  <a:srgbClr val="800080"/>
                </a:solidFill>
              </a:rPr>
              <a:t>(4)</a:t>
            </a:r>
            <a:r>
              <a:rPr lang="en-US" altLang="zh-CN">
                <a:solidFill>
                  <a:srgbClr val="000080"/>
                </a:solidFill>
              </a:rPr>
              <a:t>= F</a:t>
            </a:r>
            <a:r>
              <a:rPr lang="en-US" altLang="zh-CN" i="1">
                <a:solidFill>
                  <a:srgbClr val="000080"/>
                </a:solidFill>
              </a:rPr>
              <a:t>(X</a:t>
            </a:r>
            <a:r>
              <a:rPr lang="en-US" altLang="zh-CN" baseline="-25000">
                <a:solidFill>
                  <a:srgbClr val="008080"/>
                </a:solidFill>
              </a:rPr>
              <a:t>n </a:t>
            </a:r>
            <a:r>
              <a:rPr lang="en-US" altLang="zh-CN" i="1">
                <a:solidFill>
                  <a:srgbClr val="000080"/>
                </a:solidFill>
              </a:rPr>
              <a:t>+</a:t>
            </a:r>
            <a:r>
              <a:rPr lang="en-US" altLang="zh-CN" baseline="-25000">
                <a:solidFill>
                  <a:srgbClr val="008080"/>
                </a:solidFill>
              </a:rPr>
              <a:t> </a:t>
            </a:r>
            <a:r>
              <a:rPr lang="en-US" altLang="zh-CN">
                <a:solidFill>
                  <a:srgbClr val="008080"/>
                </a:solidFill>
              </a:rPr>
              <a:t>hF</a:t>
            </a:r>
            <a:r>
              <a:rPr lang="en-US" altLang="zh-CN" baseline="30000">
                <a:solidFill>
                  <a:srgbClr val="800080"/>
                </a:solidFill>
              </a:rPr>
              <a:t>(3)</a:t>
            </a:r>
            <a:r>
              <a:rPr lang="en-US" altLang="zh-CN" i="1">
                <a:solidFill>
                  <a:srgbClr val="000080"/>
                </a:solidFill>
              </a:rPr>
              <a:t>)</a:t>
            </a:r>
          </a:p>
        </p:txBody>
      </p:sp>
      <p:sp>
        <p:nvSpPr>
          <p:cNvPr id="19462" name="Rectangle 10"/>
          <p:cNvSpPr>
            <a:spLocks noChangeArrowheads="1"/>
          </p:cNvSpPr>
          <p:nvPr/>
        </p:nvSpPr>
        <p:spPr bwMode="auto">
          <a:xfrm>
            <a:off x="971550" y="5084763"/>
            <a:ext cx="72723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X</a:t>
            </a:r>
            <a:r>
              <a:rPr lang="en-US" altLang="zh-CN" i="1" baseline="-25000">
                <a:solidFill>
                  <a:srgbClr val="008080"/>
                </a:solidFill>
              </a:rPr>
              <a:t>n</a:t>
            </a:r>
            <a:r>
              <a:rPr lang="en-US" altLang="zh-CN" baseline="-25000">
                <a:solidFill>
                  <a:srgbClr val="008080"/>
                </a:solidFill>
              </a:rPr>
              <a:t>+1</a:t>
            </a:r>
            <a:r>
              <a:rPr lang="en-US" altLang="zh-CN">
                <a:solidFill>
                  <a:srgbClr val="008080"/>
                </a:solidFill>
              </a:rPr>
              <a:t> </a:t>
            </a:r>
            <a:r>
              <a:rPr lang="en-US" altLang="zh-CN" i="1">
                <a:solidFill>
                  <a:srgbClr val="000080"/>
                </a:solidFill>
              </a:rPr>
              <a:t>= X</a:t>
            </a:r>
            <a:r>
              <a:rPr lang="en-US" altLang="zh-CN" baseline="-25000">
                <a:solidFill>
                  <a:srgbClr val="008080"/>
                </a:solidFill>
              </a:rPr>
              <a:t>n </a:t>
            </a:r>
            <a:r>
              <a:rPr lang="en-US" altLang="zh-CN" i="1">
                <a:solidFill>
                  <a:srgbClr val="000080"/>
                </a:solidFill>
              </a:rPr>
              <a:t>+ </a:t>
            </a:r>
            <a:r>
              <a:rPr lang="en-US" altLang="zh-CN" i="1">
                <a:solidFill>
                  <a:srgbClr val="FF0000"/>
                </a:solidFill>
              </a:rPr>
              <a:t>h</a:t>
            </a:r>
            <a:r>
              <a:rPr lang="en-US" altLang="zh-CN">
                <a:solidFill>
                  <a:srgbClr val="000080"/>
                </a:solidFill>
              </a:rPr>
              <a:t>(F</a:t>
            </a:r>
            <a:r>
              <a:rPr lang="en-US" altLang="zh-CN" baseline="30000">
                <a:solidFill>
                  <a:srgbClr val="800080"/>
                </a:solidFill>
              </a:rPr>
              <a:t>(1)</a:t>
            </a:r>
            <a:r>
              <a:rPr lang="en-US" altLang="zh-CN">
                <a:solidFill>
                  <a:srgbClr val="800080"/>
                </a:solidFill>
              </a:rPr>
              <a:t> </a:t>
            </a:r>
            <a:r>
              <a:rPr lang="en-US" altLang="zh-CN" i="1">
                <a:solidFill>
                  <a:srgbClr val="000080"/>
                </a:solidFill>
              </a:rPr>
              <a:t>+ </a:t>
            </a:r>
            <a:r>
              <a:rPr lang="en-US" altLang="zh-CN">
                <a:solidFill>
                  <a:srgbClr val="000080"/>
                </a:solidFill>
              </a:rPr>
              <a:t>2F</a:t>
            </a:r>
            <a:r>
              <a:rPr lang="en-US" altLang="zh-CN" baseline="30000">
                <a:solidFill>
                  <a:srgbClr val="800080"/>
                </a:solidFill>
              </a:rPr>
              <a:t>(2)</a:t>
            </a:r>
            <a:r>
              <a:rPr lang="en-US" altLang="zh-CN">
                <a:solidFill>
                  <a:srgbClr val="800080"/>
                </a:solidFill>
              </a:rPr>
              <a:t> </a:t>
            </a:r>
            <a:r>
              <a:rPr lang="en-US" altLang="zh-CN" i="1">
                <a:solidFill>
                  <a:srgbClr val="000080"/>
                </a:solidFill>
              </a:rPr>
              <a:t>+ </a:t>
            </a:r>
            <a:r>
              <a:rPr lang="en-US" altLang="zh-CN">
                <a:solidFill>
                  <a:srgbClr val="000080"/>
                </a:solidFill>
              </a:rPr>
              <a:t>2F</a:t>
            </a:r>
            <a:r>
              <a:rPr lang="en-US" altLang="zh-CN" baseline="30000">
                <a:solidFill>
                  <a:srgbClr val="800080"/>
                </a:solidFill>
              </a:rPr>
              <a:t>(3)</a:t>
            </a:r>
            <a:r>
              <a:rPr lang="en-US" altLang="zh-CN">
                <a:solidFill>
                  <a:srgbClr val="800080"/>
                </a:solidFill>
              </a:rPr>
              <a:t> </a:t>
            </a:r>
            <a:r>
              <a:rPr lang="en-US" altLang="zh-CN" i="1">
                <a:solidFill>
                  <a:srgbClr val="000080"/>
                </a:solidFill>
              </a:rPr>
              <a:t>+ F</a:t>
            </a:r>
            <a:r>
              <a:rPr lang="en-US" altLang="zh-CN" baseline="30000">
                <a:solidFill>
                  <a:srgbClr val="800080"/>
                </a:solidFill>
              </a:rPr>
              <a:t>(4)</a:t>
            </a:r>
            <a:r>
              <a:rPr lang="en-US" altLang="zh-CN">
                <a:solidFill>
                  <a:srgbClr val="000080"/>
                </a:solidFill>
              </a:rPr>
              <a:t>)/6</a:t>
            </a:r>
            <a:r>
              <a:rPr lang="en-US" altLang="zh-CN">
                <a:solidFill>
                  <a:srgbClr val="000000"/>
                </a:solidFill>
              </a:rPr>
              <a:t>.</a:t>
            </a:r>
          </a:p>
        </p:txBody>
      </p:sp>
      <p:sp>
        <p:nvSpPr>
          <p:cNvPr id="19463" name="Rectangle 11"/>
          <p:cNvSpPr>
            <a:spLocks noChangeArrowheads="1"/>
          </p:cNvSpPr>
          <p:nvPr/>
        </p:nvSpPr>
        <p:spPr bwMode="auto">
          <a:xfrm>
            <a:off x="684213" y="1557338"/>
            <a:ext cx="73437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a:t>可使用与求 </a:t>
            </a:r>
            <a:r>
              <a:rPr lang="en-US" altLang="zh-CN">
                <a:solidFill>
                  <a:srgbClr val="000080"/>
                </a:solidFill>
              </a:rPr>
              <a:t>F</a:t>
            </a:r>
            <a:r>
              <a:rPr lang="en-US" altLang="zh-CN" baseline="30000">
                <a:solidFill>
                  <a:srgbClr val="800080"/>
                </a:solidFill>
              </a:rPr>
              <a:t>(2)</a:t>
            </a:r>
            <a:r>
              <a:rPr lang="zh-CN" altLang="en-US"/>
              <a:t>相同的方法求 </a:t>
            </a:r>
            <a:r>
              <a:rPr lang="en-US" altLang="zh-CN">
                <a:solidFill>
                  <a:srgbClr val="000080"/>
                </a:solidFill>
              </a:rPr>
              <a:t>F</a:t>
            </a:r>
            <a:r>
              <a:rPr lang="en-US" altLang="zh-CN" baseline="30000">
                <a:solidFill>
                  <a:srgbClr val="800080"/>
                </a:solidFill>
              </a:rPr>
              <a:t>(3) </a:t>
            </a:r>
            <a:r>
              <a:rPr lang="zh-CN" altLang="pt-BR"/>
              <a:t>和 </a:t>
            </a:r>
            <a:r>
              <a:rPr lang="en-US" altLang="zh-CN">
                <a:solidFill>
                  <a:srgbClr val="000080"/>
                </a:solidFill>
              </a:rPr>
              <a:t>F</a:t>
            </a:r>
            <a:r>
              <a:rPr lang="en-US" altLang="zh-CN" baseline="30000">
                <a:solidFill>
                  <a:srgbClr val="800080"/>
                </a:solidFill>
              </a:rPr>
              <a:t>(4)</a:t>
            </a:r>
          </a:p>
        </p:txBody>
      </p:sp>
    </p:spTree>
  </p:cSld>
  <p:clrMapOvr>
    <a:masterClrMapping/>
  </p:clrMapOvr>
  <p:transition spd="med">
    <p:pull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Text Box 2"/>
          <p:cNvSpPr txBox="1">
            <a:spLocks noChangeArrowheads="1"/>
          </p:cNvSpPr>
          <p:nvPr/>
        </p:nvSpPr>
        <p:spPr bwMode="auto">
          <a:xfrm>
            <a:off x="914400" y="3276600"/>
            <a:ext cx="41592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400"/>
              <a:t>SUBROUTINE XPSYS ( X, F)</a:t>
            </a:r>
          </a:p>
        </p:txBody>
      </p:sp>
      <p:graphicFrame>
        <p:nvGraphicFramePr>
          <p:cNvPr id="20483" name="Object 3"/>
          <p:cNvGraphicFramePr>
            <a:graphicFrameLocks noChangeAspect="1"/>
          </p:cNvGraphicFramePr>
          <p:nvPr/>
        </p:nvGraphicFramePr>
        <p:xfrm>
          <a:off x="1295400" y="152400"/>
          <a:ext cx="4895850" cy="2946400"/>
        </p:xfrm>
        <a:graphic>
          <a:graphicData uri="http://schemas.openxmlformats.org/presentationml/2006/ole">
            <mc:AlternateContent xmlns:mc="http://schemas.openxmlformats.org/markup-compatibility/2006">
              <mc:Choice xmlns:v="urn:schemas-microsoft-com:vml" Requires="v">
                <p:oleObj spid="_x0000_s20492" name="Microsoft 公式 3.0" r:id="rId3" imgW="1778000" imgH="965200" progId="Equation.3">
                  <p:embed/>
                </p:oleObj>
              </mc:Choice>
              <mc:Fallback>
                <p:oleObj name="Microsoft 公式 3.0" r:id="rId3" imgW="1778000" imgH="965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52400"/>
                        <a:ext cx="4895850" cy="294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1412" name="Text Box 4"/>
          <p:cNvSpPr txBox="1">
            <a:spLocks noChangeArrowheads="1"/>
          </p:cNvSpPr>
          <p:nvPr/>
        </p:nvSpPr>
        <p:spPr bwMode="auto">
          <a:xfrm>
            <a:off x="1066800" y="3698875"/>
            <a:ext cx="34036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400"/>
              <a:t>DIMENSION X(3), F(3) </a:t>
            </a:r>
          </a:p>
        </p:txBody>
      </p:sp>
      <p:sp>
        <p:nvSpPr>
          <p:cNvPr id="401413" name="Text Box 5"/>
          <p:cNvSpPr txBox="1">
            <a:spLocks noChangeArrowheads="1"/>
          </p:cNvSpPr>
          <p:nvPr/>
        </p:nvSpPr>
        <p:spPr bwMode="auto">
          <a:xfrm>
            <a:off x="1066800" y="4137025"/>
            <a:ext cx="12795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400"/>
              <a:t>F(1)=1.0</a:t>
            </a:r>
          </a:p>
        </p:txBody>
      </p:sp>
      <p:sp>
        <p:nvSpPr>
          <p:cNvPr id="401414" name="Text Box 6"/>
          <p:cNvSpPr txBox="1">
            <a:spLocks noChangeArrowheads="1"/>
          </p:cNvSpPr>
          <p:nvPr/>
        </p:nvSpPr>
        <p:spPr bwMode="auto">
          <a:xfrm>
            <a:off x="990600" y="4651375"/>
            <a:ext cx="577691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400"/>
              <a:t>F(2)=X(2)-X(3)+X(1)*(2.0-X(1)*(1.0+ X(1))</a:t>
            </a:r>
          </a:p>
        </p:txBody>
      </p:sp>
      <p:sp>
        <p:nvSpPr>
          <p:cNvPr id="401415" name="Text Box 7"/>
          <p:cNvSpPr txBox="1">
            <a:spLocks noChangeArrowheads="1"/>
          </p:cNvSpPr>
          <p:nvPr/>
        </p:nvSpPr>
        <p:spPr bwMode="auto">
          <a:xfrm>
            <a:off x="990600" y="5184775"/>
            <a:ext cx="51212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400"/>
              <a:t>F(3)=X(2)+X(3)-X(1)* X(1)*(4.0-X(1))</a:t>
            </a:r>
          </a:p>
        </p:txBody>
      </p:sp>
      <p:sp>
        <p:nvSpPr>
          <p:cNvPr id="401416" name="Text Box 8"/>
          <p:cNvSpPr txBox="1">
            <a:spLocks noChangeArrowheads="1"/>
          </p:cNvSpPr>
          <p:nvPr/>
        </p:nvSpPr>
        <p:spPr bwMode="auto">
          <a:xfrm>
            <a:off x="1752600" y="5737225"/>
            <a:ext cx="14732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400"/>
              <a:t>RETURN</a:t>
            </a:r>
          </a:p>
          <a:p>
            <a:pPr eaLnBrk="1" hangingPunct="1">
              <a:lnSpc>
                <a:spcPct val="120000"/>
              </a:lnSpc>
            </a:pPr>
            <a:r>
              <a:rPr lang="en-US" altLang="zh-CN" sz="2400"/>
              <a:t>END</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1410"/>
                                        </p:tgtEl>
                                        <p:attrNameLst>
                                          <p:attrName>style.visibility</p:attrName>
                                        </p:attrNameLst>
                                      </p:cBhvr>
                                      <p:to>
                                        <p:strVal val="visible"/>
                                      </p:to>
                                    </p:set>
                                    <p:anim calcmode="lin" valueType="num">
                                      <p:cBhvr additive="base">
                                        <p:cTn id="7" dur="500" fill="hold"/>
                                        <p:tgtEl>
                                          <p:spTgt spid="401410"/>
                                        </p:tgtEl>
                                        <p:attrNameLst>
                                          <p:attrName>ppt_x</p:attrName>
                                        </p:attrNameLst>
                                      </p:cBhvr>
                                      <p:tavLst>
                                        <p:tav tm="0">
                                          <p:val>
                                            <p:strVal val="0-#ppt_w/2"/>
                                          </p:val>
                                        </p:tav>
                                        <p:tav tm="100000">
                                          <p:val>
                                            <p:strVal val="#ppt_x"/>
                                          </p:val>
                                        </p:tav>
                                      </p:tavLst>
                                    </p:anim>
                                    <p:anim calcmode="lin" valueType="num">
                                      <p:cBhvr additive="base">
                                        <p:cTn id="8" dur="500" fill="hold"/>
                                        <p:tgtEl>
                                          <p:spTgt spid="40141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1412"/>
                                        </p:tgtEl>
                                        <p:attrNameLst>
                                          <p:attrName>style.visibility</p:attrName>
                                        </p:attrNameLst>
                                      </p:cBhvr>
                                      <p:to>
                                        <p:strVal val="visible"/>
                                      </p:to>
                                    </p:set>
                                    <p:anim calcmode="lin" valueType="num">
                                      <p:cBhvr additive="base">
                                        <p:cTn id="13" dur="500" fill="hold"/>
                                        <p:tgtEl>
                                          <p:spTgt spid="401412"/>
                                        </p:tgtEl>
                                        <p:attrNameLst>
                                          <p:attrName>ppt_x</p:attrName>
                                        </p:attrNameLst>
                                      </p:cBhvr>
                                      <p:tavLst>
                                        <p:tav tm="0">
                                          <p:val>
                                            <p:strVal val="0-#ppt_w/2"/>
                                          </p:val>
                                        </p:tav>
                                        <p:tav tm="100000">
                                          <p:val>
                                            <p:strVal val="#ppt_x"/>
                                          </p:val>
                                        </p:tav>
                                      </p:tavLst>
                                    </p:anim>
                                    <p:anim calcmode="lin" valueType="num">
                                      <p:cBhvr additive="base">
                                        <p:cTn id="14" dur="500" fill="hold"/>
                                        <p:tgtEl>
                                          <p:spTgt spid="40141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1413"/>
                                        </p:tgtEl>
                                        <p:attrNameLst>
                                          <p:attrName>style.visibility</p:attrName>
                                        </p:attrNameLst>
                                      </p:cBhvr>
                                      <p:to>
                                        <p:strVal val="visible"/>
                                      </p:to>
                                    </p:set>
                                    <p:anim calcmode="lin" valueType="num">
                                      <p:cBhvr additive="base">
                                        <p:cTn id="19" dur="500" fill="hold"/>
                                        <p:tgtEl>
                                          <p:spTgt spid="401413"/>
                                        </p:tgtEl>
                                        <p:attrNameLst>
                                          <p:attrName>ppt_x</p:attrName>
                                        </p:attrNameLst>
                                      </p:cBhvr>
                                      <p:tavLst>
                                        <p:tav tm="0">
                                          <p:val>
                                            <p:strVal val="0-#ppt_w/2"/>
                                          </p:val>
                                        </p:tav>
                                        <p:tav tm="100000">
                                          <p:val>
                                            <p:strVal val="#ppt_x"/>
                                          </p:val>
                                        </p:tav>
                                      </p:tavLst>
                                    </p:anim>
                                    <p:anim calcmode="lin" valueType="num">
                                      <p:cBhvr additive="base">
                                        <p:cTn id="20" dur="500" fill="hold"/>
                                        <p:tgtEl>
                                          <p:spTgt spid="40141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1414"/>
                                        </p:tgtEl>
                                        <p:attrNameLst>
                                          <p:attrName>style.visibility</p:attrName>
                                        </p:attrNameLst>
                                      </p:cBhvr>
                                      <p:to>
                                        <p:strVal val="visible"/>
                                      </p:to>
                                    </p:set>
                                    <p:anim calcmode="lin" valueType="num">
                                      <p:cBhvr additive="base">
                                        <p:cTn id="25" dur="500" fill="hold"/>
                                        <p:tgtEl>
                                          <p:spTgt spid="401414"/>
                                        </p:tgtEl>
                                        <p:attrNameLst>
                                          <p:attrName>ppt_x</p:attrName>
                                        </p:attrNameLst>
                                      </p:cBhvr>
                                      <p:tavLst>
                                        <p:tav tm="0">
                                          <p:val>
                                            <p:strVal val="0-#ppt_w/2"/>
                                          </p:val>
                                        </p:tav>
                                        <p:tav tm="100000">
                                          <p:val>
                                            <p:strVal val="#ppt_x"/>
                                          </p:val>
                                        </p:tav>
                                      </p:tavLst>
                                    </p:anim>
                                    <p:anim calcmode="lin" valueType="num">
                                      <p:cBhvr additive="base">
                                        <p:cTn id="26" dur="500" fill="hold"/>
                                        <p:tgtEl>
                                          <p:spTgt spid="40141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1415"/>
                                        </p:tgtEl>
                                        <p:attrNameLst>
                                          <p:attrName>style.visibility</p:attrName>
                                        </p:attrNameLst>
                                      </p:cBhvr>
                                      <p:to>
                                        <p:strVal val="visible"/>
                                      </p:to>
                                    </p:set>
                                    <p:anim calcmode="lin" valueType="num">
                                      <p:cBhvr additive="base">
                                        <p:cTn id="31" dur="500" fill="hold"/>
                                        <p:tgtEl>
                                          <p:spTgt spid="401415"/>
                                        </p:tgtEl>
                                        <p:attrNameLst>
                                          <p:attrName>ppt_x</p:attrName>
                                        </p:attrNameLst>
                                      </p:cBhvr>
                                      <p:tavLst>
                                        <p:tav tm="0">
                                          <p:val>
                                            <p:strVal val="0-#ppt_w/2"/>
                                          </p:val>
                                        </p:tav>
                                        <p:tav tm="100000">
                                          <p:val>
                                            <p:strVal val="#ppt_x"/>
                                          </p:val>
                                        </p:tav>
                                      </p:tavLst>
                                    </p:anim>
                                    <p:anim calcmode="lin" valueType="num">
                                      <p:cBhvr additive="base">
                                        <p:cTn id="32" dur="500" fill="hold"/>
                                        <p:tgtEl>
                                          <p:spTgt spid="40141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01416"/>
                                        </p:tgtEl>
                                        <p:attrNameLst>
                                          <p:attrName>style.visibility</p:attrName>
                                        </p:attrNameLst>
                                      </p:cBhvr>
                                      <p:to>
                                        <p:strVal val="visible"/>
                                      </p:to>
                                    </p:set>
                                    <p:anim calcmode="lin" valueType="num">
                                      <p:cBhvr additive="base">
                                        <p:cTn id="37" dur="500" fill="hold"/>
                                        <p:tgtEl>
                                          <p:spTgt spid="401416"/>
                                        </p:tgtEl>
                                        <p:attrNameLst>
                                          <p:attrName>ppt_x</p:attrName>
                                        </p:attrNameLst>
                                      </p:cBhvr>
                                      <p:tavLst>
                                        <p:tav tm="0">
                                          <p:val>
                                            <p:strVal val="0-#ppt_w/2"/>
                                          </p:val>
                                        </p:tav>
                                        <p:tav tm="100000">
                                          <p:val>
                                            <p:strVal val="#ppt_x"/>
                                          </p:val>
                                        </p:tav>
                                      </p:tavLst>
                                    </p:anim>
                                    <p:anim calcmode="lin" valueType="num">
                                      <p:cBhvr additive="base">
                                        <p:cTn id="38" dur="500" fill="hold"/>
                                        <p:tgtEl>
                                          <p:spTgt spid="4014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410" grpId="0" autoUpdateAnimBg="0"/>
      <p:bldP spid="401412" grpId="0" autoUpdateAnimBg="0"/>
      <p:bldP spid="401413" grpId="0" autoUpdateAnimBg="0"/>
      <p:bldP spid="401414" grpId="0" autoUpdateAnimBg="0"/>
      <p:bldP spid="401415" grpId="0" autoUpdateAnimBg="0"/>
      <p:bldP spid="401416"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457200" y="76200"/>
            <a:ext cx="75850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SUBROUTINE RK4SYS(N, T, X, H, NSTEP)</a:t>
            </a:r>
          </a:p>
          <a:p>
            <a:pPr eaLnBrk="1" hangingPunct="1"/>
            <a:r>
              <a:rPr lang="en-US" altLang="zh-CN" sz="2400"/>
              <a:t>DIMENSION X(10),Y(10), F1(10), F2(10), F3(10), F4(10)</a:t>
            </a:r>
          </a:p>
        </p:txBody>
      </p:sp>
      <p:sp>
        <p:nvSpPr>
          <p:cNvPr id="239619" name="Text Box 3"/>
          <p:cNvSpPr txBox="1">
            <a:spLocks noChangeArrowheads="1"/>
          </p:cNvSpPr>
          <p:nvPr/>
        </p:nvSpPr>
        <p:spPr bwMode="auto">
          <a:xfrm>
            <a:off x="609600" y="914400"/>
            <a:ext cx="2490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DO  K=1, NSTEP</a:t>
            </a:r>
          </a:p>
        </p:txBody>
      </p:sp>
      <p:sp>
        <p:nvSpPr>
          <p:cNvPr id="239620" name="Text Box 4"/>
          <p:cNvSpPr txBox="1">
            <a:spLocks noChangeArrowheads="1"/>
          </p:cNvSpPr>
          <p:nvPr/>
        </p:nvSpPr>
        <p:spPr bwMode="auto">
          <a:xfrm>
            <a:off x="762000" y="1371600"/>
            <a:ext cx="74882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      CALL XPSYS(X, F1)</a:t>
            </a:r>
          </a:p>
          <a:p>
            <a:pPr eaLnBrk="1" hangingPunct="1"/>
            <a:r>
              <a:rPr lang="en-US" altLang="zh-CN" sz="2400"/>
              <a:t>      DO  I=1, N       Y(I)=X(I)+H*F1(I)/2.             ENDDO</a:t>
            </a:r>
          </a:p>
        </p:txBody>
      </p:sp>
      <p:sp>
        <p:nvSpPr>
          <p:cNvPr id="239621" name="Text Box 5"/>
          <p:cNvSpPr txBox="1">
            <a:spLocks noChangeArrowheads="1"/>
          </p:cNvSpPr>
          <p:nvPr/>
        </p:nvSpPr>
        <p:spPr bwMode="auto">
          <a:xfrm>
            <a:off x="609600" y="6172200"/>
            <a:ext cx="1819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ENDDO       </a:t>
            </a:r>
          </a:p>
        </p:txBody>
      </p:sp>
      <p:sp>
        <p:nvSpPr>
          <p:cNvPr id="239622" name="Text Box 6"/>
          <p:cNvSpPr txBox="1">
            <a:spLocks noChangeArrowheads="1"/>
          </p:cNvSpPr>
          <p:nvPr/>
        </p:nvSpPr>
        <p:spPr bwMode="auto">
          <a:xfrm>
            <a:off x="5410200" y="6248400"/>
            <a:ext cx="147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RETURN</a:t>
            </a:r>
          </a:p>
        </p:txBody>
      </p:sp>
      <p:sp>
        <p:nvSpPr>
          <p:cNvPr id="239623" name="Text Box 7"/>
          <p:cNvSpPr txBox="1">
            <a:spLocks noChangeArrowheads="1"/>
          </p:cNvSpPr>
          <p:nvPr/>
        </p:nvSpPr>
        <p:spPr bwMode="auto">
          <a:xfrm>
            <a:off x="685800" y="2133600"/>
            <a:ext cx="74882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      CALL XPSYS(Y, F2)</a:t>
            </a:r>
          </a:p>
          <a:p>
            <a:pPr eaLnBrk="1" hangingPunct="1"/>
            <a:r>
              <a:rPr lang="en-US" altLang="zh-CN" sz="2400"/>
              <a:t>      DO  I=1, N            Y(I)=X(I)+H*F2(I)/2.        ENDDO</a:t>
            </a:r>
          </a:p>
        </p:txBody>
      </p:sp>
      <p:sp>
        <p:nvSpPr>
          <p:cNvPr id="239624" name="Text Box 8"/>
          <p:cNvSpPr txBox="1">
            <a:spLocks noChangeArrowheads="1"/>
          </p:cNvSpPr>
          <p:nvPr/>
        </p:nvSpPr>
        <p:spPr bwMode="auto">
          <a:xfrm>
            <a:off x="990600" y="2971800"/>
            <a:ext cx="74803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     CALL XPSYS(Y, F3)</a:t>
            </a:r>
          </a:p>
          <a:p>
            <a:pPr eaLnBrk="1" hangingPunct="1"/>
            <a:r>
              <a:rPr lang="en-US" altLang="zh-CN" sz="2400"/>
              <a:t>     DO  I=1, N          Y(I)=X(I)+H*F3(I)               ENDDO</a:t>
            </a:r>
          </a:p>
        </p:txBody>
      </p:sp>
      <p:sp>
        <p:nvSpPr>
          <p:cNvPr id="239625" name="Text Box 9"/>
          <p:cNvSpPr txBox="1">
            <a:spLocks noChangeArrowheads="1"/>
          </p:cNvSpPr>
          <p:nvPr/>
        </p:nvSpPr>
        <p:spPr bwMode="auto">
          <a:xfrm>
            <a:off x="1143000" y="3733800"/>
            <a:ext cx="3294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    CALL XPSYS(Y, F4)</a:t>
            </a:r>
          </a:p>
        </p:txBody>
      </p:sp>
      <p:sp>
        <p:nvSpPr>
          <p:cNvPr id="239626" name="Text Box 10"/>
          <p:cNvSpPr txBox="1">
            <a:spLocks noChangeArrowheads="1"/>
          </p:cNvSpPr>
          <p:nvPr/>
        </p:nvSpPr>
        <p:spPr bwMode="auto">
          <a:xfrm>
            <a:off x="1371600" y="4191000"/>
            <a:ext cx="6985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DO  I=1, N</a:t>
            </a:r>
          </a:p>
          <a:p>
            <a:pPr eaLnBrk="1" hangingPunct="1"/>
            <a:r>
              <a:rPr lang="en-US" altLang="zh-CN" sz="2400"/>
              <a:t>         X(I)=X(I)+H*(F1(1)+2.*(F2(I)+F3(I))+F4(I))/6.</a:t>
            </a:r>
          </a:p>
          <a:p>
            <a:pPr eaLnBrk="1" hangingPunct="1"/>
            <a:r>
              <a:rPr lang="en-US" altLang="zh-CN" sz="2400"/>
              <a:t>     ENDDO</a:t>
            </a:r>
          </a:p>
        </p:txBody>
      </p:sp>
      <p:sp>
        <p:nvSpPr>
          <p:cNvPr id="239627" name="Text Box 11"/>
          <p:cNvSpPr txBox="1">
            <a:spLocks noChangeArrowheads="1"/>
          </p:cNvSpPr>
          <p:nvPr/>
        </p:nvSpPr>
        <p:spPr bwMode="auto">
          <a:xfrm>
            <a:off x="1600200" y="5410200"/>
            <a:ext cx="39671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T=T+REAL(K)*H</a:t>
            </a:r>
          </a:p>
          <a:p>
            <a:pPr eaLnBrk="1" hangingPunct="1"/>
            <a:r>
              <a:rPr lang="en-US" altLang="zh-CN" sz="2400"/>
              <a:t>WRITE(*,*) T, (X(I),  I=1,N)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9619"/>
                                        </p:tgtEl>
                                        <p:attrNameLst>
                                          <p:attrName>style.visibility</p:attrName>
                                        </p:attrNameLst>
                                      </p:cBhvr>
                                      <p:to>
                                        <p:strVal val="visible"/>
                                      </p:to>
                                    </p:set>
                                    <p:anim calcmode="lin" valueType="num">
                                      <p:cBhvr additive="base">
                                        <p:cTn id="7" dur="500" fill="hold"/>
                                        <p:tgtEl>
                                          <p:spTgt spid="239619"/>
                                        </p:tgtEl>
                                        <p:attrNameLst>
                                          <p:attrName>ppt_x</p:attrName>
                                        </p:attrNameLst>
                                      </p:cBhvr>
                                      <p:tavLst>
                                        <p:tav tm="0">
                                          <p:val>
                                            <p:strVal val="0-#ppt_w/2"/>
                                          </p:val>
                                        </p:tav>
                                        <p:tav tm="100000">
                                          <p:val>
                                            <p:strVal val="#ppt_x"/>
                                          </p:val>
                                        </p:tav>
                                      </p:tavLst>
                                    </p:anim>
                                    <p:anim calcmode="lin" valueType="num">
                                      <p:cBhvr additive="base">
                                        <p:cTn id="8" dur="500" fill="hold"/>
                                        <p:tgtEl>
                                          <p:spTgt spid="23961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9621"/>
                                        </p:tgtEl>
                                        <p:attrNameLst>
                                          <p:attrName>style.visibility</p:attrName>
                                        </p:attrNameLst>
                                      </p:cBhvr>
                                      <p:to>
                                        <p:strVal val="visible"/>
                                      </p:to>
                                    </p:set>
                                    <p:anim calcmode="lin" valueType="num">
                                      <p:cBhvr additive="base">
                                        <p:cTn id="13" dur="500" fill="hold"/>
                                        <p:tgtEl>
                                          <p:spTgt spid="239621"/>
                                        </p:tgtEl>
                                        <p:attrNameLst>
                                          <p:attrName>ppt_x</p:attrName>
                                        </p:attrNameLst>
                                      </p:cBhvr>
                                      <p:tavLst>
                                        <p:tav tm="0">
                                          <p:val>
                                            <p:strVal val="0-#ppt_w/2"/>
                                          </p:val>
                                        </p:tav>
                                        <p:tav tm="100000">
                                          <p:val>
                                            <p:strVal val="#ppt_x"/>
                                          </p:val>
                                        </p:tav>
                                      </p:tavLst>
                                    </p:anim>
                                    <p:anim calcmode="lin" valueType="num">
                                      <p:cBhvr additive="base">
                                        <p:cTn id="14" dur="500" fill="hold"/>
                                        <p:tgtEl>
                                          <p:spTgt spid="23962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9620"/>
                                        </p:tgtEl>
                                        <p:attrNameLst>
                                          <p:attrName>style.visibility</p:attrName>
                                        </p:attrNameLst>
                                      </p:cBhvr>
                                      <p:to>
                                        <p:strVal val="visible"/>
                                      </p:to>
                                    </p:set>
                                    <p:anim calcmode="lin" valueType="num">
                                      <p:cBhvr additive="base">
                                        <p:cTn id="19" dur="500" fill="hold"/>
                                        <p:tgtEl>
                                          <p:spTgt spid="239620"/>
                                        </p:tgtEl>
                                        <p:attrNameLst>
                                          <p:attrName>ppt_x</p:attrName>
                                        </p:attrNameLst>
                                      </p:cBhvr>
                                      <p:tavLst>
                                        <p:tav tm="0">
                                          <p:val>
                                            <p:strVal val="0-#ppt_w/2"/>
                                          </p:val>
                                        </p:tav>
                                        <p:tav tm="100000">
                                          <p:val>
                                            <p:strVal val="#ppt_x"/>
                                          </p:val>
                                        </p:tav>
                                      </p:tavLst>
                                    </p:anim>
                                    <p:anim calcmode="lin" valueType="num">
                                      <p:cBhvr additive="base">
                                        <p:cTn id="20" dur="500" fill="hold"/>
                                        <p:tgtEl>
                                          <p:spTgt spid="239620"/>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9623"/>
                                        </p:tgtEl>
                                        <p:attrNameLst>
                                          <p:attrName>style.visibility</p:attrName>
                                        </p:attrNameLst>
                                      </p:cBhvr>
                                      <p:to>
                                        <p:strVal val="visible"/>
                                      </p:to>
                                    </p:set>
                                    <p:anim calcmode="lin" valueType="num">
                                      <p:cBhvr additive="base">
                                        <p:cTn id="25" dur="500" fill="hold"/>
                                        <p:tgtEl>
                                          <p:spTgt spid="239623"/>
                                        </p:tgtEl>
                                        <p:attrNameLst>
                                          <p:attrName>ppt_x</p:attrName>
                                        </p:attrNameLst>
                                      </p:cBhvr>
                                      <p:tavLst>
                                        <p:tav tm="0">
                                          <p:val>
                                            <p:strVal val="0-#ppt_w/2"/>
                                          </p:val>
                                        </p:tav>
                                        <p:tav tm="100000">
                                          <p:val>
                                            <p:strVal val="#ppt_x"/>
                                          </p:val>
                                        </p:tav>
                                      </p:tavLst>
                                    </p:anim>
                                    <p:anim calcmode="lin" valueType="num">
                                      <p:cBhvr additive="base">
                                        <p:cTn id="26" dur="500" fill="hold"/>
                                        <p:tgtEl>
                                          <p:spTgt spid="23962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9624"/>
                                        </p:tgtEl>
                                        <p:attrNameLst>
                                          <p:attrName>style.visibility</p:attrName>
                                        </p:attrNameLst>
                                      </p:cBhvr>
                                      <p:to>
                                        <p:strVal val="visible"/>
                                      </p:to>
                                    </p:set>
                                    <p:anim calcmode="lin" valueType="num">
                                      <p:cBhvr additive="base">
                                        <p:cTn id="31" dur="500" fill="hold"/>
                                        <p:tgtEl>
                                          <p:spTgt spid="239624"/>
                                        </p:tgtEl>
                                        <p:attrNameLst>
                                          <p:attrName>ppt_x</p:attrName>
                                        </p:attrNameLst>
                                      </p:cBhvr>
                                      <p:tavLst>
                                        <p:tav tm="0">
                                          <p:val>
                                            <p:strVal val="0-#ppt_w/2"/>
                                          </p:val>
                                        </p:tav>
                                        <p:tav tm="100000">
                                          <p:val>
                                            <p:strVal val="#ppt_x"/>
                                          </p:val>
                                        </p:tav>
                                      </p:tavLst>
                                    </p:anim>
                                    <p:anim calcmode="lin" valueType="num">
                                      <p:cBhvr additive="base">
                                        <p:cTn id="32" dur="500" fill="hold"/>
                                        <p:tgtEl>
                                          <p:spTgt spid="239624"/>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9625"/>
                                        </p:tgtEl>
                                        <p:attrNameLst>
                                          <p:attrName>style.visibility</p:attrName>
                                        </p:attrNameLst>
                                      </p:cBhvr>
                                      <p:to>
                                        <p:strVal val="visible"/>
                                      </p:to>
                                    </p:set>
                                    <p:anim calcmode="lin" valueType="num">
                                      <p:cBhvr additive="base">
                                        <p:cTn id="37" dur="500" fill="hold"/>
                                        <p:tgtEl>
                                          <p:spTgt spid="239625"/>
                                        </p:tgtEl>
                                        <p:attrNameLst>
                                          <p:attrName>ppt_x</p:attrName>
                                        </p:attrNameLst>
                                      </p:cBhvr>
                                      <p:tavLst>
                                        <p:tav tm="0">
                                          <p:val>
                                            <p:strVal val="0-#ppt_w/2"/>
                                          </p:val>
                                        </p:tav>
                                        <p:tav tm="100000">
                                          <p:val>
                                            <p:strVal val="#ppt_x"/>
                                          </p:val>
                                        </p:tav>
                                      </p:tavLst>
                                    </p:anim>
                                    <p:anim calcmode="lin" valueType="num">
                                      <p:cBhvr additive="base">
                                        <p:cTn id="38" dur="500" fill="hold"/>
                                        <p:tgtEl>
                                          <p:spTgt spid="239625"/>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9626"/>
                                        </p:tgtEl>
                                        <p:attrNameLst>
                                          <p:attrName>style.visibility</p:attrName>
                                        </p:attrNameLst>
                                      </p:cBhvr>
                                      <p:to>
                                        <p:strVal val="visible"/>
                                      </p:to>
                                    </p:set>
                                    <p:anim calcmode="lin" valueType="num">
                                      <p:cBhvr additive="base">
                                        <p:cTn id="43" dur="500" fill="hold"/>
                                        <p:tgtEl>
                                          <p:spTgt spid="239626"/>
                                        </p:tgtEl>
                                        <p:attrNameLst>
                                          <p:attrName>ppt_x</p:attrName>
                                        </p:attrNameLst>
                                      </p:cBhvr>
                                      <p:tavLst>
                                        <p:tav tm="0">
                                          <p:val>
                                            <p:strVal val="0-#ppt_w/2"/>
                                          </p:val>
                                        </p:tav>
                                        <p:tav tm="100000">
                                          <p:val>
                                            <p:strVal val="#ppt_x"/>
                                          </p:val>
                                        </p:tav>
                                      </p:tavLst>
                                    </p:anim>
                                    <p:anim calcmode="lin" valueType="num">
                                      <p:cBhvr additive="base">
                                        <p:cTn id="44" dur="500" fill="hold"/>
                                        <p:tgtEl>
                                          <p:spTgt spid="239626"/>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39627"/>
                                        </p:tgtEl>
                                        <p:attrNameLst>
                                          <p:attrName>style.visibility</p:attrName>
                                        </p:attrNameLst>
                                      </p:cBhvr>
                                      <p:to>
                                        <p:strVal val="visible"/>
                                      </p:to>
                                    </p:set>
                                    <p:anim calcmode="lin" valueType="num">
                                      <p:cBhvr additive="base">
                                        <p:cTn id="49" dur="500" fill="hold"/>
                                        <p:tgtEl>
                                          <p:spTgt spid="239627"/>
                                        </p:tgtEl>
                                        <p:attrNameLst>
                                          <p:attrName>ppt_x</p:attrName>
                                        </p:attrNameLst>
                                      </p:cBhvr>
                                      <p:tavLst>
                                        <p:tav tm="0">
                                          <p:val>
                                            <p:strVal val="0-#ppt_w/2"/>
                                          </p:val>
                                        </p:tav>
                                        <p:tav tm="100000">
                                          <p:val>
                                            <p:strVal val="#ppt_x"/>
                                          </p:val>
                                        </p:tav>
                                      </p:tavLst>
                                    </p:anim>
                                    <p:anim calcmode="lin" valueType="num">
                                      <p:cBhvr additive="base">
                                        <p:cTn id="50" dur="500" fill="hold"/>
                                        <p:tgtEl>
                                          <p:spTgt spid="239627"/>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39622"/>
                                        </p:tgtEl>
                                        <p:attrNameLst>
                                          <p:attrName>style.visibility</p:attrName>
                                        </p:attrNameLst>
                                      </p:cBhvr>
                                      <p:to>
                                        <p:strVal val="visible"/>
                                      </p:to>
                                    </p:set>
                                    <p:anim calcmode="lin" valueType="num">
                                      <p:cBhvr additive="base">
                                        <p:cTn id="55" dur="500" fill="hold"/>
                                        <p:tgtEl>
                                          <p:spTgt spid="239622"/>
                                        </p:tgtEl>
                                        <p:attrNameLst>
                                          <p:attrName>ppt_x</p:attrName>
                                        </p:attrNameLst>
                                      </p:cBhvr>
                                      <p:tavLst>
                                        <p:tav tm="0">
                                          <p:val>
                                            <p:strVal val="0-#ppt_w/2"/>
                                          </p:val>
                                        </p:tav>
                                        <p:tav tm="100000">
                                          <p:val>
                                            <p:strVal val="#ppt_x"/>
                                          </p:val>
                                        </p:tav>
                                      </p:tavLst>
                                    </p:anim>
                                    <p:anim calcmode="lin" valueType="num">
                                      <p:cBhvr additive="base">
                                        <p:cTn id="56" dur="500" fill="hold"/>
                                        <p:tgtEl>
                                          <p:spTgt spid="2396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autoUpdateAnimBg="0"/>
      <p:bldP spid="239620" grpId="0" autoUpdateAnimBg="0"/>
      <p:bldP spid="239621" grpId="0" autoUpdateAnimBg="0"/>
      <p:bldP spid="239622" grpId="0" autoUpdateAnimBg="0"/>
      <p:bldP spid="239623" grpId="0" autoUpdateAnimBg="0"/>
      <p:bldP spid="239624" grpId="0" autoUpdateAnimBg="0"/>
      <p:bldP spid="239625" grpId="0" autoUpdateAnimBg="0"/>
      <p:bldP spid="239626" grpId="0" autoUpdateAnimBg="0"/>
      <p:bldP spid="239627"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533400" y="388938"/>
            <a:ext cx="7080250" cy="265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800"/>
              <a:t>dimension x(3)</a:t>
            </a:r>
          </a:p>
          <a:p>
            <a:pPr eaLnBrk="1" hangingPunct="1">
              <a:lnSpc>
                <a:spcPct val="120000"/>
              </a:lnSpc>
            </a:pPr>
            <a:r>
              <a:rPr lang="en-US" altLang="zh-CN" sz="2800"/>
              <a:t>data n/3/,t/0.0/,x/0.0,1.0,0.0/,h/0.01/,nstep/100/</a:t>
            </a:r>
          </a:p>
          <a:p>
            <a:pPr eaLnBrk="1" hangingPunct="1">
              <a:lnSpc>
                <a:spcPct val="120000"/>
              </a:lnSpc>
            </a:pPr>
            <a:r>
              <a:rPr lang="en-US" altLang="zh-CN" sz="2800"/>
              <a:t>call rk4sys(n,t,x,h,nstep)</a:t>
            </a:r>
          </a:p>
          <a:p>
            <a:pPr eaLnBrk="1" hangingPunct="1">
              <a:lnSpc>
                <a:spcPct val="120000"/>
              </a:lnSpc>
            </a:pPr>
            <a:r>
              <a:rPr lang="en-US" altLang="zh-CN" sz="2800"/>
              <a:t>stop</a:t>
            </a:r>
          </a:p>
          <a:p>
            <a:pPr eaLnBrk="1" hangingPunct="1">
              <a:lnSpc>
                <a:spcPct val="120000"/>
              </a:lnSpc>
            </a:pPr>
            <a:r>
              <a:rPr lang="en-US" altLang="zh-CN" sz="2800"/>
              <a:t>end</a:t>
            </a:r>
          </a:p>
        </p:txBody>
      </p:sp>
      <p:graphicFrame>
        <p:nvGraphicFramePr>
          <p:cNvPr id="402435" name="Object 3"/>
          <p:cNvGraphicFramePr>
            <a:graphicFrameLocks noChangeAspect="1"/>
          </p:cNvGraphicFramePr>
          <p:nvPr/>
        </p:nvGraphicFramePr>
        <p:xfrm>
          <a:off x="1219200" y="3505200"/>
          <a:ext cx="4895850" cy="2946400"/>
        </p:xfrm>
        <a:graphic>
          <a:graphicData uri="http://schemas.openxmlformats.org/presentationml/2006/ole">
            <mc:AlternateContent xmlns:mc="http://schemas.openxmlformats.org/markup-compatibility/2006">
              <mc:Choice xmlns:v="urn:schemas-microsoft-com:vml" Requires="v">
                <p:oleObj spid="_x0000_s22535" name="Equation" r:id="rId3" imgW="1778000" imgH="965200" progId="Equation.3">
                  <p:embed/>
                </p:oleObj>
              </mc:Choice>
              <mc:Fallback>
                <p:oleObj name="Equation" r:id="rId3" imgW="1778000" imgH="965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505200"/>
                        <a:ext cx="4895850" cy="294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02435"/>
                                        </p:tgtEl>
                                        <p:attrNameLst>
                                          <p:attrName>style.visibility</p:attrName>
                                        </p:attrNameLst>
                                      </p:cBhvr>
                                      <p:to>
                                        <p:strVal val="visible"/>
                                      </p:to>
                                    </p:set>
                                    <p:anim calcmode="lin" valueType="num">
                                      <p:cBhvr additive="base">
                                        <p:cTn id="7" dur="500" fill="hold"/>
                                        <p:tgtEl>
                                          <p:spTgt spid="402435"/>
                                        </p:tgtEl>
                                        <p:attrNameLst>
                                          <p:attrName>ppt_x</p:attrName>
                                        </p:attrNameLst>
                                      </p:cBhvr>
                                      <p:tavLst>
                                        <p:tav tm="0">
                                          <p:val>
                                            <p:strVal val="0-#ppt_w/2"/>
                                          </p:val>
                                        </p:tav>
                                        <p:tav tm="100000">
                                          <p:val>
                                            <p:strVal val="#ppt_x"/>
                                          </p:val>
                                        </p:tav>
                                      </p:tavLst>
                                    </p:anim>
                                    <p:anim calcmode="lin" valueType="num">
                                      <p:cBhvr additive="base">
                                        <p:cTn id="8" dur="500" fill="hold"/>
                                        <p:tgtEl>
                                          <p:spTgt spid="4024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3"/>
          <p:cNvSpPr txBox="1">
            <a:spLocks noChangeArrowheads="1"/>
          </p:cNvSpPr>
          <p:nvPr/>
        </p:nvSpPr>
        <p:spPr bwMode="auto">
          <a:xfrm>
            <a:off x="611188" y="1120775"/>
            <a:ext cx="7489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8.2.1 Initial value problems (</a:t>
            </a:r>
            <a:r>
              <a:rPr lang="zh-CN" altLang="en-US"/>
              <a:t>初始值问题</a:t>
            </a:r>
            <a:r>
              <a:rPr lang="en-US" altLang="zh-CN"/>
              <a:t>)</a:t>
            </a: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2192338"/>
            <a:ext cx="5473700"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24288"/>
            <a:ext cx="9144000"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056" name="Group 8"/>
          <p:cNvGrpSpPr>
            <a:grpSpLocks/>
          </p:cNvGrpSpPr>
          <p:nvPr/>
        </p:nvGrpSpPr>
        <p:grpSpPr bwMode="auto">
          <a:xfrm>
            <a:off x="381000" y="4795838"/>
            <a:ext cx="8439150" cy="865187"/>
            <a:chOff x="336" y="3360"/>
            <a:chExt cx="2280" cy="216"/>
          </a:xfrm>
        </p:grpSpPr>
        <p:pic>
          <p:nvPicPr>
            <p:cNvPr id="2355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 y="3408"/>
              <a:ext cx="750"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6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4" y="3360"/>
              <a:ext cx="1512"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3558" name="Text Box 9"/>
          <p:cNvSpPr txBox="1">
            <a:spLocks noChangeArrowheads="1"/>
          </p:cNvSpPr>
          <p:nvPr/>
        </p:nvSpPr>
        <p:spPr bwMode="auto">
          <a:xfrm>
            <a:off x="179388" y="333375"/>
            <a:ext cx="85359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8.2 Higher order ordinary differential equations</a:t>
            </a:r>
            <a:endParaRPr lang="en-US" altLang="zh-CN" b="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 calcmode="lin" valueType="num">
                                      <p:cBhvr additive="base">
                                        <p:cTn id="7" dur="500" fill="hold"/>
                                        <p:tgtEl>
                                          <p:spTgt spid="2052"/>
                                        </p:tgtEl>
                                        <p:attrNameLst>
                                          <p:attrName>ppt_x</p:attrName>
                                        </p:attrNameLst>
                                      </p:cBhvr>
                                      <p:tavLst>
                                        <p:tav tm="0">
                                          <p:val>
                                            <p:strVal val="0-#ppt_w/2"/>
                                          </p:val>
                                        </p:tav>
                                        <p:tav tm="100000">
                                          <p:val>
                                            <p:strVal val="#ppt_x"/>
                                          </p:val>
                                        </p:tav>
                                      </p:tavLst>
                                    </p:anim>
                                    <p:anim calcmode="lin" valueType="num">
                                      <p:cBhvr additive="base">
                                        <p:cTn id="8" dur="500" fill="hold"/>
                                        <p:tgtEl>
                                          <p:spTgt spid="205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2053"/>
                                        </p:tgtEl>
                                        <p:attrNameLst>
                                          <p:attrName>style.visibility</p:attrName>
                                        </p:attrNameLst>
                                      </p:cBhvr>
                                      <p:to>
                                        <p:strVal val="visible"/>
                                      </p:to>
                                    </p:set>
                                    <p:anim calcmode="lin" valueType="num">
                                      <p:cBhvr additive="base">
                                        <p:cTn id="12" dur="500" fill="hold"/>
                                        <p:tgtEl>
                                          <p:spTgt spid="2053"/>
                                        </p:tgtEl>
                                        <p:attrNameLst>
                                          <p:attrName>ppt_x</p:attrName>
                                        </p:attrNameLst>
                                      </p:cBhvr>
                                      <p:tavLst>
                                        <p:tav tm="0">
                                          <p:val>
                                            <p:strVal val="0-#ppt_w/2"/>
                                          </p:val>
                                        </p:tav>
                                        <p:tav tm="100000">
                                          <p:val>
                                            <p:strVal val="#ppt_x"/>
                                          </p:val>
                                        </p:tav>
                                      </p:tavLst>
                                    </p:anim>
                                    <p:anim calcmode="lin" valueType="num">
                                      <p:cBhvr additive="base">
                                        <p:cTn id="13" dur="500" fill="hold"/>
                                        <p:tgtEl>
                                          <p:spTgt spid="205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2056"/>
                                        </p:tgtEl>
                                        <p:attrNameLst>
                                          <p:attrName>style.visibility</p:attrName>
                                        </p:attrNameLst>
                                      </p:cBhvr>
                                      <p:to>
                                        <p:strVal val="visible"/>
                                      </p:to>
                                    </p:set>
                                    <p:anim calcmode="lin" valueType="num">
                                      <p:cBhvr additive="base">
                                        <p:cTn id="18" dur="500" fill="hold"/>
                                        <p:tgtEl>
                                          <p:spTgt spid="2056"/>
                                        </p:tgtEl>
                                        <p:attrNameLst>
                                          <p:attrName>ppt_x</p:attrName>
                                        </p:attrNameLst>
                                      </p:cBhvr>
                                      <p:tavLst>
                                        <p:tav tm="0">
                                          <p:val>
                                            <p:strVal val="0-#ppt_w/2"/>
                                          </p:val>
                                        </p:tav>
                                        <p:tav tm="100000">
                                          <p:val>
                                            <p:strVal val="#ppt_x"/>
                                          </p:val>
                                        </p:tav>
                                      </p:tavLst>
                                    </p:anim>
                                    <p:anim calcmode="lin" valueType="num">
                                      <p:cBhvr additive="base">
                                        <p:cTn id="19" dur="500" fill="hold"/>
                                        <p:tgtEl>
                                          <p:spTgt spid="20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3"/>
          <p:cNvSpPr txBox="1">
            <a:spLocks noChangeArrowheads="1"/>
          </p:cNvSpPr>
          <p:nvPr/>
        </p:nvSpPr>
        <p:spPr bwMode="auto">
          <a:xfrm>
            <a:off x="755650" y="404813"/>
            <a:ext cx="2844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3600" i="1">
                <a:solidFill>
                  <a:srgbClr val="000080"/>
                </a:solidFill>
              </a:rPr>
              <a:t>y" </a:t>
            </a:r>
            <a:r>
              <a:rPr lang="en-US" altLang="zh-CN" sz="3600">
                <a:solidFill>
                  <a:srgbClr val="000080"/>
                </a:solidFill>
              </a:rPr>
              <a:t>= </a:t>
            </a:r>
            <a:r>
              <a:rPr lang="en-US" altLang="zh-CN" sz="3600" i="1">
                <a:solidFill>
                  <a:srgbClr val="000080"/>
                </a:solidFill>
              </a:rPr>
              <a:t>f</a:t>
            </a:r>
            <a:r>
              <a:rPr lang="en-US" altLang="zh-CN" sz="3600">
                <a:solidFill>
                  <a:srgbClr val="000080"/>
                </a:solidFill>
              </a:rPr>
              <a:t>(</a:t>
            </a:r>
            <a:r>
              <a:rPr lang="en-US" altLang="zh-CN" sz="3600" i="1">
                <a:solidFill>
                  <a:srgbClr val="000080"/>
                </a:solidFill>
              </a:rPr>
              <a:t>t</a:t>
            </a:r>
            <a:r>
              <a:rPr lang="en-US" altLang="zh-CN" sz="3600">
                <a:solidFill>
                  <a:srgbClr val="000080"/>
                </a:solidFill>
              </a:rPr>
              <a:t>, </a:t>
            </a:r>
            <a:r>
              <a:rPr lang="en-US" altLang="zh-CN" sz="3600" i="1">
                <a:solidFill>
                  <a:srgbClr val="000080"/>
                </a:solidFill>
              </a:rPr>
              <a:t>y</a:t>
            </a:r>
            <a:r>
              <a:rPr lang="en-US" altLang="zh-CN" sz="3600">
                <a:solidFill>
                  <a:srgbClr val="000080"/>
                </a:solidFill>
              </a:rPr>
              <a:t>, </a:t>
            </a:r>
            <a:r>
              <a:rPr lang="en-US" altLang="zh-CN" sz="3600" i="1">
                <a:solidFill>
                  <a:srgbClr val="000080"/>
                </a:solidFill>
              </a:rPr>
              <a:t>y’</a:t>
            </a:r>
            <a:r>
              <a:rPr lang="en-US" altLang="zh-CN" sz="3600">
                <a:solidFill>
                  <a:srgbClr val="000080"/>
                </a:solidFill>
              </a:rPr>
              <a:t>) </a:t>
            </a:r>
          </a:p>
        </p:txBody>
      </p:sp>
      <p:sp>
        <p:nvSpPr>
          <p:cNvPr id="410628" name="Text Box 4"/>
          <p:cNvSpPr txBox="1">
            <a:spLocks noChangeArrowheads="1"/>
          </p:cNvSpPr>
          <p:nvPr/>
        </p:nvSpPr>
        <p:spPr bwMode="auto">
          <a:xfrm>
            <a:off x="395288" y="1196975"/>
            <a:ext cx="61134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subject to </a:t>
            </a:r>
            <a:r>
              <a:rPr lang="en-US" altLang="zh-CN" i="1">
                <a:solidFill>
                  <a:srgbClr val="000080"/>
                </a:solidFill>
              </a:rPr>
              <a:t>y</a:t>
            </a:r>
            <a:r>
              <a:rPr lang="en-US" altLang="zh-CN">
                <a:solidFill>
                  <a:srgbClr val="000080"/>
                </a:solidFill>
              </a:rPr>
              <a:t>(0) = </a:t>
            </a:r>
            <a:r>
              <a:rPr lang="en-US" altLang="zh-CN" i="1">
                <a:solidFill>
                  <a:srgbClr val="000080"/>
                </a:solidFill>
              </a:rPr>
              <a:t>c</a:t>
            </a:r>
            <a:r>
              <a:rPr lang="en-US" altLang="zh-CN">
                <a:solidFill>
                  <a:srgbClr val="008080"/>
                </a:solidFill>
              </a:rPr>
              <a:t>0 </a:t>
            </a:r>
            <a:r>
              <a:rPr lang="en-US" altLang="zh-CN">
                <a:solidFill>
                  <a:srgbClr val="000000"/>
                </a:solidFill>
              </a:rPr>
              <a:t>and </a:t>
            </a:r>
            <a:r>
              <a:rPr lang="en-US" altLang="zh-CN" i="1">
                <a:solidFill>
                  <a:srgbClr val="000080"/>
                </a:solidFill>
              </a:rPr>
              <a:t>y’</a:t>
            </a:r>
            <a:r>
              <a:rPr lang="en-US" altLang="zh-CN">
                <a:solidFill>
                  <a:srgbClr val="000080"/>
                </a:solidFill>
              </a:rPr>
              <a:t>(0) = </a:t>
            </a:r>
            <a:r>
              <a:rPr lang="en-US" altLang="zh-CN" i="1">
                <a:solidFill>
                  <a:srgbClr val="000080"/>
                </a:solidFill>
              </a:rPr>
              <a:t>c</a:t>
            </a:r>
            <a:r>
              <a:rPr lang="en-US" altLang="zh-CN">
                <a:solidFill>
                  <a:srgbClr val="008080"/>
                </a:solidFill>
              </a:rPr>
              <a:t>1</a:t>
            </a:r>
            <a:r>
              <a:rPr lang="en-US" altLang="zh-CN"/>
              <a:t> </a:t>
            </a:r>
          </a:p>
        </p:txBody>
      </p:sp>
      <p:sp>
        <p:nvSpPr>
          <p:cNvPr id="410629" name="Text Box 5"/>
          <p:cNvSpPr txBox="1">
            <a:spLocks noChangeArrowheads="1"/>
          </p:cNvSpPr>
          <p:nvPr/>
        </p:nvSpPr>
        <p:spPr bwMode="auto">
          <a:xfrm>
            <a:off x="395288" y="2633663"/>
            <a:ext cx="59769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subject to </a:t>
            </a:r>
            <a:r>
              <a:rPr lang="en-US" altLang="zh-CN" i="1">
                <a:solidFill>
                  <a:srgbClr val="000080"/>
                </a:solidFill>
              </a:rPr>
              <a:t>y</a:t>
            </a:r>
            <a:r>
              <a:rPr lang="en-US" altLang="zh-CN">
                <a:solidFill>
                  <a:srgbClr val="000080"/>
                </a:solidFill>
              </a:rPr>
              <a:t>(0) = </a:t>
            </a:r>
            <a:r>
              <a:rPr lang="en-US" altLang="zh-CN" i="1">
                <a:solidFill>
                  <a:srgbClr val="000080"/>
                </a:solidFill>
              </a:rPr>
              <a:t>c</a:t>
            </a:r>
            <a:r>
              <a:rPr lang="en-US" altLang="zh-CN">
                <a:solidFill>
                  <a:srgbClr val="008080"/>
                </a:solidFill>
              </a:rPr>
              <a:t>0 </a:t>
            </a:r>
            <a:r>
              <a:rPr lang="en-US" altLang="zh-CN">
                <a:solidFill>
                  <a:srgbClr val="000000"/>
                </a:solidFill>
              </a:rPr>
              <a:t>and </a:t>
            </a:r>
            <a:r>
              <a:rPr lang="en-US" altLang="zh-CN" i="1">
                <a:solidFill>
                  <a:srgbClr val="000080"/>
                </a:solidFill>
              </a:rPr>
              <a:t>y</a:t>
            </a:r>
            <a:r>
              <a:rPr lang="en-US" altLang="zh-CN">
                <a:solidFill>
                  <a:srgbClr val="000080"/>
                </a:solidFill>
              </a:rPr>
              <a:t>(1) = </a:t>
            </a:r>
            <a:r>
              <a:rPr lang="en-US" altLang="zh-CN" i="1">
                <a:solidFill>
                  <a:srgbClr val="000080"/>
                </a:solidFill>
              </a:rPr>
              <a:t>c</a:t>
            </a:r>
            <a:r>
              <a:rPr lang="en-US" altLang="zh-CN">
                <a:solidFill>
                  <a:srgbClr val="008080"/>
                </a:solidFill>
              </a:rPr>
              <a:t>1</a:t>
            </a:r>
            <a:r>
              <a:rPr lang="en-US" altLang="zh-CN"/>
              <a:t> </a:t>
            </a:r>
          </a:p>
        </p:txBody>
      </p:sp>
      <p:sp>
        <p:nvSpPr>
          <p:cNvPr id="410630" name="Text Box 6"/>
          <p:cNvSpPr txBox="1">
            <a:spLocks noChangeArrowheads="1"/>
          </p:cNvSpPr>
          <p:nvPr/>
        </p:nvSpPr>
        <p:spPr bwMode="auto">
          <a:xfrm>
            <a:off x="250825" y="1916113"/>
            <a:ext cx="79200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 Initial value problems  (</a:t>
            </a:r>
            <a:r>
              <a:rPr lang="zh-CN" altLang="en-US"/>
              <a:t>初始值问题</a:t>
            </a:r>
            <a:r>
              <a:rPr lang="en-US" altLang="zh-CN"/>
              <a:t>)</a:t>
            </a:r>
          </a:p>
        </p:txBody>
      </p:sp>
      <p:sp>
        <p:nvSpPr>
          <p:cNvPr id="410631" name="Text Box 7"/>
          <p:cNvSpPr txBox="1">
            <a:spLocks noChangeArrowheads="1"/>
          </p:cNvSpPr>
          <p:nvPr/>
        </p:nvSpPr>
        <p:spPr bwMode="auto">
          <a:xfrm>
            <a:off x="323850" y="4289425"/>
            <a:ext cx="8351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 Boundary value problems </a:t>
            </a:r>
            <a:r>
              <a:rPr lang="en-US" altLang="zh-CN"/>
              <a:t>(</a:t>
            </a:r>
            <a:r>
              <a:rPr lang="zh-CN" altLang="en-US"/>
              <a:t>边值问题</a:t>
            </a:r>
            <a:r>
              <a:rPr lang="en-US" altLang="zh-CN"/>
              <a:t>) </a:t>
            </a:r>
            <a:endParaRPr lang="en-US" altLang="zh-CN" b="0"/>
          </a:p>
        </p:txBody>
      </p:sp>
      <p:sp>
        <p:nvSpPr>
          <p:cNvPr id="410632" name="Rectangle 8"/>
          <p:cNvSpPr>
            <a:spLocks noChangeArrowheads="1"/>
          </p:cNvSpPr>
          <p:nvPr/>
        </p:nvSpPr>
        <p:spPr bwMode="auto">
          <a:xfrm>
            <a:off x="468313" y="3351213"/>
            <a:ext cx="3657600"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(1)=0, y’(0)=0</a:t>
            </a:r>
            <a:endParaRPr lang="en-US" altLang="zh-CN"/>
          </a:p>
        </p:txBody>
      </p:sp>
      <p:sp>
        <p:nvSpPr>
          <p:cNvPr id="410633" name="Rectangle 9"/>
          <p:cNvSpPr>
            <a:spLocks noChangeArrowheads="1"/>
          </p:cNvSpPr>
          <p:nvPr/>
        </p:nvSpPr>
        <p:spPr bwMode="auto">
          <a:xfrm>
            <a:off x="4427538" y="3279775"/>
            <a:ext cx="28194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(0)=0, y(1)=0</a:t>
            </a:r>
            <a:endParaRPr lang="en-US" altLang="zh-CN"/>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0628"/>
                                        </p:tgtEl>
                                        <p:attrNameLst>
                                          <p:attrName>style.visibility</p:attrName>
                                        </p:attrNameLst>
                                      </p:cBhvr>
                                      <p:to>
                                        <p:strVal val="visible"/>
                                      </p:to>
                                    </p:set>
                                    <p:anim calcmode="lin" valueType="num">
                                      <p:cBhvr additive="base">
                                        <p:cTn id="7" dur="500" fill="hold"/>
                                        <p:tgtEl>
                                          <p:spTgt spid="410628"/>
                                        </p:tgtEl>
                                        <p:attrNameLst>
                                          <p:attrName>ppt_x</p:attrName>
                                        </p:attrNameLst>
                                      </p:cBhvr>
                                      <p:tavLst>
                                        <p:tav tm="0">
                                          <p:val>
                                            <p:strVal val="0-#ppt_w/2"/>
                                          </p:val>
                                        </p:tav>
                                        <p:tav tm="100000">
                                          <p:val>
                                            <p:strVal val="#ppt_x"/>
                                          </p:val>
                                        </p:tav>
                                      </p:tavLst>
                                    </p:anim>
                                    <p:anim calcmode="lin" valueType="num">
                                      <p:cBhvr additive="base">
                                        <p:cTn id="8" dur="500" fill="hold"/>
                                        <p:tgtEl>
                                          <p:spTgt spid="41062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10630"/>
                                        </p:tgtEl>
                                        <p:attrNameLst>
                                          <p:attrName>style.visibility</p:attrName>
                                        </p:attrNameLst>
                                      </p:cBhvr>
                                      <p:to>
                                        <p:strVal val="visible"/>
                                      </p:to>
                                    </p:set>
                                    <p:anim calcmode="lin" valueType="num">
                                      <p:cBhvr additive="base">
                                        <p:cTn id="12" dur="500" fill="hold"/>
                                        <p:tgtEl>
                                          <p:spTgt spid="410630"/>
                                        </p:tgtEl>
                                        <p:attrNameLst>
                                          <p:attrName>ppt_x</p:attrName>
                                        </p:attrNameLst>
                                      </p:cBhvr>
                                      <p:tavLst>
                                        <p:tav tm="0">
                                          <p:val>
                                            <p:strVal val="0-#ppt_w/2"/>
                                          </p:val>
                                        </p:tav>
                                        <p:tav tm="100000">
                                          <p:val>
                                            <p:strVal val="#ppt_x"/>
                                          </p:val>
                                        </p:tav>
                                      </p:tavLst>
                                    </p:anim>
                                    <p:anim calcmode="lin" valueType="num">
                                      <p:cBhvr additive="base">
                                        <p:cTn id="13" dur="500" fill="hold"/>
                                        <p:tgtEl>
                                          <p:spTgt spid="410630"/>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10629"/>
                                        </p:tgtEl>
                                        <p:attrNameLst>
                                          <p:attrName>style.visibility</p:attrName>
                                        </p:attrNameLst>
                                      </p:cBhvr>
                                      <p:to>
                                        <p:strVal val="visible"/>
                                      </p:to>
                                    </p:set>
                                    <p:anim calcmode="lin" valueType="num">
                                      <p:cBhvr additive="base">
                                        <p:cTn id="18" dur="500" fill="hold"/>
                                        <p:tgtEl>
                                          <p:spTgt spid="410629"/>
                                        </p:tgtEl>
                                        <p:attrNameLst>
                                          <p:attrName>ppt_x</p:attrName>
                                        </p:attrNameLst>
                                      </p:cBhvr>
                                      <p:tavLst>
                                        <p:tav tm="0">
                                          <p:val>
                                            <p:strVal val="0-#ppt_w/2"/>
                                          </p:val>
                                        </p:tav>
                                        <p:tav tm="100000">
                                          <p:val>
                                            <p:strVal val="#ppt_x"/>
                                          </p:val>
                                        </p:tav>
                                      </p:tavLst>
                                    </p:anim>
                                    <p:anim calcmode="lin" valueType="num">
                                      <p:cBhvr additive="base">
                                        <p:cTn id="19" dur="500" fill="hold"/>
                                        <p:tgtEl>
                                          <p:spTgt spid="410629"/>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10632"/>
                                        </p:tgtEl>
                                        <p:attrNameLst>
                                          <p:attrName>style.visibility</p:attrName>
                                        </p:attrNameLst>
                                      </p:cBhvr>
                                      <p:to>
                                        <p:strVal val="visible"/>
                                      </p:to>
                                    </p:set>
                                    <p:anim calcmode="lin" valueType="num">
                                      <p:cBhvr additive="base">
                                        <p:cTn id="24" dur="500" fill="hold"/>
                                        <p:tgtEl>
                                          <p:spTgt spid="410632"/>
                                        </p:tgtEl>
                                        <p:attrNameLst>
                                          <p:attrName>ppt_x</p:attrName>
                                        </p:attrNameLst>
                                      </p:cBhvr>
                                      <p:tavLst>
                                        <p:tav tm="0">
                                          <p:val>
                                            <p:strVal val="0-#ppt_w/2"/>
                                          </p:val>
                                        </p:tav>
                                        <p:tav tm="100000">
                                          <p:val>
                                            <p:strVal val="#ppt_x"/>
                                          </p:val>
                                        </p:tav>
                                      </p:tavLst>
                                    </p:anim>
                                    <p:anim calcmode="lin" valueType="num">
                                      <p:cBhvr additive="base">
                                        <p:cTn id="25" dur="500" fill="hold"/>
                                        <p:tgtEl>
                                          <p:spTgt spid="410632"/>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410633"/>
                                        </p:tgtEl>
                                        <p:attrNameLst>
                                          <p:attrName>style.visibility</p:attrName>
                                        </p:attrNameLst>
                                      </p:cBhvr>
                                      <p:to>
                                        <p:strVal val="visible"/>
                                      </p:to>
                                    </p:set>
                                    <p:anim calcmode="lin" valueType="num">
                                      <p:cBhvr additive="base">
                                        <p:cTn id="30" dur="500" fill="hold"/>
                                        <p:tgtEl>
                                          <p:spTgt spid="410633"/>
                                        </p:tgtEl>
                                        <p:attrNameLst>
                                          <p:attrName>ppt_x</p:attrName>
                                        </p:attrNameLst>
                                      </p:cBhvr>
                                      <p:tavLst>
                                        <p:tav tm="0">
                                          <p:val>
                                            <p:strVal val="0-#ppt_w/2"/>
                                          </p:val>
                                        </p:tav>
                                        <p:tav tm="100000">
                                          <p:val>
                                            <p:strVal val="#ppt_x"/>
                                          </p:val>
                                        </p:tav>
                                      </p:tavLst>
                                    </p:anim>
                                    <p:anim calcmode="lin" valueType="num">
                                      <p:cBhvr additive="base">
                                        <p:cTn id="31" dur="500" fill="hold"/>
                                        <p:tgtEl>
                                          <p:spTgt spid="410633"/>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10631"/>
                                        </p:tgtEl>
                                        <p:attrNameLst>
                                          <p:attrName>style.visibility</p:attrName>
                                        </p:attrNameLst>
                                      </p:cBhvr>
                                      <p:to>
                                        <p:strVal val="visible"/>
                                      </p:to>
                                    </p:set>
                                    <p:anim calcmode="lin" valueType="num">
                                      <p:cBhvr additive="base">
                                        <p:cTn id="36" dur="500" fill="hold"/>
                                        <p:tgtEl>
                                          <p:spTgt spid="410631"/>
                                        </p:tgtEl>
                                        <p:attrNameLst>
                                          <p:attrName>ppt_x</p:attrName>
                                        </p:attrNameLst>
                                      </p:cBhvr>
                                      <p:tavLst>
                                        <p:tav tm="0">
                                          <p:val>
                                            <p:strVal val="#ppt_x"/>
                                          </p:val>
                                        </p:tav>
                                        <p:tav tm="100000">
                                          <p:val>
                                            <p:strVal val="#ppt_x"/>
                                          </p:val>
                                        </p:tav>
                                      </p:tavLst>
                                    </p:anim>
                                    <p:anim calcmode="lin" valueType="num">
                                      <p:cBhvr additive="base">
                                        <p:cTn id="37" dur="500" fill="hold"/>
                                        <p:tgtEl>
                                          <p:spTgt spid="4106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8" grpId="0" autoUpdateAnimBg="0"/>
      <p:bldP spid="410629" grpId="0" autoUpdateAnimBg="0"/>
      <p:bldP spid="410630" grpId="0" autoUpdateAnimBg="0"/>
      <p:bldP spid="410631" grpId="0"/>
      <p:bldP spid="410632" grpId="0" autoUpdateAnimBg="0"/>
      <p:bldP spid="41063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 y="1279525"/>
            <a:ext cx="5207000" cy="467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5" name="Text Box 3"/>
          <p:cNvSpPr txBox="1">
            <a:spLocks noChangeArrowheads="1"/>
          </p:cNvSpPr>
          <p:nvPr/>
        </p:nvSpPr>
        <p:spPr bwMode="auto">
          <a:xfrm>
            <a:off x="323850" y="6018213"/>
            <a:ext cx="87058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where at </a:t>
            </a:r>
            <a:r>
              <a:rPr lang="en-US" altLang="zh-CN" i="1">
                <a:solidFill>
                  <a:srgbClr val="000080"/>
                </a:solidFill>
              </a:rPr>
              <a:t>t </a:t>
            </a:r>
            <a:r>
              <a:rPr lang="en-US" altLang="zh-CN">
                <a:solidFill>
                  <a:srgbClr val="000080"/>
                </a:solidFill>
              </a:rPr>
              <a:t>= </a:t>
            </a:r>
            <a:r>
              <a:rPr lang="en-US" altLang="zh-CN" i="1">
                <a:solidFill>
                  <a:srgbClr val="000080"/>
                </a:solidFill>
              </a:rPr>
              <a:t>t</a:t>
            </a:r>
            <a:r>
              <a:rPr lang="en-US" altLang="zh-CN">
                <a:solidFill>
                  <a:srgbClr val="008080"/>
                </a:solidFill>
              </a:rPr>
              <a:t>0 </a:t>
            </a:r>
            <a:r>
              <a:rPr lang="en-US" altLang="zh-CN">
                <a:solidFill>
                  <a:srgbClr val="000000"/>
                </a:solidFill>
              </a:rPr>
              <a:t>we know the values of x</a:t>
            </a:r>
            <a:r>
              <a:rPr lang="en-US" altLang="zh-CN" baseline="-25000">
                <a:solidFill>
                  <a:srgbClr val="000000"/>
                </a:solidFill>
              </a:rPr>
              <a:t>0</a:t>
            </a:r>
            <a:r>
              <a:rPr lang="en-US" altLang="zh-CN">
                <a:solidFill>
                  <a:srgbClr val="000000"/>
                </a:solidFill>
              </a:rPr>
              <a:t>, x</a:t>
            </a:r>
            <a:r>
              <a:rPr lang="en-US" altLang="zh-CN" baseline="-25000">
                <a:solidFill>
                  <a:srgbClr val="000000"/>
                </a:solidFill>
              </a:rPr>
              <a:t>1</a:t>
            </a:r>
            <a:r>
              <a:rPr lang="en-US" altLang="zh-CN">
                <a:solidFill>
                  <a:srgbClr val="000000"/>
                </a:solidFill>
              </a:rPr>
              <a:t>,   ,x</a:t>
            </a:r>
            <a:r>
              <a:rPr lang="en-US" altLang="zh-CN" baseline="-25000">
                <a:solidFill>
                  <a:srgbClr val="000000"/>
                </a:solidFill>
              </a:rPr>
              <a:t>n-1</a:t>
            </a:r>
            <a:r>
              <a:rPr lang="en-US" altLang="zh-CN">
                <a:solidFill>
                  <a:srgbClr val="000000"/>
                </a:solidFill>
              </a:rPr>
              <a:t> </a:t>
            </a:r>
            <a:endParaRPr lang="en-US" altLang="zh-CN"/>
          </a:p>
        </p:txBody>
      </p:sp>
      <p:grpSp>
        <p:nvGrpSpPr>
          <p:cNvPr id="25604" name="Group 4"/>
          <p:cNvGrpSpPr>
            <a:grpSpLocks/>
          </p:cNvGrpSpPr>
          <p:nvPr/>
        </p:nvGrpSpPr>
        <p:grpSpPr bwMode="auto">
          <a:xfrm>
            <a:off x="304800" y="381000"/>
            <a:ext cx="8001000" cy="685800"/>
            <a:chOff x="336" y="3360"/>
            <a:chExt cx="2280" cy="216"/>
          </a:xfrm>
        </p:grpSpPr>
        <p:pic>
          <p:nvPicPr>
            <p:cNvPr id="2560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 y="3408"/>
              <a:ext cx="750"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 y="3360"/>
              <a:ext cx="1512"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25605"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0563" y="1484313"/>
            <a:ext cx="4465637"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0-#ppt_w/2"/>
                                          </p:val>
                                        </p:tav>
                                        <p:tav tm="100000">
                                          <p:val>
                                            <p:strVal val="#ppt_x"/>
                                          </p:val>
                                        </p:tav>
                                      </p:tavLst>
                                    </p:anim>
                                    <p:anim calcmode="lin" valueType="num">
                                      <p:cBhvr additive="base">
                                        <p:cTn id="8" dur="500" fill="hold"/>
                                        <p:tgtEl>
                                          <p:spTgt spid="30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5"/>
                                        </p:tgtEl>
                                        <p:attrNameLst>
                                          <p:attrName>style.visibility</p:attrName>
                                        </p:attrNameLst>
                                      </p:cBhvr>
                                      <p:to>
                                        <p:strVal val="visible"/>
                                      </p:to>
                                    </p:set>
                                    <p:anim calcmode="lin" valueType="num">
                                      <p:cBhvr additive="base">
                                        <p:cTn id="13" dur="500" fill="hold"/>
                                        <p:tgtEl>
                                          <p:spTgt spid="3075"/>
                                        </p:tgtEl>
                                        <p:attrNameLst>
                                          <p:attrName>ppt_x</p:attrName>
                                        </p:attrNameLst>
                                      </p:cBhvr>
                                      <p:tavLst>
                                        <p:tav tm="0">
                                          <p:val>
                                            <p:strVal val="0-#ppt_w/2"/>
                                          </p:val>
                                        </p:tav>
                                        <p:tav tm="100000">
                                          <p:val>
                                            <p:strVal val="#ppt_x"/>
                                          </p:val>
                                        </p:tav>
                                      </p:tavLst>
                                    </p:anim>
                                    <p:anim calcmode="lin" valueType="num">
                                      <p:cBhvr additive="base">
                                        <p:cTn id="14" dur="500" fill="hold"/>
                                        <p:tgtEl>
                                          <p:spTgt spid="30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2"/>
          <p:cNvGraphicFramePr>
            <a:graphicFrameLocks noChangeAspect="1"/>
          </p:cNvGraphicFramePr>
          <p:nvPr/>
        </p:nvGraphicFramePr>
        <p:xfrm>
          <a:off x="1908175" y="476250"/>
          <a:ext cx="3200400" cy="1489075"/>
        </p:xfrm>
        <a:graphic>
          <a:graphicData uri="http://schemas.openxmlformats.org/presentationml/2006/ole">
            <mc:AlternateContent xmlns:mc="http://schemas.openxmlformats.org/markup-compatibility/2006">
              <mc:Choice xmlns:v="urn:schemas-microsoft-com:vml" Requires="v">
                <p:oleObj spid="_x0000_s26642" name="Equation" r:id="rId3" imgW="876300" imgH="419100" progId="Equation.3">
                  <p:embed/>
                </p:oleObj>
              </mc:Choice>
              <mc:Fallback>
                <p:oleObj name="Equation" r:id="rId3" imgW="876300" imgH="4191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476250"/>
                        <a:ext cx="3200400"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0228" name="Object 4"/>
          <p:cNvGraphicFramePr>
            <a:graphicFrameLocks noChangeAspect="1"/>
          </p:cNvGraphicFramePr>
          <p:nvPr/>
        </p:nvGraphicFramePr>
        <p:xfrm>
          <a:off x="1619250" y="2781300"/>
          <a:ext cx="2505075" cy="1220788"/>
        </p:xfrm>
        <a:graphic>
          <a:graphicData uri="http://schemas.openxmlformats.org/presentationml/2006/ole">
            <mc:AlternateContent xmlns:mc="http://schemas.openxmlformats.org/markup-compatibility/2006">
              <mc:Choice xmlns:v="urn:schemas-microsoft-com:vml" Requires="v">
                <p:oleObj spid="_x0000_s26643" name="Equation" r:id="rId5" imgW="457200" imgH="228600" progId="Equation.3">
                  <p:embed/>
                </p:oleObj>
              </mc:Choice>
              <mc:Fallback>
                <p:oleObj name="Equation" r:id="rId5" imgW="457200" imgH="228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2781300"/>
                        <a:ext cx="2505075" cy="122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0229" name="Object 5"/>
          <p:cNvGraphicFramePr>
            <a:graphicFrameLocks noChangeAspect="1"/>
          </p:cNvGraphicFramePr>
          <p:nvPr/>
        </p:nvGraphicFramePr>
        <p:xfrm>
          <a:off x="1331913" y="4292600"/>
          <a:ext cx="3792537" cy="1789113"/>
        </p:xfrm>
        <a:graphic>
          <a:graphicData uri="http://schemas.openxmlformats.org/presentationml/2006/ole">
            <mc:AlternateContent xmlns:mc="http://schemas.openxmlformats.org/markup-compatibility/2006">
              <mc:Choice xmlns:v="urn:schemas-microsoft-com:vml" Requires="v">
                <p:oleObj spid="_x0000_s26644" name="公式" r:id="rId7" imgW="812447" imgH="393529" progId="Equation.3">
                  <p:embed/>
                </p:oleObj>
              </mc:Choice>
              <mc:Fallback>
                <p:oleObj name="公式" r:id="rId7" imgW="812447" imgH="393529"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4292600"/>
                        <a:ext cx="3792537"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0230" name="Object 6"/>
          <p:cNvGraphicFramePr>
            <a:graphicFrameLocks noChangeAspect="1"/>
          </p:cNvGraphicFramePr>
          <p:nvPr/>
        </p:nvGraphicFramePr>
        <p:xfrm>
          <a:off x="6372225" y="1484313"/>
          <a:ext cx="1671638" cy="1825625"/>
        </p:xfrm>
        <a:graphic>
          <a:graphicData uri="http://schemas.openxmlformats.org/presentationml/2006/ole">
            <mc:AlternateContent xmlns:mc="http://schemas.openxmlformats.org/markup-compatibility/2006">
              <mc:Choice xmlns:v="urn:schemas-microsoft-com:vml" Requires="v">
                <p:oleObj spid="_x0000_s26645" name="公式" r:id="rId9" imgW="419100" imgH="457200" progId="Equation.3">
                  <p:embed/>
                </p:oleObj>
              </mc:Choice>
              <mc:Fallback>
                <p:oleObj name="公式" r:id="rId9" imgW="419100" imgH="457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72225" y="1484313"/>
                        <a:ext cx="1671638" cy="182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0230"/>
                                        </p:tgtEl>
                                        <p:attrNameLst>
                                          <p:attrName>style.visibility</p:attrName>
                                        </p:attrNameLst>
                                      </p:cBhvr>
                                      <p:to>
                                        <p:strVal val="visible"/>
                                      </p:to>
                                    </p:set>
                                    <p:anim calcmode="lin" valueType="num">
                                      <p:cBhvr additive="base">
                                        <p:cTn id="7" dur="500" fill="hold"/>
                                        <p:tgtEl>
                                          <p:spTgt spid="180230"/>
                                        </p:tgtEl>
                                        <p:attrNameLst>
                                          <p:attrName>ppt_x</p:attrName>
                                        </p:attrNameLst>
                                      </p:cBhvr>
                                      <p:tavLst>
                                        <p:tav tm="0">
                                          <p:val>
                                            <p:strVal val="0-#ppt_w/2"/>
                                          </p:val>
                                        </p:tav>
                                        <p:tav tm="100000">
                                          <p:val>
                                            <p:strVal val="#ppt_x"/>
                                          </p:val>
                                        </p:tav>
                                      </p:tavLst>
                                    </p:anim>
                                    <p:anim calcmode="lin" valueType="num">
                                      <p:cBhvr additive="base">
                                        <p:cTn id="8" dur="500" fill="hold"/>
                                        <p:tgtEl>
                                          <p:spTgt spid="18023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0228"/>
                                        </p:tgtEl>
                                        <p:attrNameLst>
                                          <p:attrName>style.visibility</p:attrName>
                                        </p:attrNameLst>
                                      </p:cBhvr>
                                      <p:to>
                                        <p:strVal val="visible"/>
                                      </p:to>
                                    </p:set>
                                    <p:anim calcmode="lin" valueType="num">
                                      <p:cBhvr additive="base">
                                        <p:cTn id="13" dur="500" fill="hold"/>
                                        <p:tgtEl>
                                          <p:spTgt spid="180228"/>
                                        </p:tgtEl>
                                        <p:attrNameLst>
                                          <p:attrName>ppt_x</p:attrName>
                                        </p:attrNameLst>
                                      </p:cBhvr>
                                      <p:tavLst>
                                        <p:tav tm="0">
                                          <p:val>
                                            <p:strVal val="0-#ppt_w/2"/>
                                          </p:val>
                                        </p:tav>
                                        <p:tav tm="100000">
                                          <p:val>
                                            <p:strVal val="#ppt_x"/>
                                          </p:val>
                                        </p:tav>
                                      </p:tavLst>
                                    </p:anim>
                                    <p:anim calcmode="lin" valueType="num">
                                      <p:cBhvr additive="base">
                                        <p:cTn id="14" dur="500" fill="hold"/>
                                        <p:tgtEl>
                                          <p:spTgt spid="18022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0229"/>
                                        </p:tgtEl>
                                        <p:attrNameLst>
                                          <p:attrName>style.visibility</p:attrName>
                                        </p:attrNameLst>
                                      </p:cBhvr>
                                      <p:to>
                                        <p:strVal val="visible"/>
                                      </p:to>
                                    </p:set>
                                    <p:anim calcmode="lin" valueType="num">
                                      <p:cBhvr additive="base">
                                        <p:cTn id="19" dur="500" fill="hold"/>
                                        <p:tgtEl>
                                          <p:spTgt spid="180229"/>
                                        </p:tgtEl>
                                        <p:attrNameLst>
                                          <p:attrName>ppt_x</p:attrName>
                                        </p:attrNameLst>
                                      </p:cBhvr>
                                      <p:tavLst>
                                        <p:tav tm="0">
                                          <p:val>
                                            <p:strVal val="0-#ppt_w/2"/>
                                          </p:val>
                                        </p:tav>
                                        <p:tav tm="100000">
                                          <p:val>
                                            <p:strVal val="#ppt_x"/>
                                          </p:val>
                                        </p:tav>
                                      </p:tavLst>
                                    </p:anim>
                                    <p:anim calcmode="lin" valueType="num">
                                      <p:cBhvr additive="base">
                                        <p:cTn id="20" dur="500" fill="hold"/>
                                        <p:tgtEl>
                                          <p:spTgt spid="1802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Object 2"/>
          <p:cNvGraphicFramePr>
            <a:graphicFrameLocks noChangeAspect="1"/>
          </p:cNvGraphicFramePr>
          <p:nvPr/>
        </p:nvGraphicFramePr>
        <p:xfrm>
          <a:off x="611188" y="188913"/>
          <a:ext cx="7416800" cy="1870075"/>
        </p:xfrm>
        <a:graphic>
          <a:graphicData uri="http://schemas.openxmlformats.org/presentationml/2006/ole">
            <mc:AlternateContent xmlns:mc="http://schemas.openxmlformats.org/markup-compatibility/2006">
              <mc:Choice xmlns:v="urn:schemas-microsoft-com:vml" Requires="v">
                <p:oleObj spid="_x0000_s27661" name="Equation" r:id="rId3" imgW="1816100" imgH="457200" progId="Equation.3">
                  <p:embed/>
                </p:oleObj>
              </mc:Choice>
              <mc:Fallback>
                <p:oleObj name="Equation" r:id="rId3" imgW="18161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88913"/>
                        <a:ext cx="7416800" cy="187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00" name="Object 4"/>
          <p:cNvGraphicFramePr>
            <a:graphicFrameLocks noChangeAspect="1"/>
          </p:cNvGraphicFramePr>
          <p:nvPr/>
        </p:nvGraphicFramePr>
        <p:xfrm>
          <a:off x="1143000" y="2989263"/>
          <a:ext cx="6958013" cy="3579812"/>
        </p:xfrm>
        <a:graphic>
          <a:graphicData uri="http://schemas.openxmlformats.org/presentationml/2006/ole">
            <mc:AlternateContent xmlns:mc="http://schemas.openxmlformats.org/markup-compatibility/2006">
              <mc:Choice xmlns:v="urn:schemas-microsoft-com:vml" Requires="v">
                <p:oleObj spid="_x0000_s27662" name="Equation" r:id="rId5" imgW="1828800" imgH="939800" progId="Equation.3">
                  <p:embed/>
                </p:oleObj>
              </mc:Choice>
              <mc:Fallback>
                <p:oleObj name="Equation" r:id="rId5" imgW="1828800" imgH="939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2989263"/>
                        <a:ext cx="6958013" cy="3579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101" name="Group 5"/>
          <p:cNvGrpSpPr>
            <a:grpSpLocks/>
          </p:cNvGrpSpPr>
          <p:nvPr/>
        </p:nvGrpSpPr>
        <p:grpSpPr bwMode="auto">
          <a:xfrm>
            <a:off x="539750" y="2205038"/>
            <a:ext cx="8064500" cy="790575"/>
            <a:chOff x="336" y="3360"/>
            <a:chExt cx="2280" cy="216"/>
          </a:xfrm>
        </p:grpSpPr>
        <p:pic>
          <p:nvPicPr>
            <p:cNvPr id="27653"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 y="3408"/>
              <a:ext cx="750"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4"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4" y="3360"/>
              <a:ext cx="1512"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101"/>
                                        </p:tgtEl>
                                        <p:attrNameLst>
                                          <p:attrName>style.visibility</p:attrName>
                                        </p:attrNameLst>
                                      </p:cBhvr>
                                      <p:to>
                                        <p:strVal val="visible"/>
                                      </p:to>
                                    </p:set>
                                    <p:anim calcmode="lin" valueType="num">
                                      <p:cBhvr additive="base">
                                        <p:cTn id="7" dur="500" fill="hold"/>
                                        <p:tgtEl>
                                          <p:spTgt spid="4101"/>
                                        </p:tgtEl>
                                        <p:attrNameLst>
                                          <p:attrName>ppt_x</p:attrName>
                                        </p:attrNameLst>
                                      </p:cBhvr>
                                      <p:tavLst>
                                        <p:tav tm="0">
                                          <p:val>
                                            <p:strVal val="#ppt_x"/>
                                          </p:val>
                                        </p:tav>
                                        <p:tav tm="100000">
                                          <p:val>
                                            <p:strVal val="#ppt_x"/>
                                          </p:val>
                                        </p:tav>
                                      </p:tavLst>
                                    </p:anim>
                                    <p:anim calcmode="lin" valueType="num">
                                      <p:cBhvr additive="base">
                                        <p:cTn id="8" dur="500" fill="hold"/>
                                        <p:tgtEl>
                                          <p:spTgt spid="410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100"/>
                                        </p:tgtEl>
                                        <p:attrNameLst>
                                          <p:attrName>style.visibility</p:attrName>
                                        </p:attrNameLst>
                                      </p:cBhvr>
                                      <p:to>
                                        <p:strVal val="visible"/>
                                      </p:to>
                                    </p:set>
                                    <p:anim calcmode="lin" valueType="num">
                                      <p:cBhvr additive="base">
                                        <p:cTn id="13" dur="500" fill="hold"/>
                                        <p:tgtEl>
                                          <p:spTgt spid="4100"/>
                                        </p:tgtEl>
                                        <p:attrNameLst>
                                          <p:attrName>ppt_x</p:attrName>
                                        </p:attrNameLst>
                                      </p:cBhvr>
                                      <p:tavLst>
                                        <p:tav tm="0">
                                          <p:val>
                                            <p:strVal val="0-#ppt_w/2"/>
                                          </p:val>
                                        </p:tav>
                                        <p:tav tm="100000">
                                          <p:val>
                                            <p:strVal val="#ppt_x"/>
                                          </p:val>
                                        </p:tav>
                                      </p:tavLst>
                                    </p:anim>
                                    <p:anim calcmode="lin" valueType="num">
                                      <p:cBhvr additive="base">
                                        <p:cTn id="14" dur="500" fill="hold"/>
                                        <p:tgtEl>
                                          <p:spTgt spid="41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4"/>
          <p:cNvGraphicFramePr>
            <a:graphicFrameLocks noChangeAspect="1"/>
          </p:cNvGraphicFramePr>
          <p:nvPr/>
        </p:nvGraphicFramePr>
        <p:xfrm>
          <a:off x="514350" y="1074738"/>
          <a:ext cx="7343775" cy="4665662"/>
        </p:xfrm>
        <a:graphic>
          <a:graphicData uri="http://schemas.openxmlformats.org/presentationml/2006/ole">
            <mc:AlternateContent xmlns:mc="http://schemas.openxmlformats.org/markup-compatibility/2006">
              <mc:Choice xmlns:v="urn:schemas-microsoft-com:vml" Requires="v">
                <p:oleObj spid="_x0000_s28678" name="公式" r:id="rId3" imgW="1841500" imgH="1168400" progId="Equation.3">
                  <p:embed/>
                </p:oleObj>
              </mc:Choice>
              <mc:Fallback>
                <p:oleObj name="公式" r:id="rId3" imgW="1841500" imgH="1168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1074738"/>
                        <a:ext cx="7343775" cy="466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2"/>
          <p:cNvGraphicFramePr>
            <a:graphicFrameLocks noChangeAspect="1"/>
          </p:cNvGraphicFramePr>
          <p:nvPr/>
        </p:nvGraphicFramePr>
        <p:xfrm>
          <a:off x="457200" y="228600"/>
          <a:ext cx="5410200" cy="1755775"/>
        </p:xfrm>
        <a:graphic>
          <a:graphicData uri="http://schemas.openxmlformats.org/presentationml/2006/ole">
            <mc:AlternateContent xmlns:mc="http://schemas.openxmlformats.org/markup-compatibility/2006">
              <mc:Choice xmlns:v="urn:schemas-microsoft-com:vml" Requires="v">
                <p:oleObj spid="_x0000_s29715" name="Equation" r:id="rId3" imgW="1409700" imgH="457200" progId="Equation.3">
                  <p:embed/>
                </p:oleObj>
              </mc:Choice>
              <mc:Fallback>
                <p:oleObj name="Equation" r:id="rId3" imgW="14097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28600"/>
                        <a:ext cx="5410200" cy="175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1251" name="Text Box 3"/>
          <p:cNvSpPr txBox="1">
            <a:spLocks noChangeArrowheads="1"/>
          </p:cNvSpPr>
          <p:nvPr/>
        </p:nvSpPr>
        <p:spPr bwMode="auto">
          <a:xfrm>
            <a:off x="4284663" y="1341438"/>
            <a:ext cx="43148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3600" i="1"/>
              <a:t>x</a:t>
            </a:r>
            <a:r>
              <a:rPr lang="en-US" altLang="zh-CN" sz="3600" i="1" baseline="-25000"/>
              <a:t>1</a:t>
            </a:r>
            <a:r>
              <a:rPr lang="en-US" altLang="zh-CN" sz="3600" i="1"/>
              <a:t>=y</a:t>
            </a:r>
            <a:r>
              <a:rPr lang="en-US" altLang="zh-CN" sz="3600" i="1" baseline="-25000"/>
              <a:t>1</a:t>
            </a:r>
            <a:r>
              <a:rPr lang="en-US" altLang="zh-CN" sz="3600" i="1"/>
              <a:t>, x</a:t>
            </a:r>
            <a:r>
              <a:rPr lang="en-US" altLang="zh-CN" sz="3600" i="1" baseline="-25000"/>
              <a:t>2</a:t>
            </a:r>
            <a:r>
              <a:rPr lang="en-US" altLang="zh-CN" sz="3600" i="1"/>
              <a:t>=y</a:t>
            </a:r>
            <a:r>
              <a:rPr lang="en-US" altLang="zh-CN" sz="3600" i="1" baseline="-25000"/>
              <a:t>2 </a:t>
            </a:r>
            <a:r>
              <a:rPr lang="en-US" altLang="zh-CN" sz="3600" i="1"/>
              <a:t>,…, x</a:t>
            </a:r>
            <a:r>
              <a:rPr lang="en-US" altLang="zh-CN" sz="3600" i="1" baseline="-25000"/>
              <a:t>n</a:t>
            </a:r>
            <a:r>
              <a:rPr lang="en-US" altLang="zh-CN" sz="3600" i="1"/>
              <a:t>=y</a:t>
            </a:r>
            <a:r>
              <a:rPr lang="en-US" altLang="zh-CN" sz="3600" i="1" baseline="-25000"/>
              <a:t>n</a:t>
            </a:r>
          </a:p>
        </p:txBody>
      </p:sp>
      <p:graphicFrame>
        <p:nvGraphicFramePr>
          <p:cNvPr id="181252" name="Object 4"/>
          <p:cNvGraphicFramePr>
            <a:graphicFrameLocks noChangeAspect="1"/>
          </p:cNvGraphicFramePr>
          <p:nvPr/>
        </p:nvGraphicFramePr>
        <p:xfrm>
          <a:off x="2843213" y="5876925"/>
          <a:ext cx="2836862" cy="827088"/>
        </p:xfrm>
        <a:graphic>
          <a:graphicData uri="http://schemas.openxmlformats.org/presentationml/2006/ole">
            <mc:AlternateContent xmlns:mc="http://schemas.openxmlformats.org/markup-compatibility/2006">
              <mc:Choice xmlns:v="urn:schemas-microsoft-com:vml" Requires="v">
                <p:oleObj spid="_x0000_s29716" name="Equation" r:id="rId5" imgW="698197" imgH="203112" progId="Equation.3">
                  <p:embed/>
                </p:oleObj>
              </mc:Choice>
              <mc:Fallback>
                <p:oleObj name="Equation" r:id="rId5" imgW="698197" imgH="20311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5876925"/>
                        <a:ext cx="2836862" cy="82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53" name="Object 5"/>
          <p:cNvGraphicFramePr>
            <a:graphicFrameLocks noChangeAspect="1"/>
          </p:cNvGraphicFramePr>
          <p:nvPr/>
        </p:nvGraphicFramePr>
        <p:xfrm>
          <a:off x="827088" y="2565400"/>
          <a:ext cx="6473825" cy="1893888"/>
        </p:xfrm>
        <a:graphic>
          <a:graphicData uri="http://schemas.openxmlformats.org/presentationml/2006/ole">
            <mc:AlternateContent xmlns:mc="http://schemas.openxmlformats.org/markup-compatibility/2006">
              <mc:Choice xmlns:v="urn:schemas-microsoft-com:vml" Requires="v">
                <p:oleObj spid="_x0000_s29717" name="Equation" r:id="rId7" imgW="1651000" imgH="482600" progId="Equation.3">
                  <p:embed/>
                </p:oleObj>
              </mc:Choice>
              <mc:Fallback>
                <p:oleObj name="Equation" r:id="rId7" imgW="1651000" imgH="482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2565400"/>
                        <a:ext cx="6473825" cy="189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1254" name="Object 6"/>
          <p:cNvGraphicFramePr>
            <a:graphicFrameLocks noChangeAspect="1"/>
          </p:cNvGraphicFramePr>
          <p:nvPr/>
        </p:nvGraphicFramePr>
        <p:xfrm>
          <a:off x="539750" y="4581525"/>
          <a:ext cx="7299325" cy="981075"/>
        </p:xfrm>
        <a:graphic>
          <a:graphicData uri="http://schemas.openxmlformats.org/presentationml/2006/ole">
            <mc:AlternateContent xmlns:mc="http://schemas.openxmlformats.org/markup-compatibility/2006">
              <mc:Choice xmlns:v="urn:schemas-microsoft-com:vml" Requires="v">
                <p:oleObj spid="_x0000_s29718" name="Equation" r:id="rId9" imgW="1854200" imgH="241300" progId="Equation.3">
                  <p:embed/>
                </p:oleObj>
              </mc:Choice>
              <mc:Fallback>
                <p:oleObj name="Equation" r:id="rId9" imgW="1854200" imgH="2413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750" y="4581525"/>
                        <a:ext cx="7299325"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1251"/>
                                        </p:tgtEl>
                                        <p:attrNameLst>
                                          <p:attrName>style.visibility</p:attrName>
                                        </p:attrNameLst>
                                      </p:cBhvr>
                                      <p:to>
                                        <p:strVal val="visible"/>
                                      </p:to>
                                    </p:set>
                                    <p:anim calcmode="lin" valueType="num">
                                      <p:cBhvr additive="base">
                                        <p:cTn id="7" dur="500" fill="hold"/>
                                        <p:tgtEl>
                                          <p:spTgt spid="181251"/>
                                        </p:tgtEl>
                                        <p:attrNameLst>
                                          <p:attrName>ppt_x</p:attrName>
                                        </p:attrNameLst>
                                      </p:cBhvr>
                                      <p:tavLst>
                                        <p:tav tm="0">
                                          <p:val>
                                            <p:strVal val="0-#ppt_w/2"/>
                                          </p:val>
                                        </p:tav>
                                        <p:tav tm="100000">
                                          <p:val>
                                            <p:strVal val="#ppt_x"/>
                                          </p:val>
                                        </p:tav>
                                      </p:tavLst>
                                    </p:anim>
                                    <p:anim calcmode="lin" valueType="num">
                                      <p:cBhvr additive="base">
                                        <p:cTn id="8" dur="500" fill="hold"/>
                                        <p:tgtEl>
                                          <p:spTgt spid="18125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1253"/>
                                        </p:tgtEl>
                                        <p:attrNameLst>
                                          <p:attrName>style.visibility</p:attrName>
                                        </p:attrNameLst>
                                      </p:cBhvr>
                                      <p:to>
                                        <p:strVal val="visible"/>
                                      </p:to>
                                    </p:set>
                                    <p:anim calcmode="lin" valueType="num">
                                      <p:cBhvr additive="base">
                                        <p:cTn id="13" dur="500" fill="hold"/>
                                        <p:tgtEl>
                                          <p:spTgt spid="181253"/>
                                        </p:tgtEl>
                                        <p:attrNameLst>
                                          <p:attrName>ppt_x</p:attrName>
                                        </p:attrNameLst>
                                      </p:cBhvr>
                                      <p:tavLst>
                                        <p:tav tm="0">
                                          <p:val>
                                            <p:strVal val="0-#ppt_w/2"/>
                                          </p:val>
                                        </p:tav>
                                        <p:tav tm="100000">
                                          <p:val>
                                            <p:strVal val="#ppt_x"/>
                                          </p:val>
                                        </p:tav>
                                      </p:tavLst>
                                    </p:anim>
                                    <p:anim calcmode="lin" valueType="num">
                                      <p:cBhvr additive="base">
                                        <p:cTn id="14" dur="500" fill="hold"/>
                                        <p:tgtEl>
                                          <p:spTgt spid="18125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1254"/>
                                        </p:tgtEl>
                                        <p:attrNameLst>
                                          <p:attrName>style.visibility</p:attrName>
                                        </p:attrNameLst>
                                      </p:cBhvr>
                                      <p:to>
                                        <p:strVal val="visible"/>
                                      </p:to>
                                    </p:set>
                                    <p:anim calcmode="lin" valueType="num">
                                      <p:cBhvr additive="base">
                                        <p:cTn id="19" dur="500" fill="hold"/>
                                        <p:tgtEl>
                                          <p:spTgt spid="181254"/>
                                        </p:tgtEl>
                                        <p:attrNameLst>
                                          <p:attrName>ppt_x</p:attrName>
                                        </p:attrNameLst>
                                      </p:cBhvr>
                                      <p:tavLst>
                                        <p:tav tm="0">
                                          <p:val>
                                            <p:strVal val="0-#ppt_w/2"/>
                                          </p:val>
                                        </p:tav>
                                        <p:tav tm="100000">
                                          <p:val>
                                            <p:strVal val="#ppt_x"/>
                                          </p:val>
                                        </p:tav>
                                      </p:tavLst>
                                    </p:anim>
                                    <p:anim calcmode="lin" valueType="num">
                                      <p:cBhvr additive="base">
                                        <p:cTn id="20" dur="500" fill="hold"/>
                                        <p:tgtEl>
                                          <p:spTgt spid="18125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1252"/>
                                        </p:tgtEl>
                                        <p:attrNameLst>
                                          <p:attrName>style.visibility</p:attrName>
                                        </p:attrNameLst>
                                      </p:cBhvr>
                                      <p:to>
                                        <p:strVal val="visible"/>
                                      </p:to>
                                    </p:set>
                                    <p:anim calcmode="lin" valueType="num">
                                      <p:cBhvr additive="base">
                                        <p:cTn id="25" dur="500" fill="hold"/>
                                        <p:tgtEl>
                                          <p:spTgt spid="181252"/>
                                        </p:tgtEl>
                                        <p:attrNameLst>
                                          <p:attrName>ppt_x</p:attrName>
                                        </p:attrNameLst>
                                      </p:cBhvr>
                                      <p:tavLst>
                                        <p:tav tm="0">
                                          <p:val>
                                            <p:strVal val="0-#ppt_w/2"/>
                                          </p:val>
                                        </p:tav>
                                        <p:tav tm="100000">
                                          <p:val>
                                            <p:strVal val="#ppt_x"/>
                                          </p:val>
                                        </p:tav>
                                      </p:tavLst>
                                    </p:anim>
                                    <p:anim calcmode="lin" valueType="num">
                                      <p:cBhvr additive="base">
                                        <p:cTn id="26" dur="500" fill="hold"/>
                                        <p:tgtEl>
                                          <p:spTgt spid="1812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2"/>
          <p:cNvGraphicFramePr>
            <a:graphicFrameLocks noChangeAspect="1"/>
          </p:cNvGraphicFramePr>
          <p:nvPr/>
        </p:nvGraphicFramePr>
        <p:xfrm>
          <a:off x="457200" y="228600"/>
          <a:ext cx="5622925" cy="1824038"/>
        </p:xfrm>
        <a:graphic>
          <a:graphicData uri="http://schemas.openxmlformats.org/presentationml/2006/ole">
            <mc:AlternateContent xmlns:mc="http://schemas.openxmlformats.org/markup-compatibility/2006">
              <mc:Choice xmlns:v="urn:schemas-microsoft-com:vml" Requires="v">
                <p:oleObj spid="_x0000_s30739" name="Equation" r:id="rId3" imgW="1409700" imgH="457200" progId="Equation.3">
                  <p:embed/>
                </p:oleObj>
              </mc:Choice>
              <mc:Fallback>
                <p:oleObj name="Equation" r:id="rId3" imgW="14097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28600"/>
                        <a:ext cx="5622925" cy="182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5" name="Text Box 3"/>
          <p:cNvSpPr txBox="1">
            <a:spLocks noChangeArrowheads="1"/>
          </p:cNvSpPr>
          <p:nvPr/>
        </p:nvSpPr>
        <p:spPr bwMode="auto">
          <a:xfrm>
            <a:off x="3779838" y="1484313"/>
            <a:ext cx="50117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t>x</a:t>
            </a:r>
            <a:r>
              <a:rPr lang="en-US" altLang="zh-CN" i="1" baseline="-25000"/>
              <a:t>1</a:t>
            </a:r>
            <a:r>
              <a:rPr lang="en-US" altLang="zh-CN" i="1"/>
              <a:t>=t, x</a:t>
            </a:r>
            <a:r>
              <a:rPr lang="en-US" altLang="zh-CN" i="1" baseline="-25000"/>
              <a:t>2</a:t>
            </a:r>
            <a:r>
              <a:rPr lang="en-US" altLang="zh-CN" i="1"/>
              <a:t>=y</a:t>
            </a:r>
            <a:r>
              <a:rPr lang="en-US" altLang="zh-CN" i="1" baseline="-25000"/>
              <a:t>1</a:t>
            </a:r>
            <a:r>
              <a:rPr lang="en-US" altLang="zh-CN" i="1"/>
              <a:t>, x</a:t>
            </a:r>
            <a:r>
              <a:rPr lang="en-US" altLang="zh-CN" i="1" baseline="-25000"/>
              <a:t>3</a:t>
            </a:r>
            <a:r>
              <a:rPr lang="en-US" altLang="zh-CN" i="1"/>
              <a:t>=y</a:t>
            </a:r>
            <a:r>
              <a:rPr lang="en-US" altLang="zh-CN" i="1" baseline="-25000"/>
              <a:t>2 </a:t>
            </a:r>
            <a:r>
              <a:rPr lang="en-US" altLang="zh-CN" i="1"/>
              <a:t>,…, x</a:t>
            </a:r>
            <a:r>
              <a:rPr lang="en-US" altLang="zh-CN" i="1" baseline="-25000"/>
              <a:t>n+1</a:t>
            </a:r>
            <a:r>
              <a:rPr lang="en-US" altLang="zh-CN" i="1"/>
              <a:t>=y</a:t>
            </a:r>
            <a:r>
              <a:rPr lang="en-US" altLang="zh-CN" i="1" baseline="-25000"/>
              <a:t>n</a:t>
            </a:r>
          </a:p>
        </p:txBody>
      </p:sp>
      <p:graphicFrame>
        <p:nvGraphicFramePr>
          <p:cNvPr id="44036" name="Object 4"/>
          <p:cNvGraphicFramePr>
            <a:graphicFrameLocks noChangeAspect="1"/>
          </p:cNvGraphicFramePr>
          <p:nvPr/>
        </p:nvGraphicFramePr>
        <p:xfrm>
          <a:off x="2743200" y="5919788"/>
          <a:ext cx="2957513" cy="862012"/>
        </p:xfrm>
        <a:graphic>
          <a:graphicData uri="http://schemas.openxmlformats.org/presentationml/2006/ole">
            <mc:AlternateContent xmlns:mc="http://schemas.openxmlformats.org/markup-compatibility/2006">
              <mc:Choice xmlns:v="urn:schemas-microsoft-com:vml" Requires="v">
                <p:oleObj spid="_x0000_s30740" name="Equation" r:id="rId5" imgW="698197" imgH="203112" progId="Equation.3">
                  <p:embed/>
                </p:oleObj>
              </mc:Choice>
              <mc:Fallback>
                <p:oleObj name="Equation" r:id="rId5" imgW="698197" imgH="20311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5919788"/>
                        <a:ext cx="2957513" cy="862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7" name="Object 5"/>
          <p:cNvGraphicFramePr>
            <a:graphicFrameLocks noChangeAspect="1"/>
          </p:cNvGraphicFramePr>
          <p:nvPr/>
        </p:nvGraphicFramePr>
        <p:xfrm>
          <a:off x="468313" y="2708275"/>
          <a:ext cx="6858000" cy="1946275"/>
        </p:xfrm>
        <a:graphic>
          <a:graphicData uri="http://schemas.openxmlformats.org/presentationml/2006/ole">
            <mc:AlternateContent xmlns:mc="http://schemas.openxmlformats.org/markup-compatibility/2006">
              <mc:Choice xmlns:v="urn:schemas-microsoft-com:vml" Requires="v">
                <p:oleObj spid="_x0000_s30741" name="Equation" r:id="rId7" imgW="1701800" imgH="482600" progId="Equation.3">
                  <p:embed/>
                </p:oleObj>
              </mc:Choice>
              <mc:Fallback>
                <p:oleObj name="Equation" r:id="rId7" imgW="1701800" imgH="482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313" y="2708275"/>
                        <a:ext cx="6858000" cy="194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8" name="Object 6"/>
          <p:cNvGraphicFramePr>
            <a:graphicFrameLocks noChangeAspect="1"/>
          </p:cNvGraphicFramePr>
          <p:nvPr/>
        </p:nvGraphicFramePr>
        <p:xfrm>
          <a:off x="152400" y="4843463"/>
          <a:ext cx="7620000" cy="1023937"/>
        </p:xfrm>
        <a:graphic>
          <a:graphicData uri="http://schemas.openxmlformats.org/presentationml/2006/ole">
            <mc:AlternateContent xmlns:mc="http://schemas.openxmlformats.org/markup-compatibility/2006">
              <mc:Choice xmlns:v="urn:schemas-microsoft-com:vml" Requires="v">
                <p:oleObj spid="_x0000_s30742" name="Equation" r:id="rId9" imgW="1854200" imgH="241300" progId="Equation.3">
                  <p:embed/>
                </p:oleObj>
              </mc:Choice>
              <mc:Fallback>
                <p:oleObj name="Equation" r:id="rId9" imgW="1854200" imgH="2413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 y="4843463"/>
                        <a:ext cx="7620000" cy="1023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035"/>
                                        </p:tgtEl>
                                        <p:attrNameLst>
                                          <p:attrName>style.visibility</p:attrName>
                                        </p:attrNameLst>
                                      </p:cBhvr>
                                      <p:to>
                                        <p:strVal val="visible"/>
                                      </p:to>
                                    </p:set>
                                    <p:anim calcmode="lin" valueType="num">
                                      <p:cBhvr additive="base">
                                        <p:cTn id="7" dur="500" fill="hold"/>
                                        <p:tgtEl>
                                          <p:spTgt spid="44035"/>
                                        </p:tgtEl>
                                        <p:attrNameLst>
                                          <p:attrName>ppt_x</p:attrName>
                                        </p:attrNameLst>
                                      </p:cBhvr>
                                      <p:tavLst>
                                        <p:tav tm="0">
                                          <p:val>
                                            <p:strVal val="0-#ppt_w/2"/>
                                          </p:val>
                                        </p:tav>
                                        <p:tav tm="100000">
                                          <p:val>
                                            <p:strVal val="#ppt_x"/>
                                          </p:val>
                                        </p:tav>
                                      </p:tavLst>
                                    </p:anim>
                                    <p:anim calcmode="lin" valueType="num">
                                      <p:cBhvr additive="base">
                                        <p:cTn id="8" dur="500" fill="hold"/>
                                        <p:tgtEl>
                                          <p:spTgt spid="4403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4037"/>
                                        </p:tgtEl>
                                        <p:attrNameLst>
                                          <p:attrName>style.visibility</p:attrName>
                                        </p:attrNameLst>
                                      </p:cBhvr>
                                      <p:to>
                                        <p:strVal val="visible"/>
                                      </p:to>
                                    </p:set>
                                    <p:anim calcmode="lin" valueType="num">
                                      <p:cBhvr additive="base">
                                        <p:cTn id="13" dur="500" fill="hold"/>
                                        <p:tgtEl>
                                          <p:spTgt spid="44037"/>
                                        </p:tgtEl>
                                        <p:attrNameLst>
                                          <p:attrName>ppt_x</p:attrName>
                                        </p:attrNameLst>
                                      </p:cBhvr>
                                      <p:tavLst>
                                        <p:tav tm="0">
                                          <p:val>
                                            <p:strVal val="0-#ppt_w/2"/>
                                          </p:val>
                                        </p:tav>
                                        <p:tav tm="100000">
                                          <p:val>
                                            <p:strVal val="#ppt_x"/>
                                          </p:val>
                                        </p:tav>
                                      </p:tavLst>
                                    </p:anim>
                                    <p:anim calcmode="lin" valueType="num">
                                      <p:cBhvr additive="base">
                                        <p:cTn id="14" dur="500" fill="hold"/>
                                        <p:tgtEl>
                                          <p:spTgt spid="4403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4038"/>
                                        </p:tgtEl>
                                        <p:attrNameLst>
                                          <p:attrName>style.visibility</p:attrName>
                                        </p:attrNameLst>
                                      </p:cBhvr>
                                      <p:to>
                                        <p:strVal val="visible"/>
                                      </p:to>
                                    </p:set>
                                    <p:anim calcmode="lin" valueType="num">
                                      <p:cBhvr additive="base">
                                        <p:cTn id="19" dur="500" fill="hold"/>
                                        <p:tgtEl>
                                          <p:spTgt spid="44038"/>
                                        </p:tgtEl>
                                        <p:attrNameLst>
                                          <p:attrName>ppt_x</p:attrName>
                                        </p:attrNameLst>
                                      </p:cBhvr>
                                      <p:tavLst>
                                        <p:tav tm="0">
                                          <p:val>
                                            <p:strVal val="0-#ppt_w/2"/>
                                          </p:val>
                                        </p:tav>
                                        <p:tav tm="100000">
                                          <p:val>
                                            <p:strVal val="#ppt_x"/>
                                          </p:val>
                                        </p:tav>
                                      </p:tavLst>
                                    </p:anim>
                                    <p:anim calcmode="lin" valueType="num">
                                      <p:cBhvr additive="base">
                                        <p:cTn id="20" dur="500" fill="hold"/>
                                        <p:tgtEl>
                                          <p:spTgt spid="4403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4036"/>
                                        </p:tgtEl>
                                        <p:attrNameLst>
                                          <p:attrName>style.visibility</p:attrName>
                                        </p:attrNameLst>
                                      </p:cBhvr>
                                      <p:to>
                                        <p:strVal val="visible"/>
                                      </p:to>
                                    </p:set>
                                    <p:anim calcmode="lin" valueType="num">
                                      <p:cBhvr additive="base">
                                        <p:cTn id="25" dur="500" fill="hold"/>
                                        <p:tgtEl>
                                          <p:spTgt spid="44036"/>
                                        </p:tgtEl>
                                        <p:attrNameLst>
                                          <p:attrName>ppt_x</p:attrName>
                                        </p:attrNameLst>
                                      </p:cBhvr>
                                      <p:tavLst>
                                        <p:tav tm="0">
                                          <p:val>
                                            <p:strVal val="0-#ppt_w/2"/>
                                          </p:val>
                                        </p:tav>
                                        <p:tav tm="100000">
                                          <p:val>
                                            <p:strVal val="#ppt_x"/>
                                          </p:val>
                                        </p:tav>
                                      </p:tavLst>
                                    </p:anim>
                                    <p:anim calcmode="lin" valueType="num">
                                      <p:cBhvr additive="base">
                                        <p:cTn id="26" dur="500" fill="hold"/>
                                        <p:tgtEl>
                                          <p:spTgt spid="440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2"/>
          <p:cNvGraphicFramePr>
            <a:graphicFrameLocks noChangeAspect="1"/>
          </p:cNvGraphicFramePr>
          <p:nvPr/>
        </p:nvGraphicFramePr>
        <p:xfrm>
          <a:off x="914400" y="3352800"/>
          <a:ext cx="2957513" cy="862013"/>
        </p:xfrm>
        <a:graphic>
          <a:graphicData uri="http://schemas.openxmlformats.org/presentationml/2006/ole">
            <mc:AlternateContent xmlns:mc="http://schemas.openxmlformats.org/markup-compatibility/2006">
              <mc:Choice xmlns:v="urn:schemas-microsoft-com:vml" Requires="v">
                <p:oleObj spid="_x0000_s31760" name="Equation" r:id="rId3" imgW="698197" imgH="203112" progId="Equation.3">
                  <p:embed/>
                </p:oleObj>
              </mc:Choice>
              <mc:Fallback>
                <p:oleObj name="Equation" r:id="rId3" imgW="698197" imgH="203112"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352800"/>
                        <a:ext cx="2957513"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7" name="Text Box 6"/>
          <p:cNvSpPr txBox="1">
            <a:spLocks noChangeArrowheads="1"/>
          </p:cNvSpPr>
          <p:nvPr/>
        </p:nvSpPr>
        <p:spPr bwMode="auto">
          <a:xfrm>
            <a:off x="152400" y="2362200"/>
            <a:ext cx="8845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where at </a:t>
            </a:r>
            <a:r>
              <a:rPr lang="en-US" altLang="zh-CN" i="1">
                <a:solidFill>
                  <a:srgbClr val="000080"/>
                </a:solidFill>
              </a:rPr>
              <a:t>t </a:t>
            </a:r>
            <a:r>
              <a:rPr lang="en-US" altLang="zh-CN">
                <a:solidFill>
                  <a:srgbClr val="000080"/>
                </a:solidFill>
              </a:rPr>
              <a:t>= </a:t>
            </a:r>
            <a:r>
              <a:rPr lang="en-US" altLang="zh-CN" i="1">
                <a:solidFill>
                  <a:srgbClr val="000080"/>
                </a:solidFill>
              </a:rPr>
              <a:t>t</a:t>
            </a:r>
            <a:r>
              <a:rPr lang="en-US" altLang="zh-CN">
                <a:solidFill>
                  <a:srgbClr val="008080"/>
                </a:solidFill>
              </a:rPr>
              <a:t>0 </a:t>
            </a:r>
            <a:r>
              <a:rPr lang="en-US" altLang="zh-CN">
                <a:solidFill>
                  <a:srgbClr val="000000"/>
                </a:solidFill>
              </a:rPr>
              <a:t>we know the values of y</a:t>
            </a:r>
            <a:r>
              <a:rPr lang="en-US" altLang="zh-CN" baseline="-25000">
                <a:solidFill>
                  <a:srgbClr val="000000"/>
                </a:solidFill>
              </a:rPr>
              <a:t>1</a:t>
            </a:r>
            <a:r>
              <a:rPr lang="en-US" altLang="zh-CN">
                <a:solidFill>
                  <a:srgbClr val="000000"/>
                </a:solidFill>
              </a:rPr>
              <a:t>, y</a:t>
            </a:r>
            <a:r>
              <a:rPr lang="en-US" altLang="zh-CN" baseline="-25000">
                <a:solidFill>
                  <a:srgbClr val="000000"/>
                </a:solidFill>
              </a:rPr>
              <a:t>2</a:t>
            </a:r>
            <a:r>
              <a:rPr lang="en-US" altLang="zh-CN">
                <a:solidFill>
                  <a:srgbClr val="000000"/>
                </a:solidFill>
              </a:rPr>
              <a:t>, </a:t>
            </a:r>
            <a:r>
              <a:rPr lang="en-US" altLang="zh-CN" b="0" i="1"/>
              <a:t>…</a:t>
            </a:r>
            <a:r>
              <a:rPr lang="en-US" altLang="zh-CN">
                <a:solidFill>
                  <a:srgbClr val="000000"/>
                </a:solidFill>
              </a:rPr>
              <a:t> , y</a:t>
            </a:r>
            <a:r>
              <a:rPr lang="en-US" altLang="zh-CN" baseline="-25000">
                <a:solidFill>
                  <a:srgbClr val="000000"/>
                </a:solidFill>
              </a:rPr>
              <a:t>n</a:t>
            </a:r>
            <a:r>
              <a:rPr lang="en-US" altLang="zh-CN">
                <a:solidFill>
                  <a:srgbClr val="000000"/>
                </a:solidFill>
              </a:rPr>
              <a:t> </a:t>
            </a:r>
          </a:p>
        </p:txBody>
      </p:sp>
      <p:sp>
        <p:nvSpPr>
          <p:cNvPr id="6151" name="Text Box 7"/>
          <p:cNvSpPr txBox="1">
            <a:spLocks noChangeArrowheads="1"/>
          </p:cNvSpPr>
          <p:nvPr/>
        </p:nvSpPr>
        <p:spPr bwMode="auto">
          <a:xfrm>
            <a:off x="685800" y="4495800"/>
            <a:ext cx="50117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t>x</a:t>
            </a:r>
            <a:r>
              <a:rPr lang="en-US" altLang="zh-CN" i="1" baseline="-25000"/>
              <a:t>1</a:t>
            </a:r>
            <a:r>
              <a:rPr lang="en-US" altLang="zh-CN" i="1"/>
              <a:t>=t, x</a:t>
            </a:r>
            <a:r>
              <a:rPr lang="en-US" altLang="zh-CN" i="1" baseline="-25000"/>
              <a:t>2</a:t>
            </a:r>
            <a:r>
              <a:rPr lang="en-US" altLang="zh-CN" i="1"/>
              <a:t>=y</a:t>
            </a:r>
            <a:r>
              <a:rPr lang="en-US" altLang="zh-CN" i="1" baseline="-25000"/>
              <a:t>1</a:t>
            </a:r>
            <a:r>
              <a:rPr lang="en-US" altLang="zh-CN" i="1"/>
              <a:t>, x</a:t>
            </a:r>
            <a:r>
              <a:rPr lang="en-US" altLang="zh-CN" i="1" baseline="-25000"/>
              <a:t>3</a:t>
            </a:r>
            <a:r>
              <a:rPr lang="en-US" altLang="zh-CN" i="1"/>
              <a:t>=y</a:t>
            </a:r>
            <a:r>
              <a:rPr lang="en-US" altLang="zh-CN" i="1" baseline="-25000"/>
              <a:t>2 </a:t>
            </a:r>
            <a:r>
              <a:rPr lang="en-US" altLang="zh-CN" i="1"/>
              <a:t>,…, x</a:t>
            </a:r>
            <a:r>
              <a:rPr lang="en-US" altLang="zh-CN" i="1" baseline="-25000"/>
              <a:t>n+1</a:t>
            </a:r>
            <a:r>
              <a:rPr lang="en-US" altLang="zh-CN" i="1"/>
              <a:t>=y</a:t>
            </a:r>
            <a:r>
              <a:rPr lang="en-US" altLang="zh-CN" i="1" baseline="-25000"/>
              <a:t>n</a:t>
            </a:r>
          </a:p>
        </p:txBody>
      </p:sp>
      <p:graphicFrame>
        <p:nvGraphicFramePr>
          <p:cNvPr id="31749" name="Object 8"/>
          <p:cNvGraphicFramePr>
            <a:graphicFrameLocks noChangeAspect="1"/>
          </p:cNvGraphicFramePr>
          <p:nvPr/>
        </p:nvGraphicFramePr>
        <p:xfrm>
          <a:off x="762000" y="381000"/>
          <a:ext cx="5622925" cy="1824038"/>
        </p:xfrm>
        <a:graphic>
          <a:graphicData uri="http://schemas.openxmlformats.org/presentationml/2006/ole">
            <mc:AlternateContent xmlns:mc="http://schemas.openxmlformats.org/markup-compatibility/2006">
              <mc:Choice xmlns:v="urn:schemas-microsoft-com:vml" Requires="v">
                <p:oleObj spid="_x0000_s31761" name="Equation" r:id="rId5" imgW="1409700" imgH="457200" progId="Equation.3">
                  <p:embed/>
                </p:oleObj>
              </mc:Choice>
              <mc:Fallback>
                <p:oleObj name="Equation" r:id="rId5" imgW="1409700" imgH="457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381000"/>
                        <a:ext cx="5622925" cy="182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3" name="Object 9"/>
          <p:cNvGraphicFramePr>
            <a:graphicFrameLocks noChangeAspect="1"/>
          </p:cNvGraphicFramePr>
          <p:nvPr/>
        </p:nvGraphicFramePr>
        <p:xfrm>
          <a:off x="228600" y="5584825"/>
          <a:ext cx="8305800" cy="866775"/>
        </p:xfrm>
        <a:graphic>
          <a:graphicData uri="http://schemas.openxmlformats.org/presentationml/2006/ole">
            <mc:AlternateContent xmlns:mc="http://schemas.openxmlformats.org/markup-compatibility/2006">
              <mc:Choice xmlns:v="urn:schemas-microsoft-com:vml" Requires="v">
                <p:oleObj spid="_x0000_s31762" name="Equation" r:id="rId7" imgW="2374900" imgH="241300" progId="Equation.3">
                  <p:embed/>
                </p:oleObj>
              </mc:Choice>
              <mc:Fallback>
                <p:oleObj name="Equation" r:id="rId7" imgW="2374900" imgH="2413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5584825"/>
                        <a:ext cx="8305800"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0-#ppt_w/2"/>
                                          </p:val>
                                        </p:tav>
                                        <p:tav tm="100000">
                                          <p:val>
                                            <p:strVal val="#ppt_x"/>
                                          </p:val>
                                        </p:tav>
                                      </p:tavLst>
                                    </p:anim>
                                    <p:anim calcmode="lin" valueType="num">
                                      <p:cBhvr additive="base">
                                        <p:cTn id="8" dur="500" fill="hold"/>
                                        <p:tgtEl>
                                          <p:spTgt spid="614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51"/>
                                        </p:tgtEl>
                                        <p:attrNameLst>
                                          <p:attrName>style.visibility</p:attrName>
                                        </p:attrNameLst>
                                      </p:cBhvr>
                                      <p:to>
                                        <p:strVal val="visible"/>
                                      </p:to>
                                    </p:set>
                                    <p:anim calcmode="lin" valueType="num">
                                      <p:cBhvr additive="base">
                                        <p:cTn id="13" dur="500" fill="hold"/>
                                        <p:tgtEl>
                                          <p:spTgt spid="6151"/>
                                        </p:tgtEl>
                                        <p:attrNameLst>
                                          <p:attrName>ppt_x</p:attrName>
                                        </p:attrNameLst>
                                      </p:cBhvr>
                                      <p:tavLst>
                                        <p:tav tm="0">
                                          <p:val>
                                            <p:strVal val="0-#ppt_w/2"/>
                                          </p:val>
                                        </p:tav>
                                        <p:tav tm="100000">
                                          <p:val>
                                            <p:strVal val="#ppt_x"/>
                                          </p:val>
                                        </p:tav>
                                      </p:tavLst>
                                    </p:anim>
                                    <p:anim calcmode="lin" valueType="num">
                                      <p:cBhvr additive="base">
                                        <p:cTn id="14" dur="500" fill="hold"/>
                                        <p:tgtEl>
                                          <p:spTgt spid="615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153"/>
                                        </p:tgtEl>
                                        <p:attrNameLst>
                                          <p:attrName>style.visibility</p:attrName>
                                        </p:attrNameLst>
                                      </p:cBhvr>
                                      <p:to>
                                        <p:strVal val="visible"/>
                                      </p:to>
                                    </p:set>
                                    <p:anim calcmode="lin" valueType="num">
                                      <p:cBhvr additive="base">
                                        <p:cTn id="19" dur="500" fill="hold"/>
                                        <p:tgtEl>
                                          <p:spTgt spid="6153"/>
                                        </p:tgtEl>
                                        <p:attrNameLst>
                                          <p:attrName>ppt_x</p:attrName>
                                        </p:attrNameLst>
                                      </p:cBhvr>
                                      <p:tavLst>
                                        <p:tav tm="0">
                                          <p:val>
                                            <p:strVal val="0-#ppt_w/2"/>
                                          </p:val>
                                        </p:tav>
                                        <p:tav tm="100000">
                                          <p:val>
                                            <p:strVal val="#ppt_x"/>
                                          </p:val>
                                        </p:tav>
                                      </p:tavLst>
                                    </p:anim>
                                    <p:anim calcmode="lin" valueType="num">
                                      <p:cBhvr additive="base">
                                        <p:cTn id="20" dur="500" fill="hold"/>
                                        <p:tgtEl>
                                          <p:spTgt spid="61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1"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70" name="Object 2"/>
          <p:cNvGraphicFramePr>
            <a:graphicFrameLocks noChangeAspect="1"/>
          </p:cNvGraphicFramePr>
          <p:nvPr/>
        </p:nvGraphicFramePr>
        <p:xfrm>
          <a:off x="609600" y="260350"/>
          <a:ext cx="5691188" cy="1444625"/>
        </p:xfrm>
        <a:graphic>
          <a:graphicData uri="http://schemas.openxmlformats.org/presentationml/2006/ole">
            <mc:AlternateContent xmlns:mc="http://schemas.openxmlformats.org/markup-compatibility/2006">
              <mc:Choice xmlns:v="urn:schemas-microsoft-com:vml" Requires="v">
                <p:oleObj spid="_x0000_s32783" name="Equation" r:id="rId3" imgW="1866900" imgH="457200" progId="Equation.3">
                  <p:embed/>
                </p:oleObj>
              </mc:Choice>
              <mc:Fallback>
                <p:oleObj name="Equation" r:id="rId3" imgW="18669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60350"/>
                        <a:ext cx="5691188" cy="1444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5" name="Text Box 3"/>
          <p:cNvSpPr txBox="1">
            <a:spLocks noChangeArrowheads="1"/>
          </p:cNvSpPr>
          <p:nvPr/>
        </p:nvSpPr>
        <p:spPr bwMode="auto">
          <a:xfrm>
            <a:off x="323850" y="1860550"/>
            <a:ext cx="4572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t>x</a:t>
            </a:r>
            <a:r>
              <a:rPr lang="en-US" altLang="zh-CN" i="1" baseline="-25000"/>
              <a:t>1</a:t>
            </a:r>
            <a:r>
              <a:rPr lang="en-US" altLang="zh-CN" i="1"/>
              <a:t>=t, x</a:t>
            </a:r>
            <a:r>
              <a:rPr lang="en-US" altLang="zh-CN" i="1" baseline="-25000"/>
              <a:t>2</a:t>
            </a:r>
            <a:r>
              <a:rPr lang="en-US" altLang="zh-CN" i="1"/>
              <a:t>=y, x</a:t>
            </a:r>
            <a:r>
              <a:rPr lang="en-US" altLang="zh-CN" i="1" baseline="-25000"/>
              <a:t>3</a:t>
            </a:r>
            <a:r>
              <a:rPr lang="en-US" altLang="zh-CN" i="1"/>
              <a:t>=y’</a:t>
            </a:r>
            <a:r>
              <a:rPr lang="en-US" altLang="zh-CN" i="1" baseline="-25000"/>
              <a:t> </a:t>
            </a:r>
            <a:r>
              <a:rPr lang="en-US" altLang="zh-CN" i="1"/>
              <a:t>, x</a:t>
            </a:r>
            <a:r>
              <a:rPr lang="en-US" altLang="zh-CN" i="1" baseline="-25000"/>
              <a:t>4</a:t>
            </a:r>
            <a:r>
              <a:rPr lang="en-US" altLang="zh-CN" i="1"/>
              <a:t>=y’’</a:t>
            </a:r>
            <a:endParaRPr lang="en-US" altLang="zh-CN" i="1" baseline="-25000"/>
          </a:p>
        </p:txBody>
      </p:sp>
      <p:graphicFrame>
        <p:nvGraphicFramePr>
          <p:cNvPr id="38916" name="Object 4"/>
          <p:cNvGraphicFramePr>
            <a:graphicFrameLocks noChangeAspect="1"/>
          </p:cNvGraphicFramePr>
          <p:nvPr/>
        </p:nvGraphicFramePr>
        <p:xfrm>
          <a:off x="1331913" y="2708275"/>
          <a:ext cx="6189662" cy="3162300"/>
        </p:xfrm>
        <a:graphic>
          <a:graphicData uri="http://schemas.openxmlformats.org/presentationml/2006/ole">
            <mc:AlternateContent xmlns:mc="http://schemas.openxmlformats.org/markup-compatibility/2006">
              <mc:Choice xmlns:v="urn:schemas-microsoft-com:vml" Requires="v">
                <p:oleObj spid="_x0000_s32784" name="公式" r:id="rId5" imgW="1892300" imgH="965200" progId="Equation.3">
                  <p:embed/>
                </p:oleObj>
              </mc:Choice>
              <mc:Fallback>
                <p:oleObj name="公式" r:id="rId5" imgW="1892300" imgH="965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2708275"/>
                        <a:ext cx="6189662" cy="316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7" name="Object 5"/>
          <p:cNvGraphicFramePr>
            <a:graphicFrameLocks noChangeAspect="1"/>
          </p:cNvGraphicFramePr>
          <p:nvPr/>
        </p:nvGraphicFramePr>
        <p:xfrm>
          <a:off x="2555875" y="5949950"/>
          <a:ext cx="4127500" cy="735013"/>
        </p:xfrm>
        <a:graphic>
          <a:graphicData uri="http://schemas.openxmlformats.org/presentationml/2006/ole">
            <mc:AlternateContent xmlns:mc="http://schemas.openxmlformats.org/markup-compatibility/2006">
              <mc:Choice xmlns:v="urn:schemas-microsoft-com:vml" Requires="v">
                <p:oleObj spid="_x0000_s32785" name="Equation" r:id="rId7" imgW="1130300" imgH="228600" progId="Equation.3">
                  <p:embed/>
                </p:oleObj>
              </mc:Choice>
              <mc:Fallback>
                <p:oleObj name="Equation" r:id="rId7" imgW="1130300" imgH="2286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875" y="5949950"/>
                        <a:ext cx="4127500" cy="735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anim calcmode="lin" valueType="num">
                                      <p:cBhvr additive="base">
                                        <p:cTn id="7" dur="500" fill="hold"/>
                                        <p:tgtEl>
                                          <p:spTgt spid="38915"/>
                                        </p:tgtEl>
                                        <p:attrNameLst>
                                          <p:attrName>ppt_x</p:attrName>
                                        </p:attrNameLst>
                                      </p:cBhvr>
                                      <p:tavLst>
                                        <p:tav tm="0">
                                          <p:val>
                                            <p:strVal val="0-#ppt_w/2"/>
                                          </p:val>
                                        </p:tav>
                                        <p:tav tm="100000">
                                          <p:val>
                                            <p:strVal val="#ppt_x"/>
                                          </p:val>
                                        </p:tav>
                                      </p:tavLst>
                                    </p:anim>
                                    <p:anim calcmode="lin" valueType="num">
                                      <p:cBhvr additive="base">
                                        <p:cTn id="8" dur="500" fill="hold"/>
                                        <p:tgtEl>
                                          <p:spTgt spid="3891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8916"/>
                                        </p:tgtEl>
                                        <p:attrNameLst>
                                          <p:attrName>style.visibility</p:attrName>
                                        </p:attrNameLst>
                                      </p:cBhvr>
                                      <p:to>
                                        <p:strVal val="visible"/>
                                      </p:to>
                                    </p:set>
                                    <p:anim calcmode="lin" valueType="num">
                                      <p:cBhvr additive="base">
                                        <p:cTn id="13" dur="500" fill="hold"/>
                                        <p:tgtEl>
                                          <p:spTgt spid="38916"/>
                                        </p:tgtEl>
                                        <p:attrNameLst>
                                          <p:attrName>ppt_x</p:attrName>
                                        </p:attrNameLst>
                                      </p:cBhvr>
                                      <p:tavLst>
                                        <p:tav tm="0">
                                          <p:val>
                                            <p:strVal val="0-#ppt_w/2"/>
                                          </p:val>
                                        </p:tav>
                                        <p:tav tm="100000">
                                          <p:val>
                                            <p:strVal val="#ppt_x"/>
                                          </p:val>
                                        </p:tav>
                                      </p:tavLst>
                                    </p:anim>
                                    <p:anim calcmode="lin" valueType="num">
                                      <p:cBhvr additive="base">
                                        <p:cTn id="14" dur="500" fill="hold"/>
                                        <p:tgtEl>
                                          <p:spTgt spid="3891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8917"/>
                                        </p:tgtEl>
                                        <p:attrNameLst>
                                          <p:attrName>style.visibility</p:attrName>
                                        </p:attrNameLst>
                                      </p:cBhvr>
                                      <p:to>
                                        <p:strVal val="visible"/>
                                      </p:to>
                                    </p:set>
                                    <p:anim calcmode="lin" valueType="num">
                                      <p:cBhvr additive="base">
                                        <p:cTn id="19" dur="500" fill="hold"/>
                                        <p:tgtEl>
                                          <p:spTgt spid="38917"/>
                                        </p:tgtEl>
                                        <p:attrNameLst>
                                          <p:attrName>ppt_x</p:attrName>
                                        </p:attrNameLst>
                                      </p:cBhvr>
                                      <p:tavLst>
                                        <p:tav tm="0">
                                          <p:val>
                                            <p:strVal val="0-#ppt_w/2"/>
                                          </p:val>
                                        </p:tav>
                                        <p:tav tm="100000">
                                          <p:val>
                                            <p:strVal val="#ppt_x"/>
                                          </p:val>
                                        </p:tav>
                                      </p:tavLst>
                                    </p:anim>
                                    <p:anim calcmode="lin" valueType="num">
                                      <p:cBhvr additive="base">
                                        <p:cTn id="20" dur="500" fill="hold"/>
                                        <p:tgtEl>
                                          <p:spTgt spid="389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2"/>
          <p:cNvGraphicFramePr>
            <a:graphicFrameLocks noChangeAspect="1"/>
          </p:cNvGraphicFramePr>
          <p:nvPr/>
        </p:nvGraphicFramePr>
        <p:xfrm>
          <a:off x="703263" y="1066800"/>
          <a:ext cx="7561262" cy="655638"/>
        </p:xfrm>
        <a:graphic>
          <a:graphicData uri="http://schemas.openxmlformats.org/presentationml/2006/ole">
            <mc:AlternateContent xmlns:mc="http://schemas.openxmlformats.org/markup-compatibility/2006">
              <mc:Choice xmlns:v="urn:schemas-microsoft-com:vml" Requires="v">
                <p:oleObj spid="_x0000_s33798" name="Equation" r:id="rId3" imgW="2730500" imgH="228600" progId="Equation.3">
                  <p:embed/>
                </p:oleObj>
              </mc:Choice>
              <mc:Fallback>
                <p:oleObj name="Equation" r:id="rId3" imgW="27305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263" y="1066800"/>
                        <a:ext cx="7561262" cy="655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026"/>
          <p:cNvSpPr txBox="1">
            <a:spLocks noChangeArrowheads="1"/>
          </p:cNvSpPr>
          <p:nvPr/>
        </p:nvSpPr>
        <p:spPr bwMode="auto">
          <a:xfrm>
            <a:off x="1619250" y="1700213"/>
            <a:ext cx="5518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3600"/>
              <a:t>Higher order equation sets </a:t>
            </a:r>
          </a:p>
        </p:txBody>
      </p:sp>
    </p:spTree>
  </p:cSld>
  <p:clrMapOvr>
    <a:masterClrMapping/>
  </p:clrMapOvr>
  <p:transition spd="med">
    <p:pull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323850" y="1049338"/>
            <a:ext cx="8229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8.2.2 Boundary value problems </a:t>
            </a:r>
            <a:r>
              <a:rPr lang="en-US" altLang="zh-CN"/>
              <a:t>(</a:t>
            </a:r>
            <a:r>
              <a:rPr lang="zh-CN" altLang="en-US"/>
              <a:t>边值问题</a:t>
            </a:r>
            <a:r>
              <a:rPr lang="en-US" altLang="zh-CN"/>
              <a:t>) </a:t>
            </a:r>
          </a:p>
        </p:txBody>
      </p:sp>
      <p:sp>
        <p:nvSpPr>
          <p:cNvPr id="30724" name="Text Box 4"/>
          <p:cNvSpPr txBox="1">
            <a:spLocks noChangeArrowheads="1"/>
          </p:cNvSpPr>
          <p:nvPr/>
        </p:nvSpPr>
        <p:spPr bwMode="auto">
          <a:xfrm>
            <a:off x="250825" y="1700213"/>
            <a:ext cx="8569325"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a:t>For second (and higher) order </a:t>
            </a:r>
            <a:r>
              <a:rPr lang="en-US" altLang="zh-CN">
                <a:solidFill>
                  <a:srgbClr val="0000FF"/>
                </a:solidFill>
              </a:rPr>
              <a:t>odes</a:t>
            </a:r>
            <a:r>
              <a:rPr lang="en-US" altLang="zh-CN"/>
              <a:t>, two (or more) initial/boundary conditions are required. </a:t>
            </a:r>
          </a:p>
        </p:txBody>
      </p:sp>
      <p:sp>
        <p:nvSpPr>
          <p:cNvPr id="30725" name="Text Box 5"/>
          <p:cNvSpPr txBox="1">
            <a:spLocks noChangeArrowheads="1"/>
          </p:cNvSpPr>
          <p:nvPr/>
        </p:nvSpPr>
        <p:spPr bwMode="auto">
          <a:xfrm>
            <a:off x="250825" y="3194050"/>
            <a:ext cx="8602663" cy="325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a:t>If these two conditions do not correspond to the same point in time/space, then the simple extension of the first order methods outlined in section 8.1 can not be applied without modification. </a:t>
            </a:r>
          </a:p>
        </p:txBody>
      </p:sp>
      <p:sp>
        <p:nvSpPr>
          <p:cNvPr id="35845" name="Text Box 2056"/>
          <p:cNvSpPr txBox="1">
            <a:spLocks noChangeArrowheads="1"/>
          </p:cNvSpPr>
          <p:nvPr/>
        </p:nvSpPr>
        <p:spPr bwMode="auto">
          <a:xfrm>
            <a:off x="179388" y="333375"/>
            <a:ext cx="85359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8.2 Higher order ordinary differential equations</a:t>
            </a:r>
            <a:endParaRPr lang="en-US" altLang="zh-CN" b="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additive="base">
                                        <p:cTn id="7" dur="500" fill="hold"/>
                                        <p:tgtEl>
                                          <p:spTgt spid="30724"/>
                                        </p:tgtEl>
                                        <p:attrNameLst>
                                          <p:attrName>ppt_x</p:attrName>
                                        </p:attrNameLst>
                                      </p:cBhvr>
                                      <p:tavLst>
                                        <p:tav tm="0">
                                          <p:val>
                                            <p:strVal val="0-#ppt_w/2"/>
                                          </p:val>
                                        </p:tav>
                                        <p:tav tm="100000">
                                          <p:val>
                                            <p:strVal val="#ppt_x"/>
                                          </p:val>
                                        </p:tav>
                                      </p:tavLst>
                                    </p:anim>
                                    <p:anim calcmode="lin" valueType="num">
                                      <p:cBhvr additive="base">
                                        <p:cTn id="8" dur="500" fill="hold"/>
                                        <p:tgtEl>
                                          <p:spTgt spid="307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25"/>
                                        </p:tgtEl>
                                        <p:attrNameLst>
                                          <p:attrName>style.visibility</p:attrName>
                                        </p:attrNameLst>
                                      </p:cBhvr>
                                      <p:to>
                                        <p:strVal val="visible"/>
                                      </p:to>
                                    </p:set>
                                    <p:anim calcmode="lin" valueType="num">
                                      <p:cBhvr additive="base">
                                        <p:cTn id="13" dur="500" fill="hold"/>
                                        <p:tgtEl>
                                          <p:spTgt spid="30725"/>
                                        </p:tgtEl>
                                        <p:attrNameLst>
                                          <p:attrName>ppt_x</p:attrName>
                                        </p:attrNameLst>
                                      </p:cBhvr>
                                      <p:tavLst>
                                        <p:tav tm="0">
                                          <p:val>
                                            <p:strVal val="0-#ppt_w/2"/>
                                          </p:val>
                                        </p:tav>
                                        <p:tav tm="100000">
                                          <p:val>
                                            <p:strVal val="#ppt_x"/>
                                          </p:val>
                                        </p:tav>
                                      </p:tavLst>
                                    </p:anim>
                                    <p:anim calcmode="lin" valueType="num">
                                      <p:cBhvr additive="base">
                                        <p:cTn id="14" dur="500" fill="hold"/>
                                        <p:tgtEl>
                                          <p:spTgt spid="307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utoUpdateAnimBg="0"/>
      <p:bldP spid="30725"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9" name="Text Box 5"/>
          <p:cNvSpPr txBox="1">
            <a:spLocks noChangeArrowheads="1"/>
          </p:cNvSpPr>
          <p:nvPr/>
        </p:nvSpPr>
        <p:spPr bwMode="auto">
          <a:xfrm>
            <a:off x="468313" y="5241925"/>
            <a:ext cx="8229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There are two relatively simple approaches to solve </a:t>
            </a:r>
            <a:r>
              <a:rPr lang="en-US" altLang="zh-CN">
                <a:solidFill>
                  <a:srgbClr val="000000"/>
                </a:solidFill>
              </a:rPr>
              <a:t>Boundary value problems</a:t>
            </a:r>
            <a:r>
              <a:rPr lang="en-US" altLang="zh-CN"/>
              <a:t>.</a:t>
            </a:r>
          </a:p>
        </p:txBody>
      </p:sp>
      <p:sp>
        <p:nvSpPr>
          <p:cNvPr id="36867" name="Text Box 6"/>
          <p:cNvSpPr txBox="1">
            <a:spLocks noChangeArrowheads="1"/>
          </p:cNvSpPr>
          <p:nvPr/>
        </p:nvSpPr>
        <p:spPr bwMode="auto">
          <a:xfrm>
            <a:off x="755650" y="404813"/>
            <a:ext cx="2844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3600" i="1">
                <a:solidFill>
                  <a:srgbClr val="000080"/>
                </a:solidFill>
              </a:rPr>
              <a:t>y" </a:t>
            </a:r>
            <a:r>
              <a:rPr lang="en-US" altLang="zh-CN" sz="3600">
                <a:solidFill>
                  <a:srgbClr val="000080"/>
                </a:solidFill>
              </a:rPr>
              <a:t>= </a:t>
            </a:r>
            <a:r>
              <a:rPr lang="en-US" altLang="zh-CN" sz="3600" i="1">
                <a:solidFill>
                  <a:srgbClr val="000080"/>
                </a:solidFill>
              </a:rPr>
              <a:t>f</a:t>
            </a:r>
            <a:r>
              <a:rPr lang="en-US" altLang="zh-CN" sz="3600">
                <a:solidFill>
                  <a:srgbClr val="000080"/>
                </a:solidFill>
              </a:rPr>
              <a:t>(</a:t>
            </a:r>
            <a:r>
              <a:rPr lang="en-US" altLang="zh-CN" sz="3600" i="1">
                <a:solidFill>
                  <a:srgbClr val="000080"/>
                </a:solidFill>
              </a:rPr>
              <a:t>t</a:t>
            </a:r>
            <a:r>
              <a:rPr lang="en-US" altLang="zh-CN" sz="3600">
                <a:solidFill>
                  <a:srgbClr val="000080"/>
                </a:solidFill>
              </a:rPr>
              <a:t>, </a:t>
            </a:r>
            <a:r>
              <a:rPr lang="en-US" altLang="zh-CN" sz="3600" i="1">
                <a:solidFill>
                  <a:srgbClr val="000080"/>
                </a:solidFill>
              </a:rPr>
              <a:t>y</a:t>
            </a:r>
            <a:r>
              <a:rPr lang="en-US" altLang="zh-CN" sz="3600">
                <a:solidFill>
                  <a:srgbClr val="000080"/>
                </a:solidFill>
              </a:rPr>
              <a:t>, </a:t>
            </a:r>
            <a:r>
              <a:rPr lang="en-US" altLang="zh-CN" sz="3600" i="1">
                <a:solidFill>
                  <a:srgbClr val="000080"/>
                </a:solidFill>
              </a:rPr>
              <a:t>y’</a:t>
            </a:r>
            <a:r>
              <a:rPr lang="en-US" altLang="zh-CN" sz="3600">
                <a:solidFill>
                  <a:srgbClr val="000080"/>
                </a:solidFill>
              </a:rPr>
              <a:t>) </a:t>
            </a:r>
          </a:p>
        </p:txBody>
      </p:sp>
      <p:sp>
        <p:nvSpPr>
          <p:cNvPr id="36868" name="Text Box 7"/>
          <p:cNvSpPr txBox="1">
            <a:spLocks noChangeArrowheads="1"/>
          </p:cNvSpPr>
          <p:nvPr/>
        </p:nvSpPr>
        <p:spPr bwMode="auto">
          <a:xfrm>
            <a:off x="395288" y="1196975"/>
            <a:ext cx="61134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subject to </a:t>
            </a:r>
            <a:r>
              <a:rPr lang="en-US" altLang="zh-CN" i="1">
                <a:solidFill>
                  <a:srgbClr val="000080"/>
                </a:solidFill>
              </a:rPr>
              <a:t>y</a:t>
            </a:r>
            <a:r>
              <a:rPr lang="en-US" altLang="zh-CN">
                <a:solidFill>
                  <a:srgbClr val="000080"/>
                </a:solidFill>
              </a:rPr>
              <a:t>(0) = </a:t>
            </a:r>
            <a:r>
              <a:rPr lang="en-US" altLang="zh-CN" i="1">
                <a:solidFill>
                  <a:srgbClr val="000080"/>
                </a:solidFill>
              </a:rPr>
              <a:t>c</a:t>
            </a:r>
            <a:r>
              <a:rPr lang="en-US" altLang="zh-CN">
                <a:solidFill>
                  <a:srgbClr val="008080"/>
                </a:solidFill>
              </a:rPr>
              <a:t>0 </a:t>
            </a:r>
            <a:r>
              <a:rPr lang="en-US" altLang="zh-CN">
                <a:solidFill>
                  <a:srgbClr val="000000"/>
                </a:solidFill>
              </a:rPr>
              <a:t>and </a:t>
            </a:r>
            <a:r>
              <a:rPr lang="en-US" altLang="zh-CN" i="1">
                <a:solidFill>
                  <a:srgbClr val="000080"/>
                </a:solidFill>
              </a:rPr>
              <a:t>y’</a:t>
            </a:r>
            <a:r>
              <a:rPr lang="en-US" altLang="zh-CN">
                <a:solidFill>
                  <a:srgbClr val="000080"/>
                </a:solidFill>
              </a:rPr>
              <a:t>(0) = </a:t>
            </a:r>
            <a:r>
              <a:rPr lang="en-US" altLang="zh-CN" i="1">
                <a:solidFill>
                  <a:srgbClr val="000080"/>
                </a:solidFill>
              </a:rPr>
              <a:t>c</a:t>
            </a:r>
            <a:r>
              <a:rPr lang="en-US" altLang="zh-CN">
                <a:solidFill>
                  <a:srgbClr val="008080"/>
                </a:solidFill>
              </a:rPr>
              <a:t>1</a:t>
            </a:r>
            <a:r>
              <a:rPr lang="en-US" altLang="zh-CN"/>
              <a:t> </a:t>
            </a:r>
          </a:p>
        </p:txBody>
      </p:sp>
      <p:sp>
        <p:nvSpPr>
          <p:cNvPr id="36869" name="Text Box 8"/>
          <p:cNvSpPr txBox="1">
            <a:spLocks noChangeArrowheads="1"/>
          </p:cNvSpPr>
          <p:nvPr/>
        </p:nvSpPr>
        <p:spPr bwMode="auto">
          <a:xfrm>
            <a:off x="395288" y="2633663"/>
            <a:ext cx="59769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subject to </a:t>
            </a:r>
            <a:r>
              <a:rPr lang="en-US" altLang="zh-CN" i="1">
                <a:solidFill>
                  <a:srgbClr val="000080"/>
                </a:solidFill>
              </a:rPr>
              <a:t>y</a:t>
            </a:r>
            <a:r>
              <a:rPr lang="en-US" altLang="zh-CN">
                <a:solidFill>
                  <a:srgbClr val="000080"/>
                </a:solidFill>
              </a:rPr>
              <a:t>(0) = </a:t>
            </a:r>
            <a:r>
              <a:rPr lang="en-US" altLang="zh-CN" i="1">
                <a:solidFill>
                  <a:srgbClr val="000080"/>
                </a:solidFill>
              </a:rPr>
              <a:t>c</a:t>
            </a:r>
            <a:r>
              <a:rPr lang="en-US" altLang="zh-CN">
                <a:solidFill>
                  <a:srgbClr val="008080"/>
                </a:solidFill>
              </a:rPr>
              <a:t>0 </a:t>
            </a:r>
            <a:r>
              <a:rPr lang="en-US" altLang="zh-CN">
                <a:solidFill>
                  <a:srgbClr val="000000"/>
                </a:solidFill>
              </a:rPr>
              <a:t>and </a:t>
            </a:r>
            <a:r>
              <a:rPr lang="en-US" altLang="zh-CN" i="1">
                <a:solidFill>
                  <a:srgbClr val="000080"/>
                </a:solidFill>
              </a:rPr>
              <a:t>y</a:t>
            </a:r>
            <a:r>
              <a:rPr lang="en-US" altLang="zh-CN">
                <a:solidFill>
                  <a:srgbClr val="000080"/>
                </a:solidFill>
              </a:rPr>
              <a:t>(1) = </a:t>
            </a:r>
            <a:r>
              <a:rPr lang="en-US" altLang="zh-CN" i="1">
                <a:solidFill>
                  <a:srgbClr val="000080"/>
                </a:solidFill>
              </a:rPr>
              <a:t>c</a:t>
            </a:r>
            <a:r>
              <a:rPr lang="en-US" altLang="zh-CN">
                <a:solidFill>
                  <a:srgbClr val="008080"/>
                </a:solidFill>
              </a:rPr>
              <a:t>1</a:t>
            </a:r>
            <a:r>
              <a:rPr lang="en-US" altLang="zh-CN"/>
              <a:t> </a:t>
            </a:r>
          </a:p>
        </p:txBody>
      </p:sp>
      <p:sp>
        <p:nvSpPr>
          <p:cNvPr id="36870" name="Text Box 9"/>
          <p:cNvSpPr txBox="1">
            <a:spLocks noChangeArrowheads="1"/>
          </p:cNvSpPr>
          <p:nvPr/>
        </p:nvSpPr>
        <p:spPr bwMode="auto">
          <a:xfrm>
            <a:off x="250825" y="1916113"/>
            <a:ext cx="79200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t> Initial value problems  (</a:t>
            </a:r>
            <a:r>
              <a:rPr lang="zh-CN" altLang="en-US"/>
              <a:t>初始值问题</a:t>
            </a:r>
            <a:r>
              <a:rPr lang="en-US" altLang="zh-CN"/>
              <a:t>)</a:t>
            </a:r>
          </a:p>
        </p:txBody>
      </p:sp>
      <p:sp>
        <p:nvSpPr>
          <p:cNvPr id="36871" name="Text Box 10"/>
          <p:cNvSpPr txBox="1">
            <a:spLocks noChangeArrowheads="1"/>
          </p:cNvSpPr>
          <p:nvPr/>
        </p:nvSpPr>
        <p:spPr bwMode="auto">
          <a:xfrm>
            <a:off x="323850" y="4289425"/>
            <a:ext cx="83518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 Boundary value problems </a:t>
            </a:r>
            <a:r>
              <a:rPr lang="en-US" altLang="zh-CN"/>
              <a:t>(</a:t>
            </a:r>
            <a:r>
              <a:rPr lang="zh-CN" altLang="en-US"/>
              <a:t>边值问题</a:t>
            </a:r>
            <a:r>
              <a:rPr lang="en-US" altLang="zh-CN"/>
              <a:t>) </a:t>
            </a:r>
            <a:endParaRPr lang="en-US" altLang="zh-CN" b="0"/>
          </a:p>
        </p:txBody>
      </p:sp>
      <p:sp>
        <p:nvSpPr>
          <p:cNvPr id="36872" name="Rectangle 11"/>
          <p:cNvSpPr>
            <a:spLocks noChangeArrowheads="1"/>
          </p:cNvSpPr>
          <p:nvPr/>
        </p:nvSpPr>
        <p:spPr bwMode="auto">
          <a:xfrm>
            <a:off x="468313" y="3351213"/>
            <a:ext cx="3657600"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(1)=0, y’(0)=0</a:t>
            </a:r>
            <a:endParaRPr lang="en-US" altLang="zh-CN"/>
          </a:p>
        </p:txBody>
      </p:sp>
      <p:sp>
        <p:nvSpPr>
          <p:cNvPr id="36873" name="Rectangle 12"/>
          <p:cNvSpPr>
            <a:spLocks noChangeArrowheads="1"/>
          </p:cNvSpPr>
          <p:nvPr/>
        </p:nvSpPr>
        <p:spPr bwMode="auto">
          <a:xfrm>
            <a:off x="4427538" y="3279775"/>
            <a:ext cx="28194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(0)=0, y(1)=0</a:t>
            </a:r>
            <a:endParaRPr lang="en-US" altLang="zh-CN"/>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0389"/>
                                        </p:tgtEl>
                                        <p:attrNameLst>
                                          <p:attrName>style.visibility</p:attrName>
                                        </p:attrNameLst>
                                      </p:cBhvr>
                                      <p:to>
                                        <p:strVal val="visible"/>
                                      </p:to>
                                    </p:set>
                                    <p:anim calcmode="lin" valueType="num">
                                      <p:cBhvr additive="base">
                                        <p:cTn id="7" dur="500" fill="hold"/>
                                        <p:tgtEl>
                                          <p:spTgt spid="400389"/>
                                        </p:tgtEl>
                                        <p:attrNameLst>
                                          <p:attrName>ppt_x</p:attrName>
                                        </p:attrNameLst>
                                      </p:cBhvr>
                                      <p:tavLst>
                                        <p:tav tm="0">
                                          <p:val>
                                            <p:strVal val="0-#ppt_w/2"/>
                                          </p:val>
                                        </p:tav>
                                        <p:tav tm="100000">
                                          <p:val>
                                            <p:strVal val="#ppt_x"/>
                                          </p:val>
                                        </p:tav>
                                      </p:tavLst>
                                    </p:anim>
                                    <p:anim calcmode="lin" valueType="num">
                                      <p:cBhvr additive="base">
                                        <p:cTn id="8" dur="500" fill="hold"/>
                                        <p:tgtEl>
                                          <p:spTgt spid="4003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468313" y="404813"/>
            <a:ext cx="4257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00"/>
                </a:solidFill>
              </a:rPr>
              <a:t>8.2.2.1 Shooting method</a:t>
            </a:r>
            <a:endParaRPr lang="en-US" altLang="zh-CN"/>
          </a:p>
        </p:txBody>
      </p:sp>
      <p:sp>
        <p:nvSpPr>
          <p:cNvPr id="31747" name="Text Box 3"/>
          <p:cNvSpPr txBox="1">
            <a:spLocks noChangeArrowheads="1"/>
          </p:cNvSpPr>
          <p:nvPr/>
        </p:nvSpPr>
        <p:spPr bwMode="auto">
          <a:xfrm>
            <a:off x="381000" y="1219200"/>
            <a:ext cx="2844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3600" i="1">
                <a:solidFill>
                  <a:srgbClr val="000080"/>
                </a:solidFill>
              </a:rPr>
              <a:t>y" </a:t>
            </a:r>
            <a:r>
              <a:rPr lang="en-US" altLang="zh-CN" sz="3600">
                <a:solidFill>
                  <a:srgbClr val="000080"/>
                </a:solidFill>
              </a:rPr>
              <a:t>= </a:t>
            </a:r>
            <a:r>
              <a:rPr lang="en-US" altLang="zh-CN" sz="3600" i="1">
                <a:solidFill>
                  <a:srgbClr val="000080"/>
                </a:solidFill>
              </a:rPr>
              <a:t>f</a:t>
            </a:r>
            <a:r>
              <a:rPr lang="en-US" altLang="zh-CN" sz="3600">
                <a:solidFill>
                  <a:srgbClr val="000080"/>
                </a:solidFill>
              </a:rPr>
              <a:t>(</a:t>
            </a:r>
            <a:r>
              <a:rPr lang="en-US" altLang="zh-CN" sz="3600" i="1">
                <a:solidFill>
                  <a:srgbClr val="000080"/>
                </a:solidFill>
              </a:rPr>
              <a:t>t</a:t>
            </a:r>
            <a:r>
              <a:rPr lang="en-US" altLang="zh-CN" sz="3600">
                <a:solidFill>
                  <a:srgbClr val="000080"/>
                </a:solidFill>
              </a:rPr>
              <a:t>, </a:t>
            </a:r>
            <a:r>
              <a:rPr lang="en-US" altLang="zh-CN" sz="3600" i="1">
                <a:solidFill>
                  <a:srgbClr val="000080"/>
                </a:solidFill>
              </a:rPr>
              <a:t>y</a:t>
            </a:r>
            <a:r>
              <a:rPr lang="en-US" altLang="zh-CN" sz="3600">
                <a:solidFill>
                  <a:srgbClr val="000080"/>
                </a:solidFill>
              </a:rPr>
              <a:t>, </a:t>
            </a:r>
            <a:r>
              <a:rPr lang="en-US" altLang="zh-CN" sz="3600" i="1">
                <a:solidFill>
                  <a:srgbClr val="000080"/>
                </a:solidFill>
              </a:rPr>
              <a:t>y’</a:t>
            </a:r>
            <a:r>
              <a:rPr lang="en-US" altLang="zh-CN" sz="3600">
                <a:solidFill>
                  <a:srgbClr val="000080"/>
                </a:solidFill>
              </a:rPr>
              <a:t>) </a:t>
            </a:r>
          </a:p>
        </p:txBody>
      </p:sp>
      <p:sp>
        <p:nvSpPr>
          <p:cNvPr id="31749" name="Text Box 5"/>
          <p:cNvSpPr txBox="1">
            <a:spLocks noChangeArrowheads="1"/>
          </p:cNvSpPr>
          <p:nvPr/>
        </p:nvSpPr>
        <p:spPr bwMode="auto">
          <a:xfrm>
            <a:off x="304800" y="2286000"/>
            <a:ext cx="83058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a:solidFill>
                  <a:srgbClr val="000000"/>
                </a:solidFill>
              </a:rPr>
              <a:t>With the shooting method we apply the </a:t>
            </a:r>
            <a:r>
              <a:rPr lang="en-US" altLang="zh-CN" i="1">
                <a:solidFill>
                  <a:srgbClr val="0000FF"/>
                </a:solidFill>
              </a:rPr>
              <a:t>y</a:t>
            </a:r>
            <a:r>
              <a:rPr lang="en-US" altLang="zh-CN">
                <a:solidFill>
                  <a:srgbClr val="0000FF"/>
                </a:solidFill>
              </a:rPr>
              <a:t>(0)=</a:t>
            </a:r>
            <a:r>
              <a:rPr lang="en-US" altLang="zh-CN" i="1">
                <a:solidFill>
                  <a:srgbClr val="0000FF"/>
                </a:solidFill>
              </a:rPr>
              <a:t>c</a:t>
            </a:r>
            <a:r>
              <a:rPr lang="en-US" altLang="zh-CN">
                <a:solidFill>
                  <a:srgbClr val="0000FF"/>
                </a:solidFill>
              </a:rPr>
              <a:t>0</a:t>
            </a:r>
            <a:r>
              <a:rPr lang="en-US" altLang="zh-CN">
                <a:solidFill>
                  <a:srgbClr val="008080"/>
                </a:solidFill>
              </a:rPr>
              <a:t> </a:t>
            </a:r>
            <a:r>
              <a:rPr lang="en-US" altLang="zh-CN">
                <a:solidFill>
                  <a:srgbClr val="000000"/>
                </a:solidFill>
              </a:rPr>
              <a:t>boundary condition and make some </a:t>
            </a:r>
            <a:r>
              <a:rPr lang="en-US" altLang="zh-CN" i="1">
                <a:solidFill>
                  <a:srgbClr val="000000"/>
                </a:solidFill>
              </a:rPr>
              <a:t>guess </a:t>
            </a:r>
            <a:r>
              <a:rPr lang="en-US" altLang="zh-CN">
                <a:solidFill>
                  <a:srgbClr val="000000"/>
                </a:solidFill>
              </a:rPr>
              <a:t>that </a:t>
            </a:r>
            <a:r>
              <a:rPr lang="en-US" altLang="zh-CN" i="1">
                <a:solidFill>
                  <a:srgbClr val="0000FF"/>
                </a:solidFill>
              </a:rPr>
              <a:t>y’</a:t>
            </a:r>
            <a:r>
              <a:rPr lang="en-US" altLang="zh-CN">
                <a:solidFill>
                  <a:srgbClr val="0000FF"/>
                </a:solidFill>
              </a:rPr>
              <a:t>(0) = </a:t>
            </a:r>
            <a:r>
              <a:rPr lang="en-US" altLang="zh-CN">
                <a:solidFill>
                  <a:srgbClr val="0000FF"/>
                </a:solidFill>
                <a:latin typeface="Symbol" pitchFamily="18" charset="2"/>
              </a:rPr>
              <a:t>a</a:t>
            </a:r>
            <a:r>
              <a:rPr lang="en-US" altLang="zh-CN">
                <a:solidFill>
                  <a:srgbClr val="0000FF"/>
                </a:solidFill>
              </a:rPr>
              <a:t>0</a:t>
            </a:r>
            <a:r>
              <a:rPr lang="en-US" altLang="zh-CN">
                <a:solidFill>
                  <a:srgbClr val="000000"/>
                </a:solidFill>
              </a:rPr>
              <a:t>. </a:t>
            </a:r>
            <a:endParaRPr lang="en-US" altLang="zh-CN"/>
          </a:p>
        </p:txBody>
      </p:sp>
      <p:sp>
        <p:nvSpPr>
          <p:cNvPr id="31750" name="Text Box 6"/>
          <p:cNvSpPr txBox="1">
            <a:spLocks noChangeArrowheads="1"/>
          </p:cNvSpPr>
          <p:nvPr/>
        </p:nvSpPr>
        <p:spPr bwMode="auto">
          <a:xfrm>
            <a:off x="250825" y="4191000"/>
            <a:ext cx="864235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a:solidFill>
                  <a:srgbClr val="000000"/>
                </a:solidFill>
              </a:rPr>
              <a:t>This gives us two </a:t>
            </a:r>
            <a:r>
              <a:rPr lang="en-US" altLang="zh-CN" i="1">
                <a:solidFill>
                  <a:srgbClr val="000000"/>
                </a:solidFill>
              </a:rPr>
              <a:t>initial </a:t>
            </a:r>
            <a:r>
              <a:rPr lang="en-US" altLang="zh-CN">
                <a:solidFill>
                  <a:srgbClr val="000000"/>
                </a:solidFill>
              </a:rPr>
              <a:t>conditions so that we may apply the simple time-stepping methods already discussed in section 8.1. The calculation proceeds until we have a value for </a:t>
            </a:r>
            <a:r>
              <a:rPr lang="en-US" altLang="zh-CN" i="1">
                <a:solidFill>
                  <a:srgbClr val="0000FF"/>
                </a:solidFill>
              </a:rPr>
              <a:t>y</a:t>
            </a:r>
            <a:r>
              <a:rPr lang="en-US" altLang="zh-CN">
                <a:solidFill>
                  <a:srgbClr val="0000FF"/>
                </a:solidFill>
              </a:rPr>
              <a:t>(1)</a:t>
            </a:r>
            <a:r>
              <a:rPr lang="en-US" altLang="zh-CN">
                <a:solidFill>
                  <a:srgbClr val="000000"/>
                </a:solidFill>
              </a:rPr>
              <a:t>.</a:t>
            </a:r>
            <a:r>
              <a:rPr lang="en-US" altLang="zh-CN"/>
              <a:t> </a:t>
            </a:r>
          </a:p>
        </p:txBody>
      </p:sp>
      <p:sp>
        <p:nvSpPr>
          <p:cNvPr id="31751" name="Text Box 7"/>
          <p:cNvSpPr txBox="1">
            <a:spLocks noChangeArrowheads="1"/>
          </p:cNvSpPr>
          <p:nvPr/>
        </p:nvSpPr>
        <p:spPr bwMode="auto">
          <a:xfrm>
            <a:off x="3492500" y="1412875"/>
            <a:ext cx="54721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subject to </a:t>
            </a:r>
            <a:r>
              <a:rPr lang="en-US" altLang="zh-CN" i="1">
                <a:solidFill>
                  <a:srgbClr val="0000FF"/>
                </a:solidFill>
              </a:rPr>
              <a:t>y</a:t>
            </a:r>
            <a:r>
              <a:rPr lang="en-US" altLang="zh-CN">
                <a:solidFill>
                  <a:srgbClr val="0000FF"/>
                </a:solidFill>
              </a:rPr>
              <a:t>(0) = </a:t>
            </a:r>
            <a:r>
              <a:rPr lang="en-US" altLang="zh-CN" i="1">
                <a:solidFill>
                  <a:srgbClr val="0000FF"/>
                </a:solidFill>
              </a:rPr>
              <a:t>c</a:t>
            </a:r>
            <a:r>
              <a:rPr lang="en-US" altLang="zh-CN">
                <a:solidFill>
                  <a:srgbClr val="0000FF"/>
                </a:solidFill>
              </a:rPr>
              <a:t>0</a:t>
            </a:r>
            <a:r>
              <a:rPr lang="en-US" altLang="zh-CN" sz="2800">
                <a:solidFill>
                  <a:srgbClr val="008080"/>
                </a:solidFill>
              </a:rPr>
              <a:t> </a:t>
            </a:r>
            <a:r>
              <a:rPr lang="en-US" altLang="zh-CN" sz="2800">
                <a:solidFill>
                  <a:srgbClr val="000000"/>
                </a:solidFill>
              </a:rPr>
              <a:t>and </a:t>
            </a:r>
            <a:r>
              <a:rPr lang="en-US" altLang="zh-CN" i="1">
                <a:solidFill>
                  <a:srgbClr val="0000FF"/>
                </a:solidFill>
              </a:rPr>
              <a:t>y</a:t>
            </a:r>
            <a:r>
              <a:rPr lang="en-US" altLang="zh-CN">
                <a:solidFill>
                  <a:srgbClr val="0000FF"/>
                </a:solidFill>
              </a:rPr>
              <a:t>(1) = </a:t>
            </a:r>
            <a:r>
              <a:rPr lang="en-US" altLang="zh-CN" i="1">
                <a:solidFill>
                  <a:srgbClr val="0000FF"/>
                </a:solidFill>
              </a:rPr>
              <a:t>c</a:t>
            </a:r>
            <a:r>
              <a:rPr lang="en-US" altLang="zh-CN">
                <a:solidFill>
                  <a:srgbClr val="0000FF"/>
                </a:solidFill>
              </a:rPr>
              <a:t>1</a:t>
            </a:r>
            <a:r>
              <a:rPr lang="en-US" altLang="zh-CN" sz="2800"/>
              <a:t> </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 calcmode="lin" valueType="num">
                                      <p:cBhvr additive="base">
                                        <p:cTn id="7" dur="500" fill="hold"/>
                                        <p:tgtEl>
                                          <p:spTgt spid="31747"/>
                                        </p:tgtEl>
                                        <p:attrNameLst>
                                          <p:attrName>ppt_x</p:attrName>
                                        </p:attrNameLst>
                                      </p:cBhvr>
                                      <p:tavLst>
                                        <p:tav tm="0">
                                          <p:val>
                                            <p:strVal val="0-#ppt_w/2"/>
                                          </p:val>
                                        </p:tav>
                                        <p:tav tm="100000">
                                          <p:val>
                                            <p:strVal val="#ppt_x"/>
                                          </p:val>
                                        </p:tav>
                                      </p:tavLst>
                                    </p:anim>
                                    <p:anim calcmode="lin" valueType="num">
                                      <p:cBhvr additive="base">
                                        <p:cTn id="8" dur="500" fill="hold"/>
                                        <p:tgtEl>
                                          <p:spTgt spid="3174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751"/>
                                        </p:tgtEl>
                                        <p:attrNameLst>
                                          <p:attrName>style.visibility</p:attrName>
                                        </p:attrNameLst>
                                      </p:cBhvr>
                                      <p:to>
                                        <p:strVal val="visible"/>
                                      </p:to>
                                    </p:set>
                                    <p:anim calcmode="lin" valueType="num">
                                      <p:cBhvr additive="base">
                                        <p:cTn id="13" dur="500" fill="hold"/>
                                        <p:tgtEl>
                                          <p:spTgt spid="31751"/>
                                        </p:tgtEl>
                                        <p:attrNameLst>
                                          <p:attrName>ppt_x</p:attrName>
                                        </p:attrNameLst>
                                      </p:cBhvr>
                                      <p:tavLst>
                                        <p:tav tm="0">
                                          <p:val>
                                            <p:strVal val="0-#ppt_w/2"/>
                                          </p:val>
                                        </p:tav>
                                        <p:tav tm="100000">
                                          <p:val>
                                            <p:strVal val="#ppt_x"/>
                                          </p:val>
                                        </p:tav>
                                      </p:tavLst>
                                    </p:anim>
                                    <p:anim calcmode="lin" valueType="num">
                                      <p:cBhvr additive="base">
                                        <p:cTn id="14" dur="500" fill="hold"/>
                                        <p:tgtEl>
                                          <p:spTgt spid="3175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749"/>
                                        </p:tgtEl>
                                        <p:attrNameLst>
                                          <p:attrName>style.visibility</p:attrName>
                                        </p:attrNameLst>
                                      </p:cBhvr>
                                      <p:to>
                                        <p:strVal val="visible"/>
                                      </p:to>
                                    </p:set>
                                    <p:anim calcmode="lin" valueType="num">
                                      <p:cBhvr additive="base">
                                        <p:cTn id="19" dur="500" fill="hold"/>
                                        <p:tgtEl>
                                          <p:spTgt spid="31749"/>
                                        </p:tgtEl>
                                        <p:attrNameLst>
                                          <p:attrName>ppt_x</p:attrName>
                                        </p:attrNameLst>
                                      </p:cBhvr>
                                      <p:tavLst>
                                        <p:tav tm="0">
                                          <p:val>
                                            <p:strVal val="0-#ppt_w/2"/>
                                          </p:val>
                                        </p:tav>
                                        <p:tav tm="100000">
                                          <p:val>
                                            <p:strVal val="#ppt_x"/>
                                          </p:val>
                                        </p:tav>
                                      </p:tavLst>
                                    </p:anim>
                                    <p:anim calcmode="lin" valueType="num">
                                      <p:cBhvr additive="base">
                                        <p:cTn id="20" dur="500" fill="hold"/>
                                        <p:tgtEl>
                                          <p:spTgt spid="3174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1750"/>
                                        </p:tgtEl>
                                        <p:attrNameLst>
                                          <p:attrName>style.visibility</p:attrName>
                                        </p:attrNameLst>
                                      </p:cBhvr>
                                      <p:to>
                                        <p:strVal val="visible"/>
                                      </p:to>
                                    </p:set>
                                    <p:anim calcmode="lin" valueType="num">
                                      <p:cBhvr additive="base">
                                        <p:cTn id="25" dur="500" fill="hold"/>
                                        <p:tgtEl>
                                          <p:spTgt spid="31750"/>
                                        </p:tgtEl>
                                        <p:attrNameLst>
                                          <p:attrName>ppt_x</p:attrName>
                                        </p:attrNameLst>
                                      </p:cBhvr>
                                      <p:tavLst>
                                        <p:tav tm="0">
                                          <p:val>
                                            <p:strVal val="0-#ppt_w/2"/>
                                          </p:val>
                                        </p:tav>
                                        <p:tav tm="100000">
                                          <p:val>
                                            <p:strVal val="#ppt_x"/>
                                          </p:val>
                                        </p:tav>
                                      </p:tavLst>
                                    </p:anim>
                                    <p:anim calcmode="lin" valueType="num">
                                      <p:cBhvr additive="base">
                                        <p:cTn id="26" dur="500" fill="hold"/>
                                        <p:tgtEl>
                                          <p:spTgt spid="317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autoUpdateAnimBg="0"/>
      <p:bldP spid="31749" grpId="0" autoUpdateAnimBg="0"/>
      <p:bldP spid="31750" grpId="0" autoUpdateAnimBg="0"/>
      <p:bldP spid="31751"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76200" y="152400"/>
            <a:ext cx="9067800" cy="359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a:solidFill>
                  <a:srgbClr val="000000"/>
                </a:solidFill>
              </a:rPr>
              <a:t>If this does not satisfy </a:t>
            </a:r>
            <a:r>
              <a:rPr lang="en-US" altLang="zh-CN" i="1">
                <a:solidFill>
                  <a:srgbClr val="0000FF"/>
                </a:solidFill>
              </a:rPr>
              <a:t>y</a:t>
            </a:r>
            <a:r>
              <a:rPr lang="en-US" altLang="zh-CN">
                <a:solidFill>
                  <a:srgbClr val="0000FF"/>
                </a:solidFill>
              </a:rPr>
              <a:t>(1) = </a:t>
            </a:r>
            <a:r>
              <a:rPr lang="en-US" altLang="zh-CN" i="1">
                <a:solidFill>
                  <a:srgbClr val="0000FF"/>
                </a:solidFill>
              </a:rPr>
              <a:t>c</a:t>
            </a:r>
            <a:r>
              <a:rPr lang="en-US" altLang="zh-CN">
                <a:solidFill>
                  <a:srgbClr val="0000FF"/>
                </a:solidFill>
              </a:rPr>
              <a:t>1</a:t>
            </a:r>
            <a:r>
              <a:rPr lang="en-US" altLang="zh-CN">
                <a:solidFill>
                  <a:srgbClr val="008080"/>
                </a:solidFill>
              </a:rPr>
              <a:t> </a:t>
            </a:r>
            <a:r>
              <a:rPr lang="en-US" altLang="zh-CN">
                <a:solidFill>
                  <a:srgbClr val="000000"/>
                </a:solidFill>
              </a:rPr>
              <a:t>to some acceptable tolerance, we revise our guess for </a:t>
            </a:r>
            <a:r>
              <a:rPr lang="en-US" altLang="zh-CN" i="1">
                <a:solidFill>
                  <a:srgbClr val="000080"/>
                </a:solidFill>
              </a:rPr>
              <a:t>y’</a:t>
            </a:r>
            <a:r>
              <a:rPr lang="en-US" altLang="zh-CN">
                <a:solidFill>
                  <a:srgbClr val="000080"/>
                </a:solidFill>
              </a:rPr>
              <a:t>(0) </a:t>
            </a:r>
            <a:r>
              <a:rPr lang="en-US" altLang="zh-CN">
                <a:solidFill>
                  <a:srgbClr val="000000"/>
                </a:solidFill>
              </a:rPr>
              <a:t>to some value </a:t>
            </a:r>
            <a:r>
              <a:rPr lang="en-US" altLang="zh-CN">
                <a:solidFill>
                  <a:srgbClr val="008000"/>
                </a:solidFill>
                <a:latin typeface="Symbol" pitchFamily="18" charset="2"/>
              </a:rPr>
              <a:t>a</a:t>
            </a:r>
            <a:r>
              <a:rPr lang="en-US" altLang="zh-CN">
                <a:solidFill>
                  <a:srgbClr val="008080"/>
                </a:solidFill>
              </a:rPr>
              <a:t>1</a:t>
            </a:r>
            <a:r>
              <a:rPr lang="en-US" altLang="zh-CN">
                <a:solidFill>
                  <a:srgbClr val="000000"/>
                </a:solidFill>
              </a:rPr>
              <a:t>, say, and repeat the time integration to obtain an new value for </a:t>
            </a:r>
            <a:r>
              <a:rPr lang="en-US" altLang="zh-CN" i="1">
                <a:solidFill>
                  <a:srgbClr val="000080"/>
                </a:solidFill>
              </a:rPr>
              <a:t>y</a:t>
            </a:r>
            <a:r>
              <a:rPr lang="en-US" altLang="zh-CN">
                <a:solidFill>
                  <a:srgbClr val="000080"/>
                </a:solidFill>
              </a:rPr>
              <a:t>(1)</a:t>
            </a:r>
            <a:r>
              <a:rPr lang="en-US" altLang="zh-CN">
                <a:solidFill>
                  <a:srgbClr val="000000"/>
                </a:solidFill>
              </a:rPr>
              <a:t>. This process continues until we </a:t>
            </a:r>
            <a:r>
              <a:rPr lang="en-US" altLang="zh-CN" i="1">
                <a:solidFill>
                  <a:srgbClr val="000000"/>
                </a:solidFill>
              </a:rPr>
              <a:t>hit </a:t>
            </a:r>
            <a:r>
              <a:rPr lang="en-US" altLang="zh-CN" i="1">
                <a:solidFill>
                  <a:srgbClr val="000080"/>
                </a:solidFill>
              </a:rPr>
              <a:t>y</a:t>
            </a:r>
            <a:r>
              <a:rPr lang="en-US" altLang="zh-CN">
                <a:solidFill>
                  <a:srgbClr val="000080"/>
                </a:solidFill>
              </a:rPr>
              <a:t>(1)=</a:t>
            </a:r>
            <a:r>
              <a:rPr lang="en-US" altLang="zh-CN" i="1">
                <a:solidFill>
                  <a:srgbClr val="000080"/>
                </a:solidFill>
              </a:rPr>
              <a:t>c</a:t>
            </a:r>
            <a:r>
              <a:rPr lang="en-US" altLang="zh-CN">
                <a:solidFill>
                  <a:srgbClr val="008080"/>
                </a:solidFill>
              </a:rPr>
              <a:t>1 </a:t>
            </a:r>
            <a:r>
              <a:rPr lang="en-US" altLang="zh-CN">
                <a:solidFill>
                  <a:srgbClr val="000000"/>
                </a:solidFill>
              </a:rPr>
              <a:t>to the acceptable tolerance. </a:t>
            </a:r>
          </a:p>
        </p:txBody>
      </p:sp>
      <p:sp>
        <p:nvSpPr>
          <p:cNvPr id="38915" name="Text Box 4"/>
          <p:cNvSpPr txBox="1">
            <a:spLocks noChangeArrowheads="1"/>
          </p:cNvSpPr>
          <p:nvPr/>
        </p:nvSpPr>
        <p:spPr bwMode="auto">
          <a:xfrm>
            <a:off x="228600" y="3879850"/>
            <a:ext cx="87630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a:solidFill>
                  <a:srgbClr val="000000"/>
                </a:solidFill>
              </a:rPr>
              <a:t>The number of iterations which will need to be made in order to achieve an acceptable tolerance will depend on how good the refinement algorithm for </a:t>
            </a:r>
            <a:r>
              <a:rPr lang="en-US" altLang="zh-CN">
                <a:solidFill>
                  <a:srgbClr val="008000"/>
                </a:solidFill>
                <a:latin typeface="Symbol" pitchFamily="18" charset="2"/>
              </a:rPr>
              <a:t>a </a:t>
            </a:r>
            <a:r>
              <a:rPr lang="en-US" altLang="zh-CN">
                <a:solidFill>
                  <a:srgbClr val="000000"/>
                </a:solidFill>
              </a:rPr>
              <a:t>is. </a:t>
            </a:r>
          </a:p>
        </p:txBody>
      </p:sp>
    </p:spTree>
  </p:cSld>
  <p:clrMapOvr>
    <a:masterClrMapping/>
  </p:clrMapOvr>
  <p:transition spd="med">
    <p:pull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468313" y="1484313"/>
            <a:ext cx="35925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1 Newton-Raphson</a:t>
            </a:r>
            <a:r>
              <a:rPr lang="en-US" altLang="zh-CN"/>
              <a:t> </a:t>
            </a:r>
          </a:p>
        </p:txBody>
      </p:sp>
      <p:sp>
        <p:nvSpPr>
          <p:cNvPr id="33797" name="Text Box 5"/>
          <p:cNvSpPr txBox="1">
            <a:spLocks noChangeArrowheads="1"/>
          </p:cNvSpPr>
          <p:nvPr/>
        </p:nvSpPr>
        <p:spPr bwMode="auto">
          <a:xfrm>
            <a:off x="381000" y="3429000"/>
            <a:ext cx="85344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800" b="0">
                <a:solidFill>
                  <a:srgbClr val="000000"/>
                </a:solidFill>
              </a:rPr>
              <a:t>Setting the quadratic and higher terms to zero and solving the linear approximation of </a:t>
            </a:r>
            <a:r>
              <a:rPr lang="en-US" altLang="zh-CN" sz="2800" b="0" i="1">
                <a:solidFill>
                  <a:srgbClr val="000080"/>
                </a:solidFill>
              </a:rPr>
              <a:t>f</a:t>
            </a:r>
            <a:r>
              <a:rPr lang="en-US" altLang="zh-CN" sz="2800" b="0">
                <a:solidFill>
                  <a:srgbClr val="000080"/>
                </a:solidFill>
              </a:rPr>
              <a:t>(</a:t>
            </a:r>
            <a:r>
              <a:rPr lang="en-US" altLang="zh-CN" sz="2800" b="0" i="1">
                <a:solidFill>
                  <a:srgbClr val="000080"/>
                </a:solidFill>
              </a:rPr>
              <a:t>x</a:t>
            </a:r>
            <a:r>
              <a:rPr lang="en-US" altLang="zh-CN" sz="2800" b="0">
                <a:solidFill>
                  <a:srgbClr val="000080"/>
                </a:solidFill>
              </a:rPr>
              <a:t>) = 0 </a:t>
            </a:r>
            <a:r>
              <a:rPr lang="en-US" altLang="zh-CN" sz="2800" b="0">
                <a:solidFill>
                  <a:srgbClr val="000000"/>
                </a:solidFill>
              </a:rPr>
              <a:t>for </a:t>
            </a:r>
            <a:r>
              <a:rPr lang="en-US" altLang="zh-CN" sz="2800" b="0" i="1">
                <a:solidFill>
                  <a:srgbClr val="000080"/>
                </a:solidFill>
              </a:rPr>
              <a:t>x </a:t>
            </a:r>
            <a:r>
              <a:rPr lang="en-US" altLang="zh-CN" sz="2800" b="0">
                <a:solidFill>
                  <a:srgbClr val="000000"/>
                </a:solidFill>
              </a:rPr>
              <a:t>gives</a:t>
            </a:r>
            <a:endParaRPr lang="en-US" altLang="zh-CN" sz="2800" b="0"/>
          </a:p>
        </p:txBody>
      </p:sp>
      <p:graphicFrame>
        <p:nvGraphicFramePr>
          <p:cNvPr id="33799" name="Object 7"/>
          <p:cNvGraphicFramePr>
            <a:graphicFrameLocks noChangeAspect="1"/>
          </p:cNvGraphicFramePr>
          <p:nvPr/>
        </p:nvGraphicFramePr>
        <p:xfrm>
          <a:off x="179388" y="2205038"/>
          <a:ext cx="8839200" cy="1028700"/>
        </p:xfrm>
        <a:graphic>
          <a:graphicData uri="http://schemas.openxmlformats.org/presentationml/2006/ole">
            <mc:AlternateContent xmlns:mc="http://schemas.openxmlformats.org/markup-compatibility/2006">
              <mc:Choice xmlns:v="urn:schemas-microsoft-com:vml" Requires="v">
                <p:oleObj spid="_x0000_s39957" name="Microsoft 公式 3.0" r:id="rId3" imgW="4236624" imgH="411480" progId="Equation.3">
                  <p:embed/>
                </p:oleObj>
              </mc:Choice>
              <mc:Fallback>
                <p:oleObj name="Microsoft 公式 3.0" r:id="rId3" imgW="4236624" imgH="41148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2205038"/>
                        <a:ext cx="88392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00" name="Object 8"/>
          <p:cNvGraphicFramePr>
            <a:graphicFrameLocks noChangeAspect="1"/>
          </p:cNvGraphicFramePr>
          <p:nvPr/>
        </p:nvGraphicFramePr>
        <p:xfrm>
          <a:off x="2057400" y="4724400"/>
          <a:ext cx="5334000" cy="638175"/>
        </p:xfrm>
        <a:graphic>
          <a:graphicData uri="http://schemas.openxmlformats.org/presentationml/2006/ole">
            <mc:AlternateContent xmlns:mc="http://schemas.openxmlformats.org/markup-compatibility/2006">
              <mc:Choice xmlns:v="urn:schemas-microsoft-com:vml" Requires="v">
                <p:oleObj spid="_x0000_s39958" name="Microsoft 公式 3.0" r:id="rId5" imgW="1988928" imgH="221052" progId="Equation.3">
                  <p:embed/>
                </p:oleObj>
              </mc:Choice>
              <mc:Fallback>
                <p:oleObj name="Microsoft 公式 3.0" r:id="rId5" imgW="1988928" imgH="221052"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4724400"/>
                        <a:ext cx="5334000"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01" name="Object 9"/>
          <p:cNvGraphicFramePr>
            <a:graphicFrameLocks noChangeAspect="1"/>
          </p:cNvGraphicFramePr>
          <p:nvPr/>
        </p:nvGraphicFramePr>
        <p:xfrm>
          <a:off x="1219200" y="5489575"/>
          <a:ext cx="6592888" cy="638175"/>
        </p:xfrm>
        <a:graphic>
          <a:graphicData uri="http://schemas.openxmlformats.org/presentationml/2006/ole">
            <mc:AlternateContent xmlns:mc="http://schemas.openxmlformats.org/markup-compatibility/2006">
              <mc:Choice xmlns:v="urn:schemas-microsoft-com:vml" Requires="v">
                <p:oleObj spid="_x0000_s39959" name="Microsoft 公式 3.0" r:id="rId7" imgW="2339280" imgH="221052" progId="Equation.3">
                  <p:embed/>
                </p:oleObj>
              </mc:Choice>
              <mc:Fallback>
                <p:oleObj name="Microsoft 公式 3.0" r:id="rId7" imgW="2339280" imgH="221052"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5489575"/>
                        <a:ext cx="6592888"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02" name="Object 10"/>
          <p:cNvGraphicFramePr>
            <a:graphicFrameLocks noChangeAspect="1"/>
          </p:cNvGraphicFramePr>
          <p:nvPr/>
        </p:nvGraphicFramePr>
        <p:xfrm>
          <a:off x="1981200" y="6175375"/>
          <a:ext cx="4295775" cy="638175"/>
        </p:xfrm>
        <a:graphic>
          <a:graphicData uri="http://schemas.openxmlformats.org/presentationml/2006/ole">
            <mc:AlternateContent xmlns:mc="http://schemas.openxmlformats.org/markup-compatibility/2006">
              <mc:Choice xmlns:v="urn:schemas-microsoft-com:vml" Requires="v">
                <p:oleObj spid="_x0000_s39960" name="Microsoft 公式 3.0" r:id="rId9" imgW="1531656" imgH="221052" progId="Equation.3">
                  <p:embed/>
                </p:oleObj>
              </mc:Choice>
              <mc:Fallback>
                <p:oleObj name="Microsoft 公式 3.0" r:id="rId9" imgW="1531656" imgH="221052"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200" y="6175375"/>
                        <a:ext cx="4295775" cy="63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4" name="Text Box 1041"/>
          <p:cNvSpPr txBox="1">
            <a:spLocks noChangeArrowheads="1"/>
          </p:cNvSpPr>
          <p:nvPr/>
        </p:nvSpPr>
        <p:spPr bwMode="auto">
          <a:xfrm>
            <a:off x="152400" y="80963"/>
            <a:ext cx="86868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a:solidFill>
                  <a:srgbClr val="000000"/>
                </a:solidFill>
              </a:rPr>
              <a:t>We may use the root finding methods discussed in section 3 to undertake this refinement. </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 calcmode="lin" valueType="num">
                                      <p:cBhvr additive="base">
                                        <p:cTn id="7" dur="500" fill="hold"/>
                                        <p:tgtEl>
                                          <p:spTgt spid="33794"/>
                                        </p:tgtEl>
                                        <p:attrNameLst>
                                          <p:attrName>ppt_x</p:attrName>
                                        </p:attrNameLst>
                                      </p:cBhvr>
                                      <p:tavLst>
                                        <p:tav tm="0">
                                          <p:val>
                                            <p:strVal val="#ppt_x"/>
                                          </p:val>
                                        </p:tav>
                                        <p:tav tm="100000">
                                          <p:val>
                                            <p:strVal val="#ppt_x"/>
                                          </p:val>
                                        </p:tav>
                                      </p:tavLst>
                                    </p:anim>
                                    <p:anim calcmode="lin" valueType="num">
                                      <p:cBhvr additive="base">
                                        <p:cTn id="8" dur="500" fill="hold"/>
                                        <p:tgtEl>
                                          <p:spTgt spid="3379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3799"/>
                                        </p:tgtEl>
                                        <p:attrNameLst>
                                          <p:attrName>style.visibility</p:attrName>
                                        </p:attrNameLst>
                                      </p:cBhvr>
                                      <p:to>
                                        <p:strVal val="visible"/>
                                      </p:to>
                                    </p:set>
                                    <p:anim calcmode="lin" valueType="num">
                                      <p:cBhvr additive="base">
                                        <p:cTn id="13" dur="500" fill="hold"/>
                                        <p:tgtEl>
                                          <p:spTgt spid="33799"/>
                                        </p:tgtEl>
                                        <p:attrNameLst>
                                          <p:attrName>ppt_x</p:attrName>
                                        </p:attrNameLst>
                                      </p:cBhvr>
                                      <p:tavLst>
                                        <p:tav tm="0">
                                          <p:val>
                                            <p:strVal val="0-#ppt_w/2"/>
                                          </p:val>
                                        </p:tav>
                                        <p:tav tm="100000">
                                          <p:val>
                                            <p:strVal val="#ppt_x"/>
                                          </p:val>
                                        </p:tav>
                                      </p:tavLst>
                                    </p:anim>
                                    <p:anim calcmode="lin" valueType="num">
                                      <p:cBhvr additive="base">
                                        <p:cTn id="14" dur="500" fill="hold"/>
                                        <p:tgtEl>
                                          <p:spTgt spid="3379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3797"/>
                                        </p:tgtEl>
                                        <p:attrNameLst>
                                          <p:attrName>style.visibility</p:attrName>
                                        </p:attrNameLst>
                                      </p:cBhvr>
                                      <p:to>
                                        <p:strVal val="visible"/>
                                      </p:to>
                                    </p:set>
                                    <p:anim calcmode="lin" valueType="num">
                                      <p:cBhvr additive="base">
                                        <p:cTn id="19" dur="500" fill="hold"/>
                                        <p:tgtEl>
                                          <p:spTgt spid="33797"/>
                                        </p:tgtEl>
                                        <p:attrNameLst>
                                          <p:attrName>ppt_x</p:attrName>
                                        </p:attrNameLst>
                                      </p:cBhvr>
                                      <p:tavLst>
                                        <p:tav tm="0">
                                          <p:val>
                                            <p:strVal val="0-#ppt_w/2"/>
                                          </p:val>
                                        </p:tav>
                                        <p:tav tm="100000">
                                          <p:val>
                                            <p:strVal val="#ppt_x"/>
                                          </p:val>
                                        </p:tav>
                                      </p:tavLst>
                                    </p:anim>
                                    <p:anim calcmode="lin" valueType="num">
                                      <p:cBhvr additive="base">
                                        <p:cTn id="20" dur="500" fill="hold"/>
                                        <p:tgtEl>
                                          <p:spTgt spid="3379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3800"/>
                                        </p:tgtEl>
                                        <p:attrNameLst>
                                          <p:attrName>style.visibility</p:attrName>
                                        </p:attrNameLst>
                                      </p:cBhvr>
                                      <p:to>
                                        <p:strVal val="visible"/>
                                      </p:to>
                                    </p:set>
                                    <p:anim calcmode="lin" valueType="num">
                                      <p:cBhvr additive="base">
                                        <p:cTn id="25" dur="500" fill="hold"/>
                                        <p:tgtEl>
                                          <p:spTgt spid="33800"/>
                                        </p:tgtEl>
                                        <p:attrNameLst>
                                          <p:attrName>ppt_x</p:attrName>
                                        </p:attrNameLst>
                                      </p:cBhvr>
                                      <p:tavLst>
                                        <p:tav tm="0">
                                          <p:val>
                                            <p:strVal val="0-#ppt_w/2"/>
                                          </p:val>
                                        </p:tav>
                                        <p:tav tm="100000">
                                          <p:val>
                                            <p:strVal val="#ppt_x"/>
                                          </p:val>
                                        </p:tav>
                                      </p:tavLst>
                                    </p:anim>
                                    <p:anim calcmode="lin" valueType="num">
                                      <p:cBhvr additive="base">
                                        <p:cTn id="26" dur="500" fill="hold"/>
                                        <p:tgtEl>
                                          <p:spTgt spid="3380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3801"/>
                                        </p:tgtEl>
                                        <p:attrNameLst>
                                          <p:attrName>style.visibility</p:attrName>
                                        </p:attrNameLst>
                                      </p:cBhvr>
                                      <p:to>
                                        <p:strVal val="visible"/>
                                      </p:to>
                                    </p:set>
                                    <p:anim calcmode="lin" valueType="num">
                                      <p:cBhvr additive="base">
                                        <p:cTn id="31" dur="500" fill="hold"/>
                                        <p:tgtEl>
                                          <p:spTgt spid="33801"/>
                                        </p:tgtEl>
                                        <p:attrNameLst>
                                          <p:attrName>ppt_x</p:attrName>
                                        </p:attrNameLst>
                                      </p:cBhvr>
                                      <p:tavLst>
                                        <p:tav tm="0">
                                          <p:val>
                                            <p:strVal val="0-#ppt_w/2"/>
                                          </p:val>
                                        </p:tav>
                                        <p:tav tm="100000">
                                          <p:val>
                                            <p:strVal val="#ppt_x"/>
                                          </p:val>
                                        </p:tav>
                                      </p:tavLst>
                                    </p:anim>
                                    <p:anim calcmode="lin" valueType="num">
                                      <p:cBhvr additive="base">
                                        <p:cTn id="32" dur="500" fill="hold"/>
                                        <p:tgtEl>
                                          <p:spTgt spid="3380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33802"/>
                                        </p:tgtEl>
                                        <p:attrNameLst>
                                          <p:attrName>style.visibility</p:attrName>
                                        </p:attrNameLst>
                                      </p:cBhvr>
                                      <p:to>
                                        <p:strVal val="visible"/>
                                      </p:to>
                                    </p:set>
                                    <p:anim calcmode="lin" valueType="num">
                                      <p:cBhvr additive="base">
                                        <p:cTn id="37" dur="500" fill="hold"/>
                                        <p:tgtEl>
                                          <p:spTgt spid="33802"/>
                                        </p:tgtEl>
                                        <p:attrNameLst>
                                          <p:attrName>ppt_x</p:attrName>
                                        </p:attrNameLst>
                                      </p:cBhvr>
                                      <p:tavLst>
                                        <p:tav tm="0">
                                          <p:val>
                                            <p:strVal val="0-#ppt_w/2"/>
                                          </p:val>
                                        </p:tav>
                                        <p:tav tm="100000">
                                          <p:val>
                                            <p:strVal val="#ppt_x"/>
                                          </p:val>
                                        </p:tav>
                                      </p:tavLst>
                                    </p:anim>
                                    <p:anim calcmode="lin" valueType="num">
                                      <p:cBhvr additive="base">
                                        <p:cTn id="38" dur="500" fill="hold"/>
                                        <p:tgtEl>
                                          <p:spTgt spid="338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p:bldP spid="33797"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250825" y="404813"/>
            <a:ext cx="8305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100513" indent="-4100513">
              <a:defRPr kumimoji="1" sz="2400">
                <a:solidFill>
                  <a:schemeClr val="tx1"/>
                </a:solidFill>
                <a:latin typeface="Times New Roman" pitchFamily="18" charset="0"/>
                <a:ea typeface="宋体" pitchFamily="2" charset="-122"/>
              </a:defRPr>
            </a:lvl1pPr>
            <a:lvl2pPr marL="4291013">
              <a:defRPr kumimoji="1" sz="2400">
                <a:solidFill>
                  <a:schemeClr val="tx1"/>
                </a:solidFill>
                <a:latin typeface="Times New Roman" pitchFamily="18" charset="0"/>
                <a:ea typeface="宋体" pitchFamily="2" charset="-122"/>
              </a:defRPr>
            </a:lvl2pPr>
            <a:lvl3pPr marL="4481513">
              <a:defRPr kumimoji="1" sz="2400">
                <a:solidFill>
                  <a:schemeClr val="tx1"/>
                </a:solidFill>
                <a:latin typeface="Times New Roman" pitchFamily="18" charset="0"/>
                <a:ea typeface="宋体" pitchFamily="2" charset="-122"/>
              </a:defRPr>
            </a:lvl3pPr>
            <a:lvl4pPr marL="4672013">
              <a:defRPr kumimoji="1" sz="2400">
                <a:solidFill>
                  <a:schemeClr val="tx1"/>
                </a:solidFill>
                <a:latin typeface="Times New Roman" pitchFamily="18" charset="0"/>
                <a:ea typeface="宋体" pitchFamily="2" charset="-122"/>
              </a:defRPr>
            </a:lvl4pPr>
            <a:lvl5pPr marL="4862513">
              <a:defRPr kumimoji="1" sz="2400">
                <a:solidFill>
                  <a:schemeClr val="tx1"/>
                </a:solidFill>
                <a:latin typeface="Times New Roman" pitchFamily="18" charset="0"/>
                <a:ea typeface="宋体" pitchFamily="2" charset="-122"/>
              </a:defRPr>
            </a:lvl5pPr>
            <a:lvl6pPr marL="5319713" fontAlgn="base">
              <a:spcBef>
                <a:spcPct val="0"/>
              </a:spcBef>
              <a:spcAft>
                <a:spcPct val="0"/>
              </a:spcAft>
              <a:defRPr kumimoji="1" sz="2400">
                <a:solidFill>
                  <a:schemeClr val="tx1"/>
                </a:solidFill>
                <a:latin typeface="Times New Roman" pitchFamily="18" charset="0"/>
                <a:ea typeface="宋体" pitchFamily="2" charset="-122"/>
              </a:defRPr>
            </a:lvl6pPr>
            <a:lvl7pPr marL="5776913" fontAlgn="base">
              <a:spcBef>
                <a:spcPct val="0"/>
              </a:spcBef>
              <a:spcAft>
                <a:spcPct val="0"/>
              </a:spcAft>
              <a:defRPr kumimoji="1" sz="2400">
                <a:solidFill>
                  <a:schemeClr val="tx1"/>
                </a:solidFill>
                <a:latin typeface="Times New Roman" pitchFamily="18" charset="0"/>
                <a:ea typeface="宋体" pitchFamily="2" charset="-122"/>
              </a:defRPr>
            </a:lvl7pPr>
            <a:lvl8pPr marL="6234113" fontAlgn="base">
              <a:spcBef>
                <a:spcPct val="0"/>
              </a:spcBef>
              <a:spcAft>
                <a:spcPct val="0"/>
              </a:spcAft>
              <a:defRPr kumimoji="1" sz="2400">
                <a:solidFill>
                  <a:schemeClr val="tx1"/>
                </a:solidFill>
                <a:latin typeface="Times New Roman" pitchFamily="18" charset="0"/>
                <a:ea typeface="宋体" pitchFamily="2" charset="-122"/>
              </a:defRPr>
            </a:lvl8pPr>
            <a:lvl9pPr marL="6691313"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defRPr/>
            </a:pPr>
            <a:r>
              <a:rPr kumimoji="0" lang="en-US" altLang="zh-CN" sz="2800" smtClean="0">
                <a:effectLst>
                  <a:outerShdw blurRad="38100" dist="38100" dir="2700000" algn="tl">
                    <a:srgbClr val="C0C0C0"/>
                  </a:outerShdw>
                </a:effectLst>
                <a:ea typeface="楷体_GB2312" pitchFamily="49" charset="-122"/>
              </a:rPr>
              <a:t>2. Secant method </a:t>
            </a:r>
            <a:r>
              <a:rPr lang="en-US" altLang="zh-CN" sz="3200" b="0" smtClean="0">
                <a:solidFill>
                  <a:srgbClr val="000000"/>
                </a:solidFill>
              </a:rPr>
              <a:t>(chord)</a:t>
            </a:r>
            <a:r>
              <a:rPr lang="en-US" altLang="zh-CN" sz="3200" b="0" smtClean="0"/>
              <a:t> </a:t>
            </a:r>
          </a:p>
        </p:txBody>
      </p:sp>
      <p:graphicFrame>
        <p:nvGraphicFramePr>
          <p:cNvPr id="48131" name="Object 3"/>
          <p:cNvGraphicFramePr>
            <a:graphicFrameLocks noChangeAspect="1"/>
          </p:cNvGraphicFramePr>
          <p:nvPr/>
        </p:nvGraphicFramePr>
        <p:xfrm>
          <a:off x="1600200" y="1295400"/>
          <a:ext cx="4953000" cy="787400"/>
        </p:xfrm>
        <a:graphic>
          <a:graphicData uri="http://schemas.openxmlformats.org/presentationml/2006/ole">
            <mc:AlternateContent xmlns:mc="http://schemas.openxmlformats.org/markup-compatibility/2006">
              <mc:Choice xmlns:v="urn:schemas-microsoft-com:vml" Requires="v">
                <p:oleObj spid="_x0000_s40991" name="Microsoft 公式 3.0" r:id="rId3" imgW="1531656" imgH="221052" progId="Equation.3">
                  <p:embed/>
                </p:oleObj>
              </mc:Choice>
              <mc:Fallback>
                <p:oleObj name="Microsoft 公式 3.0" r:id="rId3" imgW="1531656" imgH="221052"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295400"/>
                        <a:ext cx="49530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2" name="Object 4"/>
          <p:cNvGraphicFramePr>
            <a:graphicFrameLocks noChangeAspect="1"/>
          </p:cNvGraphicFramePr>
          <p:nvPr/>
        </p:nvGraphicFramePr>
        <p:xfrm>
          <a:off x="685800" y="5638800"/>
          <a:ext cx="6837363" cy="787400"/>
        </p:xfrm>
        <a:graphic>
          <a:graphicData uri="http://schemas.openxmlformats.org/presentationml/2006/ole">
            <mc:AlternateContent xmlns:mc="http://schemas.openxmlformats.org/markup-compatibility/2006">
              <mc:Choice xmlns:v="urn:schemas-microsoft-com:vml" Requires="v">
                <p:oleObj spid="_x0000_s40992" name="Microsoft 公式 3.0" r:id="rId5" imgW="2110752" imgH="221052" progId="Equation.3">
                  <p:embed/>
                </p:oleObj>
              </mc:Choice>
              <mc:Fallback>
                <p:oleObj name="Microsoft 公式 3.0" r:id="rId5" imgW="2110752" imgH="22105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5638800"/>
                        <a:ext cx="6837363"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3" name="Object 5"/>
          <p:cNvGraphicFramePr>
            <a:graphicFrameLocks noChangeAspect="1"/>
          </p:cNvGraphicFramePr>
          <p:nvPr/>
        </p:nvGraphicFramePr>
        <p:xfrm>
          <a:off x="228600" y="2286000"/>
          <a:ext cx="8382000" cy="838200"/>
        </p:xfrm>
        <a:graphic>
          <a:graphicData uri="http://schemas.openxmlformats.org/presentationml/2006/ole">
            <mc:AlternateContent xmlns:mc="http://schemas.openxmlformats.org/markup-compatibility/2006">
              <mc:Choice xmlns:v="urn:schemas-microsoft-com:vml" Requires="v">
                <p:oleObj spid="_x0000_s40993" name="Microsoft 公式 3.0" r:id="rId7" imgW="3474792" imgH="411480" progId="Equation.3">
                  <p:embed/>
                </p:oleObj>
              </mc:Choice>
              <mc:Fallback>
                <p:oleObj name="Microsoft 公式 3.0" r:id="rId7" imgW="3474792" imgH="41148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2286000"/>
                        <a:ext cx="83820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4" name="Object 6"/>
          <p:cNvGraphicFramePr>
            <a:graphicFrameLocks noChangeAspect="1"/>
          </p:cNvGraphicFramePr>
          <p:nvPr/>
        </p:nvGraphicFramePr>
        <p:xfrm>
          <a:off x="304800" y="3429000"/>
          <a:ext cx="6248400" cy="931863"/>
        </p:xfrm>
        <a:graphic>
          <a:graphicData uri="http://schemas.openxmlformats.org/presentationml/2006/ole">
            <mc:AlternateContent xmlns:mc="http://schemas.openxmlformats.org/markup-compatibility/2006">
              <mc:Choice xmlns:v="urn:schemas-microsoft-com:vml" Requires="v">
                <p:oleObj spid="_x0000_s40994" name="Microsoft 公式 3.0" r:id="rId9" imgW="2187000" imgH="388620" progId="Equation.3">
                  <p:embed/>
                </p:oleObj>
              </mc:Choice>
              <mc:Fallback>
                <p:oleObj name="Microsoft 公式 3.0" r:id="rId9" imgW="2187000" imgH="38862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800" y="3429000"/>
                        <a:ext cx="6248400" cy="931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5" name="Object 7"/>
          <p:cNvGraphicFramePr>
            <a:graphicFrameLocks noChangeAspect="1"/>
          </p:cNvGraphicFramePr>
          <p:nvPr/>
        </p:nvGraphicFramePr>
        <p:xfrm>
          <a:off x="6934200" y="4191000"/>
          <a:ext cx="1401763" cy="541338"/>
        </p:xfrm>
        <a:graphic>
          <a:graphicData uri="http://schemas.openxmlformats.org/presentationml/2006/ole">
            <mc:AlternateContent xmlns:mc="http://schemas.openxmlformats.org/markup-compatibility/2006">
              <mc:Choice xmlns:v="urn:schemas-microsoft-com:vml" Requires="v">
                <p:oleObj spid="_x0000_s40995" name="Microsoft 公式 3.0" r:id="rId11" imgW="693360" imgH="221052" progId="Equation.3">
                  <p:embed/>
                </p:oleObj>
              </mc:Choice>
              <mc:Fallback>
                <p:oleObj name="Microsoft 公式 3.0" r:id="rId11" imgW="693360" imgH="221052"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34200" y="4191000"/>
                        <a:ext cx="1401763" cy="541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6" name="Object 8"/>
          <p:cNvGraphicFramePr>
            <a:graphicFrameLocks noChangeAspect="1"/>
          </p:cNvGraphicFramePr>
          <p:nvPr/>
        </p:nvGraphicFramePr>
        <p:xfrm>
          <a:off x="1143000" y="4572000"/>
          <a:ext cx="3024188" cy="931863"/>
        </p:xfrm>
        <a:graphic>
          <a:graphicData uri="http://schemas.openxmlformats.org/presentationml/2006/ole">
            <mc:AlternateContent xmlns:mc="http://schemas.openxmlformats.org/markup-compatibility/2006">
              <mc:Choice xmlns:v="urn:schemas-microsoft-com:vml" Requires="v">
                <p:oleObj spid="_x0000_s40996" name="Microsoft 公式 3.0" r:id="rId13" imgW="1310688" imgH="388620" progId="Equation.3">
                  <p:embed/>
                </p:oleObj>
              </mc:Choice>
              <mc:Fallback>
                <p:oleObj name="Microsoft 公式 3.0" r:id="rId13" imgW="1310688" imgH="38862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43000" y="4572000"/>
                        <a:ext cx="3024188" cy="931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7" name="Object 9"/>
          <p:cNvGraphicFramePr>
            <a:graphicFrameLocks noChangeAspect="1"/>
          </p:cNvGraphicFramePr>
          <p:nvPr/>
        </p:nvGraphicFramePr>
        <p:xfrm>
          <a:off x="7010400" y="3581400"/>
          <a:ext cx="1879600" cy="469900"/>
        </p:xfrm>
        <a:graphic>
          <a:graphicData uri="http://schemas.openxmlformats.org/presentationml/2006/ole">
            <mc:AlternateContent xmlns:mc="http://schemas.openxmlformats.org/markup-compatibility/2006">
              <mc:Choice xmlns:v="urn:schemas-microsoft-com:vml" Requires="v">
                <p:oleObj spid="_x0000_s40997" name="Microsoft 公式 3.0" r:id="rId15" imgW="411480" imgH="167568" progId="Equation.3">
                  <p:embed/>
                </p:oleObj>
              </mc:Choice>
              <mc:Fallback>
                <p:oleObj name="Microsoft 公式 3.0" r:id="rId15" imgW="411480" imgH="167568"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10400" y="3581400"/>
                        <a:ext cx="18796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8131"/>
                                        </p:tgtEl>
                                        <p:attrNameLst>
                                          <p:attrName>style.visibility</p:attrName>
                                        </p:attrNameLst>
                                      </p:cBhvr>
                                      <p:to>
                                        <p:strVal val="visible"/>
                                      </p:to>
                                    </p:set>
                                    <p:anim calcmode="lin" valueType="num">
                                      <p:cBhvr additive="base">
                                        <p:cTn id="7" dur="500" fill="hold"/>
                                        <p:tgtEl>
                                          <p:spTgt spid="48131"/>
                                        </p:tgtEl>
                                        <p:attrNameLst>
                                          <p:attrName>ppt_x</p:attrName>
                                        </p:attrNameLst>
                                      </p:cBhvr>
                                      <p:tavLst>
                                        <p:tav tm="0">
                                          <p:val>
                                            <p:strVal val="0-#ppt_w/2"/>
                                          </p:val>
                                        </p:tav>
                                        <p:tav tm="100000">
                                          <p:val>
                                            <p:strVal val="#ppt_x"/>
                                          </p:val>
                                        </p:tav>
                                      </p:tavLst>
                                    </p:anim>
                                    <p:anim calcmode="lin" valueType="num">
                                      <p:cBhvr additive="base">
                                        <p:cTn id="8" dur="500" fill="hold"/>
                                        <p:tgtEl>
                                          <p:spTgt spid="4813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8133"/>
                                        </p:tgtEl>
                                        <p:attrNameLst>
                                          <p:attrName>style.visibility</p:attrName>
                                        </p:attrNameLst>
                                      </p:cBhvr>
                                      <p:to>
                                        <p:strVal val="visible"/>
                                      </p:to>
                                    </p:set>
                                    <p:anim calcmode="lin" valueType="num">
                                      <p:cBhvr additive="base">
                                        <p:cTn id="13" dur="500" fill="hold"/>
                                        <p:tgtEl>
                                          <p:spTgt spid="48133"/>
                                        </p:tgtEl>
                                        <p:attrNameLst>
                                          <p:attrName>ppt_x</p:attrName>
                                        </p:attrNameLst>
                                      </p:cBhvr>
                                      <p:tavLst>
                                        <p:tav tm="0">
                                          <p:val>
                                            <p:strVal val="0-#ppt_w/2"/>
                                          </p:val>
                                        </p:tav>
                                        <p:tav tm="100000">
                                          <p:val>
                                            <p:strVal val="#ppt_x"/>
                                          </p:val>
                                        </p:tav>
                                      </p:tavLst>
                                    </p:anim>
                                    <p:anim calcmode="lin" valueType="num">
                                      <p:cBhvr additive="base">
                                        <p:cTn id="14" dur="500" fill="hold"/>
                                        <p:tgtEl>
                                          <p:spTgt spid="4813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8134"/>
                                        </p:tgtEl>
                                        <p:attrNameLst>
                                          <p:attrName>style.visibility</p:attrName>
                                        </p:attrNameLst>
                                      </p:cBhvr>
                                      <p:to>
                                        <p:strVal val="visible"/>
                                      </p:to>
                                    </p:set>
                                    <p:anim calcmode="lin" valueType="num">
                                      <p:cBhvr additive="base">
                                        <p:cTn id="19" dur="500" fill="hold"/>
                                        <p:tgtEl>
                                          <p:spTgt spid="48134"/>
                                        </p:tgtEl>
                                        <p:attrNameLst>
                                          <p:attrName>ppt_x</p:attrName>
                                        </p:attrNameLst>
                                      </p:cBhvr>
                                      <p:tavLst>
                                        <p:tav tm="0">
                                          <p:val>
                                            <p:strVal val="0-#ppt_w/2"/>
                                          </p:val>
                                        </p:tav>
                                        <p:tav tm="100000">
                                          <p:val>
                                            <p:strVal val="#ppt_x"/>
                                          </p:val>
                                        </p:tav>
                                      </p:tavLst>
                                    </p:anim>
                                    <p:anim calcmode="lin" valueType="num">
                                      <p:cBhvr additive="base">
                                        <p:cTn id="20" dur="500" fill="hold"/>
                                        <p:tgtEl>
                                          <p:spTgt spid="4813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48137"/>
                                        </p:tgtEl>
                                        <p:attrNameLst>
                                          <p:attrName>style.visibility</p:attrName>
                                        </p:attrNameLst>
                                      </p:cBhvr>
                                      <p:to>
                                        <p:strVal val="visible"/>
                                      </p:to>
                                    </p:set>
                                    <p:anim calcmode="lin" valueType="num">
                                      <p:cBhvr additive="base">
                                        <p:cTn id="25" dur="500" fill="hold"/>
                                        <p:tgtEl>
                                          <p:spTgt spid="48137"/>
                                        </p:tgtEl>
                                        <p:attrNameLst>
                                          <p:attrName>ppt_x</p:attrName>
                                        </p:attrNameLst>
                                      </p:cBhvr>
                                      <p:tavLst>
                                        <p:tav tm="0">
                                          <p:val>
                                            <p:strVal val="0-#ppt_w/2"/>
                                          </p:val>
                                        </p:tav>
                                        <p:tav tm="100000">
                                          <p:val>
                                            <p:strVal val="#ppt_x"/>
                                          </p:val>
                                        </p:tav>
                                      </p:tavLst>
                                    </p:anim>
                                    <p:anim calcmode="lin" valueType="num">
                                      <p:cBhvr additive="base">
                                        <p:cTn id="26" dur="500" fill="hold"/>
                                        <p:tgtEl>
                                          <p:spTgt spid="4813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48135"/>
                                        </p:tgtEl>
                                        <p:attrNameLst>
                                          <p:attrName>style.visibility</p:attrName>
                                        </p:attrNameLst>
                                      </p:cBhvr>
                                      <p:to>
                                        <p:strVal val="visible"/>
                                      </p:to>
                                    </p:set>
                                    <p:anim calcmode="lin" valueType="num">
                                      <p:cBhvr additive="base">
                                        <p:cTn id="31" dur="500" fill="hold"/>
                                        <p:tgtEl>
                                          <p:spTgt spid="48135"/>
                                        </p:tgtEl>
                                        <p:attrNameLst>
                                          <p:attrName>ppt_x</p:attrName>
                                        </p:attrNameLst>
                                      </p:cBhvr>
                                      <p:tavLst>
                                        <p:tav tm="0">
                                          <p:val>
                                            <p:strVal val="0-#ppt_w/2"/>
                                          </p:val>
                                        </p:tav>
                                        <p:tav tm="100000">
                                          <p:val>
                                            <p:strVal val="#ppt_x"/>
                                          </p:val>
                                        </p:tav>
                                      </p:tavLst>
                                    </p:anim>
                                    <p:anim calcmode="lin" valueType="num">
                                      <p:cBhvr additive="base">
                                        <p:cTn id="32" dur="500" fill="hold"/>
                                        <p:tgtEl>
                                          <p:spTgt spid="4813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48136"/>
                                        </p:tgtEl>
                                        <p:attrNameLst>
                                          <p:attrName>style.visibility</p:attrName>
                                        </p:attrNameLst>
                                      </p:cBhvr>
                                      <p:to>
                                        <p:strVal val="visible"/>
                                      </p:to>
                                    </p:set>
                                    <p:anim calcmode="lin" valueType="num">
                                      <p:cBhvr additive="base">
                                        <p:cTn id="37" dur="500" fill="hold"/>
                                        <p:tgtEl>
                                          <p:spTgt spid="48136"/>
                                        </p:tgtEl>
                                        <p:attrNameLst>
                                          <p:attrName>ppt_x</p:attrName>
                                        </p:attrNameLst>
                                      </p:cBhvr>
                                      <p:tavLst>
                                        <p:tav tm="0">
                                          <p:val>
                                            <p:strVal val="0-#ppt_w/2"/>
                                          </p:val>
                                        </p:tav>
                                        <p:tav tm="100000">
                                          <p:val>
                                            <p:strVal val="#ppt_x"/>
                                          </p:val>
                                        </p:tav>
                                      </p:tavLst>
                                    </p:anim>
                                    <p:anim calcmode="lin" valueType="num">
                                      <p:cBhvr additive="base">
                                        <p:cTn id="38" dur="500" fill="hold"/>
                                        <p:tgtEl>
                                          <p:spTgt spid="48136"/>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48132"/>
                                        </p:tgtEl>
                                        <p:attrNameLst>
                                          <p:attrName>style.visibility</p:attrName>
                                        </p:attrNameLst>
                                      </p:cBhvr>
                                      <p:to>
                                        <p:strVal val="visible"/>
                                      </p:to>
                                    </p:set>
                                    <p:anim calcmode="lin" valueType="num">
                                      <p:cBhvr additive="base">
                                        <p:cTn id="43" dur="500" fill="hold"/>
                                        <p:tgtEl>
                                          <p:spTgt spid="48132"/>
                                        </p:tgtEl>
                                        <p:attrNameLst>
                                          <p:attrName>ppt_x</p:attrName>
                                        </p:attrNameLst>
                                      </p:cBhvr>
                                      <p:tavLst>
                                        <p:tav tm="0">
                                          <p:val>
                                            <p:strVal val="0-#ppt_w/2"/>
                                          </p:val>
                                        </p:tav>
                                        <p:tav tm="100000">
                                          <p:val>
                                            <p:strVal val="#ppt_x"/>
                                          </p:val>
                                        </p:tav>
                                      </p:tavLst>
                                    </p:anim>
                                    <p:anim calcmode="lin" valueType="num">
                                      <p:cBhvr additive="base">
                                        <p:cTn id="44" dur="500" fill="hold"/>
                                        <p:tgtEl>
                                          <p:spTgt spid="481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468313" y="549275"/>
            <a:ext cx="38100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i="1">
                <a:solidFill>
                  <a:srgbClr val="000080"/>
                </a:solidFill>
              </a:rPr>
              <a:t>y"= - </a:t>
            </a:r>
            <a:r>
              <a:rPr lang="en-US" altLang="zh-CN" i="1">
                <a:solidFill>
                  <a:srgbClr val="000080"/>
                </a:solidFill>
                <a:latin typeface="宋体" pitchFamily="2" charset="-122"/>
              </a:rPr>
              <a:t>π</a:t>
            </a:r>
            <a:r>
              <a:rPr lang="en-US" altLang="zh-CN" i="1" baseline="30000">
                <a:solidFill>
                  <a:srgbClr val="000080"/>
                </a:solidFill>
                <a:latin typeface="宋体" pitchFamily="2" charset="-122"/>
              </a:rPr>
              <a:t>2</a:t>
            </a:r>
            <a:r>
              <a:rPr lang="en-US" altLang="zh-CN" i="1">
                <a:solidFill>
                  <a:srgbClr val="000080"/>
                </a:solidFill>
              </a:rPr>
              <a:t> </a:t>
            </a:r>
            <a:r>
              <a:rPr lang="en-US" altLang="zh-CN" i="1">
                <a:solidFill>
                  <a:srgbClr val="000080"/>
                </a:solidFill>
                <a:latin typeface="宋体" pitchFamily="2" charset="-122"/>
              </a:rPr>
              <a:t>(y+1)/4</a:t>
            </a:r>
          </a:p>
        </p:txBody>
      </p:sp>
      <p:sp>
        <p:nvSpPr>
          <p:cNvPr id="35843" name="Rectangle 3"/>
          <p:cNvSpPr>
            <a:spLocks noChangeArrowheads="1"/>
          </p:cNvSpPr>
          <p:nvPr/>
        </p:nvSpPr>
        <p:spPr bwMode="auto">
          <a:xfrm>
            <a:off x="4953000" y="609600"/>
            <a:ext cx="28194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(0)=0, y’(0)=1</a:t>
            </a:r>
            <a:endParaRPr lang="en-US" altLang="zh-CN"/>
          </a:p>
        </p:txBody>
      </p:sp>
      <p:sp>
        <p:nvSpPr>
          <p:cNvPr id="35844" name="Rectangle 4"/>
          <p:cNvSpPr>
            <a:spLocks noChangeArrowheads="1"/>
          </p:cNvSpPr>
          <p:nvPr/>
        </p:nvSpPr>
        <p:spPr bwMode="auto">
          <a:xfrm>
            <a:off x="685800" y="1600200"/>
            <a:ext cx="28194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(0)=0, y(1)=1</a:t>
            </a:r>
            <a:endParaRPr lang="en-US" altLang="zh-CN"/>
          </a:p>
        </p:txBody>
      </p:sp>
      <p:sp>
        <p:nvSpPr>
          <p:cNvPr id="35850" name="Rectangle 10"/>
          <p:cNvSpPr>
            <a:spLocks noChangeArrowheads="1"/>
          </p:cNvSpPr>
          <p:nvPr/>
        </p:nvSpPr>
        <p:spPr bwMode="auto">
          <a:xfrm>
            <a:off x="323850" y="3284538"/>
            <a:ext cx="1752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y’(0)=</a:t>
            </a:r>
            <a:r>
              <a:rPr lang="en-US" altLang="zh-CN" i="1">
                <a:solidFill>
                  <a:srgbClr val="000080"/>
                </a:solidFill>
                <a:sym typeface="Symbol" pitchFamily="18" charset="2"/>
              </a:rPr>
              <a:t></a:t>
            </a:r>
            <a:endParaRPr lang="en-US" altLang="zh-CN"/>
          </a:p>
        </p:txBody>
      </p:sp>
      <p:sp>
        <p:nvSpPr>
          <p:cNvPr id="35851" name="Rectangle 11"/>
          <p:cNvSpPr>
            <a:spLocks noChangeArrowheads="1"/>
          </p:cNvSpPr>
          <p:nvPr/>
        </p:nvSpPr>
        <p:spPr bwMode="auto">
          <a:xfrm>
            <a:off x="4800600" y="1676400"/>
            <a:ext cx="36576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(1)=0, y’(0)=0</a:t>
            </a:r>
            <a:endParaRPr lang="en-US" altLang="zh-CN"/>
          </a:p>
        </p:txBody>
      </p:sp>
      <p:grpSp>
        <p:nvGrpSpPr>
          <p:cNvPr id="35858" name="Group 18"/>
          <p:cNvGrpSpPr>
            <a:grpSpLocks/>
          </p:cNvGrpSpPr>
          <p:nvPr/>
        </p:nvGrpSpPr>
        <p:grpSpPr bwMode="auto">
          <a:xfrm>
            <a:off x="609600" y="1524000"/>
            <a:ext cx="2895600" cy="914400"/>
            <a:chOff x="384" y="960"/>
            <a:chExt cx="1632" cy="576"/>
          </a:xfrm>
        </p:grpSpPr>
        <p:sp>
          <p:nvSpPr>
            <p:cNvPr id="41997" name="Line 14"/>
            <p:cNvSpPr>
              <a:spLocks noChangeShapeType="1"/>
            </p:cNvSpPr>
            <p:nvPr/>
          </p:nvSpPr>
          <p:spPr bwMode="auto">
            <a:xfrm>
              <a:off x="384" y="960"/>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8" name="Line 15"/>
            <p:cNvSpPr>
              <a:spLocks noChangeShapeType="1"/>
            </p:cNvSpPr>
            <p:nvPr/>
          </p:nvSpPr>
          <p:spPr bwMode="auto">
            <a:xfrm>
              <a:off x="384" y="1536"/>
              <a:ext cx="1632"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9" name="Line 16"/>
            <p:cNvSpPr>
              <a:spLocks noChangeShapeType="1"/>
            </p:cNvSpPr>
            <p:nvPr/>
          </p:nvSpPr>
          <p:spPr bwMode="auto">
            <a:xfrm>
              <a:off x="384"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0" name="Line 17"/>
            <p:cNvSpPr>
              <a:spLocks noChangeShapeType="1"/>
            </p:cNvSpPr>
            <p:nvPr/>
          </p:nvSpPr>
          <p:spPr bwMode="auto">
            <a:xfrm>
              <a:off x="2016" y="960"/>
              <a:ext cx="0" cy="57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5860" name="Text Box 20"/>
          <p:cNvSpPr txBox="1">
            <a:spLocks noChangeArrowheads="1"/>
          </p:cNvSpPr>
          <p:nvPr/>
        </p:nvSpPr>
        <p:spPr bwMode="auto">
          <a:xfrm>
            <a:off x="4092575" y="4011613"/>
            <a:ext cx="48006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sz="2800">
                <a:solidFill>
                  <a:srgbClr val="000080"/>
                </a:solidFill>
                <a:sym typeface="Symbol" pitchFamily="18" charset="2"/>
              </a:rPr>
              <a:t>Here  is a parameter to be adjusted in order to have</a:t>
            </a:r>
          </a:p>
        </p:txBody>
      </p:sp>
      <p:sp>
        <p:nvSpPr>
          <p:cNvPr id="35864" name="Text Box 24"/>
          <p:cNvSpPr txBox="1">
            <a:spLocks noChangeArrowheads="1"/>
          </p:cNvSpPr>
          <p:nvPr/>
        </p:nvSpPr>
        <p:spPr bwMode="auto">
          <a:xfrm>
            <a:off x="2362200" y="5486400"/>
            <a:ext cx="53340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i="1">
                <a:solidFill>
                  <a:srgbClr val="000080"/>
                </a:solidFill>
                <a:cs typeface="Times New Roman" pitchFamily="18" charset="0"/>
                <a:sym typeface="Symbol" pitchFamily="18" charset="2"/>
              </a:rPr>
              <a:t>|F(</a:t>
            </a:r>
            <a:r>
              <a:rPr lang="en-US" altLang="zh-CN" i="1">
                <a:solidFill>
                  <a:srgbClr val="000080"/>
                </a:solidFill>
                <a:sym typeface="Symbol" pitchFamily="18" charset="2"/>
              </a:rPr>
              <a:t></a:t>
            </a:r>
            <a:r>
              <a:rPr lang="en-US" altLang="zh-CN" i="1">
                <a:solidFill>
                  <a:srgbClr val="000080"/>
                </a:solidFill>
                <a:cs typeface="Times New Roman" pitchFamily="18" charset="0"/>
                <a:sym typeface="Symbol" pitchFamily="18" charset="2"/>
              </a:rPr>
              <a:t> )|= |y</a:t>
            </a:r>
            <a:r>
              <a:rPr lang="en-US" altLang="zh-CN" i="1" baseline="-25000">
                <a:solidFill>
                  <a:srgbClr val="000080"/>
                </a:solidFill>
                <a:sym typeface="Symbol" pitchFamily="18" charset="2"/>
              </a:rPr>
              <a:t> </a:t>
            </a:r>
            <a:r>
              <a:rPr lang="en-US" altLang="zh-CN" i="1">
                <a:solidFill>
                  <a:srgbClr val="000080"/>
                </a:solidFill>
                <a:sym typeface="Symbol" pitchFamily="18" charset="2"/>
              </a:rPr>
              <a:t>(1) </a:t>
            </a:r>
            <a:r>
              <a:rPr lang="en-US" altLang="zh-CN" i="1">
                <a:solidFill>
                  <a:srgbClr val="000080"/>
                </a:solidFill>
                <a:cs typeface="Times New Roman" pitchFamily="18" charset="0"/>
                <a:sym typeface="Symbol" pitchFamily="18" charset="2"/>
              </a:rPr>
              <a:t>- 1|&lt;  </a:t>
            </a:r>
            <a:endParaRPr lang="en-US" altLang="zh-CN" b="0"/>
          </a:p>
        </p:txBody>
      </p:sp>
      <p:sp>
        <p:nvSpPr>
          <p:cNvPr id="35865" name="Rectangle 25"/>
          <p:cNvSpPr>
            <a:spLocks noChangeArrowheads="1"/>
          </p:cNvSpPr>
          <p:nvPr/>
        </p:nvSpPr>
        <p:spPr bwMode="auto">
          <a:xfrm>
            <a:off x="4953000" y="2590800"/>
            <a:ext cx="28194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(0)=0, y(1)=0</a:t>
            </a:r>
            <a:endParaRPr lang="en-US" altLang="zh-CN"/>
          </a:p>
        </p:txBody>
      </p:sp>
      <p:sp>
        <p:nvSpPr>
          <p:cNvPr id="35866" name="Rectangle 26"/>
          <p:cNvSpPr>
            <a:spLocks noChangeArrowheads="1"/>
          </p:cNvSpPr>
          <p:nvPr/>
        </p:nvSpPr>
        <p:spPr bwMode="auto">
          <a:xfrm>
            <a:off x="2484438" y="3141663"/>
            <a:ext cx="1608137"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a:solidFill>
                  <a:srgbClr val="000000"/>
                </a:solidFill>
              </a:rPr>
              <a:t> </a:t>
            </a:r>
            <a:r>
              <a:rPr lang="en-US" altLang="zh-CN" i="1">
                <a:solidFill>
                  <a:srgbClr val="000080"/>
                </a:solidFill>
                <a:cs typeface="Times New Roman" pitchFamily="18" charset="0"/>
                <a:sym typeface="Symbol" pitchFamily="18" charset="2"/>
              </a:rPr>
              <a:t>y</a:t>
            </a:r>
            <a:r>
              <a:rPr lang="en-US" altLang="zh-CN" i="1" baseline="-25000">
                <a:solidFill>
                  <a:srgbClr val="000080"/>
                </a:solidFill>
                <a:sym typeface="Symbol" pitchFamily="18" charset="2"/>
              </a:rPr>
              <a:t> </a:t>
            </a:r>
            <a:r>
              <a:rPr lang="en-US" altLang="zh-CN" i="1">
                <a:solidFill>
                  <a:srgbClr val="000080"/>
                </a:solidFill>
                <a:sym typeface="Symbol" pitchFamily="18" charset="2"/>
              </a:rPr>
              <a:t>(1) </a:t>
            </a:r>
            <a:endParaRPr lang="en-US" altLang="zh-CN">
              <a:solidFill>
                <a:srgbClr val="000000"/>
              </a:solidFill>
            </a:endParaRPr>
          </a:p>
        </p:txBody>
      </p:sp>
      <p:sp>
        <p:nvSpPr>
          <p:cNvPr id="35867" name="Rectangle 27"/>
          <p:cNvSpPr>
            <a:spLocks noChangeArrowheads="1"/>
          </p:cNvSpPr>
          <p:nvPr/>
        </p:nvSpPr>
        <p:spPr bwMode="auto">
          <a:xfrm>
            <a:off x="468313" y="4437063"/>
            <a:ext cx="2819400"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a:solidFill>
                  <a:srgbClr val="000000"/>
                </a:solidFill>
              </a:rPr>
              <a:t> y(1)=1</a:t>
            </a:r>
            <a:endParaRPr lang="en-US" altLang="zh-CN"/>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additive="base">
                                        <p:cTn id="7" dur="500" fill="hold"/>
                                        <p:tgtEl>
                                          <p:spTgt spid="35843"/>
                                        </p:tgtEl>
                                        <p:attrNameLst>
                                          <p:attrName>ppt_x</p:attrName>
                                        </p:attrNameLst>
                                      </p:cBhvr>
                                      <p:tavLst>
                                        <p:tav tm="0">
                                          <p:val>
                                            <p:strVal val="0-#ppt_w/2"/>
                                          </p:val>
                                        </p:tav>
                                        <p:tav tm="100000">
                                          <p:val>
                                            <p:strVal val="#ppt_x"/>
                                          </p:val>
                                        </p:tav>
                                      </p:tavLst>
                                    </p:anim>
                                    <p:anim calcmode="lin" valueType="num">
                                      <p:cBhvr additive="base">
                                        <p:cTn id="8" dur="500" fill="hold"/>
                                        <p:tgtEl>
                                          <p:spTgt spid="3584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844"/>
                                        </p:tgtEl>
                                        <p:attrNameLst>
                                          <p:attrName>style.visibility</p:attrName>
                                        </p:attrNameLst>
                                      </p:cBhvr>
                                      <p:to>
                                        <p:strVal val="visible"/>
                                      </p:to>
                                    </p:set>
                                    <p:anim calcmode="lin" valueType="num">
                                      <p:cBhvr additive="base">
                                        <p:cTn id="13" dur="500" fill="hold"/>
                                        <p:tgtEl>
                                          <p:spTgt spid="35844"/>
                                        </p:tgtEl>
                                        <p:attrNameLst>
                                          <p:attrName>ppt_x</p:attrName>
                                        </p:attrNameLst>
                                      </p:cBhvr>
                                      <p:tavLst>
                                        <p:tav tm="0">
                                          <p:val>
                                            <p:strVal val="0-#ppt_w/2"/>
                                          </p:val>
                                        </p:tav>
                                        <p:tav tm="100000">
                                          <p:val>
                                            <p:strVal val="#ppt_x"/>
                                          </p:val>
                                        </p:tav>
                                      </p:tavLst>
                                    </p:anim>
                                    <p:anim calcmode="lin" valueType="num">
                                      <p:cBhvr additive="base">
                                        <p:cTn id="14" dur="500" fill="hold"/>
                                        <p:tgtEl>
                                          <p:spTgt spid="3584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851"/>
                                        </p:tgtEl>
                                        <p:attrNameLst>
                                          <p:attrName>style.visibility</p:attrName>
                                        </p:attrNameLst>
                                      </p:cBhvr>
                                      <p:to>
                                        <p:strVal val="visible"/>
                                      </p:to>
                                    </p:set>
                                    <p:anim calcmode="lin" valueType="num">
                                      <p:cBhvr additive="base">
                                        <p:cTn id="19" dur="500" fill="hold"/>
                                        <p:tgtEl>
                                          <p:spTgt spid="35851"/>
                                        </p:tgtEl>
                                        <p:attrNameLst>
                                          <p:attrName>ppt_x</p:attrName>
                                        </p:attrNameLst>
                                      </p:cBhvr>
                                      <p:tavLst>
                                        <p:tav tm="0">
                                          <p:val>
                                            <p:strVal val="0-#ppt_w/2"/>
                                          </p:val>
                                        </p:tav>
                                        <p:tav tm="100000">
                                          <p:val>
                                            <p:strVal val="#ppt_x"/>
                                          </p:val>
                                        </p:tav>
                                      </p:tavLst>
                                    </p:anim>
                                    <p:anim calcmode="lin" valueType="num">
                                      <p:cBhvr additive="base">
                                        <p:cTn id="20" dur="500" fill="hold"/>
                                        <p:tgtEl>
                                          <p:spTgt spid="3585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865"/>
                                        </p:tgtEl>
                                        <p:attrNameLst>
                                          <p:attrName>style.visibility</p:attrName>
                                        </p:attrNameLst>
                                      </p:cBhvr>
                                      <p:to>
                                        <p:strVal val="visible"/>
                                      </p:to>
                                    </p:set>
                                    <p:anim calcmode="lin" valueType="num">
                                      <p:cBhvr additive="base">
                                        <p:cTn id="25" dur="500" fill="hold"/>
                                        <p:tgtEl>
                                          <p:spTgt spid="35865"/>
                                        </p:tgtEl>
                                        <p:attrNameLst>
                                          <p:attrName>ppt_x</p:attrName>
                                        </p:attrNameLst>
                                      </p:cBhvr>
                                      <p:tavLst>
                                        <p:tav tm="0">
                                          <p:val>
                                            <p:strVal val="0-#ppt_w/2"/>
                                          </p:val>
                                        </p:tav>
                                        <p:tav tm="100000">
                                          <p:val>
                                            <p:strVal val="#ppt_x"/>
                                          </p:val>
                                        </p:tav>
                                      </p:tavLst>
                                    </p:anim>
                                    <p:anim calcmode="lin" valueType="num">
                                      <p:cBhvr additive="base">
                                        <p:cTn id="26" dur="500" fill="hold"/>
                                        <p:tgtEl>
                                          <p:spTgt spid="3586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5858"/>
                                        </p:tgtEl>
                                        <p:attrNameLst>
                                          <p:attrName>style.visibility</p:attrName>
                                        </p:attrNameLst>
                                      </p:cBhvr>
                                      <p:to>
                                        <p:strVal val="visible"/>
                                      </p:to>
                                    </p:set>
                                    <p:anim calcmode="lin" valueType="num">
                                      <p:cBhvr additive="base">
                                        <p:cTn id="31" dur="500" fill="hold"/>
                                        <p:tgtEl>
                                          <p:spTgt spid="35858"/>
                                        </p:tgtEl>
                                        <p:attrNameLst>
                                          <p:attrName>ppt_x</p:attrName>
                                        </p:attrNameLst>
                                      </p:cBhvr>
                                      <p:tavLst>
                                        <p:tav tm="0">
                                          <p:val>
                                            <p:strVal val="0-#ppt_w/2"/>
                                          </p:val>
                                        </p:tav>
                                        <p:tav tm="100000">
                                          <p:val>
                                            <p:strVal val="#ppt_x"/>
                                          </p:val>
                                        </p:tav>
                                      </p:tavLst>
                                    </p:anim>
                                    <p:anim calcmode="lin" valueType="num">
                                      <p:cBhvr additive="base">
                                        <p:cTn id="32" dur="500" fill="hold"/>
                                        <p:tgtEl>
                                          <p:spTgt spid="3585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5850"/>
                                        </p:tgtEl>
                                        <p:attrNameLst>
                                          <p:attrName>style.visibility</p:attrName>
                                        </p:attrNameLst>
                                      </p:cBhvr>
                                      <p:to>
                                        <p:strVal val="visible"/>
                                      </p:to>
                                    </p:set>
                                    <p:anim calcmode="lin" valueType="num">
                                      <p:cBhvr additive="base">
                                        <p:cTn id="37" dur="500" fill="hold"/>
                                        <p:tgtEl>
                                          <p:spTgt spid="35850"/>
                                        </p:tgtEl>
                                        <p:attrNameLst>
                                          <p:attrName>ppt_x</p:attrName>
                                        </p:attrNameLst>
                                      </p:cBhvr>
                                      <p:tavLst>
                                        <p:tav tm="0">
                                          <p:val>
                                            <p:strVal val="0-#ppt_w/2"/>
                                          </p:val>
                                        </p:tav>
                                        <p:tav tm="100000">
                                          <p:val>
                                            <p:strVal val="#ppt_x"/>
                                          </p:val>
                                        </p:tav>
                                      </p:tavLst>
                                    </p:anim>
                                    <p:anim calcmode="lin" valueType="num">
                                      <p:cBhvr additive="base">
                                        <p:cTn id="38" dur="500" fill="hold"/>
                                        <p:tgtEl>
                                          <p:spTgt spid="3585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5866"/>
                                        </p:tgtEl>
                                        <p:attrNameLst>
                                          <p:attrName>style.visibility</p:attrName>
                                        </p:attrNameLst>
                                      </p:cBhvr>
                                      <p:to>
                                        <p:strVal val="visible"/>
                                      </p:to>
                                    </p:set>
                                    <p:anim calcmode="lin" valueType="num">
                                      <p:cBhvr additive="base">
                                        <p:cTn id="43" dur="500" fill="hold"/>
                                        <p:tgtEl>
                                          <p:spTgt spid="35866"/>
                                        </p:tgtEl>
                                        <p:attrNameLst>
                                          <p:attrName>ppt_x</p:attrName>
                                        </p:attrNameLst>
                                      </p:cBhvr>
                                      <p:tavLst>
                                        <p:tav tm="0">
                                          <p:val>
                                            <p:strVal val="0-#ppt_w/2"/>
                                          </p:val>
                                        </p:tav>
                                        <p:tav tm="100000">
                                          <p:val>
                                            <p:strVal val="#ppt_x"/>
                                          </p:val>
                                        </p:tav>
                                      </p:tavLst>
                                    </p:anim>
                                    <p:anim calcmode="lin" valueType="num">
                                      <p:cBhvr additive="base">
                                        <p:cTn id="44" dur="500" fill="hold"/>
                                        <p:tgtEl>
                                          <p:spTgt spid="35866"/>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5860"/>
                                        </p:tgtEl>
                                        <p:attrNameLst>
                                          <p:attrName>style.visibility</p:attrName>
                                        </p:attrNameLst>
                                      </p:cBhvr>
                                      <p:to>
                                        <p:strVal val="visible"/>
                                      </p:to>
                                    </p:set>
                                    <p:anim calcmode="lin" valueType="num">
                                      <p:cBhvr additive="base">
                                        <p:cTn id="49" dur="500" fill="hold"/>
                                        <p:tgtEl>
                                          <p:spTgt spid="35860"/>
                                        </p:tgtEl>
                                        <p:attrNameLst>
                                          <p:attrName>ppt_x</p:attrName>
                                        </p:attrNameLst>
                                      </p:cBhvr>
                                      <p:tavLst>
                                        <p:tav tm="0">
                                          <p:val>
                                            <p:strVal val="0-#ppt_w/2"/>
                                          </p:val>
                                        </p:tav>
                                        <p:tav tm="100000">
                                          <p:val>
                                            <p:strVal val="#ppt_x"/>
                                          </p:val>
                                        </p:tav>
                                      </p:tavLst>
                                    </p:anim>
                                    <p:anim calcmode="lin" valueType="num">
                                      <p:cBhvr additive="base">
                                        <p:cTn id="50" dur="500" fill="hold"/>
                                        <p:tgtEl>
                                          <p:spTgt spid="35860"/>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5867"/>
                                        </p:tgtEl>
                                        <p:attrNameLst>
                                          <p:attrName>style.visibility</p:attrName>
                                        </p:attrNameLst>
                                      </p:cBhvr>
                                      <p:to>
                                        <p:strVal val="visible"/>
                                      </p:to>
                                    </p:set>
                                    <p:anim calcmode="lin" valueType="num">
                                      <p:cBhvr additive="base">
                                        <p:cTn id="55" dur="500" fill="hold"/>
                                        <p:tgtEl>
                                          <p:spTgt spid="35867"/>
                                        </p:tgtEl>
                                        <p:attrNameLst>
                                          <p:attrName>ppt_x</p:attrName>
                                        </p:attrNameLst>
                                      </p:cBhvr>
                                      <p:tavLst>
                                        <p:tav tm="0">
                                          <p:val>
                                            <p:strVal val="0-#ppt_w/2"/>
                                          </p:val>
                                        </p:tav>
                                        <p:tav tm="100000">
                                          <p:val>
                                            <p:strVal val="#ppt_x"/>
                                          </p:val>
                                        </p:tav>
                                      </p:tavLst>
                                    </p:anim>
                                    <p:anim calcmode="lin" valueType="num">
                                      <p:cBhvr additive="base">
                                        <p:cTn id="56" dur="500" fill="hold"/>
                                        <p:tgtEl>
                                          <p:spTgt spid="35867"/>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35864"/>
                                        </p:tgtEl>
                                        <p:attrNameLst>
                                          <p:attrName>style.visibility</p:attrName>
                                        </p:attrNameLst>
                                      </p:cBhvr>
                                      <p:to>
                                        <p:strVal val="visible"/>
                                      </p:to>
                                    </p:set>
                                    <p:anim calcmode="lin" valueType="num">
                                      <p:cBhvr additive="base">
                                        <p:cTn id="61" dur="500" fill="hold"/>
                                        <p:tgtEl>
                                          <p:spTgt spid="35864"/>
                                        </p:tgtEl>
                                        <p:attrNameLst>
                                          <p:attrName>ppt_x</p:attrName>
                                        </p:attrNameLst>
                                      </p:cBhvr>
                                      <p:tavLst>
                                        <p:tav tm="0">
                                          <p:val>
                                            <p:strVal val="0-#ppt_w/2"/>
                                          </p:val>
                                        </p:tav>
                                        <p:tav tm="100000">
                                          <p:val>
                                            <p:strVal val="#ppt_x"/>
                                          </p:val>
                                        </p:tav>
                                      </p:tavLst>
                                    </p:anim>
                                    <p:anim calcmode="lin" valueType="num">
                                      <p:cBhvr additive="base">
                                        <p:cTn id="62" dur="500" fill="hold"/>
                                        <p:tgtEl>
                                          <p:spTgt spid="358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autoUpdateAnimBg="0"/>
      <p:bldP spid="35844" grpId="0" autoUpdateAnimBg="0"/>
      <p:bldP spid="35850" grpId="0" autoUpdateAnimBg="0"/>
      <p:bldP spid="35851" grpId="0" autoUpdateAnimBg="0"/>
      <p:bldP spid="35860" grpId="0" autoUpdateAnimBg="0"/>
      <p:bldP spid="35864" grpId="0" autoUpdateAnimBg="0"/>
      <p:bldP spid="35865" grpId="0" autoUpdateAnimBg="0"/>
      <p:bldP spid="35866" grpId="0" autoUpdateAnimBg="0"/>
      <p:bldP spid="3586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323850" y="4581525"/>
            <a:ext cx="182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i="1">
                <a:solidFill>
                  <a:srgbClr val="000080"/>
                </a:solidFill>
              </a:rPr>
              <a:t>x</a:t>
            </a:r>
            <a:r>
              <a:rPr lang="en-US" altLang="zh-CN" sz="2800" i="1" baseline="-30000">
                <a:solidFill>
                  <a:srgbClr val="000080"/>
                </a:solidFill>
              </a:rPr>
              <a:t>3</a:t>
            </a:r>
            <a:r>
              <a:rPr lang="en-US" altLang="zh-CN" sz="2800" i="1">
                <a:solidFill>
                  <a:srgbClr val="000080"/>
                </a:solidFill>
              </a:rPr>
              <a:t>(0)= </a:t>
            </a:r>
            <a:r>
              <a:rPr lang="en-US" altLang="zh-CN" sz="2800" i="1">
                <a:solidFill>
                  <a:srgbClr val="000080"/>
                </a:solidFill>
                <a:sym typeface="Symbol" pitchFamily="18" charset="2"/>
              </a:rPr>
              <a:t></a:t>
            </a:r>
            <a:r>
              <a:rPr lang="en-US" altLang="zh-CN" sz="2800" i="1">
                <a:solidFill>
                  <a:srgbClr val="000080"/>
                </a:solidFill>
              </a:rPr>
              <a:t> </a:t>
            </a:r>
          </a:p>
        </p:txBody>
      </p:sp>
      <p:sp>
        <p:nvSpPr>
          <p:cNvPr id="52227" name="Rectangle 3"/>
          <p:cNvSpPr>
            <a:spLocks noChangeArrowheads="1"/>
          </p:cNvSpPr>
          <p:nvPr/>
        </p:nvSpPr>
        <p:spPr bwMode="auto">
          <a:xfrm>
            <a:off x="611188" y="188913"/>
            <a:ext cx="5384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kumimoji="0" lang="en-US" altLang="zh-CN" sz="2800">
                <a:effectLst>
                  <a:outerShdw blurRad="38100" dist="38100" dir="2700000" algn="tl">
                    <a:srgbClr val="C0C0C0"/>
                  </a:outerShdw>
                </a:effectLst>
                <a:ea typeface="楷体_GB2312" pitchFamily="49" charset="-122"/>
              </a:rPr>
              <a:t>Secant </a:t>
            </a:r>
            <a:r>
              <a:rPr lang="en-US" altLang="zh-CN" i="1"/>
              <a:t> + Runge-Kutta methods</a:t>
            </a:r>
          </a:p>
        </p:txBody>
      </p:sp>
      <p:sp>
        <p:nvSpPr>
          <p:cNvPr id="52228" name="Rectangle 4"/>
          <p:cNvSpPr>
            <a:spLocks noChangeArrowheads="1"/>
          </p:cNvSpPr>
          <p:nvPr/>
        </p:nvSpPr>
        <p:spPr bwMode="auto">
          <a:xfrm>
            <a:off x="250825" y="1628775"/>
            <a:ext cx="1752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x</a:t>
            </a:r>
            <a:r>
              <a:rPr lang="en-US" altLang="zh-CN" i="1" baseline="-30000">
                <a:solidFill>
                  <a:srgbClr val="000080"/>
                </a:solidFill>
              </a:rPr>
              <a:t>1</a:t>
            </a:r>
            <a:r>
              <a:rPr lang="en-US" altLang="zh-CN" i="1">
                <a:solidFill>
                  <a:srgbClr val="000080"/>
                </a:solidFill>
              </a:rPr>
              <a:t>’ </a:t>
            </a:r>
            <a:r>
              <a:rPr lang="en-US" altLang="zh-CN">
                <a:solidFill>
                  <a:srgbClr val="000080"/>
                </a:solidFill>
              </a:rPr>
              <a:t>=1</a:t>
            </a:r>
            <a:endParaRPr lang="en-US" altLang="zh-CN"/>
          </a:p>
        </p:txBody>
      </p:sp>
      <p:sp>
        <p:nvSpPr>
          <p:cNvPr id="52229" name="Rectangle 5"/>
          <p:cNvSpPr>
            <a:spLocks noChangeArrowheads="1"/>
          </p:cNvSpPr>
          <p:nvPr/>
        </p:nvSpPr>
        <p:spPr bwMode="auto">
          <a:xfrm>
            <a:off x="250825" y="2205038"/>
            <a:ext cx="2743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x</a:t>
            </a:r>
            <a:r>
              <a:rPr lang="en-US" altLang="zh-CN" i="1" baseline="-30000">
                <a:solidFill>
                  <a:srgbClr val="000080"/>
                </a:solidFill>
              </a:rPr>
              <a:t>2</a:t>
            </a:r>
            <a:r>
              <a:rPr lang="en-US" altLang="zh-CN" i="1">
                <a:solidFill>
                  <a:srgbClr val="000080"/>
                </a:solidFill>
              </a:rPr>
              <a:t>’ </a:t>
            </a:r>
            <a:r>
              <a:rPr lang="en-US" altLang="zh-CN">
                <a:solidFill>
                  <a:srgbClr val="000080"/>
                </a:solidFill>
              </a:rPr>
              <a:t>=</a:t>
            </a:r>
            <a:r>
              <a:rPr lang="en-US" altLang="zh-CN" i="1">
                <a:solidFill>
                  <a:srgbClr val="000080"/>
                </a:solidFill>
              </a:rPr>
              <a:t> x</a:t>
            </a:r>
            <a:r>
              <a:rPr lang="en-US" altLang="zh-CN" i="1" baseline="-30000">
                <a:solidFill>
                  <a:srgbClr val="000080"/>
                </a:solidFill>
              </a:rPr>
              <a:t>3</a:t>
            </a:r>
            <a:endParaRPr lang="en-US" altLang="zh-CN"/>
          </a:p>
        </p:txBody>
      </p:sp>
      <p:sp>
        <p:nvSpPr>
          <p:cNvPr id="52231" name="Rectangle 7"/>
          <p:cNvSpPr>
            <a:spLocks noChangeArrowheads="1"/>
          </p:cNvSpPr>
          <p:nvPr/>
        </p:nvSpPr>
        <p:spPr bwMode="auto">
          <a:xfrm>
            <a:off x="107950" y="3860800"/>
            <a:ext cx="411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i="1">
                <a:solidFill>
                  <a:srgbClr val="000080"/>
                </a:solidFill>
              </a:rPr>
              <a:t>x</a:t>
            </a:r>
            <a:r>
              <a:rPr lang="en-US" altLang="zh-CN" sz="2800" i="1" baseline="-30000">
                <a:solidFill>
                  <a:srgbClr val="000080"/>
                </a:solidFill>
              </a:rPr>
              <a:t>1</a:t>
            </a:r>
            <a:r>
              <a:rPr lang="en-US" altLang="zh-CN" sz="2800" i="1">
                <a:solidFill>
                  <a:srgbClr val="000080"/>
                </a:solidFill>
              </a:rPr>
              <a:t>(0)=0,</a:t>
            </a:r>
            <a:r>
              <a:rPr lang="en-US" altLang="zh-CN" sz="2800" i="1" baseline="-30000">
                <a:solidFill>
                  <a:srgbClr val="000080"/>
                </a:solidFill>
              </a:rPr>
              <a:t>  </a:t>
            </a:r>
            <a:r>
              <a:rPr lang="en-US" altLang="zh-CN" sz="2800" i="1">
                <a:solidFill>
                  <a:srgbClr val="000080"/>
                </a:solidFill>
              </a:rPr>
              <a:t>x</a:t>
            </a:r>
            <a:r>
              <a:rPr lang="en-US" altLang="zh-CN" sz="2800" i="1" baseline="-30000">
                <a:solidFill>
                  <a:srgbClr val="000080"/>
                </a:solidFill>
              </a:rPr>
              <a:t>2</a:t>
            </a:r>
            <a:r>
              <a:rPr lang="en-US" altLang="zh-CN" sz="2800" i="1">
                <a:solidFill>
                  <a:srgbClr val="000080"/>
                </a:solidFill>
              </a:rPr>
              <a:t>(0)=0, x</a:t>
            </a:r>
            <a:r>
              <a:rPr lang="en-US" altLang="zh-CN" sz="2800" i="1" baseline="-30000">
                <a:solidFill>
                  <a:srgbClr val="000080"/>
                </a:solidFill>
              </a:rPr>
              <a:t>2</a:t>
            </a:r>
            <a:r>
              <a:rPr lang="en-US" altLang="zh-CN" sz="2800" i="1">
                <a:solidFill>
                  <a:srgbClr val="000080"/>
                </a:solidFill>
              </a:rPr>
              <a:t>(1)=1 </a:t>
            </a:r>
          </a:p>
        </p:txBody>
      </p:sp>
      <p:sp>
        <p:nvSpPr>
          <p:cNvPr id="52232" name="Text Box 8"/>
          <p:cNvSpPr txBox="1">
            <a:spLocks noChangeArrowheads="1"/>
          </p:cNvSpPr>
          <p:nvPr/>
        </p:nvSpPr>
        <p:spPr bwMode="auto">
          <a:xfrm>
            <a:off x="3203575" y="1411288"/>
            <a:ext cx="3352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3600" i="1"/>
              <a:t>x</a:t>
            </a:r>
            <a:r>
              <a:rPr lang="en-US" altLang="zh-CN" sz="3600" i="1" baseline="-25000"/>
              <a:t>1</a:t>
            </a:r>
            <a:r>
              <a:rPr lang="en-US" altLang="zh-CN" sz="3600" i="1"/>
              <a:t>=t, x</a:t>
            </a:r>
            <a:r>
              <a:rPr lang="en-US" altLang="zh-CN" sz="3600" i="1" baseline="-25000"/>
              <a:t>2</a:t>
            </a:r>
            <a:r>
              <a:rPr lang="en-US" altLang="zh-CN" sz="3600" i="1"/>
              <a:t>=y, x</a:t>
            </a:r>
            <a:r>
              <a:rPr lang="en-US" altLang="zh-CN" sz="3600" i="1" baseline="-25000"/>
              <a:t>3</a:t>
            </a:r>
            <a:r>
              <a:rPr lang="en-US" altLang="zh-CN" sz="3600" i="1"/>
              <a:t>=y’</a:t>
            </a:r>
            <a:endParaRPr lang="en-US" altLang="zh-CN" sz="3600" i="1" baseline="-25000"/>
          </a:p>
        </p:txBody>
      </p:sp>
      <p:sp>
        <p:nvSpPr>
          <p:cNvPr id="43016" name="Rectangle 9"/>
          <p:cNvSpPr>
            <a:spLocks noChangeArrowheads="1"/>
          </p:cNvSpPr>
          <p:nvPr/>
        </p:nvSpPr>
        <p:spPr bwMode="auto">
          <a:xfrm>
            <a:off x="468313" y="836613"/>
            <a:ext cx="3382962"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i="1">
                <a:solidFill>
                  <a:srgbClr val="000080"/>
                </a:solidFill>
              </a:rPr>
              <a:t>y"=- π</a:t>
            </a:r>
            <a:r>
              <a:rPr lang="en-US" altLang="zh-CN" i="1" baseline="30000">
                <a:solidFill>
                  <a:srgbClr val="000080"/>
                </a:solidFill>
              </a:rPr>
              <a:t>2</a:t>
            </a:r>
            <a:r>
              <a:rPr lang="en-US" altLang="zh-CN" i="1">
                <a:solidFill>
                  <a:srgbClr val="000080"/>
                </a:solidFill>
              </a:rPr>
              <a:t> (y+1)/4</a:t>
            </a:r>
          </a:p>
        </p:txBody>
      </p:sp>
      <p:sp>
        <p:nvSpPr>
          <p:cNvPr id="43017" name="Rectangle 10"/>
          <p:cNvSpPr>
            <a:spLocks noChangeArrowheads="1"/>
          </p:cNvSpPr>
          <p:nvPr/>
        </p:nvSpPr>
        <p:spPr bwMode="auto">
          <a:xfrm>
            <a:off x="3779838" y="692150"/>
            <a:ext cx="28194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(0)=0, y(1)=1</a:t>
            </a:r>
            <a:endParaRPr lang="en-US" altLang="zh-CN"/>
          </a:p>
        </p:txBody>
      </p:sp>
      <p:sp>
        <p:nvSpPr>
          <p:cNvPr id="52235" name="Text Box 11"/>
          <p:cNvSpPr txBox="1">
            <a:spLocks noChangeArrowheads="1"/>
          </p:cNvSpPr>
          <p:nvPr/>
        </p:nvSpPr>
        <p:spPr bwMode="auto">
          <a:xfrm>
            <a:off x="4500563" y="3500438"/>
            <a:ext cx="4103687"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i="1">
                <a:solidFill>
                  <a:srgbClr val="000080"/>
                </a:solidFill>
                <a:cs typeface="Times New Roman" pitchFamily="18" charset="0"/>
                <a:sym typeface="Symbol" pitchFamily="18" charset="2"/>
              </a:rPr>
              <a:t>|F(</a:t>
            </a:r>
            <a:r>
              <a:rPr lang="en-US" altLang="zh-CN" i="1">
                <a:solidFill>
                  <a:srgbClr val="000080"/>
                </a:solidFill>
                <a:sym typeface="Symbol" pitchFamily="18" charset="2"/>
              </a:rPr>
              <a:t></a:t>
            </a:r>
            <a:r>
              <a:rPr lang="en-US" altLang="zh-CN" i="1">
                <a:solidFill>
                  <a:srgbClr val="000080"/>
                </a:solidFill>
                <a:cs typeface="Times New Roman" pitchFamily="18" charset="0"/>
                <a:sym typeface="Symbol" pitchFamily="18" charset="2"/>
              </a:rPr>
              <a:t> )|= |x</a:t>
            </a:r>
            <a:r>
              <a:rPr lang="en-US" altLang="zh-CN" i="1" baseline="-25000">
                <a:solidFill>
                  <a:srgbClr val="000080"/>
                </a:solidFill>
                <a:sym typeface="Symbol" pitchFamily="18" charset="2"/>
              </a:rPr>
              <a:t>2 </a:t>
            </a:r>
            <a:r>
              <a:rPr lang="en-US" altLang="zh-CN" i="1">
                <a:solidFill>
                  <a:srgbClr val="000080"/>
                </a:solidFill>
                <a:sym typeface="Symbol" pitchFamily="18" charset="2"/>
              </a:rPr>
              <a:t>(1</a:t>
            </a:r>
            <a:r>
              <a:rPr lang="en-US" altLang="zh-CN" i="1">
                <a:solidFill>
                  <a:srgbClr val="000080"/>
                </a:solidFill>
                <a:cs typeface="Times New Roman" pitchFamily="18" charset="0"/>
                <a:sym typeface="Symbol" pitchFamily="18" charset="2"/>
              </a:rPr>
              <a:t> )-1|&lt;  </a:t>
            </a:r>
            <a:endParaRPr lang="en-US" altLang="zh-CN"/>
          </a:p>
        </p:txBody>
      </p:sp>
      <p:sp>
        <p:nvSpPr>
          <p:cNvPr id="52236" name="Rectangle 12"/>
          <p:cNvSpPr>
            <a:spLocks noChangeArrowheads="1"/>
          </p:cNvSpPr>
          <p:nvPr/>
        </p:nvSpPr>
        <p:spPr bwMode="auto">
          <a:xfrm>
            <a:off x="179388" y="2852738"/>
            <a:ext cx="36655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r>
              <a:rPr lang="en-US" altLang="zh-CN" i="1">
                <a:solidFill>
                  <a:srgbClr val="000080"/>
                </a:solidFill>
              </a:rPr>
              <a:t>x</a:t>
            </a:r>
            <a:r>
              <a:rPr lang="en-US" altLang="zh-CN" i="1" baseline="-30000">
                <a:solidFill>
                  <a:srgbClr val="000080"/>
                </a:solidFill>
              </a:rPr>
              <a:t>3</a:t>
            </a:r>
            <a:r>
              <a:rPr lang="en-US" altLang="zh-CN" i="1">
                <a:solidFill>
                  <a:srgbClr val="000080"/>
                </a:solidFill>
              </a:rPr>
              <a:t>’ </a:t>
            </a:r>
            <a:r>
              <a:rPr lang="en-US" altLang="zh-CN">
                <a:solidFill>
                  <a:srgbClr val="000080"/>
                </a:solidFill>
              </a:rPr>
              <a:t>=</a:t>
            </a:r>
            <a:r>
              <a:rPr lang="en-US" altLang="zh-CN" i="1">
                <a:solidFill>
                  <a:srgbClr val="000080"/>
                </a:solidFill>
              </a:rPr>
              <a:t> -</a:t>
            </a:r>
            <a:r>
              <a:rPr lang="en-US" altLang="zh-CN" i="1">
                <a:solidFill>
                  <a:srgbClr val="000080"/>
                </a:solidFill>
                <a:latin typeface="宋体" pitchFamily="2" charset="-122"/>
              </a:rPr>
              <a:t>π</a:t>
            </a:r>
            <a:r>
              <a:rPr lang="en-US" altLang="zh-CN" i="1" baseline="30000">
                <a:solidFill>
                  <a:srgbClr val="000080"/>
                </a:solidFill>
                <a:latin typeface="宋体" pitchFamily="2" charset="-122"/>
              </a:rPr>
              <a:t>2</a:t>
            </a:r>
            <a:r>
              <a:rPr lang="en-US" altLang="zh-CN" i="1">
                <a:solidFill>
                  <a:srgbClr val="000080"/>
                </a:solidFill>
                <a:latin typeface="宋体" pitchFamily="2" charset="-122"/>
              </a:rPr>
              <a:t>(</a:t>
            </a:r>
            <a:r>
              <a:rPr lang="en-US" altLang="zh-CN" i="1">
                <a:solidFill>
                  <a:srgbClr val="000080"/>
                </a:solidFill>
              </a:rPr>
              <a:t>x</a:t>
            </a:r>
            <a:r>
              <a:rPr lang="en-US" altLang="zh-CN" i="1" baseline="-30000">
                <a:solidFill>
                  <a:srgbClr val="000080"/>
                </a:solidFill>
              </a:rPr>
              <a:t>2</a:t>
            </a:r>
            <a:r>
              <a:rPr lang="en-US" altLang="zh-CN" i="1">
                <a:solidFill>
                  <a:srgbClr val="000080"/>
                </a:solidFill>
                <a:latin typeface="宋体" pitchFamily="2" charset="-122"/>
              </a:rPr>
              <a:t>+1)/4</a:t>
            </a:r>
            <a:endParaRPr lang="en-US" altLang="zh-CN"/>
          </a:p>
        </p:txBody>
      </p:sp>
      <p:sp>
        <p:nvSpPr>
          <p:cNvPr id="52237" name="Rectangle 13"/>
          <p:cNvSpPr>
            <a:spLocks noChangeArrowheads="1"/>
          </p:cNvSpPr>
          <p:nvPr/>
        </p:nvSpPr>
        <p:spPr bwMode="auto">
          <a:xfrm>
            <a:off x="107950" y="5214938"/>
            <a:ext cx="4032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i="1">
                <a:solidFill>
                  <a:srgbClr val="000080"/>
                </a:solidFill>
              </a:rPr>
              <a:t>x</a:t>
            </a:r>
            <a:r>
              <a:rPr lang="en-US" altLang="zh-CN" sz="2800" i="1" baseline="-30000">
                <a:solidFill>
                  <a:srgbClr val="000080"/>
                </a:solidFill>
              </a:rPr>
              <a:t>3</a:t>
            </a:r>
            <a:r>
              <a:rPr lang="en-US" altLang="zh-CN" sz="2800" i="1">
                <a:solidFill>
                  <a:srgbClr val="000080"/>
                </a:solidFill>
              </a:rPr>
              <a:t>(0)=( x</a:t>
            </a:r>
            <a:r>
              <a:rPr lang="en-US" altLang="zh-CN" sz="2800" i="1" baseline="-30000">
                <a:solidFill>
                  <a:srgbClr val="000080"/>
                </a:solidFill>
              </a:rPr>
              <a:t>2</a:t>
            </a:r>
            <a:r>
              <a:rPr lang="en-US" altLang="zh-CN" sz="2800" i="1">
                <a:solidFill>
                  <a:srgbClr val="000080"/>
                </a:solidFill>
              </a:rPr>
              <a:t>(1)- x</a:t>
            </a:r>
            <a:r>
              <a:rPr lang="en-US" altLang="zh-CN" sz="2800" i="1" baseline="-30000">
                <a:solidFill>
                  <a:srgbClr val="000080"/>
                </a:solidFill>
              </a:rPr>
              <a:t>2</a:t>
            </a:r>
            <a:r>
              <a:rPr lang="en-US" altLang="zh-CN" sz="2800" i="1">
                <a:solidFill>
                  <a:srgbClr val="000080"/>
                </a:solidFill>
              </a:rPr>
              <a:t>(0))/(1.-0.) </a:t>
            </a:r>
            <a:endParaRPr lang="en-US" altLang="zh-CN" sz="2800" i="1"/>
          </a:p>
        </p:txBody>
      </p:sp>
      <p:graphicFrame>
        <p:nvGraphicFramePr>
          <p:cNvPr id="155650" name="Object 2"/>
          <p:cNvGraphicFramePr>
            <a:graphicFrameLocks noChangeAspect="1"/>
          </p:cNvGraphicFramePr>
          <p:nvPr/>
        </p:nvGraphicFramePr>
        <p:xfrm>
          <a:off x="4019550" y="5500688"/>
          <a:ext cx="4800600" cy="665162"/>
        </p:xfrm>
        <a:graphic>
          <a:graphicData uri="http://schemas.openxmlformats.org/presentationml/2006/ole">
            <mc:AlternateContent xmlns:mc="http://schemas.openxmlformats.org/markup-compatibility/2006">
              <mc:Choice xmlns:v="urn:schemas-microsoft-com:vml" Requires="v">
                <p:oleObj spid="_x0000_s43029" name="公式" r:id="rId3" imgW="2110752" imgH="221052" progId="Equation.3">
                  <p:embed/>
                </p:oleObj>
              </mc:Choice>
              <mc:Fallback>
                <p:oleObj name="公式" r:id="rId3" imgW="2110752" imgH="221052"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9550" y="5500688"/>
                        <a:ext cx="4800600" cy="665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5651" name="Text Box 3"/>
          <p:cNvSpPr txBox="1">
            <a:spLocks noChangeArrowheads="1"/>
          </p:cNvSpPr>
          <p:nvPr/>
        </p:nvSpPr>
        <p:spPr bwMode="auto">
          <a:xfrm>
            <a:off x="611188" y="6223000"/>
            <a:ext cx="3917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t>X30=(YU-YL)/ (XU-XL)</a:t>
            </a:r>
          </a:p>
        </p:txBody>
      </p:sp>
      <p:sp>
        <p:nvSpPr>
          <p:cNvPr id="155652" name="Text Box 4"/>
          <p:cNvSpPr txBox="1">
            <a:spLocks noChangeArrowheads="1"/>
          </p:cNvSpPr>
          <p:nvPr/>
        </p:nvSpPr>
        <p:spPr bwMode="auto">
          <a:xfrm>
            <a:off x="5508625" y="6223000"/>
            <a:ext cx="2330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t>X31=X30+DX</a:t>
            </a:r>
          </a:p>
        </p:txBody>
      </p:sp>
      <p:sp>
        <p:nvSpPr>
          <p:cNvPr id="155653" name="Rectangle 5"/>
          <p:cNvSpPr>
            <a:spLocks noChangeArrowheads="1"/>
          </p:cNvSpPr>
          <p:nvPr/>
        </p:nvSpPr>
        <p:spPr bwMode="auto">
          <a:xfrm>
            <a:off x="4283075" y="2276475"/>
            <a:ext cx="4392613"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zh-CN" altLang="pt-BR" sz="2800" i="1"/>
              <a:t>将</a:t>
            </a:r>
            <a:r>
              <a:rPr lang="en-US" altLang="zh-CN" sz="2800" i="1">
                <a:solidFill>
                  <a:srgbClr val="000080"/>
                </a:solidFill>
              </a:rPr>
              <a:t>x</a:t>
            </a:r>
            <a:r>
              <a:rPr lang="en-US" altLang="zh-CN" sz="2800" i="1" baseline="-30000">
                <a:solidFill>
                  <a:srgbClr val="000080"/>
                </a:solidFill>
              </a:rPr>
              <a:t>1</a:t>
            </a:r>
            <a:r>
              <a:rPr lang="en-US" altLang="zh-CN" sz="2800" i="1">
                <a:solidFill>
                  <a:srgbClr val="000080"/>
                </a:solidFill>
              </a:rPr>
              <a:t>(0),</a:t>
            </a:r>
            <a:r>
              <a:rPr lang="en-US" altLang="zh-CN" sz="2800" i="1" baseline="-30000">
                <a:solidFill>
                  <a:srgbClr val="000080"/>
                </a:solidFill>
              </a:rPr>
              <a:t>  </a:t>
            </a:r>
            <a:r>
              <a:rPr lang="en-US" altLang="zh-CN" sz="2800" i="1">
                <a:solidFill>
                  <a:srgbClr val="000080"/>
                </a:solidFill>
              </a:rPr>
              <a:t>x</a:t>
            </a:r>
            <a:r>
              <a:rPr lang="en-US" altLang="zh-CN" sz="2800" i="1" baseline="-30000">
                <a:solidFill>
                  <a:srgbClr val="000080"/>
                </a:solidFill>
              </a:rPr>
              <a:t>2</a:t>
            </a:r>
            <a:r>
              <a:rPr lang="en-US" altLang="zh-CN" sz="2800" i="1">
                <a:solidFill>
                  <a:srgbClr val="000080"/>
                </a:solidFill>
              </a:rPr>
              <a:t>(0) </a:t>
            </a:r>
            <a:r>
              <a:rPr lang="zh-CN" altLang="pt-BR" sz="2800" i="1"/>
              <a:t>和</a:t>
            </a:r>
            <a:r>
              <a:rPr lang="en-US" altLang="zh-CN" sz="2800" i="1">
                <a:solidFill>
                  <a:srgbClr val="000080"/>
                </a:solidFill>
              </a:rPr>
              <a:t>x</a:t>
            </a:r>
            <a:r>
              <a:rPr lang="en-US" altLang="zh-CN" sz="2800" i="1" baseline="-30000">
                <a:solidFill>
                  <a:srgbClr val="000080"/>
                </a:solidFill>
              </a:rPr>
              <a:t>3</a:t>
            </a:r>
            <a:r>
              <a:rPr lang="en-US" altLang="zh-CN" sz="2800" i="1">
                <a:solidFill>
                  <a:srgbClr val="000080"/>
                </a:solidFill>
              </a:rPr>
              <a:t>(0)</a:t>
            </a:r>
            <a:r>
              <a:rPr lang="zh-CN" altLang="pt-BR" sz="2800" i="1"/>
              <a:t>代入</a:t>
            </a:r>
            <a:r>
              <a:rPr lang="en-US" altLang="zh-CN" sz="2800" i="1"/>
              <a:t>Runge-Kutta  </a:t>
            </a:r>
            <a:r>
              <a:rPr lang="en-US" altLang="zh-CN" sz="2800" i="1">
                <a:solidFill>
                  <a:srgbClr val="000080"/>
                </a:solidFill>
                <a:cs typeface="Times New Roman" pitchFamily="18" charset="0"/>
                <a:sym typeface="Symbol" pitchFamily="18" charset="2"/>
              </a:rPr>
              <a:t>x</a:t>
            </a:r>
            <a:r>
              <a:rPr lang="en-US" altLang="zh-CN" sz="2800" i="1" baseline="-25000">
                <a:solidFill>
                  <a:srgbClr val="000080"/>
                </a:solidFill>
                <a:sym typeface="Symbol" pitchFamily="18" charset="2"/>
              </a:rPr>
              <a:t>2 </a:t>
            </a:r>
            <a:r>
              <a:rPr lang="en-US" altLang="zh-CN" sz="2800" i="1">
                <a:solidFill>
                  <a:srgbClr val="000080"/>
                </a:solidFill>
                <a:sym typeface="Symbol" pitchFamily="18" charset="2"/>
              </a:rPr>
              <a:t>(1</a:t>
            </a:r>
            <a:r>
              <a:rPr lang="en-US" altLang="zh-CN" sz="2800" i="1">
                <a:solidFill>
                  <a:srgbClr val="000080"/>
                </a:solidFill>
                <a:cs typeface="Times New Roman" pitchFamily="18" charset="0"/>
                <a:sym typeface="Symbol" pitchFamily="18" charset="2"/>
              </a:rPr>
              <a:t> ) =f</a:t>
            </a:r>
            <a:r>
              <a:rPr lang="en-US" altLang="zh-CN" sz="2800" i="1" baseline="-25000">
                <a:solidFill>
                  <a:srgbClr val="000080"/>
                </a:solidFill>
                <a:cs typeface="Times New Roman" pitchFamily="18" charset="0"/>
                <a:sym typeface="Symbol" pitchFamily="18" charset="2"/>
              </a:rPr>
              <a:t>0</a:t>
            </a:r>
          </a:p>
        </p:txBody>
      </p:sp>
      <p:sp>
        <p:nvSpPr>
          <p:cNvPr id="155654" name="Rectangle 6"/>
          <p:cNvSpPr>
            <a:spLocks noChangeArrowheads="1"/>
          </p:cNvSpPr>
          <p:nvPr/>
        </p:nvSpPr>
        <p:spPr bwMode="auto">
          <a:xfrm>
            <a:off x="4500563" y="4327525"/>
            <a:ext cx="4392612"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zh-CN" altLang="pt-BR" sz="2800" i="1"/>
              <a:t>将</a:t>
            </a:r>
            <a:r>
              <a:rPr lang="en-US" altLang="zh-CN" sz="2800" i="1">
                <a:solidFill>
                  <a:srgbClr val="000080"/>
                </a:solidFill>
              </a:rPr>
              <a:t>x</a:t>
            </a:r>
            <a:r>
              <a:rPr lang="en-US" altLang="zh-CN" sz="2800" i="1" baseline="-30000">
                <a:solidFill>
                  <a:srgbClr val="000080"/>
                </a:solidFill>
              </a:rPr>
              <a:t>1</a:t>
            </a:r>
            <a:r>
              <a:rPr lang="en-US" altLang="zh-CN" sz="2800" i="1">
                <a:solidFill>
                  <a:srgbClr val="000080"/>
                </a:solidFill>
              </a:rPr>
              <a:t>(0),</a:t>
            </a:r>
            <a:r>
              <a:rPr lang="en-US" altLang="zh-CN" sz="2800" i="1" baseline="-30000">
                <a:solidFill>
                  <a:srgbClr val="000080"/>
                </a:solidFill>
              </a:rPr>
              <a:t>  </a:t>
            </a:r>
            <a:r>
              <a:rPr lang="en-US" altLang="zh-CN" sz="2800" i="1">
                <a:solidFill>
                  <a:srgbClr val="000080"/>
                </a:solidFill>
              </a:rPr>
              <a:t>x</a:t>
            </a:r>
            <a:r>
              <a:rPr lang="en-US" altLang="zh-CN" sz="2800" i="1" baseline="-30000">
                <a:solidFill>
                  <a:srgbClr val="000080"/>
                </a:solidFill>
              </a:rPr>
              <a:t>2</a:t>
            </a:r>
            <a:r>
              <a:rPr lang="en-US" altLang="zh-CN" sz="2800" i="1">
                <a:solidFill>
                  <a:srgbClr val="000080"/>
                </a:solidFill>
              </a:rPr>
              <a:t>(0) </a:t>
            </a:r>
            <a:r>
              <a:rPr lang="zh-CN" altLang="pt-BR" sz="2800" i="1"/>
              <a:t>和</a:t>
            </a:r>
            <a:r>
              <a:rPr lang="en-US" altLang="zh-CN" sz="2800" i="1">
                <a:solidFill>
                  <a:srgbClr val="000080"/>
                </a:solidFill>
              </a:rPr>
              <a:t>x</a:t>
            </a:r>
            <a:r>
              <a:rPr lang="en-US" altLang="zh-CN" sz="2800" i="1" baseline="-30000">
                <a:solidFill>
                  <a:srgbClr val="000080"/>
                </a:solidFill>
              </a:rPr>
              <a:t>3</a:t>
            </a:r>
            <a:r>
              <a:rPr lang="en-US" altLang="zh-CN" sz="2800" i="1">
                <a:solidFill>
                  <a:srgbClr val="000080"/>
                </a:solidFill>
              </a:rPr>
              <a:t>(0)+h</a:t>
            </a:r>
            <a:r>
              <a:rPr lang="zh-CN" altLang="pt-BR" sz="2800" i="1"/>
              <a:t>代入</a:t>
            </a:r>
            <a:r>
              <a:rPr lang="en-US" altLang="zh-CN" sz="2800" i="1"/>
              <a:t>Runge-Kutta  </a:t>
            </a:r>
            <a:r>
              <a:rPr lang="en-US" altLang="zh-CN" sz="2800" i="1">
                <a:solidFill>
                  <a:srgbClr val="000080"/>
                </a:solidFill>
                <a:cs typeface="Times New Roman" pitchFamily="18" charset="0"/>
                <a:sym typeface="Symbol" pitchFamily="18" charset="2"/>
              </a:rPr>
              <a:t>x</a:t>
            </a:r>
            <a:r>
              <a:rPr lang="en-US" altLang="zh-CN" sz="2800" i="1" baseline="-25000">
                <a:solidFill>
                  <a:srgbClr val="000080"/>
                </a:solidFill>
                <a:sym typeface="Symbol" pitchFamily="18" charset="2"/>
              </a:rPr>
              <a:t>2 ’</a:t>
            </a:r>
            <a:r>
              <a:rPr lang="en-US" altLang="zh-CN" sz="2800" i="1">
                <a:solidFill>
                  <a:srgbClr val="000080"/>
                </a:solidFill>
                <a:sym typeface="Symbol" pitchFamily="18" charset="2"/>
              </a:rPr>
              <a:t>(1</a:t>
            </a:r>
            <a:r>
              <a:rPr lang="en-US" altLang="zh-CN" sz="2800" i="1">
                <a:solidFill>
                  <a:srgbClr val="000080"/>
                </a:solidFill>
                <a:cs typeface="Times New Roman" pitchFamily="18" charset="0"/>
                <a:sym typeface="Symbol" pitchFamily="18" charset="2"/>
              </a:rPr>
              <a:t> ) =f</a:t>
            </a:r>
            <a:r>
              <a:rPr lang="en-US" altLang="zh-CN" sz="2800" i="1" baseline="-25000">
                <a:solidFill>
                  <a:srgbClr val="000080"/>
                </a:solidFill>
                <a:cs typeface="Times New Roman" pitchFamily="18" charset="0"/>
                <a:sym typeface="Symbol" pitchFamily="18" charset="2"/>
              </a:rPr>
              <a:t>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2232"/>
                                        </p:tgtEl>
                                        <p:attrNameLst>
                                          <p:attrName>style.visibility</p:attrName>
                                        </p:attrNameLst>
                                      </p:cBhvr>
                                      <p:to>
                                        <p:strVal val="visible"/>
                                      </p:to>
                                    </p:set>
                                    <p:anim calcmode="lin" valueType="num">
                                      <p:cBhvr additive="base">
                                        <p:cTn id="7" dur="500" fill="hold"/>
                                        <p:tgtEl>
                                          <p:spTgt spid="52232"/>
                                        </p:tgtEl>
                                        <p:attrNameLst>
                                          <p:attrName>ppt_x</p:attrName>
                                        </p:attrNameLst>
                                      </p:cBhvr>
                                      <p:tavLst>
                                        <p:tav tm="0">
                                          <p:val>
                                            <p:strVal val="0-#ppt_w/2"/>
                                          </p:val>
                                        </p:tav>
                                        <p:tav tm="100000">
                                          <p:val>
                                            <p:strVal val="#ppt_x"/>
                                          </p:val>
                                        </p:tav>
                                      </p:tavLst>
                                    </p:anim>
                                    <p:anim calcmode="lin" valueType="num">
                                      <p:cBhvr additive="base">
                                        <p:cTn id="8" dur="500" fill="hold"/>
                                        <p:tgtEl>
                                          <p:spTgt spid="5223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2228"/>
                                        </p:tgtEl>
                                        <p:attrNameLst>
                                          <p:attrName>style.visibility</p:attrName>
                                        </p:attrNameLst>
                                      </p:cBhvr>
                                      <p:to>
                                        <p:strVal val="visible"/>
                                      </p:to>
                                    </p:set>
                                    <p:anim calcmode="lin" valueType="num">
                                      <p:cBhvr additive="base">
                                        <p:cTn id="13" dur="500" fill="hold"/>
                                        <p:tgtEl>
                                          <p:spTgt spid="52228"/>
                                        </p:tgtEl>
                                        <p:attrNameLst>
                                          <p:attrName>ppt_x</p:attrName>
                                        </p:attrNameLst>
                                      </p:cBhvr>
                                      <p:tavLst>
                                        <p:tav tm="0">
                                          <p:val>
                                            <p:strVal val="0-#ppt_w/2"/>
                                          </p:val>
                                        </p:tav>
                                        <p:tav tm="100000">
                                          <p:val>
                                            <p:strVal val="#ppt_x"/>
                                          </p:val>
                                        </p:tav>
                                      </p:tavLst>
                                    </p:anim>
                                    <p:anim calcmode="lin" valueType="num">
                                      <p:cBhvr additive="base">
                                        <p:cTn id="14" dur="500" fill="hold"/>
                                        <p:tgtEl>
                                          <p:spTgt spid="5222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2229"/>
                                        </p:tgtEl>
                                        <p:attrNameLst>
                                          <p:attrName>style.visibility</p:attrName>
                                        </p:attrNameLst>
                                      </p:cBhvr>
                                      <p:to>
                                        <p:strVal val="visible"/>
                                      </p:to>
                                    </p:set>
                                    <p:anim calcmode="lin" valueType="num">
                                      <p:cBhvr additive="base">
                                        <p:cTn id="19" dur="500" fill="hold"/>
                                        <p:tgtEl>
                                          <p:spTgt spid="52229"/>
                                        </p:tgtEl>
                                        <p:attrNameLst>
                                          <p:attrName>ppt_x</p:attrName>
                                        </p:attrNameLst>
                                      </p:cBhvr>
                                      <p:tavLst>
                                        <p:tav tm="0">
                                          <p:val>
                                            <p:strVal val="0-#ppt_w/2"/>
                                          </p:val>
                                        </p:tav>
                                        <p:tav tm="100000">
                                          <p:val>
                                            <p:strVal val="#ppt_x"/>
                                          </p:val>
                                        </p:tav>
                                      </p:tavLst>
                                    </p:anim>
                                    <p:anim calcmode="lin" valueType="num">
                                      <p:cBhvr additive="base">
                                        <p:cTn id="20" dur="500" fill="hold"/>
                                        <p:tgtEl>
                                          <p:spTgt spid="5222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2236"/>
                                        </p:tgtEl>
                                        <p:attrNameLst>
                                          <p:attrName>style.visibility</p:attrName>
                                        </p:attrNameLst>
                                      </p:cBhvr>
                                      <p:to>
                                        <p:strVal val="visible"/>
                                      </p:to>
                                    </p:set>
                                    <p:anim calcmode="lin" valueType="num">
                                      <p:cBhvr additive="base">
                                        <p:cTn id="25" dur="500" fill="hold"/>
                                        <p:tgtEl>
                                          <p:spTgt spid="52236"/>
                                        </p:tgtEl>
                                        <p:attrNameLst>
                                          <p:attrName>ppt_x</p:attrName>
                                        </p:attrNameLst>
                                      </p:cBhvr>
                                      <p:tavLst>
                                        <p:tav tm="0">
                                          <p:val>
                                            <p:strVal val="0-#ppt_w/2"/>
                                          </p:val>
                                        </p:tav>
                                        <p:tav tm="100000">
                                          <p:val>
                                            <p:strVal val="#ppt_x"/>
                                          </p:val>
                                        </p:tav>
                                      </p:tavLst>
                                    </p:anim>
                                    <p:anim calcmode="lin" valueType="num">
                                      <p:cBhvr additive="base">
                                        <p:cTn id="26" dur="500" fill="hold"/>
                                        <p:tgtEl>
                                          <p:spTgt spid="5223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2231"/>
                                        </p:tgtEl>
                                        <p:attrNameLst>
                                          <p:attrName>style.visibility</p:attrName>
                                        </p:attrNameLst>
                                      </p:cBhvr>
                                      <p:to>
                                        <p:strVal val="visible"/>
                                      </p:to>
                                    </p:set>
                                    <p:anim calcmode="lin" valueType="num">
                                      <p:cBhvr additive="base">
                                        <p:cTn id="31" dur="500" fill="hold"/>
                                        <p:tgtEl>
                                          <p:spTgt spid="52231"/>
                                        </p:tgtEl>
                                        <p:attrNameLst>
                                          <p:attrName>ppt_x</p:attrName>
                                        </p:attrNameLst>
                                      </p:cBhvr>
                                      <p:tavLst>
                                        <p:tav tm="0">
                                          <p:val>
                                            <p:strVal val="0-#ppt_w/2"/>
                                          </p:val>
                                        </p:tav>
                                        <p:tav tm="100000">
                                          <p:val>
                                            <p:strVal val="#ppt_x"/>
                                          </p:val>
                                        </p:tav>
                                      </p:tavLst>
                                    </p:anim>
                                    <p:anim calcmode="lin" valueType="num">
                                      <p:cBhvr additive="base">
                                        <p:cTn id="32" dur="500" fill="hold"/>
                                        <p:tgtEl>
                                          <p:spTgt spid="52231"/>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2226"/>
                                        </p:tgtEl>
                                        <p:attrNameLst>
                                          <p:attrName>style.visibility</p:attrName>
                                        </p:attrNameLst>
                                      </p:cBhvr>
                                      <p:to>
                                        <p:strVal val="visible"/>
                                      </p:to>
                                    </p:set>
                                    <p:anim calcmode="lin" valueType="num">
                                      <p:cBhvr additive="base">
                                        <p:cTn id="37" dur="500" fill="hold"/>
                                        <p:tgtEl>
                                          <p:spTgt spid="52226"/>
                                        </p:tgtEl>
                                        <p:attrNameLst>
                                          <p:attrName>ppt_x</p:attrName>
                                        </p:attrNameLst>
                                      </p:cBhvr>
                                      <p:tavLst>
                                        <p:tav tm="0">
                                          <p:val>
                                            <p:strVal val="0-#ppt_w/2"/>
                                          </p:val>
                                        </p:tav>
                                        <p:tav tm="100000">
                                          <p:val>
                                            <p:strVal val="#ppt_x"/>
                                          </p:val>
                                        </p:tav>
                                      </p:tavLst>
                                    </p:anim>
                                    <p:anim calcmode="lin" valueType="num">
                                      <p:cBhvr additive="base">
                                        <p:cTn id="38" dur="500" fill="hold"/>
                                        <p:tgtEl>
                                          <p:spTgt spid="52226"/>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2237"/>
                                        </p:tgtEl>
                                        <p:attrNameLst>
                                          <p:attrName>style.visibility</p:attrName>
                                        </p:attrNameLst>
                                      </p:cBhvr>
                                      <p:to>
                                        <p:strVal val="visible"/>
                                      </p:to>
                                    </p:set>
                                    <p:anim calcmode="lin" valueType="num">
                                      <p:cBhvr additive="base">
                                        <p:cTn id="43" dur="500" fill="hold"/>
                                        <p:tgtEl>
                                          <p:spTgt spid="52237"/>
                                        </p:tgtEl>
                                        <p:attrNameLst>
                                          <p:attrName>ppt_x</p:attrName>
                                        </p:attrNameLst>
                                      </p:cBhvr>
                                      <p:tavLst>
                                        <p:tav tm="0">
                                          <p:val>
                                            <p:strVal val="0-#ppt_w/2"/>
                                          </p:val>
                                        </p:tav>
                                        <p:tav tm="100000">
                                          <p:val>
                                            <p:strVal val="#ppt_x"/>
                                          </p:val>
                                        </p:tav>
                                      </p:tavLst>
                                    </p:anim>
                                    <p:anim calcmode="lin" valueType="num">
                                      <p:cBhvr additive="base">
                                        <p:cTn id="44" dur="500" fill="hold"/>
                                        <p:tgtEl>
                                          <p:spTgt spid="52237"/>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55653"/>
                                        </p:tgtEl>
                                        <p:attrNameLst>
                                          <p:attrName>style.visibility</p:attrName>
                                        </p:attrNameLst>
                                      </p:cBhvr>
                                      <p:to>
                                        <p:strVal val="visible"/>
                                      </p:to>
                                    </p:set>
                                    <p:anim calcmode="lin" valueType="num">
                                      <p:cBhvr additive="base">
                                        <p:cTn id="49" dur="500" fill="hold"/>
                                        <p:tgtEl>
                                          <p:spTgt spid="155653"/>
                                        </p:tgtEl>
                                        <p:attrNameLst>
                                          <p:attrName>ppt_x</p:attrName>
                                        </p:attrNameLst>
                                      </p:cBhvr>
                                      <p:tavLst>
                                        <p:tav tm="0">
                                          <p:val>
                                            <p:strVal val="0-#ppt_w/2"/>
                                          </p:val>
                                        </p:tav>
                                        <p:tav tm="100000">
                                          <p:val>
                                            <p:strVal val="#ppt_x"/>
                                          </p:val>
                                        </p:tav>
                                      </p:tavLst>
                                    </p:anim>
                                    <p:anim calcmode="lin" valueType="num">
                                      <p:cBhvr additive="base">
                                        <p:cTn id="50" dur="500" fill="hold"/>
                                        <p:tgtEl>
                                          <p:spTgt spid="155653"/>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2235"/>
                                        </p:tgtEl>
                                        <p:attrNameLst>
                                          <p:attrName>style.visibility</p:attrName>
                                        </p:attrNameLst>
                                      </p:cBhvr>
                                      <p:to>
                                        <p:strVal val="visible"/>
                                      </p:to>
                                    </p:set>
                                    <p:anim calcmode="lin" valueType="num">
                                      <p:cBhvr additive="base">
                                        <p:cTn id="55" dur="500" fill="hold"/>
                                        <p:tgtEl>
                                          <p:spTgt spid="52235"/>
                                        </p:tgtEl>
                                        <p:attrNameLst>
                                          <p:attrName>ppt_x</p:attrName>
                                        </p:attrNameLst>
                                      </p:cBhvr>
                                      <p:tavLst>
                                        <p:tav tm="0">
                                          <p:val>
                                            <p:strVal val="0-#ppt_w/2"/>
                                          </p:val>
                                        </p:tav>
                                        <p:tav tm="100000">
                                          <p:val>
                                            <p:strVal val="#ppt_x"/>
                                          </p:val>
                                        </p:tav>
                                      </p:tavLst>
                                    </p:anim>
                                    <p:anim calcmode="lin" valueType="num">
                                      <p:cBhvr additive="base">
                                        <p:cTn id="56" dur="500" fill="hold"/>
                                        <p:tgtEl>
                                          <p:spTgt spid="52235"/>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55654"/>
                                        </p:tgtEl>
                                        <p:attrNameLst>
                                          <p:attrName>style.visibility</p:attrName>
                                        </p:attrNameLst>
                                      </p:cBhvr>
                                      <p:to>
                                        <p:strVal val="visible"/>
                                      </p:to>
                                    </p:set>
                                    <p:anim calcmode="lin" valueType="num">
                                      <p:cBhvr additive="base">
                                        <p:cTn id="61" dur="500" fill="hold"/>
                                        <p:tgtEl>
                                          <p:spTgt spid="155654"/>
                                        </p:tgtEl>
                                        <p:attrNameLst>
                                          <p:attrName>ppt_x</p:attrName>
                                        </p:attrNameLst>
                                      </p:cBhvr>
                                      <p:tavLst>
                                        <p:tav tm="0">
                                          <p:val>
                                            <p:strVal val="0-#ppt_w/2"/>
                                          </p:val>
                                        </p:tav>
                                        <p:tav tm="100000">
                                          <p:val>
                                            <p:strVal val="#ppt_x"/>
                                          </p:val>
                                        </p:tav>
                                      </p:tavLst>
                                    </p:anim>
                                    <p:anim calcmode="lin" valueType="num">
                                      <p:cBhvr additive="base">
                                        <p:cTn id="62" dur="500" fill="hold"/>
                                        <p:tgtEl>
                                          <p:spTgt spid="155654"/>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nodeType="clickEffect">
                                  <p:stCondLst>
                                    <p:cond delay="0"/>
                                  </p:stCondLst>
                                  <p:childTnLst>
                                    <p:set>
                                      <p:cBhvr>
                                        <p:cTn id="66" dur="1" fill="hold">
                                          <p:stCondLst>
                                            <p:cond delay="0"/>
                                          </p:stCondLst>
                                        </p:cTn>
                                        <p:tgtEl>
                                          <p:spTgt spid="155650"/>
                                        </p:tgtEl>
                                        <p:attrNameLst>
                                          <p:attrName>style.visibility</p:attrName>
                                        </p:attrNameLst>
                                      </p:cBhvr>
                                      <p:to>
                                        <p:strVal val="visible"/>
                                      </p:to>
                                    </p:set>
                                    <p:anim calcmode="lin" valueType="num">
                                      <p:cBhvr additive="base">
                                        <p:cTn id="67" dur="500" fill="hold"/>
                                        <p:tgtEl>
                                          <p:spTgt spid="155650"/>
                                        </p:tgtEl>
                                        <p:attrNameLst>
                                          <p:attrName>ppt_x</p:attrName>
                                        </p:attrNameLst>
                                      </p:cBhvr>
                                      <p:tavLst>
                                        <p:tav tm="0">
                                          <p:val>
                                            <p:strVal val="0-#ppt_w/2"/>
                                          </p:val>
                                        </p:tav>
                                        <p:tav tm="100000">
                                          <p:val>
                                            <p:strVal val="#ppt_x"/>
                                          </p:val>
                                        </p:tav>
                                      </p:tavLst>
                                    </p:anim>
                                    <p:anim calcmode="lin" valueType="num">
                                      <p:cBhvr additive="base">
                                        <p:cTn id="68" dur="500" fill="hold"/>
                                        <p:tgtEl>
                                          <p:spTgt spid="155650"/>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55651"/>
                                        </p:tgtEl>
                                        <p:attrNameLst>
                                          <p:attrName>style.visibility</p:attrName>
                                        </p:attrNameLst>
                                      </p:cBhvr>
                                      <p:to>
                                        <p:strVal val="visible"/>
                                      </p:to>
                                    </p:set>
                                    <p:anim calcmode="lin" valueType="num">
                                      <p:cBhvr additive="base">
                                        <p:cTn id="73" dur="500" fill="hold"/>
                                        <p:tgtEl>
                                          <p:spTgt spid="155651"/>
                                        </p:tgtEl>
                                        <p:attrNameLst>
                                          <p:attrName>ppt_x</p:attrName>
                                        </p:attrNameLst>
                                      </p:cBhvr>
                                      <p:tavLst>
                                        <p:tav tm="0">
                                          <p:val>
                                            <p:strVal val="0-#ppt_w/2"/>
                                          </p:val>
                                        </p:tav>
                                        <p:tav tm="100000">
                                          <p:val>
                                            <p:strVal val="#ppt_x"/>
                                          </p:val>
                                        </p:tav>
                                      </p:tavLst>
                                    </p:anim>
                                    <p:anim calcmode="lin" valueType="num">
                                      <p:cBhvr additive="base">
                                        <p:cTn id="74" dur="500" fill="hold"/>
                                        <p:tgtEl>
                                          <p:spTgt spid="155651"/>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155652"/>
                                        </p:tgtEl>
                                        <p:attrNameLst>
                                          <p:attrName>style.visibility</p:attrName>
                                        </p:attrNameLst>
                                      </p:cBhvr>
                                      <p:to>
                                        <p:strVal val="visible"/>
                                      </p:to>
                                    </p:set>
                                    <p:anim calcmode="lin" valueType="num">
                                      <p:cBhvr additive="base">
                                        <p:cTn id="79" dur="500" fill="hold"/>
                                        <p:tgtEl>
                                          <p:spTgt spid="155652"/>
                                        </p:tgtEl>
                                        <p:attrNameLst>
                                          <p:attrName>ppt_x</p:attrName>
                                        </p:attrNameLst>
                                      </p:cBhvr>
                                      <p:tavLst>
                                        <p:tav tm="0">
                                          <p:val>
                                            <p:strVal val="0-#ppt_w/2"/>
                                          </p:val>
                                        </p:tav>
                                        <p:tav tm="100000">
                                          <p:val>
                                            <p:strVal val="#ppt_x"/>
                                          </p:val>
                                        </p:tav>
                                      </p:tavLst>
                                    </p:anim>
                                    <p:anim calcmode="lin" valueType="num">
                                      <p:cBhvr additive="base">
                                        <p:cTn id="80" dur="500" fill="hold"/>
                                        <p:tgtEl>
                                          <p:spTgt spid="1556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autoUpdateAnimBg="0"/>
      <p:bldP spid="52228" grpId="0" autoUpdateAnimBg="0"/>
      <p:bldP spid="52229" grpId="0" autoUpdateAnimBg="0"/>
      <p:bldP spid="52231" grpId="0" autoUpdateAnimBg="0"/>
      <p:bldP spid="52232" grpId="0" autoUpdateAnimBg="0"/>
      <p:bldP spid="52235" grpId="0" autoUpdateAnimBg="0"/>
      <p:bldP spid="52236" grpId="0" autoUpdateAnimBg="0"/>
      <p:bldP spid="52237" grpId="0" autoUpdateAnimBg="0"/>
      <p:bldP spid="155651" grpId="0" autoUpdateAnimBg="0"/>
      <p:bldP spid="155652" grpId="0" autoUpdateAnimBg="0"/>
      <p:bldP spid="155653" grpId="0" autoUpdateAnimBg="0"/>
      <p:bldP spid="155654"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381000" y="2362200"/>
            <a:ext cx="4651375" cy="247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600">
                <a:effectLst>
                  <a:outerShdw blurRad="38100" dist="38100" dir="2700000" algn="tl">
                    <a:srgbClr val="C0C0C0"/>
                  </a:outerShdw>
                </a:effectLst>
                <a:ea typeface="楷体_GB2312" pitchFamily="49" charset="-122"/>
              </a:rPr>
              <a:t>DO WHILE(ABS(DX).GT.DL)</a:t>
            </a:r>
          </a:p>
          <a:p>
            <a:pPr eaLnBrk="0" hangingPunct="0">
              <a:defRPr/>
            </a:pPr>
            <a:r>
              <a:rPr kumimoji="0" lang="en-US" altLang="zh-CN" sz="2600">
                <a:effectLst>
                  <a:outerShdw blurRad="38100" dist="38100" dir="2700000" algn="tl">
                    <a:srgbClr val="C0C0C0"/>
                  </a:outerShdw>
                </a:effectLst>
                <a:ea typeface="楷体_GB2312" pitchFamily="49" charset="-122"/>
              </a:rPr>
              <a:t>D= F(X31)- F(X30)</a:t>
            </a:r>
          </a:p>
          <a:p>
            <a:pPr eaLnBrk="0" hangingPunct="0">
              <a:defRPr/>
            </a:pPr>
            <a:r>
              <a:rPr kumimoji="0" lang="en-US" altLang="zh-CN" sz="2600">
                <a:effectLst>
                  <a:outerShdw blurRad="38100" dist="38100" dir="2700000" algn="tl">
                    <a:srgbClr val="C0C0C0"/>
                  </a:outerShdw>
                </a:effectLst>
                <a:ea typeface="楷体_GB2312" pitchFamily="49" charset="-122"/>
              </a:rPr>
              <a:t>X32=X31-(X31-X30)* F(X31)/D</a:t>
            </a:r>
          </a:p>
          <a:p>
            <a:pPr eaLnBrk="0" hangingPunct="0">
              <a:defRPr/>
            </a:pPr>
            <a:r>
              <a:rPr kumimoji="0" lang="en-US" altLang="zh-CN" sz="2600">
                <a:effectLst>
                  <a:outerShdw blurRad="38100" dist="38100" dir="2700000" algn="tl">
                    <a:srgbClr val="C0C0C0"/>
                  </a:outerShdw>
                </a:effectLst>
                <a:ea typeface="楷体_GB2312" pitchFamily="49" charset="-122"/>
              </a:rPr>
              <a:t>X30=X31</a:t>
            </a:r>
          </a:p>
          <a:p>
            <a:pPr eaLnBrk="0" hangingPunct="0">
              <a:defRPr/>
            </a:pPr>
            <a:r>
              <a:rPr kumimoji="0" lang="en-US" altLang="zh-CN" sz="2600">
                <a:effectLst>
                  <a:outerShdw blurRad="38100" dist="38100" dir="2700000" algn="tl">
                    <a:srgbClr val="C0C0C0"/>
                  </a:outerShdw>
                </a:effectLst>
                <a:ea typeface="楷体_GB2312" pitchFamily="49" charset="-122"/>
              </a:rPr>
              <a:t>X31=X32</a:t>
            </a:r>
          </a:p>
          <a:p>
            <a:pPr eaLnBrk="0" hangingPunct="0">
              <a:defRPr/>
            </a:pPr>
            <a:r>
              <a:rPr kumimoji="0" lang="en-US" altLang="zh-CN" sz="2600">
                <a:effectLst>
                  <a:outerShdw blurRad="38100" dist="38100" dir="2700000" algn="tl">
                    <a:srgbClr val="C0C0C0"/>
                  </a:outerShdw>
                </a:effectLst>
                <a:ea typeface="楷体_GB2312" pitchFamily="49" charset="-122"/>
              </a:rPr>
              <a:t>DX=X31-X30</a:t>
            </a:r>
          </a:p>
        </p:txBody>
      </p:sp>
      <p:sp>
        <p:nvSpPr>
          <p:cNvPr id="50179" name="Text Box 3"/>
          <p:cNvSpPr txBox="1">
            <a:spLocks noChangeArrowheads="1"/>
          </p:cNvSpPr>
          <p:nvPr/>
        </p:nvSpPr>
        <p:spPr bwMode="auto">
          <a:xfrm>
            <a:off x="468313" y="1125538"/>
            <a:ext cx="2174875"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600">
                <a:effectLst>
                  <a:outerShdw blurRad="38100" dist="38100" dir="2700000" algn="tl">
                    <a:srgbClr val="C0C0C0"/>
                  </a:outerShdw>
                </a:effectLst>
                <a:ea typeface="楷体_GB2312" pitchFamily="49" charset="-122"/>
              </a:rPr>
              <a:t>X31=X30+DX</a:t>
            </a:r>
          </a:p>
          <a:p>
            <a:pPr eaLnBrk="0" hangingPunct="0">
              <a:defRPr/>
            </a:pPr>
            <a:r>
              <a:rPr kumimoji="0" lang="en-US" altLang="zh-CN" sz="2600">
                <a:effectLst>
                  <a:outerShdw blurRad="38100" dist="38100" dir="2700000" algn="tl">
                    <a:srgbClr val="C0C0C0"/>
                  </a:outerShdw>
                </a:effectLst>
                <a:ea typeface="楷体_GB2312" pitchFamily="49" charset="-122"/>
              </a:rPr>
              <a:t>ISTEP=0</a:t>
            </a:r>
          </a:p>
        </p:txBody>
      </p:sp>
      <p:sp>
        <p:nvSpPr>
          <p:cNvPr id="50180" name="Text Box 4"/>
          <p:cNvSpPr txBox="1">
            <a:spLocks noChangeArrowheads="1"/>
          </p:cNvSpPr>
          <p:nvPr/>
        </p:nvSpPr>
        <p:spPr bwMode="auto">
          <a:xfrm>
            <a:off x="381000" y="4876800"/>
            <a:ext cx="2638425"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600">
                <a:effectLst>
                  <a:outerShdw blurRad="38100" dist="38100" dir="2700000" algn="tl">
                    <a:srgbClr val="C0C0C0"/>
                  </a:outerShdw>
                </a:effectLst>
                <a:ea typeface="楷体_GB2312" pitchFamily="49" charset="-122"/>
              </a:rPr>
              <a:t>ISTEP=ISTEP+1</a:t>
            </a:r>
          </a:p>
          <a:p>
            <a:pPr eaLnBrk="0" hangingPunct="0">
              <a:defRPr/>
            </a:pPr>
            <a:r>
              <a:rPr kumimoji="0" lang="en-US" altLang="zh-CN" sz="2600">
                <a:effectLst>
                  <a:outerShdw blurRad="38100" dist="38100" dir="2700000" algn="tl">
                    <a:srgbClr val="C0C0C0"/>
                  </a:outerShdw>
                </a:effectLst>
                <a:ea typeface="楷体_GB2312" pitchFamily="49" charset="-122"/>
              </a:rPr>
              <a:t>ENDDO</a:t>
            </a:r>
          </a:p>
        </p:txBody>
      </p:sp>
      <p:sp>
        <p:nvSpPr>
          <p:cNvPr id="50181" name="Text Box 5"/>
          <p:cNvSpPr txBox="1">
            <a:spLocks noChangeArrowheads="1"/>
          </p:cNvSpPr>
          <p:nvPr/>
        </p:nvSpPr>
        <p:spPr bwMode="auto">
          <a:xfrm>
            <a:off x="250825" y="404813"/>
            <a:ext cx="625633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600">
                <a:effectLst>
                  <a:outerShdw blurRad="38100" dist="38100" dir="2700000" algn="tl">
                    <a:srgbClr val="C0C0C0"/>
                  </a:outerShdw>
                </a:effectLst>
                <a:ea typeface="楷体_GB2312" pitchFamily="49" charset="-122"/>
              </a:rPr>
              <a:t>SUBROUTINE secant(DL,X30,DX,ISTEP)</a:t>
            </a:r>
          </a:p>
        </p:txBody>
      </p:sp>
      <p:sp>
        <p:nvSpPr>
          <p:cNvPr id="50182" name="Text Box 6"/>
          <p:cNvSpPr txBox="1">
            <a:spLocks noChangeArrowheads="1"/>
          </p:cNvSpPr>
          <p:nvPr/>
        </p:nvSpPr>
        <p:spPr bwMode="auto">
          <a:xfrm>
            <a:off x="457200" y="5715000"/>
            <a:ext cx="16859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r>
              <a:rPr kumimoji="0" lang="en-US" altLang="zh-CN" sz="2800">
                <a:ea typeface="楷体_GB2312" pitchFamily="49" charset="-122"/>
              </a:rPr>
              <a:t>RETURN</a:t>
            </a:r>
          </a:p>
          <a:p>
            <a:r>
              <a:rPr kumimoji="0" lang="en-US" altLang="zh-CN" sz="2800">
                <a:ea typeface="楷体_GB2312" pitchFamily="49" charset="-122"/>
              </a:rPr>
              <a:t>END</a:t>
            </a:r>
          </a:p>
        </p:txBody>
      </p:sp>
      <p:graphicFrame>
        <p:nvGraphicFramePr>
          <p:cNvPr id="50183" name="Object 7"/>
          <p:cNvGraphicFramePr>
            <a:graphicFrameLocks noChangeAspect="1"/>
          </p:cNvGraphicFramePr>
          <p:nvPr/>
        </p:nvGraphicFramePr>
        <p:xfrm>
          <a:off x="3419475" y="1341438"/>
          <a:ext cx="4800600" cy="665162"/>
        </p:xfrm>
        <a:graphic>
          <a:graphicData uri="http://schemas.openxmlformats.org/presentationml/2006/ole">
            <mc:AlternateContent xmlns:mc="http://schemas.openxmlformats.org/markup-compatibility/2006">
              <mc:Choice xmlns:v="urn:schemas-microsoft-com:vml" Requires="v">
                <p:oleObj spid="_x0000_s44044" name="Microsoft 公式 3.0" r:id="rId3" imgW="2110752" imgH="221052" progId="Equation.3">
                  <p:embed/>
                </p:oleObj>
              </mc:Choice>
              <mc:Fallback>
                <p:oleObj name="Microsoft 公式 3.0" r:id="rId3" imgW="2110752" imgH="221052"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1341438"/>
                        <a:ext cx="4800600" cy="665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6674" name="Text Box 2"/>
          <p:cNvSpPr txBox="1">
            <a:spLocks noChangeArrowheads="1"/>
          </p:cNvSpPr>
          <p:nvPr/>
        </p:nvSpPr>
        <p:spPr bwMode="auto">
          <a:xfrm>
            <a:off x="4716463" y="4365625"/>
            <a:ext cx="4103687"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i="1">
                <a:solidFill>
                  <a:srgbClr val="000080"/>
                </a:solidFill>
                <a:cs typeface="Times New Roman" pitchFamily="18" charset="0"/>
                <a:sym typeface="Symbol" pitchFamily="18" charset="2"/>
              </a:rPr>
              <a:t>|F(</a:t>
            </a:r>
            <a:r>
              <a:rPr lang="en-US" altLang="zh-CN" i="1">
                <a:solidFill>
                  <a:srgbClr val="000080"/>
                </a:solidFill>
                <a:sym typeface="Symbol" pitchFamily="18" charset="2"/>
              </a:rPr>
              <a:t></a:t>
            </a:r>
            <a:r>
              <a:rPr lang="en-US" altLang="zh-CN" i="1">
                <a:solidFill>
                  <a:srgbClr val="000080"/>
                </a:solidFill>
                <a:cs typeface="Times New Roman" pitchFamily="18" charset="0"/>
                <a:sym typeface="Symbol" pitchFamily="18" charset="2"/>
              </a:rPr>
              <a:t> )|= |x</a:t>
            </a:r>
            <a:r>
              <a:rPr lang="en-US" altLang="zh-CN" i="1" baseline="-25000">
                <a:solidFill>
                  <a:srgbClr val="000080"/>
                </a:solidFill>
                <a:sym typeface="Symbol" pitchFamily="18" charset="2"/>
              </a:rPr>
              <a:t>2 </a:t>
            </a:r>
            <a:r>
              <a:rPr lang="en-US" altLang="zh-CN" i="1">
                <a:solidFill>
                  <a:srgbClr val="000080"/>
                </a:solidFill>
                <a:sym typeface="Symbol" pitchFamily="18" charset="2"/>
              </a:rPr>
              <a:t>(1</a:t>
            </a:r>
            <a:r>
              <a:rPr lang="en-US" altLang="zh-CN" i="1">
                <a:solidFill>
                  <a:srgbClr val="000080"/>
                </a:solidFill>
                <a:cs typeface="Times New Roman" pitchFamily="18" charset="0"/>
                <a:sym typeface="Symbol" pitchFamily="18" charset="2"/>
              </a:rPr>
              <a:t> )-1|&lt;  </a:t>
            </a:r>
            <a:endParaRPr lang="en-US" altLang="zh-CN"/>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179"/>
                                        </p:tgtEl>
                                        <p:attrNameLst>
                                          <p:attrName>style.visibility</p:attrName>
                                        </p:attrNameLst>
                                      </p:cBhvr>
                                      <p:to>
                                        <p:strVal val="visible"/>
                                      </p:to>
                                    </p:set>
                                    <p:anim calcmode="lin" valueType="num">
                                      <p:cBhvr additive="base">
                                        <p:cTn id="7" dur="500" fill="hold"/>
                                        <p:tgtEl>
                                          <p:spTgt spid="50179"/>
                                        </p:tgtEl>
                                        <p:attrNameLst>
                                          <p:attrName>ppt_x</p:attrName>
                                        </p:attrNameLst>
                                      </p:cBhvr>
                                      <p:tavLst>
                                        <p:tav tm="0">
                                          <p:val>
                                            <p:strVal val="0-#ppt_w/2"/>
                                          </p:val>
                                        </p:tav>
                                        <p:tav tm="100000">
                                          <p:val>
                                            <p:strVal val="#ppt_x"/>
                                          </p:val>
                                        </p:tav>
                                      </p:tavLst>
                                    </p:anim>
                                    <p:anim calcmode="lin" valueType="num">
                                      <p:cBhvr additive="base">
                                        <p:cTn id="8" dur="500" fill="hold"/>
                                        <p:tgtEl>
                                          <p:spTgt spid="5017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0183"/>
                                        </p:tgtEl>
                                        <p:attrNameLst>
                                          <p:attrName>style.visibility</p:attrName>
                                        </p:attrNameLst>
                                      </p:cBhvr>
                                      <p:to>
                                        <p:strVal val="visible"/>
                                      </p:to>
                                    </p:set>
                                    <p:anim calcmode="lin" valueType="num">
                                      <p:cBhvr additive="base">
                                        <p:cTn id="13" dur="500" fill="hold"/>
                                        <p:tgtEl>
                                          <p:spTgt spid="50183"/>
                                        </p:tgtEl>
                                        <p:attrNameLst>
                                          <p:attrName>ppt_x</p:attrName>
                                        </p:attrNameLst>
                                      </p:cBhvr>
                                      <p:tavLst>
                                        <p:tav tm="0">
                                          <p:val>
                                            <p:strVal val="0-#ppt_w/2"/>
                                          </p:val>
                                        </p:tav>
                                        <p:tav tm="100000">
                                          <p:val>
                                            <p:strVal val="#ppt_x"/>
                                          </p:val>
                                        </p:tav>
                                      </p:tavLst>
                                    </p:anim>
                                    <p:anim calcmode="lin" valueType="num">
                                      <p:cBhvr additive="base">
                                        <p:cTn id="14" dur="500" fill="hold"/>
                                        <p:tgtEl>
                                          <p:spTgt spid="5018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0178"/>
                                        </p:tgtEl>
                                        <p:attrNameLst>
                                          <p:attrName>style.visibility</p:attrName>
                                        </p:attrNameLst>
                                      </p:cBhvr>
                                      <p:to>
                                        <p:strVal val="visible"/>
                                      </p:to>
                                    </p:set>
                                    <p:anim calcmode="lin" valueType="num">
                                      <p:cBhvr additive="base">
                                        <p:cTn id="19" dur="500" fill="hold"/>
                                        <p:tgtEl>
                                          <p:spTgt spid="50178"/>
                                        </p:tgtEl>
                                        <p:attrNameLst>
                                          <p:attrName>ppt_x</p:attrName>
                                        </p:attrNameLst>
                                      </p:cBhvr>
                                      <p:tavLst>
                                        <p:tav tm="0">
                                          <p:val>
                                            <p:strVal val="0-#ppt_w/2"/>
                                          </p:val>
                                        </p:tav>
                                        <p:tav tm="100000">
                                          <p:val>
                                            <p:strVal val="#ppt_x"/>
                                          </p:val>
                                        </p:tav>
                                      </p:tavLst>
                                    </p:anim>
                                    <p:anim calcmode="lin" valueType="num">
                                      <p:cBhvr additive="base">
                                        <p:cTn id="20" dur="500" fill="hold"/>
                                        <p:tgtEl>
                                          <p:spTgt spid="5017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0180"/>
                                        </p:tgtEl>
                                        <p:attrNameLst>
                                          <p:attrName>style.visibility</p:attrName>
                                        </p:attrNameLst>
                                      </p:cBhvr>
                                      <p:to>
                                        <p:strVal val="visible"/>
                                      </p:to>
                                    </p:set>
                                    <p:anim calcmode="lin" valueType="num">
                                      <p:cBhvr additive="base">
                                        <p:cTn id="25" dur="500" fill="hold"/>
                                        <p:tgtEl>
                                          <p:spTgt spid="50180"/>
                                        </p:tgtEl>
                                        <p:attrNameLst>
                                          <p:attrName>ppt_x</p:attrName>
                                        </p:attrNameLst>
                                      </p:cBhvr>
                                      <p:tavLst>
                                        <p:tav tm="0">
                                          <p:val>
                                            <p:strVal val="0-#ppt_w/2"/>
                                          </p:val>
                                        </p:tav>
                                        <p:tav tm="100000">
                                          <p:val>
                                            <p:strVal val="#ppt_x"/>
                                          </p:val>
                                        </p:tav>
                                      </p:tavLst>
                                    </p:anim>
                                    <p:anim calcmode="lin" valueType="num">
                                      <p:cBhvr additive="base">
                                        <p:cTn id="26" dur="500" fill="hold"/>
                                        <p:tgtEl>
                                          <p:spTgt spid="5018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0182"/>
                                        </p:tgtEl>
                                        <p:attrNameLst>
                                          <p:attrName>style.visibility</p:attrName>
                                        </p:attrNameLst>
                                      </p:cBhvr>
                                      <p:to>
                                        <p:strVal val="visible"/>
                                      </p:to>
                                    </p:set>
                                    <p:anim calcmode="lin" valueType="num">
                                      <p:cBhvr additive="base">
                                        <p:cTn id="31" dur="500" fill="hold"/>
                                        <p:tgtEl>
                                          <p:spTgt spid="50182"/>
                                        </p:tgtEl>
                                        <p:attrNameLst>
                                          <p:attrName>ppt_x</p:attrName>
                                        </p:attrNameLst>
                                      </p:cBhvr>
                                      <p:tavLst>
                                        <p:tav tm="0">
                                          <p:val>
                                            <p:strVal val="0-#ppt_w/2"/>
                                          </p:val>
                                        </p:tav>
                                        <p:tav tm="100000">
                                          <p:val>
                                            <p:strVal val="#ppt_x"/>
                                          </p:val>
                                        </p:tav>
                                      </p:tavLst>
                                    </p:anim>
                                    <p:anim calcmode="lin" valueType="num">
                                      <p:cBhvr additive="base">
                                        <p:cTn id="32" dur="500" fill="hold"/>
                                        <p:tgtEl>
                                          <p:spTgt spid="50182"/>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6674"/>
                                        </p:tgtEl>
                                        <p:attrNameLst>
                                          <p:attrName>style.visibility</p:attrName>
                                        </p:attrNameLst>
                                      </p:cBhvr>
                                      <p:to>
                                        <p:strVal val="visible"/>
                                      </p:to>
                                    </p:set>
                                    <p:anim calcmode="lin" valueType="num">
                                      <p:cBhvr additive="base">
                                        <p:cTn id="37" dur="500" fill="hold"/>
                                        <p:tgtEl>
                                          <p:spTgt spid="156674"/>
                                        </p:tgtEl>
                                        <p:attrNameLst>
                                          <p:attrName>ppt_x</p:attrName>
                                        </p:attrNameLst>
                                      </p:cBhvr>
                                      <p:tavLst>
                                        <p:tav tm="0">
                                          <p:val>
                                            <p:strVal val="0-#ppt_w/2"/>
                                          </p:val>
                                        </p:tav>
                                        <p:tav tm="100000">
                                          <p:val>
                                            <p:strVal val="#ppt_x"/>
                                          </p:val>
                                        </p:tav>
                                      </p:tavLst>
                                    </p:anim>
                                    <p:anim calcmode="lin" valueType="num">
                                      <p:cBhvr additive="base">
                                        <p:cTn id="38" dur="500" fill="hold"/>
                                        <p:tgtEl>
                                          <p:spTgt spid="1566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8" grpId="0" autoUpdateAnimBg="0"/>
      <p:bldP spid="50179" grpId="0" autoUpdateAnimBg="0"/>
      <p:bldP spid="50180" grpId="0" autoUpdateAnimBg="0"/>
      <p:bldP spid="50182" grpId="0" autoUpdateAnimBg="0"/>
      <p:bldP spid="156674"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685800" y="381000"/>
            <a:ext cx="3378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dimension y0(3), y(3)</a:t>
            </a:r>
          </a:p>
        </p:txBody>
      </p:sp>
      <p:sp>
        <p:nvSpPr>
          <p:cNvPr id="51203" name="Text Box 3"/>
          <p:cNvSpPr txBox="1">
            <a:spLocks noChangeArrowheads="1"/>
          </p:cNvSpPr>
          <p:nvPr/>
        </p:nvSpPr>
        <p:spPr bwMode="auto">
          <a:xfrm>
            <a:off x="685800" y="1066800"/>
            <a:ext cx="807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data n/3/,t/0.0/,y0/0.0,0.0,1.0/,nstep/100/ ,NMAX/10/</a:t>
            </a:r>
            <a:r>
              <a:rPr lang="en-US" altLang="zh-CN" sz="2800"/>
              <a:t> </a:t>
            </a:r>
          </a:p>
        </p:txBody>
      </p:sp>
      <p:sp>
        <p:nvSpPr>
          <p:cNvPr id="51204" name="Text Box 4"/>
          <p:cNvSpPr txBox="1">
            <a:spLocks noChangeArrowheads="1"/>
          </p:cNvSpPr>
          <p:nvPr/>
        </p:nvSpPr>
        <p:spPr bwMode="auto">
          <a:xfrm>
            <a:off x="685800" y="1625600"/>
            <a:ext cx="20272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tol=1.0E-06</a:t>
            </a:r>
            <a:r>
              <a:rPr lang="en-US" altLang="zh-CN" sz="2800"/>
              <a:t> </a:t>
            </a:r>
          </a:p>
        </p:txBody>
      </p:sp>
      <p:sp>
        <p:nvSpPr>
          <p:cNvPr id="51205" name="Text Box 5"/>
          <p:cNvSpPr txBox="1">
            <a:spLocks noChangeArrowheads="1"/>
          </p:cNvSpPr>
          <p:nvPr/>
        </p:nvSpPr>
        <p:spPr bwMode="auto">
          <a:xfrm>
            <a:off x="838200" y="2235200"/>
            <a:ext cx="15240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t>XL=0.0</a:t>
            </a:r>
          </a:p>
          <a:p>
            <a:pPr eaLnBrk="1" hangingPunct="1"/>
            <a:r>
              <a:rPr lang="en-US" altLang="zh-CN" sz="2800"/>
              <a:t>XU=1.0</a:t>
            </a:r>
          </a:p>
          <a:p>
            <a:pPr eaLnBrk="1" hangingPunct="1"/>
            <a:r>
              <a:rPr lang="en-US" altLang="zh-CN" sz="2800"/>
              <a:t>DX=0.01</a:t>
            </a:r>
          </a:p>
        </p:txBody>
      </p:sp>
      <p:sp>
        <p:nvSpPr>
          <p:cNvPr id="51206" name="Text Box 6"/>
          <p:cNvSpPr txBox="1">
            <a:spLocks noChangeArrowheads="1"/>
          </p:cNvSpPr>
          <p:nvPr/>
        </p:nvSpPr>
        <p:spPr bwMode="auto">
          <a:xfrm>
            <a:off x="914400" y="3683000"/>
            <a:ext cx="3808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t>H=(XU-XL)/(NSTEP-1)</a:t>
            </a:r>
          </a:p>
        </p:txBody>
      </p:sp>
      <p:sp>
        <p:nvSpPr>
          <p:cNvPr id="51207" name="Text Box 7"/>
          <p:cNvSpPr txBox="1">
            <a:spLocks noChangeArrowheads="1"/>
          </p:cNvSpPr>
          <p:nvPr/>
        </p:nvSpPr>
        <p:spPr bwMode="auto">
          <a:xfrm>
            <a:off x="990600" y="4292600"/>
            <a:ext cx="1346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t>YL=0.0</a:t>
            </a:r>
          </a:p>
          <a:p>
            <a:pPr eaLnBrk="1" hangingPunct="1"/>
            <a:r>
              <a:rPr lang="en-US" altLang="zh-CN" sz="2800"/>
              <a:t>YU=1.0</a:t>
            </a:r>
          </a:p>
        </p:txBody>
      </p:sp>
      <p:sp>
        <p:nvSpPr>
          <p:cNvPr id="45064" name="Text Box 8"/>
          <p:cNvSpPr txBox="1">
            <a:spLocks noChangeArrowheads="1"/>
          </p:cNvSpPr>
          <p:nvPr/>
        </p:nvSpPr>
        <p:spPr bwMode="auto">
          <a:xfrm>
            <a:off x="4114800" y="2286000"/>
            <a:ext cx="3810000" cy="112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sz="2800" i="1">
                <a:solidFill>
                  <a:srgbClr val="000080"/>
                </a:solidFill>
                <a:cs typeface="Times New Roman" pitchFamily="18" charset="0"/>
                <a:sym typeface="Symbol" pitchFamily="18" charset="2"/>
              </a:rPr>
              <a:t>|F(</a:t>
            </a:r>
            <a:r>
              <a:rPr lang="en-US" altLang="zh-CN" sz="2800" i="1">
                <a:solidFill>
                  <a:srgbClr val="000080"/>
                </a:solidFill>
                <a:sym typeface="Symbol" pitchFamily="18" charset="2"/>
              </a:rPr>
              <a:t></a:t>
            </a:r>
            <a:r>
              <a:rPr lang="en-US" altLang="zh-CN" sz="2800" i="1">
                <a:solidFill>
                  <a:srgbClr val="000080"/>
                </a:solidFill>
                <a:cs typeface="Times New Roman" pitchFamily="18" charset="0"/>
                <a:sym typeface="Symbol" pitchFamily="18" charset="2"/>
              </a:rPr>
              <a:t> )|= |y </a:t>
            </a:r>
            <a:r>
              <a:rPr lang="en-US" altLang="zh-CN" sz="2800" i="1" baseline="-25000">
                <a:solidFill>
                  <a:srgbClr val="000080"/>
                </a:solidFill>
                <a:sym typeface="Symbol" pitchFamily="18" charset="2"/>
              </a:rPr>
              <a:t>2</a:t>
            </a:r>
            <a:r>
              <a:rPr lang="en-US" altLang="zh-CN" sz="2800" i="1">
                <a:solidFill>
                  <a:srgbClr val="000080"/>
                </a:solidFill>
                <a:cs typeface="Times New Roman" pitchFamily="18" charset="0"/>
                <a:sym typeface="Symbol" pitchFamily="18" charset="2"/>
              </a:rPr>
              <a:t> </a:t>
            </a:r>
            <a:r>
              <a:rPr lang="en-US" altLang="zh-CN" sz="2800" i="1" baseline="-25000">
                <a:solidFill>
                  <a:srgbClr val="000080"/>
                </a:solidFill>
                <a:sym typeface="Symbol" pitchFamily="18" charset="2"/>
              </a:rPr>
              <a:t>  </a:t>
            </a:r>
            <a:r>
              <a:rPr lang="en-US" altLang="zh-CN" sz="2800" i="1">
                <a:solidFill>
                  <a:srgbClr val="000080"/>
                </a:solidFill>
                <a:sym typeface="Symbol" pitchFamily="18" charset="2"/>
              </a:rPr>
              <a:t>(1</a:t>
            </a:r>
            <a:r>
              <a:rPr lang="en-US" altLang="zh-CN" sz="2800" i="1">
                <a:solidFill>
                  <a:srgbClr val="000080"/>
                </a:solidFill>
                <a:cs typeface="Times New Roman" pitchFamily="18" charset="0"/>
                <a:sym typeface="Symbol" pitchFamily="18" charset="2"/>
              </a:rPr>
              <a:t> ) - 1|</a:t>
            </a:r>
          </a:p>
          <a:p>
            <a:pPr eaLnBrk="1" hangingPunct="1">
              <a:lnSpc>
                <a:spcPct val="130000"/>
              </a:lnSpc>
            </a:pPr>
            <a:endParaRPr lang="en-US" altLang="zh-CN" sz="2400" b="0"/>
          </a:p>
        </p:txBody>
      </p:sp>
      <p:sp>
        <p:nvSpPr>
          <p:cNvPr id="51209" name="Text Box 9"/>
          <p:cNvSpPr txBox="1">
            <a:spLocks noChangeArrowheads="1"/>
          </p:cNvSpPr>
          <p:nvPr/>
        </p:nvSpPr>
        <p:spPr bwMode="auto">
          <a:xfrm>
            <a:off x="914400" y="5257800"/>
            <a:ext cx="3740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t>X0=(YU-YL)/ (XU-XL)</a:t>
            </a:r>
          </a:p>
        </p:txBody>
      </p:sp>
      <p:sp>
        <p:nvSpPr>
          <p:cNvPr id="51210" name="Text Box 10"/>
          <p:cNvSpPr txBox="1">
            <a:spLocks noChangeArrowheads="1"/>
          </p:cNvSpPr>
          <p:nvPr/>
        </p:nvSpPr>
        <p:spPr bwMode="auto">
          <a:xfrm>
            <a:off x="914400" y="5943600"/>
            <a:ext cx="19748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t>X1=X0+DX</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1203"/>
                                        </p:tgtEl>
                                        <p:attrNameLst>
                                          <p:attrName>style.visibility</p:attrName>
                                        </p:attrNameLst>
                                      </p:cBhvr>
                                      <p:to>
                                        <p:strVal val="visible"/>
                                      </p:to>
                                    </p:set>
                                    <p:anim calcmode="lin" valueType="num">
                                      <p:cBhvr additive="base">
                                        <p:cTn id="7" dur="500" fill="hold"/>
                                        <p:tgtEl>
                                          <p:spTgt spid="51203"/>
                                        </p:tgtEl>
                                        <p:attrNameLst>
                                          <p:attrName>ppt_x</p:attrName>
                                        </p:attrNameLst>
                                      </p:cBhvr>
                                      <p:tavLst>
                                        <p:tav tm="0">
                                          <p:val>
                                            <p:strVal val="0-#ppt_w/2"/>
                                          </p:val>
                                        </p:tav>
                                        <p:tav tm="100000">
                                          <p:val>
                                            <p:strVal val="#ppt_x"/>
                                          </p:val>
                                        </p:tav>
                                      </p:tavLst>
                                    </p:anim>
                                    <p:anim calcmode="lin" valueType="num">
                                      <p:cBhvr additive="base">
                                        <p:cTn id="8" dur="500" fill="hold"/>
                                        <p:tgtEl>
                                          <p:spTgt spid="512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1204"/>
                                        </p:tgtEl>
                                        <p:attrNameLst>
                                          <p:attrName>style.visibility</p:attrName>
                                        </p:attrNameLst>
                                      </p:cBhvr>
                                      <p:to>
                                        <p:strVal val="visible"/>
                                      </p:to>
                                    </p:set>
                                    <p:anim calcmode="lin" valueType="num">
                                      <p:cBhvr additive="base">
                                        <p:cTn id="13" dur="500" fill="hold"/>
                                        <p:tgtEl>
                                          <p:spTgt spid="51204"/>
                                        </p:tgtEl>
                                        <p:attrNameLst>
                                          <p:attrName>ppt_x</p:attrName>
                                        </p:attrNameLst>
                                      </p:cBhvr>
                                      <p:tavLst>
                                        <p:tav tm="0">
                                          <p:val>
                                            <p:strVal val="0-#ppt_w/2"/>
                                          </p:val>
                                        </p:tav>
                                        <p:tav tm="100000">
                                          <p:val>
                                            <p:strVal val="#ppt_x"/>
                                          </p:val>
                                        </p:tav>
                                      </p:tavLst>
                                    </p:anim>
                                    <p:anim calcmode="lin" valueType="num">
                                      <p:cBhvr additive="base">
                                        <p:cTn id="14" dur="500" fill="hold"/>
                                        <p:tgtEl>
                                          <p:spTgt spid="5120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1205"/>
                                        </p:tgtEl>
                                        <p:attrNameLst>
                                          <p:attrName>style.visibility</p:attrName>
                                        </p:attrNameLst>
                                      </p:cBhvr>
                                      <p:to>
                                        <p:strVal val="visible"/>
                                      </p:to>
                                    </p:set>
                                    <p:anim calcmode="lin" valueType="num">
                                      <p:cBhvr additive="base">
                                        <p:cTn id="19" dur="500" fill="hold"/>
                                        <p:tgtEl>
                                          <p:spTgt spid="51205"/>
                                        </p:tgtEl>
                                        <p:attrNameLst>
                                          <p:attrName>ppt_x</p:attrName>
                                        </p:attrNameLst>
                                      </p:cBhvr>
                                      <p:tavLst>
                                        <p:tav tm="0">
                                          <p:val>
                                            <p:strVal val="0-#ppt_w/2"/>
                                          </p:val>
                                        </p:tav>
                                        <p:tav tm="100000">
                                          <p:val>
                                            <p:strVal val="#ppt_x"/>
                                          </p:val>
                                        </p:tav>
                                      </p:tavLst>
                                    </p:anim>
                                    <p:anim calcmode="lin" valueType="num">
                                      <p:cBhvr additive="base">
                                        <p:cTn id="20" dur="500" fill="hold"/>
                                        <p:tgtEl>
                                          <p:spTgt spid="5120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1206"/>
                                        </p:tgtEl>
                                        <p:attrNameLst>
                                          <p:attrName>style.visibility</p:attrName>
                                        </p:attrNameLst>
                                      </p:cBhvr>
                                      <p:to>
                                        <p:strVal val="visible"/>
                                      </p:to>
                                    </p:set>
                                    <p:anim calcmode="lin" valueType="num">
                                      <p:cBhvr additive="base">
                                        <p:cTn id="25" dur="500" fill="hold"/>
                                        <p:tgtEl>
                                          <p:spTgt spid="51206"/>
                                        </p:tgtEl>
                                        <p:attrNameLst>
                                          <p:attrName>ppt_x</p:attrName>
                                        </p:attrNameLst>
                                      </p:cBhvr>
                                      <p:tavLst>
                                        <p:tav tm="0">
                                          <p:val>
                                            <p:strVal val="0-#ppt_w/2"/>
                                          </p:val>
                                        </p:tav>
                                        <p:tav tm="100000">
                                          <p:val>
                                            <p:strVal val="#ppt_x"/>
                                          </p:val>
                                        </p:tav>
                                      </p:tavLst>
                                    </p:anim>
                                    <p:anim calcmode="lin" valueType="num">
                                      <p:cBhvr additive="base">
                                        <p:cTn id="26" dur="500" fill="hold"/>
                                        <p:tgtEl>
                                          <p:spTgt spid="5120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1207"/>
                                        </p:tgtEl>
                                        <p:attrNameLst>
                                          <p:attrName>style.visibility</p:attrName>
                                        </p:attrNameLst>
                                      </p:cBhvr>
                                      <p:to>
                                        <p:strVal val="visible"/>
                                      </p:to>
                                    </p:set>
                                    <p:anim calcmode="lin" valueType="num">
                                      <p:cBhvr additive="base">
                                        <p:cTn id="31" dur="500" fill="hold"/>
                                        <p:tgtEl>
                                          <p:spTgt spid="51207"/>
                                        </p:tgtEl>
                                        <p:attrNameLst>
                                          <p:attrName>ppt_x</p:attrName>
                                        </p:attrNameLst>
                                      </p:cBhvr>
                                      <p:tavLst>
                                        <p:tav tm="0">
                                          <p:val>
                                            <p:strVal val="0-#ppt_w/2"/>
                                          </p:val>
                                        </p:tav>
                                        <p:tav tm="100000">
                                          <p:val>
                                            <p:strVal val="#ppt_x"/>
                                          </p:val>
                                        </p:tav>
                                      </p:tavLst>
                                    </p:anim>
                                    <p:anim calcmode="lin" valueType="num">
                                      <p:cBhvr additive="base">
                                        <p:cTn id="32" dur="500" fill="hold"/>
                                        <p:tgtEl>
                                          <p:spTgt spid="5120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1209"/>
                                        </p:tgtEl>
                                        <p:attrNameLst>
                                          <p:attrName>style.visibility</p:attrName>
                                        </p:attrNameLst>
                                      </p:cBhvr>
                                      <p:to>
                                        <p:strVal val="visible"/>
                                      </p:to>
                                    </p:set>
                                    <p:anim calcmode="lin" valueType="num">
                                      <p:cBhvr additive="base">
                                        <p:cTn id="37" dur="500" fill="hold"/>
                                        <p:tgtEl>
                                          <p:spTgt spid="51209"/>
                                        </p:tgtEl>
                                        <p:attrNameLst>
                                          <p:attrName>ppt_x</p:attrName>
                                        </p:attrNameLst>
                                      </p:cBhvr>
                                      <p:tavLst>
                                        <p:tav tm="0">
                                          <p:val>
                                            <p:strVal val="0-#ppt_w/2"/>
                                          </p:val>
                                        </p:tav>
                                        <p:tav tm="100000">
                                          <p:val>
                                            <p:strVal val="#ppt_x"/>
                                          </p:val>
                                        </p:tav>
                                      </p:tavLst>
                                    </p:anim>
                                    <p:anim calcmode="lin" valueType="num">
                                      <p:cBhvr additive="base">
                                        <p:cTn id="38" dur="500" fill="hold"/>
                                        <p:tgtEl>
                                          <p:spTgt spid="51209"/>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1210"/>
                                        </p:tgtEl>
                                        <p:attrNameLst>
                                          <p:attrName>style.visibility</p:attrName>
                                        </p:attrNameLst>
                                      </p:cBhvr>
                                      <p:to>
                                        <p:strVal val="visible"/>
                                      </p:to>
                                    </p:set>
                                    <p:anim calcmode="lin" valueType="num">
                                      <p:cBhvr additive="base">
                                        <p:cTn id="43" dur="500" fill="hold"/>
                                        <p:tgtEl>
                                          <p:spTgt spid="51210"/>
                                        </p:tgtEl>
                                        <p:attrNameLst>
                                          <p:attrName>ppt_x</p:attrName>
                                        </p:attrNameLst>
                                      </p:cBhvr>
                                      <p:tavLst>
                                        <p:tav tm="0">
                                          <p:val>
                                            <p:strVal val="0-#ppt_w/2"/>
                                          </p:val>
                                        </p:tav>
                                        <p:tav tm="100000">
                                          <p:val>
                                            <p:strVal val="#ppt_x"/>
                                          </p:val>
                                        </p:tav>
                                      </p:tavLst>
                                    </p:anim>
                                    <p:anim calcmode="lin" valueType="num">
                                      <p:cBhvr additive="base">
                                        <p:cTn id="44" dur="500" fill="hold"/>
                                        <p:tgtEl>
                                          <p:spTgt spid="512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autoUpdateAnimBg="0"/>
      <p:bldP spid="51204" grpId="0" autoUpdateAnimBg="0"/>
      <p:bldP spid="51205" grpId="0" autoUpdateAnimBg="0"/>
      <p:bldP spid="51206" grpId="0" autoUpdateAnimBg="0"/>
      <p:bldP spid="51207" grpId="0" autoUpdateAnimBg="0"/>
      <p:bldP spid="51209" grpId="0" autoUpdateAnimBg="0"/>
      <p:bldP spid="51210"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533400" y="457200"/>
            <a:ext cx="2538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DO K=1, </a:t>
            </a:r>
            <a:r>
              <a:rPr lang="en-US" altLang="zh-CN" sz="2800">
                <a:solidFill>
                  <a:srgbClr val="000000"/>
                </a:solidFill>
              </a:rPr>
              <a:t>NMAX</a:t>
            </a:r>
          </a:p>
        </p:txBody>
      </p:sp>
      <p:sp>
        <p:nvSpPr>
          <p:cNvPr id="53251" name="Text Box 3"/>
          <p:cNvSpPr txBox="1">
            <a:spLocks noChangeArrowheads="1"/>
          </p:cNvSpPr>
          <p:nvPr/>
        </p:nvSpPr>
        <p:spPr bwMode="auto">
          <a:xfrm>
            <a:off x="457200" y="914400"/>
            <a:ext cx="141605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800">
                <a:solidFill>
                  <a:srgbClr val="000000"/>
                </a:solidFill>
              </a:rPr>
              <a:t>y=y0</a:t>
            </a:r>
            <a:endParaRPr lang="en-US" altLang="zh-CN" sz="2800"/>
          </a:p>
          <a:p>
            <a:pPr eaLnBrk="1" hangingPunct="1">
              <a:lnSpc>
                <a:spcPct val="120000"/>
              </a:lnSpc>
            </a:pPr>
            <a:r>
              <a:rPr lang="en-US" altLang="zh-CN" sz="2800">
                <a:solidFill>
                  <a:srgbClr val="000000"/>
                </a:solidFill>
              </a:rPr>
              <a:t>y(3)=X0</a:t>
            </a:r>
            <a:endParaRPr lang="en-US" altLang="zh-CN" sz="2800"/>
          </a:p>
        </p:txBody>
      </p:sp>
      <p:sp>
        <p:nvSpPr>
          <p:cNvPr id="53252" name="Text Box 4"/>
          <p:cNvSpPr txBox="1">
            <a:spLocks noChangeArrowheads="1"/>
          </p:cNvSpPr>
          <p:nvPr/>
        </p:nvSpPr>
        <p:spPr bwMode="auto">
          <a:xfrm>
            <a:off x="533400" y="2714625"/>
            <a:ext cx="2016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F0=y(2)-1.0</a:t>
            </a:r>
            <a:r>
              <a:rPr lang="en-US" altLang="zh-CN" sz="2400" b="0"/>
              <a:t> </a:t>
            </a:r>
          </a:p>
        </p:txBody>
      </p:sp>
      <p:sp>
        <p:nvSpPr>
          <p:cNvPr id="53253" name="Text Box 5"/>
          <p:cNvSpPr txBox="1">
            <a:spLocks noChangeArrowheads="1"/>
          </p:cNvSpPr>
          <p:nvPr/>
        </p:nvSpPr>
        <p:spPr bwMode="auto">
          <a:xfrm>
            <a:off x="533400" y="3214688"/>
            <a:ext cx="250825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800">
                <a:solidFill>
                  <a:srgbClr val="000000"/>
                </a:solidFill>
              </a:rPr>
              <a:t>y=y0    y(3)=X1</a:t>
            </a:r>
            <a:endParaRPr lang="en-US" altLang="zh-CN" sz="2800"/>
          </a:p>
        </p:txBody>
      </p:sp>
      <p:sp>
        <p:nvSpPr>
          <p:cNvPr id="53254" name="Text Box 6"/>
          <p:cNvSpPr txBox="1">
            <a:spLocks noChangeArrowheads="1"/>
          </p:cNvSpPr>
          <p:nvPr/>
        </p:nvSpPr>
        <p:spPr bwMode="auto">
          <a:xfrm>
            <a:off x="533400" y="4324350"/>
            <a:ext cx="2016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F1=y(2)-1.0</a:t>
            </a:r>
            <a:r>
              <a:rPr lang="en-US" altLang="zh-CN" sz="2400" b="0"/>
              <a:t> </a:t>
            </a:r>
          </a:p>
        </p:txBody>
      </p:sp>
      <p:sp>
        <p:nvSpPr>
          <p:cNvPr id="53255" name="Text Box 7"/>
          <p:cNvSpPr txBox="1">
            <a:spLocks noChangeArrowheads="1"/>
          </p:cNvSpPr>
          <p:nvPr/>
        </p:nvSpPr>
        <p:spPr bwMode="auto">
          <a:xfrm>
            <a:off x="533400" y="4967288"/>
            <a:ext cx="16303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D=F1-F0</a:t>
            </a:r>
            <a:r>
              <a:rPr lang="en-US" altLang="zh-CN" sz="2400" b="0"/>
              <a:t> </a:t>
            </a:r>
          </a:p>
        </p:txBody>
      </p:sp>
      <p:sp>
        <p:nvSpPr>
          <p:cNvPr id="53256" name="Text Box 8"/>
          <p:cNvSpPr txBox="1">
            <a:spLocks noChangeArrowheads="1"/>
          </p:cNvSpPr>
          <p:nvPr/>
        </p:nvSpPr>
        <p:spPr bwMode="auto">
          <a:xfrm>
            <a:off x="533400" y="5410200"/>
            <a:ext cx="4157663" cy="125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600">
                <a:effectLst>
                  <a:outerShdw blurRad="38100" dist="38100" dir="2700000" algn="tl">
                    <a:srgbClr val="C0C0C0"/>
                  </a:outerShdw>
                </a:effectLst>
                <a:ea typeface="楷体_GB2312" pitchFamily="49" charset="-122"/>
              </a:rPr>
              <a:t>IF (ABS(D).LT.TOL)THEN</a:t>
            </a:r>
          </a:p>
          <a:p>
            <a:pPr eaLnBrk="0" hangingPunct="0">
              <a:defRPr/>
            </a:pPr>
            <a:r>
              <a:rPr kumimoji="0" lang="en-US" altLang="zh-CN" sz="2600">
                <a:effectLst>
                  <a:outerShdw blurRad="38100" dist="38100" dir="2700000" algn="tl">
                    <a:srgbClr val="C0C0C0"/>
                  </a:outerShdw>
                </a:effectLst>
                <a:ea typeface="楷体_GB2312" pitchFamily="49" charset="-122"/>
              </a:rPr>
              <a:t>   WRITE(*,*)Y</a:t>
            </a:r>
          </a:p>
          <a:p>
            <a:pPr>
              <a:defRPr/>
            </a:pPr>
            <a:r>
              <a:rPr lang="en-US" altLang="zh-CN" sz="2400"/>
              <a:t>   STOP</a:t>
            </a:r>
          </a:p>
        </p:txBody>
      </p:sp>
      <p:sp>
        <p:nvSpPr>
          <p:cNvPr id="53257" name="Text Box 9"/>
          <p:cNvSpPr txBox="1">
            <a:spLocks noChangeArrowheads="1"/>
          </p:cNvSpPr>
          <p:nvPr/>
        </p:nvSpPr>
        <p:spPr bwMode="auto">
          <a:xfrm>
            <a:off x="5410200" y="609600"/>
            <a:ext cx="35052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400" b="0"/>
              <a:t>ELSE</a:t>
            </a:r>
          </a:p>
          <a:p>
            <a:pPr eaLnBrk="0" hangingPunct="0">
              <a:defRPr/>
            </a:pPr>
            <a:r>
              <a:rPr kumimoji="0" lang="en-US" altLang="zh-CN" sz="2600">
                <a:effectLst>
                  <a:outerShdw blurRad="38100" dist="38100" dir="2700000" algn="tl">
                    <a:srgbClr val="C0C0C0"/>
                  </a:outerShdw>
                </a:effectLst>
                <a:ea typeface="楷体_GB2312" pitchFamily="49" charset="-122"/>
              </a:rPr>
              <a:t>X2=X1-(X1-X0)* F1/D</a:t>
            </a:r>
            <a:endParaRPr lang="en-US" altLang="zh-CN" sz="2400" b="0"/>
          </a:p>
        </p:txBody>
      </p:sp>
      <p:sp>
        <p:nvSpPr>
          <p:cNvPr id="53258" name="Text Box 10"/>
          <p:cNvSpPr txBox="1">
            <a:spLocks noChangeArrowheads="1"/>
          </p:cNvSpPr>
          <p:nvPr/>
        </p:nvSpPr>
        <p:spPr bwMode="auto">
          <a:xfrm>
            <a:off x="5715000" y="1447800"/>
            <a:ext cx="1179513"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defRPr/>
            </a:pPr>
            <a:r>
              <a:rPr kumimoji="0" lang="en-US" altLang="zh-CN" sz="2600">
                <a:effectLst>
                  <a:outerShdw blurRad="38100" dist="38100" dir="2700000" algn="tl">
                    <a:srgbClr val="C0C0C0"/>
                  </a:outerShdw>
                </a:effectLst>
                <a:ea typeface="楷体_GB2312" pitchFamily="49" charset="-122"/>
              </a:rPr>
              <a:t>X0=X1</a:t>
            </a:r>
          </a:p>
          <a:p>
            <a:pPr eaLnBrk="0" hangingPunct="0">
              <a:defRPr/>
            </a:pPr>
            <a:r>
              <a:rPr kumimoji="0" lang="en-US" altLang="zh-CN" sz="2600">
                <a:effectLst>
                  <a:outerShdw blurRad="38100" dist="38100" dir="2700000" algn="tl">
                    <a:srgbClr val="C0C0C0"/>
                  </a:outerShdw>
                </a:effectLst>
                <a:ea typeface="楷体_GB2312" pitchFamily="49" charset="-122"/>
              </a:rPr>
              <a:t>X1=X2</a:t>
            </a:r>
            <a:endParaRPr lang="en-US" altLang="zh-CN" sz="2400" b="0"/>
          </a:p>
        </p:txBody>
      </p:sp>
      <p:sp>
        <p:nvSpPr>
          <p:cNvPr id="53259" name="Text Box 11"/>
          <p:cNvSpPr txBox="1">
            <a:spLocks noChangeArrowheads="1"/>
          </p:cNvSpPr>
          <p:nvPr/>
        </p:nvSpPr>
        <p:spPr bwMode="auto">
          <a:xfrm>
            <a:off x="5715000" y="2362200"/>
            <a:ext cx="1133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ENDIF</a:t>
            </a:r>
          </a:p>
        </p:txBody>
      </p:sp>
      <p:sp>
        <p:nvSpPr>
          <p:cNvPr id="53260" name="Text Box 12"/>
          <p:cNvSpPr txBox="1">
            <a:spLocks noChangeArrowheads="1"/>
          </p:cNvSpPr>
          <p:nvPr/>
        </p:nvSpPr>
        <p:spPr bwMode="auto">
          <a:xfrm>
            <a:off x="5791200" y="2971800"/>
            <a:ext cx="128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ENDDO</a:t>
            </a:r>
          </a:p>
        </p:txBody>
      </p:sp>
      <p:sp>
        <p:nvSpPr>
          <p:cNvPr id="53261" name="Text Box 13"/>
          <p:cNvSpPr txBox="1">
            <a:spLocks noChangeArrowheads="1"/>
          </p:cNvSpPr>
          <p:nvPr/>
        </p:nvSpPr>
        <p:spPr bwMode="auto">
          <a:xfrm>
            <a:off x="5851525" y="3546475"/>
            <a:ext cx="828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a:t>END</a:t>
            </a:r>
          </a:p>
        </p:txBody>
      </p:sp>
      <p:sp>
        <p:nvSpPr>
          <p:cNvPr id="53263" name="Text Box 15"/>
          <p:cNvSpPr txBox="1">
            <a:spLocks noChangeArrowheads="1"/>
          </p:cNvSpPr>
          <p:nvPr/>
        </p:nvSpPr>
        <p:spPr bwMode="auto">
          <a:xfrm>
            <a:off x="381000" y="3733800"/>
            <a:ext cx="3436938"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800">
                <a:solidFill>
                  <a:srgbClr val="000000"/>
                </a:solidFill>
              </a:rPr>
              <a:t>call rk4(n,t,y,h,nstep)</a:t>
            </a:r>
          </a:p>
        </p:txBody>
      </p:sp>
      <p:sp>
        <p:nvSpPr>
          <p:cNvPr id="53264" name="Text Box 16"/>
          <p:cNvSpPr txBox="1">
            <a:spLocks noChangeArrowheads="1"/>
          </p:cNvSpPr>
          <p:nvPr/>
        </p:nvSpPr>
        <p:spPr bwMode="auto">
          <a:xfrm>
            <a:off x="381000" y="2057400"/>
            <a:ext cx="3436938"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800">
                <a:solidFill>
                  <a:srgbClr val="000000"/>
                </a:solidFill>
              </a:rPr>
              <a:t>call rk4(n,t,y,h,nstep)</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 calcmode="lin" valueType="num">
                                      <p:cBhvr additive="base">
                                        <p:cTn id="7" dur="500" fill="hold"/>
                                        <p:tgtEl>
                                          <p:spTgt spid="53251"/>
                                        </p:tgtEl>
                                        <p:attrNameLst>
                                          <p:attrName>ppt_x</p:attrName>
                                        </p:attrNameLst>
                                      </p:cBhvr>
                                      <p:tavLst>
                                        <p:tav tm="0">
                                          <p:val>
                                            <p:strVal val="0-#ppt_w/2"/>
                                          </p:val>
                                        </p:tav>
                                        <p:tav tm="100000">
                                          <p:val>
                                            <p:strVal val="#ppt_x"/>
                                          </p:val>
                                        </p:tav>
                                      </p:tavLst>
                                    </p:anim>
                                    <p:anim calcmode="lin" valueType="num">
                                      <p:cBhvr additive="base">
                                        <p:cTn id="8" dur="500" fill="hold"/>
                                        <p:tgtEl>
                                          <p:spTgt spid="5325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3264"/>
                                        </p:tgtEl>
                                        <p:attrNameLst>
                                          <p:attrName>style.visibility</p:attrName>
                                        </p:attrNameLst>
                                      </p:cBhvr>
                                      <p:to>
                                        <p:strVal val="visible"/>
                                      </p:to>
                                    </p:set>
                                    <p:anim calcmode="lin" valueType="num">
                                      <p:cBhvr additive="base">
                                        <p:cTn id="13" dur="500" fill="hold"/>
                                        <p:tgtEl>
                                          <p:spTgt spid="53264"/>
                                        </p:tgtEl>
                                        <p:attrNameLst>
                                          <p:attrName>ppt_x</p:attrName>
                                        </p:attrNameLst>
                                      </p:cBhvr>
                                      <p:tavLst>
                                        <p:tav tm="0">
                                          <p:val>
                                            <p:strVal val="0-#ppt_w/2"/>
                                          </p:val>
                                        </p:tav>
                                        <p:tav tm="100000">
                                          <p:val>
                                            <p:strVal val="#ppt_x"/>
                                          </p:val>
                                        </p:tav>
                                      </p:tavLst>
                                    </p:anim>
                                    <p:anim calcmode="lin" valueType="num">
                                      <p:cBhvr additive="base">
                                        <p:cTn id="14" dur="500" fill="hold"/>
                                        <p:tgtEl>
                                          <p:spTgt spid="5326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3252"/>
                                        </p:tgtEl>
                                        <p:attrNameLst>
                                          <p:attrName>style.visibility</p:attrName>
                                        </p:attrNameLst>
                                      </p:cBhvr>
                                      <p:to>
                                        <p:strVal val="visible"/>
                                      </p:to>
                                    </p:set>
                                    <p:anim calcmode="lin" valueType="num">
                                      <p:cBhvr additive="base">
                                        <p:cTn id="19" dur="500" fill="hold"/>
                                        <p:tgtEl>
                                          <p:spTgt spid="53252"/>
                                        </p:tgtEl>
                                        <p:attrNameLst>
                                          <p:attrName>ppt_x</p:attrName>
                                        </p:attrNameLst>
                                      </p:cBhvr>
                                      <p:tavLst>
                                        <p:tav tm="0">
                                          <p:val>
                                            <p:strVal val="0-#ppt_w/2"/>
                                          </p:val>
                                        </p:tav>
                                        <p:tav tm="100000">
                                          <p:val>
                                            <p:strVal val="#ppt_x"/>
                                          </p:val>
                                        </p:tav>
                                      </p:tavLst>
                                    </p:anim>
                                    <p:anim calcmode="lin" valueType="num">
                                      <p:cBhvr additive="base">
                                        <p:cTn id="20" dur="500" fill="hold"/>
                                        <p:tgtEl>
                                          <p:spTgt spid="5325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3253"/>
                                        </p:tgtEl>
                                        <p:attrNameLst>
                                          <p:attrName>style.visibility</p:attrName>
                                        </p:attrNameLst>
                                      </p:cBhvr>
                                      <p:to>
                                        <p:strVal val="visible"/>
                                      </p:to>
                                    </p:set>
                                    <p:anim calcmode="lin" valueType="num">
                                      <p:cBhvr additive="base">
                                        <p:cTn id="25" dur="500" fill="hold"/>
                                        <p:tgtEl>
                                          <p:spTgt spid="53253"/>
                                        </p:tgtEl>
                                        <p:attrNameLst>
                                          <p:attrName>ppt_x</p:attrName>
                                        </p:attrNameLst>
                                      </p:cBhvr>
                                      <p:tavLst>
                                        <p:tav tm="0">
                                          <p:val>
                                            <p:strVal val="0-#ppt_w/2"/>
                                          </p:val>
                                        </p:tav>
                                        <p:tav tm="100000">
                                          <p:val>
                                            <p:strVal val="#ppt_x"/>
                                          </p:val>
                                        </p:tav>
                                      </p:tavLst>
                                    </p:anim>
                                    <p:anim calcmode="lin" valueType="num">
                                      <p:cBhvr additive="base">
                                        <p:cTn id="26" dur="500" fill="hold"/>
                                        <p:tgtEl>
                                          <p:spTgt spid="5325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3263"/>
                                        </p:tgtEl>
                                        <p:attrNameLst>
                                          <p:attrName>style.visibility</p:attrName>
                                        </p:attrNameLst>
                                      </p:cBhvr>
                                      <p:to>
                                        <p:strVal val="visible"/>
                                      </p:to>
                                    </p:set>
                                    <p:anim calcmode="lin" valueType="num">
                                      <p:cBhvr additive="base">
                                        <p:cTn id="31" dur="500" fill="hold"/>
                                        <p:tgtEl>
                                          <p:spTgt spid="53263"/>
                                        </p:tgtEl>
                                        <p:attrNameLst>
                                          <p:attrName>ppt_x</p:attrName>
                                        </p:attrNameLst>
                                      </p:cBhvr>
                                      <p:tavLst>
                                        <p:tav tm="0">
                                          <p:val>
                                            <p:strVal val="0-#ppt_w/2"/>
                                          </p:val>
                                        </p:tav>
                                        <p:tav tm="100000">
                                          <p:val>
                                            <p:strVal val="#ppt_x"/>
                                          </p:val>
                                        </p:tav>
                                      </p:tavLst>
                                    </p:anim>
                                    <p:anim calcmode="lin" valueType="num">
                                      <p:cBhvr additive="base">
                                        <p:cTn id="32" dur="500" fill="hold"/>
                                        <p:tgtEl>
                                          <p:spTgt spid="53263"/>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3254"/>
                                        </p:tgtEl>
                                        <p:attrNameLst>
                                          <p:attrName>style.visibility</p:attrName>
                                        </p:attrNameLst>
                                      </p:cBhvr>
                                      <p:to>
                                        <p:strVal val="visible"/>
                                      </p:to>
                                    </p:set>
                                    <p:anim calcmode="lin" valueType="num">
                                      <p:cBhvr additive="base">
                                        <p:cTn id="37" dur="500" fill="hold"/>
                                        <p:tgtEl>
                                          <p:spTgt spid="53254"/>
                                        </p:tgtEl>
                                        <p:attrNameLst>
                                          <p:attrName>ppt_x</p:attrName>
                                        </p:attrNameLst>
                                      </p:cBhvr>
                                      <p:tavLst>
                                        <p:tav tm="0">
                                          <p:val>
                                            <p:strVal val="0-#ppt_w/2"/>
                                          </p:val>
                                        </p:tav>
                                        <p:tav tm="100000">
                                          <p:val>
                                            <p:strVal val="#ppt_x"/>
                                          </p:val>
                                        </p:tav>
                                      </p:tavLst>
                                    </p:anim>
                                    <p:anim calcmode="lin" valueType="num">
                                      <p:cBhvr additive="base">
                                        <p:cTn id="38" dur="500" fill="hold"/>
                                        <p:tgtEl>
                                          <p:spTgt spid="53254"/>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53255"/>
                                        </p:tgtEl>
                                        <p:attrNameLst>
                                          <p:attrName>style.visibility</p:attrName>
                                        </p:attrNameLst>
                                      </p:cBhvr>
                                      <p:to>
                                        <p:strVal val="visible"/>
                                      </p:to>
                                    </p:set>
                                    <p:anim calcmode="lin" valueType="num">
                                      <p:cBhvr additive="base">
                                        <p:cTn id="43" dur="500" fill="hold"/>
                                        <p:tgtEl>
                                          <p:spTgt spid="53255"/>
                                        </p:tgtEl>
                                        <p:attrNameLst>
                                          <p:attrName>ppt_x</p:attrName>
                                        </p:attrNameLst>
                                      </p:cBhvr>
                                      <p:tavLst>
                                        <p:tav tm="0">
                                          <p:val>
                                            <p:strVal val="0-#ppt_w/2"/>
                                          </p:val>
                                        </p:tav>
                                        <p:tav tm="100000">
                                          <p:val>
                                            <p:strVal val="#ppt_x"/>
                                          </p:val>
                                        </p:tav>
                                      </p:tavLst>
                                    </p:anim>
                                    <p:anim calcmode="lin" valueType="num">
                                      <p:cBhvr additive="base">
                                        <p:cTn id="44" dur="500" fill="hold"/>
                                        <p:tgtEl>
                                          <p:spTgt spid="53255"/>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3256"/>
                                        </p:tgtEl>
                                        <p:attrNameLst>
                                          <p:attrName>style.visibility</p:attrName>
                                        </p:attrNameLst>
                                      </p:cBhvr>
                                      <p:to>
                                        <p:strVal val="visible"/>
                                      </p:to>
                                    </p:set>
                                    <p:anim calcmode="lin" valueType="num">
                                      <p:cBhvr additive="base">
                                        <p:cTn id="49" dur="500" fill="hold"/>
                                        <p:tgtEl>
                                          <p:spTgt spid="53256"/>
                                        </p:tgtEl>
                                        <p:attrNameLst>
                                          <p:attrName>ppt_x</p:attrName>
                                        </p:attrNameLst>
                                      </p:cBhvr>
                                      <p:tavLst>
                                        <p:tav tm="0">
                                          <p:val>
                                            <p:strVal val="0-#ppt_w/2"/>
                                          </p:val>
                                        </p:tav>
                                        <p:tav tm="100000">
                                          <p:val>
                                            <p:strVal val="#ppt_x"/>
                                          </p:val>
                                        </p:tav>
                                      </p:tavLst>
                                    </p:anim>
                                    <p:anim calcmode="lin" valueType="num">
                                      <p:cBhvr additive="base">
                                        <p:cTn id="50" dur="500" fill="hold"/>
                                        <p:tgtEl>
                                          <p:spTgt spid="53256"/>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53257"/>
                                        </p:tgtEl>
                                        <p:attrNameLst>
                                          <p:attrName>style.visibility</p:attrName>
                                        </p:attrNameLst>
                                      </p:cBhvr>
                                      <p:to>
                                        <p:strVal val="visible"/>
                                      </p:to>
                                    </p:set>
                                    <p:anim calcmode="lin" valueType="num">
                                      <p:cBhvr additive="base">
                                        <p:cTn id="55" dur="500" fill="hold"/>
                                        <p:tgtEl>
                                          <p:spTgt spid="53257"/>
                                        </p:tgtEl>
                                        <p:attrNameLst>
                                          <p:attrName>ppt_x</p:attrName>
                                        </p:attrNameLst>
                                      </p:cBhvr>
                                      <p:tavLst>
                                        <p:tav tm="0">
                                          <p:val>
                                            <p:strVal val="0-#ppt_w/2"/>
                                          </p:val>
                                        </p:tav>
                                        <p:tav tm="100000">
                                          <p:val>
                                            <p:strVal val="#ppt_x"/>
                                          </p:val>
                                        </p:tav>
                                      </p:tavLst>
                                    </p:anim>
                                    <p:anim calcmode="lin" valueType="num">
                                      <p:cBhvr additive="base">
                                        <p:cTn id="56" dur="500" fill="hold"/>
                                        <p:tgtEl>
                                          <p:spTgt spid="53257"/>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53258"/>
                                        </p:tgtEl>
                                        <p:attrNameLst>
                                          <p:attrName>style.visibility</p:attrName>
                                        </p:attrNameLst>
                                      </p:cBhvr>
                                      <p:to>
                                        <p:strVal val="visible"/>
                                      </p:to>
                                    </p:set>
                                    <p:anim calcmode="lin" valueType="num">
                                      <p:cBhvr additive="base">
                                        <p:cTn id="61" dur="500" fill="hold"/>
                                        <p:tgtEl>
                                          <p:spTgt spid="53258"/>
                                        </p:tgtEl>
                                        <p:attrNameLst>
                                          <p:attrName>ppt_x</p:attrName>
                                        </p:attrNameLst>
                                      </p:cBhvr>
                                      <p:tavLst>
                                        <p:tav tm="0">
                                          <p:val>
                                            <p:strVal val="0-#ppt_w/2"/>
                                          </p:val>
                                        </p:tav>
                                        <p:tav tm="100000">
                                          <p:val>
                                            <p:strVal val="#ppt_x"/>
                                          </p:val>
                                        </p:tav>
                                      </p:tavLst>
                                    </p:anim>
                                    <p:anim calcmode="lin" valueType="num">
                                      <p:cBhvr additive="base">
                                        <p:cTn id="62" dur="500" fill="hold"/>
                                        <p:tgtEl>
                                          <p:spTgt spid="53258"/>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53259"/>
                                        </p:tgtEl>
                                        <p:attrNameLst>
                                          <p:attrName>style.visibility</p:attrName>
                                        </p:attrNameLst>
                                      </p:cBhvr>
                                      <p:to>
                                        <p:strVal val="visible"/>
                                      </p:to>
                                    </p:set>
                                    <p:anim calcmode="lin" valueType="num">
                                      <p:cBhvr additive="base">
                                        <p:cTn id="67" dur="500" fill="hold"/>
                                        <p:tgtEl>
                                          <p:spTgt spid="53259"/>
                                        </p:tgtEl>
                                        <p:attrNameLst>
                                          <p:attrName>ppt_x</p:attrName>
                                        </p:attrNameLst>
                                      </p:cBhvr>
                                      <p:tavLst>
                                        <p:tav tm="0">
                                          <p:val>
                                            <p:strVal val="0-#ppt_w/2"/>
                                          </p:val>
                                        </p:tav>
                                        <p:tav tm="100000">
                                          <p:val>
                                            <p:strVal val="#ppt_x"/>
                                          </p:val>
                                        </p:tav>
                                      </p:tavLst>
                                    </p:anim>
                                    <p:anim calcmode="lin" valueType="num">
                                      <p:cBhvr additive="base">
                                        <p:cTn id="68" dur="500" fill="hold"/>
                                        <p:tgtEl>
                                          <p:spTgt spid="53259"/>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53260"/>
                                        </p:tgtEl>
                                        <p:attrNameLst>
                                          <p:attrName>style.visibility</p:attrName>
                                        </p:attrNameLst>
                                      </p:cBhvr>
                                      <p:to>
                                        <p:strVal val="visible"/>
                                      </p:to>
                                    </p:set>
                                    <p:anim calcmode="lin" valueType="num">
                                      <p:cBhvr additive="base">
                                        <p:cTn id="73" dur="500" fill="hold"/>
                                        <p:tgtEl>
                                          <p:spTgt spid="53260"/>
                                        </p:tgtEl>
                                        <p:attrNameLst>
                                          <p:attrName>ppt_x</p:attrName>
                                        </p:attrNameLst>
                                      </p:cBhvr>
                                      <p:tavLst>
                                        <p:tav tm="0">
                                          <p:val>
                                            <p:strVal val="0-#ppt_w/2"/>
                                          </p:val>
                                        </p:tav>
                                        <p:tav tm="100000">
                                          <p:val>
                                            <p:strVal val="#ppt_x"/>
                                          </p:val>
                                        </p:tav>
                                      </p:tavLst>
                                    </p:anim>
                                    <p:anim calcmode="lin" valueType="num">
                                      <p:cBhvr additive="base">
                                        <p:cTn id="74" dur="500" fill="hold"/>
                                        <p:tgtEl>
                                          <p:spTgt spid="53260"/>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53261"/>
                                        </p:tgtEl>
                                        <p:attrNameLst>
                                          <p:attrName>style.visibility</p:attrName>
                                        </p:attrNameLst>
                                      </p:cBhvr>
                                      <p:to>
                                        <p:strVal val="visible"/>
                                      </p:to>
                                    </p:set>
                                    <p:anim calcmode="lin" valueType="num">
                                      <p:cBhvr additive="base">
                                        <p:cTn id="79" dur="500" fill="hold"/>
                                        <p:tgtEl>
                                          <p:spTgt spid="53261"/>
                                        </p:tgtEl>
                                        <p:attrNameLst>
                                          <p:attrName>ppt_x</p:attrName>
                                        </p:attrNameLst>
                                      </p:cBhvr>
                                      <p:tavLst>
                                        <p:tav tm="0">
                                          <p:val>
                                            <p:strVal val="0-#ppt_w/2"/>
                                          </p:val>
                                        </p:tav>
                                        <p:tav tm="100000">
                                          <p:val>
                                            <p:strVal val="#ppt_x"/>
                                          </p:val>
                                        </p:tav>
                                      </p:tavLst>
                                    </p:anim>
                                    <p:anim calcmode="lin" valueType="num">
                                      <p:cBhvr additive="base">
                                        <p:cTn id="80" dur="500" fill="hold"/>
                                        <p:tgtEl>
                                          <p:spTgt spid="532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utoUpdateAnimBg="0"/>
      <p:bldP spid="53252" grpId="0" autoUpdateAnimBg="0"/>
      <p:bldP spid="53253" grpId="0" autoUpdateAnimBg="0"/>
      <p:bldP spid="53254" grpId="0" autoUpdateAnimBg="0"/>
      <p:bldP spid="53255" grpId="0" autoUpdateAnimBg="0"/>
      <p:bldP spid="53256" grpId="0" autoUpdateAnimBg="0"/>
      <p:bldP spid="53257" grpId="0" autoUpdateAnimBg="0"/>
      <p:bldP spid="53258" grpId="0" autoUpdateAnimBg="0"/>
      <p:bldP spid="53259" grpId="0" autoUpdateAnimBg="0"/>
      <p:bldP spid="53260" grpId="0" autoUpdateAnimBg="0"/>
      <p:bldP spid="53261" grpId="0" autoUpdateAnimBg="0"/>
      <p:bldP spid="53263" grpId="0" autoUpdateAnimBg="0"/>
      <p:bldP spid="53264"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1143000" y="3505200"/>
            <a:ext cx="4041775"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400" b="0"/>
              <a:t>SUBROUTINE XPSYS ( X, F)</a:t>
            </a:r>
          </a:p>
          <a:p>
            <a:pPr eaLnBrk="1" hangingPunct="1"/>
            <a:r>
              <a:rPr lang="en-US" altLang="zh-CN" sz="2400" b="0"/>
              <a:t>DIMENSION X(3), F(3) </a:t>
            </a:r>
          </a:p>
          <a:p>
            <a:pPr eaLnBrk="1" hangingPunct="1"/>
            <a:r>
              <a:rPr lang="en-US" altLang="zh-CN" sz="2400" b="0"/>
              <a:t>PI=4.0*ATAN(1.0)</a:t>
            </a:r>
          </a:p>
          <a:p>
            <a:pPr eaLnBrk="1" hangingPunct="1"/>
            <a:r>
              <a:rPr lang="en-US" altLang="zh-CN" sz="2400" b="0"/>
              <a:t>F(1)=1.0</a:t>
            </a:r>
          </a:p>
          <a:p>
            <a:pPr eaLnBrk="1" hangingPunct="1"/>
            <a:r>
              <a:rPr lang="en-US" altLang="zh-CN" sz="2400" b="0"/>
              <a:t>F(2)= X(3)</a:t>
            </a:r>
          </a:p>
          <a:p>
            <a:pPr eaLnBrk="1" hangingPunct="1"/>
            <a:r>
              <a:rPr lang="en-US" altLang="zh-CN" sz="2400" b="0"/>
              <a:t>F(3)=-PI*PI*(X(2)+1.0)/4.0</a:t>
            </a:r>
          </a:p>
          <a:p>
            <a:pPr eaLnBrk="1" hangingPunct="1"/>
            <a:r>
              <a:rPr lang="en-US" altLang="zh-CN" sz="2400" b="0"/>
              <a:t>RETURN</a:t>
            </a:r>
          </a:p>
          <a:p>
            <a:pPr eaLnBrk="1" hangingPunct="1"/>
            <a:r>
              <a:rPr lang="en-US" altLang="zh-CN" sz="2400" b="0"/>
              <a:t>END</a:t>
            </a:r>
          </a:p>
        </p:txBody>
      </p:sp>
      <p:sp>
        <p:nvSpPr>
          <p:cNvPr id="47107" name="Rectangle 3"/>
          <p:cNvSpPr>
            <a:spLocks noChangeArrowheads="1"/>
          </p:cNvSpPr>
          <p:nvPr/>
        </p:nvSpPr>
        <p:spPr bwMode="auto">
          <a:xfrm>
            <a:off x="1600200" y="990600"/>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i="1">
                <a:solidFill>
                  <a:srgbClr val="000080"/>
                </a:solidFill>
              </a:rPr>
              <a:t>x</a:t>
            </a:r>
            <a:r>
              <a:rPr lang="en-US" altLang="zh-CN" sz="2800" i="1" baseline="-30000">
                <a:solidFill>
                  <a:srgbClr val="000080"/>
                </a:solidFill>
              </a:rPr>
              <a:t>1</a:t>
            </a:r>
            <a:r>
              <a:rPr lang="en-US" altLang="zh-CN" sz="2800" i="1">
                <a:solidFill>
                  <a:srgbClr val="000080"/>
                </a:solidFill>
              </a:rPr>
              <a:t>’ </a:t>
            </a:r>
            <a:r>
              <a:rPr lang="en-US" altLang="zh-CN" sz="2800">
                <a:solidFill>
                  <a:srgbClr val="000080"/>
                </a:solidFill>
              </a:rPr>
              <a:t>=1</a:t>
            </a:r>
            <a:endParaRPr lang="en-US" altLang="zh-CN" sz="2800"/>
          </a:p>
        </p:txBody>
      </p:sp>
      <p:sp>
        <p:nvSpPr>
          <p:cNvPr id="47108" name="Rectangle 4"/>
          <p:cNvSpPr>
            <a:spLocks noChangeArrowheads="1"/>
          </p:cNvSpPr>
          <p:nvPr/>
        </p:nvSpPr>
        <p:spPr bwMode="auto">
          <a:xfrm>
            <a:off x="1447800" y="1600200"/>
            <a:ext cx="2743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i="1">
                <a:solidFill>
                  <a:srgbClr val="000080"/>
                </a:solidFill>
              </a:rPr>
              <a:t>x</a:t>
            </a:r>
            <a:r>
              <a:rPr lang="en-US" altLang="zh-CN" sz="2800" i="1" baseline="-30000">
                <a:solidFill>
                  <a:srgbClr val="000080"/>
                </a:solidFill>
              </a:rPr>
              <a:t>2</a:t>
            </a:r>
            <a:r>
              <a:rPr lang="en-US" altLang="zh-CN" sz="2800" i="1">
                <a:solidFill>
                  <a:srgbClr val="000080"/>
                </a:solidFill>
              </a:rPr>
              <a:t>’ </a:t>
            </a:r>
            <a:r>
              <a:rPr lang="en-US" altLang="zh-CN" sz="2800">
                <a:solidFill>
                  <a:srgbClr val="000080"/>
                </a:solidFill>
              </a:rPr>
              <a:t>=</a:t>
            </a:r>
            <a:r>
              <a:rPr lang="en-US" altLang="zh-CN" sz="2800" i="1">
                <a:solidFill>
                  <a:srgbClr val="000080"/>
                </a:solidFill>
              </a:rPr>
              <a:t> x</a:t>
            </a:r>
            <a:r>
              <a:rPr lang="en-US" altLang="zh-CN" sz="2800" i="1" baseline="-30000">
                <a:solidFill>
                  <a:srgbClr val="000080"/>
                </a:solidFill>
              </a:rPr>
              <a:t>3</a:t>
            </a:r>
            <a:endParaRPr lang="en-US" altLang="zh-CN" sz="2800"/>
          </a:p>
        </p:txBody>
      </p:sp>
      <p:sp>
        <p:nvSpPr>
          <p:cNvPr id="47109" name="Rectangle 5"/>
          <p:cNvSpPr>
            <a:spLocks noChangeArrowheads="1"/>
          </p:cNvSpPr>
          <p:nvPr/>
        </p:nvSpPr>
        <p:spPr bwMode="auto">
          <a:xfrm>
            <a:off x="1295400" y="2286000"/>
            <a:ext cx="327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r>
              <a:rPr lang="en-US" altLang="zh-CN" sz="2800" i="1">
                <a:solidFill>
                  <a:srgbClr val="000080"/>
                </a:solidFill>
              </a:rPr>
              <a:t>x</a:t>
            </a:r>
            <a:r>
              <a:rPr lang="en-US" altLang="zh-CN" sz="2800" i="1" baseline="-30000">
                <a:solidFill>
                  <a:srgbClr val="000080"/>
                </a:solidFill>
              </a:rPr>
              <a:t>3</a:t>
            </a:r>
            <a:r>
              <a:rPr lang="en-US" altLang="zh-CN" sz="2800" i="1">
                <a:solidFill>
                  <a:srgbClr val="000080"/>
                </a:solidFill>
              </a:rPr>
              <a:t>’ </a:t>
            </a:r>
            <a:r>
              <a:rPr lang="en-US" altLang="zh-CN" sz="2800">
                <a:solidFill>
                  <a:srgbClr val="000080"/>
                </a:solidFill>
              </a:rPr>
              <a:t>=</a:t>
            </a:r>
            <a:r>
              <a:rPr lang="en-US" altLang="zh-CN" sz="2800" i="1">
                <a:solidFill>
                  <a:srgbClr val="000080"/>
                </a:solidFill>
              </a:rPr>
              <a:t> -</a:t>
            </a:r>
            <a:r>
              <a:rPr lang="en-US" altLang="zh-CN" sz="2800" i="1">
                <a:solidFill>
                  <a:srgbClr val="000080"/>
                </a:solidFill>
                <a:latin typeface="宋体" pitchFamily="2" charset="-122"/>
              </a:rPr>
              <a:t>π</a:t>
            </a:r>
            <a:r>
              <a:rPr lang="en-US" altLang="zh-CN" sz="2800" i="1" baseline="30000">
                <a:solidFill>
                  <a:srgbClr val="000080"/>
                </a:solidFill>
                <a:latin typeface="宋体" pitchFamily="2" charset="-122"/>
              </a:rPr>
              <a:t>2</a:t>
            </a:r>
            <a:r>
              <a:rPr lang="en-US" altLang="zh-CN" sz="2800" i="1">
                <a:solidFill>
                  <a:srgbClr val="000080"/>
                </a:solidFill>
                <a:latin typeface="宋体" pitchFamily="2" charset="-122"/>
              </a:rPr>
              <a:t>(</a:t>
            </a:r>
            <a:r>
              <a:rPr lang="en-US" altLang="zh-CN" sz="2800" i="1">
                <a:solidFill>
                  <a:srgbClr val="000080"/>
                </a:solidFill>
              </a:rPr>
              <a:t>x</a:t>
            </a:r>
            <a:r>
              <a:rPr lang="en-US" altLang="zh-CN" sz="2800" i="1" baseline="-30000">
                <a:solidFill>
                  <a:srgbClr val="000080"/>
                </a:solidFill>
              </a:rPr>
              <a:t>2</a:t>
            </a:r>
            <a:r>
              <a:rPr lang="en-US" altLang="zh-CN" sz="2800" i="1">
                <a:solidFill>
                  <a:srgbClr val="000080"/>
                </a:solidFill>
                <a:latin typeface="宋体" pitchFamily="2" charset="-122"/>
              </a:rPr>
              <a:t>+1)/4</a:t>
            </a:r>
            <a:endParaRPr lang="en-US" altLang="zh-CN" sz="280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4274"/>
                                        </p:tgtEl>
                                        <p:attrNameLst>
                                          <p:attrName>style.visibility</p:attrName>
                                        </p:attrNameLst>
                                      </p:cBhvr>
                                      <p:to>
                                        <p:strVal val="visible"/>
                                      </p:to>
                                    </p:set>
                                    <p:anim calcmode="lin" valueType="num">
                                      <p:cBhvr additive="base">
                                        <p:cTn id="7" dur="500" fill="hold"/>
                                        <p:tgtEl>
                                          <p:spTgt spid="54274"/>
                                        </p:tgtEl>
                                        <p:attrNameLst>
                                          <p:attrName>ppt_x</p:attrName>
                                        </p:attrNameLst>
                                      </p:cBhvr>
                                      <p:tavLst>
                                        <p:tav tm="0">
                                          <p:val>
                                            <p:strVal val="0-#ppt_w/2"/>
                                          </p:val>
                                        </p:tav>
                                        <p:tav tm="100000">
                                          <p:val>
                                            <p:strVal val="#ppt_x"/>
                                          </p:val>
                                        </p:tav>
                                      </p:tavLst>
                                    </p:anim>
                                    <p:anim calcmode="lin" valueType="num">
                                      <p:cBhvr additive="base">
                                        <p:cTn id="8" dur="500" fill="hold"/>
                                        <p:tgtEl>
                                          <p:spTgt spid="542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900113" y="2276475"/>
            <a:ext cx="69135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t>Y(X)=COS(</a:t>
            </a:r>
            <a:r>
              <a:rPr lang="en-US" altLang="zh-CN" i="1">
                <a:solidFill>
                  <a:srgbClr val="000080"/>
                </a:solidFill>
                <a:latin typeface="宋体" pitchFamily="2" charset="-122"/>
              </a:rPr>
              <a:t>πx/2)+2</a:t>
            </a:r>
            <a:r>
              <a:rPr lang="en-US" altLang="zh-CN" i="1"/>
              <a:t>SIN(</a:t>
            </a:r>
            <a:r>
              <a:rPr lang="en-US" altLang="zh-CN" i="1">
                <a:solidFill>
                  <a:srgbClr val="000080"/>
                </a:solidFill>
                <a:latin typeface="宋体" pitchFamily="2" charset="-122"/>
              </a:rPr>
              <a:t>πx/2)-1</a:t>
            </a:r>
          </a:p>
        </p:txBody>
      </p:sp>
      <p:sp>
        <p:nvSpPr>
          <p:cNvPr id="48131" name="Rectangle 3"/>
          <p:cNvSpPr>
            <a:spLocks noChangeArrowheads="1"/>
          </p:cNvSpPr>
          <p:nvPr/>
        </p:nvSpPr>
        <p:spPr bwMode="auto">
          <a:xfrm>
            <a:off x="827088" y="908050"/>
            <a:ext cx="3313112"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i="1">
                <a:solidFill>
                  <a:srgbClr val="000080"/>
                </a:solidFill>
              </a:rPr>
              <a:t>y"=- </a:t>
            </a:r>
            <a:r>
              <a:rPr lang="en-US" altLang="zh-CN" i="1">
                <a:solidFill>
                  <a:srgbClr val="000080"/>
                </a:solidFill>
                <a:latin typeface="宋体" pitchFamily="2" charset="-122"/>
              </a:rPr>
              <a:t>π</a:t>
            </a:r>
            <a:r>
              <a:rPr lang="en-US" altLang="zh-CN" i="1" baseline="30000">
                <a:solidFill>
                  <a:srgbClr val="000080"/>
                </a:solidFill>
                <a:latin typeface="宋体" pitchFamily="2" charset="-122"/>
              </a:rPr>
              <a:t>2</a:t>
            </a:r>
            <a:r>
              <a:rPr lang="en-US" altLang="zh-CN" i="1">
                <a:solidFill>
                  <a:srgbClr val="000080"/>
                </a:solidFill>
              </a:rPr>
              <a:t> </a:t>
            </a:r>
            <a:r>
              <a:rPr lang="en-US" altLang="zh-CN" i="1">
                <a:solidFill>
                  <a:srgbClr val="000080"/>
                </a:solidFill>
                <a:latin typeface="宋体" pitchFamily="2" charset="-122"/>
              </a:rPr>
              <a:t>(y+1)/4</a:t>
            </a:r>
          </a:p>
        </p:txBody>
      </p:sp>
      <p:sp>
        <p:nvSpPr>
          <p:cNvPr id="55300" name="Rectangle 4"/>
          <p:cNvSpPr>
            <a:spLocks noChangeArrowheads="1"/>
          </p:cNvSpPr>
          <p:nvPr/>
        </p:nvSpPr>
        <p:spPr bwMode="auto">
          <a:xfrm>
            <a:off x="4859338" y="908050"/>
            <a:ext cx="28194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sz="2800" i="1">
                <a:solidFill>
                  <a:srgbClr val="000080"/>
                </a:solidFill>
              </a:rPr>
              <a:t>y</a:t>
            </a:r>
            <a:r>
              <a:rPr lang="en-US" altLang="zh-CN" sz="2800">
                <a:solidFill>
                  <a:srgbClr val="000000"/>
                </a:solidFill>
              </a:rPr>
              <a:t>(0)=0, y(1)=1</a:t>
            </a:r>
            <a:endParaRPr lang="en-US" altLang="zh-CN" sz="2800"/>
          </a:p>
        </p:txBody>
      </p:sp>
      <p:sp>
        <p:nvSpPr>
          <p:cNvPr id="75787" name="Text Box 2059"/>
          <p:cNvSpPr txBox="1">
            <a:spLocks noChangeArrowheads="1"/>
          </p:cNvSpPr>
          <p:nvPr/>
        </p:nvSpPr>
        <p:spPr bwMode="auto">
          <a:xfrm>
            <a:off x="3203575" y="3500438"/>
            <a:ext cx="2844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3600" i="1">
                <a:solidFill>
                  <a:srgbClr val="000080"/>
                </a:solidFill>
              </a:rPr>
              <a:t>y" </a:t>
            </a:r>
            <a:r>
              <a:rPr lang="en-US" altLang="zh-CN" sz="3600">
                <a:solidFill>
                  <a:srgbClr val="000080"/>
                </a:solidFill>
              </a:rPr>
              <a:t>= </a:t>
            </a:r>
            <a:r>
              <a:rPr lang="en-US" altLang="zh-CN" sz="3600" i="1">
                <a:solidFill>
                  <a:srgbClr val="000080"/>
                </a:solidFill>
              </a:rPr>
              <a:t>f</a:t>
            </a:r>
            <a:r>
              <a:rPr lang="en-US" altLang="zh-CN" sz="3600">
                <a:solidFill>
                  <a:srgbClr val="000080"/>
                </a:solidFill>
              </a:rPr>
              <a:t>(</a:t>
            </a:r>
            <a:r>
              <a:rPr lang="en-US" altLang="zh-CN" sz="3600" i="1">
                <a:solidFill>
                  <a:srgbClr val="000080"/>
                </a:solidFill>
              </a:rPr>
              <a:t>t</a:t>
            </a:r>
            <a:r>
              <a:rPr lang="en-US" altLang="zh-CN" sz="3600">
                <a:solidFill>
                  <a:srgbClr val="000080"/>
                </a:solidFill>
              </a:rPr>
              <a:t>, </a:t>
            </a:r>
            <a:r>
              <a:rPr lang="en-US" altLang="zh-CN" sz="3600" i="1">
                <a:solidFill>
                  <a:srgbClr val="000080"/>
                </a:solidFill>
              </a:rPr>
              <a:t>y</a:t>
            </a:r>
            <a:r>
              <a:rPr lang="en-US" altLang="zh-CN" sz="3600">
                <a:solidFill>
                  <a:srgbClr val="000080"/>
                </a:solidFill>
              </a:rPr>
              <a:t>, </a:t>
            </a:r>
            <a:r>
              <a:rPr lang="en-US" altLang="zh-CN" sz="3600" i="1">
                <a:solidFill>
                  <a:srgbClr val="000080"/>
                </a:solidFill>
              </a:rPr>
              <a:t>y’</a:t>
            </a:r>
            <a:r>
              <a:rPr lang="en-US" altLang="zh-CN" sz="3600">
                <a:solidFill>
                  <a:srgbClr val="000080"/>
                </a:solidFill>
              </a:rPr>
              <a:t>) </a:t>
            </a:r>
          </a:p>
        </p:txBody>
      </p:sp>
      <p:sp>
        <p:nvSpPr>
          <p:cNvPr id="75789" name="Text Box 2061"/>
          <p:cNvSpPr txBox="1">
            <a:spLocks noChangeArrowheads="1"/>
          </p:cNvSpPr>
          <p:nvPr/>
        </p:nvSpPr>
        <p:spPr bwMode="auto">
          <a:xfrm>
            <a:off x="889000" y="4797425"/>
            <a:ext cx="5976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subject to </a:t>
            </a:r>
            <a:r>
              <a:rPr lang="en-US" altLang="zh-CN" i="1">
                <a:solidFill>
                  <a:srgbClr val="000080"/>
                </a:solidFill>
              </a:rPr>
              <a:t>y</a:t>
            </a:r>
            <a:r>
              <a:rPr lang="en-US" altLang="zh-CN">
                <a:solidFill>
                  <a:srgbClr val="000080"/>
                </a:solidFill>
              </a:rPr>
              <a:t>(0) = </a:t>
            </a:r>
            <a:r>
              <a:rPr lang="en-US" altLang="zh-CN" i="1">
                <a:solidFill>
                  <a:srgbClr val="000080"/>
                </a:solidFill>
              </a:rPr>
              <a:t>c</a:t>
            </a:r>
            <a:r>
              <a:rPr lang="en-US" altLang="zh-CN">
                <a:solidFill>
                  <a:srgbClr val="008080"/>
                </a:solidFill>
              </a:rPr>
              <a:t>0 </a:t>
            </a:r>
            <a:r>
              <a:rPr lang="en-US" altLang="zh-CN">
                <a:solidFill>
                  <a:srgbClr val="000000"/>
                </a:solidFill>
              </a:rPr>
              <a:t>and </a:t>
            </a:r>
            <a:r>
              <a:rPr lang="en-US" altLang="zh-CN" i="1">
                <a:solidFill>
                  <a:srgbClr val="000080"/>
                </a:solidFill>
              </a:rPr>
              <a:t>y</a:t>
            </a:r>
            <a:r>
              <a:rPr lang="en-US" altLang="zh-CN">
                <a:solidFill>
                  <a:srgbClr val="000080"/>
                </a:solidFill>
              </a:rPr>
              <a:t>(1) = </a:t>
            </a:r>
            <a:r>
              <a:rPr lang="en-US" altLang="zh-CN" i="1">
                <a:solidFill>
                  <a:srgbClr val="000080"/>
                </a:solidFill>
              </a:rPr>
              <a:t>c</a:t>
            </a:r>
            <a:r>
              <a:rPr lang="en-US" altLang="zh-CN">
                <a:solidFill>
                  <a:srgbClr val="008080"/>
                </a:solidFill>
              </a:rPr>
              <a:t>1</a:t>
            </a:r>
            <a:r>
              <a:rPr lang="en-US" altLang="zh-CN"/>
              <a:t> </a:t>
            </a:r>
          </a:p>
        </p:txBody>
      </p:sp>
      <p:sp>
        <p:nvSpPr>
          <p:cNvPr id="75790" name="Rectangle 2062"/>
          <p:cNvSpPr>
            <a:spLocks noChangeArrowheads="1"/>
          </p:cNvSpPr>
          <p:nvPr/>
        </p:nvSpPr>
        <p:spPr bwMode="auto">
          <a:xfrm>
            <a:off x="1033463" y="5583238"/>
            <a:ext cx="3657600"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(1)=0, y’(0)=0</a:t>
            </a:r>
            <a:endParaRPr lang="en-US" altLang="zh-CN"/>
          </a:p>
        </p:txBody>
      </p:sp>
      <p:sp>
        <p:nvSpPr>
          <p:cNvPr id="75791" name="Rectangle 2063"/>
          <p:cNvSpPr>
            <a:spLocks noChangeArrowheads="1"/>
          </p:cNvSpPr>
          <p:nvPr/>
        </p:nvSpPr>
        <p:spPr bwMode="auto">
          <a:xfrm>
            <a:off x="4992688" y="5511800"/>
            <a:ext cx="2819400"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30000"/>
              </a:lnSpc>
            </a:pPr>
            <a:r>
              <a:rPr lang="en-US" altLang="zh-CN" i="1">
                <a:solidFill>
                  <a:srgbClr val="000080"/>
                </a:solidFill>
              </a:rPr>
              <a:t>y’</a:t>
            </a:r>
            <a:r>
              <a:rPr lang="en-US" altLang="zh-CN">
                <a:solidFill>
                  <a:srgbClr val="000000"/>
                </a:solidFill>
              </a:rPr>
              <a:t>(0)=0, y(1)=0</a:t>
            </a:r>
            <a:endParaRPr lang="en-US" altLang="zh-CN"/>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300"/>
                                        </p:tgtEl>
                                        <p:attrNameLst>
                                          <p:attrName>style.visibility</p:attrName>
                                        </p:attrNameLst>
                                      </p:cBhvr>
                                      <p:to>
                                        <p:strVal val="visible"/>
                                      </p:to>
                                    </p:set>
                                    <p:anim calcmode="lin" valueType="num">
                                      <p:cBhvr additive="base">
                                        <p:cTn id="7" dur="500" fill="hold"/>
                                        <p:tgtEl>
                                          <p:spTgt spid="55300"/>
                                        </p:tgtEl>
                                        <p:attrNameLst>
                                          <p:attrName>ppt_x</p:attrName>
                                        </p:attrNameLst>
                                      </p:cBhvr>
                                      <p:tavLst>
                                        <p:tav tm="0">
                                          <p:val>
                                            <p:strVal val="0-#ppt_w/2"/>
                                          </p:val>
                                        </p:tav>
                                        <p:tav tm="100000">
                                          <p:val>
                                            <p:strVal val="#ppt_x"/>
                                          </p:val>
                                        </p:tav>
                                      </p:tavLst>
                                    </p:anim>
                                    <p:anim calcmode="lin" valueType="num">
                                      <p:cBhvr additive="base">
                                        <p:cTn id="8" dur="500" fill="hold"/>
                                        <p:tgtEl>
                                          <p:spTgt spid="553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298"/>
                                        </p:tgtEl>
                                        <p:attrNameLst>
                                          <p:attrName>style.visibility</p:attrName>
                                        </p:attrNameLst>
                                      </p:cBhvr>
                                      <p:to>
                                        <p:strVal val="visible"/>
                                      </p:to>
                                    </p:set>
                                    <p:anim calcmode="lin" valueType="num">
                                      <p:cBhvr additive="base">
                                        <p:cTn id="13" dur="500" fill="hold"/>
                                        <p:tgtEl>
                                          <p:spTgt spid="55298"/>
                                        </p:tgtEl>
                                        <p:attrNameLst>
                                          <p:attrName>ppt_x</p:attrName>
                                        </p:attrNameLst>
                                      </p:cBhvr>
                                      <p:tavLst>
                                        <p:tav tm="0">
                                          <p:val>
                                            <p:strVal val="0-#ppt_w/2"/>
                                          </p:val>
                                        </p:tav>
                                        <p:tav tm="100000">
                                          <p:val>
                                            <p:strVal val="#ppt_x"/>
                                          </p:val>
                                        </p:tav>
                                      </p:tavLst>
                                    </p:anim>
                                    <p:anim calcmode="lin" valueType="num">
                                      <p:cBhvr additive="base">
                                        <p:cTn id="14" dur="500" fill="hold"/>
                                        <p:tgtEl>
                                          <p:spTgt spid="5529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5787"/>
                                        </p:tgtEl>
                                        <p:attrNameLst>
                                          <p:attrName>style.visibility</p:attrName>
                                        </p:attrNameLst>
                                      </p:cBhvr>
                                      <p:to>
                                        <p:strVal val="visible"/>
                                      </p:to>
                                    </p:set>
                                    <p:anim calcmode="lin" valueType="num">
                                      <p:cBhvr additive="base">
                                        <p:cTn id="19" dur="500" fill="hold"/>
                                        <p:tgtEl>
                                          <p:spTgt spid="75787"/>
                                        </p:tgtEl>
                                        <p:attrNameLst>
                                          <p:attrName>ppt_x</p:attrName>
                                        </p:attrNameLst>
                                      </p:cBhvr>
                                      <p:tavLst>
                                        <p:tav tm="0">
                                          <p:val>
                                            <p:strVal val="0-#ppt_w/2"/>
                                          </p:val>
                                        </p:tav>
                                        <p:tav tm="100000">
                                          <p:val>
                                            <p:strVal val="#ppt_x"/>
                                          </p:val>
                                        </p:tav>
                                      </p:tavLst>
                                    </p:anim>
                                    <p:anim calcmode="lin" valueType="num">
                                      <p:cBhvr additive="base">
                                        <p:cTn id="20" dur="500" fill="hold"/>
                                        <p:tgtEl>
                                          <p:spTgt spid="75787"/>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75789"/>
                                        </p:tgtEl>
                                        <p:attrNameLst>
                                          <p:attrName>style.visibility</p:attrName>
                                        </p:attrNameLst>
                                      </p:cBhvr>
                                      <p:to>
                                        <p:strVal val="visible"/>
                                      </p:to>
                                    </p:set>
                                    <p:anim calcmode="lin" valueType="num">
                                      <p:cBhvr additive="base">
                                        <p:cTn id="24" dur="500" fill="hold"/>
                                        <p:tgtEl>
                                          <p:spTgt spid="75789"/>
                                        </p:tgtEl>
                                        <p:attrNameLst>
                                          <p:attrName>ppt_x</p:attrName>
                                        </p:attrNameLst>
                                      </p:cBhvr>
                                      <p:tavLst>
                                        <p:tav tm="0">
                                          <p:val>
                                            <p:strVal val="0-#ppt_w/2"/>
                                          </p:val>
                                        </p:tav>
                                        <p:tav tm="100000">
                                          <p:val>
                                            <p:strVal val="#ppt_x"/>
                                          </p:val>
                                        </p:tav>
                                      </p:tavLst>
                                    </p:anim>
                                    <p:anim calcmode="lin" valueType="num">
                                      <p:cBhvr additive="base">
                                        <p:cTn id="25" dur="500" fill="hold"/>
                                        <p:tgtEl>
                                          <p:spTgt spid="75789"/>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75790"/>
                                        </p:tgtEl>
                                        <p:attrNameLst>
                                          <p:attrName>style.visibility</p:attrName>
                                        </p:attrNameLst>
                                      </p:cBhvr>
                                      <p:to>
                                        <p:strVal val="visible"/>
                                      </p:to>
                                    </p:set>
                                    <p:anim calcmode="lin" valueType="num">
                                      <p:cBhvr additive="base">
                                        <p:cTn id="29" dur="500" fill="hold"/>
                                        <p:tgtEl>
                                          <p:spTgt spid="75790"/>
                                        </p:tgtEl>
                                        <p:attrNameLst>
                                          <p:attrName>ppt_x</p:attrName>
                                        </p:attrNameLst>
                                      </p:cBhvr>
                                      <p:tavLst>
                                        <p:tav tm="0">
                                          <p:val>
                                            <p:strVal val="0-#ppt_w/2"/>
                                          </p:val>
                                        </p:tav>
                                        <p:tav tm="100000">
                                          <p:val>
                                            <p:strVal val="#ppt_x"/>
                                          </p:val>
                                        </p:tav>
                                      </p:tavLst>
                                    </p:anim>
                                    <p:anim calcmode="lin" valueType="num">
                                      <p:cBhvr additive="base">
                                        <p:cTn id="30" dur="500" fill="hold"/>
                                        <p:tgtEl>
                                          <p:spTgt spid="75790"/>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1500"/>
                            </p:stCondLst>
                            <p:childTnLst>
                              <p:par>
                                <p:cTn id="32" presetID="2" presetClass="entr" presetSubtype="8" fill="hold" grpId="0" nodeType="afterEffect">
                                  <p:stCondLst>
                                    <p:cond delay="0"/>
                                  </p:stCondLst>
                                  <p:childTnLst>
                                    <p:set>
                                      <p:cBhvr>
                                        <p:cTn id="33" dur="1" fill="hold">
                                          <p:stCondLst>
                                            <p:cond delay="0"/>
                                          </p:stCondLst>
                                        </p:cTn>
                                        <p:tgtEl>
                                          <p:spTgt spid="75791"/>
                                        </p:tgtEl>
                                        <p:attrNameLst>
                                          <p:attrName>style.visibility</p:attrName>
                                        </p:attrNameLst>
                                      </p:cBhvr>
                                      <p:to>
                                        <p:strVal val="visible"/>
                                      </p:to>
                                    </p:set>
                                    <p:anim calcmode="lin" valueType="num">
                                      <p:cBhvr additive="base">
                                        <p:cTn id="34" dur="500" fill="hold"/>
                                        <p:tgtEl>
                                          <p:spTgt spid="75791"/>
                                        </p:tgtEl>
                                        <p:attrNameLst>
                                          <p:attrName>ppt_x</p:attrName>
                                        </p:attrNameLst>
                                      </p:cBhvr>
                                      <p:tavLst>
                                        <p:tav tm="0">
                                          <p:val>
                                            <p:strVal val="0-#ppt_w/2"/>
                                          </p:val>
                                        </p:tav>
                                        <p:tav tm="100000">
                                          <p:val>
                                            <p:strVal val="#ppt_x"/>
                                          </p:val>
                                        </p:tav>
                                      </p:tavLst>
                                    </p:anim>
                                    <p:anim calcmode="lin" valueType="num">
                                      <p:cBhvr additive="base">
                                        <p:cTn id="35" dur="500" fill="hold"/>
                                        <p:tgtEl>
                                          <p:spTgt spid="757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utoUpdateAnimBg="0"/>
      <p:bldP spid="55300" grpId="0" autoUpdateAnimBg="0"/>
      <p:bldP spid="75787" grpId="0" autoUpdateAnimBg="0"/>
      <p:bldP spid="75789" grpId="0" autoUpdateAnimBg="0"/>
      <p:bldP spid="75790" grpId="0" autoUpdateAnimBg="0"/>
      <p:bldP spid="75791"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914400" y="358775"/>
            <a:ext cx="43608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00"/>
                </a:solidFill>
              </a:rPr>
              <a:t>8.2.2.2 Linear equations</a:t>
            </a:r>
            <a:r>
              <a:rPr lang="en-US" altLang="zh-CN"/>
              <a:t> </a:t>
            </a:r>
          </a:p>
        </p:txBody>
      </p:sp>
      <p:sp>
        <p:nvSpPr>
          <p:cNvPr id="56323" name="Text Box 3"/>
          <p:cNvSpPr txBox="1">
            <a:spLocks noChangeArrowheads="1"/>
          </p:cNvSpPr>
          <p:nvPr/>
        </p:nvSpPr>
        <p:spPr bwMode="auto">
          <a:xfrm>
            <a:off x="323850" y="1341438"/>
            <a:ext cx="8305800" cy="265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800">
                <a:solidFill>
                  <a:srgbClr val="000000"/>
                </a:solidFill>
              </a:rPr>
              <a:t>The alternative is to rewrite the equations using a finite difference approximation with step size</a:t>
            </a:r>
            <a:endParaRPr lang="en-US" altLang="zh-CN" sz="2800"/>
          </a:p>
          <a:p>
            <a:pPr eaLnBrk="1" hangingPunct="1">
              <a:lnSpc>
                <a:spcPct val="120000"/>
              </a:lnSpc>
            </a:pPr>
            <a:r>
              <a:rPr lang="en-US" altLang="zh-CN" sz="2800">
                <a:solidFill>
                  <a:srgbClr val="008000"/>
                </a:solidFill>
                <a:latin typeface="Symbol" pitchFamily="18" charset="2"/>
              </a:rPr>
              <a:t>D</a:t>
            </a:r>
            <a:r>
              <a:rPr lang="en-US" altLang="zh-CN" sz="2800" i="1">
                <a:solidFill>
                  <a:srgbClr val="000080"/>
                </a:solidFill>
              </a:rPr>
              <a:t>t = </a:t>
            </a:r>
            <a:r>
              <a:rPr lang="en-US" altLang="zh-CN" sz="2800">
                <a:solidFill>
                  <a:srgbClr val="000080"/>
                </a:solidFill>
              </a:rPr>
              <a:t>(</a:t>
            </a:r>
            <a:r>
              <a:rPr lang="en-US" altLang="zh-CN" sz="2800" i="1">
                <a:solidFill>
                  <a:srgbClr val="000080"/>
                </a:solidFill>
              </a:rPr>
              <a:t>t</a:t>
            </a:r>
            <a:r>
              <a:rPr lang="en-US" altLang="zh-CN" sz="2800">
                <a:solidFill>
                  <a:srgbClr val="008080"/>
                </a:solidFill>
              </a:rPr>
              <a:t>1</a:t>
            </a:r>
            <a:r>
              <a:rPr lang="en-US" altLang="zh-CN" sz="2800">
                <a:solidFill>
                  <a:srgbClr val="000080"/>
                </a:solidFill>
              </a:rPr>
              <a:t>–</a:t>
            </a:r>
            <a:r>
              <a:rPr lang="en-US" altLang="zh-CN" sz="2800" i="1">
                <a:solidFill>
                  <a:srgbClr val="000080"/>
                </a:solidFill>
              </a:rPr>
              <a:t>t</a:t>
            </a:r>
            <a:r>
              <a:rPr lang="en-US" altLang="zh-CN" sz="2800">
                <a:solidFill>
                  <a:srgbClr val="008080"/>
                </a:solidFill>
              </a:rPr>
              <a:t>0</a:t>
            </a:r>
            <a:r>
              <a:rPr lang="en-US" altLang="zh-CN" sz="2800">
                <a:solidFill>
                  <a:srgbClr val="000080"/>
                </a:solidFill>
              </a:rPr>
              <a:t>)/</a:t>
            </a:r>
            <a:r>
              <a:rPr lang="en-US" altLang="zh-CN" sz="2800" i="1">
                <a:solidFill>
                  <a:srgbClr val="000080"/>
                </a:solidFill>
              </a:rPr>
              <a:t>N </a:t>
            </a:r>
            <a:r>
              <a:rPr lang="en-US" altLang="zh-CN" sz="2800">
                <a:solidFill>
                  <a:srgbClr val="000000"/>
                </a:solidFill>
              </a:rPr>
              <a:t>to produce a system of </a:t>
            </a:r>
            <a:r>
              <a:rPr lang="en-US" altLang="zh-CN" sz="2800" i="1">
                <a:solidFill>
                  <a:srgbClr val="000080"/>
                </a:solidFill>
              </a:rPr>
              <a:t>N+</a:t>
            </a:r>
            <a:r>
              <a:rPr lang="en-US" altLang="zh-CN" sz="2800">
                <a:solidFill>
                  <a:srgbClr val="000080"/>
                </a:solidFill>
              </a:rPr>
              <a:t>1 </a:t>
            </a:r>
            <a:r>
              <a:rPr lang="en-US" altLang="zh-CN" sz="2800">
                <a:solidFill>
                  <a:srgbClr val="000000"/>
                </a:solidFill>
              </a:rPr>
              <a:t>simultaneous equations. Consider the second order linear system</a:t>
            </a:r>
            <a:endParaRPr lang="en-US" altLang="zh-CN" sz="2800"/>
          </a:p>
        </p:txBody>
      </p:sp>
      <p:sp>
        <p:nvSpPr>
          <p:cNvPr id="56324" name="Text Box 4"/>
          <p:cNvSpPr txBox="1">
            <a:spLocks noChangeArrowheads="1"/>
          </p:cNvSpPr>
          <p:nvPr/>
        </p:nvSpPr>
        <p:spPr bwMode="auto">
          <a:xfrm>
            <a:off x="2987675" y="4025900"/>
            <a:ext cx="3644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3600" i="1">
                <a:solidFill>
                  <a:srgbClr val="000080"/>
                </a:solidFill>
              </a:rPr>
              <a:t>y" + ay ' + by = c</a:t>
            </a:r>
            <a:r>
              <a:rPr lang="en-US" altLang="zh-CN" sz="3600" i="1">
                <a:solidFill>
                  <a:srgbClr val="000000"/>
                </a:solidFill>
              </a:rPr>
              <a:t>,</a:t>
            </a:r>
            <a:r>
              <a:rPr lang="en-US" altLang="zh-CN" sz="3600" i="1"/>
              <a:t> </a:t>
            </a:r>
          </a:p>
        </p:txBody>
      </p:sp>
      <p:sp>
        <p:nvSpPr>
          <p:cNvPr id="56325" name="Text Box 5"/>
          <p:cNvSpPr txBox="1">
            <a:spLocks noChangeArrowheads="1"/>
          </p:cNvSpPr>
          <p:nvPr/>
        </p:nvSpPr>
        <p:spPr bwMode="auto">
          <a:xfrm>
            <a:off x="228600" y="4979988"/>
            <a:ext cx="58197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with boundary conditions </a:t>
            </a:r>
            <a:r>
              <a:rPr lang="en-US" altLang="zh-CN" i="1">
                <a:solidFill>
                  <a:srgbClr val="000080"/>
                </a:solidFill>
              </a:rPr>
              <a:t>y(t</a:t>
            </a:r>
            <a:r>
              <a:rPr lang="en-US" altLang="zh-CN" i="1">
                <a:solidFill>
                  <a:srgbClr val="008080"/>
                </a:solidFill>
              </a:rPr>
              <a:t>0</a:t>
            </a:r>
            <a:r>
              <a:rPr lang="en-US" altLang="zh-CN" i="1">
                <a:solidFill>
                  <a:srgbClr val="000080"/>
                </a:solidFill>
              </a:rPr>
              <a:t>) = </a:t>
            </a:r>
            <a:r>
              <a:rPr lang="en-US" altLang="zh-CN" i="1">
                <a:solidFill>
                  <a:srgbClr val="008000"/>
                </a:solidFill>
                <a:latin typeface="Symbol" pitchFamily="18" charset="2"/>
              </a:rPr>
              <a:t>a</a:t>
            </a:r>
            <a:r>
              <a:rPr lang="en-US" altLang="zh-CN" i="1">
                <a:solidFill>
                  <a:srgbClr val="000000"/>
                </a:solidFill>
              </a:rPr>
              <a:t>.</a:t>
            </a:r>
            <a:r>
              <a:rPr lang="en-US" altLang="zh-CN" sz="2800">
                <a:solidFill>
                  <a:srgbClr val="000000"/>
                </a:solidFill>
              </a:rPr>
              <a:t> </a:t>
            </a:r>
          </a:p>
        </p:txBody>
      </p:sp>
      <p:sp>
        <p:nvSpPr>
          <p:cNvPr id="56327" name="Text Box 7"/>
          <p:cNvSpPr txBox="1">
            <a:spLocks noChangeArrowheads="1"/>
          </p:cNvSpPr>
          <p:nvPr/>
        </p:nvSpPr>
        <p:spPr bwMode="auto">
          <a:xfrm>
            <a:off x="2843213" y="5827713"/>
            <a:ext cx="38671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and  </a:t>
            </a:r>
            <a:r>
              <a:rPr lang="en-US" altLang="zh-CN" i="1">
                <a:solidFill>
                  <a:srgbClr val="000080"/>
                </a:solidFill>
              </a:rPr>
              <a:t>y(t</a:t>
            </a:r>
            <a:r>
              <a:rPr lang="en-US" altLang="zh-CN" i="1">
                <a:solidFill>
                  <a:srgbClr val="008080"/>
                </a:solidFill>
              </a:rPr>
              <a:t>1</a:t>
            </a:r>
            <a:r>
              <a:rPr lang="en-US" altLang="zh-CN" i="1">
                <a:solidFill>
                  <a:srgbClr val="000080"/>
                </a:solidFill>
              </a:rPr>
              <a:t>) + y'(t</a:t>
            </a:r>
            <a:r>
              <a:rPr lang="en-US" altLang="zh-CN" i="1">
                <a:solidFill>
                  <a:srgbClr val="008080"/>
                </a:solidFill>
              </a:rPr>
              <a:t>1</a:t>
            </a:r>
            <a:r>
              <a:rPr lang="en-US" altLang="zh-CN" i="1">
                <a:solidFill>
                  <a:srgbClr val="000080"/>
                </a:solidFill>
              </a:rPr>
              <a:t>) = </a:t>
            </a:r>
            <a:r>
              <a:rPr lang="en-US" altLang="zh-CN" i="1">
                <a:solidFill>
                  <a:srgbClr val="008000"/>
                </a:solidFill>
                <a:latin typeface="Symbol" pitchFamily="18" charset="2"/>
              </a:rPr>
              <a:t>b</a:t>
            </a:r>
            <a:r>
              <a:rPr lang="en-US" altLang="zh-CN" i="1">
                <a:solidFill>
                  <a:srgbClr val="000000"/>
                </a:solidFill>
              </a:rPr>
              <a:t>.</a:t>
            </a:r>
            <a:r>
              <a:rPr lang="en-US" altLang="zh-CN" sz="2800">
                <a:solidFill>
                  <a:srgbClr val="000000"/>
                </a:solidFill>
              </a:rPr>
              <a:t> </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23"/>
                                        </p:tgtEl>
                                        <p:attrNameLst>
                                          <p:attrName>style.visibility</p:attrName>
                                        </p:attrNameLst>
                                      </p:cBhvr>
                                      <p:to>
                                        <p:strVal val="visible"/>
                                      </p:to>
                                    </p:set>
                                    <p:anim calcmode="lin" valueType="num">
                                      <p:cBhvr additive="base">
                                        <p:cTn id="7" dur="500" fill="hold"/>
                                        <p:tgtEl>
                                          <p:spTgt spid="56323"/>
                                        </p:tgtEl>
                                        <p:attrNameLst>
                                          <p:attrName>ppt_x</p:attrName>
                                        </p:attrNameLst>
                                      </p:cBhvr>
                                      <p:tavLst>
                                        <p:tav tm="0">
                                          <p:val>
                                            <p:strVal val="0-#ppt_w/2"/>
                                          </p:val>
                                        </p:tav>
                                        <p:tav tm="100000">
                                          <p:val>
                                            <p:strVal val="#ppt_x"/>
                                          </p:val>
                                        </p:tav>
                                      </p:tavLst>
                                    </p:anim>
                                    <p:anim calcmode="lin" valueType="num">
                                      <p:cBhvr additive="base">
                                        <p:cTn id="8" dur="500" fill="hold"/>
                                        <p:tgtEl>
                                          <p:spTgt spid="5632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6324"/>
                                        </p:tgtEl>
                                        <p:attrNameLst>
                                          <p:attrName>style.visibility</p:attrName>
                                        </p:attrNameLst>
                                      </p:cBhvr>
                                      <p:to>
                                        <p:strVal val="visible"/>
                                      </p:to>
                                    </p:set>
                                    <p:anim calcmode="lin" valueType="num">
                                      <p:cBhvr additive="base">
                                        <p:cTn id="13" dur="500" fill="hold"/>
                                        <p:tgtEl>
                                          <p:spTgt spid="56324"/>
                                        </p:tgtEl>
                                        <p:attrNameLst>
                                          <p:attrName>ppt_x</p:attrName>
                                        </p:attrNameLst>
                                      </p:cBhvr>
                                      <p:tavLst>
                                        <p:tav tm="0">
                                          <p:val>
                                            <p:strVal val="0-#ppt_w/2"/>
                                          </p:val>
                                        </p:tav>
                                        <p:tav tm="100000">
                                          <p:val>
                                            <p:strVal val="#ppt_x"/>
                                          </p:val>
                                        </p:tav>
                                      </p:tavLst>
                                    </p:anim>
                                    <p:anim calcmode="lin" valueType="num">
                                      <p:cBhvr additive="base">
                                        <p:cTn id="14" dur="500" fill="hold"/>
                                        <p:tgtEl>
                                          <p:spTgt spid="5632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6325"/>
                                        </p:tgtEl>
                                        <p:attrNameLst>
                                          <p:attrName>style.visibility</p:attrName>
                                        </p:attrNameLst>
                                      </p:cBhvr>
                                      <p:to>
                                        <p:strVal val="visible"/>
                                      </p:to>
                                    </p:set>
                                    <p:anim calcmode="lin" valueType="num">
                                      <p:cBhvr additive="base">
                                        <p:cTn id="19" dur="500" fill="hold"/>
                                        <p:tgtEl>
                                          <p:spTgt spid="56325"/>
                                        </p:tgtEl>
                                        <p:attrNameLst>
                                          <p:attrName>ppt_x</p:attrName>
                                        </p:attrNameLst>
                                      </p:cBhvr>
                                      <p:tavLst>
                                        <p:tav tm="0">
                                          <p:val>
                                            <p:strVal val="0-#ppt_w/2"/>
                                          </p:val>
                                        </p:tav>
                                        <p:tav tm="100000">
                                          <p:val>
                                            <p:strVal val="#ppt_x"/>
                                          </p:val>
                                        </p:tav>
                                      </p:tavLst>
                                    </p:anim>
                                    <p:anim calcmode="lin" valueType="num">
                                      <p:cBhvr additive="base">
                                        <p:cTn id="20" dur="500" fill="hold"/>
                                        <p:tgtEl>
                                          <p:spTgt spid="5632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6327"/>
                                        </p:tgtEl>
                                        <p:attrNameLst>
                                          <p:attrName>style.visibility</p:attrName>
                                        </p:attrNameLst>
                                      </p:cBhvr>
                                      <p:to>
                                        <p:strVal val="visible"/>
                                      </p:to>
                                    </p:set>
                                    <p:anim calcmode="lin" valueType="num">
                                      <p:cBhvr additive="base">
                                        <p:cTn id="25" dur="500" fill="hold"/>
                                        <p:tgtEl>
                                          <p:spTgt spid="56327"/>
                                        </p:tgtEl>
                                        <p:attrNameLst>
                                          <p:attrName>ppt_x</p:attrName>
                                        </p:attrNameLst>
                                      </p:cBhvr>
                                      <p:tavLst>
                                        <p:tav tm="0">
                                          <p:val>
                                            <p:strVal val="0-#ppt_w/2"/>
                                          </p:val>
                                        </p:tav>
                                        <p:tav tm="100000">
                                          <p:val>
                                            <p:strVal val="#ppt_x"/>
                                          </p:val>
                                        </p:tav>
                                      </p:tavLst>
                                    </p:anim>
                                    <p:anim calcmode="lin" valueType="num">
                                      <p:cBhvr additive="base">
                                        <p:cTn id="26" dur="500" fill="hold"/>
                                        <p:tgtEl>
                                          <p:spTgt spid="563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autoUpdateAnimBg="0"/>
      <p:bldP spid="56324" grpId="0" autoUpdateAnimBg="0"/>
      <p:bldP spid="56325" grpId="0" autoUpdateAnimBg="0"/>
      <p:bldP spid="56327"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684213" y="2008188"/>
            <a:ext cx="3689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30000">
                <a:solidFill>
                  <a:srgbClr val="008080"/>
                </a:solidFill>
              </a:rPr>
              <a:t>i</a:t>
            </a:r>
            <a:r>
              <a:rPr lang="en-US" altLang="zh-CN" i="1">
                <a:solidFill>
                  <a:srgbClr val="008080"/>
                </a:solidFill>
              </a:rPr>
              <a:t> </a:t>
            </a:r>
            <a:r>
              <a:rPr lang="en-US" altLang="zh-CN" i="1">
                <a:solidFill>
                  <a:srgbClr val="008080"/>
                </a:solidFill>
                <a:sym typeface="Symbol" pitchFamily="18" charset="2"/>
              </a:rPr>
              <a:t></a:t>
            </a:r>
            <a:r>
              <a:rPr lang="en-US" altLang="zh-CN">
                <a:solidFill>
                  <a:srgbClr val="000080"/>
                </a:solidFill>
                <a:latin typeface="Symbol" pitchFamily="18" charset="2"/>
              </a:rPr>
              <a:t> </a:t>
            </a:r>
            <a:r>
              <a:rPr lang="en-US" altLang="zh-CN">
                <a:solidFill>
                  <a:srgbClr val="000080"/>
                </a:solidFill>
              </a:rPr>
              <a:t>(</a:t>
            </a:r>
            <a:r>
              <a:rPr lang="en-US" altLang="zh-CN" i="1">
                <a:solidFill>
                  <a:srgbClr val="000080"/>
                </a:solidFill>
              </a:rPr>
              <a:t>Y</a:t>
            </a:r>
            <a:r>
              <a:rPr lang="en-US" altLang="zh-CN" i="1" baseline="-30000">
                <a:solidFill>
                  <a:srgbClr val="008080"/>
                </a:solidFill>
              </a:rPr>
              <a:t>i+1</a:t>
            </a:r>
            <a:r>
              <a:rPr lang="en-US" altLang="zh-CN">
                <a:solidFill>
                  <a:srgbClr val="008080"/>
                </a:solidFill>
              </a:rPr>
              <a:t> </a:t>
            </a:r>
            <a:r>
              <a:rPr lang="en-US" altLang="zh-CN" i="1">
                <a:solidFill>
                  <a:srgbClr val="000080"/>
                </a:solidFill>
              </a:rPr>
              <a:t>– Y</a:t>
            </a:r>
            <a:r>
              <a:rPr lang="en-US" altLang="zh-CN" i="1" baseline="-30000">
                <a:solidFill>
                  <a:srgbClr val="008080"/>
                </a:solidFill>
              </a:rPr>
              <a:t>i-1</a:t>
            </a:r>
            <a:r>
              <a:rPr lang="en-US" altLang="zh-CN">
                <a:solidFill>
                  <a:srgbClr val="000080"/>
                </a:solidFill>
              </a:rPr>
              <a:t>)/2</a:t>
            </a:r>
            <a:r>
              <a:rPr lang="en-US" altLang="zh-CN">
                <a:solidFill>
                  <a:srgbClr val="008000"/>
                </a:solidFill>
                <a:latin typeface="Symbol" pitchFamily="18" charset="2"/>
              </a:rPr>
              <a:t>D</a:t>
            </a:r>
            <a:r>
              <a:rPr lang="en-US" altLang="zh-CN" i="1">
                <a:solidFill>
                  <a:srgbClr val="000080"/>
                </a:solidFill>
              </a:rPr>
              <a:t>t</a:t>
            </a:r>
            <a:r>
              <a:rPr lang="en-US" altLang="zh-CN">
                <a:solidFill>
                  <a:srgbClr val="000000"/>
                </a:solidFill>
              </a:rPr>
              <a:t>, </a:t>
            </a:r>
          </a:p>
        </p:txBody>
      </p:sp>
      <p:sp>
        <p:nvSpPr>
          <p:cNvPr id="57347" name="Text Box 3"/>
          <p:cNvSpPr txBox="1">
            <a:spLocks noChangeArrowheads="1"/>
          </p:cNvSpPr>
          <p:nvPr/>
        </p:nvSpPr>
        <p:spPr bwMode="auto">
          <a:xfrm>
            <a:off x="611188" y="2849563"/>
            <a:ext cx="4591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30000">
                <a:solidFill>
                  <a:srgbClr val="008080"/>
                </a:solidFill>
              </a:rPr>
              <a:t>i</a:t>
            </a:r>
            <a:r>
              <a:rPr lang="en-US" altLang="zh-CN" i="1">
                <a:solidFill>
                  <a:srgbClr val="008080"/>
                </a:solidFill>
              </a:rPr>
              <a:t> </a:t>
            </a:r>
            <a:r>
              <a:rPr lang="en-US" altLang="zh-CN" i="1">
                <a:solidFill>
                  <a:srgbClr val="008080"/>
                </a:solidFill>
                <a:sym typeface="Symbol" pitchFamily="18" charset="2"/>
              </a:rPr>
              <a:t></a:t>
            </a:r>
            <a:r>
              <a:rPr lang="en-US" altLang="zh-CN">
                <a:solidFill>
                  <a:srgbClr val="000080"/>
                </a:solidFill>
                <a:latin typeface="Symbol" pitchFamily="18" charset="2"/>
              </a:rPr>
              <a:t> </a:t>
            </a:r>
            <a:r>
              <a:rPr lang="en-US" altLang="zh-CN">
                <a:solidFill>
                  <a:srgbClr val="000080"/>
                </a:solidFill>
              </a:rPr>
              <a:t>(</a:t>
            </a:r>
            <a:r>
              <a:rPr lang="en-US" altLang="zh-CN" i="1">
                <a:solidFill>
                  <a:srgbClr val="000080"/>
                </a:solidFill>
              </a:rPr>
              <a:t>Y</a:t>
            </a:r>
            <a:r>
              <a:rPr lang="en-US" altLang="zh-CN" i="1" baseline="-30000">
                <a:solidFill>
                  <a:srgbClr val="008080"/>
                </a:solidFill>
              </a:rPr>
              <a:t>i+1</a:t>
            </a:r>
            <a:r>
              <a:rPr lang="en-US" altLang="zh-CN">
                <a:solidFill>
                  <a:srgbClr val="008080"/>
                </a:solidFill>
              </a:rPr>
              <a:t> </a:t>
            </a:r>
            <a:r>
              <a:rPr lang="en-US" altLang="zh-CN" i="1">
                <a:solidFill>
                  <a:srgbClr val="000080"/>
                </a:solidFill>
              </a:rPr>
              <a:t>– </a:t>
            </a:r>
            <a:r>
              <a:rPr lang="en-US" altLang="zh-CN">
                <a:solidFill>
                  <a:srgbClr val="000080"/>
                </a:solidFill>
              </a:rPr>
              <a:t>2</a:t>
            </a:r>
            <a:r>
              <a:rPr lang="en-US" altLang="zh-CN" i="1">
                <a:solidFill>
                  <a:srgbClr val="000080"/>
                </a:solidFill>
              </a:rPr>
              <a:t>Y</a:t>
            </a:r>
            <a:r>
              <a:rPr lang="en-US" altLang="zh-CN" i="1" baseline="-30000">
                <a:solidFill>
                  <a:srgbClr val="008080"/>
                </a:solidFill>
              </a:rPr>
              <a:t>i</a:t>
            </a:r>
            <a:r>
              <a:rPr lang="en-US" altLang="zh-CN" i="1">
                <a:solidFill>
                  <a:srgbClr val="008080"/>
                </a:solidFill>
              </a:rPr>
              <a:t> </a:t>
            </a:r>
            <a:r>
              <a:rPr lang="en-US" altLang="zh-CN">
                <a:solidFill>
                  <a:srgbClr val="000080"/>
                </a:solidFill>
              </a:rPr>
              <a:t>+ </a:t>
            </a:r>
            <a:r>
              <a:rPr lang="en-US" altLang="zh-CN" i="1">
                <a:solidFill>
                  <a:srgbClr val="000080"/>
                </a:solidFill>
              </a:rPr>
              <a:t>Y</a:t>
            </a:r>
            <a:r>
              <a:rPr lang="en-US" altLang="zh-CN" i="1" baseline="-30000">
                <a:solidFill>
                  <a:srgbClr val="008080"/>
                </a:solidFill>
              </a:rPr>
              <a:t>i-1</a:t>
            </a:r>
            <a:r>
              <a:rPr lang="en-US" altLang="zh-CN">
                <a:solidFill>
                  <a:srgbClr val="000080"/>
                </a:solidFill>
              </a:rPr>
              <a:t>)/</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t> </a:t>
            </a:r>
          </a:p>
        </p:txBody>
      </p:sp>
      <p:sp>
        <p:nvSpPr>
          <p:cNvPr id="57348" name="Text Box 4"/>
          <p:cNvSpPr txBox="1">
            <a:spLocks noChangeArrowheads="1"/>
          </p:cNvSpPr>
          <p:nvPr/>
        </p:nvSpPr>
        <p:spPr bwMode="auto">
          <a:xfrm>
            <a:off x="250825" y="3789363"/>
            <a:ext cx="35290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Substitution into</a:t>
            </a:r>
          </a:p>
        </p:txBody>
      </p:sp>
      <p:sp>
        <p:nvSpPr>
          <p:cNvPr id="50181" name="Text Box 6"/>
          <p:cNvSpPr txBox="1">
            <a:spLocks noChangeArrowheads="1"/>
          </p:cNvSpPr>
          <p:nvPr/>
        </p:nvSpPr>
        <p:spPr bwMode="auto">
          <a:xfrm>
            <a:off x="1403350" y="333375"/>
            <a:ext cx="32623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 </a:t>
            </a:r>
            <a:r>
              <a:rPr lang="en-US" altLang="zh-CN">
                <a:solidFill>
                  <a:srgbClr val="000080"/>
                </a:solidFill>
              </a:rPr>
              <a:t>+ </a:t>
            </a:r>
            <a:r>
              <a:rPr lang="en-US" altLang="zh-CN" i="1">
                <a:solidFill>
                  <a:srgbClr val="000080"/>
                </a:solidFill>
              </a:rPr>
              <a:t>ay ' </a:t>
            </a:r>
            <a:r>
              <a:rPr lang="en-US" altLang="zh-CN">
                <a:solidFill>
                  <a:srgbClr val="000080"/>
                </a:solidFill>
              </a:rPr>
              <a:t>+ </a:t>
            </a:r>
            <a:r>
              <a:rPr lang="en-US" altLang="zh-CN" i="1">
                <a:solidFill>
                  <a:srgbClr val="000080"/>
                </a:solidFill>
              </a:rPr>
              <a:t>by </a:t>
            </a:r>
            <a:r>
              <a:rPr lang="en-US" altLang="zh-CN">
                <a:solidFill>
                  <a:srgbClr val="000080"/>
                </a:solidFill>
              </a:rPr>
              <a:t>= </a:t>
            </a:r>
            <a:r>
              <a:rPr lang="en-US" altLang="zh-CN" i="1">
                <a:solidFill>
                  <a:srgbClr val="000080"/>
                </a:solidFill>
              </a:rPr>
              <a:t>c</a:t>
            </a:r>
            <a:r>
              <a:rPr lang="en-US" altLang="zh-CN">
                <a:solidFill>
                  <a:srgbClr val="000000"/>
                </a:solidFill>
              </a:rPr>
              <a:t>,</a:t>
            </a:r>
            <a:r>
              <a:rPr lang="en-US" altLang="zh-CN"/>
              <a:t> </a:t>
            </a:r>
          </a:p>
        </p:txBody>
      </p:sp>
      <p:sp>
        <p:nvSpPr>
          <p:cNvPr id="57354" name="Text Box 10"/>
          <p:cNvSpPr txBox="1">
            <a:spLocks noChangeArrowheads="1"/>
          </p:cNvSpPr>
          <p:nvPr/>
        </p:nvSpPr>
        <p:spPr bwMode="auto">
          <a:xfrm>
            <a:off x="533400" y="1143000"/>
            <a:ext cx="754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If we use the central difference approximations</a:t>
            </a:r>
            <a:r>
              <a:rPr lang="en-US" altLang="zh-CN" sz="2800"/>
              <a:t> </a:t>
            </a:r>
          </a:p>
        </p:txBody>
      </p:sp>
      <p:sp>
        <p:nvSpPr>
          <p:cNvPr id="57355" name="Rectangle 11"/>
          <p:cNvSpPr>
            <a:spLocks noChangeArrowheads="1"/>
          </p:cNvSpPr>
          <p:nvPr/>
        </p:nvSpPr>
        <p:spPr bwMode="auto">
          <a:xfrm>
            <a:off x="5715000" y="1916113"/>
            <a:ext cx="24923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8000"/>
                </a:solidFill>
                <a:latin typeface="Symbol" pitchFamily="18" charset="2"/>
              </a:rPr>
              <a:t>D</a:t>
            </a:r>
            <a:r>
              <a:rPr lang="en-US" altLang="zh-CN" i="1">
                <a:solidFill>
                  <a:srgbClr val="000080"/>
                </a:solidFill>
              </a:rPr>
              <a:t>t = </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a:t>
            </a:r>
            <a:r>
              <a:rPr lang="en-US" altLang="zh-CN" i="1">
                <a:solidFill>
                  <a:srgbClr val="000080"/>
                </a:solidFill>
              </a:rPr>
              <a:t>t</a:t>
            </a:r>
            <a:r>
              <a:rPr lang="en-US" altLang="zh-CN">
                <a:solidFill>
                  <a:srgbClr val="008080"/>
                </a:solidFill>
              </a:rPr>
              <a:t>0</a:t>
            </a:r>
            <a:r>
              <a:rPr lang="en-US" altLang="zh-CN">
                <a:solidFill>
                  <a:srgbClr val="000080"/>
                </a:solidFill>
              </a:rPr>
              <a:t>)/</a:t>
            </a:r>
            <a:r>
              <a:rPr lang="en-US" altLang="zh-CN" i="1">
                <a:solidFill>
                  <a:srgbClr val="000080"/>
                </a:solidFill>
              </a:rPr>
              <a:t>N</a:t>
            </a:r>
          </a:p>
        </p:txBody>
      </p:sp>
      <p:sp>
        <p:nvSpPr>
          <p:cNvPr id="57356" name="Rectangle 12"/>
          <p:cNvSpPr>
            <a:spLocks noChangeArrowheads="1"/>
          </p:cNvSpPr>
          <p:nvPr/>
        </p:nvSpPr>
        <p:spPr bwMode="auto">
          <a:xfrm>
            <a:off x="5940425" y="2708275"/>
            <a:ext cx="2174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i = </a:t>
            </a:r>
            <a:r>
              <a:rPr lang="en-US" altLang="zh-CN">
                <a:solidFill>
                  <a:srgbClr val="008080"/>
                </a:solidFill>
              </a:rPr>
              <a:t>1</a:t>
            </a:r>
            <a:r>
              <a:rPr lang="en-US" altLang="zh-CN">
                <a:solidFill>
                  <a:srgbClr val="000080"/>
                </a:solidFill>
              </a:rPr>
              <a:t>–---</a:t>
            </a:r>
            <a:r>
              <a:rPr lang="en-US" altLang="zh-CN" i="1">
                <a:solidFill>
                  <a:srgbClr val="000080"/>
                </a:solidFill>
              </a:rPr>
              <a:t>N-1</a:t>
            </a:r>
          </a:p>
        </p:txBody>
      </p:sp>
      <p:sp>
        <p:nvSpPr>
          <p:cNvPr id="57359" name="Text Box 15"/>
          <p:cNvSpPr txBox="1">
            <a:spLocks noChangeArrowheads="1"/>
          </p:cNvSpPr>
          <p:nvPr/>
        </p:nvSpPr>
        <p:spPr bwMode="auto">
          <a:xfrm>
            <a:off x="4067175" y="3883025"/>
            <a:ext cx="3644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3600" i="1">
                <a:solidFill>
                  <a:srgbClr val="000080"/>
                </a:solidFill>
              </a:rPr>
              <a:t>y" </a:t>
            </a:r>
            <a:r>
              <a:rPr lang="en-US" altLang="zh-CN" sz="3600">
                <a:solidFill>
                  <a:srgbClr val="000080"/>
                </a:solidFill>
              </a:rPr>
              <a:t>+ </a:t>
            </a:r>
            <a:r>
              <a:rPr lang="en-US" altLang="zh-CN" sz="3600" i="1">
                <a:solidFill>
                  <a:srgbClr val="000080"/>
                </a:solidFill>
              </a:rPr>
              <a:t>ay ' </a:t>
            </a:r>
            <a:r>
              <a:rPr lang="en-US" altLang="zh-CN" sz="3600">
                <a:solidFill>
                  <a:srgbClr val="000080"/>
                </a:solidFill>
              </a:rPr>
              <a:t>+ </a:t>
            </a:r>
            <a:r>
              <a:rPr lang="en-US" altLang="zh-CN" sz="3600" i="1">
                <a:solidFill>
                  <a:srgbClr val="000080"/>
                </a:solidFill>
              </a:rPr>
              <a:t>by </a:t>
            </a:r>
            <a:r>
              <a:rPr lang="en-US" altLang="zh-CN" sz="3600">
                <a:solidFill>
                  <a:srgbClr val="000080"/>
                </a:solidFill>
              </a:rPr>
              <a:t>= </a:t>
            </a:r>
            <a:r>
              <a:rPr lang="en-US" altLang="zh-CN" sz="3600" i="1">
                <a:solidFill>
                  <a:srgbClr val="000080"/>
                </a:solidFill>
              </a:rPr>
              <a:t>c</a:t>
            </a:r>
            <a:r>
              <a:rPr lang="en-US" altLang="zh-CN" sz="3600">
                <a:solidFill>
                  <a:srgbClr val="000000"/>
                </a:solidFill>
              </a:rPr>
              <a:t>,</a:t>
            </a:r>
            <a:r>
              <a:rPr lang="en-US" altLang="zh-CN" sz="3600"/>
              <a:t> </a:t>
            </a:r>
          </a:p>
        </p:txBody>
      </p:sp>
      <p:sp>
        <p:nvSpPr>
          <p:cNvPr id="81938" name="Text Box 1042"/>
          <p:cNvSpPr txBox="1">
            <a:spLocks noChangeArrowheads="1"/>
          </p:cNvSpPr>
          <p:nvPr/>
        </p:nvSpPr>
        <p:spPr bwMode="auto">
          <a:xfrm>
            <a:off x="323850" y="5154613"/>
            <a:ext cx="8280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 </a:t>
            </a:r>
            <a:r>
              <a:rPr lang="en-US" altLang="zh-CN">
                <a:solidFill>
                  <a:srgbClr val="000080"/>
                </a:solidFill>
              </a:rPr>
              <a:t>(</a:t>
            </a:r>
            <a:r>
              <a:rPr lang="en-US" altLang="zh-CN" i="1">
                <a:solidFill>
                  <a:srgbClr val="000080"/>
                </a:solidFill>
              </a:rPr>
              <a:t>Y</a:t>
            </a:r>
            <a:r>
              <a:rPr lang="en-US" altLang="zh-CN" i="1" baseline="-30000">
                <a:solidFill>
                  <a:srgbClr val="008080"/>
                </a:solidFill>
              </a:rPr>
              <a:t>i+1</a:t>
            </a:r>
            <a:r>
              <a:rPr lang="en-US" altLang="zh-CN">
                <a:solidFill>
                  <a:srgbClr val="008080"/>
                </a:solidFill>
              </a:rPr>
              <a:t> </a:t>
            </a:r>
            <a:r>
              <a:rPr lang="en-US" altLang="zh-CN" i="1">
                <a:solidFill>
                  <a:srgbClr val="000080"/>
                </a:solidFill>
              </a:rPr>
              <a:t>– </a:t>
            </a:r>
            <a:r>
              <a:rPr lang="en-US" altLang="zh-CN">
                <a:solidFill>
                  <a:srgbClr val="000080"/>
                </a:solidFill>
              </a:rPr>
              <a:t>2</a:t>
            </a:r>
            <a:r>
              <a:rPr lang="en-US" altLang="zh-CN" i="1">
                <a:solidFill>
                  <a:srgbClr val="000080"/>
                </a:solidFill>
              </a:rPr>
              <a:t>Y</a:t>
            </a:r>
            <a:r>
              <a:rPr lang="en-US" altLang="zh-CN" i="1" baseline="-30000">
                <a:solidFill>
                  <a:srgbClr val="008080"/>
                </a:solidFill>
              </a:rPr>
              <a:t>i</a:t>
            </a:r>
            <a:r>
              <a:rPr lang="en-US" altLang="zh-CN" i="1">
                <a:solidFill>
                  <a:srgbClr val="008080"/>
                </a:solidFill>
              </a:rPr>
              <a:t> </a:t>
            </a:r>
            <a:r>
              <a:rPr lang="en-US" altLang="zh-CN">
                <a:solidFill>
                  <a:srgbClr val="000080"/>
                </a:solidFill>
              </a:rPr>
              <a:t>+ </a:t>
            </a:r>
            <a:r>
              <a:rPr lang="en-US" altLang="zh-CN" i="1">
                <a:solidFill>
                  <a:srgbClr val="000080"/>
                </a:solidFill>
              </a:rPr>
              <a:t>Y</a:t>
            </a:r>
            <a:r>
              <a:rPr lang="en-US" altLang="zh-CN" i="1" baseline="-30000">
                <a:solidFill>
                  <a:srgbClr val="008080"/>
                </a:solidFill>
              </a:rPr>
              <a:t>i-1</a:t>
            </a:r>
            <a:r>
              <a:rPr lang="en-US" altLang="zh-CN">
                <a:solidFill>
                  <a:srgbClr val="000080"/>
                </a:solidFill>
              </a:rPr>
              <a:t>)/</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r>
              <a:rPr lang="en-US" altLang="zh-CN" i="1">
                <a:solidFill>
                  <a:srgbClr val="000080"/>
                </a:solidFill>
              </a:rPr>
              <a:t>a</a:t>
            </a:r>
            <a:r>
              <a:rPr lang="en-US" altLang="zh-CN">
                <a:solidFill>
                  <a:srgbClr val="000080"/>
                </a:solidFill>
              </a:rPr>
              <a:t>(</a:t>
            </a:r>
            <a:r>
              <a:rPr lang="en-US" altLang="zh-CN" i="1">
                <a:solidFill>
                  <a:srgbClr val="000080"/>
                </a:solidFill>
              </a:rPr>
              <a:t>Y</a:t>
            </a:r>
            <a:r>
              <a:rPr lang="en-US" altLang="zh-CN" i="1" baseline="-30000">
                <a:solidFill>
                  <a:srgbClr val="008080"/>
                </a:solidFill>
              </a:rPr>
              <a:t>i+1</a:t>
            </a:r>
            <a:r>
              <a:rPr lang="en-US" altLang="zh-CN">
                <a:solidFill>
                  <a:srgbClr val="008080"/>
                </a:solidFill>
              </a:rPr>
              <a:t> </a:t>
            </a:r>
            <a:r>
              <a:rPr lang="en-US" altLang="zh-CN" i="1">
                <a:solidFill>
                  <a:srgbClr val="000080"/>
                </a:solidFill>
              </a:rPr>
              <a:t>– Y</a:t>
            </a:r>
            <a:r>
              <a:rPr lang="en-US" altLang="zh-CN" i="1" baseline="-30000">
                <a:solidFill>
                  <a:srgbClr val="008080"/>
                </a:solidFill>
              </a:rPr>
              <a:t>i-1</a:t>
            </a:r>
            <a:r>
              <a:rPr lang="en-US" altLang="zh-CN">
                <a:solidFill>
                  <a:srgbClr val="000080"/>
                </a:solidFill>
              </a:rPr>
              <a:t>)/2</a:t>
            </a:r>
            <a:r>
              <a:rPr lang="en-US" altLang="zh-CN">
                <a:solidFill>
                  <a:srgbClr val="008000"/>
                </a:solidFill>
                <a:latin typeface="Symbol" pitchFamily="18" charset="2"/>
              </a:rPr>
              <a:t>D</a:t>
            </a:r>
            <a:r>
              <a:rPr lang="en-US" altLang="zh-CN" i="1">
                <a:solidFill>
                  <a:srgbClr val="000080"/>
                </a:solidFill>
              </a:rPr>
              <a:t>t </a:t>
            </a:r>
            <a:r>
              <a:rPr lang="en-US" altLang="zh-CN">
                <a:solidFill>
                  <a:srgbClr val="000080"/>
                </a:solidFill>
              </a:rPr>
              <a:t>+ </a:t>
            </a:r>
            <a:r>
              <a:rPr lang="en-US" altLang="zh-CN" i="1">
                <a:solidFill>
                  <a:srgbClr val="000080"/>
                </a:solidFill>
              </a:rPr>
              <a:t>b Y</a:t>
            </a:r>
            <a:r>
              <a:rPr lang="en-US" altLang="zh-CN" i="1" baseline="-30000">
                <a:solidFill>
                  <a:srgbClr val="008080"/>
                </a:solidFill>
              </a:rPr>
              <a:t>i</a:t>
            </a:r>
            <a:r>
              <a:rPr lang="en-US" altLang="zh-CN">
                <a:solidFill>
                  <a:srgbClr val="000080"/>
                </a:solidFill>
              </a:rPr>
              <a:t>= </a:t>
            </a:r>
            <a:r>
              <a:rPr lang="en-US" altLang="zh-CN" i="1">
                <a:solidFill>
                  <a:srgbClr val="000080"/>
                </a:solidFill>
              </a:rPr>
              <a:t>c</a:t>
            </a:r>
            <a:r>
              <a:rPr lang="en-US" altLang="zh-CN">
                <a:solidFill>
                  <a:srgbClr val="000000"/>
                </a:solidFill>
              </a:rPr>
              <a:t> </a:t>
            </a:r>
          </a:p>
        </p:txBody>
      </p:sp>
      <p:sp>
        <p:nvSpPr>
          <p:cNvPr id="81939" name="Text Box 1043"/>
          <p:cNvSpPr txBox="1">
            <a:spLocks noChangeArrowheads="1"/>
          </p:cNvSpPr>
          <p:nvPr/>
        </p:nvSpPr>
        <p:spPr bwMode="auto">
          <a:xfrm>
            <a:off x="179388" y="4437063"/>
            <a:ext cx="1012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b="0">
                <a:solidFill>
                  <a:srgbClr val="000000"/>
                </a:solidFill>
              </a:rPr>
              <a:t>Gives</a:t>
            </a:r>
          </a:p>
        </p:txBody>
      </p:sp>
      <p:sp>
        <p:nvSpPr>
          <p:cNvPr id="81940" name="Rectangle 1044"/>
          <p:cNvSpPr>
            <a:spLocks noChangeArrowheads="1"/>
          </p:cNvSpPr>
          <p:nvPr/>
        </p:nvSpPr>
        <p:spPr bwMode="auto">
          <a:xfrm>
            <a:off x="250825" y="5918200"/>
            <a:ext cx="871378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i-1</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i</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i+1</a:t>
            </a:r>
            <a:r>
              <a:rPr lang="en-US" altLang="zh-CN" i="1">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354"/>
                                        </p:tgtEl>
                                        <p:attrNameLst>
                                          <p:attrName>style.visibility</p:attrName>
                                        </p:attrNameLst>
                                      </p:cBhvr>
                                      <p:to>
                                        <p:strVal val="visible"/>
                                      </p:to>
                                    </p:set>
                                    <p:anim calcmode="lin" valueType="num">
                                      <p:cBhvr additive="base">
                                        <p:cTn id="7" dur="500" fill="hold"/>
                                        <p:tgtEl>
                                          <p:spTgt spid="57354"/>
                                        </p:tgtEl>
                                        <p:attrNameLst>
                                          <p:attrName>ppt_x</p:attrName>
                                        </p:attrNameLst>
                                      </p:cBhvr>
                                      <p:tavLst>
                                        <p:tav tm="0">
                                          <p:val>
                                            <p:strVal val="0-#ppt_w/2"/>
                                          </p:val>
                                        </p:tav>
                                        <p:tav tm="100000">
                                          <p:val>
                                            <p:strVal val="#ppt_x"/>
                                          </p:val>
                                        </p:tav>
                                      </p:tavLst>
                                    </p:anim>
                                    <p:anim calcmode="lin" valueType="num">
                                      <p:cBhvr additive="base">
                                        <p:cTn id="8" dur="500" fill="hold"/>
                                        <p:tgtEl>
                                          <p:spTgt spid="5735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7346"/>
                                        </p:tgtEl>
                                        <p:attrNameLst>
                                          <p:attrName>style.visibility</p:attrName>
                                        </p:attrNameLst>
                                      </p:cBhvr>
                                      <p:to>
                                        <p:strVal val="visible"/>
                                      </p:to>
                                    </p:set>
                                    <p:anim calcmode="lin" valueType="num">
                                      <p:cBhvr additive="base">
                                        <p:cTn id="13" dur="500" fill="hold"/>
                                        <p:tgtEl>
                                          <p:spTgt spid="57346"/>
                                        </p:tgtEl>
                                        <p:attrNameLst>
                                          <p:attrName>ppt_x</p:attrName>
                                        </p:attrNameLst>
                                      </p:cBhvr>
                                      <p:tavLst>
                                        <p:tav tm="0">
                                          <p:val>
                                            <p:strVal val="0-#ppt_w/2"/>
                                          </p:val>
                                        </p:tav>
                                        <p:tav tm="100000">
                                          <p:val>
                                            <p:strVal val="#ppt_x"/>
                                          </p:val>
                                        </p:tav>
                                      </p:tavLst>
                                    </p:anim>
                                    <p:anim calcmode="lin" valueType="num">
                                      <p:cBhvr additive="base">
                                        <p:cTn id="14" dur="500" fill="hold"/>
                                        <p:tgtEl>
                                          <p:spTgt spid="5734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7347"/>
                                        </p:tgtEl>
                                        <p:attrNameLst>
                                          <p:attrName>style.visibility</p:attrName>
                                        </p:attrNameLst>
                                      </p:cBhvr>
                                      <p:to>
                                        <p:strVal val="visible"/>
                                      </p:to>
                                    </p:set>
                                    <p:anim calcmode="lin" valueType="num">
                                      <p:cBhvr additive="base">
                                        <p:cTn id="19" dur="500" fill="hold"/>
                                        <p:tgtEl>
                                          <p:spTgt spid="57347"/>
                                        </p:tgtEl>
                                        <p:attrNameLst>
                                          <p:attrName>ppt_x</p:attrName>
                                        </p:attrNameLst>
                                      </p:cBhvr>
                                      <p:tavLst>
                                        <p:tav tm="0">
                                          <p:val>
                                            <p:strVal val="0-#ppt_w/2"/>
                                          </p:val>
                                        </p:tav>
                                        <p:tav tm="100000">
                                          <p:val>
                                            <p:strVal val="#ppt_x"/>
                                          </p:val>
                                        </p:tav>
                                      </p:tavLst>
                                    </p:anim>
                                    <p:anim calcmode="lin" valueType="num">
                                      <p:cBhvr additive="base">
                                        <p:cTn id="20" dur="500" fill="hold"/>
                                        <p:tgtEl>
                                          <p:spTgt spid="57347"/>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57355"/>
                                        </p:tgtEl>
                                        <p:attrNameLst>
                                          <p:attrName>style.visibility</p:attrName>
                                        </p:attrNameLst>
                                      </p:cBhvr>
                                      <p:to>
                                        <p:strVal val="visible"/>
                                      </p:to>
                                    </p:set>
                                    <p:anim calcmode="lin" valueType="num">
                                      <p:cBhvr additive="base">
                                        <p:cTn id="24" dur="500" fill="hold"/>
                                        <p:tgtEl>
                                          <p:spTgt spid="57355"/>
                                        </p:tgtEl>
                                        <p:attrNameLst>
                                          <p:attrName>ppt_x</p:attrName>
                                        </p:attrNameLst>
                                      </p:cBhvr>
                                      <p:tavLst>
                                        <p:tav tm="0">
                                          <p:val>
                                            <p:strVal val="0-#ppt_w/2"/>
                                          </p:val>
                                        </p:tav>
                                        <p:tav tm="100000">
                                          <p:val>
                                            <p:strVal val="#ppt_x"/>
                                          </p:val>
                                        </p:tav>
                                      </p:tavLst>
                                    </p:anim>
                                    <p:anim calcmode="lin" valueType="num">
                                      <p:cBhvr additive="base">
                                        <p:cTn id="25" dur="500" fill="hold"/>
                                        <p:tgtEl>
                                          <p:spTgt spid="57355"/>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57356"/>
                                        </p:tgtEl>
                                        <p:attrNameLst>
                                          <p:attrName>style.visibility</p:attrName>
                                        </p:attrNameLst>
                                      </p:cBhvr>
                                      <p:to>
                                        <p:strVal val="visible"/>
                                      </p:to>
                                    </p:set>
                                    <p:anim calcmode="lin" valueType="num">
                                      <p:cBhvr additive="base">
                                        <p:cTn id="29" dur="500" fill="hold"/>
                                        <p:tgtEl>
                                          <p:spTgt spid="57356"/>
                                        </p:tgtEl>
                                        <p:attrNameLst>
                                          <p:attrName>ppt_x</p:attrName>
                                        </p:attrNameLst>
                                      </p:cBhvr>
                                      <p:tavLst>
                                        <p:tav tm="0">
                                          <p:val>
                                            <p:strVal val="0-#ppt_w/2"/>
                                          </p:val>
                                        </p:tav>
                                        <p:tav tm="100000">
                                          <p:val>
                                            <p:strVal val="#ppt_x"/>
                                          </p:val>
                                        </p:tav>
                                      </p:tavLst>
                                    </p:anim>
                                    <p:anim calcmode="lin" valueType="num">
                                      <p:cBhvr additive="base">
                                        <p:cTn id="30" dur="500" fill="hold"/>
                                        <p:tgtEl>
                                          <p:spTgt spid="57356"/>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57348"/>
                                        </p:tgtEl>
                                        <p:attrNameLst>
                                          <p:attrName>style.visibility</p:attrName>
                                        </p:attrNameLst>
                                      </p:cBhvr>
                                      <p:to>
                                        <p:strVal val="visible"/>
                                      </p:to>
                                    </p:set>
                                    <p:anim calcmode="lin" valueType="num">
                                      <p:cBhvr additive="base">
                                        <p:cTn id="35" dur="500" fill="hold"/>
                                        <p:tgtEl>
                                          <p:spTgt spid="57348"/>
                                        </p:tgtEl>
                                        <p:attrNameLst>
                                          <p:attrName>ppt_x</p:attrName>
                                        </p:attrNameLst>
                                      </p:cBhvr>
                                      <p:tavLst>
                                        <p:tav tm="0">
                                          <p:val>
                                            <p:strVal val="0-#ppt_w/2"/>
                                          </p:val>
                                        </p:tav>
                                        <p:tav tm="100000">
                                          <p:val>
                                            <p:strVal val="#ppt_x"/>
                                          </p:val>
                                        </p:tav>
                                      </p:tavLst>
                                    </p:anim>
                                    <p:anim calcmode="lin" valueType="num">
                                      <p:cBhvr additive="base">
                                        <p:cTn id="36" dur="500" fill="hold"/>
                                        <p:tgtEl>
                                          <p:spTgt spid="57348"/>
                                        </p:tgtEl>
                                        <p:attrNameLst>
                                          <p:attrName>ppt_y</p:attrName>
                                        </p:attrNameLst>
                                      </p:cBhvr>
                                      <p:tavLst>
                                        <p:tav tm="0">
                                          <p:val>
                                            <p:strVal val="#ppt_y"/>
                                          </p:val>
                                        </p:tav>
                                        <p:tav tm="100000">
                                          <p:val>
                                            <p:strVal val="#ppt_y"/>
                                          </p:val>
                                        </p:tav>
                                      </p:tavLst>
                                    </p:anim>
                                  </p:childTnLst>
                                </p:cTn>
                              </p:par>
                            </p:childTnLst>
                          </p:cTn>
                        </p:par>
                        <p:par>
                          <p:cTn id="37" fill="hold" nodeType="afterGroup">
                            <p:stCondLst>
                              <p:cond delay="500"/>
                            </p:stCondLst>
                            <p:childTnLst>
                              <p:par>
                                <p:cTn id="38" presetID="2" presetClass="entr" presetSubtype="8" fill="hold" grpId="0" nodeType="afterEffect">
                                  <p:stCondLst>
                                    <p:cond delay="0"/>
                                  </p:stCondLst>
                                  <p:childTnLst>
                                    <p:set>
                                      <p:cBhvr>
                                        <p:cTn id="39" dur="1" fill="hold">
                                          <p:stCondLst>
                                            <p:cond delay="0"/>
                                          </p:stCondLst>
                                        </p:cTn>
                                        <p:tgtEl>
                                          <p:spTgt spid="57359"/>
                                        </p:tgtEl>
                                        <p:attrNameLst>
                                          <p:attrName>style.visibility</p:attrName>
                                        </p:attrNameLst>
                                      </p:cBhvr>
                                      <p:to>
                                        <p:strVal val="visible"/>
                                      </p:to>
                                    </p:set>
                                    <p:anim calcmode="lin" valueType="num">
                                      <p:cBhvr additive="base">
                                        <p:cTn id="40" dur="500" fill="hold"/>
                                        <p:tgtEl>
                                          <p:spTgt spid="57359"/>
                                        </p:tgtEl>
                                        <p:attrNameLst>
                                          <p:attrName>ppt_x</p:attrName>
                                        </p:attrNameLst>
                                      </p:cBhvr>
                                      <p:tavLst>
                                        <p:tav tm="0">
                                          <p:val>
                                            <p:strVal val="0-#ppt_w/2"/>
                                          </p:val>
                                        </p:tav>
                                        <p:tav tm="100000">
                                          <p:val>
                                            <p:strVal val="#ppt_x"/>
                                          </p:val>
                                        </p:tav>
                                      </p:tavLst>
                                    </p:anim>
                                    <p:anim calcmode="lin" valueType="num">
                                      <p:cBhvr additive="base">
                                        <p:cTn id="41" dur="500" fill="hold"/>
                                        <p:tgtEl>
                                          <p:spTgt spid="57359"/>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81939"/>
                                        </p:tgtEl>
                                        <p:attrNameLst>
                                          <p:attrName>style.visibility</p:attrName>
                                        </p:attrNameLst>
                                      </p:cBhvr>
                                      <p:to>
                                        <p:strVal val="visible"/>
                                      </p:to>
                                    </p:set>
                                    <p:anim calcmode="lin" valueType="num">
                                      <p:cBhvr additive="base">
                                        <p:cTn id="46" dur="500" fill="hold"/>
                                        <p:tgtEl>
                                          <p:spTgt spid="81939"/>
                                        </p:tgtEl>
                                        <p:attrNameLst>
                                          <p:attrName>ppt_x</p:attrName>
                                        </p:attrNameLst>
                                      </p:cBhvr>
                                      <p:tavLst>
                                        <p:tav tm="0">
                                          <p:val>
                                            <p:strVal val="0-#ppt_w/2"/>
                                          </p:val>
                                        </p:tav>
                                        <p:tav tm="100000">
                                          <p:val>
                                            <p:strVal val="#ppt_x"/>
                                          </p:val>
                                        </p:tav>
                                      </p:tavLst>
                                    </p:anim>
                                    <p:anim calcmode="lin" valueType="num">
                                      <p:cBhvr additive="base">
                                        <p:cTn id="47" dur="500" fill="hold"/>
                                        <p:tgtEl>
                                          <p:spTgt spid="81939"/>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81938"/>
                                        </p:tgtEl>
                                        <p:attrNameLst>
                                          <p:attrName>style.visibility</p:attrName>
                                        </p:attrNameLst>
                                      </p:cBhvr>
                                      <p:to>
                                        <p:strVal val="visible"/>
                                      </p:to>
                                    </p:set>
                                    <p:anim calcmode="lin" valueType="num">
                                      <p:cBhvr additive="base">
                                        <p:cTn id="52" dur="500" fill="hold"/>
                                        <p:tgtEl>
                                          <p:spTgt spid="81938"/>
                                        </p:tgtEl>
                                        <p:attrNameLst>
                                          <p:attrName>ppt_x</p:attrName>
                                        </p:attrNameLst>
                                      </p:cBhvr>
                                      <p:tavLst>
                                        <p:tav tm="0">
                                          <p:val>
                                            <p:strVal val="0-#ppt_w/2"/>
                                          </p:val>
                                        </p:tav>
                                        <p:tav tm="100000">
                                          <p:val>
                                            <p:strVal val="#ppt_x"/>
                                          </p:val>
                                        </p:tav>
                                      </p:tavLst>
                                    </p:anim>
                                    <p:anim calcmode="lin" valueType="num">
                                      <p:cBhvr additive="base">
                                        <p:cTn id="53" dur="500" fill="hold"/>
                                        <p:tgtEl>
                                          <p:spTgt spid="81938"/>
                                        </p:tgtEl>
                                        <p:attrNameLst>
                                          <p:attrName>ppt_y</p:attrName>
                                        </p:attrNameLst>
                                      </p:cBhvr>
                                      <p:tavLst>
                                        <p:tav tm="0">
                                          <p:val>
                                            <p:strVal val="#ppt_y"/>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8" fill="hold" grpId="0" nodeType="clickEffect">
                                  <p:stCondLst>
                                    <p:cond delay="0"/>
                                  </p:stCondLst>
                                  <p:childTnLst>
                                    <p:set>
                                      <p:cBhvr>
                                        <p:cTn id="57" dur="1" fill="hold">
                                          <p:stCondLst>
                                            <p:cond delay="0"/>
                                          </p:stCondLst>
                                        </p:cTn>
                                        <p:tgtEl>
                                          <p:spTgt spid="81940"/>
                                        </p:tgtEl>
                                        <p:attrNameLst>
                                          <p:attrName>style.visibility</p:attrName>
                                        </p:attrNameLst>
                                      </p:cBhvr>
                                      <p:to>
                                        <p:strVal val="visible"/>
                                      </p:to>
                                    </p:set>
                                    <p:anim calcmode="lin" valueType="num">
                                      <p:cBhvr additive="base">
                                        <p:cTn id="58" dur="500" fill="hold"/>
                                        <p:tgtEl>
                                          <p:spTgt spid="81940"/>
                                        </p:tgtEl>
                                        <p:attrNameLst>
                                          <p:attrName>ppt_x</p:attrName>
                                        </p:attrNameLst>
                                      </p:cBhvr>
                                      <p:tavLst>
                                        <p:tav tm="0">
                                          <p:val>
                                            <p:strVal val="0-#ppt_w/2"/>
                                          </p:val>
                                        </p:tav>
                                        <p:tav tm="100000">
                                          <p:val>
                                            <p:strVal val="#ppt_x"/>
                                          </p:val>
                                        </p:tav>
                                      </p:tavLst>
                                    </p:anim>
                                    <p:anim calcmode="lin" valueType="num">
                                      <p:cBhvr additive="base">
                                        <p:cTn id="59" dur="500" fill="hold"/>
                                        <p:tgtEl>
                                          <p:spTgt spid="819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utoUpdateAnimBg="0"/>
      <p:bldP spid="57347" grpId="0" autoUpdateAnimBg="0"/>
      <p:bldP spid="57348" grpId="0" autoUpdateAnimBg="0"/>
      <p:bldP spid="57354" grpId="0" autoUpdateAnimBg="0"/>
      <p:bldP spid="57355" grpId="0" autoUpdateAnimBg="0"/>
      <p:bldP spid="57356" grpId="0" autoUpdateAnimBg="0"/>
      <p:bldP spid="57359" grpId="0" autoUpdateAnimBg="0"/>
      <p:bldP spid="81938" grpId="0" autoUpdateAnimBg="0"/>
      <p:bldP spid="81939" grpId="0" autoUpdateAnimBg="0"/>
      <p:bldP spid="81940"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nvSpPr>
        <p:spPr bwMode="auto">
          <a:xfrm>
            <a:off x="323850" y="908050"/>
            <a:ext cx="842486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0</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1</a:t>
            </a:r>
            <a:r>
              <a:rPr lang="en-US" altLang="zh-CN">
                <a:solidFill>
                  <a:srgbClr val="008080"/>
                </a:solidFill>
              </a:rPr>
              <a:t> </a:t>
            </a:r>
            <a:r>
              <a:rPr lang="en-US" altLang="zh-CN">
                <a:solidFill>
                  <a:srgbClr val="000080"/>
                </a:solidFill>
              </a:rPr>
              <a:t>+ (1+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2</a:t>
            </a:r>
            <a:r>
              <a:rPr lang="en-US" altLang="zh-CN">
                <a:solidFill>
                  <a:srgbClr val="008080"/>
                </a:solidFill>
              </a:rPr>
              <a:t> </a:t>
            </a:r>
            <a:r>
              <a:rPr lang="en-US" altLang="zh-CN">
                <a:solidFill>
                  <a:srgbClr val="000080"/>
                </a:solidFill>
              </a:rPr>
              <a:t>= </a:t>
            </a:r>
            <a:r>
              <a:rPr lang="en-US" altLang="zh-CN" i="1">
                <a:solidFill>
                  <a:srgbClr val="000080"/>
                </a:solidFill>
              </a:rPr>
              <a:t>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p:txBody>
      </p:sp>
      <p:sp>
        <p:nvSpPr>
          <p:cNvPr id="79875" name="Text Box 3"/>
          <p:cNvSpPr txBox="1">
            <a:spLocks noChangeArrowheads="1"/>
          </p:cNvSpPr>
          <p:nvPr/>
        </p:nvSpPr>
        <p:spPr bwMode="auto">
          <a:xfrm>
            <a:off x="323850" y="5229225"/>
            <a:ext cx="70056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and we may write the boundary condition at </a:t>
            </a:r>
          </a:p>
        </p:txBody>
      </p:sp>
      <p:sp>
        <p:nvSpPr>
          <p:cNvPr id="79876" name="Text Box 4"/>
          <p:cNvSpPr txBox="1">
            <a:spLocks noChangeArrowheads="1"/>
          </p:cNvSpPr>
          <p:nvPr/>
        </p:nvSpPr>
        <p:spPr bwMode="auto">
          <a:xfrm>
            <a:off x="2555875" y="6021388"/>
            <a:ext cx="1828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  </a:t>
            </a:r>
            <a:r>
              <a:rPr lang="en-US" altLang="zh-CN" i="1">
                <a:solidFill>
                  <a:srgbClr val="000080"/>
                </a:solidFill>
              </a:rPr>
              <a:t>Y</a:t>
            </a:r>
            <a:r>
              <a:rPr lang="en-US" altLang="zh-CN" baseline="-25000">
                <a:solidFill>
                  <a:srgbClr val="008080"/>
                </a:solidFill>
              </a:rPr>
              <a:t>0</a:t>
            </a:r>
            <a:r>
              <a:rPr lang="en-US" altLang="zh-CN">
                <a:solidFill>
                  <a:srgbClr val="008080"/>
                </a:solidFill>
              </a:rPr>
              <a:t> </a:t>
            </a:r>
            <a:r>
              <a:rPr lang="en-US" altLang="zh-CN">
                <a:solidFill>
                  <a:srgbClr val="000080"/>
                </a:solidFill>
              </a:rPr>
              <a:t>= </a:t>
            </a:r>
            <a:r>
              <a:rPr lang="en-US" altLang="zh-CN">
                <a:solidFill>
                  <a:srgbClr val="008000"/>
                </a:solidFill>
                <a:latin typeface="Symbol" pitchFamily="18" charset="2"/>
              </a:rPr>
              <a:t>a</a:t>
            </a:r>
            <a:r>
              <a:rPr lang="en-US" altLang="zh-CN">
                <a:solidFill>
                  <a:srgbClr val="000000"/>
                </a:solidFill>
              </a:rPr>
              <a:t>. </a:t>
            </a:r>
          </a:p>
        </p:txBody>
      </p:sp>
      <p:sp>
        <p:nvSpPr>
          <p:cNvPr id="79877" name="Rectangle 5"/>
          <p:cNvSpPr>
            <a:spLocks noChangeArrowheads="1"/>
          </p:cNvSpPr>
          <p:nvPr/>
        </p:nvSpPr>
        <p:spPr bwMode="auto">
          <a:xfrm>
            <a:off x="1116013" y="4365625"/>
            <a:ext cx="56467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0</a:t>
            </a:r>
            <a:r>
              <a:rPr lang="en-US" altLang="zh-CN">
                <a:solidFill>
                  <a:srgbClr val="000080"/>
                </a:solidFill>
              </a:rPr>
              <a:t>) = </a:t>
            </a:r>
            <a:r>
              <a:rPr lang="en-US" altLang="zh-CN">
                <a:solidFill>
                  <a:srgbClr val="008000"/>
                </a:solidFill>
                <a:latin typeface="Symbol" pitchFamily="18" charset="2"/>
              </a:rPr>
              <a:t>a  </a:t>
            </a:r>
            <a:r>
              <a:rPr lang="en-US" altLang="zh-CN">
                <a:solidFill>
                  <a:srgbClr val="000000"/>
                </a:solidFill>
              </a:rPr>
              <a:t>and  </a:t>
            </a:r>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 + </a:t>
            </a:r>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 = </a:t>
            </a:r>
            <a:r>
              <a:rPr lang="en-US" altLang="zh-CN">
                <a:solidFill>
                  <a:srgbClr val="008000"/>
                </a:solidFill>
                <a:latin typeface="Symbol" pitchFamily="18" charset="2"/>
              </a:rPr>
              <a:t>b</a:t>
            </a:r>
            <a:r>
              <a:rPr lang="en-US" altLang="zh-CN">
                <a:solidFill>
                  <a:srgbClr val="000000"/>
                </a:solidFill>
              </a:rPr>
              <a:t>. </a:t>
            </a:r>
          </a:p>
        </p:txBody>
      </p:sp>
      <p:sp>
        <p:nvSpPr>
          <p:cNvPr id="79878" name="Text Box 6"/>
          <p:cNvSpPr txBox="1">
            <a:spLocks noChangeArrowheads="1"/>
          </p:cNvSpPr>
          <p:nvPr/>
        </p:nvSpPr>
        <p:spPr bwMode="auto">
          <a:xfrm>
            <a:off x="5292725" y="6021388"/>
            <a:ext cx="28082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30000">
                <a:solidFill>
                  <a:srgbClr val="008080"/>
                </a:solidFill>
              </a:rPr>
              <a:t>n</a:t>
            </a:r>
            <a:r>
              <a:rPr lang="en-US" altLang="zh-CN">
                <a:solidFill>
                  <a:srgbClr val="008080"/>
                </a:solidFill>
              </a:rPr>
              <a:t> +</a:t>
            </a:r>
            <a:r>
              <a:rPr lang="en-US" altLang="zh-CN">
                <a:solidFill>
                  <a:srgbClr val="000080"/>
                </a:solidFill>
              </a:rPr>
              <a:t> </a:t>
            </a:r>
            <a:r>
              <a:rPr lang="en-US" altLang="zh-CN" i="1">
                <a:solidFill>
                  <a:srgbClr val="000080"/>
                </a:solidFill>
              </a:rPr>
              <a:t>Y '</a:t>
            </a:r>
            <a:r>
              <a:rPr lang="en-US" altLang="zh-CN" i="1" baseline="-30000">
                <a:solidFill>
                  <a:srgbClr val="008080"/>
                </a:solidFill>
              </a:rPr>
              <a:t>n</a:t>
            </a:r>
            <a:r>
              <a:rPr lang="en-US" altLang="zh-CN" i="1">
                <a:solidFill>
                  <a:srgbClr val="000080"/>
                </a:solidFill>
              </a:rPr>
              <a:t>=</a:t>
            </a:r>
            <a:r>
              <a:rPr lang="en-US" altLang="zh-CN">
                <a:solidFill>
                  <a:srgbClr val="000000"/>
                </a:solidFill>
                <a:latin typeface="Symbol" pitchFamily="18" charset="2"/>
              </a:rPr>
              <a:t> b </a:t>
            </a:r>
            <a:r>
              <a:rPr lang="en-US" altLang="zh-CN">
                <a:solidFill>
                  <a:srgbClr val="000000"/>
                </a:solidFill>
              </a:rPr>
              <a:t>, </a:t>
            </a:r>
          </a:p>
        </p:txBody>
      </p:sp>
      <p:sp>
        <p:nvSpPr>
          <p:cNvPr id="79879" name="Text Box 7"/>
          <p:cNvSpPr txBox="1">
            <a:spLocks noChangeArrowheads="1"/>
          </p:cNvSpPr>
          <p:nvPr/>
        </p:nvSpPr>
        <p:spPr bwMode="auto">
          <a:xfrm>
            <a:off x="468313" y="5876925"/>
            <a:ext cx="15224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 as </a:t>
            </a:r>
            <a:r>
              <a:rPr lang="en-US" altLang="zh-CN" sz="2800" i="1">
                <a:solidFill>
                  <a:srgbClr val="000080"/>
                </a:solidFill>
              </a:rPr>
              <a:t>t </a:t>
            </a:r>
            <a:r>
              <a:rPr lang="en-US" altLang="zh-CN" sz="2800">
                <a:solidFill>
                  <a:srgbClr val="000080"/>
                </a:solidFill>
              </a:rPr>
              <a:t>= </a:t>
            </a:r>
            <a:r>
              <a:rPr lang="en-US" altLang="zh-CN" sz="2800" i="1">
                <a:solidFill>
                  <a:srgbClr val="000080"/>
                </a:solidFill>
              </a:rPr>
              <a:t>t</a:t>
            </a:r>
            <a:r>
              <a:rPr lang="en-US" altLang="zh-CN" sz="2800">
                <a:solidFill>
                  <a:srgbClr val="008080"/>
                </a:solidFill>
              </a:rPr>
              <a:t>0,</a:t>
            </a:r>
          </a:p>
        </p:txBody>
      </p:sp>
      <p:sp>
        <p:nvSpPr>
          <p:cNvPr id="51208" name="Rectangle 8"/>
          <p:cNvSpPr>
            <a:spLocks noChangeArrowheads="1"/>
          </p:cNvSpPr>
          <p:nvPr/>
        </p:nvSpPr>
        <p:spPr bwMode="auto">
          <a:xfrm>
            <a:off x="179388" y="115888"/>
            <a:ext cx="8640762"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i-1</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i</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i+1</a:t>
            </a:r>
            <a:r>
              <a:rPr lang="en-US" altLang="zh-CN" i="1">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p:txBody>
      </p:sp>
      <p:sp>
        <p:nvSpPr>
          <p:cNvPr id="79881" name="Rectangle 9"/>
          <p:cNvSpPr>
            <a:spLocks noChangeArrowheads="1"/>
          </p:cNvSpPr>
          <p:nvPr/>
        </p:nvSpPr>
        <p:spPr bwMode="auto">
          <a:xfrm>
            <a:off x="323850" y="1676400"/>
            <a:ext cx="829151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1</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2</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3</a:t>
            </a:r>
            <a:r>
              <a:rPr lang="en-US" altLang="zh-CN">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p:txBody>
      </p:sp>
      <p:sp>
        <p:nvSpPr>
          <p:cNvPr id="79882" name="Rectangle 10"/>
          <p:cNvSpPr>
            <a:spLocks noChangeArrowheads="1"/>
          </p:cNvSpPr>
          <p:nvPr/>
        </p:nvSpPr>
        <p:spPr bwMode="auto">
          <a:xfrm>
            <a:off x="179388" y="2514600"/>
            <a:ext cx="88931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a:lnSpc>
                <a:spcPct val="150000"/>
              </a:lnSpc>
            </a:pPr>
            <a:r>
              <a:rPr lang="en-US" altLang="zh-CN">
                <a:solidFill>
                  <a:srgbClr val="000080"/>
                </a:solidFill>
              </a:rPr>
              <a:t>…</a:t>
            </a:r>
            <a:endParaRPr lang="en-US" altLang="zh-CN"/>
          </a:p>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n–2</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n–1</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n</a:t>
            </a:r>
            <a:r>
              <a:rPr lang="en-US" altLang="zh-CN" i="1">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p:txBody>
      </p:sp>
      <p:sp>
        <p:nvSpPr>
          <p:cNvPr id="290818" name="Rectangle 2"/>
          <p:cNvSpPr>
            <a:spLocks noChangeArrowheads="1"/>
          </p:cNvSpPr>
          <p:nvPr/>
        </p:nvSpPr>
        <p:spPr bwMode="auto">
          <a:xfrm>
            <a:off x="2627313" y="2708275"/>
            <a:ext cx="2174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i = </a:t>
            </a:r>
            <a:r>
              <a:rPr lang="en-US" altLang="zh-CN">
                <a:solidFill>
                  <a:srgbClr val="008080"/>
                </a:solidFill>
              </a:rPr>
              <a:t>1</a:t>
            </a:r>
            <a:r>
              <a:rPr lang="en-US" altLang="zh-CN">
                <a:solidFill>
                  <a:srgbClr val="000080"/>
                </a:solidFill>
              </a:rPr>
              <a:t>–---</a:t>
            </a:r>
            <a:r>
              <a:rPr lang="en-US" altLang="zh-CN" i="1">
                <a:solidFill>
                  <a:srgbClr val="000080"/>
                </a:solidFill>
              </a:rPr>
              <a:t>N-1</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874"/>
                                        </p:tgtEl>
                                        <p:attrNameLst>
                                          <p:attrName>style.visibility</p:attrName>
                                        </p:attrNameLst>
                                      </p:cBhvr>
                                      <p:to>
                                        <p:strVal val="visible"/>
                                      </p:to>
                                    </p:set>
                                    <p:anim calcmode="lin" valueType="num">
                                      <p:cBhvr additive="base">
                                        <p:cTn id="7" dur="500" fill="hold"/>
                                        <p:tgtEl>
                                          <p:spTgt spid="79874"/>
                                        </p:tgtEl>
                                        <p:attrNameLst>
                                          <p:attrName>ppt_x</p:attrName>
                                        </p:attrNameLst>
                                      </p:cBhvr>
                                      <p:tavLst>
                                        <p:tav tm="0">
                                          <p:val>
                                            <p:strVal val="0-#ppt_w/2"/>
                                          </p:val>
                                        </p:tav>
                                        <p:tav tm="100000">
                                          <p:val>
                                            <p:strVal val="#ppt_x"/>
                                          </p:val>
                                        </p:tav>
                                      </p:tavLst>
                                    </p:anim>
                                    <p:anim calcmode="lin" valueType="num">
                                      <p:cBhvr additive="base">
                                        <p:cTn id="8" dur="500" fill="hold"/>
                                        <p:tgtEl>
                                          <p:spTgt spid="798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881"/>
                                        </p:tgtEl>
                                        <p:attrNameLst>
                                          <p:attrName>style.visibility</p:attrName>
                                        </p:attrNameLst>
                                      </p:cBhvr>
                                      <p:to>
                                        <p:strVal val="visible"/>
                                      </p:to>
                                    </p:set>
                                    <p:anim calcmode="lin" valueType="num">
                                      <p:cBhvr additive="base">
                                        <p:cTn id="13" dur="500" fill="hold"/>
                                        <p:tgtEl>
                                          <p:spTgt spid="79881"/>
                                        </p:tgtEl>
                                        <p:attrNameLst>
                                          <p:attrName>ppt_x</p:attrName>
                                        </p:attrNameLst>
                                      </p:cBhvr>
                                      <p:tavLst>
                                        <p:tav tm="0">
                                          <p:val>
                                            <p:strVal val="0-#ppt_w/2"/>
                                          </p:val>
                                        </p:tav>
                                        <p:tav tm="100000">
                                          <p:val>
                                            <p:strVal val="#ppt_x"/>
                                          </p:val>
                                        </p:tav>
                                      </p:tavLst>
                                    </p:anim>
                                    <p:anim calcmode="lin" valueType="num">
                                      <p:cBhvr additive="base">
                                        <p:cTn id="14" dur="500" fill="hold"/>
                                        <p:tgtEl>
                                          <p:spTgt spid="7988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9882"/>
                                        </p:tgtEl>
                                        <p:attrNameLst>
                                          <p:attrName>style.visibility</p:attrName>
                                        </p:attrNameLst>
                                      </p:cBhvr>
                                      <p:to>
                                        <p:strVal val="visible"/>
                                      </p:to>
                                    </p:set>
                                    <p:anim calcmode="lin" valueType="num">
                                      <p:cBhvr additive="base">
                                        <p:cTn id="19" dur="500" fill="hold"/>
                                        <p:tgtEl>
                                          <p:spTgt spid="79882"/>
                                        </p:tgtEl>
                                        <p:attrNameLst>
                                          <p:attrName>ppt_x</p:attrName>
                                        </p:attrNameLst>
                                      </p:cBhvr>
                                      <p:tavLst>
                                        <p:tav tm="0">
                                          <p:val>
                                            <p:strVal val="0-#ppt_w/2"/>
                                          </p:val>
                                        </p:tav>
                                        <p:tav tm="100000">
                                          <p:val>
                                            <p:strVal val="#ppt_x"/>
                                          </p:val>
                                        </p:tav>
                                      </p:tavLst>
                                    </p:anim>
                                    <p:anim calcmode="lin" valueType="num">
                                      <p:cBhvr additive="base">
                                        <p:cTn id="20" dur="500" fill="hold"/>
                                        <p:tgtEl>
                                          <p:spTgt spid="79882"/>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grpId="0" nodeType="afterEffect">
                                  <p:stCondLst>
                                    <p:cond delay="0"/>
                                  </p:stCondLst>
                                  <p:childTnLst>
                                    <p:set>
                                      <p:cBhvr>
                                        <p:cTn id="23" dur="1" fill="hold">
                                          <p:stCondLst>
                                            <p:cond delay="0"/>
                                          </p:stCondLst>
                                        </p:cTn>
                                        <p:tgtEl>
                                          <p:spTgt spid="290818"/>
                                        </p:tgtEl>
                                        <p:attrNameLst>
                                          <p:attrName>style.visibility</p:attrName>
                                        </p:attrNameLst>
                                      </p:cBhvr>
                                      <p:to>
                                        <p:strVal val="visible"/>
                                      </p:to>
                                    </p:set>
                                    <p:anim calcmode="lin" valueType="num">
                                      <p:cBhvr additive="base">
                                        <p:cTn id="24" dur="500" fill="hold"/>
                                        <p:tgtEl>
                                          <p:spTgt spid="290818"/>
                                        </p:tgtEl>
                                        <p:attrNameLst>
                                          <p:attrName>ppt_x</p:attrName>
                                        </p:attrNameLst>
                                      </p:cBhvr>
                                      <p:tavLst>
                                        <p:tav tm="0">
                                          <p:val>
                                            <p:strVal val="0-#ppt_w/2"/>
                                          </p:val>
                                        </p:tav>
                                        <p:tav tm="100000">
                                          <p:val>
                                            <p:strVal val="#ppt_x"/>
                                          </p:val>
                                        </p:tav>
                                      </p:tavLst>
                                    </p:anim>
                                    <p:anim calcmode="lin" valueType="num">
                                      <p:cBhvr additive="base">
                                        <p:cTn id="25" dur="500" fill="hold"/>
                                        <p:tgtEl>
                                          <p:spTgt spid="290818"/>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79877"/>
                                        </p:tgtEl>
                                        <p:attrNameLst>
                                          <p:attrName>style.visibility</p:attrName>
                                        </p:attrNameLst>
                                      </p:cBhvr>
                                      <p:to>
                                        <p:strVal val="visible"/>
                                      </p:to>
                                    </p:set>
                                    <p:anim calcmode="lin" valueType="num">
                                      <p:cBhvr additive="base">
                                        <p:cTn id="30" dur="500" fill="hold"/>
                                        <p:tgtEl>
                                          <p:spTgt spid="79877"/>
                                        </p:tgtEl>
                                        <p:attrNameLst>
                                          <p:attrName>ppt_x</p:attrName>
                                        </p:attrNameLst>
                                      </p:cBhvr>
                                      <p:tavLst>
                                        <p:tav tm="0">
                                          <p:val>
                                            <p:strVal val="0-#ppt_w/2"/>
                                          </p:val>
                                        </p:tav>
                                        <p:tav tm="100000">
                                          <p:val>
                                            <p:strVal val="#ppt_x"/>
                                          </p:val>
                                        </p:tav>
                                      </p:tavLst>
                                    </p:anim>
                                    <p:anim calcmode="lin" valueType="num">
                                      <p:cBhvr additive="base">
                                        <p:cTn id="31" dur="500" fill="hold"/>
                                        <p:tgtEl>
                                          <p:spTgt spid="79877"/>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79875"/>
                                        </p:tgtEl>
                                        <p:attrNameLst>
                                          <p:attrName>style.visibility</p:attrName>
                                        </p:attrNameLst>
                                      </p:cBhvr>
                                      <p:to>
                                        <p:strVal val="visible"/>
                                      </p:to>
                                    </p:set>
                                    <p:anim calcmode="lin" valueType="num">
                                      <p:cBhvr additive="base">
                                        <p:cTn id="36" dur="500" fill="hold"/>
                                        <p:tgtEl>
                                          <p:spTgt spid="79875"/>
                                        </p:tgtEl>
                                        <p:attrNameLst>
                                          <p:attrName>ppt_x</p:attrName>
                                        </p:attrNameLst>
                                      </p:cBhvr>
                                      <p:tavLst>
                                        <p:tav tm="0">
                                          <p:val>
                                            <p:strVal val="0-#ppt_w/2"/>
                                          </p:val>
                                        </p:tav>
                                        <p:tav tm="100000">
                                          <p:val>
                                            <p:strVal val="#ppt_x"/>
                                          </p:val>
                                        </p:tav>
                                      </p:tavLst>
                                    </p:anim>
                                    <p:anim calcmode="lin" valueType="num">
                                      <p:cBhvr additive="base">
                                        <p:cTn id="37" dur="500" fill="hold"/>
                                        <p:tgtEl>
                                          <p:spTgt spid="79875"/>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79879"/>
                                        </p:tgtEl>
                                        <p:attrNameLst>
                                          <p:attrName>style.visibility</p:attrName>
                                        </p:attrNameLst>
                                      </p:cBhvr>
                                      <p:to>
                                        <p:strVal val="visible"/>
                                      </p:to>
                                    </p:set>
                                    <p:anim calcmode="lin" valueType="num">
                                      <p:cBhvr additive="base">
                                        <p:cTn id="42" dur="500" fill="hold"/>
                                        <p:tgtEl>
                                          <p:spTgt spid="79879"/>
                                        </p:tgtEl>
                                        <p:attrNameLst>
                                          <p:attrName>ppt_x</p:attrName>
                                        </p:attrNameLst>
                                      </p:cBhvr>
                                      <p:tavLst>
                                        <p:tav tm="0">
                                          <p:val>
                                            <p:strVal val="0-#ppt_w/2"/>
                                          </p:val>
                                        </p:tav>
                                        <p:tav tm="100000">
                                          <p:val>
                                            <p:strVal val="#ppt_x"/>
                                          </p:val>
                                        </p:tav>
                                      </p:tavLst>
                                    </p:anim>
                                    <p:anim calcmode="lin" valueType="num">
                                      <p:cBhvr additive="base">
                                        <p:cTn id="43" dur="500" fill="hold"/>
                                        <p:tgtEl>
                                          <p:spTgt spid="79879"/>
                                        </p:tgtEl>
                                        <p:attrNameLst>
                                          <p:attrName>ppt_y</p:attrName>
                                        </p:attrNameLst>
                                      </p:cBhvr>
                                      <p:tavLst>
                                        <p:tav tm="0">
                                          <p:val>
                                            <p:strVal val="#ppt_y"/>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79876"/>
                                        </p:tgtEl>
                                        <p:attrNameLst>
                                          <p:attrName>style.visibility</p:attrName>
                                        </p:attrNameLst>
                                      </p:cBhvr>
                                      <p:to>
                                        <p:strVal val="visible"/>
                                      </p:to>
                                    </p:set>
                                    <p:anim calcmode="lin" valueType="num">
                                      <p:cBhvr additive="base">
                                        <p:cTn id="48" dur="500" fill="hold"/>
                                        <p:tgtEl>
                                          <p:spTgt spid="79876"/>
                                        </p:tgtEl>
                                        <p:attrNameLst>
                                          <p:attrName>ppt_x</p:attrName>
                                        </p:attrNameLst>
                                      </p:cBhvr>
                                      <p:tavLst>
                                        <p:tav tm="0">
                                          <p:val>
                                            <p:strVal val="0-#ppt_w/2"/>
                                          </p:val>
                                        </p:tav>
                                        <p:tav tm="100000">
                                          <p:val>
                                            <p:strVal val="#ppt_x"/>
                                          </p:val>
                                        </p:tav>
                                      </p:tavLst>
                                    </p:anim>
                                    <p:anim calcmode="lin" valueType="num">
                                      <p:cBhvr additive="base">
                                        <p:cTn id="49" dur="500" fill="hold"/>
                                        <p:tgtEl>
                                          <p:spTgt spid="79876"/>
                                        </p:tgtEl>
                                        <p:attrNameLst>
                                          <p:attrName>ppt_y</p:attrName>
                                        </p:attrNameLst>
                                      </p:cBhvr>
                                      <p:tavLst>
                                        <p:tav tm="0">
                                          <p:val>
                                            <p:strVal val="#ppt_y"/>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79878"/>
                                        </p:tgtEl>
                                        <p:attrNameLst>
                                          <p:attrName>style.visibility</p:attrName>
                                        </p:attrNameLst>
                                      </p:cBhvr>
                                      <p:to>
                                        <p:strVal val="visible"/>
                                      </p:to>
                                    </p:set>
                                    <p:anim calcmode="lin" valueType="num">
                                      <p:cBhvr additive="base">
                                        <p:cTn id="54" dur="500" fill="hold"/>
                                        <p:tgtEl>
                                          <p:spTgt spid="79878"/>
                                        </p:tgtEl>
                                        <p:attrNameLst>
                                          <p:attrName>ppt_x</p:attrName>
                                        </p:attrNameLst>
                                      </p:cBhvr>
                                      <p:tavLst>
                                        <p:tav tm="0">
                                          <p:val>
                                            <p:strVal val="0-#ppt_w/2"/>
                                          </p:val>
                                        </p:tav>
                                        <p:tav tm="100000">
                                          <p:val>
                                            <p:strVal val="#ppt_x"/>
                                          </p:val>
                                        </p:tav>
                                      </p:tavLst>
                                    </p:anim>
                                    <p:anim calcmode="lin" valueType="num">
                                      <p:cBhvr additive="base">
                                        <p:cTn id="55" dur="500" fill="hold"/>
                                        <p:tgtEl>
                                          <p:spTgt spid="798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autoUpdateAnimBg="0"/>
      <p:bldP spid="79875" grpId="0" autoUpdateAnimBg="0"/>
      <p:bldP spid="79876" grpId="0" autoUpdateAnimBg="0"/>
      <p:bldP spid="79877" grpId="0" autoUpdateAnimBg="0"/>
      <p:bldP spid="79878" grpId="0" autoUpdateAnimBg="0"/>
      <p:bldP spid="79879" grpId="0" autoUpdateAnimBg="0"/>
      <p:bldP spid="79881" grpId="0" autoUpdateAnimBg="0"/>
      <p:bldP spid="79882" grpId="0" autoUpdateAnimBg="0"/>
      <p:bldP spid="290818"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9" name="Object 7"/>
          <p:cNvGraphicFramePr>
            <a:graphicFrameLocks noChangeAspect="1"/>
          </p:cNvGraphicFramePr>
          <p:nvPr/>
        </p:nvGraphicFramePr>
        <p:xfrm>
          <a:off x="323850" y="3789363"/>
          <a:ext cx="8580438" cy="914400"/>
        </p:xfrm>
        <a:graphic>
          <a:graphicData uri="http://schemas.openxmlformats.org/presentationml/2006/ole">
            <mc:AlternateContent xmlns:mc="http://schemas.openxmlformats.org/markup-compatibility/2006">
              <mc:Choice xmlns:v="urn:schemas-microsoft-com:vml" Requires="v">
                <p:oleObj spid="_x0000_s52249" name="Equation" r:id="rId3" imgW="3467100" imgH="419100" progId="Equation.3">
                  <p:embed/>
                </p:oleObj>
              </mc:Choice>
              <mc:Fallback>
                <p:oleObj name="Equation" r:id="rId3" imgW="3467100" imgH="4191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3789363"/>
                        <a:ext cx="858043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20" name="Object 8"/>
          <p:cNvGraphicFramePr>
            <a:graphicFrameLocks noChangeAspect="1"/>
          </p:cNvGraphicFramePr>
          <p:nvPr/>
        </p:nvGraphicFramePr>
        <p:xfrm>
          <a:off x="2057400" y="5181600"/>
          <a:ext cx="3667125" cy="1130300"/>
        </p:xfrm>
        <a:graphic>
          <a:graphicData uri="http://schemas.openxmlformats.org/presentationml/2006/ole">
            <mc:AlternateContent xmlns:mc="http://schemas.openxmlformats.org/markup-compatibility/2006">
              <mc:Choice xmlns:v="urn:schemas-microsoft-com:vml" Requires="v">
                <p:oleObj spid="_x0000_s52250" name="Equation" r:id="rId5" imgW="1320227" imgH="393529" progId="Equation.3">
                  <p:embed/>
                </p:oleObj>
              </mc:Choice>
              <mc:Fallback>
                <p:oleObj name="Equation" r:id="rId5" imgW="1320227" imgH="393529"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5181600"/>
                        <a:ext cx="3667125"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52" name="Text Box 40"/>
          <p:cNvSpPr txBox="1">
            <a:spLocks noChangeArrowheads="1"/>
          </p:cNvSpPr>
          <p:nvPr/>
        </p:nvSpPr>
        <p:spPr bwMode="auto">
          <a:xfrm>
            <a:off x="0" y="1938338"/>
            <a:ext cx="4810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800">
                <a:solidFill>
                  <a:schemeClr val="accent2"/>
                </a:solidFill>
                <a:effectLst>
                  <a:outerShdw blurRad="38100" dist="38100" dir="2700000" algn="tl">
                    <a:srgbClr val="C0C0C0"/>
                  </a:outerShdw>
                </a:effectLst>
                <a:ea typeface="楷体_GB2312" pitchFamily="49" charset="-122"/>
              </a:rPr>
              <a:t>t0</a:t>
            </a:r>
          </a:p>
        </p:txBody>
      </p:sp>
      <p:grpSp>
        <p:nvGrpSpPr>
          <p:cNvPr id="52229" name="Group 43"/>
          <p:cNvGrpSpPr>
            <a:grpSpLocks/>
          </p:cNvGrpSpPr>
          <p:nvPr/>
        </p:nvGrpSpPr>
        <p:grpSpPr bwMode="auto">
          <a:xfrm>
            <a:off x="147638" y="1217613"/>
            <a:ext cx="8523287" cy="1525587"/>
            <a:chOff x="93" y="767"/>
            <a:chExt cx="5369" cy="961"/>
          </a:xfrm>
        </p:grpSpPr>
        <p:sp>
          <p:nvSpPr>
            <p:cNvPr id="52230" name="Line 32"/>
            <p:cNvSpPr>
              <a:spLocks noChangeShapeType="1"/>
            </p:cNvSpPr>
            <p:nvPr/>
          </p:nvSpPr>
          <p:spPr bwMode="auto">
            <a:xfrm>
              <a:off x="93" y="1219"/>
              <a:ext cx="5184" cy="10"/>
            </a:xfrm>
            <a:prstGeom prst="line">
              <a:avLst/>
            </a:prstGeom>
            <a:noFill/>
            <a:ln w="9525">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1" name="Oval 33"/>
            <p:cNvSpPr>
              <a:spLocks noChangeArrowheads="1"/>
            </p:cNvSpPr>
            <p:nvPr/>
          </p:nvSpPr>
          <p:spPr bwMode="auto">
            <a:xfrm>
              <a:off x="2085"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endParaRPr lang="zh-CN" altLang="en-US"/>
            </a:p>
          </p:txBody>
        </p:sp>
        <p:sp>
          <p:nvSpPr>
            <p:cNvPr id="64546" name="Oval 34"/>
            <p:cNvSpPr>
              <a:spLocks noChangeArrowheads="1"/>
            </p:cNvSpPr>
            <p:nvPr/>
          </p:nvSpPr>
          <p:spPr bwMode="auto">
            <a:xfrm>
              <a:off x="1121"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b="0">
                <a:solidFill>
                  <a:srgbClr val="FFFF00"/>
                </a:solidFill>
                <a:effectLst>
                  <a:outerShdw blurRad="38100" dist="38100" dir="2700000" algn="tl">
                    <a:srgbClr val="000000"/>
                  </a:outerShdw>
                </a:effectLst>
                <a:ea typeface="楷体_GB2312" pitchFamily="49" charset="-122"/>
              </a:endParaRPr>
            </a:p>
          </p:txBody>
        </p:sp>
        <p:sp>
          <p:nvSpPr>
            <p:cNvPr id="64547" name="Oval 35"/>
            <p:cNvSpPr>
              <a:spLocks noChangeArrowheads="1"/>
            </p:cNvSpPr>
            <p:nvPr/>
          </p:nvSpPr>
          <p:spPr bwMode="auto">
            <a:xfrm>
              <a:off x="93"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b="0">
                <a:solidFill>
                  <a:srgbClr val="FFFF00"/>
                </a:solidFill>
                <a:effectLst>
                  <a:outerShdw blurRad="38100" dist="38100" dir="2700000" algn="tl">
                    <a:srgbClr val="000000"/>
                  </a:outerShdw>
                </a:effectLst>
                <a:ea typeface="楷体_GB2312" pitchFamily="49" charset="-122"/>
              </a:endParaRPr>
            </a:p>
          </p:txBody>
        </p:sp>
        <p:sp>
          <p:nvSpPr>
            <p:cNvPr id="64548" name="Oval 36"/>
            <p:cNvSpPr>
              <a:spLocks noChangeArrowheads="1"/>
            </p:cNvSpPr>
            <p:nvPr/>
          </p:nvSpPr>
          <p:spPr bwMode="auto">
            <a:xfrm>
              <a:off x="4205"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b="0">
                <a:solidFill>
                  <a:srgbClr val="FFFF00"/>
                </a:solidFill>
                <a:effectLst>
                  <a:outerShdw blurRad="38100" dist="38100" dir="2700000" algn="tl">
                    <a:srgbClr val="000000"/>
                  </a:outerShdw>
                </a:effectLst>
                <a:ea typeface="楷体_GB2312" pitchFamily="49" charset="-122"/>
              </a:endParaRPr>
            </a:p>
          </p:txBody>
        </p:sp>
        <p:sp>
          <p:nvSpPr>
            <p:cNvPr id="64549" name="Oval 37"/>
            <p:cNvSpPr>
              <a:spLocks noChangeArrowheads="1"/>
            </p:cNvSpPr>
            <p:nvPr/>
          </p:nvSpPr>
          <p:spPr bwMode="auto">
            <a:xfrm>
              <a:off x="3113"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b="0">
                <a:solidFill>
                  <a:srgbClr val="FFFF00"/>
                </a:solidFill>
                <a:effectLst>
                  <a:outerShdw blurRad="38100" dist="38100" dir="2700000" algn="tl">
                    <a:srgbClr val="000000"/>
                  </a:outerShdw>
                </a:effectLst>
                <a:ea typeface="楷体_GB2312" pitchFamily="49" charset="-122"/>
              </a:endParaRPr>
            </a:p>
          </p:txBody>
        </p:sp>
        <p:graphicFrame>
          <p:nvGraphicFramePr>
            <p:cNvPr id="52236" name="Object 38"/>
            <p:cNvGraphicFramePr>
              <a:graphicFrameLocks noChangeAspect="1"/>
            </p:cNvGraphicFramePr>
            <p:nvPr/>
          </p:nvGraphicFramePr>
          <p:xfrm>
            <a:off x="2426" y="1298"/>
            <a:ext cx="816" cy="430"/>
          </p:xfrm>
          <a:graphic>
            <a:graphicData uri="http://schemas.openxmlformats.org/presentationml/2006/ole">
              <mc:AlternateContent xmlns:mc="http://schemas.openxmlformats.org/markup-compatibility/2006">
                <mc:Choice xmlns:v="urn:schemas-microsoft-com:vml" Requires="v">
                  <p:oleObj spid="_x0000_s52251" name="公式" r:id="rId7" imgW="160056" imgH="167568" progId="Equation.3">
                    <p:embed/>
                  </p:oleObj>
                </mc:Choice>
                <mc:Fallback>
                  <p:oleObj name="公式" r:id="rId7" imgW="160056" imgH="167568" progId="Equation.3">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26" y="1298"/>
                          <a:ext cx="816" cy="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51" name="Text Box 39"/>
            <p:cNvSpPr txBox="1">
              <a:spLocks noChangeArrowheads="1"/>
            </p:cNvSpPr>
            <p:nvPr/>
          </p:nvSpPr>
          <p:spPr bwMode="auto">
            <a:xfrm>
              <a:off x="93" y="767"/>
              <a:ext cx="53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800">
                  <a:solidFill>
                    <a:schemeClr val="accent2"/>
                  </a:solidFill>
                  <a:effectLst>
                    <a:outerShdw blurRad="38100" dist="38100" dir="2700000" algn="tl">
                      <a:srgbClr val="C0C0C0"/>
                    </a:outerShdw>
                  </a:effectLst>
                  <a:ea typeface="楷体_GB2312" pitchFamily="49" charset="-122"/>
                </a:rPr>
                <a:t>0               1               2                3                n-1               n </a:t>
              </a:r>
            </a:p>
          </p:txBody>
        </p:sp>
        <p:sp>
          <p:nvSpPr>
            <p:cNvPr id="64553" name="Text Box 41"/>
            <p:cNvSpPr txBox="1">
              <a:spLocks noChangeArrowheads="1"/>
            </p:cNvSpPr>
            <p:nvPr/>
          </p:nvSpPr>
          <p:spPr bwMode="auto">
            <a:xfrm>
              <a:off x="5148" y="1221"/>
              <a:ext cx="3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800">
                  <a:solidFill>
                    <a:schemeClr val="accent2"/>
                  </a:solidFill>
                  <a:effectLst>
                    <a:outerShdw blurRad="38100" dist="38100" dir="2700000" algn="tl">
                      <a:srgbClr val="C0C0C0"/>
                    </a:outerShdw>
                  </a:effectLst>
                  <a:ea typeface="楷体_GB2312" pitchFamily="49" charset="-122"/>
                </a:rPr>
                <a:t>t1</a:t>
              </a:r>
            </a:p>
          </p:txBody>
        </p:sp>
        <p:sp>
          <p:nvSpPr>
            <p:cNvPr id="64554" name="Oval 42"/>
            <p:cNvSpPr>
              <a:spLocks noChangeArrowheads="1"/>
            </p:cNvSpPr>
            <p:nvPr/>
          </p:nvSpPr>
          <p:spPr bwMode="auto">
            <a:xfrm>
              <a:off x="5277"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b="0">
                <a:solidFill>
                  <a:srgbClr val="FFFF00"/>
                </a:solidFill>
                <a:effectLst>
                  <a:outerShdw blurRad="38100" dist="38100" dir="2700000" algn="tl">
                    <a:srgbClr val="000000"/>
                  </a:outerShdw>
                </a:effectLst>
                <a:ea typeface="楷体_GB2312" pitchFamily="49" charset="-122"/>
              </a:endParaRPr>
            </a:p>
          </p:txBody>
        </p:sp>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4519"/>
                                        </p:tgtEl>
                                        <p:attrNameLst>
                                          <p:attrName>style.visibility</p:attrName>
                                        </p:attrNameLst>
                                      </p:cBhvr>
                                      <p:to>
                                        <p:strVal val="visible"/>
                                      </p:to>
                                    </p:set>
                                    <p:anim calcmode="lin" valueType="num">
                                      <p:cBhvr additive="base">
                                        <p:cTn id="7" dur="500" fill="hold"/>
                                        <p:tgtEl>
                                          <p:spTgt spid="64519"/>
                                        </p:tgtEl>
                                        <p:attrNameLst>
                                          <p:attrName>ppt_x</p:attrName>
                                        </p:attrNameLst>
                                      </p:cBhvr>
                                      <p:tavLst>
                                        <p:tav tm="0">
                                          <p:val>
                                            <p:strVal val="0-#ppt_w/2"/>
                                          </p:val>
                                        </p:tav>
                                        <p:tav tm="100000">
                                          <p:val>
                                            <p:strVal val="#ppt_x"/>
                                          </p:val>
                                        </p:tav>
                                      </p:tavLst>
                                    </p:anim>
                                    <p:anim calcmode="lin" valueType="num">
                                      <p:cBhvr additive="base">
                                        <p:cTn id="8" dur="500" fill="hold"/>
                                        <p:tgtEl>
                                          <p:spTgt spid="6451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4520"/>
                                        </p:tgtEl>
                                        <p:attrNameLst>
                                          <p:attrName>style.visibility</p:attrName>
                                        </p:attrNameLst>
                                      </p:cBhvr>
                                      <p:to>
                                        <p:strVal val="visible"/>
                                      </p:to>
                                    </p:set>
                                    <p:anim calcmode="lin" valueType="num">
                                      <p:cBhvr additive="base">
                                        <p:cTn id="13" dur="500" fill="hold"/>
                                        <p:tgtEl>
                                          <p:spTgt spid="64520"/>
                                        </p:tgtEl>
                                        <p:attrNameLst>
                                          <p:attrName>ppt_x</p:attrName>
                                        </p:attrNameLst>
                                      </p:cBhvr>
                                      <p:tavLst>
                                        <p:tav tm="0">
                                          <p:val>
                                            <p:strVal val="0-#ppt_w/2"/>
                                          </p:val>
                                        </p:tav>
                                        <p:tav tm="100000">
                                          <p:val>
                                            <p:strVal val="#ppt_x"/>
                                          </p:val>
                                        </p:tav>
                                      </p:tavLst>
                                    </p:anim>
                                    <p:anim calcmode="lin" valueType="num">
                                      <p:cBhvr additive="base">
                                        <p:cTn id="14" dur="500" fill="hold"/>
                                        <p:tgtEl>
                                          <p:spTgt spid="645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250825" y="404813"/>
            <a:ext cx="8229600" cy="265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20000"/>
              </a:lnSpc>
            </a:pPr>
            <a:r>
              <a:rPr lang="en-US" altLang="zh-CN" sz="2800">
                <a:solidFill>
                  <a:srgbClr val="000000"/>
                </a:solidFill>
              </a:rPr>
              <a:t>For </a:t>
            </a:r>
            <a:r>
              <a:rPr lang="en-US" altLang="zh-CN" sz="2800" i="1">
                <a:solidFill>
                  <a:srgbClr val="000080"/>
                </a:solidFill>
              </a:rPr>
              <a:t>t </a:t>
            </a:r>
            <a:r>
              <a:rPr lang="en-US" altLang="zh-CN" sz="2800">
                <a:solidFill>
                  <a:srgbClr val="000080"/>
                </a:solidFill>
              </a:rPr>
              <a:t>= </a:t>
            </a:r>
            <a:r>
              <a:rPr lang="en-US" altLang="zh-CN" sz="2800" i="1">
                <a:solidFill>
                  <a:srgbClr val="000080"/>
                </a:solidFill>
              </a:rPr>
              <a:t>t</a:t>
            </a:r>
            <a:r>
              <a:rPr lang="en-US" altLang="zh-CN" sz="2800">
                <a:solidFill>
                  <a:srgbClr val="008080"/>
                </a:solidFill>
              </a:rPr>
              <a:t>1 </a:t>
            </a:r>
            <a:r>
              <a:rPr lang="en-US" altLang="zh-CN" sz="2800">
                <a:solidFill>
                  <a:srgbClr val="000000"/>
                </a:solidFill>
              </a:rPr>
              <a:t>we must express the derivative in the boundary condition in finite difference form using points that exist in our mesh. The obvious thing to do is to take the backward difference so that the boundary condition becomes</a:t>
            </a:r>
            <a:endParaRPr lang="en-US" altLang="zh-CN" sz="2800"/>
          </a:p>
        </p:txBody>
      </p:sp>
      <p:sp>
        <p:nvSpPr>
          <p:cNvPr id="58371" name="Text Box 3"/>
          <p:cNvSpPr txBox="1">
            <a:spLocks noChangeArrowheads="1"/>
          </p:cNvSpPr>
          <p:nvPr/>
        </p:nvSpPr>
        <p:spPr bwMode="auto">
          <a:xfrm>
            <a:off x="4067175" y="4005263"/>
            <a:ext cx="4038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30000">
                <a:solidFill>
                  <a:srgbClr val="008080"/>
                </a:solidFill>
              </a:rPr>
              <a:t>n</a:t>
            </a:r>
            <a:r>
              <a:rPr lang="en-US" altLang="zh-CN">
                <a:solidFill>
                  <a:srgbClr val="008080"/>
                </a:solidFill>
              </a:rPr>
              <a:t> +</a:t>
            </a:r>
            <a:r>
              <a:rPr lang="en-US" altLang="zh-CN">
                <a:solidFill>
                  <a:srgbClr val="000080"/>
                </a:solidFill>
              </a:rPr>
              <a:t> (</a:t>
            </a:r>
            <a:r>
              <a:rPr lang="en-US" altLang="zh-CN" i="1">
                <a:solidFill>
                  <a:srgbClr val="000080"/>
                </a:solidFill>
              </a:rPr>
              <a:t>Y</a:t>
            </a:r>
            <a:r>
              <a:rPr lang="en-US" altLang="zh-CN" i="1" baseline="-30000">
                <a:solidFill>
                  <a:srgbClr val="008080"/>
                </a:solidFill>
              </a:rPr>
              <a:t>n</a:t>
            </a:r>
            <a:r>
              <a:rPr lang="en-US" altLang="zh-CN">
                <a:solidFill>
                  <a:srgbClr val="008080"/>
                </a:solidFill>
              </a:rPr>
              <a:t> </a:t>
            </a:r>
            <a:r>
              <a:rPr lang="en-US" altLang="zh-CN" i="1">
                <a:solidFill>
                  <a:srgbClr val="000080"/>
                </a:solidFill>
              </a:rPr>
              <a:t>– Y</a:t>
            </a:r>
            <a:r>
              <a:rPr lang="en-US" altLang="zh-CN" i="1" baseline="-30000">
                <a:solidFill>
                  <a:srgbClr val="008080"/>
                </a:solidFill>
              </a:rPr>
              <a:t>n-1</a:t>
            </a:r>
            <a:r>
              <a:rPr lang="en-US" altLang="zh-CN">
                <a:solidFill>
                  <a:srgbClr val="000080"/>
                </a:solidFill>
              </a:rPr>
              <a:t>)/</a:t>
            </a:r>
            <a:r>
              <a:rPr lang="en-US" altLang="zh-CN">
                <a:solidFill>
                  <a:srgbClr val="008000"/>
                </a:solidFill>
                <a:latin typeface="Symbol" pitchFamily="18" charset="2"/>
              </a:rPr>
              <a:t>D</a:t>
            </a:r>
            <a:r>
              <a:rPr lang="en-US" altLang="zh-CN" i="1">
                <a:solidFill>
                  <a:srgbClr val="000080"/>
                </a:solidFill>
              </a:rPr>
              <a:t>t=</a:t>
            </a:r>
            <a:r>
              <a:rPr lang="en-US" altLang="zh-CN">
                <a:solidFill>
                  <a:srgbClr val="000000"/>
                </a:solidFill>
                <a:latin typeface="Symbol" pitchFamily="18" charset="2"/>
              </a:rPr>
              <a:t> b </a:t>
            </a:r>
            <a:r>
              <a:rPr lang="en-US" altLang="zh-CN">
                <a:solidFill>
                  <a:srgbClr val="000000"/>
                </a:solidFill>
              </a:rPr>
              <a:t>, </a:t>
            </a:r>
          </a:p>
        </p:txBody>
      </p:sp>
      <p:sp>
        <p:nvSpPr>
          <p:cNvPr id="58372" name="Text Box 4"/>
          <p:cNvSpPr txBox="1">
            <a:spLocks noChangeArrowheads="1"/>
          </p:cNvSpPr>
          <p:nvPr/>
        </p:nvSpPr>
        <p:spPr bwMode="auto">
          <a:xfrm>
            <a:off x="755650" y="5070127"/>
            <a:ext cx="6534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dirty="0">
                <a:solidFill>
                  <a:srgbClr val="000000"/>
                </a:solidFill>
              </a:rPr>
              <a:t>but as we shall see, this choice is not ideal.</a:t>
            </a:r>
            <a:endParaRPr lang="en-US" altLang="zh-CN" sz="2800" dirty="0"/>
          </a:p>
        </p:txBody>
      </p:sp>
      <p:sp>
        <p:nvSpPr>
          <p:cNvPr id="58373" name="Text Box 5"/>
          <p:cNvSpPr txBox="1">
            <a:spLocks noChangeArrowheads="1"/>
          </p:cNvSpPr>
          <p:nvPr/>
        </p:nvSpPr>
        <p:spPr bwMode="auto">
          <a:xfrm>
            <a:off x="5292725" y="3019425"/>
            <a:ext cx="3048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 + </a:t>
            </a:r>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 = </a:t>
            </a:r>
            <a:r>
              <a:rPr lang="en-US" altLang="zh-CN">
                <a:solidFill>
                  <a:srgbClr val="008000"/>
                </a:solidFill>
                <a:latin typeface="Symbol" pitchFamily="18" charset="2"/>
              </a:rPr>
              <a:t>b</a:t>
            </a:r>
            <a:r>
              <a:rPr lang="en-US" altLang="zh-CN">
                <a:solidFill>
                  <a:srgbClr val="000000"/>
                </a:solidFill>
              </a:rPr>
              <a:t>.</a:t>
            </a:r>
          </a:p>
        </p:txBody>
      </p:sp>
      <p:sp>
        <p:nvSpPr>
          <p:cNvPr id="58374" name="Text Box 6"/>
          <p:cNvSpPr txBox="1">
            <a:spLocks noChangeArrowheads="1"/>
          </p:cNvSpPr>
          <p:nvPr/>
        </p:nvSpPr>
        <p:spPr bwMode="auto">
          <a:xfrm>
            <a:off x="609600" y="5638800"/>
            <a:ext cx="80184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00"/>
                </a:solidFill>
              </a:rPr>
              <a:t>The above strategy leads to the system of equations</a:t>
            </a:r>
            <a:r>
              <a:rPr lang="en-US" altLang="zh-CN" sz="2800"/>
              <a:t> </a:t>
            </a:r>
          </a:p>
        </p:txBody>
      </p:sp>
      <p:sp>
        <p:nvSpPr>
          <p:cNvPr id="286722" name="Text Box 2"/>
          <p:cNvSpPr txBox="1">
            <a:spLocks noChangeArrowheads="1"/>
          </p:cNvSpPr>
          <p:nvPr/>
        </p:nvSpPr>
        <p:spPr bwMode="auto">
          <a:xfrm>
            <a:off x="395288" y="4005263"/>
            <a:ext cx="3384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30000">
                <a:solidFill>
                  <a:srgbClr val="008080"/>
                </a:solidFill>
              </a:rPr>
              <a:t>n</a:t>
            </a:r>
            <a:r>
              <a:rPr lang="en-US" altLang="zh-CN">
                <a:solidFill>
                  <a:srgbClr val="008080"/>
                </a:solidFill>
              </a:rPr>
              <a:t> +</a:t>
            </a:r>
            <a:r>
              <a:rPr lang="en-US" altLang="zh-CN">
                <a:solidFill>
                  <a:srgbClr val="000080"/>
                </a:solidFill>
              </a:rPr>
              <a:t> </a:t>
            </a:r>
            <a:r>
              <a:rPr lang="en-US" altLang="zh-CN" i="1">
                <a:solidFill>
                  <a:srgbClr val="000080"/>
                </a:solidFill>
              </a:rPr>
              <a:t>Y ' </a:t>
            </a:r>
            <a:r>
              <a:rPr lang="en-US" altLang="zh-CN" i="1" baseline="-30000">
                <a:solidFill>
                  <a:srgbClr val="008080"/>
                </a:solidFill>
              </a:rPr>
              <a:t>n</a:t>
            </a:r>
            <a:r>
              <a:rPr lang="en-US" altLang="zh-CN" i="1">
                <a:solidFill>
                  <a:srgbClr val="000080"/>
                </a:solidFill>
              </a:rPr>
              <a:t>=</a:t>
            </a:r>
            <a:r>
              <a:rPr lang="en-US" altLang="zh-CN">
                <a:solidFill>
                  <a:srgbClr val="000000"/>
                </a:solidFill>
                <a:latin typeface="Symbol" pitchFamily="18" charset="2"/>
              </a:rPr>
              <a:t> b </a:t>
            </a:r>
            <a:r>
              <a:rPr lang="en-US" altLang="zh-CN">
                <a:solidFill>
                  <a:srgbClr val="000000"/>
                </a:solidFill>
              </a:rPr>
              <a:t>, </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373"/>
                                        </p:tgtEl>
                                        <p:attrNameLst>
                                          <p:attrName>style.visibility</p:attrName>
                                        </p:attrNameLst>
                                      </p:cBhvr>
                                      <p:to>
                                        <p:strVal val="visible"/>
                                      </p:to>
                                    </p:set>
                                    <p:anim calcmode="lin" valueType="num">
                                      <p:cBhvr additive="base">
                                        <p:cTn id="7" dur="500" fill="hold"/>
                                        <p:tgtEl>
                                          <p:spTgt spid="58373"/>
                                        </p:tgtEl>
                                        <p:attrNameLst>
                                          <p:attrName>ppt_x</p:attrName>
                                        </p:attrNameLst>
                                      </p:cBhvr>
                                      <p:tavLst>
                                        <p:tav tm="0">
                                          <p:val>
                                            <p:strVal val="0-#ppt_w/2"/>
                                          </p:val>
                                        </p:tav>
                                        <p:tav tm="100000">
                                          <p:val>
                                            <p:strVal val="#ppt_x"/>
                                          </p:val>
                                        </p:tav>
                                      </p:tavLst>
                                    </p:anim>
                                    <p:anim calcmode="lin" valueType="num">
                                      <p:cBhvr additive="base">
                                        <p:cTn id="8" dur="500" fill="hold"/>
                                        <p:tgtEl>
                                          <p:spTgt spid="5837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6722"/>
                                        </p:tgtEl>
                                        <p:attrNameLst>
                                          <p:attrName>style.visibility</p:attrName>
                                        </p:attrNameLst>
                                      </p:cBhvr>
                                      <p:to>
                                        <p:strVal val="visible"/>
                                      </p:to>
                                    </p:set>
                                    <p:anim calcmode="lin" valueType="num">
                                      <p:cBhvr additive="base">
                                        <p:cTn id="13" dur="500" fill="hold"/>
                                        <p:tgtEl>
                                          <p:spTgt spid="286722"/>
                                        </p:tgtEl>
                                        <p:attrNameLst>
                                          <p:attrName>ppt_x</p:attrName>
                                        </p:attrNameLst>
                                      </p:cBhvr>
                                      <p:tavLst>
                                        <p:tav tm="0">
                                          <p:val>
                                            <p:strVal val="0-#ppt_w/2"/>
                                          </p:val>
                                        </p:tav>
                                        <p:tav tm="100000">
                                          <p:val>
                                            <p:strVal val="#ppt_x"/>
                                          </p:val>
                                        </p:tav>
                                      </p:tavLst>
                                    </p:anim>
                                    <p:anim calcmode="lin" valueType="num">
                                      <p:cBhvr additive="base">
                                        <p:cTn id="14" dur="500" fill="hold"/>
                                        <p:tgtEl>
                                          <p:spTgt spid="28672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371"/>
                                        </p:tgtEl>
                                        <p:attrNameLst>
                                          <p:attrName>style.visibility</p:attrName>
                                        </p:attrNameLst>
                                      </p:cBhvr>
                                      <p:to>
                                        <p:strVal val="visible"/>
                                      </p:to>
                                    </p:set>
                                    <p:anim calcmode="lin" valueType="num">
                                      <p:cBhvr additive="base">
                                        <p:cTn id="19" dur="500" fill="hold"/>
                                        <p:tgtEl>
                                          <p:spTgt spid="58371"/>
                                        </p:tgtEl>
                                        <p:attrNameLst>
                                          <p:attrName>ppt_x</p:attrName>
                                        </p:attrNameLst>
                                      </p:cBhvr>
                                      <p:tavLst>
                                        <p:tav tm="0">
                                          <p:val>
                                            <p:strVal val="0-#ppt_w/2"/>
                                          </p:val>
                                        </p:tav>
                                        <p:tav tm="100000">
                                          <p:val>
                                            <p:strVal val="#ppt_x"/>
                                          </p:val>
                                        </p:tav>
                                      </p:tavLst>
                                    </p:anim>
                                    <p:anim calcmode="lin" valueType="num">
                                      <p:cBhvr additive="base">
                                        <p:cTn id="20" dur="500" fill="hold"/>
                                        <p:tgtEl>
                                          <p:spTgt spid="5837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8372"/>
                                        </p:tgtEl>
                                        <p:attrNameLst>
                                          <p:attrName>style.visibility</p:attrName>
                                        </p:attrNameLst>
                                      </p:cBhvr>
                                      <p:to>
                                        <p:strVal val="visible"/>
                                      </p:to>
                                    </p:set>
                                    <p:anim calcmode="lin" valueType="num">
                                      <p:cBhvr additive="base">
                                        <p:cTn id="25" dur="500" fill="hold"/>
                                        <p:tgtEl>
                                          <p:spTgt spid="58372"/>
                                        </p:tgtEl>
                                        <p:attrNameLst>
                                          <p:attrName>ppt_x</p:attrName>
                                        </p:attrNameLst>
                                      </p:cBhvr>
                                      <p:tavLst>
                                        <p:tav tm="0">
                                          <p:val>
                                            <p:strVal val="0-#ppt_w/2"/>
                                          </p:val>
                                        </p:tav>
                                        <p:tav tm="100000">
                                          <p:val>
                                            <p:strVal val="#ppt_x"/>
                                          </p:val>
                                        </p:tav>
                                      </p:tavLst>
                                    </p:anim>
                                    <p:anim calcmode="lin" valueType="num">
                                      <p:cBhvr additive="base">
                                        <p:cTn id="26" dur="500" fill="hold"/>
                                        <p:tgtEl>
                                          <p:spTgt spid="5837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8374"/>
                                        </p:tgtEl>
                                        <p:attrNameLst>
                                          <p:attrName>style.visibility</p:attrName>
                                        </p:attrNameLst>
                                      </p:cBhvr>
                                      <p:to>
                                        <p:strVal val="visible"/>
                                      </p:to>
                                    </p:set>
                                    <p:anim calcmode="lin" valueType="num">
                                      <p:cBhvr additive="base">
                                        <p:cTn id="31" dur="500" fill="hold"/>
                                        <p:tgtEl>
                                          <p:spTgt spid="58374"/>
                                        </p:tgtEl>
                                        <p:attrNameLst>
                                          <p:attrName>ppt_x</p:attrName>
                                        </p:attrNameLst>
                                      </p:cBhvr>
                                      <p:tavLst>
                                        <p:tav tm="0">
                                          <p:val>
                                            <p:strVal val="0-#ppt_w/2"/>
                                          </p:val>
                                        </p:tav>
                                        <p:tav tm="100000">
                                          <p:val>
                                            <p:strVal val="#ppt_x"/>
                                          </p:val>
                                        </p:tav>
                                      </p:tavLst>
                                    </p:anim>
                                    <p:anim calcmode="lin" valueType="num">
                                      <p:cBhvr additive="base">
                                        <p:cTn id="32" dur="500" fill="hold"/>
                                        <p:tgtEl>
                                          <p:spTgt spid="583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autoUpdateAnimBg="0"/>
      <p:bldP spid="58372" grpId="0" autoUpdateAnimBg="0"/>
      <p:bldP spid="58373" grpId="0" autoUpdateAnimBg="0"/>
      <p:bldP spid="58374" grpId="0" autoUpdateAnimBg="0"/>
      <p:bldP spid="286722"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107950" y="188913"/>
            <a:ext cx="9144000" cy="448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50000"/>
              </a:lnSpc>
            </a:pPr>
            <a:r>
              <a:rPr lang="en-US" altLang="zh-CN" i="1">
                <a:solidFill>
                  <a:srgbClr val="000080"/>
                </a:solidFill>
              </a:rPr>
              <a:t>Y</a:t>
            </a:r>
            <a:r>
              <a:rPr lang="en-US" altLang="zh-CN" i="1" baseline="-25000">
                <a:solidFill>
                  <a:srgbClr val="008080"/>
                </a:solidFill>
              </a:rPr>
              <a:t>0</a:t>
            </a:r>
            <a:r>
              <a:rPr lang="en-US" altLang="zh-CN">
                <a:solidFill>
                  <a:srgbClr val="008080"/>
                </a:solidFill>
              </a:rPr>
              <a:t> </a:t>
            </a:r>
            <a:r>
              <a:rPr lang="en-US" altLang="zh-CN">
                <a:solidFill>
                  <a:srgbClr val="000080"/>
                </a:solidFill>
              </a:rPr>
              <a:t>= </a:t>
            </a:r>
            <a:r>
              <a:rPr lang="en-US" altLang="zh-CN">
                <a:solidFill>
                  <a:srgbClr val="008000"/>
                </a:solidFill>
                <a:latin typeface="Symbol" pitchFamily="18" charset="2"/>
              </a:rPr>
              <a:t>a</a:t>
            </a:r>
            <a:r>
              <a:rPr lang="en-US" altLang="zh-CN">
                <a:solidFill>
                  <a:srgbClr val="000000"/>
                </a:solidFill>
              </a:rPr>
              <a:t>,</a:t>
            </a:r>
            <a:endParaRPr lang="en-US" altLang="zh-CN"/>
          </a:p>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0</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 </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1</a:t>
            </a:r>
            <a:r>
              <a:rPr lang="en-US" altLang="zh-CN">
                <a:solidFill>
                  <a:srgbClr val="008080"/>
                </a:solidFill>
              </a:rPr>
              <a:t> </a:t>
            </a:r>
            <a:r>
              <a:rPr lang="en-US" altLang="zh-CN">
                <a:solidFill>
                  <a:srgbClr val="000080"/>
                </a:solidFill>
              </a:rPr>
              <a:t>+ (1+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2</a:t>
            </a:r>
            <a:r>
              <a:rPr lang="en-US" altLang="zh-CN">
                <a:solidFill>
                  <a:srgbClr val="008080"/>
                </a:solidFill>
              </a:rPr>
              <a:t> </a:t>
            </a:r>
            <a:r>
              <a:rPr lang="en-US" altLang="zh-CN">
                <a:solidFill>
                  <a:srgbClr val="000080"/>
                </a:solidFill>
              </a:rPr>
              <a:t>= </a:t>
            </a:r>
            <a:r>
              <a:rPr lang="en-US" altLang="zh-CN" i="1">
                <a:solidFill>
                  <a:srgbClr val="000080"/>
                </a:solidFill>
              </a:rPr>
              <a:t>c</a:t>
            </a:r>
            <a:r>
              <a:rPr lang="en-US" altLang="zh-CN">
                <a:solidFill>
                  <a:srgbClr val="008000"/>
                </a:solidFill>
                <a:latin typeface="Symbol" pitchFamily="18" charset="2"/>
              </a:rPr>
              <a:t>D</a:t>
            </a:r>
            <a:r>
              <a:rPr lang="en-US" altLang="zh-CN" i="1">
                <a:solidFill>
                  <a:srgbClr val="000080"/>
                </a:solidFill>
              </a:rPr>
              <a:t>t </a:t>
            </a:r>
            <a:r>
              <a:rPr lang="en-US" altLang="zh-CN" baseline="30000">
                <a:solidFill>
                  <a:srgbClr val="800080"/>
                </a:solidFill>
              </a:rPr>
              <a:t>2</a:t>
            </a:r>
            <a:r>
              <a:rPr lang="en-US" altLang="zh-CN">
                <a:solidFill>
                  <a:srgbClr val="000000"/>
                </a:solidFill>
              </a:rPr>
              <a:t>,</a:t>
            </a:r>
            <a:endParaRPr lang="en-US" altLang="zh-CN"/>
          </a:p>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1</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 </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2</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3</a:t>
            </a:r>
            <a:r>
              <a:rPr lang="en-US" altLang="zh-CN">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 </a:t>
            </a:r>
            <a:r>
              <a:rPr lang="en-US" altLang="zh-CN" baseline="30000">
                <a:solidFill>
                  <a:srgbClr val="800080"/>
                </a:solidFill>
              </a:rPr>
              <a:t>2</a:t>
            </a:r>
            <a:r>
              <a:rPr lang="en-US" altLang="zh-CN">
                <a:solidFill>
                  <a:srgbClr val="000000"/>
                </a:solidFill>
              </a:rPr>
              <a:t>,</a:t>
            </a:r>
            <a:endParaRPr lang="en-US" altLang="zh-CN"/>
          </a:p>
          <a:p>
            <a:pPr>
              <a:lnSpc>
                <a:spcPct val="150000"/>
              </a:lnSpc>
            </a:pPr>
            <a:r>
              <a:rPr lang="en-US" altLang="zh-CN">
                <a:solidFill>
                  <a:srgbClr val="000080"/>
                </a:solidFill>
              </a:rPr>
              <a:t>…</a:t>
            </a:r>
            <a:endParaRPr lang="en-US" altLang="zh-CN"/>
          </a:p>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n–2</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 </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n–1</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n</a:t>
            </a:r>
            <a:r>
              <a:rPr lang="en-US" altLang="zh-CN" i="1">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 </a:t>
            </a:r>
            <a:r>
              <a:rPr lang="en-US" altLang="zh-CN" baseline="30000">
                <a:solidFill>
                  <a:srgbClr val="800080"/>
                </a:solidFill>
              </a:rPr>
              <a:t>2</a:t>
            </a:r>
            <a:r>
              <a:rPr lang="en-US" altLang="zh-CN">
                <a:solidFill>
                  <a:srgbClr val="000000"/>
                </a:solidFill>
              </a:rPr>
              <a:t>,</a:t>
            </a:r>
            <a:endParaRPr lang="en-US" altLang="zh-CN"/>
          </a:p>
          <a:p>
            <a:pPr>
              <a:lnSpc>
                <a:spcPct val="150000"/>
              </a:lnSpc>
            </a:pPr>
            <a:r>
              <a:rPr lang="en-US" altLang="zh-CN">
                <a:solidFill>
                  <a:srgbClr val="000080"/>
                </a:solidFill>
                <a:latin typeface="Symbol" pitchFamily="18" charset="2"/>
              </a:rPr>
              <a:t>-</a:t>
            </a:r>
            <a:r>
              <a:rPr lang="en-US" altLang="zh-CN" i="1">
                <a:solidFill>
                  <a:srgbClr val="000080"/>
                </a:solidFill>
              </a:rPr>
              <a:t>Y</a:t>
            </a:r>
            <a:r>
              <a:rPr lang="en-US" altLang="zh-CN" baseline="-30000">
                <a:solidFill>
                  <a:srgbClr val="008080"/>
                </a:solidFill>
              </a:rPr>
              <a:t>n-1</a:t>
            </a:r>
            <a:r>
              <a:rPr lang="en-US" altLang="zh-CN">
                <a:solidFill>
                  <a:srgbClr val="008080"/>
                </a:solidFill>
              </a:rPr>
              <a:t> </a:t>
            </a:r>
            <a:r>
              <a:rPr lang="en-US" altLang="zh-CN" i="1">
                <a:solidFill>
                  <a:srgbClr val="000080"/>
                </a:solidFill>
              </a:rPr>
              <a:t>+ </a:t>
            </a:r>
            <a:r>
              <a:rPr lang="en-US" altLang="zh-CN">
                <a:solidFill>
                  <a:srgbClr val="000080"/>
                </a:solidFill>
              </a:rPr>
              <a:t>(</a:t>
            </a:r>
            <a:r>
              <a:rPr lang="en-US" altLang="zh-CN">
                <a:solidFill>
                  <a:srgbClr val="008000"/>
                </a:solidFill>
                <a:latin typeface="Symbol" pitchFamily="18" charset="2"/>
              </a:rPr>
              <a:t>D</a:t>
            </a:r>
            <a:r>
              <a:rPr lang="en-US" altLang="zh-CN" i="1">
                <a:solidFill>
                  <a:srgbClr val="000080"/>
                </a:solidFill>
              </a:rPr>
              <a:t>t </a:t>
            </a:r>
            <a:r>
              <a:rPr lang="en-US" altLang="zh-CN">
                <a:solidFill>
                  <a:srgbClr val="000080"/>
                </a:solidFill>
              </a:rPr>
              <a:t>+ 1) </a:t>
            </a:r>
            <a:r>
              <a:rPr lang="en-US" altLang="zh-CN" i="1">
                <a:solidFill>
                  <a:srgbClr val="000080"/>
                </a:solidFill>
              </a:rPr>
              <a:t>Y</a:t>
            </a:r>
            <a:r>
              <a:rPr lang="en-US" altLang="zh-CN" baseline="-30000">
                <a:solidFill>
                  <a:srgbClr val="008080"/>
                </a:solidFill>
              </a:rPr>
              <a:t>n</a:t>
            </a:r>
            <a:r>
              <a:rPr lang="en-US" altLang="zh-CN" i="1">
                <a:solidFill>
                  <a:srgbClr val="008080"/>
                </a:solidFill>
              </a:rPr>
              <a:t> </a:t>
            </a:r>
            <a:r>
              <a:rPr lang="en-US" altLang="zh-CN">
                <a:solidFill>
                  <a:srgbClr val="000080"/>
                </a:solidFill>
              </a:rPr>
              <a:t>= </a:t>
            </a:r>
            <a:r>
              <a:rPr lang="en-US" altLang="zh-CN">
                <a:solidFill>
                  <a:srgbClr val="008000"/>
                </a:solidFill>
                <a:latin typeface="Symbol" pitchFamily="18" charset="2"/>
              </a:rPr>
              <a:t>bD</a:t>
            </a:r>
            <a:r>
              <a:rPr lang="en-US" altLang="zh-CN" i="1">
                <a:solidFill>
                  <a:srgbClr val="000080"/>
                </a:solidFill>
              </a:rPr>
              <a:t>t</a:t>
            </a:r>
            <a:endParaRPr lang="en-US" altLang="zh-CN"/>
          </a:p>
        </p:txBody>
      </p:sp>
      <p:sp>
        <p:nvSpPr>
          <p:cNvPr id="59395" name="Text Box 3"/>
          <p:cNvSpPr txBox="1">
            <a:spLocks noChangeArrowheads="1"/>
          </p:cNvSpPr>
          <p:nvPr/>
        </p:nvSpPr>
        <p:spPr bwMode="auto">
          <a:xfrm>
            <a:off x="323850" y="5373688"/>
            <a:ext cx="84963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This tridiagonal system may be readily solved using the method discussed in section 4.5. </a:t>
            </a:r>
          </a:p>
        </p:txBody>
      </p:sp>
      <p:sp>
        <p:nvSpPr>
          <p:cNvPr id="54276" name="Rectangle 2"/>
          <p:cNvSpPr>
            <a:spLocks noChangeArrowheads="1"/>
          </p:cNvSpPr>
          <p:nvPr/>
        </p:nvSpPr>
        <p:spPr bwMode="auto">
          <a:xfrm>
            <a:off x="60325" y="404813"/>
            <a:ext cx="9083675" cy="4464050"/>
          </a:xfrm>
          <a:prstGeom prst="rect">
            <a:avLst/>
          </a:prstGeom>
          <a:noFill/>
          <a:ln w="254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endParaRPr lang="zh-CN" altLang="en-US"/>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gtEl>
                                        <p:attrNameLst>
                                          <p:attrName>style.visibility</p:attrName>
                                        </p:attrNameLst>
                                      </p:cBhvr>
                                      <p:to>
                                        <p:strVal val="visible"/>
                                      </p:to>
                                    </p:set>
                                    <p:anim calcmode="lin" valueType="num">
                                      <p:cBhvr additive="base">
                                        <p:cTn id="7" dur="500" fill="hold"/>
                                        <p:tgtEl>
                                          <p:spTgt spid="59395"/>
                                        </p:tgtEl>
                                        <p:attrNameLst>
                                          <p:attrName>ppt_x</p:attrName>
                                        </p:attrNameLst>
                                      </p:cBhvr>
                                      <p:tavLst>
                                        <p:tav tm="0">
                                          <p:val>
                                            <p:strVal val="0-#ppt_w/2"/>
                                          </p:val>
                                        </p:tav>
                                        <p:tav tm="100000">
                                          <p:val>
                                            <p:strVal val="#ppt_x"/>
                                          </p:val>
                                        </p:tav>
                                      </p:tavLst>
                                    </p:anim>
                                    <p:anim calcmode="lin" valueType="num">
                                      <p:cBhvr additive="base">
                                        <p:cTn id="8" dur="500" fill="hold"/>
                                        <p:tgtEl>
                                          <p:spTgt spid="593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981075"/>
            <a:ext cx="8424863"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299" name="Text Box 3"/>
          <p:cNvSpPr txBox="1">
            <a:spLocks noChangeArrowheads="1"/>
          </p:cNvSpPr>
          <p:nvPr/>
        </p:nvSpPr>
        <p:spPr bwMode="auto">
          <a:xfrm>
            <a:off x="468313" y="260350"/>
            <a:ext cx="38306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r>
              <a:rPr kumimoji="0" lang="en-US" altLang="zh-CN">
                <a:ea typeface="楷体_GB2312" pitchFamily="49" charset="-122"/>
              </a:rPr>
              <a:t>Tridiagonal matrices</a:t>
            </a:r>
          </a:p>
        </p:txBody>
      </p:sp>
    </p:spTree>
  </p:cSld>
  <p:clrMapOvr>
    <a:masterClrMapping/>
  </p:clrMapOvr>
  <p:transition spd="med">
    <p:pull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ChangeArrowheads="1"/>
          </p:cNvSpPr>
          <p:nvPr/>
        </p:nvSpPr>
        <p:spPr bwMode="auto">
          <a:xfrm>
            <a:off x="304800" y="260350"/>
            <a:ext cx="8382000" cy="3259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a:solidFill>
                  <a:srgbClr val="000000"/>
                </a:solidFill>
              </a:rPr>
              <a:t>There is one problem with the scheme outlined above: while the </a:t>
            </a:r>
            <a:r>
              <a:rPr lang="en-US" altLang="zh-CN" i="1">
                <a:solidFill>
                  <a:srgbClr val="000080"/>
                </a:solidFill>
              </a:rPr>
              <a:t>Y" </a:t>
            </a:r>
            <a:r>
              <a:rPr lang="en-US" altLang="zh-CN">
                <a:solidFill>
                  <a:srgbClr val="000000"/>
                </a:solidFill>
              </a:rPr>
              <a:t>and </a:t>
            </a:r>
            <a:r>
              <a:rPr lang="en-US" altLang="zh-CN" i="1">
                <a:solidFill>
                  <a:srgbClr val="000080"/>
                </a:solidFill>
              </a:rPr>
              <a:t>Y'</a:t>
            </a:r>
            <a:r>
              <a:rPr lang="en-US" altLang="zh-CN"/>
              <a:t> </a:t>
            </a:r>
            <a:r>
              <a:rPr lang="en-US" altLang="zh-CN" i="1">
                <a:solidFill>
                  <a:srgbClr val="000080"/>
                </a:solidFill>
              </a:rPr>
              <a:t> </a:t>
            </a:r>
            <a:r>
              <a:rPr lang="en-US" altLang="zh-CN">
                <a:solidFill>
                  <a:srgbClr val="000000"/>
                </a:solidFill>
              </a:rPr>
              <a:t>derivatives within the domain are second order accurate, the boundary condition at </a:t>
            </a:r>
            <a:r>
              <a:rPr lang="en-US" altLang="zh-CN" i="1">
                <a:solidFill>
                  <a:srgbClr val="000080"/>
                </a:solidFill>
              </a:rPr>
              <a:t>t </a:t>
            </a:r>
            <a:r>
              <a:rPr lang="en-US" altLang="zh-CN">
                <a:solidFill>
                  <a:srgbClr val="000080"/>
                </a:solidFill>
              </a:rPr>
              <a:t>= </a:t>
            </a:r>
            <a:r>
              <a:rPr lang="en-US" altLang="zh-CN" i="1">
                <a:solidFill>
                  <a:srgbClr val="000080"/>
                </a:solidFill>
              </a:rPr>
              <a:t>t</a:t>
            </a:r>
            <a:r>
              <a:rPr lang="en-US" altLang="zh-CN" baseline="-25000">
                <a:solidFill>
                  <a:srgbClr val="008080"/>
                </a:solidFill>
              </a:rPr>
              <a:t>1</a:t>
            </a:r>
            <a:r>
              <a:rPr lang="en-US" altLang="zh-CN">
                <a:solidFill>
                  <a:srgbClr val="008080"/>
                </a:solidFill>
              </a:rPr>
              <a:t> </a:t>
            </a:r>
            <a:r>
              <a:rPr lang="en-US" altLang="zh-CN">
                <a:solidFill>
                  <a:srgbClr val="000000"/>
                </a:solidFill>
              </a:rPr>
              <a:t>is imposed only as a first-order approximation to the derivative. </a:t>
            </a:r>
          </a:p>
        </p:txBody>
      </p:sp>
      <p:sp>
        <p:nvSpPr>
          <p:cNvPr id="56323" name="Text Box 2054"/>
          <p:cNvSpPr txBox="1">
            <a:spLocks noChangeArrowheads="1"/>
          </p:cNvSpPr>
          <p:nvPr/>
        </p:nvSpPr>
        <p:spPr bwMode="auto">
          <a:xfrm>
            <a:off x="341313" y="3716338"/>
            <a:ext cx="36893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30000">
                <a:solidFill>
                  <a:srgbClr val="008080"/>
                </a:solidFill>
              </a:rPr>
              <a:t>i</a:t>
            </a:r>
            <a:r>
              <a:rPr lang="en-US" altLang="zh-CN" i="1">
                <a:solidFill>
                  <a:srgbClr val="008080"/>
                </a:solidFill>
              </a:rPr>
              <a:t> </a:t>
            </a:r>
            <a:r>
              <a:rPr lang="en-US" altLang="zh-CN" i="1">
                <a:solidFill>
                  <a:srgbClr val="008080"/>
                </a:solidFill>
                <a:sym typeface="Symbol" pitchFamily="18" charset="2"/>
              </a:rPr>
              <a:t></a:t>
            </a:r>
            <a:r>
              <a:rPr lang="en-US" altLang="zh-CN">
                <a:solidFill>
                  <a:srgbClr val="000080"/>
                </a:solidFill>
                <a:latin typeface="Symbol" pitchFamily="18" charset="2"/>
              </a:rPr>
              <a:t> </a:t>
            </a:r>
            <a:r>
              <a:rPr lang="en-US" altLang="zh-CN">
                <a:solidFill>
                  <a:srgbClr val="000080"/>
                </a:solidFill>
              </a:rPr>
              <a:t>(</a:t>
            </a:r>
            <a:r>
              <a:rPr lang="en-US" altLang="zh-CN" i="1">
                <a:solidFill>
                  <a:srgbClr val="000080"/>
                </a:solidFill>
              </a:rPr>
              <a:t>Y</a:t>
            </a:r>
            <a:r>
              <a:rPr lang="en-US" altLang="zh-CN" i="1" baseline="-30000">
                <a:solidFill>
                  <a:srgbClr val="008080"/>
                </a:solidFill>
              </a:rPr>
              <a:t>i+1</a:t>
            </a:r>
            <a:r>
              <a:rPr lang="en-US" altLang="zh-CN">
                <a:solidFill>
                  <a:srgbClr val="008080"/>
                </a:solidFill>
              </a:rPr>
              <a:t> </a:t>
            </a:r>
            <a:r>
              <a:rPr lang="en-US" altLang="zh-CN" i="1">
                <a:solidFill>
                  <a:srgbClr val="000080"/>
                </a:solidFill>
              </a:rPr>
              <a:t>– Y</a:t>
            </a:r>
            <a:r>
              <a:rPr lang="en-US" altLang="zh-CN" i="1" baseline="-30000">
                <a:solidFill>
                  <a:srgbClr val="008080"/>
                </a:solidFill>
              </a:rPr>
              <a:t>i-1</a:t>
            </a:r>
            <a:r>
              <a:rPr lang="en-US" altLang="zh-CN">
                <a:solidFill>
                  <a:srgbClr val="000080"/>
                </a:solidFill>
              </a:rPr>
              <a:t>)/2</a:t>
            </a:r>
            <a:r>
              <a:rPr lang="en-US" altLang="zh-CN">
                <a:solidFill>
                  <a:srgbClr val="008000"/>
                </a:solidFill>
                <a:latin typeface="Symbol" pitchFamily="18" charset="2"/>
              </a:rPr>
              <a:t>D</a:t>
            </a:r>
            <a:r>
              <a:rPr lang="en-US" altLang="zh-CN" i="1">
                <a:solidFill>
                  <a:srgbClr val="000080"/>
                </a:solidFill>
              </a:rPr>
              <a:t>t</a:t>
            </a:r>
            <a:r>
              <a:rPr lang="en-US" altLang="zh-CN">
                <a:solidFill>
                  <a:srgbClr val="000000"/>
                </a:solidFill>
              </a:rPr>
              <a:t>, </a:t>
            </a:r>
          </a:p>
        </p:txBody>
      </p:sp>
      <p:sp>
        <p:nvSpPr>
          <p:cNvPr id="56324" name="Text Box 2055"/>
          <p:cNvSpPr txBox="1">
            <a:spLocks noChangeArrowheads="1"/>
          </p:cNvSpPr>
          <p:nvPr/>
        </p:nvSpPr>
        <p:spPr bwMode="auto">
          <a:xfrm>
            <a:off x="268288" y="4557713"/>
            <a:ext cx="45910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30000">
                <a:solidFill>
                  <a:srgbClr val="008080"/>
                </a:solidFill>
              </a:rPr>
              <a:t>i</a:t>
            </a:r>
            <a:r>
              <a:rPr lang="en-US" altLang="zh-CN" i="1">
                <a:solidFill>
                  <a:srgbClr val="008080"/>
                </a:solidFill>
              </a:rPr>
              <a:t> </a:t>
            </a:r>
            <a:r>
              <a:rPr lang="en-US" altLang="zh-CN" i="1">
                <a:solidFill>
                  <a:srgbClr val="008080"/>
                </a:solidFill>
                <a:sym typeface="Symbol" pitchFamily="18" charset="2"/>
              </a:rPr>
              <a:t></a:t>
            </a:r>
            <a:r>
              <a:rPr lang="en-US" altLang="zh-CN">
                <a:solidFill>
                  <a:srgbClr val="000080"/>
                </a:solidFill>
                <a:latin typeface="Symbol" pitchFamily="18" charset="2"/>
              </a:rPr>
              <a:t> </a:t>
            </a:r>
            <a:r>
              <a:rPr lang="en-US" altLang="zh-CN">
                <a:solidFill>
                  <a:srgbClr val="000080"/>
                </a:solidFill>
              </a:rPr>
              <a:t>(</a:t>
            </a:r>
            <a:r>
              <a:rPr lang="en-US" altLang="zh-CN" i="1">
                <a:solidFill>
                  <a:srgbClr val="000080"/>
                </a:solidFill>
              </a:rPr>
              <a:t>Y</a:t>
            </a:r>
            <a:r>
              <a:rPr lang="en-US" altLang="zh-CN" i="1" baseline="-30000">
                <a:solidFill>
                  <a:srgbClr val="008080"/>
                </a:solidFill>
              </a:rPr>
              <a:t>i+1</a:t>
            </a:r>
            <a:r>
              <a:rPr lang="en-US" altLang="zh-CN">
                <a:solidFill>
                  <a:srgbClr val="008080"/>
                </a:solidFill>
              </a:rPr>
              <a:t> </a:t>
            </a:r>
            <a:r>
              <a:rPr lang="en-US" altLang="zh-CN" i="1">
                <a:solidFill>
                  <a:srgbClr val="000080"/>
                </a:solidFill>
              </a:rPr>
              <a:t>– </a:t>
            </a:r>
            <a:r>
              <a:rPr lang="en-US" altLang="zh-CN">
                <a:solidFill>
                  <a:srgbClr val="000080"/>
                </a:solidFill>
              </a:rPr>
              <a:t>2</a:t>
            </a:r>
            <a:r>
              <a:rPr lang="en-US" altLang="zh-CN" i="1">
                <a:solidFill>
                  <a:srgbClr val="000080"/>
                </a:solidFill>
              </a:rPr>
              <a:t>Y</a:t>
            </a:r>
            <a:r>
              <a:rPr lang="en-US" altLang="zh-CN" i="1" baseline="-30000">
                <a:solidFill>
                  <a:srgbClr val="008080"/>
                </a:solidFill>
              </a:rPr>
              <a:t>i</a:t>
            </a:r>
            <a:r>
              <a:rPr lang="en-US" altLang="zh-CN" i="1">
                <a:solidFill>
                  <a:srgbClr val="008080"/>
                </a:solidFill>
              </a:rPr>
              <a:t> </a:t>
            </a:r>
            <a:r>
              <a:rPr lang="en-US" altLang="zh-CN">
                <a:solidFill>
                  <a:srgbClr val="000080"/>
                </a:solidFill>
              </a:rPr>
              <a:t>+ </a:t>
            </a:r>
            <a:r>
              <a:rPr lang="en-US" altLang="zh-CN" i="1">
                <a:solidFill>
                  <a:srgbClr val="000080"/>
                </a:solidFill>
              </a:rPr>
              <a:t>Y</a:t>
            </a:r>
            <a:r>
              <a:rPr lang="en-US" altLang="zh-CN" i="1" baseline="-30000">
                <a:solidFill>
                  <a:srgbClr val="008080"/>
                </a:solidFill>
              </a:rPr>
              <a:t>i-1</a:t>
            </a:r>
            <a:r>
              <a:rPr lang="en-US" altLang="zh-CN">
                <a:solidFill>
                  <a:srgbClr val="000080"/>
                </a:solidFill>
              </a:rPr>
              <a:t>)/</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t> </a:t>
            </a:r>
          </a:p>
        </p:txBody>
      </p:sp>
      <p:sp>
        <p:nvSpPr>
          <p:cNvPr id="56325" name="Text Box 2056"/>
          <p:cNvSpPr txBox="1">
            <a:spLocks noChangeArrowheads="1"/>
          </p:cNvSpPr>
          <p:nvPr/>
        </p:nvSpPr>
        <p:spPr bwMode="auto">
          <a:xfrm>
            <a:off x="4572000" y="5657850"/>
            <a:ext cx="4038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30000">
                <a:solidFill>
                  <a:srgbClr val="008080"/>
                </a:solidFill>
              </a:rPr>
              <a:t>n</a:t>
            </a:r>
            <a:r>
              <a:rPr lang="en-US" altLang="zh-CN">
                <a:solidFill>
                  <a:srgbClr val="008080"/>
                </a:solidFill>
              </a:rPr>
              <a:t> +</a:t>
            </a:r>
            <a:r>
              <a:rPr lang="en-US" altLang="zh-CN">
                <a:solidFill>
                  <a:srgbClr val="000080"/>
                </a:solidFill>
              </a:rPr>
              <a:t> (</a:t>
            </a:r>
            <a:r>
              <a:rPr lang="en-US" altLang="zh-CN" i="1">
                <a:solidFill>
                  <a:srgbClr val="000080"/>
                </a:solidFill>
              </a:rPr>
              <a:t>Y</a:t>
            </a:r>
            <a:r>
              <a:rPr lang="en-US" altLang="zh-CN" i="1" baseline="-30000">
                <a:solidFill>
                  <a:srgbClr val="008080"/>
                </a:solidFill>
              </a:rPr>
              <a:t>n</a:t>
            </a:r>
            <a:r>
              <a:rPr lang="en-US" altLang="zh-CN">
                <a:solidFill>
                  <a:srgbClr val="008080"/>
                </a:solidFill>
              </a:rPr>
              <a:t> </a:t>
            </a:r>
            <a:r>
              <a:rPr lang="en-US" altLang="zh-CN" i="1">
                <a:solidFill>
                  <a:srgbClr val="000080"/>
                </a:solidFill>
              </a:rPr>
              <a:t>– Y</a:t>
            </a:r>
            <a:r>
              <a:rPr lang="en-US" altLang="zh-CN" i="1" baseline="-30000">
                <a:solidFill>
                  <a:srgbClr val="008080"/>
                </a:solidFill>
              </a:rPr>
              <a:t>n-1</a:t>
            </a:r>
            <a:r>
              <a:rPr lang="en-US" altLang="zh-CN">
                <a:solidFill>
                  <a:srgbClr val="000080"/>
                </a:solidFill>
              </a:rPr>
              <a:t>)/</a:t>
            </a:r>
            <a:r>
              <a:rPr lang="en-US" altLang="zh-CN">
                <a:solidFill>
                  <a:srgbClr val="008000"/>
                </a:solidFill>
                <a:latin typeface="Symbol" pitchFamily="18" charset="2"/>
              </a:rPr>
              <a:t>D</a:t>
            </a:r>
            <a:r>
              <a:rPr lang="en-US" altLang="zh-CN" i="1">
                <a:solidFill>
                  <a:srgbClr val="000080"/>
                </a:solidFill>
              </a:rPr>
              <a:t>t=</a:t>
            </a:r>
            <a:r>
              <a:rPr lang="en-US" altLang="zh-CN">
                <a:solidFill>
                  <a:srgbClr val="000000"/>
                </a:solidFill>
                <a:latin typeface="Symbol" pitchFamily="18" charset="2"/>
              </a:rPr>
              <a:t> b </a:t>
            </a:r>
            <a:r>
              <a:rPr lang="en-US" altLang="zh-CN">
                <a:solidFill>
                  <a:srgbClr val="000000"/>
                </a:solidFill>
              </a:rPr>
              <a:t>, </a:t>
            </a:r>
          </a:p>
        </p:txBody>
      </p:sp>
      <p:sp>
        <p:nvSpPr>
          <p:cNvPr id="56326" name="Text Box 2057"/>
          <p:cNvSpPr txBox="1">
            <a:spLocks noChangeArrowheads="1"/>
          </p:cNvSpPr>
          <p:nvPr/>
        </p:nvSpPr>
        <p:spPr bwMode="auto">
          <a:xfrm>
            <a:off x="5275263" y="4672013"/>
            <a:ext cx="3048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 + </a:t>
            </a:r>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 = </a:t>
            </a:r>
            <a:r>
              <a:rPr lang="en-US" altLang="zh-CN">
                <a:solidFill>
                  <a:srgbClr val="008000"/>
                </a:solidFill>
                <a:latin typeface="Symbol" pitchFamily="18" charset="2"/>
              </a:rPr>
              <a:t>b</a:t>
            </a:r>
            <a:r>
              <a:rPr lang="en-US" altLang="zh-CN">
                <a:solidFill>
                  <a:srgbClr val="000000"/>
                </a:solidFill>
              </a:rPr>
              <a:t>.</a:t>
            </a:r>
          </a:p>
        </p:txBody>
      </p:sp>
    </p:spTree>
  </p:cSld>
  <p:clrMapOvr>
    <a:masterClrMapping/>
  </p:clrMapOvr>
  <p:transition spd="med">
    <p:pull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14"/>
          <p:cNvSpPr txBox="1">
            <a:spLocks noChangeArrowheads="1"/>
          </p:cNvSpPr>
          <p:nvPr/>
        </p:nvSpPr>
        <p:spPr bwMode="auto">
          <a:xfrm>
            <a:off x="250825" y="4724400"/>
            <a:ext cx="8642350" cy="199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a:solidFill>
                  <a:srgbClr val="000000"/>
                </a:solidFill>
              </a:rPr>
              <a:t>The first way is the most obvious: make use of the </a:t>
            </a:r>
            <a:r>
              <a:rPr lang="en-US" altLang="zh-CN" i="1">
                <a:solidFill>
                  <a:srgbClr val="000080"/>
                </a:solidFill>
              </a:rPr>
              <a:t>Y</a:t>
            </a:r>
            <a:r>
              <a:rPr lang="en-US" altLang="zh-CN" i="1" baseline="-30000">
                <a:solidFill>
                  <a:srgbClr val="008080"/>
                </a:solidFill>
              </a:rPr>
              <a:t>n</a:t>
            </a:r>
            <a:r>
              <a:rPr lang="en-US" altLang="zh-CN" baseline="-30000">
                <a:solidFill>
                  <a:srgbClr val="008080"/>
                </a:solidFill>
              </a:rPr>
              <a:t>-2</a:t>
            </a:r>
            <a:r>
              <a:rPr lang="en-US" altLang="zh-CN">
                <a:solidFill>
                  <a:srgbClr val="008080"/>
                </a:solidFill>
              </a:rPr>
              <a:t> </a:t>
            </a:r>
            <a:r>
              <a:rPr lang="en-US" altLang="zh-CN">
                <a:solidFill>
                  <a:srgbClr val="000000"/>
                </a:solidFill>
              </a:rPr>
              <a:t>value to construct a second-order approximation to </a:t>
            </a:r>
            <a:r>
              <a:rPr lang="en-US" altLang="zh-CN" i="1">
                <a:solidFill>
                  <a:srgbClr val="000080"/>
                </a:solidFill>
              </a:rPr>
              <a:t>Y’</a:t>
            </a:r>
            <a:endParaRPr lang="en-US" altLang="zh-CN">
              <a:solidFill>
                <a:srgbClr val="000000"/>
              </a:solidFill>
            </a:endParaRPr>
          </a:p>
        </p:txBody>
      </p:sp>
      <p:grpSp>
        <p:nvGrpSpPr>
          <p:cNvPr id="57347" name="Group 17"/>
          <p:cNvGrpSpPr>
            <a:grpSpLocks/>
          </p:cNvGrpSpPr>
          <p:nvPr/>
        </p:nvGrpSpPr>
        <p:grpSpPr bwMode="auto">
          <a:xfrm>
            <a:off x="179388" y="2859088"/>
            <a:ext cx="8574087" cy="1525587"/>
            <a:chOff x="93" y="767"/>
            <a:chExt cx="5401" cy="961"/>
          </a:xfrm>
        </p:grpSpPr>
        <p:sp>
          <p:nvSpPr>
            <p:cNvPr id="57350" name="Line 7"/>
            <p:cNvSpPr>
              <a:spLocks noChangeShapeType="1"/>
            </p:cNvSpPr>
            <p:nvPr/>
          </p:nvSpPr>
          <p:spPr bwMode="auto">
            <a:xfrm>
              <a:off x="93" y="1219"/>
              <a:ext cx="5184" cy="10"/>
            </a:xfrm>
            <a:prstGeom prst="line">
              <a:avLst/>
            </a:prstGeom>
            <a:noFill/>
            <a:ln w="9525">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51" name="Oval 8"/>
            <p:cNvSpPr>
              <a:spLocks noChangeArrowheads="1"/>
            </p:cNvSpPr>
            <p:nvPr/>
          </p:nvSpPr>
          <p:spPr bwMode="auto">
            <a:xfrm>
              <a:off x="2085"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endParaRPr lang="zh-CN" altLang="en-US"/>
            </a:p>
          </p:txBody>
        </p:sp>
        <p:sp>
          <p:nvSpPr>
            <p:cNvPr id="182281" name="Oval 9"/>
            <p:cNvSpPr>
              <a:spLocks noChangeArrowheads="1"/>
            </p:cNvSpPr>
            <p:nvPr/>
          </p:nvSpPr>
          <p:spPr bwMode="auto">
            <a:xfrm>
              <a:off x="1121"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b="0">
                <a:solidFill>
                  <a:srgbClr val="FFFF00"/>
                </a:solidFill>
                <a:effectLst>
                  <a:outerShdw blurRad="38100" dist="38100" dir="2700000" algn="tl">
                    <a:srgbClr val="000000"/>
                  </a:outerShdw>
                </a:effectLst>
                <a:ea typeface="楷体_GB2312" pitchFamily="49" charset="-122"/>
              </a:endParaRPr>
            </a:p>
          </p:txBody>
        </p:sp>
        <p:sp>
          <p:nvSpPr>
            <p:cNvPr id="182282" name="Oval 10"/>
            <p:cNvSpPr>
              <a:spLocks noChangeArrowheads="1"/>
            </p:cNvSpPr>
            <p:nvPr/>
          </p:nvSpPr>
          <p:spPr bwMode="auto">
            <a:xfrm>
              <a:off x="93"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b="0">
                <a:solidFill>
                  <a:srgbClr val="FFFF00"/>
                </a:solidFill>
                <a:effectLst>
                  <a:outerShdw blurRad="38100" dist="38100" dir="2700000" algn="tl">
                    <a:srgbClr val="000000"/>
                  </a:outerShdw>
                </a:effectLst>
                <a:ea typeface="楷体_GB2312" pitchFamily="49" charset="-122"/>
              </a:endParaRPr>
            </a:p>
          </p:txBody>
        </p:sp>
        <p:sp>
          <p:nvSpPr>
            <p:cNvPr id="182283" name="Oval 11"/>
            <p:cNvSpPr>
              <a:spLocks noChangeArrowheads="1"/>
            </p:cNvSpPr>
            <p:nvPr/>
          </p:nvSpPr>
          <p:spPr bwMode="auto">
            <a:xfrm>
              <a:off x="4205"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b="0">
                <a:solidFill>
                  <a:srgbClr val="FFFF00"/>
                </a:solidFill>
                <a:effectLst>
                  <a:outerShdw blurRad="38100" dist="38100" dir="2700000" algn="tl">
                    <a:srgbClr val="000000"/>
                  </a:outerShdw>
                </a:effectLst>
                <a:ea typeface="楷体_GB2312" pitchFamily="49" charset="-122"/>
              </a:endParaRPr>
            </a:p>
          </p:txBody>
        </p:sp>
        <p:sp>
          <p:nvSpPr>
            <p:cNvPr id="182284" name="Oval 12"/>
            <p:cNvSpPr>
              <a:spLocks noChangeArrowheads="1"/>
            </p:cNvSpPr>
            <p:nvPr/>
          </p:nvSpPr>
          <p:spPr bwMode="auto">
            <a:xfrm>
              <a:off x="3113"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b="0">
                <a:solidFill>
                  <a:srgbClr val="FFFF00"/>
                </a:solidFill>
                <a:effectLst>
                  <a:outerShdw blurRad="38100" dist="38100" dir="2700000" algn="tl">
                    <a:srgbClr val="000000"/>
                  </a:outerShdw>
                </a:effectLst>
                <a:ea typeface="楷体_GB2312" pitchFamily="49" charset="-122"/>
              </a:endParaRPr>
            </a:p>
          </p:txBody>
        </p:sp>
        <p:graphicFrame>
          <p:nvGraphicFramePr>
            <p:cNvPr id="57356" name="Object 13"/>
            <p:cNvGraphicFramePr>
              <a:graphicFrameLocks noChangeAspect="1"/>
            </p:cNvGraphicFramePr>
            <p:nvPr/>
          </p:nvGraphicFramePr>
          <p:xfrm>
            <a:off x="2426" y="1298"/>
            <a:ext cx="816" cy="430"/>
          </p:xfrm>
          <a:graphic>
            <a:graphicData uri="http://schemas.openxmlformats.org/presentationml/2006/ole">
              <mc:AlternateContent xmlns:mc="http://schemas.openxmlformats.org/markup-compatibility/2006">
                <mc:Choice xmlns:v="urn:schemas-microsoft-com:vml" Requires="v">
                  <p:oleObj spid="_x0000_s57363" name="公式" r:id="rId3" imgW="160056" imgH="167568" progId="Equation.3">
                    <p:embed/>
                  </p:oleObj>
                </mc:Choice>
                <mc:Fallback>
                  <p:oleObj name="公式" r:id="rId3" imgW="160056" imgH="167568"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6" y="1298"/>
                          <a:ext cx="816" cy="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2286" name="Text Box 14"/>
            <p:cNvSpPr txBox="1">
              <a:spLocks noChangeArrowheads="1"/>
            </p:cNvSpPr>
            <p:nvPr/>
          </p:nvSpPr>
          <p:spPr bwMode="auto">
            <a:xfrm>
              <a:off x="93" y="767"/>
              <a:ext cx="54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800">
                  <a:solidFill>
                    <a:schemeClr val="accent2"/>
                  </a:solidFill>
                  <a:effectLst>
                    <a:outerShdw blurRad="38100" dist="38100" dir="2700000" algn="tl">
                      <a:srgbClr val="C0C0C0"/>
                    </a:outerShdw>
                  </a:effectLst>
                  <a:ea typeface="楷体_GB2312" pitchFamily="49" charset="-122"/>
                </a:rPr>
                <a:t>0               1               2               n-2              n-1               n </a:t>
              </a:r>
            </a:p>
          </p:txBody>
        </p:sp>
        <p:sp>
          <p:nvSpPr>
            <p:cNvPr id="182287" name="Text Box 15"/>
            <p:cNvSpPr txBox="1">
              <a:spLocks noChangeArrowheads="1"/>
            </p:cNvSpPr>
            <p:nvPr/>
          </p:nvSpPr>
          <p:spPr bwMode="auto">
            <a:xfrm>
              <a:off x="5148" y="1221"/>
              <a:ext cx="3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800">
                  <a:solidFill>
                    <a:schemeClr val="accent2"/>
                  </a:solidFill>
                  <a:effectLst>
                    <a:outerShdw blurRad="38100" dist="38100" dir="2700000" algn="tl">
                      <a:srgbClr val="C0C0C0"/>
                    </a:outerShdw>
                  </a:effectLst>
                  <a:ea typeface="楷体_GB2312" pitchFamily="49" charset="-122"/>
                </a:rPr>
                <a:t>t1</a:t>
              </a:r>
            </a:p>
          </p:txBody>
        </p:sp>
        <p:sp>
          <p:nvSpPr>
            <p:cNvPr id="182288" name="Oval 16"/>
            <p:cNvSpPr>
              <a:spLocks noChangeArrowheads="1"/>
            </p:cNvSpPr>
            <p:nvPr/>
          </p:nvSpPr>
          <p:spPr bwMode="auto">
            <a:xfrm>
              <a:off x="5277" y="1181"/>
              <a:ext cx="64"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sz="2400" b="0">
                <a:solidFill>
                  <a:srgbClr val="FFFF00"/>
                </a:solidFill>
                <a:effectLst>
                  <a:outerShdw blurRad="38100" dist="38100" dir="2700000" algn="tl">
                    <a:srgbClr val="000000"/>
                  </a:outerShdw>
                </a:effectLst>
                <a:ea typeface="楷体_GB2312" pitchFamily="49" charset="-122"/>
              </a:endParaRPr>
            </a:p>
          </p:txBody>
        </p:sp>
      </p:grpSp>
      <p:sp>
        <p:nvSpPr>
          <p:cNvPr id="57348" name="Rectangle 18"/>
          <p:cNvSpPr>
            <a:spLocks noChangeArrowheads="1"/>
          </p:cNvSpPr>
          <p:nvPr/>
        </p:nvSpPr>
        <p:spPr bwMode="auto">
          <a:xfrm>
            <a:off x="304800" y="476250"/>
            <a:ext cx="8382000" cy="135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a:solidFill>
                  <a:srgbClr val="000000"/>
                </a:solidFill>
              </a:rPr>
              <a:t>We have two ways in which we may improve the accuracy of this boundary condition.</a:t>
            </a:r>
          </a:p>
        </p:txBody>
      </p:sp>
      <p:sp>
        <p:nvSpPr>
          <p:cNvPr id="57349" name="Line 19"/>
          <p:cNvSpPr>
            <a:spLocks noChangeShapeType="1"/>
          </p:cNvSpPr>
          <p:nvPr/>
        </p:nvSpPr>
        <p:spPr bwMode="auto">
          <a:xfrm flipV="1">
            <a:off x="5029200" y="3789363"/>
            <a:ext cx="0" cy="503237"/>
          </a:xfrm>
          <a:prstGeom prst="line">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pull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Text Box 3"/>
          <p:cNvSpPr txBox="1">
            <a:spLocks noChangeArrowheads="1"/>
          </p:cNvSpPr>
          <p:nvPr/>
        </p:nvSpPr>
        <p:spPr bwMode="auto">
          <a:xfrm>
            <a:off x="250825" y="2924175"/>
            <a:ext cx="28368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so that we have</a:t>
            </a:r>
            <a:endParaRPr lang="en-US" altLang="zh-CN"/>
          </a:p>
        </p:txBody>
      </p:sp>
      <p:graphicFrame>
        <p:nvGraphicFramePr>
          <p:cNvPr id="58371" name="Object 4"/>
          <p:cNvGraphicFramePr>
            <a:graphicFrameLocks noChangeAspect="1"/>
          </p:cNvGraphicFramePr>
          <p:nvPr/>
        </p:nvGraphicFramePr>
        <p:xfrm>
          <a:off x="179388" y="476250"/>
          <a:ext cx="8515350" cy="914400"/>
        </p:xfrm>
        <a:graphic>
          <a:graphicData uri="http://schemas.openxmlformats.org/presentationml/2006/ole">
            <mc:AlternateContent xmlns:mc="http://schemas.openxmlformats.org/markup-compatibility/2006">
              <mc:Choice xmlns:v="urn:schemas-microsoft-com:vml" Requires="v">
                <p:oleObj spid="_x0000_s58382" name="Equation" r:id="rId3" imgW="3441700" imgH="419100" progId="Equation.3">
                  <p:embed/>
                </p:oleObj>
              </mc:Choice>
              <mc:Fallback>
                <p:oleObj name="Equation" r:id="rId3" imgW="34417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476250"/>
                        <a:ext cx="851535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72" name="Object 5"/>
          <p:cNvGraphicFramePr>
            <a:graphicFrameLocks noChangeAspect="1"/>
          </p:cNvGraphicFramePr>
          <p:nvPr/>
        </p:nvGraphicFramePr>
        <p:xfrm>
          <a:off x="242888" y="1628775"/>
          <a:ext cx="8829675" cy="752475"/>
        </p:xfrm>
        <a:graphic>
          <a:graphicData uri="http://schemas.openxmlformats.org/presentationml/2006/ole">
            <mc:AlternateContent xmlns:mc="http://schemas.openxmlformats.org/markup-compatibility/2006">
              <mc:Choice xmlns:v="urn:schemas-microsoft-com:vml" Requires="v">
                <p:oleObj spid="_x0000_s58383" name="Equation" r:id="rId5" imgW="3962400" imgH="419100" progId="Equation.3">
                  <p:embed/>
                </p:oleObj>
              </mc:Choice>
              <mc:Fallback>
                <p:oleObj name="Equation" r:id="rId5" imgW="3962400" imgH="4191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888" y="1628775"/>
                        <a:ext cx="8829675"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42" name="Text Box 6"/>
          <p:cNvSpPr txBox="1">
            <a:spLocks noChangeArrowheads="1"/>
          </p:cNvSpPr>
          <p:nvPr/>
        </p:nvSpPr>
        <p:spPr bwMode="auto">
          <a:xfrm>
            <a:off x="3059113" y="3933825"/>
            <a:ext cx="51038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30000">
                <a:solidFill>
                  <a:srgbClr val="008080"/>
                </a:solidFill>
              </a:rPr>
              <a:t>n</a:t>
            </a:r>
            <a:r>
              <a:rPr lang="en-US" altLang="zh-CN">
                <a:solidFill>
                  <a:srgbClr val="008080"/>
                </a:solidFill>
              </a:rPr>
              <a:t> </a:t>
            </a:r>
            <a:r>
              <a:rPr lang="en-US" altLang="zh-CN" i="1">
                <a:solidFill>
                  <a:srgbClr val="000080"/>
                </a:solidFill>
              </a:rPr>
              <a:t>'</a:t>
            </a:r>
            <a:r>
              <a:rPr lang="en-US" altLang="zh-CN" i="1">
                <a:solidFill>
                  <a:srgbClr val="008080"/>
                </a:solidFill>
              </a:rPr>
              <a:t> </a:t>
            </a:r>
            <a:r>
              <a:rPr lang="en-US" altLang="zh-CN" i="1">
                <a:solidFill>
                  <a:srgbClr val="008080"/>
                </a:solidFill>
                <a:sym typeface="Symbol" pitchFamily="18" charset="2"/>
              </a:rPr>
              <a:t></a:t>
            </a:r>
            <a:r>
              <a:rPr lang="en-US" altLang="zh-CN">
                <a:solidFill>
                  <a:srgbClr val="000080"/>
                </a:solidFill>
                <a:latin typeface="Symbol" pitchFamily="18" charset="2"/>
              </a:rPr>
              <a:t> </a:t>
            </a:r>
            <a:r>
              <a:rPr lang="en-US" altLang="zh-CN">
                <a:solidFill>
                  <a:srgbClr val="000080"/>
                </a:solidFill>
              </a:rPr>
              <a:t>(</a:t>
            </a:r>
            <a:r>
              <a:rPr lang="en-US" altLang="zh-CN" i="1">
                <a:solidFill>
                  <a:srgbClr val="000080"/>
                </a:solidFill>
              </a:rPr>
              <a:t> 3Y</a:t>
            </a:r>
            <a:r>
              <a:rPr lang="en-US" altLang="zh-CN" i="1" baseline="-30000">
                <a:solidFill>
                  <a:srgbClr val="008080"/>
                </a:solidFill>
              </a:rPr>
              <a:t>n</a:t>
            </a:r>
            <a:r>
              <a:rPr lang="en-US" altLang="zh-CN" i="1">
                <a:solidFill>
                  <a:srgbClr val="000080"/>
                </a:solidFill>
              </a:rPr>
              <a:t> -4Y</a:t>
            </a:r>
            <a:r>
              <a:rPr lang="en-US" altLang="zh-CN" i="1" baseline="-30000">
                <a:solidFill>
                  <a:srgbClr val="008080"/>
                </a:solidFill>
              </a:rPr>
              <a:t>n-1</a:t>
            </a:r>
            <a:r>
              <a:rPr lang="en-US" altLang="zh-CN" i="1">
                <a:solidFill>
                  <a:srgbClr val="000080"/>
                </a:solidFill>
              </a:rPr>
              <a:t> +Y</a:t>
            </a:r>
            <a:r>
              <a:rPr lang="en-US" altLang="zh-CN" i="1" baseline="-30000">
                <a:solidFill>
                  <a:srgbClr val="008080"/>
                </a:solidFill>
              </a:rPr>
              <a:t>n-2</a:t>
            </a:r>
            <a:r>
              <a:rPr lang="en-US" altLang="zh-CN">
                <a:solidFill>
                  <a:srgbClr val="000080"/>
                </a:solidFill>
              </a:rPr>
              <a:t>)/2</a:t>
            </a:r>
            <a:r>
              <a:rPr lang="en-US" altLang="zh-CN">
                <a:solidFill>
                  <a:srgbClr val="008000"/>
                </a:solidFill>
                <a:latin typeface="Symbol" pitchFamily="18" charset="2"/>
              </a:rPr>
              <a:t>D</a:t>
            </a:r>
            <a:r>
              <a:rPr lang="en-US" altLang="zh-CN" i="1">
                <a:solidFill>
                  <a:srgbClr val="000080"/>
                </a:solidFill>
              </a:rPr>
              <a:t>t</a:t>
            </a:r>
            <a:r>
              <a:rPr lang="en-US" altLang="zh-CN">
                <a:solidFill>
                  <a:srgbClr val="000000"/>
                </a:solidFill>
              </a:rPr>
              <a:t>, </a:t>
            </a:r>
            <a:endParaRPr lang="en-US" altLang="zh-CN"/>
          </a:p>
        </p:txBody>
      </p:sp>
      <p:sp>
        <p:nvSpPr>
          <p:cNvPr id="65543" name="Text Box 7"/>
          <p:cNvSpPr txBox="1">
            <a:spLocks noChangeArrowheads="1"/>
          </p:cNvSpPr>
          <p:nvPr/>
        </p:nvSpPr>
        <p:spPr bwMode="auto">
          <a:xfrm>
            <a:off x="684213" y="4724400"/>
            <a:ext cx="3048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 + </a:t>
            </a:r>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 = </a:t>
            </a:r>
            <a:r>
              <a:rPr lang="en-US" altLang="zh-CN">
                <a:solidFill>
                  <a:srgbClr val="008000"/>
                </a:solidFill>
                <a:latin typeface="Symbol" pitchFamily="18" charset="2"/>
              </a:rPr>
              <a:t>b</a:t>
            </a:r>
            <a:r>
              <a:rPr lang="en-US" altLang="zh-CN">
                <a:solidFill>
                  <a:srgbClr val="000000"/>
                </a:solidFill>
              </a:rPr>
              <a:t>.</a:t>
            </a:r>
          </a:p>
        </p:txBody>
      </p:sp>
      <p:sp>
        <p:nvSpPr>
          <p:cNvPr id="65546" name="Text Box 10"/>
          <p:cNvSpPr txBox="1">
            <a:spLocks noChangeArrowheads="1"/>
          </p:cNvSpPr>
          <p:nvPr/>
        </p:nvSpPr>
        <p:spPr bwMode="auto">
          <a:xfrm>
            <a:off x="3203575" y="5715000"/>
            <a:ext cx="57610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i="1" baseline="-30000">
                <a:solidFill>
                  <a:srgbClr val="008080"/>
                </a:solidFill>
              </a:rPr>
              <a:t>n-2</a:t>
            </a:r>
            <a:r>
              <a:rPr lang="en-US" altLang="zh-CN">
                <a:solidFill>
                  <a:srgbClr val="008080"/>
                </a:solidFill>
              </a:rPr>
              <a:t> </a:t>
            </a:r>
            <a:r>
              <a:rPr lang="en-US" altLang="zh-CN">
                <a:solidFill>
                  <a:srgbClr val="000080"/>
                </a:solidFill>
                <a:latin typeface="Symbol" pitchFamily="18" charset="2"/>
              </a:rPr>
              <a:t>- </a:t>
            </a:r>
            <a:r>
              <a:rPr lang="en-US" altLang="zh-CN">
                <a:solidFill>
                  <a:srgbClr val="000080"/>
                </a:solidFill>
              </a:rPr>
              <a:t>4</a:t>
            </a:r>
            <a:r>
              <a:rPr lang="en-US" altLang="zh-CN" i="1">
                <a:solidFill>
                  <a:srgbClr val="000080"/>
                </a:solidFill>
              </a:rPr>
              <a:t>Y</a:t>
            </a:r>
            <a:r>
              <a:rPr lang="en-US" altLang="zh-CN" i="1" baseline="-30000">
                <a:solidFill>
                  <a:srgbClr val="008080"/>
                </a:solidFill>
              </a:rPr>
              <a:t>n-1</a:t>
            </a:r>
            <a:r>
              <a:rPr lang="en-US" altLang="zh-CN">
                <a:solidFill>
                  <a:srgbClr val="008080"/>
                </a:solidFill>
              </a:rPr>
              <a:t> </a:t>
            </a:r>
            <a:r>
              <a:rPr lang="en-US" altLang="zh-CN">
                <a:solidFill>
                  <a:srgbClr val="000080"/>
                </a:solidFill>
              </a:rPr>
              <a:t>+ (2</a:t>
            </a:r>
            <a:r>
              <a:rPr lang="en-US" altLang="zh-CN">
                <a:solidFill>
                  <a:srgbClr val="008000"/>
                </a:solidFill>
                <a:latin typeface="Symbol" pitchFamily="18" charset="2"/>
              </a:rPr>
              <a:t>D</a:t>
            </a:r>
            <a:r>
              <a:rPr lang="en-US" altLang="zh-CN" i="1">
                <a:solidFill>
                  <a:srgbClr val="000080"/>
                </a:solidFill>
              </a:rPr>
              <a:t>t </a:t>
            </a:r>
            <a:r>
              <a:rPr lang="en-US" altLang="zh-CN">
                <a:solidFill>
                  <a:srgbClr val="000080"/>
                </a:solidFill>
              </a:rPr>
              <a:t>+ 3) </a:t>
            </a:r>
            <a:r>
              <a:rPr lang="en-US" altLang="zh-CN" i="1">
                <a:solidFill>
                  <a:srgbClr val="000080"/>
                </a:solidFill>
              </a:rPr>
              <a:t>Y</a:t>
            </a:r>
            <a:r>
              <a:rPr lang="en-US" altLang="zh-CN" i="1" baseline="-30000">
                <a:solidFill>
                  <a:srgbClr val="008080"/>
                </a:solidFill>
              </a:rPr>
              <a:t>n</a:t>
            </a:r>
            <a:r>
              <a:rPr lang="en-US" altLang="zh-CN" i="1">
                <a:solidFill>
                  <a:srgbClr val="008080"/>
                </a:solidFill>
              </a:rPr>
              <a:t> </a:t>
            </a:r>
            <a:r>
              <a:rPr lang="en-US" altLang="zh-CN">
                <a:solidFill>
                  <a:srgbClr val="000080"/>
                </a:solidFill>
              </a:rPr>
              <a:t>= 2</a:t>
            </a:r>
            <a:r>
              <a:rPr lang="en-US" altLang="zh-CN">
                <a:solidFill>
                  <a:srgbClr val="008000"/>
                </a:solidFill>
                <a:latin typeface="Symbol" pitchFamily="18" charset="2"/>
              </a:rPr>
              <a:t>bD</a:t>
            </a:r>
            <a:r>
              <a:rPr lang="en-US" altLang="zh-CN" i="1">
                <a:solidFill>
                  <a:srgbClr val="000080"/>
                </a:solidFill>
              </a:rPr>
              <a:t>t</a:t>
            </a:r>
            <a:endParaRPr lang="en-US" altLang="zh-CN"/>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5539"/>
                                        </p:tgtEl>
                                        <p:attrNameLst>
                                          <p:attrName>style.visibility</p:attrName>
                                        </p:attrNameLst>
                                      </p:cBhvr>
                                      <p:to>
                                        <p:strVal val="visible"/>
                                      </p:to>
                                    </p:set>
                                    <p:anim calcmode="lin" valueType="num">
                                      <p:cBhvr additive="base">
                                        <p:cTn id="7" dur="500" fill="hold"/>
                                        <p:tgtEl>
                                          <p:spTgt spid="65539"/>
                                        </p:tgtEl>
                                        <p:attrNameLst>
                                          <p:attrName>ppt_x</p:attrName>
                                        </p:attrNameLst>
                                      </p:cBhvr>
                                      <p:tavLst>
                                        <p:tav tm="0">
                                          <p:val>
                                            <p:strVal val="0-#ppt_w/2"/>
                                          </p:val>
                                        </p:tav>
                                        <p:tav tm="100000">
                                          <p:val>
                                            <p:strVal val="#ppt_x"/>
                                          </p:val>
                                        </p:tav>
                                      </p:tavLst>
                                    </p:anim>
                                    <p:anim calcmode="lin" valueType="num">
                                      <p:cBhvr additive="base">
                                        <p:cTn id="8" dur="500" fill="hold"/>
                                        <p:tgtEl>
                                          <p:spTgt spid="6553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5542"/>
                                        </p:tgtEl>
                                        <p:attrNameLst>
                                          <p:attrName>style.visibility</p:attrName>
                                        </p:attrNameLst>
                                      </p:cBhvr>
                                      <p:to>
                                        <p:strVal val="visible"/>
                                      </p:to>
                                    </p:set>
                                    <p:anim calcmode="lin" valueType="num">
                                      <p:cBhvr additive="base">
                                        <p:cTn id="13" dur="500" fill="hold"/>
                                        <p:tgtEl>
                                          <p:spTgt spid="65542"/>
                                        </p:tgtEl>
                                        <p:attrNameLst>
                                          <p:attrName>ppt_x</p:attrName>
                                        </p:attrNameLst>
                                      </p:cBhvr>
                                      <p:tavLst>
                                        <p:tav tm="0">
                                          <p:val>
                                            <p:strVal val="0-#ppt_w/2"/>
                                          </p:val>
                                        </p:tav>
                                        <p:tav tm="100000">
                                          <p:val>
                                            <p:strVal val="#ppt_x"/>
                                          </p:val>
                                        </p:tav>
                                      </p:tavLst>
                                    </p:anim>
                                    <p:anim calcmode="lin" valueType="num">
                                      <p:cBhvr additive="base">
                                        <p:cTn id="14" dur="500" fill="hold"/>
                                        <p:tgtEl>
                                          <p:spTgt spid="6554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5543"/>
                                        </p:tgtEl>
                                        <p:attrNameLst>
                                          <p:attrName>style.visibility</p:attrName>
                                        </p:attrNameLst>
                                      </p:cBhvr>
                                      <p:to>
                                        <p:strVal val="visible"/>
                                      </p:to>
                                    </p:set>
                                    <p:anim calcmode="lin" valueType="num">
                                      <p:cBhvr additive="base">
                                        <p:cTn id="19" dur="500" fill="hold"/>
                                        <p:tgtEl>
                                          <p:spTgt spid="65543"/>
                                        </p:tgtEl>
                                        <p:attrNameLst>
                                          <p:attrName>ppt_x</p:attrName>
                                        </p:attrNameLst>
                                      </p:cBhvr>
                                      <p:tavLst>
                                        <p:tav tm="0">
                                          <p:val>
                                            <p:strVal val="0-#ppt_w/2"/>
                                          </p:val>
                                        </p:tav>
                                        <p:tav tm="100000">
                                          <p:val>
                                            <p:strVal val="#ppt_x"/>
                                          </p:val>
                                        </p:tav>
                                      </p:tavLst>
                                    </p:anim>
                                    <p:anim calcmode="lin" valueType="num">
                                      <p:cBhvr additive="base">
                                        <p:cTn id="20" dur="500" fill="hold"/>
                                        <p:tgtEl>
                                          <p:spTgt spid="6554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5546"/>
                                        </p:tgtEl>
                                        <p:attrNameLst>
                                          <p:attrName>style.visibility</p:attrName>
                                        </p:attrNameLst>
                                      </p:cBhvr>
                                      <p:to>
                                        <p:strVal val="visible"/>
                                      </p:to>
                                    </p:set>
                                    <p:anim calcmode="lin" valueType="num">
                                      <p:cBhvr additive="base">
                                        <p:cTn id="25" dur="500" fill="hold"/>
                                        <p:tgtEl>
                                          <p:spTgt spid="65546"/>
                                        </p:tgtEl>
                                        <p:attrNameLst>
                                          <p:attrName>ppt_x</p:attrName>
                                        </p:attrNameLst>
                                      </p:cBhvr>
                                      <p:tavLst>
                                        <p:tav tm="0">
                                          <p:val>
                                            <p:strVal val="0-#ppt_w/2"/>
                                          </p:val>
                                        </p:tav>
                                        <p:tav tm="100000">
                                          <p:val>
                                            <p:strVal val="#ppt_x"/>
                                          </p:val>
                                        </p:tav>
                                      </p:tavLst>
                                    </p:anim>
                                    <p:anim calcmode="lin" valueType="num">
                                      <p:cBhvr additive="base">
                                        <p:cTn id="26" dur="500" fill="hold"/>
                                        <p:tgtEl>
                                          <p:spTgt spid="655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autoUpdateAnimBg="0"/>
      <p:bldP spid="65542" grpId="0" autoUpdateAnimBg="0"/>
      <p:bldP spid="65543" grpId="0" autoUpdateAnimBg="0"/>
      <p:bldP spid="65546"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71438" y="260350"/>
            <a:ext cx="8964612" cy="448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50000"/>
              </a:lnSpc>
            </a:pPr>
            <a:r>
              <a:rPr lang="en-US" altLang="zh-CN" i="1">
                <a:solidFill>
                  <a:srgbClr val="000080"/>
                </a:solidFill>
              </a:rPr>
              <a:t>Y</a:t>
            </a:r>
            <a:r>
              <a:rPr lang="en-US" altLang="zh-CN">
                <a:solidFill>
                  <a:srgbClr val="008080"/>
                </a:solidFill>
              </a:rPr>
              <a:t>0 </a:t>
            </a:r>
            <a:r>
              <a:rPr lang="en-US" altLang="zh-CN">
                <a:solidFill>
                  <a:srgbClr val="000080"/>
                </a:solidFill>
              </a:rPr>
              <a:t>= </a:t>
            </a:r>
            <a:r>
              <a:rPr lang="en-US" altLang="zh-CN">
                <a:solidFill>
                  <a:srgbClr val="008000"/>
                </a:solidFill>
                <a:latin typeface="Symbol" pitchFamily="18" charset="2"/>
              </a:rPr>
              <a:t>a</a:t>
            </a:r>
            <a:r>
              <a:rPr lang="en-US" altLang="zh-CN">
                <a:solidFill>
                  <a:srgbClr val="000000"/>
                </a:solidFill>
              </a:rPr>
              <a:t>,</a:t>
            </a:r>
            <a:endParaRPr lang="en-US" altLang="zh-CN"/>
          </a:p>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0</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1</a:t>
            </a:r>
            <a:r>
              <a:rPr lang="en-US" altLang="zh-CN">
                <a:solidFill>
                  <a:srgbClr val="008080"/>
                </a:solidFill>
              </a:rPr>
              <a:t> </a:t>
            </a:r>
            <a:r>
              <a:rPr lang="en-US" altLang="zh-CN">
                <a:solidFill>
                  <a:srgbClr val="000080"/>
                </a:solidFill>
              </a:rPr>
              <a:t>+ (1+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2</a:t>
            </a:r>
            <a:r>
              <a:rPr lang="en-US" altLang="zh-CN">
                <a:solidFill>
                  <a:srgbClr val="008080"/>
                </a:solidFill>
              </a:rPr>
              <a:t> </a:t>
            </a:r>
            <a:r>
              <a:rPr lang="en-US" altLang="zh-CN">
                <a:solidFill>
                  <a:srgbClr val="000080"/>
                </a:solidFill>
              </a:rPr>
              <a:t>= </a:t>
            </a:r>
            <a:r>
              <a:rPr lang="en-US" altLang="zh-CN" i="1">
                <a:solidFill>
                  <a:srgbClr val="000080"/>
                </a:solidFill>
              </a:rPr>
              <a:t>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1</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2</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3</a:t>
            </a:r>
            <a:r>
              <a:rPr lang="en-US" altLang="zh-CN">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a:p>
            <a:pPr>
              <a:lnSpc>
                <a:spcPct val="150000"/>
              </a:lnSpc>
            </a:pPr>
            <a:r>
              <a:rPr lang="en-US" altLang="zh-CN">
                <a:solidFill>
                  <a:srgbClr val="000080"/>
                </a:solidFill>
              </a:rPr>
              <a:t>…</a:t>
            </a:r>
            <a:endParaRPr lang="en-US" altLang="zh-CN"/>
          </a:p>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n–2</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n–1</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n</a:t>
            </a:r>
            <a:r>
              <a:rPr lang="en-US" altLang="zh-CN" i="1">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a:p>
            <a:pPr>
              <a:lnSpc>
                <a:spcPct val="150000"/>
              </a:lnSpc>
            </a:pPr>
            <a:r>
              <a:rPr lang="en-US" altLang="zh-CN" i="1">
                <a:solidFill>
                  <a:srgbClr val="000080"/>
                </a:solidFill>
              </a:rPr>
              <a:t>Y</a:t>
            </a:r>
            <a:r>
              <a:rPr lang="en-US" altLang="zh-CN" i="1" baseline="-30000">
                <a:solidFill>
                  <a:srgbClr val="008080"/>
                </a:solidFill>
              </a:rPr>
              <a:t>n-2</a:t>
            </a:r>
            <a:r>
              <a:rPr lang="en-US" altLang="zh-CN">
                <a:solidFill>
                  <a:srgbClr val="008080"/>
                </a:solidFill>
              </a:rPr>
              <a:t> </a:t>
            </a:r>
            <a:r>
              <a:rPr lang="en-US" altLang="zh-CN">
                <a:solidFill>
                  <a:srgbClr val="000080"/>
                </a:solidFill>
                <a:latin typeface="Symbol" pitchFamily="18" charset="2"/>
              </a:rPr>
              <a:t>- </a:t>
            </a:r>
            <a:r>
              <a:rPr lang="en-US" altLang="zh-CN">
                <a:solidFill>
                  <a:srgbClr val="000080"/>
                </a:solidFill>
              </a:rPr>
              <a:t>4</a:t>
            </a:r>
            <a:r>
              <a:rPr lang="en-US" altLang="zh-CN" i="1">
                <a:solidFill>
                  <a:srgbClr val="000080"/>
                </a:solidFill>
              </a:rPr>
              <a:t>Y</a:t>
            </a:r>
            <a:r>
              <a:rPr lang="en-US" altLang="zh-CN" i="1" baseline="-30000">
                <a:solidFill>
                  <a:srgbClr val="008080"/>
                </a:solidFill>
              </a:rPr>
              <a:t>n-1</a:t>
            </a:r>
            <a:r>
              <a:rPr lang="en-US" altLang="zh-CN">
                <a:solidFill>
                  <a:srgbClr val="008080"/>
                </a:solidFill>
              </a:rPr>
              <a:t> </a:t>
            </a:r>
            <a:r>
              <a:rPr lang="en-US" altLang="zh-CN">
                <a:solidFill>
                  <a:srgbClr val="000080"/>
                </a:solidFill>
              </a:rPr>
              <a:t>+ (2</a:t>
            </a:r>
            <a:r>
              <a:rPr lang="en-US" altLang="zh-CN">
                <a:solidFill>
                  <a:srgbClr val="008000"/>
                </a:solidFill>
                <a:latin typeface="Symbol" pitchFamily="18" charset="2"/>
              </a:rPr>
              <a:t>D</a:t>
            </a:r>
            <a:r>
              <a:rPr lang="en-US" altLang="zh-CN" i="1">
                <a:solidFill>
                  <a:srgbClr val="000080"/>
                </a:solidFill>
              </a:rPr>
              <a:t>t </a:t>
            </a:r>
            <a:r>
              <a:rPr lang="en-US" altLang="zh-CN">
                <a:solidFill>
                  <a:srgbClr val="000080"/>
                </a:solidFill>
              </a:rPr>
              <a:t>+ 3) </a:t>
            </a:r>
            <a:r>
              <a:rPr lang="en-US" altLang="zh-CN" i="1">
                <a:solidFill>
                  <a:srgbClr val="000080"/>
                </a:solidFill>
              </a:rPr>
              <a:t>Y</a:t>
            </a:r>
            <a:r>
              <a:rPr lang="en-US" altLang="zh-CN" i="1" baseline="-30000">
                <a:solidFill>
                  <a:srgbClr val="008080"/>
                </a:solidFill>
              </a:rPr>
              <a:t>n</a:t>
            </a:r>
            <a:r>
              <a:rPr lang="en-US" altLang="zh-CN" i="1">
                <a:solidFill>
                  <a:srgbClr val="008080"/>
                </a:solidFill>
              </a:rPr>
              <a:t> </a:t>
            </a:r>
            <a:r>
              <a:rPr lang="en-US" altLang="zh-CN">
                <a:solidFill>
                  <a:srgbClr val="000080"/>
                </a:solidFill>
              </a:rPr>
              <a:t>= 2</a:t>
            </a:r>
            <a:r>
              <a:rPr lang="en-US" altLang="zh-CN">
                <a:solidFill>
                  <a:srgbClr val="008000"/>
                </a:solidFill>
                <a:latin typeface="Symbol" pitchFamily="18" charset="2"/>
              </a:rPr>
              <a:t>bD</a:t>
            </a:r>
            <a:r>
              <a:rPr lang="en-US" altLang="zh-CN" i="1">
                <a:solidFill>
                  <a:srgbClr val="000080"/>
                </a:solidFill>
              </a:rPr>
              <a:t>t</a:t>
            </a:r>
          </a:p>
        </p:txBody>
      </p:sp>
      <p:sp>
        <p:nvSpPr>
          <p:cNvPr id="66563" name="Text Box 3"/>
          <p:cNvSpPr txBox="1">
            <a:spLocks noChangeArrowheads="1"/>
          </p:cNvSpPr>
          <p:nvPr/>
        </p:nvSpPr>
        <p:spPr bwMode="auto">
          <a:xfrm>
            <a:off x="304800" y="5334000"/>
            <a:ext cx="8077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a:solidFill>
                  <a:srgbClr val="000000"/>
                </a:solidFill>
              </a:rPr>
              <a:t>The problem with this is that we then loose our simple tridiagonal system.</a:t>
            </a:r>
            <a:endParaRPr lang="en-US" altLang="zh-CN"/>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563"/>
                                        </p:tgtEl>
                                        <p:attrNameLst>
                                          <p:attrName>style.visibility</p:attrName>
                                        </p:attrNameLst>
                                      </p:cBhvr>
                                      <p:to>
                                        <p:strVal val="visible"/>
                                      </p:to>
                                    </p:set>
                                    <p:anim calcmode="lin" valueType="num">
                                      <p:cBhvr additive="base">
                                        <p:cTn id="7" dur="500" fill="hold"/>
                                        <p:tgtEl>
                                          <p:spTgt spid="66563"/>
                                        </p:tgtEl>
                                        <p:attrNameLst>
                                          <p:attrName>ppt_x</p:attrName>
                                        </p:attrNameLst>
                                      </p:cBhvr>
                                      <p:tavLst>
                                        <p:tav tm="0">
                                          <p:val>
                                            <p:strVal val="0-#ppt_w/2"/>
                                          </p:val>
                                        </p:tav>
                                        <p:tav tm="100000">
                                          <p:val>
                                            <p:strVal val="#ppt_x"/>
                                          </p:val>
                                        </p:tav>
                                      </p:tavLst>
                                    </p:anim>
                                    <p:anim calcmode="lin" valueType="num">
                                      <p:cBhvr additive="base">
                                        <p:cTn id="8" dur="500" fill="hold"/>
                                        <p:tgtEl>
                                          <p:spTgt spid="665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179388" y="333375"/>
            <a:ext cx="882015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40000"/>
              </a:lnSpc>
            </a:pPr>
            <a:r>
              <a:rPr lang="en-US" altLang="zh-CN">
                <a:solidFill>
                  <a:srgbClr val="000000"/>
                </a:solidFill>
              </a:rPr>
              <a:t>The second approach is to artificially increase the size of the domain by one mesh point and impose the boundary condition </a:t>
            </a:r>
            <a:r>
              <a:rPr lang="en-US" altLang="zh-CN" i="1">
                <a:solidFill>
                  <a:srgbClr val="000000"/>
                </a:solidFill>
              </a:rPr>
              <a:t>inside </a:t>
            </a:r>
            <a:r>
              <a:rPr lang="en-US" altLang="zh-CN">
                <a:solidFill>
                  <a:srgbClr val="000000"/>
                </a:solidFill>
              </a:rPr>
              <a:t>the domain. The additional mesh point is often referred to as a </a:t>
            </a:r>
            <a:r>
              <a:rPr lang="en-US" altLang="zh-CN" i="1">
                <a:solidFill>
                  <a:srgbClr val="000000"/>
                </a:solidFill>
              </a:rPr>
              <a:t>dummy(</a:t>
            </a:r>
            <a:r>
              <a:rPr lang="zh-CN" altLang="en-US" i="1"/>
              <a:t>虚拟的</a:t>
            </a:r>
            <a:r>
              <a:rPr lang="en-US" altLang="zh-CN" i="1">
                <a:solidFill>
                  <a:srgbClr val="000000"/>
                </a:solidFill>
              </a:rPr>
              <a:t>) mesh point </a:t>
            </a:r>
            <a:r>
              <a:rPr lang="en-US" altLang="zh-CN">
                <a:solidFill>
                  <a:srgbClr val="000000"/>
                </a:solidFill>
              </a:rPr>
              <a:t>or </a:t>
            </a:r>
            <a:r>
              <a:rPr lang="en-US" altLang="zh-CN" i="1">
                <a:solidFill>
                  <a:srgbClr val="000000"/>
                </a:solidFill>
              </a:rPr>
              <a:t>dummy cell</a:t>
            </a:r>
            <a:r>
              <a:rPr lang="en-US" altLang="zh-CN">
                <a:solidFill>
                  <a:srgbClr val="000000"/>
                </a:solidFill>
              </a:rPr>
              <a:t>.</a:t>
            </a:r>
            <a:r>
              <a:rPr lang="en-US" altLang="zh-CN"/>
              <a:t> </a:t>
            </a:r>
          </a:p>
        </p:txBody>
      </p:sp>
      <p:grpSp>
        <p:nvGrpSpPr>
          <p:cNvPr id="60419" name="Group 26"/>
          <p:cNvGrpSpPr>
            <a:grpSpLocks/>
          </p:cNvGrpSpPr>
          <p:nvPr/>
        </p:nvGrpSpPr>
        <p:grpSpPr bwMode="auto">
          <a:xfrm>
            <a:off x="755650" y="4549775"/>
            <a:ext cx="7175500" cy="1417638"/>
            <a:chOff x="476" y="2866"/>
            <a:chExt cx="4520" cy="893"/>
          </a:xfrm>
        </p:grpSpPr>
        <p:sp>
          <p:nvSpPr>
            <p:cNvPr id="60421" name="Line 4"/>
            <p:cNvSpPr>
              <a:spLocks noChangeShapeType="1"/>
            </p:cNvSpPr>
            <p:nvPr/>
          </p:nvSpPr>
          <p:spPr bwMode="auto">
            <a:xfrm>
              <a:off x="638" y="3348"/>
              <a:ext cx="4114" cy="12"/>
            </a:xfrm>
            <a:prstGeom prst="line">
              <a:avLst/>
            </a:prstGeom>
            <a:noFill/>
            <a:ln w="9525">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2" name="Oval 5"/>
            <p:cNvSpPr>
              <a:spLocks noChangeArrowheads="1"/>
            </p:cNvSpPr>
            <p:nvPr/>
          </p:nvSpPr>
          <p:spPr bwMode="auto">
            <a:xfrm>
              <a:off x="1973"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endParaRPr lang="zh-CN" altLang="en-US"/>
            </a:p>
          </p:txBody>
        </p:sp>
        <p:sp>
          <p:nvSpPr>
            <p:cNvPr id="67590" name="Oval 6"/>
            <p:cNvSpPr>
              <a:spLocks noChangeArrowheads="1"/>
            </p:cNvSpPr>
            <p:nvPr/>
          </p:nvSpPr>
          <p:spPr bwMode="auto">
            <a:xfrm>
              <a:off x="1327"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sp>
          <p:nvSpPr>
            <p:cNvPr id="67591" name="Oval 7"/>
            <p:cNvSpPr>
              <a:spLocks noChangeArrowheads="1"/>
            </p:cNvSpPr>
            <p:nvPr/>
          </p:nvSpPr>
          <p:spPr bwMode="auto">
            <a:xfrm>
              <a:off x="638"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sp>
          <p:nvSpPr>
            <p:cNvPr id="67592" name="Oval 8"/>
            <p:cNvSpPr>
              <a:spLocks noChangeArrowheads="1"/>
            </p:cNvSpPr>
            <p:nvPr/>
          </p:nvSpPr>
          <p:spPr bwMode="auto">
            <a:xfrm>
              <a:off x="3394"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sp>
          <p:nvSpPr>
            <p:cNvPr id="67593" name="Oval 9"/>
            <p:cNvSpPr>
              <a:spLocks noChangeArrowheads="1"/>
            </p:cNvSpPr>
            <p:nvPr/>
          </p:nvSpPr>
          <p:spPr bwMode="auto">
            <a:xfrm>
              <a:off x="2662"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graphicFrame>
          <p:nvGraphicFramePr>
            <p:cNvPr id="60427" name="Object 10"/>
            <p:cNvGraphicFramePr>
              <a:graphicFrameLocks noChangeAspect="1"/>
            </p:cNvGraphicFramePr>
            <p:nvPr/>
          </p:nvGraphicFramePr>
          <p:xfrm>
            <a:off x="1111" y="3475"/>
            <a:ext cx="363" cy="284"/>
          </p:xfrm>
          <a:graphic>
            <a:graphicData uri="http://schemas.openxmlformats.org/presentationml/2006/ole">
              <mc:AlternateContent xmlns:mc="http://schemas.openxmlformats.org/markup-compatibility/2006">
                <mc:Choice xmlns:v="urn:schemas-microsoft-com:vml" Requires="v">
                  <p:oleObj spid="_x0000_s60436" name="公式" r:id="rId3" imgW="160056" imgH="167568" progId="Equation.3">
                    <p:embed/>
                  </p:oleObj>
                </mc:Choice>
                <mc:Fallback>
                  <p:oleObj name="公式" r:id="rId3" imgW="160056" imgH="167568"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 y="3475"/>
                          <a:ext cx="363"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5" name="Text Box 11"/>
            <p:cNvSpPr txBox="1">
              <a:spLocks noChangeArrowheads="1"/>
            </p:cNvSpPr>
            <p:nvPr/>
          </p:nvSpPr>
          <p:spPr bwMode="auto">
            <a:xfrm>
              <a:off x="639" y="2866"/>
              <a:ext cx="435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chemeClr val="accent2"/>
                  </a:solidFill>
                  <a:effectLst>
                    <a:outerShdw blurRad="38100" dist="38100" dir="2700000" algn="tl">
                      <a:srgbClr val="C0C0C0"/>
                    </a:outerShdw>
                  </a:effectLst>
                  <a:ea typeface="楷体_GB2312" pitchFamily="49" charset="-122"/>
                </a:rPr>
                <a:t>0       1        2         3        n-1      n      n+1</a:t>
              </a:r>
            </a:p>
          </p:txBody>
        </p:sp>
        <p:sp>
          <p:nvSpPr>
            <p:cNvPr id="67596" name="Text Box 12"/>
            <p:cNvSpPr txBox="1">
              <a:spLocks noChangeArrowheads="1"/>
            </p:cNvSpPr>
            <p:nvPr/>
          </p:nvSpPr>
          <p:spPr bwMode="auto">
            <a:xfrm>
              <a:off x="476" y="3337"/>
              <a:ext cx="32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chemeClr val="accent2"/>
                  </a:solidFill>
                  <a:effectLst>
                    <a:outerShdw blurRad="38100" dist="38100" dir="2700000" algn="tl">
                      <a:srgbClr val="C0C0C0"/>
                    </a:outerShdw>
                  </a:effectLst>
                  <a:ea typeface="楷体_GB2312" pitchFamily="49" charset="-122"/>
                </a:rPr>
                <a:t>t0</a:t>
              </a:r>
            </a:p>
          </p:txBody>
        </p:sp>
        <p:sp>
          <p:nvSpPr>
            <p:cNvPr id="67597" name="Text Box 13"/>
            <p:cNvSpPr txBox="1">
              <a:spLocks noChangeArrowheads="1"/>
            </p:cNvSpPr>
            <p:nvPr/>
          </p:nvSpPr>
          <p:spPr bwMode="auto">
            <a:xfrm>
              <a:off x="4014" y="3337"/>
              <a:ext cx="32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chemeClr val="accent2"/>
                  </a:solidFill>
                  <a:effectLst>
                    <a:outerShdw blurRad="38100" dist="38100" dir="2700000" algn="tl">
                      <a:srgbClr val="C0C0C0"/>
                    </a:outerShdw>
                  </a:effectLst>
                  <a:ea typeface="楷体_GB2312" pitchFamily="49" charset="-122"/>
                </a:rPr>
                <a:t>t1</a:t>
              </a:r>
            </a:p>
          </p:txBody>
        </p:sp>
        <p:sp>
          <p:nvSpPr>
            <p:cNvPr id="67598" name="Oval 14"/>
            <p:cNvSpPr>
              <a:spLocks noChangeArrowheads="1"/>
            </p:cNvSpPr>
            <p:nvPr/>
          </p:nvSpPr>
          <p:spPr bwMode="auto">
            <a:xfrm>
              <a:off x="4112"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sp>
          <p:nvSpPr>
            <p:cNvPr id="67599" name="Oval 15"/>
            <p:cNvSpPr>
              <a:spLocks noChangeArrowheads="1"/>
            </p:cNvSpPr>
            <p:nvPr/>
          </p:nvSpPr>
          <p:spPr bwMode="auto">
            <a:xfrm>
              <a:off x="4704" y="3322"/>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grpSp>
      <p:sp>
        <p:nvSpPr>
          <p:cNvPr id="60420" name="Line 27"/>
          <p:cNvSpPr>
            <a:spLocks noChangeShapeType="1"/>
          </p:cNvSpPr>
          <p:nvPr/>
        </p:nvSpPr>
        <p:spPr bwMode="auto">
          <a:xfrm flipV="1">
            <a:off x="7489825" y="5516563"/>
            <a:ext cx="0" cy="503237"/>
          </a:xfrm>
          <a:prstGeom prst="line">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med">
    <p:pull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4" name="Object 1026"/>
          <p:cNvGraphicFramePr>
            <a:graphicFrameLocks noChangeAspect="1"/>
          </p:cNvGraphicFramePr>
          <p:nvPr/>
        </p:nvGraphicFramePr>
        <p:xfrm>
          <a:off x="179388" y="2276475"/>
          <a:ext cx="8610600" cy="914400"/>
        </p:xfrm>
        <a:graphic>
          <a:graphicData uri="http://schemas.openxmlformats.org/presentationml/2006/ole">
            <mc:AlternateContent xmlns:mc="http://schemas.openxmlformats.org/markup-compatibility/2006">
              <mc:Choice xmlns:v="urn:schemas-microsoft-com:vml" Requires="v">
                <p:oleObj spid="_x0000_s61472" name="Equation" r:id="rId3" imgW="3479800" imgH="419100" progId="Equation.3">
                  <p:embed/>
                </p:oleObj>
              </mc:Choice>
              <mc:Fallback>
                <p:oleObj name="Equation" r:id="rId3" imgW="3479800" imgH="419100" progId="Equation.3">
                  <p:embed/>
                  <p:pic>
                    <p:nvPicPr>
                      <p:cNvPr id="0" name="Object 10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2276475"/>
                        <a:ext cx="86106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35" name="Object 1027"/>
          <p:cNvGraphicFramePr>
            <a:graphicFrameLocks noChangeAspect="1"/>
          </p:cNvGraphicFramePr>
          <p:nvPr/>
        </p:nvGraphicFramePr>
        <p:xfrm>
          <a:off x="250825" y="3213100"/>
          <a:ext cx="8580438" cy="914400"/>
        </p:xfrm>
        <a:graphic>
          <a:graphicData uri="http://schemas.openxmlformats.org/presentationml/2006/ole">
            <mc:AlternateContent xmlns:mc="http://schemas.openxmlformats.org/markup-compatibility/2006">
              <mc:Choice xmlns:v="urn:schemas-microsoft-com:vml" Requires="v">
                <p:oleObj spid="_x0000_s61473" name="Equation" r:id="rId5" imgW="3467100" imgH="419100" progId="Equation.3">
                  <p:embed/>
                </p:oleObj>
              </mc:Choice>
              <mc:Fallback>
                <p:oleObj name="Equation" r:id="rId5" imgW="3467100" imgH="419100" progId="Equation.3">
                  <p:embed/>
                  <p:pic>
                    <p:nvPicPr>
                      <p:cNvPr id="0" name="Object 10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3213100"/>
                        <a:ext cx="858043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36" name="Object 1028"/>
          <p:cNvGraphicFramePr>
            <a:graphicFrameLocks noChangeAspect="1"/>
          </p:cNvGraphicFramePr>
          <p:nvPr/>
        </p:nvGraphicFramePr>
        <p:xfrm>
          <a:off x="755650" y="4292600"/>
          <a:ext cx="4137025" cy="1027113"/>
        </p:xfrm>
        <a:graphic>
          <a:graphicData uri="http://schemas.openxmlformats.org/presentationml/2006/ole">
            <mc:AlternateContent xmlns:mc="http://schemas.openxmlformats.org/markup-compatibility/2006">
              <mc:Choice xmlns:v="urn:schemas-microsoft-com:vml" Requires="v">
                <p:oleObj spid="_x0000_s61474" name="Equation" r:id="rId7" imgW="1473200" imgH="393700" progId="Equation.3">
                  <p:embed/>
                </p:oleObj>
              </mc:Choice>
              <mc:Fallback>
                <p:oleObj name="Equation" r:id="rId7" imgW="1473200" imgH="393700" progId="Equation.3">
                  <p:embed/>
                  <p:pic>
                    <p:nvPicPr>
                      <p:cNvPr id="0" name="Object 102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4292600"/>
                        <a:ext cx="4137025"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50" name="Text Box 1042"/>
          <p:cNvSpPr txBox="1">
            <a:spLocks noChangeArrowheads="1"/>
          </p:cNvSpPr>
          <p:nvPr/>
        </p:nvSpPr>
        <p:spPr bwMode="auto">
          <a:xfrm>
            <a:off x="468313" y="5445125"/>
            <a:ext cx="34178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 + </a:t>
            </a:r>
            <a:r>
              <a:rPr lang="en-US" altLang="zh-CN" i="1">
                <a:solidFill>
                  <a:srgbClr val="000080"/>
                </a:solidFill>
              </a:rPr>
              <a:t>y’</a:t>
            </a:r>
            <a:r>
              <a:rPr lang="en-US" altLang="zh-CN">
                <a:solidFill>
                  <a:srgbClr val="000080"/>
                </a:solidFill>
              </a:rPr>
              <a:t>(</a:t>
            </a:r>
            <a:r>
              <a:rPr lang="en-US" altLang="zh-CN" i="1">
                <a:solidFill>
                  <a:srgbClr val="000080"/>
                </a:solidFill>
              </a:rPr>
              <a:t>t</a:t>
            </a:r>
            <a:r>
              <a:rPr lang="en-US" altLang="zh-CN">
                <a:solidFill>
                  <a:srgbClr val="008080"/>
                </a:solidFill>
              </a:rPr>
              <a:t>1</a:t>
            </a:r>
            <a:r>
              <a:rPr lang="en-US" altLang="zh-CN">
                <a:solidFill>
                  <a:srgbClr val="000080"/>
                </a:solidFill>
              </a:rPr>
              <a:t>) = </a:t>
            </a:r>
            <a:r>
              <a:rPr lang="en-US" altLang="zh-CN">
                <a:solidFill>
                  <a:srgbClr val="008000"/>
                </a:solidFill>
                <a:latin typeface="Symbol" pitchFamily="18" charset="2"/>
              </a:rPr>
              <a:t>b</a:t>
            </a:r>
            <a:r>
              <a:rPr lang="en-US" altLang="zh-CN">
                <a:solidFill>
                  <a:srgbClr val="000000"/>
                </a:solidFill>
              </a:rPr>
              <a:t>.</a:t>
            </a:r>
          </a:p>
        </p:txBody>
      </p:sp>
      <p:sp>
        <p:nvSpPr>
          <p:cNvPr id="69651" name="Text Box 1043"/>
          <p:cNvSpPr txBox="1">
            <a:spLocks noChangeArrowheads="1"/>
          </p:cNvSpPr>
          <p:nvPr/>
        </p:nvSpPr>
        <p:spPr bwMode="auto">
          <a:xfrm>
            <a:off x="3657600" y="5943600"/>
            <a:ext cx="502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solidFill>
                  <a:srgbClr val="000080"/>
                </a:solidFill>
                <a:latin typeface="Symbol" pitchFamily="18" charset="2"/>
              </a:rPr>
              <a:t>-</a:t>
            </a:r>
            <a:r>
              <a:rPr lang="en-US" altLang="zh-CN" sz="2800" i="1">
                <a:solidFill>
                  <a:srgbClr val="000080"/>
                </a:solidFill>
              </a:rPr>
              <a:t>Y</a:t>
            </a:r>
            <a:r>
              <a:rPr lang="en-US" altLang="zh-CN" sz="2800" baseline="-30000">
                <a:solidFill>
                  <a:srgbClr val="008080"/>
                </a:solidFill>
              </a:rPr>
              <a:t>n-1</a:t>
            </a:r>
            <a:r>
              <a:rPr lang="en-US" altLang="zh-CN" sz="2800">
                <a:solidFill>
                  <a:srgbClr val="008080"/>
                </a:solidFill>
              </a:rPr>
              <a:t> </a:t>
            </a:r>
            <a:r>
              <a:rPr lang="en-US" altLang="zh-CN" sz="2800" i="1">
                <a:solidFill>
                  <a:srgbClr val="000080"/>
                </a:solidFill>
              </a:rPr>
              <a:t>+ 2</a:t>
            </a:r>
            <a:r>
              <a:rPr lang="en-US" altLang="zh-CN" sz="2800">
                <a:solidFill>
                  <a:srgbClr val="008000"/>
                </a:solidFill>
                <a:latin typeface="Symbol" pitchFamily="18" charset="2"/>
              </a:rPr>
              <a:t>D</a:t>
            </a:r>
            <a:r>
              <a:rPr lang="en-US" altLang="zh-CN" sz="2800" i="1">
                <a:solidFill>
                  <a:srgbClr val="000080"/>
                </a:solidFill>
              </a:rPr>
              <a:t>t</a:t>
            </a:r>
            <a:r>
              <a:rPr lang="en-US" altLang="zh-CN" sz="2800">
                <a:solidFill>
                  <a:srgbClr val="000080"/>
                </a:solidFill>
              </a:rPr>
              <a:t> </a:t>
            </a:r>
            <a:r>
              <a:rPr lang="en-US" altLang="zh-CN" sz="2800" i="1">
                <a:solidFill>
                  <a:srgbClr val="000080"/>
                </a:solidFill>
              </a:rPr>
              <a:t>Y</a:t>
            </a:r>
            <a:r>
              <a:rPr lang="en-US" altLang="zh-CN" sz="2800" baseline="-30000">
                <a:solidFill>
                  <a:srgbClr val="008080"/>
                </a:solidFill>
              </a:rPr>
              <a:t>n</a:t>
            </a:r>
            <a:r>
              <a:rPr lang="en-US" altLang="zh-CN" sz="2800" i="1">
                <a:solidFill>
                  <a:srgbClr val="008080"/>
                </a:solidFill>
              </a:rPr>
              <a:t> +</a:t>
            </a:r>
            <a:r>
              <a:rPr lang="en-US" altLang="zh-CN" sz="2800" i="1">
                <a:solidFill>
                  <a:srgbClr val="000080"/>
                </a:solidFill>
              </a:rPr>
              <a:t>Y</a:t>
            </a:r>
            <a:r>
              <a:rPr lang="en-US" altLang="zh-CN" sz="2800" baseline="-30000">
                <a:solidFill>
                  <a:srgbClr val="008080"/>
                </a:solidFill>
              </a:rPr>
              <a:t>n+1</a:t>
            </a:r>
            <a:r>
              <a:rPr lang="en-US" altLang="zh-CN" sz="2800">
                <a:solidFill>
                  <a:srgbClr val="000080"/>
                </a:solidFill>
              </a:rPr>
              <a:t>= 2</a:t>
            </a:r>
            <a:r>
              <a:rPr lang="en-US" altLang="zh-CN" sz="2800">
                <a:solidFill>
                  <a:srgbClr val="008000"/>
                </a:solidFill>
                <a:latin typeface="Symbol" pitchFamily="18" charset="2"/>
              </a:rPr>
              <a:t>bD</a:t>
            </a:r>
            <a:r>
              <a:rPr lang="en-US" altLang="zh-CN" sz="2800" i="1">
                <a:solidFill>
                  <a:srgbClr val="000080"/>
                </a:solidFill>
              </a:rPr>
              <a:t>t</a:t>
            </a:r>
            <a:r>
              <a:rPr lang="en-US" altLang="zh-CN" sz="2800"/>
              <a:t> </a:t>
            </a:r>
          </a:p>
        </p:txBody>
      </p:sp>
      <p:grpSp>
        <p:nvGrpSpPr>
          <p:cNvPr id="61447" name="Group 1027"/>
          <p:cNvGrpSpPr>
            <a:grpSpLocks/>
          </p:cNvGrpSpPr>
          <p:nvPr/>
        </p:nvGrpSpPr>
        <p:grpSpPr bwMode="auto">
          <a:xfrm>
            <a:off x="611188" y="476250"/>
            <a:ext cx="7175500" cy="1417638"/>
            <a:chOff x="476" y="2866"/>
            <a:chExt cx="4520" cy="893"/>
          </a:xfrm>
        </p:grpSpPr>
        <p:sp>
          <p:nvSpPr>
            <p:cNvPr id="61448" name="Line 1028"/>
            <p:cNvSpPr>
              <a:spLocks noChangeShapeType="1"/>
            </p:cNvSpPr>
            <p:nvPr/>
          </p:nvSpPr>
          <p:spPr bwMode="auto">
            <a:xfrm>
              <a:off x="638" y="3348"/>
              <a:ext cx="4114" cy="12"/>
            </a:xfrm>
            <a:prstGeom prst="line">
              <a:avLst/>
            </a:prstGeom>
            <a:noFill/>
            <a:ln w="9525">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49" name="Oval 1029"/>
            <p:cNvSpPr>
              <a:spLocks noChangeArrowheads="1"/>
            </p:cNvSpPr>
            <p:nvPr/>
          </p:nvSpPr>
          <p:spPr bwMode="auto">
            <a:xfrm>
              <a:off x="1973"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endParaRPr lang="zh-CN" altLang="en-US"/>
            </a:p>
          </p:txBody>
        </p:sp>
        <p:sp>
          <p:nvSpPr>
            <p:cNvPr id="91142" name="Oval 1030"/>
            <p:cNvSpPr>
              <a:spLocks noChangeArrowheads="1"/>
            </p:cNvSpPr>
            <p:nvPr/>
          </p:nvSpPr>
          <p:spPr bwMode="auto">
            <a:xfrm>
              <a:off x="1327"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sp>
          <p:nvSpPr>
            <p:cNvPr id="91143" name="Oval 1031"/>
            <p:cNvSpPr>
              <a:spLocks noChangeArrowheads="1"/>
            </p:cNvSpPr>
            <p:nvPr/>
          </p:nvSpPr>
          <p:spPr bwMode="auto">
            <a:xfrm>
              <a:off x="638"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sp>
          <p:nvSpPr>
            <p:cNvPr id="91144" name="Oval 1032"/>
            <p:cNvSpPr>
              <a:spLocks noChangeArrowheads="1"/>
            </p:cNvSpPr>
            <p:nvPr/>
          </p:nvSpPr>
          <p:spPr bwMode="auto">
            <a:xfrm>
              <a:off x="3394"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sp>
          <p:nvSpPr>
            <p:cNvPr id="91145" name="Oval 1033"/>
            <p:cNvSpPr>
              <a:spLocks noChangeArrowheads="1"/>
            </p:cNvSpPr>
            <p:nvPr/>
          </p:nvSpPr>
          <p:spPr bwMode="auto">
            <a:xfrm>
              <a:off x="2662"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graphicFrame>
          <p:nvGraphicFramePr>
            <p:cNvPr id="61454" name="Object 1034"/>
            <p:cNvGraphicFramePr>
              <a:graphicFrameLocks noChangeAspect="1"/>
            </p:cNvGraphicFramePr>
            <p:nvPr/>
          </p:nvGraphicFramePr>
          <p:xfrm>
            <a:off x="1111" y="3475"/>
            <a:ext cx="363" cy="284"/>
          </p:xfrm>
          <a:graphic>
            <a:graphicData uri="http://schemas.openxmlformats.org/presentationml/2006/ole">
              <mc:AlternateContent xmlns:mc="http://schemas.openxmlformats.org/markup-compatibility/2006">
                <mc:Choice xmlns:v="urn:schemas-microsoft-com:vml" Requires="v">
                  <p:oleObj spid="_x0000_s61475" name="公式" r:id="rId9" imgW="160056" imgH="167568" progId="Equation.3">
                    <p:embed/>
                  </p:oleObj>
                </mc:Choice>
                <mc:Fallback>
                  <p:oleObj name="公式" r:id="rId9" imgW="160056" imgH="167568" progId="Equation.3">
                    <p:embed/>
                    <p:pic>
                      <p:nvPicPr>
                        <p:cNvPr id="0" name="Object 10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1" y="3475"/>
                          <a:ext cx="363"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47" name="Text Box 1035"/>
            <p:cNvSpPr txBox="1">
              <a:spLocks noChangeArrowheads="1"/>
            </p:cNvSpPr>
            <p:nvPr/>
          </p:nvSpPr>
          <p:spPr bwMode="auto">
            <a:xfrm>
              <a:off x="639" y="2866"/>
              <a:ext cx="435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chemeClr val="accent2"/>
                  </a:solidFill>
                  <a:effectLst>
                    <a:outerShdw blurRad="38100" dist="38100" dir="2700000" algn="tl">
                      <a:srgbClr val="C0C0C0"/>
                    </a:outerShdw>
                  </a:effectLst>
                  <a:ea typeface="楷体_GB2312" pitchFamily="49" charset="-122"/>
                </a:rPr>
                <a:t>0       1        2         3        n-1      n      n+1</a:t>
              </a:r>
            </a:p>
          </p:txBody>
        </p:sp>
        <p:sp>
          <p:nvSpPr>
            <p:cNvPr id="91148" name="Text Box 1036"/>
            <p:cNvSpPr txBox="1">
              <a:spLocks noChangeArrowheads="1"/>
            </p:cNvSpPr>
            <p:nvPr/>
          </p:nvSpPr>
          <p:spPr bwMode="auto">
            <a:xfrm>
              <a:off x="476" y="3337"/>
              <a:ext cx="32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chemeClr val="accent2"/>
                  </a:solidFill>
                  <a:effectLst>
                    <a:outerShdw blurRad="38100" dist="38100" dir="2700000" algn="tl">
                      <a:srgbClr val="C0C0C0"/>
                    </a:outerShdw>
                  </a:effectLst>
                  <a:ea typeface="楷体_GB2312" pitchFamily="49" charset="-122"/>
                </a:rPr>
                <a:t>t0</a:t>
              </a:r>
            </a:p>
          </p:txBody>
        </p:sp>
        <p:sp>
          <p:nvSpPr>
            <p:cNvPr id="91149" name="Text Box 1037"/>
            <p:cNvSpPr txBox="1">
              <a:spLocks noChangeArrowheads="1"/>
            </p:cNvSpPr>
            <p:nvPr/>
          </p:nvSpPr>
          <p:spPr bwMode="auto">
            <a:xfrm>
              <a:off x="4014" y="3337"/>
              <a:ext cx="329"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a:solidFill>
                    <a:schemeClr val="accent2"/>
                  </a:solidFill>
                  <a:effectLst>
                    <a:outerShdw blurRad="38100" dist="38100" dir="2700000" algn="tl">
                      <a:srgbClr val="C0C0C0"/>
                    </a:outerShdw>
                  </a:effectLst>
                  <a:ea typeface="楷体_GB2312" pitchFamily="49" charset="-122"/>
                </a:rPr>
                <a:t>t1</a:t>
              </a:r>
            </a:p>
          </p:txBody>
        </p:sp>
        <p:sp>
          <p:nvSpPr>
            <p:cNvPr id="91150" name="Oval 1038"/>
            <p:cNvSpPr>
              <a:spLocks noChangeArrowheads="1"/>
            </p:cNvSpPr>
            <p:nvPr/>
          </p:nvSpPr>
          <p:spPr bwMode="auto">
            <a:xfrm>
              <a:off x="4112" y="3310"/>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sp>
          <p:nvSpPr>
            <p:cNvPr id="91151" name="Oval 1039"/>
            <p:cNvSpPr>
              <a:spLocks noChangeArrowheads="1"/>
            </p:cNvSpPr>
            <p:nvPr/>
          </p:nvSpPr>
          <p:spPr bwMode="auto">
            <a:xfrm>
              <a:off x="4704" y="3322"/>
              <a:ext cx="43" cy="3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zh-CN" altLang="zh-CN">
                <a:solidFill>
                  <a:srgbClr val="FFFF00"/>
                </a:solidFill>
                <a:effectLst>
                  <a:outerShdw blurRad="38100" dist="38100" dir="2700000" algn="tl">
                    <a:srgbClr val="000000"/>
                  </a:outerShdw>
                </a:effectLst>
                <a:ea typeface="楷体_GB2312" pitchFamily="49" charset="-122"/>
              </a:endParaRPr>
            </a:p>
          </p:txBody>
        </p:sp>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additive="base">
                                        <p:cTn id="7" dur="500" fill="hold"/>
                                        <p:tgtEl>
                                          <p:spTgt spid="69634"/>
                                        </p:tgtEl>
                                        <p:attrNameLst>
                                          <p:attrName>ppt_x</p:attrName>
                                        </p:attrNameLst>
                                      </p:cBhvr>
                                      <p:tavLst>
                                        <p:tav tm="0">
                                          <p:val>
                                            <p:strVal val="0-#ppt_w/2"/>
                                          </p:val>
                                        </p:tav>
                                        <p:tav tm="100000">
                                          <p:val>
                                            <p:strVal val="#ppt_x"/>
                                          </p:val>
                                        </p:tav>
                                      </p:tavLst>
                                    </p:anim>
                                    <p:anim calcmode="lin" valueType="num">
                                      <p:cBhvr additive="base">
                                        <p:cTn id="8" dur="500" fill="hold"/>
                                        <p:tgtEl>
                                          <p:spTgt spid="6963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69635"/>
                                        </p:tgtEl>
                                        <p:attrNameLst>
                                          <p:attrName>style.visibility</p:attrName>
                                        </p:attrNameLst>
                                      </p:cBhvr>
                                      <p:to>
                                        <p:strVal val="visible"/>
                                      </p:to>
                                    </p:set>
                                    <p:anim calcmode="lin" valueType="num">
                                      <p:cBhvr additive="base">
                                        <p:cTn id="13" dur="500" fill="hold"/>
                                        <p:tgtEl>
                                          <p:spTgt spid="69635"/>
                                        </p:tgtEl>
                                        <p:attrNameLst>
                                          <p:attrName>ppt_x</p:attrName>
                                        </p:attrNameLst>
                                      </p:cBhvr>
                                      <p:tavLst>
                                        <p:tav tm="0">
                                          <p:val>
                                            <p:strVal val="0-#ppt_w/2"/>
                                          </p:val>
                                        </p:tav>
                                        <p:tav tm="100000">
                                          <p:val>
                                            <p:strVal val="#ppt_x"/>
                                          </p:val>
                                        </p:tav>
                                      </p:tavLst>
                                    </p:anim>
                                    <p:anim calcmode="lin" valueType="num">
                                      <p:cBhvr additive="base">
                                        <p:cTn id="14" dur="500" fill="hold"/>
                                        <p:tgtEl>
                                          <p:spTgt spid="6963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9636"/>
                                        </p:tgtEl>
                                        <p:attrNameLst>
                                          <p:attrName>style.visibility</p:attrName>
                                        </p:attrNameLst>
                                      </p:cBhvr>
                                      <p:to>
                                        <p:strVal val="visible"/>
                                      </p:to>
                                    </p:set>
                                    <p:anim calcmode="lin" valueType="num">
                                      <p:cBhvr additive="base">
                                        <p:cTn id="19" dur="500" fill="hold"/>
                                        <p:tgtEl>
                                          <p:spTgt spid="69636"/>
                                        </p:tgtEl>
                                        <p:attrNameLst>
                                          <p:attrName>ppt_x</p:attrName>
                                        </p:attrNameLst>
                                      </p:cBhvr>
                                      <p:tavLst>
                                        <p:tav tm="0">
                                          <p:val>
                                            <p:strVal val="0-#ppt_w/2"/>
                                          </p:val>
                                        </p:tav>
                                        <p:tav tm="100000">
                                          <p:val>
                                            <p:strVal val="#ppt_x"/>
                                          </p:val>
                                        </p:tav>
                                      </p:tavLst>
                                    </p:anim>
                                    <p:anim calcmode="lin" valueType="num">
                                      <p:cBhvr additive="base">
                                        <p:cTn id="20" dur="500" fill="hold"/>
                                        <p:tgtEl>
                                          <p:spTgt spid="6963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9650"/>
                                        </p:tgtEl>
                                        <p:attrNameLst>
                                          <p:attrName>style.visibility</p:attrName>
                                        </p:attrNameLst>
                                      </p:cBhvr>
                                      <p:to>
                                        <p:strVal val="visible"/>
                                      </p:to>
                                    </p:set>
                                    <p:anim calcmode="lin" valueType="num">
                                      <p:cBhvr additive="base">
                                        <p:cTn id="25" dur="500" fill="hold"/>
                                        <p:tgtEl>
                                          <p:spTgt spid="69650"/>
                                        </p:tgtEl>
                                        <p:attrNameLst>
                                          <p:attrName>ppt_x</p:attrName>
                                        </p:attrNameLst>
                                      </p:cBhvr>
                                      <p:tavLst>
                                        <p:tav tm="0">
                                          <p:val>
                                            <p:strVal val="0-#ppt_w/2"/>
                                          </p:val>
                                        </p:tav>
                                        <p:tav tm="100000">
                                          <p:val>
                                            <p:strVal val="#ppt_x"/>
                                          </p:val>
                                        </p:tav>
                                      </p:tavLst>
                                    </p:anim>
                                    <p:anim calcmode="lin" valueType="num">
                                      <p:cBhvr additive="base">
                                        <p:cTn id="26" dur="500" fill="hold"/>
                                        <p:tgtEl>
                                          <p:spTgt spid="6965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9651"/>
                                        </p:tgtEl>
                                        <p:attrNameLst>
                                          <p:attrName>style.visibility</p:attrName>
                                        </p:attrNameLst>
                                      </p:cBhvr>
                                      <p:to>
                                        <p:strVal val="visible"/>
                                      </p:to>
                                    </p:set>
                                    <p:anim calcmode="lin" valueType="num">
                                      <p:cBhvr additive="base">
                                        <p:cTn id="31" dur="500" fill="hold"/>
                                        <p:tgtEl>
                                          <p:spTgt spid="69651"/>
                                        </p:tgtEl>
                                        <p:attrNameLst>
                                          <p:attrName>ppt_x</p:attrName>
                                        </p:attrNameLst>
                                      </p:cBhvr>
                                      <p:tavLst>
                                        <p:tav tm="0">
                                          <p:val>
                                            <p:strVal val="0-#ppt_w/2"/>
                                          </p:val>
                                        </p:tav>
                                        <p:tav tm="100000">
                                          <p:val>
                                            <p:strVal val="#ppt_x"/>
                                          </p:val>
                                        </p:tav>
                                      </p:tavLst>
                                    </p:anim>
                                    <p:anim calcmode="lin" valueType="num">
                                      <p:cBhvr additive="base">
                                        <p:cTn id="32" dur="500" fill="hold"/>
                                        <p:tgtEl>
                                          <p:spTgt spid="696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50" grpId="0" autoUpdateAnimBg="0"/>
      <p:bldP spid="69651"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1027"/>
          <p:cNvSpPr txBox="1">
            <a:spLocks noChangeArrowheads="1"/>
          </p:cNvSpPr>
          <p:nvPr/>
        </p:nvSpPr>
        <p:spPr bwMode="auto">
          <a:xfrm>
            <a:off x="133350" y="44450"/>
            <a:ext cx="9010650" cy="370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50000"/>
              </a:lnSpc>
            </a:pPr>
            <a:r>
              <a:rPr lang="en-US" altLang="zh-CN" i="1">
                <a:solidFill>
                  <a:srgbClr val="000080"/>
                </a:solidFill>
              </a:rPr>
              <a:t>Y</a:t>
            </a:r>
            <a:r>
              <a:rPr lang="en-US" altLang="zh-CN">
                <a:solidFill>
                  <a:srgbClr val="008080"/>
                </a:solidFill>
              </a:rPr>
              <a:t>0 </a:t>
            </a:r>
            <a:r>
              <a:rPr lang="en-US" altLang="zh-CN">
                <a:solidFill>
                  <a:srgbClr val="000080"/>
                </a:solidFill>
              </a:rPr>
              <a:t>= </a:t>
            </a:r>
            <a:r>
              <a:rPr lang="en-US" altLang="zh-CN">
                <a:solidFill>
                  <a:srgbClr val="008000"/>
                </a:solidFill>
                <a:latin typeface="Symbol" pitchFamily="18" charset="2"/>
              </a:rPr>
              <a:t>a</a:t>
            </a:r>
            <a:r>
              <a:rPr lang="en-US" altLang="zh-CN">
                <a:solidFill>
                  <a:srgbClr val="000000"/>
                </a:solidFill>
              </a:rPr>
              <a:t>,</a:t>
            </a:r>
            <a:endParaRPr lang="en-US" altLang="zh-CN"/>
          </a:p>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0</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1</a:t>
            </a:r>
            <a:r>
              <a:rPr lang="en-US" altLang="zh-CN">
                <a:solidFill>
                  <a:srgbClr val="008080"/>
                </a:solidFill>
              </a:rPr>
              <a:t> </a:t>
            </a:r>
            <a:r>
              <a:rPr lang="en-US" altLang="zh-CN">
                <a:solidFill>
                  <a:srgbClr val="000080"/>
                </a:solidFill>
              </a:rPr>
              <a:t>+ (1+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2</a:t>
            </a:r>
            <a:r>
              <a:rPr lang="en-US" altLang="zh-CN">
                <a:solidFill>
                  <a:srgbClr val="008080"/>
                </a:solidFill>
              </a:rPr>
              <a:t> </a:t>
            </a:r>
            <a:r>
              <a:rPr lang="en-US" altLang="zh-CN">
                <a:solidFill>
                  <a:srgbClr val="000080"/>
                </a:solidFill>
              </a:rPr>
              <a:t>= </a:t>
            </a:r>
            <a:r>
              <a:rPr lang="en-US" altLang="zh-CN" i="1">
                <a:solidFill>
                  <a:srgbClr val="000080"/>
                </a:solidFill>
              </a:rPr>
              <a:t>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a:p>
            <a:pPr>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1</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2</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3</a:t>
            </a:r>
            <a:r>
              <a:rPr lang="en-US" altLang="zh-CN">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a:p>
            <a:pPr>
              <a:lnSpc>
                <a:spcPct val="150000"/>
              </a:lnSpc>
            </a:pPr>
            <a:r>
              <a:rPr lang="en-US" altLang="zh-CN">
                <a:solidFill>
                  <a:srgbClr val="000080"/>
                </a:solidFill>
              </a:rPr>
              <a:t>…</a:t>
            </a:r>
            <a:endParaRPr lang="en-US" altLang="zh-CN"/>
          </a:p>
          <a:p>
            <a:pPr eaLnBrk="1" hangingPunct="1">
              <a:lnSpc>
                <a:spcPct val="14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n–2</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n–1</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n</a:t>
            </a:r>
            <a:r>
              <a:rPr lang="en-US" altLang="zh-CN" i="1">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p:txBody>
      </p:sp>
      <p:sp>
        <p:nvSpPr>
          <p:cNvPr id="70660" name="Text Box 1028"/>
          <p:cNvSpPr txBox="1">
            <a:spLocks noChangeArrowheads="1"/>
          </p:cNvSpPr>
          <p:nvPr/>
        </p:nvSpPr>
        <p:spPr bwMode="auto">
          <a:xfrm>
            <a:off x="395288" y="5373688"/>
            <a:ext cx="8424862"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40000"/>
              </a:lnSpc>
            </a:pPr>
            <a:r>
              <a:rPr lang="en-US" altLang="zh-CN" sz="2800">
                <a:solidFill>
                  <a:srgbClr val="000000"/>
                </a:solidFill>
              </a:rPr>
              <a:t>The attraction of this approach is that we maintain our simple tri-diagonal system.</a:t>
            </a:r>
            <a:endParaRPr lang="en-US" altLang="zh-CN" sz="2800"/>
          </a:p>
        </p:txBody>
      </p:sp>
      <p:sp>
        <p:nvSpPr>
          <p:cNvPr id="62468" name="Text Box 1029"/>
          <p:cNvSpPr txBox="1">
            <a:spLocks noChangeArrowheads="1"/>
          </p:cNvSpPr>
          <p:nvPr/>
        </p:nvSpPr>
        <p:spPr bwMode="auto">
          <a:xfrm>
            <a:off x="107950" y="3711575"/>
            <a:ext cx="903605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50000"/>
              </a:lnSpc>
            </a:pP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n–1</a:t>
            </a:r>
            <a:r>
              <a:rPr lang="en-US" altLang="zh-CN">
                <a:solidFill>
                  <a:srgbClr val="008080"/>
                </a:solidFill>
              </a:rPr>
              <a:t> </a:t>
            </a:r>
            <a:r>
              <a:rPr lang="en-US" altLang="zh-CN">
                <a:solidFill>
                  <a:srgbClr val="000080"/>
                </a:solidFill>
              </a:rPr>
              <a:t>+ (</a:t>
            </a:r>
            <a:r>
              <a:rPr lang="en-US" altLang="zh-CN" i="1">
                <a:solidFill>
                  <a:srgbClr val="000080"/>
                </a:solidFill>
              </a:rPr>
              <a:t>b</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i="1">
                <a:solidFill>
                  <a:srgbClr val="000080"/>
                </a:solidFill>
              </a:rPr>
              <a:t>–</a:t>
            </a:r>
            <a:r>
              <a:rPr lang="en-US" altLang="zh-CN">
                <a:solidFill>
                  <a:srgbClr val="000080"/>
                </a:solidFill>
              </a:rPr>
              <a:t>2)</a:t>
            </a:r>
            <a:r>
              <a:rPr lang="en-US" altLang="zh-CN" i="1">
                <a:solidFill>
                  <a:srgbClr val="000080"/>
                </a:solidFill>
              </a:rPr>
              <a:t>Y</a:t>
            </a:r>
            <a:r>
              <a:rPr lang="en-US" altLang="zh-CN" baseline="-30000">
                <a:solidFill>
                  <a:srgbClr val="008080"/>
                </a:solidFill>
              </a:rPr>
              <a:t>n</a:t>
            </a:r>
            <a:r>
              <a:rPr lang="en-US" altLang="zh-CN">
                <a:solidFill>
                  <a:srgbClr val="008080"/>
                </a:solidFill>
              </a:rPr>
              <a:t> </a:t>
            </a:r>
            <a:r>
              <a:rPr lang="en-US" altLang="zh-CN" i="1">
                <a:solidFill>
                  <a:srgbClr val="000080"/>
                </a:solidFill>
              </a:rPr>
              <a:t>+ </a:t>
            </a:r>
            <a:r>
              <a:rPr lang="en-US" altLang="zh-CN">
                <a:solidFill>
                  <a:srgbClr val="000080"/>
                </a:solidFill>
              </a:rPr>
              <a:t>(1+</a:t>
            </a:r>
            <a:r>
              <a:rPr lang="en-US" altLang="zh-CN">
                <a:solidFill>
                  <a:srgbClr val="800080"/>
                </a:solidFill>
              </a:rPr>
              <a:t>1</a:t>
            </a:r>
            <a:r>
              <a:rPr lang="en-US" altLang="zh-CN">
                <a:solidFill>
                  <a:srgbClr val="000080"/>
                </a:solidFill>
              </a:rPr>
              <a:t>/</a:t>
            </a:r>
            <a:r>
              <a:rPr lang="en-US" altLang="zh-CN">
                <a:solidFill>
                  <a:srgbClr val="008080"/>
                </a:solidFill>
              </a:rPr>
              <a:t>2</a:t>
            </a:r>
            <a:r>
              <a:rPr lang="en-US" altLang="zh-CN" i="1">
                <a:solidFill>
                  <a:srgbClr val="000080"/>
                </a:solidFill>
              </a:rPr>
              <a:t>a</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a:t>
            </a:r>
            <a:r>
              <a:rPr lang="en-US" altLang="zh-CN" i="1">
                <a:solidFill>
                  <a:srgbClr val="000080"/>
                </a:solidFill>
              </a:rPr>
              <a:t>Y</a:t>
            </a:r>
            <a:r>
              <a:rPr lang="en-US" altLang="zh-CN" baseline="-30000">
                <a:solidFill>
                  <a:srgbClr val="008080"/>
                </a:solidFill>
              </a:rPr>
              <a:t>n+1</a:t>
            </a:r>
            <a:r>
              <a:rPr lang="en-US" altLang="zh-CN" i="1">
                <a:solidFill>
                  <a:srgbClr val="008080"/>
                </a:solidFill>
              </a:rPr>
              <a:t> </a:t>
            </a:r>
            <a:r>
              <a:rPr lang="en-US" altLang="zh-CN" i="1">
                <a:solidFill>
                  <a:srgbClr val="000080"/>
                </a:solidFill>
              </a:rPr>
              <a:t>= c</a:t>
            </a:r>
            <a:r>
              <a:rPr lang="en-US" altLang="zh-CN">
                <a:solidFill>
                  <a:srgbClr val="008000"/>
                </a:solidFill>
                <a:latin typeface="Symbol" pitchFamily="18" charset="2"/>
              </a:rPr>
              <a:t>D</a:t>
            </a:r>
            <a:r>
              <a:rPr lang="en-US" altLang="zh-CN" i="1">
                <a:solidFill>
                  <a:srgbClr val="000080"/>
                </a:solidFill>
              </a:rPr>
              <a:t>t</a:t>
            </a:r>
            <a:r>
              <a:rPr lang="en-US" altLang="zh-CN" baseline="30000">
                <a:solidFill>
                  <a:srgbClr val="800080"/>
                </a:solidFill>
              </a:rPr>
              <a:t>2</a:t>
            </a:r>
            <a:r>
              <a:rPr lang="en-US" altLang="zh-CN">
                <a:solidFill>
                  <a:srgbClr val="000000"/>
                </a:solidFill>
              </a:rPr>
              <a:t>,</a:t>
            </a:r>
            <a:endParaRPr lang="en-US" altLang="zh-CN"/>
          </a:p>
        </p:txBody>
      </p:sp>
      <p:sp>
        <p:nvSpPr>
          <p:cNvPr id="62469" name="Text Box 1030"/>
          <p:cNvSpPr txBox="1">
            <a:spLocks noChangeArrowheads="1"/>
          </p:cNvSpPr>
          <p:nvPr/>
        </p:nvSpPr>
        <p:spPr bwMode="auto">
          <a:xfrm>
            <a:off x="184150" y="4473575"/>
            <a:ext cx="77724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50000"/>
              </a:lnSpc>
            </a:pPr>
            <a:r>
              <a:rPr lang="en-US" altLang="zh-CN">
                <a:solidFill>
                  <a:srgbClr val="000080"/>
                </a:solidFill>
                <a:latin typeface="Symbol" pitchFamily="18" charset="2"/>
              </a:rPr>
              <a:t>-</a:t>
            </a:r>
            <a:r>
              <a:rPr lang="en-US" altLang="zh-CN" i="1">
                <a:solidFill>
                  <a:srgbClr val="000080"/>
                </a:solidFill>
              </a:rPr>
              <a:t>Y</a:t>
            </a:r>
            <a:r>
              <a:rPr lang="en-US" altLang="zh-CN" baseline="-30000">
                <a:solidFill>
                  <a:srgbClr val="008080"/>
                </a:solidFill>
              </a:rPr>
              <a:t>n-1</a:t>
            </a:r>
            <a:r>
              <a:rPr lang="en-US" altLang="zh-CN">
                <a:solidFill>
                  <a:srgbClr val="008080"/>
                </a:solidFill>
              </a:rPr>
              <a:t> </a:t>
            </a:r>
            <a:r>
              <a:rPr lang="en-US" altLang="zh-CN" i="1">
                <a:solidFill>
                  <a:srgbClr val="000080"/>
                </a:solidFill>
              </a:rPr>
              <a:t>+ 2</a:t>
            </a:r>
            <a:r>
              <a:rPr lang="en-US" altLang="zh-CN">
                <a:solidFill>
                  <a:srgbClr val="008000"/>
                </a:solidFill>
                <a:latin typeface="Symbol" pitchFamily="18" charset="2"/>
              </a:rPr>
              <a:t>D</a:t>
            </a:r>
            <a:r>
              <a:rPr lang="en-US" altLang="zh-CN" i="1">
                <a:solidFill>
                  <a:srgbClr val="000080"/>
                </a:solidFill>
              </a:rPr>
              <a:t>t</a:t>
            </a:r>
            <a:r>
              <a:rPr lang="en-US" altLang="zh-CN">
                <a:solidFill>
                  <a:srgbClr val="000080"/>
                </a:solidFill>
              </a:rPr>
              <a:t> </a:t>
            </a:r>
            <a:r>
              <a:rPr lang="en-US" altLang="zh-CN" i="1">
                <a:solidFill>
                  <a:srgbClr val="000080"/>
                </a:solidFill>
              </a:rPr>
              <a:t>Y</a:t>
            </a:r>
            <a:r>
              <a:rPr lang="en-US" altLang="zh-CN" baseline="-30000">
                <a:solidFill>
                  <a:srgbClr val="008080"/>
                </a:solidFill>
              </a:rPr>
              <a:t>n</a:t>
            </a:r>
            <a:r>
              <a:rPr lang="en-US" altLang="zh-CN" i="1">
                <a:solidFill>
                  <a:srgbClr val="008080"/>
                </a:solidFill>
              </a:rPr>
              <a:t> +</a:t>
            </a:r>
            <a:r>
              <a:rPr lang="en-US" altLang="zh-CN" i="1">
                <a:solidFill>
                  <a:srgbClr val="000080"/>
                </a:solidFill>
              </a:rPr>
              <a:t>Y</a:t>
            </a:r>
            <a:r>
              <a:rPr lang="en-US" altLang="zh-CN" baseline="-30000">
                <a:solidFill>
                  <a:srgbClr val="008080"/>
                </a:solidFill>
              </a:rPr>
              <a:t>n+1</a:t>
            </a:r>
            <a:r>
              <a:rPr lang="en-US" altLang="zh-CN">
                <a:solidFill>
                  <a:srgbClr val="000080"/>
                </a:solidFill>
              </a:rPr>
              <a:t>= 2</a:t>
            </a:r>
            <a:r>
              <a:rPr lang="en-US" altLang="zh-CN">
                <a:solidFill>
                  <a:srgbClr val="008000"/>
                </a:solidFill>
                <a:latin typeface="Symbol" pitchFamily="18" charset="2"/>
              </a:rPr>
              <a:t>bD</a:t>
            </a:r>
            <a:r>
              <a:rPr lang="en-US" altLang="zh-CN" i="1">
                <a:solidFill>
                  <a:srgbClr val="000080"/>
                </a:solidFill>
              </a:rPr>
              <a:t>t </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660"/>
                                        </p:tgtEl>
                                        <p:attrNameLst>
                                          <p:attrName>style.visibility</p:attrName>
                                        </p:attrNameLst>
                                      </p:cBhvr>
                                      <p:to>
                                        <p:strVal val="visible"/>
                                      </p:to>
                                    </p:set>
                                    <p:anim calcmode="lin" valueType="num">
                                      <p:cBhvr additive="base">
                                        <p:cTn id="7" dur="500" fill="hold"/>
                                        <p:tgtEl>
                                          <p:spTgt spid="70660"/>
                                        </p:tgtEl>
                                        <p:attrNameLst>
                                          <p:attrName>ppt_x</p:attrName>
                                        </p:attrNameLst>
                                      </p:cBhvr>
                                      <p:tavLst>
                                        <p:tav tm="0">
                                          <p:val>
                                            <p:strVal val="0-#ppt_w/2"/>
                                          </p:val>
                                        </p:tav>
                                        <p:tav tm="100000">
                                          <p:val>
                                            <p:strVal val="#ppt_x"/>
                                          </p:val>
                                        </p:tav>
                                      </p:tavLst>
                                    </p:anim>
                                    <p:anim calcmode="lin" valueType="num">
                                      <p:cBhvr additive="base">
                                        <p:cTn id="8" dur="500" fill="hold"/>
                                        <p:tgtEl>
                                          <p:spTgt spid="706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468313" y="476250"/>
            <a:ext cx="81534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sz="2800">
                <a:solidFill>
                  <a:srgbClr val="000000"/>
                </a:solidFill>
              </a:rPr>
              <a:t>Clearly the same tricks can be applied if we have a boundary condition on the derivative at </a:t>
            </a:r>
            <a:r>
              <a:rPr lang="en-US" altLang="zh-CN" sz="2800" i="1">
                <a:solidFill>
                  <a:srgbClr val="000080"/>
                </a:solidFill>
              </a:rPr>
              <a:t>t</a:t>
            </a:r>
            <a:r>
              <a:rPr lang="en-US" altLang="zh-CN" sz="2800">
                <a:solidFill>
                  <a:srgbClr val="008080"/>
                </a:solidFill>
              </a:rPr>
              <a:t>0</a:t>
            </a:r>
            <a:r>
              <a:rPr lang="en-US" altLang="zh-CN" sz="2800">
                <a:solidFill>
                  <a:srgbClr val="000000"/>
                </a:solidFill>
              </a:rPr>
              <a:t>.</a:t>
            </a:r>
            <a:endParaRPr lang="en-US" altLang="zh-CN" sz="2800"/>
          </a:p>
        </p:txBody>
      </p:sp>
      <p:sp>
        <p:nvSpPr>
          <p:cNvPr id="71683" name="Text Box 3"/>
          <p:cNvSpPr txBox="1">
            <a:spLocks noChangeArrowheads="1"/>
          </p:cNvSpPr>
          <p:nvPr/>
        </p:nvSpPr>
        <p:spPr bwMode="auto">
          <a:xfrm>
            <a:off x="323850" y="2060575"/>
            <a:ext cx="8153400"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sz="2800">
                <a:solidFill>
                  <a:srgbClr val="000000"/>
                </a:solidFill>
              </a:rPr>
              <a:t>Higher order linear equations may be catered for in a similar manner and the matrix representing the system of equations will remain banded, but not as sparse as tridiagonal. </a:t>
            </a:r>
            <a:endParaRPr lang="en-US" altLang="zh-CN" sz="2800"/>
          </a:p>
        </p:txBody>
      </p:sp>
      <p:sp>
        <p:nvSpPr>
          <p:cNvPr id="71684" name="Text Box 4"/>
          <p:cNvSpPr txBox="1">
            <a:spLocks noChangeArrowheads="1"/>
          </p:cNvSpPr>
          <p:nvPr/>
        </p:nvSpPr>
        <p:spPr bwMode="auto">
          <a:xfrm>
            <a:off x="228600" y="5029200"/>
            <a:ext cx="81534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sz="2800">
                <a:solidFill>
                  <a:srgbClr val="000000"/>
                </a:solidFill>
              </a:rPr>
              <a:t>The solution may be undertaken using the modified LU decomposition introduced in section 4.4.</a:t>
            </a:r>
            <a:endParaRPr lang="en-US" altLang="zh-CN" sz="280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3"/>
                                        </p:tgtEl>
                                        <p:attrNameLst>
                                          <p:attrName>style.visibility</p:attrName>
                                        </p:attrNameLst>
                                      </p:cBhvr>
                                      <p:to>
                                        <p:strVal val="visible"/>
                                      </p:to>
                                    </p:set>
                                    <p:anim calcmode="lin" valueType="num">
                                      <p:cBhvr additive="base">
                                        <p:cTn id="7" dur="500" fill="hold"/>
                                        <p:tgtEl>
                                          <p:spTgt spid="71683"/>
                                        </p:tgtEl>
                                        <p:attrNameLst>
                                          <p:attrName>ppt_x</p:attrName>
                                        </p:attrNameLst>
                                      </p:cBhvr>
                                      <p:tavLst>
                                        <p:tav tm="0">
                                          <p:val>
                                            <p:strVal val="0-#ppt_w/2"/>
                                          </p:val>
                                        </p:tav>
                                        <p:tav tm="100000">
                                          <p:val>
                                            <p:strVal val="#ppt_x"/>
                                          </p:val>
                                        </p:tav>
                                      </p:tavLst>
                                    </p:anim>
                                    <p:anim calcmode="lin" valueType="num">
                                      <p:cBhvr additive="base">
                                        <p:cTn id="8" dur="500" fill="hold"/>
                                        <p:tgtEl>
                                          <p:spTgt spid="7168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684"/>
                                        </p:tgtEl>
                                        <p:attrNameLst>
                                          <p:attrName>style.visibility</p:attrName>
                                        </p:attrNameLst>
                                      </p:cBhvr>
                                      <p:to>
                                        <p:strVal val="visible"/>
                                      </p:to>
                                    </p:set>
                                    <p:anim calcmode="lin" valueType="num">
                                      <p:cBhvr additive="base">
                                        <p:cTn id="13" dur="500" fill="hold"/>
                                        <p:tgtEl>
                                          <p:spTgt spid="71684"/>
                                        </p:tgtEl>
                                        <p:attrNameLst>
                                          <p:attrName>ppt_x</p:attrName>
                                        </p:attrNameLst>
                                      </p:cBhvr>
                                      <p:tavLst>
                                        <p:tav tm="0">
                                          <p:val>
                                            <p:strVal val="0-#ppt_w/2"/>
                                          </p:val>
                                        </p:tav>
                                        <p:tav tm="100000">
                                          <p:val>
                                            <p:strVal val="#ppt_x"/>
                                          </p:val>
                                        </p:tav>
                                      </p:tavLst>
                                    </p:anim>
                                    <p:anim calcmode="lin" valueType="num">
                                      <p:cBhvr additive="base">
                                        <p:cTn id="14" dur="500" fill="hold"/>
                                        <p:tgtEl>
                                          <p:spTgt spid="716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autoUpdateAnimBg="0"/>
      <p:bldP spid="71684"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611188" y="333375"/>
            <a:ext cx="6078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800">
                <a:latin typeface="楷体_GB2312" pitchFamily="49" charset="-122"/>
                <a:ea typeface="楷体_GB2312" pitchFamily="49" charset="-122"/>
              </a:rPr>
              <a:t>用差分法解边值问题的主要步骤是： </a:t>
            </a:r>
          </a:p>
        </p:txBody>
      </p:sp>
      <p:sp>
        <p:nvSpPr>
          <p:cNvPr id="247811" name="Text Box 3"/>
          <p:cNvSpPr txBox="1">
            <a:spLocks noChangeArrowheads="1"/>
          </p:cNvSpPr>
          <p:nvPr/>
        </p:nvSpPr>
        <p:spPr bwMode="auto">
          <a:xfrm>
            <a:off x="539750" y="1125538"/>
            <a:ext cx="4368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800"/>
              <a:t>（</a:t>
            </a:r>
            <a:r>
              <a:rPr lang="en-US" altLang="zh-CN" sz="2800"/>
              <a:t>1</a:t>
            </a:r>
            <a:r>
              <a:rPr lang="zh-CN" altLang="en-US" sz="2800"/>
              <a:t>）</a:t>
            </a:r>
            <a:r>
              <a:rPr lang="zh-CN" altLang="en-US" sz="2800">
                <a:ea typeface="楷体_GB2312" pitchFamily="49" charset="-122"/>
              </a:rPr>
              <a:t>将区间</a:t>
            </a:r>
            <a:r>
              <a:rPr lang="en-US" altLang="zh-CN" sz="2800"/>
              <a:t>[a, b]</a:t>
            </a:r>
            <a:r>
              <a:rPr lang="zh-CN" altLang="en-US" sz="2800">
                <a:ea typeface="楷体_GB2312" pitchFamily="49" charset="-122"/>
              </a:rPr>
              <a:t>离散化</a:t>
            </a:r>
            <a:r>
              <a:rPr lang="zh-CN" altLang="en-US" sz="2800"/>
              <a:t>；</a:t>
            </a:r>
          </a:p>
        </p:txBody>
      </p:sp>
      <p:sp>
        <p:nvSpPr>
          <p:cNvPr id="247812" name="Text Box 4"/>
          <p:cNvSpPr txBox="1">
            <a:spLocks noChangeArrowheads="1"/>
          </p:cNvSpPr>
          <p:nvPr/>
        </p:nvSpPr>
        <p:spPr bwMode="auto">
          <a:xfrm>
            <a:off x="322263" y="4724400"/>
            <a:ext cx="8135937"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50000"/>
              </a:lnSpc>
            </a:pPr>
            <a:r>
              <a:rPr lang="zh-CN" altLang="en-US" sz="2800"/>
              <a:t>（</a:t>
            </a:r>
            <a:r>
              <a:rPr lang="en-US" altLang="zh-CN" sz="2800">
                <a:latin typeface="楷体_GB2312" pitchFamily="49" charset="-122"/>
                <a:ea typeface="楷体_GB2312" pitchFamily="49" charset="-122"/>
              </a:rPr>
              <a:t>2</a:t>
            </a:r>
            <a:r>
              <a:rPr lang="zh-CN" altLang="en-US" sz="2800">
                <a:latin typeface="楷体_GB2312" pitchFamily="49" charset="-122"/>
                <a:ea typeface="楷体_GB2312" pitchFamily="49" charset="-122"/>
              </a:rPr>
              <a:t>）在这些节点上，将导数差商化，从而把微分</a:t>
            </a:r>
          </a:p>
          <a:p>
            <a:pPr eaLnBrk="1" hangingPunct="1">
              <a:lnSpc>
                <a:spcPct val="150000"/>
              </a:lnSpc>
            </a:pPr>
            <a:r>
              <a:rPr lang="zh-CN" altLang="en-US" sz="2800">
                <a:latin typeface="楷体_GB2312" pitchFamily="49" charset="-122"/>
                <a:ea typeface="楷体_GB2312" pitchFamily="49" charset="-122"/>
              </a:rPr>
              <a:t>    方程化为差分方程；</a:t>
            </a:r>
          </a:p>
        </p:txBody>
      </p:sp>
      <p:sp>
        <p:nvSpPr>
          <p:cNvPr id="247813" name="Text Box 5"/>
          <p:cNvSpPr txBox="1">
            <a:spLocks noChangeArrowheads="1"/>
          </p:cNvSpPr>
          <p:nvPr/>
        </p:nvSpPr>
        <p:spPr bwMode="auto">
          <a:xfrm>
            <a:off x="468313" y="6159500"/>
            <a:ext cx="8207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a:t>(3) </a:t>
            </a:r>
            <a:r>
              <a:rPr lang="zh-CN" altLang="en-US" sz="2800">
                <a:ea typeface="楷体_GB2312" pitchFamily="49" charset="-122"/>
              </a:rPr>
              <a:t>解差分方程</a:t>
            </a:r>
            <a:r>
              <a:rPr lang="en-US" altLang="zh-CN" sz="2800">
                <a:ea typeface="楷体_GB2312" pitchFamily="49" charset="-122"/>
              </a:rPr>
              <a:t>――</a:t>
            </a:r>
            <a:r>
              <a:rPr lang="zh-CN" altLang="en-US" sz="2800">
                <a:ea typeface="楷体_GB2312" pitchFamily="49" charset="-122"/>
              </a:rPr>
              <a:t>实际上就是解线代数方程组。</a:t>
            </a:r>
          </a:p>
        </p:txBody>
      </p:sp>
      <p:sp>
        <p:nvSpPr>
          <p:cNvPr id="247814" name="Text Box 6"/>
          <p:cNvSpPr txBox="1">
            <a:spLocks noChangeArrowheads="1"/>
          </p:cNvSpPr>
          <p:nvPr/>
        </p:nvSpPr>
        <p:spPr bwMode="auto">
          <a:xfrm>
            <a:off x="974725" y="1916113"/>
            <a:ext cx="31194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800">
                <a:ea typeface="楷体_GB2312" pitchFamily="49" charset="-122"/>
              </a:rPr>
              <a:t>将</a:t>
            </a:r>
            <a:r>
              <a:rPr lang="en-US" altLang="zh-CN" sz="2800"/>
              <a:t>[a, b]</a:t>
            </a:r>
            <a:r>
              <a:rPr lang="zh-CN" altLang="en-US" sz="2800">
                <a:ea typeface="楷体_GB2312" pitchFamily="49" charset="-122"/>
              </a:rPr>
              <a:t>区间用节点</a:t>
            </a:r>
          </a:p>
        </p:txBody>
      </p:sp>
      <p:graphicFrame>
        <p:nvGraphicFramePr>
          <p:cNvPr id="247815" name="Object 7"/>
          <p:cNvGraphicFramePr>
            <a:graphicFrameLocks noChangeAspect="1"/>
          </p:cNvGraphicFramePr>
          <p:nvPr/>
        </p:nvGraphicFramePr>
        <p:xfrm>
          <a:off x="2014538" y="2389188"/>
          <a:ext cx="5688012" cy="855662"/>
        </p:xfrm>
        <a:graphic>
          <a:graphicData uri="http://schemas.openxmlformats.org/presentationml/2006/ole">
            <mc:AlternateContent xmlns:mc="http://schemas.openxmlformats.org/markup-compatibility/2006">
              <mc:Choice xmlns:v="urn:schemas-microsoft-com:vml" Requires="v">
                <p:oleObj spid="_x0000_s64525" name="公式" r:id="rId3" imgW="2641600" imgH="393700" progId="Equation.3">
                  <p:embed/>
                </p:oleObj>
              </mc:Choice>
              <mc:Fallback>
                <p:oleObj name="公式" r:id="rId3" imgW="2641600" imgH="3937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4538" y="2389188"/>
                        <a:ext cx="5688012"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7816" name="Text Box 8"/>
          <p:cNvSpPr txBox="1">
            <a:spLocks noChangeArrowheads="1"/>
          </p:cNvSpPr>
          <p:nvPr/>
        </p:nvSpPr>
        <p:spPr bwMode="auto">
          <a:xfrm>
            <a:off x="1042988" y="3268663"/>
            <a:ext cx="7299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800">
                <a:latin typeface="楷体_GB2312" pitchFamily="49" charset="-122"/>
                <a:ea typeface="楷体_GB2312" pitchFamily="49" charset="-122"/>
              </a:rPr>
              <a:t>分成</a:t>
            </a:r>
            <a:r>
              <a:rPr lang="en-US" altLang="zh-CN" sz="2800" i="1">
                <a:ea typeface="楷体_GB2312" pitchFamily="49" charset="-122"/>
              </a:rPr>
              <a:t>N</a:t>
            </a:r>
            <a:r>
              <a:rPr lang="zh-CN" altLang="en-US" sz="2800">
                <a:latin typeface="楷体_GB2312" pitchFamily="49" charset="-122"/>
                <a:ea typeface="楷体_GB2312" pitchFamily="49" charset="-122"/>
              </a:rPr>
              <a:t>等分，其中</a:t>
            </a:r>
            <a:r>
              <a:rPr lang="en-US" altLang="zh-CN" sz="2800" i="1">
                <a:ea typeface="楷体_GB2312" pitchFamily="49" charset="-122"/>
              </a:rPr>
              <a:t>x</a:t>
            </a:r>
            <a:r>
              <a:rPr lang="en-US" altLang="zh-CN" sz="2800" baseline="-30000">
                <a:ea typeface="楷体_GB2312" pitchFamily="49" charset="-122"/>
              </a:rPr>
              <a:t>0</a:t>
            </a:r>
            <a:r>
              <a:rPr lang="en-US" altLang="zh-CN" sz="2800">
                <a:ea typeface="楷体_GB2312" pitchFamily="49" charset="-122"/>
              </a:rPr>
              <a:t> = </a:t>
            </a:r>
            <a:r>
              <a:rPr lang="en-US" altLang="zh-CN" sz="2800" i="1">
                <a:ea typeface="楷体_GB2312" pitchFamily="49" charset="-122"/>
              </a:rPr>
              <a:t>a</a:t>
            </a:r>
            <a:r>
              <a:rPr lang="zh-CN" altLang="en-US" sz="2800">
                <a:latin typeface="楷体_GB2312" pitchFamily="49" charset="-122"/>
                <a:ea typeface="楷体_GB2312" pitchFamily="49" charset="-122"/>
              </a:rPr>
              <a:t>与</a:t>
            </a:r>
            <a:r>
              <a:rPr lang="en-US" altLang="zh-CN" sz="2800" i="1">
                <a:ea typeface="楷体_GB2312" pitchFamily="49" charset="-122"/>
              </a:rPr>
              <a:t>x</a:t>
            </a:r>
            <a:r>
              <a:rPr lang="en-US" altLang="zh-CN" sz="2800" i="1" baseline="-30000">
                <a:ea typeface="楷体_GB2312" pitchFamily="49" charset="-122"/>
              </a:rPr>
              <a:t>N</a:t>
            </a:r>
            <a:r>
              <a:rPr lang="en-US" altLang="zh-CN" sz="2800">
                <a:ea typeface="楷体_GB2312" pitchFamily="49" charset="-122"/>
              </a:rPr>
              <a:t> = </a:t>
            </a:r>
            <a:r>
              <a:rPr lang="en-US" altLang="zh-CN" sz="2800" i="1">
                <a:ea typeface="楷体_GB2312" pitchFamily="49" charset="-122"/>
              </a:rPr>
              <a:t>b </a:t>
            </a:r>
            <a:r>
              <a:rPr lang="zh-CN" altLang="en-US" sz="2800">
                <a:latin typeface="楷体_GB2312" pitchFamily="49" charset="-122"/>
                <a:ea typeface="楷体_GB2312" pitchFamily="49" charset="-122"/>
              </a:rPr>
              <a:t>称为边界点，</a:t>
            </a:r>
          </a:p>
        </p:txBody>
      </p:sp>
      <p:sp>
        <p:nvSpPr>
          <p:cNvPr id="247817" name="Text Box 9"/>
          <p:cNvSpPr txBox="1">
            <a:spLocks noChangeArrowheads="1"/>
          </p:cNvSpPr>
          <p:nvPr/>
        </p:nvSpPr>
        <p:spPr bwMode="auto">
          <a:xfrm>
            <a:off x="1042988" y="3989388"/>
            <a:ext cx="43672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800">
                <a:ea typeface="楷体_GB2312" pitchFamily="49" charset="-122"/>
              </a:rPr>
              <a:t>而</a:t>
            </a:r>
            <a:r>
              <a:rPr lang="en-US" altLang="zh-CN" sz="2800" i="1"/>
              <a:t>x</a:t>
            </a:r>
            <a:r>
              <a:rPr lang="en-US" altLang="zh-CN" sz="2800" baseline="-30000"/>
              <a:t>1</a:t>
            </a:r>
            <a:r>
              <a:rPr lang="en-US" altLang="zh-CN" sz="2800"/>
              <a:t>, </a:t>
            </a:r>
            <a:r>
              <a:rPr lang="en-US" altLang="zh-CN" sz="2800" i="1"/>
              <a:t>x</a:t>
            </a:r>
            <a:r>
              <a:rPr lang="en-US" altLang="zh-CN" sz="2800" baseline="-30000"/>
              <a:t>2</a:t>
            </a:r>
            <a:r>
              <a:rPr lang="en-US" altLang="zh-CN" sz="2800"/>
              <a:t>, …, </a:t>
            </a:r>
            <a:r>
              <a:rPr lang="en-US" altLang="zh-CN" sz="2800" i="1"/>
              <a:t>x</a:t>
            </a:r>
            <a:r>
              <a:rPr lang="en-US" altLang="zh-CN" sz="2800" i="1" baseline="-30000"/>
              <a:t>N</a:t>
            </a:r>
            <a:r>
              <a:rPr lang="en-US" altLang="zh-CN" sz="2800" baseline="-30000"/>
              <a:t>-1</a:t>
            </a:r>
            <a:r>
              <a:rPr lang="zh-CN" altLang="en-US" sz="2800">
                <a:ea typeface="楷体_GB2312" pitchFamily="49" charset="-122"/>
              </a:rPr>
              <a:t>称为内点。</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7811"/>
                                        </p:tgtEl>
                                        <p:attrNameLst>
                                          <p:attrName>style.visibility</p:attrName>
                                        </p:attrNameLst>
                                      </p:cBhvr>
                                      <p:to>
                                        <p:strVal val="visible"/>
                                      </p:to>
                                    </p:set>
                                    <p:animEffect transition="in" filter="wipe(left)">
                                      <p:cBhvr>
                                        <p:cTn id="7" dur="500"/>
                                        <p:tgtEl>
                                          <p:spTgt spid="2478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7812"/>
                                        </p:tgtEl>
                                        <p:attrNameLst>
                                          <p:attrName>style.visibility</p:attrName>
                                        </p:attrNameLst>
                                      </p:cBhvr>
                                      <p:to>
                                        <p:strVal val="visible"/>
                                      </p:to>
                                    </p:set>
                                    <p:animEffect transition="in" filter="checkerboard(across)">
                                      <p:cBhvr>
                                        <p:cTn id="12" dur="500"/>
                                        <p:tgtEl>
                                          <p:spTgt spid="2478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7813"/>
                                        </p:tgtEl>
                                        <p:attrNameLst>
                                          <p:attrName>style.visibility</p:attrName>
                                        </p:attrNameLst>
                                      </p:cBhvr>
                                      <p:to>
                                        <p:strVal val="visible"/>
                                      </p:to>
                                    </p:set>
                                    <p:animEffect transition="in" filter="wipe(left)">
                                      <p:cBhvr>
                                        <p:cTn id="17" dur="500"/>
                                        <p:tgtEl>
                                          <p:spTgt spid="2478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7814"/>
                                        </p:tgtEl>
                                        <p:attrNameLst>
                                          <p:attrName>style.visibility</p:attrName>
                                        </p:attrNameLst>
                                      </p:cBhvr>
                                      <p:to>
                                        <p:strVal val="visible"/>
                                      </p:to>
                                    </p:set>
                                    <p:animEffect transition="in" filter="wipe(left)">
                                      <p:cBhvr>
                                        <p:cTn id="22" dur="500"/>
                                        <p:tgtEl>
                                          <p:spTgt spid="2478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47815"/>
                                        </p:tgtEl>
                                        <p:attrNameLst>
                                          <p:attrName>style.visibility</p:attrName>
                                        </p:attrNameLst>
                                      </p:cBhvr>
                                      <p:to>
                                        <p:strVal val="visible"/>
                                      </p:to>
                                    </p:set>
                                    <p:animEffect transition="in" filter="dissolve">
                                      <p:cBhvr>
                                        <p:cTn id="27" dur="500"/>
                                        <p:tgtEl>
                                          <p:spTgt spid="24781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7816"/>
                                        </p:tgtEl>
                                        <p:attrNameLst>
                                          <p:attrName>style.visibility</p:attrName>
                                        </p:attrNameLst>
                                      </p:cBhvr>
                                      <p:to>
                                        <p:strVal val="visible"/>
                                      </p:to>
                                    </p:set>
                                    <p:animEffect transition="in" filter="wipe(left)">
                                      <p:cBhvr>
                                        <p:cTn id="32" dur="500"/>
                                        <p:tgtEl>
                                          <p:spTgt spid="24781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7817"/>
                                        </p:tgtEl>
                                        <p:attrNameLst>
                                          <p:attrName>style.visibility</p:attrName>
                                        </p:attrNameLst>
                                      </p:cBhvr>
                                      <p:to>
                                        <p:strVal val="visible"/>
                                      </p:to>
                                    </p:set>
                                    <p:animEffect transition="in" filter="wipe(left)">
                                      <p:cBhvr>
                                        <p:cTn id="37" dur="500"/>
                                        <p:tgtEl>
                                          <p:spTgt spid="247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autoUpdateAnimBg="0"/>
      <p:bldP spid="247812" grpId="0" autoUpdateAnimBg="0"/>
      <p:bldP spid="247813" grpId="0" autoUpdateAnimBg="0"/>
      <p:bldP spid="247814" grpId="0" autoUpdateAnimBg="0"/>
      <p:bldP spid="247816" grpId="0" autoUpdateAnimBg="0"/>
      <p:bldP spid="247817"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468313" y="282575"/>
            <a:ext cx="35766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800"/>
              <a:t>例  </a:t>
            </a:r>
            <a:r>
              <a:rPr lang="zh-CN" altLang="en-US" sz="2800">
                <a:ea typeface="楷体_GB2312" pitchFamily="49" charset="-122"/>
              </a:rPr>
              <a:t>试用差分法解方程</a:t>
            </a:r>
          </a:p>
        </p:txBody>
      </p:sp>
      <p:graphicFrame>
        <p:nvGraphicFramePr>
          <p:cNvPr id="248835" name="Object 3"/>
          <p:cNvGraphicFramePr>
            <a:graphicFrameLocks noChangeAspect="1"/>
          </p:cNvGraphicFramePr>
          <p:nvPr/>
        </p:nvGraphicFramePr>
        <p:xfrm>
          <a:off x="1209675" y="923925"/>
          <a:ext cx="6746875" cy="1135063"/>
        </p:xfrm>
        <a:graphic>
          <a:graphicData uri="http://schemas.openxmlformats.org/presentationml/2006/ole">
            <mc:AlternateContent xmlns:mc="http://schemas.openxmlformats.org/markup-compatibility/2006">
              <mc:Choice xmlns:v="urn:schemas-microsoft-com:vml" Requires="v">
                <p:oleObj spid="_x0000_s65558" name="Equation" r:id="rId3" imgW="2870200" imgH="482600" progId="Equation.3">
                  <p:embed/>
                </p:oleObj>
              </mc:Choice>
              <mc:Fallback>
                <p:oleObj name="Equation" r:id="rId3" imgW="2870200" imgH="482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9675" y="923925"/>
                        <a:ext cx="6746875"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48836" name="Group 4"/>
          <p:cNvGrpSpPr>
            <a:grpSpLocks/>
          </p:cNvGrpSpPr>
          <p:nvPr/>
        </p:nvGrpSpPr>
        <p:grpSpPr bwMode="auto">
          <a:xfrm>
            <a:off x="755650" y="2205038"/>
            <a:ext cx="6891338" cy="687387"/>
            <a:chOff x="566" y="1248"/>
            <a:chExt cx="4341" cy="433"/>
          </a:xfrm>
        </p:grpSpPr>
        <p:sp>
          <p:nvSpPr>
            <p:cNvPr id="65544" name="Text Box 5"/>
            <p:cNvSpPr txBox="1">
              <a:spLocks noChangeArrowheads="1"/>
            </p:cNvSpPr>
            <p:nvPr/>
          </p:nvSpPr>
          <p:spPr bwMode="auto">
            <a:xfrm>
              <a:off x="566" y="1322"/>
              <a:ext cx="434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400"/>
                <a:t>解 </a:t>
              </a:r>
              <a:r>
                <a:rPr lang="zh-CN" altLang="en-US" sz="2400">
                  <a:ea typeface="楷体_GB2312" pitchFamily="49" charset="-122"/>
                </a:rPr>
                <a:t>将</a:t>
              </a:r>
              <a:r>
                <a:rPr lang="en-US" altLang="zh-CN" sz="2400"/>
                <a:t>[0, 1]</a:t>
              </a:r>
              <a:r>
                <a:rPr lang="zh-CN" altLang="en-US" sz="2400">
                  <a:ea typeface="楷体_GB2312" pitchFamily="49" charset="-122"/>
                </a:rPr>
                <a:t>划分为四等分，即取          </a:t>
              </a:r>
              <a:r>
                <a:rPr lang="zh-CN" altLang="en-US" sz="2400"/>
                <a:t>，</a:t>
              </a:r>
              <a:r>
                <a:rPr lang="zh-CN" altLang="en-US" sz="2400">
                  <a:ea typeface="楷体_GB2312" pitchFamily="49" charset="-122"/>
                </a:rPr>
                <a:t>得五个节点</a:t>
              </a:r>
            </a:p>
          </p:txBody>
        </p:sp>
        <p:graphicFrame>
          <p:nvGraphicFramePr>
            <p:cNvPr id="65545" name="Object 6"/>
            <p:cNvGraphicFramePr>
              <a:graphicFrameLocks noChangeAspect="1"/>
            </p:cNvGraphicFramePr>
            <p:nvPr/>
          </p:nvGraphicFramePr>
          <p:xfrm>
            <a:off x="3312" y="1248"/>
            <a:ext cx="412" cy="433"/>
          </p:xfrm>
          <a:graphic>
            <a:graphicData uri="http://schemas.openxmlformats.org/presentationml/2006/ole">
              <mc:AlternateContent xmlns:mc="http://schemas.openxmlformats.org/markup-compatibility/2006">
                <mc:Choice xmlns:v="urn:schemas-microsoft-com:vml" Requires="v">
                  <p:oleObj spid="_x0000_s65559" name="Equation" r:id="rId5" imgW="380835" imgH="393529" progId="Equation.3">
                    <p:embed/>
                  </p:oleObj>
                </mc:Choice>
                <mc:Fallback>
                  <p:oleObj name="Equation" r:id="rId5" imgW="380835" imgH="39352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2" y="1248"/>
                          <a:ext cx="41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48839" name="Object 7"/>
          <p:cNvGraphicFramePr>
            <a:graphicFrameLocks noChangeAspect="1"/>
          </p:cNvGraphicFramePr>
          <p:nvPr/>
        </p:nvGraphicFramePr>
        <p:xfrm>
          <a:off x="1331913" y="2997200"/>
          <a:ext cx="6119812" cy="871538"/>
        </p:xfrm>
        <a:graphic>
          <a:graphicData uri="http://schemas.openxmlformats.org/presentationml/2006/ole">
            <mc:AlternateContent xmlns:mc="http://schemas.openxmlformats.org/markup-compatibility/2006">
              <mc:Choice xmlns:v="urn:schemas-microsoft-com:vml" Requires="v">
                <p:oleObj spid="_x0000_s65560" name="Equation" r:id="rId7" imgW="2794000" imgH="393700" progId="Equation.3">
                  <p:embed/>
                </p:oleObj>
              </mc:Choice>
              <mc:Fallback>
                <p:oleObj name="Equation" r:id="rId7" imgW="2794000" imgH="3937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2997200"/>
                        <a:ext cx="6119812"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8840" name="Text Box 8"/>
          <p:cNvSpPr txBox="1">
            <a:spLocks noChangeArrowheads="1"/>
          </p:cNvSpPr>
          <p:nvPr/>
        </p:nvSpPr>
        <p:spPr bwMode="auto">
          <a:xfrm>
            <a:off x="827088" y="3881438"/>
            <a:ext cx="19700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800">
                <a:ea typeface="楷体_GB2312" pitchFamily="49" charset="-122"/>
              </a:rPr>
              <a:t>差分方程为</a:t>
            </a:r>
          </a:p>
        </p:txBody>
      </p:sp>
      <p:graphicFrame>
        <p:nvGraphicFramePr>
          <p:cNvPr id="248841" name="Object 9"/>
          <p:cNvGraphicFramePr>
            <a:graphicFrameLocks noChangeAspect="1"/>
          </p:cNvGraphicFramePr>
          <p:nvPr/>
        </p:nvGraphicFramePr>
        <p:xfrm>
          <a:off x="1125538" y="4797425"/>
          <a:ext cx="6459537" cy="1454150"/>
        </p:xfrm>
        <a:graphic>
          <a:graphicData uri="http://schemas.openxmlformats.org/presentationml/2006/ole">
            <mc:AlternateContent xmlns:mc="http://schemas.openxmlformats.org/markup-compatibility/2006">
              <mc:Choice xmlns:v="urn:schemas-microsoft-com:vml" Requires="v">
                <p:oleObj spid="_x0000_s65561" name="公式" r:id="rId9" imgW="2921000" imgH="660400" progId="Equation.3">
                  <p:embed/>
                </p:oleObj>
              </mc:Choice>
              <mc:Fallback>
                <p:oleObj name="公式" r:id="rId9" imgW="2921000" imgH="6604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5538" y="4797425"/>
                        <a:ext cx="6459537" cy="145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8835"/>
                                        </p:tgtEl>
                                        <p:attrNameLst>
                                          <p:attrName>style.visibility</p:attrName>
                                        </p:attrNameLst>
                                      </p:cBhvr>
                                      <p:to>
                                        <p:strVal val="visible"/>
                                      </p:to>
                                    </p:set>
                                    <p:animEffect transition="in" filter="checkerboard(across)">
                                      <p:cBhvr>
                                        <p:cTn id="7" dur="500"/>
                                        <p:tgtEl>
                                          <p:spTgt spid="2488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8836"/>
                                        </p:tgtEl>
                                        <p:attrNameLst>
                                          <p:attrName>style.visibility</p:attrName>
                                        </p:attrNameLst>
                                      </p:cBhvr>
                                      <p:to>
                                        <p:strVal val="visible"/>
                                      </p:to>
                                    </p:set>
                                    <p:animEffect transition="in" filter="wipe(left)">
                                      <p:cBhvr>
                                        <p:cTn id="12" dur="500"/>
                                        <p:tgtEl>
                                          <p:spTgt spid="2488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48839"/>
                                        </p:tgtEl>
                                        <p:attrNameLst>
                                          <p:attrName>style.visibility</p:attrName>
                                        </p:attrNameLst>
                                      </p:cBhvr>
                                      <p:to>
                                        <p:strVal val="visible"/>
                                      </p:to>
                                    </p:set>
                                    <p:animEffect transition="in" filter="dissolve">
                                      <p:cBhvr>
                                        <p:cTn id="17" dur="500"/>
                                        <p:tgtEl>
                                          <p:spTgt spid="2488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8840"/>
                                        </p:tgtEl>
                                        <p:attrNameLst>
                                          <p:attrName>style.visibility</p:attrName>
                                        </p:attrNameLst>
                                      </p:cBhvr>
                                      <p:to>
                                        <p:strVal val="visible"/>
                                      </p:to>
                                    </p:set>
                                    <p:animEffect transition="in" filter="wipe(left)">
                                      <p:cBhvr>
                                        <p:cTn id="22" dur="500"/>
                                        <p:tgtEl>
                                          <p:spTgt spid="2488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48841"/>
                                        </p:tgtEl>
                                        <p:attrNameLst>
                                          <p:attrName>style.visibility</p:attrName>
                                        </p:attrNameLst>
                                      </p:cBhvr>
                                      <p:to>
                                        <p:strVal val="visible"/>
                                      </p:to>
                                    </p:set>
                                    <p:animEffect transition="in" filter="dissolve">
                                      <p:cBhvr>
                                        <p:cTn id="27" dur="500"/>
                                        <p:tgtEl>
                                          <p:spTgt spid="2488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40" grpId="0"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Text Box 2"/>
          <p:cNvSpPr txBox="1">
            <a:spLocks noChangeArrowheads="1"/>
          </p:cNvSpPr>
          <p:nvPr/>
        </p:nvSpPr>
        <p:spPr bwMode="auto">
          <a:xfrm>
            <a:off x="539750" y="354013"/>
            <a:ext cx="20589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800">
                <a:latin typeface="楷体_GB2312" pitchFamily="49" charset="-122"/>
                <a:ea typeface="楷体_GB2312" pitchFamily="49" charset="-122"/>
              </a:rPr>
              <a:t>将它改写成</a:t>
            </a:r>
            <a:r>
              <a:rPr lang="zh-CN" altLang="en-US" sz="2800" b="0"/>
              <a:t> </a:t>
            </a:r>
          </a:p>
        </p:txBody>
      </p:sp>
      <p:graphicFrame>
        <p:nvGraphicFramePr>
          <p:cNvPr id="249859" name="Object 3"/>
          <p:cNvGraphicFramePr>
            <a:graphicFrameLocks noChangeAspect="1"/>
          </p:cNvGraphicFramePr>
          <p:nvPr/>
        </p:nvGraphicFramePr>
        <p:xfrm>
          <a:off x="1066800" y="1066800"/>
          <a:ext cx="6927850" cy="1116013"/>
        </p:xfrm>
        <a:graphic>
          <a:graphicData uri="http://schemas.openxmlformats.org/presentationml/2006/ole">
            <mc:AlternateContent xmlns:mc="http://schemas.openxmlformats.org/markup-compatibility/2006">
              <mc:Choice xmlns:v="urn:schemas-microsoft-com:vml" Requires="v">
                <p:oleObj spid="_x0000_s66574" name="Equation" r:id="rId3" imgW="3136900" imgH="508000" progId="Equation.3">
                  <p:embed/>
                </p:oleObj>
              </mc:Choice>
              <mc:Fallback>
                <p:oleObj name="Equation" r:id="rId3" imgW="3136900" imgH="508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066800"/>
                        <a:ext cx="692785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9860" name="Text Box 4"/>
          <p:cNvSpPr txBox="1">
            <a:spLocks noChangeArrowheads="1"/>
          </p:cNvSpPr>
          <p:nvPr/>
        </p:nvSpPr>
        <p:spPr bwMode="auto">
          <a:xfrm>
            <a:off x="533400" y="2386013"/>
            <a:ext cx="35782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800">
                <a:latin typeface="楷体_GB2312" pitchFamily="49" charset="-122"/>
                <a:ea typeface="楷体_GB2312" pitchFamily="49" charset="-122"/>
              </a:rPr>
              <a:t>在每个内点列方程得 </a:t>
            </a:r>
          </a:p>
        </p:txBody>
      </p:sp>
      <p:graphicFrame>
        <p:nvGraphicFramePr>
          <p:cNvPr id="249861" name="Object 5"/>
          <p:cNvGraphicFramePr>
            <a:graphicFrameLocks noChangeAspect="1"/>
          </p:cNvGraphicFramePr>
          <p:nvPr/>
        </p:nvGraphicFramePr>
        <p:xfrm>
          <a:off x="1116013" y="3176588"/>
          <a:ext cx="6840537" cy="1704975"/>
        </p:xfrm>
        <a:graphic>
          <a:graphicData uri="http://schemas.openxmlformats.org/presentationml/2006/ole">
            <mc:AlternateContent xmlns:mc="http://schemas.openxmlformats.org/markup-compatibility/2006">
              <mc:Choice xmlns:v="urn:schemas-microsoft-com:vml" Requires="v">
                <p:oleObj spid="_x0000_s66575" name="公式" r:id="rId5" imgW="2844800" imgH="711200" progId="Equation.3">
                  <p:embed/>
                </p:oleObj>
              </mc:Choice>
              <mc:Fallback>
                <p:oleObj name="公式" r:id="rId5" imgW="2844800" imgH="711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3176588"/>
                        <a:ext cx="6840537"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9862" name="Text Box 6"/>
          <p:cNvSpPr txBox="1">
            <a:spLocks noChangeArrowheads="1"/>
          </p:cNvSpPr>
          <p:nvPr/>
        </p:nvSpPr>
        <p:spPr bwMode="auto">
          <a:xfrm>
            <a:off x="611188" y="5157788"/>
            <a:ext cx="35782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zh-CN" altLang="en-US" sz="2800">
                <a:latin typeface="楷体_GB2312" pitchFamily="49" charset="-122"/>
                <a:ea typeface="楷体_GB2312" pitchFamily="49" charset="-122"/>
              </a:rPr>
              <a:t>由追赶法公式解得： </a:t>
            </a:r>
          </a:p>
        </p:txBody>
      </p:sp>
      <p:sp>
        <p:nvSpPr>
          <p:cNvPr id="249863" name="Text Box 7"/>
          <p:cNvSpPr txBox="1">
            <a:spLocks noChangeArrowheads="1"/>
          </p:cNvSpPr>
          <p:nvPr/>
        </p:nvSpPr>
        <p:spPr bwMode="auto">
          <a:xfrm>
            <a:off x="900113" y="6021388"/>
            <a:ext cx="68405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r>
              <a:rPr lang="en-US" altLang="zh-CN" sz="2800" i="1"/>
              <a:t>y</a:t>
            </a:r>
            <a:r>
              <a:rPr lang="en-US" altLang="zh-CN" sz="2800" baseline="-30000"/>
              <a:t>3</a:t>
            </a:r>
            <a:r>
              <a:rPr lang="en-US" altLang="zh-CN" sz="2800"/>
              <a:t> = 1.4855   </a:t>
            </a:r>
            <a:r>
              <a:rPr lang="en-US" altLang="zh-CN" sz="2800" i="1"/>
              <a:t>y</a:t>
            </a:r>
            <a:r>
              <a:rPr lang="en-US" altLang="zh-CN" sz="2800" baseline="-30000"/>
              <a:t>2</a:t>
            </a:r>
            <a:r>
              <a:rPr lang="en-US" altLang="zh-CN" sz="2800"/>
              <a:t> = 1.2802   </a:t>
            </a:r>
            <a:r>
              <a:rPr lang="en-US" altLang="zh-CN" sz="2800" i="1"/>
              <a:t>y</a:t>
            </a:r>
            <a:r>
              <a:rPr lang="en-US" altLang="zh-CN" sz="2800" baseline="-30000"/>
              <a:t>1</a:t>
            </a:r>
            <a:r>
              <a:rPr lang="en-US" altLang="zh-CN" sz="2800"/>
              <a:t> = 0.7753</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9858"/>
                                        </p:tgtEl>
                                        <p:attrNameLst>
                                          <p:attrName>style.visibility</p:attrName>
                                        </p:attrNameLst>
                                      </p:cBhvr>
                                      <p:to>
                                        <p:strVal val="visible"/>
                                      </p:to>
                                    </p:set>
                                    <p:animEffect transition="in" filter="wipe(left)">
                                      <p:cBhvr>
                                        <p:cTn id="7" dur="500"/>
                                        <p:tgtEl>
                                          <p:spTgt spid="2498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49859"/>
                                        </p:tgtEl>
                                        <p:attrNameLst>
                                          <p:attrName>style.visibility</p:attrName>
                                        </p:attrNameLst>
                                      </p:cBhvr>
                                      <p:to>
                                        <p:strVal val="visible"/>
                                      </p:to>
                                    </p:set>
                                    <p:animEffect transition="in" filter="dissolve">
                                      <p:cBhvr>
                                        <p:cTn id="12" dur="500"/>
                                        <p:tgtEl>
                                          <p:spTgt spid="2498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9860"/>
                                        </p:tgtEl>
                                        <p:attrNameLst>
                                          <p:attrName>style.visibility</p:attrName>
                                        </p:attrNameLst>
                                      </p:cBhvr>
                                      <p:to>
                                        <p:strVal val="visible"/>
                                      </p:to>
                                    </p:set>
                                    <p:animEffect transition="in" filter="wipe(left)">
                                      <p:cBhvr>
                                        <p:cTn id="17" dur="500"/>
                                        <p:tgtEl>
                                          <p:spTgt spid="2498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49861"/>
                                        </p:tgtEl>
                                        <p:attrNameLst>
                                          <p:attrName>style.visibility</p:attrName>
                                        </p:attrNameLst>
                                      </p:cBhvr>
                                      <p:to>
                                        <p:strVal val="visible"/>
                                      </p:to>
                                    </p:set>
                                    <p:animEffect transition="in" filter="checkerboard(across)">
                                      <p:cBhvr>
                                        <p:cTn id="22" dur="500"/>
                                        <p:tgtEl>
                                          <p:spTgt spid="2498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9862"/>
                                        </p:tgtEl>
                                        <p:attrNameLst>
                                          <p:attrName>style.visibility</p:attrName>
                                        </p:attrNameLst>
                                      </p:cBhvr>
                                      <p:to>
                                        <p:strVal val="visible"/>
                                      </p:to>
                                    </p:set>
                                    <p:animEffect transition="in" filter="wipe(left)">
                                      <p:cBhvr>
                                        <p:cTn id="27" dur="500"/>
                                        <p:tgtEl>
                                          <p:spTgt spid="24986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9863"/>
                                        </p:tgtEl>
                                        <p:attrNameLst>
                                          <p:attrName>style.visibility</p:attrName>
                                        </p:attrNameLst>
                                      </p:cBhvr>
                                      <p:to>
                                        <p:strVal val="visible"/>
                                      </p:to>
                                    </p:set>
                                    <p:animEffect transition="in" filter="wipe(left)">
                                      <p:cBhvr>
                                        <p:cTn id="32" dur="500"/>
                                        <p:tgtEl>
                                          <p:spTgt spid="249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8" grpId="0" autoUpdateAnimBg="0"/>
      <p:bldP spid="249860" grpId="0" autoUpdateAnimBg="0"/>
      <p:bldP spid="249862" grpId="0" autoUpdateAnimBg="0"/>
      <p:bldP spid="249863"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1026"/>
          <p:cNvSpPr txBox="1">
            <a:spLocks noChangeArrowheads="1"/>
          </p:cNvSpPr>
          <p:nvPr/>
        </p:nvSpPr>
        <p:spPr bwMode="auto">
          <a:xfrm>
            <a:off x="323850" y="476250"/>
            <a:ext cx="8153400" cy="120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sz="2800">
                <a:solidFill>
                  <a:srgbClr val="000000"/>
                </a:solidFill>
              </a:rPr>
              <a:t>Nonlinear equations may also be solved using this approach. </a:t>
            </a:r>
            <a:endParaRPr lang="en-US" altLang="zh-CN" sz="2800"/>
          </a:p>
        </p:txBody>
      </p:sp>
      <p:sp>
        <p:nvSpPr>
          <p:cNvPr id="72707" name="Text Box 1027"/>
          <p:cNvSpPr txBox="1">
            <a:spLocks noChangeArrowheads="1"/>
          </p:cNvSpPr>
          <p:nvPr/>
        </p:nvSpPr>
        <p:spPr bwMode="auto">
          <a:xfrm>
            <a:off x="381000" y="2057400"/>
            <a:ext cx="8153400" cy="39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200" b="1">
                <a:solidFill>
                  <a:schemeClr val="tx1"/>
                </a:solidFill>
                <a:latin typeface="Times New Roman" pitchFamily="18" charset="0"/>
                <a:ea typeface="宋体" pitchFamily="2" charset="-122"/>
              </a:defRPr>
            </a:lvl1pPr>
            <a:lvl2pPr marL="742950" indent="-285750" eaLnBrk="0" hangingPunct="0">
              <a:defRPr kumimoji="1" sz="3200" b="1">
                <a:solidFill>
                  <a:schemeClr val="tx1"/>
                </a:solidFill>
                <a:latin typeface="Times New Roman" pitchFamily="18" charset="0"/>
                <a:ea typeface="宋体" pitchFamily="2" charset="-122"/>
              </a:defRPr>
            </a:lvl2pPr>
            <a:lvl3pPr marL="1143000" indent="-228600" eaLnBrk="0" hangingPunct="0">
              <a:defRPr kumimoji="1" sz="3200" b="1">
                <a:solidFill>
                  <a:schemeClr val="tx1"/>
                </a:solidFill>
                <a:latin typeface="Times New Roman" pitchFamily="18" charset="0"/>
                <a:ea typeface="宋体" pitchFamily="2" charset="-122"/>
              </a:defRPr>
            </a:lvl3pPr>
            <a:lvl4pPr marL="1600200" indent="-228600" eaLnBrk="0" hangingPunct="0">
              <a:defRPr kumimoji="1" sz="3200" b="1">
                <a:solidFill>
                  <a:schemeClr val="tx1"/>
                </a:solidFill>
                <a:latin typeface="Times New Roman" pitchFamily="18" charset="0"/>
                <a:ea typeface="宋体" pitchFamily="2" charset="-122"/>
              </a:defRPr>
            </a:lvl4pPr>
            <a:lvl5pPr marL="2057400" indent="-228600" eaLnBrk="0" hangingPunct="0">
              <a:defRPr kumimoji="1"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3200" b="1">
                <a:solidFill>
                  <a:schemeClr val="tx1"/>
                </a:solidFill>
                <a:latin typeface="Times New Roman" pitchFamily="18" charset="0"/>
                <a:ea typeface="宋体" pitchFamily="2" charset="-122"/>
              </a:defRPr>
            </a:lvl9pPr>
          </a:lstStyle>
          <a:p>
            <a:pPr eaLnBrk="1" hangingPunct="1">
              <a:lnSpc>
                <a:spcPct val="130000"/>
              </a:lnSpc>
            </a:pPr>
            <a:r>
              <a:rPr lang="en-US" altLang="zh-CN" sz="2800">
                <a:solidFill>
                  <a:srgbClr val="000000"/>
                </a:solidFill>
              </a:rPr>
              <a:t>but will require an iterative solution of the resulting matrix system </a:t>
            </a:r>
            <a:r>
              <a:rPr lang="en-US" altLang="zh-CN" sz="2800">
                <a:solidFill>
                  <a:srgbClr val="000080"/>
                </a:solidFill>
              </a:rPr>
              <a:t>A</a:t>
            </a:r>
            <a:r>
              <a:rPr lang="en-US" altLang="zh-CN" sz="2800" i="1">
                <a:solidFill>
                  <a:srgbClr val="000080"/>
                </a:solidFill>
              </a:rPr>
              <a:t>x = b </a:t>
            </a:r>
            <a:r>
              <a:rPr lang="en-US" altLang="zh-CN" sz="2800">
                <a:solidFill>
                  <a:srgbClr val="000000"/>
                </a:solidFill>
              </a:rPr>
              <a:t>as the matrix </a:t>
            </a:r>
            <a:r>
              <a:rPr lang="en-US" altLang="zh-CN" sz="2800">
                <a:solidFill>
                  <a:srgbClr val="000080"/>
                </a:solidFill>
              </a:rPr>
              <a:t>A </a:t>
            </a:r>
            <a:r>
              <a:rPr lang="en-US" altLang="zh-CN" sz="2800">
                <a:solidFill>
                  <a:srgbClr val="000000"/>
                </a:solidFill>
              </a:rPr>
              <a:t>will be a function of </a:t>
            </a:r>
            <a:r>
              <a:rPr lang="en-US" altLang="zh-CN" sz="2800" i="1">
                <a:solidFill>
                  <a:srgbClr val="000080"/>
                </a:solidFill>
              </a:rPr>
              <a:t>x</a:t>
            </a:r>
            <a:r>
              <a:rPr lang="en-US" altLang="zh-CN" sz="2800">
                <a:solidFill>
                  <a:srgbClr val="000000"/>
                </a:solidFill>
              </a:rPr>
              <a:t>. In most circumstances this is most efficiently achieved through a Newton-Raphson algorithm, similar in principle to that introduced in section 3.4 but where a system of linear</a:t>
            </a:r>
            <a:r>
              <a:rPr lang="en-US" altLang="zh-CN" sz="2800"/>
              <a:t> </a:t>
            </a:r>
            <a:r>
              <a:rPr lang="en-US" altLang="zh-CN" sz="2800">
                <a:solidFill>
                  <a:srgbClr val="000000"/>
                </a:solidFill>
              </a:rPr>
              <a:t>equations requires solution for each iteration.</a:t>
            </a:r>
            <a:r>
              <a:rPr lang="en-US" altLang="zh-CN" sz="2800"/>
              <a:t> </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707"/>
                                        </p:tgtEl>
                                        <p:attrNameLst>
                                          <p:attrName>style.visibility</p:attrName>
                                        </p:attrNameLst>
                                      </p:cBhvr>
                                      <p:to>
                                        <p:strVal val="visible"/>
                                      </p:to>
                                    </p:set>
                                    <p:anim calcmode="lin" valueType="num">
                                      <p:cBhvr additive="base">
                                        <p:cTn id="7" dur="500" fill="hold"/>
                                        <p:tgtEl>
                                          <p:spTgt spid="72707"/>
                                        </p:tgtEl>
                                        <p:attrNameLst>
                                          <p:attrName>ppt_x</p:attrName>
                                        </p:attrNameLst>
                                      </p:cBhvr>
                                      <p:tavLst>
                                        <p:tav tm="0">
                                          <p:val>
                                            <p:strVal val="0-#ppt_w/2"/>
                                          </p:val>
                                        </p:tav>
                                        <p:tav tm="100000">
                                          <p:val>
                                            <p:strVal val="#ppt_x"/>
                                          </p:val>
                                        </p:tav>
                                      </p:tavLst>
                                    </p:anim>
                                    <p:anim calcmode="lin" valueType="num">
                                      <p:cBhvr additive="base">
                                        <p:cTn id="8" dur="500" fill="hold"/>
                                        <p:tgtEl>
                                          <p:spTgt spid="727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autoUpdateAnimBg="0"/>
    </p:bld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32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32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5258</TotalTime>
  <Words>2800</Words>
  <Application>Microsoft Office PowerPoint</Application>
  <PresentationFormat>全屏显示(4:3)</PresentationFormat>
  <Paragraphs>340</Paragraphs>
  <Slides>65</Slides>
  <Notes>0</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65</vt:i4>
      </vt:variant>
    </vt:vector>
  </HeadingPairs>
  <TitlesOfParts>
    <vt:vector size="69" baseType="lpstr">
      <vt:lpstr>默认设计模板</vt:lpstr>
      <vt:lpstr>Equation</vt:lpstr>
      <vt:lpstr>公式</vt:lpstr>
      <vt:lpstr>Microsoft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apple</cp:lastModifiedBy>
  <cp:revision>178</cp:revision>
  <dcterms:created xsi:type="dcterms:W3CDTF">2004-11-03T12:57:04Z</dcterms:created>
  <dcterms:modified xsi:type="dcterms:W3CDTF">2018-04-26T13:40:23Z</dcterms:modified>
</cp:coreProperties>
</file>